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embeddedFontLst>
    <p:embeddedFont>
      <p:font typeface="Play" panose="020B0604020202020204" charset="0"/>
      <p:regular r:id="rId60"/>
      <p:bold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jFcU3CRqsck02bazUXjZ4hne8G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2BD22-C8CE-40DE-90DF-E71169C9C24C}" v="1" dt="2026-10-24T10:09:10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ining Common" userId="04244515-1ace-4f18-abbf-28df0af8cc9f" providerId="ADAL" clId="{2CD65E0F-2C5A-426E-A8DD-3FCAB465F7CA}"/>
    <pc:docChg chg="undo custSel addSld delSld modSld">
      <pc:chgData name="Training Common" userId="04244515-1ace-4f18-abbf-28df0af8cc9f" providerId="ADAL" clId="{2CD65E0F-2C5A-426E-A8DD-3FCAB465F7CA}" dt="2026-10-24T10:17:14.761" v="95" actId="404"/>
      <pc:docMkLst>
        <pc:docMk/>
      </pc:docMkLst>
      <pc:sldChg chg="modSp mod">
        <pc:chgData name="Training Common" userId="04244515-1ace-4f18-abbf-28df0af8cc9f" providerId="ADAL" clId="{2CD65E0F-2C5A-426E-A8DD-3FCAB465F7CA}" dt="2026-10-24T10:09:39.659" v="83" actId="6549"/>
        <pc:sldMkLst>
          <pc:docMk/>
          <pc:sldMk cId="0" sldId="257"/>
        </pc:sldMkLst>
        <pc:spChg chg="mod">
          <ac:chgData name="Training Common" userId="04244515-1ace-4f18-abbf-28df0af8cc9f" providerId="ADAL" clId="{2CD65E0F-2C5A-426E-A8DD-3FCAB465F7CA}" dt="2026-10-24T10:09:39.659" v="83" actId="6549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6:30.819" v="88" actId="404"/>
        <pc:sldMkLst>
          <pc:docMk/>
          <pc:sldMk cId="0" sldId="258"/>
        </pc:sldMkLst>
        <pc:spChg chg="mod">
          <ac:chgData name="Training Common" userId="04244515-1ace-4f18-abbf-28df0af8cc9f" providerId="ADAL" clId="{2CD65E0F-2C5A-426E-A8DD-3FCAB465F7CA}" dt="2026-10-24T10:16:30.819" v="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6:22.118" v="86" actId="404"/>
        <pc:sldMkLst>
          <pc:docMk/>
          <pc:sldMk cId="0" sldId="263"/>
        </pc:sldMkLst>
        <pc:spChg chg="mod">
          <ac:chgData name="Training Common" userId="04244515-1ace-4f18-abbf-28df0af8cc9f" providerId="ADAL" clId="{2CD65E0F-2C5A-426E-A8DD-3FCAB465F7CA}" dt="2026-10-24T10:16:22.118" v="86" actId="404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6:14.575" v="85" actId="404"/>
        <pc:sldMkLst>
          <pc:docMk/>
          <pc:sldMk cId="0" sldId="268"/>
        </pc:sldMkLst>
        <pc:spChg chg="mod">
          <ac:chgData name="Training Common" userId="04244515-1ace-4f18-abbf-28df0af8cc9f" providerId="ADAL" clId="{2CD65E0F-2C5A-426E-A8DD-3FCAB465F7CA}" dt="2026-10-24T10:16:14.575" v="85" actId="404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6:48.044" v="90" actId="404"/>
        <pc:sldMkLst>
          <pc:docMk/>
          <pc:sldMk cId="0" sldId="289"/>
        </pc:sldMkLst>
        <pc:spChg chg="mod">
          <ac:chgData name="Training Common" userId="04244515-1ace-4f18-abbf-28df0af8cc9f" providerId="ADAL" clId="{2CD65E0F-2C5A-426E-A8DD-3FCAB465F7CA}" dt="2026-10-24T10:16:48.044" v="90" actId="404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6:57.891" v="92" actId="404"/>
        <pc:sldMkLst>
          <pc:docMk/>
          <pc:sldMk cId="0" sldId="297"/>
        </pc:sldMkLst>
        <pc:spChg chg="mod">
          <ac:chgData name="Training Common" userId="04244515-1ace-4f18-abbf-28df0af8cc9f" providerId="ADAL" clId="{2CD65E0F-2C5A-426E-A8DD-3FCAB465F7CA}" dt="2026-10-24T10:16:57.891" v="92" actId="404"/>
          <ac:spMkLst>
            <pc:docMk/>
            <pc:sldMk cId="0" sldId="297"/>
            <ac:spMk id="3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7:07.134" v="93" actId="404"/>
        <pc:sldMkLst>
          <pc:docMk/>
          <pc:sldMk cId="0" sldId="305"/>
        </pc:sldMkLst>
        <pc:spChg chg="mod">
          <ac:chgData name="Training Common" userId="04244515-1ace-4f18-abbf-28df0af8cc9f" providerId="ADAL" clId="{2CD65E0F-2C5A-426E-A8DD-3FCAB465F7CA}" dt="2026-10-24T10:17:07.134" v="93" actId="404"/>
          <ac:spMkLst>
            <pc:docMk/>
            <pc:sldMk cId="0" sldId="305"/>
            <ac:spMk id="3" creationId="{00000000-0000-0000-0000-000000000000}"/>
          </ac:spMkLst>
        </pc:spChg>
      </pc:sldChg>
      <pc:sldChg chg="modSp mod">
        <pc:chgData name="Training Common" userId="04244515-1ace-4f18-abbf-28df0af8cc9f" providerId="ADAL" clId="{2CD65E0F-2C5A-426E-A8DD-3FCAB465F7CA}" dt="2026-10-24T10:17:14.761" v="95" actId="404"/>
        <pc:sldMkLst>
          <pc:docMk/>
          <pc:sldMk cId="0" sldId="310"/>
        </pc:sldMkLst>
        <pc:spChg chg="mod">
          <ac:chgData name="Training Common" userId="04244515-1ace-4f18-abbf-28df0af8cc9f" providerId="ADAL" clId="{2CD65E0F-2C5A-426E-A8DD-3FCAB465F7CA}" dt="2026-10-24T10:17:14.761" v="95" actId="404"/>
          <ac:spMkLst>
            <pc:docMk/>
            <pc:sldMk cId="0" sldId="310"/>
            <ac:spMk id="3" creationId="{00000000-0000-0000-0000-000000000000}"/>
          </ac:spMkLst>
        </pc:spChg>
      </pc:sldChg>
      <pc:sldChg chg="add del">
        <pc:chgData name="Training Common" userId="04244515-1ace-4f18-abbf-28df0af8cc9f" providerId="ADAL" clId="{2CD65E0F-2C5A-426E-A8DD-3FCAB465F7CA}" dt="2026-10-24T10:09:10.071" v="1"/>
        <pc:sldMkLst>
          <pc:docMk/>
          <pc:sldMk cId="0" sldId="311"/>
        </pc:sldMkLst>
      </pc:sldChg>
      <pc:sldChg chg="add">
        <pc:chgData name="Training Common" userId="04244515-1ace-4f18-abbf-28df0af8cc9f" providerId="ADAL" clId="{2CD65E0F-2C5A-426E-A8DD-3FCAB465F7CA}" dt="2026-10-24T10:09:10.071" v="1"/>
        <pc:sldMkLst>
          <pc:docMk/>
          <pc:sldMk cId="0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1"/>
          <p:cNvPicPr preferRelativeResize="0"/>
          <p:nvPr/>
        </p:nvPicPr>
        <p:blipFill rotWithShape="1">
          <a:blip r:embed="rId2">
            <a:alphaModFix/>
          </a:blip>
          <a:srcRect l="35222" t="35220"/>
          <a:stretch/>
        </p:blipFill>
        <p:spPr>
          <a:xfrm>
            <a:off x="0" y="19018"/>
            <a:ext cx="12192000" cy="685746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1"/>
          <p:cNvSpPr/>
          <p:nvPr/>
        </p:nvSpPr>
        <p:spPr>
          <a:xfrm>
            <a:off x="449690" y="995329"/>
            <a:ext cx="11292619" cy="5474818"/>
          </a:xfrm>
          <a:prstGeom prst="roundRect">
            <a:avLst>
              <a:gd name="adj" fmla="val 9331"/>
            </a:avLst>
          </a:prstGeom>
          <a:solidFill>
            <a:schemeClr val="lt1"/>
          </a:solidFill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51"/>
          <p:cNvPicPr preferRelativeResize="0"/>
          <p:nvPr/>
        </p:nvPicPr>
        <p:blipFill rotWithShape="1">
          <a:blip r:embed="rId3">
            <a:alphaModFix/>
          </a:blip>
          <a:srcRect r="77077"/>
          <a:stretch/>
        </p:blipFill>
        <p:spPr>
          <a:xfrm>
            <a:off x="11248169" y="19018"/>
            <a:ext cx="673100" cy="9192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dt" idx="10"/>
          </p:nvPr>
        </p:nvSpPr>
        <p:spPr>
          <a:xfrm>
            <a:off x="838201" y="64701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ftr" idx="11"/>
          </p:nvPr>
        </p:nvSpPr>
        <p:spPr>
          <a:xfrm>
            <a:off x="4038598" y="6470147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sldNum" idx="12"/>
          </p:nvPr>
        </p:nvSpPr>
        <p:spPr>
          <a:xfrm>
            <a:off x="8610602" y="64701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>
            <a:spLocks noGrp="1"/>
          </p:cNvSpPr>
          <p:nvPr>
            <p:ph type="body" idx="1"/>
          </p:nvPr>
        </p:nvSpPr>
        <p:spPr>
          <a:xfrm>
            <a:off x="838200" y="1243013"/>
            <a:ext cx="10515601" cy="49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2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3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4"/>
          <p:cNvSpPr txBox="1">
            <a:spLocks noGrp="1"/>
          </p:cNvSpPr>
          <p:nvPr>
            <p:ph type="title"/>
          </p:nvPr>
        </p:nvSpPr>
        <p:spPr>
          <a:xfrm>
            <a:off x="831850" y="1233488"/>
            <a:ext cx="10515601" cy="197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1"/>
          </p:nvPr>
        </p:nvSpPr>
        <p:spPr>
          <a:xfrm>
            <a:off x="831850" y="3295650"/>
            <a:ext cx="10515601" cy="279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4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4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5"/>
          <p:cNvSpPr txBox="1">
            <a:spLocks noGrp="1"/>
          </p:cNvSpPr>
          <p:nvPr>
            <p:ph type="body" idx="2"/>
          </p:nvPr>
        </p:nvSpPr>
        <p:spPr>
          <a:xfrm>
            <a:off x="6172202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5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5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6"/>
          <p:cNvSpPr txBox="1">
            <a:spLocks noGrp="1"/>
          </p:cNvSpPr>
          <p:nvPr>
            <p:ph type="title"/>
          </p:nvPr>
        </p:nvSpPr>
        <p:spPr>
          <a:xfrm>
            <a:off x="839787" y="171451"/>
            <a:ext cx="10515601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body" idx="1"/>
          </p:nvPr>
        </p:nvSpPr>
        <p:spPr>
          <a:xfrm>
            <a:off x="839790" y="1190622"/>
            <a:ext cx="515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56"/>
          <p:cNvSpPr txBox="1">
            <a:spLocks noGrp="1"/>
          </p:cNvSpPr>
          <p:nvPr>
            <p:ph type="body" idx="2"/>
          </p:nvPr>
        </p:nvSpPr>
        <p:spPr>
          <a:xfrm>
            <a:off x="839790" y="2014533"/>
            <a:ext cx="5157788" cy="399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56"/>
          <p:cNvSpPr txBox="1">
            <a:spLocks noGrp="1"/>
          </p:cNvSpPr>
          <p:nvPr>
            <p:ph type="body" idx="3"/>
          </p:nvPr>
        </p:nvSpPr>
        <p:spPr>
          <a:xfrm>
            <a:off x="6172201" y="1190622"/>
            <a:ext cx="51831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56"/>
          <p:cNvSpPr txBox="1">
            <a:spLocks noGrp="1"/>
          </p:cNvSpPr>
          <p:nvPr>
            <p:ph type="body" idx="4"/>
          </p:nvPr>
        </p:nvSpPr>
        <p:spPr>
          <a:xfrm>
            <a:off x="6172201" y="2014533"/>
            <a:ext cx="5183187" cy="399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6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7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7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7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7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8"/>
          <p:cNvSpPr txBox="1">
            <a:spLocks noGrp="1"/>
          </p:cNvSpPr>
          <p:nvPr>
            <p:ph type="title"/>
          </p:nvPr>
        </p:nvSpPr>
        <p:spPr>
          <a:xfrm>
            <a:off x="839788" y="0"/>
            <a:ext cx="10380661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8"/>
          <p:cNvSpPr txBox="1">
            <a:spLocks noGrp="1"/>
          </p:cNvSpPr>
          <p:nvPr>
            <p:ph type="body" idx="1"/>
          </p:nvPr>
        </p:nvSpPr>
        <p:spPr>
          <a:xfrm>
            <a:off x="5183187" y="1309688"/>
            <a:ext cx="6172201" cy="455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58"/>
          <p:cNvSpPr txBox="1">
            <a:spLocks noGrp="1"/>
          </p:cNvSpPr>
          <p:nvPr>
            <p:ph type="body" idx="2"/>
          </p:nvPr>
        </p:nvSpPr>
        <p:spPr>
          <a:xfrm>
            <a:off x="839789" y="1317625"/>
            <a:ext cx="3932236" cy="455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58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8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>
            <a:spLocks noGrp="1"/>
          </p:cNvSpPr>
          <p:nvPr>
            <p:ph type="title"/>
          </p:nvPr>
        </p:nvSpPr>
        <p:spPr>
          <a:xfrm>
            <a:off x="839788" y="285750"/>
            <a:ext cx="10399711" cy="61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9"/>
          <p:cNvSpPr>
            <a:spLocks noGrp="1"/>
          </p:cNvSpPr>
          <p:nvPr>
            <p:ph type="pic" idx="2"/>
          </p:nvPr>
        </p:nvSpPr>
        <p:spPr>
          <a:xfrm>
            <a:off x="5183187" y="1149351"/>
            <a:ext cx="6172201" cy="47117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9"/>
          <p:cNvSpPr txBox="1">
            <a:spLocks noGrp="1"/>
          </p:cNvSpPr>
          <p:nvPr>
            <p:ph type="body" idx="1"/>
          </p:nvPr>
        </p:nvSpPr>
        <p:spPr>
          <a:xfrm>
            <a:off x="839789" y="1157288"/>
            <a:ext cx="3932236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0"/>
          <p:cNvSpPr txBox="1">
            <a:spLocks noGrp="1"/>
          </p:cNvSpPr>
          <p:nvPr>
            <p:ph type="body" idx="1"/>
          </p:nvPr>
        </p:nvSpPr>
        <p:spPr>
          <a:xfrm rot="5400000">
            <a:off x="3629025" y="-1547812"/>
            <a:ext cx="493395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0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0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0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1"/>
          <p:cNvSpPr txBox="1">
            <a:spLocks noGrp="1"/>
          </p:cNvSpPr>
          <p:nvPr>
            <p:ph type="title"/>
          </p:nvPr>
        </p:nvSpPr>
        <p:spPr>
          <a:xfrm rot="5400000">
            <a:off x="7133434" y="1956594"/>
            <a:ext cx="5811838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1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1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1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1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0"/>
          <p:cNvPicPr preferRelativeResize="0"/>
          <p:nvPr/>
        </p:nvPicPr>
        <p:blipFill rotWithShape="1">
          <a:blip r:embed="rId13">
            <a:alphaModFix/>
          </a:blip>
          <a:srcRect l="35222" t="35220"/>
          <a:stretch/>
        </p:blipFill>
        <p:spPr>
          <a:xfrm>
            <a:off x="0" y="19018"/>
            <a:ext cx="12192000" cy="685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50"/>
          <p:cNvPicPr preferRelativeResize="0"/>
          <p:nvPr/>
        </p:nvPicPr>
        <p:blipFill rotWithShape="1">
          <a:blip r:embed="rId14">
            <a:alphaModFix/>
          </a:blip>
          <a:srcRect r="77077"/>
          <a:stretch/>
        </p:blipFill>
        <p:spPr>
          <a:xfrm>
            <a:off x="11248169" y="19018"/>
            <a:ext cx="673100" cy="91922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50"/>
          <p:cNvSpPr/>
          <p:nvPr/>
        </p:nvSpPr>
        <p:spPr>
          <a:xfrm>
            <a:off x="449690" y="957263"/>
            <a:ext cx="11292619" cy="5474818"/>
          </a:xfrm>
          <a:prstGeom prst="roundRect">
            <a:avLst>
              <a:gd name="adj" fmla="val 9331"/>
            </a:avLst>
          </a:prstGeom>
          <a:solidFill>
            <a:schemeClr val="lt1"/>
          </a:solidFill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50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0"/>
          <p:cNvSpPr txBox="1">
            <a:spLocks noGrp="1"/>
          </p:cNvSpPr>
          <p:nvPr>
            <p:ph type="body" idx="1"/>
          </p:nvPr>
        </p:nvSpPr>
        <p:spPr>
          <a:xfrm>
            <a:off x="838200" y="1243013"/>
            <a:ext cx="10515601" cy="49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"/>
          <p:cNvGrpSpPr/>
          <p:nvPr/>
        </p:nvGrpSpPr>
        <p:grpSpPr>
          <a:xfrm>
            <a:off x="-57778" y="0"/>
            <a:ext cx="12307556" cy="6925679"/>
            <a:chOff x="-115556" y="-1"/>
            <a:chExt cx="12307556" cy="6925679"/>
          </a:xfrm>
        </p:grpSpPr>
        <p:pic>
          <p:nvPicPr>
            <p:cNvPr id="96" name="Google Shape;96;p1" descr="C:\Users\vasim\Desktop\ppt\SV PPT.png"/>
            <p:cNvPicPr preferRelativeResize="0"/>
            <p:nvPr/>
          </p:nvPicPr>
          <p:blipFill rotWithShape="1">
            <a:blip r:embed="rId3">
              <a:alphaModFix/>
            </a:blip>
            <a:srcRect l="47855" t="40791" r="41050" b="31445"/>
            <a:stretch/>
          </p:blipFill>
          <p:spPr>
            <a:xfrm>
              <a:off x="7026729" y="-1"/>
              <a:ext cx="5165271" cy="69256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" name="Google Shape;97;p1"/>
            <p:cNvGrpSpPr/>
            <p:nvPr/>
          </p:nvGrpSpPr>
          <p:grpSpPr>
            <a:xfrm>
              <a:off x="-115556" y="0"/>
              <a:ext cx="7256444" cy="6925678"/>
              <a:chOff x="-21189" y="13252"/>
              <a:chExt cx="7187198" cy="6859588"/>
            </a:xfrm>
          </p:grpSpPr>
          <p:pic>
            <p:nvPicPr>
              <p:cNvPr id="98" name="Google Shape;98;p1" descr="C:\Users\vasim\Desktop\ppt\SV PPT.png"/>
              <p:cNvPicPr preferRelativeResize="0"/>
              <p:nvPr/>
            </p:nvPicPr>
            <p:blipFill rotWithShape="1">
              <a:blip r:embed="rId3">
                <a:alphaModFix/>
              </a:blip>
              <a:srcRect r="41050"/>
              <a:stretch/>
            </p:blipFill>
            <p:spPr>
              <a:xfrm>
                <a:off x="-21189" y="13252"/>
                <a:ext cx="7187198" cy="68595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1" descr="C:\Users\vasim\Desktop\ppt\SV PPT.png"/>
              <p:cNvPicPr preferRelativeResize="0"/>
              <p:nvPr/>
            </p:nvPicPr>
            <p:blipFill rotWithShape="1">
              <a:blip r:embed="rId3">
                <a:alphaModFix/>
              </a:blip>
              <a:srcRect l="48539" t="33621" r="41050" b="61032"/>
              <a:stretch/>
            </p:blipFill>
            <p:spPr>
              <a:xfrm>
                <a:off x="5896708" y="2582425"/>
                <a:ext cx="1269301" cy="3667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0" name="Google Shape;100;p1"/>
          <p:cNvSpPr/>
          <p:nvPr/>
        </p:nvSpPr>
        <p:spPr>
          <a:xfrm>
            <a:off x="6215605" y="433070"/>
            <a:ext cx="5963060" cy="1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CYBERSECURITY FUNDAMENTALS AND NETWORK SECURITY</a:t>
            </a:r>
            <a:endParaRPr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8561" y="5424480"/>
            <a:ext cx="3037753" cy="95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 descr="ljku.edu.in/web/image/res.company/1/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9814" y="5558151"/>
            <a:ext cx="2924303" cy="77626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5741902" y="2201924"/>
            <a:ext cx="6134412" cy="168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600" b="1" dirty="0">
                <a:solidFill>
                  <a:schemeClr val="dk1"/>
                </a:solidFill>
                <a:latin typeface="Arial"/>
              </a:rPr>
              <a:t>Unit-05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600" b="1" i="0" u="none" strike="noStrike" cap="none" dirty="0">
                <a:solidFill>
                  <a:schemeClr val="dk1"/>
                </a:solidFill>
                <a:latin typeface="Arial"/>
              </a:rPr>
              <a:t>SECURITY OPERATIONS CENTER (SOC)</a:t>
            </a:r>
            <a:endParaRPr sz="2400" b="1" i="0" u="none" strike="noStrike" cap="none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6487886" y="2051293"/>
            <a:ext cx="5388428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1"/>
          <p:cNvSpPr/>
          <p:nvPr/>
        </p:nvSpPr>
        <p:spPr>
          <a:xfrm>
            <a:off x="8253448" y="4298179"/>
            <a:ext cx="3925217" cy="94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Gayathri Gagana</a:t>
            </a:r>
            <a:br>
              <a:rPr lang="en-US" sz="2200" i="0" u="none" strike="noStrike" cap="none" dirty="0">
                <a:solidFill>
                  <a:schemeClr val="dk1"/>
                </a:solidFill>
              </a:rPr>
            </a:b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gayathri.g@techdefence.com </a:t>
            </a:r>
            <a:endParaRPr sz="22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5741902" y="4314226"/>
            <a:ext cx="2530392" cy="94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Created by:</a:t>
            </a:r>
            <a:br>
              <a:rPr lang="en-US" sz="2200" i="0" u="none" strike="noStrike" cap="none" dirty="0">
                <a:solidFill>
                  <a:schemeClr val="dk1"/>
                </a:solidFill>
              </a:rPr>
            </a:b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Email Address: </a:t>
            </a:r>
            <a:endParaRPr sz="22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2" y="64701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Introduction to SOC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SOC Roles and Responsibilities, </a:t>
            </a:r>
            <a:r>
              <a:rPr sz="2200" b="0" dirty="0" err="1">
                <a:latin typeface="Calibri"/>
              </a:rPr>
              <a:t>SOCaaS</a:t>
            </a:r>
            <a:endParaRPr sz="2200" b="0" dirty="0">
              <a:latin typeface="Calibri"/>
            </a:endParaRP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SIEM in the SOC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SOC Detection Use Cases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Log Analysis for SOC Analysts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Alert Handling and Triage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Incident Response Lifecycle (NIST SP 800-61)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Threat Intelligence for SOC Analysts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 SOC is a centralised team, supported by processes and technology, that continuously monitors, detects, investigates and responds to cybersecurity threats across an organisation.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People, Process, Technology: </a:t>
            </a:r>
            <a:r>
              <a:rPr sz="2200" b="0">
                <a:latin typeface="Calibri"/>
              </a:rPr>
              <a:t>analysts follow defined procedures and use tools such as SIEM, EDR, firewalls and threat intelligence.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Runs 24x7x365: </a:t>
            </a:r>
            <a:r>
              <a:rPr sz="2200" b="0">
                <a:latin typeface="Calibri"/>
              </a:rPr>
              <a:t>attackers do not work office hours, so monitoring must never stop.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Single point of visibility: </a:t>
            </a:r>
            <a:r>
              <a:rPr sz="2200" b="0">
                <a:latin typeface="Calibri"/>
              </a:rPr>
              <a:t>collects security data from endpoints, servers, networks, cloud and applications.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Outcome: </a:t>
            </a:r>
            <a:r>
              <a:rPr sz="2200" b="0">
                <a:latin typeface="Calibri"/>
              </a:rPr>
              <a:t>reduce the time between an attack starting and the organisation detecting and containing it.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dirty="0">
                <a:latin typeface="Arial"/>
              </a:rPr>
              <a:t>WHAT IS A SECURITY OPERATIONS CENTER (SOC)?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Objectives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Detect threats early and reduce Mean Time to Detect (MTTD) and Mean Time to Respond (MTTR).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Minimise business impact, data loss and downtime from incidents.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Support compliance (ISO 27001, PCI-DSS, GDPR) through logging and reporting.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Continuously improve detection and defences using lessons learned.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Functions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Log collection and monitoring, alert triage, incident response and forensics support.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Threat intelligence use, vulnerability awareness, reporting and metrics.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OBJECTIVES AND FUNCTIONS OF A SOC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Security Monitoring: </a:t>
            </a:r>
            <a:r>
              <a:rPr sz="2200" b="0">
                <a:latin typeface="Calibri"/>
              </a:rPr>
              <a:t>continuous watching of logs, alerts and dashboards for suspicious activity.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Detection: </a:t>
            </a:r>
            <a:r>
              <a:rPr sz="2200" b="0">
                <a:latin typeface="Calibri"/>
              </a:rPr>
              <a:t>building and tuning rules and use cases that turn raw events into meaningful alerts.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Investigation: </a:t>
            </a:r>
            <a:r>
              <a:rPr sz="2200" b="0">
                <a:latin typeface="Calibri"/>
              </a:rPr>
              <a:t>analysing alerts to confirm whether they are real, and understanding scope and cause.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Incident Response: </a:t>
            </a:r>
            <a:r>
              <a:rPr sz="2200" b="0">
                <a:latin typeface="Calibri"/>
              </a:rPr>
              <a:t>containing, eradicating and recovering from confirmed incidents.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Threat Hunting: </a:t>
            </a:r>
            <a:r>
              <a:rPr sz="2200" b="0">
                <a:latin typeface="Calibri"/>
              </a:rPr>
              <a:t>proactively searching for hidden threats that automated tools have not flagged.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RESPONSIBILITIES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WORKFLOW / OPERATIONAL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The SOC operates as a continuous loop, where every incident feeds improvements back into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Monitor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Collect logs and watch dashboards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989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7636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Detect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Rules and correlation raise alerts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312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0872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Validate and analyse alerts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636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84108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Respond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Contain, eradicate, recover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960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7344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Improve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Tune rules, update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Improve feeds back into Monitor: lessons learned become new detection logic.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Each step is documented in the ticketing system for accountability and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TEAM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tiered model matches the complexity of the work to the experience of the person handling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Tier 1 Analyst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Alert triage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989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7636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Tier 2 Analyst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Deep investigation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312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0872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Tier 3 Analyst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Hunting, advanced IR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636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84108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SOC Manager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Operations and people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960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7344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CISO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Security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Work escalates upward through the tiers; reporting and risk communication flow up to the CISO.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Smaller organisations combine roles; larger ones add specialists (forensics, malware, engineering).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Alert monitoring: </a:t>
            </a:r>
            <a:r>
              <a:rPr sz="2200" b="0">
                <a:latin typeface="Calibri"/>
              </a:rPr>
              <a:t>watches the SIEM queue and dashboards continuously.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Initial validation: </a:t>
            </a:r>
            <a:r>
              <a:rPr sz="2200" b="0">
                <a:latin typeface="Calibri"/>
              </a:rPr>
              <a:t>checks whether the alert is genuine, using logs and context.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Basic investigation: </a:t>
            </a:r>
            <a:r>
              <a:rPr sz="2200" b="0">
                <a:latin typeface="Calibri"/>
              </a:rPr>
              <a:t>looks up IP, user, host and recent related events.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False-positive identification: </a:t>
            </a:r>
            <a:r>
              <a:rPr sz="2200" b="0">
                <a:latin typeface="Calibri"/>
              </a:rPr>
              <a:t>closes benign alerts with a documented reason.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Escalation: </a:t>
            </a:r>
            <a:r>
              <a:rPr sz="2200" b="0">
                <a:latin typeface="Calibri"/>
              </a:rPr>
              <a:t>passes confirmed or uncertain suspicious activity to Tier 2 with complete notes.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Typical skills: </a:t>
            </a:r>
            <a:r>
              <a:rPr sz="2200" b="0">
                <a:latin typeface="Calibri"/>
              </a:rPr>
              <a:t>log reading, SIEM search, ticketing, following playbooks.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3200" b="1" dirty="0">
                <a:latin typeface="Arial"/>
              </a:rPr>
              <a:t>TIER 1: ALERT TRIAGE AND FIRST RESPONSE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Detailed alert investigation: </a:t>
            </a:r>
            <a:r>
              <a:rPr sz="2200" b="0">
                <a:latin typeface="Calibri"/>
              </a:rPr>
              <a:t>goes beyond the first alert to understand what really happened.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Correlation of multiple events: </a:t>
            </a:r>
            <a:r>
              <a:rPr sz="2200" b="0">
                <a:latin typeface="Calibri"/>
              </a:rPr>
              <a:t>links logs from different sources (e.g. VPN + AD + endpoint).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Root-cause analysis: </a:t>
            </a:r>
            <a:r>
              <a:rPr sz="2200" b="0">
                <a:latin typeface="Calibri"/>
              </a:rPr>
              <a:t>finds how the attacker got in and what weakness was used.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Incident validation: </a:t>
            </a:r>
            <a:r>
              <a:rPr sz="2200" b="0">
                <a:latin typeface="Calibri"/>
              </a:rPr>
              <a:t>confirms the event is a real incident and sets its severity.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Evidence gathering: </a:t>
            </a:r>
            <a:r>
              <a:rPr sz="2200" b="0">
                <a:latin typeface="Calibri"/>
              </a:rPr>
              <a:t>preserves logs, files and timelines for response and possible legal action.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Also leads containment actions for standard incidents.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TIER 2: SECURITY INVESTIGATION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Threat hunting: </a:t>
            </a:r>
            <a:r>
              <a:rPr sz="2200" b="0">
                <a:latin typeface="Calibri"/>
              </a:rPr>
              <a:t>proactively looks for attackers using hypotheses and threat intelligence.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Advanced incident response: </a:t>
            </a:r>
            <a:r>
              <a:rPr sz="2200" b="0">
                <a:latin typeface="Calibri"/>
              </a:rPr>
              <a:t>handles major, complex or targeted incidents.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Detection engineering: </a:t>
            </a:r>
            <a:r>
              <a:rPr sz="2200" b="0">
                <a:latin typeface="Calibri"/>
              </a:rPr>
              <a:t>designs new detection rules and use cases.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SIEM rule tuning: </a:t>
            </a:r>
            <a:r>
              <a:rPr sz="2200" b="0">
                <a:latin typeface="Calibri"/>
              </a:rPr>
              <a:t>reduces false positives and closes detection gaps.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Advanced malware / threat analysis: </a:t>
            </a:r>
            <a:r>
              <a:rPr sz="2200" b="0">
                <a:latin typeface="Calibri"/>
              </a:rPr>
              <a:t>reverse engineers samples to extract IOCs and understand behaviour.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Mentors Tier 1 and Tier 2 analysts.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TIER 3: ADVANCED SECURITY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Team management: </a:t>
            </a:r>
            <a:r>
              <a:rPr sz="2200" b="0">
                <a:latin typeface="Calibri"/>
              </a:rPr>
              <a:t>shift rosters, hiring, training, performance and morale.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Incident coordination: </a:t>
            </a:r>
            <a:r>
              <a:rPr sz="2200" b="0">
                <a:latin typeface="Calibri"/>
              </a:rPr>
              <a:t>leads major incidents and coordinates IT, legal, HR and communications.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Metrics and reporting: </a:t>
            </a:r>
            <a:r>
              <a:rPr sz="2200" b="0">
                <a:latin typeface="Calibri"/>
              </a:rPr>
              <a:t>tracks MTTD, MTTR, alert volume, false-positive rate, SLA compliance.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Communication with management: </a:t>
            </a:r>
            <a:r>
              <a:rPr sz="2200" b="0">
                <a:latin typeface="Calibri"/>
              </a:rPr>
              <a:t>translates technical events into business impact.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Process improvement: </a:t>
            </a:r>
            <a:r>
              <a:rPr sz="2200" b="0">
                <a:latin typeface="Calibri"/>
              </a:rPr>
              <a:t>owns playbooks, escalation paths and tooling decisions.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AND CISO RELATIONSHIP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The SOC runs security operations day to day; the CISO sets direction and owns security risk.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SOC (Operational)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CISO (Strategic)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Detect and respond now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Policy, risk and long-term strategy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Incident reporting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Escalates and reports incidents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Informs board, regulators, 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Risk communication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Provides technical findings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Explains business risk to leadership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Security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Produces MTTD, MTTR, alert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Uses metrics for budget and priorities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Concept: </a:t>
            </a:r>
            <a:r>
              <a:rPr sz="2200" b="0">
                <a:latin typeface="Calibri"/>
              </a:rPr>
              <a:t>an external provider delivers SOC monitoring, detection and response as a subscription service.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How SOCaaS works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Provider connects to your logs, endpoints and cloud through agents or log forwarders.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Its analysts monitor 24x7 on its own SIEM and tools, and triage alerts.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Confirmed incidents are reported to you with recommended or automated actions.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Regular reports and review meetings track service levels.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Typical in: </a:t>
            </a:r>
            <a:r>
              <a:rPr sz="2200" b="0">
                <a:latin typeface="Calibri"/>
              </a:rPr>
              <a:t>small and mid-size organisations that cannot afford a full in-house SOC.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dirty="0" err="1">
                <a:latin typeface="Arial"/>
              </a:rPr>
              <a:t>SOCaaS</a:t>
            </a:r>
            <a:r>
              <a:rPr sz="2800" b="1" dirty="0">
                <a:latin typeface="Arial"/>
              </a:rPr>
              <a:t>: SECURITY OPERATIONS CENTER AS A SERVICE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VS SOCaaS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SOCaaS has clear benefits but also limitations that organisations must weigh.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0" cy="3535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In-house SOC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SOCaaS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High (staff, tools, facility)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Predictable subscription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Setup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Months to years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Depends on staffing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24x7 by default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Business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Deep knowledge of the organisation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Limited, needs onboarding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Control and data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Full control, data stays inside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Shared control, data leaves your network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120639"/>
            <a:ext cx="10360152" cy="640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Benefits: fast start, lower cost, access to expert talent.  Limitations: less context, dependency on provider, data privacy concerns.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SIEM (Security Information and Event Management) collects, normalises, stores and analyses log data from across the environment in real time.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Combines SIM (long-term log storage and reporting) and SEM (real-time monitoring and alerting).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Role in a SOC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Central place to search and investigate events from all sources.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Correlates events to detect attacks no single log would reveal.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Generates prioritised alerts and feeds the analysts' queue.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Provides dashboards, reports and audit evidence for compliance.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Examples: </a:t>
            </a:r>
            <a:r>
              <a:rPr sz="2200" b="0">
                <a:latin typeface="Calibri"/>
              </a:rPr>
              <a:t>Splunk, IBM QRadar, Microsoft Sentinel, Elastic Security, Wazuh.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WHAT IS SIEM AND ITS ROLE IN A SOC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SIEM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Data flows through the SIEM in stages, from raw log to analyst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Log Sources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Endpoints, servers, network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3253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30997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Collection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Agents, syslog, APIs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985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47594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Processing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Parse and normalise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6447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64191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Storage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Indexed log database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4304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80788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Correlation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Rules link events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59641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97385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Alerting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Notify analysts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7623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13982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Visual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Each stage matters: missing sources or poor parsing silently weakens every later detection.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Endpoints: </a:t>
            </a:r>
            <a:r>
              <a:rPr sz="2200" b="0">
                <a:latin typeface="Calibri"/>
              </a:rPr>
              <a:t>Windows Event Logs, Sysmon, EDR telemetry, antivirus alerts.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Firewalls: </a:t>
            </a:r>
            <a:r>
              <a:rPr sz="2200" b="0">
                <a:latin typeface="Calibri"/>
              </a:rPr>
              <a:t>allowed and denied connections, VPN sessions, NAT activity.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Servers: </a:t>
            </a:r>
            <a:r>
              <a:rPr sz="2200" b="0">
                <a:latin typeface="Calibri"/>
              </a:rPr>
              <a:t>authentication logs, Active Directory, DNS, DHCP, database and mail servers.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Applications: </a:t>
            </a:r>
            <a:r>
              <a:rPr sz="2200" b="0">
                <a:latin typeface="Calibri"/>
              </a:rPr>
              <a:t>web, application and audit logs, login and transaction activity.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Network devices: </a:t>
            </a:r>
            <a:r>
              <a:rPr sz="2200" b="0">
                <a:latin typeface="Calibri"/>
              </a:rPr>
              <a:t>routers, switches, IDS/IPS, proxies and wireless controllers.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Methods: </a:t>
            </a:r>
            <a:r>
              <a:rPr sz="2200" b="0">
                <a:latin typeface="Calibri"/>
              </a:rPr>
              <a:t>agents, syslog forwarding, API pulls and log file collectors.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Good practice: </a:t>
            </a:r>
            <a:r>
              <a:rPr sz="2200" b="0">
                <a:latin typeface="Calibri"/>
              </a:rPr>
              <a:t>synchronise time (NTP) on all devices so events line up.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LOG COLLECTION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LOG NORMALISATION AND PARSING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Different devices write logs in different formats; normalisation converts them into one common structure.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4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Common field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Example value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Timestamp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2026-10-08 02:14:33 UTC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Source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203.0.113.45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Destination IP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10.0.0.12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Username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login_failed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120639"/>
            <a:ext cx="10360152" cy="640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Why it is required: one query can search every source, and correlation rules work across vendors.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Parsing extracts these fields from the raw log text (using regex or built-in parsers).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correlation? </a:t>
            </a:r>
            <a:r>
              <a:rPr sz="2200" b="0">
                <a:latin typeface="Calibri"/>
              </a:rPr>
              <a:t>linking multiple events, across time or sources, to spot patterns that indicate an attack.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Single-event detection: </a:t>
            </a:r>
            <a:r>
              <a:rPr sz="2200" b="0">
                <a:latin typeface="Calibri"/>
              </a:rPr>
              <a:t>one log is enough, e.g. a security log being cleared.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Multi-event detection: </a:t>
            </a:r>
            <a:r>
              <a:rPr sz="2200" b="0">
                <a:latin typeface="Calibri"/>
              </a:rPr>
              <a:t>a sequence or count of events, e.g. many failed logins followed by a success.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Rule-based detection: </a:t>
            </a:r>
            <a:r>
              <a:rPr sz="2200" b="0">
                <a:latin typeface="Calibri"/>
              </a:rPr>
              <a:t>IF conditions are met THEN raise an alert of a set severity.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Example: </a:t>
            </a:r>
            <a:r>
              <a:rPr sz="2200" b="0">
                <a:latin typeface="Calibri"/>
              </a:rPr>
              <a:t>IF 10 failed logins from one IP within 5 minutes AND a successful login from the same IP THEN alert High, possible brute-force success.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Example: </a:t>
            </a:r>
            <a:r>
              <a:rPr sz="2200" b="0">
                <a:latin typeface="Calibri"/>
              </a:rPr>
              <a:t>IF VPN login from India AND login from another country within 1 hour THEN alert, impossible travel.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CORRELATION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ALERTING THRESHOLDS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threshold defines how much activity is needed before an alert fires; it balances missed attacks against noise.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4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Threshold example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Multiple failed logins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5+ failures for one account in 5 minutes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Excessive connections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500+ connections from one IP in 1 minute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Multiple privilege changes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3+ privilege changes by one user in 1 hour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799"/>
            <a:ext cx="10360152" cy="164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Threshold-based detection: counts events against a limit.  Time-based thresholds: the count must occur inside a time window.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Thresholds must be tuned to normal behaviour of the environment.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Security overview: </a:t>
            </a:r>
            <a:r>
              <a:rPr sz="2200" b="0">
                <a:latin typeface="Calibri"/>
              </a:rPr>
              <a:t>total events, alerts by severity, top affected assets.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Authentication activity: </a:t>
            </a:r>
            <a:r>
              <a:rPr sz="2200" b="0">
                <a:latin typeface="Calibri"/>
              </a:rPr>
              <a:t>successful and failed logins, locked accounts, logins by location.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Network activity: </a:t>
            </a:r>
            <a:r>
              <a:rPr sz="2200" b="0">
                <a:latin typeface="Calibri"/>
              </a:rPr>
              <a:t>top talkers, blocked traffic, unusual ports and destinations.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Critical alerts: </a:t>
            </a:r>
            <a:r>
              <a:rPr sz="2200" b="0">
                <a:latin typeface="Calibri"/>
              </a:rPr>
              <a:t>live list of high-severity items needing attention now.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Incident statistics: </a:t>
            </a:r>
            <a:r>
              <a:rPr sz="2200" b="0">
                <a:latin typeface="Calibri"/>
              </a:rPr>
              <a:t>open vs closed incidents, MTTD/MTTR, trends over time.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Purpose: </a:t>
            </a:r>
            <a:r>
              <a:rPr sz="2200" b="0">
                <a:latin typeface="Calibri"/>
              </a:rPr>
              <a:t>give analysts quick situational awareness and give management clear reports.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SIEM DASHBOARDS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 use case is a specific threat scenario the SOC wants to detect, together with the logic, data and response steps needed.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It answers: what attack, what evidence in the logs, what rule, and what the analyst does next.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Good use cases are mapped to frameworks such as MITRE ATT&amp;CK.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Examples covered next: </a:t>
            </a:r>
            <a:r>
              <a:rPr sz="2200" b="0">
                <a:latin typeface="Calibri"/>
              </a:rPr>
              <a:t>brute-force attack, privilege escalation, data exfiltration.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Use cases are reviewed regularly, because attackers and environments change.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WHAT IS A SIEM USE CASE?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Attack: </a:t>
            </a:r>
            <a:r>
              <a:rPr sz="2200" b="0">
                <a:latin typeface="Calibri"/>
              </a:rPr>
              <a:t>the attacker repeatedly guesses passwords to take over an account.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Multiple failed logins: </a:t>
            </a:r>
            <a:r>
              <a:rPr sz="2200" b="0">
                <a:latin typeface="Calibri"/>
              </a:rPr>
              <a:t>many failures for one account (password guessing) or one failure each on many accounts (password spraying).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Source IP analysis: </a:t>
            </a:r>
            <a:r>
              <a:rPr sz="2200" b="0">
                <a:latin typeface="Calibri"/>
              </a:rPr>
              <a:t>one IP, many IPs (distributed), internal vs external, reputation and geolocation.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Successful login following failures: </a:t>
            </a:r>
            <a:r>
              <a:rPr sz="2200" b="0">
                <a:latin typeface="Calibri"/>
              </a:rPr>
              <a:t>the strongest sign of compromise, so raise severity immediately.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Response: </a:t>
            </a:r>
            <a:r>
              <a:rPr sz="2200" b="0">
                <a:latin typeface="Calibri"/>
              </a:rPr>
              <a:t>verify with the user, reset credentials, block the IP, enforce MFA and account lockout.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Logs: </a:t>
            </a:r>
            <a:r>
              <a:rPr sz="2200" b="0">
                <a:latin typeface="Calibri"/>
              </a:rPr>
              <a:t>Windows 4625 / 4624, Linux auth.log, VPN and web login logs.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BRUTE-FORCE ATTACK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Attack: </a:t>
            </a:r>
            <a:r>
              <a:rPr sz="2200" b="0">
                <a:latin typeface="Calibri"/>
              </a:rPr>
              <a:t>an attacker gains higher permissions than originally obtained, to control systems and data.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Privileged account creation: </a:t>
            </a:r>
            <a:r>
              <a:rPr sz="2200" b="0">
                <a:latin typeface="Calibri"/>
              </a:rPr>
              <a:t>new admin account, e.g. Windows Event ID 4720 outside change windows.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Privilege assignment: </a:t>
            </a:r>
            <a:r>
              <a:rPr sz="2200" b="0">
                <a:latin typeface="Calibri"/>
              </a:rPr>
              <a:t>user added to Domain Admins, Administrators or sudoers.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Suspicious administrative activity: </a:t>
            </a:r>
            <a:r>
              <a:rPr sz="2200" b="0">
                <a:latin typeface="Calibri"/>
              </a:rPr>
              <a:t>disabling security tools, clearing logs, installing services (7045), admin logins at odd hours.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Response: </a:t>
            </a:r>
            <a:r>
              <a:rPr sz="2200" b="0">
                <a:latin typeface="Calibri"/>
              </a:rPr>
              <a:t>confirm with the change record, disable the account, review what it did, check for persistence.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PRIVILEGE ESCALATION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Attack: </a:t>
            </a:r>
            <a:r>
              <a:rPr sz="2200" b="0">
                <a:latin typeface="Calibri"/>
              </a:rPr>
              <a:t>sensitive data is copied out of the network to an attacker-controlled location.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Large outbound data transfers: </a:t>
            </a:r>
            <a:r>
              <a:rPr sz="2200" b="0">
                <a:latin typeface="Calibri"/>
              </a:rPr>
              <a:t>volumes far above a user's or host's normal baseline.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Unusual destinations: </a:t>
            </a:r>
            <a:r>
              <a:rPr sz="2200" b="0">
                <a:latin typeface="Calibri"/>
              </a:rPr>
              <a:t>unknown countries, newly registered domains, personal cloud storage, file-sharing sites.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Abnormal user activity: </a:t>
            </a:r>
            <a:r>
              <a:rPr sz="2200" b="0">
                <a:latin typeface="Calibri"/>
              </a:rPr>
              <a:t>mass file downloads, database dumps, access to files outside the user's role.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Off-hours transfers: </a:t>
            </a:r>
            <a:r>
              <a:rPr sz="2200" b="0">
                <a:latin typeface="Calibri"/>
              </a:rPr>
              <a:t>large uploads at night or on weekends.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Response: </a:t>
            </a:r>
            <a:r>
              <a:rPr sz="2200" b="0">
                <a:latin typeface="Calibri"/>
              </a:rPr>
              <a:t>block the destination, isolate the host, identify what data left, escalate immediately.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DATA EXFILTRATION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BUILDING A DETECTION USE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structured template keeps every use case consistent and testable.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377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4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Example: Brute-force detection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Detect account takeover through password guessing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Log sources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Windows Security logs, VPN, Linux auth.log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Detection logic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Failed logins followed by a success from the same IP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10 failures within 5 minutes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Alert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High severity, ticket created for Tier 1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Investigation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Check IP reputation, user confirmation, account activity, then contain or 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Log analysis is the process of reading and interpreting log records to understand what happened on systems and networks.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Why logs matter in security monitoring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Logs are the primary evidence of activity: who did what, when and from where.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Detection depends on logs, since no logs means no visibility.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Investigations and forensic timelines are built from logs.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Compliance and audits require log retention.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Always ask: </a:t>
            </a:r>
            <a:r>
              <a:rPr sz="2200" b="0">
                <a:latin typeface="Calibri"/>
              </a:rPr>
              <a:t>Who? What? When? Where? From where? Was it normal?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INTRODUCTION TO LOG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Stored by Windows in the Security, System and Application logs and viewed in Event Viewer.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Event ID: </a:t>
            </a:r>
            <a:r>
              <a:rPr sz="2200" b="0">
                <a:latin typeface="Calibri"/>
              </a:rPr>
              <a:t>number identifying the type of event (e.g. 4624).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Timestamp: </a:t>
            </a:r>
            <a:r>
              <a:rPr sz="2200" b="0">
                <a:latin typeface="Calibri"/>
              </a:rPr>
              <a:t>when the event occurred.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User: </a:t>
            </a:r>
            <a:r>
              <a:rPr sz="2200" b="0">
                <a:latin typeface="Calibri"/>
              </a:rPr>
              <a:t>the account involved.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Computer: </a:t>
            </a:r>
            <a:r>
              <a:rPr sz="2200" b="0">
                <a:latin typeface="Calibri"/>
              </a:rPr>
              <a:t>the host that generated the event.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Source: </a:t>
            </a:r>
            <a:r>
              <a:rPr sz="2200" b="0">
                <a:latin typeface="Calibri"/>
              </a:rPr>
              <a:t>the component that logged it (e.g. Microsoft-Windows-Security-Auditing).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Event details: </a:t>
            </a:r>
            <a:r>
              <a:rPr sz="2200" b="0">
                <a:latin typeface="Calibri"/>
              </a:rPr>
              <a:t>extra fields such as logon type, source IP, process name and failure reason.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WINDOWS EVENT LOGS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IMPORTANT WINDOWS EVENT IDS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small set of Event IDs covers many everyday SOC investigations.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0" cy="355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Event ID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4624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Successful logon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Check logon type (3 = network, 10 = RDP) and source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4625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Failed logon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Many failures indicate brute force or spraying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4720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User account created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Unexpected creation may be a backdoor account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7045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New service installed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Common persistence and malware technique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Location: </a:t>
            </a:r>
            <a:r>
              <a:rPr sz="2200" b="0">
                <a:latin typeface="Calibri"/>
              </a:rPr>
              <a:t>/var/log/auth.log (Debian/Ubuntu) or /var/log/secure (RHEL/CentOS).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Successful authentication: </a:t>
            </a:r>
            <a:r>
              <a:rPr sz="2200" b="0">
                <a:latin typeface="Calibri"/>
              </a:rPr>
              <a:t>lines such as 'Accepted password for user from IP port ... ssh2'.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Failed authentication: </a:t>
            </a:r>
            <a:r>
              <a:rPr sz="2200" b="0">
                <a:latin typeface="Calibri"/>
              </a:rPr>
              <a:t>'Failed password for invalid user ...' repeated from one IP signals brute force.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SSH activity: </a:t>
            </a:r>
            <a:r>
              <a:rPr sz="2200" b="0">
                <a:latin typeface="Calibri"/>
              </a:rPr>
              <a:t>logins, key use, root login attempts, source IPs and ports.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sudo activity: </a:t>
            </a:r>
            <a:r>
              <a:rPr sz="2200" b="0">
                <a:latin typeface="Calibri"/>
              </a:rPr>
              <a:t>shows who ran which command as root; watch for unexpected privilege use.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Useful commands: </a:t>
            </a:r>
            <a:r>
              <a:rPr sz="2200" b="0">
                <a:latin typeface="Calibri"/>
              </a:rPr>
              <a:t>grep 'Failed password' auth.log | awk to count attempts per IP.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LINUX AUTHENTICATION LOGS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Key fields: </a:t>
            </a:r>
            <a:r>
              <a:rPr sz="2200" b="0">
                <a:latin typeface="Calibri"/>
              </a:rPr>
              <a:t>source IP, destination IP, port, protocol (TCP/UDP/ICMP), action and bytes transferred.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Allow / deny: </a:t>
            </a:r>
            <a:r>
              <a:rPr sz="2200" b="0">
                <a:latin typeface="Calibri"/>
              </a:rPr>
              <a:t>many denies from one source suggest scanning or probing; an allow after many denies is suspicious.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Port analysis: </a:t>
            </a:r>
            <a:r>
              <a:rPr sz="2200" b="0">
                <a:latin typeface="Calibri"/>
              </a:rPr>
              <a:t>unusual ports (e.g. 4444, 23, 3389 exposed) point to malware or misconfiguration.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Traffic volume: </a:t>
            </a:r>
            <a:r>
              <a:rPr sz="2200" b="0">
                <a:latin typeface="Calibri"/>
              </a:rPr>
              <a:t>large outbound volume may mean data exfiltration; large inbound spikes may be DoS.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Example: </a:t>
            </a:r>
            <a:r>
              <a:rPr sz="2200" b="0">
                <a:latin typeface="Calibri"/>
              </a:rPr>
              <a:t>DENY TCP 198.51.100.7 -&gt; 10.0.0.5:22 repeated hundreds of times = SSH scan.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FIREWALL LOG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Client IP: </a:t>
            </a:r>
            <a:r>
              <a:rPr sz="2200" b="0">
                <a:latin typeface="Calibri"/>
              </a:rPr>
              <a:t>who made the request.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Request method: </a:t>
            </a:r>
            <a:r>
              <a:rPr sz="2200" b="0">
                <a:latin typeface="Calibri"/>
              </a:rPr>
              <a:t>GET, POST, PUT, DELETE; unusual methods can indicate probing.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URL: </a:t>
            </a:r>
            <a:r>
              <a:rPr sz="2200" b="0">
                <a:latin typeface="Calibri"/>
              </a:rPr>
              <a:t>the page or resource, watch for ../ (path traversal), ' OR 1=1 (SQL injection) or &lt;script&gt; (XSS).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HTTP status code: </a:t>
            </a:r>
            <a:r>
              <a:rPr sz="2200" b="0">
                <a:latin typeface="Calibri"/>
              </a:rPr>
              <a:t>200 OK, 301/302 redirect, 401/403 denied, 404 not found, 500 server error. Many 404s = scanning.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User agent: </a:t>
            </a:r>
            <a:r>
              <a:rPr sz="2200" b="0">
                <a:latin typeface="Calibri"/>
              </a:rPr>
              <a:t>client software; tools like sqlmap or Nikto are suspicious.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Response size: </a:t>
            </a:r>
            <a:r>
              <a:rPr sz="2200" b="0">
                <a:latin typeface="Calibri"/>
              </a:rPr>
              <a:t>unusually large responses may show data leakage.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WEB SERVER ACCESS LOGS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Unusual IP addresses: </a:t>
            </a:r>
            <a:r>
              <a:rPr sz="2200" b="0">
                <a:latin typeface="Calibri"/>
              </a:rPr>
              <a:t>unknown countries, TOR exit nodes, known-malicious IPs.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Repeated failures: </a:t>
            </a:r>
            <a:r>
              <a:rPr sz="2200" b="0">
                <a:latin typeface="Calibri"/>
              </a:rPr>
              <a:t>many failed logins or denied connections.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Suspicious usernames: </a:t>
            </a:r>
            <a:r>
              <a:rPr sz="2200" b="0">
                <a:latin typeface="Calibri"/>
              </a:rPr>
              <a:t>admin, root, test, or accounts that never existed before.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Unusual time of access: </a:t>
            </a:r>
            <a:r>
              <a:rPr sz="2200" b="0">
                <a:latin typeface="Calibri"/>
              </a:rPr>
              <a:t>logins at 3 AM or on holidays.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Abnormal traffic: </a:t>
            </a:r>
            <a:r>
              <a:rPr sz="2200" b="0">
                <a:latin typeface="Calibri"/>
              </a:rPr>
              <a:t>large transfers, odd ports, beaconing at regular intervals.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Unexpected administrative activity: </a:t>
            </a:r>
            <a:r>
              <a:rPr sz="2200" b="0">
                <a:latin typeface="Calibri"/>
              </a:rPr>
              <a:t>new admins, policy changes, cleared logs.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Suspicious user agents: </a:t>
            </a:r>
            <a:r>
              <a:rPr sz="2200" b="0">
                <a:latin typeface="Calibri"/>
              </a:rPr>
              <a:t>scanners, scripts or empty user-agent strings.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WHAT DOES A SOC ANALYST LOOK FOR?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 security alert is a notification raised when activity matches a detection rule, indicating possible malicious behaviour.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An alert is not yet an incident; it must be validated first.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Alert generation: </a:t>
            </a:r>
            <a:r>
              <a:rPr sz="2200" b="0">
                <a:latin typeface="Calibri"/>
              </a:rPr>
              <a:t>a correlation rule or threshold is triggered by incoming logs.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Alert queue: </a:t>
            </a:r>
            <a:r>
              <a:rPr sz="2200" b="0">
                <a:latin typeface="Calibri"/>
              </a:rPr>
              <a:t>alerts appear in a list for analysts to pick up in order.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Severity: </a:t>
            </a:r>
            <a:r>
              <a:rPr sz="2200" b="0">
                <a:latin typeface="Calibri"/>
              </a:rPr>
              <a:t>how serious the activity could be (set by the rule).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Priority: </a:t>
            </a:r>
            <a:r>
              <a:rPr sz="2200" b="0">
                <a:latin typeface="Calibri"/>
              </a:rPr>
              <a:t>how urgently to act, considering severity and the importance of the asset.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dirty="0">
                <a:latin typeface="Arial"/>
              </a:rPr>
              <a:t>WHAT IS A SECURITY ALERT? ALERT RECEIPT IN SIEM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ALERT TRIAGE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Triage is a repeatable decision path that keeps handling fast and consistent.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Alert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Received in queue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989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7636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Validate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Is it genuine?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312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0872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Gather context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636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84108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Classify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TP / FP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960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7344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Escalate or Close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Act and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Validate: check the rule, raw logs and whether it is expected activity.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Investigate: look at user, host, IP, time and related events.  Always document before closing.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ALERT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Every alert is classified so that the SOC can measure and improve detection quality.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270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4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4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Alert fired?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Real threat?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Real attack correctly detected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False Positive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Harmless activity wrongly flagged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True Negative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Normal activity, no alert (correct)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799"/>
            <a:ext cx="10360152" cy="164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fourth case, False Negative (real attack, no alert), is the most dangerous and is found through hunting and reviews.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TRUE POSITIVE VS FALSE POSITIVE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Too many false positives cause alert fatigue, which makes analysts miss real threats.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1767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4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True Positive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False Positive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Brute-force from an unknown IP, followed by a successful login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Admin mistypes password 5 times, then logs in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Escalate and contain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Close with a documented reason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611879"/>
            <a:ext cx="10360152" cy="2148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Why false positives occur: rules too broad, thresholds too low, missing context, scheduled scans or backups.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Reducing them: tune thresholds, whitelist known-good sources, add context, review and refine rules regularly.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ALERT SEVERITY AND PRIORITY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Severity and priority decide the order in which alerts are handled.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Minimal risk, informational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Single failed login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Possible threat, needs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Port scan from external 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Likely attack in progress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Successful login after brute force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Confirmed major impact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Ransomware or data exfiltration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Escalate from Tier 1 to Tier 2 (or higher) when any of the following is true: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Severity: </a:t>
            </a:r>
            <a:r>
              <a:rPr sz="2200" b="0">
                <a:latin typeface="Calibri"/>
              </a:rPr>
              <a:t>the alert is High or Critical.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Business impact: </a:t>
            </a:r>
            <a:r>
              <a:rPr sz="2200" b="0">
                <a:latin typeface="Calibri"/>
              </a:rPr>
              <a:t>services, customers or revenue are affected or at risk.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Critical asset involved: </a:t>
            </a:r>
            <a:r>
              <a:rPr sz="2200" b="0">
                <a:latin typeface="Calibri"/>
              </a:rPr>
              <a:t>domain controller, database, payment or production server.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Confirmed compromise: </a:t>
            </a:r>
            <a:r>
              <a:rPr sz="2200" b="0">
                <a:latin typeface="Calibri"/>
              </a:rPr>
              <a:t>evidence that an attacker succeeded.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Privileged account involvement: </a:t>
            </a:r>
            <a:r>
              <a:rPr sz="2200" b="0">
                <a:latin typeface="Calibri"/>
              </a:rPr>
              <a:t>admin or service accounts are used or created.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Data loss / exfiltration: </a:t>
            </a:r>
            <a:r>
              <a:rPr sz="2200" b="0">
                <a:latin typeface="Calibri"/>
              </a:rPr>
              <a:t>sensitive data has left, or may have left, the network.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ESCALATION CRITERIA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Good notes let anyone continue the work and support audits and lessons learned.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happened? </a:t>
            </a:r>
            <a:r>
              <a:rPr sz="2200" b="0">
                <a:latin typeface="Calibri"/>
              </a:rPr>
              <a:t>a clear description of the event and the rule that triggered.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When did it happen? </a:t>
            </a:r>
            <a:r>
              <a:rPr sz="2200" b="0">
                <a:latin typeface="Calibri"/>
              </a:rPr>
              <a:t>start, end and detection times (with time zone).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Which user / host / IP was involved? </a:t>
            </a:r>
            <a:r>
              <a:rPr sz="2200" b="0">
                <a:latin typeface="Calibri"/>
              </a:rPr>
              <a:t>all affected and related entities.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investigation was performed? </a:t>
            </a:r>
            <a:r>
              <a:rPr sz="2200" b="0">
                <a:latin typeface="Calibri"/>
              </a:rPr>
              <a:t>searches run, tools used, findings and evidence.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action was taken? </a:t>
            </a:r>
            <a:r>
              <a:rPr sz="2200" b="0">
                <a:latin typeface="Calibri"/>
              </a:rPr>
              <a:t>closed, escalated, blocked or contained, and the reason.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ALERT 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SOC TICKET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Every alert that needs work becomes a ticket that is tracked until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Create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Ticket opened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3253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30997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Assign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Owner chosen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985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47594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Analysis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6447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64191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Escalate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If needed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4304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80788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Remediate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Fix and contain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59641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97385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Resolve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Confirm fixed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7623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13982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Close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Document, 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Tickets provide accountability, SLA tracking and a historical record for reporting.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dirty="0">
                <a:latin typeface="Arial"/>
              </a:rPr>
              <a:t>SECURITY INCIDENT AND NIST SP 800-61 LIFECYCLE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security incident is an event that actually or potentially violates security policy and harms confidentiality, integrity or availability. NIST SP 800-61 gives a six-phase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 Preparation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Be ready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602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83764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 Detection and Analysis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Find and confirm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538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3128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 Containment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Stop the spread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474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22492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 Eradication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Remove the cause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5411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91856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 Recovery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Restore services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3476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61220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 Post-Incident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Phases 2 to 5 often loop: new findings during analysis can require wider containment.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Policies: </a:t>
            </a:r>
            <a:r>
              <a:rPr sz="2200" b="0">
                <a:latin typeface="Calibri"/>
              </a:rPr>
              <a:t>incident response policy, acceptable use, data classification, reporting rules.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Tools: </a:t>
            </a:r>
            <a:r>
              <a:rPr sz="2200" b="0">
                <a:latin typeface="Calibri"/>
              </a:rPr>
              <a:t>SIEM, EDR, forensic kits, backups, secure communication channels.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Roles: </a:t>
            </a:r>
            <a:r>
              <a:rPr sz="2200" b="0">
                <a:latin typeface="Calibri"/>
              </a:rPr>
              <a:t>defined incident response team with clear responsibilities and contacts.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Playbooks: </a:t>
            </a:r>
            <a:r>
              <a:rPr sz="2200" b="0">
                <a:latin typeface="Calibri"/>
              </a:rPr>
              <a:t>step-by-step procedures for common incidents (phishing, ransomware, malware).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Training: </a:t>
            </a:r>
            <a:r>
              <a:rPr sz="2200" b="0">
                <a:latin typeface="Calibri"/>
              </a:rPr>
              <a:t>awareness for staff, drills and tabletop exercises for the response team.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PHASE 1: PREPARATION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Alert detection: </a:t>
            </a:r>
            <a:r>
              <a:rPr sz="2200" b="0">
                <a:latin typeface="Calibri"/>
              </a:rPr>
              <a:t>from SIEM, EDR, users, or threat intelligence.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Event correlation: </a:t>
            </a:r>
            <a:r>
              <a:rPr sz="2200" b="0">
                <a:latin typeface="Calibri"/>
              </a:rPr>
              <a:t>combine logs from several sources to build the picture.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Validation: </a:t>
            </a:r>
            <a:r>
              <a:rPr sz="2200" b="0">
                <a:latin typeface="Calibri"/>
              </a:rPr>
              <a:t>confirm that it is a real incident, not a false positive.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Incident analysis: </a:t>
            </a:r>
            <a:r>
              <a:rPr sz="2200" b="0">
                <a:latin typeface="Calibri"/>
              </a:rPr>
              <a:t>determine scope (which systems, accounts, data), attack type and timeline.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Prioritise and record: </a:t>
            </a:r>
            <a:r>
              <a:rPr sz="2200" b="0">
                <a:latin typeface="Calibri"/>
              </a:rPr>
              <a:t>set severity, document findings and notify stakeholders.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PHASE 2: DETECTION AND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Goal: </a:t>
            </a:r>
            <a:r>
              <a:rPr sz="2200" b="0">
                <a:latin typeface="Calibri"/>
              </a:rPr>
              <a:t>stop the incident from spreading while preserving evidence.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Short-term containment: </a:t>
            </a:r>
            <a:r>
              <a:rPr sz="2200" b="0">
                <a:latin typeface="Calibri"/>
              </a:rPr>
              <a:t>quick actions such as disconnecting a host, blocking an IP, disabling an account.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Long-term containment: </a:t>
            </a:r>
            <a:r>
              <a:rPr sz="2200" b="0">
                <a:latin typeface="Calibri"/>
              </a:rPr>
              <a:t>temporary fixes that let the business run, e.g. network segmentation, patched clean systems.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Isolating compromised systems: </a:t>
            </a:r>
            <a:r>
              <a:rPr sz="2200" b="0">
                <a:latin typeface="Calibri"/>
              </a:rPr>
              <a:t>use EDR network isolation or move to a quarantine VLAN rather than powering off, so memory evidence is kept.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PHASE 3: CONTAINMENT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Goal: </a:t>
            </a:r>
            <a:r>
              <a:rPr sz="2200" b="0">
                <a:latin typeface="Calibri"/>
              </a:rPr>
              <a:t>remove the attacker and the cause so the incident cannot recur.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Malware removal: </a:t>
            </a:r>
            <a:r>
              <a:rPr sz="2200" b="0">
                <a:latin typeface="Calibri"/>
              </a:rPr>
              <a:t>delete malicious files, or rebuild affected systems from clean images.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Account remediation: </a:t>
            </a:r>
            <a:r>
              <a:rPr sz="2200" b="0">
                <a:latin typeface="Calibri"/>
              </a:rPr>
              <a:t>reset passwords, revoke tokens and sessions, remove rogue accounts.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Vulnerability removal: </a:t>
            </a:r>
            <a:r>
              <a:rPr sz="2200" b="0">
                <a:latin typeface="Calibri"/>
              </a:rPr>
              <a:t>patch the weakness that was exploited and fix misconfigurations.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Persistence removal: </a:t>
            </a:r>
            <a:r>
              <a:rPr sz="2200" b="0">
                <a:latin typeface="Calibri"/>
              </a:rPr>
              <a:t>remove scheduled tasks, services (e.g. Event 7045), registry run keys and backdoors.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PHASE 4: ERADICATION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System restoration: </a:t>
            </a:r>
            <a:r>
              <a:rPr sz="2200" b="0">
                <a:latin typeface="Calibri"/>
              </a:rPr>
              <a:t>restore from clean backups and bring systems back in a planned order.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Monitoring: </a:t>
            </a:r>
            <a:r>
              <a:rPr sz="2200" b="0">
                <a:latin typeface="Calibri"/>
              </a:rPr>
              <a:t>watch recovered systems closely for signs of re-infection.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Validation: </a:t>
            </a:r>
            <a:r>
              <a:rPr sz="2200" b="0">
                <a:latin typeface="Calibri"/>
              </a:rPr>
              <a:t>test that systems and data are working and secure before release.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Returning to normal operations: </a:t>
            </a:r>
            <a:r>
              <a:rPr sz="2200" b="0">
                <a:latin typeface="Calibri"/>
              </a:rPr>
              <a:t>formally hand services back to the business and close the incident response phase.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PHASE 5: RECOVERY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Root-cause analysis: </a:t>
            </a:r>
            <a:r>
              <a:rPr sz="2200" b="0">
                <a:latin typeface="Calibri"/>
              </a:rPr>
              <a:t>why the incident happened and why it was not stopped earlier.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Lessons learned: </a:t>
            </a:r>
            <a:r>
              <a:rPr sz="2200" b="0">
                <a:latin typeface="Calibri"/>
              </a:rPr>
              <a:t>a meeting held soon after the incident, with everyone involved.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Documentation: </a:t>
            </a:r>
            <a:r>
              <a:rPr sz="2200" b="0">
                <a:latin typeface="Calibri"/>
              </a:rPr>
              <a:t>full incident report with timeline, impact and actions taken.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Detection improvement: </a:t>
            </a:r>
            <a:r>
              <a:rPr sz="2200" b="0">
                <a:latin typeface="Calibri"/>
              </a:rPr>
              <a:t>new or tuned SIEM rules and use cases from the findings.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Preventive measures: </a:t>
            </a:r>
            <a:r>
              <a:rPr sz="2200" b="0">
                <a:latin typeface="Calibri"/>
              </a:rPr>
              <a:t>patching, access control, training and policy changes.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PHASE 6: POST-INCIDENT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When to escalate: </a:t>
            </a:r>
            <a:r>
              <a:rPr sz="2200" b="0">
                <a:latin typeface="Calibri"/>
              </a:rPr>
              <a:t>High/Critical severity, confirmed compromise, critical or privileged assets, or when unsure.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Information to provide: </a:t>
            </a:r>
            <a:r>
              <a:rPr sz="2200" b="0">
                <a:latin typeface="Calibri"/>
              </a:rPr>
              <a:t>alert name, time, affected users, hosts and IPs, and severity.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Evidence collected: </a:t>
            </a:r>
            <a:r>
              <a:rPr sz="2200" b="0">
                <a:latin typeface="Calibri"/>
              </a:rPr>
              <a:t>log excerpts, screenshots, IP reputation results, related alerts.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Investigation notes: </a:t>
            </a:r>
            <a:r>
              <a:rPr sz="2200" b="0">
                <a:latin typeface="Calibri"/>
              </a:rPr>
              <a:t>what was checked, what was found and what was ruled out.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Communication: </a:t>
            </a:r>
            <a:r>
              <a:rPr sz="2200" b="0">
                <a:latin typeface="Calibri"/>
              </a:rPr>
              <a:t>ticket updated plus a direct message or call for urgent cases; do not close the loop until Tier 2 accepts.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TIER 1 TO TIER 2 INCIDENT HANDOFF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Threat intelligence (TI) is evidence-based knowledge about threats, attackers, their tools and their methods, used to make better security decisions.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Role in a SOC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Adds context to alerts so analysts can decide faster.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Feeds SIEM with known-bad IPs, domains and hashes for detection.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Guides threat hunting and prioritisation.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Helps the SOC prepare for threats relevant to its sector.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Types: </a:t>
            </a:r>
            <a:r>
              <a:rPr sz="2200" b="0">
                <a:latin typeface="Calibri"/>
              </a:rPr>
              <a:t>strategic, operational, tactical and technical (IOCs).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3200" b="1" dirty="0">
                <a:latin typeface="Arial"/>
              </a:rPr>
              <a:t>WHAT IS THREAT INTELLIGENCE? ROLE IN A SOC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IOCs are observable pieces of evidence that a system may have been compromised.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IP address: </a:t>
            </a:r>
            <a:r>
              <a:rPr sz="2200" b="0">
                <a:latin typeface="Calibri"/>
              </a:rPr>
              <a:t>command-and-control servers, scanners, attack sources.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Domain: </a:t>
            </a:r>
            <a:r>
              <a:rPr sz="2200" b="0">
                <a:latin typeface="Calibri"/>
              </a:rPr>
              <a:t>phishing, malware download and C2 domains.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File hash: </a:t>
            </a:r>
            <a:r>
              <a:rPr sz="2200" b="0">
                <a:latin typeface="Calibri"/>
              </a:rPr>
              <a:t>MD5/SHA-256 fingerprint of a known malicious file.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User agent: </a:t>
            </a:r>
            <a:r>
              <a:rPr sz="2200" b="0">
                <a:latin typeface="Calibri"/>
              </a:rPr>
              <a:t>unusual or tool-specific client strings used by attackers.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Caution: </a:t>
            </a:r>
            <a:r>
              <a:rPr sz="2200" b="0">
                <a:latin typeface="Calibri"/>
              </a:rPr>
              <a:t>IOCs get old quickly; IPs change hands, so always check how recent they are.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INDICATORS OF COMPROMISE (IOCs)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Open-source feeds: </a:t>
            </a:r>
            <a:r>
              <a:rPr sz="2200" b="0">
                <a:latin typeface="Calibri"/>
              </a:rPr>
              <a:t>free, e.g. AlienVault OTX, Abuse.ch, MISP communities, VirusTotal.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Commercial feeds: </a:t>
            </a:r>
            <a:r>
              <a:rPr sz="2200" b="0">
                <a:latin typeface="Calibri"/>
              </a:rPr>
              <a:t>paid, curated and high-quality, e.g. Recorded Future, CrowdStrike, Mandiant.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Government feeds: </a:t>
            </a:r>
            <a:r>
              <a:rPr sz="2200" b="0">
                <a:latin typeface="Calibri"/>
              </a:rPr>
              <a:t>national CERTs and agencies such as CERT-In, CISA.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ISAC / industry feeds: </a:t>
            </a:r>
            <a:r>
              <a:rPr sz="2200" b="0">
                <a:latin typeface="Calibri"/>
              </a:rPr>
              <a:t>sector sharing groups (finance, health, energy) with relevant, trusted intelligence.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Evaluate feeds on: </a:t>
            </a:r>
            <a:r>
              <a:rPr sz="2200" b="0">
                <a:latin typeface="Calibri"/>
              </a:rPr>
              <a:t>accuracy, timeliness, relevance and ease of integration with the SIEM.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THREAT INTELLIGENCE FEEDS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Enrichment adds information to a raw indicator so it can be judged properly.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Reputation: </a:t>
            </a:r>
            <a:r>
              <a:rPr sz="2200" b="0">
                <a:latin typeface="Calibri"/>
              </a:rPr>
              <a:t>is it listed as malicious or suspicious by TI sources?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Geolocation: </a:t>
            </a:r>
            <a:r>
              <a:rPr sz="2200" b="0">
                <a:latin typeface="Calibri"/>
              </a:rPr>
              <a:t>which country or network owns the IP; is it unexpected for this user?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WHOIS / domain information: </a:t>
            </a:r>
            <a:r>
              <a:rPr sz="2200" b="0">
                <a:latin typeface="Calibri"/>
              </a:rPr>
              <a:t>registration date, registrar, owner; newly registered domains are riskier.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Malware association: </a:t>
            </a:r>
            <a:r>
              <a:rPr sz="2200" b="0">
                <a:latin typeface="Calibri"/>
              </a:rPr>
              <a:t>is it linked to a known malware family or campaign?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Threat actor association: </a:t>
            </a:r>
            <a:r>
              <a:rPr sz="2200" b="0">
                <a:latin typeface="Calibri"/>
              </a:rPr>
              <a:t>is it tied to a known group, helping predict next steps?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IOC ENRICHMENT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Context turns an alert into a decision.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Alert + IOC: </a:t>
            </a:r>
            <a:r>
              <a:rPr sz="2200" b="0">
                <a:latin typeface="Calibri"/>
              </a:rPr>
              <a:t>does the alert contain a known indicator?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IOC + threat intelligence: </a:t>
            </a:r>
            <a:r>
              <a:rPr sz="2200" b="0">
                <a:latin typeface="Calibri"/>
              </a:rPr>
              <a:t>what does intelligence say about that indicator?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User / host context: </a:t>
            </a:r>
            <a:r>
              <a:rPr sz="2200" b="0">
                <a:latin typeface="Calibri"/>
              </a:rPr>
              <a:t>role, normal behaviour, privilege level, device criticality.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Business context: </a:t>
            </a:r>
            <a:r>
              <a:rPr sz="2200" b="0">
                <a:latin typeface="Calibri"/>
              </a:rPr>
              <a:t>what business process or data is at stake?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Historical activity: </a:t>
            </a:r>
            <a:r>
              <a:rPr sz="2200" b="0">
                <a:latin typeface="Calibri"/>
              </a:rPr>
              <a:t>has this IP or user appeared in earlier alerts or incidents?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CONTEXTUALISING SIEM ALERTS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dirty="0">
                <a:latin typeface="Arial"/>
              </a:rPr>
              <a:t>EXAMPLE: CONTEXTUALISING A MALICIOUS IP ALERT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Walking through an alert about a connection from a suspicious IP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SIEM Alert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Inbound login attempts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3253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30997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Source IP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203.0.113.45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985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47594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Threat Feed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Lookup in TI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6447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64191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IOC Reputation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Listed as botnet C2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4304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80788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Historical Activity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Seen in 3 past alerts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59641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97385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Risk Assessment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High: server is critical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7623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13982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Escalation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Tier 2 and block 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Result: a plain 'suspicious IP' alert becomes a high-confidence, prioritised incident with evidence.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ANY QUERIES??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8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437" name="Google Shape;437;p48"/>
          <p:cNvSpPr txBox="1">
            <a:spLocks noGrp="1"/>
          </p:cNvSpPr>
          <p:nvPr>
            <p:ph type="body" idx="1"/>
          </p:nvPr>
        </p:nvSpPr>
        <p:spPr>
          <a:xfrm>
            <a:off x="838200" y="1243013"/>
            <a:ext cx="10515601" cy="49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                 Contact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gayathri.g@techdefence.com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48" descr="Top Questions on Food Regulations Answered by Exper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2689" y="1849219"/>
            <a:ext cx="5247873" cy="372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9" descr="Stick Figure Drawing Thank You | Great PowerPoint ClipArt for Presentations  - PresenterMedia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0954" y="1111362"/>
            <a:ext cx="4162747" cy="522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4824</Words>
  <Application>Microsoft Office PowerPoint</Application>
  <PresentationFormat>Widescreen</PresentationFormat>
  <Paragraphs>583</Paragraphs>
  <Slides>57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Arial</vt:lpstr>
      <vt:lpstr>Calibri</vt:lpstr>
      <vt:lpstr>Play</vt:lpstr>
      <vt:lpstr>Office Theme</vt:lpstr>
      <vt:lpstr>PowerPoint Presentation</vt:lpstr>
      <vt:lpstr>CONTENT</vt:lpstr>
      <vt:lpstr>WHAT IS A SECURITY OPERATIONS CENTER (SOC)?</vt:lpstr>
      <vt:lpstr>OBJECTIVES AND FUNCTIONS OF A SOC</vt:lpstr>
      <vt:lpstr>SOC RESPONSIBILITIES</vt:lpstr>
      <vt:lpstr>SOC WORKFLOW / OPERATIONAL CYCLE</vt:lpstr>
      <vt:lpstr>SOC TEAM STRUCTURE</vt:lpstr>
      <vt:lpstr>TIER 1: ALERT TRIAGE AND FIRST RESPONSE</vt:lpstr>
      <vt:lpstr>TIER 2: SECURITY INVESTIGATION</vt:lpstr>
      <vt:lpstr>TIER 3: ADVANCED SECURITY OPERATIONS</vt:lpstr>
      <vt:lpstr>SOC MANAGER</vt:lpstr>
      <vt:lpstr>SOC AND CISO RELATIONSHIP</vt:lpstr>
      <vt:lpstr>SOCaaS: SECURITY OPERATIONS CENTER AS A SERVICE</vt:lpstr>
      <vt:lpstr>SOC VS SOCaaS</vt:lpstr>
      <vt:lpstr>WHAT IS SIEM AND ITS ROLE IN A SOC</vt:lpstr>
      <vt:lpstr>SIEM ARCHITECTURE</vt:lpstr>
      <vt:lpstr>LOG COLLECTION</vt:lpstr>
      <vt:lpstr>LOG NORMALISATION AND PARSING</vt:lpstr>
      <vt:lpstr>CORRELATION RULES</vt:lpstr>
      <vt:lpstr>ALERTING THRESHOLDS</vt:lpstr>
      <vt:lpstr>SIEM DASHBOARDS</vt:lpstr>
      <vt:lpstr>WHAT IS A SIEM USE CASE?</vt:lpstr>
      <vt:lpstr>BRUTE-FORCE ATTACK DETECTION</vt:lpstr>
      <vt:lpstr>PRIVILEGE ESCALATION DETECTION</vt:lpstr>
      <vt:lpstr>DATA EXFILTRATION DETECTION</vt:lpstr>
      <vt:lpstr>BUILDING A DETECTION USE CASE</vt:lpstr>
      <vt:lpstr>INTRODUCTION TO LOG ANALYSIS</vt:lpstr>
      <vt:lpstr>WINDOWS EVENT LOGS</vt:lpstr>
      <vt:lpstr>IMPORTANT WINDOWS EVENT IDS</vt:lpstr>
      <vt:lpstr>LINUX AUTHENTICATION LOGS</vt:lpstr>
      <vt:lpstr>FIREWALL LOG ANALYSIS</vt:lpstr>
      <vt:lpstr>WEB SERVER ACCESS LOGS</vt:lpstr>
      <vt:lpstr>WHAT DOES A SOC ANALYST LOOK FOR?</vt:lpstr>
      <vt:lpstr>WHAT IS A SECURITY ALERT? ALERT RECEIPT IN SIEM</vt:lpstr>
      <vt:lpstr>ALERT TRIAGE PROCESS</vt:lpstr>
      <vt:lpstr>ALERT CLASSIFICATION</vt:lpstr>
      <vt:lpstr>TRUE POSITIVE VS FALSE POSITIVE</vt:lpstr>
      <vt:lpstr>ALERT SEVERITY AND PRIORITY</vt:lpstr>
      <vt:lpstr>ESCALATION CRITERIA</vt:lpstr>
      <vt:lpstr>ALERT DOCUMENTATION</vt:lpstr>
      <vt:lpstr>SOC TICKET LIFECYCLE</vt:lpstr>
      <vt:lpstr>SECURITY INCIDENT AND NIST SP 800-61 LIFECYCLE</vt:lpstr>
      <vt:lpstr>PHASE 1: PREPARATION</vt:lpstr>
      <vt:lpstr>PHASE 2: DETECTION AND ANALYSIS</vt:lpstr>
      <vt:lpstr>PHASE 3: CONTAINMENT</vt:lpstr>
      <vt:lpstr>PHASE 4: ERADICATION</vt:lpstr>
      <vt:lpstr>PHASE 5: RECOVERY</vt:lpstr>
      <vt:lpstr>PHASE 6: POST-INCIDENT REVIEW</vt:lpstr>
      <vt:lpstr>TIER 1 TO TIER 2 INCIDENT HANDOFF</vt:lpstr>
      <vt:lpstr>WHAT IS THREAT INTELLIGENCE? ROLE IN A SOC</vt:lpstr>
      <vt:lpstr>INDICATORS OF COMPROMISE (IOCs)</vt:lpstr>
      <vt:lpstr>THREAT INTELLIGENCE FEEDS</vt:lpstr>
      <vt:lpstr>IOC ENRICHMENT</vt:lpstr>
      <vt:lpstr>CONTEXTUALISING SIEM ALERTS</vt:lpstr>
      <vt:lpstr>EXAMPLE: CONTEXTUALISING A MALICIOUS IP ALERT</vt:lpstr>
      <vt:lpstr>ANY QUERIES??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SOC ERT</dc:creator>
  <cp:lastModifiedBy>Training Common</cp:lastModifiedBy>
  <cp:revision>22</cp:revision>
  <dcterms:created xsi:type="dcterms:W3CDTF">2024-01-13T08:18:00Z</dcterms:created>
  <dcterms:modified xsi:type="dcterms:W3CDTF">2026-10-24T10:17:18Z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7F129FF21C714B5C89A36A5E0B85CD42_12</vt:lpwstr>
  </property>
  <property fmtid="{D5CDD505-2E9C-101B-9397-08002B2CF9AE}" pid="3" name="KSOProductBuildVer">
    <vt:lpwstr>1033-12.2.0.23196</vt:lpwstr>
  </property>
</Properties>
</file>