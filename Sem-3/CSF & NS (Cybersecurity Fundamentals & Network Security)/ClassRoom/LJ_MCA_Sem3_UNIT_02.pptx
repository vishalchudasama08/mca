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8"/>
  </p:notesMasterIdLst>
  <p:sldIdLst>
    <p:sldId id="256" r:id="rId2"/>
    <p:sldId id="257" r:id="rId3"/>
    <p:sldId id="611" r:id="rId4"/>
    <p:sldId id="258" r:id="rId5"/>
    <p:sldId id="565" r:id="rId6"/>
    <p:sldId id="564" r:id="rId7"/>
    <p:sldId id="563" r:id="rId8"/>
    <p:sldId id="566" r:id="rId9"/>
    <p:sldId id="567" r:id="rId10"/>
    <p:sldId id="568" r:id="rId11"/>
    <p:sldId id="569" r:id="rId12"/>
    <p:sldId id="570" r:id="rId13"/>
    <p:sldId id="571" r:id="rId14"/>
    <p:sldId id="572" r:id="rId15"/>
    <p:sldId id="573" r:id="rId16"/>
    <p:sldId id="574" r:id="rId17"/>
    <p:sldId id="575" r:id="rId18"/>
    <p:sldId id="576" r:id="rId19"/>
    <p:sldId id="577" r:id="rId20"/>
    <p:sldId id="578" r:id="rId21"/>
    <p:sldId id="579" r:id="rId22"/>
    <p:sldId id="580" r:id="rId23"/>
    <p:sldId id="581" r:id="rId24"/>
    <p:sldId id="582" r:id="rId25"/>
    <p:sldId id="583" r:id="rId26"/>
    <p:sldId id="584" r:id="rId27"/>
    <p:sldId id="585" r:id="rId28"/>
    <p:sldId id="586" r:id="rId29"/>
    <p:sldId id="640" r:id="rId123"/>
    <p:sldId id="612" r:id="rId30"/>
    <p:sldId id="613" r:id="rId31"/>
    <p:sldId id="614" r:id="rId32"/>
    <p:sldId id="615" r:id="rId33"/>
    <p:sldId id="616" r:id="rId34"/>
    <p:sldId id="617" r:id="rId35"/>
    <p:sldId id="618" r:id="rId36"/>
    <p:sldId id="619" r:id="rId37"/>
    <p:sldId id="620" r:id="rId38"/>
    <p:sldId id="621" r:id="rId39"/>
    <p:sldId id="625" r:id="rId40"/>
    <p:sldId id="622" r:id="rId41"/>
    <p:sldId id="623" r:id="rId42"/>
    <p:sldId id="624" r:id="rId43"/>
    <p:sldId id="587" r:id="rId44"/>
    <p:sldId id="590" r:id="rId45"/>
    <p:sldId id="588" r:id="rId46"/>
    <p:sldId id="589" r:id="rId47"/>
    <p:sldId id="591" r:id="rId48"/>
    <p:sldId id="592" r:id="rId49"/>
    <p:sldId id="593" r:id="rId50"/>
    <p:sldId id="594" r:id="rId51"/>
    <p:sldId id="595" r:id="rId52"/>
    <p:sldId id="596" r:id="rId53"/>
    <p:sldId id="597" r:id="rId54"/>
    <p:sldId id="598" r:id="rId55"/>
    <p:sldId id="599" r:id="rId56"/>
    <p:sldId id="600" r:id="rId57"/>
    <p:sldId id="601" r:id="rId58"/>
    <p:sldId id="602" r:id="rId59"/>
    <p:sldId id="603" r:id="rId60"/>
    <p:sldId id="604" r:id="rId61"/>
    <p:sldId id="605" r:id="rId62"/>
    <p:sldId id="606" r:id="rId63"/>
    <p:sldId id="607" r:id="rId64"/>
    <p:sldId id="608" r:id="rId65"/>
    <p:sldId id="609" r:id="rId66"/>
    <p:sldId id="610" r:id="rId67"/>
    <p:sldId id="305" r:id="rId68"/>
    <p:sldId id="306" r:id="rId69"/>
    <p:sldId id="307" r:id="rId70"/>
    <p:sldId id="626" r:id="rId71"/>
    <p:sldId id="627" r:id="rId72"/>
    <p:sldId id="628" r:id="rId73"/>
    <p:sldId id="629" r:id="rId74"/>
    <p:sldId id="308" r:id="rId75"/>
    <p:sldId id="309" r:id="rId76"/>
    <p:sldId id="310" r:id="rId77"/>
    <p:sldId id="311" r:id="rId78"/>
    <p:sldId id="312" r:id="rId79"/>
    <p:sldId id="313" r:id="rId80"/>
    <p:sldId id="314" r:id="rId81"/>
    <p:sldId id="316" r:id="rId82"/>
    <p:sldId id="317" r:id="rId83"/>
    <p:sldId id="318" r:id="rId84"/>
    <p:sldId id="319" r:id="rId85"/>
    <p:sldId id="320" r:id="rId86"/>
    <p:sldId id="321" r:id="rId87"/>
    <p:sldId id="322" r:id="rId88"/>
    <p:sldId id="323" r:id="rId89"/>
    <p:sldId id="324" r:id="rId90"/>
    <p:sldId id="642" r:id="rId125"/>
    <p:sldId id="641" r:id="rId124"/>
    <p:sldId id="325" r:id="rId91"/>
    <p:sldId id="326" r:id="rId92"/>
    <p:sldId id="327" r:id="rId93"/>
    <p:sldId id="328" r:id="rId94"/>
    <p:sldId id="329" r:id="rId95"/>
    <p:sldId id="630" r:id="rId96"/>
    <p:sldId id="631" r:id="rId97"/>
    <p:sldId id="632" r:id="rId98"/>
    <p:sldId id="633" r:id="rId99"/>
    <p:sldId id="634" r:id="rId100"/>
    <p:sldId id="635" r:id="rId101"/>
    <p:sldId id="636" r:id="rId102"/>
    <p:sldId id="637" r:id="rId103"/>
    <p:sldId id="638" r:id="rId104"/>
    <p:sldId id="643" r:id="rId126"/>
    <p:sldId id="639" r:id="rId105"/>
    <p:sldId id="646" r:id="rId129"/>
    <p:sldId id="645" r:id="rId128"/>
    <p:sldId id="644" r:id="rId127"/>
    <p:sldId id="303" r:id="rId106"/>
    <p:sldId id="304" r:id="rId107"/>
  </p:sldIdLst>
  <p:sldSz cx="12192000" cy="6858000"/>
  <p:notesSz cx="6858000" cy="9144000"/>
  <p:embeddedFontLst>
    <p:embeddedFont>
      <p:font typeface="Cambria Math" panose="02040503050406030204" pitchFamily="18" charset="0"/>
      <p:regular r:id="rId109"/>
    </p:embeddedFont>
    <p:embeddedFont>
      <p:font typeface="Nunito" pitchFamily="2" charset="0"/>
      <p:regular r:id="rId110"/>
      <p:bold r:id="rId111"/>
    </p:embeddedFont>
    <p:embeddedFont>
      <p:font typeface="Play" panose="020B0604020202020204" charset="0"/>
      <p:regular r:id="rId112"/>
      <p:bold r:id="rId113"/>
    </p:embeddedFont>
    <p:embeddedFont>
      <p:font typeface="Raavi" panose="020B0502040204020203" pitchFamily="34" charset="0"/>
      <p:regular r:id="rId114"/>
      <p:bold r:id="rId1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6" roundtripDataSignature="AMtx7mjFcU3CRqsck02bazUXjZ4hne8G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8F5274-5B65-4104-BC13-27E991AB3219}" v="38" dt="2026-10-23T18:42:43.1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p:scale>
          <a:sx n="58" d="100"/>
          <a:sy n="58" d="100"/>
        </p:scale>
        <p:origin x="864" y="6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4.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5.fntdata"/><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6.fntdata"/><Relationship Id="rId119"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1.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2.fntdata"/><Relationship Id="rId115" Type="http://schemas.openxmlformats.org/officeDocument/2006/relationships/font" Target="fonts/font7.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6/11/relationships/changesInfo" Target="changesInfos/changesInfo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3.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microsoft.com/office/2015/10/relationships/revisionInfo" Target="revisionInfo.xml"/>  <Relationship Id="rId123" Type="http://schemas.openxmlformats.org/officeDocument/2006/relationships/slide" Target="slides/slide107.xml"/>
  <Relationship Id="rId124" Type="http://schemas.openxmlformats.org/officeDocument/2006/relationships/slide" Target="slides/slide108.xml"/>
  <Relationship Id="rId125" Type="http://schemas.openxmlformats.org/officeDocument/2006/relationships/slide" Target="slides/slide109.xml"/>
  <Relationship Id="rId126" Type="http://schemas.openxmlformats.org/officeDocument/2006/relationships/slide" Target="slides/slide110.xml"/>
  <Relationship Id="rId127" Type="http://schemas.openxmlformats.org/officeDocument/2006/relationships/slide" Target="slides/slide111.xml"/>
  <Relationship Id="rId128" Type="http://schemas.openxmlformats.org/officeDocument/2006/relationships/slide" Target="slides/slide112.xml"/>
  <Relationship Id="rId129" Type="http://schemas.openxmlformats.org/officeDocument/2006/relationships/slide" Target="slides/slide113.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ining Common" userId="04244515-1ace-4f18-abbf-28df0af8cc9f" providerId="ADAL" clId="{2CD65E0F-2C5A-426E-A8DD-3FCAB465F7CA}"/>
    <pc:docChg chg="undo redo custSel addSld delSld modSld">
      <pc:chgData name="Training Common" userId="04244515-1ace-4f18-abbf-28df0af8cc9f" providerId="ADAL" clId="{2CD65E0F-2C5A-426E-A8DD-3FCAB465F7CA}" dt="2026-10-23T18:42:54.401" v="2321" actId="20577"/>
      <pc:docMkLst>
        <pc:docMk/>
      </pc:docMkLst>
      <pc:sldChg chg="modSp add mod">
        <pc:chgData name="Training Common" userId="04244515-1ace-4f18-abbf-28df0af8cc9f" providerId="ADAL" clId="{2CD65E0F-2C5A-426E-A8DD-3FCAB465F7CA}" dt="2026-10-23T16:43:24.553" v="1862" actId="12"/>
        <pc:sldMkLst>
          <pc:docMk/>
          <pc:sldMk cId="2713774773" sldId="324"/>
        </pc:sldMkLst>
        <pc:spChg chg="mod">
          <ac:chgData name="Training Common" userId="04244515-1ace-4f18-abbf-28df0af8cc9f" providerId="ADAL" clId="{2CD65E0F-2C5A-426E-A8DD-3FCAB465F7CA}" dt="2026-10-23T16:43:24.553" v="1862" actId="12"/>
          <ac:spMkLst>
            <pc:docMk/>
            <pc:sldMk cId="2713774773" sldId="324"/>
            <ac:spMk id="119" creationId="{840ACCC4-12D9-D339-DFEC-C6E8EAE9D40F}"/>
          </ac:spMkLst>
        </pc:spChg>
        <pc:spChg chg="mod">
          <ac:chgData name="Training Common" userId="04244515-1ace-4f18-abbf-28df0af8cc9f" providerId="ADAL" clId="{2CD65E0F-2C5A-426E-A8DD-3FCAB465F7CA}" dt="2026-10-23T16:42:53.149" v="1860" actId="20577"/>
          <ac:spMkLst>
            <pc:docMk/>
            <pc:sldMk cId="2713774773" sldId="324"/>
            <ac:spMk id="120" creationId="{AC864467-6BFD-9EDD-7E1C-CABD80EC08CB}"/>
          </ac:spMkLst>
        </pc:spChg>
      </pc:sldChg>
      <pc:sldChg chg="modSp mod">
        <pc:chgData name="Training Common" userId="04244515-1ace-4f18-abbf-28df0af8cc9f" providerId="ADAL" clId="{2CD65E0F-2C5A-426E-A8DD-3FCAB465F7CA}" dt="2026-10-23T16:45:53.372" v="1903" actId="20577"/>
        <pc:sldMkLst>
          <pc:docMk/>
          <pc:sldMk cId="3705664151" sldId="325"/>
        </pc:sldMkLst>
        <pc:spChg chg="mod">
          <ac:chgData name="Training Common" userId="04244515-1ace-4f18-abbf-28df0af8cc9f" providerId="ADAL" clId="{2CD65E0F-2C5A-426E-A8DD-3FCAB465F7CA}" dt="2026-10-23T16:45:53.372" v="1903" actId="20577"/>
          <ac:spMkLst>
            <pc:docMk/>
            <pc:sldMk cId="3705664151" sldId="325"/>
            <ac:spMk id="119" creationId="{4020A282-3178-C141-3968-83F0DB7F2CEA}"/>
          </ac:spMkLst>
        </pc:spChg>
        <pc:spChg chg="mod">
          <ac:chgData name="Training Common" userId="04244515-1ace-4f18-abbf-28df0af8cc9f" providerId="ADAL" clId="{2CD65E0F-2C5A-426E-A8DD-3FCAB465F7CA}" dt="2026-10-23T16:45:19.615" v="1883" actId="20577"/>
          <ac:spMkLst>
            <pc:docMk/>
            <pc:sldMk cId="3705664151" sldId="325"/>
            <ac:spMk id="120" creationId="{5D845CC1-8488-0893-7D9F-5649DFC303EB}"/>
          </ac:spMkLst>
        </pc:spChg>
      </pc:sldChg>
      <pc:sldChg chg="modSp mod">
        <pc:chgData name="Training Common" userId="04244515-1ace-4f18-abbf-28df0af8cc9f" providerId="ADAL" clId="{2CD65E0F-2C5A-426E-A8DD-3FCAB465F7CA}" dt="2026-10-23T16:48:44.176" v="1970" actId="21"/>
        <pc:sldMkLst>
          <pc:docMk/>
          <pc:sldMk cId="1098390777" sldId="326"/>
        </pc:sldMkLst>
        <pc:spChg chg="mod">
          <ac:chgData name="Training Common" userId="04244515-1ace-4f18-abbf-28df0af8cc9f" providerId="ADAL" clId="{2CD65E0F-2C5A-426E-A8DD-3FCAB465F7CA}" dt="2026-10-23T16:48:44.176" v="1970" actId="21"/>
          <ac:spMkLst>
            <pc:docMk/>
            <pc:sldMk cId="1098390777" sldId="326"/>
            <ac:spMk id="119" creationId="{734908EA-0C20-F2AD-C3D2-CE1E4EAEC75A}"/>
          </ac:spMkLst>
        </pc:spChg>
        <pc:spChg chg="mod">
          <ac:chgData name="Training Common" userId="04244515-1ace-4f18-abbf-28df0af8cc9f" providerId="ADAL" clId="{2CD65E0F-2C5A-426E-A8DD-3FCAB465F7CA}" dt="2026-10-23T16:47:30.980" v="1925" actId="20577"/>
          <ac:spMkLst>
            <pc:docMk/>
            <pc:sldMk cId="1098390777" sldId="326"/>
            <ac:spMk id="120" creationId="{CA05F80B-4535-AD27-0B65-CA48EC61DF83}"/>
          </ac:spMkLst>
        </pc:spChg>
      </pc:sldChg>
      <pc:sldChg chg="addSp modSp mod">
        <pc:chgData name="Training Common" userId="04244515-1ace-4f18-abbf-28df0af8cc9f" providerId="ADAL" clId="{2CD65E0F-2C5A-426E-A8DD-3FCAB465F7CA}" dt="2026-10-23T16:56:20.513" v="2210" actId="14734"/>
        <pc:sldMkLst>
          <pc:docMk/>
          <pc:sldMk cId="3262345570" sldId="327"/>
        </pc:sldMkLst>
        <pc:spChg chg="mod">
          <ac:chgData name="Training Common" userId="04244515-1ace-4f18-abbf-28df0af8cc9f" providerId="ADAL" clId="{2CD65E0F-2C5A-426E-A8DD-3FCAB465F7CA}" dt="2026-10-23T16:49:26.632" v="2052" actId="5793"/>
          <ac:spMkLst>
            <pc:docMk/>
            <pc:sldMk cId="3262345570" sldId="327"/>
            <ac:spMk id="119" creationId="{72E0F790-259E-B8BE-8D2E-4DE08ADFF537}"/>
          </ac:spMkLst>
        </pc:spChg>
        <pc:spChg chg="mod">
          <ac:chgData name="Training Common" userId="04244515-1ace-4f18-abbf-28df0af8cc9f" providerId="ADAL" clId="{2CD65E0F-2C5A-426E-A8DD-3FCAB465F7CA}" dt="2026-10-23T16:49:22.541" v="2050" actId="20577"/>
          <ac:spMkLst>
            <pc:docMk/>
            <pc:sldMk cId="3262345570" sldId="327"/>
            <ac:spMk id="120" creationId="{A431B757-5653-BCDA-6FF8-BD87F911CD6C}"/>
          </ac:spMkLst>
        </pc:spChg>
        <pc:graphicFrameChg chg="add mod modGraphic">
          <ac:chgData name="Training Common" userId="04244515-1ace-4f18-abbf-28df0af8cc9f" providerId="ADAL" clId="{2CD65E0F-2C5A-426E-A8DD-3FCAB465F7CA}" dt="2026-10-23T16:56:20.513" v="2210" actId="14734"/>
          <ac:graphicFrameMkLst>
            <pc:docMk/>
            <pc:sldMk cId="3262345570" sldId="327"/>
            <ac:graphicFrameMk id="2" creationId="{08C4DF47-3DB5-BB72-1849-2C20DA4F4A4C}"/>
          </ac:graphicFrameMkLst>
        </pc:graphicFrameChg>
      </pc:sldChg>
      <pc:sldChg chg="addSp delSp modSp mod">
        <pc:chgData name="Training Common" userId="04244515-1ace-4f18-abbf-28df0af8cc9f" providerId="ADAL" clId="{2CD65E0F-2C5A-426E-A8DD-3FCAB465F7CA}" dt="2026-10-23T18:34:16.602" v="2283" actId="1076"/>
        <pc:sldMkLst>
          <pc:docMk/>
          <pc:sldMk cId="1866145042" sldId="328"/>
        </pc:sldMkLst>
        <pc:spChg chg="del mod">
          <ac:chgData name="Training Common" userId="04244515-1ace-4f18-abbf-28df0af8cc9f" providerId="ADAL" clId="{2CD65E0F-2C5A-426E-A8DD-3FCAB465F7CA}" dt="2026-10-23T18:34:07.183" v="2282" actId="478"/>
          <ac:spMkLst>
            <pc:docMk/>
            <pc:sldMk cId="1866145042" sldId="328"/>
            <ac:spMk id="119" creationId="{649456CD-6353-72CC-62F2-3BF986BB55F3}"/>
          </ac:spMkLst>
        </pc:spChg>
        <pc:spChg chg="mod">
          <ac:chgData name="Training Common" userId="04244515-1ace-4f18-abbf-28df0af8cc9f" providerId="ADAL" clId="{2CD65E0F-2C5A-426E-A8DD-3FCAB465F7CA}" dt="2026-10-23T16:57:23.020" v="2241" actId="20577"/>
          <ac:spMkLst>
            <pc:docMk/>
            <pc:sldMk cId="1866145042" sldId="328"/>
            <ac:spMk id="120" creationId="{2E5281BF-42A6-381E-FC88-B08B81516650}"/>
          </ac:spMkLst>
        </pc:spChg>
        <pc:graphicFrameChg chg="add mod modGraphic">
          <ac:chgData name="Training Common" userId="04244515-1ace-4f18-abbf-28df0af8cc9f" providerId="ADAL" clId="{2CD65E0F-2C5A-426E-A8DD-3FCAB465F7CA}" dt="2026-10-23T18:34:16.602" v="2283" actId="1076"/>
          <ac:graphicFrameMkLst>
            <pc:docMk/>
            <pc:sldMk cId="1866145042" sldId="328"/>
            <ac:graphicFrameMk id="2" creationId="{949CA296-3D4F-A6B5-6795-E834A6F0AF10}"/>
          </ac:graphicFrameMkLst>
        </pc:graphicFrameChg>
      </pc:sldChg>
      <pc:sldChg chg="modSp mod">
        <pc:chgData name="Training Common" userId="04244515-1ace-4f18-abbf-28df0af8cc9f" providerId="ADAL" clId="{2CD65E0F-2C5A-426E-A8DD-3FCAB465F7CA}" dt="2026-10-23T18:42:54.401" v="2321" actId="20577"/>
        <pc:sldMkLst>
          <pc:docMk/>
          <pc:sldMk cId="1615279504" sldId="329"/>
        </pc:sldMkLst>
        <pc:spChg chg="mod">
          <ac:chgData name="Training Common" userId="04244515-1ace-4f18-abbf-28df0af8cc9f" providerId="ADAL" clId="{2CD65E0F-2C5A-426E-A8DD-3FCAB465F7CA}" dt="2026-10-23T18:42:54.401" v="2321" actId="20577"/>
          <ac:spMkLst>
            <pc:docMk/>
            <pc:sldMk cId="1615279504" sldId="329"/>
            <ac:spMk id="120" creationId="{C1B6D112-5584-A880-5052-2307D5FF8519}"/>
          </ac:spMkLst>
        </pc:spChg>
      </pc:sldChg>
      <pc:sldChg chg="add">
        <pc:chgData name="Training Common" userId="04244515-1ace-4f18-abbf-28df0af8cc9f" providerId="ADAL" clId="{2CD65E0F-2C5A-426E-A8DD-3FCAB465F7CA}" dt="2026-10-23T18:42:41.026" v="2284"/>
        <pc:sldMkLst>
          <pc:docMk/>
          <pc:sldMk cId="1470208622" sldId="630"/>
        </pc:sldMkLst>
      </pc:sldChg>
      <pc:sldChg chg="add">
        <pc:chgData name="Training Common" userId="04244515-1ace-4f18-abbf-28df0af8cc9f" providerId="ADAL" clId="{2CD65E0F-2C5A-426E-A8DD-3FCAB465F7CA}" dt="2026-10-23T18:42:41.267" v="2285"/>
        <pc:sldMkLst>
          <pc:docMk/>
          <pc:sldMk cId="85254888" sldId="631"/>
        </pc:sldMkLst>
      </pc:sldChg>
      <pc:sldChg chg="add">
        <pc:chgData name="Training Common" userId="04244515-1ace-4f18-abbf-28df0af8cc9f" providerId="ADAL" clId="{2CD65E0F-2C5A-426E-A8DD-3FCAB465F7CA}" dt="2026-10-23T18:42:41.455" v="2286"/>
        <pc:sldMkLst>
          <pc:docMk/>
          <pc:sldMk cId="1632069207" sldId="632"/>
        </pc:sldMkLst>
      </pc:sldChg>
      <pc:sldChg chg="add">
        <pc:chgData name="Training Common" userId="04244515-1ace-4f18-abbf-28df0af8cc9f" providerId="ADAL" clId="{2CD65E0F-2C5A-426E-A8DD-3FCAB465F7CA}" dt="2026-10-23T18:42:41.712" v="2287"/>
        <pc:sldMkLst>
          <pc:docMk/>
          <pc:sldMk cId="631502368" sldId="633"/>
        </pc:sldMkLst>
      </pc:sldChg>
      <pc:sldChg chg="add">
        <pc:chgData name="Training Common" userId="04244515-1ace-4f18-abbf-28df0af8cc9f" providerId="ADAL" clId="{2CD65E0F-2C5A-426E-A8DD-3FCAB465F7CA}" dt="2026-10-23T18:42:41.889" v="2288"/>
        <pc:sldMkLst>
          <pc:docMk/>
          <pc:sldMk cId="851633150" sldId="634"/>
        </pc:sldMkLst>
      </pc:sldChg>
      <pc:sldChg chg="add">
        <pc:chgData name="Training Common" userId="04244515-1ace-4f18-abbf-28df0af8cc9f" providerId="ADAL" clId="{2CD65E0F-2C5A-426E-A8DD-3FCAB465F7CA}" dt="2026-10-23T18:42:42.370" v="2289"/>
        <pc:sldMkLst>
          <pc:docMk/>
          <pc:sldMk cId="168644438" sldId="635"/>
        </pc:sldMkLst>
      </pc:sldChg>
      <pc:sldChg chg="add">
        <pc:chgData name="Training Common" userId="04244515-1ace-4f18-abbf-28df0af8cc9f" providerId="ADAL" clId="{2CD65E0F-2C5A-426E-A8DD-3FCAB465F7CA}" dt="2026-10-23T18:42:42.583" v="2290"/>
        <pc:sldMkLst>
          <pc:docMk/>
          <pc:sldMk cId="898575089" sldId="636"/>
        </pc:sldMkLst>
      </pc:sldChg>
      <pc:sldChg chg="add">
        <pc:chgData name="Training Common" userId="04244515-1ace-4f18-abbf-28df0af8cc9f" providerId="ADAL" clId="{2CD65E0F-2C5A-426E-A8DD-3FCAB465F7CA}" dt="2026-10-23T18:42:42.765" v="2291"/>
        <pc:sldMkLst>
          <pc:docMk/>
          <pc:sldMk cId="1313320345" sldId="637"/>
        </pc:sldMkLst>
      </pc:sldChg>
      <pc:sldChg chg="add">
        <pc:chgData name="Training Common" userId="04244515-1ace-4f18-abbf-28df0af8cc9f" providerId="ADAL" clId="{2CD65E0F-2C5A-426E-A8DD-3FCAB465F7CA}" dt="2026-10-23T18:42:42.984" v="2292"/>
        <pc:sldMkLst>
          <pc:docMk/>
          <pc:sldMk cId="3781058397" sldId="638"/>
        </pc:sldMkLst>
      </pc:sldChg>
      <pc:sldChg chg="add">
        <pc:chgData name="Training Common" userId="04244515-1ace-4f18-abbf-28df0af8cc9f" providerId="ADAL" clId="{2CD65E0F-2C5A-426E-A8DD-3FCAB465F7CA}" dt="2026-10-23T18:42:43.170" v="2293"/>
        <pc:sldMkLst>
          <pc:docMk/>
          <pc:sldMk cId="446664504" sldId="6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A38D57BE-65DB-A0AC-D0D1-1DD116FFBEC3}"/>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0E9B8A27-ECC1-1C35-C2E8-315DB59F83E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7E1E9867-1E05-6658-ACDD-F5D9A447A0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9335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A1978B15-D262-E43A-5544-A0FFAC88AA8C}"/>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FEBC680D-5C22-06B9-6497-ED9ED7B81B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4A288467-09E7-E3C1-8DE3-FD1DAF4524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9359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F791FAE-9592-FBDF-9282-C6786F5E178E}"/>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83EE0EA1-80A0-79D9-7FFB-57C0E9B02FB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3163640D-4883-033D-7FA4-D3C79AF370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0689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9E282A77-BF0B-0645-E093-230E55A95ED2}"/>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EBDCA83C-5235-9CE3-EC12-3BA3851C26E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86D8C317-22CE-13D8-1249-6324D5519E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9459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CC2ECE4-C4A5-F5DC-4FAE-26C9D5A2A697}"/>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D0E22141-FDEA-CD73-A807-33BF7CAFF28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8C970FEA-30A5-5905-A9E5-35D0265BB1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1749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5BB19EE8-C47B-53E7-F652-B3921C87F3FC}"/>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946359D2-67A2-8B7D-4B6D-0FE0AFB42A3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16B78393-C320-4713-8665-D04379A1FC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336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64134899-C47F-BFF9-7E0B-E58A87F36058}"/>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740E4C63-02D6-6C71-4676-D496C983A2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E7F5D6CE-9B85-CDB9-49B9-D869BEA417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4419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DE7D0B1E-4855-D8BD-85D9-3EB5DF1794C2}"/>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22DE3733-7AF9-D22A-67C6-4C441D21BB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03C9A22F-0D8B-978A-4615-94E84CAA3C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2648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AC0FE65E-0456-581E-50B6-C115ABFE3E56}"/>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E16BAEF7-14CE-628A-B473-9AA5B5B6C8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48E4E971-1FB3-6416-4B4C-557F2A45E7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2189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C745815D-306A-1113-E735-A816C38B392D}"/>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B09921EA-7AAD-7BDB-9236-1BABA98AB92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A818391E-8150-5985-4047-B3A4E24529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8272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7C3D0A9-D832-775E-5DF9-B3D372E226D3}"/>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F9AB7FAF-F6E8-05C9-4C98-8EE08E4CFD6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FB102F5B-1259-DB11-A15D-D6744333A1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0530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A20971BA-89BE-C329-7300-717367A5C2AC}"/>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841096EF-0F0A-714A-70C9-73403F0D374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CBDBF83B-6900-09CA-647F-0D5CF35128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1385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9F643346-4C12-8D28-A064-F1453E7971A9}"/>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95F3DC14-E546-A9AB-3F5F-4F58BB22E1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4295C0FC-F52B-211F-B686-0CCBD97A76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288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A3FDD48A-16C4-CA75-2E58-895EC97B7DC1}"/>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9F2C7239-8D57-C436-1CD8-409DB0FE18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261ECC3A-8982-705F-FA82-52F05E541A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09626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05E4DB8C-FF90-7CED-0306-85330F6DE8FF}"/>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9ED1E548-D775-C5CD-4C4B-7BDC4E7A42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3D4576F8-BFF4-7940-A67A-7C1C0622F4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951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8D04F10F-2FED-23DF-626E-3D3AFFF0D2B0}"/>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249A859A-8E57-6229-877F-B4A736DD98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8E264AE9-9359-20EA-3C2C-0A68576981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5224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18DC155-62D5-3D9C-194A-E7BADF53A042}"/>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E32B7F3D-7364-65E1-C12E-DE0B975257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4B00D638-8222-686B-F394-9963A5938B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49415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343598A-3B3E-328C-B618-598CB601FAE9}"/>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3275916B-3081-0ECD-9861-2CB07FE96D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8B7B70B2-8862-ADBF-B2B0-17C1EB0A9C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65329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C6FBDA94-07A5-AB40-21CC-876CF4A2652B}"/>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C0107E53-672A-2CAF-2684-D08C415AF8B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296694B4-0E84-B465-3375-40F1C93604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5439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D361C2F-A25E-5D32-2003-0B51D0ADC903}"/>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D2B7E6FA-B349-D6A2-0969-CCA68E5C70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2D79C187-A9FE-36CD-80EB-F2F40060FC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6440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3C4107BC-B63E-066C-67F4-52402A12F3CF}"/>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29E91BA1-7346-544D-6032-214B4641D4A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CF0C20DC-4F3D-FAE4-6B0E-E0BDE76C52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83368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D92ECA9C-CE6D-D9AD-7F8A-0D396A93F722}"/>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135A4471-DD05-599F-B6A6-CD816644AC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ACB819D6-B710-D7B3-2E0C-8561D5D708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39947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0D629726-17B4-8CAF-0854-E1865AF498E8}"/>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A6E44B62-8887-85E2-2054-6BB9E8EAC9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155B4004-F92B-1666-F07D-151AD1E4F9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73987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18112014-5DD8-5289-185A-F9CEC8F00923}"/>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6E7E03EE-5600-59E1-32C1-E4DED341A55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8BB3C30D-4860-BBF9-C3A8-61FA99BD4E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93979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65A1ADC9-9B97-A80C-57B6-C594CDE1E50E}"/>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7DA21ACB-E195-45B4-3A78-BFAF3C1810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44CB85B2-53C2-B961-D200-310D2AB785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14658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CBD1ED2B-A44B-E309-1407-E36F1EF5271D}"/>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30189B47-9B9A-7DD6-809F-F4AA9970EF8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976E44F2-4BAA-539E-5F72-96F25033C5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30010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F8101056-BCF1-0515-D0F3-AEF739DE8345}"/>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D5690794-D11A-5BC1-3A1D-77E6E7C3A1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AC318A4E-39B0-3E9E-C3E4-6124BDDF0D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98433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B4DC36BA-829D-EF04-159F-8E8AE1A552AF}"/>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EC74E16C-7AB5-CB9D-9DC9-48D3A31BE31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6B812562-1A28-6FC9-FDD9-8DE3839AD6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29981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C43F9D28-420D-2E68-BA9A-F991FD0120F7}"/>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249EDA6D-7D64-FD12-1030-B045830CB3F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5EB7284F-8668-1D8F-CD42-56A3E70A03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94160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126F0993-31D7-5DE4-2450-7CEBA481E252}"/>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DE037CE3-0915-0FF5-505A-7B176F7E26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FF156A94-81E9-2058-AA1D-C5085520F0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15512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2C88506A-260A-F250-1B93-0FDA26D3F7D8}"/>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985959BB-C720-82CA-B7BE-D1479C6CCC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9A67F2BD-A94F-6CA6-F58F-5B7A7D93AB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28081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EBE5556-4F8E-97AD-D420-8015029D3C45}"/>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F7958842-D2C7-C7E0-A03E-978AB241309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FD4F74EF-EA0E-626A-44C6-0D67810405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1049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C659E3B3-B854-9F6E-D180-7878D787FE70}"/>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3827DD22-BD17-1191-0542-DFDAC3CAA37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5145C72C-FF20-65DD-A4CD-5621D90E7D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23426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2348308A-2C21-37E5-1185-AE3DDF02B141}"/>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9A821161-B63A-F455-0E94-5B53813BA29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06C79C85-8140-E1E9-CB99-10F47A6B77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50033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pic>
        <p:nvPicPr>
          <p:cNvPr id="19" name="Google Shape;19;p51"/>
          <p:cNvPicPr preferRelativeResize="0"/>
          <p:nvPr/>
        </p:nvPicPr>
        <p:blipFill rotWithShape="1">
          <a:blip r:embed="rId2">
            <a:alphaModFix/>
          </a:blip>
          <a:srcRect l="35222" t="35220"/>
          <a:stretch/>
        </p:blipFill>
        <p:spPr>
          <a:xfrm>
            <a:off x="0" y="19018"/>
            <a:ext cx="12192000" cy="6857465"/>
          </a:xfrm>
          <a:prstGeom prst="rect">
            <a:avLst/>
          </a:prstGeom>
          <a:noFill/>
          <a:ln>
            <a:noFill/>
          </a:ln>
        </p:spPr>
      </p:pic>
      <p:sp>
        <p:nvSpPr>
          <p:cNvPr id="20" name="Google Shape;20;p51"/>
          <p:cNvSpPr/>
          <p:nvPr/>
        </p:nvSpPr>
        <p:spPr>
          <a:xfrm>
            <a:off x="449690" y="995329"/>
            <a:ext cx="11292619" cy="5474818"/>
          </a:xfrm>
          <a:prstGeom prst="roundRect">
            <a:avLst>
              <a:gd name="adj" fmla="val 9331"/>
            </a:avLst>
          </a:prstGeom>
          <a:solidFill>
            <a:schemeClr val="lt1"/>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Arial"/>
                <a:ea typeface="Arial"/>
                <a:cs typeface="Arial"/>
                <a:sym typeface="Arial"/>
              </a:rPr>
              <a:t>   </a:t>
            </a:r>
            <a:endParaRPr sz="1800" b="0" i="0" u="none" strike="noStrike" cap="none">
              <a:solidFill>
                <a:schemeClr val="lt1"/>
              </a:solidFill>
              <a:latin typeface="Arial"/>
              <a:ea typeface="Arial"/>
              <a:cs typeface="Arial"/>
              <a:sym typeface="Arial"/>
            </a:endParaRPr>
          </a:p>
        </p:txBody>
      </p:sp>
      <p:pic>
        <p:nvPicPr>
          <p:cNvPr id="21" name="Google Shape;21;p51"/>
          <p:cNvPicPr preferRelativeResize="0"/>
          <p:nvPr/>
        </p:nvPicPr>
        <p:blipFill rotWithShape="1">
          <a:blip r:embed="rId3">
            <a:alphaModFix/>
          </a:blip>
          <a:srcRect r="77077"/>
          <a:stretch/>
        </p:blipFill>
        <p:spPr>
          <a:xfrm>
            <a:off x="11248169" y="19018"/>
            <a:ext cx="673100" cy="919228"/>
          </a:xfrm>
          <a:prstGeom prst="rect">
            <a:avLst/>
          </a:prstGeom>
          <a:noFill/>
          <a:ln>
            <a:noFill/>
          </a:ln>
        </p:spPr>
      </p:pic>
      <p:sp>
        <p:nvSpPr>
          <p:cNvPr id="22" name="Google Shape;22;p5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51"/>
          <p:cNvSpPr txBox="1">
            <a:spLocks noGrp="1"/>
          </p:cNvSpPr>
          <p:nvPr>
            <p:ph type="dt" idx="10"/>
          </p:nvPr>
        </p:nvSpPr>
        <p:spPr>
          <a:xfrm>
            <a:off x="838201" y="6470147"/>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1"/>
          <p:cNvSpPr txBox="1">
            <a:spLocks noGrp="1"/>
          </p:cNvSpPr>
          <p:nvPr>
            <p:ph type="ftr" idx="11"/>
          </p:nvPr>
        </p:nvSpPr>
        <p:spPr>
          <a:xfrm>
            <a:off x="4038598" y="6470147"/>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1"/>
          <p:cNvSpPr txBox="1">
            <a:spLocks noGrp="1"/>
          </p:cNvSpPr>
          <p:nvPr>
            <p:ph type="sldNum" idx="12"/>
          </p:nvPr>
        </p:nvSpPr>
        <p:spPr>
          <a:xfrm>
            <a:off x="8610602" y="6470147"/>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52"/>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2"/>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2"/>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2"/>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2"/>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
        <p:cNvGrpSpPr/>
        <p:nvPr/>
      </p:nvGrpSpPr>
      <p:grpSpPr>
        <a:xfrm>
          <a:off x="0" y="0"/>
          <a:ext cx="0" cy="0"/>
          <a:chOff x="0" y="0"/>
          <a:chExt cx="0" cy="0"/>
        </a:xfrm>
      </p:grpSpPr>
      <p:sp>
        <p:nvSpPr>
          <p:cNvPr id="34" name="Google Shape;34;p53"/>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3"/>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3"/>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54"/>
          <p:cNvSpPr txBox="1">
            <a:spLocks noGrp="1"/>
          </p:cNvSpPr>
          <p:nvPr>
            <p:ph type="title"/>
          </p:nvPr>
        </p:nvSpPr>
        <p:spPr>
          <a:xfrm>
            <a:off x="831850" y="1233488"/>
            <a:ext cx="10515601" cy="19764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4"/>
          <p:cNvSpPr txBox="1">
            <a:spLocks noGrp="1"/>
          </p:cNvSpPr>
          <p:nvPr>
            <p:ph type="body" idx="1"/>
          </p:nvPr>
        </p:nvSpPr>
        <p:spPr>
          <a:xfrm>
            <a:off x="831850" y="3295650"/>
            <a:ext cx="10515601" cy="279400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0" name="Google Shape;40;p54"/>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4"/>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4"/>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55"/>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5"/>
          <p:cNvSpPr txBox="1">
            <a:spLocks noGrp="1"/>
          </p:cNvSpPr>
          <p:nvPr>
            <p:ph type="body" idx="1"/>
          </p:nvPr>
        </p:nvSpPr>
        <p:spPr>
          <a:xfrm>
            <a:off x="838201"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5"/>
          <p:cNvSpPr txBox="1">
            <a:spLocks noGrp="1"/>
          </p:cNvSpPr>
          <p:nvPr>
            <p:ph type="body" idx="2"/>
          </p:nvPr>
        </p:nvSpPr>
        <p:spPr>
          <a:xfrm>
            <a:off x="6172202"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55"/>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5"/>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5"/>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56"/>
          <p:cNvSpPr txBox="1">
            <a:spLocks noGrp="1"/>
          </p:cNvSpPr>
          <p:nvPr>
            <p:ph type="title"/>
          </p:nvPr>
        </p:nvSpPr>
        <p:spPr>
          <a:xfrm>
            <a:off x="839787" y="171451"/>
            <a:ext cx="10515601" cy="7381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6"/>
          <p:cNvSpPr txBox="1">
            <a:spLocks noGrp="1"/>
          </p:cNvSpPr>
          <p:nvPr>
            <p:ph type="body" idx="1"/>
          </p:nvPr>
        </p:nvSpPr>
        <p:spPr>
          <a:xfrm>
            <a:off x="839790" y="1190622"/>
            <a:ext cx="51577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56"/>
          <p:cNvSpPr txBox="1">
            <a:spLocks noGrp="1"/>
          </p:cNvSpPr>
          <p:nvPr>
            <p:ph type="body" idx="2"/>
          </p:nvPr>
        </p:nvSpPr>
        <p:spPr>
          <a:xfrm>
            <a:off x="839790" y="2014533"/>
            <a:ext cx="5157788" cy="399097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6"/>
          <p:cNvSpPr txBox="1">
            <a:spLocks noGrp="1"/>
          </p:cNvSpPr>
          <p:nvPr>
            <p:ph type="body" idx="3"/>
          </p:nvPr>
        </p:nvSpPr>
        <p:spPr>
          <a:xfrm>
            <a:off x="6172201" y="1190622"/>
            <a:ext cx="51831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56"/>
          <p:cNvSpPr txBox="1">
            <a:spLocks noGrp="1"/>
          </p:cNvSpPr>
          <p:nvPr>
            <p:ph type="body" idx="4"/>
          </p:nvPr>
        </p:nvSpPr>
        <p:spPr>
          <a:xfrm>
            <a:off x="6172201" y="2014533"/>
            <a:ext cx="5183187" cy="399097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56"/>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6"/>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6"/>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57"/>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57"/>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7"/>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7"/>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58"/>
          <p:cNvSpPr txBox="1">
            <a:spLocks noGrp="1"/>
          </p:cNvSpPr>
          <p:nvPr>
            <p:ph type="title"/>
          </p:nvPr>
        </p:nvSpPr>
        <p:spPr>
          <a:xfrm>
            <a:off x="839788" y="0"/>
            <a:ext cx="10380661" cy="8715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58"/>
          <p:cNvSpPr txBox="1">
            <a:spLocks noGrp="1"/>
          </p:cNvSpPr>
          <p:nvPr>
            <p:ph type="body" idx="1"/>
          </p:nvPr>
        </p:nvSpPr>
        <p:spPr>
          <a:xfrm>
            <a:off x="5183187" y="1309688"/>
            <a:ext cx="6172201" cy="4551363"/>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58"/>
          <p:cNvSpPr txBox="1">
            <a:spLocks noGrp="1"/>
          </p:cNvSpPr>
          <p:nvPr>
            <p:ph type="body" idx="2"/>
          </p:nvPr>
        </p:nvSpPr>
        <p:spPr>
          <a:xfrm>
            <a:off x="839789" y="1317625"/>
            <a:ext cx="3932236" cy="45513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58"/>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8"/>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8"/>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59"/>
          <p:cNvSpPr txBox="1">
            <a:spLocks noGrp="1"/>
          </p:cNvSpPr>
          <p:nvPr>
            <p:ph type="title"/>
          </p:nvPr>
        </p:nvSpPr>
        <p:spPr>
          <a:xfrm>
            <a:off x="839788" y="285750"/>
            <a:ext cx="10399711" cy="6143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59"/>
          <p:cNvSpPr>
            <a:spLocks noGrp="1"/>
          </p:cNvSpPr>
          <p:nvPr>
            <p:ph type="pic" idx="2"/>
          </p:nvPr>
        </p:nvSpPr>
        <p:spPr>
          <a:xfrm>
            <a:off x="5183187" y="1149351"/>
            <a:ext cx="6172201" cy="4711700"/>
          </a:xfrm>
          <a:prstGeom prst="rect">
            <a:avLst/>
          </a:prstGeom>
          <a:noFill/>
          <a:ln>
            <a:noFill/>
          </a:ln>
        </p:spPr>
      </p:sp>
      <p:sp>
        <p:nvSpPr>
          <p:cNvPr id="74" name="Google Shape;74;p59"/>
          <p:cNvSpPr txBox="1">
            <a:spLocks noGrp="1"/>
          </p:cNvSpPr>
          <p:nvPr>
            <p:ph type="body" idx="1"/>
          </p:nvPr>
        </p:nvSpPr>
        <p:spPr>
          <a:xfrm>
            <a:off x="839789" y="1157288"/>
            <a:ext cx="3932236" cy="471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59"/>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9"/>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9"/>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60"/>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60"/>
          <p:cNvSpPr txBox="1">
            <a:spLocks noGrp="1"/>
          </p:cNvSpPr>
          <p:nvPr>
            <p:ph type="body" idx="1"/>
          </p:nvPr>
        </p:nvSpPr>
        <p:spPr>
          <a:xfrm rot="5400000">
            <a:off x="3629025" y="-1547812"/>
            <a:ext cx="4933950" cy="105156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0"/>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0"/>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0"/>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61"/>
          <p:cNvSpPr txBox="1">
            <a:spLocks noGrp="1"/>
          </p:cNvSpPr>
          <p:nvPr>
            <p:ph type="title"/>
          </p:nvPr>
        </p:nvSpPr>
        <p:spPr>
          <a:xfrm rot="5400000">
            <a:off x="7133434" y="1956594"/>
            <a:ext cx="5811838" cy="262889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61"/>
          <p:cNvSpPr txBox="1">
            <a:spLocks noGrp="1"/>
          </p:cNvSpPr>
          <p:nvPr>
            <p:ph type="body" idx="1"/>
          </p:nvPr>
        </p:nvSpPr>
        <p:spPr>
          <a:xfrm rot="5400000">
            <a:off x="1799432" y="-596106"/>
            <a:ext cx="5811838" cy="77343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61"/>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61"/>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1"/>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pic>
        <p:nvPicPr>
          <p:cNvPr id="10" name="Google Shape;10;p50"/>
          <p:cNvPicPr preferRelativeResize="0"/>
          <p:nvPr/>
        </p:nvPicPr>
        <p:blipFill rotWithShape="1">
          <a:blip r:embed="rId13">
            <a:alphaModFix/>
          </a:blip>
          <a:srcRect l="35222" t="35220"/>
          <a:stretch/>
        </p:blipFill>
        <p:spPr>
          <a:xfrm>
            <a:off x="0" y="19018"/>
            <a:ext cx="12192000" cy="6857465"/>
          </a:xfrm>
          <a:prstGeom prst="rect">
            <a:avLst/>
          </a:prstGeom>
          <a:noFill/>
          <a:ln>
            <a:noFill/>
          </a:ln>
        </p:spPr>
      </p:pic>
      <p:pic>
        <p:nvPicPr>
          <p:cNvPr id="11" name="Google Shape;11;p50"/>
          <p:cNvPicPr preferRelativeResize="0"/>
          <p:nvPr/>
        </p:nvPicPr>
        <p:blipFill rotWithShape="1">
          <a:blip r:embed="rId14">
            <a:alphaModFix/>
          </a:blip>
          <a:srcRect r="77077"/>
          <a:stretch/>
        </p:blipFill>
        <p:spPr>
          <a:xfrm>
            <a:off x="11248169" y="19018"/>
            <a:ext cx="673100" cy="919228"/>
          </a:xfrm>
          <a:prstGeom prst="rect">
            <a:avLst/>
          </a:prstGeom>
          <a:noFill/>
          <a:ln>
            <a:noFill/>
          </a:ln>
        </p:spPr>
      </p:pic>
      <p:sp>
        <p:nvSpPr>
          <p:cNvPr id="12" name="Google Shape;12;p50"/>
          <p:cNvSpPr/>
          <p:nvPr/>
        </p:nvSpPr>
        <p:spPr>
          <a:xfrm>
            <a:off x="449690" y="957263"/>
            <a:ext cx="11292619" cy="5474818"/>
          </a:xfrm>
          <a:prstGeom prst="roundRect">
            <a:avLst>
              <a:gd name="adj" fmla="val 9331"/>
            </a:avLst>
          </a:prstGeom>
          <a:solidFill>
            <a:schemeClr val="lt1"/>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Arial"/>
                <a:ea typeface="Arial"/>
                <a:cs typeface="Arial"/>
                <a:sym typeface="Arial"/>
              </a:rPr>
              <a:t>   </a:t>
            </a:r>
            <a:endParaRPr sz="1800" b="0" i="0" u="none" strike="noStrike" cap="none">
              <a:solidFill>
                <a:schemeClr val="lt1"/>
              </a:solidFill>
              <a:latin typeface="Arial"/>
              <a:ea typeface="Arial"/>
              <a:cs typeface="Arial"/>
              <a:sym typeface="Arial"/>
            </a:endParaRPr>
          </a:p>
        </p:txBody>
      </p:sp>
      <p:sp>
        <p:nvSpPr>
          <p:cNvPr id="13" name="Google Shape;13;p50"/>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600"/>
              <a:buFont typeface="Play"/>
              <a:buNone/>
              <a:defRPr sz="36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50"/>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 name="Google Shape;15;p50"/>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6" name="Google Shape;16;p50"/>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7" name="Google Shape;17;p50"/>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www.iana.org/"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grpSp>
        <p:nvGrpSpPr>
          <p:cNvPr id="95" name="Google Shape;95;p1"/>
          <p:cNvGrpSpPr/>
          <p:nvPr/>
        </p:nvGrpSpPr>
        <p:grpSpPr>
          <a:xfrm>
            <a:off x="-57778" y="0"/>
            <a:ext cx="12307556" cy="6925679"/>
            <a:chOff x="-115556" y="-1"/>
            <a:chExt cx="12307556" cy="6925679"/>
          </a:xfrm>
        </p:grpSpPr>
        <p:pic>
          <p:nvPicPr>
            <p:cNvPr id="96" name="Google Shape;96;p1" descr="C:\Users\vasim\Desktop\ppt\SV PPT.png"/>
            <p:cNvPicPr preferRelativeResize="0"/>
            <p:nvPr/>
          </p:nvPicPr>
          <p:blipFill rotWithShape="1">
            <a:blip r:embed="rId3">
              <a:alphaModFix/>
            </a:blip>
            <a:srcRect l="47855" t="40791" r="41050" b="31445"/>
            <a:stretch/>
          </p:blipFill>
          <p:spPr>
            <a:xfrm>
              <a:off x="7026729" y="-1"/>
              <a:ext cx="5165271" cy="6925677"/>
            </a:xfrm>
            <a:prstGeom prst="rect">
              <a:avLst/>
            </a:prstGeom>
            <a:noFill/>
            <a:ln>
              <a:noFill/>
            </a:ln>
          </p:spPr>
        </p:pic>
        <p:grpSp>
          <p:nvGrpSpPr>
            <p:cNvPr id="97" name="Google Shape;97;p1"/>
            <p:cNvGrpSpPr/>
            <p:nvPr/>
          </p:nvGrpSpPr>
          <p:grpSpPr>
            <a:xfrm>
              <a:off x="-115556" y="0"/>
              <a:ext cx="7256444" cy="6925678"/>
              <a:chOff x="-21189" y="13252"/>
              <a:chExt cx="7187198" cy="6859588"/>
            </a:xfrm>
          </p:grpSpPr>
          <p:pic>
            <p:nvPicPr>
              <p:cNvPr id="98" name="Google Shape;98;p1" descr="C:\Users\vasim\Desktop\ppt\SV PPT.png"/>
              <p:cNvPicPr preferRelativeResize="0"/>
              <p:nvPr/>
            </p:nvPicPr>
            <p:blipFill rotWithShape="1">
              <a:blip r:embed="rId3">
                <a:alphaModFix/>
              </a:blip>
              <a:srcRect r="41050"/>
              <a:stretch/>
            </p:blipFill>
            <p:spPr>
              <a:xfrm>
                <a:off x="-21189" y="13252"/>
                <a:ext cx="7187198" cy="6859588"/>
              </a:xfrm>
              <a:prstGeom prst="rect">
                <a:avLst/>
              </a:prstGeom>
              <a:noFill/>
              <a:ln>
                <a:noFill/>
              </a:ln>
            </p:spPr>
          </p:pic>
          <p:pic>
            <p:nvPicPr>
              <p:cNvPr id="99" name="Google Shape;99;p1" descr="C:\Users\vasim\Desktop\ppt\SV PPT.png"/>
              <p:cNvPicPr preferRelativeResize="0"/>
              <p:nvPr/>
            </p:nvPicPr>
            <p:blipFill rotWithShape="1">
              <a:blip r:embed="rId3">
                <a:alphaModFix/>
              </a:blip>
              <a:srcRect l="48539" t="33621" r="41050" b="61032"/>
              <a:stretch/>
            </p:blipFill>
            <p:spPr>
              <a:xfrm>
                <a:off x="5896708" y="2582425"/>
                <a:ext cx="1269301" cy="366765"/>
              </a:xfrm>
              <a:prstGeom prst="rect">
                <a:avLst/>
              </a:prstGeom>
              <a:noFill/>
              <a:ln>
                <a:noFill/>
              </a:ln>
            </p:spPr>
          </p:pic>
        </p:grpSp>
      </p:grpSp>
      <p:sp>
        <p:nvSpPr>
          <p:cNvPr id="100" name="Google Shape;100;p1"/>
          <p:cNvSpPr/>
          <p:nvPr/>
        </p:nvSpPr>
        <p:spPr>
          <a:xfrm>
            <a:off x="6215605" y="433070"/>
            <a:ext cx="5963060" cy="1536700"/>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1"/>
              </a:buClr>
              <a:buSzPts val="3600"/>
              <a:buFont typeface="Arial"/>
              <a:buNone/>
            </a:pPr>
            <a:r>
              <a:rPr lang="en-US" sz="3600" b="1" i="0" u="none" strike="noStrike" cap="none" dirty="0">
                <a:solidFill>
                  <a:schemeClr val="dk1"/>
                </a:solidFill>
                <a:latin typeface="Arial"/>
                <a:ea typeface="Arial"/>
                <a:cs typeface="Arial"/>
                <a:sym typeface="Arial"/>
              </a:rPr>
              <a:t>CYBERSECURITY FUNDAMENTALS AND NETWORK SECURITY</a:t>
            </a:r>
            <a:endParaRPr sz="3600" b="1" i="0" u="none" strike="noStrike" cap="none" dirty="0">
              <a:solidFill>
                <a:schemeClr val="dk1"/>
              </a:solidFill>
              <a:latin typeface="Arial"/>
              <a:ea typeface="Arial"/>
              <a:cs typeface="Arial"/>
              <a:sym typeface="Arial"/>
            </a:endParaRPr>
          </a:p>
        </p:txBody>
      </p:sp>
      <p:pic>
        <p:nvPicPr>
          <p:cNvPr id="101" name="Google Shape;101;p1"/>
          <p:cNvPicPr preferRelativeResize="0"/>
          <p:nvPr/>
        </p:nvPicPr>
        <p:blipFill rotWithShape="1">
          <a:blip r:embed="rId4">
            <a:alphaModFix/>
          </a:blip>
          <a:srcRect/>
          <a:stretch/>
        </p:blipFill>
        <p:spPr>
          <a:xfrm>
            <a:off x="8838561" y="5424480"/>
            <a:ext cx="3037753" cy="950948"/>
          </a:xfrm>
          <a:prstGeom prst="rect">
            <a:avLst/>
          </a:prstGeom>
          <a:noFill/>
          <a:ln>
            <a:noFill/>
          </a:ln>
        </p:spPr>
      </p:pic>
      <p:pic>
        <p:nvPicPr>
          <p:cNvPr id="102" name="Google Shape;102;p1" descr="ljku.edu.in/web/image/res.company/1/logo"/>
          <p:cNvPicPr preferRelativeResize="0"/>
          <p:nvPr/>
        </p:nvPicPr>
        <p:blipFill rotWithShape="1">
          <a:blip r:embed="rId5">
            <a:alphaModFix/>
          </a:blip>
          <a:srcRect/>
          <a:stretch/>
        </p:blipFill>
        <p:spPr>
          <a:xfrm>
            <a:off x="5559814" y="5558151"/>
            <a:ext cx="2924303" cy="776261"/>
          </a:xfrm>
          <a:prstGeom prst="rect">
            <a:avLst/>
          </a:prstGeom>
          <a:noFill/>
          <a:ln>
            <a:noFill/>
          </a:ln>
        </p:spPr>
      </p:pic>
      <p:sp>
        <p:nvSpPr>
          <p:cNvPr id="103" name="Google Shape;103;p1"/>
          <p:cNvSpPr/>
          <p:nvPr/>
        </p:nvSpPr>
        <p:spPr>
          <a:xfrm>
            <a:off x="5741902" y="2201924"/>
            <a:ext cx="6134412" cy="168717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200"/>
              <a:buFont typeface="Play"/>
              <a:buNone/>
            </a:pPr>
            <a:r>
              <a:rPr lang="en-IN" sz="3200" b="1" dirty="0">
                <a:solidFill>
                  <a:schemeClr val="dk1"/>
                </a:solidFill>
              </a:rPr>
              <a:t>Unit-02</a:t>
            </a:r>
          </a:p>
          <a:p>
            <a:pPr marL="0" marR="0" lvl="0" indent="0" algn="r" rtl="0">
              <a:lnSpc>
                <a:spcPct val="100000"/>
              </a:lnSpc>
              <a:spcBef>
                <a:spcPts val="0"/>
              </a:spcBef>
              <a:spcAft>
                <a:spcPts val="0"/>
              </a:spcAft>
              <a:buClr>
                <a:schemeClr val="dk1"/>
              </a:buClr>
              <a:buSzPts val="3200"/>
              <a:buFont typeface="Play"/>
              <a:buNone/>
            </a:pPr>
            <a:r>
              <a:rPr lang="en-IN" sz="3200" b="1" dirty="0">
                <a:solidFill>
                  <a:schemeClr val="dk1"/>
                </a:solidFill>
              </a:rPr>
              <a:t>NETWORKING FUNDAMENTALS</a:t>
            </a:r>
          </a:p>
        </p:txBody>
      </p:sp>
      <p:cxnSp>
        <p:nvCxnSpPr>
          <p:cNvPr id="104" name="Google Shape;104;p1"/>
          <p:cNvCxnSpPr/>
          <p:nvPr/>
        </p:nvCxnSpPr>
        <p:spPr>
          <a:xfrm>
            <a:off x="6487886" y="2051293"/>
            <a:ext cx="5388428" cy="0"/>
          </a:xfrm>
          <a:prstGeom prst="straightConnector1">
            <a:avLst/>
          </a:prstGeom>
          <a:noFill/>
          <a:ln w="28575" cap="flat" cmpd="sng">
            <a:solidFill>
              <a:srgbClr val="FF0000"/>
            </a:solidFill>
            <a:prstDash val="solid"/>
            <a:miter lim="800000"/>
            <a:headEnd type="none" w="sm" len="sm"/>
            <a:tailEnd type="none" w="sm" len="sm"/>
          </a:ln>
        </p:spPr>
      </p:cxnSp>
      <p:sp>
        <p:nvSpPr>
          <p:cNvPr id="105" name="Google Shape;105;p1"/>
          <p:cNvSpPr/>
          <p:nvPr/>
        </p:nvSpPr>
        <p:spPr>
          <a:xfrm>
            <a:off x="8253448" y="4298179"/>
            <a:ext cx="3925217" cy="947720"/>
          </a:xfrm>
          <a:prstGeom prst="rect">
            <a:avLst/>
          </a:prstGeom>
          <a:noFill/>
          <a:ln>
            <a:noFill/>
          </a:ln>
        </p:spPr>
        <p:txBody>
          <a:bodyPr spcFirstLastPara="1" wrap="square" lIns="91425" tIns="45700" rIns="91425" bIns="45700" anchor="b" anchorCtr="0">
            <a:noAutofit/>
          </a:bodyPr>
          <a:lstStyle/>
          <a:p>
            <a:pPr marL="0" marR="0" lvl="0" indent="0" algn="l" rtl="0">
              <a:lnSpc>
                <a:spcPct val="160000"/>
              </a:lnSpc>
              <a:spcBef>
                <a:spcPts val="0"/>
              </a:spcBef>
              <a:spcAft>
                <a:spcPts val="0"/>
              </a:spcAft>
              <a:buClr>
                <a:schemeClr val="dk1"/>
              </a:buClr>
              <a:buSzPts val="2200"/>
              <a:buFont typeface="Play"/>
              <a:buNone/>
            </a:pPr>
            <a:r>
              <a:rPr lang="en-US" sz="2200" i="0" u="none" strike="noStrike" cap="none" dirty="0">
                <a:solidFill>
                  <a:schemeClr val="dk1"/>
                </a:solidFill>
              </a:rPr>
              <a:t>Gayathri Gagana</a:t>
            </a:r>
            <a:br>
              <a:rPr lang="en-US" sz="2200" i="0" u="none" strike="noStrike" cap="none" dirty="0">
                <a:solidFill>
                  <a:schemeClr val="dk1"/>
                </a:solidFill>
              </a:rPr>
            </a:br>
            <a:r>
              <a:rPr lang="en-US" sz="2200" i="0" u="none" strike="noStrike" cap="none" dirty="0">
                <a:solidFill>
                  <a:schemeClr val="dk1"/>
                </a:solidFill>
              </a:rPr>
              <a:t>gayathri.g@techdefence.com </a:t>
            </a:r>
            <a:endParaRPr sz="2200" b="1" i="0" u="none" strike="noStrike" cap="none" dirty="0">
              <a:solidFill>
                <a:schemeClr val="dk1"/>
              </a:solidFill>
            </a:endParaRPr>
          </a:p>
        </p:txBody>
      </p:sp>
      <p:sp>
        <p:nvSpPr>
          <p:cNvPr id="106" name="Google Shape;106;p1"/>
          <p:cNvSpPr/>
          <p:nvPr/>
        </p:nvSpPr>
        <p:spPr>
          <a:xfrm>
            <a:off x="5741902" y="4314226"/>
            <a:ext cx="2530392" cy="947720"/>
          </a:xfrm>
          <a:prstGeom prst="rect">
            <a:avLst/>
          </a:prstGeom>
          <a:noFill/>
          <a:ln>
            <a:noFill/>
          </a:ln>
        </p:spPr>
        <p:txBody>
          <a:bodyPr spcFirstLastPara="1" wrap="square" lIns="91425" tIns="45700" rIns="91425" bIns="45700" anchor="b" anchorCtr="0">
            <a:noAutofit/>
          </a:bodyPr>
          <a:lstStyle/>
          <a:p>
            <a:pPr marL="0" marR="0" lvl="0" indent="0" algn="r" rtl="0">
              <a:lnSpc>
                <a:spcPct val="160000"/>
              </a:lnSpc>
              <a:spcBef>
                <a:spcPts val="0"/>
              </a:spcBef>
              <a:spcAft>
                <a:spcPts val="0"/>
              </a:spcAft>
              <a:buClr>
                <a:schemeClr val="dk1"/>
              </a:buClr>
              <a:buSzPts val="2200"/>
              <a:buFont typeface="Play"/>
              <a:buNone/>
            </a:pPr>
            <a:r>
              <a:rPr lang="en-US" sz="2200" i="0" u="none" strike="noStrike" cap="none" dirty="0">
                <a:solidFill>
                  <a:schemeClr val="dk1"/>
                </a:solidFill>
              </a:rPr>
              <a:t>Created by:</a:t>
            </a:r>
            <a:br>
              <a:rPr lang="en-US" sz="2200" i="0" u="none" strike="noStrike" cap="none" dirty="0">
                <a:solidFill>
                  <a:schemeClr val="dk1"/>
                </a:solidFill>
              </a:rPr>
            </a:br>
            <a:r>
              <a:rPr lang="en-US" sz="2200" i="0" u="none" strike="noStrike" cap="none" dirty="0">
                <a:solidFill>
                  <a:schemeClr val="dk1"/>
                </a:solidFill>
              </a:rPr>
              <a:t>Email Address: </a:t>
            </a:r>
            <a:endParaRPr sz="2200" b="1" i="0" u="none" strike="noStrike" cap="none" dirty="0">
              <a:solidFill>
                <a:schemeClr val="dk1"/>
              </a:solidFill>
            </a:endParaRPr>
          </a:p>
        </p:txBody>
      </p:sp>
      <p:sp>
        <p:nvSpPr>
          <p:cNvPr id="107" name="Google Shape;107;p1"/>
          <p:cNvSpPr txBox="1">
            <a:spLocks noGrp="1"/>
          </p:cNvSpPr>
          <p:nvPr>
            <p:ph type="sldNum" idx="12"/>
          </p:nvPr>
        </p:nvSpPr>
        <p:spPr>
          <a:xfrm>
            <a:off x="8610602" y="6470147"/>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body" idx="1"/>
          </p:nvPr>
        </p:nvSpPr>
        <p:spPr>
          <a:xfrm>
            <a:off x="838200" y="1108542"/>
            <a:ext cx="10515601" cy="4933950"/>
          </a:xfrm>
          <a:prstGeom prst="rect">
            <a:avLst/>
          </a:prstGeom>
          <a:noFill/>
          <a:ln>
            <a:noFill/>
          </a:ln>
        </p:spPr>
        <p:txBody>
          <a:bodyPr spcFirstLastPara="1" wrap="square" lIns="91425" tIns="45700" rIns="91425" bIns="45700" anchor="t" anchorCtr="0">
            <a:noAutofit/>
          </a:bodyPr>
          <a:lstStyle/>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OSI Model</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Security Attacks Across OSI Layers – Layer 2,3,4 and 7</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TCP/IP Model</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TCP 3-way Handshake</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TCP vs UDP</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IP Addressing – IPV4 &amp; IPV6, Public and Private, Subnetting, CIDR and NAT</a:t>
            </a:r>
          </a:p>
        </p:txBody>
      </p:sp>
      <p:sp>
        <p:nvSpPr>
          <p:cNvPr id="113" name="Google Shape;113;p2"/>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CONTENT</a:t>
            </a:r>
            <a:endParaRPr/>
          </a:p>
        </p:txBody>
      </p:sp>
      <p:sp>
        <p:nvSpPr>
          <p:cNvPr id="114" name="Google Shape;114;p2"/>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903EFE-2582-D68E-D4FD-9D8E06028C70}"/>
              </a:ext>
            </a:extLst>
          </p:cNvPr>
          <p:cNvSpPr>
            <a:spLocks noGrp="1"/>
          </p:cNvSpPr>
          <p:nvPr>
            <p:ph type="body" idx="1"/>
          </p:nvPr>
        </p:nvSpPr>
        <p:spPr/>
        <p:txBody>
          <a:bodyPr/>
          <a:lstStyle/>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Well Known Ports and Protocols</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Open Ports as Attack Surface and Port Scanning</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DNS Resolution Process, Record Types and Poisoning Concepts</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HTTP v/s HTTPS</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Digital Certificates</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Packet Flow</a:t>
            </a:r>
          </a:p>
        </p:txBody>
      </p:sp>
      <p:sp>
        <p:nvSpPr>
          <p:cNvPr id="3" name="Title 2">
            <a:extLst>
              <a:ext uri="{FF2B5EF4-FFF2-40B4-BE49-F238E27FC236}">
                <a16:creationId xmlns:a16="http://schemas.microsoft.com/office/drawing/2014/main" id="{56FF7DCF-6FE4-8E2B-E1BF-CE5B358E3837}"/>
              </a:ext>
            </a:extLst>
          </p:cNvPr>
          <p:cNvSpPr>
            <a:spLocks noGrp="1"/>
          </p:cNvSpPr>
          <p:nvPr>
            <p:ph type="title"/>
          </p:nvPr>
        </p:nvSpPr>
        <p:spPr/>
        <p:txBody>
          <a:bodyPr/>
          <a:lstStyle/>
          <a:p>
            <a:pPr algn="ctr"/>
            <a:r>
              <a:rPr lang="en-US" b="1" dirty="0">
                <a:latin typeface="+mj-lt"/>
              </a:rPr>
              <a:t>CONTENT</a:t>
            </a:r>
            <a:endParaRPr lang="en-IN" b="1" dirty="0">
              <a:latin typeface="+mj-lt"/>
            </a:endParaRPr>
          </a:p>
        </p:txBody>
      </p:sp>
      <p:sp>
        <p:nvSpPr>
          <p:cNvPr id="4" name="Slide Number Placeholder 3">
            <a:extLst>
              <a:ext uri="{FF2B5EF4-FFF2-40B4-BE49-F238E27FC236}">
                <a16:creationId xmlns:a16="http://schemas.microsoft.com/office/drawing/2014/main" id="{CDE188BE-EF8F-B9D3-86B7-2E8A4D3D2C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965425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0" lvl="0" indent="0" algn="just">
              <a:lnSpc>
                <a:spcPct val="110000"/>
              </a:lnSpc>
              <a:spcBef>
                <a:spcPts val="0"/>
              </a:spcBef>
              <a:buClr>
                <a:srgbClr val="000000"/>
              </a:buClr>
              <a:buSzTx/>
              <a:buNone/>
              <a:defRPr/>
            </a:pPr>
            <a:r>
              <a:rPr lang="en-GB" sz="2400" b="1" dirty="0">
                <a:latin typeface="Calibri" panose="020F0502020204030204" charset="0"/>
                <a:cs typeface="Calibri" panose="020F0502020204030204" charset="0"/>
                <a:sym typeface="+mn-ea"/>
              </a:rPr>
              <a:t>What is the OSI Model?</a:t>
            </a:r>
            <a:endParaRPr lang="en-GB" sz="2400" b="1"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Arial" panose="020B0604020202020204" pitchFamily="34" charset="0"/>
              <a:buChar char="•"/>
              <a:defRPr/>
            </a:pPr>
            <a:r>
              <a:rPr lang="en-GB" sz="2400" dirty="0">
                <a:latin typeface="Calibri" panose="020F0502020204030204" charset="0"/>
                <a:cs typeface="Calibri" panose="020F0502020204030204" charset="0"/>
                <a:sym typeface="+mn-ea"/>
              </a:rPr>
              <a:t>The </a:t>
            </a:r>
            <a:r>
              <a:rPr lang="en-GB" sz="2400" b="1" dirty="0">
                <a:latin typeface="Calibri" panose="020F0502020204030204" charset="0"/>
                <a:cs typeface="Calibri" panose="020F0502020204030204" charset="0"/>
                <a:sym typeface="+mn-ea"/>
              </a:rPr>
              <a:t>OSI(Open Systems Interconnection)</a:t>
            </a:r>
            <a:r>
              <a:rPr lang="en-GB" sz="2400" dirty="0">
                <a:latin typeface="Calibri" panose="020F0502020204030204" charset="0"/>
                <a:cs typeface="Calibri" panose="020F0502020204030204" charset="0"/>
                <a:sym typeface="+mn-ea"/>
              </a:rPr>
              <a:t> model is a 7-layer conceptual framework that standardizes the functions of a telecommunication or computing system. </a:t>
            </a:r>
          </a:p>
          <a:p>
            <a:pPr marL="285750" lvl="0" indent="-285750" algn="just">
              <a:lnSpc>
                <a:spcPct val="110000"/>
              </a:lnSpc>
              <a:spcBef>
                <a:spcPts val="0"/>
              </a:spcBef>
              <a:buClr>
                <a:srgbClr val="000000"/>
              </a:buClr>
              <a:buSzTx/>
              <a:buFont typeface="Arial" panose="020B0604020202020204" pitchFamily="34" charset="0"/>
              <a:buChar char="•"/>
              <a:defRPr/>
            </a:pPr>
            <a:r>
              <a:rPr lang="en-GB" sz="2400" dirty="0">
                <a:latin typeface="Calibri" panose="020F0502020204030204" charset="0"/>
                <a:cs typeface="Calibri" panose="020F0502020204030204" charset="0"/>
                <a:sym typeface="+mn-ea"/>
              </a:rPr>
              <a:t>It was developed by the International Organization for Standardization (ISO) in 1984 and serves as a guide to understanding and designing network protocols and communication systems. </a:t>
            </a:r>
          </a:p>
          <a:p>
            <a:pPr marL="285750" lvl="0" indent="-285750" algn="just">
              <a:lnSpc>
                <a:spcPct val="110000"/>
              </a:lnSpc>
              <a:spcBef>
                <a:spcPts val="0"/>
              </a:spcBef>
              <a:buClr>
                <a:srgbClr val="000000"/>
              </a:buClr>
              <a:buSzTx/>
              <a:buFont typeface="Arial" panose="020B0604020202020204" pitchFamily="34" charset="0"/>
              <a:buChar char="•"/>
              <a:defRPr/>
            </a:pPr>
            <a:r>
              <a:rPr lang="en-GB" sz="2400" dirty="0">
                <a:latin typeface="Calibri" panose="020F0502020204030204" charset="0"/>
                <a:cs typeface="Calibri" panose="020F0502020204030204" charset="0"/>
                <a:sym typeface="+mn-ea"/>
              </a:rPr>
              <a:t>Each layer is independent of the others but collaborates to ensure that data is transmitted efficiently.</a:t>
            </a:r>
            <a:endParaRPr lang="en-GB" sz="2400" dirty="0">
              <a:latin typeface="Calibri" panose="020F0502020204030204" charset="0"/>
              <a:cs typeface="Calibri" panose="020F0502020204030204" charset="0"/>
            </a:endParaRPr>
          </a:p>
        </p:txBody>
      </p:sp>
      <p:sp>
        <p:nvSpPr>
          <p:cNvPr id="120" name="Google Shape;120;p3"/>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OSI MODEL</a:t>
            </a:r>
            <a:endParaRPr b="1" dirty="0">
              <a:latin typeface="Arial"/>
              <a:ea typeface="Arial"/>
              <a:cs typeface="Arial"/>
              <a:sym typeface="Arial"/>
            </a:endParaRPr>
          </a:p>
        </p:txBody>
      </p:sp>
      <p:sp>
        <p:nvSpPr>
          <p:cNvPr id="121" name="Google Shape;121;p3"/>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rcRect t="7104" b="19511"/>
          <a:stretch>
            <a:fillRect/>
          </a:stretch>
        </p:blipFill>
        <p:spPr>
          <a:xfrm>
            <a:off x="1680845" y="1219200"/>
            <a:ext cx="8830310" cy="5005070"/>
          </a:xfrm>
          <a:prstGeom prst="rect">
            <a:avLst/>
          </a:prstGeom>
        </p:spPr>
      </p:pic>
      <p:sp>
        <p:nvSpPr>
          <p:cNvPr id="3" name="Title 2"/>
          <p:cNvSpPr>
            <a:spLocks noGrp="1"/>
          </p:cNvSpPr>
          <p:nvPr>
            <p:ph type="title"/>
          </p:nvPr>
        </p:nvSpPr>
        <p:spPr/>
        <p:txBody>
          <a:bodyPr/>
          <a:lstStyle/>
          <a:p>
            <a:pPr algn="ctr"/>
            <a:r>
              <a:rPr lang="en-US" b="1" dirty="0">
                <a:latin typeface="+mj-lt"/>
              </a:rPr>
              <a:t>OSI MODEL</a:t>
            </a:r>
          </a:p>
        </p:txBody>
      </p:sp>
      <p:sp>
        <p:nvSpPr>
          <p:cNvPr id="4" name="Slide Number Placeholder 3"/>
          <p:cNvSpPr>
            <a:spLocks noGrp="1"/>
          </p:cNvSpPr>
          <p:nvPr>
            <p:ph type="sldNum" sz="quarter" idx="12"/>
          </p:nvPr>
        </p:nvSpPr>
        <p:spPr/>
        <p:txBody>
          <a:bodyPr/>
          <a:lstStyle/>
          <a:p>
            <a:fld id="{02C84146-E65B-4948-A521-8AE14AC02658}"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marR="0" lvl="0" indent="0" algn="just" defTabSz="914400" rtl="0" eaLnBrk="1" fontAlgn="auto" latinLnBrk="0" hangingPunct="1">
              <a:lnSpc>
                <a:spcPct val="130000"/>
              </a:lnSpc>
              <a:spcBef>
                <a:spcPts val="0"/>
              </a:spcBef>
              <a:spcAft>
                <a:spcPts val="0"/>
              </a:spcAft>
              <a:buClr>
                <a:srgbClr val="000000"/>
              </a:buClr>
              <a:buSzTx/>
              <a:buFont typeface="Arial" panose="020B0604020202020204" pitchFamily="34" charset="0"/>
              <a:buNone/>
              <a:defRPr/>
            </a:pPr>
            <a:r>
              <a:rPr lang="en-GB" b="1" dirty="0">
                <a:latin typeface="Calibri" panose="020F0502020204030204" charset="0"/>
                <a:cs typeface="Calibri" panose="020F0502020204030204" charset="0"/>
                <a:sym typeface="+mn-ea"/>
              </a:rPr>
              <a:t>Why is the OSI Model Important?</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3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Standardization: </a:t>
            </a:r>
            <a:r>
              <a:rPr lang="en-GB" dirty="0">
                <a:latin typeface="Calibri" panose="020F0502020204030204" charset="0"/>
                <a:cs typeface="Calibri" panose="020F0502020204030204" charset="0"/>
                <a:sym typeface="+mn-ea"/>
              </a:rPr>
              <a:t>The OSI model provides a universal set of guidelines for manufacturers and developers to follow, which ensures compatibility between different networking products and systems.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3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Modularity: </a:t>
            </a:r>
            <a:r>
              <a:rPr lang="en-GB" dirty="0">
                <a:latin typeface="Calibri" panose="020F0502020204030204" charset="0"/>
                <a:cs typeface="Calibri" panose="020F0502020204030204" charset="0"/>
                <a:sym typeface="+mn-ea"/>
              </a:rPr>
              <a:t>Each layer of the OSI model has specific tasks, which allows for modular design and troubleshooting in network systems.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3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Understanding Data Flow: </a:t>
            </a:r>
            <a:r>
              <a:rPr lang="en-GB" dirty="0">
                <a:latin typeface="Calibri" panose="020F0502020204030204" charset="0"/>
                <a:cs typeface="Calibri" panose="020F0502020204030204" charset="0"/>
                <a:sym typeface="+mn-ea"/>
              </a:rPr>
              <a:t>It helps network administrators and engineers understand the complete flow of data from source to destination, which aids in network management and troubleshooting.</a:t>
            </a:r>
            <a:endParaRPr lang="en-GB" dirty="0">
              <a:latin typeface="Calibri" panose="020F0502020204030204" charset="0"/>
              <a:cs typeface="Calibri" panose="020F0502020204030204" charset="0"/>
            </a:endParaRPr>
          </a:p>
          <a:p>
            <a:pPr algn="just">
              <a:lnSpc>
                <a:spcPct val="13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OSI MODEL</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985135" y="1136015"/>
            <a:ext cx="5707380" cy="5114925"/>
          </a:xfrm>
          <a:prstGeom prst="rect">
            <a:avLst/>
          </a:prstGeom>
        </p:spPr>
      </p:pic>
      <p:sp>
        <p:nvSpPr>
          <p:cNvPr id="3" name="Title 2"/>
          <p:cNvSpPr>
            <a:spLocks noGrp="1"/>
          </p:cNvSpPr>
          <p:nvPr>
            <p:ph type="title"/>
          </p:nvPr>
        </p:nvSpPr>
        <p:spPr/>
        <p:txBody>
          <a:bodyPr/>
          <a:lstStyle/>
          <a:p>
            <a:pPr algn="ctr"/>
            <a:r>
              <a:rPr lang="en-US" b="1" dirty="0">
                <a:latin typeface="+mj-lt"/>
                <a:sym typeface="+mn-ea"/>
              </a:rPr>
              <a:t>OSI MODEL</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The Physical Layer is the foundation of the OSI model. It deals with the physical transmission of data over a medium (e.g., cables, </a:t>
            </a:r>
            <a:r>
              <a:rPr lang="en-GB" kern="0" noProof="0" dirty="0" err="1">
                <a:ln>
                  <a:noFill/>
                </a:ln>
                <a:solidFill>
                  <a:srgbClr val="000000"/>
                </a:solidFill>
                <a:effectLst/>
                <a:uLnTx/>
                <a:uFillTx/>
                <a:latin typeface="Calibri" panose="020F0502020204030204" charset="0"/>
                <a:cs typeface="Calibri" panose="020F0502020204030204" charset="0"/>
                <a:sym typeface="Arial" panose="020B0604020202020204"/>
              </a:rPr>
              <a:t>fiber</a:t>
            </a: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 optics, radio waves). It governs the electrical, mechanical, procedural, and functional specifications for activating and maintaining physical connections.</a:t>
            </a:r>
            <a:endParaRPr kumimoji="0" lang="en-GB" i="0" u="none" strike="noStrike" kern="0" cap="none" spc="0" normalizeH="0" baseline="0" noProof="0" dirty="0">
              <a:ln>
                <a:noFill/>
              </a:ln>
              <a:solidFill>
                <a:srgbClr val="000000"/>
              </a:solidFill>
              <a:effectLst/>
              <a:uLnTx/>
              <a:uFillTx/>
              <a:latin typeface="Calibri" panose="020F0502020204030204" charset="0"/>
              <a:cs typeface="Calibri" panose="020F0502020204030204" charset="0"/>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kern="0" noProof="0" dirty="0">
                <a:ln>
                  <a:noFill/>
                </a:ln>
                <a:solidFill>
                  <a:srgbClr val="000000"/>
                </a:solidFill>
                <a:effectLst/>
                <a:uLnTx/>
                <a:uFillTx/>
                <a:latin typeface="Calibri" panose="020F0502020204030204" charset="0"/>
                <a:cs typeface="Calibri" panose="020F0502020204030204" charset="0"/>
                <a:sym typeface="Arial" panose="020B0604020202020204"/>
              </a:rPr>
              <a:t>Function: </a:t>
            </a: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Transmits raw bits (0s and 1s) over the network. It converts digital data into electrical, radio, or optical signals.</a:t>
            </a:r>
            <a:endParaRPr kumimoji="0" lang="en-GB" i="0" u="none" strike="noStrike" kern="0" cap="none" spc="0" normalizeH="0" baseline="0" noProof="0" dirty="0">
              <a:ln>
                <a:noFill/>
              </a:ln>
              <a:solidFill>
                <a:srgbClr val="000000"/>
              </a:solidFill>
              <a:effectLst/>
              <a:uLnTx/>
              <a:uFillTx/>
              <a:latin typeface="Calibri" panose="020F0502020204030204" charset="0"/>
              <a:cs typeface="Calibri" panose="020F0502020204030204" charset="0"/>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kern="0" noProof="0" dirty="0">
                <a:ln>
                  <a:noFill/>
                </a:ln>
                <a:solidFill>
                  <a:srgbClr val="000000"/>
                </a:solidFill>
                <a:effectLst/>
                <a:uLnTx/>
                <a:uFillTx/>
                <a:latin typeface="Calibri" panose="020F0502020204030204" charset="0"/>
                <a:cs typeface="Calibri" panose="020F0502020204030204" charset="0"/>
                <a:sym typeface="Arial" panose="020B0604020202020204"/>
              </a:rPr>
              <a:t>Examples of Physical Layer Devices: </a:t>
            </a: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Cables, hubs, repeaters, modems, network interface cards (NICs).</a:t>
            </a:r>
            <a:endParaRPr kumimoji="0" lang="en-GB" i="0" u="none" strike="noStrike" kern="0" cap="none" spc="0" normalizeH="0" baseline="0" noProof="0" dirty="0">
              <a:ln>
                <a:noFill/>
              </a:ln>
              <a:solidFill>
                <a:srgbClr val="000000"/>
              </a:solidFill>
              <a:effectLst/>
              <a:uLnTx/>
              <a:uFillTx/>
              <a:latin typeface="Calibri" panose="020F0502020204030204" charset="0"/>
              <a:cs typeface="Calibri" panose="020F0502020204030204" charset="0"/>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kern="0" noProof="0" dirty="0">
                <a:ln>
                  <a:noFill/>
                </a:ln>
                <a:solidFill>
                  <a:srgbClr val="000000"/>
                </a:solidFill>
                <a:effectLst/>
                <a:uLnTx/>
                <a:uFillTx/>
                <a:latin typeface="Calibri" panose="020F0502020204030204" charset="0"/>
                <a:cs typeface="Calibri" panose="020F0502020204030204" charset="0"/>
                <a:sym typeface="Arial" panose="020B0604020202020204"/>
              </a:rPr>
              <a:t>Key Protocols: </a:t>
            </a: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Ethernet (physical </a:t>
            </a:r>
            <a:r>
              <a:rPr lang="en-GB" kern="0" noProof="0" dirty="0" err="1">
                <a:ln>
                  <a:noFill/>
                </a:ln>
                <a:solidFill>
                  <a:srgbClr val="000000"/>
                </a:solidFill>
                <a:effectLst/>
                <a:uLnTx/>
                <a:uFillTx/>
                <a:latin typeface="Calibri" panose="020F0502020204030204" charset="0"/>
                <a:cs typeface="Calibri" panose="020F0502020204030204" charset="0"/>
                <a:sym typeface="Arial" panose="020B0604020202020204"/>
              </a:rPr>
              <a:t>signaling</a:t>
            </a: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rPr>
              <a:t>PHYSICAL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kern="0" noProof="0" dirty="0">
                <a:ln>
                  <a:noFill/>
                </a:ln>
                <a:solidFill>
                  <a:srgbClr val="000000"/>
                </a:solidFill>
                <a:effectLst/>
                <a:uLnTx/>
                <a:uFillTx/>
                <a:latin typeface="Calibri" panose="020F0502020204030204" charset="0"/>
                <a:cs typeface="Calibri" panose="020F0502020204030204" charset="0"/>
                <a:sym typeface="Arial" panose="020B0604020202020204"/>
              </a:rPr>
              <a:t>Key Characteristics:</a:t>
            </a:r>
            <a:endParaRPr kumimoji="0" lang="en-GB" b="1" i="0" u="none" strike="noStrike" kern="0" cap="none" spc="0" normalizeH="0" baseline="0" noProof="0" dirty="0">
              <a:ln>
                <a:noFill/>
              </a:ln>
              <a:solidFill>
                <a:srgbClr val="000000"/>
              </a:solidFill>
              <a:effectLst/>
              <a:uLnTx/>
              <a:uFillTx/>
              <a:latin typeface="Calibri" panose="020F0502020204030204" charset="0"/>
              <a:cs typeface="Calibri" panose="020F0502020204030204" charset="0"/>
              <a:sym typeface="Arial" panose="020B0604020202020204"/>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Data rate (bits per second, Mbps, or Gbps).</a:t>
            </a:r>
            <a:endParaRPr kumimoji="0" lang="en-GB" i="0" u="none" strike="noStrike" kern="0" cap="none" spc="0" normalizeH="0" baseline="0" noProof="0" dirty="0">
              <a:ln>
                <a:noFill/>
              </a:ln>
              <a:solidFill>
                <a:srgbClr val="000000"/>
              </a:solidFill>
              <a:effectLst/>
              <a:uLnTx/>
              <a:uFillTx/>
              <a:latin typeface="Calibri" panose="020F0502020204030204" charset="0"/>
              <a:cs typeface="Calibri" panose="020F0502020204030204" charset="0"/>
              <a:sym typeface="Arial" panose="020B0604020202020204"/>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Physical medium (copper wires, </a:t>
            </a:r>
            <a:r>
              <a:rPr lang="en-GB" kern="0" noProof="0" dirty="0" err="1">
                <a:ln>
                  <a:noFill/>
                </a:ln>
                <a:solidFill>
                  <a:srgbClr val="000000"/>
                </a:solidFill>
                <a:effectLst/>
                <a:uLnTx/>
                <a:uFillTx/>
                <a:latin typeface="Calibri" panose="020F0502020204030204" charset="0"/>
                <a:cs typeface="Calibri" panose="020F0502020204030204" charset="0"/>
                <a:sym typeface="Arial" panose="020B0604020202020204"/>
              </a:rPr>
              <a:t>fiber</a:t>
            </a: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 optics, wireless).</a:t>
            </a:r>
            <a:endParaRPr kumimoji="0" lang="en-GB" i="0" u="none" strike="noStrike" kern="0" cap="none" spc="0" normalizeH="0" baseline="0" noProof="0" dirty="0">
              <a:ln>
                <a:noFill/>
              </a:ln>
              <a:solidFill>
                <a:srgbClr val="000000"/>
              </a:solidFill>
              <a:effectLst/>
              <a:uLnTx/>
              <a:uFillTx/>
              <a:latin typeface="Calibri" panose="020F0502020204030204" charset="0"/>
              <a:cs typeface="Calibri" panose="020F0502020204030204" charset="0"/>
              <a:sym typeface="Arial" panose="020B0604020202020204"/>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Signal modulation (AM, FM, etc.).</a:t>
            </a:r>
          </a:p>
          <a:p>
            <a:pPr marL="0" marR="0" lvl="0" indent="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None/>
              <a:defRPr/>
            </a:pPr>
            <a:endParaRPr kumimoji="0" lang="en-GB" i="0" u="none" strike="noStrike" kern="0" cap="none" spc="0" normalizeH="0" baseline="0" noProof="0" dirty="0">
              <a:ln>
                <a:noFill/>
              </a:ln>
              <a:solidFill>
                <a:srgbClr val="000000"/>
              </a:solidFill>
              <a:effectLst/>
              <a:uLnTx/>
              <a:uFillTx/>
              <a:latin typeface="Calibri" panose="020F0502020204030204" charset="0"/>
              <a:cs typeface="Calibri" panose="020F0502020204030204" charset="0"/>
              <a:sym typeface="Arial" panose="020B0604020202020204"/>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kern="0" noProof="0" dirty="0">
                <a:ln>
                  <a:noFill/>
                </a:ln>
                <a:solidFill>
                  <a:srgbClr val="000000"/>
                </a:solidFill>
                <a:effectLst/>
                <a:uLnTx/>
                <a:uFillTx/>
                <a:latin typeface="Calibri" panose="020F0502020204030204" charset="0"/>
                <a:cs typeface="Calibri" panose="020F0502020204030204" charset="0"/>
                <a:sym typeface="Arial" panose="020B0604020202020204"/>
              </a:rPr>
              <a:t>Real-World Example: </a:t>
            </a:r>
            <a:r>
              <a:rPr lang="en-GB" kern="0" noProof="0" dirty="0">
                <a:ln>
                  <a:noFill/>
                </a:ln>
                <a:solidFill>
                  <a:srgbClr val="000000"/>
                </a:solidFill>
                <a:effectLst/>
                <a:uLnTx/>
                <a:uFillTx/>
                <a:latin typeface="Calibri" panose="020F0502020204030204" charset="0"/>
                <a:cs typeface="Calibri" panose="020F0502020204030204" charset="0"/>
                <a:sym typeface="Arial" panose="020B0604020202020204"/>
              </a:rPr>
              <a:t>When a user clicks "send" on an email, the electrical signals or light pulses travel over cables or through the air to the recipient's device.</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PHYSICAL LAYER</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38200" y="2041525"/>
            <a:ext cx="10515600" cy="3336290"/>
          </a:xfrm>
          <a:prstGeom prst="rect">
            <a:avLst/>
          </a:prstGeom>
        </p:spPr>
      </p:pic>
      <p:sp>
        <p:nvSpPr>
          <p:cNvPr id="3" name="Title 2"/>
          <p:cNvSpPr>
            <a:spLocks noGrp="1"/>
          </p:cNvSpPr>
          <p:nvPr>
            <p:ph type="title"/>
          </p:nvPr>
        </p:nvSpPr>
        <p:spPr/>
        <p:txBody>
          <a:bodyPr/>
          <a:lstStyle/>
          <a:p>
            <a:pPr algn="ctr"/>
            <a:r>
              <a:rPr lang="en-US" b="1" dirty="0">
                <a:latin typeface="+mj-lt"/>
                <a:sym typeface="+mn-ea"/>
              </a:rPr>
              <a:t>PHYSICAL LAYER</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0000"/>
          </a:bodyPr>
          <a:lstStyle/>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Data Link Layer is responsible for node-to-node data transfer. It ensures reliable transmission of data across the physical link by framing data and handling errors that may occur at the Physical Layer.</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Packages raw bits from the Physical Layer into frames. It also manages error detection, flow control, and addressing (MAC addressing).</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Concepts: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MAC (Media Access Control): </a:t>
            </a:r>
            <a:r>
              <a:rPr lang="en-GB" dirty="0">
                <a:latin typeface="Calibri" panose="020F0502020204030204" charset="0"/>
                <a:cs typeface="Calibri" panose="020F0502020204030204" charset="0"/>
                <a:sym typeface="+mn-ea"/>
              </a:rPr>
              <a:t>Unique addresses that identify devices on a network.</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Framing: </a:t>
            </a:r>
            <a:r>
              <a:rPr lang="en-GB" dirty="0">
                <a:latin typeface="Calibri" panose="020F0502020204030204" charset="0"/>
                <a:cs typeface="Calibri" panose="020F0502020204030204" charset="0"/>
                <a:sym typeface="+mn-ea"/>
              </a:rPr>
              <a:t>Dividing data into packets called frames.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Error Detection: </a:t>
            </a:r>
            <a:r>
              <a:rPr lang="en-GB" dirty="0">
                <a:latin typeface="Calibri" panose="020F0502020204030204" charset="0"/>
                <a:cs typeface="Calibri" panose="020F0502020204030204" charset="0"/>
                <a:sym typeface="+mn-ea"/>
              </a:rPr>
              <a:t>Using Cyclic Redundancy Check (CRC) to detect any errors in transmission.</a:t>
            </a:r>
            <a:endParaRPr lang="en-GB" dirty="0">
              <a:latin typeface="Calibri" panose="020F0502020204030204" charset="0"/>
              <a:cs typeface="Calibri" panose="020F0502020204030204" charset="0"/>
            </a:endParaRPr>
          </a:p>
          <a:p>
            <a:pPr>
              <a:lnSpc>
                <a:spcPct val="11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rPr>
              <a:t>DATA LINK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Examples of Data Link Layer Devices: </a:t>
            </a:r>
            <a:r>
              <a:rPr lang="en-GB" dirty="0">
                <a:latin typeface="Calibri" panose="020F0502020204030204" charset="0"/>
                <a:cs typeface="Calibri" panose="020F0502020204030204" charset="0"/>
                <a:sym typeface="+mn-ea"/>
              </a:rPr>
              <a:t>Switches (operating in Layer 2), bridges, Network Interface Cards (NICs).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Protocols: </a:t>
            </a:r>
            <a:r>
              <a:rPr lang="en-GB" dirty="0">
                <a:latin typeface="Calibri" panose="020F0502020204030204" charset="0"/>
                <a:cs typeface="Calibri" panose="020F0502020204030204" charset="0"/>
                <a:sym typeface="+mn-ea"/>
              </a:rPr>
              <a:t>Ethernet (for LANs), Wi-Fi (for wireless networks), PPP (Point-to-Point Protocol).</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Real-World Example: </a:t>
            </a:r>
            <a:r>
              <a:rPr lang="en-GB" dirty="0">
                <a:latin typeface="Calibri" panose="020F0502020204030204" charset="0"/>
                <a:cs typeface="Calibri" panose="020F0502020204030204" charset="0"/>
                <a:sym typeface="+mn-ea"/>
              </a:rPr>
              <a:t>When sending a message, the Data Link Layer adds MAC addresses so that the message knows which devices to travel through, ensuring it reaches the correct recipient within a local network.</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normAutofit/>
          </a:bodyPr>
          <a:lstStyle/>
          <a:p>
            <a:pPr algn="ctr"/>
            <a:r>
              <a:rPr lang="en-US" sz="4000" b="1" dirty="0">
                <a:latin typeface="+mj-lt"/>
                <a:sym typeface="+mn-ea"/>
              </a:rPr>
              <a:t>DATA LINK LAYER</a:t>
            </a:r>
            <a:endParaRPr lang="en-US" sz="4000"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38200" y="2041525"/>
            <a:ext cx="10515600" cy="3336290"/>
          </a:xfrm>
          <a:prstGeom prst="rect">
            <a:avLst/>
          </a:prstGeom>
        </p:spPr>
      </p:pic>
      <p:sp>
        <p:nvSpPr>
          <p:cNvPr id="3" name="Title 2"/>
          <p:cNvSpPr>
            <a:spLocks noGrp="1"/>
          </p:cNvSpPr>
          <p:nvPr>
            <p:ph type="title"/>
          </p:nvPr>
        </p:nvSpPr>
        <p:spPr/>
        <p:txBody>
          <a:bodyPr/>
          <a:lstStyle/>
          <a:p>
            <a:pPr algn="ctr"/>
            <a:r>
              <a:rPr lang="en-US" b="1" dirty="0">
                <a:latin typeface="+mj-lt"/>
                <a:sym typeface="+mn-ea"/>
              </a:rPr>
              <a:t>DATA LINK LAYER</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0000" lnSpcReduction="20000"/>
          </a:bodyPr>
          <a:lstStyle/>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Network Layer is responsible for routing data between different networks. It determines the best path for the data to travel to its destination using logical addresses, such as IP addresses.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Routing and forwarding of packets from the source to the destination across different networks.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Concepts: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IP Addressing: </a:t>
            </a:r>
            <a:r>
              <a:rPr lang="en-GB" dirty="0">
                <a:latin typeface="Calibri" panose="020F0502020204030204" charset="0"/>
                <a:cs typeface="Calibri" panose="020F0502020204030204" charset="0"/>
                <a:sym typeface="+mn-ea"/>
              </a:rPr>
              <a:t>Assigning logical addresses to devices.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Routing: </a:t>
            </a:r>
            <a:r>
              <a:rPr lang="en-GB" dirty="0">
                <a:latin typeface="Calibri" panose="020F0502020204030204" charset="0"/>
                <a:cs typeface="Calibri" panose="020F0502020204030204" charset="0"/>
                <a:sym typeface="+mn-ea"/>
              </a:rPr>
              <a:t>Finding the best path for data packets to reach their destination.</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Packet Switching: </a:t>
            </a:r>
            <a:r>
              <a:rPr lang="en-GB" dirty="0">
                <a:latin typeface="Calibri" panose="020F0502020204030204" charset="0"/>
                <a:cs typeface="Calibri" panose="020F0502020204030204" charset="0"/>
                <a:sym typeface="+mn-ea"/>
              </a:rPr>
              <a:t>Data is broken into packets, which are then routed to their destination.</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Network Address Translation (NAT): </a:t>
            </a:r>
            <a:r>
              <a:rPr lang="en-GB" dirty="0">
                <a:latin typeface="Calibri" panose="020F0502020204030204" charset="0"/>
                <a:cs typeface="Calibri" panose="020F0502020204030204" charset="0"/>
                <a:sym typeface="+mn-ea"/>
              </a:rPr>
              <a:t>Converts private IP addresses to public IP addresses for communication over the internet.</a:t>
            </a:r>
            <a:endParaRPr lang="en-GB" dirty="0">
              <a:latin typeface="Calibri" panose="020F0502020204030204" charset="0"/>
              <a:cs typeface="Calibri" panose="020F0502020204030204" charset="0"/>
            </a:endParaRPr>
          </a:p>
          <a:p>
            <a:pPr>
              <a:lnSpc>
                <a:spcPct val="12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rPr>
              <a:t>NETWORK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Examples of Network Layer Devices: </a:t>
            </a:r>
            <a:r>
              <a:rPr lang="en-GB" dirty="0">
                <a:latin typeface="Calibri" panose="020F0502020204030204" charset="0"/>
                <a:cs typeface="Calibri" panose="020F0502020204030204" charset="0"/>
                <a:sym typeface="+mn-ea"/>
              </a:rPr>
              <a:t>Routers, Layer 3 switches.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Protocols: </a:t>
            </a:r>
            <a:r>
              <a:rPr lang="en-GB" dirty="0">
                <a:latin typeface="Calibri" panose="020F0502020204030204" charset="0"/>
                <a:cs typeface="Calibri" panose="020F0502020204030204" charset="0"/>
                <a:sym typeface="+mn-ea"/>
              </a:rPr>
              <a:t>IP (Internet Protocol), ICMP (Internet Control Message Protocol), OSPF (Open Shortest Path First), BGP (Border Gateway Protocol).</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Real-World Example: </a:t>
            </a:r>
            <a:r>
              <a:rPr lang="en-GB" dirty="0">
                <a:latin typeface="Calibri" panose="020F0502020204030204" charset="0"/>
                <a:cs typeface="Calibri" panose="020F0502020204030204" charset="0"/>
                <a:sym typeface="+mn-ea"/>
              </a:rPr>
              <a:t>When you type a website URL, the Network Layer uses your IP address to determine the best route to send and receive data from the website's server.</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NETWORK LAYER</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38200" y="2041525"/>
            <a:ext cx="10515600" cy="3336290"/>
          </a:xfrm>
          <a:prstGeom prst="rect">
            <a:avLst/>
          </a:prstGeom>
        </p:spPr>
      </p:pic>
      <p:sp>
        <p:nvSpPr>
          <p:cNvPr id="3" name="Title 2"/>
          <p:cNvSpPr>
            <a:spLocks noGrp="1"/>
          </p:cNvSpPr>
          <p:nvPr>
            <p:ph type="title"/>
          </p:nvPr>
        </p:nvSpPr>
        <p:spPr/>
        <p:txBody>
          <a:bodyPr/>
          <a:lstStyle/>
          <a:p>
            <a:pPr algn="ctr"/>
            <a:r>
              <a:rPr lang="en-US" b="1">
                <a:latin typeface="+mj-lt"/>
                <a:sym typeface="+mn-ea"/>
              </a:rPr>
              <a:t>NETWORK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0000" lnSpcReduction="10000"/>
          </a:bodyPr>
          <a:lstStyle/>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Transport Layer ensures end-to-end communication and error recovery. It controls the flow of data between devices and ensures that the entire message is sent and received in the correct order.</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Provides reliable transmission of data across the network and ensures error checking and data flow control.</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Concepts: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TCP (Transmission Control Protocol): </a:t>
            </a:r>
            <a:r>
              <a:rPr lang="en-GB" dirty="0">
                <a:latin typeface="Calibri" panose="020F0502020204030204" charset="0"/>
                <a:cs typeface="Calibri" panose="020F0502020204030204" charset="0"/>
                <a:sym typeface="+mn-ea"/>
              </a:rPr>
              <a:t>A connection-oriented protocol that guarantees data delivery through error checking and retransmission of lost packets.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UDP (User Datagram Protocol</a:t>
            </a:r>
            <a:r>
              <a:rPr lang="en-GB" dirty="0">
                <a:latin typeface="Calibri" panose="020F0502020204030204" charset="0"/>
                <a:cs typeface="Calibri" panose="020F0502020204030204" charset="0"/>
                <a:sym typeface="+mn-ea"/>
              </a:rPr>
              <a:t>): A connectionless protocol used when speed is more important than reliability (e.g., for live streaming or VoIP).</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Segmentation and Reassembly: </a:t>
            </a:r>
            <a:r>
              <a:rPr lang="en-GB" dirty="0">
                <a:latin typeface="Calibri" panose="020F0502020204030204" charset="0"/>
                <a:cs typeface="Calibri" panose="020F0502020204030204" charset="0"/>
                <a:sym typeface="+mn-ea"/>
              </a:rPr>
              <a:t>Divides large messages into smaller segments for transmission, reassembles them at the destination.</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rPr>
              <a:t>TRANSPORT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Examples of Transport Layer Devices: </a:t>
            </a:r>
            <a:r>
              <a:rPr lang="en-GB" dirty="0">
                <a:latin typeface="Calibri" panose="020F0502020204030204" charset="0"/>
                <a:cs typeface="Calibri" panose="020F0502020204030204" charset="0"/>
                <a:sym typeface="+mn-ea"/>
              </a:rPr>
              <a:t>Transport layer functions are implemented in operating systems.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Protocols: </a:t>
            </a:r>
            <a:r>
              <a:rPr lang="en-GB" dirty="0">
                <a:latin typeface="Calibri" panose="020F0502020204030204" charset="0"/>
                <a:cs typeface="Calibri" panose="020F0502020204030204" charset="0"/>
                <a:sym typeface="+mn-ea"/>
              </a:rPr>
              <a:t>TCP, UDP.</a:t>
            </a:r>
            <a:endParaRPr lang="en-GB" dirty="0">
              <a:latin typeface="Calibri" panose="020F0502020204030204" charset="0"/>
              <a:cs typeface="Calibri" panose="020F0502020204030204" charset="0"/>
            </a:endParaRPr>
          </a:p>
          <a:p>
            <a:pPr marR="0" lvl="0" algn="just" defTabSz="914400" rtl="0" eaLnBrk="1" fontAlgn="auto" latinLnBrk="0" hangingPunct="1">
              <a:lnSpc>
                <a:spcPct val="100000"/>
              </a:lnSpc>
              <a:spcBef>
                <a:spcPts val="0"/>
              </a:spcBef>
              <a:spcAft>
                <a:spcPts val="0"/>
              </a:spcAft>
              <a:buClr>
                <a:srgbClr val="000000"/>
              </a:buClr>
              <a:buSzTx/>
              <a:defRPr/>
            </a:pP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Real-World Example: </a:t>
            </a:r>
            <a:r>
              <a:rPr lang="en-GB" dirty="0">
                <a:latin typeface="Calibri" panose="020F0502020204030204" charset="0"/>
                <a:cs typeface="Calibri" panose="020F0502020204030204" charset="0"/>
                <a:sym typeface="+mn-ea"/>
              </a:rPr>
              <a:t>When you download a large file, TCP ensures that every packet of the file is delivered correctly, and if some are lost, it requests them again</a:t>
            </a:r>
            <a:r>
              <a:rPr lang="en-GB" b="1" dirty="0">
                <a:latin typeface="Calibri" panose="020F0502020204030204" charset="0"/>
                <a:cs typeface="Calibri" panose="020F0502020204030204" charset="0"/>
                <a:sym typeface="+mn-ea"/>
              </a:rPr>
              <a:t>.</a:t>
            </a:r>
            <a:endParaRPr lang="en-GB" dirty="0">
              <a:latin typeface="Calibri" panose="020F0502020204030204" charset="0"/>
              <a:cs typeface="Calibri" panose="020F0502020204030204" charset="0"/>
            </a:endParaRPr>
          </a:p>
          <a:p>
            <a:pPr marL="0" indent="0">
              <a:buNone/>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TRANSPORT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38200" y="2041525"/>
            <a:ext cx="10515600" cy="3336290"/>
          </a:xfrm>
          <a:prstGeom prst="rect">
            <a:avLst/>
          </a:prstGeom>
        </p:spPr>
      </p:pic>
      <p:sp>
        <p:nvSpPr>
          <p:cNvPr id="3" name="Title 2"/>
          <p:cNvSpPr>
            <a:spLocks noGrp="1"/>
          </p:cNvSpPr>
          <p:nvPr>
            <p:ph type="title"/>
          </p:nvPr>
        </p:nvSpPr>
        <p:spPr/>
        <p:txBody>
          <a:bodyPr/>
          <a:lstStyle/>
          <a:p>
            <a:pPr algn="ctr"/>
            <a:r>
              <a:rPr lang="en-US" b="1">
                <a:latin typeface="+mj-lt"/>
                <a:sym typeface="+mn-ea"/>
              </a:rPr>
              <a:t>TRANSPORT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0000" lnSpcReduction="10000"/>
          </a:bodyPr>
          <a:lstStyle/>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Session Layer is responsible for establishing, managing, and terminating sessions (connections) between devices. It ensures that communication sessions between applications stay open and synchronize the data exchange.</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Manages sessions between devices, including establishing, maintaining, and terminating connections.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Concepts: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Session Management: </a:t>
            </a:r>
            <a:r>
              <a:rPr lang="en-GB" dirty="0">
                <a:latin typeface="Calibri" panose="020F0502020204030204" charset="0"/>
                <a:cs typeface="Calibri" panose="020F0502020204030204" charset="0"/>
                <a:sym typeface="+mn-ea"/>
              </a:rPr>
              <a:t>Controls dialogue between devices.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Synchronization: </a:t>
            </a:r>
            <a:r>
              <a:rPr lang="en-GB" dirty="0">
                <a:latin typeface="Calibri" panose="020F0502020204030204" charset="0"/>
                <a:cs typeface="Calibri" panose="020F0502020204030204" charset="0"/>
                <a:sym typeface="+mn-ea"/>
              </a:rPr>
              <a:t>Ensures that data streams are synchronized between the source and the destination.</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Dialog Control: </a:t>
            </a:r>
            <a:r>
              <a:rPr lang="en-GB" dirty="0">
                <a:latin typeface="Calibri" panose="020F0502020204030204" charset="0"/>
                <a:cs typeface="Calibri" panose="020F0502020204030204" charset="0"/>
                <a:sym typeface="+mn-ea"/>
              </a:rPr>
              <a:t>Manages which device can send and receive data at a given time (full-duplex or half-duplex).</a:t>
            </a:r>
            <a:endParaRPr lang="en-GB" dirty="0">
              <a:latin typeface="Calibri" panose="020F0502020204030204" charset="0"/>
              <a:cs typeface="Calibri" panose="020F0502020204030204" charset="0"/>
            </a:endParaRPr>
          </a:p>
          <a:p>
            <a:pPr>
              <a:lnSpc>
                <a:spcPct val="12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rPr>
              <a:t>SESSION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Examples of Session Layer Devices: </a:t>
            </a:r>
            <a:r>
              <a:rPr lang="en-GB" dirty="0">
                <a:latin typeface="Calibri" panose="020F0502020204030204" charset="0"/>
                <a:cs typeface="Calibri" panose="020F0502020204030204" charset="0"/>
                <a:sym typeface="+mn-ea"/>
              </a:rPr>
              <a:t>No specific devices—these functions are typically handled by the operating system.</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Protocols: </a:t>
            </a:r>
            <a:r>
              <a:rPr lang="en-GB" dirty="0">
                <a:latin typeface="Calibri" panose="020F0502020204030204" charset="0"/>
                <a:cs typeface="Calibri" panose="020F0502020204030204" charset="0"/>
                <a:sym typeface="+mn-ea"/>
              </a:rPr>
              <a:t>SMB (Server Message Block), PPTP (Point-to-Point </a:t>
            </a:r>
            <a:r>
              <a:rPr lang="en-GB" dirty="0" err="1">
                <a:latin typeface="Calibri" panose="020F0502020204030204" charset="0"/>
                <a:cs typeface="Calibri" panose="020F0502020204030204" charset="0"/>
                <a:sym typeface="+mn-ea"/>
              </a:rPr>
              <a:t>Tunneling</a:t>
            </a:r>
            <a:r>
              <a:rPr lang="en-GB" dirty="0">
                <a:latin typeface="Calibri" panose="020F0502020204030204" charset="0"/>
                <a:cs typeface="Calibri" panose="020F0502020204030204" charset="0"/>
                <a:sym typeface="+mn-ea"/>
              </a:rPr>
              <a:t> Protocol).</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Real-World Example: </a:t>
            </a:r>
            <a:r>
              <a:rPr lang="en-GB" dirty="0">
                <a:latin typeface="Calibri" panose="020F0502020204030204" charset="0"/>
                <a:cs typeface="Calibri" panose="020F0502020204030204" charset="0"/>
                <a:sym typeface="+mn-ea"/>
              </a:rPr>
              <a:t>When you're logged into a website, the session layer keeps the session open, allowing you to interact with the website until you log out or the session times out.</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SESSION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38200" y="2041525"/>
            <a:ext cx="10515600" cy="3336290"/>
          </a:xfrm>
          <a:prstGeom prst="rect">
            <a:avLst/>
          </a:prstGeom>
        </p:spPr>
      </p:pic>
      <p:sp>
        <p:nvSpPr>
          <p:cNvPr id="3" name="Title 2"/>
          <p:cNvSpPr>
            <a:spLocks noGrp="1"/>
          </p:cNvSpPr>
          <p:nvPr>
            <p:ph type="title"/>
          </p:nvPr>
        </p:nvSpPr>
        <p:spPr/>
        <p:txBody>
          <a:bodyPr/>
          <a:lstStyle/>
          <a:p>
            <a:pPr algn="ctr"/>
            <a:r>
              <a:rPr lang="en-US" b="1">
                <a:latin typeface="+mj-lt"/>
                <a:sym typeface="+mn-ea"/>
              </a:rPr>
              <a:t>SESSION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7500" lnSpcReduction="20000"/>
          </a:bodyPr>
          <a:lstStyle/>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Presentation Layer is responsible for translating data between the application layer and the lower layers of the OSI model. It formats data so that it can be correctly interpreted by the receiving device. This layer also handles encryption, decryption, and compression.</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Translates data into a format that can be understood by both the sending and receiving devices. Handles encryption and compression.</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Concepts: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Data Formatting: </a:t>
            </a:r>
            <a:r>
              <a:rPr lang="en-GB" dirty="0">
                <a:latin typeface="Calibri" panose="020F0502020204030204" charset="0"/>
                <a:cs typeface="Calibri" panose="020F0502020204030204" charset="0"/>
                <a:sym typeface="+mn-ea"/>
              </a:rPr>
              <a:t>Converts data into a readable format (e.g., converting from EBCDIC to ASCII).</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Encryption/Decryption: </a:t>
            </a:r>
            <a:r>
              <a:rPr lang="en-GB" dirty="0">
                <a:latin typeface="Calibri" panose="020F0502020204030204" charset="0"/>
                <a:cs typeface="Calibri" panose="020F0502020204030204" charset="0"/>
                <a:sym typeface="+mn-ea"/>
              </a:rPr>
              <a:t>Encrypts data for secure transmission and decrypts data at the destination.</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Compression: </a:t>
            </a:r>
            <a:r>
              <a:rPr lang="en-GB" dirty="0">
                <a:latin typeface="Calibri" panose="020F0502020204030204" charset="0"/>
                <a:cs typeface="Calibri" panose="020F0502020204030204" charset="0"/>
                <a:sym typeface="+mn-ea"/>
              </a:rPr>
              <a:t>Reduces the size of data to make transmission faster.</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rPr>
              <a:t>PRESENTATION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Examples of Presentation Layer Devices: </a:t>
            </a:r>
            <a:r>
              <a:rPr lang="en-GB" dirty="0">
                <a:latin typeface="Calibri" panose="020F0502020204030204" charset="0"/>
                <a:cs typeface="Calibri" panose="020F0502020204030204" charset="0"/>
                <a:sym typeface="+mn-ea"/>
              </a:rPr>
              <a:t>No specific devices—functions are typically handled by software (e.g., codecs, encryption tools).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Protocols: </a:t>
            </a:r>
            <a:r>
              <a:rPr lang="en-GB" dirty="0">
                <a:latin typeface="Calibri" panose="020F0502020204030204" charset="0"/>
                <a:cs typeface="Calibri" panose="020F0502020204030204" charset="0"/>
                <a:sym typeface="+mn-ea"/>
              </a:rPr>
              <a:t>SSL/TLS (for encryption), JPEG, MPEG (for data formatting).</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Real-World Example: </a:t>
            </a:r>
            <a:r>
              <a:rPr lang="en-GB" dirty="0">
                <a:latin typeface="Calibri" panose="020F0502020204030204" charset="0"/>
                <a:cs typeface="Calibri" panose="020F0502020204030204" charset="0"/>
                <a:sym typeface="+mn-ea"/>
              </a:rPr>
              <a:t>When you use a secure website (HTTPS), the Presentation Layer handles encryption so that your personal data remains secure while it’s transmitted.</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PRESENTATION LAYER</a:t>
            </a:r>
            <a:endParaRPr lang="en-US" b="1">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38200" y="2041525"/>
            <a:ext cx="10515600" cy="3336290"/>
          </a:xfrm>
          <a:prstGeom prst="rect">
            <a:avLst/>
          </a:prstGeom>
        </p:spPr>
      </p:pic>
      <p:sp>
        <p:nvSpPr>
          <p:cNvPr id="3" name="Title 2"/>
          <p:cNvSpPr>
            <a:spLocks noGrp="1"/>
          </p:cNvSpPr>
          <p:nvPr>
            <p:ph type="title"/>
          </p:nvPr>
        </p:nvSpPr>
        <p:spPr/>
        <p:txBody>
          <a:bodyPr/>
          <a:lstStyle/>
          <a:p>
            <a:pPr algn="ctr"/>
            <a:r>
              <a:rPr lang="en-US" b="1">
                <a:latin typeface="+mj-lt"/>
                <a:sym typeface="+mn-ea"/>
              </a:rPr>
              <a:t>PRESENTATION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Application Layer is the topmost layer of the OSI model and interacts directly with the end user. It provides network services like email, file transfer, and web browsing.</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Provides network services to end-user applications. This is the layer where applications like web browsers, email clients, and file transfer utilities operate.</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Concepts: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Application Services: </a:t>
            </a:r>
            <a:r>
              <a:rPr lang="en-GB" dirty="0">
                <a:latin typeface="Calibri" panose="020F0502020204030204" charset="0"/>
                <a:cs typeface="Calibri" panose="020F0502020204030204" charset="0"/>
                <a:sym typeface="+mn-ea"/>
              </a:rPr>
              <a:t>Protocols that support services like email (SMTP), web browsing (HTTP/HTTPS), and file transfer (FTP).</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End-User Interaction: </a:t>
            </a:r>
            <a:r>
              <a:rPr lang="en-GB" dirty="0">
                <a:latin typeface="Calibri" panose="020F0502020204030204" charset="0"/>
                <a:cs typeface="Calibri" panose="020F0502020204030204" charset="0"/>
                <a:sym typeface="+mn-ea"/>
              </a:rPr>
              <a:t>Provides the interface for the user to interact with the network.</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rPr>
              <a:t>APPLICATION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Examples of Application Layer Devices: </a:t>
            </a:r>
            <a:r>
              <a:rPr lang="en-GB" dirty="0">
                <a:latin typeface="Calibri" panose="020F0502020204030204" charset="0"/>
                <a:cs typeface="Calibri" panose="020F0502020204030204" charset="0"/>
                <a:sym typeface="+mn-ea"/>
              </a:rPr>
              <a:t>Devices such as computers, smartphones, or tablets run application layer protocols.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Protocols</a:t>
            </a:r>
            <a:r>
              <a:rPr lang="en-GB" dirty="0">
                <a:latin typeface="Calibri" panose="020F0502020204030204" charset="0"/>
                <a:cs typeface="Calibri" panose="020F0502020204030204" charset="0"/>
                <a:sym typeface="+mn-ea"/>
              </a:rPr>
              <a:t>: HTTP, FTP, SMTP, DNS (Domain Name System).</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Real-World Example: </a:t>
            </a:r>
            <a:r>
              <a:rPr lang="en-GB" dirty="0">
                <a:latin typeface="Calibri" panose="020F0502020204030204" charset="0"/>
                <a:cs typeface="Calibri" panose="020F0502020204030204" charset="0"/>
                <a:sym typeface="+mn-ea"/>
              </a:rPr>
              <a:t>When you browse the web, the Application Layer processes your request to access a web page and retrieves the content for display in your browser.</a:t>
            </a:r>
            <a:endParaRPr lang="en-GB" dirty="0">
              <a:latin typeface="Calibri" panose="020F0502020204030204" charset="0"/>
              <a:cs typeface="Calibri" panose="020F0502020204030204" charset="0"/>
            </a:endParaRPr>
          </a:p>
          <a:p>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APPLICATION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38200" y="2186305"/>
            <a:ext cx="10515600" cy="3046730"/>
          </a:xfrm>
          <a:prstGeom prst="rect">
            <a:avLst/>
          </a:prstGeom>
        </p:spPr>
      </p:pic>
      <p:sp>
        <p:nvSpPr>
          <p:cNvPr id="3" name="Title 2"/>
          <p:cNvSpPr>
            <a:spLocks noGrp="1"/>
          </p:cNvSpPr>
          <p:nvPr>
            <p:ph type="title"/>
          </p:nvPr>
        </p:nvSpPr>
        <p:spPr/>
        <p:txBody>
          <a:bodyPr/>
          <a:lstStyle/>
          <a:p>
            <a:pPr algn="ctr"/>
            <a:r>
              <a:rPr lang="en-US" b="1">
                <a:latin typeface="+mj-lt"/>
                <a:sym typeface="+mn-ea"/>
              </a:rPr>
              <a:t>APPLICATION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09CE64-E8B9-0B64-AC40-2FFF5110D531}"/>
              </a:ext>
            </a:extLst>
          </p:cNvPr>
          <p:cNvSpPr>
            <a:spLocks noGrp="1"/>
          </p:cNvSpPr>
          <p:nvPr>
            <p:ph type="body" idx="1"/>
          </p:nvPr>
        </p:nvSpPr>
        <p:spPr/>
        <p:txBody>
          <a:bodyPr>
            <a:normAutofit/>
          </a:bodyPr>
          <a:lstStyle/>
          <a:p>
            <a:pPr marL="114300" indent="0" algn="just">
              <a:buNone/>
            </a:pPr>
            <a:r>
              <a:rPr lang="en-US" sz="2600" b="1" dirty="0">
                <a:latin typeface="Calibri" panose="020F0502020204030204" pitchFamily="34" charset="0"/>
                <a:ea typeface="Calibri" panose="020F0502020204030204" pitchFamily="34" charset="0"/>
                <a:cs typeface="Calibri" panose="020F0502020204030204" pitchFamily="34" charset="0"/>
              </a:rPr>
              <a:t>What is ARP and ARP Cache?</a:t>
            </a:r>
          </a:p>
          <a:p>
            <a:pPr algn="just"/>
            <a:r>
              <a:rPr lang="en-IN" sz="2600" dirty="0">
                <a:latin typeface="Calibri" panose="020F0502020204030204" pitchFamily="34" charset="0"/>
                <a:ea typeface="Calibri" panose="020F0502020204030204" pitchFamily="34" charset="0"/>
                <a:cs typeface="Calibri" panose="020F0502020204030204" pitchFamily="34" charset="0"/>
              </a:rPr>
              <a:t>Address Resolution Protocol (ARP) is a protocol that enables network communications to reach a specific device on the network. ARP translates Internet Protocol (IP) addresses to a Media Access Control (MAC) address, and vice versa. Most commonly, devices use ARP to contact the router or gateway that enables them to connect to the Internet.</a:t>
            </a:r>
          </a:p>
          <a:p>
            <a:pPr algn="just"/>
            <a:r>
              <a:rPr lang="en-IN" sz="2600" dirty="0">
                <a:latin typeface="Calibri" panose="020F0502020204030204" pitchFamily="34" charset="0"/>
                <a:ea typeface="Calibri" panose="020F0502020204030204" pitchFamily="34" charset="0"/>
                <a:cs typeface="Calibri" panose="020F0502020204030204" pitchFamily="34" charset="0"/>
              </a:rPr>
              <a:t>Hosts maintain an ARP cache, a mapping table between IP addresses and MAC addresses, and use it to connect to destinations on the network. If the host doesn’t know the MAC address for a certain IP address, it sends out an ARP request packet, asking other machines on the network for the matching MAC address.</a:t>
            </a:r>
          </a:p>
        </p:txBody>
      </p:sp>
      <p:sp>
        <p:nvSpPr>
          <p:cNvPr id="3" name="Title 2">
            <a:extLst>
              <a:ext uri="{FF2B5EF4-FFF2-40B4-BE49-F238E27FC236}">
                <a16:creationId xmlns:a16="http://schemas.microsoft.com/office/drawing/2014/main" id="{9D07F2AE-ACE2-D284-AEB2-4D1FA35112C4}"/>
              </a:ext>
            </a:extLst>
          </p:cNvPr>
          <p:cNvSpPr>
            <a:spLocks noGrp="1"/>
          </p:cNvSpPr>
          <p:nvPr>
            <p:ph type="title"/>
          </p:nvPr>
        </p:nvSpPr>
        <p:spPr/>
        <p:txBody>
          <a:bodyPr>
            <a:normAutofit fontScale="90000"/>
          </a:bodyPr>
          <a:lstStyle/>
          <a:p>
            <a:pPr algn="ctr"/>
            <a:r>
              <a:rPr lang="en-US" b="1" dirty="0">
                <a:latin typeface="+mj-lt"/>
              </a:rPr>
              <a:t>SECURITY ATTACK LAYER-2 (ARP SPOOFING)</a:t>
            </a:r>
            <a:endParaRPr lang="en-IN" b="1" dirty="0">
              <a:latin typeface="+mj-lt"/>
            </a:endParaRPr>
          </a:p>
        </p:txBody>
      </p:sp>
      <p:sp>
        <p:nvSpPr>
          <p:cNvPr id="4" name="Slide Number Placeholder 3">
            <a:extLst>
              <a:ext uri="{FF2B5EF4-FFF2-40B4-BE49-F238E27FC236}">
                <a16:creationId xmlns:a16="http://schemas.microsoft.com/office/drawing/2014/main" id="{E3B36DFA-620B-4477-BC4E-D969A2D406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extLst>
      <p:ext uri="{BB962C8B-B14F-4D97-AF65-F5344CB8AC3E}">
        <p14:creationId xmlns:p14="http://schemas.microsoft.com/office/powerpoint/2010/main" val="1069707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855B7A-B9CC-9F63-58CD-7216B8E5F876}"/>
              </a:ext>
            </a:extLst>
          </p:cNvPr>
          <p:cNvSpPr>
            <a:spLocks noGrp="1"/>
          </p:cNvSpPr>
          <p:nvPr>
            <p:ph type="body" idx="1"/>
          </p:nvPr>
        </p:nvSpPr>
        <p:spPr/>
        <p:txBody>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An ARP spoofing, also known as ARP poisoning, is a Man in the Middle (MitM) attack that allows attackers to intercept communication between network devices. The attack works as follows:</a:t>
            </a:r>
          </a:p>
          <a:p>
            <a:pPr marL="114300" lvl="0" indent="0" algn="just">
              <a:buNone/>
            </a:pPr>
            <a:r>
              <a:rPr lang="en-IN" dirty="0">
                <a:latin typeface="Calibri" panose="020F0502020204030204" pitchFamily="34" charset="0"/>
                <a:ea typeface="Calibri" panose="020F0502020204030204" pitchFamily="34" charset="0"/>
                <a:cs typeface="Calibri" panose="020F0502020204030204" pitchFamily="34" charset="0"/>
              </a:rPr>
              <a:t>1. The attacker must have access to the network. They scan the network to determine the IP addresses of at least two devices⁠—let’s say these are a workstation and a router. </a:t>
            </a:r>
          </a:p>
          <a:p>
            <a:pPr marL="114300" lvl="0" indent="0" algn="just">
              <a:buNone/>
            </a:pPr>
            <a:r>
              <a:rPr lang="en-IN" dirty="0">
                <a:latin typeface="Calibri" panose="020F0502020204030204" pitchFamily="34" charset="0"/>
                <a:ea typeface="Calibri" panose="020F0502020204030204" pitchFamily="34" charset="0"/>
                <a:cs typeface="Calibri" panose="020F0502020204030204" pitchFamily="34" charset="0"/>
              </a:rPr>
              <a:t>2. The attacker uses a spoofing tool, such as </a:t>
            </a:r>
            <a:r>
              <a:rPr lang="en-IN" dirty="0" err="1">
                <a:latin typeface="Calibri" panose="020F0502020204030204" pitchFamily="34" charset="0"/>
                <a:ea typeface="Calibri" panose="020F0502020204030204" pitchFamily="34" charset="0"/>
                <a:cs typeface="Calibri" panose="020F0502020204030204" pitchFamily="34" charset="0"/>
              </a:rPr>
              <a:t>Arpspoof</a:t>
            </a:r>
            <a:r>
              <a:rPr lang="en-IN" dirty="0">
                <a:latin typeface="Calibri" panose="020F0502020204030204" pitchFamily="34" charset="0"/>
                <a:ea typeface="Calibri" panose="020F0502020204030204" pitchFamily="34" charset="0"/>
                <a:cs typeface="Calibri" panose="020F0502020204030204" pitchFamily="34" charset="0"/>
              </a:rPr>
              <a:t> or Ettercap, to send out forged ARP responses. </a:t>
            </a:r>
          </a:p>
        </p:txBody>
      </p:sp>
      <p:sp>
        <p:nvSpPr>
          <p:cNvPr id="3" name="Title 2">
            <a:extLst>
              <a:ext uri="{FF2B5EF4-FFF2-40B4-BE49-F238E27FC236}">
                <a16:creationId xmlns:a16="http://schemas.microsoft.com/office/drawing/2014/main" id="{4F8D8042-6D55-220D-4BD0-04C36D6A005C}"/>
              </a:ext>
            </a:extLst>
          </p:cNvPr>
          <p:cNvSpPr>
            <a:spLocks noGrp="1"/>
          </p:cNvSpPr>
          <p:nvPr>
            <p:ph type="title"/>
          </p:nvPr>
        </p:nvSpPr>
        <p:spPr/>
        <p:txBody>
          <a:bodyPr>
            <a:normAutofit fontScale="90000"/>
          </a:bodyPr>
          <a:lstStyle/>
          <a:p>
            <a:pPr algn="ctr"/>
            <a:r>
              <a:rPr lang="en-US" b="1" dirty="0">
                <a:latin typeface="+mj-lt"/>
                <a:ea typeface="Calibri" panose="020F0502020204030204" pitchFamily="34" charset="0"/>
                <a:cs typeface="Calibri" panose="020F0502020204030204" pitchFamily="34" charset="0"/>
              </a:rPr>
              <a:t>SECURITY ATTACK LAYER-2 (ARP SPOOFING)</a:t>
            </a:r>
            <a:endParaRPr lang="en-IN" dirty="0">
              <a:latin typeface="+mj-lt"/>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6D4FF40-0EDE-B2F0-B6FB-676E7CB1C5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2110344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4D234D-F8AE-8D40-D591-6C2FB64491E1}"/>
              </a:ext>
            </a:extLst>
          </p:cNvPr>
          <p:cNvSpPr>
            <a:spLocks noGrp="1"/>
          </p:cNvSpPr>
          <p:nvPr>
            <p:ph type="body" idx="1"/>
          </p:nvPr>
        </p:nvSpPr>
        <p:spPr/>
        <p:txBody>
          <a:bodyPr/>
          <a:lstStyle/>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3. The forged responses advertise that the correct MAC address for both IP addresses, belonging to the router and workstation, is the attacker’s MAC address. This fools both router and workstation to connect to the attacker’s machine, instead of to each other.</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4. The two devices update their ARP cache entries and from that point onwards, communicate with the attacker instead of directly with each other.</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5. The attacker is now secretly in the middle of all communications.</a:t>
            </a:r>
          </a:p>
          <a:p>
            <a:pPr marL="628650" indent="-514350" algn="just">
              <a:buFont typeface="+mj-lt"/>
              <a:buAutoNum type="arabicPeriod"/>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3918918-C8FA-8795-F045-02A9E3CD35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
        <p:nvSpPr>
          <p:cNvPr id="5" name="Title 2">
            <a:extLst>
              <a:ext uri="{FF2B5EF4-FFF2-40B4-BE49-F238E27FC236}">
                <a16:creationId xmlns:a16="http://schemas.microsoft.com/office/drawing/2014/main" id="{B2DCA886-77E1-5C6B-D6FD-02E22336FEED}"/>
              </a:ext>
            </a:extLst>
          </p:cNvPr>
          <p:cNvSpPr>
            <a:spLocks noGrp="1"/>
          </p:cNvSpPr>
          <p:nvPr>
            <p:ph type="title"/>
          </p:nvPr>
        </p:nvSpPr>
        <p:spPr>
          <a:xfrm>
            <a:off x="838200" y="238125"/>
            <a:ext cx="10444163" cy="719138"/>
          </a:xfrm>
        </p:spPr>
        <p:txBody>
          <a:bodyPr>
            <a:normAutofit fontScale="90000"/>
          </a:bodyPr>
          <a:lstStyle/>
          <a:p>
            <a:pPr algn="ctr"/>
            <a:r>
              <a:rPr lang="en-US" b="1" dirty="0">
                <a:latin typeface="+mj-lt"/>
                <a:ea typeface="Calibri" panose="020F0502020204030204" pitchFamily="34" charset="0"/>
                <a:cs typeface="Raavi" panose="020B0502040204020203" pitchFamily="34" charset="0"/>
              </a:rPr>
              <a:t>SECURITY ATTACK LAYER-2 (ARP SPOOFING)</a:t>
            </a:r>
            <a:endParaRPr lang="en-IN" dirty="0">
              <a:latin typeface="+mj-lt"/>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3254492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ACBE2A-D5CC-6BCA-38BE-064373EA2D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pic>
        <p:nvPicPr>
          <p:cNvPr id="6" name="Picture 5">
            <a:extLst>
              <a:ext uri="{FF2B5EF4-FFF2-40B4-BE49-F238E27FC236}">
                <a16:creationId xmlns:a16="http://schemas.microsoft.com/office/drawing/2014/main" id="{1FE982E3-D1C6-EAAF-6034-CB8A975DC20F}"/>
              </a:ext>
            </a:extLst>
          </p:cNvPr>
          <p:cNvPicPr>
            <a:picLocks noChangeAspect="1"/>
          </p:cNvPicPr>
          <p:nvPr/>
        </p:nvPicPr>
        <p:blipFill>
          <a:blip r:embed="rId2"/>
          <a:stretch>
            <a:fillRect/>
          </a:stretch>
        </p:blipFill>
        <p:spPr>
          <a:xfrm>
            <a:off x="3412672" y="1077828"/>
            <a:ext cx="5366656" cy="5286558"/>
          </a:xfrm>
          <a:prstGeom prst="rect">
            <a:avLst/>
          </a:prstGeom>
        </p:spPr>
      </p:pic>
      <p:sp>
        <p:nvSpPr>
          <p:cNvPr id="7" name="Title 2">
            <a:extLst>
              <a:ext uri="{FF2B5EF4-FFF2-40B4-BE49-F238E27FC236}">
                <a16:creationId xmlns:a16="http://schemas.microsoft.com/office/drawing/2014/main" id="{68D6B588-2B21-CC22-5EAC-11E6B5B8A307}"/>
              </a:ext>
            </a:extLst>
          </p:cNvPr>
          <p:cNvSpPr>
            <a:spLocks noGrp="1"/>
          </p:cNvSpPr>
          <p:nvPr>
            <p:ph type="title"/>
          </p:nvPr>
        </p:nvSpPr>
        <p:spPr>
          <a:xfrm>
            <a:off x="838200" y="238125"/>
            <a:ext cx="10444163" cy="719138"/>
          </a:xfrm>
        </p:spPr>
        <p:txBody>
          <a:bodyPr>
            <a:normAutofit fontScale="90000"/>
          </a:bodyPr>
          <a:lstStyle/>
          <a:p>
            <a:pPr algn="ctr"/>
            <a:r>
              <a:rPr lang="en-US" b="1" dirty="0">
                <a:latin typeface="+mj-lt"/>
                <a:ea typeface="Calibri" panose="020F0502020204030204" pitchFamily="34" charset="0"/>
                <a:cs typeface="Calibri" panose="020F0502020204030204" pitchFamily="34" charset="0"/>
              </a:rPr>
              <a:t>SECURITY ATTACK LAYER-2 (ARP SPOOFING)</a:t>
            </a:r>
            <a:endParaRPr lang="en-IN"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5017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54128A-B024-E7ED-6757-9DBC4270BA96}"/>
              </a:ext>
            </a:extLst>
          </p:cNvPr>
          <p:cNvSpPr>
            <a:spLocks noGrp="1"/>
          </p:cNvSpPr>
          <p:nvPr>
            <p:ph type="body" idx="1"/>
          </p:nvPr>
        </p:nvSpPr>
        <p:spPr/>
        <p:txBody>
          <a:bodyPr>
            <a:normAutofit fontScale="92500" lnSpcReduction="20000"/>
          </a:bodyPr>
          <a:lstStyle/>
          <a:p>
            <a:pPr marL="114300" indent="0" algn="just">
              <a:buNone/>
            </a:pPr>
            <a:r>
              <a:rPr lang="en-US" b="1" dirty="0">
                <a:latin typeface="Calibri" panose="020F0502020204030204" pitchFamily="34" charset="0"/>
                <a:ea typeface="Calibri" panose="020F0502020204030204" pitchFamily="34" charset="0"/>
                <a:cs typeface="Calibri" panose="020F0502020204030204" pitchFamily="34" charset="0"/>
              </a:rPr>
              <a:t>ARP SPOOFING ATTACK PREVENTION:</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Here are a few best practices that can help you prevent ARP Spoofing on your network:</a:t>
            </a:r>
          </a:p>
          <a:p>
            <a:pPr lvl="0" algn="just"/>
            <a:r>
              <a:rPr lang="en-IN" b="1" dirty="0">
                <a:latin typeface="Calibri" panose="020F0502020204030204" pitchFamily="34" charset="0"/>
                <a:ea typeface="Calibri" panose="020F0502020204030204" pitchFamily="34" charset="0"/>
                <a:cs typeface="Calibri" panose="020F0502020204030204" pitchFamily="34" charset="0"/>
              </a:rPr>
              <a:t>Use a Virtual Private Network (VPN)</a:t>
            </a:r>
            <a:r>
              <a:rPr lang="en-IN" dirty="0">
                <a:latin typeface="Calibri" panose="020F0502020204030204" pitchFamily="34" charset="0"/>
                <a:ea typeface="Calibri" panose="020F0502020204030204" pitchFamily="34" charset="0"/>
                <a:cs typeface="Calibri" panose="020F0502020204030204" pitchFamily="34" charset="0"/>
              </a:rPr>
              <a:t>⁠—a VPN allows devices to connect to the Internet through an encrypted tunnel. This makes all communication encrypted, and worthless for an ARP spoofing attacker.</a:t>
            </a:r>
          </a:p>
          <a:p>
            <a:pPr lvl="0" algn="just"/>
            <a:r>
              <a:rPr lang="en-IN" b="1" dirty="0">
                <a:latin typeface="Calibri" panose="020F0502020204030204" pitchFamily="34" charset="0"/>
                <a:ea typeface="Calibri" panose="020F0502020204030204" pitchFamily="34" charset="0"/>
                <a:cs typeface="Calibri" panose="020F0502020204030204" pitchFamily="34" charset="0"/>
              </a:rPr>
              <a:t>Use static ARP</a:t>
            </a:r>
            <a:r>
              <a:rPr lang="en-IN" dirty="0">
                <a:latin typeface="Calibri" panose="020F0502020204030204" pitchFamily="34" charset="0"/>
                <a:ea typeface="Calibri" panose="020F0502020204030204" pitchFamily="34" charset="0"/>
                <a:cs typeface="Calibri" panose="020F0502020204030204" pitchFamily="34" charset="0"/>
              </a:rPr>
              <a:t>⁠—the ARP protocol lets you define a static ARP entry for an IP address, and prevent devices from listening on ARP responses for that address. For example, if a workstation always connects to the same router, you can define a static ARP entry for that router, preventing an attack.</a:t>
            </a:r>
          </a:p>
          <a:p>
            <a:pPr lvl="0" algn="just"/>
            <a:r>
              <a:rPr lang="en-IN" b="1" dirty="0">
                <a:latin typeface="Calibri" panose="020F0502020204030204" pitchFamily="34" charset="0"/>
                <a:ea typeface="Calibri" panose="020F0502020204030204" pitchFamily="34" charset="0"/>
                <a:cs typeface="Calibri" panose="020F0502020204030204" pitchFamily="34" charset="0"/>
              </a:rPr>
              <a:t>Use packet filtering</a:t>
            </a:r>
            <a:r>
              <a:rPr lang="en-IN" dirty="0">
                <a:latin typeface="Calibri" panose="020F0502020204030204" pitchFamily="34" charset="0"/>
                <a:ea typeface="Calibri" panose="020F0502020204030204" pitchFamily="34" charset="0"/>
                <a:cs typeface="Calibri" panose="020F0502020204030204" pitchFamily="34" charset="0"/>
              </a:rPr>
              <a:t>⁠—packet filtering solutions can identify poisoned ARP packets by seeing that they contain conflicting source information, and stop them before they reach devices on your network.</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9C9F3DF-AD0E-AEB9-189F-7578F42EA3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
        <p:nvSpPr>
          <p:cNvPr id="5" name="Title 2">
            <a:extLst>
              <a:ext uri="{FF2B5EF4-FFF2-40B4-BE49-F238E27FC236}">
                <a16:creationId xmlns:a16="http://schemas.microsoft.com/office/drawing/2014/main" id="{199C767B-3499-B7CB-A547-069ADB073340}"/>
              </a:ext>
            </a:extLst>
          </p:cNvPr>
          <p:cNvSpPr>
            <a:spLocks noGrp="1"/>
          </p:cNvSpPr>
          <p:nvPr>
            <p:ph type="title"/>
          </p:nvPr>
        </p:nvSpPr>
        <p:spPr>
          <a:xfrm>
            <a:off x="838200" y="238125"/>
            <a:ext cx="10444163" cy="719138"/>
          </a:xfrm>
        </p:spPr>
        <p:txBody>
          <a:bodyPr>
            <a:normAutofit fontScale="90000"/>
          </a:bodyPr>
          <a:lstStyle/>
          <a:p>
            <a:pPr algn="ctr"/>
            <a:r>
              <a:rPr lang="en-US" b="1" dirty="0">
                <a:latin typeface="+mj-lt"/>
                <a:ea typeface="Calibri" panose="020F0502020204030204" pitchFamily="34" charset="0"/>
                <a:cs typeface="Calibri" panose="020F0502020204030204" pitchFamily="34" charset="0"/>
              </a:rPr>
              <a:t>SECURITY ATTACK LAYER-2 (ARP SPOOFING)</a:t>
            </a:r>
            <a:endParaRPr lang="en-IN"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1363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CA1151-9892-5DEA-FB95-9374CDB32D20}"/>
              </a:ext>
            </a:extLst>
          </p:cNvPr>
          <p:cNvSpPr>
            <a:spLocks noGrp="1"/>
          </p:cNvSpPr>
          <p:nvPr>
            <p:ph type="body" idx="1"/>
          </p:nvPr>
        </p:nvSpPr>
        <p:spPr/>
        <p:txBody>
          <a:bodyPr>
            <a:normAutofit lnSpcReduction="10000"/>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IP spoofing is the creation of Internet Protocol (IP) packets which have a modified source address in order to either hide the identity of the sender, to impersonate another computer system, or both. It is a technique often used by bad actors to invoke DDoS attacks against a target device or the surrounding infrastructure.</a:t>
            </a:r>
          </a:p>
          <a:p>
            <a:pPr algn="just"/>
            <a:r>
              <a:rPr lang="en-IN" dirty="0">
                <a:latin typeface="Calibri" panose="020F0502020204030204" pitchFamily="34" charset="0"/>
                <a:ea typeface="Calibri" panose="020F0502020204030204" pitchFamily="34" charset="0"/>
                <a:cs typeface="Calibri" panose="020F0502020204030204" pitchFamily="34" charset="0"/>
              </a:rPr>
              <a:t>Sending and receiving IP packets is a primary way in which networked computers and other devices communicate, and constitutes the basis of the modern internet. All IP packets contain a header which precedes the body of the packet and contains important routing information, including the source address. In a normal packet, the source IP address is the address of the sender of the packet. If the packet has been spoofed, the source address will be forged.</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697B799-50CD-B5AE-27AB-33CD1F6E4E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
        <p:nvSpPr>
          <p:cNvPr id="5" name="Title 2">
            <a:extLst>
              <a:ext uri="{FF2B5EF4-FFF2-40B4-BE49-F238E27FC236}">
                <a16:creationId xmlns:a16="http://schemas.microsoft.com/office/drawing/2014/main" id="{283278A5-529A-F1C1-4378-7623B98AD387}"/>
              </a:ext>
            </a:extLst>
          </p:cNvPr>
          <p:cNvSpPr>
            <a:spLocks noGrp="1"/>
          </p:cNvSpPr>
          <p:nvPr>
            <p:ph type="title"/>
          </p:nvPr>
        </p:nvSpPr>
        <p:spPr>
          <a:xfrm>
            <a:off x="838200" y="238125"/>
            <a:ext cx="10444163" cy="719138"/>
          </a:xfrm>
        </p:spPr>
        <p:txBody>
          <a:bodyPr/>
          <a:lstStyle/>
          <a:p>
            <a:pPr algn="ctr"/>
            <a:r>
              <a:rPr lang="en-US" b="1" dirty="0">
                <a:latin typeface="+mj-lt"/>
                <a:ea typeface="Calibri" panose="020F0502020204030204" pitchFamily="34" charset="0"/>
                <a:cs typeface="Calibri" panose="020F0502020204030204" pitchFamily="34" charset="0"/>
              </a:rPr>
              <a:t>SECURITY ATTACK LAYER-3 (IP SPOOFING)</a:t>
            </a:r>
            <a:endParaRPr lang="en-IN"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406773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DB7577-FAB9-A201-8A3F-729783C168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pic>
        <p:nvPicPr>
          <p:cNvPr id="6" name="Picture 5">
            <a:extLst>
              <a:ext uri="{FF2B5EF4-FFF2-40B4-BE49-F238E27FC236}">
                <a16:creationId xmlns:a16="http://schemas.microsoft.com/office/drawing/2014/main" id="{13117511-224A-E9BC-833D-10D40CC1159C}"/>
              </a:ext>
            </a:extLst>
          </p:cNvPr>
          <p:cNvPicPr>
            <a:picLocks noChangeAspect="1"/>
          </p:cNvPicPr>
          <p:nvPr/>
        </p:nvPicPr>
        <p:blipFill>
          <a:blip r:embed="rId2"/>
          <a:stretch>
            <a:fillRect/>
          </a:stretch>
        </p:blipFill>
        <p:spPr>
          <a:xfrm>
            <a:off x="1061710" y="1433853"/>
            <a:ext cx="9997142" cy="4552270"/>
          </a:xfrm>
          <a:prstGeom prst="rect">
            <a:avLst/>
          </a:prstGeom>
        </p:spPr>
      </p:pic>
      <p:sp>
        <p:nvSpPr>
          <p:cNvPr id="7" name="Title 2">
            <a:extLst>
              <a:ext uri="{FF2B5EF4-FFF2-40B4-BE49-F238E27FC236}">
                <a16:creationId xmlns:a16="http://schemas.microsoft.com/office/drawing/2014/main" id="{B192A4CD-83D2-9F85-3141-6473D5DB7842}"/>
              </a:ext>
            </a:extLst>
          </p:cNvPr>
          <p:cNvSpPr>
            <a:spLocks noGrp="1"/>
          </p:cNvSpPr>
          <p:nvPr>
            <p:ph type="title"/>
          </p:nvPr>
        </p:nvSpPr>
        <p:spPr>
          <a:xfrm>
            <a:off x="838200" y="238125"/>
            <a:ext cx="10444163" cy="719138"/>
          </a:xfrm>
        </p:spPr>
        <p:txBody>
          <a:bodyPr/>
          <a:lstStyle/>
          <a:p>
            <a:pPr algn="ctr"/>
            <a:r>
              <a:rPr lang="en-US" b="1" dirty="0">
                <a:latin typeface="+mj-lt"/>
                <a:ea typeface="Calibri" panose="020F0502020204030204" pitchFamily="34" charset="0"/>
                <a:cs typeface="Calibri" panose="020F0502020204030204" pitchFamily="34" charset="0"/>
              </a:rPr>
              <a:t>SECURITY ATTACK LAYER-3 (IP SPOOFING)</a:t>
            </a:r>
            <a:endParaRPr lang="en-IN"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91430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3E8420-5E09-A40F-10DF-8AE7A43A3BEB}"/>
              </a:ext>
            </a:extLst>
          </p:cNvPr>
          <p:cNvSpPr>
            <a:spLocks noGrp="1"/>
          </p:cNvSpPr>
          <p:nvPr>
            <p:ph type="body" idx="1"/>
          </p:nvPr>
        </p:nvSpPr>
        <p:spPr/>
        <p:txBody>
          <a:bodyPr>
            <a:norm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IP SPOOFING ATTACK PREVENTION:</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A very common defence against spoofing is ingress filtering. Ingress filtering is a form of packet filtering usually implemented on a network edge device which examines incoming IP packets and looks at their source headers. If the source headers on those packets don’t match their origin or they otherwise look fishy, the packets are rejected. Some networks will also implement egress filtering, which looks at IP packets exiting the network, ensuring that those packets have legitimate source headers to prevent someone within the network from launching an outbound malicious attack using IP spoofing.</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31D461B-0389-9269-6C13-EC142478A5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
        <p:nvSpPr>
          <p:cNvPr id="5" name="Title 2">
            <a:extLst>
              <a:ext uri="{FF2B5EF4-FFF2-40B4-BE49-F238E27FC236}">
                <a16:creationId xmlns:a16="http://schemas.microsoft.com/office/drawing/2014/main" id="{021FA499-69EA-A1FC-4B8D-AC3B94FEC5F7}"/>
              </a:ext>
            </a:extLst>
          </p:cNvPr>
          <p:cNvSpPr>
            <a:spLocks noGrp="1"/>
          </p:cNvSpPr>
          <p:nvPr>
            <p:ph type="title"/>
          </p:nvPr>
        </p:nvSpPr>
        <p:spPr>
          <a:xfrm>
            <a:off x="838200" y="238125"/>
            <a:ext cx="10444163" cy="719138"/>
          </a:xfrm>
        </p:spPr>
        <p:txBody>
          <a:bodyPr/>
          <a:lstStyle/>
          <a:p>
            <a:pPr algn="ctr"/>
            <a:r>
              <a:rPr lang="en-US" b="1" dirty="0">
                <a:latin typeface="+mj-lt"/>
                <a:ea typeface="Calibri" panose="020F0502020204030204" pitchFamily="34" charset="0"/>
                <a:cs typeface="Calibri" panose="020F0502020204030204" pitchFamily="34" charset="0"/>
              </a:rPr>
              <a:t>SECURITY ATTACK LAYER-3 (IP SPOOFING)</a:t>
            </a:r>
            <a:endParaRPr lang="en-IN"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7568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C5EB30-45E9-2A6D-FAFF-15FAA7466B09}"/>
              </a:ext>
            </a:extLst>
          </p:cNvPr>
          <p:cNvSpPr>
            <a:spLocks noGrp="1"/>
          </p:cNvSpPr>
          <p:nvPr>
            <p:ph type="body" idx="1"/>
          </p:nvPr>
        </p:nvSpPr>
        <p:spPr/>
        <p:txBody>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A TCP SYN Flood attack seeks to exploit the TCP three-way handshake mechanism, which is foundational for establishing connections in TCP/IP networks. The handshake involves three steps:</a:t>
            </a:r>
          </a:p>
          <a:p>
            <a:pPr lvl="0" algn="just"/>
            <a:r>
              <a:rPr lang="en-IN" dirty="0">
                <a:latin typeface="Calibri" panose="020F0502020204030204" pitchFamily="34" charset="0"/>
                <a:ea typeface="Calibri" panose="020F0502020204030204" pitchFamily="34" charset="0"/>
                <a:cs typeface="Calibri" panose="020F0502020204030204" pitchFamily="34" charset="0"/>
              </a:rPr>
              <a:t>A client sends a SYN (synchronize) message to a server, indicating a desire to establish a connection.</a:t>
            </a:r>
          </a:p>
          <a:p>
            <a:pPr lvl="0" algn="just"/>
            <a:r>
              <a:rPr lang="en-IN" dirty="0">
                <a:latin typeface="Calibri" panose="020F0502020204030204" pitchFamily="34" charset="0"/>
                <a:ea typeface="Calibri" panose="020F0502020204030204" pitchFamily="34" charset="0"/>
                <a:cs typeface="Calibri" panose="020F0502020204030204" pitchFamily="34" charset="0"/>
              </a:rPr>
              <a:t>The server acknowledges this request by sending a SYN-ACK message back to the client.</a:t>
            </a:r>
          </a:p>
          <a:p>
            <a:pPr lvl="0" algn="just"/>
            <a:r>
              <a:rPr lang="en-IN" dirty="0">
                <a:latin typeface="Calibri" panose="020F0502020204030204" pitchFamily="34" charset="0"/>
                <a:ea typeface="Calibri" panose="020F0502020204030204" pitchFamily="34" charset="0"/>
                <a:cs typeface="Calibri" panose="020F0502020204030204" pitchFamily="34" charset="0"/>
              </a:rPr>
              <a:t>The client responds with an ACK (acknowledgment), and the connection is officially established.</a:t>
            </a:r>
          </a:p>
        </p:txBody>
      </p:sp>
      <p:sp>
        <p:nvSpPr>
          <p:cNvPr id="4" name="Slide Number Placeholder 3">
            <a:extLst>
              <a:ext uri="{FF2B5EF4-FFF2-40B4-BE49-F238E27FC236}">
                <a16:creationId xmlns:a16="http://schemas.microsoft.com/office/drawing/2014/main" id="{411A8E2B-0AE3-9972-F5D5-6669FA6237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
        <p:nvSpPr>
          <p:cNvPr id="5" name="Title 2">
            <a:extLst>
              <a:ext uri="{FF2B5EF4-FFF2-40B4-BE49-F238E27FC236}">
                <a16:creationId xmlns:a16="http://schemas.microsoft.com/office/drawing/2014/main" id="{0335FA1E-722C-1493-56EF-F7C6135F450E}"/>
              </a:ext>
            </a:extLst>
          </p:cNvPr>
          <p:cNvSpPr>
            <a:spLocks noGrp="1"/>
          </p:cNvSpPr>
          <p:nvPr>
            <p:ph type="title"/>
          </p:nvPr>
        </p:nvSpPr>
        <p:spPr>
          <a:xfrm>
            <a:off x="838200" y="238125"/>
            <a:ext cx="10444163" cy="719138"/>
          </a:xfrm>
        </p:spPr>
        <p:txBody>
          <a:bodyPr>
            <a:normAutofit fontScale="90000"/>
          </a:bodyPr>
          <a:lstStyle/>
          <a:p>
            <a:pPr algn="ctr"/>
            <a:r>
              <a:rPr lang="en-US" b="1" dirty="0">
                <a:latin typeface="+mj-lt"/>
                <a:ea typeface="Calibri" panose="020F0502020204030204" pitchFamily="34" charset="0"/>
                <a:cs typeface="Calibri" panose="020F0502020204030204" pitchFamily="34" charset="0"/>
              </a:rPr>
              <a:t>SECURITY ATTACK LAYER-4 (TCP SYN FLOOD)</a:t>
            </a:r>
            <a:endParaRPr lang="en-IN"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95698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D7CC19-5AA6-A999-D36D-C9BA8545A3AA}"/>
              </a:ext>
            </a:extLst>
          </p:cNvPr>
          <p:cNvSpPr>
            <a:spLocks noGrp="1"/>
          </p:cNvSpPr>
          <p:nvPr>
            <p:ph type="body" idx="1"/>
          </p:nvPr>
        </p:nvSpPr>
        <p:spPr/>
        <p:txBody>
          <a:bodyPr>
            <a:normAutofit fontScale="85000" lnSpcReduction="20000"/>
          </a:bodyPr>
          <a:lstStyle/>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In a TCP SYN Flood attack, the malicious entity sends a barrage of SYN requests to a target server but intentionally avoids sending the final ACK. This leaves the server waiting for a response that never comes, consuming resources for each of these half-open connections.</a:t>
            </a:r>
          </a:p>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Impact on Network:</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The primary objective of a TCP SYN Flood is resource exhaustion. As the server continues to allocate resources for these half-open connections, it becomes increasingly strained, eventually reaching a point where it cannot respond to legitimate traffic. This results in:</a:t>
            </a:r>
          </a:p>
          <a:p>
            <a:pPr lvl="0" algn="just"/>
            <a:r>
              <a:rPr lang="en-IN" b="1" dirty="0">
                <a:latin typeface="Calibri" panose="020F0502020204030204" pitchFamily="34" charset="0"/>
                <a:ea typeface="Calibri" panose="020F0502020204030204" pitchFamily="34" charset="0"/>
                <a:cs typeface="Calibri" panose="020F0502020204030204" pitchFamily="34" charset="0"/>
              </a:rPr>
              <a:t>Service Disruption:</a:t>
            </a:r>
            <a:r>
              <a:rPr lang="en-IN" dirty="0">
                <a:latin typeface="Calibri" panose="020F0502020204030204" pitchFamily="34" charset="0"/>
                <a:ea typeface="Calibri" panose="020F0502020204030204" pitchFamily="34" charset="0"/>
                <a:cs typeface="Calibri" panose="020F0502020204030204" pitchFamily="34" charset="0"/>
              </a:rPr>
              <a:t> Legitimate users find it difficult or impossible to access the affected service.</a:t>
            </a:r>
          </a:p>
          <a:p>
            <a:pPr lvl="0" algn="just"/>
            <a:r>
              <a:rPr lang="en-IN" b="1" dirty="0">
                <a:latin typeface="Calibri" panose="020F0502020204030204" pitchFamily="34" charset="0"/>
                <a:ea typeface="Calibri" panose="020F0502020204030204" pitchFamily="34" charset="0"/>
                <a:cs typeface="Calibri" panose="020F0502020204030204" pitchFamily="34" charset="0"/>
              </a:rPr>
              <a:t>Resource Strain:</a:t>
            </a:r>
            <a:r>
              <a:rPr lang="en-IN" dirty="0">
                <a:latin typeface="Calibri" panose="020F0502020204030204" pitchFamily="34" charset="0"/>
                <a:ea typeface="Calibri" panose="020F0502020204030204" pitchFamily="34" charset="0"/>
                <a:cs typeface="Calibri" panose="020F0502020204030204" pitchFamily="34" charset="0"/>
              </a:rPr>
              <a:t> The server’s resources, including memory and processing power, are consumed by the flood of bogus requests.</a:t>
            </a:r>
          </a:p>
          <a:p>
            <a:pPr lvl="0" algn="just"/>
            <a:r>
              <a:rPr lang="en-IN" b="1" dirty="0">
                <a:latin typeface="Calibri" panose="020F0502020204030204" pitchFamily="34" charset="0"/>
                <a:ea typeface="Calibri" panose="020F0502020204030204" pitchFamily="34" charset="0"/>
                <a:cs typeface="Calibri" panose="020F0502020204030204" pitchFamily="34" charset="0"/>
              </a:rPr>
              <a:t>Potential System Failures:</a:t>
            </a:r>
            <a:r>
              <a:rPr lang="en-IN" dirty="0">
                <a:latin typeface="Calibri" panose="020F0502020204030204" pitchFamily="34" charset="0"/>
                <a:ea typeface="Calibri" panose="020F0502020204030204" pitchFamily="34" charset="0"/>
                <a:cs typeface="Calibri" panose="020F0502020204030204" pitchFamily="34" charset="0"/>
              </a:rPr>
              <a:t> In extreme cases, the server might crash or malfunction due to the overwhelming number of half-open connections.</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FEC86FD-1A40-EBE3-E34B-D984ADC20D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
        <p:nvSpPr>
          <p:cNvPr id="5" name="Title 2">
            <a:extLst>
              <a:ext uri="{FF2B5EF4-FFF2-40B4-BE49-F238E27FC236}">
                <a16:creationId xmlns:a16="http://schemas.microsoft.com/office/drawing/2014/main" id="{E8094694-0C05-4EE8-6C26-5C141AE3CB2A}"/>
              </a:ext>
            </a:extLst>
          </p:cNvPr>
          <p:cNvSpPr>
            <a:spLocks noGrp="1"/>
          </p:cNvSpPr>
          <p:nvPr>
            <p:ph type="title"/>
          </p:nvPr>
        </p:nvSpPr>
        <p:spPr>
          <a:xfrm>
            <a:off x="838200" y="238125"/>
            <a:ext cx="10444163" cy="719138"/>
          </a:xfrm>
        </p:spPr>
        <p:txBody>
          <a:bodyPr>
            <a:normAutofit fontScale="90000"/>
          </a:bodyPr>
          <a:lstStyle/>
          <a:p>
            <a:pPr algn="ctr"/>
            <a:r>
              <a:rPr lang="en-US" b="1" dirty="0">
                <a:latin typeface="+mj-lt"/>
                <a:ea typeface="Calibri" panose="020F0502020204030204" pitchFamily="34" charset="0"/>
                <a:cs typeface="Calibri" panose="020F0502020204030204" pitchFamily="34" charset="0"/>
              </a:rPr>
              <a:t>SECURITY ATTACK LAYER-4 (TCP SYN FLOOD)</a:t>
            </a:r>
            <a:endParaRPr lang="en-IN"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0953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F5FDEF-E0D0-5CF5-6FD3-137620FCF03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
        <p:nvSpPr>
          <p:cNvPr id="5" name="Title 2">
            <a:extLst>
              <a:ext uri="{FF2B5EF4-FFF2-40B4-BE49-F238E27FC236}">
                <a16:creationId xmlns:a16="http://schemas.microsoft.com/office/drawing/2014/main" id="{F8079D6E-7130-9196-845A-5FE59BD3E4D6}"/>
              </a:ext>
            </a:extLst>
          </p:cNvPr>
          <p:cNvSpPr>
            <a:spLocks noGrp="1"/>
          </p:cNvSpPr>
          <p:nvPr>
            <p:ph type="title"/>
          </p:nvPr>
        </p:nvSpPr>
        <p:spPr>
          <a:xfrm>
            <a:off x="838200" y="238125"/>
            <a:ext cx="10444163" cy="719138"/>
          </a:xfrm>
        </p:spPr>
        <p:txBody>
          <a:bodyPr>
            <a:normAutofit fontScale="90000"/>
          </a:bodyPr>
          <a:lstStyle/>
          <a:p>
            <a:pPr algn="ctr"/>
            <a:r>
              <a:rPr lang="en-US" b="1" dirty="0">
                <a:latin typeface="+mj-lt"/>
                <a:ea typeface="Calibri" panose="020F0502020204030204" pitchFamily="34" charset="0"/>
                <a:cs typeface="Calibri" panose="020F0502020204030204" pitchFamily="34" charset="0"/>
              </a:rPr>
              <a:t>SECURITY ATTACK LAYER-4 (TCP SYN FLOOD)</a:t>
            </a:r>
            <a:endParaRPr lang="en-IN" dirty="0">
              <a:latin typeface="+mj-lt"/>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2E198EC4-0681-5245-1E66-7D4CB01D6E08}"/>
              </a:ext>
            </a:extLst>
          </p:cNvPr>
          <p:cNvPicPr>
            <a:picLocks noChangeAspect="1"/>
          </p:cNvPicPr>
          <p:nvPr/>
        </p:nvPicPr>
        <p:blipFill>
          <a:blip r:embed="rId2"/>
          <a:stretch>
            <a:fillRect/>
          </a:stretch>
        </p:blipFill>
        <p:spPr>
          <a:xfrm>
            <a:off x="2637744" y="1183140"/>
            <a:ext cx="6916511" cy="4969247"/>
          </a:xfrm>
          <a:prstGeom prst="rect">
            <a:avLst/>
          </a:prstGeom>
        </p:spPr>
      </p:pic>
    </p:spTree>
    <p:extLst>
      <p:ext uri="{BB962C8B-B14F-4D97-AF65-F5344CB8AC3E}">
        <p14:creationId xmlns:p14="http://schemas.microsoft.com/office/powerpoint/2010/main" val="33935197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A46C09-26D6-BB2F-4008-8D9373620154}"/>
              </a:ext>
            </a:extLst>
          </p:cNvPr>
          <p:cNvSpPr>
            <a:spLocks noGrp="1"/>
          </p:cNvSpPr>
          <p:nvPr>
            <p:ph type="body" idx="1"/>
          </p:nvPr>
        </p:nvSpPr>
        <p:spPr/>
        <p:txBody>
          <a:bodyPr>
            <a:normAutofit lnSpcReduction="10000"/>
          </a:bodyPr>
          <a:lstStyle/>
          <a:p>
            <a:pPr marL="114300" indent="0" algn="just">
              <a:buNone/>
            </a:pPr>
            <a:r>
              <a:rPr lang="en-US" b="1" dirty="0">
                <a:latin typeface="Calibri" panose="020F0502020204030204" pitchFamily="34" charset="0"/>
                <a:ea typeface="Calibri" panose="020F0502020204030204" pitchFamily="34" charset="0"/>
                <a:cs typeface="Calibri" panose="020F0502020204030204" pitchFamily="34" charset="0"/>
              </a:rPr>
              <a:t>TCP SYN Flood Attack Prevention:</a:t>
            </a:r>
          </a:p>
          <a:p>
            <a:pPr lvl="0" algn="just"/>
            <a:r>
              <a:rPr lang="en-IN" b="1" dirty="0">
                <a:latin typeface="Calibri" panose="020F0502020204030204" pitchFamily="34" charset="0"/>
                <a:ea typeface="Calibri" panose="020F0502020204030204" pitchFamily="34" charset="0"/>
                <a:cs typeface="Calibri" panose="020F0502020204030204" pitchFamily="34" charset="0"/>
              </a:rPr>
              <a:t>SYN Cookies:</a:t>
            </a:r>
            <a:r>
              <a:rPr lang="en-IN" dirty="0">
                <a:latin typeface="Calibri" panose="020F0502020204030204" pitchFamily="34" charset="0"/>
                <a:ea typeface="Calibri" panose="020F0502020204030204" pitchFamily="34" charset="0"/>
                <a:cs typeface="Calibri" panose="020F0502020204030204" pitchFamily="34" charset="0"/>
              </a:rPr>
              <a:t> Use cryptographic hashing to verify connection requests before allocating any server memory. </a:t>
            </a:r>
          </a:p>
          <a:p>
            <a:pPr lvl="0" algn="just"/>
            <a:r>
              <a:rPr lang="en-IN" b="1" dirty="0">
                <a:latin typeface="Calibri" panose="020F0502020204030204" pitchFamily="34" charset="0"/>
                <a:ea typeface="Calibri" panose="020F0502020204030204" pitchFamily="34" charset="0"/>
                <a:cs typeface="Calibri" panose="020F0502020204030204" pitchFamily="34" charset="0"/>
              </a:rPr>
              <a:t>Rate Limiting:</a:t>
            </a:r>
            <a:r>
              <a:rPr lang="en-IN" dirty="0">
                <a:latin typeface="Calibri" panose="020F0502020204030204" pitchFamily="34" charset="0"/>
                <a:ea typeface="Calibri" panose="020F0502020204030204" pitchFamily="34" charset="0"/>
                <a:cs typeface="Calibri" panose="020F0502020204030204" pitchFamily="34" charset="0"/>
              </a:rPr>
              <a:t> Restrict the number of incoming SYN packets allowed per second from a single source or overall. </a:t>
            </a:r>
          </a:p>
          <a:p>
            <a:pPr lvl="0" algn="just"/>
            <a:r>
              <a:rPr lang="en-IN" b="1" dirty="0">
                <a:latin typeface="Calibri" panose="020F0502020204030204" pitchFamily="34" charset="0"/>
                <a:ea typeface="Calibri" panose="020F0502020204030204" pitchFamily="34" charset="0"/>
                <a:cs typeface="Calibri" panose="020F0502020204030204" pitchFamily="34" charset="0"/>
              </a:rPr>
              <a:t>Adjust Timers and Backlog:</a:t>
            </a:r>
            <a:r>
              <a:rPr lang="en-IN" dirty="0">
                <a:latin typeface="Calibri" panose="020F0502020204030204" pitchFamily="34" charset="0"/>
                <a:ea typeface="Calibri" panose="020F0502020204030204" pitchFamily="34" charset="0"/>
                <a:cs typeface="Calibri" panose="020F0502020204030204" pitchFamily="34" charset="0"/>
              </a:rPr>
              <a:t> Increase the size of the SYN backlog queue and reduce the SYN-RECEIVED timeout duration to clear half-open connections faster. </a:t>
            </a:r>
          </a:p>
          <a:p>
            <a:pPr lvl="0" algn="just"/>
            <a:r>
              <a:rPr lang="en-IN" b="1" dirty="0">
                <a:latin typeface="Calibri" panose="020F0502020204030204" pitchFamily="34" charset="0"/>
                <a:ea typeface="Calibri" panose="020F0502020204030204" pitchFamily="34" charset="0"/>
                <a:cs typeface="Calibri" panose="020F0502020204030204" pitchFamily="34" charset="0"/>
              </a:rPr>
              <a:t>Cloud Protection:</a:t>
            </a:r>
            <a:r>
              <a:rPr lang="en-IN" dirty="0">
                <a:latin typeface="Calibri" panose="020F0502020204030204" pitchFamily="34" charset="0"/>
                <a:ea typeface="Calibri" panose="020F0502020204030204" pitchFamily="34" charset="0"/>
                <a:cs typeface="Calibri" panose="020F0502020204030204" pitchFamily="34" charset="0"/>
              </a:rPr>
              <a:t> Route traffic through cloud-based security providers like Cloudflare to absorb and manage handshakes before they reach your primary infrastructure. </a:t>
            </a:r>
          </a:p>
        </p:txBody>
      </p:sp>
      <p:sp>
        <p:nvSpPr>
          <p:cNvPr id="4" name="Slide Number Placeholder 3">
            <a:extLst>
              <a:ext uri="{FF2B5EF4-FFF2-40B4-BE49-F238E27FC236}">
                <a16:creationId xmlns:a16="http://schemas.microsoft.com/office/drawing/2014/main" id="{48B07A93-CC16-D36F-67AC-11FD8700DE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
        <p:nvSpPr>
          <p:cNvPr id="5" name="Title 2">
            <a:extLst>
              <a:ext uri="{FF2B5EF4-FFF2-40B4-BE49-F238E27FC236}">
                <a16:creationId xmlns:a16="http://schemas.microsoft.com/office/drawing/2014/main" id="{6AA3B6A5-791A-954B-4DB7-29DB5ECC36A4}"/>
              </a:ext>
            </a:extLst>
          </p:cNvPr>
          <p:cNvSpPr>
            <a:spLocks noGrp="1"/>
          </p:cNvSpPr>
          <p:nvPr>
            <p:ph type="title"/>
          </p:nvPr>
        </p:nvSpPr>
        <p:spPr>
          <a:xfrm>
            <a:off x="838200" y="238125"/>
            <a:ext cx="10444163" cy="719138"/>
          </a:xfrm>
        </p:spPr>
        <p:txBody>
          <a:bodyPr>
            <a:normAutofit fontScale="90000"/>
          </a:bodyPr>
          <a:lstStyle/>
          <a:p>
            <a:pPr algn="ctr"/>
            <a:r>
              <a:rPr lang="en-US" b="1" dirty="0">
                <a:latin typeface="+mj-lt"/>
                <a:ea typeface="Calibri" panose="020F0502020204030204" pitchFamily="34" charset="0"/>
                <a:cs typeface="Calibri" panose="020F0502020204030204" pitchFamily="34" charset="0"/>
              </a:rPr>
              <a:t>SECURITY ATTACK LAYER-4 (TCP SYN FLOOD)</a:t>
            </a:r>
            <a:endParaRPr lang="en-IN"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7364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AB57BF-849A-EAD7-72B8-469502000DB3}"/>
              </a:ext>
            </a:extLst>
          </p:cNvPr>
          <p:cNvSpPr>
            <a:spLocks noGrp="1"/>
          </p:cNvSpPr>
          <p:nvPr>
            <p:ph type="body" idx="1"/>
          </p:nvPr>
        </p:nvSpPr>
        <p:spPr/>
        <p:txBody>
          <a:bodyPr>
            <a:normAutofit fontScale="85000" lnSpcReduction="20000"/>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HTTP response header injection vulnerabilities arise when user-supplied data is copied into a response header in an unsafe way. If an attacker can inject newline characters into the header, then they can inject new HTTP headers and also, by injecting an empty line, break out of the headers into the message body and write arbitrary content into the application's response.</a:t>
            </a:r>
          </a:p>
          <a:p>
            <a:pPr algn="just"/>
            <a:r>
              <a:rPr lang="en-IN" dirty="0">
                <a:latin typeface="Calibri" panose="020F0502020204030204" pitchFamily="34" charset="0"/>
                <a:ea typeface="Calibri" panose="020F0502020204030204" pitchFamily="34" charset="0"/>
                <a:cs typeface="Calibri" panose="020F0502020204030204" pitchFamily="34" charset="0"/>
              </a:rPr>
              <a:t>Various kinds of attack can be delivered via HTTP response header injection vulnerabilities. Any attack that can be delivered via cross-site scripting can usually be delivered via response header injection, because the attacker can construct a request that causes arbitrary JavaScript to appear within the response body. Further, it is sometimes possible to leverage response header injection vulnerabilities to poison the cache of any proxy server via which users access the application. Here, an attacker sends a crafted request that results in a "split" response containing arbitrary content. If the proxy server can be manipulated to associate the injected response with another URL used within the application, then the attacker can perform a "stored" attack against this URL, which will compromise other users who request that URL in future.</a:t>
            </a:r>
          </a:p>
        </p:txBody>
      </p:sp>
      <p:sp>
        <p:nvSpPr>
          <p:cNvPr id="4" name="Slide Number Placeholder 3">
            <a:extLst>
              <a:ext uri="{FF2B5EF4-FFF2-40B4-BE49-F238E27FC236}">
                <a16:creationId xmlns:a16="http://schemas.microsoft.com/office/drawing/2014/main" id="{82800CA6-B227-D190-C07E-9BA5DDC492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
        <p:nvSpPr>
          <p:cNvPr id="5" name="Title 2">
            <a:extLst>
              <a:ext uri="{FF2B5EF4-FFF2-40B4-BE49-F238E27FC236}">
                <a16:creationId xmlns:a16="http://schemas.microsoft.com/office/drawing/2014/main" id="{4314706B-5C66-3DBB-6C1C-C45D5A4CEE55}"/>
              </a:ext>
            </a:extLst>
          </p:cNvPr>
          <p:cNvSpPr>
            <a:spLocks noGrp="1"/>
          </p:cNvSpPr>
          <p:nvPr>
            <p:ph type="title"/>
          </p:nvPr>
        </p:nvSpPr>
        <p:spPr>
          <a:xfrm>
            <a:off x="838200" y="238125"/>
            <a:ext cx="10444163" cy="719138"/>
          </a:xfrm>
        </p:spPr>
        <p:txBody>
          <a:bodyPr>
            <a:normAutofit fontScale="90000"/>
          </a:bodyPr>
          <a:lstStyle/>
          <a:p>
            <a:pPr algn="ctr"/>
            <a:r>
              <a:rPr lang="en-US" b="1" dirty="0">
                <a:latin typeface="+mj-lt"/>
                <a:ea typeface="Calibri" panose="020F0502020204030204" pitchFamily="34" charset="0"/>
                <a:cs typeface="Calibri" panose="020F0502020204030204" pitchFamily="34" charset="0"/>
              </a:rPr>
              <a:t>SECURITY ATTACK LAYER-7 (HTTP INJECTION)</a:t>
            </a:r>
            <a:endParaRPr lang="en-IN"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69647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D20D7E-6366-2F1E-263C-92551C14B991}"/>
              </a:ext>
            </a:extLst>
          </p:cNvPr>
          <p:cNvSpPr>
            <a:spLocks noGrp="1"/>
          </p:cNvSpPr>
          <p:nvPr>
            <p:ph type="body" idx="1"/>
          </p:nvPr>
        </p:nvSpPr>
        <p:spPr/>
        <p:txBody>
          <a:bodyPr>
            <a:normAutofit/>
          </a:bodyPr>
          <a:lstStyle/>
          <a:p>
            <a:pPr marL="114300" indent="0" algn="just">
              <a:buNone/>
            </a:pPr>
            <a:r>
              <a:rPr lang="en-US" b="1" dirty="0">
                <a:latin typeface="Calibri" panose="020F0502020204030204" pitchFamily="34" charset="0"/>
                <a:ea typeface="Calibri" panose="020F0502020204030204" pitchFamily="34" charset="0"/>
                <a:cs typeface="Calibri" panose="020F0502020204030204" pitchFamily="34" charset="0"/>
              </a:rPr>
              <a:t>HTTP INJECTION PREVENTION:</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If possible, applications should avoid copying user-controllable data into HTTP response headers. If this is unavoidable, then the data should be strictly validated to prevent response header injection attacks. In most situations, it will be appropriate to allow only short alphanumeric strings to be copied into headers, and any other input should be rejected. </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4C14CE4-7614-3FE0-96DF-0CF2F4C5E2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
        <p:nvSpPr>
          <p:cNvPr id="5" name="Title 2">
            <a:extLst>
              <a:ext uri="{FF2B5EF4-FFF2-40B4-BE49-F238E27FC236}">
                <a16:creationId xmlns:a16="http://schemas.microsoft.com/office/drawing/2014/main" id="{DD299F32-C3FF-5A0A-859B-3C79489D589D}"/>
              </a:ext>
            </a:extLst>
          </p:cNvPr>
          <p:cNvSpPr>
            <a:spLocks noGrp="1"/>
          </p:cNvSpPr>
          <p:nvPr>
            <p:ph type="title"/>
          </p:nvPr>
        </p:nvSpPr>
        <p:spPr>
          <a:xfrm>
            <a:off x="838200" y="238125"/>
            <a:ext cx="10444163" cy="719138"/>
          </a:xfrm>
        </p:spPr>
        <p:txBody>
          <a:bodyPr>
            <a:normAutofit fontScale="90000"/>
          </a:bodyPr>
          <a:lstStyle/>
          <a:p>
            <a:pPr algn="ctr"/>
            <a:r>
              <a:rPr lang="en-US" b="1" dirty="0">
                <a:latin typeface="+mj-lt"/>
                <a:ea typeface="Calibri" panose="020F0502020204030204" pitchFamily="34" charset="0"/>
                <a:cs typeface="Calibri" panose="020F0502020204030204" pitchFamily="34" charset="0"/>
              </a:rPr>
              <a:t>SECURITY ATTACK LAYER-7 (HTTP INJECTION)</a:t>
            </a:r>
            <a:endParaRPr lang="en-IN"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83845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marR="0" lvl="0" indent="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None/>
              <a:defRPr/>
            </a:pPr>
            <a:r>
              <a:rPr lang="en-GB" b="1" dirty="0">
                <a:latin typeface="Calibri" panose="020F0502020204030204" charset="0"/>
                <a:cs typeface="Calibri" panose="020F0502020204030204" charset="0"/>
                <a:sym typeface="+mn-ea"/>
              </a:rPr>
              <a:t>What is the TCP/IP Protocol Suite?</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dirty="0">
                <a:latin typeface="Calibri" panose="020F0502020204030204" charset="0"/>
                <a:cs typeface="Calibri" panose="020F0502020204030204" charset="0"/>
                <a:sym typeface="Wingdings" panose="05000000000000000000" pitchFamily="2" charset="2"/>
              </a:rPr>
              <a:t>The TCP/IP Protocol Suite is a set of protocols that govern how data is sent and received across networks. </a:t>
            </a: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dirty="0">
                <a:latin typeface="Calibri" panose="020F0502020204030204" charset="0"/>
                <a:cs typeface="Calibri" panose="020F0502020204030204" charset="0"/>
                <a:sym typeface="Wingdings" panose="05000000000000000000" pitchFamily="2" charset="2"/>
              </a:rPr>
              <a:t>It is the practical implementation of network communication, using a four-layer model. </a:t>
            </a: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dirty="0">
                <a:latin typeface="Calibri" panose="020F0502020204030204" charset="0"/>
                <a:cs typeface="Calibri" panose="020F0502020204030204" charset="0"/>
                <a:sym typeface="Wingdings" panose="05000000000000000000" pitchFamily="2" charset="2"/>
              </a:rPr>
              <a:t>The TCP/IP model is a simplified and more practical version of the OSI model and is used universally for internet communication. </a:t>
            </a: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dirty="0">
                <a:latin typeface="Calibri" panose="020F0502020204030204" charset="0"/>
                <a:cs typeface="Calibri" panose="020F0502020204030204" charset="0"/>
                <a:sym typeface="Wingdings" panose="05000000000000000000" pitchFamily="2" charset="2"/>
              </a:rPr>
              <a:t>It includes protocols that dictate how data should be packaged, transmitted, routed, and received.</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rPr>
              <a:t>TCP/IP PROTOCOL</a:t>
            </a:r>
          </a:p>
        </p:txBody>
      </p:sp>
      <p:sp>
        <p:nvSpPr>
          <p:cNvPr id="4" name="Slide Number Placeholder 3"/>
          <p:cNvSpPr>
            <a:spLocks noGrp="1"/>
          </p:cNvSpPr>
          <p:nvPr>
            <p:ph type="sldNum" sz="quarter" idx="12"/>
          </p:nvPr>
        </p:nvSpPr>
        <p:spPr/>
        <p:txBody>
          <a:bodyPr/>
          <a:lstStyle/>
          <a:p>
            <a:fld id="{02C84146-E65B-4948-A521-8AE14AC02658}"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rcRect t="6860" b="20245"/>
          <a:stretch>
            <a:fillRect/>
          </a:stretch>
        </p:blipFill>
        <p:spPr>
          <a:xfrm>
            <a:off x="1275715" y="1210945"/>
            <a:ext cx="9641205" cy="5106670"/>
          </a:xfrm>
          <a:prstGeom prst="rect">
            <a:avLst/>
          </a:prstGeom>
        </p:spPr>
      </p:pic>
      <p:sp>
        <p:nvSpPr>
          <p:cNvPr id="3" name="Title 2"/>
          <p:cNvSpPr>
            <a:spLocks noGrp="1"/>
          </p:cNvSpPr>
          <p:nvPr>
            <p:ph type="title"/>
          </p:nvPr>
        </p:nvSpPr>
        <p:spPr/>
        <p:txBody>
          <a:bodyPr/>
          <a:lstStyle/>
          <a:p>
            <a:pPr algn="ctr"/>
            <a:r>
              <a:rPr lang="en-US" b="1">
                <a:latin typeface="+mj-lt"/>
                <a:sym typeface="+mn-ea"/>
              </a:rPr>
              <a:t>TCP/IP PROTOCOL</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272540" y="1243330"/>
            <a:ext cx="9646285" cy="4933950"/>
          </a:xfrm>
          <a:prstGeom prst="rect">
            <a:avLst/>
          </a:prstGeom>
        </p:spPr>
      </p:pic>
      <p:sp>
        <p:nvSpPr>
          <p:cNvPr id="3" name="Title 2"/>
          <p:cNvSpPr>
            <a:spLocks noGrp="1"/>
          </p:cNvSpPr>
          <p:nvPr>
            <p:ph type="title"/>
          </p:nvPr>
        </p:nvSpPr>
        <p:spPr/>
        <p:txBody>
          <a:bodyPr/>
          <a:lstStyle/>
          <a:p>
            <a:pPr algn="ctr"/>
            <a:r>
              <a:rPr lang="en-US" b="1">
                <a:latin typeface="+mj-lt"/>
                <a:sym typeface="+mn-ea"/>
              </a:rPr>
              <a:t>TCP/IP PROTOCOL</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0000"/>
          </a:bodyPr>
          <a:lstStyle/>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Importance of the TCP/IP Protocol Suite</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Foundation of the Internet: </a:t>
            </a:r>
            <a:r>
              <a:rPr lang="en-GB" dirty="0">
                <a:latin typeface="Calibri" panose="020F0502020204030204" charset="0"/>
                <a:cs typeface="Calibri" panose="020F0502020204030204" charset="0"/>
                <a:sym typeface="Wingdings" panose="05000000000000000000" pitchFamily="2" charset="2"/>
              </a:rPr>
              <a:t>TCP/IP is the protocol that powers the internet. Every website you access, every email you send, and every file you download uses TCP/IP.</a:t>
            </a: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Scalability: </a:t>
            </a:r>
            <a:r>
              <a:rPr lang="en-GB" dirty="0">
                <a:latin typeface="Calibri" panose="020F0502020204030204" charset="0"/>
                <a:cs typeface="Calibri" panose="020F0502020204030204" charset="0"/>
                <a:sym typeface="Wingdings" panose="05000000000000000000" pitchFamily="2" charset="2"/>
              </a:rPr>
              <a:t>TCP/IP supports large, scalable networks like the internet, allowing it to manage millions of devices.</a:t>
            </a: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Interoperability: </a:t>
            </a:r>
            <a:r>
              <a:rPr lang="en-GB" dirty="0">
                <a:latin typeface="Calibri" panose="020F0502020204030204" charset="0"/>
                <a:cs typeface="Calibri" panose="020F0502020204030204" charset="0"/>
                <a:sym typeface="Wingdings" panose="05000000000000000000" pitchFamily="2" charset="2"/>
              </a:rPr>
              <a:t>TCP/IP ensures that different devices, regardless of manufacturer, can communicate over the same network, ensuring global connectivity.</a:t>
            </a: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Flexibility: </a:t>
            </a:r>
            <a:r>
              <a:rPr lang="en-GB" dirty="0">
                <a:latin typeface="Calibri" panose="020F0502020204030204" charset="0"/>
                <a:cs typeface="Calibri" panose="020F0502020204030204" charset="0"/>
                <a:sym typeface="Wingdings" panose="05000000000000000000" pitchFamily="2" charset="2"/>
              </a:rPr>
              <a:t>It can be used in both local networks (LAN) and wide area networks (WAN), offering flexibility across different network sizes and types.</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TCP/IP PROTOCOL</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Layers of the TCP/IP Protocol Suite</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dirty="0">
                <a:latin typeface="Calibri" panose="020F0502020204030204" charset="0"/>
                <a:cs typeface="Calibri" panose="020F0502020204030204" charset="0"/>
                <a:sym typeface="+mn-ea"/>
              </a:rPr>
              <a:t>The TCP/IP model consists of four layers, each of which corresponds to functions in the OSI model. However, unlike the OSI model’s seven layers, the TCP/IP model simplifies the functions into four distinct groups.</a:t>
            </a:r>
            <a:endParaRPr lang="en-GB" dirty="0">
              <a:latin typeface="Calibri" panose="020F0502020204030204" charset="0"/>
              <a:cs typeface="Calibri" panose="020F0502020204030204" charset="0"/>
            </a:endParaRPr>
          </a:p>
          <a:p>
            <a:pPr marR="0" lvl="0" algn="just" defTabSz="914400" rtl="0" eaLnBrk="1" fontAlgn="auto" latinLnBrk="0" hangingPunct="1">
              <a:lnSpc>
                <a:spcPct val="110000"/>
              </a:lnSpc>
              <a:spcBef>
                <a:spcPts val="0"/>
              </a:spcBef>
              <a:spcAft>
                <a:spcPts val="0"/>
              </a:spcAft>
              <a:buClr>
                <a:srgbClr val="000000"/>
              </a:buClr>
              <a:buSzTx/>
              <a:defRPr/>
            </a:pP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a:defRPr/>
            </a:pPr>
            <a:r>
              <a:rPr lang="en-GB" b="1" dirty="0">
                <a:latin typeface="Calibri" panose="020F0502020204030204" charset="0"/>
                <a:cs typeface="Calibri" panose="020F0502020204030204" charset="0"/>
                <a:sym typeface="+mn-ea"/>
              </a:rPr>
              <a:t>Network Access Layer (or Link Layer)</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a:defRPr/>
            </a:pPr>
            <a:r>
              <a:rPr lang="en-GB" b="1" dirty="0">
                <a:latin typeface="Calibri" panose="020F0502020204030204" charset="0"/>
                <a:cs typeface="Calibri" panose="020F0502020204030204" charset="0"/>
                <a:sym typeface="+mn-ea"/>
              </a:rPr>
              <a:t>Internet Layer</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a:defRPr/>
            </a:pPr>
            <a:r>
              <a:rPr lang="en-GB" b="1" dirty="0">
                <a:latin typeface="Calibri" panose="020F0502020204030204" charset="0"/>
                <a:cs typeface="Calibri" panose="020F0502020204030204" charset="0"/>
                <a:sym typeface="+mn-ea"/>
              </a:rPr>
              <a:t>Transport Layer</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a:defRPr/>
            </a:pPr>
            <a:r>
              <a:rPr lang="en-GB" b="1" dirty="0">
                <a:latin typeface="Calibri" panose="020F0502020204030204" charset="0"/>
                <a:cs typeface="Calibri" panose="020F0502020204030204" charset="0"/>
                <a:sym typeface="+mn-ea"/>
              </a:rPr>
              <a:t>Application Layer</a:t>
            </a:r>
            <a:endParaRPr lang="en-GB" b="1" dirty="0">
              <a:latin typeface="Calibri" panose="020F0502020204030204" charset="0"/>
              <a:cs typeface="Calibri" panose="020F0502020204030204" charset="0"/>
            </a:endParaRPr>
          </a:p>
          <a:p>
            <a:pPr>
              <a:lnSpc>
                <a:spcPct val="11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TCP/IP PROTOCOL</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0000" lnSpcReduction="10000"/>
          </a:bodyPr>
          <a:lstStyle/>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a:t>
            </a:r>
            <a:r>
              <a:rPr lang="en-GB" b="1" dirty="0">
                <a:latin typeface="Calibri" panose="020F0502020204030204" charset="0"/>
                <a:cs typeface="Calibri" panose="020F0502020204030204" charset="0"/>
                <a:sym typeface="+mn-ea"/>
              </a:rPr>
              <a:t> Network Interface Layer </a:t>
            </a:r>
            <a:r>
              <a:rPr lang="en-GB" dirty="0">
                <a:latin typeface="Calibri" panose="020F0502020204030204" charset="0"/>
                <a:cs typeface="Calibri" panose="020F0502020204030204" charset="0"/>
                <a:sym typeface="+mn-ea"/>
              </a:rPr>
              <a:t>is the lowest layer in the TCP/IP model. It is responsible for the physical transmission of data and defining how a device connects to the network.</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kern="0" noProof="0" dirty="0">
                <a:ln>
                  <a:noFill/>
                </a:ln>
                <a:effectLst/>
                <a:uLnTx/>
                <a:uFillTx/>
                <a:latin typeface="Calibri" panose="020F0502020204030204" charset="0"/>
                <a:cs typeface="Calibri" panose="020F0502020204030204" charset="0"/>
                <a:sym typeface="Arial" panose="020B0604020202020204"/>
              </a:rPr>
              <a:t>Function: </a:t>
            </a:r>
            <a:r>
              <a:rPr lang="en-GB" kern="0" noProof="0" dirty="0">
                <a:ln>
                  <a:noFill/>
                </a:ln>
                <a:effectLst/>
                <a:uLnTx/>
                <a:uFillTx/>
                <a:latin typeface="Calibri" panose="020F0502020204030204" charset="0"/>
                <a:cs typeface="Calibri" panose="020F0502020204030204" charset="0"/>
                <a:sym typeface="Arial" panose="020B0604020202020204"/>
              </a:rPr>
              <a:t>Transmits frames of data between devices on the same network. This layer encompasses the technologies that allow the hardware (e.g., Ethernet cables, Wi-Fi radios) to send and receive signals.</a:t>
            </a:r>
            <a:endParaRPr kumimoji="0" lang="en-GB" i="0" u="none" strike="noStrike" kern="0" cap="none" spc="0" normalizeH="0" baseline="0" noProof="0" dirty="0">
              <a:ln>
                <a:noFill/>
              </a:ln>
              <a:effectLst/>
              <a:uLnTx/>
              <a:uFillTx/>
              <a:latin typeface="Calibri" panose="020F0502020204030204" charset="0"/>
              <a:cs typeface="Calibri" panose="020F0502020204030204" charset="0"/>
              <a:sym typeface="Arial" panose="020B0604020202020204"/>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kern="0" noProof="0" dirty="0">
                <a:ln>
                  <a:noFill/>
                </a:ln>
                <a:effectLst/>
                <a:uLnTx/>
                <a:uFillTx/>
                <a:latin typeface="Calibri" panose="020F0502020204030204" charset="0"/>
                <a:cs typeface="Calibri" panose="020F0502020204030204" charset="0"/>
                <a:sym typeface="Arial" panose="020B0604020202020204"/>
              </a:rPr>
              <a:t>Key Responsibilities:</a:t>
            </a:r>
            <a:endParaRPr kumimoji="0" lang="en-GB" b="1" i="0" u="none" strike="noStrike" kern="0" cap="none" spc="0" normalizeH="0" baseline="0" noProof="0" dirty="0">
              <a:ln>
                <a:noFill/>
              </a:ln>
              <a:effectLst/>
              <a:uLnTx/>
              <a:uFillTx/>
              <a:latin typeface="Calibri" panose="020F0502020204030204" charset="0"/>
              <a:cs typeface="Calibri" panose="020F0502020204030204" charset="0"/>
              <a:sym typeface="Arial" panose="020B0604020202020204"/>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kern="0" noProof="0" dirty="0">
                <a:ln>
                  <a:noFill/>
                </a:ln>
                <a:effectLst/>
                <a:uLnTx/>
                <a:uFillTx/>
                <a:latin typeface="Calibri" panose="020F0502020204030204" charset="0"/>
                <a:cs typeface="Calibri" panose="020F0502020204030204" charset="0"/>
                <a:sym typeface="Arial" panose="020B0604020202020204"/>
              </a:rPr>
              <a:t>Physical Addressing: </a:t>
            </a:r>
            <a:r>
              <a:rPr lang="en-GB" kern="0" noProof="0" dirty="0">
                <a:ln>
                  <a:noFill/>
                </a:ln>
                <a:effectLst/>
                <a:uLnTx/>
                <a:uFillTx/>
                <a:latin typeface="Calibri" panose="020F0502020204030204" charset="0"/>
                <a:cs typeface="Calibri" panose="020F0502020204030204" charset="0"/>
                <a:sym typeface="Arial" panose="020B0604020202020204"/>
              </a:rPr>
              <a:t>Uses MAC addresses (Media Access Control) to identify devices on a local network.</a:t>
            </a:r>
            <a:endParaRPr kumimoji="0" lang="en-GB" i="0" u="none" strike="noStrike" kern="0" cap="none" spc="0" normalizeH="0" baseline="0" noProof="0" dirty="0">
              <a:ln>
                <a:noFill/>
              </a:ln>
              <a:effectLst/>
              <a:uLnTx/>
              <a:uFillTx/>
              <a:latin typeface="Calibri" panose="020F0502020204030204" charset="0"/>
              <a:cs typeface="Calibri" panose="020F0502020204030204" charset="0"/>
              <a:sym typeface="Arial" panose="020B0604020202020204"/>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kern="0" noProof="0" dirty="0">
                <a:ln>
                  <a:noFill/>
                </a:ln>
                <a:effectLst/>
                <a:uLnTx/>
                <a:uFillTx/>
                <a:latin typeface="Calibri" panose="020F0502020204030204" charset="0"/>
                <a:cs typeface="Calibri" panose="020F0502020204030204" charset="0"/>
                <a:sym typeface="Arial" panose="020B0604020202020204"/>
              </a:rPr>
              <a:t>Frame Control: </a:t>
            </a:r>
            <a:r>
              <a:rPr lang="en-GB" kern="0" noProof="0" dirty="0">
                <a:ln>
                  <a:noFill/>
                </a:ln>
                <a:effectLst/>
                <a:uLnTx/>
                <a:uFillTx/>
                <a:latin typeface="Calibri" panose="020F0502020204030204" charset="0"/>
                <a:cs typeface="Calibri" panose="020F0502020204030204" charset="0"/>
                <a:sym typeface="Arial" panose="020B0604020202020204"/>
              </a:rPr>
              <a:t>Ensures that the correct data format is used for the type of network (e.g., Ethernet, Wi-Fi).</a:t>
            </a:r>
            <a:endParaRPr kumimoji="0" lang="en-GB" i="0" u="none" strike="noStrike" kern="0" cap="none" spc="0" normalizeH="0" baseline="0" noProof="0" dirty="0">
              <a:ln>
                <a:noFill/>
              </a:ln>
              <a:effectLst/>
              <a:uLnTx/>
              <a:uFillTx/>
              <a:latin typeface="Calibri" panose="020F0502020204030204" charset="0"/>
              <a:cs typeface="Calibri" panose="020F0502020204030204" charset="0"/>
              <a:sym typeface="Arial" panose="020B0604020202020204"/>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kern="0" noProof="0" dirty="0">
                <a:ln>
                  <a:noFill/>
                </a:ln>
                <a:effectLst/>
                <a:uLnTx/>
                <a:uFillTx/>
                <a:latin typeface="Calibri" panose="020F0502020204030204" charset="0"/>
                <a:cs typeface="Calibri" panose="020F0502020204030204" charset="0"/>
                <a:sym typeface="Arial" panose="020B0604020202020204"/>
              </a:rPr>
              <a:t>Error Detection: </a:t>
            </a:r>
            <a:r>
              <a:rPr lang="en-GB" kern="0" noProof="0" dirty="0">
                <a:ln>
                  <a:noFill/>
                </a:ln>
                <a:effectLst/>
                <a:uLnTx/>
                <a:uFillTx/>
                <a:latin typeface="Calibri" panose="020F0502020204030204" charset="0"/>
                <a:cs typeface="Calibri" panose="020F0502020204030204" charset="0"/>
                <a:sym typeface="Arial" panose="020B0604020202020204"/>
              </a:rPr>
              <a:t>Detects and sometimes corrects errors that may occur during the physical transmission of data.</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rPr>
              <a:t>NETWORK ACCESS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Protocols: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Ethernet: </a:t>
            </a:r>
            <a:r>
              <a:rPr lang="en-GB" dirty="0">
                <a:latin typeface="Calibri" panose="020F0502020204030204" charset="0"/>
                <a:cs typeface="Calibri" panose="020F0502020204030204" charset="0"/>
                <a:sym typeface="+mn-ea"/>
              </a:rPr>
              <a:t>The most commonly used wired LAN protocol.</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Wi-Fi (IEEE 802.11): </a:t>
            </a:r>
            <a:r>
              <a:rPr lang="en-GB" dirty="0">
                <a:latin typeface="Calibri" panose="020F0502020204030204" charset="0"/>
                <a:cs typeface="Calibri" panose="020F0502020204030204" charset="0"/>
                <a:sym typeface="+mn-ea"/>
              </a:rPr>
              <a:t>A widely used wireless protocol for local networks.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ARP (Address Resolution Protocol): </a:t>
            </a:r>
            <a:r>
              <a:rPr lang="en-GB" dirty="0">
                <a:latin typeface="Calibri" panose="020F0502020204030204" charset="0"/>
                <a:cs typeface="Calibri" panose="020F0502020204030204" charset="0"/>
                <a:sym typeface="+mn-ea"/>
              </a:rPr>
              <a:t>Resolves IP addresses into MAC addresses.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Real-World Example: </a:t>
            </a:r>
            <a:r>
              <a:rPr lang="en-GB" dirty="0">
                <a:latin typeface="Calibri" panose="020F0502020204030204" charset="0"/>
                <a:cs typeface="Calibri" panose="020F0502020204030204" charset="0"/>
                <a:sym typeface="+mn-ea"/>
              </a:rPr>
              <a:t>When you connect your laptop to Wi-Fi, the network interface layer handles how your laptop physically connects to the wireless network, using a MAC address to identify itself.</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NETWORK ACCESS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518285" y="1891030"/>
            <a:ext cx="9155430" cy="3075940"/>
          </a:xfrm>
          <a:prstGeom prst="rect">
            <a:avLst/>
          </a:prstGeom>
        </p:spPr>
      </p:pic>
      <p:sp>
        <p:nvSpPr>
          <p:cNvPr id="3" name="Title 2"/>
          <p:cNvSpPr>
            <a:spLocks noGrp="1"/>
          </p:cNvSpPr>
          <p:nvPr>
            <p:ph type="title"/>
          </p:nvPr>
        </p:nvSpPr>
        <p:spPr/>
        <p:txBody>
          <a:bodyPr/>
          <a:lstStyle/>
          <a:p>
            <a:pPr algn="ctr"/>
            <a:r>
              <a:rPr lang="en-US" b="1">
                <a:latin typeface="+mj-lt"/>
              </a:rPr>
              <a:t>NETWORK ACCESS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0000" lnSpcReduction="10000"/>
          </a:bodyPr>
          <a:lstStyle/>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a:t>
            </a:r>
            <a:r>
              <a:rPr lang="en-GB" b="1" dirty="0">
                <a:latin typeface="Calibri" panose="020F0502020204030204" charset="0"/>
                <a:cs typeface="Calibri" panose="020F0502020204030204" charset="0"/>
                <a:sym typeface="+mn-ea"/>
              </a:rPr>
              <a:t>Internet Layer</a:t>
            </a:r>
            <a:r>
              <a:rPr lang="en-GB" dirty="0">
                <a:latin typeface="Calibri" panose="020F0502020204030204" charset="0"/>
                <a:cs typeface="Calibri" panose="020F0502020204030204" charset="0"/>
                <a:sym typeface="+mn-ea"/>
              </a:rPr>
              <a:t> is responsible for moving packets of data between different networks. It manages logical addressing and routing, ensuring that data can travel across networks, not just within a local network.</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Routing and addressing are the key functions of the Internet Layer. It ensures that data packets can travel from the source to the destination across multiple networks.</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Responsibilities: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IP Addressing: </a:t>
            </a:r>
            <a:r>
              <a:rPr lang="en-GB" dirty="0">
                <a:latin typeface="Calibri" panose="020F0502020204030204" charset="0"/>
                <a:cs typeface="Calibri" panose="020F0502020204030204" charset="0"/>
                <a:sym typeface="+mn-ea"/>
              </a:rPr>
              <a:t>Uses IP addresses (logical addresses) to uniquely identify devices on different networks.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Routing: </a:t>
            </a:r>
            <a:r>
              <a:rPr lang="en-GB" dirty="0">
                <a:latin typeface="Calibri" panose="020F0502020204030204" charset="0"/>
                <a:cs typeface="Calibri" panose="020F0502020204030204" charset="0"/>
                <a:sym typeface="+mn-ea"/>
              </a:rPr>
              <a:t>Determines the best path for data to take to reach its destination, based on the IP address.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Fragmentation: </a:t>
            </a:r>
            <a:r>
              <a:rPr lang="en-GB" dirty="0">
                <a:latin typeface="Calibri" panose="020F0502020204030204" charset="0"/>
                <a:cs typeface="Calibri" panose="020F0502020204030204" charset="0"/>
                <a:sym typeface="+mn-ea"/>
              </a:rPr>
              <a:t>Splits large data packets into smaller ones if necessary for transmission, and reassembles them at the destination.</a:t>
            </a:r>
            <a:endParaRPr kumimoji="0" lang="en-GB" i="0" u="none" strike="noStrike" kern="0" cap="none" spc="0" normalizeH="0" baseline="0" noProof="0" dirty="0">
              <a:ln>
                <a:noFill/>
              </a:ln>
              <a:effectLst/>
              <a:uLnTx/>
              <a:uFillTx/>
              <a:latin typeface="Calibri" panose="020F0502020204030204" charset="0"/>
              <a:cs typeface="Calibri" panose="020F0502020204030204" charset="0"/>
              <a:sym typeface="Arial" panose="020B0604020202020204"/>
            </a:endParaRPr>
          </a:p>
          <a:p>
            <a:pPr>
              <a:lnSpc>
                <a:spcPct val="12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rPr>
              <a:t>INTERNET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7500" lnSpcReduction="20000"/>
          </a:bodyPr>
          <a:lstStyle/>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sz="3000" b="1" dirty="0">
                <a:latin typeface="Calibri" panose="020F0502020204030204" charset="0"/>
                <a:cs typeface="Calibri" panose="020F0502020204030204" charset="0"/>
                <a:sym typeface="+mn-ea"/>
              </a:rPr>
              <a:t>Key Protocols:</a:t>
            </a:r>
            <a:endParaRPr lang="en-GB" sz="3000"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sz="3000" b="1" dirty="0">
                <a:latin typeface="Calibri" panose="020F0502020204030204" charset="0"/>
                <a:cs typeface="Calibri" panose="020F0502020204030204" charset="0"/>
                <a:sym typeface="+mn-ea"/>
              </a:rPr>
              <a:t>IP (Internet Protocol): </a:t>
            </a:r>
            <a:r>
              <a:rPr lang="en-GB" sz="3000" dirty="0">
                <a:latin typeface="Calibri" panose="020F0502020204030204" charset="0"/>
                <a:cs typeface="Calibri" panose="020F0502020204030204" charset="0"/>
                <a:sym typeface="+mn-ea"/>
              </a:rPr>
              <a:t>The core protocol that provides addressing and routing.</a:t>
            </a:r>
            <a:endParaRPr lang="en-GB" sz="3000"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sz="3000" b="1" dirty="0">
                <a:latin typeface="Calibri" panose="020F0502020204030204" charset="0"/>
                <a:cs typeface="Calibri" panose="020F0502020204030204" charset="0"/>
                <a:sym typeface="+mn-ea"/>
              </a:rPr>
              <a:t>IPv4: </a:t>
            </a:r>
            <a:r>
              <a:rPr lang="en-GB" sz="3000" dirty="0">
                <a:latin typeface="Calibri" panose="020F0502020204030204" charset="0"/>
                <a:cs typeface="Calibri" panose="020F0502020204030204" charset="0"/>
                <a:sym typeface="+mn-ea"/>
              </a:rPr>
              <a:t>The most widely used version of IP, using 32-bit addresses.</a:t>
            </a:r>
            <a:endParaRPr lang="en-GB" sz="3000"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sz="3000" b="1" dirty="0">
                <a:latin typeface="Calibri" panose="020F0502020204030204" charset="0"/>
                <a:cs typeface="Calibri" panose="020F0502020204030204" charset="0"/>
                <a:sym typeface="+mn-ea"/>
              </a:rPr>
              <a:t>IPv6: </a:t>
            </a:r>
            <a:r>
              <a:rPr lang="en-GB" sz="3000" dirty="0">
                <a:latin typeface="Calibri" panose="020F0502020204030204" charset="0"/>
                <a:cs typeface="Calibri" panose="020F0502020204030204" charset="0"/>
                <a:sym typeface="+mn-ea"/>
              </a:rPr>
              <a:t>The newer version of IP, using 128-bit addresses to allow for a much larger number of devices.</a:t>
            </a:r>
            <a:endParaRPr lang="en-GB" sz="3000"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sz="3000" b="1" dirty="0">
                <a:latin typeface="Calibri" panose="020F0502020204030204" charset="0"/>
                <a:cs typeface="Calibri" panose="020F0502020204030204" charset="0"/>
                <a:sym typeface="+mn-ea"/>
              </a:rPr>
              <a:t>ICMP (Internet Control Message Protocol): </a:t>
            </a:r>
            <a:r>
              <a:rPr lang="en-GB" sz="3000" dirty="0">
                <a:latin typeface="Calibri" panose="020F0502020204030204" charset="0"/>
                <a:cs typeface="Calibri" panose="020F0502020204030204" charset="0"/>
                <a:sym typeface="+mn-ea"/>
              </a:rPr>
              <a:t>Used for error messages and diagnostic purposes (e.g., when using the “ping” command).</a:t>
            </a:r>
            <a:endParaRPr lang="en-GB" sz="3000"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sz="3000" b="1" dirty="0">
                <a:latin typeface="Calibri" panose="020F0502020204030204" charset="0"/>
                <a:cs typeface="Calibri" panose="020F0502020204030204" charset="0"/>
                <a:sym typeface="+mn-ea"/>
              </a:rPr>
              <a:t>IGMP (Internet Group Management Protocol): </a:t>
            </a:r>
            <a:r>
              <a:rPr lang="en-GB" sz="3000" dirty="0">
                <a:latin typeface="Calibri" panose="020F0502020204030204" charset="0"/>
                <a:cs typeface="Calibri" panose="020F0502020204030204" charset="0"/>
                <a:sym typeface="+mn-ea"/>
              </a:rPr>
              <a:t>Manages multicast group memberships.</a:t>
            </a:r>
          </a:p>
          <a:p>
            <a:pPr marR="0" lvl="0" algn="just" defTabSz="914400" rtl="0" eaLnBrk="1" fontAlgn="auto" latinLnBrk="0" hangingPunct="1">
              <a:lnSpc>
                <a:spcPct val="110000"/>
              </a:lnSpc>
              <a:spcBef>
                <a:spcPts val="0"/>
              </a:spcBef>
              <a:spcAft>
                <a:spcPts val="0"/>
              </a:spcAft>
              <a:buClr>
                <a:srgbClr val="000000"/>
              </a:buClr>
              <a:buSzTx/>
              <a:defRPr/>
            </a:pPr>
            <a:r>
              <a:rPr lang="en-GB" sz="3000" b="1" dirty="0">
                <a:latin typeface="Calibri" panose="020F0502020204030204" charset="0"/>
                <a:cs typeface="Calibri" panose="020F0502020204030204" charset="0"/>
                <a:sym typeface="+mn-ea"/>
              </a:rPr>
              <a:t>Real-World Example: </a:t>
            </a:r>
            <a:r>
              <a:rPr lang="en-GB" sz="3000" dirty="0">
                <a:latin typeface="Calibri" panose="020F0502020204030204" charset="0"/>
                <a:cs typeface="Calibri" panose="020F0502020204030204" charset="0"/>
                <a:sym typeface="+mn-ea"/>
              </a:rPr>
              <a:t>When you type a website address, the Internet Layer ensures that the request is routed from your device, through the internet, to the correct server based on the server's IP address.</a:t>
            </a:r>
            <a:endParaRPr lang="en-GB" sz="3000" dirty="0">
              <a:latin typeface="Calibri" panose="020F0502020204030204" charset="0"/>
              <a:cs typeface="Calibri" panose="020F0502020204030204" charset="0"/>
            </a:endParaRPr>
          </a:p>
          <a:p>
            <a:pPr>
              <a:lnSpc>
                <a:spcPct val="110000"/>
              </a:lnSpc>
            </a:pPr>
            <a:endParaRPr lang="en-US" sz="3000">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INTERNET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014730" y="2138680"/>
            <a:ext cx="10163175" cy="2580640"/>
          </a:xfrm>
          <a:prstGeom prst="rect">
            <a:avLst/>
          </a:prstGeom>
        </p:spPr>
      </p:pic>
      <p:sp>
        <p:nvSpPr>
          <p:cNvPr id="3" name="Title 2"/>
          <p:cNvSpPr>
            <a:spLocks noGrp="1"/>
          </p:cNvSpPr>
          <p:nvPr>
            <p:ph type="title"/>
          </p:nvPr>
        </p:nvSpPr>
        <p:spPr/>
        <p:txBody>
          <a:bodyPr/>
          <a:lstStyle/>
          <a:p>
            <a:pPr algn="ctr"/>
            <a:r>
              <a:rPr lang="en-US" b="1">
                <a:latin typeface="+mj-lt"/>
                <a:sym typeface="+mn-ea"/>
              </a:rPr>
              <a:t>INTERNET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0000" lnSpcReduction="10000"/>
          </a:bodyPr>
          <a:lstStyle/>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a:t>
            </a:r>
            <a:r>
              <a:rPr lang="en-GB" b="1" dirty="0">
                <a:latin typeface="Calibri" panose="020F0502020204030204" charset="0"/>
                <a:cs typeface="Calibri" panose="020F0502020204030204" charset="0"/>
                <a:sym typeface="+mn-ea"/>
              </a:rPr>
              <a:t>Transport Layer </a:t>
            </a:r>
            <a:r>
              <a:rPr lang="en-GB" dirty="0">
                <a:latin typeface="Calibri" panose="020F0502020204030204" charset="0"/>
                <a:cs typeface="Calibri" panose="020F0502020204030204" charset="0"/>
                <a:sym typeface="+mn-ea"/>
              </a:rPr>
              <a:t>is responsible for ensuring that data is delivered error-free, in sequence, and with the correct timing. It handles end-to-end communication between devices and controls how much data is sent and received.</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Manages data flow between devices, ensuring reliability and proper sequencing of data packets.</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Responsibilities: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Data Segmentation: </a:t>
            </a:r>
            <a:r>
              <a:rPr lang="en-GB" dirty="0">
                <a:latin typeface="Calibri" panose="020F0502020204030204" charset="0"/>
                <a:cs typeface="Calibri" panose="020F0502020204030204" charset="0"/>
                <a:sym typeface="+mn-ea"/>
              </a:rPr>
              <a:t>Breaks large messages into smaller segments for transmission, then reassembles them at the destination.</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Error Control: </a:t>
            </a:r>
            <a:r>
              <a:rPr lang="en-GB" dirty="0">
                <a:latin typeface="Calibri" panose="020F0502020204030204" charset="0"/>
                <a:cs typeface="Calibri" panose="020F0502020204030204" charset="0"/>
                <a:sym typeface="+mn-ea"/>
              </a:rPr>
              <a:t>Ensures that all data is received correctly; if any segments are lost, they are retransmitted.</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Flow Control: </a:t>
            </a:r>
            <a:r>
              <a:rPr lang="en-GB" dirty="0">
                <a:latin typeface="Calibri" panose="020F0502020204030204" charset="0"/>
                <a:cs typeface="Calibri" panose="020F0502020204030204" charset="0"/>
                <a:sym typeface="+mn-ea"/>
              </a:rPr>
              <a:t>Regulates the flow of data to prevent network congestion.</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Multiplexing: </a:t>
            </a:r>
            <a:r>
              <a:rPr lang="en-GB" dirty="0">
                <a:latin typeface="Calibri" panose="020F0502020204030204" charset="0"/>
                <a:cs typeface="Calibri" panose="020F0502020204030204" charset="0"/>
                <a:sym typeface="+mn-ea"/>
              </a:rPr>
              <a:t>Multiple applications on a device can use the network simultaneously, and the transport layer ensures that data is directed to the correct application.</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rPr>
              <a:t>TRANSPORT</a:t>
            </a:r>
            <a:r>
              <a:rPr lang="en-US" b="1" dirty="0"/>
              <a:t>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0000" lnSpcReduction="10000"/>
          </a:bodyPr>
          <a:lstStyle/>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Protocols: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TCP (Transmission Control Protocol): </a:t>
            </a:r>
            <a:r>
              <a:rPr lang="en-GB" dirty="0">
                <a:latin typeface="Calibri" panose="020F0502020204030204" charset="0"/>
                <a:cs typeface="Calibri" panose="020F0502020204030204" charset="0"/>
                <a:sym typeface="+mn-ea"/>
              </a:rPr>
              <a:t>A connection-oriented protocol that ensures reliable delivery of data. TCP establishes a connection before transmitting data and guarantees that all segments arrive in the correct order.</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UDP (User Datagram Protocol): </a:t>
            </a:r>
            <a:r>
              <a:rPr lang="en-GB" dirty="0">
                <a:latin typeface="Calibri" panose="020F0502020204030204" charset="0"/>
                <a:cs typeface="Calibri" panose="020F0502020204030204" charset="0"/>
                <a:sym typeface="+mn-ea"/>
              </a:rPr>
              <a:t>A connectionless protocol used for scenarios where speed is more important than reliability, such as video streaming or online gaming. UDP doesn’t guarantee delivery or the correct order of segments.</a:t>
            </a:r>
            <a:endParaRPr lang="en-GB" dirty="0">
              <a:latin typeface="Calibri" panose="020F0502020204030204" charset="0"/>
              <a:cs typeface="Calibri" panose="020F0502020204030204" charset="0"/>
            </a:endParaRPr>
          </a:p>
          <a:p>
            <a:pPr>
              <a:lnSpc>
                <a:spcPct val="110000"/>
              </a:lnSpc>
            </a:pPr>
            <a:r>
              <a:rPr lang="en-GB" b="1" dirty="0">
                <a:latin typeface="Calibri" panose="020F0502020204030204" charset="0"/>
                <a:cs typeface="Calibri" panose="020F0502020204030204" charset="0"/>
                <a:sym typeface="+mn-ea"/>
              </a:rPr>
              <a:t>Real-World Example: </a:t>
            </a:r>
            <a:r>
              <a:rPr lang="en-GB" dirty="0">
                <a:latin typeface="Calibri" panose="020F0502020204030204" charset="0"/>
                <a:cs typeface="Calibri" panose="020F0502020204030204" charset="0"/>
                <a:sym typeface="+mn-ea"/>
              </a:rPr>
              <a:t>When you send an email, TCP ensures that all parts of the email are sent, even if it means retransmitting lost packets, and that the email is reassembled correctly at the destination.</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TRANSPORT</a:t>
            </a:r>
            <a:r>
              <a:rPr lang="en-US" b="1" dirty="0">
                <a:sym typeface="+mn-ea"/>
              </a:rPr>
              <a:t> LAYER</a:t>
            </a:r>
            <a:endParaRPr lang="en-US" dirty="0"/>
          </a:p>
        </p:txBody>
      </p:sp>
      <p:sp>
        <p:nvSpPr>
          <p:cNvPr id="4" name="Slide Number Placeholder 3"/>
          <p:cNvSpPr>
            <a:spLocks noGrp="1"/>
          </p:cNvSpPr>
          <p:nvPr>
            <p:ph type="sldNum" sz="quarter" idx="12"/>
          </p:nvPr>
        </p:nvSpPr>
        <p:spPr/>
        <p:txBody>
          <a:bodyPr/>
          <a:lstStyle/>
          <a:p>
            <a:fld id="{02C84146-E65B-4948-A521-8AE14AC02658}"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341755" y="2073275"/>
            <a:ext cx="9509125" cy="2711450"/>
          </a:xfrm>
          <a:prstGeom prst="rect">
            <a:avLst/>
          </a:prstGeom>
        </p:spPr>
      </p:pic>
      <p:sp>
        <p:nvSpPr>
          <p:cNvPr id="3" name="Title 2"/>
          <p:cNvSpPr>
            <a:spLocks noGrp="1"/>
          </p:cNvSpPr>
          <p:nvPr>
            <p:ph type="title"/>
          </p:nvPr>
        </p:nvSpPr>
        <p:spPr/>
        <p:txBody>
          <a:bodyPr/>
          <a:lstStyle/>
          <a:p>
            <a:pPr algn="ctr"/>
            <a:r>
              <a:rPr lang="en-US" b="1" dirty="0">
                <a:latin typeface="+mj-lt"/>
                <a:sym typeface="+mn-ea"/>
              </a:rPr>
              <a:t>TRANSPORT LAYER</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7500" lnSpcReduction="20000"/>
          </a:bodyPr>
          <a:lstStyle/>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a:t>
            </a:r>
            <a:r>
              <a:rPr lang="en-GB" b="1" dirty="0">
                <a:latin typeface="Calibri" panose="020F0502020204030204" charset="0"/>
                <a:cs typeface="Calibri" panose="020F0502020204030204" charset="0"/>
                <a:sym typeface="+mn-ea"/>
              </a:rPr>
              <a:t>Application Layer</a:t>
            </a:r>
            <a:r>
              <a:rPr lang="en-GB" dirty="0">
                <a:latin typeface="Calibri" panose="020F0502020204030204" charset="0"/>
                <a:cs typeface="Calibri" panose="020F0502020204030204" charset="0"/>
                <a:sym typeface="+mn-ea"/>
              </a:rPr>
              <a:t> in the TCP/IP model handles the interaction between the user and the network services. This is the layer where most familiar protocols, like HTTP (for web browsing), SMTP (for email), and FTP (for file transfer), operate.</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Provides network services directly to applications and users. This is where data is formatted, processed, and delivered to or from applications.</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Responsibilities:</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Communication with Applications: </a:t>
            </a:r>
            <a:r>
              <a:rPr lang="en-GB" dirty="0">
                <a:latin typeface="Calibri" panose="020F0502020204030204" charset="0"/>
                <a:cs typeface="Calibri" panose="020F0502020204030204" charset="0"/>
                <a:sym typeface="+mn-ea"/>
              </a:rPr>
              <a:t>Allows applications to interact with the network. For instance, when you send an email, the application layer protocols ensure that it is formatted and transmitted correctly.</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Data Formatting: </a:t>
            </a:r>
            <a:r>
              <a:rPr lang="en-GB" dirty="0">
                <a:latin typeface="Calibri" panose="020F0502020204030204" charset="0"/>
                <a:cs typeface="Calibri" panose="020F0502020204030204" charset="0"/>
                <a:sym typeface="+mn-ea"/>
              </a:rPr>
              <a:t>Ensures that data is in a format that the receiving application can understand.</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Protocol Support: </a:t>
            </a:r>
            <a:r>
              <a:rPr lang="en-GB" dirty="0">
                <a:latin typeface="Calibri" panose="020F0502020204030204" charset="0"/>
                <a:cs typeface="Calibri" panose="020F0502020204030204" charset="0"/>
                <a:sym typeface="+mn-ea"/>
              </a:rPr>
              <a:t>Supports a wide range of protocols for different services, such as web browsing, email, and file transfer.</a:t>
            </a:r>
            <a:endParaRPr lang="en-GB" dirty="0">
              <a:latin typeface="Calibri" panose="020F0502020204030204" charset="0"/>
              <a:cs typeface="Calibri" panose="020F0502020204030204" charset="0"/>
            </a:endParaRPr>
          </a:p>
          <a:p>
            <a:pPr>
              <a:lnSpc>
                <a:spcPct val="11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rPr>
              <a:t>APPLICATION</a:t>
            </a:r>
            <a:r>
              <a:rPr lang="en-US" b="1" dirty="0"/>
              <a:t> LAYER</a:t>
            </a:r>
          </a:p>
        </p:txBody>
      </p:sp>
      <p:sp>
        <p:nvSpPr>
          <p:cNvPr id="4" name="Slide Number Placeholder 3"/>
          <p:cNvSpPr>
            <a:spLocks noGrp="1"/>
          </p:cNvSpPr>
          <p:nvPr>
            <p:ph type="sldNum" sz="quarter" idx="12"/>
          </p:nvPr>
        </p:nvSpPr>
        <p:spPr/>
        <p:txBody>
          <a:bodyPr/>
          <a:lstStyle/>
          <a:p>
            <a:fld id="{02C84146-E65B-4948-A521-8AE14AC02658}"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0000" lnSpcReduction="10000"/>
          </a:bodyPr>
          <a:lstStyle/>
          <a:p>
            <a:pPr marL="342900" marR="0" lvl="0" indent="-342900" algn="just" defTabSz="914400" rtl="0" eaLnBrk="1" fontAlgn="auto" latinLnBrk="0" hangingPunct="1">
              <a:lnSpc>
                <a:spcPct val="13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Key Protocols: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3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HTTP/HTTPS (Hypertext Transfer Protocol / Secure): </a:t>
            </a:r>
            <a:r>
              <a:rPr lang="en-GB" dirty="0">
                <a:latin typeface="Calibri" panose="020F0502020204030204" charset="0"/>
                <a:cs typeface="Calibri" panose="020F0502020204030204" charset="0"/>
                <a:sym typeface="+mn-ea"/>
              </a:rPr>
              <a:t>Used for accessing websites. HTTPS adds encryption for secure communication.</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3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SMTP (Simple Mail Transfer Protocol): </a:t>
            </a:r>
            <a:r>
              <a:rPr lang="en-GB" dirty="0">
                <a:latin typeface="Calibri" panose="020F0502020204030204" charset="0"/>
                <a:cs typeface="Calibri" panose="020F0502020204030204" charset="0"/>
                <a:sym typeface="+mn-ea"/>
              </a:rPr>
              <a:t>Used for sending </a:t>
            </a:r>
            <a:r>
              <a:rPr lang="en-GB" dirty="0" err="1">
                <a:latin typeface="Calibri" panose="020F0502020204030204" charset="0"/>
                <a:cs typeface="Calibri" panose="020F0502020204030204" charset="0"/>
                <a:sym typeface="+mn-ea"/>
              </a:rPr>
              <a:t>emails.FTP</a:t>
            </a:r>
            <a:r>
              <a:rPr lang="en-GB" dirty="0">
                <a:latin typeface="Calibri" panose="020F0502020204030204" charset="0"/>
                <a:cs typeface="Calibri" panose="020F0502020204030204" charset="0"/>
                <a:sym typeface="+mn-ea"/>
              </a:rPr>
              <a:t> (File Transfer Protocol): Used for transferring files between computers.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3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DNS (Domain Name System): </a:t>
            </a:r>
            <a:r>
              <a:rPr lang="en-GB" dirty="0">
                <a:latin typeface="Calibri" panose="020F0502020204030204" charset="0"/>
                <a:cs typeface="Calibri" panose="020F0502020204030204" charset="0"/>
                <a:sym typeface="+mn-ea"/>
              </a:rPr>
              <a:t>Resolves human-readable domain names (like www.example.com) into IP addresses.</a:t>
            </a:r>
            <a:endParaRPr lang="en-GB" dirty="0">
              <a:latin typeface="Calibri" panose="020F0502020204030204" charset="0"/>
              <a:cs typeface="Calibri" panose="020F0502020204030204" charset="0"/>
            </a:endParaRPr>
          </a:p>
          <a:p>
            <a:pPr marR="0" lvl="0" algn="just" defTabSz="914400" rtl="0" eaLnBrk="1" fontAlgn="auto" latinLnBrk="0" hangingPunct="1">
              <a:lnSpc>
                <a:spcPct val="130000"/>
              </a:lnSpc>
              <a:spcBef>
                <a:spcPts val="0"/>
              </a:spcBef>
              <a:spcAft>
                <a:spcPts val="0"/>
              </a:spcAft>
              <a:buClr>
                <a:srgbClr val="000000"/>
              </a:buClr>
              <a:buSzTx/>
              <a:defRPr/>
            </a:pPr>
            <a:r>
              <a:rPr lang="en-GB" b="1" dirty="0">
                <a:latin typeface="Calibri" panose="020F0502020204030204" charset="0"/>
                <a:cs typeface="Calibri" panose="020F0502020204030204" charset="0"/>
                <a:sym typeface="+mn-ea"/>
              </a:rPr>
              <a:t>Real-World Example: </a:t>
            </a:r>
            <a:r>
              <a:rPr lang="en-GB" dirty="0">
                <a:latin typeface="Calibri" panose="020F0502020204030204" charset="0"/>
                <a:cs typeface="Calibri" panose="020F0502020204030204" charset="0"/>
                <a:sym typeface="+mn-ea"/>
              </a:rPr>
              <a:t>When you browse the web, the Application Layer protocol HTTP retrieves the webpage content and displays it in your browser.</a:t>
            </a:r>
            <a:endParaRPr lang="en-GB" dirty="0">
              <a:latin typeface="Calibri" panose="020F0502020204030204" charset="0"/>
              <a:cs typeface="Calibri" panose="020F0502020204030204" charset="0"/>
            </a:endParaRPr>
          </a:p>
          <a:p>
            <a:pPr>
              <a:lnSpc>
                <a:spcPct val="13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APPLICATION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109980" y="2200910"/>
            <a:ext cx="9901555" cy="2456180"/>
          </a:xfrm>
          <a:prstGeom prst="rect">
            <a:avLst/>
          </a:prstGeom>
        </p:spPr>
      </p:pic>
      <p:sp>
        <p:nvSpPr>
          <p:cNvPr id="3" name="Title 2"/>
          <p:cNvSpPr>
            <a:spLocks noGrp="1"/>
          </p:cNvSpPr>
          <p:nvPr>
            <p:ph type="title"/>
          </p:nvPr>
        </p:nvSpPr>
        <p:spPr/>
        <p:txBody>
          <a:bodyPr/>
          <a:lstStyle/>
          <a:p>
            <a:pPr algn="ctr"/>
            <a:r>
              <a:rPr lang="en-US" b="1">
                <a:latin typeface="+mj-lt"/>
                <a:sym typeface="+mn-ea"/>
              </a:rPr>
              <a:t>APPLICATION LAYER</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Each layer in the TCP/IP model plays an essential role in ensuring that data is transmitted efficiently, accurately, and securely over a network. </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process starts at the Application Layer, where data is prepared for transmission, and moves down to the Transport and Internet layers, where data is segmented, addressed, and routed. Finally, the Network Interface Layer takes care of physically transmitting the data.</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The recipient’s device receives the data at the Network Interface Layer and works up the layers until it reaches the Application Layer, where it is processed and delivered to the user.</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rPr>
              <a:t>HOW DO THESE LAYERS WORK TOGETHER?</a:t>
            </a:r>
          </a:p>
        </p:txBody>
      </p:sp>
      <p:sp>
        <p:nvSpPr>
          <p:cNvPr id="4" name="Slide Number Placeholder 3"/>
          <p:cNvSpPr>
            <a:spLocks noGrp="1"/>
          </p:cNvSpPr>
          <p:nvPr>
            <p:ph type="sldNum" sz="quarter" idx="12"/>
          </p:nvPr>
        </p:nvSpPr>
        <p:spPr/>
        <p:txBody>
          <a:bodyPr/>
          <a:lstStyle/>
          <a:p>
            <a:fld id="{02C84146-E65B-4948-A521-8AE14AC02658}"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110933"/>
            <a:ext cx="10515601" cy="4933950"/>
          </a:xfrm>
        </p:spPr>
        <p:txBody>
          <a:bodyPr>
            <a:noAutofit/>
          </a:bodyPr>
          <a:lstStyle/>
          <a:p>
            <a:pPr marL="342900" marR="0" lvl="0" indent="-342900" algn="just" defTabSz="914400" rtl="0" eaLnBrk="1" fontAlgn="auto" latinLnBrk="0" hangingPunct="1">
              <a:lnSpc>
                <a:spcPct val="120000"/>
              </a:lnSpc>
              <a:spcBef>
                <a:spcPts val="0"/>
              </a:spcBef>
              <a:spcAft>
                <a:spcPts val="0"/>
              </a:spcAft>
              <a:buClr>
                <a:srgbClr val="000000"/>
              </a:buClr>
              <a:buSzTx/>
              <a:buFont typeface="+mj-lt"/>
              <a:buAutoNum type="arabicPeriod"/>
              <a:defRPr/>
            </a:pPr>
            <a:r>
              <a:rPr lang="en-GB" sz="2000" b="1" dirty="0">
                <a:latin typeface="Calibri" panose="020F0502020204030204" charset="0"/>
                <a:cs typeface="Calibri" panose="020F0502020204030204" charset="0"/>
                <a:sym typeface="+mn-ea"/>
              </a:rPr>
              <a:t>Number of Layers</a:t>
            </a:r>
            <a:endParaRPr lang="en-GB" sz="2000"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sz="2000" b="1" dirty="0">
                <a:latin typeface="Calibri" panose="020F0502020204030204" charset="0"/>
                <a:cs typeface="Calibri" panose="020F0502020204030204" charset="0"/>
                <a:sym typeface="+mn-ea"/>
              </a:rPr>
              <a:t>OSI Model: </a:t>
            </a:r>
            <a:r>
              <a:rPr lang="en-GB" sz="2000" dirty="0">
                <a:latin typeface="Calibri" panose="020F0502020204030204" charset="0"/>
                <a:cs typeface="Calibri" panose="020F0502020204030204" charset="0"/>
                <a:sym typeface="+mn-ea"/>
              </a:rPr>
              <a:t>The OSI model has seven layers: Physical, Data Link, Network, Transport, Session, Presentation, and Application. Each layer has a clearly defined role in the communication process.</a:t>
            </a:r>
            <a:endParaRPr lang="en-GB" sz="2000"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sz="2000" b="1" dirty="0">
                <a:latin typeface="Calibri" panose="020F0502020204030204" charset="0"/>
                <a:cs typeface="Calibri" panose="020F0502020204030204" charset="0"/>
                <a:sym typeface="+mn-ea"/>
              </a:rPr>
              <a:t>TCP/IP Model: </a:t>
            </a:r>
            <a:r>
              <a:rPr lang="en-GB" sz="2000" dirty="0">
                <a:latin typeface="Calibri" panose="020F0502020204030204" charset="0"/>
                <a:cs typeface="Calibri" panose="020F0502020204030204" charset="0"/>
                <a:sym typeface="+mn-ea"/>
              </a:rPr>
              <a:t>The TCP/IP model has four layers: Network Interface, Internet, Transport, and Application. It combines some of the functions found in multiple OSI layers into broader categories.</a:t>
            </a:r>
            <a:endParaRPr lang="en-GB" sz="2000"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mj-lt"/>
              <a:buAutoNum type="arabicPeriod" startAt="2"/>
              <a:defRPr/>
            </a:pPr>
            <a:r>
              <a:rPr lang="en-GB" sz="2000" b="1" dirty="0">
                <a:latin typeface="Calibri" panose="020F0502020204030204" charset="0"/>
                <a:cs typeface="Calibri" panose="020F0502020204030204" charset="0"/>
                <a:sym typeface="+mn-ea"/>
              </a:rPr>
              <a:t>Concept vs. Implementation</a:t>
            </a:r>
            <a:endParaRPr lang="en-GB" sz="2000"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sz="2000" b="1" dirty="0">
                <a:latin typeface="Calibri" panose="020F0502020204030204" charset="0"/>
                <a:cs typeface="Calibri" panose="020F0502020204030204" charset="0"/>
                <a:sym typeface="+mn-ea"/>
              </a:rPr>
              <a:t>OSI Model: </a:t>
            </a:r>
            <a:r>
              <a:rPr lang="en-GB" sz="2000" dirty="0">
                <a:latin typeface="Calibri" panose="020F0502020204030204" charset="0"/>
                <a:cs typeface="Calibri" panose="020F0502020204030204" charset="0"/>
                <a:sym typeface="+mn-ea"/>
              </a:rPr>
              <a:t>The OSI model is theoretical and was designed as a reference model. It is not tied to any specific protocol and is used more for educational purposes and understanding network communication.</a:t>
            </a:r>
            <a:endParaRPr lang="en-GB" sz="2000"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sz="2000" b="1" dirty="0">
                <a:latin typeface="Calibri" panose="020F0502020204030204" charset="0"/>
                <a:cs typeface="Calibri" panose="020F0502020204030204" charset="0"/>
                <a:sym typeface="+mn-ea"/>
              </a:rPr>
              <a:t>TCP/IP Model: </a:t>
            </a:r>
            <a:r>
              <a:rPr lang="en-GB" sz="2000" dirty="0">
                <a:latin typeface="Calibri" panose="020F0502020204030204" charset="0"/>
                <a:cs typeface="Calibri" panose="020F0502020204030204" charset="0"/>
                <a:sym typeface="+mn-ea"/>
              </a:rPr>
              <a:t>The TCP/IP model is practical and directly implemented in real-world networks, including the internet. It is not just a conceptual framework but a set of actual protocols used for communication.</a:t>
            </a:r>
          </a:p>
        </p:txBody>
      </p:sp>
      <p:sp>
        <p:nvSpPr>
          <p:cNvPr id="3" name="Title 2"/>
          <p:cNvSpPr>
            <a:spLocks noGrp="1"/>
          </p:cNvSpPr>
          <p:nvPr>
            <p:ph type="title"/>
          </p:nvPr>
        </p:nvSpPr>
        <p:spPr/>
        <p:txBody>
          <a:bodyPr/>
          <a:lstStyle/>
          <a:p>
            <a:pPr algn="ctr"/>
            <a:r>
              <a:rPr lang="en-US" b="1">
                <a:latin typeface="+mj-lt"/>
              </a:rPr>
              <a:t>COMPARISION OF OSI AND TCP/IP MODELS</a:t>
            </a:r>
          </a:p>
        </p:txBody>
      </p:sp>
      <p:sp>
        <p:nvSpPr>
          <p:cNvPr id="4" name="Slide Number Placeholder 3"/>
          <p:cNvSpPr>
            <a:spLocks noGrp="1"/>
          </p:cNvSpPr>
          <p:nvPr>
            <p:ph type="sldNum" sz="quarter" idx="12"/>
          </p:nvPr>
        </p:nvSpPr>
        <p:spPr/>
        <p:txBody>
          <a:bodyPr/>
          <a:lstStyle/>
          <a:p>
            <a:fld id="{02C84146-E65B-4948-A521-8AE14AC02658}" type="slidenum">
              <a:rPr lang="en-US" smtClean="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243330"/>
            <a:ext cx="5257800" cy="4933950"/>
          </a:xfrm>
        </p:spPr>
        <p:txBody>
          <a:bodyPr>
            <a:normAutofit fontScale="77500" lnSpcReduction="20000"/>
          </a:bodyPr>
          <a:lstStyle/>
          <a:p>
            <a:pPr marL="342900" marR="0" lvl="0" indent="-342900" algn="just" defTabSz="914400" rtl="0" eaLnBrk="1" fontAlgn="auto" latinLnBrk="0" hangingPunct="1">
              <a:lnSpc>
                <a:spcPct val="100000"/>
              </a:lnSpc>
              <a:spcBef>
                <a:spcPts val="0"/>
              </a:spcBef>
              <a:spcAft>
                <a:spcPts val="0"/>
              </a:spcAft>
              <a:buClr>
                <a:srgbClr val="000000"/>
              </a:buClr>
              <a:buSzTx/>
              <a:buFont typeface="+mj-lt"/>
              <a:buAutoNum type="arabicPeriod" startAt="3"/>
              <a:defRPr/>
            </a:pPr>
            <a:r>
              <a:rPr lang="en-GB" b="1" dirty="0">
                <a:latin typeface="Calibri" panose="020F0502020204030204" charset="0"/>
                <a:cs typeface="Calibri" panose="020F0502020204030204" charset="0"/>
                <a:sym typeface="+mn-ea"/>
              </a:rPr>
              <a:t>Layer Functions</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00000"/>
              </a:lnSpc>
              <a:spcBef>
                <a:spcPts val="0"/>
              </a:spcBef>
              <a:spcAft>
                <a:spcPts val="0"/>
              </a:spcAft>
              <a:buClr>
                <a:srgbClr val="000000"/>
              </a:buClr>
              <a:buSzTx/>
              <a:buFont typeface="+mj-lt"/>
              <a:buAutoNum type="arabicPeriod" startAt="3"/>
              <a:defRPr/>
            </a:pP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OSI Model:</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Physical Layer </a:t>
            </a:r>
            <a:r>
              <a:rPr lang="en-GB" dirty="0">
                <a:latin typeface="Calibri" panose="020F0502020204030204" charset="0"/>
                <a:cs typeface="Calibri" panose="020F0502020204030204" charset="0"/>
                <a:sym typeface="Wingdings" panose="05000000000000000000" pitchFamily="2" charset="2"/>
              </a:rPr>
              <a:t>deals with the transmission of raw bits over a physical medium.</a:t>
            </a: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Data Link Layer </a:t>
            </a:r>
            <a:r>
              <a:rPr lang="en-GB" dirty="0">
                <a:latin typeface="Calibri" panose="020F0502020204030204" charset="0"/>
                <a:cs typeface="Calibri" panose="020F0502020204030204" charset="0"/>
                <a:sym typeface="Wingdings" panose="05000000000000000000" pitchFamily="2" charset="2"/>
              </a:rPr>
              <a:t>handles error detection and frame synchronization.</a:t>
            </a: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Network Layer </a:t>
            </a:r>
            <a:r>
              <a:rPr lang="en-GB" dirty="0">
                <a:latin typeface="Calibri" panose="020F0502020204030204" charset="0"/>
                <a:cs typeface="Calibri" panose="020F0502020204030204" charset="0"/>
                <a:sym typeface="Wingdings" panose="05000000000000000000" pitchFamily="2" charset="2"/>
              </a:rPr>
              <a:t>is responsible for routing and forwarding.</a:t>
            </a: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Transport Layer </a:t>
            </a:r>
            <a:r>
              <a:rPr lang="en-GB" dirty="0">
                <a:latin typeface="Calibri" panose="020F0502020204030204" charset="0"/>
                <a:cs typeface="Calibri" panose="020F0502020204030204" charset="0"/>
                <a:sym typeface="Wingdings" panose="05000000000000000000" pitchFamily="2" charset="2"/>
              </a:rPr>
              <a:t>ensures reliable transmission.</a:t>
            </a: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Session Layer </a:t>
            </a:r>
            <a:r>
              <a:rPr lang="en-GB" dirty="0">
                <a:latin typeface="Calibri" panose="020F0502020204030204" charset="0"/>
                <a:cs typeface="Calibri" panose="020F0502020204030204" charset="0"/>
                <a:sym typeface="Wingdings" panose="05000000000000000000" pitchFamily="2" charset="2"/>
              </a:rPr>
              <a:t>manages sessions between applications.</a:t>
            </a: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Presentation Layer </a:t>
            </a:r>
            <a:r>
              <a:rPr lang="en-GB" dirty="0">
                <a:latin typeface="Calibri" panose="020F0502020204030204" charset="0"/>
                <a:cs typeface="Calibri" panose="020F0502020204030204" charset="0"/>
                <a:sym typeface="Wingdings" panose="05000000000000000000" pitchFamily="2" charset="2"/>
              </a:rPr>
              <a:t>translates data formats.</a:t>
            </a: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Wingdings" panose="05000000000000000000" pitchFamily="2" charset="2"/>
              </a:rPr>
              <a:t>Application Layer </a:t>
            </a:r>
            <a:r>
              <a:rPr lang="en-GB" dirty="0">
                <a:latin typeface="Calibri" panose="020F0502020204030204" charset="0"/>
                <a:cs typeface="Calibri" panose="020F0502020204030204" charset="0"/>
                <a:sym typeface="Wingdings" panose="05000000000000000000" pitchFamily="2" charset="2"/>
              </a:rPr>
              <a:t>provides network services directly to applications.</a:t>
            </a:r>
            <a:endParaRPr lang="en-GB" dirty="0">
              <a:latin typeface="Calibri" panose="020F0502020204030204" charset="0"/>
              <a:cs typeface="Calibri" panose="020F0502020204030204" charset="0"/>
            </a:endParaRPr>
          </a:p>
          <a:p>
            <a:pPr>
              <a:lnSpc>
                <a:spcPct val="100000"/>
              </a:lnSpc>
            </a:pPr>
            <a:endParaRPr lang="en-US" dirty="0">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COMPARISION OF OSI AND TCP/IP MODELS</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62</a:t>
            </a:fld>
            <a:endParaRPr lang="en-US"/>
          </a:p>
        </p:txBody>
      </p:sp>
      <p:sp>
        <p:nvSpPr>
          <p:cNvPr id="5" name="Text Box 4"/>
          <p:cNvSpPr txBox="1"/>
          <p:nvPr/>
        </p:nvSpPr>
        <p:spPr>
          <a:xfrm>
            <a:off x="6369050" y="1710690"/>
            <a:ext cx="4913630" cy="4465955"/>
          </a:xfrm>
          <a:prstGeom prst="rect">
            <a:avLst/>
          </a:prstGeom>
          <a:noFill/>
        </p:spPr>
        <p:txBody>
          <a:bodyPr wrap="square" rtlCol="0" anchor="t">
            <a:noAutofit/>
          </a:bodyPr>
          <a:lstStyle/>
          <a:p>
            <a:pPr marL="285750" indent="-285750" algn="just">
              <a:buFont typeface="Arial" panose="020B0604020202020204" pitchFamily="34" charset="0"/>
              <a:buChar char="•"/>
            </a:pPr>
            <a:r>
              <a:rPr lang="en-GB" sz="2200" b="1" dirty="0">
                <a:latin typeface="Calibri" panose="020F0502020204030204" charset="0"/>
                <a:cs typeface="Calibri" panose="020F0502020204030204" charset="0"/>
                <a:sym typeface="+mn-ea"/>
              </a:rPr>
              <a:t>TCP/IP model:</a:t>
            </a:r>
            <a:endParaRPr lang="en-GB" sz="2200" b="1" dirty="0">
              <a:latin typeface="Calibri" panose="020F0502020204030204" charset="0"/>
              <a:cs typeface="Calibri" panose="020F0502020204030204" charset="0"/>
            </a:endParaRPr>
          </a:p>
          <a:p>
            <a:pPr marL="285750" indent="-285750" algn="just">
              <a:buFont typeface="Wingdings" panose="05000000000000000000" pitchFamily="2" charset="2"/>
              <a:buChar char="à"/>
            </a:pPr>
            <a:r>
              <a:rPr lang="en-GB" sz="2200" b="1" dirty="0">
                <a:latin typeface="Calibri" panose="020F0502020204030204" charset="0"/>
                <a:cs typeface="Calibri" panose="020F0502020204030204" charset="0"/>
                <a:sym typeface="+mn-ea"/>
              </a:rPr>
              <a:t>Network Access Layer </a:t>
            </a:r>
            <a:r>
              <a:rPr lang="en-GB" sz="2200" dirty="0">
                <a:latin typeface="Calibri" panose="020F0502020204030204" charset="0"/>
                <a:cs typeface="Calibri" panose="020F0502020204030204" charset="0"/>
                <a:sym typeface="+mn-ea"/>
              </a:rPr>
              <a:t>corresponds to both the Physical and Data Link layers of the OSI model.</a:t>
            </a:r>
            <a:endParaRPr lang="en-GB" sz="2200" dirty="0">
              <a:latin typeface="Calibri" panose="020F0502020204030204" charset="0"/>
              <a:cs typeface="Calibri" panose="020F0502020204030204" charset="0"/>
            </a:endParaRPr>
          </a:p>
          <a:p>
            <a:pPr marL="285750" indent="-285750" algn="just">
              <a:buFont typeface="Wingdings" panose="05000000000000000000" pitchFamily="2" charset="2"/>
              <a:buChar char="à"/>
            </a:pPr>
            <a:r>
              <a:rPr lang="en-GB" sz="2200" b="1" dirty="0">
                <a:latin typeface="Calibri" panose="020F0502020204030204" charset="0"/>
                <a:cs typeface="Calibri" panose="020F0502020204030204" charset="0"/>
                <a:sym typeface="+mn-ea"/>
              </a:rPr>
              <a:t>Internet Layer </a:t>
            </a:r>
            <a:r>
              <a:rPr lang="en-GB" sz="2200" dirty="0">
                <a:latin typeface="Calibri" panose="020F0502020204030204" charset="0"/>
                <a:cs typeface="Calibri" panose="020F0502020204030204" charset="0"/>
                <a:sym typeface="+mn-ea"/>
              </a:rPr>
              <a:t>performs the routing and addressing functions of the OSI Network Layer.</a:t>
            </a:r>
            <a:endParaRPr lang="en-GB" sz="2200" dirty="0">
              <a:latin typeface="Calibri" panose="020F0502020204030204" charset="0"/>
              <a:cs typeface="Calibri" panose="020F0502020204030204" charset="0"/>
            </a:endParaRPr>
          </a:p>
          <a:p>
            <a:pPr marL="285750" indent="-285750" algn="just">
              <a:buFont typeface="Wingdings" panose="05000000000000000000" pitchFamily="2" charset="2"/>
              <a:buChar char="à"/>
            </a:pPr>
            <a:r>
              <a:rPr lang="en-GB" sz="2200" b="1" dirty="0">
                <a:latin typeface="Calibri" panose="020F0502020204030204" charset="0"/>
                <a:cs typeface="Calibri" panose="020F0502020204030204" charset="0"/>
                <a:sym typeface="+mn-ea"/>
              </a:rPr>
              <a:t>Transport Layer </a:t>
            </a:r>
            <a:r>
              <a:rPr lang="en-GB" sz="2200" dirty="0">
                <a:latin typeface="Calibri" panose="020F0502020204030204" charset="0"/>
                <a:cs typeface="Calibri" panose="020F0502020204030204" charset="0"/>
                <a:sym typeface="+mn-ea"/>
              </a:rPr>
              <a:t>handles reliability, flow control, and error correction, much like the OSI Transport Layer.</a:t>
            </a:r>
            <a:endParaRPr lang="en-GB" sz="2200" dirty="0">
              <a:latin typeface="Calibri" panose="020F0502020204030204" charset="0"/>
              <a:cs typeface="Calibri" panose="020F0502020204030204" charset="0"/>
            </a:endParaRPr>
          </a:p>
          <a:p>
            <a:pPr marL="285750" indent="-285750" algn="just">
              <a:buFont typeface="Wingdings" panose="05000000000000000000" pitchFamily="2" charset="2"/>
              <a:buChar char="à"/>
            </a:pPr>
            <a:r>
              <a:rPr lang="en-GB" sz="2200" b="1" dirty="0">
                <a:latin typeface="Calibri" panose="020F0502020204030204" charset="0"/>
                <a:cs typeface="Calibri" panose="020F0502020204030204" charset="0"/>
                <a:sym typeface="+mn-ea"/>
              </a:rPr>
              <a:t>Application Layer </a:t>
            </a:r>
            <a:r>
              <a:rPr lang="en-GB" sz="2200" dirty="0">
                <a:latin typeface="Calibri" panose="020F0502020204030204" charset="0"/>
                <a:cs typeface="Calibri" panose="020F0502020204030204" charset="0"/>
                <a:sym typeface="+mn-ea"/>
              </a:rPr>
              <a:t>combines the functions of the OSI’s Application, Presentation, and Session layers.</a:t>
            </a:r>
          </a:p>
        </p:txBody>
      </p:sp>
      <p:cxnSp>
        <p:nvCxnSpPr>
          <p:cNvPr id="6" name="Straight Connector 5"/>
          <p:cNvCxnSpPr/>
          <p:nvPr/>
        </p:nvCxnSpPr>
        <p:spPr>
          <a:xfrm>
            <a:off x="6280150" y="1300480"/>
            <a:ext cx="11430" cy="4879975"/>
          </a:xfrm>
          <a:prstGeom prst="line">
            <a:avLst/>
          </a:prstGeom>
          <a:ln w="31750" cap="rnd">
            <a:solidFill>
              <a:srgbClr val="000000"/>
            </a:solidFill>
            <a:roun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342900" marR="0" lvl="0" indent="-342900" algn="just" defTabSz="914400" rtl="0" eaLnBrk="1" fontAlgn="auto" latinLnBrk="0" hangingPunct="1">
              <a:lnSpc>
                <a:spcPct val="120000"/>
              </a:lnSpc>
              <a:spcBef>
                <a:spcPts val="0"/>
              </a:spcBef>
              <a:spcAft>
                <a:spcPts val="0"/>
              </a:spcAft>
              <a:buClr>
                <a:srgbClr val="000000"/>
              </a:buClr>
              <a:buSzTx/>
              <a:buFont typeface="+mj-lt"/>
              <a:buAutoNum type="arabicPeriod" startAt="4"/>
              <a:defRPr/>
            </a:pPr>
            <a:r>
              <a:rPr lang="en-GB" b="1" dirty="0">
                <a:latin typeface="Calibri" panose="020F0502020204030204" charset="0"/>
                <a:cs typeface="Calibri" panose="020F0502020204030204" charset="0"/>
                <a:sym typeface="+mn-ea"/>
              </a:rPr>
              <a:t>Protocol Dependency</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OSI Model: </a:t>
            </a:r>
            <a:r>
              <a:rPr lang="en-GB" dirty="0">
                <a:latin typeface="Calibri" panose="020F0502020204030204" charset="0"/>
                <a:cs typeface="Calibri" panose="020F0502020204030204" charset="0"/>
                <a:sym typeface="+mn-ea"/>
              </a:rPr>
              <a:t>The OSI model is protocol-independent and provides a general framework for how protocols should operate. It does not specify the exact protocols to be used at each layer.</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TCP/IP Model: </a:t>
            </a:r>
            <a:r>
              <a:rPr lang="en-GB" dirty="0">
                <a:latin typeface="Calibri" panose="020F0502020204030204" charset="0"/>
                <a:cs typeface="Calibri" panose="020F0502020204030204" charset="0"/>
                <a:sym typeface="+mn-ea"/>
              </a:rPr>
              <a:t>The TCP/IP model is protocol-dependent. It specifies the protocols to be used at each layer, such as: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Network Interface Layer: </a:t>
            </a:r>
            <a:r>
              <a:rPr lang="en-GB" dirty="0">
                <a:latin typeface="Calibri" panose="020F0502020204030204" charset="0"/>
                <a:cs typeface="Calibri" panose="020F0502020204030204" charset="0"/>
                <a:sym typeface="+mn-ea"/>
              </a:rPr>
              <a:t>Ethernet, ARP, Wi-Fi.</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Internet Layer: </a:t>
            </a:r>
            <a:r>
              <a:rPr lang="en-GB" dirty="0">
                <a:latin typeface="Calibri" panose="020F0502020204030204" charset="0"/>
                <a:cs typeface="Calibri" panose="020F0502020204030204" charset="0"/>
                <a:sym typeface="+mn-ea"/>
              </a:rPr>
              <a:t>IP (IPv4/IPv6), ICMP.</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Transport Layer: </a:t>
            </a:r>
            <a:r>
              <a:rPr lang="en-GB" dirty="0">
                <a:latin typeface="Calibri" panose="020F0502020204030204" charset="0"/>
                <a:cs typeface="Calibri" panose="020F0502020204030204" charset="0"/>
                <a:sym typeface="+mn-ea"/>
              </a:rPr>
              <a:t>TCP, UDP.</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Application Layer: </a:t>
            </a:r>
            <a:r>
              <a:rPr lang="en-GB" dirty="0">
                <a:latin typeface="Calibri" panose="020F0502020204030204" charset="0"/>
                <a:cs typeface="Calibri" panose="020F0502020204030204" charset="0"/>
                <a:sym typeface="+mn-ea"/>
              </a:rPr>
              <a:t>HTTP, FTP, SMTP, DNS.</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COMPARISION OF OSI AND TCP/IP MODELS</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startAt="5"/>
              <a:defRPr/>
            </a:pPr>
            <a:r>
              <a:rPr lang="en-GB" b="1" dirty="0">
                <a:latin typeface="Calibri" panose="020F0502020204030204" charset="0"/>
                <a:cs typeface="Calibri" panose="020F0502020204030204" charset="0"/>
                <a:sym typeface="+mn-ea"/>
              </a:rPr>
              <a:t>Error Handling and Flow Control</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OSI Model: </a:t>
            </a:r>
            <a:r>
              <a:rPr lang="en-GB" dirty="0">
                <a:latin typeface="Calibri" panose="020F0502020204030204" charset="0"/>
                <a:cs typeface="Calibri" panose="020F0502020204030204" charset="0"/>
                <a:sym typeface="+mn-ea"/>
              </a:rPr>
              <a:t>The OSI model handles error detection and flow control at both the Data Link Layer and the Transport Layer. This makes it more detailed in terms of managing errors at multiple stages of transmission.</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TCP/IP Model: </a:t>
            </a:r>
            <a:r>
              <a:rPr lang="en-GB" dirty="0">
                <a:latin typeface="Calibri" panose="020F0502020204030204" charset="0"/>
                <a:cs typeface="Calibri" panose="020F0502020204030204" charset="0"/>
                <a:sym typeface="+mn-ea"/>
              </a:rPr>
              <a:t>The TCP/IP model handles error detection and flow control only at the Transport Layer (via TCP). The Network Interface Layer handles physical transmission, but it doesn’t provide as detailed error-handling mechanisms as the OSI’s Data Link Layer.</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startAt="6"/>
              <a:defRPr/>
            </a:pPr>
            <a:r>
              <a:rPr lang="en-GB" b="1" dirty="0">
                <a:latin typeface="Calibri" panose="020F0502020204030204" charset="0"/>
                <a:cs typeface="Calibri" panose="020F0502020204030204" charset="0"/>
                <a:sym typeface="+mn-ea"/>
              </a:rPr>
              <a:t>Communication Approach</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OSI Model: </a:t>
            </a:r>
            <a:r>
              <a:rPr lang="en-GB" dirty="0">
                <a:latin typeface="Calibri" panose="020F0502020204030204" charset="0"/>
                <a:cs typeface="Calibri" panose="020F0502020204030204" charset="0"/>
                <a:sym typeface="+mn-ea"/>
              </a:rPr>
              <a:t>The OSI model follows a connection-oriented approach, especially at the Transport Layer, focusing on setting up and maintaining communication sessions between hosts.</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TCP/IP Model: </a:t>
            </a:r>
            <a:r>
              <a:rPr lang="en-GB" dirty="0">
                <a:latin typeface="Calibri" panose="020F0502020204030204" charset="0"/>
                <a:cs typeface="Calibri" panose="020F0502020204030204" charset="0"/>
                <a:sym typeface="+mn-ea"/>
              </a:rPr>
              <a:t>The TCP/IP model supports both connection-oriented (TCP) and connectionless (UDP) communication. The choice depends on the application’s needs—TCP ensures reliability, while UDP focuses on speed and efficiency.</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COMPARISION OF OSI AND TCP/IP MODELS</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0000" lnSpcReduction="10000"/>
          </a:bodyPr>
          <a:lstStyle/>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startAt="7"/>
              <a:defRPr/>
            </a:pPr>
            <a:r>
              <a:rPr lang="en-GB" b="1" dirty="0">
                <a:latin typeface="Calibri" panose="020F0502020204030204" charset="0"/>
                <a:cs typeface="Calibri" panose="020F0502020204030204" charset="0"/>
                <a:sym typeface="+mn-ea"/>
              </a:rPr>
              <a:t>Flexibility and Scalability</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OSI Model: </a:t>
            </a:r>
            <a:r>
              <a:rPr lang="en-GB" dirty="0">
                <a:latin typeface="Calibri" panose="020F0502020204030204" charset="0"/>
                <a:cs typeface="Calibri" panose="020F0502020204030204" charset="0"/>
                <a:sym typeface="+mn-ea"/>
              </a:rPr>
              <a:t>The OSI model is highly modular due to its strict separation of layers, making it more flexible in terms of design but also more complex.</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TCP/IP Model: </a:t>
            </a:r>
            <a:r>
              <a:rPr lang="en-GB" dirty="0">
                <a:latin typeface="Calibri" panose="020F0502020204030204" charset="0"/>
                <a:cs typeface="Calibri" panose="020F0502020204030204" charset="0"/>
                <a:sym typeface="+mn-ea"/>
              </a:rPr>
              <a:t>The TCP/IP model is considered less modular but more flexible in practice. Its broader layers allow for easier integration and implementation in real-world networks. It is highly scalable, which is why it became the backbone of the internet.</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startAt="8"/>
              <a:defRPr/>
            </a:pPr>
            <a:r>
              <a:rPr lang="en-GB" b="1" dirty="0">
                <a:latin typeface="Calibri" panose="020F0502020204030204" charset="0"/>
                <a:cs typeface="Calibri" panose="020F0502020204030204" charset="0"/>
                <a:sym typeface="+mn-ea"/>
              </a:rPr>
              <a:t>Data Flow</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OSI Model: </a:t>
            </a:r>
            <a:r>
              <a:rPr lang="en-GB" dirty="0">
                <a:latin typeface="Calibri" panose="020F0502020204030204" charset="0"/>
                <a:cs typeface="Calibri" panose="020F0502020204030204" charset="0"/>
                <a:sym typeface="+mn-ea"/>
              </a:rPr>
              <a:t>In the OSI model, data flow is highly structured. When data is transmitted, it passes through all seven layers from the application to the physical medium.</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TCP/IP Model: </a:t>
            </a:r>
            <a:r>
              <a:rPr lang="en-GB" dirty="0">
                <a:latin typeface="Calibri" panose="020F0502020204030204" charset="0"/>
                <a:cs typeface="Calibri" panose="020F0502020204030204" charset="0"/>
                <a:sym typeface="+mn-ea"/>
              </a:rPr>
              <a:t>In the TCP/IP model, data flow is more streamlined. Since there are fewer layers, data passes through fewer checkpoints, leading to faster transmission in practice.</a:t>
            </a:r>
            <a:endParaRPr lang="en-US">
              <a:latin typeface="Calibri" panose="020F0502020204030204" charset="0"/>
              <a:cs typeface="Calibri" panose="020F0502020204030204" charset="0"/>
            </a:endParaRPr>
          </a:p>
        </p:txBody>
      </p:sp>
      <p:sp>
        <p:nvSpPr>
          <p:cNvPr id="3" name="Title 2"/>
          <p:cNvSpPr>
            <a:spLocks noGrp="1"/>
          </p:cNvSpPr>
          <p:nvPr>
            <p:ph type="title"/>
          </p:nvPr>
        </p:nvSpPr>
        <p:spPr>
          <a:xfrm>
            <a:off x="838200" y="259897"/>
            <a:ext cx="10444163" cy="719139"/>
          </a:xfrm>
        </p:spPr>
        <p:txBody>
          <a:bodyPr/>
          <a:lstStyle/>
          <a:p>
            <a:pPr algn="ctr"/>
            <a:r>
              <a:rPr lang="en-US" b="1">
                <a:latin typeface="+mj-lt"/>
                <a:sym typeface="+mn-ea"/>
              </a:rPr>
              <a:t>COMPARISION OF OSI AND TCP/IP MODELS</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startAt="9"/>
              <a:defRPr/>
            </a:pPr>
            <a:r>
              <a:rPr lang="en-GB" b="1" dirty="0">
                <a:latin typeface="Calibri" panose="020F0502020204030204" charset="0"/>
                <a:cs typeface="Calibri" panose="020F0502020204030204" charset="0"/>
                <a:sym typeface="+mn-ea"/>
              </a:rPr>
              <a:t>Layer Interdependence</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OSI Model: </a:t>
            </a:r>
            <a:r>
              <a:rPr lang="en-GB" dirty="0">
                <a:latin typeface="Calibri" panose="020F0502020204030204" charset="0"/>
                <a:cs typeface="Calibri" panose="020F0502020204030204" charset="0"/>
                <a:sym typeface="+mn-ea"/>
              </a:rPr>
              <a:t>The OSI model has a strict separation between layers, which means each layer must operate independently from the others. This enhances troubleshooting and standardization but adds complexity.</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TCP/IP Model: </a:t>
            </a:r>
            <a:r>
              <a:rPr lang="en-GB" dirty="0">
                <a:latin typeface="Calibri" panose="020F0502020204030204" charset="0"/>
                <a:cs typeface="Calibri" panose="020F0502020204030204" charset="0"/>
                <a:sym typeface="+mn-ea"/>
              </a:rPr>
              <a:t>The TCP/IP model is more flexible in terms of layer interdependence. The broader layers allow protocols to interact more seamlessly, which is why TCP/IP is more efficient in practical use.</a:t>
            </a:r>
            <a:endParaRPr lang="en-GB" dirty="0">
              <a:latin typeface="Calibri" panose="020F0502020204030204" charset="0"/>
              <a:cs typeface="Calibri" panose="020F0502020204030204" charset="0"/>
            </a:endParaRPr>
          </a:p>
          <a:p>
            <a:pPr>
              <a:lnSpc>
                <a:spcPct val="11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a:latin typeface="+mj-lt"/>
                <a:sym typeface="+mn-ea"/>
              </a:rPr>
              <a:t>COMPARISION OF OSI AND TCP/IP MODELS</a:t>
            </a:r>
            <a:endParaRPr lang="en-US">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E8CD50F-3A5D-1AA2-FD53-1985CE347DAB}"/>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61F8B4C2-156D-DAE1-732A-86FA35EEB8A8}"/>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The TCP 3-Way Handshake is the process used by the Transmission Control Protocol (TCP) to establish a reliable connection between a client and a server before data transmission begins. It synchronises sequence numbers and ensures that both the client and server are ready to exchange data reliably.</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CC11F75D-7075-AD3C-8F4D-9F93080DE8B6}"/>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TCP 3-WAY HANDSHAKE</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27171FF3-AAF9-A2C9-F896-E161A680539C}"/>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spTree>
    <p:extLst>
      <p:ext uri="{BB962C8B-B14F-4D97-AF65-F5344CB8AC3E}">
        <p14:creationId xmlns:p14="http://schemas.microsoft.com/office/powerpoint/2010/main" val="42290368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47F487BD-EC7B-03EC-F123-49CC6ED08061}"/>
            </a:ext>
          </a:extLst>
        </p:cNvPr>
        <p:cNvGrpSpPr/>
        <p:nvPr/>
      </p:nvGrpSpPr>
      <p:grpSpPr>
        <a:xfrm>
          <a:off x="0" y="0"/>
          <a:ext cx="0" cy="0"/>
          <a:chOff x="0" y="0"/>
          <a:chExt cx="0" cy="0"/>
        </a:xfrm>
      </p:grpSpPr>
      <p:sp>
        <p:nvSpPr>
          <p:cNvPr id="120" name="Google Shape;120;p3">
            <a:extLst>
              <a:ext uri="{FF2B5EF4-FFF2-40B4-BE49-F238E27FC236}">
                <a16:creationId xmlns:a16="http://schemas.microsoft.com/office/drawing/2014/main" id="{358329E3-0BC4-9505-D1CA-74556D39E4CD}"/>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TCP FLAGS USED IN HANDSHAKE</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F849D7BD-A02A-7430-5BA5-0ECCB719A70C}"/>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graphicFrame>
        <p:nvGraphicFramePr>
          <p:cNvPr id="2" name="Table 1">
            <a:extLst>
              <a:ext uri="{FF2B5EF4-FFF2-40B4-BE49-F238E27FC236}">
                <a16:creationId xmlns:a16="http://schemas.microsoft.com/office/drawing/2014/main" id="{14C1243B-CD3D-DDF5-FA48-D3A72D6CE616}"/>
              </a:ext>
            </a:extLst>
          </p:cNvPr>
          <p:cNvGraphicFramePr>
            <a:graphicFrameLocks noGrp="1"/>
          </p:cNvGraphicFramePr>
          <p:nvPr>
            <p:extLst>
              <p:ext uri="{D42A27DB-BD31-4B8C-83A1-F6EECF244321}">
                <p14:modId xmlns:p14="http://schemas.microsoft.com/office/powerpoint/2010/main" val="3760846355"/>
              </p:ext>
            </p:extLst>
          </p:nvPr>
        </p:nvGraphicFramePr>
        <p:xfrm>
          <a:off x="1055913" y="1404256"/>
          <a:ext cx="10058402" cy="4386944"/>
        </p:xfrm>
        <a:graphic>
          <a:graphicData uri="http://schemas.openxmlformats.org/drawingml/2006/table">
            <a:tbl>
              <a:tblPr firstRow="1" bandRow="1">
                <a:tableStyleId>{5C22544A-7EE6-4342-B048-85BDC9FD1C3A}</a:tableStyleId>
              </a:tblPr>
              <a:tblGrid>
                <a:gridCol w="3603173">
                  <a:extLst>
                    <a:ext uri="{9D8B030D-6E8A-4147-A177-3AD203B41FA5}">
                      <a16:colId xmlns:a16="http://schemas.microsoft.com/office/drawing/2014/main" val="2682978120"/>
                    </a:ext>
                  </a:extLst>
                </a:gridCol>
                <a:gridCol w="6455229">
                  <a:extLst>
                    <a:ext uri="{9D8B030D-6E8A-4147-A177-3AD203B41FA5}">
                      <a16:colId xmlns:a16="http://schemas.microsoft.com/office/drawing/2014/main" val="1242312174"/>
                    </a:ext>
                  </a:extLst>
                </a:gridCol>
              </a:tblGrid>
              <a:tr h="1096736">
                <a:tc>
                  <a:txBody>
                    <a:bodyPr/>
                    <a:lstStyle/>
                    <a:p>
                      <a:pPr marL="0" marR="0" algn="ctr" fontAlgn="base">
                        <a:spcBef>
                          <a:spcPts val="1875"/>
                        </a:spcBef>
                        <a:spcAft>
                          <a:spcPts val="1875"/>
                        </a:spcAft>
                        <a:buNone/>
                      </a:pPr>
                      <a:r>
                        <a:rPr lang="en-IN" sz="2200" b="1" i="0" spc="10">
                          <a:solidFill>
                            <a:schemeClr val="bg1"/>
                          </a:solidFill>
                          <a:effectLst/>
                          <a:latin typeface="Calibri" panose="020F0502020204030204" pitchFamily="34" charset="0"/>
                          <a:ea typeface="Calibri" panose="020F0502020204030204" pitchFamily="34" charset="0"/>
                          <a:cs typeface="Calibri" panose="020F0502020204030204" pitchFamily="34" charset="0"/>
                        </a:rPr>
                        <a:t>Flag</a:t>
                      </a:r>
                    </a:p>
                  </a:txBody>
                  <a:tcPr marL="38100" marR="38100" marT="63500" marB="63500" anchor="ctr"/>
                </a:tc>
                <a:tc>
                  <a:txBody>
                    <a:bodyPr/>
                    <a:lstStyle/>
                    <a:p>
                      <a:pPr marL="0" marR="0" algn="ctr" fontAlgn="base">
                        <a:spcBef>
                          <a:spcPts val="1875"/>
                        </a:spcBef>
                        <a:spcAft>
                          <a:spcPts val="1875"/>
                        </a:spcAft>
                        <a:buNone/>
                      </a:pPr>
                      <a:r>
                        <a:rPr lang="en-IN" sz="22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Purpose</a:t>
                      </a:r>
                    </a:p>
                  </a:txBody>
                  <a:tcPr marL="63500" marR="63500" marT="63500" marB="63500" anchor="ctr"/>
                </a:tc>
                <a:extLst>
                  <a:ext uri="{0D108BD9-81ED-4DB2-BD59-A6C34878D82A}">
                    <a16:rowId xmlns:a16="http://schemas.microsoft.com/office/drawing/2014/main" val="444921876"/>
                  </a:ext>
                </a:extLst>
              </a:tr>
              <a:tr h="1096736">
                <a:tc>
                  <a:txBody>
                    <a:bodyPr/>
                    <a:lstStyle/>
                    <a:p>
                      <a:pPr marL="0" marR="0" algn="ctr" fontAlgn="ctr">
                        <a:spcBef>
                          <a:spcPts val="1875"/>
                        </a:spcBef>
                        <a:spcAft>
                          <a:spcPts val="1875"/>
                        </a:spcAft>
                        <a:buNone/>
                      </a:pPr>
                      <a:r>
                        <a:rPr lang="en-IN" sz="2200" b="1"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SYN (Synchronize)</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2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Initiates a TCP connection by sending the client's Initial Sequence Number (ISN).</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213830266"/>
                  </a:ext>
                </a:extLst>
              </a:tr>
              <a:tr h="1096736">
                <a:tc>
                  <a:txBody>
                    <a:bodyPr/>
                    <a:lstStyle/>
                    <a:p>
                      <a:pPr marL="0" marR="0" algn="ctr" fontAlgn="ctr">
                        <a:spcBef>
                          <a:spcPts val="1875"/>
                        </a:spcBef>
                        <a:spcAft>
                          <a:spcPts val="1875"/>
                        </a:spcAft>
                        <a:buNone/>
                      </a:pPr>
                      <a:r>
                        <a:rPr lang="en-IN" sz="2200" b="1"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ACK (Acknowledgment)</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2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Acknowledges the received sequence number and confirms successful receipt of the segment.</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856016166"/>
                  </a:ext>
                </a:extLst>
              </a:tr>
              <a:tr h="1096736">
                <a:tc>
                  <a:txBody>
                    <a:bodyPr/>
                    <a:lstStyle/>
                    <a:p>
                      <a:pPr marL="0" marR="0" algn="ctr" fontAlgn="ctr">
                        <a:spcBef>
                          <a:spcPts val="1875"/>
                        </a:spcBef>
                        <a:spcAft>
                          <a:spcPts val="1875"/>
                        </a:spcAft>
                        <a:buNone/>
                      </a:pPr>
                      <a:r>
                        <a:rPr lang="en-IN" sz="2200" b="1"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SYN + ACK (Combination of SYN and ACK Flags)</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2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Acknowledges the client's ISN while sending the server's own Initial Sequence Number (ISN).</a:t>
                      </a:r>
                      <a:endParaRPr lang="en-IN" sz="22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37722141"/>
                  </a:ext>
                </a:extLst>
              </a:tr>
            </a:tbl>
          </a:graphicData>
        </a:graphic>
      </p:graphicFrame>
    </p:spTree>
    <p:extLst>
      <p:ext uri="{BB962C8B-B14F-4D97-AF65-F5344CB8AC3E}">
        <p14:creationId xmlns:p14="http://schemas.microsoft.com/office/powerpoint/2010/main" val="26224288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83F9AEA-CA9B-9668-4569-01CC80BAC460}"/>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01368ADA-BB30-8160-468B-3CEC2F81BCB1}"/>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lvl="0" algn="just" fontAlgn="base"/>
            <a:r>
              <a:rPr lang="en-IN" sz="2600" b="1" dirty="0">
                <a:latin typeface="Calibri" panose="020F0502020204030204" pitchFamily="34" charset="0"/>
                <a:ea typeface="Calibri" panose="020F0502020204030204" pitchFamily="34" charset="0"/>
                <a:cs typeface="Calibri" panose="020F0502020204030204" pitchFamily="34" charset="0"/>
              </a:rPr>
              <a:t>Step 1 (SYN):</a:t>
            </a:r>
            <a:r>
              <a:rPr lang="en-IN" sz="2600" dirty="0">
                <a:latin typeface="Calibri" panose="020F0502020204030204" pitchFamily="34" charset="0"/>
                <a:ea typeface="Calibri" panose="020F0502020204030204" pitchFamily="34" charset="0"/>
                <a:cs typeface="Calibri" panose="020F0502020204030204" pitchFamily="34" charset="0"/>
              </a:rPr>
              <a:t> In the first step, the client wants to establish a connection with a server, so it sends a segment with SYN(Synchronize Sequence Number) which informs the server that the client is likely to start communication and with what sequence number it starts segments with</a:t>
            </a:r>
          </a:p>
          <a:p>
            <a:pPr lvl="0" algn="just" fontAlgn="base"/>
            <a:r>
              <a:rPr lang="en-IN" sz="2600" b="1" dirty="0">
                <a:latin typeface="Calibri" panose="020F0502020204030204" pitchFamily="34" charset="0"/>
                <a:ea typeface="Calibri" panose="020F0502020204030204" pitchFamily="34" charset="0"/>
                <a:cs typeface="Calibri" panose="020F0502020204030204" pitchFamily="34" charset="0"/>
              </a:rPr>
              <a:t>Step 2 (SYN + ACK):</a:t>
            </a:r>
            <a:r>
              <a:rPr lang="en-IN" sz="2600" dirty="0">
                <a:latin typeface="Calibri" panose="020F0502020204030204" pitchFamily="34" charset="0"/>
                <a:ea typeface="Calibri" panose="020F0502020204030204" pitchFamily="34" charset="0"/>
                <a:cs typeface="Calibri" panose="020F0502020204030204" pitchFamily="34" charset="0"/>
              </a:rPr>
              <a:t> Server responds to the client request with SYN-ACK signal bits set. Acknowledgement(ACK) signifies the response of the segment it received and SYN signifies with what sequence number it is likely to start the segments with</a:t>
            </a:r>
          </a:p>
          <a:p>
            <a:pPr lvl="0" algn="just" fontAlgn="base"/>
            <a:r>
              <a:rPr lang="en-IN" sz="2600" b="1" dirty="0">
                <a:latin typeface="Calibri" panose="020F0502020204030204" pitchFamily="34" charset="0"/>
                <a:ea typeface="Calibri" panose="020F0502020204030204" pitchFamily="34" charset="0"/>
                <a:cs typeface="Calibri" panose="020F0502020204030204" pitchFamily="34" charset="0"/>
              </a:rPr>
              <a:t>Step 3 (ACK):</a:t>
            </a:r>
            <a:r>
              <a:rPr lang="en-IN" sz="2600" dirty="0">
                <a:latin typeface="Calibri" panose="020F0502020204030204" pitchFamily="34" charset="0"/>
                <a:ea typeface="Calibri" panose="020F0502020204030204" pitchFamily="34" charset="0"/>
                <a:cs typeface="Calibri" panose="020F0502020204030204" pitchFamily="34" charset="0"/>
              </a:rPr>
              <a:t> In the final part client acknowledges the response of the server and they both establish a reliable connection with which they will start the actual data transfer.</a:t>
            </a:r>
          </a:p>
        </p:txBody>
      </p:sp>
      <p:sp>
        <p:nvSpPr>
          <p:cNvPr id="120" name="Google Shape;120;p3">
            <a:extLst>
              <a:ext uri="{FF2B5EF4-FFF2-40B4-BE49-F238E27FC236}">
                <a16:creationId xmlns:a16="http://schemas.microsoft.com/office/drawing/2014/main" id="{B31D8AF4-ACA4-8F61-A903-8BD5BBFFB542}"/>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TCP 3-WAY HANDSHAKE PROCESS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A404A7E8-3E7E-CF17-9DC4-B66A214A58E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spTree>
    <p:extLst>
      <p:ext uri="{BB962C8B-B14F-4D97-AF65-F5344CB8AC3E}">
        <p14:creationId xmlns:p14="http://schemas.microsoft.com/office/powerpoint/2010/main" val="15787906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1457CE-F988-686E-4302-30CD54C8C7A4}"/>
              </a:ext>
            </a:extLst>
          </p:cNvPr>
          <p:cNvSpPr>
            <a:spLocks noGrp="1"/>
          </p:cNvSpPr>
          <p:nvPr>
            <p:ph type="body" idx="1"/>
          </p:nvPr>
        </p:nvSpPr>
        <p:spPr/>
        <p:txBody>
          <a:bodyPr/>
          <a:lstStyle/>
          <a:p>
            <a:pPr marL="114300" indent="0" algn="just" fontAlgn="base">
              <a:buNone/>
            </a:pPr>
            <a:r>
              <a:rPr lang="en-IN" dirty="0"/>
              <a:t>TCP is a reliable, connection-oriented transport protocol that ensures accurate and ordered data delivery. It uses control mechanisms to guarantee data correctness, which makes it slower but dependable.</a:t>
            </a:r>
          </a:p>
          <a:p>
            <a:pPr lvl="0" algn="just" fontAlgn="base"/>
            <a:r>
              <a:rPr lang="en-IN" dirty="0"/>
              <a:t>Connection-oriented protocol</a:t>
            </a:r>
          </a:p>
          <a:p>
            <a:pPr lvl="0" algn="just" fontAlgn="base"/>
            <a:r>
              <a:rPr lang="en-IN" dirty="0"/>
              <a:t>Reliable and ordered data delivery</a:t>
            </a:r>
          </a:p>
          <a:p>
            <a:pPr lvl="0" algn="just" fontAlgn="base"/>
            <a:r>
              <a:rPr lang="en-IN" dirty="0"/>
              <a:t>Higher overhead but high accuracy</a:t>
            </a:r>
          </a:p>
        </p:txBody>
      </p:sp>
      <p:sp>
        <p:nvSpPr>
          <p:cNvPr id="3" name="Title 2">
            <a:extLst>
              <a:ext uri="{FF2B5EF4-FFF2-40B4-BE49-F238E27FC236}">
                <a16:creationId xmlns:a16="http://schemas.microsoft.com/office/drawing/2014/main" id="{9125EAFE-8CF3-657B-6166-BA0468F6B79E}"/>
              </a:ext>
            </a:extLst>
          </p:cNvPr>
          <p:cNvSpPr>
            <a:spLocks noGrp="1"/>
          </p:cNvSpPr>
          <p:nvPr>
            <p:ph type="title"/>
          </p:nvPr>
        </p:nvSpPr>
        <p:spPr/>
        <p:txBody>
          <a:bodyPr/>
          <a:lstStyle/>
          <a:p>
            <a:pPr algn="ctr"/>
            <a:r>
              <a:rPr lang="en-US" b="1" dirty="0">
                <a:latin typeface="Raavi" panose="020B0502040204020203" pitchFamily="34" charset="0"/>
                <a:cs typeface="Raavi" panose="020B0502040204020203" pitchFamily="34" charset="0"/>
              </a:rPr>
              <a:t>TRANSMISSION CONTROL PROTOCOL</a:t>
            </a:r>
            <a:endParaRPr lang="en-IN" b="1" dirty="0">
              <a:latin typeface="Raavi" panose="020B0502040204020203" pitchFamily="34" charset="0"/>
              <a:cs typeface="Raavi" panose="020B0502040204020203" pitchFamily="34" charset="0"/>
            </a:endParaRPr>
          </a:p>
        </p:txBody>
      </p:sp>
      <p:sp>
        <p:nvSpPr>
          <p:cNvPr id="4" name="Slide Number Placeholder 3">
            <a:extLst>
              <a:ext uri="{FF2B5EF4-FFF2-40B4-BE49-F238E27FC236}">
                <a16:creationId xmlns:a16="http://schemas.microsoft.com/office/drawing/2014/main" id="{0C7BB30D-005D-B16A-5946-96D42A16D4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70</a:t>
            </a:fld>
            <a:endParaRPr lang="en-US"/>
          </a:p>
        </p:txBody>
      </p:sp>
    </p:spTree>
    <p:extLst>
      <p:ext uri="{BB962C8B-B14F-4D97-AF65-F5344CB8AC3E}">
        <p14:creationId xmlns:p14="http://schemas.microsoft.com/office/powerpoint/2010/main" val="40678583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CCA5CB-1BE0-F19F-CC81-1BF976F0C873}"/>
              </a:ext>
            </a:extLst>
          </p:cNvPr>
          <p:cNvSpPr>
            <a:spLocks noGrp="1"/>
          </p:cNvSpPr>
          <p:nvPr>
            <p:ph type="body" idx="1"/>
          </p:nvPr>
        </p:nvSpPr>
        <p:spPr/>
        <p:txBody>
          <a:bodyPr/>
          <a:lstStyle/>
          <a:p>
            <a:pPr marL="114300" indent="0" algn="just" fontAlgn="base">
              <a:buNone/>
            </a:pPr>
            <a:r>
              <a:rPr lang="en-IN" dirty="0"/>
              <a:t>UDP is a fast, connectionless transport protocol that sends data without reliability guarantees. It is efficient for applications where speed is more important than accuracy.</a:t>
            </a:r>
          </a:p>
          <a:p>
            <a:pPr lvl="0" algn="just" fontAlgn="base"/>
            <a:r>
              <a:rPr lang="en-IN" dirty="0"/>
              <a:t>Connectionless and lightweight</a:t>
            </a:r>
          </a:p>
          <a:p>
            <a:pPr lvl="0" algn="just" fontAlgn="base"/>
            <a:r>
              <a:rPr lang="en-IN" dirty="0"/>
              <a:t>No guarantee of delivery or order</a:t>
            </a:r>
          </a:p>
          <a:p>
            <a:pPr lvl="0" algn="just" fontAlgn="base"/>
            <a:r>
              <a:rPr lang="en-IN" dirty="0"/>
              <a:t>Low overhead and high speed</a:t>
            </a:r>
          </a:p>
          <a:p>
            <a:pPr algn="just"/>
            <a:endParaRPr lang="en-IN" dirty="0"/>
          </a:p>
        </p:txBody>
      </p:sp>
      <p:sp>
        <p:nvSpPr>
          <p:cNvPr id="3" name="Title 2">
            <a:extLst>
              <a:ext uri="{FF2B5EF4-FFF2-40B4-BE49-F238E27FC236}">
                <a16:creationId xmlns:a16="http://schemas.microsoft.com/office/drawing/2014/main" id="{30F52220-C86E-4D2D-2E02-FF67C0CE25B4}"/>
              </a:ext>
            </a:extLst>
          </p:cNvPr>
          <p:cNvSpPr>
            <a:spLocks noGrp="1"/>
          </p:cNvSpPr>
          <p:nvPr>
            <p:ph type="title"/>
          </p:nvPr>
        </p:nvSpPr>
        <p:spPr/>
        <p:txBody>
          <a:bodyPr/>
          <a:lstStyle/>
          <a:p>
            <a:pPr algn="ctr"/>
            <a:r>
              <a:rPr lang="en-US" b="1" dirty="0">
                <a:latin typeface="Raavi" panose="020B0502040204020203" pitchFamily="34" charset="0"/>
                <a:cs typeface="Raavi" panose="020B0502040204020203" pitchFamily="34" charset="0"/>
              </a:rPr>
              <a:t>USER DATAGRAM PROTOCOL</a:t>
            </a:r>
            <a:endParaRPr lang="en-IN" b="1" dirty="0">
              <a:latin typeface="Raavi" panose="020B0502040204020203" pitchFamily="34" charset="0"/>
              <a:cs typeface="Raavi" panose="020B0502040204020203" pitchFamily="34" charset="0"/>
            </a:endParaRPr>
          </a:p>
        </p:txBody>
      </p:sp>
      <p:sp>
        <p:nvSpPr>
          <p:cNvPr id="4" name="Slide Number Placeholder 3">
            <a:extLst>
              <a:ext uri="{FF2B5EF4-FFF2-40B4-BE49-F238E27FC236}">
                <a16:creationId xmlns:a16="http://schemas.microsoft.com/office/drawing/2014/main" id="{562D6E3E-1F5F-5CA1-2271-4A4043D9C7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71</a:t>
            </a:fld>
            <a:endParaRPr lang="en-US"/>
          </a:p>
        </p:txBody>
      </p:sp>
    </p:spTree>
    <p:extLst>
      <p:ext uri="{BB962C8B-B14F-4D97-AF65-F5344CB8AC3E}">
        <p14:creationId xmlns:p14="http://schemas.microsoft.com/office/powerpoint/2010/main" val="27279897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2B309A-F2C1-2A19-927B-C0713F609059}"/>
              </a:ext>
            </a:extLst>
          </p:cNvPr>
          <p:cNvSpPr>
            <a:spLocks noGrp="1"/>
          </p:cNvSpPr>
          <p:nvPr>
            <p:ph type="title"/>
          </p:nvPr>
        </p:nvSpPr>
        <p:spPr/>
        <p:txBody>
          <a:bodyPr/>
          <a:lstStyle/>
          <a:p>
            <a:pPr algn="ctr"/>
            <a:r>
              <a:rPr lang="en-US" b="1" dirty="0">
                <a:latin typeface="Raavi" panose="020B0502040204020203" pitchFamily="34" charset="0"/>
                <a:cs typeface="Raavi" panose="020B0502040204020203" pitchFamily="34" charset="0"/>
              </a:rPr>
              <a:t>TCP V/S UDP</a:t>
            </a:r>
            <a:endParaRPr lang="en-IN" b="1" dirty="0">
              <a:latin typeface="Raavi" panose="020B0502040204020203" pitchFamily="34" charset="0"/>
              <a:cs typeface="Raavi" panose="020B0502040204020203" pitchFamily="34" charset="0"/>
            </a:endParaRPr>
          </a:p>
        </p:txBody>
      </p:sp>
      <p:sp>
        <p:nvSpPr>
          <p:cNvPr id="4" name="Slide Number Placeholder 3">
            <a:extLst>
              <a:ext uri="{FF2B5EF4-FFF2-40B4-BE49-F238E27FC236}">
                <a16:creationId xmlns:a16="http://schemas.microsoft.com/office/drawing/2014/main" id="{E17D89BA-9D46-204E-0262-FC1EC24DC3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72</a:t>
            </a:fld>
            <a:endParaRPr lang="en-US"/>
          </a:p>
        </p:txBody>
      </p:sp>
      <p:graphicFrame>
        <p:nvGraphicFramePr>
          <p:cNvPr id="5" name="Table 4">
            <a:extLst>
              <a:ext uri="{FF2B5EF4-FFF2-40B4-BE49-F238E27FC236}">
                <a16:creationId xmlns:a16="http://schemas.microsoft.com/office/drawing/2014/main" id="{958474E9-3FED-B58F-495E-072777F5C641}"/>
              </a:ext>
            </a:extLst>
          </p:cNvPr>
          <p:cNvGraphicFramePr>
            <a:graphicFrameLocks noGrp="1"/>
          </p:cNvGraphicFramePr>
          <p:nvPr>
            <p:extLst>
              <p:ext uri="{D42A27DB-BD31-4B8C-83A1-F6EECF244321}">
                <p14:modId xmlns:p14="http://schemas.microsoft.com/office/powerpoint/2010/main" val="579421844"/>
              </p:ext>
            </p:extLst>
          </p:nvPr>
        </p:nvGraphicFramePr>
        <p:xfrm>
          <a:off x="838200" y="1203959"/>
          <a:ext cx="10515602" cy="4986050"/>
        </p:xfrm>
        <a:graphic>
          <a:graphicData uri="http://schemas.openxmlformats.org/drawingml/2006/table">
            <a:tbl>
              <a:tblPr firstRow="1" bandRow="1">
                <a:tableStyleId>{5C22544A-7EE6-4342-B048-85BDC9FD1C3A}</a:tableStyleId>
              </a:tblPr>
              <a:tblGrid>
                <a:gridCol w="5257801">
                  <a:extLst>
                    <a:ext uri="{9D8B030D-6E8A-4147-A177-3AD203B41FA5}">
                      <a16:colId xmlns:a16="http://schemas.microsoft.com/office/drawing/2014/main" val="3390611920"/>
                    </a:ext>
                  </a:extLst>
                </a:gridCol>
                <a:gridCol w="5257801">
                  <a:extLst>
                    <a:ext uri="{9D8B030D-6E8A-4147-A177-3AD203B41FA5}">
                      <a16:colId xmlns:a16="http://schemas.microsoft.com/office/drawing/2014/main" val="3953289568"/>
                    </a:ext>
                  </a:extLst>
                </a:gridCol>
              </a:tblGrid>
              <a:tr h="699775">
                <a:tc>
                  <a:txBody>
                    <a:bodyPr/>
                    <a:lstStyle/>
                    <a:p>
                      <a:pPr marL="0" marR="0" algn="ctr" fontAlgn="base">
                        <a:spcBef>
                          <a:spcPts val="1875"/>
                        </a:spcBef>
                        <a:spcAft>
                          <a:spcPts val="1875"/>
                        </a:spcAft>
                        <a:buNone/>
                      </a:pPr>
                      <a:r>
                        <a:rPr lang="en-IN" sz="2000" b="1" i="0" spc="12"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TCP (Transmission Control Protocol)</a:t>
                      </a:r>
                      <a:endParaRPr lang="en-IN" sz="20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8100" marR="38100" marT="63500" marB="63500" anchor="ctr"/>
                </a:tc>
                <a:tc>
                  <a:txBody>
                    <a:bodyPr/>
                    <a:lstStyle/>
                    <a:p>
                      <a:pPr marL="0" marR="0" algn="ctr" fontAlgn="base">
                        <a:spcBef>
                          <a:spcPts val="1875"/>
                        </a:spcBef>
                        <a:spcAft>
                          <a:spcPts val="1875"/>
                        </a:spcAft>
                        <a:buNone/>
                      </a:pPr>
                      <a:r>
                        <a:rPr lang="en-IN" sz="2000" b="1" i="0" spc="12" dirty="0">
                          <a:solidFill>
                            <a:schemeClr val="bg1"/>
                          </a:solidFill>
                          <a:effectLst/>
                          <a:latin typeface="Calibri" panose="020F0502020204030204" pitchFamily="34" charset="0"/>
                          <a:ea typeface="Calibri" panose="020F0502020204030204" pitchFamily="34" charset="0"/>
                          <a:cs typeface="Calibri" panose="020F0502020204030204" pitchFamily="34" charset="0"/>
                        </a:rPr>
                        <a:t>UDP (User Datagram Protocol)</a:t>
                      </a:r>
                      <a:endParaRPr lang="en-IN" sz="20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63500" marB="63500" anchor="ctr"/>
                </a:tc>
                <a:extLst>
                  <a:ext uri="{0D108BD9-81ED-4DB2-BD59-A6C34878D82A}">
                    <a16:rowId xmlns:a16="http://schemas.microsoft.com/office/drawing/2014/main" val="3358080025"/>
                  </a:ext>
                </a:extLst>
              </a:tr>
              <a:tr h="769590">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Connection-oriented; uses a three-way handshake</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Connectionless; no handshake</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4282315627"/>
                  </a:ext>
                </a:extLst>
              </a:tr>
              <a:tr h="699775">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Guarantees reliable data delivery</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Does not guarantee delivery</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183430789"/>
                  </a:ext>
                </a:extLst>
              </a:tr>
              <a:tr h="699775">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Uses acknowledgements (ACKs)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No acknowledgements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948633868"/>
                  </a:ext>
                </a:extLst>
              </a:tr>
              <a:tr h="699775">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Supports retransmission of lost packets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No retransmission support</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770723871"/>
                  </a:ext>
                </a:extLst>
              </a:tr>
              <a:tr h="699775">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Ensures packets are delivered in order</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Does not ensure ordering</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316824514"/>
                  </a:ext>
                </a:extLst>
              </a:tr>
              <a:tr h="699775">
                <a:tc>
                  <a:txBody>
                    <a:bodyPr/>
                    <a:lstStyle/>
                    <a:p>
                      <a:pPr marL="0" marR="0" algn="ctr"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Provides flow control and congestion control</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No flow or congestion control</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987652215"/>
                  </a:ext>
                </a:extLst>
              </a:tr>
            </a:tbl>
          </a:graphicData>
        </a:graphic>
      </p:graphicFrame>
    </p:spTree>
    <p:extLst>
      <p:ext uri="{BB962C8B-B14F-4D97-AF65-F5344CB8AC3E}">
        <p14:creationId xmlns:p14="http://schemas.microsoft.com/office/powerpoint/2010/main" val="19552511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E593A5-8F4F-BEF4-F964-1C6469C589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73</a:t>
            </a:fld>
            <a:endParaRPr lang="en-US"/>
          </a:p>
        </p:txBody>
      </p:sp>
      <p:sp>
        <p:nvSpPr>
          <p:cNvPr id="5" name="Title 2">
            <a:extLst>
              <a:ext uri="{FF2B5EF4-FFF2-40B4-BE49-F238E27FC236}">
                <a16:creationId xmlns:a16="http://schemas.microsoft.com/office/drawing/2014/main" id="{4E868216-1FBE-1818-853B-5E5D1BE7A243}"/>
              </a:ext>
            </a:extLst>
          </p:cNvPr>
          <p:cNvSpPr>
            <a:spLocks noGrp="1"/>
          </p:cNvSpPr>
          <p:nvPr>
            <p:ph type="title"/>
          </p:nvPr>
        </p:nvSpPr>
        <p:spPr>
          <a:xfrm>
            <a:off x="838200" y="238125"/>
            <a:ext cx="10444163" cy="719138"/>
          </a:xfrm>
        </p:spPr>
        <p:txBody>
          <a:bodyPr/>
          <a:lstStyle/>
          <a:p>
            <a:pPr algn="ctr"/>
            <a:r>
              <a:rPr lang="en-US" b="1" dirty="0">
                <a:latin typeface="Raavi" panose="020B0502040204020203" pitchFamily="34" charset="0"/>
                <a:cs typeface="Raavi" panose="020B0502040204020203" pitchFamily="34" charset="0"/>
              </a:rPr>
              <a:t>TCP V/S UDP</a:t>
            </a:r>
            <a:endParaRPr lang="en-IN" b="1" dirty="0">
              <a:latin typeface="Raavi" panose="020B0502040204020203" pitchFamily="34" charset="0"/>
              <a:cs typeface="Raavi" panose="020B0502040204020203" pitchFamily="34" charset="0"/>
            </a:endParaRPr>
          </a:p>
        </p:txBody>
      </p:sp>
      <p:graphicFrame>
        <p:nvGraphicFramePr>
          <p:cNvPr id="6" name="Table 5">
            <a:extLst>
              <a:ext uri="{FF2B5EF4-FFF2-40B4-BE49-F238E27FC236}">
                <a16:creationId xmlns:a16="http://schemas.microsoft.com/office/drawing/2014/main" id="{B428952D-53BB-E422-E4B0-E2BA0FCFF4E7}"/>
              </a:ext>
            </a:extLst>
          </p:cNvPr>
          <p:cNvGraphicFramePr>
            <a:graphicFrameLocks noGrp="1"/>
          </p:cNvGraphicFramePr>
          <p:nvPr>
            <p:extLst>
              <p:ext uri="{D42A27DB-BD31-4B8C-83A1-F6EECF244321}">
                <p14:modId xmlns:p14="http://schemas.microsoft.com/office/powerpoint/2010/main" val="1794817335"/>
              </p:ext>
            </p:extLst>
          </p:nvPr>
        </p:nvGraphicFramePr>
        <p:xfrm>
          <a:off x="838199" y="1361923"/>
          <a:ext cx="10444164" cy="4636104"/>
        </p:xfrm>
        <a:graphic>
          <a:graphicData uri="http://schemas.openxmlformats.org/drawingml/2006/table">
            <a:tbl>
              <a:tblPr firstRow="1" bandRow="1">
                <a:tableStyleId>{5C22544A-7EE6-4342-B048-85BDC9FD1C3A}</a:tableStyleId>
              </a:tblPr>
              <a:tblGrid>
                <a:gridCol w="5222082">
                  <a:extLst>
                    <a:ext uri="{9D8B030D-6E8A-4147-A177-3AD203B41FA5}">
                      <a16:colId xmlns:a16="http://schemas.microsoft.com/office/drawing/2014/main" val="2566488478"/>
                    </a:ext>
                  </a:extLst>
                </a:gridCol>
                <a:gridCol w="5222082">
                  <a:extLst>
                    <a:ext uri="{9D8B030D-6E8A-4147-A177-3AD203B41FA5}">
                      <a16:colId xmlns:a16="http://schemas.microsoft.com/office/drawing/2014/main" val="40920435"/>
                    </a:ext>
                  </a:extLst>
                </a:gridCol>
              </a:tblGrid>
              <a:tr h="772684">
                <a:tc>
                  <a:txBody>
                    <a:bodyPr/>
                    <a:lstStyle/>
                    <a:p>
                      <a:pPr marL="0" marR="0" algn="ctr" fontAlgn="base">
                        <a:spcBef>
                          <a:spcPts val="1875"/>
                        </a:spcBef>
                        <a:spcAft>
                          <a:spcPts val="1875"/>
                        </a:spcAft>
                        <a:buNone/>
                      </a:pPr>
                      <a:r>
                        <a:rPr lang="en-IN" sz="2000" b="1" i="0" spc="12">
                          <a:solidFill>
                            <a:schemeClr val="bg1"/>
                          </a:solidFill>
                          <a:effectLst/>
                          <a:latin typeface="Calibri" panose="020F0502020204030204" pitchFamily="34" charset="0"/>
                          <a:ea typeface="Calibri" panose="020F0502020204030204" pitchFamily="34" charset="0"/>
                          <a:cs typeface="Calibri" panose="020F0502020204030204" pitchFamily="34" charset="0"/>
                        </a:rPr>
                        <a:t>TCP (Transmission Control Protocol)</a:t>
                      </a:r>
                      <a:endParaRPr lang="en-IN" sz="2000" b="1" i="0" spc="1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8100" marR="38100" marT="63500" marB="63500" anchor="ctr"/>
                </a:tc>
                <a:tc>
                  <a:txBody>
                    <a:bodyPr/>
                    <a:lstStyle/>
                    <a:p>
                      <a:pPr marL="0" marR="0" algn="ctr" fontAlgn="base">
                        <a:spcBef>
                          <a:spcPts val="1875"/>
                        </a:spcBef>
                        <a:spcAft>
                          <a:spcPts val="1875"/>
                        </a:spcAft>
                        <a:buNone/>
                      </a:pPr>
                      <a:r>
                        <a:rPr lang="en-IN" sz="2000" b="1" i="0" spc="12" dirty="0">
                          <a:solidFill>
                            <a:schemeClr val="bg1"/>
                          </a:solidFill>
                          <a:effectLst/>
                          <a:latin typeface="Calibri" panose="020F0502020204030204" pitchFamily="34" charset="0"/>
                          <a:ea typeface="Calibri" panose="020F0502020204030204" pitchFamily="34" charset="0"/>
                          <a:cs typeface="Calibri" panose="020F0502020204030204" pitchFamily="34" charset="0"/>
                        </a:rPr>
                        <a:t>UDP (User Datagram Protocol)</a:t>
                      </a:r>
                      <a:endParaRPr lang="en-IN" sz="20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63500" marB="63500" anchor="ctr"/>
                </a:tc>
                <a:extLst>
                  <a:ext uri="{0D108BD9-81ED-4DB2-BD59-A6C34878D82A}">
                    <a16:rowId xmlns:a16="http://schemas.microsoft.com/office/drawing/2014/main" val="348162432"/>
                  </a:ext>
                </a:extLst>
              </a:tr>
              <a:tr h="772684">
                <a:tc>
                  <a:txBody>
                    <a:bodyPr/>
                    <a:lstStyle/>
                    <a:p>
                      <a:pPr marL="0" marR="0" algn="ctr"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Slower due to higher overhead</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Faster with minimal overhead</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941234919"/>
                  </a:ext>
                </a:extLst>
              </a:tr>
              <a:tr h="772684">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Variable header size (20–60 bytes)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Fixed header size (8 bytes)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759919504"/>
                  </a:ext>
                </a:extLst>
              </a:tr>
              <a:tr h="772684">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Treats data as a continuous byte stream</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Treats data as independent messages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339537442"/>
                  </a:ext>
                </a:extLst>
              </a:tr>
              <a:tr h="772684">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Does not support broadcasting or multicasting</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Supports broadcasting and multicasting</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88263505"/>
                  </a:ext>
                </a:extLst>
              </a:tr>
              <a:tr h="772684">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Used by HTTP, HTTPS, FTP, SMTP</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Used by DNS, DHCP, VoIP, Streaming</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104171823"/>
                  </a:ext>
                </a:extLst>
              </a:tr>
            </a:tbl>
          </a:graphicData>
        </a:graphic>
      </p:graphicFrame>
    </p:spTree>
    <p:extLst>
      <p:ext uri="{BB962C8B-B14F-4D97-AF65-F5344CB8AC3E}">
        <p14:creationId xmlns:p14="http://schemas.microsoft.com/office/powerpoint/2010/main" val="39701902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32961D9-3110-3C73-2F98-ECB3D2A6C1CF}"/>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704819A2-FCDD-DFDB-CF2E-072604E44755}"/>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sz="2200" dirty="0">
                <a:latin typeface="Calibri" panose="020F0502020204030204" pitchFamily="34" charset="0"/>
                <a:ea typeface="Calibri" panose="020F0502020204030204" pitchFamily="34" charset="0"/>
                <a:cs typeface="Calibri" panose="020F0502020204030204" pitchFamily="34" charset="0"/>
              </a:rPr>
              <a:t>An IP Address (Internet Protocol Address) is a unique numerical label assigned to each device connected to a computer network that uses the Internet Protocol for communication. It serves two main purposes:</a:t>
            </a:r>
          </a:p>
          <a:p>
            <a:pPr lvl="0" algn="just" fontAlgn="base"/>
            <a:r>
              <a:rPr lang="en-IN" sz="2200" dirty="0">
                <a:latin typeface="Calibri" panose="020F0502020204030204" pitchFamily="34" charset="0"/>
                <a:ea typeface="Calibri" panose="020F0502020204030204" pitchFamily="34" charset="0"/>
                <a:cs typeface="Calibri" panose="020F0502020204030204" pitchFamily="34" charset="0"/>
              </a:rPr>
              <a:t>Identifying a device on the network.</a:t>
            </a:r>
          </a:p>
          <a:p>
            <a:pPr lvl="0" algn="just" fontAlgn="base"/>
            <a:r>
              <a:rPr lang="en-IN" sz="2200" dirty="0">
                <a:latin typeface="Calibri" panose="020F0502020204030204" pitchFamily="34" charset="0"/>
                <a:ea typeface="Calibri" panose="020F0502020204030204" pitchFamily="34" charset="0"/>
                <a:cs typeface="Calibri" panose="020F0502020204030204" pitchFamily="34" charset="0"/>
              </a:rPr>
              <a:t>Locating the device to enable communication with other devices over a network like the Internet.</a:t>
            </a:r>
          </a:p>
          <a:p>
            <a:pPr marL="114300" indent="0" fontAlgn="base">
              <a:buNone/>
            </a:pPr>
            <a:r>
              <a:rPr lang="en-IN" sz="2200" b="1" dirty="0">
                <a:latin typeface="Calibri" panose="020F0502020204030204" pitchFamily="34" charset="0"/>
                <a:ea typeface="Calibri" panose="020F0502020204030204" pitchFamily="34" charset="0"/>
                <a:cs typeface="Calibri" panose="020F0502020204030204" pitchFamily="34" charset="0"/>
              </a:rPr>
              <a:t>Components of an IP Address</a:t>
            </a:r>
          </a:p>
          <a:p>
            <a:pPr lvl="0" fontAlgn="base"/>
            <a:r>
              <a:rPr lang="en-IN" sz="2200" b="1" dirty="0">
                <a:latin typeface="Calibri" panose="020F0502020204030204" pitchFamily="34" charset="0"/>
                <a:ea typeface="Calibri" panose="020F0502020204030204" pitchFamily="34" charset="0"/>
                <a:cs typeface="Calibri" panose="020F0502020204030204" pitchFamily="34" charset="0"/>
              </a:rPr>
              <a:t>Network Portion:</a:t>
            </a:r>
            <a:r>
              <a:rPr lang="en-IN" sz="2200" dirty="0">
                <a:latin typeface="Calibri" panose="020F0502020204030204" pitchFamily="34" charset="0"/>
                <a:ea typeface="Calibri" panose="020F0502020204030204" pitchFamily="34" charset="0"/>
                <a:cs typeface="Calibri" panose="020F0502020204030204" pitchFamily="34" charset="0"/>
              </a:rPr>
              <a:t> Identifies the network to which the device belongs.</a:t>
            </a:r>
          </a:p>
          <a:p>
            <a:pPr lvl="0" fontAlgn="base"/>
            <a:r>
              <a:rPr lang="en-IN" sz="2200" b="1" dirty="0">
                <a:latin typeface="Calibri" panose="020F0502020204030204" pitchFamily="34" charset="0"/>
                <a:ea typeface="Calibri" panose="020F0502020204030204" pitchFamily="34" charset="0"/>
                <a:cs typeface="Calibri" panose="020F0502020204030204" pitchFamily="34" charset="0"/>
              </a:rPr>
              <a:t>Host Portion:</a:t>
            </a:r>
            <a:r>
              <a:rPr lang="en-IN" sz="2200" dirty="0">
                <a:latin typeface="Calibri" panose="020F0502020204030204" pitchFamily="34" charset="0"/>
                <a:ea typeface="Calibri" panose="020F0502020204030204" pitchFamily="34" charset="0"/>
                <a:cs typeface="Calibri" panose="020F0502020204030204" pitchFamily="34" charset="0"/>
              </a:rPr>
              <a:t> Identifies the individual device on the network.</a:t>
            </a:r>
          </a:p>
          <a:p>
            <a:pPr lvl="0" fontAlgn="base"/>
            <a:r>
              <a:rPr lang="en-IN" sz="2200" b="1" dirty="0">
                <a:latin typeface="Calibri" panose="020F0502020204030204" pitchFamily="34" charset="0"/>
                <a:ea typeface="Calibri" panose="020F0502020204030204" pitchFamily="34" charset="0"/>
                <a:cs typeface="Calibri" panose="020F0502020204030204" pitchFamily="34" charset="0"/>
              </a:rPr>
              <a:t>Subnet Mask (for IPv4):</a:t>
            </a:r>
            <a:r>
              <a:rPr lang="en-IN" sz="2200" dirty="0">
                <a:latin typeface="Calibri" panose="020F0502020204030204" pitchFamily="34" charset="0"/>
                <a:ea typeface="Calibri" panose="020F0502020204030204" pitchFamily="34" charset="0"/>
                <a:cs typeface="Calibri" panose="020F0502020204030204" pitchFamily="34" charset="0"/>
              </a:rPr>
              <a:t> Defines which part of the IP is network and which part is host.</a:t>
            </a:r>
          </a:p>
          <a:p>
            <a:pPr marL="114300" indent="0" fontAlgn="base">
              <a:buNone/>
            </a:pPr>
            <a:r>
              <a:rPr lang="en-IN" sz="2200" b="1" i="1" dirty="0">
                <a:latin typeface="Calibri" panose="020F0502020204030204" pitchFamily="34" charset="0"/>
                <a:ea typeface="Calibri" panose="020F0502020204030204" pitchFamily="34" charset="0"/>
                <a:cs typeface="Calibri" panose="020F0502020204030204" pitchFamily="34" charset="0"/>
              </a:rPr>
              <a:t>Example:</a:t>
            </a:r>
            <a:r>
              <a:rPr lang="en-IN" sz="2200" i="1" dirty="0">
                <a:latin typeface="Calibri" panose="020F0502020204030204" pitchFamily="34" charset="0"/>
                <a:ea typeface="Calibri" panose="020F0502020204030204" pitchFamily="34" charset="0"/>
                <a:cs typeface="Calibri" panose="020F0502020204030204" pitchFamily="34" charset="0"/>
              </a:rPr>
              <a:t> IP 192.168.1.10 with subnet mask 255.255.255.0</a:t>
            </a:r>
            <a:br>
              <a:rPr lang="en-IN" sz="2200" i="1" dirty="0">
                <a:latin typeface="Calibri" panose="020F0502020204030204" pitchFamily="34" charset="0"/>
                <a:ea typeface="Calibri" panose="020F0502020204030204" pitchFamily="34" charset="0"/>
                <a:cs typeface="Calibri" panose="020F0502020204030204" pitchFamily="34" charset="0"/>
              </a:rPr>
            </a:br>
            <a:r>
              <a:rPr lang="en-IN" sz="2200" b="1" i="1" dirty="0">
                <a:latin typeface="Calibri" panose="020F0502020204030204" pitchFamily="34" charset="0"/>
                <a:ea typeface="Calibri" panose="020F0502020204030204" pitchFamily="34" charset="0"/>
                <a:cs typeface="Calibri" panose="020F0502020204030204" pitchFamily="34" charset="0"/>
              </a:rPr>
              <a:t>Network ID:</a:t>
            </a:r>
            <a:r>
              <a:rPr lang="en-IN" sz="2200" i="1" dirty="0">
                <a:latin typeface="Calibri" panose="020F0502020204030204" pitchFamily="34" charset="0"/>
                <a:ea typeface="Calibri" panose="020F0502020204030204" pitchFamily="34" charset="0"/>
                <a:cs typeface="Calibri" panose="020F0502020204030204" pitchFamily="34" charset="0"/>
              </a:rPr>
              <a:t> 192.168.1.0</a:t>
            </a:r>
            <a:br>
              <a:rPr lang="en-IN" sz="2200" i="1" dirty="0">
                <a:latin typeface="Calibri" panose="020F0502020204030204" pitchFamily="34" charset="0"/>
                <a:ea typeface="Calibri" panose="020F0502020204030204" pitchFamily="34" charset="0"/>
                <a:cs typeface="Calibri" panose="020F0502020204030204" pitchFamily="34" charset="0"/>
              </a:rPr>
            </a:br>
            <a:r>
              <a:rPr lang="en-IN" sz="2200" b="1" i="1" dirty="0">
                <a:latin typeface="Calibri" panose="020F0502020204030204" pitchFamily="34" charset="0"/>
                <a:ea typeface="Calibri" panose="020F0502020204030204" pitchFamily="34" charset="0"/>
                <a:cs typeface="Calibri" panose="020F0502020204030204" pitchFamily="34" charset="0"/>
              </a:rPr>
              <a:t>Host ID</a:t>
            </a:r>
            <a:r>
              <a:rPr lang="en-IN" sz="2200" i="1" dirty="0">
                <a:latin typeface="Calibri" panose="020F0502020204030204" pitchFamily="34" charset="0"/>
                <a:ea typeface="Calibri" panose="020F0502020204030204" pitchFamily="34" charset="0"/>
                <a:cs typeface="Calibri" panose="020F0502020204030204" pitchFamily="34" charset="0"/>
              </a:rPr>
              <a:t>: 10</a:t>
            </a:r>
          </a:p>
        </p:txBody>
      </p:sp>
      <p:sp>
        <p:nvSpPr>
          <p:cNvPr id="120" name="Google Shape;120;p3">
            <a:extLst>
              <a:ext uri="{FF2B5EF4-FFF2-40B4-BE49-F238E27FC236}">
                <a16:creationId xmlns:a16="http://schemas.microsoft.com/office/drawing/2014/main" id="{621697F0-F10A-D6B1-CF99-B30D00B1C096}"/>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IP ADDRESSING</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FBE14DF0-ED10-1848-F52D-16015F99CF3C}"/>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spTree>
    <p:extLst>
      <p:ext uri="{BB962C8B-B14F-4D97-AF65-F5344CB8AC3E}">
        <p14:creationId xmlns:p14="http://schemas.microsoft.com/office/powerpoint/2010/main" val="30113122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092224B1-0E12-2A3F-1372-449CDDA380CC}"/>
            </a:ext>
          </a:extLst>
        </p:cNvPr>
        <p:cNvGrpSpPr/>
        <p:nvPr/>
      </p:nvGrpSpPr>
      <p:grpSpPr>
        <a:xfrm>
          <a:off x="0" y="0"/>
          <a:ext cx="0" cy="0"/>
          <a:chOff x="0" y="0"/>
          <a:chExt cx="0" cy="0"/>
        </a:xfrm>
      </p:grpSpPr>
      <p:sp>
        <p:nvSpPr>
          <p:cNvPr id="120" name="Google Shape;120;p3">
            <a:extLst>
              <a:ext uri="{FF2B5EF4-FFF2-40B4-BE49-F238E27FC236}">
                <a16:creationId xmlns:a16="http://schemas.microsoft.com/office/drawing/2014/main" id="{926AF92A-55C4-16F2-B901-0B87A73C5F1F}"/>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IP ADDRESSING</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B27FF576-7AD7-20BE-B551-81D5EE2DA90B}"/>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pic>
        <p:nvPicPr>
          <p:cNvPr id="3" name="Picture 2">
            <a:extLst>
              <a:ext uri="{FF2B5EF4-FFF2-40B4-BE49-F238E27FC236}">
                <a16:creationId xmlns:a16="http://schemas.microsoft.com/office/drawing/2014/main" id="{B31BB0CC-F2D7-DA49-86CC-628BA9CE874A}"/>
              </a:ext>
            </a:extLst>
          </p:cNvPr>
          <p:cNvPicPr>
            <a:picLocks noChangeAspect="1"/>
          </p:cNvPicPr>
          <p:nvPr/>
        </p:nvPicPr>
        <p:blipFill>
          <a:blip r:embed="rId3"/>
          <a:stretch>
            <a:fillRect/>
          </a:stretch>
        </p:blipFill>
        <p:spPr>
          <a:xfrm>
            <a:off x="1945511" y="1805668"/>
            <a:ext cx="8300978" cy="3631678"/>
          </a:xfrm>
          <a:prstGeom prst="rect">
            <a:avLst/>
          </a:prstGeom>
        </p:spPr>
      </p:pic>
    </p:spTree>
    <p:extLst>
      <p:ext uri="{BB962C8B-B14F-4D97-AF65-F5344CB8AC3E}">
        <p14:creationId xmlns:p14="http://schemas.microsoft.com/office/powerpoint/2010/main" val="9375562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5B9F5D1D-40D5-9593-A872-B1E926DF5F24}"/>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03771427-7B1F-92BF-9AAB-CE91A684DB13}"/>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A Public IP address is assigned to every device that directly accesses the internet. This address is unique across the entire internet. Uniqueness &amp; Accessibility are its key characteristics &amp; are assigned by Internet Service Providers. When you connect to the internet through an ISP, your device or router receives a public IP address. These addresses can be static or dynamic.</a:t>
            </a:r>
          </a:p>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Example Use: </a:t>
            </a:r>
            <a:r>
              <a:rPr lang="en-IN" dirty="0">
                <a:latin typeface="Calibri" panose="020F0502020204030204" pitchFamily="34" charset="0"/>
                <a:ea typeface="Calibri" panose="020F0502020204030204" pitchFamily="34" charset="0"/>
                <a:cs typeface="Calibri" panose="020F0502020204030204" pitchFamily="34" charset="0"/>
              </a:rPr>
              <a:t>If you host a website on your own server at home, your ISP must assign a public IP address to your server so users around the world can access your site.</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0A740190-A684-E05E-5701-DB048983A75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PUBLIC IP ADDRESS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D29D6A4B-FC1C-B762-35F2-B677A82D6047}"/>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spTree>
    <p:extLst>
      <p:ext uri="{BB962C8B-B14F-4D97-AF65-F5344CB8AC3E}">
        <p14:creationId xmlns:p14="http://schemas.microsoft.com/office/powerpoint/2010/main" val="23678148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65E48DD7-CF61-5977-7949-2FD08B7FD778}"/>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37818E2D-931A-A92F-9763-141C16FA8737}"/>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sz="2300" dirty="0">
                <a:latin typeface="Calibri" panose="020F0502020204030204" pitchFamily="34" charset="0"/>
                <a:ea typeface="Calibri" panose="020F0502020204030204" pitchFamily="34" charset="0"/>
                <a:cs typeface="Calibri" panose="020F0502020204030204" pitchFamily="34" charset="0"/>
              </a:rPr>
              <a:t>Private IP addresses are used within private networks and are not routable on the internet. This means that devices with private IP addresses cannot directly communicate with devices on the internet without a translating mechanism like a router performing Network Address Translation (NAT). These are only required to be unique within their own network &amp; are used for communication between devices within the same network</a:t>
            </a:r>
          </a:p>
          <a:p>
            <a:pPr lvl="0" algn="just" fontAlgn="base"/>
            <a:r>
              <a:rPr lang="en-IN" sz="2300" b="1" dirty="0">
                <a:latin typeface="Calibri" panose="020F0502020204030204" pitchFamily="34" charset="0"/>
                <a:ea typeface="Calibri" panose="020F0502020204030204" pitchFamily="34" charset="0"/>
                <a:cs typeface="Calibri" panose="020F0502020204030204" pitchFamily="34" charset="0"/>
              </a:rPr>
              <a:t>Defined ranges for IPv4: </a:t>
            </a:r>
            <a:r>
              <a:rPr lang="en-IN" sz="2300" dirty="0">
                <a:latin typeface="Calibri" panose="020F0502020204030204" pitchFamily="34" charset="0"/>
                <a:ea typeface="Calibri" panose="020F0502020204030204" pitchFamily="34" charset="0"/>
                <a:cs typeface="Calibri" panose="020F0502020204030204" pitchFamily="34" charset="0"/>
              </a:rPr>
              <a:t>10.0.0.0 to 10.255.255.255, 172.16.0.0 to 172.31.255.255, 192.168.0.0 to 192.168.255.255</a:t>
            </a:r>
          </a:p>
          <a:p>
            <a:pPr lvl="0" algn="just" fontAlgn="base"/>
            <a:r>
              <a:rPr lang="en-IN" sz="2300" b="1" dirty="0">
                <a:latin typeface="Calibri" panose="020F0502020204030204" pitchFamily="34" charset="0"/>
                <a:ea typeface="Calibri" panose="020F0502020204030204" pitchFamily="34" charset="0"/>
                <a:cs typeface="Calibri" panose="020F0502020204030204" pitchFamily="34" charset="0"/>
              </a:rPr>
              <a:t>Defined ranges for IPv6:</a:t>
            </a:r>
            <a:r>
              <a:rPr lang="en-IN" sz="2300" dirty="0">
                <a:latin typeface="Calibri" panose="020F0502020204030204" pitchFamily="34" charset="0"/>
                <a:ea typeface="Calibri" panose="020F0502020204030204" pitchFamily="34" charset="0"/>
                <a:cs typeface="Calibri" panose="020F0502020204030204" pitchFamily="34" charset="0"/>
              </a:rPr>
              <a:t> Addresses starting with FD or FC</a:t>
            </a:r>
          </a:p>
          <a:p>
            <a:pPr marL="114300" indent="0" algn="just" fontAlgn="base">
              <a:buNone/>
            </a:pPr>
            <a:r>
              <a:rPr lang="en-IN" sz="2300" b="1" dirty="0">
                <a:latin typeface="Calibri" panose="020F0502020204030204" pitchFamily="34" charset="0"/>
                <a:ea typeface="Calibri" panose="020F0502020204030204" pitchFamily="34" charset="0"/>
                <a:cs typeface="Calibri" panose="020F0502020204030204" pitchFamily="34" charset="0"/>
              </a:rPr>
              <a:t>Example Use:</a:t>
            </a:r>
            <a:r>
              <a:rPr lang="en-IN" sz="2300" dirty="0">
                <a:latin typeface="Calibri" panose="020F0502020204030204" pitchFamily="34" charset="0"/>
                <a:ea typeface="Calibri" panose="020F0502020204030204" pitchFamily="34" charset="0"/>
                <a:cs typeface="Calibri" panose="020F0502020204030204" pitchFamily="34" charset="0"/>
              </a:rPr>
              <a:t> In a typical home network, the router assigns private IP addresses to each device (like smartphones, laptops, smart TVs) from the reserved ranges. These devices use their private IPs to communicate with each other and with the router. The router uses NAT to allow these devices to access the internet using its public IP address.</a:t>
            </a:r>
          </a:p>
        </p:txBody>
      </p:sp>
      <p:sp>
        <p:nvSpPr>
          <p:cNvPr id="120" name="Google Shape;120;p3">
            <a:extLst>
              <a:ext uri="{FF2B5EF4-FFF2-40B4-BE49-F238E27FC236}">
                <a16:creationId xmlns:a16="http://schemas.microsoft.com/office/drawing/2014/main" id="{92C51560-EC0F-3650-C451-B46D17CC5E8F}"/>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PRIVATE IP ADDRESS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6E630B1A-81A6-268E-816F-39505F08DB1D}"/>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spTree>
    <p:extLst>
      <p:ext uri="{BB962C8B-B14F-4D97-AF65-F5344CB8AC3E}">
        <p14:creationId xmlns:p14="http://schemas.microsoft.com/office/powerpoint/2010/main" val="18439041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49B893F-6E81-AB37-B670-8CB52F6319DF}"/>
            </a:ext>
          </a:extLst>
        </p:cNvPr>
        <p:cNvGrpSpPr/>
        <p:nvPr/>
      </p:nvGrpSpPr>
      <p:grpSpPr>
        <a:xfrm>
          <a:off x="0" y="0"/>
          <a:ext cx="0" cy="0"/>
          <a:chOff x="0" y="0"/>
          <a:chExt cx="0" cy="0"/>
        </a:xfrm>
      </p:grpSpPr>
      <p:sp>
        <p:nvSpPr>
          <p:cNvPr id="120" name="Google Shape;120;p3">
            <a:extLst>
              <a:ext uri="{FF2B5EF4-FFF2-40B4-BE49-F238E27FC236}">
                <a16:creationId xmlns:a16="http://schemas.microsoft.com/office/drawing/2014/main" id="{4E9A1336-E258-2BD9-FF7C-24E72D7CCA5A}"/>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PUBLIC V/S PRIVATE IP ADDRESS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C648E785-9899-3073-C2E0-C13AF14123AA}"/>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graphicFrame>
        <p:nvGraphicFramePr>
          <p:cNvPr id="8" name="Table 7">
            <a:extLst>
              <a:ext uri="{FF2B5EF4-FFF2-40B4-BE49-F238E27FC236}">
                <a16:creationId xmlns:a16="http://schemas.microsoft.com/office/drawing/2014/main" id="{7E3CD1C3-D293-9286-A58C-322052537E34}"/>
              </a:ext>
            </a:extLst>
          </p:cNvPr>
          <p:cNvGraphicFramePr>
            <a:graphicFrameLocks noGrp="1"/>
          </p:cNvGraphicFramePr>
          <p:nvPr>
            <p:extLst>
              <p:ext uri="{D42A27DB-BD31-4B8C-83A1-F6EECF244321}">
                <p14:modId xmlns:p14="http://schemas.microsoft.com/office/powerpoint/2010/main" val="2135150183"/>
              </p:ext>
            </p:extLst>
          </p:nvPr>
        </p:nvGraphicFramePr>
        <p:xfrm>
          <a:off x="803031" y="1057331"/>
          <a:ext cx="10550772" cy="5516880"/>
        </p:xfrm>
        <a:graphic>
          <a:graphicData uri="http://schemas.openxmlformats.org/drawingml/2006/table">
            <a:tbl>
              <a:tblPr firstRow="1" bandRow="1">
                <a:tableStyleId>{5C22544A-7EE6-4342-B048-85BDC9FD1C3A}</a:tableStyleId>
              </a:tblPr>
              <a:tblGrid>
                <a:gridCol w="5275386">
                  <a:extLst>
                    <a:ext uri="{9D8B030D-6E8A-4147-A177-3AD203B41FA5}">
                      <a16:colId xmlns:a16="http://schemas.microsoft.com/office/drawing/2014/main" val="3785030053"/>
                    </a:ext>
                  </a:extLst>
                </a:gridCol>
                <a:gridCol w="5275386">
                  <a:extLst>
                    <a:ext uri="{9D8B030D-6E8A-4147-A177-3AD203B41FA5}">
                      <a16:colId xmlns:a16="http://schemas.microsoft.com/office/drawing/2014/main" val="1677933838"/>
                    </a:ext>
                  </a:extLst>
                </a:gridCol>
              </a:tblGrid>
              <a:tr h="359548">
                <a:tc>
                  <a:txBody>
                    <a:bodyPr/>
                    <a:lstStyle/>
                    <a:p>
                      <a:pPr marL="0" marR="0" algn="l">
                        <a:buNone/>
                      </a:pPr>
                      <a:r>
                        <a:rPr lang="en-IN" sz="2000" b="1"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Private IP</a:t>
                      </a:r>
                    </a:p>
                  </a:txBody>
                  <a:tcPr anchor="ctr"/>
                </a:tc>
                <a:tc>
                  <a:txBody>
                    <a:bodyPr/>
                    <a:lstStyle/>
                    <a:p>
                      <a:pPr marL="0" marR="0" algn="l">
                        <a:buNone/>
                      </a:pPr>
                      <a:r>
                        <a:rPr lang="en-IN" sz="2000" b="1"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Public IP</a:t>
                      </a:r>
                    </a:p>
                  </a:txBody>
                  <a:tcPr anchor="ctr"/>
                </a:tc>
                <a:extLst>
                  <a:ext uri="{0D108BD9-81ED-4DB2-BD59-A6C34878D82A}">
                    <a16:rowId xmlns:a16="http://schemas.microsoft.com/office/drawing/2014/main" val="2321670095"/>
                  </a:ext>
                </a:extLst>
              </a:tr>
              <a:tr h="359548">
                <a:tc>
                  <a:txBody>
                    <a:bodyPr/>
                    <a:lstStyle/>
                    <a:p>
                      <a:pPr marL="0" marR="0" algn="l">
                        <a:buNone/>
                      </a:pPr>
                      <a:r>
                        <a:rPr lang="en-IN" sz="2000" b="0" i="0">
                          <a:solidFill>
                            <a:srgbClr val="334155"/>
                          </a:solidFill>
                          <a:effectLst/>
                          <a:latin typeface="Calibri" panose="020F0502020204030204" pitchFamily="34" charset="0"/>
                          <a:ea typeface="Calibri" panose="020F0502020204030204" pitchFamily="34" charset="0"/>
                          <a:cs typeface="Calibri" panose="020F0502020204030204" pitchFamily="34" charset="0"/>
                        </a:rPr>
                        <a:t>Used with LAN or Network</a:t>
                      </a:r>
                    </a:p>
                  </a:txBody>
                  <a:tcPr anchor="ctr"/>
                </a:tc>
                <a:tc>
                  <a:txBody>
                    <a:bodyPr/>
                    <a:lstStyle/>
                    <a:p>
                      <a:pPr marL="0" marR="0" algn="l">
                        <a:buNone/>
                      </a:pPr>
                      <a:r>
                        <a:rPr lang="en-IN" sz="2000" b="0" i="0">
                          <a:solidFill>
                            <a:srgbClr val="334155"/>
                          </a:solidFill>
                          <a:effectLst/>
                          <a:latin typeface="Calibri" panose="020F0502020204030204" pitchFamily="34" charset="0"/>
                          <a:ea typeface="Calibri" panose="020F0502020204030204" pitchFamily="34" charset="0"/>
                          <a:cs typeface="Calibri" panose="020F0502020204030204" pitchFamily="34" charset="0"/>
                        </a:rPr>
                        <a:t>Used with Public  Network</a:t>
                      </a:r>
                    </a:p>
                  </a:txBody>
                  <a:tcPr anchor="ctr"/>
                </a:tc>
                <a:extLst>
                  <a:ext uri="{0D108BD9-81ED-4DB2-BD59-A6C34878D82A}">
                    <a16:rowId xmlns:a16="http://schemas.microsoft.com/office/drawing/2014/main" val="1408468154"/>
                  </a:ext>
                </a:extLst>
              </a:tr>
              <a:tr h="359548">
                <a:tc>
                  <a:txBody>
                    <a:bodyPr/>
                    <a:lstStyle/>
                    <a:p>
                      <a:pPr marL="0" marR="0" algn="l">
                        <a:buNone/>
                      </a:pP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Not recognized over Internet</a:t>
                      </a:r>
                    </a:p>
                  </a:txBody>
                  <a:tcPr anchor="ctr"/>
                </a:tc>
                <a:tc>
                  <a:txBody>
                    <a:bodyPr/>
                    <a:lstStyle/>
                    <a:p>
                      <a:pPr marL="0" marR="0" algn="l">
                        <a:buNone/>
                      </a:pPr>
                      <a:r>
                        <a:rPr lang="en-IN" sz="2000" b="0" i="0">
                          <a:solidFill>
                            <a:srgbClr val="334155"/>
                          </a:solidFill>
                          <a:effectLst/>
                          <a:latin typeface="Calibri" panose="020F0502020204030204" pitchFamily="34" charset="0"/>
                          <a:ea typeface="Calibri" panose="020F0502020204030204" pitchFamily="34" charset="0"/>
                          <a:cs typeface="Calibri" panose="020F0502020204030204" pitchFamily="34" charset="0"/>
                        </a:rPr>
                        <a:t>Recognized over internet</a:t>
                      </a:r>
                    </a:p>
                  </a:txBody>
                  <a:tcPr anchor="ctr"/>
                </a:tc>
                <a:extLst>
                  <a:ext uri="{0D108BD9-81ED-4DB2-BD59-A6C34878D82A}">
                    <a16:rowId xmlns:a16="http://schemas.microsoft.com/office/drawing/2014/main" val="903253046"/>
                  </a:ext>
                </a:extLst>
              </a:tr>
              <a:tr h="359548">
                <a:tc>
                  <a:txBody>
                    <a:bodyPr/>
                    <a:lstStyle/>
                    <a:p>
                      <a:pPr marL="0" marR="0" algn="l">
                        <a:buNone/>
                      </a:pPr>
                      <a:r>
                        <a:rPr lang="en-IN" sz="2000" b="0" i="0">
                          <a:solidFill>
                            <a:srgbClr val="334155"/>
                          </a:solidFill>
                          <a:effectLst/>
                          <a:latin typeface="Calibri" panose="020F0502020204030204" pitchFamily="34" charset="0"/>
                          <a:ea typeface="Calibri" panose="020F0502020204030204" pitchFamily="34" charset="0"/>
                          <a:cs typeface="Calibri" panose="020F0502020204030204" pitchFamily="34" charset="0"/>
                        </a:rPr>
                        <a:t>Assigned by LAN administrator</a:t>
                      </a:r>
                    </a:p>
                  </a:txBody>
                  <a:tcPr anchor="ctr"/>
                </a:tc>
                <a:tc>
                  <a:txBody>
                    <a:bodyPr/>
                    <a:lstStyle/>
                    <a:p>
                      <a:pPr marL="0" marR="0" algn="l">
                        <a:buNone/>
                      </a:pPr>
                      <a:r>
                        <a:rPr lang="en-IN" sz="2000" b="0" i="0">
                          <a:solidFill>
                            <a:srgbClr val="334155"/>
                          </a:solidFill>
                          <a:effectLst/>
                          <a:latin typeface="Calibri" panose="020F0502020204030204" pitchFamily="34" charset="0"/>
                          <a:ea typeface="Calibri" panose="020F0502020204030204" pitchFamily="34" charset="0"/>
                          <a:cs typeface="Calibri" panose="020F0502020204030204" pitchFamily="34" charset="0"/>
                        </a:rPr>
                        <a:t>Assigned by service Provider/</a:t>
                      </a:r>
                      <a:r>
                        <a:rPr lang="en-IN" sz="2000" b="0" i="0" u="sng">
                          <a:solidFill>
                            <a:srgbClr val="012060"/>
                          </a:solidFill>
                          <a:effectLst/>
                          <a:latin typeface="Calibri" panose="020F0502020204030204" pitchFamily="34" charset="0"/>
                          <a:ea typeface="Calibri" panose="020F0502020204030204" pitchFamily="34" charset="0"/>
                          <a:cs typeface="Calibri" panose="020F0502020204030204" pitchFamily="34" charset="0"/>
                          <a:hlinkClick r:id="rId3"/>
                        </a:rPr>
                        <a:t>IANA</a:t>
                      </a:r>
                      <a:endParaRPr lang="en-IN" sz="2000" b="0" i="0">
                        <a:solidFill>
                          <a:srgbClr val="334155"/>
                        </a:solidFill>
                        <a:effectLst/>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724212463"/>
                  </a:ext>
                </a:extLst>
              </a:tr>
              <a:tr h="359548">
                <a:tc>
                  <a:txBody>
                    <a:bodyPr/>
                    <a:lstStyle/>
                    <a:p>
                      <a:pPr marL="0" marR="0" algn="l">
                        <a:buNone/>
                      </a:pPr>
                      <a:r>
                        <a:rPr lang="en-IN" sz="2000" b="0" i="0">
                          <a:solidFill>
                            <a:srgbClr val="334155"/>
                          </a:solidFill>
                          <a:effectLst/>
                          <a:latin typeface="Calibri" panose="020F0502020204030204" pitchFamily="34" charset="0"/>
                          <a:ea typeface="Calibri" panose="020F0502020204030204" pitchFamily="34" charset="0"/>
                          <a:cs typeface="Calibri" panose="020F0502020204030204" pitchFamily="34" charset="0"/>
                        </a:rPr>
                        <a:t>Unique only to LAN</a:t>
                      </a:r>
                    </a:p>
                  </a:txBody>
                  <a:tcPr anchor="ctr"/>
                </a:tc>
                <a:tc>
                  <a:txBody>
                    <a:bodyPr/>
                    <a:lstStyle/>
                    <a:p>
                      <a:pPr marL="0" marR="0" algn="l">
                        <a:buNone/>
                      </a:pPr>
                      <a:r>
                        <a:rPr lang="en-IN" sz="2000" b="0" i="0">
                          <a:solidFill>
                            <a:srgbClr val="334155"/>
                          </a:solidFill>
                          <a:effectLst/>
                          <a:latin typeface="Calibri" panose="020F0502020204030204" pitchFamily="34" charset="0"/>
                          <a:ea typeface="Calibri" panose="020F0502020204030204" pitchFamily="34" charset="0"/>
                          <a:cs typeface="Calibri" panose="020F0502020204030204" pitchFamily="34" charset="0"/>
                        </a:rPr>
                        <a:t>Unique globally</a:t>
                      </a:r>
                    </a:p>
                  </a:txBody>
                  <a:tcPr anchor="ctr"/>
                </a:tc>
                <a:extLst>
                  <a:ext uri="{0D108BD9-81ED-4DB2-BD59-A6C34878D82A}">
                    <a16:rowId xmlns:a16="http://schemas.microsoft.com/office/drawing/2014/main" val="774746954"/>
                  </a:ext>
                </a:extLst>
              </a:tr>
              <a:tr h="359548">
                <a:tc>
                  <a:txBody>
                    <a:bodyPr/>
                    <a:lstStyle/>
                    <a:p>
                      <a:pPr marL="0" marR="0" algn="l">
                        <a:buNone/>
                      </a:pPr>
                      <a:r>
                        <a:rPr lang="en-IN" sz="2000" b="0" i="0">
                          <a:solidFill>
                            <a:srgbClr val="334155"/>
                          </a:solidFill>
                          <a:effectLst/>
                          <a:latin typeface="Calibri" panose="020F0502020204030204" pitchFamily="34" charset="0"/>
                          <a:ea typeface="Calibri" panose="020F0502020204030204" pitchFamily="34" charset="0"/>
                          <a:cs typeface="Calibri" panose="020F0502020204030204" pitchFamily="34" charset="0"/>
                        </a:rPr>
                        <a:t>Free of charge</a:t>
                      </a:r>
                    </a:p>
                  </a:txBody>
                  <a:tcPr anchor="ctr"/>
                </a:tc>
                <a:tc>
                  <a:txBody>
                    <a:bodyPr/>
                    <a:lstStyle/>
                    <a:p>
                      <a:pPr marL="0" marR="0" algn="l">
                        <a:buNone/>
                      </a:pPr>
                      <a:r>
                        <a:rPr lang="en-IN" sz="2000" b="0" i="0">
                          <a:solidFill>
                            <a:srgbClr val="334155"/>
                          </a:solidFill>
                          <a:effectLst/>
                          <a:latin typeface="Calibri" panose="020F0502020204030204" pitchFamily="34" charset="0"/>
                          <a:ea typeface="Calibri" panose="020F0502020204030204" pitchFamily="34" charset="0"/>
                          <a:cs typeface="Calibri" panose="020F0502020204030204" pitchFamily="34" charset="0"/>
                        </a:rPr>
                        <a:t>Cost associated with using Public IP</a:t>
                      </a:r>
                    </a:p>
                  </a:txBody>
                  <a:tcPr anchor="ctr"/>
                </a:tc>
                <a:extLst>
                  <a:ext uri="{0D108BD9-81ED-4DB2-BD59-A6C34878D82A}">
                    <a16:rowId xmlns:a16="http://schemas.microsoft.com/office/drawing/2014/main" val="1460124185"/>
                  </a:ext>
                </a:extLst>
              </a:tr>
              <a:tr h="2848725">
                <a:tc>
                  <a:txBody>
                    <a:bodyPr/>
                    <a:lstStyle/>
                    <a:p>
                      <a:pPr marL="0" marR="0" algn="l">
                        <a:buNone/>
                      </a:pP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Range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Class A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10.0.0.0 to 10.255.255.255</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Class B –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172.16.0.0 to 172.31.255.255</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Class C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192.168.0.0 to 192.168.255.255</a:t>
                      </a:r>
                    </a:p>
                  </a:txBody>
                  <a:tcPr anchor="ctr"/>
                </a:tc>
                <a:tc>
                  <a:txBody>
                    <a:bodyPr/>
                    <a:lstStyle/>
                    <a:p>
                      <a:pPr marL="0" marR="0" algn="l">
                        <a:buNone/>
                      </a:pP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Range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Class A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1.0.0.0 to 9.255.255.255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11.0.0.0 to 126.255.255.255</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Class B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128.0.0.0 to 172.15.255.255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172.32.0.0 to 191.255.255.255</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Class C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192.0.0.0 to 192.167.255.255               </a:t>
                      </a:r>
                      <a:b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br>
                      <a:r>
                        <a:rPr lang="en-IN" sz="2000" b="0" i="0" dirty="0">
                          <a:solidFill>
                            <a:srgbClr val="334155"/>
                          </a:solidFill>
                          <a:effectLst/>
                          <a:latin typeface="Calibri" panose="020F0502020204030204" pitchFamily="34" charset="0"/>
                          <a:ea typeface="Calibri" panose="020F0502020204030204" pitchFamily="34" charset="0"/>
                          <a:cs typeface="Calibri" panose="020F0502020204030204" pitchFamily="34" charset="0"/>
                        </a:rPr>
                        <a:t>192.169.0.0 to 223.255.255.255</a:t>
                      </a:r>
                    </a:p>
                  </a:txBody>
                  <a:tcPr anchor="ctr"/>
                </a:tc>
                <a:extLst>
                  <a:ext uri="{0D108BD9-81ED-4DB2-BD59-A6C34878D82A}">
                    <a16:rowId xmlns:a16="http://schemas.microsoft.com/office/drawing/2014/main" val="3570355588"/>
                  </a:ext>
                </a:extLst>
              </a:tr>
            </a:tbl>
          </a:graphicData>
        </a:graphic>
      </p:graphicFrame>
    </p:spTree>
    <p:extLst>
      <p:ext uri="{BB962C8B-B14F-4D97-AF65-F5344CB8AC3E}">
        <p14:creationId xmlns:p14="http://schemas.microsoft.com/office/powerpoint/2010/main" val="28104218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F1E3AEA1-72F1-5C1C-44D5-C567BF2699B2}"/>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01027780-4321-5F98-49D9-5277C59FCBA9}"/>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This is the most common form of IP Address. It consists of four sets of numbers(octets) separated by dots. This format can support over 4 billion unique addresses. Each octet represents eight bits, or a byte, and can take a value from 0 to 255. This range is derived from the possible combinations of eight bits (2</a:t>
            </a:r>
            <a:r>
              <a:rPr lang="en-IN" baseline="30000" dirty="0">
                <a:latin typeface="Calibri" panose="020F0502020204030204" pitchFamily="34" charset="0"/>
                <a:ea typeface="Calibri" panose="020F0502020204030204" pitchFamily="34" charset="0"/>
                <a:cs typeface="Calibri" panose="020F0502020204030204" pitchFamily="34" charset="0"/>
              </a:rPr>
              <a:t>8</a:t>
            </a:r>
            <a:r>
              <a:rPr lang="en-IN" dirty="0">
                <a:latin typeface="Calibri" panose="020F0502020204030204" pitchFamily="34" charset="0"/>
                <a:ea typeface="Calibri" panose="020F0502020204030204" pitchFamily="34" charset="0"/>
                <a:cs typeface="Calibri" panose="020F0502020204030204" pitchFamily="34" charset="0"/>
              </a:rPr>
              <a:t> = 256 combinations).</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Example of IPv4 Address</a:t>
            </a:r>
            <a:r>
              <a:rPr lang="en-IN" dirty="0">
                <a:latin typeface="Calibri" panose="020F0502020204030204" pitchFamily="34" charset="0"/>
                <a:ea typeface="Calibri" panose="020F0502020204030204" pitchFamily="34" charset="0"/>
                <a:cs typeface="Calibri" panose="020F0502020204030204" pitchFamily="34" charset="0"/>
              </a:rPr>
              <a:t>: 192.168.1.1</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192 is the first octet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168 is the second octet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1 is the third octet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1 is the fourth octet</a:t>
            </a:r>
          </a:p>
          <a:p>
            <a:pPr marL="114300" indent="0" algn="just" fontAlgn="base">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99EB1BB0-CC5E-D924-94CA-E3D64BEE5DB9}"/>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IPV4</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51BEAD05-8F1D-FE02-2470-3CAD08B2B82C}"/>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spTree>
    <p:extLst>
      <p:ext uri="{BB962C8B-B14F-4D97-AF65-F5344CB8AC3E}">
        <p14:creationId xmlns:p14="http://schemas.microsoft.com/office/powerpoint/2010/main" val="24766223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9815CD16-E56C-FAD0-8B28-61BA5B3232C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9" name="Google Shape;119;p3">
                <a:extLst>
                  <a:ext uri="{FF2B5EF4-FFF2-40B4-BE49-F238E27FC236}">
                    <a16:creationId xmlns:a16="http://schemas.microsoft.com/office/drawing/2014/main" id="{F32DE5D4-9A36-1B49-5EE6-5348122C8CAA}"/>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IPv6 addresses were created to deal with the shortage of IPv4 addresses. They use 128 bits instead of 32, offering a vastly greater number of possible addresses. These addresses are expressed as eight groups of four hexadecimal digits, each group representing 16 bits. The groups are separated by colons.</a:t>
                </a:r>
              </a:p>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Example of IPv6 Address</a:t>
                </a:r>
                <a:r>
                  <a:rPr lang="en-IN" dirty="0">
                    <a:latin typeface="Calibri" panose="020F0502020204030204" pitchFamily="34" charset="0"/>
                    <a:ea typeface="Calibri" panose="020F0502020204030204" pitchFamily="34" charset="0"/>
                    <a:cs typeface="Calibri" panose="020F0502020204030204" pitchFamily="34" charset="0"/>
                  </a:rPr>
                  <a:t>: </a:t>
                </a:r>
              </a:p>
              <a:p>
                <a:pPr marL="114300" indent="0" algn="just" fontAlgn="base">
                  <a:buNone/>
                </a:pPr>
                <a14:m>
                  <m:oMath xmlns:m="http://schemas.openxmlformats.org/officeDocument/2006/math">
                    <m:r>
                      <a:rPr lang="en-IN">
                        <a:latin typeface="Cambria Math" panose="02040503050406030204" pitchFamily="18" charset="0"/>
                      </a:rPr>
                      <m:t>2001:0</m:t>
                    </m:r>
                    <m:r>
                      <a:rPr lang="en-IN" i="1">
                        <a:latin typeface="Cambria Math" panose="02040503050406030204" pitchFamily="18" charset="0"/>
                      </a:rPr>
                      <m:t>𝑑𝑏</m:t>
                    </m:r>
                    <m:r>
                      <a:rPr lang="en-IN">
                        <a:latin typeface="Cambria Math" panose="02040503050406030204" pitchFamily="18" charset="0"/>
                      </a:rPr>
                      <m:t>8:85</m:t>
                    </m:r>
                    <m:r>
                      <a:rPr lang="en-IN" i="1">
                        <a:latin typeface="Cambria Math" panose="02040503050406030204" pitchFamily="18" charset="0"/>
                      </a:rPr>
                      <m:t>𝑎</m:t>
                    </m:r>
                    <m:r>
                      <a:rPr lang="en-IN">
                        <a:latin typeface="Cambria Math" panose="02040503050406030204" pitchFamily="18" charset="0"/>
                      </a:rPr>
                      <m:t>3:0000:0000:8</m:t>
                    </m:r>
                    <m:r>
                      <a:rPr lang="en-IN" i="1">
                        <a:latin typeface="Cambria Math" panose="02040503050406030204" pitchFamily="18" charset="0"/>
                      </a:rPr>
                      <m:t>𝑎</m:t>
                    </m:r>
                    <m:r>
                      <a:rPr lang="en-IN">
                        <a:latin typeface="Cambria Math" panose="02040503050406030204" pitchFamily="18" charset="0"/>
                      </a:rPr>
                      <m:t>2</m:t>
                    </m:r>
                    <m:r>
                      <a:rPr lang="en-IN" i="1">
                        <a:latin typeface="Cambria Math" panose="02040503050406030204" pitchFamily="18" charset="0"/>
                      </a:rPr>
                      <m:t>𝑒</m:t>
                    </m:r>
                    <m:r>
                      <a:rPr lang="en-IN">
                        <a:latin typeface="Cambria Math" panose="02040503050406030204" pitchFamily="18" charset="0"/>
                      </a:rPr>
                      <m:t>:0370:7334</m:t>
                    </m:r>
                  </m:oMath>
                </a14:m>
                <a:r>
                  <a:rPr lang="en-IN" dirty="0">
                    <a:latin typeface="Calibri" panose="020F0502020204030204" pitchFamily="34" charset="0"/>
                    <a:ea typeface="Calibri" panose="020F0502020204030204" pitchFamily="34" charset="0"/>
                    <a:cs typeface="Calibri" panose="020F0502020204030204" pitchFamily="34" charset="0"/>
                  </a:rPr>
                  <a:t> </a:t>
                </a:r>
              </a:p>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Each group (like 2001, 0db8, 85a3, etc.) represents a 16-bit block of the address.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9" name="Google Shape;119;p3">
                <a:extLst>
                  <a:ext uri="{FF2B5EF4-FFF2-40B4-BE49-F238E27FC236}">
                    <a16:creationId xmlns:a16="http://schemas.microsoft.com/office/drawing/2014/main" id="{F32DE5D4-9A36-1B49-5EE6-5348122C8CAA}"/>
                  </a:ext>
                </a:extLst>
              </p:cNvPr>
              <p:cNvSpPr txBox="1">
                <a:spLocks noGrp="1" noRot="1" noChangeAspect="1" noMove="1" noResize="1" noEditPoints="1" noAdjustHandles="1" noChangeArrowheads="1" noChangeShapeType="1" noTextEdit="1"/>
              </p:cNvSpPr>
              <p:nvPr>
                <p:ph type="body" idx="1"/>
              </p:nvPr>
            </p:nvSpPr>
            <p:spPr>
              <a:xfrm>
                <a:off x="838201" y="1224825"/>
                <a:ext cx="10515601" cy="4933950"/>
              </a:xfrm>
              <a:prstGeom prst="rect">
                <a:avLst/>
              </a:prstGeom>
              <a:blipFill>
                <a:blip r:embed="rId3"/>
                <a:stretch>
                  <a:fillRect l="-116" r="-1159"/>
                </a:stretch>
              </a:blipFill>
              <a:ln>
                <a:noFill/>
              </a:ln>
            </p:spPr>
            <p:txBody>
              <a:bodyPr/>
              <a:lstStyle/>
              <a:p>
                <a:r>
                  <a:rPr lang="en-IN">
                    <a:noFill/>
                  </a:rPr>
                  <a:t> </a:t>
                </a:r>
              </a:p>
            </p:txBody>
          </p:sp>
        </mc:Fallback>
      </mc:AlternateContent>
      <p:sp>
        <p:nvSpPr>
          <p:cNvPr id="120" name="Google Shape;120;p3">
            <a:extLst>
              <a:ext uri="{FF2B5EF4-FFF2-40B4-BE49-F238E27FC236}">
                <a16:creationId xmlns:a16="http://schemas.microsoft.com/office/drawing/2014/main" id="{E1A6A63A-5471-C3FE-E50C-6925D95BFBAB}"/>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IPV6</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7741B2CA-47CE-EB7C-42EE-BDA284710406}"/>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spTree>
    <p:extLst>
      <p:ext uri="{BB962C8B-B14F-4D97-AF65-F5344CB8AC3E}">
        <p14:creationId xmlns:p14="http://schemas.microsoft.com/office/powerpoint/2010/main" val="6878552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EDA4A73E-BE70-9038-8234-0E16EFF2A597}"/>
            </a:ext>
          </a:extLst>
        </p:cNvPr>
        <p:cNvGrpSpPr/>
        <p:nvPr/>
      </p:nvGrpSpPr>
      <p:grpSpPr>
        <a:xfrm>
          <a:off x="0" y="0"/>
          <a:ext cx="0" cy="0"/>
          <a:chOff x="0" y="0"/>
          <a:chExt cx="0" cy="0"/>
        </a:xfrm>
      </p:grpSpPr>
      <p:sp>
        <p:nvSpPr>
          <p:cNvPr id="120" name="Google Shape;120;p3">
            <a:extLst>
              <a:ext uri="{FF2B5EF4-FFF2-40B4-BE49-F238E27FC236}">
                <a16:creationId xmlns:a16="http://schemas.microsoft.com/office/drawing/2014/main" id="{46D0C918-006D-1DB3-9483-C26C95D9B7CF}"/>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IPV4 V/S IPV6</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E28C9B39-0E94-B0B4-CDF6-8D97E14F01CC}"/>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graphicFrame>
        <p:nvGraphicFramePr>
          <p:cNvPr id="2" name="Table 1">
            <a:extLst>
              <a:ext uri="{FF2B5EF4-FFF2-40B4-BE49-F238E27FC236}">
                <a16:creationId xmlns:a16="http://schemas.microsoft.com/office/drawing/2014/main" id="{38426072-9FE9-02D3-4056-7925AE1388B3}"/>
              </a:ext>
            </a:extLst>
          </p:cNvPr>
          <p:cNvGraphicFramePr>
            <a:graphicFrameLocks noGrp="1"/>
          </p:cNvGraphicFramePr>
          <p:nvPr>
            <p:extLst>
              <p:ext uri="{D42A27DB-BD31-4B8C-83A1-F6EECF244321}">
                <p14:modId xmlns:p14="http://schemas.microsoft.com/office/powerpoint/2010/main" val="506622287"/>
              </p:ext>
            </p:extLst>
          </p:nvPr>
        </p:nvGraphicFramePr>
        <p:xfrm>
          <a:off x="886245" y="1043318"/>
          <a:ext cx="10314058" cy="5296964"/>
        </p:xfrm>
        <a:graphic>
          <a:graphicData uri="http://schemas.openxmlformats.org/drawingml/2006/table">
            <a:tbl>
              <a:tblPr firstRow="1" bandRow="1">
                <a:tableStyleId>{5C22544A-7EE6-4342-B048-85BDC9FD1C3A}</a:tableStyleId>
              </a:tblPr>
              <a:tblGrid>
                <a:gridCol w="5157029">
                  <a:extLst>
                    <a:ext uri="{9D8B030D-6E8A-4147-A177-3AD203B41FA5}">
                      <a16:colId xmlns:a16="http://schemas.microsoft.com/office/drawing/2014/main" val="2715080327"/>
                    </a:ext>
                  </a:extLst>
                </a:gridCol>
                <a:gridCol w="5157029">
                  <a:extLst>
                    <a:ext uri="{9D8B030D-6E8A-4147-A177-3AD203B41FA5}">
                      <a16:colId xmlns:a16="http://schemas.microsoft.com/office/drawing/2014/main" val="3960064174"/>
                    </a:ext>
                  </a:extLst>
                </a:gridCol>
              </a:tblGrid>
              <a:tr h="597801">
                <a:tc>
                  <a:txBody>
                    <a:bodyPr/>
                    <a:lstStyle/>
                    <a:p>
                      <a:pPr marL="0" marR="0" algn="ctr" fontAlgn="base">
                        <a:spcBef>
                          <a:spcPts val="1875"/>
                        </a:spcBef>
                        <a:spcAft>
                          <a:spcPts val="1875"/>
                        </a:spcAft>
                        <a:buNone/>
                      </a:pPr>
                      <a:r>
                        <a:rPr lang="en-IN" sz="1800" b="1" i="0" spc="12" dirty="0">
                          <a:solidFill>
                            <a:schemeClr val="bg1"/>
                          </a:solidFill>
                          <a:effectLst/>
                          <a:latin typeface="Calibri" panose="020F0502020204030204" pitchFamily="34" charset="0"/>
                          <a:ea typeface="Calibri" panose="020F0502020204030204" pitchFamily="34" charset="0"/>
                          <a:cs typeface="Calibri" panose="020F0502020204030204" pitchFamily="34" charset="0"/>
                        </a:rPr>
                        <a:t>IPv4</a:t>
                      </a:r>
                      <a:endParaRPr lang="en-IN" sz="18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8100" marR="38100" marT="63500" marB="63500" anchor="ctr"/>
                </a:tc>
                <a:tc>
                  <a:txBody>
                    <a:bodyPr/>
                    <a:lstStyle/>
                    <a:p>
                      <a:pPr marL="0" marR="0" algn="ctr" fontAlgn="base">
                        <a:spcBef>
                          <a:spcPts val="1875"/>
                        </a:spcBef>
                        <a:spcAft>
                          <a:spcPts val="1875"/>
                        </a:spcAft>
                        <a:buNone/>
                      </a:pPr>
                      <a:r>
                        <a:rPr lang="en-IN" sz="1800" b="1" i="0" spc="12" dirty="0">
                          <a:solidFill>
                            <a:schemeClr val="bg1"/>
                          </a:solidFill>
                          <a:effectLst/>
                          <a:latin typeface="Calibri" panose="020F0502020204030204" pitchFamily="34" charset="0"/>
                          <a:ea typeface="Calibri" panose="020F0502020204030204" pitchFamily="34" charset="0"/>
                          <a:cs typeface="Calibri" panose="020F0502020204030204" pitchFamily="34" charset="0"/>
                        </a:rPr>
                        <a:t>IPv6</a:t>
                      </a:r>
                      <a:endParaRPr lang="en-IN" sz="18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63500" marB="63500" anchor="ctr"/>
                </a:tc>
                <a:extLst>
                  <a:ext uri="{0D108BD9-81ED-4DB2-BD59-A6C34878D82A}">
                    <a16:rowId xmlns:a16="http://schemas.microsoft.com/office/drawing/2014/main" val="3121519238"/>
                  </a:ext>
                </a:extLst>
              </a:tr>
              <a:tr h="597801">
                <a:tc>
                  <a:txBody>
                    <a:bodyPr/>
                    <a:lstStyle/>
                    <a:p>
                      <a:pPr marL="0" marR="0" algn="ctr" fontAlgn="ctr">
                        <a:spcBef>
                          <a:spcPts val="1875"/>
                        </a:spcBef>
                        <a:spcAft>
                          <a:spcPts val="1875"/>
                        </a:spcAft>
                        <a:buNone/>
                      </a:pPr>
                      <a:r>
                        <a:rPr lang="en-IN" sz="18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Uses a 32-bit IP address.</a:t>
                      </a:r>
                      <a:endParaRPr lang="en-IN" sz="18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Uses a 128-bit IP address.</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099269743"/>
                  </a:ext>
                </a:extLst>
              </a:tr>
              <a:tr h="597801">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Uses decimal dot-separated notation (e.g., 192.168.0.1).</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Uses hexadecimal colon-separated notation (e.g., 2001:db8::1).</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651366966"/>
                  </a:ext>
                </a:extLst>
              </a:tr>
              <a:tr h="597801">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Provides a limited address space of about 4.3 billion addresses.</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Provides an extremely large address space for future growth.</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172341021"/>
                  </a:ext>
                </a:extLst>
              </a:tr>
              <a:tr h="597801">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Supports manual configuration and DHCP.</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Supports SLAAC, DHCPv6, and manual configuration.</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738735674"/>
                  </a:ext>
                </a:extLst>
              </a:tr>
              <a:tr h="597801">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End-to-end connectivity is often affected due to NAT.</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End-to-end connectivity is restored without NAT.</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210695441"/>
                  </a:ext>
                </a:extLst>
              </a:tr>
              <a:tr h="597801">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IPsec support is optional.</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IPsec support is built into the protocol design.</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276667752"/>
                  </a:ext>
                </a:extLst>
              </a:tr>
              <a:tr h="597801">
                <a:tc>
                  <a:txBody>
                    <a:bodyPr/>
                    <a:lstStyle/>
                    <a:p>
                      <a:pPr marL="0" marR="0" algn="ctr" fontAlgn="ctr">
                        <a:spcBef>
                          <a:spcPts val="1875"/>
                        </a:spcBef>
                        <a:spcAft>
                          <a:spcPts val="1875"/>
                        </a:spcAft>
                        <a:buNone/>
                      </a:pPr>
                      <a:r>
                        <a:rPr lang="en-IN" sz="18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Fragmentation is performed by both sender and routers.</a:t>
                      </a:r>
                      <a:endParaRPr lang="en-IN" sz="18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Fragmentation is performed only by the sender.</a:t>
                      </a:r>
                      <a:endParaRPr lang="en-IN" sz="18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435384087"/>
                  </a:ext>
                </a:extLst>
              </a:tr>
            </a:tbl>
          </a:graphicData>
        </a:graphic>
      </p:graphicFrame>
    </p:spTree>
    <p:extLst>
      <p:ext uri="{BB962C8B-B14F-4D97-AF65-F5344CB8AC3E}">
        <p14:creationId xmlns:p14="http://schemas.microsoft.com/office/powerpoint/2010/main" val="92260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619230F-E95B-3BC5-46BB-4A07B8661ABF}"/>
            </a:ext>
          </a:extLst>
        </p:cNvPr>
        <p:cNvGrpSpPr/>
        <p:nvPr/>
      </p:nvGrpSpPr>
      <p:grpSpPr>
        <a:xfrm>
          <a:off x="0" y="0"/>
          <a:ext cx="0" cy="0"/>
          <a:chOff x="0" y="0"/>
          <a:chExt cx="0" cy="0"/>
        </a:xfrm>
      </p:grpSpPr>
      <p:sp>
        <p:nvSpPr>
          <p:cNvPr id="120" name="Google Shape;120;p3">
            <a:extLst>
              <a:ext uri="{FF2B5EF4-FFF2-40B4-BE49-F238E27FC236}">
                <a16:creationId xmlns:a16="http://schemas.microsoft.com/office/drawing/2014/main" id="{42F0ECE9-01EA-4D8C-D530-62006736EEF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IPV4 V/S IPV6</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F7CB00FA-A57F-7DF8-76AD-691DAD2A11FC}"/>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graphicFrame>
        <p:nvGraphicFramePr>
          <p:cNvPr id="3" name="Table 2">
            <a:extLst>
              <a:ext uri="{FF2B5EF4-FFF2-40B4-BE49-F238E27FC236}">
                <a16:creationId xmlns:a16="http://schemas.microsoft.com/office/drawing/2014/main" id="{5255D4F2-8B4E-60AF-3102-9B9DA3658CA3}"/>
              </a:ext>
            </a:extLst>
          </p:cNvPr>
          <p:cNvGraphicFramePr>
            <a:graphicFrameLocks noGrp="1"/>
          </p:cNvGraphicFramePr>
          <p:nvPr>
            <p:extLst>
              <p:ext uri="{D42A27DB-BD31-4B8C-83A1-F6EECF244321}">
                <p14:modId xmlns:p14="http://schemas.microsoft.com/office/powerpoint/2010/main" val="2235469586"/>
              </p:ext>
            </p:extLst>
          </p:nvPr>
        </p:nvGraphicFramePr>
        <p:xfrm>
          <a:off x="886245" y="1043318"/>
          <a:ext cx="10314058" cy="5274715"/>
        </p:xfrm>
        <a:graphic>
          <a:graphicData uri="http://schemas.openxmlformats.org/drawingml/2006/table">
            <a:tbl>
              <a:tblPr firstRow="1" bandRow="1">
                <a:tableStyleId>{5C22544A-7EE6-4342-B048-85BDC9FD1C3A}</a:tableStyleId>
              </a:tblPr>
              <a:tblGrid>
                <a:gridCol w="5157029">
                  <a:extLst>
                    <a:ext uri="{9D8B030D-6E8A-4147-A177-3AD203B41FA5}">
                      <a16:colId xmlns:a16="http://schemas.microsoft.com/office/drawing/2014/main" val="2715080327"/>
                    </a:ext>
                  </a:extLst>
                </a:gridCol>
                <a:gridCol w="5157029">
                  <a:extLst>
                    <a:ext uri="{9D8B030D-6E8A-4147-A177-3AD203B41FA5}">
                      <a16:colId xmlns:a16="http://schemas.microsoft.com/office/drawing/2014/main" val="3960064174"/>
                    </a:ext>
                  </a:extLst>
                </a:gridCol>
              </a:tblGrid>
              <a:tr h="582503">
                <a:tc>
                  <a:txBody>
                    <a:bodyPr/>
                    <a:lstStyle/>
                    <a:p>
                      <a:pPr marL="0" marR="0" algn="ctr" fontAlgn="base">
                        <a:spcBef>
                          <a:spcPts val="1875"/>
                        </a:spcBef>
                        <a:spcAft>
                          <a:spcPts val="1875"/>
                        </a:spcAft>
                        <a:buNone/>
                      </a:pPr>
                      <a:r>
                        <a:rPr lang="en-IN" sz="1800" b="1" i="0" spc="12" dirty="0">
                          <a:solidFill>
                            <a:schemeClr val="bg1"/>
                          </a:solidFill>
                          <a:effectLst/>
                          <a:latin typeface="Calibri" panose="020F0502020204030204" pitchFamily="34" charset="0"/>
                          <a:ea typeface="Calibri" panose="020F0502020204030204" pitchFamily="34" charset="0"/>
                          <a:cs typeface="Calibri" panose="020F0502020204030204" pitchFamily="34" charset="0"/>
                        </a:rPr>
                        <a:t>IPv4</a:t>
                      </a:r>
                      <a:endParaRPr lang="en-IN" sz="18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8100" marR="38100" marT="63500" marB="63500" anchor="ctr"/>
                </a:tc>
                <a:tc>
                  <a:txBody>
                    <a:bodyPr/>
                    <a:lstStyle/>
                    <a:p>
                      <a:pPr marL="0" marR="0" algn="ctr" fontAlgn="base">
                        <a:spcBef>
                          <a:spcPts val="1875"/>
                        </a:spcBef>
                        <a:spcAft>
                          <a:spcPts val="1875"/>
                        </a:spcAft>
                        <a:buNone/>
                      </a:pPr>
                      <a:r>
                        <a:rPr lang="en-IN" sz="1800" b="1" i="0" spc="12" dirty="0">
                          <a:solidFill>
                            <a:schemeClr val="bg1"/>
                          </a:solidFill>
                          <a:effectLst/>
                          <a:latin typeface="Calibri" panose="020F0502020204030204" pitchFamily="34" charset="0"/>
                          <a:ea typeface="Calibri" panose="020F0502020204030204" pitchFamily="34" charset="0"/>
                          <a:cs typeface="Calibri" panose="020F0502020204030204" pitchFamily="34" charset="0"/>
                        </a:rPr>
                        <a:t>IPv6</a:t>
                      </a:r>
                      <a:endParaRPr lang="en-IN" sz="18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63500" marB="63500" anchor="ctr"/>
                </a:tc>
                <a:extLst>
                  <a:ext uri="{0D108BD9-81ED-4DB2-BD59-A6C34878D82A}">
                    <a16:rowId xmlns:a16="http://schemas.microsoft.com/office/drawing/2014/main" val="3121519238"/>
                  </a:ext>
                </a:extLst>
              </a:tr>
              <a:tr h="767250">
                <a:tc>
                  <a:txBody>
                    <a:bodyPr/>
                    <a:lstStyle/>
                    <a:p>
                      <a:pPr marL="0" marR="0" algn="ctr"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Does not support flow-based packet identification.</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Uses a Flow Label field for packet flow identification.</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099269743"/>
                  </a:ext>
                </a:extLst>
              </a:tr>
              <a:tr h="582503">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Includes a header checksum.</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Does not include a header checksum.</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651366966"/>
                  </a:ext>
                </a:extLst>
              </a:tr>
              <a:tr h="767250">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Supports broadcast communication.</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Uses multicast and anycast instead of broadcast.</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172341021"/>
                  </a:ext>
                </a:extLst>
              </a:tr>
              <a:tr h="582503">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Header size is variable (20–60 bytes).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Header size is fixed at 40 bytes.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738735674"/>
                  </a:ext>
                </a:extLst>
              </a:tr>
              <a:tr h="582503">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Uses address classes (A, B, C, D, and E).</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Does not use address classes.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210695441"/>
                  </a:ext>
                </a:extLst>
              </a:tr>
              <a:tr h="767250">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Supports Variable Length Subnet Masking (VLSM).</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Uses prefix-based addressing.</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276667752"/>
                  </a:ext>
                </a:extLst>
              </a:tr>
              <a:tr h="582503">
                <a:tc>
                  <a:txBody>
                    <a:bodyPr/>
                    <a:lstStyle/>
                    <a:p>
                      <a:pPr marL="0" marR="0" algn="ctr"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Example address: 66.94.29.13.</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Example address: 2001:db8::1.</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435384087"/>
                  </a:ext>
                </a:extLst>
              </a:tr>
            </a:tbl>
          </a:graphicData>
        </a:graphic>
      </p:graphicFrame>
    </p:spTree>
    <p:extLst>
      <p:ext uri="{BB962C8B-B14F-4D97-AF65-F5344CB8AC3E}">
        <p14:creationId xmlns:p14="http://schemas.microsoft.com/office/powerpoint/2010/main" val="21698402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1236EF76-5F33-455F-08A0-73C01C13AD89}"/>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40D12406-1EEA-C3AE-CF99-768ABE78972A}"/>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Static IP Addresses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Static IP Addresses are permanently assigned to a device, typically important for servers or devices that need a constant address.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Reliable for network services that require regular access such as websites, remote management.</a:t>
            </a:r>
          </a:p>
          <a:p>
            <a:pPr marL="114300" lvl="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Dynamic IP Addresses: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Temporarily assigned from a pool of available addresses by the Dynamic Host Configuration Protocol (DHCP).</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Cost-effective and efficient for providers, perfect for consumer devices that do not require permanent addresses.</a:t>
            </a:r>
          </a:p>
        </p:txBody>
      </p:sp>
      <p:sp>
        <p:nvSpPr>
          <p:cNvPr id="120" name="Google Shape;120;p3">
            <a:extLst>
              <a:ext uri="{FF2B5EF4-FFF2-40B4-BE49-F238E27FC236}">
                <a16:creationId xmlns:a16="http://schemas.microsoft.com/office/drawing/2014/main" id="{CC35B946-D0AB-3483-3260-F1C142BD8DB9}"/>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STATIC V/S DYNAMIC IP ADDRESS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E851438E-0158-BA88-C89C-4CE188B90CB7}"/>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spTree>
    <p:extLst>
      <p:ext uri="{BB962C8B-B14F-4D97-AF65-F5344CB8AC3E}">
        <p14:creationId xmlns:p14="http://schemas.microsoft.com/office/powerpoint/2010/main" val="17489210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E84A6BD-090D-F180-E120-1001CE5F7095}"/>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4A321F12-3DE4-1248-9A1C-F1D56F02F430}"/>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Subnetting is the process of dividing a large IP network into smaller logical networks called subnets. Each subnet allows devices to communicate efficiently, improving network performance, security, and manageability.</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Each department is assigned a separate subnet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Devices within a department communicate using their own subnet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Inter-department traffic is routed through a router</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Broadcast traffic is limited to each subnet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Network performance, security, and management are improved</a:t>
            </a:r>
          </a:p>
          <a:p>
            <a:pPr marL="114300" indent="0" algn="just" fontAlgn="base">
              <a:lnSpc>
                <a:spcPct val="100000"/>
              </a:lnSpc>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1469626A-EF4B-C634-41FB-53C5909B87E4}"/>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SUBNETTING</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9999E469-D619-F6FD-3EAE-67990CE46ADA}"/>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84</a:t>
            </a:fld>
            <a:endParaRPr/>
          </a:p>
        </p:txBody>
      </p:sp>
    </p:spTree>
    <p:extLst>
      <p:ext uri="{BB962C8B-B14F-4D97-AF65-F5344CB8AC3E}">
        <p14:creationId xmlns:p14="http://schemas.microsoft.com/office/powerpoint/2010/main" val="1198269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DE6FCD70-C2FC-7D9F-655C-6E807D34B38B}"/>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8BB8F0E3-EF46-706F-6468-0561D1A497FF}"/>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lnSpc>
                <a:spcPct val="100000"/>
              </a:lnSpc>
              <a:buNone/>
            </a:pPr>
            <a:r>
              <a:rPr lang="en-US" sz="2600" dirty="0">
                <a:latin typeface="Calibri" panose="020F0502020204030204" pitchFamily="34" charset="0"/>
                <a:ea typeface="Calibri" panose="020F0502020204030204" pitchFamily="34" charset="0"/>
                <a:cs typeface="Calibri" panose="020F0502020204030204" pitchFamily="34" charset="0"/>
              </a:rPr>
              <a:t>Need for subnetting:</a:t>
            </a:r>
          </a:p>
          <a:p>
            <a:pPr marL="114300" indent="0" algn="just" fontAlgn="base">
              <a:buNone/>
            </a:pPr>
            <a:r>
              <a:rPr lang="en-IN" sz="2600" dirty="0">
                <a:latin typeface="Calibri" panose="020F0502020204030204" pitchFamily="34" charset="0"/>
                <a:ea typeface="Calibri" panose="020F0502020204030204" pitchFamily="34" charset="0"/>
                <a:cs typeface="Calibri" panose="020F0502020204030204" pitchFamily="34" charset="0"/>
              </a:rPr>
              <a:t>Subnetting enables a single IP network to be divided into smaller, logical networks, allowing for efficient IP address usage, improved performance, and enhanced security control.</a:t>
            </a:r>
          </a:p>
          <a:p>
            <a:pPr algn="just" fontAlgn="base"/>
            <a:r>
              <a:rPr lang="en-IN" sz="2600" b="1" dirty="0">
                <a:latin typeface="Calibri" panose="020F0502020204030204" pitchFamily="34" charset="0"/>
                <a:ea typeface="Calibri" panose="020F0502020204030204" pitchFamily="34" charset="0"/>
                <a:cs typeface="Calibri" panose="020F0502020204030204" pitchFamily="34" charset="0"/>
              </a:rPr>
              <a:t>IP Addressing:</a:t>
            </a:r>
            <a:r>
              <a:rPr lang="en-IN" sz="2600" dirty="0">
                <a:latin typeface="Calibri" panose="020F0502020204030204" pitchFamily="34" charset="0"/>
                <a:ea typeface="Calibri" panose="020F0502020204030204" pitchFamily="34" charset="0"/>
                <a:cs typeface="Calibri" panose="020F0502020204030204" pitchFamily="34" charset="0"/>
              </a:rPr>
              <a:t> An IP address uniquely identifies a device on a network and is divided into logical parts to support routing and communication. An IPv4 address is a 32-bit value written as four octets separated by dots (for example, 192.168.1.1).</a:t>
            </a:r>
          </a:p>
          <a:p>
            <a:pPr lvl="0" algn="just" fontAlgn="base"/>
            <a:r>
              <a:rPr lang="en-IN" sz="2600" b="1" dirty="0">
                <a:latin typeface="Calibri" panose="020F0502020204030204" pitchFamily="34" charset="0"/>
                <a:ea typeface="Calibri" panose="020F0502020204030204" pitchFamily="34" charset="0"/>
                <a:cs typeface="Calibri" panose="020F0502020204030204" pitchFamily="34" charset="0"/>
              </a:rPr>
              <a:t>Network portion:</a:t>
            </a:r>
            <a:r>
              <a:rPr lang="en-IN" sz="2600" dirty="0">
                <a:latin typeface="Calibri" panose="020F0502020204030204" pitchFamily="34" charset="0"/>
                <a:ea typeface="Calibri" panose="020F0502020204030204" pitchFamily="34" charset="0"/>
                <a:cs typeface="Calibri" panose="020F0502020204030204" pitchFamily="34" charset="0"/>
              </a:rPr>
              <a:t> Identifies the network to which the device belongs</a:t>
            </a:r>
          </a:p>
          <a:p>
            <a:pPr lvl="0" algn="just" fontAlgn="base"/>
            <a:r>
              <a:rPr lang="en-IN" sz="2600" b="1" dirty="0">
                <a:latin typeface="Calibri" panose="020F0502020204030204" pitchFamily="34" charset="0"/>
                <a:ea typeface="Calibri" panose="020F0502020204030204" pitchFamily="34" charset="0"/>
                <a:cs typeface="Calibri" panose="020F0502020204030204" pitchFamily="34" charset="0"/>
              </a:rPr>
              <a:t>Host portion:</a:t>
            </a:r>
            <a:r>
              <a:rPr lang="en-IN" sz="2600" dirty="0">
                <a:latin typeface="Calibri" panose="020F0502020204030204" pitchFamily="34" charset="0"/>
                <a:ea typeface="Calibri" panose="020F0502020204030204" pitchFamily="34" charset="0"/>
                <a:cs typeface="Calibri" panose="020F0502020204030204" pitchFamily="34" charset="0"/>
              </a:rPr>
              <a:t> Identifies the specific device within that network</a:t>
            </a:r>
          </a:p>
        </p:txBody>
      </p:sp>
      <p:sp>
        <p:nvSpPr>
          <p:cNvPr id="121" name="Google Shape;121;p3">
            <a:extLst>
              <a:ext uri="{FF2B5EF4-FFF2-40B4-BE49-F238E27FC236}">
                <a16:creationId xmlns:a16="http://schemas.microsoft.com/office/drawing/2014/main" id="{AA6D8899-B78E-62F7-5FD2-A34E411B91A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85</a:t>
            </a:fld>
            <a:endParaRPr/>
          </a:p>
        </p:txBody>
      </p:sp>
      <p:sp>
        <p:nvSpPr>
          <p:cNvPr id="2" name="Google Shape;120;p3">
            <a:extLst>
              <a:ext uri="{FF2B5EF4-FFF2-40B4-BE49-F238E27FC236}">
                <a16:creationId xmlns:a16="http://schemas.microsoft.com/office/drawing/2014/main" id="{D9CBD833-AC1A-D187-3FF0-1A5F442EFAAB}"/>
              </a:ext>
            </a:extLst>
          </p:cNvPr>
          <p:cNvSpPr txBox="1">
            <a:spLocks noGrp="1"/>
          </p:cNvSpPr>
          <p:nvPr>
            <p:ph type="title"/>
          </p:nvPr>
        </p:nvSpPr>
        <p:spPr>
          <a:xfrm>
            <a:off x="803275" y="179388"/>
            <a:ext cx="10396538" cy="71913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SUBNETTING</a:t>
            </a:r>
            <a:endParaRPr b="1" dirty="0">
              <a:latin typeface="Arial"/>
              <a:ea typeface="Arial"/>
              <a:cs typeface="Arial"/>
              <a:sym typeface="Arial"/>
            </a:endParaRPr>
          </a:p>
        </p:txBody>
      </p:sp>
    </p:spTree>
    <p:extLst>
      <p:ext uri="{BB962C8B-B14F-4D97-AF65-F5344CB8AC3E}">
        <p14:creationId xmlns:p14="http://schemas.microsoft.com/office/powerpoint/2010/main" val="24310844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48528F0-2221-CA8A-BCDD-CC7356904493}"/>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24ECC217-BE2D-D848-973E-AEFE660FAB5C}"/>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2400" dirty="0">
                <a:latin typeface="Calibri" panose="020F0502020204030204" pitchFamily="34" charset="0"/>
                <a:ea typeface="Calibri" panose="020F0502020204030204" pitchFamily="34" charset="0"/>
                <a:cs typeface="Calibri" panose="020F0502020204030204" pitchFamily="34" charset="0"/>
              </a:rPr>
              <a:t>In classful IPv4 addressing, IP addresses are divided into classes based on how many bits are used for the network ID and host ID.</a:t>
            </a:r>
          </a:p>
          <a:p>
            <a:pPr lvl="0" algn="just" fontAlgn="base"/>
            <a:r>
              <a:rPr lang="en-IN" sz="2400" b="1" dirty="0">
                <a:latin typeface="Calibri" panose="020F0502020204030204" pitchFamily="34" charset="0"/>
                <a:ea typeface="Calibri" panose="020F0502020204030204" pitchFamily="34" charset="0"/>
                <a:cs typeface="Calibri" panose="020F0502020204030204" pitchFamily="34" charset="0"/>
              </a:rPr>
              <a:t>Class A:</a:t>
            </a:r>
            <a:r>
              <a:rPr lang="en-IN" sz="2400" dirty="0">
                <a:latin typeface="Calibri" panose="020F0502020204030204" pitchFamily="34" charset="0"/>
                <a:ea typeface="Calibri" panose="020F0502020204030204" pitchFamily="34" charset="0"/>
                <a:cs typeface="Calibri" panose="020F0502020204030204" pitchFamily="34" charset="0"/>
              </a:rPr>
              <a:t> 8-bit network ID, 24-bit host ID</a:t>
            </a:r>
          </a:p>
          <a:p>
            <a:pPr lvl="0" algn="just" fontAlgn="base"/>
            <a:r>
              <a:rPr lang="en-IN" sz="2400" b="1" dirty="0">
                <a:latin typeface="Calibri" panose="020F0502020204030204" pitchFamily="34" charset="0"/>
                <a:ea typeface="Calibri" panose="020F0502020204030204" pitchFamily="34" charset="0"/>
                <a:cs typeface="Calibri" panose="020F0502020204030204" pitchFamily="34" charset="0"/>
              </a:rPr>
              <a:t>Class B:</a:t>
            </a:r>
            <a:r>
              <a:rPr lang="en-IN" sz="2400" dirty="0">
                <a:latin typeface="Calibri" panose="020F0502020204030204" pitchFamily="34" charset="0"/>
                <a:ea typeface="Calibri" panose="020F0502020204030204" pitchFamily="34" charset="0"/>
                <a:cs typeface="Calibri" panose="020F0502020204030204" pitchFamily="34" charset="0"/>
              </a:rPr>
              <a:t> 16-bit network ID, 16-bit host ID</a:t>
            </a:r>
          </a:p>
          <a:p>
            <a:pPr lvl="0" algn="just" fontAlgn="base"/>
            <a:r>
              <a:rPr lang="en-IN" sz="2400" b="1" dirty="0">
                <a:latin typeface="Calibri" panose="020F0502020204030204" pitchFamily="34" charset="0"/>
                <a:ea typeface="Calibri" panose="020F0502020204030204" pitchFamily="34" charset="0"/>
                <a:cs typeface="Calibri" panose="020F0502020204030204" pitchFamily="34" charset="0"/>
              </a:rPr>
              <a:t>Class C:</a:t>
            </a:r>
            <a:r>
              <a:rPr lang="en-IN" sz="2400" dirty="0">
                <a:latin typeface="Calibri" panose="020F0502020204030204" pitchFamily="34" charset="0"/>
                <a:ea typeface="Calibri" panose="020F0502020204030204" pitchFamily="34" charset="0"/>
                <a:cs typeface="Calibri" panose="020F0502020204030204" pitchFamily="34" charset="0"/>
              </a:rPr>
              <a:t> 24-bit network ID, 8-bit host ID</a:t>
            </a:r>
          </a:p>
          <a:p>
            <a:pPr marL="114300" indent="0" algn="just" fontAlgn="base">
              <a:lnSpc>
                <a:spcPct val="100000"/>
              </a:lnSpc>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1" name="Google Shape;121;p3">
            <a:extLst>
              <a:ext uri="{FF2B5EF4-FFF2-40B4-BE49-F238E27FC236}">
                <a16:creationId xmlns:a16="http://schemas.microsoft.com/office/drawing/2014/main" id="{6603DA35-61F1-C887-4172-5F3DF765B77A}"/>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sp>
        <p:nvSpPr>
          <p:cNvPr id="2" name="Google Shape;120;p3">
            <a:extLst>
              <a:ext uri="{FF2B5EF4-FFF2-40B4-BE49-F238E27FC236}">
                <a16:creationId xmlns:a16="http://schemas.microsoft.com/office/drawing/2014/main" id="{ABAB14E9-FB6C-A04B-178D-6C7A22D9741F}"/>
              </a:ext>
            </a:extLst>
          </p:cNvPr>
          <p:cNvSpPr txBox="1">
            <a:spLocks noGrp="1"/>
          </p:cNvSpPr>
          <p:nvPr>
            <p:ph type="title"/>
          </p:nvPr>
        </p:nvSpPr>
        <p:spPr>
          <a:xfrm>
            <a:off x="803275" y="179388"/>
            <a:ext cx="10396538" cy="71913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SUBNETTING</a:t>
            </a:r>
            <a:endParaRPr b="1" dirty="0">
              <a:latin typeface="Arial"/>
              <a:ea typeface="Arial"/>
              <a:cs typeface="Arial"/>
              <a:sym typeface="Arial"/>
            </a:endParaRPr>
          </a:p>
        </p:txBody>
      </p:sp>
      <p:pic>
        <p:nvPicPr>
          <p:cNvPr id="4" name="Picture 3">
            <a:extLst>
              <a:ext uri="{FF2B5EF4-FFF2-40B4-BE49-F238E27FC236}">
                <a16:creationId xmlns:a16="http://schemas.microsoft.com/office/drawing/2014/main" id="{15B6C057-FA90-CB9F-0575-F693DA5ECD67}"/>
              </a:ext>
            </a:extLst>
          </p:cNvPr>
          <p:cNvPicPr>
            <a:picLocks noChangeAspect="1"/>
          </p:cNvPicPr>
          <p:nvPr/>
        </p:nvPicPr>
        <p:blipFill>
          <a:blip r:embed="rId3"/>
          <a:stretch>
            <a:fillRect/>
          </a:stretch>
        </p:blipFill>
        <p:spPr>
          <a:xfrm>
            <a:off x="3064328" y="3470004"/>
            <a:ext cx="6063343" cy="2688771"/>
          </a:xfrm>
          <a:prstGeom prst="rect">
            <a:avLst/>
          </a:prstGeom>
        </p:spPr>
      </p:pic>
    </p:spTree>
    <p:extLst>
      <p:ext uri="{BB962C8B-B14F-4D97-AF65-F5344CB8AC3E}">
        <p14:creationId xmlns:p14="http://schemas.microsoft.com/office/powerpoint/2010/main" val="3713805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B7D030BF-7F5E-80DB-14A9-D224D94840FB}"/>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0952815C-9D57-2D94-33E5-8DB1AD856AA3}"/>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SUBNET MASK:</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A subnet mask is a 32-bit number used in IP addressing to separate the network portion of an IP address from the host portion.</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It helps computers and devices determine which part of an IP address refers to the network they are present,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And which part refers to their specific location or address within that network.</a:t>
            </a:r>
          </a:p>
          <a:p>
            <a:pPr marL="114300" indent="0" algn="just" fontAlgn="base">
              <a:lnSpc>
                <a:spcPct val="100000"/>
              </a:lnSpc>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C12EB7F3-4BE3-2F8D-C6CD-0468349AF0C5}"/>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SUBNETTING</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0D00E4C8-3D93-4A36-5B02-2A8570CFD70D}"/>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87</a:t>
            </a:fld>
            <a:endParaRPr/>
          </a:p>
        </p:txBody>
      </p:sp>
      <p:pic>
        <p:nvPicPr>
          <p:cNvPr id="5" name="Picture 4">
            <a:extLst>
              <a:ext uri="{FF2B5EF4-FFF2-40B4-BE49-F238E27FC236}">
                <a16:creationId xmlns:a16="http://schemas.microsoft.com/office/drawing/2014/main" id="{8E377999-6673-7529-B274-3C00E29A9569}"/>
              </a:ext>
            </a:extLst>
          </p:cNvPr>
          <p:cNvPicPr>
            <a:picLocks noChangeAspect="1"/>
          </p:cNvPicPr>
          <p:nvPr/>
        </p:nvPicPr>
        <p:blipFill>
          <a:blip r:embed="rId3"/>
          <a:srcRect l="15428" t="18000" r="15001" b="18000"/>
          <a:stretch>
            <a:fillRect/>
          </a:stretch>
        </p:blipFill>
        <p:spPr>
          <a:xfrm>
            <a:off x="3720192" y="4136315"/>
            <a:ext cx="4751615" cy="2185548"/>
          </a:xfrm>
          <a:prstGeom prst="rect">
            <a:avLst/>
          </a:prstGeom>
        </p:spPr>
      </p:pic>
    </p:spTree>
    <p:extLst>
      <p:ext uri="{BB962C8B-B14F-4D97-AF65-F5344CB8AC3E}">
        <p14:creationId xmlns:p14="http://schemas.microsoft.com/office/powerpoint/2010/main" val="16455251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D691BB7-AD1E-84F6-F029-195D6D68E36D}"/>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C0D71965-E566-3F07-F1A4-F90CF5D73E5A}"/>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sz="2600" b="1" dirty="0">
                <a:latin typeface="Calibri" panose="020F0502020204030204" pitchFamily="34" charset="0"/>
                <a:ea typeface="Calibri" panose="020F0502020204030204" pitchFamily="34" charset="0"/>
                <a:cs typeface="Calibri" panose="020F0502020204030204" pitchFamily="34" charset="0"/>
              </a:rPr>
              <a:t>CIDR Notation: A Simplified Approach to Subnetting</a:t>
            </a:r>
          </a:p>
          <a:p>
            <a:pPr algn="just" fontAlgn="base"/>
            <a:r>
              <a:rPr lang="en-IN" sz="2600" dirty="0">
                <a:latin typeface="Calibri" panose="020F0502020204030204" pitchFamily="34" charset="0"/>
                <a:ea typeface="Calibri" panose="020F0502020204030204" pitchFamily="34" charset="0"/>
                <a:cs typeface="Calibri" panose="020F0502020204030204" pitchFamily="34" charset="0"/>
              </a:rPr>
              <a:t>Instead of using a long subnet mask (e.g., 255.255.255.0), CIDR uses a simple format like /24. The number after the slash (/n) represents the number of bits used for the network portion of the IP address.</a:t>
            </a:r>
            <a:endParaRPr lang="en-IN" sz="2600" b="1" dirty="0">
              <a:latin typeface="Calibri" panose="020F0502020204030204" pitchFamily="34" charset="0"/>
              <a:ea typeface="Calibri" panose="020F0502020204030204" pitchFamily="34" charset="0"/>
              <a:cs typeface="Calibri" panose="020F0502020204030204" pitchFamily="34" charset="0"/>
            </a:endParaRPr>
          </a:p>
          <a:p>
            <a:pPr algn="just" fontAlgn="base"/>
            <a:r>
              <a:rPr lang="en-IN" sz="2600" dirty="0">
                <a:latin typeface="Calibri" panose="020F0502020204030204" pitchFamily="34" charset="0"/>
                <a:ea typeface="Calibri" panose="020F0502020204030204" pitchFamily="34" charset="0"/>
                <a:cs typeface="Calibri" panose="020F0502020204030204" pitchFamily="34" charset="0"/>
              </a:rPr>
              <a:t>The working of subnets starts in such a way that firstly it divides the subnets into smaller subnets. For communicating between subnets, routers are used. Each subnet allows its linked devices to communicate with each other. Subnetting for a network should be done in such a way that it does not affect the network bits.</a:t>
            </a:r>
          </a:p>
          <a:p>
            <a:pPr marL="114300" indent="0" algn="just" fontAlgn="base">
              <a:lnSpc>
                <a:spcPct val="100000"/>
              </a:lnSpc>
              <a:buNone/>
            </a:pPr>
            <a:endParaRPr lang="en-IN" sz="26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899E7F42-66FF-CC23-A377-3F9A0BBE705E}"/>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SUBNETTING</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233B5ADF-95C1-9163-2651-48F934734130}"/>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88</a:t>
            </a:fld>
            <a:endParaRPr/>
          </a:p>
        </p:txBody>
      </p:sp>
    </p:spTree>
    <p:extLst>
      <p:ext uri="{BB962C8B-B14F-4D97-AF65-F5344CB8AC3E}">
        <p14:creationId xmlns:p14="http://schemas.microsoft.com/office/powerpoint/2010/main" val="32310406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90B57E8E-C40F-F1A2-687E-1602DF700323}"/>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840ACCC4-12D9-D339-DFEC-C6E8EAE9D40F}"/>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2400" dirty="0">
                <a:latin typeface="Calibri" panose="020F0502020204030204" pitchFamily="34" charset="0"/>
                <a:ea typeface="Calibri" panose="020F0502020204030204" pitchFamily="34" charset="0"/>
                <a:cs typeface="Calibri" panose="020F0502020204030204" pitchFamily="34" charset="0"/>
              </a:rPr>
              <a:t>In class C the first 3 octets are network bits so it remains as it is. </a:t>
            </a:r>
          </a:p>
          <a:p>
            <a:pPr lvl="0" algn="just" fontAlgn="base"/>
            <a:r>
              <a:rPr lang="en-IN" sz="2400" b="1" dirty="0">
                <a:latin typeface="Calibri" panose="020F0502020204030204" pitchFamily="34" charset="0"/>
                <a:ea typeface="Calibri" panose="020F0502020204030204" pitchFamily="34" charset="0"/>
                <a:cs typeface="Calibri" panose="020F0502020204030204" pitchFamily="34" charset="0"/>
              </a:rPr>
              <a:t>For Subnet-1: </a:t>
            </a:r>
            <a:r>
              <a:rPr lang="en-IN" sz="2400" dirty="0">
                <a:latin typeface="Calibri" panose="020F0502020204030204" pitchFamily="34" charset="0"/>
                <a:ea typeface="Calibri" panose="020F0502020204030204" pitchFamily="34" charset="0"/>
                <a:cs typeface="Calibri" panose="020F0502020204030204" pitchFamily="34" charset="0"/>
              </a:rPr>
              <a:t>The first bit which is chosen from the host id part is zero and the range will be from (193.1.2.00000000 till you get all 1's in the host ID part </a:t>
            </a:r>
            <a:r>
              <a:rPr lang="en-IN" sz="2400" dirty="0" err="1">
                <a:latin typeface="Calibri" panose="020F0502020204030204" pitchFamily="34" charset="0"/>
                <a:ea typeface="Calibri" panose="020F0502020204030204" pitchFamily="34" charset="0"/>
                <a:cs typeface="Calibri" panose="020F0502020204030204" pitchFamily="34" charset="0"/>
              </a:rPr>
              <a:t>i.e</a:t>
            </a:r>
            <a:r>
              <a:rPr lang="en-IN" sz="2400" dirty="0">
                <a:latin typeface="Calibri" panose="020F0502020204030204" pitchFamily="34" charset="0"/>
                <a:ea typeface="Calibri" panose="020F0502020204030204" pitchFamily="34" charset="0"/>
                <a:cs typeface="Calibri" panose="020F0502020204030204" pitchFamily="34" charset="0"/>
              </a:rPr>
              <a:t>, 193.1.2.01111111) except for the first bit which is chosen zero for subnet id part.</a:t>
            </a:r>
          </a:p>
          <a:p>
            <a:pPr algn="just" fontAlgn="base"/>
            <a:r>
              <a:rPr lang="en-IN" sz="2400" dirty="0">
                <a:latin typeface="Calibri" panose="020F0502020204030204" pitchFamily="34" charset="0"/>
                <a:ea typeface="Calibri" panose="020F0502020204030204" pitchFamily="34" charset="0"/>
                <a:cs typeface="Calibri" panose="020F0502020204030204" pitchFamily="34" charset="0"/>
              </a:rPr>
              <a:t>Thus, the range of subnet 1 is: 193.1.2.0 to 193.1.2.127 </a:t>
            </a:r>
          </a:p>
          <a:p>
            <a:pPr marL="114300" indent="0" fontAlgn="base">
              <a:buNone/>
            </a:pPr>
            <a:r>
              <a:rPr lang="en-IN" sz="2400" i="1" dirty="0">
                <a:latin typeface="Calibri" panose="020F0502020204030204" pitchFamily="34" charset="0"/>
                <a:ea typeface="Calibri" panose="020F0502020204030204" pitchFamily="34" charset="0"/>
                <a:cs typeface="Calibri" panose="020F0502020204030204" pitchFamily="34" charset="0"/>
              </a:rPr>
              <a:t>Subnet id of Subnet 1 is: 193.1.2.0</a:t>
            </a:r>
            <a:br>
              <a:rPr lang="en-IN" sz="2400" i="1" dirty="0">
                <a:latin typeface="Calibri" panose="020F0502020204030204" pitchFamily="34" charset="0"/>
                <a:ea typeface="Calibri" panose="020F0502020204030204" pitchFamily="34" charset="0"/>
                <a:cs typeface="Calibri" panose="020F0502020204030204" pitchFamily="34" charset="0"/>
              </a:rPr>
            </a:br>
            <a:r>
              <a:rPr lang="en-IN" sz="2400" i="1" dirty="0">
                <a:latin typeface="Calibri" panose="020F0502020204030204" pitchFamily="34" charset="0"/>
                <a:ea typeface="Calibri" panose="020F0502020204030204" pitchFamily="34" charset="0"/>
                <a:cs typeface="Calibri" panose="020F0502020204030204" pitchFamily="34" charset="0"/>
              </a:rPr>
              <a:t>The direct Broadcast id of Subnet-1 is: 193.1.2.127</a:t>
            </a:r>
            <a:br>
              <a:rPr lang="en-IN" sz="2400" i="1" dirty="0">
                <a:latin typeface="Calibri" panose="020F0502020204030204" pitchFamily="34" charset="0"/>
                <a:ea typeface="Calibri" panose="020F0502020204030204" pitchFamily="34" charset="0"/>
                <a:cs typeface="Calibri" panose="020F0502020204030204" pitchFamily="34" charset="0"/>
              </a:rPr>
            </a:br>
            <a:r>
              <a:rPr lang="en-IN" sz="2400" i="1" dirty="0">
                <a:latin typeface="Calibri" panose="020F0502020204030204" pitchFamily="34" charset="0"/>
                <a:ea typeface="Calibri" panose="020F0502020204030204" pitchFamily="34" charset="0"/>
                <a:cs typeface="Calibri" panose="020F0502020204030204" pitchFamily="34" charset="0"/>
              </a:rPr>
              <a:t>The total number of hosts possible is: 126 (Out of 128, 2 id's are used for Subnet id &amp; Direct Broadcast id)</a:t>
            </a:r>
            <a:br>
              <a:rPr lang="en-IN" sz="2400" i="1" dirty="0">
                <a:latin typeface="Calibri" panose="020F0502020204030204" pitchFamily="34" charset="0"/>
                <a:ea typeface="Calibri" panose="020F0502020204030204" pitchFamily="34" charset="0"/>
                <a:cs typeface="Calibri" panose="020F0502020204030204" pitchFamily="34" charset="0"/>
              </a:rPr>
            </a:br>
            <a:r>
              <a:rPr lang="en-IN" sz="2400" i="1" dirty="0">
                <a:latin typeface="Calibri" panose="020F0502020204030204" pitchFamily="34" charset="0"/>
                <a:ea typeface="Calibri" panose="020F0502020204030204" pitchFamily="34" charset="0"/>
                <a:cs typeface="Calibri" panose="020F0502020204030204" pitchFamily="34" charset="0"/>
              </a:rPr>
              <a:t>The subnet mask of Subnet- 1 is: 255.255.255.128</a:t>
            </a:r>
          </a:p>
          <a:p>
            <a:pPr marL="114300" indent="0" algn="just" fontAlgn="base">
              <a:lnSpc>
                <a:spcPct val="100000"/>
              </a:lnSpc>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AC864467-6BFD-9EDD-7E1C-CABD80EC08CB}"/>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SUBNETTING</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AD4BE36F-CB67-CDB4-877C-CFBA328E8A0A}"/>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89</a:t>
            </a:fld>
            <a:endParaRPr/>
          </a:p>
        </p:txBody>
      </p:sp>
    </p:spTree>
    <p:extLst>
      <p:ext uri="{BB962C8B-B14F-4D97-AF65-F5344CB8AC3E}">
        <p14:creationId xmlns:p14="http://schemas.microsoft.com/office/powerpoint/2010/main" val="27137747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4D070FFA-50FF-E4E7-4902-56DB1F77FFB1}"/>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4020A282-3178-C141-3968-83F0DB7F2CEA}"/>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dirty="0">
                <a:latin typeface="Calibri" panose="020F0502020204030204" pitchFamily="34" charset="0"/>
                <a:ea typeface="Calibri" panose="020F0502020204030204" pitchFamily="34" charset="0"/>
                <a:cs typeface="Calibri" panose="020F0502020204030204" pitchFamily="34" charset="0"/>
              </a:rPr>
              <a:t>Port number is a 16-bit numerical value that ranges from 0 to 65535. </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Well-known port (0-1023)</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Registered port (1024-49151) </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Dynamic port (49152-65535).</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These ports can be opened and used by software applications and operating system services to send and receive data over networks (LAN or WAN) that employ certain protocols (</a:t>
            </a:r>
            <a:r>
              <a:rPr lang="en-IN" dirty="0" err="1">
                <a:latin typeface="Calibri" panose="020F0502020204030204" pitchFamily="34" charset="0"/>
                <a:ea typeface="Calibri" panose="020F0502020204030204" pitchFamily="34" charset="0"/>
                <a:cs typeface="Calibri" panose="020F0502020204030204" pitchFamily="34" charset="0"/>
              </a:rPr>
              <a:t>eg</a:t>
            </a:r>
            <a:r>
              <a:rPr lang="en-IN" dirty="0">
                <a:latin typeface="Calibri" panose="020F0502020204030204" pitchFamily="34" charset="0"/>
                <a:ea typeface="Calibri" panose="020F0502020204030204" pitchFamily="34" charset="0"/>
                <a:cs typeface="Calibri" panose="020F0502020204030204" pitchFamily="34" charset="0"/>
              </a:rPr>
              <a:t> TCP, UDP).</a:t>
            </a:r>
          </a:p>
          <a:p>
            <a:pPr marL="114300" indent="0" algn="just" fontAlgn="base">
              <a:lnSpc>
                <a:spcPct val="100000"/>
              </a:lnSpc>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5D845CC1-8488-0893-7D9F-5649DFC303EB}"/>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WELL KNOWN PORTS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DA8FE696-1206-1479-3716-FAF395BB7DB3}"/>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90</a:t>
            </a:fld>
            <a:endParaRPr/>
          </a:p>
        </p:txBody>
      </p:sp>
    </p:spTree>
    <p:extLst>
      <p:ext uri="{BB962C8B-B14F-4D97-AF65-F5344CB8AC3E}">
        <p14:creationId xmlns:p14="http://schemas.microsoft.com/office/powerpoint/2010/main" val="370566415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6F20AD2C-13D0-F9E0-22CC-C575BB5149D9}"/>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734908EA-0C20-F2AD-C3D2-CE1E4EAEC75A}"/>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sz="2400" dirty="0">
                <a:latin typeface="Calibri" panose="020F0502020204030204" pitchFamily="34" charset="0"/>
                <a:ea typeface="Calibri" panose="020F0502020204030204" pitchFamily="34" charset="0"/>
                <a:cs typeface="Calibri" panose="020F0502020204030204" pitchFamily="34" charset="0"/>
              </a:rPr>
              <a:t>When interacting over the Internet, TCP and UDP protocols make connections, recompile data packages after the transfer, and then deliver them to applications on the recipient's device. </a:t>
            </a:r>
          </a:p>
          <a:p>
            <a:pPr marL="114300" indent="0" algn="just" fontAlgn="base">
              <a:buNone/>
            </a:pPr>
            <a:r>
              <a:rPr lang="en-IN" sz="2400" dirty="0">
                <a:latin typeface="Calibri" panose="020F0502020204030204" pitchFamily="34" charset="0"/>
                <a:ea typeface="Calibri" panose="020F0502020204030204" pitchFamily="34" charset="0"/>
                <a:cs typeface="Calibri" panose="020F0502020204030204" pitchFamily="34" charset="0"/>
              </a:rPr>
              <a:t>For this handover to work, the operating system must install and open the gateway for the transfer. Each door has a unique code number. </a:t>
            </a:r>
          </a:p>
          <a:p>
            <a:pPr marL="114300" indent="0" algn="just" fontAlgn="base">
              <a:buNone/>
            </a:pPr>
            <a:r>
              <a:rPr lang="en-IN" sz="2400" dirty="0">
                <a:latin typeface="Calibri" panose="020F0502020204030204" pitchFamily="34" charset="0"/>
                <a:ea typeface="Calibri" panose="020F0502020204030204" pitchFamily="34" charset="0"/>
                <a:cs typeface="Calibri" panose="020F0502020204030204" pitchFamily="34" charset="0"/>
              </a:rPr>
              <a:t>After transmission, the receiving system uses the port number to determine where the data should be sent. The port numbers of the sender and receiver are always included in the data packet.</a:t>
            </a:r>
          </a:p>
          <a:p>
            <a:pPr marL="114300" indent="0" algn="just" fontAlgn="base">
              <a:buNone/>
            </a:pPr>
            <a:r>
              <a:rPr lang="en-IN" sz="2400" dirty="0">
                <a:latin typeface="Calibri" panose="020F0502020204030204" pitchFamily="34" charset="0"/>
                <a:ea typeface="Calibri" panose="020F0502020204030204" pitchFamily="34" charset="0"/>
                <a:cs typeface="Calibri" panose="020F0502020204030204" pitchFamily="34" charset="0"/>
              </a:rPr>
              <a:t>Ports are assigned sequential numbers from 0 to 65535. Some of these codes are standardized, meaning they are assigned to certain uses. </a:t>
            </a:r>
          </a:p>
          <a:p>
            <a:pPr marL="114300" indent="0" algn="just" fontAlgn="base">
              <a:buNone/>
            </a:pPr>
            <a:r>
              <a:rPr lang="en-IN" sz="2400" dirty="0">
                <a:latin typeface="Calibri" panose="020F0502020204030204" pitchFamily="34" charset="0"/>
                <a:ea typeface="Calibri" panose="020F0502020204030204" pitchFamily="34" charset="0"/>
                <a:cs typeface="Calibri" panose="020F0502020204030204" pitchFamily="34" charset="0"/>
              </a:rPr>
              <a:t>Since code numbers are universally recognized and permanently assigned, these standard ports are also known as well-known ports. </a:t>
            </a:r>
          </a:p>
        </p:txBody>
      </p:sp>
      <p:sp>
        <p:nvSpPr>
          <p:cNvPr id="120" name="Google Shape;120;p3">
            <a:extLst>
              <a:ext uri="{FF2B5EF4-FFF2-40B4-BE49-F238E27FC236}">
                <a16:creationId xmlns:a16="http://schemas.microsoft.com/office/drawing/2014/main" id="{CA05F80B-4535-AD27-0B65-CA48EC61DF83}"/>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FUNCTIONS OF PORTS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22B2EA20-14B8-E5F2-DBC9-1CA7F91FDE71}"/>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91</a:t>
            </a:fld>
            <a:endParaRPr/>
          </a:p>
        </p:txBody>
      </p:sp>
    </p:spTree>
    <p:extLst>
      <p:ext uri="{BB962C8B-B14F-4D97-AF65-F5344CB8AC3E}">
        <p14:creationId xmlns:p14="http://schemas.microsoft.com/office/powerpoint/2010/main" val="10983907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626EF11-1722-FB11-457F-D22C13F3ABB8}"/>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72E0F790-259E-B8BE-8D2E-4DE08ADFF537}"/>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lnSpc>
                <a:spcPct val="100000"/>
              </a:lnSpc>
            </a:pPr>
            <a:r>
              <a:rPr lang="en-IN" sz="2400" dirty="0">
                <a:latin typeface="Calibri" panose="020F0502020204030204" pitchFamily="34" charset="0"/>
                <a:ea typeface="Calibri" panose="020F0502020204030204" pitchFamily="34" charset="0"/>
                <a:cs typeface="Calibri" panose="020F0502020204030204" pitchFamily="34" charset="0"/>
              </a:rPr>
              <a:t>Some of the significant ports are:</a:t>
            </a:r>
          </a:p>
          <a:p>
            <a:pPr marL="114300" indent="0" algn="just" fontAlgn="base">
              <a:lnSpc>
                <a:spcPct val="100000"/>
              </a:lnSpc>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A431B757-5653-BCDA-6FF8-BD87F911CD6C}"/>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SIGNIFICANT PORT NUMBERS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B5F7BA64-73C1-68B0-3EC3-A9895457C9F5}"/>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graphicFrame>
        <p:nvGraphicFramePr>
          <p:cNvPr id="2" name="Table 1">
            <a:extLst>
              <a:ext uri="{FF2B5EF4-FFF2-40B4-BE49-F238E27FC236}">
                <a16:creationId xmlns:a16="http://schemas.microsoft.com/office/drawing/2014/main" id="{08C4DF47-3DB5-BB72-1849-2C20DA4F4A4C}"/>
              </a:ext>
            </a:extLst>
          </p:cNvPr>
          <p:cNvGraphicFramePr>
            <a:graphicFrameLocks noGrp="1"/>
          </p:cNvGraphicFramePr>
          <p:nvPr>
            <p:extLst>
              <p:ext uri="{D42A27DB-BD31-4B8C-83A1-F6EECF244321}">
                <p14:modId xmlns:p14="http://schemas.microsoft.com/office/powerpoint/2010/main" val="3001055208"/>
              </p:ext>
            </p:extLst>
          </p:nvPr>
        </p:nvGraphicFramePr>
        <p:xfrm>
          <a:off x="838198" y="1895323"/>
          <a:ext cx="10515600" cy="4326910"/>
        </p:xfrm>
        <a:graphic>
          <a:graphicData uri="http://schemas.openxmlformats.org/drawingml/2006/table">
            <a:tbl>
              <a:tblPr firstRow="1" bandRow="1">
                <a:tableStyleId>{5C22544A-7EE6-4342-B048-85BDC9FD1C3A}</a:tableStyleId>
              </a:tblPr>
              <a:tblGrid>
                <a:gridCol w="1299074">
                  <a:extLst>
                    <a:ext uri="{9D8B030D-6E8A-4147-A177-3AD203B41FA5}">
                      <a16:colId xmlns:a16="http://schemas.microsoft.com/office/drawing/2014/main" val="2522869154"/>
                    </a:ext>
                  </a:extLst>
                </a:gridCol>
                <a:gridCol w="1916935">
                  <a:extLst>
                    <a:ext uri="{9D8B030D-6E8A-4147-A177-3AD203B41FA5}">
                      <a16:colId xmlns:a16="http://schemas.microsoft.com/office/drawing/2014/main" val="2906943809"/>
                    </a:ext>
                  </a:extLst>
                </a:gridCol>
                <a:gridCol w="2644048">
                  <a:extLst>
                    <a:ext uri="{9D8B030D-6E8A-4147-A177-3AD203B41FA5}">
                      <a16:colId xmlns:a16="http://schemas.microsoft.com/office/drawing/2014/main" val="2265096828"/>
                    </a:ext>
                  </a:extLst>
                </a:gridCol>
                <a:gridCol w="4655543">
                  <a:extLst>
                    <a:ext uri="{9D8B030D-6E8A-4147-A177-3AD203B41FA5}">
                      <a16:colId xmlns:a16="http://schemas.microsoft.com/office/drawing/2014/main" val="3500139464"/>
                    </a:ext>
                  </a:extLst>
                </a:gridCol>
              </a:tblGrid>
              <a:tr h="710575">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Port Number</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Service Name</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Transport Protocol</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Description</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433365346"/>
                  </a:ext>
                </a:extLst>
              </a:tr>
              <a:tr h="710575">
                <a:tc>
                  <a:txBody>
                    <a:bodyPr/>
                    <a:lstStyle/>
                    <a:p>
                      <a:pPr algn="ctr"/>
                      <a:r>
                        <a:rPr lang="en-US" sz="1800" dirty="0">
                          <a:solidFill>
                            <a:schemeClr val="tx1"/>
                          </a:solidFill>
                        </a:rPr>
                        <a:t>20/21</a:t>
                      </a:r>
                      <a:endParaRPr lang="en-IN" sz="1800" dirty="0">
                        <a:solidFill>
                          <a:schemeClr val="tx1"/>
                        </a:solidFill>
                      </a:endParaRPr>
                    </a:p>
                  </a:txBody>
                  <a:tcPr anchor="ctr"/>
                </a:tc>
                <a:tc>
                  <a:txBody>
                    <a:bodyPr/>
                    <a:lstStyle/>
                    <a:p>
                      <a:pPr marL="0" marR="0" algn="ctr" fontAlgn="ctr">
                        <a:spcBef>
                          <a:spcPts val="1875"/>
                        </a:spcBef>
                        <a:spcAft>
                          <a:spcPts val="1875"/>
                        </a:spcAft>
                        <a:buNone/>
                      </a:pPr>
                      <a:r>
                        <a:rPr lang="en-IN" sz="1800" b="0" i="0" spc="12" dirty="0">
                          <a:solidFill>
                            <a:schemeClr val="tx1"/>
                          </a:solidFill>
                          <a:effectLst/>
                          <a:latin typeface="Nunito" pitchFamily="2" charset="0"/>
                        </a:rPr>
                        <a:t>FTP-data/ FTP</a:t>
                      </a:r>
                      <a:endParaRPr lang="en-IN" sz="1800" b="0" i="0" spc="10" dirty="0">
                        <a:solidFill>
                          <a:schemeClr val="tx1"/>
                        </a:solidFill>
                        <a:effectLst/>
                        <a:latin typeface="Nunito" pitchFamily="2"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Nunito" pitchFamily="2" charset="0"/>
                        </a:rPr>
                        <a:t> TCP, SCTP/ TCP, UDP, SCTP</a:t>
                      </a:r>
                      <a:endParaRPr lang="en-IN" sz="1800" b="0" i="0" spc="10" dirty="0">
                        <a:solidFill>
                          <a:schemeClr val="tx1"/>
                        </a:solidFill>
                        <a:effectLst/>
                        <a:latin typeface="Nunito" pitchFamily="2" charset="0"/>
                      </a:endParaRPr>
                    </a:p>
                  </a:txBody>
                  <a:tcPr marL="63500" marR="63500" marT="88900" marB="88900" anchor="ctr"/>
                </a:tc>
                <a:tc>
                  <a:txBody>
                    <a:bodyPr/>
                    <a:lstStyle/>
                    <a:p>
                      <a:pPr algn="ctr"/>
                      <a:r>
                        <a:rPr lang="en-IN" sz="1800" b="0" i="0" u="none" strike="noStrike" cap="none" dirty="0">
                          <a:solidFill>
                            <a:schemeClr val="tx1"/>
                          </a:solidFill>
                          <a:effectLst/>
                          <a:latin typeface="+mn-lt"/>
                          <a:ea typeface="+mn-ea"/>
                          <a:cs typeface="+mn-cs"/>
                          <a:sym typeface="Arial"/>
                        </a:rPr>
                        <a:t>File Transfer Protocol data transfer / File Transfer Protocol (FTP) control connection</a:t>
                      </a:r>
                      <a:endParaRPr lang="en-IN" sz="1800" dirty="0">
                        <a:solidFill>
                          <a:schemeClr val="tx1"/>
                        </a:solidFill>
                      </a:endParaRPr>
                    </a:p>
                  </a:txBody>
                  <a:tcPr anchor="ctr"/>
                </a:tc>
                <a:extLst>
                  <a:ext uri="{0D108BD9-81ED-4DB2-BD59-A6C34878D82A}">
                    <a16:rowId xmlns:a16="http://schemas.microsoft.com/office/drawing/2014/main" val="3576721002"/>
                  </a:ext>
                </a:extLst>
              </a:tr>
              <a:tr h="710575">
                <a:tc>
                  <a:txBody>
                    <a:bodyPr/>
                    <a:lstStyle/>
                    <a:p>
                      <a:pPr algn="ctr"/>
                      <a:r>
                        <a:rPr lang="en-US" sz="1800" dirty="0">
                          <a:solidFill>
                            <a:schemeClr val="tx1"/>
                          </a:solidFill>
                        </a:rPr>
                        <a:t>22</a:t>
                      </a:r>
                      <a:endParaRPr lang="en-IN" sz="1800" dirty="0">
                        <a:solidFill>
                          <a:schemeClr val="tx1"/>
                        </a:solidFill>
                      </a:endParaRPr>
                    </a:p>
                  </a:txBody>
                  <a:tcPr anchor="ctr"/>
                </a:tc>
                <a:tc>
                  <a:txBody>
                    <a:bodyPr/>
                    <a:lstStyle/>
                    <a:p>
                      <a:pPr marL="0" marR="0" algn="ctr" fontAlgn="ctr">
                        <a:spcBef>
                          <a:spcPts val="1875"/>
                        </a:spcBef>
                        <a:spcAft>
                          <a:spcPts val="1875"/>
                        </a:spcAft>
                        <a:buNone/>
                      </a:pPr>
                      <a:r>
                        <a:rPr lang="en-IN" sz="1800" b="0" i="0" spc="12">
                          <a:solidFill>
                            <a:schemeClr val="tx1"/>
                          </a:solidFill>
                          <a:effectLst/>
                          <a:latin typeface="Nunito" pitchFamily="2" charset="0"/>
                        </a:rPr>
                        <a:t>SSH-SCP</a:t>
                      </a:r>
                      <a:endParaRPr lang="en-IN" sz="1800" b="0" i="0" spc="10">
                        <a:solidFill>
                          <a:schemeClr val="tx1"/>
                        </a:solidFill>
                        <a:effectLst/>
                        <a:latin typeface="Nunito" pitchFamily="2"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Nunito" pitchFamily="2" charset="0"/>
                        </a:rPr>
                        <a:t>TCP, UDP, SCTP </a:t>
                      </a:r>
                      <a:endParaRPr lang="en-IN" sz="1800" b="0" i="0" spc="10" dirty="0">
                        <a:solidFill>
                          <a:schemeClr val="tx1"/>
                        </a:solidFill>
                        <a:effectLst/>
                        <a:latin typeface="Nunito" pitchFamily="2"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Nunito" pitchFamily="2" charset="0"/>
                        </a:rPr>
                        <a:t> Secure Shell, secure logins, file transfers (</a:t>
                      </a:r>
                      <a:r>
                        <a:rPr lang="en-IN" sz="1800" b="0" i="0" spc="12" dirty="0" err="1">
                          <a:solidFill>
                            <a:schemeClr val="tx1"/>
                          </a:solidFill>
                          <a:effectLst/>
                          <a:latin typeface="Nunito" pitchFamily="2" charset="0"/>
                        </a:rPr>
                        <a:t>scp</a:t>
                      </a:r>
                      <a:r>
                        <a:rPr lang="en-IN" sz="1800" b="0" i="0" spc="12" dirty="0">
                          <a:solidFill>
                            <a:schemeClr val="tx1"/>
                          </a:solidFill>
                          <a:effectLst/>
                          <a:latin typeface="Nunito" pitchFamily="2" charset="0"/>
                        </a:rPr>
                        <a:t>, sftp), and port forwarding</a:t>
                      </a:r>
                      <a:endParaRPr lang="en-IN" sz="1800" b="0" i="0" spc="10" dirty="0">
                        <a:solidFill>
                          <a:schemeClr val="tx1"/>
                        </a:solidFill>
                        <a:effectLst/>
                        <a:latin typeface="Nunito" pitchFamily="2" charset="0"/>
                      </a:endParaRPr>
                    </a:p>
                  </a:txBody>
                  <a:tcPr marL="63500" marR="63500" marT="88900" marB="88900" anchor="ctr"/>
                </a:tc>
                <a:extLst>
                  <a:ext uri="{0D108BD9-81ED-4DB2-BD59-A6C34878D82A}">
                    <a16:rowId xmlns:a16="http://schemas.microsoft.com/office/drawing/2014/main" val="4200276191"/>
                  </a:ext>
                </a:extLst>
              </a:tr>
              <a:tr h="710575">
                <a:tc>
                  <a:txBody>
                    <a:bodyPr/>
                    <a:lstStyle/>
                    <a:p>
                      <a:pPr algn="ctr"/>
                      <a:r>
                        <a:rPr lang="en-US" sz="1800" dirty="0">
                          <a:solidFill>
                            <a:schemeClr val="tx1"/>
                          </a:solidFill>
                        </a:rPr>
                        <a:t>23</a:t>
                      </a:r>
                      <a:endParaRPr lang="en-IN" sz="1800" dirty="0">
                        <a:solidFill>
                          <a:schemeClr val="tx1"/>
                        </a:solidFill>
                      </a:endParaRPr>
                    </a:p>
                  </a:txBody>
                  <a:tcPr anchor="ctr"/>
                </a:tc>
                <a:tc>
                  <a:txBody>
                    <a:bodyPr/>
                    <a:lstStyle/>
                    <a:p>
                      <a:pPr marL="0" marR="0" algn="ctr" fontAlgn="ctr">
                        <a:spcBef>
                          <a:spcPts val="1875"/>
                        </a:spcBef>
                        <a:spcAft>
                          <a:spcPts val="1875"/>
                        </a:spcAft>
                        <a:buNone/>
                      </a:pPr>
                      <a:r>
                        <a:rPr lang="en-IN" sz="1800" b="0" i="0" spc="12" dirty="0">
                          <a:solidFill>
                            <a:schemeClr val="tx1"/>
                          </a:solidFill>
                          <a:effectLst/>
                          <a:latin typeface="Nunito" pitchFamily="2" charset="0"/>
                        </a:rPr>
                        <a:t>Telnet</a:t>
                      </a:r>
                      <a:endParaRPr lang="en-IN" sz="1800" b="0" i="0" spc="10" dirty="0">
                        <a:solidFill>
                          <a:schemeClr val="tx1"/>
                        </a:solidFill>
                        <a:effectLst/>
                        <a:latin typeface="Nunito" pitchFamily="2" charset="0"/>
                      </a:endParaRPr>
                    </a:p>
                  </a:txBody>
                  <a:tcPr marL="63500" marR="63500" marT="88900" marB="88900" anchor="ctr"/>
                </a:tc>
                <a:tc>
                  <a:txBody>
                    <a:bodyPr/>
                    <a:lstStyle/>
                    <a:p>
                      <a:pPr marL="0" marR="0" algn="ctr" fontAlgn="ctr">
                        <a:spcBef>
                          <a:spcPts val="1875"/>
                        </a:spcBef>
                        <a:spcAft>
                          <a:spcPts val="1875"/>
                        </a:spcAft>
                        <a:buNone/>
                      </a:pPr>
                      <a:r>
                        <a:rPr lang="en-IN" sz="1800" b="0" i="0" spc="12">
                          <a:solidFill>
                            <a:schemeClr val="tx1"/>
                          </a:solidFill>
                          <a:effectLst/>
                          <a:latin typeface="Nunito" pitchFamily="2" charset="0"/>
                        </a:rPr>
                        <a:t>TCP</a:t>
                      </a:r>
                      <a:endParaRPr lang="en-IN" sz="1800" b="0" i="0" spc="10">
                        <a:solidFill>
                          <a:schemeClr val="tx1"/>
                        </a:solidFill>
                        <a:effectLst/>
                        <a:latin typeface="Nunito" pitchFamily="2"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Nunito" pitchFamily="2" charset="0"/>
                        </a:rPr>
                        <a:t>Telnet protocol—unencrypted text communications</a:t>
                      </a:r>
                      <a:endParaRPr lang="en-IN" sz="1800" b="0" i="0" spc="10" dirty="0">
                        <a:solidFill>
                          <a:schemeClr val="tx1"/>
                        </a:solidFill>
                        <a:effectLst/>
                        <a:latin typeface="Nunito" pitchFamily="2" charset="0"/>
                      </a:endParaRPr>
                    </a:p>
                  </a:txBody>
                  <a:tcPr marL="63500" marR="63500" marT="88900" marB="88900" anchor="ctr"/>
                </a:tc>
                <a:extLst>
                  <a:ext uri="{0D108BD9-81ED-4DB2-BD59-A6C34878D82A}">
                    <a16:rowId xmlns:a16="http://schemas.microsoft.com/office/drawing/2014/main" val="1588765169"/>
                  </a:ext>
                </a:extLst>
              </a:tr>
              <a:tr h="710575">
                <a:tc>
                  <a:txBody>
                    <a:bodyPr/>
                    <a:lstStyle/>
                    <a:p>
                      <a:pPr algn="ctr"/>
                      <a:r>
                        <a:rPr lang="en-US" sz="1800" dirty="0">
                          <a:solidFill>
                            <a:schemeClr val="tx1"/>
                          </a:solidFill>
                        </a:rPr>
                        <a:t>25</a:t>
                      </a:r>
                      <a:endParaRPr lang="en-IN" sz="1800" dirty="0">
                        <a:solidFill>
                          <a:schemeClr val="tx1"/>
                        </a:solidFill>
                      </a:endParaRPr>
                    </a:p>
                  </a:txBody>
                  <a:tcPr anchor="ctr"/>
                </a:tc>
                <a:tc>
                  <a:txBody>
                    <a:bodyPr/>
                    <a:lstStyle/>
                    <a:p>
                      <a:pPr marL="0" marR="0" algn="ctr" fontAlgn="ctr">
                        <a:spcBef>
                          <a:spcPts val="1875"/>
                        </a:spcBef>
                        <a:spcAft>
                          <a:spcPts val="1875"/>
                        </a:spcAft>
                        <a:buNone/>
                      </a:pPr>
                      <a:r>
                        <a:rPr lang="en-IN" sz="1800" b="0" i="0" spc="12" dirty="0">
                          <a:solidFill>
                            <a:schemeClr val="tx1"/>
                          </a:solidFill>
                          <a:effectLst/>
                          <a:latin typeface="Nunito" pitchFamily="2" charset="0"/>
                        </a:rPr>
                        <a:t>SMTP</a:t>
                      </a:r>
                      <a:endParaRPr lang="en-IN" sz="1800" b="0" i="0" spc="10" dirty="0">
                        <a:solidFill>
                          <a:schemeClr val="tx1"/>
                        </a:solidFill>
                        <a:effectLst/>
                        <a:latin typeface="Nunito" pitchFamily="2"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Nunito" pitchFamily="2" charset="0"/>
                        </a:rPr>
                        <a:t>TCP</a:t>
                      </a:r>
                      <a:endParaRPr lang="en-IN" sz="1800" b="0" i="0" spc="10" dirty="0">
                        <a:solidFill>
                          <a:schemeClr val="tx1"/>
                        </a:solidFill>
                        <a:effectLst/>
                        <a:latin typeface="Nunito" pitchFamily="2"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Nunito" pitchFamily="2" charset="0"/>
                        </a:rPr>
                        <a:t> Simple Mail Transfer Protocol, used for email routing between mail servers</a:t>
                      </a:r>
                      <a:endParaRPr lang="en-IN" sz="1800" b="0" i="0" spc="10" dirty="0">
                        <a:solidFill>
                          <a:schemeClr val="tx1"/>
                        </a:solidFill>
                        <a:effectLst/>
                        <a:latin typeface="Nunito" pitchFamily="2" charset="0"/>
                      </a:endParaRPr>
                    </a:p>
                  </a:txBody>
                  <a:tcPr marL="63500" marR="63500" marT="88900" marB="88900" anchor="ctr"/>
                </a:tc>
                <a:extLst>
                  <a:ext uri="{0D108BD9-81ED-4DB2-BD59-A6C34878D82A}">
                    <a16:rowId xmlns:a16="http://schemas.microsoft.com/office/drawing/2014/main" val="2955194673"/>
                  </a:ext>
                </a:extLst>
              </a:tr>
              <a:tr h="710575">
                <a:tc>
                  <a:txBody>
                    <a:bodyPr/>
                    <a:lstStyle/>
                    <a:p>
                      <a:pPr algn="ctr"/>
                      <a:r>
                        <a:rPr lang="en-US" sz="1800" dirty="0">
                          <a:solidFill>
                            <a:schemeClr val="tx1"/>
                          </a:solidFill>
                        </a:rPr>
                        <a:t>53</a:t>
                      </a:r>
                      <a:endParaRPr lang="en-IN" sz="1800" dirty="0">
                        <a:solidFill>
                          <a:schemeClr val="tx1"/>
                        </a:solidFill>
                      </a:endParaRPr>
                    </a:p>
                  </a:txBody>
                  <a:tcPr anchor="ctr"/>
                </a:tc>
                <a:tc>
                  <a:txBody>
                    <a:bodyPr/>
                    <a:lstStyle/>
                    <a:p>
                      <a:pPr marL="0" marR="0" algn="ctr" fontAlgn="ctr">
                        <a:spcBef>
                          <a:spcPts val="1875"/>
                        </a:spcBef>
                        <a:spcAft>
                          <a:spcPts val="1875"/>
                        </a:spcAft>
                        <a:buNone/>
                      </a:pPr>
                      <a:r>
                        <a:rPr lang="en-IN" sz="1800" b="0" i="0" spc="12">
                          <a:solidFill>
                            <a:schemeClr val="tx1"/>
                          </a:solidFill>
                          <a:effectLst/>
                          <a:latin typeface="Nunito" pitchFamily="2" charset="0"/>
                        </a:rPr>
                        <a:t>DNS</a:t>
                      </a:r>
                      <a:endParaRPr lang="en-IN" sz="1800" b="0" i="0" spc="10">
                        <a:solidFill>
                          <a:schemeClr val="tx1"/>
                        </a:solidFill>
                        <a:effectLst/>
                        <a:latin typeface="Nunito" pitchFamily="2" charset="0"/>
                      </a:endParaRPr>
                    </a:p>
                  </a:txBody>
                  <a:tcPr marL="63500" marR="63500" marT="88900" marB="88900" anchor="ctr"/>
                </a:tc>
                <a:tc>
                  <a:txBody>
                    <a:bodyPr/>
                    <a:lstStyle/>
                    <a:p>
                      <a:pPr marL="0" marR="0" algn="ctr" fontAlgn="ctr">
                        <a:spcBef>
                          <a:spcPts val="1875"/>
                        </a:spcBef>
                        <a:spcAft>
                          <a:spcPts val="1875"/>
                        </a:spcAft>
                        <a:buNone/>
                      </a:pPr>
                      <a:r>
                        <a:rPr lang="en-IN" sz="1800" b="0" i="0" spc="12">
                          <a:solidFill>
                            <a:schemeClr val="tx1"/>
                          </a:solidFill>
                          <a:effectLst/>
                          <a:latin typeface="Nunito" pitchFamily="2" charset="0"/>
                        </a:rPr>
                        <a:t>TCP, UDP</a:t>
                      </a:r>
                      <a:endParaRPr lang="en-IN" sz="1800" b="0" i="0" spc="10">
                        <a:solidFill>
                          <a:schemeClr val="tx1"/>
                        </a:solidFill>
                        <a:effectLst/>
                        <a:latin typeface="Nunito" pitchFamily="2"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Nunito" pitchFamily="2" charset="0"/>
                        </a:rPr>
                        <a:t> Domain Name System name resolver</a:t>
                      </a:r>
                      <a:endParaRPr lang="en-IN" sz="1800" b="0" i="0" spc="10" dirty="0">
                        <a:solidFill>
                          <a:schemeClr val="tx1"/>
                        </a:solidFill>
                        <a:effectLst/>
                        <a:latin typeface="Nunito" pitchFamily="2" charset="0"/>
                      </a:endParaRPr>
                    </a:p>
                  </a:txBody>
                  <a:tcPr marL="63500" marR="63500" marT="88900" marB="88900" anchor="ctr"/>
                </a:tc>
                <a:extLst>
                  <a:ext uri="{0D108BD9-81ED-4DB2-BD59-A6C34878D82A}">
                    <a16:rowId xmlns:a16="http://schemas.microsoft.com/office/drawing/2014/main" val="3458577349"/>
                  </a:ext>
                </a:extLst>
              </a:tr>
            </a:tbl>
          </a:graphicData>
        </a:graphic>
      </p:graphicFrame>
    </p:spTree>
    <p:extLst>
      <p:ext uri="{BB962C8B-B14F-4D97-AF65-F5344CB8AC3E}">
        <p14:creationId xmlns:p14="http://schemas.microsoft.com/office/powerpoint/2010/main" val="326234557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53B5D54A-F455-C832-C539-522DE3E37F10}"/>
            </a:ext>
          </a:extLst>
        </p:cNvPr>
        <p:cNvGrpSpPr/>
        <p:nvPr/>
      </p:nvGrpSpPr>
      <p:grpSpPr>
        <a:xfrm>
          <a:off x="0" y="0"/>
          <a:ext cx="0" cy="0"/>
          <a:chOff x="0" y="0"/>
          <a:chExt cx="0" cy="0"/>
        </a:xfrm>
      </p:grpSpPr>
      <p:sp>
        <p:nvSpPr>
          <p:cNvPr id="120" name="Google Shape;120;p3">
            <a:extLst>
              <a:ext uri="{FF2B5EF4-FFF2-40B4-BE49-F238E27FC236}">
                <a16:creationId xmlns:a16="http://schemas.microsoft.com/office/drawing/2014/main" id="{2E5281BF-42A6-381E-FC88-B08B8151665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SIGNIFICANT PORT NUMBERS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2C039B91-7BBB-A272-E42E-465CC45C20B2}"/>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93</a:t>
            </a:fld>
            <a:endParaRPr/>
          </a:p>
        </p:txBody>
      </p:sp>
      <p:graphicFrame>
        <p:nvGraphicFramePr>
          <p:cNvPr id="2" name="Table 1">
            <a:extLst>
              <a:ext uri="{FF2B5EF4-FFF2-40B4-BE49-F238E27FC236}">
                <a16:creationId xmlns:a16="http://schemas.microsoft.com/office/drawing/2014/main" id="{949CA296-3D4F-A6B5-6795-E834A6F0AF10}"/>
              </a:ext>
            </a:extLst>
          </p:cNvPr>
          <p:cNvGraphicFramePr>
            <a:graphicFrameLocks noGrp="1"/>
          </p:cNvGraphicFramePr>
          <p:nvPr>
            <p:extLst>
              <p:ext uri="{D42A27DB-BD31-4B8C-83A1-F6EECF244321}">
                <p14:modId xmlns:p14="http://schemas.microsoft.com/office/powerpoint/2010/main" val="1123095075"/>
              </p:ext>
            </p:extLst>
          </p:nvPr>
        </p:nvGraphicFramePr>
        <p:xfrm>
          <a:off x="914948" y="1019402"/>
          <a:ext cx="10362104" cy="5344796"/>
        </p:xfrm>
        <a:graphic>
          <a:graphicData uri="http://schemas.openxmlformats.org/drawingml/2006/table">
            <a:tbl>
              <a:tblPr firstRow="1" bandRow="1">
                <a:tableStyleId>{5C22544A-7EE6-4342-B048-85BDC9FD1C3A}</a:tableStyleId>
              </a:tblPr>
              <a:tblGrid>
                <a:gridCol w="1133822">
                  <a:extLst>
                    <a:ext uri="{9D8B030D-6E8A-4147-A177-3AD203B41FA5}">
                      <a16:colId xmlns:a16="http://schemas.microsoft.com/office/drawing/2014/main" val="2301740009"/>
                    </a:ext>
                  </a:extLst>
                </a:gridCol>
                <a:gridCol w="1696598">
                  <a:extLst>
                    <a:ext uri="{9D8B030D-6E8A-4147-A177-3AD203B41FA5}">
                      <a16:colId xmlns:a16="http://schemas.microsoft.com/office/drawing/2014/main" val="791852677"/>
                    </a:ext>
                  </a:extLst>
                </a:gridCol>
                <a:gridCol w="2104222">
                  <a:extLst>
                    <a:ext uri="{9D8B030D-6E8A-4147-A177-3AD203B41FA5}">
                      <a16:colId xmlns:a16="http://schemas.microsoft.com/office/drawing/2014/main" val="3156195861"/>
                    </a:ext>
                  </a:extLst>
                </a:gridCol>
                <a:gridCol w="5427462">
                  <a:extLst>
                    <a:ext uri="{9D8B030D-6E8A-4147-A177-3AD203B41FA5}">
                      <a16:colId xmlns:a16="http://schemas.microsoft.com/office/drawing/2014/main" val="4276709467"/>
                    </a:ext>
                  </a:extLst>
                </a:gridCol>
              </a:tblGrid>
              <a:tr h="701676">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Port Number</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Service Name</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Transport Protocol</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Description</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002935821"/>
                  </a:ext>
                </a:extLst>
              </a:tr>
              <a:tr h="701676">
                <a:tc>
                  <a:txBody>
                    <a:bodyPr/>
                    <a:lstStyle/>
                    <a:p>
                      <a:pPr algn="ct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80</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algn="ctr" fontAlgn="ctr">
                        <a:spcBef>
                          <a:spcPts val="1875"/>
                        </a:spcBef>
                        <a:spcAft>
                          <a:spcPts val="1875"/>
                        </a:spcAft>
                        <a:buNone/>
                      </a:pPr>
                      <a:r>
                        <a:rPr lang="en-IN" sz="1800" b="0" i="0" spc="12">
                          <a:solidFill>
                            <a:schemeClr val="tx1"/>
                          </a:solidFill>
                          <a:effectLst/>
                          <a:latin typeface="Calibri" panose="020F0502020204030204" pitchFamily="34" charset="0"/>
                          <a:ea typeface="Calibri" panose="020F0502020204030204" pitchFamily="34" charset="0"/>
                          <a:cs typeface="Calibri" panose="020F0502020204030204" pitchFamily="34" charset="0"/>
                        </a:rPr>
                        <a:t>HTTP</a:t>
                      </a:r>
                      <a:endParaRPr lang="en-IN" sz="1800" b="0" i="0" spc="1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TCP, UDP, SCTP</a:t>
                      </a:r>
                      <a:endParaRPr lang="en-IN" sz="1800" b="0" i="0"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rtl="0" fontAlgn="base">
                        <a:spcBef>
                          <a:spcPts val="1875"/>
                        </a:spcBef>
                        <a:spcAft>
                          <a:spcPts val="750"/>
                        </a:spcAft>
                        <a:buNone/>
                      </a:pPr>
                      <a:r>
                        <a:rPr lang="en-IN" sz="1800" b="0" i="0"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Hypertext Transfer Protocol (HTTP) uses TCP in versions 1.x and 2. HTTP/3 uses QUIC, a transport protocol on top of UDP</a:t>
                      </a:r>
                      <a:endParaRPr lang="en-IN" sz="1800" b="0" i="0"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366315520"/>
                  </a:ext>
                </a:extLst>
              </a:tr>
              <a:tr h="436105">
                <a:tc>
                  <a:txBody>
                    <a:bodyPr/>
                    <a:lstStyle/>
                    <a:p>
                      <a:pPr algn="ct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110</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algn="ctr" fontAlgn="ctr">
                        <a:spcBef>
                          <a:spcPts val="1875"/>
                        </a:spcBef>
                        <a:spcAft>
                          <a:spcPts val="1875"/>
                        </a:spcAft>
                        <a:buNone/>
                      </a:pPr>
                      <a:r>
                        <a:rPr lang="en-IN" sz="1800" b="0" i="0"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POP3</a:t>
                      </a:r>
                      <a:endParaRPr lang="en-IN" sz="1800" b="0" i="0"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a:solidFill>
                            <a:schemeClr val="tx1"/>
                          </a:solidFill>
                          <a:effectLst/>
                          <a:latin typeface="Calibri" panose="020F0502020204030204" pitchFamily="34" charset="0"/>
                          <a:ea typeface="Calibri" panose="020F0502020204030204" pitchFamily="34" charset="0"/>
                          <a:cs typeface="Calibri" panose="020F0502020204030204" pitchFamily="34" charset="0"/>
                        </a:rPr>
                        <a:t>TCP</a:t>
                      </a:r>
                      <a:endParaRPr lang="en-IN" sz="1800" b="0" i="0" spc="1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Post Office Protocol, version 3 (POP3)</a:t>
                      </a:r>
                      <a:endParaRPr lang="en-IN" sz="1800" b="0" i="0"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456660687"/>
                  </a:ext>
                </a:extLst>
              </a:tr>
              <a:tr h="701676">
                <a:tc>
                  <a:txBody>
                    <a:bodyPr/>
                    <a:lstStyle/>
                    <a:p>
                      <a:pPr algn="ct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143</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algn="ctr" fontAlgn="ctr">
                        <a:spcBef>
                          <a:spcPts val="1875"/>
                        </a:spcBef>
                        <a:spcAft>
                          <a:spcPts val="1875"/>
                        </a:spcAft>
                        <a:buNone/>
                      </a:pPr>
                      <a:r>
                        <a:rPr lang="en-IN" sz="1800" b="0" i="0"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IMAP4</a:t>
                      </a:r>
                      <a:endParaRPr lang="en-IN" sz="1800" b="0" i="0"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TCP, UDP</a:t>
                      </a:r>
                      <a:endParaRPr lang="en-IN" sz="1800" b="0" i="0"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Internet Message Access Protocol (IMAP), management of electronic mail messages on a server</a:t>
                      </a:r>
                      <a:endParaRPr lang="en-IN" sz="1800" b="0" i="0"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904234240"/>
                  </a:ext>
                </a:extLst>
              </a:tr>
              <a:tr h="701676">
                <a:tc>
                  <a:txBody>
                    <a:bodyPr/>
                    <a:lstStyle/>
                    <a:p>
                      <a:pPr algn="ct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443</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algn="ctr" fontAlgn="ctr">
                        <a:spcBef>
                          <a:spcPts val="1875"/>
                        </a:spcBef>
                        <a:spcAft>
                          <a:spcPts val="1875"/>
                        </a:spcAft>
                        <a:buNone/>
                      </a:pPr>
                      <a:r>
                        <a:rPr lang="en-IN" sz="1800" b="0" i="0"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HTTP over SSL</a:t>
                      </a:r>
                      <a:endParaRPr lang="en-IN" sz="1800" b="0" i="0"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TCP, UDP, SCTP</a:t>
                      </a:r>
                      <a:endParaRPr lang="en-IN" sz="1800" b="0" i="0"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ctr" fontAlgn="ctr">
                        <a:spcBef>
                          <a:spcPts val="1875"/>
                        </a:spcBef>
                        <a:spcAft>
                          <a:spcPts val="1875"/>
                        </a:spcAft>
                        <a:buNone/>
                      </a:pPr>
                      <a:r>
                        <a:rPr lang="en-IN" sz="1800" b="0" i="0"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Hypertext Transfer Protocol Secure (HTTPS) uses TCP in versions 1.x and 2. HTTP/3 uses QUIC, a transport protocol on top of UDP.</a:t>
                      </a:r>
                      <a:endParaRPr lang="en-IN" sz="1800" b="0" i="0"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4182511486"/>
                  </a:ext>
                </a:extLst>
              </a:tr>
              <a:tr h="701676">
                <a:tc>
                  <a:txBody>
                    <a:bodyPr/>
                    <a:lstStyle/>
                    <a:p>
                      <a:pPr algn="ct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445</a:t>
                      </a:r>
                      <a:endPar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rPr>
                        <a:t>Microsoft-DS (SMB)</a:t>
                      </a:r>
                    </a:p>
                  </a:txBody>
                  <a:tcPr anchor="ctr"/>
                </a:tc>
                <a:tc>
                  <a:txBody>
                    <a:bodyPr/>
                    <a:lstStyle/>
                    <a:p>
                      <a:pPr algn="ctr">
                        <a:buNone/>
                      </a:pPr>
                      <a:r>
                        <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rPr>
                        <a:t>TCP</a:t>
                      </a:r>
                    </a:p>
                  </a:txBody>
                  <a:tcPr anchor="ctr"/>
                </a:tc>
                <a:tc>
                  <a:txBody>
                    <a:bodyPr/>
                    <a:lstStyle/>
                    <a:p>
                      <a:pPr algn="ctr">
                        <a:buNone/>
                      </a:pPr>
                      <a:r>
                        <a:rPr lang="en-IN" sz="1800" dirty="0">
                          <a:solidFill>
                            <a:schemeClr val="tx1"/>
                          </a:solidFill>
                          <a:latin typeface="Calibri" panose="020F0502020204030204" pitchFamily="34" charset="0"/>
                          <a:ea typeface="Calibri" panose="020F0502020204030204" pitchFamily="34" charset="0"/>
                          <a:cs typeface="Calibri" panose="020F0502020204030204" pitchFamily="34" charset="0"/>
                        </a:rPr>
                        <a:t>Microsoft Directory Services (SMB – Server Message Block) is used for file sharing, printer sharing, and communication with Windows network services. It commonly supports SMB-based file and resource sharing over TCP.</a:t>
                      </a:r>
                    </a:p>
                  </a:txBody>
                  <a:tcPr anchor="ctr"/>
                </a:tc>
                <a:extLst>
                  <a:ext uri="{0D108BD9-81ED-4DB2-BD59-A6C34878D82A}">
                    <a16:rowId xmlns:a16="http://schemas.microsoft.com/office/drawing/2014/main" val="3502672807"/>
                  </a:ext>
                </a:extLst>
              </a:tr>
            </a:tbl>
          </a:graphicData>
        </a:graphic>
      </p:graphicFrame>
    </p:spTree>
    <p:extLst>
      <p:ext uri="{BB962C8B-B14F-4D97-AF65-F5344CB8AC3E}">
        <p14:creationId xmlns:p14="http://schemas.microsoft.com/office/powerpoint/2010/main" val="18661450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F8254151-8F5A-ABB2-B3D4-A957BA2C177E}"/>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58E9D498-6F20-C15D-31B6-21F102C160C8}"/>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Attack surface</a:t>
            </a:r>
            <a:r>
              <a:rPr lang="en-IN" sz="1800" dirty="0">
                <a:latin typeface="Calibri" panose="020F0502020204030204" pitchFamily="34" charset="0"/>
                <a:ea typeface="Calibri" panose="020F0502020204030204" pitchFamily="34" charset="0"/>
                <a:cs typeface="Calibri" panose="020F0502020204030204" pitchFamily="34" charset="0"/>
              </a:rPr>
              <a:t> is the total of all points where an attacker can try to enter a system or extract data from it.</a:t>
            </a:r>
          </a:p>
          <a:p>
            <a:pPr algn="just" fontAlgn="base"/>
            <a:r>
              <a:rPr lang="en-IN" sz="1800" dirty="0">
                <a:latin typeface="Calibri" panose="020F0502020204030204" pitchFamily="34" charset="0"/>
                <a:ea typeface="Calibri" panose="020F0502020204030204" pitchFamily="34" charset="0"/>
                <a:cs typeface="Calibri" panose="020F0502020204030204" pitchFamily="34" charset="0"/>
              </a:rPr>
              <a:t>A port is </a:t>
            </a:r>
            <a:r>
              <a:rPr lang="en-IN" sz="1800" b="1" dirty="0">
                <a:latin typeface="Calibri" panose="020F0502020204030204" pitchFamily="34" charset="0"/>
                <a:ea typeface="Calibri" panose="020F0502020204030204" pitchFamily="34" charset="0"/>
                <a:cs typeface="Calibri" panose="020F0502020204030204" pitchFamily="34" charset="0"/>
              </a:rPr>
              <a:t>open</a:t>
            </a:r>
            <a:r>
              <a:rPr lang="en-IN" sz="1800" dirty="0">
                <a:latin typeface="Calibri" panose="020F0502020204030204" pitchFamily="34" charset="0"/>
                <a:ea typeface="Calibri" panose="020F0502020204030204" pitchFamily="34" charset="0"/>
                <a:cs typeface="Calibri" panose="020F0502020204030204" pitchFamily="34" charset="0"/>
              </a:rPr>
              <a:t> when a service is listening on it and accepts connections. Every open port means a running service, and every service is a potential entry point.</a:t>
            </a:r>
          </a:p>
          <a:p>
            <a:pPr marL="114300" indent="0" algn="just" fontAlgn="base">
              <a:buNone/>
            </a:pPr>
            <a:r>
              <a:rPr lang="en-IN" sz="1800" b="1" dirty="0">
                <a:latin typeface="Calibri" panose="020F0502020204030204" pitchFamily="34" charset="0"/>
                <a:ea typeface="Calibri" panose="020F0502020204030204" pitchFamily="34" charset="0"/>
                <a:cs typeface="Calibri" panose="020F0502020204030204" pitchFamily="34" charset="0"/>
              </a:rPr>
              <a:t>Why open ports are risky:</a:t>
            </a:r>
          </a:p>
          <a:p>
            <a:pPr algn="just" fontAlgn="base"/>
            <a:r>
              <a:rPr lang="en-IN" sz="1600" dirty="0">
                <a:latin typeface="Calibri" panose="020F0502020204030204" pitchFamily="34" charset="0"/>
                <a:ea typeface="Calibri" panose="020F0502020204030204" pitchFamily="34" charset="0"/>
                <a:cs typeface="Calibri" panose="020F0502020204030204" pitchFamily="34" charset="0"/>
              </a:rPr>
              <a:t>Unpatched or vulnerable service software (e.g., old SMB or web server versions)</a:t>
            </a:r>
          </a:p>
          <a:p>
            <a:pPr algn="just" fontAlgn="base"/>
            <a:r>
              <a:rPr lang="en-IN" sz="1600" dirty="0">
                <a:latin typeface="Calibri" panose="020F0502020204030204" pitchFamily="34" charset="0"/>
                <a:ea typeface="Calibri" panose="020F0502020204030204" pitchFamily="34" charset="0"/>
                <a:cs typeface="Calibri" panose="020F0502020204030204" pitchFamily="34" charset="0"/>
              </a:rPr>
              <a:t>Weak or default credentials on remote-access services (SSH, RDP, Telnet, FTP)</a:t>
            </a:r>
          </a:p>
          <a:p>
            <a:pPr algn="just" fontAlgn="base"/>
            <a:r>
              <a:rPr lang="en-IN" sz="1600" dirty="0">
                <a:latin typeface="Calibri" panose="020F0502020204030204" pitchFamily="34" charset="0"/>
                <a:ea typeface="Calibri" panose="020F0502020204030204" pitchFamily="34" charset="0"/>
                <a:cs typeface="Calibri" panose="020F0502020204030204" pitchFamily="34" charset="0"/>
              </a:rPr>
              <a:t>Misconfiguration such as anonymous FTP, open file shares, or a mail server acting as an open relay</a:t>
            </a:r>
          </a:p>
          <a:p>
            <a:pPr algn="just" fontAlgn="base"/>
            <a:r>
              <a:rPr lang="en-IN" sz="1600" dirty="0">
                <a:latin typeface="Calibri" panose="020F0502020204030204" pitchFamily="34" charset="0"/>
                <a:ea typeface="Calibri" panose="020F0502020204030204" pitchFamily="34" charset="0"/>
                <a:cs typeface="Calibri" panose="020F0502020204030204" pitchFamily="34" charset="0"/>
              </a:rPr>
              <a:t>Clear-text legacy protocols that leak passwords; service banners that reveal software versions</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Real-world cases:</a:t>
            </a:r>
            <a:r>
              <a:rPr lang="en-IN" sz="1800" dirty="0">
                <a:latin typeface="Calibri" panose="020F0502020204030204" pitchFamily="34" charset="0"/>
                <a:ea typeface="Calibri" panose="020F0502020204030204" pitchFamily="34" charset="0"/>
                <a:cs typeface="Calibri" panose="020F0502020204030204" pitchFamily="34" charset="0"/>
              </a:rPr>
              <a:t> WannaCry ransomware (2017) spread through exposed SMB port 445; exposed RDP port 3389 is a favourite entry point for ransomware gangs.</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Principle:</a:t>
            </a:r>
            <a:r>
              <a:rPr lang="en-IN" sz="1800" dirty="0">
                <a:latin typeface="Calibri" panose="020F0502020204030204" pitchFamily="34" charset="0"/>
                <a:ea typeface="Calibri" panose="020F0502020204030204" pitchFamily="34" charset="0"/>
                <a:cs typeface="Calibri" panose="020F0502020204030204" pitchFamily="34" charset="0"/>
              </a:rPr>
              <a:t> Fewer open ports = smaller attack surface. Keep only the ports that are really needed, and restrict them with a firewall.</a:t>
            </a:r>
          </a:p>
        </p:txBody>
      </p:sp>
      <p:sp>
        <p:nvSpPr>
          <p:cNvPr id="120" name="Google Shape;120;p3">
            <a:extLst>
              <a:ext uri="{FF2B5EF4-FFF2-40B4-BE49-F238E27FC236}">
                <a16:creationId xmlns:a16="http://schemas.microsoft.com/office/drawing/2014/main" id="{C1B6D112-5584-A880-5052-2307D5FF8519}"/>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OPEN PORTS AS ATTACK SURFACE</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D9340955-8BAB-020B-EDB5-AE811A53B455}"/>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94</a:t>
            </a:fld>
            <a:endParaRPr/>
          </a:p>
        </p:txBody>
      </p:sp>
    </p:spTree>
    <p:extLst>
      <p:ext uri="{BB962C8B-B14F-4D97-AF65-F5344CB8AC3E}">
        <p14:creationId xmlns:p14="http://schemas.microsoft.com/office/powerpoint/2010/main" val="16152795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F0B0313-325B-6849-2C66-188D43FF3D77}"/>
            </a:ext>
          </a:extLst>
        </p:cNvPr>
        <p:cNvGrpSpPr/>
        <p:nvPr/>
      </p:nvGrpSpPr>
      <p:grpSpPr>
        <a:xfrm>
          <a:off x="0" y="0"/>
          <a:ext cx="0" cy="0"/>
          <a:chOff x="0" y="0"/>
          <a:chExt cx="0" cy="0"/>
        </a:xfrm>
      </p:grpSpPr>
      <p:sp>
        <p:nvSpPr>
          <p:cNvPr id="119" name="Google Shape;119;p3">
            <a:extLst>
              <a:ext uri="{FF2B5EF4-FFF2-40B4-BE49-F238E27FC236}" cy="200000">
                <a16:creationId xmlns:a16="http://schemas.microsoft.com/office/drawing/2014/main" id="{C56C03B2-64FC-3FC0-A925-107AECCAA0AB}"/>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p>
        </p:txBody>
      </p:sp>
      <p:sp>
        <p:nvSpPr>
          <p:cNvPr id="120" name="Google Shape;120;p3">
            <a:extLst>
              <a:ext uri="{FF2B5EF4-FFF2-40B4-BE49-F238E27FC236}">
                <a16:creationId xmlns:a16="http://schemas.microsoft.com/office/drawing/2014/main" id="{CA8EC04D-0D05-3955-7E12-A200AAE9DCC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OPEN PORTS – COMMON RISKS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817575E9-35A5-1A8E-64F9-B80BC9E54AE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graphicFrame>
        <p:nvGraphicFramePr>
          <p:cNvPr id="308" name="Table 308"/>
          <p:cNvGraphicFramePr>
            <a:graphicFrameLocks noGrp="1"/>
          </p:cNvGraphicFramePr>
          <p:nvPr/>
        </p:nvGraphicFramePr>
        <p:xfrm>
          <a:off x="838201" y="1350000"/>
          <a:ext cx="10515600" cy="4480000"/>
        </p:xfrm>
        <a:graphic>
          <a:graphicData uri="http://schemas.openxmlformats.org/drawingml/2006/table">
            <a:tbl>
              <a:tblPr firstRow="1" bandRow="1">
                <a:tableStyleId>{5C22544A-7EE6-4342-B048-85BDC9FD1C3A}</a:tableStyleId>
              </a:tblPr>
              <a:tblGrid>
                <a:gridCol w="1000000"/>
                <a:gridCol w="1500000"/>
                <a:gridCol w="4000000"/>
                <a:gridCol w="4015600"/>
              </a:tblGrid>
              <a:tr h="560000">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Port</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Service</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Main Risk</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Mitigation</a:t>
                      </a:r>
                    </a:p>
                  </a:txBody>
                  <a:tcPr marL="72000" marR="72000" marT="36000" marB="36000" anchor="ctr"/>
                </a:tc>
              </a:tr>
              <a:tr h="56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21</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FTP</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Clear-text credentials, anonymous login</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Use SFTP/FTPS, disable anonymous access</a:t>
                      </a:r>
                    </a:p>
                  </a:txBody>
                  <a:tcPr marL="72000" marR="72000" marT="36000" marB="36000" anchor="ctr"/>
                </a:tc>
              </a:tr>
              <a:tr h="56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22</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SSH</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Brute-force attacks on weak passwords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Key-based login, disable root login, restrict by IP</a:t>
                      </a:r>
                    </a:p>
                  </a:txBody>
                  <a:tcPr marL="72000" marR="72000" marT="36000" marB="36000" anchor="ctr"/>
                </a:tc>
              </a:tr>
              <a:tr h="56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23</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Telnet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All traffic including passwords in clear text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Disable it; use SSH instead</a:t>
                      </a:r>
                    </a:p>
                  </a:txBody>
                  <a:tcPr marL="72000" marR="72000" marT="36000" marB="36000" anchor="ctr"/>
                </a:tc>
              </a:tr>
              <a:tr h="56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25</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SMTP</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Open relay, spam and phishing delivery</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Require authentication, SPF/DKIM/DMARC</a:t>
                      </a:r>
                    </a:p>
                  </a:txBody>
                  <a:tcPr marL="72000" marR="72000" marT="36000" marB="36000" anchor="ctr"/>
                </a:tc>
              </a:tr>
              <a:tr h="56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53</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DNS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Cache poisoning, DDoS amplification, zone transfer leaks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Restrict zone transfers, DNSSEC, rate limiting</a:t>
                      </a:r>
                    </a:p>
                  </a:txBody>
                  <a:tcPr marL="72000" marR="72000" marT="36000" marB="36000" anchor="ctr"/>
                </a:tc>
              </a:tr>
              <a:tr h="56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445</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SMB</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Ransomware and worms (WannaCry / EternalBlue)</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Block at perimeter, disable SMBv1, patch</a:t>
                      </a:r>
                    </a:p>
                  </a:txBody>
                  <a:tcPr marL="72000" marR="72000" marT="36000" marB="36000" anchor="ctr"/>
                </a:tc>
              </a:tr>
              <a:tr h="56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3389</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RDP</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Brute force, BlueKeep-type exploits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VPN or gateway, MFA, NLA; never expose directly</a:t>
                      </a:r>
                    </a:p>
                  </a:txBody>
                  <a:tcPr marL="72000" marR="72000" marT="36000" marB="36000" anchor="ctr"/>
                </a:tc>
              </a:tr>
            </a:tbl>
          </a:graphicData>
        </a:graphic>
      </p:graphicFrame>
    </p:spTree>
    <p:extLst>
      <p:ext uri="{BB962C8B-B14F-4D97-AF65-F5344CB8AC3E}">
        <p14:creationId xmlns:p14="http://schemas.microsoft.com/office/powerpoint/2010/main" val="14702086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271E739-81AB-EA2F-D043-33A58FDFACB4}"/>
            </a:ext>
          </a:extLst>
        </p:cNvPr>
        <p:cNvGrpSpPr/>
        <p:nvPr/>
      </p:nvGrpSpPr>
      <p:grpSpPr>
        <a:xfrm>
          <a:off x="0" y="0"/>
          <a:ext cx="0" cy="0"/>
          <a:chOff x="0" y="0"/>
          <a:chExt cx="0" cy="0"/>
        </a:xfrm>
      </p:grpSpPr>
      <p:sp>
        <p:nvSpPr>
          <p:cNvPr id="119" name="Google Shape;119;p3">
            <a:extLst>
              <a:ext uri="{FF2B5EF4-FFF2-40B4-BE49-F238E27FC236}" cy="1700000">
                <a16:creationId xmlns:a16="http://schemas.microsoft.com/office/drawing/2014/main" id="{2D2A8BA4-3A13-C878-0B0F-C85FD60E2019}"/>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Port scanning</a:t>
            </a:r>
            <a:r>
              <a:rPr lang="en-IN" sz="1800" dirty="0">
                <a:latin typeface="Calibri" panose="020F0502020204030204" pitchFamily="34" charset="0"/>
                <a:ea typeface="Calibri" panose="020F0502020204030204" pitchFamily="34" charset="0"/>
                <a:cs typeface="Calibri" panose="020F0502020204030204" pitchFamily="34" charset="0"/>
              </a:rPr>
              <a:t> probes a host to find which ports are open, closed or filtered and which services run on them. Attackers use it for reconnaissance; administrators use it for audits (tool: Nmap).</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Open</a:t>
            </a:r>
            <a:r>
              <a:rPr lang="en-IN" sz="1800" dirty="0">
                <a:latin typeface="Calibri" panose="020F0502020204030204" pitchFamily="34" charset="0"/>
                <a:ea typeface="Calibri" panose="020F0502020204030204" pitchFamily="34" charset="0"/>
                <a:cs typeface="Calibri" panose="020F0502020204030204" pitchFamily="34" charset="0"/>
              </a:rPr>
              <a:t> – a service replies  |  </a:t>
            </a:r>
            <a:r>
              <a:rPr lang="en-IN" sz="1800" b="1" dirty="0">
                <a:latin typeface="Calibri" panose="020F0502020204030204" pitchFamily="34" charset="0"/>
                <a:ea typeface="Calibri" panose="020F0502020204030204" pitchFamily="34" charset="0"/>
                <a:cs typeface="Calibri" panose="020F0502020204030204" pitchFamily="34" charset="0"/>
              </a:rPr>
              <a:t>Closed</a:t>
            </a:r>
            <a:r>
              <a:rPr lang="en-IN" sz="1800" dirty="0">
                <a:latin typeface="Calibri" panose="020F0502020204030204" pitchFamily="34" charset="0"/>
                <a:ea typeface="Calibri" panose="020F0502020204030204" pitchFamily="34" charset="0"/>
                <a:cs typeface="Calibri" panose="020F0502020204030204" pitchFamily="34" charset="0"/>
              </a:rPr>
              <a:t> – the host replies with RST (nothing listening)  |  </a:t>
            </a:r>
            <a:r>
              <a:rPr lang="en-IN" sz="1800" b="1" dirty="0">
                <a:latin typeface="Calibri" panose="020F0502020204030204" pitchFamily="34" charset="0"/>
                <a:ea typeface="Calibri" panose="020F0502020204030204" pitchFamily="34" charset="0"/>
                <a:cs typeface="Calibri" panose="020F0502020204030204" pitchFamily="34" charset="0"/>
              </a:rPr>
              <a:t>Filtered</a:t>
            </a:r>
            <a:r>
              <a:rPr lang="en-IN" sz="1800" dirty="0">
                <a:latin typeface="Calibri" panose="020F0502020204030204" pitchFamily="34" charset="0"/>
                <a:ea typeface="Calibri" panose="020F0502020204030204" pitchFamily="34" charset="0"/>
                <a:cs typeface="Calibri" panose="020F0502020204030204" pitchFamily="34" charset="0"/>
              </a:rPr>
              <a:t> – a firewall silently drops the probe.</a:t>
            </a:r>
          </a:p>
        </p:txBody>
      </p:sp>
      <p:sp>
        <p:nvSpPr>
          <p:cNvPr id="120" name="Google Shape;120;p3">
            <a:extLst>
              <a:ext uri="{FF2B5EF4-FFF2-40B4-BE49-F238E27FC236}">
                <a16:creationId xmlns:a16="http://schemas.microsoft.com/office/drawing/2014/main" id="{6FAEF035-C510-7FD4-AFCF-8AAB742787F9}"/>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PORT SCANNING</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4E11163B-FD32-E0BE-F4A5-691D47EA27EA}"/>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96</a:t>
            </a:fld>
            <a:endParaRPr/>
          </a:p>
        </p:txBody>
      </p:sp>
      <p:graphicFrame>
        <p:nvGraphicFramePr>
          <p:cNvPr id="309" name="Table 309"/>
          <p:cNvGraphicFramePr>
            <a:graphicFrameLocks noGrp="1"/>
          </p:cNvGraphicFramePr>
          <p:nvPr/>
        </p:nvGraphicFramePr>
        <p:xfrm>
          <a:off x="838201" y="2900000"/>
          <a:ext cx="10515600" cy="2080000"/>
        </p:xfrm>
        <a:graphic>
          <a:graphicData uri="http://schemas.openxmlformats.org/drawingml/2006/table">
            <a:tbl>
              <a:tblPr firstRow="1" bandRow="1">
                <a:tableStyleId>{5C22544A-7EE6-4342-B048-85BDC9FD1C3A}</a:tableStyleId>
              </a:tblPr>
              <a:tblGrid>
                <a:gridCol w="2300000"/>
                <a:gridCol w="4200000"/>
                <a:gridCol w="4015600"/>
              </a:tblGrid>
              <a:tr h="520000">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Scan Type</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How it uses the handshake</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Response</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TCP connect (-sT)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Completes the full SYN → SYN-ACK → ACK handshake</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SYN-ACK = open, RST = closed (easily logged)</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SYN / half-open (-sS)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Sends SYN, then RST instead of the final ACK</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SYN-ACK = open, RST = closed (stealthier)</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UDP scan (-sU)</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No handshake exists for UDP</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ICMP "port unreachable" = closed; silence = open/filtered</a:t>
                      </a:r>
                    </a:p>
                  </a:txBody>
                  <a:tcPr marL="72000" marR="72000" marT="36000" marB="36000" anchor="ctr"/>
                </a:tc>
              </a:tr>
            </a:tbl>
          </a:graphicData>
        </a:graphic>
      </p:graphicFrame>
      <p:sp>
        <p:nvSpPr>
          <p:cNvPr id="310" name="Note 310"/>
          <p:cNvSpPr/>
          <p:nvPr/>
        </p:nvSpPr>
        <p:spPr>
          <a:xfrm>
            <a:off x="838201" y="5300000"/>
            <a:ext cx="10515601" cy="750000"/>
          </a:xfrm>
          <a:prstGeom prst="roundRect">
            <a:avLst>
              <a:gd name="adj" fmla="val 8000"/>
            </a:avLst>
          </a:prstGeom>
          <a:solidFill>
            <a:srgbClr val="E8F1F5"/>
          </a:solidFill>
          <a:ln w="12700">
            <a:solidFill>
              <a:srgbClr val="156082"/>
            </a:solidFill>
          </a:ln>
        </p:spPr>
        <p:txBody>
          <a:bodyPr wrap="square" lIns="91440" tIns="45720" rIns="91440" bIns="45720" anchor="ctr">
            <a:noAutofit/>
          </a:bodyPr>
          <a:lstStyle/>
          <a:p>
            <a:pPr marL="0" indent="0" algn="l">
              <a:buNone/>
            </a:pPr>
            <a:r>
              <a:rPr lang="en-IN" sz="1600" b="1" dirty="0">
                <a:latin typeface="Calibri" panose="020F0502020204030204" pitchFamily="34" charset="0"/>
                <a:ea typeface="Calibri" panose="020F0502020204030204" pitchFamily="34" charset="0"/>
                <a:cs typeface="Calibri" panose="020F0502020204030204" pitchFamily="34" charset="0"/>
              </a:rPr>
              <a:t>Defence:</a:t>
            </a:r>
            <a:r>
              <a:rPr lang="en-IN" sz="1600" dirty="0">
                <a:latin typeface="Calibri" panose="020F0502020204030204" pitchFamily="34" charset="0"/>
                <a:ea typeface="Calibri" panose="020F0502020204030204" pitchFamily="34" charset="0"/>
                <a:cs typeface="Calibri" panose="020F0502020204030204" pitchFamily="34" charset="0"/>
              </a:rPr>
              <a:t> close unused ports, use firewalls and IDS/IPS to detect scan patterns, rate-limit probes. </a:t>
            </a:r>
            <a:r>
              <a:rPr lang="en-IN" sz="1600" b="1" dirty="0">
                <a:latin typeface="Calibri" panose="020F0502020204030204" pitchFamily="34" charset="0"/>
                <a:ea typeface="Calibri" panose="020F0502020204030204" pitchFamily="34" charset="0"/>
                <a:cs typeface="Calibri" panose="020F0502020204030204" pitchFamily="34" charset="0"/>
              </a:rPr>
              <a:t>Scan only systems you own or have written permission to test.</a:t>
            </a:r>
          </a:p>
        </p:txBody>
      </p:sp>
    </p:spTree>
    <p:extLst>
      <p:ext uri="{BB962C8B-B14F-4D97-AF65-F5344CB8AC3E}">
        <p14:creationId xmlns:p14="http://schemas.microsoft.com/office/powerpoint/2010/main" val="852548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97EF8E5D-297A-28E1-D1A9-35C16E52D2DA}"/>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6E64C1BF-85E9-63CD-0748-1B897D67A136}"/>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900" dirty="0">
                <a:latin typeface="Calibri" panose="020F0502020204030204" pitchFamily="34" charset="0"/>
                <a:ea typeface="Calibri" panose="020F0502020204030204" pitchFamily="34" charset="0"/>
                <a:cs typeface="Calibri" panose="020F0502020204030204" pitchFamily="34" charset="0"/>
              </a:rPr>
              <a:t>The </a:t>
            </a:r>
            <a:r>
              <a:rPr lang="en-IN" sz="1900" b="1" dirty="0">
                <a:latin typeface="Calibri" panose="020F0502020204030204" pitchFamily="34" charset="0"/>
                <a:ea typeface="Calibri" panose="020F0502020204030204" pitchFamily="34" charset="0"/>
                <a:cs typeface="Calibri" panose="020F0502020204030204" pitchFamily="34" charset="0"/>
              </a:rPr>
              <a:t>Domain Name System (DNS)</a:t>
            </a:r>
            <a:r>
              <a:rPr lang="en-IN" sz="1900" dirty="0">
                <a:latin typeface="Calibri" panose="020F0502020204030204" pitchFamily="34" charset="0"/>
                <a:ea typeface="Calibri" panose="020F0502020204030204" pitchFamily="34" charset="0"/>
                <a:cs typeface="Calibri" panose="020F0502020204030204" pitchFamily="34" charset="0"/>
              </a:rPr>
              <a:t> translates human-readable names (www.example.com) into IP addresses – the "phonebook of the Internet". It mainly uses UDP/TCP port 53.</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1:</a:t>
            </a:r>
            <a:r>
              <a:rPr lang="en-IN" sz="1900" dirty="0">
                <a:latin typeface="Calibri" panose="020F0502020204030204" pitchFamily="34" charset="0"/>
                <a:ea typeface="Calibri" panose="020F0502020204030204" pitchFamily="34" charset="0"/>
                <a:cs typeface="Calibri" panose="020F0502020204030204" pitchFamily="34" charset="0"/>
              </a:rPr>
              <a:t> Browser checks its own cache, then the OS cache and hosts file.</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2:</a:t>
            </a:r>
            <a:r>
              <a:rPr lang="en-IN" sz="1900" dirty="0">
                <a:latin typeface="Calibri" panose="020F0502020204030204" pitchFamily="34" charset="0"/>
                <a:ea typeface="Calibri" panose="020F0502020204030204" pitchFamily="34" charset="0"/>
                <a:cs typeface="Calibri" panose="020F0502020204030204" pitchFamily="34" charset="0"/>
              </a:rPr>
              <a:t> If not found, the query goes to the recursive resolver (ISP DNS, or public ones such as 8.8.8.8 / 1.1.1.1).</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3:</a:t>
            </a:r>
            <a:r>
              <a:rPr lang="en-IN" sz="1900" dirty="0">
                <a:latin typeface="Calibri" panose="020F0502020204030204" pitchFamily="34" charset="0"/>
                <a:ea typeface="Calibri" panose="020F0502020204030204" pitchFamily="34" charset="0"/>
                <a:cs typeface="Calibri" panose="020F0502020204030204" pitchFamily="34" charset="0"/>
              </a:rPr>
              <a:t> The resolver asks a Root server, which points to the .com TLD server.</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4:</a:t>
            </a:r>
            <a:r>
              <a:rPr lang="en-IN" sz="1900" dirty="0">
                <a:latin typeface="Calibri" panose="020F0502020204030204" pitchFamily="34" charset="0"/>
                <a:ea typeface="Calibri" panose="020F0502020204030204" pitchFamily="34" charset="0"/>
                <a:cs typeface="Calibri" panose="020F0502020204030204" pitchFamily="34" charset="0"/>
              </a:rPr>
              <a:t> The TLD server points to the authoritative name server of example.com.</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5:</a:t>
            </a:r>
            <a:r>
              <a:rPr lang="en-IN" sz="1900" dirty="0">
                <a:latin typeface="Calibri" panose="020F0502020204030204" pitchFamily="34" charset="0"/>
                <a:ea typeface="Calibri" panose="020F0502020204030204" pitchFamily="34" charset="0"/>
                <a:cs typeface="Calibri" panose="020F0502020204030204" pitchFamily="34" charset="0"/>
              </a:rPr>
              <a:t> The authoritative server returns the IP address (A record).</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6:</a:t>
            </a:r>
            <a:r>
              <a:rPr lang="en-IN" sz="1900" dirty="0">
                <a:latin typeface="Calibri" panose="020F0502020204030204" pitchFamily="34" charset="0"/>
                <a:ea typeface="Calibri" panose="020F0502020204030204" pitchFamily="34" charset="0"/>
                <a:cs typeface="Calibri" panose="020F0502020204030204" pitchFamily="34" charset="0"/>
              </a:rPr>
              <a:t> The resolver caches the answer (for its TTL) and returns the IP to the browser, which then connects to the web server.</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Security note:</a:t>
            </a:r>
            <a:r>
              <a:rPr lang="en-IN" sz="1900" dirty="0">
                <a:latin typeface="Calibri" panose="020F0502020204030204" pitchFamily="34" charset="0"/>
                <a:ea typeface="Calibri" panose="020F0502020204030204" pitchFamily="34" charset="0"/>
                <a:cs typeface="Calibri" panose="020F0502020204030204" pitchFamily="34" charset="0"/>
              </a:rPr>
              <a:t> Classic DNS is unencrypted and unauthenticated, so responses can be forged – this is what makes DNS poisoning possible.</a:t>
            </a:r>
          </a:p>
        </p:txBody>
      </p:sp>
      <p:sp>
        <p:nvSpPr>
          <p:cNvPr id="120" name="Google Shape;120;p3">
            <a:extLst>
              <a:ext uri="{FF2B5EF4-FFF2-40B4-BE49-F238E27FC236}">
                <a16:creationId xmlns:a16="http://schemas.microsoft.com/office/drawing/2014/main" id="{E4C3FC6E-E7F5-3E90-63D3-C84F24C805FF}"/>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DNS – RESOLUTION PROCESS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42299E49-72DD-67E7-6B33-118569BAC8E0}"/>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97</a:t>
            </a:fld>
            <a:endParaRPr/>
          </a:p>
        </p:txBody>
      </p:sp>
    </p:spTree>
    <p:extLst>
      <p:ext uri="{BB962C8B-B14F-4D97-AF65-F5344CB8AC3E}">
        <p14:creationId xmlns:p14="http://schemas.microsoft.com/office/powerpoint/2010/main" val="16320692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A96D65C-E464-5889-3A0C-B7BC23776D5D}"/>
            </a:ext>
          </a:extLst>
        </p:cNvPr>
        <p:cNvGrpSpPr/>
        <p:nvPr/>
      </p:nvGrpSpPr>
      <p:grpSpPr>
        <a:xfrm>
          <a:off x="0" y="0"/>
          <a:ext cx="0" cy="0"/>
          <a:chOff x="0" y="0"/>
          <a:chExt cx="0" cy="0"/>
        </a:xfrm>
      </p:grpSpPr>
      <p:sp>
        <p:nvSpPr>
          <p:cNvPr id="119" name="Google Shape;119;p3">
            <a:extLst>
              <a:ext uri="{FF2B5EF4-FFF2-40B4-BE49-F238E27FC236}" cy="200000">
                <a16:creationId xmlns:a16="http://schemas.microsoft.com/office/drawing/2014/main" id="{5B1FE8DA-55B3-F86D-87B7-C18640B8FEEE}"/>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p>
        </p:txBody>
      </p:sp>
      <p:sp>
        <p:nvSpPr>
          <p:cNvPr id="120" name="Google Shape;120;p3">
            <a:extLst>
              <a:ext uri="{FF2B5EF4-FFF2-40B4-BE49-F238E27FC236}">
                <a16:creationId xmlns:a16="http://schemas.microsoft.com/office/drawing/2014/main" id="{AA60D35A-5C57-DBC7-BDC9-7D4AB2774632}"/>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DNS – RECORD TYPES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0266E7A7-31EF-89D9-81A5-2D8729FCABB0}"/>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98</a:t>
            </a:fld>
            <a:endParaRPr/>
          </a:p>
        </p:txBody>
      </p:sp>
      <p:graphicFrame>
        <p:nvGraphicFramePr>
          <p:cNvPr id="311" name="Table 311"/>
          <p:cNvGraphicFramePr>
            <a:graphicFrameLocks noGrp="1"/>
          </p:cNvGraphicFramePr>
          <p:nvPr/>
        </p:nvGraphicFramePr>
        <p:xfrm>
          <a:off x="838201" y="1350000"/>
          <a:ext cx="10515600" cy="3360000"/>
        </p:xfrm>
        <a:graphic>
          <a:graphicData uri="http://schemas.openxmlformats.org/drawingml/2006/table">
            <a:tbl>
              <a:tblPr firstRow="1" bandRow="1">
                <a:tableStyleId>{5C22544A-7EE6-4342-B048-85BDC9FD1C3A}</a:tableStyleId>
              </a:tblPr>
              <a:tblGrid>
                <a:gridCol w="1100000"/>
                <a:gridCol w="2000000"/>
                <a:gridCol w="4300000"/>
                <a:gridCol w="3115600"/>
              </a:tblGrid>
              <a:tr h="480000">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Record</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Name</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Purpose</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Example</a:t>
                      </a:r>
                    </a:p>
                  </a:txBody>
                  <a:tcPr marL="72000" marR="72000" marT="36000" marB="36000" anchor="ctr"/>
                </a:tc>
              </a:tr>
              <a:tr h="48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A</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Address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Maps a domain name to an IPv4 address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example.com → 93.184.216.34</a:t>
                      </a:r>
                    </a:p>
                  </a:txBody>
                  <a:tcPr marL="72000" marR="72000" marT="36000" marB="36000" anchor="ctr"/>
                </a:tc>
              </a:tr>
              <a:tr h="48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AAAA</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IPv6 Address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Maps a domain name to an IPv6 address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example.com → 2001:db8::1</a:t>
                      </a:r>
                    </a:p>
                  </a:txBody>
                  <a:tcPr marL="72000" marR="72000" marT="36000" marB="36000" anchor="ctr"/>
                </a:tc>
              </a:tr>
              <a:tr h="48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MX</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Mail Exchanger</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Mail servers that accept email for the domain (with priority)</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10 mail.example.com</a:t>
                      </a:r>
                    </a:p>
                  </a:txBody>
                  <a:tcPr marL="72000" marR="72000" marT="36000" marB="36000" anchor="ctr"/>
                </a:tc>
              </a:tr>
              <a:tr h="48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CNAME</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Canonical Name</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Alias that points one name to another name</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www → example.com</a:t>
                      </a:r>
                    </a:p>
                  </a:txBody>
                  <a:tcPr marL="72000" marR="72000" marT="36000" marB="36000" anchor="ctr"/>
                </a:tc>
              </a:tr>
              <a:tr h="48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TXT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Text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Free text; used for SPF, DKIM, DMARC and domain verification</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"v=spf1 include:_spf.example.com ~all"</a:t>
                      </a:r>
                    </a:p>
                  </a:txBody>
                  <a:tcPr marL="72000" marR="72000" marT="36000" marB="36000" anchor="ctr"/>
                </a:tc>
              </a:tr>
              <a:tr h="48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NS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Name Server</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Authoritative name servers for the domain</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ns1.example.com</a:t>
                      </a:r>
                    </a:p>
                  </a:txBody>
                  <a:tcPr marL="72000" marR="72000" marT="36000" marB="36000" anchor="ctr"/>
                </a:tc>
              </a:tr>
            </a:tbl>
          </a:graphicData>
        </a:graphic>
      </p:graphicFrame>
      <p:sp>
        <p:nvSpPr>
          <p:cNvPr id="312" name="Note 312"/>
          <p:cNvSpPr/>
          <p:nvPr/>
        </p:nvSpPr>
        <p:spPr>
          <a:xfrm>
            <a:off x="838201" y="5000000"/>
            <a:ext cx="10515601" cy="950000"/>
          </a:xfrm>
          <a:prstGeom prst="roundRect">
            <a:avLst>
              <a:gd name="adj" fmla="val 8000"/>
            </a:avLst>
          </a:prstGeom>
          <a:solidFill>
            <a:srgbClr val="E8F1F5"/>
          </a:solidFill>
          <a:ln w="12700">
            <a:solidFill>
              <a:srgbClr val="156082"/>
            </a:solidFill>
          </a:ln>
        </p:spPr>
        <p:txBody>
          <a:bodyPr wrap="square" lIns="91440" tIns="45720" rIns="91440" bIns="45720" anchor="ctr">
            <a:noAutofit/>
          </a:bodyPr>
          <a:lstStyle/>
          <a:p>
            <a:pPr marL="0" indent="0" algn="l">
              <a:buNone/>
            </a:pPr>
            <a:r>
              <a:rPr lang="en-IN" sz="1600" b="1" dirty="0">
                <a:latin typeface="Calibri" panose="020F0502020204030204" pitchFamily="34" charset="0"/>
                <a:ea typeface="Calibri" panose="020F0502020204030204" pitchFamily="34" charset="0"/>
                <a:cs typeface="Calibri" panose="020F0502020204030204" pitchFamily="34" charset="0"/>
              </a:rPr>
              <a:t>Security relevance:</a:t>
            </a:r>
            <a:r>
              <a:rPr lang="en-IN" sz="1600" dirty="0">
                <a:latin typeface="Calibri" panose="020F0502020204030204" pitchFamily="34" charset="0"/>
                <a:ea typeface="Calibri" panose="020F0502020204030204" pitchFamily="34" charset="0"/>
                <a:cs typeface="Calibri" panose="020F0502020204030204" pitchFamily="34" charset="0"/>
              </a:rPr>
              <a:t> attackers enumerate DNS records during reconnaissance; TXT records (SPF/DKIM/DMARC) help stop email spoofing; a dangling CNAME can allow subdomain takeover.</a:t>
            </a:r>
          </a:p>
        </p:txBody>
      </p:sp>
    </p:spTree>
    <p:extLst>
      <p:ext uri="{BB962C8B-B14F-4D97-AF65-F5344CB8AC3E}">
        <p14:creationId xmlns:p14="http://schemas.microsoft.com/office/powerpoint/2010/main" val="63150236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166EE738-3F3C-AFF7-EBEC-E4412E4B2A1F}"/>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6B2976C6-930C-42D7-919C-B2510B6B05E0}"/>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DNS poisoning (cache poisoning / DNS spoofing)</a:t>
            </a:r>
            <a:r>
              <a:rPr lang="en-IN" sz="1900" dirty="0">
                <a:latin typeface="Calibri" panose="020F0502020204030204" pitchFamily="34" charset="0"/>
                <a:ea typeface="Calibri" panose="020F0502020204030204" pitchFamily="34" charset="0"/>
                <a:cs typeface="Calibri" panose="020F0502020204030204" pitchFamily="34" charset="0"/>
              </a:rPr>
              <a:t> means inserting forged DNS data into a resolver's or device's cache so that a genuine domain name resolves to an attacker's IP address.</a:t>
            </a:r>
          </a:p>
          <a:p>
            <a:pPr marL="114300" indent="0" algn="just" fontAlgn="base">
              <a:buNone/>
            </a:pPr>
            <a:r>
              <a:rPr lang="en-IN" sz="1900" b="1" dirty="0">
                <a:latin typeface="Calibri" panose="020F0502020204030204" pitchFamily="34" charset="0"/>
                <a:ea typeface="Calibri" panose="020F0502020204030204" pitchFamily="34" charset="0"/>
                <a:cs typeface="Calibri" panose="020F0502020204030204" pitchFamily="34" charset="0"/>
              </a:rPr>
              <a:t>How it works:</a:t>
            </a:r>
          </a:p>
          <a:p>
            <a:pPr algn="just" fontAlgn="base"/>
            <a:r>
              <a:rPr lang="en-IN" sz="1800" dirty="0">
                <a:latin typeface="Calibri" panose="020F0502020204030204" pitchFamily="34" charset="0"/>
                <a:ea typeface="Calibri" panose="020F0502020204030204" pitchFamily="34" charset="0"/>
                <a:cs typeface="Calibri" panose="020F0502020204030204" pitchFamily="34" charset="0"/>
              </a:rPr>
              <a:t>Attacker sends forged DNS replies to a resolver, trying to beat the real server (guessing the transaction ID / port).</a:t>
            </a:r>
          </a:p>
          <a:p>
            <a:pPr algn="just" fontAlgn="base"/>
            <a:r>
              <a:rPr lang="en-IN" sz="1800" dirty="0">
                <a:latin typeface="Calibri" panose="020F0502020204030204" pitchFamily="34" charset="0"/>
                <a:ea typeface="Calibri" panose="020F0502020204030204" pitchFamily="34" charset="0"/>
                <a:cs typeface="Calibri" panose="020F0502020204030204" pitchFamily="34" charset="0"/>
              </a:rPr>
              <a:t>The resolver accepts the fake answer and caches it until the TTL expires.</a:t>
            </a:r>
          </a:p>
          <a:p>
            <a:pPr algn="just" fontAlgn="base"/>
            <a:r>
              <a:rPr lang="en-IN" sz="1800" dirty="0">
                <a:latin typeface="Calibri" panose="020F0502020204030204" pitchFamily="34" charset="0"/>
                <a:ea typeface="Calibri" panose="020F0502020204030204" pitchFamily="34" charset="0"/>
                <a:cs typeface="Calibri" panose="020F0502020204030204" pitchFamily="34" charset="0"/>
              </a:rPr>
              <a:t>Every user of that resolver who asks for bank.com is sent to the attacker's fake site, although the URL typed is correct.</a:t>
            </a:r>
          </a:p>
          <a:p>
            <a:pPr algn="just" fontAlgn="base"/>
            <a:r>
              <a:rPr lang="en-IN" sz="1800" dirty="0">
                <a:latin typeface="Calibri" panose="020F0502020204030204" pitchFamily="34" charset="0"/>
                <a:ea typeface="Calibri" panose="020F0502020204030204" pitchFamily="34" charset="0"/>
                <a:cs typeface="Calibri" panose="020F0502020204030204" pitchFamily="34" charset="0"/>
              </a:rPr>
              <a:t>Impact: credential theft, malware delivery, man-in-the-middle attacks, redirection of email.</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Other forms:</a:t>
            </a:r>
            <a:r>
              <a:rPr lang="en-IN" sz="1900" dirty="0">
                <a:latin typeface="Calibri" panose="020F0502020204030204" pitchFamily="34" charset="0"/>
                <a:ea typeface="Calibri" panose="020F0502020204030204" pitchFamily="34" charset="0"/>
                <a:cs typeface="Calibri" panose="020F0502020204030204" pitchFamily="34" charset="0"/>
              </a:rPr>
              <a:t> edited hosts file, rogue DNS settings pushed via a hacked router or rogue DHCP, and LAN attacks combined with ARP spoofing.</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Prevention:</a:t>
            </a:r>
            <a:r>
              <a:rPr lang="en-IN" sz="1900" dirty="0">
                <a:latin typeface="Calibri" panose="020F0502020204030204" pitchFamily="34" charset="0"/>
                <a:ea typeface="Calibri" panose="020F0502020204030204" pitchFamily="34" charset="0"/>
                <a:cs typeface="Calibri" panose="020F0502020204030204" pitchFamily="34" charset="0"/>
              </a:rPr>
              <a:t> DNSSEC (signed records), randomised source ports and transaction IDs, patched DNS software, DNS over HTTPS/TLS, secured routers, and never ignoring browser certificate warnings.</a:t>
            </a:r>
          </a:p>
        </p:txBody>
      </p:sp>
      <p:sp>
        <p:nvSpPr>
          <p:cNvPr id="120" name="Google Shape;120;p3">
            <a:extLst>
              <a:ext uri="{FF2B5EF4-FFF2-40B4-BE49-F238E27FC236}">
                <a16:creationId xmlns:a16="http://schemas.microsoft.com/office/drawing/2014/main" id="{F39D4143-D1E1-2D1C-BD13-2FCAEFA07F27}"/>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DNS – POISONING CONCEPT</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CC24D699-AE84-118F-5780-946C606EF221}"/>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99</a:t>
            </a:fld>
            <a:endParaRPr/>
          </a:p>
        </p:txBody>
      </p:sp>
    </p:spTree>
    <p:extLst>
      <p:ext uri="{BB962C8B-B14F-4D97-AF65-F5344CB8AC3E}">
        <p14:creationId xmlns:p14="http://schemas.microsoft.com/office/powerpoint/2010/main" val="8516331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9F8A292-E39B-15C9-4745-B853CA0C5F93}"/>
            </a:ext>
          </a:extLst>
        </p:cNvPr>
        <p:cNvGrpSpPr/>
        <p:nvPr/>
      </p:nvGrpSpPr>
      <p:grpSpPr>
        <a:xfrm>
          <a:off x="0" y="0"/>
          <a:ext cx="0" cy="0"/>
          <a:chOff x="0" y="0"/>
          <a:chExt cx="0" cy="0"/>
        </a:xfrm>
      </p:grpSpPr>
      <p:sp>
        <p:nvSpPr>
          <p:cNvPr id="119" name="Google Shape;119;p3">
            <a:extLst>
              <a:ext uri="{FF2B5EF4-FFF2-40B4-BE49-F238E27FC236}" cy="1500000">
                <a16:creationId xmlns:a16="http://schemas.microsoft.com/office/drawing/2014/main" id="{BE5D4825-1EF9-8361-F8AA-41B5A093F063}"/>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HTTP</a:t>
            </a:r>
            <a:r>
              <a:rPr lang="en-IN" sz="1800" dirty="0">
                <a:latin typeface="Calibri" panose="020F0502020204030204" pitchFamily="34" charset="0"/>
                <a:ea typeface="Calibri" panose="020F0502020204030204" pitchFamily="34" charset="0"/>
                <a:cs typeface="Calibri" panose="020F0502020204030204" pitchFamily="34" charset="0"/>
              </a:rPr>
              <a:t> is a stateless, application-layer client–server protocol (port 80). The client sends a request and the server returns a response. Each message has a start line, headers, a blank line and an optional body.</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Common methods:</a:t>
            </a:r>
            <a:r>
              <a:rPr lang="en-IN" sz="1800" dirty="0">
                <a:latin typeface="Calibri" panose="020F0502020204030204" pitchFamily="34" charset="0"/>
                <a:ea typeface="Calibri" panose="020F0502020204030204" pitchFamily="34" charset="0"/>
                <a:cs typeface="Calibri" panose="020F0502020204030204" pitchFamily="34" charset="0"/>
              </a:rPr>
              <a:t> GET (fetch), POST (send data), PUT (update), DELETE (remove), HEAD (headers only).</a:t>
            </a:r>
          </a:p>
        </p:txBody>
      </p:sp>
      <p:sp>
        <p:nvSpPr>
          <p:cNvPr id="120" name="Google Shape;120;p3">
            <a:extLst>
              <a:ext uri="{FF2B5EF4-FFF2-40B4-BE49-F238E27FC236}">
                <a16:creationId xmlns:a16="http://schemas.microsoft.com/office/drawing/2014/main" id="{7A808DE9-0B8A-2CE3-5E1F-07BFA4994D79}"/>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HTTP – REQUEST AND RESPONSE</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F8F30F44-EF5E-8808-13FC-E0A8CA927329}"/>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100</a:t>
            </a:fld>
            <a:endParaRPr/>
          </a:p>
        </p:txBody>
      </p:sp>
      <p:sp>
        <p:nvSpPr>
          <p:cNvPr id="313" name="Req 313"/>
          <p:cNvSpPr/>
          <p:nvPr/>
        </p:nvSpPr>
        <p:spPr>
          <a:xfrm>
            <a:off x="838201" y="2900000"/>
            <a:ext cx="5100000" cy="2350000"/>
          </a:xfrm>
          <a:prstGeom prst="roundRect">
            <a:avLst>
              <a:gd name="adj" fmla="val 8000"/>
            </a:avLst>
          </a:prstGeom>
          <a:solidFill>
            <a:srgbClr val="E8F1F5"/>
          </a:solidFill>
          <a:ln w="12700">
            <a:solidFill>
              <a:srgbClr val="156082"/>
            </a:solidFill>
          </a:ln>
        </p:spPr>
        <p:txBody>
          <a:bodyPr wrap="square" lIns="91440" tIns="45720" rIns="91440" bIns="45720" anchor="t">
            <a:noAutofit/>
          </a:bodyPr>
          <a:lstStyle/>
          <a:p>
            <a:pPr marL="0" indent="0" algn="l">
              <a:buNone/>
            </a:pPr>
            <a:r>
              <a:rPr lang="en-IN" sz="1800" b="1" dirty="0">
                <a:latin typeface="Calibri" panose="020F0502020204030204" pitchFamily="34" charset="0"/>
                <a:ea typeface="Calibri" panose="020F0502020204030204" pitchFamily="34" charset="0"/>
                <a:cs typeface="Calibri" panose="020F0502020204030204" pitchFamily="34" charset="0"/>
              </a:rPr>
              <a:t>HTTP Request</a:t>
            </a:r>
          </a:p>
          <a:p>
            <a:pPr marL="0" indent="0" algn="l">
              <a:buNone/>
            </a:pPr>
            <a:r>
              <a:rPr lang="en-IN" sz="1500" dirty="0">
                <a:latin typeface="Courier New"/>
                <a:cs typeface="Courier New"/>
              </a:rPr>
              <a:t>POST /login HTTP/1.1</a:t>
            </a:r>
          </a:p>
          <a:p>
            <a:pPr marL="0" indent="0" algn="l">
              <a:buNone/>
            </a:pPr>
            <a:r>
              <a:rPr lang="en-IN" sz="1500" dirty="0">
                <a:latin typeface="Courier New"/>
                <a:cs typeface="Courier New"/>
              </a:rPr>
              <a:t>Host: www.example.com</a:t>
            </a:r>
          </a:p>
          <a:p>
            <a:pPr marL="0" indent="0" algn="l">
              <a:buNone/>
            </a:pPr>
            <a:r>
              <a:rPr lang="en-IN" sz="1500" dirty="0">
                <a:latin typeface="Courier New"/>
                <a:cs typeface="Courier New"/>
              </a:rPr>
              <a:t>User-Agent: Mozilla/5.0</a:t>
            </a:r>
          </a:p>
          <a:p>
            <a:pPr marL="0" indent="0" algn="l">
              <a:buNone/>
            </a:pPr>
            <a:r>
              <a:rPr lang="en-IN" sz="1500" dirty="0">
                <a:latin typeface="Courier New"/>
                <a:cs typeface="Courier New"/>
              </a:rPr>
              <a:t>Cookie: sessionid=abc123</a:t>
            </a:r>
          </a:p>
          <a:p>
            <a:pPr marL="0" indent="0" algn="l">
              <a:buNone/>
            </a:pPr>
          </a:p>
          <a:p>
            <a:pPr marL="0" indent="0" algn="l">
              <a:buNone/>
            </a:pPr>
            <a:r>
              <a:rPr lang="en-IN" sz="1500" dirty="0">
                <a:latin typeface="Courier New"/>
                <a:cs typeface="Courier New"/>
              </a:rPr>
              <a:t>user=alice&amp;pass=Pass@123</a:t>
            </a:r>
          </a:p>
        </p:txBody>
      </p:sp>
      <p:sp>
        <p:nvSpPr>
          <p:cNvPr id="314" name="Resp 314"/>
          <p:cNvSpPr/>
          <p:nvPr/>
        </p:nvSpPr>
        <p:spPr>
          <a:xfrm>
            <a:off x="6253801" y="2900000"/>
            <a:ext cx="5100000" cy="2350000"/>
          </a:xfrm>
          <a:prstGeom prst="roundRect">
            <a:avLst>
              <a:gd name="adj" fmla="val 8000"/>
            </a:avLst>
          </a:prstGeom>
          <a:solidFill>
            <a:srgbClr val="E8F1F5"/>
          </a:solidFill>
          <a:ln w="12700">
            <a:solidFill>
              <a:srgbClr val="156082"/>
            </a:solidFill>
          </a:ln>
        </p:spPr>
        <p:txBody>
          <a:bodyPr wrap="square" lIns="91440" tIns="45720" rIns="91440" bIns="45720" anchor="t">
            <a:noAutofit/>
          </a:bodyPr>
          <a:lstStyle/>
          <a:p>
            <a:pPr marL="0" indent="0" algn="l">
              <a:buNone/>
            </a:pPr>
            <a:r>
              <a:rPr lang="en-IN" sz="1800" b="1" dirty="0">
                <a:latin typeface="Calibri" panose="020F0502020204030204" pitchFamily="34" charset="0"/>
                <a:ea typeface="Calibri" panose="020F0502020204030204" pitchFamily="34" charset="0"/>
                <a:cs typeface="Calibri" panose="020F0502020204030204" pitchFamily="34" charset="0"/>
              </a:rPr>
              <a:t>HTTP Response</a:t>
            </a:r>
          </a:p>
          <a:p>
            <a:pPr marL="0" indent="0" algn="l">
              <a:buNone/>
            </a:pPr>
            <a:r>
              <a:rPr lang="en-IN" sz="1500" dirty="0">
                <a:latin typeface="Courier New"/>
                <a:cs typeface="Courier New"/>
              </a:rPr>
              <a:t>HTTP/1.1 200 OK</a:t>
            </a:r>
          </a:p>
          <a:p>
            <a:pPr marL="0" indent="0" algn="l">
              <a:buNone/>
            </a:pPr>
            <a:r>
              <a:rPr lang="en-IN" sz="1500" dirty="0">
                <a:latin typeface="Courier New"/>
                <a:cs typeface="Courier New"/>
              </a:rPr>
              <a:t>Content-Type: text/html</a:t>
            </a:r>
          </a:p>
          <a:p>
            <a:pPr marL="0" indent="0" algn="l">
              <a:buNone/>
            </a:pPr>
            <a:r>
              <a:rPr lang="en-IN" sz="1500" dirty="0">
                <a:latin typeface="Courier New"/>
                <a:cs typeface="Courier New"/>
              </a:rPr>
              <a:t>Set-Cookie: sessionid=xyz789</a:t>
            </a:r>
          </a:p>
          <a:p>
            <a:pPr marL="0" indent="0" algn="l">
              <a:buNone/>
            </a:pPr>
            <a:r>
              <a:rPr lang="en-IN" sz="1500" dirty="0">
                <a:latin typeface="Courier New"/>
                <a:cs typeface="Courier New"/>
              </a:rPr>
              <a:t>Server: nginx</a:t>
            </a:r>
          </a:p>
          <a:p>
            <a:pPr marL="0" indent="0" algn="l">
              <a:buNone/>
            </a:pPr>
          </a:p>
          <a:p>
            <a:pPr marL="0" indent="0" algn="l">
              <a:buNone/>
            </a:pPr>
            <a:r>
              <a:rPr lang="en-IN" sz="1500" dirty="0">
                <a:latin typeface="Courier New"/>
                <a:cs typeface="Courier New"/>
              </a:rPr>
              <a:t>&lt;html&gt; ... page content ... &lt;/html&gt;</a:t>
            </a:r>
          </a:p>
        </p:txBody>
      </p:sp>
      <p:sp>
        <p:nvSpPr>
          <p:cNvPr id="315" name="Note 315"/>
          <p:cNvSpPr/>
          <p:nvPr/>
        </p:nvSpPr>
        <p:spPr>
          <a:xfrm>
            <a:off x="838201" y="5350000"/>
            <a:ext cx="10515601" cy="750000"/>
          </a:xfrm>
          <a:prstGeom prst="roundRect">
            <a:avLst>
              <a:gd name="adj" fmla="val 8000"/>
            </a:avLst>
          </a:prstGeom>
          <a:solidFill>
            <a:srgbClr val="FFFFFF"/>
          </a:solidFill>
          <a:ln w="12700">
            <a:solidFill>
              <a:srgbClr val="156082"/>
            </a:solidFill>
          </a:ln>
        </p:spPr>
        <p:txBody>
          <a:bodyPr wrap="square" lIns="91440" tIns="45720" rIns="91440" bIns="45720" anchor="ctr">
            <a:noAutofit/>
          </a:bodyPr>
          <a:lstStyle/>
          <a:p>
            <a:pPr marL="0" indent="0" algn="l">
              <a:buNone/>
            </a:pPr>
            <a:r>
              <a:rPr lang="en-IN" sz="1800" b="1" dirty="0">
                <a:latin typeface="Calibri" panose="020F0502020204030204" pitchFamily="34" charset="0"/>
                <a:ea typeface="Calibri" panose="020F0502020204030204" pitchFamily="34" charset="0"/>
                <a:cs typeface="Calibri" panose="020F0502020204030204" pitchFamily="34" charset="0"/>
              </a:rPr>
              <a:t>Security note:</a:t>
            </a:r>
            <a:r>
              <a:rPr lang="en-IN" sz="1800" dirty="0">
                <a:latin typeface="Calibri" panose="020F0502020204030204" pitchFamily="34" charset="0"/>
                <a:ea typeface="Calibri" panose="020F0502020204030204" pitchFamily="34" charset="0"/>
                <a:cs typeface="Calibri" panose="020F0502020204030204" pitchFamily="34" charset="0"/>
              </a:rPr>
              <a:t> over plain HTTP everything above – including the password and cookie – can be read by anyone on the network path.</a:t>
            </a:r>
          </a:p>
        </p:txBody>
      </p:sp>
    </p:spTree>
    <p:extLst>
      <p:ext uri="{BB962C8B-B14F-4D97-AF65-F5344CB8AC3E}">
        <p14:creationId xmlns:p14="http://schemas.microsoft.com/office/powerpoint/2010/main" val="1686444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347CBF26-D39E-4B87-C7DB-69E2B11FA2F8}"/>
            </a:ext>
          </a:extLst>
        </p:cNvPr>
        <p:cNvGrpSpPr/>
        <p:nvPr/>
      </p:nvGrpSpPr>
      <p:grpSpPr>
        <a:xfrm>
          <a:off x="0" y="0"/>
          <a:ext cx="0" cy="0"/>
          <a:chOff x="0" y="0"/>
          <a:chExt cx="0" cy="0"/>
        </a:xfrm>
      </p:grpSpPr>
      <p:sp>
        <p:nvSpPr>
          <p:cNvPr id="119" name="Google Shape;119;p3">
            <a:extLst>
              <a:ext uri="{FF2B5EF4-FFF2-40B4-BE49-F238E27FC236}" cy="200000">
                <a16:creationId xmlns:a16="http://schemas.microsoft.com/office/drawing/2014/main" id="{052B8B56-2E86-F794-7841-28EABA321E8C}"/>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p>
        </p:txBody>
      </p:sp>
      <p:sp>
        <p:nvSpPr>
          <p:cNvPr id="120" name="Google Shape;120;p3">
            <a:extLst>
              <a:ext uri="{FF2B5EF4-FFF2-40B4-BE49-F238E27FC236}">
                <a16:creationId xmlns:a16="http://schemas.microsoft.com/office/drawing/2014/main" id="{90AA30C8-F6B8-5058-A15D-C15A19C1C1DF}"/>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HTTP – STATUS CODES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EC6E0D9D-7707-5CA3-54BF-345C20403CFA}"/>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101</a:t>
            </a:fld>
            <a:endParaRPr/>
          </a:p>
        </p:txBody>
      </p:sp>
      <p:graphicFrame>
        <p:nvGraphicFramePr>
          <p:cNvPr id="316" name="Table 316"/>
          <p:cNvGraphicFramePr>
            <a:graphicFrameLocks noGrp="1"/>
          </p:cNvGraphicFramePr>
          <p:nvPr/>
        </p:nvGraphicFramePr>
        <p:xfrm>
          <a:off x="838201" y="1350000"/>
          <a:ext cx="10515600" cy="2820000"/>
        </p:xfrm>
        <a:graphic>
          <a:graphicData uri="http://schemas.openxmlformats.org/drawingml/2006/table">
            <a:tbl>
              <a:tblPr firstRow="1" bandRow="1">
                <a:tableStyleId>{5C22544A-7EE6-4342-B048-85BDC9FD1C3A}</a:tableStyleId>
              </a:tblPr>
              <a:tblGrid>
                <a:gridCol w="2200000"/>
                <a:gridCol w="3000000"/>
                <a:gridCol w="5315600"/>
              </a:tblGrid>
              <a:tr h="470000">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Class</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Meaning</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Common Codes</a:t>
                      </a:r>
                    </a:p>
                  </a:txBody>
                  <a:tcPr marL="72000" marR="72000" marT="36000" marB="36000" anchor="ctr"/>
                </a:tc>
              </a:tr>
              <a:tr h="47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1xx – Informational</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Request received, continuing</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100 Continue</a:t>
                      </a:r>
                    </a:p>
                  </a:txBody>
                  <a:tcPr marL="72000" marR="72000" marT="36000" marB="36000" anchor="ctr"/>
                </a:tc>
              </a:tr>
              <a:tr h="47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2xx – Success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Request completed successfully</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200 OK, 201 Created</a:t>
                      </a:r>
                    </a:p>
                  </a:txBody>
                  <a:tcPr marL="72000" marR="72000" marT="36000" marB="36000" anchor="ctr"/>
                </a:tc>
              </a:tr>
              <a:tr h="47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3xx – Redirection</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Further action is needed</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301 Moved Permanently, 302 Found, 304 Not Modified</a:t>
                      </a:r>
                    </a:p>
                  </a:txBody>
                  <a:tcPr marL="72000" marR="72000" marT="36000" marB="36000" anchor="ctr"/>
                </a:tc>
              </a:tr>
              <a:tr h="47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4xx – Client Error</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Problem with the request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400 Bad Request, 401 Unauthorized, 403 Forbidden, 404 Not Found</a:t>
                      </a:r>
                    </a:p>
                  </a:txBody>
                  <a:tcPr marL="72000" marR="72000" marT="36000" marB="36000" anchor="ctr"/>
                </a:tc>
              </a:tr>
              <a:tr h="47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5xx – Server Error</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Server failed to complete a valid request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500 Internal Server Error, 502 Bad Gateway, 503 Service Unavailable</a:t>
                      </a:r>
                    </a:p>
                  </a:txBody>
                  <a:tcPr marL="72000" marR="72000" marT="36000" marB="36000" anchor="ctr"/>
                </a:tc>
              </a:tr>
            </a:tbl>
          </a:graphicData>
        </a:graphic>
      </p:graphicFrame>
      <p:sp>
        <p:nvSpPr>
          <p:cNvPr id="317" name="Note 317"/>
          <p:cNvSpPr/>
          <p:nvPr/>
        </p:nvSpPr>
        <p:spPr>
          <a:xfrm>
            <a:off x="838201" y="4850000"/>
            <a:ext cx="10515601" cy="1150000"/>
          </a:xfrm>
          <a:prstGeom prst="roundRect">
            <a:avLst>
              <a:gd name="adj" fmla="val 8000"/>
            </a:avLst>
          </a:prstGeom>
          <a:solidFill>
            <a:srgbClr val="E8F1F5"/>
          </a:solidFill>
          <a:ln w="12700">
            <a:solidFill>
              <a:srgbClr val="156082"/>
            </a:solidFill>
          </a:ln>
        </p:spPr>
        <p:txBody>
          <a:bodyPr wrap="square" lIns="91440" tIns="45720" rIns="91440" bIns="45720" anchor="t">
            <a:noAutofit/>
          </a:bodyPr>
          <a:lstStyle/>
          <a:p>
            <a:pPr marL="0" indent="0" algn="l">
              <a:buNone/>
            </a:pPr>
            <a:r>
              <a:rPr lang="en-IN" sz="1900" b="1" dirty="0">
                <a:latin typeface="Calibri" panose="020F0502020204030204" pitchFamily="34" charset="0"/>
                <a:ea typeface="Calibri" panose="020F0502020204030204" pitchFamily="34" charset="0"/>
                <a:cs typeface="Calibri" panose="020F0502020204030204" pitchFamily="34" charset="0"/>
              </a:rPr>
              <a:t>Security relevance</a:t>
            </a:r>
          </a:p>
          <a:p>
            <a:pPr marL="0" indent="0" algn="l">
              <a:buNone/>
            </a:pPr>
            <a:r>
              <a:rPr lang="en-IN" sz="1600" dirty="0">
                <a:latin typeface="Calibri" panose="020F0502020204030204" pitchFamily="34" charset="0"/>
                <a:ea typeface="Calibri" panose="020F0502020204030204" pitchFamily="34" charset="0"/>
                <a:cs typeface="Calibri" panose="020F0502020204030204" pitchFamily="34" charset="0"/>
              </a:rPr>
              <a:t>Repeated 401/403 → password guessing or access-control probing.  Many 404s → directory scanning.</a:t>
            </a:r>
          </a:p>
          <a:p>
            <a:pPr marL="0" indent="0" algn="l">
              <a:buNone/>
            </a:pPr>
            <a:r>
              <a:rPr lang="en-IN" sz="1600" dirty="0">
                <a:latin typeface="Calibri" panose="020F0502020204030204" pitchFamily="34" charset="0"/>
                <a:ea typeface="Calibri" panose="020F0502020204030204" pitchFamily="34" charset="0"/>
                <a:cs typeface="Calibri" panose="020F0502020204030204" pitchFamily="34" charset="0"/>
              </a:rPr>
              <a:t>500 errors may leak stack traces and software versions.  301/302 redirects can be abused in phishing (open redirect).</a:t>
            </a:r>
          </a:p>
        </p:txBody>
      </p:sp>
    </p:spTree>
    <p:extLst>
      <p:ext uri="{BB962C8B-B14F-4D97-AF65-F5344CB8AC3E}">
        <p14:creationId xmlns:p14="http://schemas.microsoft.com/office/powerpoint/2010/main" val="8985750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042BF888-B4E4-1505-8E34-FEB3629761E3}"/>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3B48DEC7-D1AB-E631-7C91-B7A0EAA2B046}"/>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800" dirty="0">
                <a:latin typeface="Calibri" panose="020F0502020204030204" pitchFamily="34" charset="0"/>
                <a:ea typeface="Calibri" panose="020F0502020204030204" pitchFamily="34" charset="0"/>
                <a:cs typeface="Calibri" panose="020F0502020204030204" pitchFamily="34" charset="0"/>
              </a:rPr>
              <a:t>HTTP is </a:t>
            </a:r>
            <a:r>
              <a:rPr lang="en-IN" sz="1800" b="1" dirty="0">
                <a:latin typeface="Calibri" panose="020F0502020204030204" pitchFamily="34" charset="0"/>
                <a:ea typeface="Calibri" panose="020F0502020204030204" pitchFamily="34" charset="0"/>
                <a:cs typeface="Calibri" panose="020F0502020204030204" pitchFamily="34" charset="0"/>
              </a:rPr>
              <a:t>stateless</a:t>
            </a:r>
            <a:r>
              <a:rPr lang="en-IN" sz="1800" dirty="0">
                <a:latin typeface="Calibri" panose="020F0502020204030204" pitchFamily="34" charset="0"/>
                <a:ea typeface="Calibri" panose="020F0502020204030204" pitchFamily="34" charset="0"/>
                <a:cs typeface="Calibri" panose="020F0502020204030204" pitchFamily="34" charset="0"/>
              </a:rPr>
              <a:t>: the server does not remember a user between requests. Cookies and sessions add memory.</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Cookie:</a:t>
            </a:r>
            <a:r>
              <a:rPr lang="en-IN" sz="1800" dirty="0">
                <a:latin typeface="Calibri" panose="020F0502020204030204" pitchFamily="34" charset="0"/>
                <a:ea typeface="Calibri" panose="020F0502020204030204" pitchFamily="34" charset="0"/>
                <a:cs typeface="Calibri" panose="020F0502020204030204" pitchFamily="34" charset="0"/>
              </a:rPr>
              <a:t> a small piece of data the server sends (Set-Cookie); the browser stores it and returns it with every later request to that site (preferences, login state, tracking).</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Session:</a:t>
            </a:r>
            <a:r>
              <a:rPr lang="en-IN" sz="1800" dirty="0">
                <a:latin typeface="Calibri" panose="020F0502020204030204" pitchFamily="34" charset="0"/>
                <a:ea typeface="Calibri" panose="020F0502020204030204" pitchFamily="34" charset="0"/>
                <a:cs typeface="Calibri" panose="020F0502020204030204" pitchFamily="34" charset="0"/>
              </a:rPr>
              <a:t> a server-side record of a user's logged-in state, identified by a </a:t>
            </a:r>
            <a:r>
              <a:rPr lang="en-IN" sz="1800" b="1" dirty="0">
                <a:latin typeface="Calibri" panose="020F0502020204030204" pitchFamily="34" charset="0"/>
                <a:ea typeface="Calibri" panose="020F0502020204030204" pitchFamily="34" charset="0"/>
                <a:cs typeface="Calibri" panose="020F0502020204030204" pitchFamily="34" charset="0"/>
              </a:rPr>
              <a:t>Session ID</a:t>
            </a:r>
            <a:r>
              <a:rPr lang="en-IN" sz="1800" dirty="0">
                <a:latin typeface="Calibri" panose="020F0502020204030204" pitchFamily="34" charset="0"/>
                <a:ea typeface="Calibri" panose="020F0502020204030204" pitchFamily="34" charset="0"/>
                <a:cs typeface="Calibri" panose="020F0502020204030204" pitchFamily="34" charset="0"/>
              </a:rPr>
              <a:t> that is normally kept in a cookie.</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Flow:</a:t>
            </a:r>
            <a:r>
              <a:rPr lang="en-IN" sz="1800" dirty="0">
                <a:latin typeface="Calibri" panose="020F0502020204030204" pitchFamily="34" charset="0"/>
                <a:ea typeface="Calibri" panose="020F0502020204030204" pitchFamily="34" charset="0"/>
                <a:cs typeface="Calibri" panose="020F0502020204030204" pitchFamily="34" charset="0"/>
              </a:rPr>
              <a:t> Login → server creates session and sends Session ID cookie → browser sends the cookie on each request → server looks up the session.</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Attacks:</a:t>
            </a:r>
            <a:r>
              <a:rPr lang="en-IN" sz="1800" dirty="0">
                <a:latin typeface="Calibri" panose="020F0502020204030204" pitchFamily="34" charset="0"/>
                <a:ea typeface="Calibri" panose="020F0502020204030204" pitchFamily="34" charset="0"/>
                <a:cs typeface="Calibri" panose="020F0502020204030204" pitchFamily="34" charset="0"/>
              </a:rPr>
              <a:t> Session hijacking (a stolen Session ID gives access without the password – via XSS, sniffing on HTTP or malware), session fixation, and CSRF.</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Cookie flags:</a:t>
            </a:r>
            <a:r>
              <a:rPr lang="en-IN" sz="1800" dirty="0">
                <a:latin typeface="Calibri" panose="020F0502020204030204" pitchFamily="34" charset="0"/>
                <a:ea typeface="Calibri" panose="020F0502020204030204" pitchFamily="34" charset="0"/>
                <a:cs typeface="Calibri" panose="020F0502020204030204" pitchFamily="34" charset="0"/>
              </a:rPr>
              <a:t> </a:t>
            </a:r>
            <a:r>
              <a:rPr lang="en-IN" sz="1800" b="1" dirty="0">
                <a:latin typeface="Calibri" panose="020F0502020204030204" pitchFamily="34" charset="0"/>
                <a:ea typeface="Calibri" panose="020F0502020204030204" pitchFamily="34" charset="0"/>
                <a:cs typeface="Calibri" panose="020F0502020204030204" pitchFamily="34" charset="0"/>
              </a:rPr>
              <a:t>Secure</a:t>
            </a:r>
            <a:r>
              <a:rPr lang="en-IN" sz="1800" dirty="0">
                <a:latin typeface="Calibri" panose="020F0502020204030204" pitchFamily="34" charset="0"/>
                <a:ea typeface="Calibri" panose="020F0502020204030204" pitchFamily="34" charset="0"/>
                <a:cs typeface="Calibri" panose="020F0502020204030204" pitchFamily="34" charset="0"/>
              </a:rPr>
              <a:t> (sent only over HTTPS), </a:t>
            </a:r>
            <a:r>
              <a:rPr lang="en-IN" sz="1800" b="1" dirty="0">
                <a:latin typeface="Calibri" panose="020F0502020204030204" pitchFamily="34" charset="0"/>
                <a:ea typeface="Calibri" panose="020F0502020204030204" pitchFamily="34" charset="0"/>
                <a:cs typeface="Calibri" panose="020F0502020204030204" pitchFamily="34" charset="0"/>
              </a:rPr>
              <a:t>HttpOnly</a:t>
            </a:r>
            <a:r>
              <a:rPr lang="en-IN" sz="1800" dirty="0">
                <a:latin typeface="Calibri" panose="020F0502020204030204" pitchFamily="34" charset="0"/>
                <a:ea typeface="Calibri" panose="020F0502020204030204" pitchFamily="34" charset="0"/>
                <a:cs typeface="Calibri" panose="020F0502020204030204" pitchFamily="34" charset="0"/>
              </a:rPr>
              <a:t> (hidden from JavaScript), </a:t>
            </a:r>
            <a:r>
              <a:rPr lang="en-IN" sz="1800" b="1" dirty="0">
                <a:latin typeface="Calibri" panose="020F0502020204030204" pitchFamily="34" charset="0"/>
                <a:ea typeface="Calibri" panose="020F0502020204030204" pitchFamily="34" charset="0"/>
                <a:cs typeface="Calibri" panose="020F0502020204030204" pitchFamily="34" charset="0"/>
              </a:rPr>
              <a:t>SameSite</a:t>
            </a:r>
            <a:r>
              <a:rPr lang="en-IN" sz="1800" dirty="0">
                <a:latin typeface="Calibri" panose="020F0502020204030204" pitchFamily="34" charset="0"/>
                <a:ea typeface="Calibri" panose="020F0502020204030204" pitchFamily="34" charset="0"/>
                <a:cs typeface="Calibri" panose="020F0502020204030204" pitchFamily="34" charset="0"/>
              </a:rPr>
              <a:t> (limits cross-site sending), plus an expiry time.</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Defence:</a:t>
            </a:r>
            <a:r>
              <a:rPr lang="en-IN" sz="1800" dirty="0">
                <a:latin typeface="Calibri" panose="020F0502020204030204" pitchFamily="34" charset="0"/>
                <a:ea typeface="Calibri" panose="020F0502020204030204" pitchFamily="34" charset="0"/>
                <a:cs typeface="Calibri" panose="020F0502020204030204" pitchFamily="34" charset="0"/>
              </a:rPr>
              <a:t> use HTTPS, regenerate the Session ID after login, set timeouts, and invalidate the session on logout.</a:t>
            </a:r>
          </a:p>
        </p:txBody>
      </p:sp>
      <p:sp>
        <p:nvSpPr>
          <p:cNvPr id="120" name="Google Shape;120;p3">
            <a:extLst>
              <a:ext uri="{FF2B5EF4-FFF2-40B4-BE49-F238E27FC236}">
                <a16:creationId xmlns:a16="http://schemas.microsoft.com/office/drawing/2014/main" id="{E702E4BD-9CB9-D792-B5A6-728A98882074}"/>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HTTP – COOKIES AND SESSIONS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2590B3FC-46D6-B641-62E5-78D15436B4B9}"/>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102</a:t>
            </a:fld>
            <a:endParaRPr/>
          </a:p>
        </p:txBody>
      </p:sp>
    </p:spTree>
    <p:extLst>
      <p:ext uri="{BB962C8B-B14F-4D97-AF65-F5344CB8AC3E}">
        <p14:creationId xmlns:p14="http://schemas.microsoft.com/office/powerpoint/2010/main" val="13133203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C168D7E-3EF3-BB17-B2AA-313DB497D44E}"/>
            </a:ext>
          </a:extLst>
        </p:cNvPr>
        <p:cNvGrpSpPr/>
        <p:nvPr/>
      </p:nvGrpSpPr>
      <p:grpSpPr>
        <a:xfrm>
          <a:off x="0" y="0"/>
          <a:ext cx="0" cy="0"/>
          <a:chOff x="0" y="0"/>
          <a:chExt cx="0" cy="0"/>
        </a:xfrm>
      </p:grpSpPr>
      <p:sp>
        <p:nvSpPr>
          <p:cNvPr id="119" name="Google Shape;119;p3">
            <a:extLst>
              <a:ext uri="{FF2B5EF4-FFF2-40B4-BE49-F238E27FC236}" cy="200000">
                <a16:creationId xmlns:a16="http://schemas.microsoft.com/office/drawing/2014/main" id="{EBEC8C35-74E8-13B1-3B86-C26B53513546}"/>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p>
        </p:txBody>
      </p:sp>
      <p:sp>
        <p:nvSpPr>
          <p:cNvPr id="120" name="Google Shape;120;p3">
            <a:extLst>
              <a:ext uri="{FF2B5EF4-FFF2-40B4-BE49-F238E27FC236}">
                <a16:creationId xmlns:a16="http://schemas.microsoft.com/office/drawing/2014/main" id="{B3036277-FF5C-1314-27B6-881863648921}"/>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HTTP V/S HTTPS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AAAE3B82-F002-CE1D-8D0A-1A750A70AC27}"/>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103</a:t>
            </a:fld>
            <a:endParaRPr/>
          </a:p>
        </p:txBody>
      </p:sp>
      <p:graphicFrame>
        <p:nvGraphicFramePr>
          <p:cNvPr id="318" name="Table 318"/>
          <p:cNvGraphicFramePr>
            <a:graphicFrameLocks noGrp="1"/>
          </p:cNvGraphicFramePr>
          <p:nvPr/>
        </p:nvGraphicFramePr>
        <p:xfrm>
          <a:off x="838201" y="1350000"/>
          <a:ext cx="10515600" cy="4680000"/>
        </p:xfrm>
        <a:graphic>
          <a:graphicData uri="http://schemas.openxmlformats.org/drawingml/2006/table">
            <a:tbl>
              <a:tblPr firstRow="1" bandRow="1">
                <a:tableStyleId>{5C22544A-7EE6-4342-B048-85BDC9FD1C3A}</a:tableStyleId>
              </a:tblPr>
              <a:tblGrid>
                <a:gridCol w="2500000"/>
                <a:gridCol w="3800000"/>
                <a:gridCol w="4215600"/>
              </a:tblGrid>
              <a:tr h="520000">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Feature</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HTTP</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HTTPS</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Full form</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Hypertext Transfer Protocol</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HTTP Secure (HTTP over TLS)</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Default port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80</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443</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Encryption</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None – data travels in plain text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Encrypted using TLS</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Server identity</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Not verified</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Verified using a digital certificate</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Data integrity</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Can be altered in transit unnoticed</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Tampering is detected</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Certificate needed</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No</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Yes (issued by a CA)</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Attack exposure</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Sniffing, man-in-the-middle, session hijacking</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Protects data in transit against these</a:t>
                      </a:r>
                    </a:p>
                  </a:txBody>
                  <a:tcPr marL="72000" marR="72000" marT="36000" marB="36000" anchor="ctr"/>
                </a:tc>
              </a:tr>
              <a:tr h="52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Browser indicator</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"Not secure" warning</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Padlock icon</a:t>
                      </a:r>
                    </a:p>
                  </a:txBody>
                  <a:tcPr marL="72000" marR="72000" marT="36000" marB="36000" anchor="ctr"/>
                </a:tc>
              </a:tr>
            </a:tbl>
          </a:graphicData>
        </a:graphic>
      </p:graphicFrame>
    </p:spTree>
    <p:extLst>
      <p:ext uri="{BB962C8B-B14F-4D97-AF65-F5344CB8AC3E}">
        <p14:creationId xmlns:p14="http://schemas.microsoft.com/office/powerpoint/2010/main" val="378105839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9BFEFE60-A358-352A-950E-6F3D87DA3E88}"/>
            </a:ext>
          </a:extLst>
        </p:cNvPr>
        <p:cNvGrpSpPr/>
        <p:nvPr/>
      </p:nvGrpSpPr>
      <p:grpSpPr>
        <a:xfrm>
          <a:off x="0" y="0"/>
          <a:ext cx="0" cy="0"/>
          <a:chOff x="0" y="0"/>
          <a:chExt cx="0" cy="0"/>
        </a:xfrm>
      </p:grpSpPr>
      <p:sp>
        <p:nvSpPr>
          <p:cNvPr id="119" name="Google Shape;119;p3">
            <a:extLst>
              <a:ext uri="{FF2B5EF4-FFF2-40B4-BE49-F238E27FC236}" cy="2900000">
                <a16:creationId xmlns:a16="http://schemas.microsoft.com/office/drawing/2014/main" id="{182AC4D7-4570-D2CB-38DC-9B63F77B1C01}"/>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800" dirty="0">
                <a:latin typeface="Calibri" panose="020F0502020204030204" pitchFamily="34" charset="0"/>
                <a:ea typeface="Calibri" panose="020F0502020204030204" pitchFamily="34" charset="0"/>
                <a:cs typeface="Calibri" panose="020F0502020204030204" pitchFamily="34" charset="0"/>
              </a:rPr>
              <a:t>A </a:t>
            </a:r>
            <a:r>
              <a:rPr lang="en-IN" sz="1800" b="1" dirty="0">
                <a:latin typeface="Calibri" panose="020F0502020204030204" pitchFamily="34" charset="0"/>
                <a:ea typeface="Calibri" panose="020F0502020204030204" pitchFamily="34" charset="0"/>
                <a:cs typeface="Calibri" panose="020F0502020204030204" pitchFamily="34" charset="0"/>
              </a:rPr>
              <a:t>digital certificate (X.509)</a:t>
            </a:r>
            <a:r>
              <a:rPr lang="en-IN" sz="1800" dirty="0">
                <a:latin typeface="Calibri" panose="020F0502020204030204" pitchFamily="34" charset="0"/>
                <a:ea typeface="Calibri" panose="020F0502020204030204" pitchFamily="34" charset="0"/>
                <a:cs typeface="Calibri" panose="020F0502020204030204" pitchFamily="34" charset="0"/>
              </a:rPr>
              <a:t> binds a public key to an identity (a domain or organisation). It is issued and digitally signed by a trusted </a:t>
            </a:r>
            <a:r>
              <a:rPr lang="en-IN" sz="1800" b="1" dirty="0">
                <a:latin typeface="Calibri" panose="020F0502020204030204" pitchFamily="34" charset="0"/>
                <a:ea typeface="Calibri" panose="020F0502020204030204" pitchFamily="34" charset="0"/>
                <a:cs typeface="Calibri" panose="020F0502020204030204" pitchFamily="34" charset="0"/>
              </a:rPr>
              <a:t>Certificate Authority (CA)</a:t>
            </a:r>
            <a:r>
              <a:rPr lang="en-IN" sz="1800" dirty="0">
                <a:latin typeface="Calibri" panose="020F0502020204030204" pitchFamily="34" charset="0"/>
                <a:ea typeface="Calibri" panose="020F0502020204030204" pitchFamily="34" charset="0"/>
                <a:cs typeface="Calibri" panose="020F0502020204030204" pitchFamily="34" charset="0"/>
              </a:rPr>
              <a:t> and lets the browser verify who the server really is.</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Contents:</a:t>
            </a:r>
            <a:r>
              <a:rPr lang="en-IN" sz="1800" dirty="0">
                <a:latin typeface="Calibri" panose="020F0502020204030204" pitchFamily="34" charset="0"/>
                <a:ea typeface="Calibri" panose="020F0502020204030204" pitchFamily="34" charset="0"/>
                <a:cs typeface="Calibri" panose="020F0502020204030204" pitchFamily="34" charset="0"/>
              </a:rPr>
              <a:t> Subject (domain / organisation), Public key, Issuer (CA), Validity period (from – to), Serial number, Signature algorithm and the CA's digital signature.</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Types by validation:</a:t>
            </a:r>
            <a:r>
              <a:rPr lang="en-IN" sz="1800" dirty="0">
                <a:latin typeface="Calibri" panose="020F0502020204030204" pitchFamily="34" charset="0"/>
                <a:ea typeface="Calibri" panose="020F0502020204030204" pitchFamily="34" charset="0"/>
                <a:cs typeface="Calibri" panose="020F0502020204030204" pitchFamily="34" charset="0"/>
              </a:rPr>
              <a:t> DV (domain only), OV (organisation checked), EV (extended checks).</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Browser checks:</a:t>
            </a:r>
            <a:r>
              <a:rPr lang="en-IN" sz="1800" dirty="0">
                <a:latin typeface="Calibri" panose="020F0502020204030204" pitchFamily="34" charset="0"/>
                <a:ea typeface="Calibri" panose="020F0502020204030204" pitchFamily="34" charset="0"/>
                <a:cs typeface="Calibri" panose="020F0502020204030204" pitchFamily="34" charset="0"/>
              </a:rPr>
              <a:t> trusted CA signature, domain name match, not expired, not revoked (CRL / OCSP). Failures (expired, self-signed, mismatched) trigger a warning – do not click through.</a:t>
            </a:r>
          </a:p>
        </p:txBody>
      </p:sp>
      <p:sp>
        <p:nvSpPr>
          <p:cNvPr id="120" name="Google Shape;120;p3">
            <a:extLst>
              <a:ext uri="{FF2B5EF4-FFF2-40B4-BE49-F238E27FC236}">
                <a16:creationId xmlns:a16="http://schemas.microsoft.com/office/drawing/2014/main" id="{847614C7-6330-E671-9F79-69D046E97D2C}"/>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DIGITAL CERTIFICATES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13C32D85-A28E-C41D-4A93-A245C521C693}"/>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104</a:t>
            </a:fld>
            <a:endParaRPr/>
          </a:p>
        </p:txBody>
      </p:sp>
      <p:sp>
        <p:nvSpPr>
          <p:cNvPr id="321" name="Chain 321"/>
          <p:cNvSpPr/>
          <p:nvPr/>
        </p:nvSpPr>
        <p:spPr>
          <a:xfrm>
            <a:off x="838201" y="4350000"/>
            <a:ext cx="2900000" cy="1000000"/>
          </a:xfrm>
          <a:prstGeom prst="roundRect">
            <a:avLst>
              <a:gd name="adj" fmla="val 8000"/>
            </a:avLst>
          </a:prstGeom>
          <a:solidFill>
            <a:srgbClr val="E8F1F5"/>
          </a:solidFill>
          <a:ln w="12700">
            <a:solidFill>
              <a:srgbClr val="156082"/>
            </a:solidFill>
          </a:ln>
        </p:spPr>
        <p:txBody>
          <a:bodyPr wrap="square" lIns="91440" tIns="45720" rIns="91440" bIns="45720" anchor="t">
            <a:noAutofit/>
          </a:bodyPr>
          <a:lstStyle/>
          <a:p>
            <a:pPr marL="0" indent="0" algn="ctr">
              <a:buNone/>
            </a:pPr>
            <a:r>
              <a:rPr lang="en-IN" sz="1800" b="1" dirty="0">
                <a:latin typeface="Calibri" panose="020F0502020204030204" pitchFamily="34" charset="0"/>
                <a:ea typeface="Calibri" panose="020F0502020204030204" pitchFamily="34" charset="0"/>
                <a:cs typeface="Calibri" panose="020F0502020204030204" pitchFamily="34" charset="0"/>
              </a:rPr>
              <a:t>Root CA</a:t>
            </a:r>
          </a:p>
          <a:p>
            <a:pPr marL="0" indent="0" algn="ctr">
              <a:buNone/>
            </a:pPr>
            <a:r>
              <a:rPr lang="en-IN" sz="1500" dirty="0">
                <a:latin typeface="Calibri" panose="020F0502020204030204" pitchFamily="34" charset="0"/>
                <a:ea typeface="Calibri" panose="020F0502020204030204" pitchFamily="34" charset="0"/>
                <a:cs typeface="Calibri" panose="020F0502020204030204" pitchFamily="34" charset="0"/>
              </a:rPr>
              <a:t>Pre-installed in the OS / browser trust store</a:t>
            </a:r>
          </a:p>
        </p:txBody>
      </p:sp>
      <p:sp>
        <p:nvSpPr>
          <p:cNvPr id="322" name="Arrow 322"/>
          <p:cNvSpPr/>
          <p:nvPr/>
        </p:nvSpPr>
        <p:spPr>
          <a:xfrm>
            <a:off x="3858201" y="4650000"/>
            <a:ext cx="500000" cy="400000"/>
          </a:xfrm>
          <a:prstGeom prst="rightArrow">
            <a:avLst/>
          </a:prstGeom>
          <a:solidFill>
            <a:srgbClr val="156082"/>
          </a:solidFill>
          <a:ln>
            <a:noFill/>
          </a:ln>
        </p:spPr>
        <p:txBody>
          <a:bodyPr/>
          <a:lstStyle/>
          <a:p>
            <a:endParaRPr lang="en-IN"/>
          </a:p>
        </p:txBody>
      </p:sp>
      <p:sp>
        <p:nvSpPr>
          <p:cNvPr id="323" name="Chain 323"/>
          <p:cNvSpPr/>
          <p:nvPr/>
        </p:nvSpPr>
        <p:spPr>
          <a:xfrm>
            <a:off x="4478201" y="4350000"/>
            <a:ext cx="2900000" cy="1000000"/>
          </a:xfrm>
          <a:prstGeom prst="roundRect">
            <a:avLst>
              <a:gd name="adj" fmla="val 8000"/>
            </a:avLst>
          </a:prstGeom>
          <a:solidFill>
            <a:srgbClr val="E8F1F5"/>
          </a:solidFill>
          <a:ln w="12700">
            <a:solidFill>
              <a:srgbClr val="156082"/>
            </a:solidFill>
          </a:ln>
        </p:spPr>
        <p:txBody>
          <a:bodyPr wrap="square" lIns="91440" tIns="45720" rIns="91440" bIns="45720" anchor="t">
            <a:noAutofit/>
          </a:bodyPr>
          <a:lstStyle/>
          <a:p>
            <a:pPr marL="0" indent="0" algn="ctr">
              <a:buNone/>
            </a:pPr>
            <a:r>
              <a:rPr lang="en-IN" sz="1800" b="1" dirty="0">
                <a:latin typeface="Calibri" panose="020F0502020204030204" pitchFamily="34" charset="0"/>
                <a:ea typeface="Calibri" panose="020F0502020204030204" pitchFamily="34" charset="0"/>
                <a:cs typeface="Calibri" panose="020F0502020204030204" pitchFamily="34" charset="0"/>
              </a:rPr>
              <a:t>Intermediate CA</a:t>
            </a:r>
          </a:p>
          <a:p>
            <a:pPr marL="0" indent="0" algn="ctr">
              <a:buNone/>
            </a:pPr>
            <a:r>
              <a:rPr lang="en-IN" sz="1500" dirty="0">
                <a:latin typeface="Calibri" panose="020F0502020204030204" pitchFamily="34" charset="0"/>
                <a:ea typeface="Calibri" panose="020F0502020204030204" pitchFamily="34" charset="0"/>
                <a:cs typeface="Calibri" panose="020F0502020204030204" pitchFamily="34" charset="0"/>
              </a:rPr>
              <a:t>Signed by the Root CA</a:t>
            </a:r>
          </a:p>
        </p:txBody>
      </p:sp>
      <p:sp>
        <p:nvSpPr>
          <p:cNvPr id="324" name="Arrow 324"/>
          <p:cNvSpPr/>
          <p:nvPr/>
        </p:nvSpPr>
        <p:spPr>
          <a:xfrm>
            <a:off x="7498201" y="4650000"/>
            <a:ext cx="500000" cy="400000"/>
          </a:xfrm>
          <a:prstGeom prst="rightArrow">
            <a:avLst/>
          </a:prstGeom>
          <a:solidFill>
            <a:srgbClr val="156082"/>
          </a:solidFill>
          <a:ln>
            <a:noFill/>
          </a:ln>
        </p:spPr>
        <p:txBody>
          <a:bodyPr/>
          <a:lstStyle/>
          <a:p>
            <a:endParaRPr lang="en-IN"/>
          </a:p>
        </p:txBody>
      </p:sp>
      <p:sp>
        <p:nvSpPr>
          <p:cNvPr id="325" name="Chain 325"/>
          <p:cNvSpPr/>
          <p:nvPr/>
        </p:nvSpPr>
        <p:spPr>
          <a:xfrm>
            <a:off x="8118201" y="4350000"/>
            <a:ext cx="3300000" cy="1000000"/>
          </a:xfrm>
          <a:prstGeom prst="roundRect">
            <a:avLst>
              <a:gd name="adj" fmla="val 8000"/>
            </a:avLst>
          </a:prstGeom>
          <a:solidFill>
            <a:srgbClr val="E8F1F5"/>
          </a:solidFill>
          <a:ln w="12700">
            <a:solidFill>
              <a:srgbClr val="156082"/>
            </a:solidFill>
          </a:ln>
        </p:spPr>
        <p:txBody>
          <a:bodyPr wrap="square" lIns="91440" tIns="45720" rIns="91440" bIns="45720" anchor="t">
            <a:noAutofit/>
          </a:bodyPr>
          <a:lstStyle/>
          <a:p>
            <a:pPr marL="0" indent="0" algn="ctr">
              <a:buNone/>
            </a:pPr>
            <a:r>
              <a:rPr lang="en-IN" sz="1800" b="1" dirty="0">
                <a:latin typeface="Calibri" panose="020F0502020204030204" pitchFamily="34" charset="0"/>
                <a:ea typeface="Calibri" panose="020F0502020204030204" pitchFamily="34" charset="0"/>
                <a:cs typeface="Calibri" panose="020F0502020204030204" pitchFamily="34" charset="0"/>
              </a:rPr>
              <a:t>Server (leaf) certificate</a:t>
            </a:r>
          </a:p>
          <a:p>
            <a:pPr marL="0" indent="0" algn="ctr">
              <a:buNone/>
            </a:pPr>
            <a:r>
              <a:rPr lang="en-IN" sz="1500" dirty="0">
                <a:latin typeface="Calibri" panose="020F0502020204030204" pitchFamily="34" charset="0"/>
                <a:ea typeface="Calibri" panose="020F0502020204030204" pitchFamily="34" charset="0"/>
                <a:cs typeface="Calibri" panose="020F0502020204030204" pitchFamily="34" charset="0"/>
              </a:rPr>
              <a:t>Signed by the Intermediate CA</a:t>
            </a:r>
          </a:p>
        </p:txBody>
      </p:sp>
    </p:spTree>
    <p:extLst>
      <p:ext uri="{BB962C8B-B14F-4D97-AF65-F5344CB8AC3E}">
        <p14:creationId xmlns:p14="http://schemas.microsoft.com/office/powerpoint/2010/main" val="4466645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8"/>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Play"/>
              <a:buNone/>
            </a:pPr>
            <a:r>
              <a:rPr lang="en-US" sz="4000" b="1">
                <a:latin typeface="Arial"/>
                <a:ea typeface="Arial"/>
                <a:cs typeface="Arial"/>
                <a:sym typeface="Arial"/>
              </a:rPr>
              <a:t>ANY QUERIES??</a:t>
            </a:r>
            <a:endParaRPr>
              <a:latin typeface="Arial"/>
              <a:ea typeface="Arial"/>
              <a:cs typeface="Arial"/>
              <a:sym typeface="Arial"/>
            </a:endParaRPr>
          </a:p>
        </p:txBody>
      </p:sp>
      <p:sp>
        <p:nvSpPr>
          <p:cNvPr id="436" name="Google Shape;436;p48"/>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105</a:t>
            </a:fld>
            <a:endParaRPr/>
          </a:p>
        </p:txBody>
      </p:sp>
      <p:sp>
        <p:nvSpPr>
          <p:cNvPr id="437" name="Google Shape;437;p48"/>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None/>
            </a:pPr>
            <a:r>
              <a:rPr lang="en-US">
                <a:latin typeface="Calibri"/>
                <a:ea typeface="Calibri"/>
                <a:cs typeface="Calibri"/>
                <a:sym typeface="Calibri"/>
              </a:rPr>
              <a:t>                </a:t>
            </a:r>
            <a:r>
              <a:rPr lang="en-US" sz="3200">
                <a:latin typeface="Calibri"/>
                <a:ea typeface="Calibri"/>
                <a:cs typeface="Calibri"/>
                <a:sym typeface="Calibri"/>
              </a:rPr>
              <a:t> Contact</a:t>
            </a:r>
            <a:endParaRPr sz="3200">
              <a:latin typeface="Calibri"/>
              <a:ea typeface="Calibri"/>
              <a:cs typeface="Calibri"/>
              <a:sym typeface="Calibri"/>
            </a:endParaRPr>
          </a:p>
          <a:p>
            <a:pPr marL="0" lvl="0" indent="0" algn="l" rtl="0">
              <a:lnSpc>
                <a:spcPct val="90000"/>
              </a:lnSpc>
              <a:spcBef>
                <a:spcPts val="1000"/>
              </a:spcBef>
              <a:spcAft>
                <a:spcPts val="0"/>
              </a:spcAft>
              <a:buClr>
                <a:schemeClr val="dk1"/>
              </a:buClr>
              <a:buSzPts val="3200"/>
              <a:buNone/>
            </a:pPr>
            <a:r>
              <a:rPr lang="en-US" sz="3200">
                <a:latin typeface="Calibri"/>
                <a:ea typeface="Calibri"/>
                <a:cs typeface="Calibri"/>
                <a:sym typeface="Calibri"/>
              </a:rPr>
              <a:t>gayathri.g@techdefence.com</a:t>
            </a:r>
            <a:endParaRPr sz="3200">
              <a:latin typeface="Calibri"/>
              <a:ea typeface="Calibri"/>
              <a:cs typeface="Calibri"/>
              <a:sym typeface="Calibri"/>
            </a:endParaRPr>
          </a:p>
        </p:txBody>
      </p:sp>
      <p:pic>
        <p:nvPicPr>
          <p:cNvPr id="438" name="Google Shape;438;p48" descr="Top Questions on Food Regulations Answered by Experts"/>
          <p:cNvPicPr preferRelativeResize="0"/>
          <p:nvPr/>
        </p:nvPicPr>
        <p:blipFill rotWithShape="1">
          <a:blip r:embed="rId3">
            <a:alphaModFix/>
          </a:blip>
          <a:srcRect/>
          <a:stretch/>
        </p:blipFill>
        <p:spPr>
          <a:xfrm>
            <a:off x="6462689" y="1849219"/>
            <a:ext cx="5247873" cy="3724097"/>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pic>
        <p:nvPicPr>
          <p:cNvPr id="443" name="Google Shape;443;p49" descr="Stick Figure Drawing Thank You | Great PowerPoint ClipArt for Presentations  - PresenterMedia.com"/>
          <p:cNvPicPr preferRelativeResize="0"/>
          <p:nvPr/>
        </p:nvPicPr>
        <p:blipFill rotWithShape="1">
          <a:blip r:embed="rId3">
            <a:alphaModFix/>
          </a:blip>
          <a:srcRect/>
          <a:stretch/>
        </p:blipFill>
        <p:spPr>
          <a:xfrm>
            <a:off x="4010954" y="1111362"/>
            <a:ext cx="4162747" cy="5223487"/>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F0B0313-325B-6849-2C66-188D43FF3D77}"/>
            </a:ext>
          </a:extLst>
        </p:cNvPr>
        <p:cNvGrpSpPr/>
        <p:nvPr/>
      </p:nvGrpSpPr>
      <p:grpSpPr>
        <a:xfrm>
          <a:off x="0" y="0"/>
          <a:ext cx="0" cy="0"/>
          <a:chOff x="0" y="0"/>
          <a:chExt cx="0" cy="0"/>
        </a:xfrm>
      </p:grpSpPr>
      <p:sp>
        <p:nvSpPr>
          <p:cNvPr id="119" name="Google Shape;119;p3">
            <a:extLst>
              <a:ext uri="{FF2B5EF4-FFF2-40B4-BE49-F238E27FC236}" cy="600000">
                <a16:creationId xmlns:a16="http://schemas.microsoft.com/office/drawing/2014/main" id="{C56C03B2-64FC-3FC0-A925-107AECCAA0AB}"/>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sz="1900" dirty="0">
                <a:latin typeface="Calibri" panose="020F0502020204030204" pitchFamily="34" charset="0"/>
                <a:ea typeface="Calibri" panose="020F0502020204030204" pitchFamily="34" charset="0"/>
                <a:cs typeface="Calibri" panose="020F0502020204030204" pitchFamily="34" charset="0"/>
              </a:rPr>
              <a:t>Every layer has its own weaknesses, so defence must be applied at every layer ("defence in depth").</a:t>
            </a:r>
          </a:p>
        </p:txBody>
      </p:sp>
      <p:sp>
        <p:nvSpPr>
          <p:cNvPr id="120" name="Google Shape;120;p3">
            <a:extLst>
              <a:ext uri="{FF2B5EF4-FFF2-40B4-BE49-F238E27FC236}">
                <a16:creationId xmlns:a16="http://schemas.microsoft.com/office/drawing/2014/main" id="{CA8EC04D-0D05-3955-7E12-A200AAE9DCC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OSI MODEL – SECURITY VIEW</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817575E9-35A5-1A8E-64F9-B80BC9E54AE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graphicFrame>
        <p:nvGraphicFramePr>
          <p:cNvPr id="301" name="Table 301"/>
          <p:cNvGraphicFramePr>
            <a:graphicFrameLocks noGrp="1"/>
          </p:cNvGraphicFramePr>
          <p:nvPr/>
        </p:nvGraphicFramePr>
        <p:xfrm>
          <a:off x="838201" y="1700000"/>
          <a:ext cx="10515600" cy="4000000"/>
        </p:xfrm>
        <a:graphic>
          <a:graphicData uri="http://schemas.openxmlformats.org/drawingml/2006/table">
            <a:tbl>
              <a:tblPr firstRow="1" bandRow="1">
                <a:tableStyleId>{5C22544A-7EE6-4342-B048-85BDC9FD1C3A}</a:tableStyleId>
              </a:tblPr>
              <a:tblGrid>
                <a:gridCol w="1900000"/>
                <a:gridCol w="4400000"/>
                <a:gridCol w="4215600"/>
              </a:tblGrid>
              <a:tr h="500000">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Layer</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Security-Relevant Examples</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Typical Defence</a:t>
                      </a:r>
                    </a:p>
                  </a:txBody>
                  <a:tcPr marL="72000" marR="72000" marT="36000" marB="36000" anchor="ctr"/>
                </a:tc>
              </a:tr>
              <a:tr h="50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7 – Application</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HTTP injection, SQL injection, phishing, malicious attachments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Input validation, WAF, patching</a:t>
                      </a:r>
                    </a:p>
                  </a:txBody>
                  <a:tcPr marL="72000" marR="72000" marT="36000" marB="36000" anchor="ctr"/>
                </a:tc>
              </a:tr>
              <a:tr h="50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6 – Presentation</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SSL stripping, weak or outdated TLS/ciphers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Strong TLS, HSTS, disable old versions</a:t>
                      </a:r>
                    </a:p>
                  </a:txBody>
                  <a:tcPr marL="72000" marR="72000" marT="36000" marB="36000" anchor="ctr"/>
                </a:tc>
              </a:tr>
              <a:tr h="50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5 – Session</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Session hijacking, stolen session tokens/cookies</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Secure cookies, timeouts, re-authentication</a:t>
                      </a:r>
                    </a:p>
                  </a:txBody>
                  <a:tcPr marL="72000" marR="72000" marT="36000" marB="36000" anchor="ctr"/>
                </a:tc>
              </a:tr>
              <a:tr h="50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4 – Transport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TCP SYN flood, port scanning, UDP flood</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SYN cookies, rate limiting, firewalls</a:t>
                      </a:r>
                    </a:p>
                  </a:txBody>
                  <a:tcPr marL="72000" marR="72000" marT="36000" marB="36000" anchor="ctr"/>
                </a:tc>
              </a:tr>
              <a:tr h="50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3 – Network</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IP spoofing, ICMP flood, route hijacking</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Ingress/egress filtering, ACLs, IPsec</a:t>
                      </a:r>
                    </a:p>
                  </a:txBody>
                  <a:tcPr marL="72000" marR="72000" marT="36000" marB="36000" anchor="ctr"/>
                </a:tc>
              </a:tr>
              <a:tr h="50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 – Data Link</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ARP spoofing, MAC flooding, VLAN hopping</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Static ARP, port security, DAI</a:t>
                      </a:r>
                    </a:p>
                  </a:txBody>
                  <a:tcPr marL="72000" marR="72000" marT="36000" marB="36000" anchor="ctr"/>
                </a:tc>
              </a:tr>
              <a:tr h="500000">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1 – Physical</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Cable tapping, jamming, rogue devices, theft</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Physical access control, CCTV, locked racks</a:t>
                      </a:r>
                    </a:p>
                  </a:txBody>
                  <a:tcPr marL="72000" marR="72000" marT="36000" marB="36000" anchor="ctr"/>
                </a:tc>
              </a:tr>
            </a:tbl>
          </a:graphicData>
        </a:graphic>
      </p:graphicFrame>
    </p:spTree>
    <p:extLst>
      <p:ext uri="{BB962C8B-B14F-4D97-AF65-F5344CB8AC3E}">
        <p14:creationId xmlns:p14="http://schemas.microsoft.com/office/powerpoint/2010/main" val="14702086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F0B0313-325B-6849-2C66-188D43FF3D77}"/>
            </a:ext>
          </a:extLst>
        </p:cNvPr>
        <p:cNvGrpSpPr/>
        <p:nvPr/>
      </p:nvGrpSpPr>
      <p:grpSpPr>
        <a:xfrm>
          <a:off x="0" y="0"/>
          <a:ext cx="0" cy="0"/>
          <a:chOff x="0" y="0"/>
          <a:chExt cx="0" cy="0"/>
        </a:xfrm>
      </p:grpSpPr>
      <p:sp>
        <p:nvSpPr>
          <p:cNvPr id="119" name="Google Shape;119;p3">
            <a:extLst>
              <a:ext uri="{FF2B5EF4-FFF2-40B4-BE49-F238E27FC236}" cy="3300000">
                <a16:creationId xmlns:a16="http://schemas.microsoft.com/office/drawing/2014/main" id="{C56C03B2-64FC-3FC0-A925-107AECCAA0AB}"/>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Concept:</a:t>
            </a:r>
            <a:r>
              <a:rPr lang="en-IN" sz="1800" dirty="0">
                <a:latin typeface="Calibri" panose="020F0502020204030204" pitchFamily="34" charset="0"/>
                <a:ea typeface="Calibri" panose="020F0502020204030204" pitchFamily="34" charset="0"/>
                <a:cs typeface="Calibri" panose="020F0502020204030204" pitchFamily="34" charset="0"/>
              </a:rPr>
              <a:t> NAT lets many devices with private IP addresses share one public IP address when they access the Internet. It runs on the router/firewall at the network edge.</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How it works:</a:t>
            </a:r>
            <a:r>
              <a:rPr lang="en-IN" sz="1800" dirty="0">
                <a:latin typeface="Calibri" panose="020F0502020204030204" pitchFamily="34" charset="0"/>
                <a:ea typeface="Calibri" panose="020F0502020204030204" pitchFamily="34" charset="0"/>
                <a:cs typeface="Calibri" panose="020F0502020204030204" pitchFamily="34" charset="0"/>
              </a:rPr>
              <a:t> The router replaces the private source IP and port with its public IP and a unique port, then records this in a NAT table. When the reply returns, the table is used to forward it to the correct internal device.</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Types:</a:t>
            </a:r>
            <a:r>
              <a:rPr lang="en-IN" sz="1800" dirty="0">
                <a:latin typeface="Calibri" panose="020F0502020204030204" pitchFamily="34" charset="0"/>
                <a:ea typeface="Calibri" panose="020F0502020204030204" pitchFamily="34" charset="0"/>
                <a:cs typeface="Calibri" panose="020F0502020204030204" pitchFamily="34" charset="0"/>
              </a:rPr>
              <a:t> Static NAT (one private ↔ one public), Dynamic NAT (pool of public IPs) and PAT / NAT Overload (many devices ↔ one public IP using port numbers – the most common type at home and office).</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Security relevance:</a:t>
            </a:r>
            <a:r>
              <a:rPr lang="en-IN" sz="1800" dirty="0">
                <a:latin typeface="Calibri" panose="020F0502020204030204" pitchFamily="34" charset="0"/>
                <a:ea typeface="Calibri" panose="020F0502020204030204" pitchFamily="34" charset="0"/>
                <a:cs typeface="Calibri" panose="020F0502020204030204" pitchFamily="34" charset="0"/>
              </a:rPr>
              <a:t> Internal addresses stay hidden and unsolicited inbound connections are dropped by default; it also slows IPv4 exhaustion. However, NAT is not a firewall, and port forwarding re-exposes internal services.</a:t>
            </a:r>
          </a:p>
        </p:txBody>
      </p:sp>
      <p:sp>
        <p:nvSpPr>
          <p:cNvPr id="120" name="Google Shape;120;p3">
            <a:extLst>
              <a:ext uri="{FF2B5EF4-FFF2-40B4-BE49-F238E27FC236}">
                <a16:creationId xmlns:a16="http://schemas.microsoft.com/office/drawing/2014/main" id="{CA8EC04D-0D05-3955-7E12-A200AAE9DCC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NETWORK ADDRESS TRANSLATION (NAT)</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817575E9-35A5-1A8E-64F9-B80BC9E54AE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sp>
        <p:nvSpPr>
          <p:cNvPr id="303" name="NAT 303"/>
          <p:cNvSpPr/>
          <p:nvPr/>
        </p:nvSpPr>
        <p:spPr>
          <a:xfrm>
            <a:off x="838201" y="4650000"/>
            <a:ext cx="3000000" cy="1100000"/>
          </a:xfrm>
          <a:prstGeom prst="roundRect">
            <a:avLst>
              <a:gd name="adj" fmla="val 8000"/>
            </a:avLst>
          </a:prstGeom>
          <a:solidFill>
            <a:srgbClr val="E8F1F5"/>
          </a:solidFill>
          <a:ln w="12700">
            <a:solidFill>
              <a:srgbClr val="156082"/>
            </a:solidFill>
          </a:ln>
        </p:spPr>
        <p:txBody>
          <a:bodyPr wrap="square" lIns="91440" tIns="45720" rIns="91440" bIns="45720" anchor="t">
            <a:noAutofit/>
          </a:bodyPr>
          <a:lstStyle/>
          <a:p>
            <a:pPr marL="0" indent="0" algn="ctr">
              <a:buNone/>
            </a:pPr>
            <a:r>
              <a:rPr lang="en-IN" sz="1800" b="1" dirty="0">
                <a:latin typeface="Calibri" panose="020F0502020204030204" pitchFamily="34" charset="0"/>
                <a:ea typeface="Calibri" panose="020F0502020204030204" pitchFamily="34" charset="0"/>
                <a:cs typeface="Calibri" panose="020F0502020204030204" pitchFamily="34" charset="0"/>
              </a:rPr>
              <a:t>Laptop (private)</a:t>
            </a:r>
          </a:p>
          <a:p>
            <a:pPr marL="0" indent="0" algn="ctr">
              <a:buNone/>
            </a:pPr>
            <a:r>
              <a:rPr lang="en-IN" sz="1500" dirty="0">
                <a:latin typeface="Courier New"/>
                <a:cs typeface="Courier New"/>
              </a:rPr>
              <a:t>192.168.1.10:50500</a:t>
            </a:r>
          </a:p>
        </p:txBody>
      </p:sp>
      <p:sp>
        <p:nvSpPr>
          <p:cNvPr id="304" name="Arrow 304"/>
          <p:cNvSpPr/>
          <p:nvPr/>
        </p:nvSpPr>
        <p:spPr>
          <a:xfrm>
            <a:off x="3958201" y="4900000"/>
            <a:ext cx="600000" cy="400000"/>
          </a:xfrm>
          <a:prstGeom prst="rightArrow">
            <a:avLst/>
          </a:prstGeom>
          <a:solidFill>
            <a:srgbClr val="156082"/>
          </a:solidFill>
          <a:ln>
            <a:noFill/>
          </a:ln>
        </p:spPr>
        <p:txBody>
          <a:bodyPr/>
          <a:lstStyle/>
          <a:p>
            <a:endParaRPr lang="en-IN"/>
          </a:p>
        </p:txBody>
      </p:sp>
      <p:sp>
        <p:nvSpPr>
          <p:cNvPr id="305" name="NAT 305"/>
          <p:cNvSpPr/>
          <p:nvPr/>
        </p:nvSpPr>
        <p:spPr>
          <a:xfrm>
            <a:off x="4678201" y="4650000"/>
            <a:ext cx="3600000" cy="1100000"/>
          </a:xfrm>
          <a:prstGeom prst="roundRect">
            <a:avLst>
              <a:gd name="adj" fmla="val 8000"/>
            </a:avLst>
          </a:prstGeom>
          <a:solidFill>
            <a:srgbClr val="FFFFFF"/>
          </a:solidFill>
          <a:ln w="12700">
            <a:solidFill>
              <a:srgbClr val="156082"/>
            </a:solidFill>
          </a:ln>
        </p:spPr>
        <p:txBody>
          <a:bodyPr wrap="square" lIns="91440" tIns="45720" rIns="91440" bIns="45720" anchor="t">
            <a:noAutofit/>
          </a:bodyPr>
          <a:lstStyle/>
          <a:p>
            <a:pPr marL="0" indent="0" algn="ctr">
              <a:buNone/>
            </a:pPr>
            <a:r>
              <a:rPr lang="en-IN" sz="1800" b="1" dirty="0">
                <a:latin typeface="Calibri" panose="020F0502020204030204" pitchFamily="34" charset="0"/>
                <a:ea typeface="Calibri" panose="020F0502020204030204" pitchFamily="34" charset="0"/>
                <a:cs typeface="Calibri" panose="020F0502020204030204" pitchFamily="34" charset="0"/>
              </a:rPr>
              <a:t>Router performs NAT</a:t>
            </a:r>
          </a:p>
          <a:p>
            <a:pPr marL="0" indent="0" algn="ctr">
              <a:buNone/>
            </a:pPr>
            <a:r>
              <a:rPr lang="en-IN" sz="1400" dirty="0">
                <a:latin typeface="Courier New"/>
                <a:cs typeface="Courier New"/>
              </a:rPr>
              <a:t>192.168.1.10:50500</a:t>
            </a:r>
          </a:p>
          <a:p>
            <a:pPr marL="0" indent="0" algn="ctr">
              <a:buNone/>
            </a:pPr>
            <a:r>
              <a:rPr lang="en-IN" sz="1400" dirty="0">
                <a:latin typeface="Courier New"/>
                <a:cs typeface="Courier New"/>
              </a:rPr>
              <a:t>↔ 203.0.113.5:40001</a:t>
            </a:r>
          </a:p>
        </p:txBody>
      </p:sp>
      <p:sp>
        <p:nvSpPr>
          <p:cNvPr id="306" name="Arrow 306"/>
          <p:cNvSpPr/>
          <p:nvPr/>
        </p:nvSpPr>
        <p:spPr>
          <a:xfrm>
            <a:off x="8398201" y="4900000"/>
            <a:ext cx="600000" cy="400000"/>
          </a:xfrm>
          <a:prstGeom prst="rightArrow">
            <a:avLst/>
          </a:prstGeom>
          <a:solidFill>
            <a:srgbClr val="156082"/>
          </a:solidFill>
          <a:ln>
            <a:noFill/>
          </a:ln>
        </p:spPr>
        <p:txBody>
          <a:bodyPr/>
          <a:lstStyle/>
          <a:p>
            <a:endParaRPr lang="en-IN"/>
          </a:p>
        </p:txBody>
      </p:sp>
      <p:sp>
        <p:nvSpPr>
          <p:cNvPr id="307" name="NAT 307"/>
          <p:cNvSpPr/>
          <p:nvPr/>
        </p:nvSpPr>
        <p:spPr>
          <a:xfrm>
            <a:off x="9118201" y="4650000"/>
            <a:ext cx="2300000" cy="1100000"/>
          </a:xfrm>
          <a:prstGeom prst="roundRect">
            <a:avLst>
              <a:gd name="adj" fmla="val 8000"/>
            </a:avLst>
          </a:prstGeom>
          <a:solidFill>
            <a:srgbClr val="E8F1F5"/>
          </a:solidFill>
          <a:ln w="12700">
            <a:solidFill>
              <a:srgbClr val="156082"/>
            </a:solidFill>
          </a:ln>
        </p:spPr>
        <p:txBody>
          <a:bodyPr wrap="square" lIns="91440" tIns="45720" rIns="91440" bIns="45720" anchor="t">
            <a:noAutofit/>
          </a:bodyPr>
          <a:lstStyle/>
          <a:p>
            <a:pPr marL="0" indent="0" algn="ctr">
              <a:buNone/>
            </a:pPr>
            <a:r>
              <a:rPr lang="en-IN" sz="1800" b="1" dirty="0">
                <a:latin typeface="Calibri" panose="020F0502020204030204" pitchFamily="34" charset="0"/>
                <a:ea typeface="Calibri" panose="020F0502020204030204" pitchFamily="34" charset="0"/>
                <a:cs typeface="Calibri" panose="020F0502020204030204" pitchFamily="34" charset="0"/>
              </a:rPr>
              <a:t>Internet (public)</a:t>
            </a:r>
          </a:p>
          <a:p>
            <a:pPr marL="0" indent="0" algn="ctr">
              <a:buNone/>
            </a:pPr>
            <a:r>
              <a:rPr lang="en-IN" sz="1500" dirty="0">
                <a:latin typeface="Courier New"/>
                <a:cs typeface="Courier New"/>
              </a:rPr>
              <a:t>203.0.113.5:40001</a:t>
            </a:r>
          </a:p>
        </p:txBody>
      </p:sp>
    </p:spTree>
    <p:extLst>
      <p:ext uri="{BB962C8B-B14F-4D97-AF65-F5344CB8AC3E}">
        <p14:creationId xmlns:p14="http://schemas.microsoft.com/office/powerpoint/2010/main" val="147020862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F0B0313-325B-6849-2C66-188D43FF3D77}"/>
            </a:ext>
          </a:extLst>
        </p:cNvPr>
        <p:cNvGrpSpPr/>
        <p:nvPr/>
      </p:nvGrpSpPr>
      <p:grpSpPr>
        <a:xfrm>
          <a:off x="0" y="0"/>
          <a:ext cx="0" cy="0"/>
          <a:chOff x="0" y="0"/>
          <a:chExt cx="0" cy="0"/>
        </a:xfrm>
      </p:grpSpPr>
      <p:sp>
        <p:nvSpPr>
          <p:cNvPr id="119" name="Google Shape;119;p3">
            <a:extLst>
              <a:ext uri="{FF2B5EF4-FFF2-40B4-BE49-F238E27FC236}" cy="1500000">
                <a16:creationId xmlns:a16="http://schemas.microsoft.com/office/drawing/2014/main" id="{C56C03B2-64FC-3FC0-A925-107AECCAA0AB}"/>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CIDR /n</a:t>
            </a:r>
            <a:r>
              <a:rPr lang="en-IN" sz="1900" dirty="0">
                <a:latin typeface="Calibri" panose="020F0502020204030204" pitchFamily="34" charset="0"/>
                <a:ea typeface="Calibri" panose="020F0502020204030204" pitchFamily="34" charset="0"/>
                <a:cs typeface="Calibri" panose="020F0502020204030204" pitchFamily="34" charset="0"/>
              </a:rPr>
              <a:t> = number of network bits in the address. </a:t>
            </a:r>
            <a:r>
              <a:rPr lang="en-IN" sz="1900" b="1" dirty="0">
                <a:latin typeface="Calibri" panose="020F0502020204030204" pitchFamily="34" charset="0"/>
                <a:ea typeface="Calibri" panose="020F0502020204030204" pitchFamily="34" charset="0"/>
                <a:cs typeface="Calibri" panose="020F0502020204030204" pitchFamily="34" charset="0"/>
              </a:rPr>
              <a:t>Usable hosts = 2^(32 − n) − 2</a:t>
            </a:r>
            <a:r>
              <a:rPr lang="en-IN" sz="1900" dirty="0">
                <a:latin typeface="Calibri" panose="020F0502020204030204" pitchFamily="34" charset="0"/>
                <a:ea typeface="Calibri" panose="020F0502020204030204" pitchFamily="34" charset="0"/>
                <a:cs typeface="Calibri" panose="020F0502020204030204" pitchFamily="34" charset="0"/>
              </a:rPr>
              <a:t> (one address for the network ID, one for the broadcast).</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Example:</a:t>
            </a:r>
            <a:r>
              <a:rPr lang="en-IN" sz="1900" dirty="0">
                <a:latin typeface="Calibri" panose="020F0502020204030204" pitchFamily="34" charset="0"/>
                <a:ea typeface="Calibri" panose="020F0502020204030204" pitchFamily="34" charset="0"/>
                <a:cs typeface="Calibri" panose="020F0502020204030204" pitchFamily="34" charset="0"/>
              </a:rPr>
              <a:t> 192.168.10.0/24 → network 192.168.10.0, hosts 192.168.10.1 – 192.168.10.254, broadcast 192.168.10.255.</a:t>
            </a:r>
          </a:p>
        </p:txBody>
      </p:sp>
      <p:sp>
        <p:nvSpPr>
          <p:cNvPr id="120" name="Google Shape;120;p3">
            <a:extLst>
              <a:ext uri="{FF2B5EF4-FFF2-40B4-BE49-F238E27FC236}">
                <a16:creationId xmlns:a16="http://schemas.microsoft.com/office/drawing/2014/main" id="{CA8EC04D-0D05-3955-7E12-A200AAE9DCC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SUBNETTING – CIDR QUICK REFERENCE</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817575E9-35A5-1A8E-64F9-B80BC9E54AE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graphicFrame>
        <p:nvGraphicFramePr>
          <p:cNvPr id="302" name="Table 302"/>
          <p:cNvGraphicFramePr>
            <a:graphicFrameLocks noGrp="1"/>
          </p:cNvGraphicFramePr>
          <p:nvPr/>
        </p:nvGraphicFramePr>
        <p:xfrm>
          <a:off x="838201" y="2850000"/>
          <a:ext cx="10515600" cy="3010000"/>
        </p:xfrm>
        <a:graphic>
          <a:graphicData uri="http://schemas.openxmlformats.org/drawingml/2006/table">
            <a:tbl>
              <a:tblPr firstRow="1" bandRow="1">
                <a:tableStyleId>{5C22544A-7EE6-4342-B048-85BDC9FD1C3A}</a:tableStyleId>
              </a:tblPr>
              <a:tblGrid>
                <a:gridCol w="1200000"/>
                <a:gridCol w="2700000"/>
                <a:gridCol w="1400000"/>
                <a:gridCol w="2000000"/>
                <a:gridCol w="3215600"/>
              </a:tblGrid>
              <a:tr h="430000">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CIDR</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Subnet Mask</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Host Bits</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Usable Hosts</a:t>
                      </a:r>
                    </a:p>
                  </a:txBody>
                  <a:tcPr marL="72000" marR="72000" marT="36000" marB="36000" anchor="ctr"/>
                </a:tc>
                <a:tc>
                  <a:txBody>
                    <a:bodyPr/>
                    <a:lstStyle/>
                    <a:p>
                      <a:pPr algn="ctr"/>
                      <a:r>
                        <a:rPr lang="en-IN" sz="1800" b="1" dirty="0">
                          <a:latin typeface="Calibri" panose="020F0502020204030204" pitchFamily="34" charset="0"/>
                          <a:ea typeface="Calibri" panose="020F0502020204030204" pitchFamily="34" charset="0"/>
                          <a:cs typeface="Calibri" panose="020F0502020204030204" pitchFamily="34" charset="0"/>
                        </a:rPr>
                        <a:t>Typical Use</a:t>
                      </a:r>
                    </a:p>
                  </a:txBody>
                  <a:tcPr marL="72000" marR="72000" marT="36000" marB="36000" anchor="ctr"/>
                </a:tc>
              </a:tr>
              <a:tr h="43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/8</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255.0.0.0</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24</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16,777,214</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Class A size network</a:t>
                      </a:r>
                    </a:p>
                  </a:txBody>
                  <a:tcPr marL="72000" marR="72000" marT="36000" marB="36000" anchor="ctr"/>
                </a:tc>
              </a:tr>
              <a:tr h="43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/16</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255.255.0.0</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16</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65,534</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Class B size network</a:t>
                      </a:r>
                    </a:p>
                  </a:txBody>
                  <a:tcPr marL="72000" marR="72000" marT="36000" marB="36000" anchor="ctr"/>
                </a:tc>
              </a:tr>
              <a:tr h="43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/24</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255.255.255.0</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8</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254</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Class C size / typical LAN</a:t>
                      </a:r>
                    </a:p>
                  </a:txBody>
                  <a:tcPr marL="72000" marR="72000" marT="36000" marB="36000" anchor="ctr"/>
                </a:tc>
              </a:tr>
              <a:tr h="43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/25</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255.255.255.128</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7</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126</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Half of a /24 (two subnets)</a:t>
                      </a:r>
                    </a:p>
                  </a:txBody>
                  <a:tcPr marL="72000" marR="72000" marT="36000" marB="36000" anchor="ctr"/>
                </a:tc>
              </a:tr>
              <a:tr h="43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/26</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255.255.255.192</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6</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62</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Quarter of a /24</a:t>
                      </a:r>
                    </a:p>
                  </a:txBody>
                  <a:tcPr marL="72000" marR="72000" marT="36000" marB="36000" anchor="ctr"/>
                </a:tc>
              </a:tr>
              <a:tr h="430000">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/30</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255.255.255.252</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marL="72000" marR="72000" marT="36000" marB="36000" anchor="ctr"/>
                </a:tc>
                <a:tc>
                  <a:txBody>
                    <a:bodyPr/>
                    <a:lstStyle/>
                    <a:p>
                      <a:pPr algn="ctr"/>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marL="72000" marR="72000" marT="36000" marB="36000" anchor="ctr"/>
                </a:tc>
                <a:tc>
                  <a:txBody>
                    <a:bodyPr/>
                    <a:lstStyle/>
                    <a:p>
                      <a:pPr algn="l"/>
                      <a:r>
                        <a:rPr lang="en-IN" sz="1600" dirty="0">
                          <a:solidFill>
                            <a:srgbClr val="000000"/>
                          </a:solidFill>
                          <a:latin typeface="Calibri" panose="020F0502020204030204" pitchFamily="34" charset="0"/>
                          <a:ea typeface="Calibri" panose="020F0502020204030204" pitchFamily="34" charset="0"/>
                          <a:cs typeface="Calibri" panose="020F0502020204030204" pitchFamily="34" charset="0"/>
                        </a:rPr>
                        <a:t>Router-to-router links</a:t>
                      </a:r>
                    </a:p>
                  </a:txBody>
                  <a:tcPr marL="72000" marR="72000" marT="36000" marB="36000" anchor="ctr"/>
                </a:tc>
              </a:tr>
            </a:tbl>
          </a:graphicData>
        </a:graphic>
      </p:graphicFrame>
    </p:spTree>
    <p:extLst>
      <p:ext uri="{BB962C8B-B14F-4D97-AF65-F5344CB8AC3E}">
        <p14:creationId xmlns:p14="http://schemas.microsoft.com/office/powerpoint/2010/main" val="147020862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F0B0313-325B-6849-2C66-188D43FF3D77}"/>
            </a:ext>
          </a:extLst>
        </p:cNvPr>
        <p:cNvGrpSpPr/>
        <p:nvPr/>
      </p:nvGrpSpPr>
      <p:grpSpPr>
        <a:xfrm>
          <a:off x="0" y="0"/>
          <a:ext cx="0" cy="0"/>
          <a:chOff x="0" y="0"/>
          <a:chExt cx="0" cy="0"/>
        </a:xfrm>
      </p:grpSpPr>
      <p:sp>
        <p:nvSpPr>
          <p:cNvPr id="119" name="Google Shape;119;p3">
            <a:extLst>
              <a:ext uri="{FF2B5EF4-FFF2-40B4-BE49-F238E27FC236}" cy="200000">
                <a16:creationId xmlns:a16="http://schemas.microsoft.com/office/drawing/2014/main" id="{C56C03B2-64FC-3FC0-A925-107AECCAA0AB}"/>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p>
        </p:txBody>
      </p:sp>
      <p:sp>
        <p:nvSpPr>
          <p:cNvPr id="120" name="Google Shape;120;p3">
            <a:extLst>
              <a:ext uri="{FF2B5EF4-FFF2-40B4-BE49-F238E27FC236}">
                <a16:creationId xmlns:a16="http://schemas.microsoft.com/office/drawing/2014/main" id="{CA8EC04D-0D05-3955-7E12-A200AAE9DCC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HTTPS – PROTECTION AND LIMITS</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817575E9-35A5-1A8E-64F9-B80BC9E54AE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sp>
        <p:nvSpPr>
          <p:cNvPr id="319" name="Yes 319"/>
          <p:cNvSpPr/>
          <p:nvPr/>
        </p:nvSpPr>
        <p:spPr>
          <a:xfrm>
            <a:off x="838201" y="1350000"/>
            <a:ext cx="5150000" cy="4650000"/>
          </a:xfrm>
          <a:prstGeom prst="roundRect">
            <a:avLst>
              <a:gd name="adj" fmla="val 8000"/>
            </a:avLst>
          </a:prstGeom>
          <a:solidFill>
            <a:srgbClr val="E8F1F5"/>
          </a:solidFill>
          <a:ln w="12700">
            <a:solidFill>
              <a:srgbClr val="156082"/>
            </a:solidFill>
          </a:ln>
        </p:spPr>
        <p:txBody>
          <a:bodyPr wrap="square" lIns="91440" tIns="45720" rIns="91440" bIns="45720" anchor="t">
            <a:noAutofit/>
          </a:bodyPr>
          <a:lstStyle/>
          <a:p>
            <a:pPr marL="0" indent="0" algn="l">
              <a:buNone/>
            </a:pPr>
            <a:r>
              <a:rPr lang="en-IN" sz="2100" b="1" dirty="0">
                <a:solidFill>
                  <a:srgbClr val="156082"/>
                </a:solidFill>
                <a:latin typeface="Calibri" panose="020F0502020204030204" pitchFamily="34" charset="0"/>
                <a:ea typeface="Calibri" panose="020F0502020204030204" pitchFamily="34" charset="0"/>
                <a:cs typeface="Calibri" panose="020F0502020204030204" pitchFamily="34" charset="0"/>
              </a:rPr>
              <a:t>HTTPS DOES protect</a:t>
            </a:r>
          </a:p>
          <a:p>
            <a:pPr marL="228600" indent="-228600" algn="l">
              <a:spcBef>
                <a:spcPts val="700"/>
              </a:spcBef>
              <a:buFont typeface="Arial"/>
              <a:buChar char="•"/>
            </a:pPr>
            <a:r>
              <a:rPr lang="en-IN" sz="1900" b="1" dirty="0">
                <a:latin typeface="Calibri" panose="020F0502020204030204" pitchFamily="34" charset="0"/>
                <a:ea typeface="Calibri" panose="020F0502020204030204" pitchFamily="34" charset="0"/>
                <a:cs typeface="Calibri" panose="020F0502020204030204" pitchFamily="34" charset="0"/>
              </a:rPr>
              <a:t>Confidentiality:</a:t>
            </a:r>
            <a:r>
              <a:rPr lang="en-IN" sz="1900" dirty="0">
                <a:latin typeface="Calibri" panose="020F0502020204030204" pitchFamily="34" charset="0"/>
                <a:ea typeface="Calibri" panose="020F0502020204030204" pitchFamily="34" charset="0"/>
                <a:cs typeface="Calibri" panose="020F0502020204030204" pitchFamily="34" charset="0"/>
              </a:rPr>
              <a:t> traffic is encrypted, so sniffers on public Wi-Fi see only ciphertext</a:t>
            </a:r>
          </a:p>
          <a:p>
            <a:pPr marL="228600" indent="-228600" algn="l">
              <a:spcBef>
                <a:spcPts val="700"/>
              </a:spcBef>
              <a:buFont typeface="Arial"/>
              <a:buChar char="•"/>
            </a:pPr>
            <a:r>
              <a:rPr lang="en-IN" sz="1900" b="1" dirty="0">
                <a:latin typeface="Calibri" panose="020F0502020204030204" pitchFamily="34" charset="0"/>
                <a:ea typeface="Calibri" panose="020F0502020204030204" pitchFamily="34" charset="0"/>
                <a:cs typeface="Calibri" panose="020F0502020204030204" pitchFamily="34" charset="0"/>
              </a:rPr>
              <a:t>Integrity:</a:t>
            </a:r>
            <a:r>
              <a:rPr lang="en-IN" sz="1900" dirty="0">
                <a:latin typeface="Calibri" panose="020F0502020204030204" pitchFamily="34" charset="0"/>
                <a:ea typeface="Calibri" panose="020F0502020204030204" pitchFamily="34" charset="0"/>
                <a:cs typeface="Calibri" panose="020F0502020204030204" pitchFamily="34" charset="0"/>
              </a:rPr>
              <a:t> any modification in transit is detected</a:t>
            </a:r>
          </a:p>
          <a:p>
            <a:pPr marL="228600" indent="-228600" algn="l">
              <a:spcBef>
                <a:spcPts val="700"/>
              </a:spcBef>
              <a:buFont typeface="Arial"/>
              <a:buChar char="•"/>
            </a:pPr>
            <a:r>
              <a:rPr lang="en-IN" sz="1900" b="1" dirty="0">
                <a:latin typeface="Calibri" panose="020F0502020204030204" pitchFamily="34" charset="0"/>
                <a:ea typeface="Calibri" panose="020F0502020204030204" pitchFamily="34" charset="0"/>
                <a:cs typeface="Calibri" panose="020F0502020204030204" pitchFamily="34" charset="0"/>
              </a:rPr>
              <a:t>Authentication:</a:t>
            </a:r>
            <a:r>
              <a:rPr lang="en-IN" sz="1900" dirty="0">
                <a:latin typeface="Calibri" panose="020F0502020204030204" pitchFamily="34" charset="0"/>
                <a:ea typeface="Calibri" panose="020F0502020204030204" pitchFamily="34" charset="0"/>
                <a:cs typeface="Calibri" panose="020F0502020204030204" pitchFamily="34" charset="0"/>
              </a:rPr>
              <a:t> the certificate proves you reached the real server</a:t>
            </a:r>
          </a:p>
          <a:p>
            <a:pPr marL="228600" indent="-228600" algn="l">
              <a:spcBef>
                <a:spcPts val="700"/>
              </a:spcBef>
              <a:buFont typeface="Arial"/>
              <a:buChar char="•"/>
            </a:pPr>
            <a:r>
              <a:rPr lang="en-IN" sz="1900" dirty="0">
                <a:latin typeface="Calibri" panose="020F0502020204030204" pitchFamily="34" charset="0"/>
                <a:ea typeface="Calibri" panose="020F0502020204030204" pitchFamily="34" charset="0"/>
                <a:cs typeface="Calibri" panose="020F0502020204030204" pitchFamily="34" charset="0"/>
              </a:rPr>
              <a:t>Passwords, cookies and form data are protected in transit</a:t>
            </a:r>
          </a:p>
          <a:p>
            <a:pPr marL="228600" indent="-228600" algn="l">
              <a:spcBef>
                <a:spcPts val="700"/>
              </a:spcBef>
              <a:buFont typeface="Arial"/>
              <a:buChar char="•"/>
            </a:pPr>
            <a:r>
              <a:rPr lang="en-IN" sz="1900" dirty="0">
                <a:latin typeface="Calibri" panose="020F0502020204030204" pitchFamily="34" charset="0"/>
                <a:ea typeface="Calibri" panose="020F0502020204030204" pitchFamily="34" charset="0"/>
                <a:cs typeface="Calibri" panose="020F0502020204030204" pitchFamily="34" charset="0"/>
              </a:rPr>
              <a:t>Blocks most man-in-the-middle and content-injection attacks on the path</a:t>
            </a:r>
          </a:p>
        </p:txBody>
      </p:sp>
      <p:sp>
        <p:nvSpPr>
          <p:cNvPr id="320" name="No 320"/>
          <p:cNvSpPr/>
          <p:nvPr/>
        </p:nvSpPr>
        <p:spPr>
          <a:xfrm>
            <a:off x="6203802" y="1350000"/>
            <a:ext cx="5150000" cy="4650000"/>
          </a:xfrm>
          <a:prstGeom prst="roundRect">
            <a:avLst>
              <a:gd name="adj" fmla="val 8000"/>
            </a:avLst>
          </a:prstGeom>
          <a:solidFill>
            <a:srgbClr val="FDF0F0"/>
          </a:solidFill>
          <a:ln w="12700">
            <a:solidFill>
              <a:srgbClr val="C00000"/>
            </a:solidFill>
          </a:ln>
        </p:spPr>
        <p:txBody>
          <a:bodyPr wrap="square" lIns="91440" tIns="45720" rIns="91440" bIns="45720" anchor="t">
            <a:noAutofit/>
          </a:bodyPr>
          <a:lstStyle/>
          <a:p>
            <a:pPr marL="0" indent="0" algn="l">
              <a:buNone/>
            </a:pPr>
            <a:r>
              <a:rPr lang="en-IN" sz="2100" b="1" dirty="0">
                <a:solidFill>
                  <a:srgbClr val="C00000"/>
                </a:solidFill>
                <a:latin typeface="Calibri" panose="020F0502020204030204" pitchFamily="34" charset="0"/>
                <a:ea typeface="Calibri" panose="020F0502020204030204" pitchFamily="34" charset="0"/>
                <a:cs typeface="Calibri" panose="020F0502020204030204" pitchFamily="34" charset="0"/>
              </a:rPr>
              <a:t>HTTPS does NOT protect</a:t>
            </a:r>
          </a:p>
          <a:p>
            <a:pPr marL="228600" indent="-228600" algn="l">
              <a:spcBef>
                <a:spcPts val="700"/>
              </a:spcBef>
              <a:buFont typeface="Arial"/>
              <a:buChar char="•"/>
            </a:pPr>
            <a:r>
              <a:rPr lang="en-IN" sz="1900" b="1" dirty="0">
                <a:latin typeface="Calibri" panose="020F0502020204030204" pitchFamily="34" charset="0"/>
                <a:ea typeface="Calibri" panose="020F0502020204030204" pitchFamily="34" charset="0"/>
                <a:cs typeface="Calibri" panose="020F0502020204030204" pitchFamily="34" charset="0"/>
              </a:rPr>
              <a:t>Malicious sites:</a:t>
            </a:r>
            <a:r>
              <a:rPr lang="en-IN" sz="1900" dirty="0">
                <a:latin typeface="Calibri" panose="020F0502020204030204" pitchFamily="34" charset="0"/>
                <a:ea typeface="Calibri" panose="020F0502020204030204" pitchFamily="34" charset="0"/>
                <a:cs typeface="Calibri" panose="020F0502020204030204" pitchFamily="34" charset="0"/>
              </a:rPr>
              <a:t> phishing sites can also have valid certificates – the padlock does not mean "safe"</a:t>
            </a:r>
          </a:p>
          <a:p>
            <a:pPr marL="228600" indent="-228600" algn="l">
              <a:spcBef>
                <a:spcPts val="700"/>
              </a:spcBef>
              <a:buFont typeface="Arial"/>
              <a:buChar char="•"/>
            </a:pPr>
            <a:r>
              <a:rPr lang="en-IN" sz="1900" b="1" dirty="0">
                <a:latin typeface="Calibri" panose="020F0502020204030204" pitchFamily="34" charset="0"/>
                <a:ea typeface="Calibri" panose="020F0502020204030204" pitchFamily="34" charset="0"/>
                <a:cs typeface="Calibri" panose="020F0502020204030204" pitchFamily="34" charset="0"/>
              </a:rPr>
              <a:t>Web-app flaws:</a:t>
            </a:r>
            <a:r>
              <a:rPr lang="en-IN" sz="1900" dirty="0">
                <a:latin typeface="Calibri" panose="020F0502020204030204" pitchFamily="34" charset="0"/>
                <a:ea typeface="Calibri" panose="020F0502020204030204" pitchFamily="34" charset="0"/>
                <a:cs typeface="Calibri" panose="020F0502020204030204" pitchFamily="34" charset="0"/>
              </a:rPr>
              <a:t> SQL injection and XSS still work, because the attack is encrypted too</a:t>
            </a:r>
          </a:p>
          <a:p>
            <a:pPr marL="228600" indent="-228600" algn="l">
              <a:spcBef>
                <a:spcPts val="700"/>
              </a:spcBef>
              <a:buFont typeface="Arial"/>
              <a:buChar char="•"/>
            </a:pPr>
            <a:r>
              <a:rPr lang="en-IN" sz="1900" b="1" dirty="0">
                <a:latin typeface="Calibri" panose="020F0502020204030204" pitchFamily="34" charset="0"/>
                <a:ea typeface="Calibri" panose="020F0502020204030204" pitchFamily="34" charset="0"/>
                <a:cs typeface="Calibri" panose="020F0502020204030204" pitchFamily="34" charset="0"/>
              </a:rPr>
              <a:t>Endpoints:</a:t>
            </a:r>
            <a:r>
              <a:rPr lang="en-IN" sz="1900" dirty="0">
                <a:latin typeface="Calibri" panose="020F0502020204030204" pitchFamily="34" charset="0"/>
                <a:ea typeface="Calibri" panose="020F0502020204030204" pitchFamily="34" charset="0"/>
                <a:cs typeface="Calibri" panose="020F0502020204030204" pitchFamily="34" charset="0"/>
              </a:rPr>
              <a:t> malware on the client or server, stolen credentials, weak passwords</a:t>
            </a:r>
          </a:p>
          <a:p>
            <a:pPr marL="228600" indent="-228600" algn="l">
              <a:spcBef>
                <a:spcPts val="700"/>
              </a:spcBef>
              <a:buFont typeface="Arial"/>
              <a:buChar char="•"/>
            </a:pPr>
            <a:r>
              <a:rPr lang="en-IN" sz="1900" b="1" dirty="0">
                <a:latin typeface="Calibri" panose="020F0502020204030204" pitchFamily="34" charset="0"/>
                <a:ea typeface="Calibri" panose="020F0502020204030204" pitchFamily="34" charset="0"/>
                <a:cs typeface="Calibri" panose="020F0502020204030204" pitchFamily="34" charset="0"/>
              </a:rPr>
              <a:t>Metadata:</a:t>
            </a:r>
            <a:r>
              <a:rPr lang="en-IN" sz="1900" dirty="0">
                <a:latin typeface="Calibri" panose="020F0502020204030204" pitchFamily="34" charset="0"/>
                <a:ea typeface="Calibri" panose="020F0502020204030204" pitchFamily="34" charset="0"/>
                <a:cs typeface="Calibri" panose="020F0502020204030204" pitchFamily="34" charset="0"/>
              </a:rPr>
              <a:t> IP addresses, domain name (DNS/SNI) and traffic volume remain visible</a:t>
            </a:r>
          </a:p>
          <a:p>
            <a:pPr marL="228600" indent="-228600" algn="l">
              <a:spcBef>
                <a:spcPts val="700"/>
              </a:spcBef>
              <a:buFont typeface="Arial"/>
              <a:buChar char="•"/>
            </a:pPr>
            <a:r>
              <a:rPr lang="en-IN" sz="1900" dirty="0">
                <a:latin typeface="Calibri" panose="020F0502020204030204" pitchFamily="34" charset="0"/>
                <a:ea typeface="Calibri" panose="020F0502020204030204" pitchFamily="34" charset="0"/>
                <a:cs typeface="Calibri" panose="020F0502020204030204" pitchFamily="34" charset="0"/>
              </a:rPr>
              <a:t>Data is plain once decrypted on the server – insecure storage can still leak it</a:t>
            </a:r>
          </a:p>
        </p:txBody>
      </p:sp>
    </p:spTree>
    <p:extLst>
      <p:ext uri="{BB962C8B-B14F-4D97-AF65-F5344CB8AC3E}">
        <p14:creationId xmlns:p14="http://schemas.microsoft.com/office/powerpoint/2010/main" val="147020862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F0B0313-325B-6849-2C66-188D43FF3D77}"/>
            </a:ext>
          </a:extLst>
        </p:cNvPr>
        <p:cNvGrpSpPr/>
        <p:nvPr/>
      </p:nvGrpSpPr>
      <p:grpSpPr>
        <a:xfrm>
          <a:off x="0" y="0"/>
          <a:ext cx="0" cy="0"/>
          <a:chOff x="0" y="0"/>
          <a:chExt cx="0" cy="0"/>
        </a:xfrm>
      </p:grpSpPr>
      <p:sp>
        <p:nvSpPr>
          <p:cNvPr id="119" name="Google Shape;119;p3">
            <a:extLst>
              <a:ext uri="{FF2B5EF4-FFF2-40B4-BE49-F238E27FC236}" cy="1750000">
                <a16:creationId xmlns:a16="http://schemas.microsoft.com/office/drawing/2014/main" id="{C56C03B2-64FC-3FC0-A925-107AECCAA0AB}"/>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Tracing</a:t>
            </a:r>
            <a:r>
              <a:rPr lang="en-IN" sz="1800" dirty="0">
                <a:latin typeface="Calibri" panose="020F0502020204030204" pitchFamily="34" charset="0"/>
                <a:ea typeface="Calibri" panose="020F0502020204030204" pitchFamily="34" charset="0"/>
                <a:cs typeface="Calibri" panose="020F0502020204030204" pitchFamily="34" charset="0"/>
              </a:rPr>
              <a:t> shows the path a packet takes and where it is delayed or blocked. It is used to verify firewall rules, spot unexpected routes and investigate suspicious traffic.</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Traceroute idea:</a:t>
            </a:r>
            <a:r>
              <a:rPr lang="en-IN" sz="1800" dirty="0">
                <a:latin typeface="Calibri" panose="020F0502020204030204" pitchFamily="34" charset="0"/>
                <a:ea typeface="Calibri" panose="020F0502020204030204" pitchFamily="34" charset="0"/>
                <a:cs typeface="Calibri" panose="020F0502020204030204" pitchFamily="34" charset="0"/>
              </a:rPr>
              <a:t> it sends packets with TTL 1, 2, 3 …; each router that reduces the TTL to 0 returns an ICMP "Time Exceeded" message, revealing its address. A line of * * * means that hop is filtered or not replying.</a:t>
            </a:r>
          </a:p>
        </p:txBody>
      </p:sp>
      <p:sp>
        <p:nvSpPr>
          <p:cNvPr id="120" name="Google Shape;120;p3">
            <a:extLst>
              <a:ext uri="{FF2B5EF4-FFF2-40B4-BE49-F238E27FC236}">
                <a16:creationId xmlns:a16="http://schemas.microsoft.com/office/drawing/2014/main" id="{CA8EC04D-0D05-3955-7E12-A200AAE9DCC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PACKET FLOW – PRACTICAL TRACING</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817575E9-35A5-1A8E-64F9-B80BC9E54AE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graphicFrame>
        <p:nvGraphicFramePr>
          <p:cNvPr id="335" name="Table 335"/>
          <p:cNvGraphicFramePr>
            <a:graphicFrameLocks noGrp="1"/>
          </p:cNvGraphicFramePr>
          <p:nvPr/>
        </p:nvGraphicFramePr>
        <p:xfrm>
          <a:off x="838201" y="3100000"/>
          <a:ext cx="10515600" cy="2800000"/>
        </p:xfrm>
        <a:graphic>
          <a:graphicData uri="http://schemas.openxmlformats.org/drawingml/2006/table">
            <a:tbl>
              <a:tblPr firstRow="1" bandRow="1">
                <a:tableStyleId>{5C22544A-7EE6-4342-B048-85BDC9FD1C3A}</a:tableStyleId>
              </a:tblPr>
              <a:tblGrid>
                <a:gridCol w="1900000"/>
                <a:gridCol w="3300000"/>
                <a:gridCol w="5315600"/>
              </a:tblGrid>
              <a:tr h="400000">
                <a:tc>
                  <a:txBody>
                    <a:bodyPr/>
                    <a:lstStyle/>
                    <a:p>
                      <a:pPr algn="ctr"/>
                      <a:r>
                        <a:rPr lang="en-IN" sz="1700" b="1" dirty="0">
                          <a:latin typeface="Calibri" panose="020F0502020204030204" pitchFamily="34" charset="0"/>
                          <a:ea typeface="Calibri" panose="020F0502020204030204" pitchFamily="34" charset="0"/>
                          <a:cs typeface="Calibri" panose="020F0502020204030204" pitchFamily="34" charset="0"/>
                        </a:rPr>
                        <a:t>Tool</a:t>
                      </a:r>
                    </a:p>
                  </a:txBody>
                  <a:tcPr marL="72000" marR="72000" marT="36000" marB="36000" anchor="ctr"/>
                </a:tc>
                <a:tc>
                  <a:txBody>
                    <a:bodyPr/>
                    <a:lstStyle/>
                    <a:p>
                      <a:pPr algn="ctr"/>
                      <a:r>
                        <a:rPr lang="en-IN" sz="1700" b="1" dirty="0">
                          <a:latin typeface="Calibri" panose="020F0502020204030204" pitchFamily="34" charset="0"/>
                          <a:ea typeface="Calibri" panose="020F0502020204030204" pitchFamily="34" charset="0"/>
                          <a:cs typeface="Calibri" panose="020F0502020204030204" pitchFamily="34" charset="0"/>
                        </a:rPr>
                        <a:t>Example Command</a:t>
                      </a:r>
                    </a:p>
                  </a:txBody>
                  <a:tcPr marL="72000" marR="72000" marT="36000" marB="36000" anchor="ctr"/>
                </a:tc>
                <a:tc>
                  <a:txBody>
                    <a:bodyPr/>
                    <a:lstStyle/>
                    <a:p>
                      <a:pPr algn="ctr"/>
                      <a:r>
                        <a:rPr lang="en-IN" sz="1700" b="1" dirty="0">
                          <a:latin typeface="Calibri" panose="020F0502020204030204" pitchFamily="34" charset="0"/>
                          <a:ea typeface="Calibri" panose="020F0502020204030204" pitchFamily="34" charset="0"/>
                          <a:cs typeface="Calibri" panose="020F0502020204030204" pitchFamily="34" charset="0"/>
                        </a:rPr>
                        <a:t>What It Shows</a:t>
                      </a:r>
                    </a:p>
                  </a:txBody>
                  <a:tcPr marL="72000" marR="72000" marT="36000" marB="36000" anchor="ctr"/>
                </a:tc>
              </a:tr>
              <a:tr h="400000">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ping</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ping example.com</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Reachability and round-trip time (ICMP)</a:t>
                      </a:r>
                    </a:p>
                  </a:txBody>
                  <a:tcPr marL="72000" marR="72000" marT="36000" marB="36000" anchor="ctr"/>
                </a:tc>
              </a:tr>
              <a:tr h="400000">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tracert / traceroute</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tracert example.com</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Each router hop and its latency</a:t>
                      </a:r>
                    </a:p>
                  </a:txBody>
                  <a:tcPr marL="72000" marR="72000" marT="36000" marB="36000" anchor="ctr"/>
                </a:tc>
              </a:tr>
              <a:tr h="400000">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nslookup / dig</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nslookup example.com</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DNS answers and record types</a:t>
                      </a:r>
                    </a:p>
                  </a:txBody>
                  <a:tcPr marL="72000" marR="72000" marT="36000" marB="36000" anchor="ctr"/>
                </a:tc>
              </a:tr>
              <a:tr h="400000">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netstat / ss</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netstat -an</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Active connections and listening (open) ports</a:t>
                      </a:r>
                    </a:p>
                  </a:txBody>
                  <a:tcPr marL="72000" marR="72000" marT="36000" marB="36000" anchor="ctr"/>
                </a:tc>
              </a:tr>
              <a:tr h="400000">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arp</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arp -a</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IP-to-MAC table; duplicate MACs hint at ARP spoofing</a:t>
                      </a:r>
                    </a:p>
                  </a:txBody>
                  <a:tcPr marL="72000" marR="72000" marT="36000" marB="36000" anchor="ctr"/>
                </a:tc>
              </a:tr>
              <a:tr h="400000">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Wireshark</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capture + display filter</a:t>
                      </a:r>
                    </a:p>
                  </a:txBody>
                  <a:tcPr marL="72000" marR="72000" marT="36000" marB="36000" anchor="ctr"/>
                </a:tc>
                <a:tc>
                  <a:txBody>
                    <a:bodyPr/>
                    <a:lstStyle/>
                    <a:p>
                      <a:pPr algn="l"/>
                      <a:r>
                        <a:rPr lang="en-IN" sz="1500" dirty="0">
                          <a:solidFill>
                            <a:srgbClr val="000000"/>
                          </a:solidFill>
                          <a:latin typeface="Calibri" panose="020F0502020204030204" pitchFamily="34" charset="0"/>
                          <a:ea typeface="Calibri" panose="020F0502020204030204" pitchFamily="34" charset="0"/>
                          <a:cs typeface="Calibri" panose="020F0502020204030204" pitchFamily="34" charset="0"/>
                        </a:rPr>
                        <a:t>Packets, handshakes, DNS and HTTP layer by layer</a:t>
                      </a:r>
                    </a:p>
                  </a:txBody>
                  <a:tcPr marL="72000" marR="72000" marT="36000" marB="36000" anchor="ctr"/>
                </a:tc>
              </a:tr>
            </a:tbl>
          </a:graphicData>
        </a:graphic>
      </p:graphicFrame>
    </p:spTree>
    <p:extLst>
      <p:ext uri="{BB962C8B-B14F-4D97-AF65-F5344CB8AC3E}">
        <p14:creationId xmlns:p14="http://schemas.microsoft.com/office/powerpoint/2010/main" val="147020862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F0B0313-325B-6849-2C66-188D43FF3D77}"/>
            </a:ext>
          </a:extLst>
        </p:cNvPr>
        <p:cNvGrpSpPr/>
        <p:nvPr/>
      </p:nvGrpSpPr>
      <p:grpSpPr>
        <a:xfrm>
          <a:off x="0" y="0"/>
          <a:ext cx="0" cy="0"/>
          <a:chOff x="0" y="0"/>
          <a:chExt cx="0" cy="0"/>
        </a:xfrm>
      </p:grpSpPr>
      <p:sp>
        <p:nvSpPr>
          <p:cNvPr id="119" name="Google Shape;119;p3">
            <a:extLst>
              <a:ext uri="{FF2B5EF4-FFF2-40B4-BE49-F238E27FC236}" cy="3800000">
                <a16:creationId xmlns:a16="http://schemas.microsoft.com/office/drawing/2014/main" id="{C56C03B2-64FC-3FC0-A925-107AECCAA0AB}"/>
              </a:ext>
            </a:extLst>
          </p:cNvPr>
          <p:cNvSpPr txBox="1">
            <a:spLocks noGrp="1"/>
          </p:cNvSpPr>
          <p:nvPr>
            <p:ph type="body" idx="1"/>
          </p:nvPr>
        </p:nvSpPr>
        <p:spPr>
          <a:xfrm>
            <a:off x="838201" y="2300000"/>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DNS lookup:</a:t>
            </a:r>
            <a:r>
              <a:rPr lang="en-IN" sz="1800" dirty="0">
                <a:latin typeface="Calibri" panose="020F0502020204030204" pitchFamily="34" charset="0"/>
                <a:ea typeface="Calibri" panose="020F0502020204030204" pitchFamily="34" charset="0"/>
                <a:cs typeface="Calibri" panose="020F0502020204030204" pitchFamily="34" charset="0"/>
              </a:rPr>
              <a:t> the browser resolves the domain name to an IP address (UDP port 53).</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Connection:</a:t>
            </a:r>
            <a:r>
              <a:rPr lang="en-IN" sz="1800" dirty="0">
                <a:latin typeface="Calibri" panose="020F0502020204030204" pitchFamily="34" charset="0"/>
                <a:ea typeface="Calibri" panose="020F0502020204030204" pitchFamily="34" charset="0"/>
                <a:cs typeface="Calibri" panose="020F0502020204030204" pitchFamily="34" charset="0"/>
              </a:rPr>
              <a:t> TCP 3-way handshake with the server (port 443), then the TLS handshake for HTTPS.</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Encapsulation:</a:t>
            </a:r>
            <a:r>
              <a:rPr lang="en-IN" sz="1800" dirty="0">
                <a:latin typeface="Calibri" panose="020F0502020204030204" pitchFamily="34" charset="0"/>
                <a:ea typeface="Calibri" panose="020F0502020204030204" pitchFamily="34" charset="0"/>
                <a:cs typeface="Calibri" panose="020F0502020204030204" pitchFamily="34" charset="0"/>
              </a:rPr>
              <a:t> data → segment (TCP, ports) → packet (IP addresses) → frame (MAC addresses) → bits.</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ARP:</a:t>
            </a:r>
            <a:r>
              <a:rPr lang="en-IN" sz="1800" dirty="0">
                <a:latin typeface="Calibri" panose="020F0502020204030204" pitchFamily="34" charset="0"/>
                <a:ea typeface="Calibri" panose="020F0502020204030204" pitchFamily="34" charset="0"/>
                <a:cs typeface="Calibri" panose="020F0502020204030204" pitchFamily="34" charset="0"/>
              </a:rPr>
              <a:t> the PC finds the MAC address of its default gateway and sends the frame to the router.</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Routing:</a:t>
            </a:r>
            <a:r>
              <a:rPr lang="en-IN" sz="1800" dirty="0">
                <a:latin typeface="Calibri" panose="020F0502020204030204" pitchFamily="34" charset="0"/>
                <a:ea typeface="Calibri" panose="020F0502020204030204" pitchFamily="34" charset="0"/>
                <a:cs typeface="Calibri" panose="020F0502020204030204" pitchFamily="34" charset="0"/>
              </a:rPr>
              <a:t> the router applies NAT; each router then forwards the packet by IP, lowers the TTL by 1 and rewrites the MAC addresses hop by hop.</a:t>
            </a:r>
          </a:p>
          <a:p>
            <a:pPr algn="just" fontAlgn="base"/>
            <a:r>
              <a:rPr lang="en-IN" sz="1800" b="1" dirty="0">
                <a:latin typeface="Calibri" panose="020F0502020204030204" pitchFamily="34" charset="0"/>
                <a:ea typeface="Calibri" panose="020F0502020204030204" pitchFamily="34" charset="0"/>
                <a:cs typeface="Calibri" panose="020F0502020204030204" pitchFamily="34" charset="0"/>
              </a:rPr>
              <a:t>Server and return path:</a:t>
            </a:r>
            <a:r>
              <a:rPr lang="en-IN" sz="1800" dirty="0">
                <a:latin typeface="Calibri" panose="020F0502020204030204" pitchFamily="34" charset="0"/>
                <a:ea typeface="Calibri" panose="020F0502020204030204" pitchFamily="34" charset="0"/>
                <a:cs typeface="Calibri" panose="020F0502020204030204" pitchFamily="34" charset="0"/>
              </a:rPr>
              <a:t> the server de-encapsulates layer by layer, builds the response and sends it back; the NAT table delivers it to the right device.</a:t>
            </a:r>
          </a:p>
        </p:txBody>
      </p:sp>
      <p:sp>
        <p:nvSpPr>
          <p:cNvPr id="120" name="Google Shape;120;p3">
            <a:extLst>
              <a:ext uri="{FF2B5EF4-FFF2-40B4-BE49-F238E27FC236}">
                <a16:creationId xmlns:a16="http://schemas.microsoft.com/office/drawing/2014/main" id="{CA8EC04D-0D05-3955-7E12-A200AAE9DCC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PACKET FLOW</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817575E9-35A5-1A8E-64F9-B80BC9E54AE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sp>
        <p:nvSpPr>
          <p:cNvPr id="326" name="Hop 326"/>
          <p:cNvSpPr/>
          <p:nvPr/>
        </p:nvSpPr>
        <p:spPr>
          <a:xfrm>
            <a:off x="838201" y="1300000"/>
            <a:ext cx="1650000" cy="800000"/>
          </a:xfrm>
          <a:prstGeom prst="roundRect">
            <a:avLst>
              <a:gd name="adj" fmla="val 8000"/>
            </a:avLst>
          </a:prstGeom>
          <a:solidFill>
            <a:srgbClr val="E8F1F5"/>
          </a:solidFill>
          <a:ln w="12700">
            <a:solidFill>
              <a:srgbClr val="156082"/>
            </a:solidFill>
          </a:ln>
        </p:spPr>
        <p:txBody>
          <a:bodyPr wrap="square" lIns="91440" tIns="45720" rIns="91440" bIns="45720" anchor="ctr">
            <a:noAutofit/>
          </a:bodyPr>
          <a:lstStyle/>
          <a:p>
            <a:pPr marL="0" indent="0" algn="ctr">
              <a:buNone/>
            </a:pPr>
            <a:r>
              <a:rPr lang="en-IN" sz="1900" b="1" dirty="0">
                <a:latin typeface="Calibri" panose="020F0502020204030204" pitchFamily="34" charset="0"/>
                <a:ea typeface="Calibri" panose="020F0502020204030204" pitchFamily="34" charset="0"/>
                <a:cs typeface="Calibri" panose="020F0502020204030204" pitchFamily="34" charset="0"/>
              </a:rPr>
              <a:t>Browser</a:t>
            </a:r>
          </a:p>
          <a:p>
            <a:pPr marL="0" indent="0" algn="ctr">
              <a:buNone/>
            </a:pPr>
            <a:r>
              <a:rPr lang="en-IN" sz="1400" dirty="0">
                <a:latin typeface="Calibri" panose="020F0502020204030204" pitchFamily="34" charset="0"/>
                <a:ea typeface="Calibri" panose="020F0502020204030204" pitchFamily="34" charset="0"/>
                <a:cs typeface="Calibri" panose="020F0502020204030204" pitchFamily="34" charset="0"/>
              </a:rPr>
              <a:t>PC / phone</a:t>
            </a:r>
          </a:p>
        </p:txBody>
      </p:sp>
      <p:sp>
        <p:nvSpPr>
          <p:cNvPr id="327" name="Arrow 327"/>
          <p:cNvSpPr/>
          <p:nvPr/>
        </p:nvSpPr>
        <p:spPr>
          <a:xfrm>
            <a:off x="2568201" y="1550000"/>
            <a:ext cx="406000" cy="300000"/>
          </a:xfrm>
          <a:prstGeom prst="rightArrow">
            <a:avLst/>
          </a:prstGeom>
          <a:solidFill>
            <a:srgbClr val="156082"/>
          </a:solidFill>
          <a:ln>
            <a:noFill/>
          </a:ln>
        </p:spPr>
        <p:txBody>
          <a:bodyPr/>
          <a:lstStyle/>
          <a:p>
            <a:endParaRPr lang="en-IN"/>
          </a:p>
        </p:txBody>
      </p:sp>
      <p:sp>
        <p:nvSpPr>
          <p:cNvPr id="328" name="Hop 328"/>
          <p:cNvSpPr/>
          <p:nvPr/>
        </p:nvSpPr>
        <p:spPr>
          <a:xfrm>
            <a:off x="3054201" y="1300000"/>
            <a:ext cx="1650000" cy="800000"/>
          </a:xfrm>
          <a:prstGeom prst="roundRect">
            <a:avLst>
              <a:gd name="adj" fmla="val 8000"/>
            </a:avLst>
          </a:prstGeom>
          <a:solidFill>
            <a:srgbClr val="E8F1F5"/>
          </a:solidFill>
          <a:ln w="12700">
            <a:solidFill>
              <a:srgbClr val="156082"/>
            </a:solidFill>
          </a:ln>
        </p:spPr>
        <p:txBody>
          <a:bodyPr wrap="square" lIns="91440" tIns="45720" rIns="91440" bIns="45720" anchor="ctr">
            <a:noAutofit/>
          </a:bodyPr>
          <a:lstStyle/>
          <a:p>
            <a:pPr marL="0" indent="0" algn="ctr">
              <a:buNone/>
            </a:pPr>
            <a:r>
              <a:rPr lang="en-IN" sz="1900" b="1" dirty="0">
                <a:latin typeface="Calibri" panose="020F0502020204030204" pitchFamily="34" charset="0"/>
                <a:ea typeface="Calibri" panose="020F0502020204030204" pitchFamily="34" charset="0"/>
                <a:cs typeface="Calibri" panose="020F0502020204030204" pitchFamily="34" charset="0"/>
              </a:rPr>
              <a:t>Gateway</a:t>
            </a:r>
          </a:p>
          <a:p>
            <a:pPr marL="0" indent="0" algn="ctr">
              <a:buNone/>
            </a:pPr>
            <a:r>
              <a:rPr lang="en-IN" sz="1400" dirty="0">
                <a:latin typeface="Calibri" panose="020F0502020204030204" pitchFamily="34" charset="0"/>
                <a:ea typeface="Calibri" panose="020F0502020204030204" pitchFamily="34" charset="0"/>
                <a:cs typeface="Calibri" panose="020F0502020204030204" pitchFamily="34" charset="0"/>
              </a:rPr>
              <a:t>Router + NAT</a:t>
            </a:r>
          </a:p>
        </p:txBody>
      </p:sp>
      <p:sp>
        <p:nvSpPr>
          <p:cNvPr id="329" name="Arrow 329"/>
          <p:cNvSpPr/>
          <p:nvPr/>
        </p:nvSpPr>
        <p:spPr>
          <a:xfrm>
            <a:off x="4784201" y="1550000"/>
            <a:ext cx="406000" cy="300000"/>
          </a:xfrm>
          <a:prstGeom prst="rightArrow">
            <a:avLst/>
          </a:prstGeom>
          <a:solidFill>
            <a:srgbClr val="156082"/>
          </a:solidFill>
          <a:ln>
            <a:noFill/>
          </a:ln>
        </p:spPr>
        <p:txBody>
          <a:bodyPr/>
          <a:lstStyle/>
          <a:p>
            <a:endParaRPr lang="en-IN"/>
          </a:p>
        </p:txBody>
      </p:sp>
      <p:sp>
        <p:nvSpPr>
          <p:cNvPr id="330" name="Hop 330"/>
          <p:cNvSpPr/>
          <p:nvPr/>
        </p:nvSpPr>
        <p:spPr>
          <a:xfrm>
            <a:off x="5270201" y="1300000"/>
            <a:ext cx="1650000" cy="800000"/>
          </a:xfrm>
          <a:prstGeom prst="roundRect">
            <a:avLst>
              <a:gd name="adj" fmla="val 8000"/>
            </a:avLst>
          </a:prstGeom>
          <a:solidFill>
            <a:srgbClr val="E8F1F5"/>
          </a:solidFill>
          <a:ln w="12700">
            <a:solidFill>
              <a:srgbClr val="156082"/>
            </a:solidFill>
          </a:ln>
        </p:spPr>
        <p:txBody>
          <a:bodyPr wrap="square" lIns="91440" tIns="45720" rIns="91440" bIns="45720" anchor="ctr">
            <a:noAutofit/>
          </a:bodyPr>
          <a:lstStyle/>
          <a:p>
            <a:pPr marL="0" indent="0" algn="ctr">
              <a:buNone/>
            </a:pPr>
            <a:r>
              <a:rPr lang="en-IN" sz="1900" b="1" dirty="0">
                <a:latin typeface="Calibri" panose="020F0502020204030204" pitchFamily="34" charset="0"/>
                <a:ea typeface="Calibri" panose="020F0502020204030204" pitchFamily="34" charset="0"/>
                <a:cs typeface="Calibri" panose="020F0502020204030204" pitchFamily="34" charset="0"/>
              </a:rPr>
              <a:t>ISP</a:t>
            </a:r>
          </a:p>
          <a:p>
            <a:pPr marL="0" indent="0" algn="ctr">
              <a:buNone/>
            </a:pPr>
            <a:r>
              <a:rPr lang="en-IN" sz="1400" dirty="0">
                <a:latin typeface="Calibri" panose="020F0502020204030204" pitchFamily="34" charset="0"/>
                <a:ea typeface="Calibri" panose="020F0502020204030204" pitchFamily="34" charset="0"/>
                <a:cs typeface="Calibri" panose="020F0502020204030204" pitchFamily="34" charset="0"/>
              </a:rPr>
              <a:t>Internet provider</a:t>
            </a:r>
          </a:p>
        </p:txBody>
      </p:sp>
      <p:sp>
        <p:nvSpPr>
          <p:cNvPr id="331" name="Arrow 331"/>
          <p:cNvSpPr/>
          <p:nvPr/>
        </p:nvSpPr>
        <p:spPr>
          <a:xfrm>
            <a:off x="7000201" y="1550000"/>
            <a:ext cx="406000" cy="300000"/>
          </a:xfrm>
          <a:prstGeom prst="rightArrow">
            <a:avLst/>
          </a:prstGeom>
          <a:solidFill>
            <a:srgbClr val="156082"/>
          </a:solidFill>
          <a:ln>
            <a:noFill/>
          </a:ln>
        </p:spPr>
        <p:txBody>
          <a:bodyPr/>
          <a:lstStyle/>
          <a:p>
            <a:endParaRPr lang="en-IN"/>
          </a:p>
        </p:txBody>
      </p:sp>
      <p:sp>
        <p:nvSpPr>
          <p:cNvPr id="332" name="Hop 332"/>
          <p:cNvSpPr/>
          <p:nvPr/>
        </p:nvSpPr>
        <p:spPr>
          <a:xfrm>
            <a:off x="7486201" y="1300000"/>
            <a:ext cx="1650000" cy="800000"/>
          </a:xfrm>
          <a:prstGeom prst="roundRect">
            <a:avLst>
              <a:gd name="adj" fmla="val 8000"/>
            </a:avLst>
          </a:prstGeom>
          <a:solidFill>
            <a:srgbClr val="E8F1F5"/>
          </a:solidFill>
          <a:ln w="12700">
            <a:solidFill>
              <a:srgbClr val="156082"/>
            </a:solidFill>
          </a:ln>
        </p:spPr>
        <p:txBody>
          <a:bodyPr wrap="square" lIns="91440" tIns="45720" rIns="91440" bIns="45720" anchor="ctr">
            <a:noAutofit/>
          </a:bodyPr>
          <a:lstStyle/>
          <a:p>
            <a:pPr marL="0" indent="0" algn="ctr">
              <a:buNone/>
            </a:pPr>
            <a:r>
              <a:rPr lang="en-IN" sz="1900" b="1" dirty="0">
                <a:latin typeface="Calibri" panose="020F0502020204030204" pitchFamily="34" charset="0"/>
                <a:ea typeface="Calibri" panose="020F0502020204030204" pitchFamily="34" charset="0"/>
                <a:cs typeface="Calibri" panose="020F0502020204030204" pitchFamily="34" charset="0"/>
              </a:rPr>
              <a:t>Internet</a:t>
            </a:r>
          </a:p>
          <a:p>
            <a:pPr marL="0" indent="0" algn="ctr">
              <a:buNone/>
            </a:pPr>
            <a:r>
              <a:rPr lang="en-IN" sz="1400" dirty="0">
                <a:latin typeface="Calibri" panose="020F0502020204030204" pitchFamily="34" charset="0"/>
                <a:ea typeface="Calibri" panose="020F0502020204030204" pitchFamily="34" charset="0"/>
                <a:cs typeface="Calibri" panose="020F0502020204030204" pitchFamily="34" charset="0"/>
              </a:rPr>
              <a:t>Many routers</a:t>
            </a:r>
          </a:p>
        </p:txBody>
      </p:sp>
      <p:sp>
        <p:nvSpPr>
          <p:cNvPr id="333" name="Arrow 333"/>
          <p:cNvSpPr/>
          <p:nvPr/>
        </p:nvSpPr>
        <p:spPr>
          <a:xfrm>
            <a:off x="9216201" y="1550000"/>
            <a:ext cx="406000" cy="300000"/>
          </a:xfrm>
          <a:prstGeom prst="rightArrow">
            <a:avLst/>
          </a:prstGeom>
          <a:solidFill>
            <a:srgbClr val="156082"/>
          </a:solidFill>
          <a:ln>
            <a:noFill/>
          </a:ln>
        </p:spPr>
        <p:txBody>
          <a:bodyPr/>
          <a:lstStyle/>
          <a:p>
            <a:endParaRPr lang="en-IN"/>
          </a:p>
        </p:txBody>
      </p:sp>
      <p:sp>
        <p:nvSpPr>
          <p:cNvPr id="334" name="Hop 334"/>
          <p:cNvSpPr/>
          <p:nvPr/>
        </p:nvSpPr>
        <p:spPr>
          <a:xfrm>
            <a:off x="9702201" y="1300000"/>
            <a:ext cx="1650000" cy="800000"/>
          </a:xfrm>
          <a:prstGeom prst="roundRect">
            <a:avLst>
              <a:gd name="adj" fmla="val 8000"/>
            </a:avLst>
          </a:prstGeom>
          <a:solidFill>
            <a:srgbClr val="E8F1F5"/>
          </a:solidFill>
          <a:ln w="12700">
            <a:solidFill>
              <a:srgbClr val="156082"/>
            </a:solidFill>
          </a:ln>
        </p:spPr>
        <p:txBody>
          <a:bodyPr wrap="square" lIns="91440" tIns="45720" rIns="91440" bIns="45720" anchor="ctr">
            <a:noAutofit/>
          </a:bodyPr>
          <a:lstStyle/>
          <a:p>
            <a:pPr marL="0" indent="0" algn="ctr">
              <a:buNone/>
            </a:pPr>
            <a:r>
              <a:rPr lang="en-IN" sz="1900" b="1" dirty="0">
                <a:latin typeface="Calibri" panose="020F0502020204030204" pitchFamily="34" charset="0"/>
                <a:ea typeface="Calibri" panose="020F0502020204030204" pitchFamily="34" charset="0"/>
                <a:cs typeface="Calibri" panose="020F0502020204030204" pitchFamily="34" charset="0"/>
              </a:rPr>
              <a:t>Web Server</a:t>
            </a:r>
          </a:p>
          <a:p>
            <a:pPr marL="0" indent="0" algn="ctr">
              <a:buNone/>
            </a:pPr>
            <a:r>
              <a:rPr lang="en-IN" sz="1400" dirty="0">
                <a:latin typeface="Calibri" panose="020F0502020204030204" pitchFamily="34" charset="0"/>
                <a:ea typeface="Calibri" panose="020F0502020204030204" pitchFamily="34" charset="0"/>
                <a:cs typeface="Calibri" panose="020F0502020204030204" pitchFamily="34" charset="0"/>
              </a:rPr>
              <a:t>example.com</a:t>
            </a:r>
          </a:p>
        </p:txBody>
      </p:sp>
    </p:spTree>
    <p:extLst>
      <p:ext uri="{BB962C8B-B14F-4D97-AF65-F5344CB8AC3E}">
        <p14:creationId xmlns:p14="http://schemas.microsoft.com/office/powerpoint/2010/main" val="147020862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F0B0313-325B-6849-2C66-188D43FF3D77}"/>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C56C03B2-64FC-3FC0-A925-107AECCAA0AB}"/>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1 – Client Hello:</a:t>
            </a:r>
            <a:r>
              <a:rPr lang="en-IN" sz="1900" dirty="0">
                <a:latin typeface="Calibri" panose="020F0502020204030204" pitchFamily="34" charset="0"/>
                <a:ea typeface="Calibri" panose="020F0502020204030204" pitchFamily="34" charset="0"/>
                <a:cs typeface="Calibri" panose="020F0502020204030204" pitchFamily="34" charset="0"/>
              </a:rPr>
              <a:t> the browser sends its supported TLS versions, cipher suites and a random number.</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2 – Server Hello + Certificate:</a:t>
            </a:r>
            <a:r>
              <a:rPr lang="en-IN" sz="1900" dirty="0">
                <a:latin typeface="Calibri" panose="020F0502020204030204" pitchFamily="34" charset="0"/>
                <a:ea typeface="Calibri" panose="020F0502020204030204" pitchFamily="34" charset="0"/>
                <a:cs typeface="Calibri" panose="020F0502020204030204" pitchFamily="34" charset="0"/>
              </a:rPr>
              <a:t> the server selects the cipher suite and sends its digital certificate containing the public key.</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3 – Certificate verification:</a:t>
            </a:r>
            <a:r>
              <a:rPr lang="en-IN" sz="1900" dirty="0">
                <a:latin typeface="Calibri" panose="020F0502020204030204" pitchFamily="34" charset="0"/>
                <a:ea typeface="Calibri" panose="020F0502020204030204" pitchFamily="34" charset="0"/>
                <a:cs typeface="Calibri" panose="020F0502020204030204" pitchFamily="34" charset="0"/>
              </a:rPr>
              <a:t> the browser validates the CA signature chain, domain name, validity period and revocation status.</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4 – Key exchange:</a:t>
            </a:r>
            <a:r>
              <a:rPr lang="en-IN" sz="1900" dirty="0">
                <a:latin typeface="Calibri" panose="020F0502020204030204" pitchFamily="34" charset="0"/>
                <a:ea typeface="Calibri" panose="020F0502020204030204" pitchFamily="34" charset="0"/>
                <a:cs typeface="Calibri" panose="020F0502020204030204" pitchFamily="34" charset="0"/>
              </a:rPr>
              <a:t> both sides agree on a shared secret (ephemeral Diffie-Hellman in TLS 1.3) and derive session keys.</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Step 5 – Finished:</a:t>
            </a:r>
            <a:r>
              <a:rPr lang="en-IN" sz="1900" dirty="0">
                <a:latin typeface="Calibri" panose="020F0502020204030204" pitchFamily="34" charset="0"/>
                <a:ea typeface="Calibri" panose="020F0502020204030204" pitchFamily="34" charset="0"/>
                <a:cs typeface="Calibri" panose="020F0502020204030204" pitchFamily="34" charset="0"/>
              </a:rPr>
              <a:t> both confirm the handshake; from now on HTTP data is encrypted with fast symmetric keys (e.g., AES).</a:t>
            </a:r>
          </a:p>
          <a:p>
            <a:pPr algn="just" fontAlgn="base"/>
            <a:r>
              <a:rPr lang="en-IN" sz="1900" b="1" dirty="0">
                <a:latin typeface="Calibri" panose="020F0502020204030204" pitchFamily="34" charset="0"/>
                <a:ea typeface="Calibri" panose="020F0502020204030204" pitchFamily="34" charset="0"/>
                <a:cs typeface="Calibri" panose="020F0502020204030204" pitchFamily="34" charset="0"/>
              </a:rPr>
              <a:t>Remember:</a:t>
            </a:r>
            <a:r>
              <a:rPr lang="en-IN" sz="1900" dirty="0">
                <a:latin typeface="Calibri" panose="020F0502020204030204" pitchFamily="34" charset="0"/>
                <a:ea typeface="Calibri" panose="020F0502020204030204" pitchFamily="34" charset="0"/>
                <a:cs typeface="Calibri" panose="020F0502020204030204" pitchFamily="34" charset="0"/>
              </a:rPr>
              <a:t> asymmetric cryptography authenticates the server and exchanges keys; symmetric cryptography encrypts the bulk data. TLS 1.3 needs only one round trip; SSL and TLS 1.0/1.1 are deprecated and must be disabled.</a:t>
            </a:r>
          </a:p>
        </p:txBody>
      </p:sp>
      <p:sp>
        <p:nvSpPr>
          <p:cNvPr id="120" name="Google Shape;120;p3">
            <a:extLst>
              <a:ext uri="{FF2B5EF4-FFF2-40B4-BE49-F238E27FC236}">
                <a16:creationId xmlns:a16="http://schemas.microsoft.com/office/drawing/2014/main" id="{CA8EC04D-0D05-3955-7E12-A200AAE9DCC0}"/>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HTTPS – TLS HANDSHAKE (SIMPLIFIED)</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817575E9-35A5-1A8E-64F9-B80BC9E54AE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spTree>
    <p:extLst>
      <p:ext uri="{BB962C8B-B14F-4D97-AF65-F5344CB8AC3E}">
        <p14:creationId xmlns:p14="http://schemas.microsoft.com/office/powerpoint/2010/main" val="147020862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2512</TotalTime>
  <Words>7923</Words>
  <Application>Microsoft Office PowerPoint</Application>
  <PresentationFormat>Widescreen</PresentationFormat>
  <Paragraphs>660</Paragraphs>
  <Slides>106</Slides>
  <Notes>39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106</vt:i4>
      </vt:variant>
    </vt:vector>
  </HeadingPairs>
  <TitlesOfParts>
    <vt:vector size="115" baseType="lpstr">
      <vt:lpstr>Nunito</vt:lpstr>
      <vt:lpstr>Raavi</vt:lpstr>
      <vt:lpstr>Cambria Math</vt:lpstr>
      <vt:lpstr>Arial</vt:lpstr>
      <vt:lpstr>Wingdings</vt:lpstr>
      <vt:lpstr>Calibri</vt:lpstr>
      <vt:lpstr>Play</vt:lpstr>
      <vt:lpstr>Noto Sans Symbols</vt:lpstr>
      <vt:lpstr>Office Theme</vt:lpstr>
      <vt:lpstr>PowerPoint Presentation</vt:lpstr>
      <vt:lpstr>CONTENT</vt:lpstr>
      <vt:lpstr>CONTENT</vt:lpstr>
      <vt:lpstr>OSI MODEL</vt:lpstr>
      <vt:lpstr>OSI MODEL</vt:lpstr>
      <vt:lpstr>OSI MODEL</vt:lpstr>
      <vt:lpstr>OSI MODEL</vt:lpstr>
      <vt:lpstr>PHYSICAL LAYER</vt:lpstr>
      <vt:lpstr>PHYSICAL LAYER</vt:lpstr>
      <vt:lpstr>PHYSICAL LAYER</vt:lpstr>
      <vt:lpstr>DATA LINK LAYER</vt:lpstr>
      <vt:lpstr>DATA LINK LAYER</vt:lpstr>
      <vt:lpstr>DATA LINK LAYER</vt:lpstr>
      <vt:lpstr>NETWORK LAYER</vt:lpstr>
      <vt:lpstr>NETWORK LAYER</vt:lpstr>
      <vt:lpstr>NETWORK LAYER</vt:lpstr>
      <vt:lpstr>TRANSPORT LAYER</vt:lpstr>
      <vt:lpstr>TRANSPORT LAYER</vt:lpstr>
      <vt:lpstr>TRANSPORT LAYER</vt:lpstr>
      <vt:lpstr>SESSION LAYER</vt:lpstr>
      <vt:lpstr>SESSION LAYER</vt:lpstr>
      <vt:lpstr>SESSION LAYER</vt:lpstr>
      <vt:lpstr>PRESENTATION LAYER</vt:lpstr>
      <vt:lpstr>PRESENTATION LAYER</vt:lpstr>
      <vt:lpstr>PRESENTATION LAYER</vt:lpstr>
      <vt:lpstr>APPLICATION LAYER</vt:lpstr>
      <vt:lpstr>APPLICATION LAYER</vt:lpstr>
      <vt:lpstr>APPLICATION LAYER</vt:lpstr>
      <vt:lpstr>SECURITY ATTACK LAYER-2 (ARP POISONING)</vt:lpstr>
      <vt:lpstr>SECURITY ATTACK LAYER-2 (ARP POISONING)</vt:lpstr>
      <vt:lpstr>SECURITY ATTACK LAYER-2 (ARP POISONING)</vt:lpstr>
      <vt:lpstr>SECURITY ATTACK LAYER-2 (ARP POISONING)</vt:lpstr>
      <vt:lpstr>SECURITY ATTACK LAYER-2 (ARP POISONING)</vt:lpstr>
      <vt:lpstr>SECURITY ATTACK LAYER-3 (IP POISONING)</vt:lpstr>
      <vt:lpstr>SECURITY ATTACK LAYER-3 (IP POISONING)</vt:lpstr>
      <vt:lpstr>SECURITY ATTACK LAYER-3 (IP POISONING)</vt:lpstr>
      <vt:lpstr>SECURITY ATTACK LAYER-4 (TCP SYN FLOOD)</vt:lpstr>
      <vt:lpstr>SECURITY ATTACK LAYER-4 (TCP SYN FLOOD)</vt:lpstr>
      <vt:lpstr>SECURITY ATTACK LAYER-4 (TCP SYN FLOOD)</vt:lpstr>
      <vt:lpstr>SECURITY ATTACK LAYER-4 (TCP SYN FLOOD)</vt:lpstr>
      <vt:lpstr>SECURITY ATTACK LAYER-5 (HTTP INJECTION)</vt:lpstr>
      <vt:lpstr>SECURITY ATTACK LAYER-5 (HTTP INJECTION)</vt:lpstr>
      <vt:lpstr>TCP/IP PROTOCOL</vt:lpstr>
      <vt:lpstr>TCP/IP PROTOCOL</vt:lpstr>
      <vt:lpstr>TCP/IP PROTOCOL</vt:lpstr>
      <vt:lpstr>TCP/IP PROTOCOL</vt:lpstr>
      <vt:lpstr>TCP/IP PROTOCOL</vt:lpstr>
      <vt:lpstr>NETWORK ACCESS LAYER</vt:lpstr>
      <vt:lpstr>NETWORK ACCESS LAYER</vt:lpstr>
      <vt:lpstr>NETWORK ACCESS LAYER</vt:lpstr>
      <vt:lpstr>INTERNET LAYER</vt:lpstr>
      <vt:lpstr>INTERNET LAYER</vt:lpstr>
      <vt:lpstr>INTERNET LAYER</vt:lpstr>
      <vt:lpstr>TRANSPORT LAYER</vt:lpstr>
      <vt:lpstr>TRANSPORT LAYER</vt:lpstr>
      <vt:lpstr>TRANSPORT LAYER</vt:lpstr>
      <vt:lpstr>APPLICATION LAYER</vt:lpstr>
      <vt:lpstr>APPLICATION LAYER</vt:lpstr>
      <vt:lpstr>APPLICATION LAYER</vt:lpstr>
      <vt:lpstr>HOW DO THESE LAYERS WORK TOGETHER?</vt:lpstr>
      <vt:lpstr>COMPARISION OF OSI AND TCP/IP MODELS</vt:lpstr>
      <vt:lpstr>COMPARISION OF OSI AND TCP/IP MODELS</vt:lpstr>
      <vt:lpstr>COMPARISION OF OSI AND TCP/IP MODELS</vt:lpstr>
      <vt:lpstr>COMPARISION OF OSI AND TCP/IP MODELS</vt:lpstr>
      <vt:lpstr>COMPARISION OF OSI AND TCP/IP MODELS</vt:lpstr>
      <vt:lpstr>COMPARISION OF OSI AND TCP/IP MODELS</vt:lpstr>
      <vt:lpstr>TCP 3-WAY HANDSHAKE</vt:lpstr>
      <vt:lpstr>TCP FLAGS USED IN HANDSHAKE</vt:lpstr>
      <vt:lpstr>TCP 3-WAY HANDSHAKE PROCESS</vt:lpstr>
      <vt:lpstr>TRANSMISSION CONTROL PROTOCOL</vt:lpstr>
      <vt:lpstr>USER DATAGRAM PROTOCOL</vt:lpstr>
      <vt:lpstr>TCP V/S UDP</vt:lpstr>
      <vt:lpstr>TCP V/S UDP</vt:lpstr>
      <vt:lpstr>IP ADDRESSING</vt:lpstr>
      <vt:lpstr>IP ADDRESSING</vt:lpstr>
      <vt:lpstr>PUBLIC IP ADDRESS</vt:lpstr>
      <vt:lpstr>PRIVATE IP ADDRESS</vt:lpstr>
      <vt:lpstr>PUBLIC V/S PRIVATE IP ADDRESS</vt:lpstr>
      <vt:lpstr>IPV4</vt:lpstr>
      <vt:lpstr>IPV6</vt:lpstr>
      <vt:lpstr>IPV4 V/S IPV6</vt:lpstr>
      <vt:lpstr>IPV4 V/S IPV6</vt:lpstr>
      <vt:lpstr>STATIC V/S DYNAMIC IP ADDRESS</vt:lpstr>
      <vt:lpstr>SUBNETTING</vt:lpstr>
      <vt:lpstr>SUBNETTING</vt:lpstr>
      <vt:lpstr>SUBNETTING</vt:lpstr>
      <vt:lpstr>SUBNETTING</vt:lpstr>
      <vt:lpstr>SUBNETTING</vt:lpstr>
      <vt:lpstr>SUBNETTING</vt:lpstr>
      <vt:lpstr>WELL KNOWN PORTS</vt:lpstr>
      <vt:lpstr>FUNCTIONS OF PORTS</vt:lpstr>
      <vt:lpstr>SIGNIFICANT PORT NUMBERS</vt:lpstr>
      <vt:lpstr>SIGNIFICANT PORT NUMBERS</vt:lpstr>
      <vt:lpstr>OPEN PORTS AS ATTACK SURFACE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ANY QUERIES??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SOC ERT</dc:creator>
  <cp:lastModifiedBy>Training Common</cp:lastModifiedBy>
  <cp:revision>23</cp:revision>
  <dcterms:created xsi:type="dcterms:W3CDTF">2024-01-13T08:18:00Z</dcterms:created>
  <dcterms:modified xsi:type="dcterms:W3CDTF">2026-10-23T18:43:01Z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7F129FF21C714B5C89A36A5E0B85CD42_12</vt:lpwstr>
  </property>
  <property fmtid="{D5CDD505-2E9C-101B-9397-08002B2CF9AE}" pid="3" name="KSOProductBuildVer">
    <vt:lpwstr>1033-12.2.0.23196</vt:lpwstr>
  </property>
</Properties>
</file>