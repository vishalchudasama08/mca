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3"/>
  </p:notesMasterIdLst>
  <p:sldIdLst>
    <p:sldId id="256" r:id="rId2"/>
    <p:sldId id="257" r:id="rId3"/>
    <p:sldId id="258" r:id="rId4"/>
    <p:sldId id="362" r:id="rId5"/>
    <p:sldId id="259" r:id="rId6"/>
    <p:sldId id="359" r:id="rId7"/>
    <p:sldId id="263" r:id="rId8"/>
    <p:sldId id="308" r:id="rId9"/>
    <p:sldId id="305" r:id="rId10"/>
    <p:sldId id="306" r:id="rId11"/>
    <p:sldId id="307" r:id="rId12"/>
    <p:sldId id="311" r:id="rId13"/>
    <p:sldId id="360" r:id="rId14"/>
    <p:sldId id="309" r:id="rId15"/>
    <p:sldId id="312" r:id="rId16"/>
    <p:sldId id="361"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 id="379" r:id="rId34"/>
    <p:sldId id="380" r:id="rId35"/>
    <p:sldId id="381" r:id="rId36"/>
    <p:sldId id="382" r:id="rId37"/>
    <p:sldId id="383" r:id="rId38"/>
    <p:sldId id="384" r:id="rId39"/>
    <p:sldId id="385" r:id="rId40"/>
    <p:sldId id="283" r:id="rId41"/>
    <p:sldId id="284" r:id="rId42"/>
    <p:sldId id="280" r:id="rId43"/>
    <p:sldId id="281" r:id="rId44"/>
    <p:sldId id="282" r:id="rId45"/>
    <p:sldId id="386" r:id="rId46"/>
    <p:sldId id="387" r:id="rId47"/>
    <p:sldId id="388" r:id="rId48"/>
    <p:sldId id="389" r:id="rId49"/>
    <p:sldId id="390" r:id="rId50"/>
    <p:sldId id="391" r:id="rId51"/>
    <p:sldId id="392" r:id="rId52"/>
    <p:sldId id="393" r:id="rId53"/>
    <p:sldId id="394" r:id="rId54"/>
    <p:sldId id="395" r:id="rId55"/>
    <p:sldId id="396" r:id="rId56"/>
    <p:sldId id="397" r:id="rId57"/>
    <p:sldId id="399" r:id="rId58"/>
    <p:sldId id="400" r:id="rId59"/>
    <p:sldId id="401" r:id="rId60"/>
    <p:sldId id="398" r:id="rId61"/>
    <p:sldId id="402" r:id="rId62"/>
    <p:sldId id="403" r:id="rId63"/>
    <p:sldId id="404" r:id="rId64"/>
    <p:sldId id="405" r:id="rId65"/>
    <p:sldId id="406" r:id="rId66"/>
    <p:sldId id="407" r:id="rId67"/>
    <p:sldId id="408" r:id="rId68"/>
    <p:sldId id="409" r:id="rId69"/>
    <p:sldId id="410" r:id="rId70"/>
    <p:sldId id="303" r:id="rId71"/>
    <p:sldId id="304" r:id="rId72"/>
  </p:sldIdLst>
  <p:sldSz cx="12192000" cy="6858000"/>
  <p:notesSz cx="6858000" cy="9144000"/>
  <p:embeddedFontLst>
    <p:embeddedFont>
      <p:font typeface="Play" panose="020B0604020202020204" charset="0"/>
      <p:regular r:id="rId74"/>
      <p:bold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6" roundtripDataSignature="AMtx7mjFcU3CRqsck02bazUXjZ4hne8G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836" y="5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1.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pic>
        <p:nvPicPr>
          <p:cNvPr id="19" name="Google Shape;19;p51"/>
          <p:cNvPicPr preferRelativeResize="0"/>
          <p:nvPr/>
        </p:nvPicPr>
        <p:blipFill rotWithShape="1">
          <a:blip r:embed="rId2">
            <a:alphaModFix/>
          </a:blip>
          <a:srcRect l="35222" t="35220"/>
          <a:stretch/>
        </p:blipFill>
        <p:spPr>
          <a:xfrm>
            <a:off x="0" y="19018"/>
            <a:ext cx="12192000" cy="6857465"/>
          </a:xfrm>
          <a:prstGeom prst="rect">
            <a:avLst/>
          </a:prstGeom>
          <a:noFill/>
          <a:ln>
            <a:noFill/>
          </a:ln>
        </p:spPr>
      </p:pic>
      <p:sp>
        <p:nvSpPr>
          <p:cNvPr id="20" name="Google Shape;20;p51"/>
          <p:cNvSpPr/>
          <p:nvPr/>
        </p:nvSpPr>
        <p:spPr>
          <a:xfrm>
            <a:off x="449690" y="995329"/>
            <a:ext cx="11292619" cy="5474818"/>
          </a:xfrm>
          <a:prstGeom prst="roundRect">
            <a:avLst>
              <a:gd name="adj" fmla="val 9331"/>
            </a:avLst>
          </a:prstGeom>
          <a:solidFill>
            <a:schemeClr val="lt1"/>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   </a:t>
            </a:r>
            <a:endParaRPr sz="1800" b="0" i="0" u="none" strike="noStrike" cap="none">
              <a:solidFill>
                <a:schemeClr val="lt1"/>
              </a:solidFill>
              <a:latin typeface="Arial"/>
              <a:ea typeface="Arial"/>
              <a:cs typeface="Arial"/>
              <a:sym typeface="Arial"/>
            </a:endParaRPr>
          </a:p>
        </p:txBody>
      </p:sp>
      <p:pic>
        <p:nvPicPr>
          <p:cNvPr id="21" name="Google Shape;21;p51"/>
          <p:cNvPicPr preferRelativeResize="0"/>
          <p:nvPr/>
        </p:nvPicPr>
        <p:blipFill rotWithShape="1">
          <a:blip r:embed="rId3">
            <a:alphaModFix/>
          </a:blip>
          <a:srcRect r="77077"/>
          <a:stretch/>
        </p:blipFill>
        <p:spPr>
          <a:xfrm>
            <a:off x="11248169" y="19018"/>
            <a:ext cx="673100" cy="919228"/>
          </a:xfrm>
          <a:prstGeom prst="rect">
            <a:avLst/>
          </a:prstGeom>
          <a:noFill/>
          <a:ln>
            <a:noFill/>
          </a:ln>
        </p:spPr>
      </p:pic>
      <p:sp>
        <p:nvSpPr>
          <p:cNvPr id="22" name="Google Shape;22;p5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51"/>
          <p:cNvSpPr txBox="1">
            <a:spLocks noGrp="1"/>
          </p:cNvSpPr>
          <p:nvPr>
            <p:ph type="dt" idx="10"/>
          </p:nvPr>
        </p:nvSpPr>
        <p:spPr>
          <a:xfrm>
            <a:off x="838201" y="6470147"/>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1"/>
          <p:cNvSpPr txBox="1">
            <a:spLocks noGrp="1"/>
          </p:cNvSpPr>
          <p:nvPr>
            <p:ph type="ftr" idx="11"/>
          </p:nvPr>
        </p:nvSpPr>
        <p:spPr>
          <a:xfrm>
            <a:off x="4038598" y="6470147"/>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1"/>
          <p:cNvSpPr txBox="1">
            <a:spLocks noGrp="1"/>
          </p:cNvSpPr>
          <p:nvPr>
            <p:ph type="sldNum" idx="12"/>
          </p:nvPr>
        </p:nvSpPr>
        <p:spPr>
          <a:xfrm>
            <a:off x="8610602" y="6470147"/>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52"/>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2"/>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2"/>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2"/>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2"/>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
        <p:cNvGrpSpPr/>
        <p:nvPr/>
      </p:nvGrpSpPr>
      <p:grpSpPr>
        <a:xfrm>
          <a:off x="0" y="0"/>
          <a:ext cx="0" cy="0"/>
          <a:chOff x="0" y="0"/>
          <a:chExt cx="0" cy="0"/>
        </a:xfrm>
      </p:grpSpPr>
      <p:sp>
        <p:nvSpPr>
          <p:cNvPr id="34" name="Google Shape;34;p53"/>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3"/>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3"/>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54"/>
          <p:cNvSpPr txBox="1">
            <a:spLocks noGrp="1"/>
          </p:cNvSpPr>
          <p:nvPr>
            <p:ph type="title"/>
          </p:nvPr>
        </p:nvSpPr>
        <p:spPr>
          <a:xfrm>
            <a:off x="831850" y="1233488"/>
            <a:ext cx="10515601" cy="19764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4"/>
          <p:cNvSpPr txBox="1">
            <a:spLocks noGrp="1"/>
          </p:cNvSpPr>
          <p:nvPr>
            <p:ph type="body" idx="1"/>
          </p:nvPr>
        </p:nvSpPr>
        <p:spPr>
          <a:xfrm>
            <a:off x="831850" y="3295650"/>
            <a:ext cx="10515601" cy="279400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0" name="Google Shape;40;p54"/>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4"/>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4"/>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55"/>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5"/>
          <p:cNvSpPr txBox="1">
            <a:spLocks noGrp="1"/>
          </p:cNvSpPr>
          <p:nvPr>
            <p:ph type="body" idx="1"/>
          </p:nvPr>
        </p:nvSpPr>
        <p:spPr>
          <a:xfrm>
            <a:off x="838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5"/>
          <p:cNvSpPr txBox="1">
            <a:spLocks noGrp="1"/>
          </p:cNvSpPr>
          <p:nvPr>
            <p:ph type="body" idx="2"/>
          </p:nvPr>
        </p:nvSpPr>
        <p:spPr>
          <a:xfrm>
            <a:off x="6172202"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55"/>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5"/>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5"/>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56"/>
          <p:cNvSpPr txBox="1">
            <a:spLocks noGrp="1"/>
          </p:cNvSpPr>
          <p:nvPr>
            <p:ph type="title"/>
          </p:nvPr>
        </p:nvSpPr>
        <p:spPr>
          <a:xfrm>
            <a:off x="839787" y="171451"/>
            <a:ext cx="10515601" cy="7381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6"/>
          <p:cNvSpPr txBox="1">
            <a:spLocks noGrp="1"/>
          </p:cNvSpPr>
          <p:nvPr>
            <p:ph type="body" idx="1"/>
          </p:nvPr>
        </p:nvSpPr>
        <p:spPr>
          <a:xfrm>
            <a:off x="839790" y="1190622"/>
            <a:ext cx="51577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56"/>
          <p:cNvSpPr txBox="1">
            <a:spLocks noGrp="1"/>
          </p:cNvSpPr>
          <p:nvPr>
            <p:ph type="body" idx="2"/>
          </p:nvPr>
        </p:nvSpPr>
        <p:spPr>
          <a:xfrm>
            <a:off x="839790" y="2014533"/>
            <a:ext cx="5157788" cy="39909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6"/>
          <p:cNvSpPr txBox="1">
            <a:spLocks noGrp="1"/>
          </p:cNvSpPr>
          <p:nvPr>
            <p:ph type="body" idx="3"/>
          </p:nvPr>
        </p:nvSpPr>
        <p:spPr>
          <a:xfrm>
            <a:off x="6172201" y="1190622"/>
            <a:ext cx="51831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56"/>
          <p:cNvSpPr txBox="1">
            <a:spLocks noGrp="1"/>
          </p:cNvSpPr>
          <p:nvPr>
            <p:ph type="body" idx="4"/>
          </p:nvPr>
        </p:nvSpPr>
        <p:spPr>
          <a:xfrm>
            <a:off x="6172201" y="2014533"/>
            <a:ext cx="5183187" cy="39909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56"/>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6"/>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6"/>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57"/>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57"/>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7"/>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7"/>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58"/>
          <p:cNvSpPr txBox="1">
            <a:spLocks noGrp="1"/>
          </p:cNvSpPr>
          <p:nvPr>
            <p:ph type="title"/>
          </p:nvPr>
        </p:nvSpPr>
        <p:spPr>
          <a:xfrm>
            <a:off x="839788" y="0"/>
            <a:ext cx="10380661" cy="8715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8"/>
          <p:cNvSpPr txBox="1">
            <a:spLocks noGrp="1"/>
          </p:cNvSpPr>
          <p:nvPr>
            <p:ph type="body" idx="1"/>
          </p:nvPr>
        </p:nvSpPr>
        <p:spPr>
          <a:xfrm>
            <a:off x="5183187" y="1309688"/>
            <a:ext cx="6172201" cy="4551363"/>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58"/>
          <p:cNvSpPr txBox="1">
            <a:spLocks noGrp="1"/>
          </p:cNvSpPr>
          <p:nvPr>
            <p:ph type="body" idx="2"/>
          </p:nvPr>
        </p:nvSpPr>
        <p:spPr>
          <a:xfrm>
            <a:off x="839789" y="1317625"/>
            <a:ext cx="3932236" cy="45513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58"/>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8"/>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8"/>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59"/>
          <p:cNvSpPr txBox="1">
            <a:spLocks noGrp="1"/>
          </p:cNvSpPr>
          <p:nvPr>
            <p:ph type="title"/>
          </p:nvPr>
        </p:nvSpPr>
        <p:spPr>
          <a:xfrm>
            <a:off x="839788" y="285750"/>
            <a:ext cx="10399711" cy="6143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59"/>
          <p:cNvSpPr>
            <a:spLocks noGrp="1"/>
          </p:cNvSpPr>
          <p:nvPr>
            <p:ph type="pic" idx="2"/>
          </p:nvPr>
        </p:nvSpPr>
        <p:spPr>
          <a:xfrm>
            <a:off x="5183187" y="1149351"/>
            <a:ext cx="6172201" cy="4711700"/>
          </a:xfrm>
          <a:prstGeom prst="rect">
            <a:avLst/>
          </a:prstGeom>
          <a:noFill/>
          <a:ln>
            <a:noFill/>
          </a:ln>
        </p:spPr>
      </p:sp>
      <p:sp>
        <p:nvSpPr>
          <p:cNvPr id="74" name="Google Shape;74;p59"/>
          <p:cNvSpPr txBox="1">
            <a:spLocks noGrp="1"/>
          </p:cNvSpPr>
          <p:nvPr>
            <p:ph type="body" idx="1"/>
          </p:nvPr>
        </p:nvSpPr>
        <p:spPr>
          <a:xfrm>
            <a:off x="839789" y="1157288"/>
            <a:ext cx="3932236" cy="471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59"/>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9"/>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9"/>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60"/>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0"/>
          <p:cNvSpPr txBox="1">
            <a:spLocks noGrp="1"/>
          </p:cNvSpPr>
          <p:nvPr>
            <p:ph type="body" idx="1"/>
          </p:nvPr>
        </p:nvSpPr>
        <p:spPr>
          <a:xfrm rot="5400000">
            <a:off x="3629025" y="-1547812"/>
            <a:ext cx="4933950" cy="105156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0"/>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0"/>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0"/>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61"/>
          <p:cNvSpPr txBox="1">
            <a:spLocks noGrp="1"/>
          </p:cNvSpPr>
          <p:nvPr>
            <p:ph type="title"/>
          </p:nvPr>
        </p:nvSpPr>
        <p:spPr>
          <a:xfrm rot="5400000">
            <a:off x="7133434" y="1956594"/>
            <a:ext cx="5811838" cy="262889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1"/>
          <p:cNvSpPr txBox="1">
            <a:spLocks noGrp="1"/>
          </p:cNvSpPr>
          <p:nvPr>
            <p:ph type="body" idx="1"/>
          </p:nvPr>
        </p:nvSpPr>
        <p:spPr>
          <a:xfrm rot="5400000">
            <a:off x="1799432" y="-596106"/>
            <a:ext cx="5811838" cy="77343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61"/>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61"/>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1"/>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pic>
        <p:nvPicPr>
          <p:cNvPr id="10" name="Google Shape;10;p50"/>
          <p:cNvPicPr preferRelativeResize="0"/>
          <p:nvPr/>
        </p:nvPicPr>
        <p:blipFill rotWithShape="1">
          <a:blip r:embed="rId13">
            <a:alphaModFix/>
          </a:blip>
          <a:srcRect l="35222" t="35220"/>
          <a:stretch/>
        </p:blipFill>
        <p:spPr>
          <a:xfrm>
            <a:off x="0" y="19018"/>
            <a:ext cx="12192000" cy="6857465"/>
          </a:xfrm>
          <a:prstGeom prst="rect">
            <a:avLst/>
          </a:prstGeom>
          <a:noFill/>
          <a:ln>
            <a:noFill/>
          </a:ln>
        </p:spPr>
      </p:pic>
      <p:pic>
        <p:nvPicPr>
          <p:cNvPr id="11" name="Google Shape;11;p50"/>
          <p:cNvPicPr preferRelativeResize="0"/>
          <p:nvPr/>
        </p:nvPicPr>
        <p:blipFill rotWithShape="1">
          <a:blip r:embed="rId14">
            <a:alphaModFix/>
          </a:blip>
          <a:srcRect r="77077"/>
          <a:stretch/>
        </p:blipFill>
        <p:spPr>
          <a:xfrm>
            <a:off x="11248169" y="19018"/>
            <a:ext cx="673100" cy="919228"/>
          </a:xfrm>
          <a:prstGeom prst="rect">
            <a:avLst/>
          </a:prstGeom>
          <a:noFill/>
          <a:ln>
            <a:noFill/>
          </a:ln>
        </p:spPr>
      </p:pic>
      <p:sp>
        <p:nvSpPr>
          <p:cNvPr id="12" name="Google Shape;12;p50"/>
          <p:cNvSpPr/>
          <p:nvPr/>
        </p:nvSpPr>
        <p:spPr>
          <a:xfrm>
            <a:off x="449690" y="957263"/>
            <a:ext cx="11292619" cy="5474818"/>
          </a:xfrm>
          <a:prstGeom prst="roundRect">
            <a:avLst>
              <a:gd name="adj" fmla="val 9331"/>
            </a:avLst>
          </a:prstGeom>
          <a:solidFill>
            <a:schemeClr val="lt1"/>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   </a:t>
            </a:r>
            <a:endParaRPr sz="1800" b="0" i="0" u="none" strike="noStrike" cap="none">
              <a:solidFill>
                <a:schemeClr val="lt1"/>
              </a:solidFill>
              <a:latin typeface="Arial"/>
              <a:ea typeface="Arial"/>
              <a:cs typeface="Arial"/>
              <a:sym typeface="Arial"/>
            </a:endParaRPr>
          </a:p>
        </p:txBody>
      </p:sp>
      <p:sp>
        <p:nvSpPr>
          <p:cNvPr id="13" name="Google Shape;13;p50"/>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Play"/>
              <a:buNone/>
              <a:defRPr sz="36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50"/>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 name="Google Shape;15;p50"/>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 name="Google Shape;16;p50"/>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7" name="Google Shape;17;p50"/>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grpSp>
        <p:nvGrpSpPr>
          <p:cNvPr id="95" name="Google Shape;95;p1"/>
          <p:cNvGrpSpPr/>
          <p:nvPr/>
        </p:nvGrpSpPr>
        <p:grpSpPr>
          <a:xfrm>
            <a:off x="-57778" y="0"/>
            <a:ext cx="12307556" cy="6925679"/>
            <a:chOff x="-115556" y="-1"/>
            <a:chExt cx="12307556" cy="6925679"/>
          </a:xfrm>
        </p:grpSpPr>
        <p:pic>
          <p:nvPicPr>
            <p:cNvPr id="96" name="Google Shape;96;p1" descr="C:\Users\vasim\Desktop\ppt\SV PPT.png"/>
            <p:cNvPicPr preferRelativeResize="0"/>
            <p:nvPr/>
          </p:nvPicPr>
          <p:blipFill rotWithShape="1">
            <a:blip r:embed="rId3">
              <a:alphaModFix/>
            </a:blip>
            <a:srcRect l="47855" t="40791" r="41050" b="31445"/>
            <a:stretch/>
          </p:blipFill>
          <p:spPr>
            <a:xfrm>
              <a:off x="7026729" y="-1"/>
              <a:ext cx="5165271" cy="6925677"/>
            </a:xfrm>
            <a:prstGeom prst="rect">
              <a:avLst/>
            </a:prstGeom>
            <a:noFill/>
            <a:ln>
              <a:noFill/>
            </a:ln>
          </p:spPr>
        </p:pic>
        <p:grpSp>
          <p:nvGrpSpPr>
            <p:cNvPr id="97" name="Google Shape;97;p1"/>
            <p:cNvGrpSpPr/>
            <p:nvPr/>
          </p:nvGrpSpPr>
          <p:grpSpPr>
            <a:xfrm>
              <a:off x="-115556" y="0"/>
              <a:ext cx="7256444" cy="6925678"/>
              <a:chOff x="-21189" y="13252"/>
              <a:chExt cx="7187198" cy="6859588"/>
            </a:xfrm>
          </p:grpSpPr>
          <p:pic>
            <p:nvPicPr>
              <p:cNvPr id="98" name="Google Shape;98;p1" descr="C:\Users\vasim\Desktop\ppt\SV PPT.png"/>
              <p:cNvPicPr preferRelativeResize="0"/>
              <p:nvPr/>
            </p:nvPicPr>
            <p:blipFill rotWithShape="1">
              <a:blip r:embed="rId3">
                <a:alphaModFix/>
              </a:blip>
              <a:srcRect r="41050"/>
              <a:stretch/>
            </p:blipFill>
            <p:spPr>
              <a:xfrm>
                <a:off x="-21189" y="13252"/>
                <a:ext cx="7187198" cy="6859588"/>
              </a:xfrm>
              <a:prstGeom prst="rect">
                <a:avLst/>
              </a:prstGeom>
              <a:noFill/>
              <a:ln>
                <a:noFill/>
              </a:ln>
            </p:spPr>
          </p:pic>
          <p:pic>
            <p:nvPicPr>
              <p:cNvPr id="99" name="Google Shape;99;p1" descr="C:\Users\vasim\Desktop\ppt\SV PPT.png"/>
              <p:cNvPicPr preferRelativeResize="0"/>
              <p:nvPr/>
            </p:nvPicPr>
            <p:blipFill rotWithShape="1">
              <a:blip r:embed="rId3">
                <a:alphaModFix/>
              </a:blip>
              <a:srcRect l="48539" t="33621" r="41050" b="61032"/>
              <a:stretch/>
            </p:blipFill>
            <p:spPr>
              <a:xfrm>
                <a:off x="5896708" y="2582425"/>
                <a:ext cx="1269301" cy="366765"/>
              </a:xfrm>
              <a:prstGeom prst="rect">
                <a:avLst/>
              </a:prstGeom>
              <a:noFill/>
              <a:ln>
                <a:noFill/>
              </a:ln>
            </p:spPr>
          </p:pic>
        </p:grpSp>
      </p:grpSp>
      <p:sp>
        <p:nvSpPr>
          <p:cNvPr id="100" name="Google Shape;100;p1"/>
          <p:cNvSpPr/>
          <p:nvPr/>
        </p:nvSpPr>
        <p:spPr>
          <a:xfrm>
            <a:off x="6215605" y="433070"/>
            <a:ext cx="5963060" cy="15367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1"/>
              </a:buClr>
              <a:buSzPts val="3600"/>
              <a:buFont typeface="Arial"/>
              <a:buNone/>
            </a:pPr>
            <a:r>
              <a:rPr lang="en-US" sz="3600" b="1" i="0" u="none" strike="noStrike" cap="none" dirty="0">
                <a:solidFill>
                  <a:schemeClr val="dk1"/>
                </a:solidFill>
                <a:latin typeface="Arial"/>
                <a:ea typeface="Arial"/>
                <a:cs typeface="Arial"/>
                <a:sym typeface="Arial"/>
              </a:rPr>
              <a:t>CYBERSECURITY FUNDAMENTALS AND NETWORK SECURITY</a:t>
            </a:r>
            <a:endParaRPr sz="3600" b="1" i="0" u="none" strike="noStrike" cap="none" dirty="0">
              <a:solidFill>
                <a:schemeClr val="dk1"/>
              </a:solidFill>
              <a:latin typeface="Arial"/>
              <a:ea typeface="Arial"/>
              <a:cs typeface="Arial"/>
              <a:sym typeface="Arial"/>
            </a:endParaRPr>
          </a:p>
        </p:txBody>
      </p:sp>
      <p:pic>
        <p:nvPicPr>
          <p:cNvPr id="101" name="Google Shape;101;p1"/>
          <p:cNvPicPr preferRelativeResize="0"/>
          <p:nvPr/>
        </p:nvPicPr>
        <p:blipFill rotWithShape="1">
          <a:blip r:embed="rId4">
            <a:alphaModFix/>
          </a:blip>
          <a:srcRect/>
          <a:stretch/>
        </p:blipFill>
        <p:spPr>
          <a:xfrm>
            <a:off x="8838561" y="5424480"/>
            <a:ext cx="3037753" cy="950948"/>
          </a:xfrm>
          <a:prstGeom prst="rect">
            <a:avLst/>
          </a:prstGeom>
          <a:noFill/>
          <a:ln>
            <a:noFill/>
          </a:ln>
        </p:spPr>
      </p:pic>
      <p:pic>
        <p:nvPicPr>
          <p:cNvPr id="102" name="Google Shape;102;p1" descr="ljku.edu.in/web/image/res.company/1/logo"/>
          <p:cNvPicPr preferRelativeResize="0"/>
          <p:nvPr/>
        </p:nvPicPr>
        <p:blipFill rotWithShape="1">
          <a:blip r:embed="rId5">
            <a:alphaModFix/>
          </a:blip>
          <a:srcRect/>
          <a:stretch/>
        </p:blipFill>
        <p:spPr>
          <a:xfrm>
            <a:off x="5559814" y="5558151"/>
            <a:ext cx="2924303" cy="776261"/>
          </a:xfrm>
          <a:prstGeom prst="rect">
            <a:avLst/>
          </a:prstGeom>
          <a:noFill/>
          <a:ln>
            <a:noFill/>
          </a:ln>
        </p:spPr>
      </p:pic>
      <p:sp>
        <p:nvSpPr>
          <p:cNvPr id="103" name="Google Shape;103;p1"/>
          <p:cNvSpPr/>
          <p:nvPr/>
        </p:nvSpPr>
        <p:spPr>
          <a:xfrm>
            <a:off x="5741902" y="2201924"/>
            <a:ext cx="6134412" cy="168717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200"/>
              <a:buFont typeface="Play"/>
              <a:buNone/>
            </a:pPr>
            <a:r>
              <a:rPr lang="en-IN" sz="3200" b="1" dirty="0">
                <a:solidFill>
                  <a:schemeClr val="dk1"/>
                </a:solidFill>
              </a:rPr>
              <a:t>Unit-01</a:t>
            </a:r>
          </a:p>
          <a:p>
            <a:pPr marL="0" marR="0" lvl="0" indent="0" algn="r" rtl="0">
              <a:lnSpc>
                <a:spcPct val="100000"/>
              </a:lnSpc>
              <a:spcBef>
                <a:spcPts val="0"/>
              </a:spcBef>
              <a:spcAft>
                <a:spcPts val="0"/>
              </a:spcAft>
              <a:buClr>
                <a:schemeClr val="dk1"/>
              </a:buClr>
              <a:buSzPts val="3200"/>
              <a:buFont typeface="Play"/>
              <a:buNone/>
            </a:pPr>
            <a:r>
              <a:rPr lang="en-IN" sz="3200" b="1" i="0" u="none" strike="noStrike" cap="none" dirty="0">
                <a:solidFill>
                  <a:schemeClr val="dk1"/>
                </a:solidFill>
                <a:latin typeface="+mj-lt"/>
              </a:rPr>
              <a:t>CYBERSECURITY FUNDAMENTA</a:t>
            </a:r>
            <a:r>
              <a:rPr lang="en-IN" sz="3200" b="1" dirty="0">
                <a:solidFill>
                  <a:schemeClr val="dk1"/>
                </a:solidFill>
                <a:latin typeface="+mj-lt"/>
              </a:rPr>
              <a:t>LS</a:t>
            </a:r>
            <a:endParaRPr sz="2400" b="1" i="0" u="none" strike="noStrike" cap="none" dirty="0">
              <a:solidFill>
                <a:schemeClr val="dk1"/>
              </a:solidFill>
              <a:latin typeface="+mj-lt"/>
            </a:endParaRPr>
          </a:p>
        </p:txBody>
      </p:sp>
      <p:cxnSp>
        <p:nvCxnSpPr>
          <p:cNvPr id="104" name="Google Shape;104;p1"/>
          <p:cNvCxnSpPr/>
          <p:nvPr/>
        </p:nvCxnSpPr>
        <p:spPr>
          <a:xfrm>
            <a:off x="6487886" y="2051293"/>
            <a:ext cx="5388428" cy="0"/>
          </a:xfrm>
          <a:prstGeom prst="straightConnector1">
            <a:avLst/>
          </a:prstGeom>
          <a:noFill/>
          <a:ln w="28575" cap="flat" cmpd="sng">
            <a:solidFill>
              <a:srgbClr val="FF0000"/>
            </a:solidFill>
            <a:prstDash val="solid"/>
            <a:miter lim="800000"/>
            <a:headEnd type="none" w="sm" len="sm"/>
            <a:tailEnd type="none" w="sm" len="sm"/>
          </a:ln>
        </p:spPr>
      </p:cxnSp>
      <p:sp>
        <p:nvSpPr>
          <p:cNvPr id="105" name="Google Shape;105;p1"/>
          <p:cNvSpPr/>
          <p:nvPr/>
        </p:nvSpPr>
        <p:spPr>
          <a:xfrm>
            <a:off x="8253448" y="4298179"/>
            <a:ext cx="3925217" cy="947720"/>
          </a:xfrm>
          <a:prstGeom prst="rect">
            <a:avLst/>
          </a:prstGeom>
          <a:noFill/>
          <a:ln>
            <a:noFill/>
          </a:ln>
        </p:spPr>
        <p:txBody>
          <a:bodyPr spcFirstLastPara="1" wrap="square" lIns="91425" tIns="45700" rIns="91425" bIns="45700" anchor="b" anchorCtr="0">
            <a:noAutofit/>
          </a:bodyPr>
          <a:lstStyle/>
          <a:p>
            <a:pPr marL="0" marR="0" lvl="0" indent="0" algn="l" rtl="0">
              <a:lnSpc>
                <a:spcPct val="160000"/>
              </a:lnSpc>
              <a:spcBef>
                <a:spcPts val="0"/>
              </a:spcBef>
              <a:spcAft>
                <a:spcPts val="0"/>
              </a:spcAft>
              <a:buClr>
                <a:schemeClr val="dk1"/>
              </a:buClr>
              <a:buSzPts val="2200"/>
              <a:buFont typeface="Play"/>
              <a:buNone/>
            </a:pPr>
            <a:r>
              <a:rPr lang="en-US" sz="2200" i="0" u="none" strike="noStrike" cap="none" dirty="0">
                <a:solidFill>
                  <a:schemeClr val="dk1"/>
                </a:solidFill>
              </a:rPr>
              <a:t>Gayathri Gagana</a:t>
            </a:r>
            <a:br>
              <a:rPr lang="en-US" sz="2200" i="0" u="none" strike="noStrike" cap="none" dirty="0">
                <a:solidFill>
                  <a:schemeClr val="dk1"/>
                </a:solidFill>
              </a:rPr>
            </a:br>
            <a:r>
              <a:rPr lang="en-US" sz="2200" i="0" u="none" strike="noStrike" cap="none" dirty="0">
                <a:solidFill>
                  <a:schemeClr val="dk1"/>
                </a:solidFill>
              </a:rPr>
              <a:t>gayathri.g@techdefence.com </a:t>
            </a:r>
            <a:endParaRPr sz="2200" b="1" i="0" u="none" strike="noStrike" cap="none" dirty="0">
              <a:solidFill>
                <a:schemeClr val="dk1"/>
              </a:solidFill>
            </a:endParaRPr>
          </a:p>
        </p:txBody>
      </p:sp>
      <p:sp>
        <p:nvSpPr>
          <p:cNvPr id="106" name="Google Shape;106;p1"/>
          <p:cNvSpPr/>
          <p:nvPr/>
        </p:nvSpPr>
        <p:spPr>
          <a:xfrm>
            <a:off x="5741902" y="4314226"/>
            <a:ext cx="2530392" cy="947720"/>
          </a:xfrm>
          <a:prstGeom prst="rect">
            <a:avLst/>
          </a:prstGeom>
          <a:noFill/>
          <a:ln>
            <a:noFill/>
          </a:ln>
        </p:spPr>
        <p:txBody>
          <a:bodyPr spcFirstLastPara="1" wrap="square" lIns="91425" tIns="45700" rIns="91425" bIns="45700" anchor="b" anchorCtr="0">
            <a:noAutofit/>
          </a:bodyPr>
          <a:lstStyle/>
          <a:p>
            <a:pPr marL="0" marR="0" lvl="0" indent="0" algn="r" rtl="0">
              <a:lnSpc>
                <a:spcPct val="160000"/>
              </a:lnSpc>
              <a:spcBef>
                <a:spcPts val="0"/>
              </a:spcBef>
              <a:spcAft>
                <a:spcPts val="0"/>
              </a:spcAft>
              <a:buClr>
                <a:schemeClr val="dk1"/>
              </a:buClr>
              <a:buSzPts val="2200"/>
              <a:buFont typeface="Play"/>
              <a:buNone/>
            </a:pPr>
            <a:r>
              <a:rPr lang="en-US" sz="2200" i="0" u="none" strike="noStrike" cap="none" dirty="0">
                <a:solidFill>
                  <a:schemeClr val="dk1"/>
                </a:solidFill>
              </a:rPr>
              <a:t>Created by:</a:t>
            </a:r>
            <a:br>
              <a:rPr lang="en-US" sz="2200" i="0" u="none" strike="noStrike" cap="none" dirty="0">
                <a:solidFill>
                  <a:schemeClr val="dk1"/>
                </a:solidFill>
              </a:rPr>
            </a:br>
            <a:r>
              <a:rPr lang="en-US" sz="2200" i="0" u="none" strike="noStrike" cap="none" dirty="0">
                <a:solidFill>
                  <a:schemeClr val="dk1"/>
                </a:solidFill>
              </a:rPr>
              <a:t>Email Address: </a:t>
            </a:r>
            <a:endParaRPr sz="2200" b="1" i="0" u="none" strike="noStrike" cap="none" dirty="0">
              <a:solidFill>
                <a:schemeClr val="dk1"/>
              </a:solidFill>
            </a:endParaRPr>
          </a:p>
        </p:txBody>
      </p:sp>
      <p:sp>
        <p:nvSpPr>
          <p:cNvPr id="107" name="Google Shape;107;p1"/>
          <p:cNvSpPr txBox="1">
            <a:spLocks noGrp="1"/>
          </p:cNvSpPr>
          <p:nvPr>
            <p:ph type="sldNum" idx="12"/>
          </p:nvPr>
        </p:nvSpPr>
        <p:spPr>
          <a:xfrm>
            <a:off x="8610602" y="6470147"/>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body" idx="1"/>
          </p:nvPr>
        </p:nvSpPr>
        <p:spPr>
          <a:xfrm>
            <a:off x="838200" y="1108542"/>
            <a:ext cx="10515601" cy="4933950"/>
          </a:xfrm>
          <a:prstGeom prst="rect">
            <a:avLst/>
          </a:prstGeom>
          <a:noFill/>
          <a:ln>
            <a:noFill/>
          </a:ln>
        </p:spPr>
        <p:txBody>
          <a:bodyPr spcFirstLastPara="1" wrap="square" lIns="91425" tIns="45700" rIns="91425" bIns="45700" anchor="t" anchorCtr="0">
            <a:noAutofit/>
          </a:bodyPr>
          <a:lstStyle/>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What is Cybersecurity?</a:t>
            </a:r>
          </a:p>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Information Security V/S Cybersecurity</a:t>
            </a:r>
          </a:p>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CIA Triad</a:t>
            </a:r>
          </a:p>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Types of Cyber Attacks</a:t>
            </a:r>
          </a:p>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Cyber Kill Chain</a:t>
            </a:r>
          </a:p>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Threat V/S Vulnerability V/S Risk</a:t>
            </a:r>
          </a:p>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Threat Actors</a:t>
            </a:r>
          </a:p>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Attack Surface</a:t>
            </a:r>
          </a:p>
          <a:p>
            <a:pPr marL="228600" lvl="0" indent="-228600" algn="just">
              <a:lnSpc>
                <a:spcPct val="150000"/>
              </a:lnSpc>
              <a:spcBef>
                <a:spcPts val="0"/>
              </a:spcBef>
              <a:buSzPts val="3200"/>
              <a:buFont typeface="Noto Sans Symbols"/>
              <a:buChar char="⮚"/>
            </a:pPr>
            <a:r>
              <a:rPr lang="en-US" sz="2400" dirty="0">
                <a:latin typeface="Calibri"/>
                <a:ea typeface="Calibri"/>
                <a:cs typeface="Calibri"/>
                <a:sym typeface="Calibri"/>
              </a:rPr>
              <a:t>Information Security Principles</a:t>
            </a:r>
          </a:p>
        </p:txBody>
      </p:sp>
      <p:sp>
        <p:nvSpPr>
          <p:cNvPr id="113" name="Google Shape;113;p2"/>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CONTENT</a:t>
            </a:r>
            <a:endParaRPr/>
          </a:p>
        </p:txBody>
      </p:sp>
      <p:sp>
        <p:nvSpPr>
          <p:cNvPr id="114" name="Google Shape;114;p2"/>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lnSpc>
                <a:spcPct val="100000"/>
              </a:lnSpc>
              <a:buNone/>
            </a:pPr>
            <a:r>
              <a:rPr lang="en-IN" sz="2400" dirty="0">
                <a:latin typeface="Calibri" panose="020F0502020204030204" pitchFamily="34" charset="0"/>
                <a:ea typeface="Calibri" panose="020F0502020204030204" pitchFamily="34" charset="0"/>
                <a:cs typeface="Calibri" panose="020F0502020204030204" pitchFamily="34" charset="0"/>
              </a:rPr>
              <a:t>Cybersecurity is the process of protecting networks, systems, applications and digital assets from unauthorized access, cyberattacks, malware and data breaches. It ensures the confidentiality, integrity and availability (CIA) of information while supporting secure and sustainable digital infrastructure.</a:t>
            </a:r>
          </a:p>
          <a:p>
            <a:pPr algn="just" fontAlgn="base">
              <a:lnSpc>
                <a:spcPct val="100000"/>
              </a:lnSpc>
            </a:pPr>
            <a:r>
              <a:rPr lang="en-IN" sz="2400" dirty="0">
                <a:latin typeface="Calibri" panose="020F0502020204030204" pitchFamily="34" charset="0"/>
                <a:ea typeface="Calibri" panose="020F0502020204030204" pitchFamily="34" charset="0"/>
                <a:cs typeface="Calibri" panose="020F0502020204030204" pitchFamily="34" charset="0"/>
              </a:rPr>
              <a:t>Protects sensitive data using encryption, authentication and access control.</a:t>
            </a:r>
          </a:p>
          <a:p>
            <a:pPr algn="just" fontAlgn="base">
              <a:lnSpc>
                <a:spcPct val="100000"/>
              </a:lnSpc>
            </a:pPr>
            <a:r>
              <a:rPr lang="en-IN" sz="2400" dirty="0">
                <a:latin typeface="Calibri" panose="020F0502020204030204" pitchFamily="34" charset="0"/>
                <a:ea typeface="Calibri" panose="020F0502020204030204" pitchFamily="34" charset="0"/>
                <a:cs typeface="Calibri" panose="020F0502020204030204" pitchFamily="34" charset="0"/>
              </a:rPr>
              <a:t>Secures networks and systems against malware, ransomware and cyber threats.</a:t>
            </a:r>
          </a:p>
          <a:p>
            <a:pPr algn="just" fontAlgn="base">
              <a:lnSpc>
                <a:spcPct val="100000"/>
              </a:lnSpc>
            </a:pPr>
            <a:r>
              <a:rPr lang="en-IN" sz="2400" dirty="0">
                <a:latin typeface="Calibri" panose="020F0502020204030204" pitchFamily="34" charset="0"/>
                <a:ea typeface="Calibri" panose="020F0502020204030204" pitchFamily="34" charset="0"/>
                <a:cs typeface="Calibri" panose="020F0502020204030204" pitchFamily="34" charset="0"/>
              </a:rPr>
              <a:t>Supports safe digital transformation through secure cloud and IT infrastructure.</a:t>
            </a:r>
          </a:p>
          <a:p>
            <a:pPr algn="just" fontAlgn="base">
              <a:lnSpc>
                <a:spcPct val="100000"/>
              </a:lnSpc>
            </a:pPr>
            <a:r>
              <a:rPr lang="en-IN" sz="2400" dirty="0">
                <a:latin typeface="Calibri" panose="020F0502020204030204" pitchFamily="34" charset="0"/>
                <a:ea typeface="Calibri" panose="020F0502020204030204" pitchFamily="34" charset="0"/>
                <a:cs typeface="Calibri" panose="020F0502020204030204" pitchFamily="34" charset="0"/>
              </a:rPr>
              <a:t>Reduces downtime, resource misuse and operational risks caused by attacks.</a:t>
            </a:r>
          </a:p>
          <a:p>
            <a:pPr algn="just" fontAlgn="base">
              <a:lnSpc>
                <a:spcPct val="100000"/>
              </a:lnSpc>
            </a:pPr>
            <a:r>
              <a:rPr lang="en-IN" sz="2400" dirty="0">
                <a:latin typeface="Calibri" panose="020F0502020204030204" pitchFamily="34" charset="0"/>
                <a:ea typeface="Calibri" panose="020F0502020204030204" pitchFamily="34" charset="0"/>
                <a:cs typeface="Calibri" panose="020F0502020204030204" pitchFamily="34" charset="0"/>
              </a:rPr>
              <a:t>Enhances the reliability and resilience of modern digital technologies.</a:t>
            </a:r>
          </a:p>
        </p:txBody>
      </p:sp>
      <p:sp>
        <p:nvSpPr>
          <p:cNvPr id="120" name="Google Shape;120;p3"/>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WHAT IS CYBERSECURITY?</a:t>
            </a:r>
            <a:endParaRPr b="1" dirty="0">
              <a:latin typeface="Arial"/>
              <a:ea typeface="Arial"/>
              <a:cs typeface="Arial"/>
              <a:sym typeface="Arial"/>
            </a:endParaRPr>
          </a:p>
        </p:txBody>
      </p:sp>
      <p:sp>
        <p:nvSpPr>
          <p:cNvPr id="121" name="Google Shape;121;p3"/>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4FB9EF-06A1-2FFC-D8DE-6563E58D620F}"/>
              </a:ext>
            </a:extLst>
          </p:cNvPr>
          <p:cNvSpPr>
            <a:spLocks noGrp="1"/>
          </p:cNvSpPr>
          <p:nvPr>
            <p:ph type="body" idx="1"/>
          </p:nvPr>
        </p:nvSpPr>
        <p:spPr/>
        <p:txBody>
          <a:bodyPr>
            <a:normAutofit fontScale="92500" lnSpcReduction="10000"/>
          </a:bodyPr>
          <a:lstStyle/>
          <a:p>
            <a:pPr algn="just" eaLnBrk="1" hangingPunct="1"/>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It encompasses several specialized disciplines, including:</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Network Security: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Protects internal networks from intruders using tools like firewalls and VPNs.</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Cloud Security: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Secures data and digital infrastructure hosted on remote cloud platforms.</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Endpoint Security: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Protects individual devices like laptops, smartphones, and Internet of Things (IoT) gadgets</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Mobile Security: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It Protects Android and iOS Applications from Vulnerabilities and Threats to safeguard our digital hand-held.</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Wireless Security: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Protects the Wireless Network Components and performing test against the Security Mechanisms and Protocols applied for Wireless networks.</a:t>
            </a:r>
          </a:p>
        </p:txBody>
      </p:sp>
      <p:sp>
        <p:nvSpPr>
          <p:cNvPr id="3" name="Title 2">
            <a:extLst>
              <a:ext uri="{FF2B5EF4-FFF2-40B4-BE49-F238E27FC236}">
                <a16:creationId xmlns:a16="http://schemas.microsoft.com/office/drawing/2014/main" id="{E36E464B-312B-C7D0-0498-A4524302CB3F}"/>
              </a:ext>
            </a:extLst>
          </p:cNvPr>
          <p:cNvSpPr>
            <a:spLocks noGrp="1"/>
          </p:cNvSpPr>
          <p:nvPr>
            <p:ph type="title"/>
          </p:nvPr>
        </p:nvSpPr>
        <p:spPr/>
        <p:txBody>
          <a:bodyPr/>
          <a:lstStyle/>
          <a:p>
            <a:pPr algn="ctr"/>
            <a:r>
              <a:rPr lang="en-US" b="1" dirty="0">
                <a:latin typeface="+mj-lt"/>
              </a:rPr>
              <a:t>SCOPE OF CYBERSECURITY</a:t>
            </a:r>
            <a:endParaRPr lang="en-IN" b="1" dirty="0">
              <a:latin typeface="+mj-lt"/>
            </a:endParaRP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558830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4"/>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fontScale="82500" lnSpcReduction="20000"/>
          </a:bodyPr>
          <a:lstStyle/>
          <a:p>
            <a:pPr marL="114300" indent="0" algn="just" eaLnBrk="1" hangingPunct="1">
              <a:buNone/>
            </a:pPr>
            <a:r>
              <a:rPr lang="en-US" alt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1. Ensures Operational Continuity:</a:t>
            </a:r>
          </a:p>
          <a:p>
            <a:pPr algn="just" eaLnBrk="1" hangingPunct="1"/>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The Concept: Maintaining the availability of critical systems so daily life and work can function without interruption.</a:t>
            </a:r>
          </a:p>
          <a:p>
            <a:pPr algn="just" eaLnBrk="1" hangingPunct="1"/>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Importance: If a Ransomware attack hits you or your school, operational continuity breaks down. Cybersecurity ensures that online portals stay online, allowing you to submit assignments on time, take midterms, and access digital libraries without missing deadlines.</a:t>
            </a:r>
            <a:endParaRPr lang="en-US" alt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114300" indent="0" algn="just" eaLnBrk="1" hangingPunct="1">
              <a:buNone/>
            </a:pPr>
            <a:r>
              <a:rPr lang="en-US" alt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2. Safeguards Financial Assets:</a:t>
            </a:r>
          </a:p>
          <a:p>
            <a:pPr algn="just" eaLnBrk="1" hangingPunct="1"/>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The Concept: Preventing unauthorized financial transactions and mitigating the direct and indirect costs of a data security incident.</a:t>
            </a:r>
          </a:p>
          <a:p>
            <a:pPr algn="just" eaLnBrk="1" hangingPunct="1"/>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Importance: Falling victim to a Phishing scam can wipe out your checking account or compromise your tuition payments. Cybersecurity measures protect your hard-earned money and prevent you from having to pay hundreds of dollars to data recovery specialists to retrieve locked files</a:t>
            </a:r>
          </a:p>
        </p:txBody>
      </p:sp>
      <p:sp>
        <p:nvSpPr>
          <p:cNvPr id="127" name="Google Shape;127;p4"/>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Autofit/>
          </a:bodyPr>
          <a:lstStyle/>
          <a:p>
            <a:pPr lvl="0" algn="ctr">
              <a:buSzPts val="4000"/>
            </a:pPr>
            <a:r>
              <a:rPr lang="en-US" b="1" dirty="0">
                <a:latin typeface="Arial"/>
                <a:ea typeface="Arial"/>
                <a:cs typeface="Arial"/>
                <a:sym typeface="Arial"/>
              </a:rPr>
              <a:t>WHY IS CYBERSECURITY IMPORTANT?</a:t>
            </a:r>
            <a:endParaRPr b="1" dirty="0">
              <a:latin typeface="Arial"/>
              <a:ea typeface="Arial"/>
              <a:cs typeface="Arial"/>
              <a:sym typeface="Arial"/>
            </a:endParaRPr>
          </a:p>
        </p:txBody>
      </p:sp>
      <p:sp>
        <p:nvSpPr>
          <p:cNvPr id="128" name="Google Shape;128;p4"/>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84BCA5-6114-B1B4-726A-78528FA9FDD3}"/>
              </a:ext>
            </a:extLst>
          </p:cNvPr>
          <p:cNvSpPr>
            <a:spLocks noGrp="1"/>
          </p:cNvSpPr>
          <p:nvPr>
            <p:ph type="body" idx="1"/>
          </p:nvPr>
        </p:nvSpPr>
        <p:spPr/>
        <p:txBody>
          <a:bodyPr>
            <a:normAutofit/>
          </a:bodyPr>
          <a:lstStyle/>
          <a:p>
            <a:pPr marL="114300" indent="0" algn="just" eaLnBrk="1" hangingPunct="1">
              <a:buNone/>
            </a:pPr>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3. Protects Digital Reputation and Trust</a:t>
            </a:r>
          </a:p>
          <a:p>
            <a:pPr algn="just" eaLnBrk="1" hangingPunct="1"/>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Concept: Maintaining the integrity and confidentiality of your public-facing accounts and personal data to preserve trust with external entities.</a:t>
            </a:r>
          </a:p>
          <a:p>
            <a:pPr algn="just" eaLnBrk="1" hangingPunct="1"/>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Importance: If a hacker uses Credential Stuffing to hijack your social media or LinkedIn, they can post scams under your name. Strong cybersecurity preserves your digital footprint so that future employers, internship coordinators, and academic boards see a professional profile, not a compromised account.</a:t>
            </a:r>
          </a:p>
        </p:txBody>
      </p:sp>
      <p:sp>
        <p:nvSpPr>
          <p:cNvPr id="3" name="Title 2">
            <a:extLst>
              <a:ext uri="{FF2B5EF4-FFF2-40B4-BE49-F238E27FC236}">
                <a16:creationId xmlns:a16="http://schemas.microsoft.com/office/drawing/2014/main" id="{80AD6050-BB50-7663-CA32-51FCD7C31C7F}"/>
              </a:ext>
            </a:extLst>
          </p:cNvPr>
          <p:cNvSpPr>
            <a:spLocks noGrp="1"/>
          </p:cNvSpPr>
          <p:nvPr>
            <p:ph type="title"/>
          </p:nvPr>
        </p:nvSpPr>
        <p:spPr/>
        <p:txBody>
          <a:bodyPr>
            <a:normAutofit/>
          </a:bodyPr>
          <a:lstStyle/>
          <a:p>
            <a:pPr algn="ctr"/>
            <a:r>
              <a:rPr lang="en-US" b="1" dirty="0">
                <a:latin typeface="+mj-lt"/>
              </a:rPr>
              <a:t>WHY IS CYBERSECURITY IMPORTANT?</a:t>
            </a:r>
            <a:endParaRPr lang="en-IN" b="1" dirty="0">
              <a:latin typeface="+mj-lt"/>
            </a:endParaRPr>
          </a:p>
        </p:txBody>
      </p:sp>
      <p:sp>
        <p:nvSpPr>
          <p:cNvPr id="4" name="Slide Number Placeholder 3">
            <a:extLst>
              <a:ext uri="{FF2B5EF4-FFF2-40B4-BE49-F238E27FC236}">
                <a16:creationId xmlns:a16="http://schemas.microsoft.com/office/drawing/2014/main" id="{DDFFF369-C73A-07FA-512F-9A09C36E8E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1358678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8"/>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Autofit/>
          </a:bodyPr>
          <a:lstStyle/>
          <a:p>
            <a:pPr marL="114300" indent="0" algn="just" eaLnBrk="1" hangingPunct="1">
              <a:buNone/>
            </a:pPr>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4. Guarantees Data Confidentiality and Privacy</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The Concept: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Restricting access to sensitive data to ensure only authorized individuals can view or modify it.</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Importance: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You have a right to privacy regarding your grades, medical history, and personal messages. Cybersecurity protocols (like encryption and MFA) ensure that malicious actors—or even an Insider Threat like a rogue student worker—cannot snoop through your private university files or personal communications</a:t>
            </a:r>
          </a:p>
        </p:txBody>
      </p:sp>
      <p:sp>
        <p:nvSpPr>
          <p:cNvPr id="155" name="Google Shape;155;p8"/>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Play"/>
              <a:buNone/>
            </a:pPr>
            <a:r>
              <a:rPr lang="en-US" b="1" dirty="0">
                <a:latin typeface="Arial"/>
                <a:ea typeface="Arial"/>
                <a:cs typeface="Arial"/>
                <a:sym typeface="Arial"/>
              </a:rPr>
              <a:t>WHY IS CYBERSECURITY IMPORTANT?</a:t>
            </a:r>
            <a:endParaRPr b="1" dirty="0">
              <a:latin typeface="Arial"/>
              <a:ea typeface="Arial"/>
              <a:cs typeface="Arial"/>
              <a:sym typeface="Arial"/>
            </a:endParaRPr>
          </a:p>
        </p:txBody>
      </p:sp>
      <p:sp>
        <p:nvSpPr>
          <p:cNvPr id="156" name="Google Shape;156;p8"/>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B6EC47-A34D-BD35-77AA-9117BFAD0012}"/>
              </a:ext>
            </a:extLst>
          </p:cNvPr>
          <p:cNvSpPr>
            <a:spLocks noGrp="1"/>
          </p:cNvSpPr>
          <p:nvPr>
            <p:ph type="body" idx="1"/>
          </p:nvPr>
        </p:nvSpPr>
        <p:spPr/>
        <p:txBody>
          <a:bodyPr>
            <a:normAutofit fontScale="85000" lnSpcReduction="20000"/>
          </a:bodyPr>
          <a:lstStyle/>
          <a:p>
            <a:pPr algn="just" eaLnBrk="1" hangingPunct="1"/>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While cybersecurity and information security (InfoSec) are closely related and often used interchangeably, they are not the same thing.</a:t>
            </a:r>
          </a:p>
          <a:p>
            <a:pPr algn="just" eaLnBrk="1" hangingPunct="1"/>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easiest way to understand their relationship is through a hierarchy: Information Security is the overarching umbrella, and Cybersecurity is a massive, specialized section underneath it.</a:t>
            </a:r>
          </a:p>
          <a:p>
            <a:pPr marL="114300" indent="0" algn="just" eaLnBrk="1" hangingPunct="1">
              <a:buNone/>
            </a:pPr>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The Core Difference: Medium vs. Threat Landscape</a:t>
            </a:r>
          </a:p>
          <a:p>
            <a:pPr algn="just" eaLnBrk="1" hangingPunct="1"/>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Information Security (InfoSec)InfoSec focuses on protecting data from unauthorized access, use, disclosure, disruption, modification, or destruction, regardless of the form the data takes.</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The Scope: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Covers physical paper, printed files, intellectual property, spoken secrets, and digital data.</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Example: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Your university’s InfoSec policy dictates that professors must lock physical filing cabinets containing printed midterm exams, and that shredded tuition checks must be disposed of in secure bins.</a:t>
            </a:r>
          </a:p>
        </p:txBody>
      </p:sp>
      <p:sp>
        <p:nvSpPr>
          <p:cNvPr id="3" name="Title 2">
            <a:extLst>
              <a:ext uri="{FF2B5EF4-FFF2-40B4-BE49-F238E27FC236}">
                <a16:creationId xmlns:a16="http://schemas.microsoft.com/office/drawing/2014/main" id="{EA1BC097-B84C-3132-7137-4C86431DB8DC}"/>
              </a:ext>
            </a:extLst>
          </p:cNvPr>
          <p:cNvSpPr>
            <a:spLocks noGrp="1"/>
          </p:cNvSpPr>
          <p:nvPr>
            <p:ph type="title"/>
          </p:nvPr>
        </p:nvSpPr>
        <p:spPr/>
        <p:txBody>
          <a:bodyPr>
            <a:noAutofit/>
          </a:bodyPr>
          <a:lstStyle/>
          <a:p>
            <a:pPr algn="ctr"/>
            <a:r>
              <a:rPr lang="en-US" sz="3200" b="1" dirty="0">
                <a:latin typeface="+mj-lt"/>
              </a:rPr>
              <a:t>INFORMATION SECURITY V/S CYBERSECURITY</a:t>
            </a:r>
            <a:endParaRPr lang="en-IN" sz="3200" b="1" dirty="0">
              <a:latin typeface="+mj-lt"/>
            </a:endParaRPr>
          </a:p>
        </p:txBody>
      </p:sp>
      <p:sp>
        <p:nvSpPr>
          <p:cNvPr id="4" name="Slide Number Placeholder 3">
            <a:extLst>
              <a:ext uri="{FF2B5EF4-FFF2-40B4-BE49-F238E27FC236}">
                <a16:creationId xmlns:a16="http://schemas.microsoft.com/office/drawing/2014/main" id="{8F23E23C-86EF-4D06-0105-6F9A101127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073255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3D1855-99C5-D81B-4742-8886D860A727}"/>
              </a:ext>
            </a:extLst>
          </p:cNvPr>
          <p:cNvSpPr>
            <a:spLocks noGrp="1"/>
          </p:cNvSpPr>
          <p:nvPr>
            <p:ph type="body" idx="1"/>
          </p:nvPr>
        </p:nvSpPr>
        <p:spPr/>
        <p:txBody>
          <a:bodyPr>
            <a:normAutofit fontScale="92500" lnSpcReduction="20000"/>
          </a:bodyPr>
          <a:lstStyle/>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Cybersecurity: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Cybersecurity specifically focuses on protecting data, networks, devices, and programs from digital attacks originating from the internet or electronic systems.</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The Scope: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Limited strictly to "cyberspace“ the interconnected digital realm.</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Example: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university’s cybersecurity policy mandates the use of network firewalls to block external hackers from breaking into the servers where digital grades are stored.</a:t>
            </a:r>
          </a:p>
          <a:p>
            <a:pPr algn="just" eaLnBrk="1" hangingPunct="1"/>
            <a:endPar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Where They Overlap: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Securing Digital Assets</a:t>
            </a:r>
          </a:p>
          <a:p>
            <a:pPr algn="just" eaLnBrk="1" hangingPunct="1"/>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relationship becomes highly active where physical information turns digital. When data is stored electronically, it falls under the jurisdiction of both disciplines simultaneously.</a:t>
            </a:r>
          </a:p>
        </p:txBody>
      </p:sp>
      <p:sp>
        <p:nvSpPr>
          <p:cNvPr id="3" name="Title 2">
            <a:extLst>
              <a:ext uri="{FF2B5EF4-FFF2-40B4-BE49-F238E27FC236}">
                <a16:creationId xmlns:a16="http://schemas.microsoft.com/office/drawing/2014/main" id="{9FAD932C-DF21-8C73-CA1D-9BF9D9154A8C}"/>
              </a:ext>
            </a:extLst>
          </p:cNvPr>
          <p:cNvSpPr>
            <a:spLocks noGrp="1"/>
          </p:cNvSpPr>
          <p:nvPr>
            <p:ph type="title"/>
          </p:nvPr>
        </p:nvSpPr>
        <p:spPr/>
        <p:txBody>
          <a:bodyPr>
            <a:noAutofit/>
          </a:bodyPr>
          <a:lstStyle/>
          <a:p>
            <a:pPr algn="ctr"/>
            <a:r>
              <a:rPr lang="en-US" sz="3200" b="1" dirty="0">
                <a:latin typeface="+mj-lt"/>
              </a:rPr>
              <a:t>INFORMATION SECURITY V/S CYBERSECURITY</a:t>
            </a:r>
            <a:endParaRPr lang="en-IN" sz="3200" b="1" dirty="0">
              <a:latin typeface="+mj-lt"/>
            </a:endParaRPr>
          </a:p>
        </p:txBody>
      </p:sp>
      <p:sp>
        <p:nvSpPr>
          <p:cNvPr id="4" name="Slide Number Placeholder 3">
            <a:extLst>
              <a:ext uri="{FF2B5EF4-FFF2-40B4-BE49-F238E27FC236}">
                <a16:creationId xmlns:a16="http://schemas.microsoft.com/office/drawing/2014/main" id="{750FBA13-3541-87C4-1467-0E19A0FE82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2928980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A7BE84-F46F-FA6D-F704-1DA26B668631}"/>
              </a:ext>
            </a:extLst>
          </p:cNvPr>
          <p:cNvSpPr>
            <a:spLocks noGrp="1"/>
          </p:cNvSpPr>
          <p:nvPr>
            <p:ph type="body" idx="1"/>
          </p:nvPr>
        </p:nvSpPr>
        <p:spPr/>
        <p:txBody>
          <a:bodyPr>
            <a:normAutofit/>
          </a:bodyPr>
          <a:lstStyle/>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Data Governance: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InfoSec establishes the rules of who is allowed to see data (e.g., "Students cannot view other students' transcripts"). Cybersecurity builds the digital access controls to enforce that rule in the university portal.</a:t>
            </a:r>
          </a:p>
          <a:p>
            <a:pPr algn="just" eaLnBrk="1" hangingPunct="1"/>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Incident Response: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If a hacker breaches a server, the Cybersecurity team works to isolate the malware and kick the attacker out of the network. Simultaneously, the InfoSec team assesses what specific data was exposed, evaluates legal compliance, and manages how to report the breach.</a:t>
            </a:r>
          </a:p>
        </p:txBody>
      </p:sp>
      <p:sp>
        <p:nvSpPr>
          <p:cNvPr id="4" name="Slide Number Placeholder 3">
            <a:extLst>
              <a:ext uri="{FF2B5EF4-FFF2-40B4-BE49-F238E27FC236}">
                <a16:creationId xmlns:a16="http://schemas.microsoft.com/office/drawing/2014/main" id="{8050E262-3184-FD1F-F091-63CA67D0E3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Title 2">
            <a:extLst>
              <a:ext uri="{FF2B5EF4-FFF2-40B4-BE49-F238E27FC236}">
                <a16:creationId xmlns:a16="http://schemas.microsoft.com/office/drawing/2014/main" id="{C49BC21B-5601-3261-63D4-40E4CB3B824A}"/>
              </a:ext>
            </a:extLst>
          </p:cNvPr>
          <p:cNvSpPr>
            <a:spLocks noGrp="1"/>
          </p:cNvSpPr>
          <p:nvPr>
            <p:ph type="title"/>
          </p:nvPr>
        </p:nvSpPr>
        <p:spPr>
          <a:xfrm>
            <a:off x="838200" y="238125"/>
            <a:ext cx="10444163" cy="719138"/>
          </a:xfrm>
        </p:spPr>
        <p:txBody>
          <a:bodyPr>
            <a:noAutofit/>
          </a:bodyPr>
          <a:lstStyle/>
          <a:p>
            <a:pPr algn="ctr"/>
            <a:r>
              <a:rPr lang="en-US" sz="3200" b="1" dirty="0">
                <a:latin typeface="+mj-lt"/>
              </a:rPr>
              <a:t>INFORMATION SECURITY V/S CYBERSECURITY</a:t>
            </a:r>
            <a:endParaRPr lang="en-IN" sz="3200" b="1" dirty="0">
              <a:latin typeface="+mj-lt"/>
            </a:endParaRPr>
          </a:p>
        </p:txBody>
      </p:sp>
    </p:spTree>
    <p:extLst>
      <p:ext uri="{BB962C8B-B14F-4D97-AF65-F5344CB8AC3E}">
        <p14:creationId xmlns:p14="http://schemas.microsoft.com/office/powerpoint/2010/main" val="1163201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2734F9-A66F-C278-9D22-B41B5366CC1B}"/>
              </a:ext>
            </a:extLst>
          </p:cNvPr>
          <p:cNvSpPr>
            <a:spLocks noGrp="1"/>
          </p:cNvSpPr>
          <p:nvPr>
            <p:ph type="body" idx="1"/>
          </p:nvPr>
        </p:nvSpPr>
        <p:spPr/>
        <p:txBody>
          <a:bodyPr>
            <a:normAutofit fontScale="92500" lnSpcReduction="10000"/>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The CIA Triad is a fundamental framework in information security used to protect data and maintain secure, reliable systems. It guides policies to ensure information remains confidential, accurate and accessible to authorized users.</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Confidentiality</a:t>
            </a:r>
            <a:r>
              <a:rPr lang="en-IN" dirty="0">
                <a:latin typeface="Calibri" panose="020F0502020204030204" pitchFamily="34" charset="0"/>
                <a:ea typeface="Calibri" panose="020F0502020204030204" pitchFamily="34" charset="0"/>
                <a:cs typeface="Calibri" panose="020F0502020204030204" pitchFamily="34" charset="0"/>
              </a:rPr>
              <a:t> ensures that sensitive data is accessible only to authorized individuals or systems. Its purpose is to prevent unauthorized viewing, access or misuse of private information.</a:t>
            </a:r>
          </a:p>
          <a:p>
            <a:pPr algn="just"/>
            <a:r>
              <a:rPr lang="en-IN" b="1" dirty="0">
                <a:latin typeface="Calibri" panose="020F0502020204030204" pitchFamily="34" charset="0"/>
                <a:ea typeface="Calibri" panose="020F0502020204030204" pitchFamily="34" charset="0"/>
                <a:cs typeface="Calibri" panose="020F0502020204030204" pitchFamily="34" charset="0"/>
              </a:rPr>
              <a:t>Integrity</a:t>
            </a:r>
            <a:r>
              <a:rPr lang="en-IN" dirty="0">
                <a:latin typeface="Calibri" panose="020F0502020204030204" pitchFamily="34" charset="0"/>
                <a:ea typeface="Calibri" panose="020F0502020204030204" pitchFamily="34" charset="0"/>
                <a:cs typeface="Calibri" panose="020F0502020204030204" pitchFamily="34" charset="0"/>
              </a:rPr>
              <a:t> ensures that data remains accurate, authentic and unaltered during storage or transmission. Any unauthorized modification or corruption compromises the reliability of data.</a:t>
            </a:r>
          </a:p>
          <a:p>
            <a:pPr algn="just"/>
            <a:r>
              <a:rPr lang="en-IN" b="1" dirty="0">
                <a:latin typeface="Calibri" panose="020F0502020204030204" pitchFamily="34" charset="0"/>
                <a:ea typeface="Calibri" panose="020F0502020204030204" pitchFamily="34" charset="0"/>
                <a:cs typeface="Calibri" panose="020F0502020204030204" pitchFamily="34" charset="0"/>
              </a:rPr>
              <a:t>Availability</a:t>
            </a:r>
            <a:r>
              <a:rPr lang="en-IN" dirty="0">
                <a:latin typeface="Calibri" panose="020F0502020204030204" pitchFamily="34" charset="0"/>
                <a:ea typeface="Calibri" panose="020F0502020204030204" pitchFamily="34" charset="0"/>
                <a:cs typeface="Calibri" panose="020F0502020204030204" pitchFamily="34" charset="0"/>
              </a:rPr>
              <a:t> ensures that systems, networks and data are accessible to authorized users whenever needed. Disruptions can halt operations and cause major losses.</a:t>
            </a:r>
          </a:p>
        </p:txBody>
      </p:sp>
      <p:sp>
        <p:nvSpPr>
          <p:cNvPr id="3" name="Title 2">
            <a:extLst>
              <a:ext uri="{FF2B5EF4-FFF2-40B4-BE49-F238E27FC236}">
                <a16:creationId xmlns:a16="http://schemas.microsoft.com/office/drawing/2014/main" id="{8E62863F-E618-AA1D-220F-8EF84EBDEADE}"/>
              </a:ext>
            </a:extLst>
          </p:cNvPr>
          <p:cNvSpPr>
            <a:spLocks noGrp="1"/>
          </p:cNvSpPr>
          <p:nvPr>
            <p:ph type="title"/>
          </p:nvPr>
        </p:nvSpPr>
        <p:spPr/>
        <p:txBody>
          <a:bodyPr>
            <a:normAutofit/>
          </a:bodyPr>
          <a:lstStyle/>
          <a:p>
            <a:pPr algn="ctr"/>
            <a:r>
              <a:rPr lang="en-US" sz="4000" b="1" dirty="0">
                <a:latin typeface="+mj-lt"/>
              </a:rPr>
              <a:t>CIA TRIAD</a:t>
            </a:r>
            <a:endParaRPr lang="en-IN" sz="4000" b="1" dirty="0">
              <a:latin typeface="+mj-lt"/>
            </a:endParaRPr>
          </a:p>
        </p:txBody>
      </p:sp>
      <p:sp>
        <p:nvSpPr>
          <p:cNvPr id="4" name="Slide Number Placeholder 3">
            <a:extLst>
              <a:ext uri="{FF2B5EF4-FFF2-40B4-BE49-F238E27FC236}">
                <a16:creationId xmlns:a16="http://schemas.microsoft.com/office/drawing/2014/main" id="{CB86F7C4-9279-F9E5-2EC3-D336222B86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1828003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9D1A77-6F74-A780-1E43-26B8A804CD12}"/>
              </a:ext>
            </a:extLst>
          </p:cNvPr>
          <p:cNvPicPr>
            <a:picLocks noChangeAspect="1"/>
          </p:cNvPicPr>
          <p:nvPr/>
        </p:nvPicPr>
        <p:blipFill>
          <a:blip r:embed="rId2"/>
          <a:srcRect t="22110" b="8354"/>
          <a:stretch>
            <a:fillRect/>
          </a:stretch>
        </p:blipFill>
        <p:spPr>
          <a:xfrm>
            <a:off x="2087721" y="1325603"/>
            <a:ext cx="7945120" cy="4768769"/>
          </a:xfrm>
          <a:prstGeom prst="rect">
            <a:avLst/>
          </a:prstGeom>
        </p:spPr>
      </p:pic>
      <p:sp>
        <p:nvSpPr>
          <p:cNvPr id="2" name="Text Placeholder 1">
            <a:extLst>
              <a:ext uri="{FF2B5EF4-FFF2-40B4-BE49-F238E27FC236}">
                <a16:creationId xmlns:a16="http://schemas.microsoft.com/office/drawing/2014/main" id="{09ED3114-A9E9-4D58-FB73-FF6D9E32E8D5}"/>
              </a:ext>
            </a:extLst>
          </p:cNvPr>
          <p:cNvSpPr>
            <a:spLocks noGrp="1"/>
          </p:cNvSpPr>
          <p:nvPr>
            <p:ph type="body" idx="1"/>
          </p:nvPr>
        </p:nvSpPr>
        <p:spPr/>
        <p:txBody>
          <a:bodyPr>
            <a:normAutofit/>
          </a:bodyPr>
          <a:lstStyle/>
          <a:p>
            <a:pPr marL="114300" indent="0" algn="just" fontAlgn="base">
              <a:buNone/>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05AADC6D-B991-2D05-61D5-7D83B5FAB804}"/>
              </a:ext>
            </a:extLst>
          </p:cNvPr>
          <p:cNvSpPr>
            <a:spLocks noGrp="1"/>
          </p:cNvSpPr>
          <p:nvPr>
            <p:ph type="title"/>
          </p:nvPr>
        </p:nvSpPr>
        <p:spPr/>
        <p:txBody>
          <a:bodyPr>
            <a:normAutofit/>
          </a:bodyPr>
          <a:lstStyle/>
          <a:p>
            <a:pPr algn="ctr"/>
            <a:r>
              <a:rPr lang="en-US" sz="4000" b="1" dirty="0">
                <a:latin typeface="+mj-lt"/>
              </a:rPr>
              <a:t>CIA TRIAD</a:t>
            </a:r>
            <a:endParaRPr lang="en-IN" sz="4000" b="1" dirty="0">
              <a:latin typeface="+mj-lt"/>
            </a:endParaRPr>
          </a:p>
        </p:txBody>
      </p:sp>
      <p:sp>
        <p:nvSpPr>
          <p:cNvPr id="4" name="Slide Number Placeholder 3">
            <a:extLst>
              <a:ext uri="{FF2B5EF4-FFF2-40B4-BE49-F238E27FC236}">
                <a16:creationId xmlns:a16="http://schemas.microsoft.com/office/drawing/2014/main" id="{2B722F68-A8ED-7C04-A436-F20AC8F4A7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1639307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BF2252-F90F-9121-8CE1-6A8EF8374B00}"/>
              </a:ext>
            </a:extLst>
          </p:cNvPr>
          <p:cNvSpPr>
            <a:spLocks noGrp="1"/>
          </p:cNvSpPr>
          <p:nvPr>
            <p:ph type="body" idx="1"/>
          </p:nvPr>
        </p:nvSpPr>
        <p:spPr/>
        <p:txBody>
          <a:bodyPr/>
          <a:lstStyle/>
          <a:p>
            <a:pPr algn="just"/>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Confidentiality: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Ensures that sensitive information is accessible only to those authorized to view it.</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Risks to Confidentiality:</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Unauthorized Access:</a:t>
            </a:r>
            <a:r>
              <a:rPr lang="en-IN" dirty="0">
                <a:latin typeface="Calibri" panose="020F0502020204030204" pitchFamily="34" charset="0"/>
                <a:ea typeface="Calibri" panose="020F0502020204030204" pitchFamily="34" charset="0"/>
                <a:cs typeface="Calibri" panose="020F0502020204030204" pitchFamily="34" charset="0"/>
              </a:rPr>
              <a:t> Attackers exploit vulnerabilities to access protected data.</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Weak Encryption:</a:t>
            </a:r>
            <a:r>
              <a:rPr lang="en-IN" dirty="0">
                <a:latin typeface="Calibri" panose="020F0502020204030204" pitchFamily="34" charset="0"/>
                <a:ea typeface="Calibri" panose="020F0502020204030204" pitchFamily="34" charset="0"/>
                <a:cs typeface="Calibri" panose="020F0502020204030204" pitchFamily="34" charset="0"/>
              </a:rPr>
              <a:t> Outdated or weak encryption can be easily broken, exposing sensitive information.</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Insider Threats</a:t>
            </a:r>
            <a:r>
              <a:rPr lang="en-IN" dirty="0">
                <a:latin typeface="Calibri" panose="020F0502020204030204" pitchFamily="34" charset="0"/>
                <a:ea typeface="Calibri" panose="020F0502020204030204" pitchFamily="34" charset="0"/>
                <a:cs typeface="Calibri" panose="020F0502020204030204" pitchFamily="34" charset="0"/>
              </a:rPr>
              <a:t>: Employees or trusted users may leak or accidentally expose confidential data.</a:t>
            </a:r>
          </a:p>
        </p:txBody>
      </p:sp>
      <p:sp>
        <p:nvSpPr>
          <p:cNvPr id="3" name="Title 2">
            <a:extLst>
              <a:ext uri="{FF2B5EF4-FFF2-40B4-BE49-F238E27FC236}">
                <a16:creationId xmlns:a16="http://schemas.microsoft.com/office/drawing/2014/main" id="{612717BA-78C6-81E1-C0F8-B063C8004094}"/>
              </a:ext>
            </a:extLst>
          </p:cNvPr>
          <p:cNvSpPr>
            <a:spLocks noGrp="1"/>
          </p:cNvSpPr>
          <p:nvPr>
            <p:ph type="title"/>
          </p:nvPr>
        </p:nvSpPr>
        <p:spPr/>
        <p:txBody>
          <a:bodyPr/>
          <a:lstStyle/>
          <a:p>
            <a:pPr algn="ctr"/>
            <a:r>
              <a:rPr lang="en-US" b="1" dirty="0">
                <a:latin typeface="+mj-lt"/>
              </a:rPr>
              <a:t>CONFIDENTIALITY</a:t>
            </a:r>
            <a:endParaRPr lang="en-IN" b="1" dirty="0">
              <a:latin typeface="+mj-lt"/>
            </a:endParaRPr>
          </a:p>
        </p:txBody>
      </p:sp>
      <p:sp>
        <p:nvSpPr>
          <p:cNvPr id="4" name="Slide Number Placeholder 3">
            <a:extLst>
              <a:ext uri="{FF2B5EF4-FFF2-40B4-BE49-F238E27FC236}">
                <a16:creationId xmlns:a16="http://schemas.microsoft.com/office/drawing/2014/main" id="{E10B9D0D-42A3-DAF9-BFB6-6F5BE3DE0E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2238213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55B76F-F07F-29CC-9466-52F03560C6F7}"/>
              </a:ext>
            </a:extLst>
          </p:cNvPr>
          <p:cNvSpPr>
            <a:spLocks noGrp="1"/>
          </p:cNvSpPr>
          <p:nvPr>
            <p:ph type="body" idx="1"/>
          </p:nvPr>
        </p:nvSpPr>
        <p:spPr/>
        <p:txBody>
          <a:bodyPr>
            <a:normAutofit/>
          </a:bodyPr>
          <a:lstStyle/>
          <a:p>
            <a:pPr algn="just"/>
            <a:r>
              <a:rPr lang="en-US" alt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Integrity: </a:t>
            </a:r>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Protects data from being tampered with or corrupted by unauthorized parties.</a:t>
            </a:r>
          </a:p>
          <a:p>
            <a:pPr algn="just" fontAlgn="base"/>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Risks to Integrity:</a:t>
            </a:r>
          </a:p>
          <a:p>
            <a:pPr algn="just" fontAlgn="base"/>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Data Tampering: </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Attackers may intentionally alter or corrupt data for malicious purposes.</a:t>
            </a:r>
          </a:p>
          <a:p>
            <a:pPr algn="just" fontAlgn="base"/>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Malware &amp; Ransomware: </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Malicious software can modify, encrypt or destroy data, leading to loss and system disruption.</a:t>
            </a:r>
          </a:p>
        </p:txBody>
      </p:sp>
      <p:sp>
        <p:nvSpPr>
          <p:cNvPr id="3" name="Title 2">
            <a:extLst>
              <a:ext uri="{FF2B5EF4-FFF2-40B4-BE49-F238E27FC236}">
                <a16:creationId xmlns:a16="http://schemas.microsoft.com/office/drawing/2014/main" id="{471E021A-5DF6-8BB1-5A0B-EF73D2A8158C}"/>
              </a:ext>
            </a:extLst>
          </p:cNvPr>
          <p:cNvSpPr>
            <a:spLocks noGrp="1"/>
          </p:cNvSpPr>
          <p:nvPr>
            <p:ph type="title"/>
          </p:nvPr>
        </p:nvSpPr>
        <p:spPr/>
        <p:txBody>
          <a:bodyPr>
            <a:normAutofit/>
          </a:bodyPr>
          <a:lstStyle/>
          <a:p>
            <a:pPr algn="ctr"/>
            <a:r>
              <a:rPr lang="en-US" sz="4000" b="1" dirty="0">
                <a:latin typeface="+mj-lt"/>
              </a:rPr>
              <a:t>INTEGRITY</a:t>
            </a:r>
            <a:endParaRPr lang="en-IN" sz="4000" b="1" dirty="0">
              <a:latin typeface="+mj-lt"/>
            </a:endParaRPr>
          </a:p>
        </p:txBody>
      </p:sp>
      <p:sp>
        <p:nvSpPr>
          <p:cNvPr id="4" name="Slide Number Placeholder 3">
            <a:extLst>
              <a:ext uri="{FF2B5EF4-FFF2-40B4-BE49-F238E27FC236}">
                <a16:creationId xmlns:a16="http://schemas.microsoft.com/office/drawing/2014/main" id="{924C1D32-38BF-88D3-937E-0B90C2DF1E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1516595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F5D8EF-2A84-2BFA-3D7A-6F4FCABCBC83}"/>
              </a:ext>
            </a:extLst>
          </p:cNvPr>
          <p:cNvSpPr>
            <a:spLocks noGrp="1"/>
          </p:cNvSpPr>
          <p:nvPr>
            <p:ph type="body" idx="1"/>
          </p:nvPr>
        </p:nvSpPr>
        <p:spPr/>
        <p:txBody>
          <a:bodyPr>
            <a:normAutofit/>
          </a:bodyPr>
          <a:lstStyle/>
          <a:p>
            <a:pPr algn="just"/>
            <a:r>
              <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rPr>
              <a:t>Availability: </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Ensures authorized users have reliable and uninterrupted access to systems and information when needed.</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Risks to Availability</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DoS and DDoS Attacks: </a:t>
            </a:r>
            <a:r>
              <a:rPr lang="en-IN" dirty="0">
                <a:latin typeface="Calibri" panose="020F0502020204030204" pitchFamily="34" charset="0"/>
                <a:ea typeface="Calibri" panose="020F0502020204030204" pitchFamily="34" charset="0"/>
                <a:cs typeface="Calibri" panose="020F0502020204030204" pitchFamily="34" charset="0"/>
              </a:rPr>
              <a:t>Denial of Service (DoS) or Distributed Denial of Service (DDoS) attacks flood network resources with excessive traffic, making them unavailable to legitimate users.</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Impact:</a:t>
            </a:r>
            <a:r>
              <a:rPr lang="en-IN" dirty="0">
                <a:latin typeface="Calibri" panose="020F0502020204030204" pitchFamily="34" charset="0"/>
                <a:ea typeface="Calibri" panose="020F0502020204030204" pitchFamily="34" charset="0"/>
                <a:cs typeface="Calibri" panose="020F0502020204030204" pitchFamily="34" charset="0"/>
              </a:rPr>
              <a:t> Such attacks can cause major service disruptions, downtime and financial losses for companies.</a:t>
            </a:r>
          </a:p>
        </p:txBody>
      </p:sp>
      <p:sp>
        <p:nvSpPr>
          <p:cNvPr id="3" name="Title 2">
            <a:extLst>
              <a:ext uri="{FF2B5EF4-FFF2-40B4-BE49-F238E27FC236}">
                <a16:creationId xmlns:a16="http://schemas.microsoft.com/office/drawing/2014/main" id="{4C374041-8035-1B5C-DAB7-D3114CE13958}"/>
              </a:ext>
            </a:extLst>
          </p:cNvPr>
          <p:cNvSpPr>
            <a:spLocks noGrp="1"/>
          </p:cNvSpPr>
          <p:nvPr>
            <p:ph type="title"/>
          </p:nvPr>
        </p:nvSpPr>
        <p:spPr/>
        <p:txBody>
          <a:bodyPr>
            <a:normAutofit/>
          </a:bodyPr>
          <a:lstStyle/>
          <a:p>
            <a:pPr algn="ctr"/>
            <a:r>
              <a:rPr lang="en-US" sz="4000" b="1" dirty="0">
                <a:latin typeface="+mj-lt"/>
              </a:rPr>
              <a:t>AVAILABILITY</a:t>
            </a:r>
            <a:endParaRPr lang="en-IN" sz="4000" b="1" dirty="0">
              <a:latin typeface="+mj-lt"/>
            </a:endParaRPr>
          </a:p>
        </p:txBody>
      </p:sp>
      <p:sp>
        <p:nvSpPr>
          <p:cNvPr id="4" name="Slide Number Placeholder 3">
            <a:extLst>
              <a:ext uri="{FF2B5EF4-FFF2-40B4-BE49-F238E27FC236}">
                <a16:creationId xmlns:a16="http://schemas.microsoft.com/office/drawing/2014/main" id="{B6A32DFC-FBDB-E181-F8F6-56C0BC3F67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294445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332464-1169-6782-FEAD-FB2760F9892E}"/>
              </a:ext>
            </a:extLst>
          </p:cNvPr>
          <p:cNvSpPr>
            <a:spLocks noGrp="1"/>
          </p:cNvSpPr>
          <p:nvPr>
            <p:ph type="body" idx="1"/>
          </p:nvPr>
        </p:nvSpPr>
        <p:spPr/>
        <p:txBody>
          <a:bodyPr>
            <a:normAutofit fontScale="92500" lnSpcReduction="10000"/>
          </a:bodyPr>
          <a:lstStyle/>
          <a:p>
            <a:pPr algn="just"/>
            <a:r>
              <a:rPr lang="en-IN" dirty="0">
                <a:latin typeface="+mj-lt"/>
              </a:rPr>
              <a:t>Cyber attacks use different techniques to compromise computer systems, networks, applications and digital assets. Each attack type exploits specific vulnerabilities and follows a distinct method to achieve unauthorized access, data theft, service disruption or system compromise.</a:t>
            </a:r>
          </a:p>
          <a:p>
            <a:pPr algn="just"/>
            <a:r>
              <a:rPr lang="en-IN" dirty="0">
                <a:latin typeface="+mj-lt"/>
              </a:rPr>
              <a:t>Common types of Cyber Attacks are:</a:t>
            </a:r>
          </a:p>
          <a:p>
            <a:pPr marL="628650" indent="-514350" algn="just">
              <a:buAutoNum type="arabicPeriod"/>
            </a:pPr>
            <a:r>
              <a:rPr lang="en-IN" dirty="0">
                <a:latin typeface="+mj-lt"/>
              </a:rPr>
              <a:t>Malware</a:t>
            </a:r>
          </a:p>
          <a:p>
            <a:pPr marL="628650" indent="-514350" algn="just">
              <a:buAutoNum type="arabicPeriod"/>
            </a:pPr>
            <a:r>
              <a:rPr lang="en-IN" dirty="0">
                <a:latin typeface="+mj-lt"/>
              </a:rPr>
              <a:t>Phishing</a:t>
            </a:r>
          </a:p>
          <a:p>
            <a:pPr marL="628650" indent="-514350" algn="just">
              <a:buAutoNum type="arabicPeriod"/>
            </a:pPr>
            <a:r>
              <a:rPr lang="en-IN" dirty="0">
                <a:latin typeface="+mj-lt"/>
              </a:rPr>
              <a:t>Denial of Service (DoS) Attack</a:t>
            </a:r>
          </a:p>
          <a:p>
            <a:pPr marL="628650" indent="-514350" algn="just">
              <a:buAutoNum type="arabicPeriod"/>
            </a:pPr>
            <a:r>
              <a:rPr lang="en-IN" dirty="0">
                <a:latin typeface="+mj-lt"/>
              </a:rPr>
              <a:t>Man-in-the-middle Attack (MITM)</a:t>
            </a:r>
          </a:p>
          <a:p>
            <a:pPr marL="628650" indent="-514350" algn="just">
              <a:buAutoNum type="arabicPeriod"/>
            </a:pPr>
            <a:r>
              <a:rPr lang="en-IN" dirty="0">
                <a:latin typeface="+mj-lt"/>
              </a:rPr>
              <a:t>SQL Injection</a:t>
            </a:r>
          </a:p>
          <a:p>
            <a:pPr marL="628650" indent="-514350" algn="just">
              <a:buAutoNum type="arabicPeriod"/>
            </a:pPr>
            <a:r>
              <a:rPr lang="en-IN" dirty="0">
                <a:latin typeface="+mj-lt"/>
              </a:rPr>
              <a:t>Social Engineering</a:t>
            </a:r>
          </a:p>
        </p:txBody>
      </p:sp>
      <p:sp>
        <p:nvSpPr>
          <p:cNvPr id="3" name="Title 2">
            <a:extLst>
              <a:ext uri="{FF2B5EF4-FFF2-40B4-BE49-F238E27FC236}">
                <a16:creationId xmlns:a16="http://schemas.microsoft.com/office/drawing/2014/main" id="{3A63690F-2090-3CF3-E142-B6F6FEF9E461}"/>
              </a:ext>
            </a:extLst>
          </p:cNvPr>
          <p:cNvSpPr>
            <a:spLocks noGrp="1"/>
          </p:cNvSpPr>
          <p:nvPr>
            <p:ph type="title"/>
          </p:nvPr>
        </p:nvSpPr>
        <p:spPr/>
        <p:txBody>
          <a:bodyPr/>
          <a:lstStyle/>
          <a:p>
            <a:pPr algn="ctr"/>
            <a:r>
              <a:rPr lang="en-US" b="1" dirty="0">
                <a:latin typeface="+mj-lt"/>
              </a:rPr>
              <a:t>TYPES OF CYBER ATTACKS</a:t>
            </a:r>
            <a:endParaRPr lang="en-IN" b="1" dirty="0">
              <a:latin typeface="+mj-lt"/>
            </a:endParaRPr>
          </a:p>
        </p:txBody>
      </p:sp>
      <p:sp>
        <p:nvSpPr>
          <p:cNvPr id="4" name="Slide Number Placeholder 3">
            <a:extLst>
              <a:ext uri="{FF2B5EF4-FFF2-40B4-BE49-F238E27FC236}">
                <a16:creationId xmlns:a16="http://schemas.microsoft.com/office/drawing/2014/main" id="{2496AB8A-417B-53AD-3661-95A68AF6C3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1560937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3E1713-9FBE-5D3F-D83E-FDC1F3A154BC}"/>
              </a:ext>
            </a:extLst>
          </p:cNvPr>
          <p:cNvSpPr>
            <a:spLocks noGrp="1"/>
          </p:cNvSpPr>
          <p:nvPr>
            <p:ph type="body" idx="1"/>
          </p:nvPr>
        </p:nvSpPr>
        <p:spPr/>
        <p:txBody>
          <a:bodyPr/>
          <a:lstStyle/>
          <a:p>
            <a:pPr algn="just" fontAlgn="base">
              <a:lnSpc>
                <a:spcPct val="100000"/>
              </a:lnSpc>
            </a:pPr>
            <a:r>
              <a:rPr lang="en-IN" dirty="0"/>
              <a:t>Malware refers to malicious software designed to damage, disrupt or gain unauthorized access to computer systems or take control of a system without the user's knowledge.</a:t>
            </a:r>
          </a:p>
          <a:p>
            <a:pPr algn="just" fontAlgn="base">
              <a:lnSpc>
                <a:spcPct val="100000"/>
              </a:lnSpc>
            </a:pPr>
            <a:r>
              <a:rPr lang="en-IN" dirty="0"/>
              <a:t>Malware is installed through infected files, software downloads or email attachments.</a:t>
            </a:r>
          </a:p>
          <a:p>
            <a:pPr algn="just" fontAlgn="base">
              <a:lnSpc>
                <a:spcPct val="100000"/>
              </a:lnSpc>
            </a:pPr>
            <a:r>
              <a:rPr lang="en-IN" dirty="0"/>
              <a:t>It can steal personal information, passwords or financial data.</a:t>
            </a:r>
          </a:p>
          <a:p>
            <a:pPr algn="just" fontAlgn="base">
              <a:lnSpc>
                <a:spcPct val="100000"/>
              </a:lnSpc>
            </a:pPr>
            <a:r>
              <a:rPr lang="en-IN" b="1" dirty="0"/>
              <a:t>Example:</a:t>
            </a:r>
            <a:r>
              <a:rPr lang="en-IN" dirty="0"/>
              <a:t> A Trojan malware hidden inside a cracked software installer steals browser-stored passwords after execution.</a:t>
            </a:r>
          </a:p>
        </p:txBody>
      </p:sp>
      <p:sp>
        <p:nvSpPr>
          <p:cNvPr id="3" name="Title 2">
            <a:extLst>
              <a:ext uri="{FF2B5EF4-FFF2-40B4-BE49-F238E27FC236}">
                <a16:creationId xmlns:a16="http://schemas.microsoft.com/office/drawing/2014/main" id="{69FC39B0-52CE-F29D-9690-B87DC3BEE78B}"/>
              </a:ext>
            </a:extLst>
          </p:cNvPr>
          <p:cNvSpPr>
            <a:spLocks noGrp="1"/>
          </p:cNvSpPr>
          <p:nvPr>
            <p:ph type="title"/>
          </p:nvPr>
        </p:nvSpPr>
        <p:spPr/>
        <p:txBody>
          <a:bodyPr/>
          <a:lstStyle/>
          <a:p>
            <a:pPr algn="ctr"/>
            <a:r>
              <a:rPr lang="en-US" b="1" dirty="0">
                <a:latin typeface="+mj-lt"/>
              </a:rPr>
              <a:t>MALWARE</a:t>
            </a:r>
            <a:endParaRPr lang="en-IN" b="1" dirty="0">
              <a:latin typeface="+mj-lt"/>
            </a:endParaRPr>
          </a:p>
        </p:txBody>
      </p:sp>
      <p:sp>
        <p:nvSpPr>
          <p:cNvPr id="4" name="Slide Number Placeholder 3">
            <a:extLst>
              <a:ext uri="{FF2B5EF4-FFF2-40B4-BE49-F238E27FC236}">
                <a16:creationId xmlns:a16="http://schemas.microsoft.com/office/drawing/2014/main" id="{DBC12259-6C34-A56F-A34A-9DE190B0FD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211875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A5F00B-6D97-B3A2-2A54-E3E79D582110}"/>
              </a:ext>
            </a:extLst>
          </p:cNvPr>
          <p:cNvSpPr>
            <a:spLocks noGrp="1"/>
          </p:cNvSpPr>
          <p:nvPr>
            <p:ph type="body" idx="1"/>
          </p:nvPr>
        </p:nvSpPr>
        <p:spPr/>
        <p:txBody>
          <a:bodyPr/>
          <a:lstStyle/>
          <a:p>
            <a:pPr marL="114300" indent="0" algn="just">
              <a:buNone/>
            </a:pPr>
            <a:r>
              <a:rPr lang="en-US" b="1" dirty="0">
                <a:latin typeface="Calibri" panose="020F0502020204030204" pitchFamily="34" charset="0"/>
                <a:ea typeface="Calibri" panose="020F0502020204030204" pitchFamily="34" charset="0"/>
                <a:cs typeface="Calibri" panose="020F0502020204030204" pitchFamily="34" charset="0"/>
              </a:rPr>
              <a:t>1. VIRUS:</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Virus refers to a program which damages computer systems and/or destroys or erases data files. A computer virus is a malicious program that self-replicates by copying itself to another program. In other words, the computer virus spreads by itself into other executable code or documents. The purpose of creating a computer virus is to infect vulnerable systems, gain admin control and steal user sensitive data. Hackers design computer viruses with malicious intent and prey on online users by tricking them.</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5FF8C508-331D-C3FA-3041-F809178487C5}"/>
              </a:ext>
            </a:extLst>
          </p:cNvPr>
          <p:cNvSpPr>
            <a:spLocks noGrp="1"/>
          </p:cNvSpPr>
          <p:nvPr>
            <p:ph type="title"/>
          </p:nvPr>
        </p:nvSpPr>
        <p:spPr/>
        <p:txBody>
          <a:bodyPr/>
          <a:lstStyle/>
          <a:p>
            <a:pPr algn="ctr"/>
            <a:r>
              <a:rPr lang="en-US" b="1" dirty="0">
                <a:latin typeface="+mj-lt"/>
              </a:rPr>
              <a:t>TYPES OF MALWARE</a:t>
            </a:r>
            <a:endParaRPr lang="en-IN" b="1" dirty="0">
              <a:latin typeface="+mj-lt"/>
            </a:endParaRPr>
          </a:p>
        </p:txBody>
      </p:sp>
      <p:sp>
        <p:nvSpPr>
          <p:cNvPr id="4" name="Slide Number Placeholder 3">
            <a:extLst>
              <a:ext uri="{FF2B5EF4-FFF2-40B4-BE49-F238E27FC236}">
                <a16:creationId xmlns:a16="http://schemas.microsoft.com/office/drawing/2014/main" id="{11142C71-894C-187C-6EF5-D0D8252452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2803307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BA07D84-6C56-5C80-5FD2-E099B8A70FF3}"/>
              </a:ext>
            </a:extLst>
          </p:cNvPr>
          <p:cNvSpPr>
            <a:spLocks noGrp="1"/>
          </p:cNvSpPr>
          <p:nvPr>
            <p:ph type="body" idx="1"/>
          </p:nvPr>
        </p:nvSpPr>
        <p:spPr/>
        <p:txBody>
          <a:bodyPr/>
          <a:lstStyle/>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2. WORM:</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A worm is a destructive program that fills a computer system with self-replicating information, clogging the system so that its operations are slowed down or stopped.</a:t>
            </a:r>
          </a:p>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3. RANSOMWARE:</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Ransomware is a type of malicious software (malware) that encrypts a victim’s data or locks them out of their own computer systems, rendering them inaccessible until a ransom payment is made. Cybercriminals typically demand payment in untraceable cryptocurrency.</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B9FC6960-B738-375E-F77F-802CE225DB7B}"/>
              </a:ext>
            </a:extLst>
          </p:cNvPr>
          <p:cNvSpPr>
            <a:spLocks noGrp="1"/>
          </p:cNvSpPr>
          <p:nvPr>
            <p:ph type="title"/>
          </p:nvPr>
        </p:nvSpPr>
        <p:spPr/>
        <p:txBody>
          <a:bodyPr/>
          <a:lstStyle/>
          <a:p>
            <a:pPr algn="ctr"/>
            <a:r>
              <a:rPr lang="en-US" b="1" dirty="0">
                <a:latin typeface="+mj-lt"/>
              </a:rPr>
              <a:t>TYPES OF MALWARE</a:t>
            </a:r>
            <a:endParaRPr lang="en-IN" dirty="0">
              <a:latin typeface="+mj-lt"/>
            </a:endParaRPr>
          </a:p>
        </p:txBody>
      </p:sp>
      <p:sp>
        <p:nvSpPr>
          <p:cNvPr id="4" name="Slide Number Placeholder 3">
            <a:extLst>
              <a:ext uri="{FF2B5EF4-FFF2-40B4-BE49-F238E27FC236}">
                <a16:creationId xmlns:a16="http://schemas.microsoft.com/office/drawing/2014/main" id="{A82D119D-3620-E1E7-2F6E-B85BCCFE18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3054028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418083-0C79-4548-47DE-879A48BA06DE}"/>
              </a:ext>
            </a:extLst>
          </p:cNvPr>
          <p:cNvSpPr>
            <a:spLocks noGrp="1"/>
          </p:cNvSpPr>
          <p:nvPr>
            <p:ph type="body" idx="1"/>
          </p:nvPr>
        </p:nvSpPr>
        <p:spPr/>
        <p:txBody>
          <a:bodyPr/>
          <a:lstStyle/>
          <a:p>
            <a:pPr marL="114300" indent="0" algn="just">
              <a:lnSpc>
                <a:spcPct val="100000"/>
              </a:lnSpc>
              <a:buNone/>
            </a:pPr>
            <a:r>
              <a:rPr lang="en-US" b="1" dirty="0">
                <a:latin typeface="Calibri" panose="020F0502020204030204" pitchFamily="34" charset="0"/>
                <a:ea typeface="Calibri" panose="020F0502020204030204" pitchFamily="34" charset="0"/>
                <a:cs typeface="Calibri" panose="020F0502020204030204" pitchFamily="34" charset="0"/>
              </a:rPr>
              <a:t>4. TROJAN:</a:t>
            </a:r>
          </a:p>
          <a:p>
            <a:pPr marL="114300" indent="0" algn="just">
              <a:lnSpc>
                <a:spcPct val="100000"/>
              </a:lnSpc>
              <a:buNone/>
            </a:pPr>
            <a:r>
              <a:rPr lang="en-IN" dirty="0">
                <a:latin typeface="Calibri" panose="020F0502020204030204" pitchFamily="34" charset="0"/>
                <a:ea typeface="Calibri" panose="020F0502020204030204" pitchFamily="34" charset="0"/>
                <a:cs typeface="Calibri" panose="020F0502020204030204" pitchFamily="34" charset="0"/>
              </a:rPr>
              <a:t>A Trojan Horse is malware that looks like legitimate software. Once installed, it allows attackers to access or control the system.</a:t>
            </a:r>
          </a:p>
          <a:p>
            <a:pPr marL="114300" indent="0" algn="just">
              <a:lnSpc>
                <a:spcPct val="100000"/>
              </a:lnSpc>
              <a:buNone/>
            </a:pPr>
            <a:r>
              <a:rPr lang="en-IN" b="1" dirty="0">
                <a:latin typeface="Calibri" panose="020F0502020204030204" pitchFamily="34" charset="0"/>
                <a:ea typeface="Calibri" panose="020F0502020204030204" pitchFamily="34" charset="0"/>
                <a:cs typeface="Calibri" panose="020F0502020204030204" pitchFamily="34" charset="0"/>
              </a:rPr>
              <a:t>5. SPYWARE:</a:t>
            </a:r>
          </a:p>
          <a:p>
            <a:pPr marL="114300" indent="0" algn="just">
              <a:lnSpc>
                <a:spcPct val="100000"/>
              </a:lnSpc>
              <a:buNone/>
            </a:pPr>
            <a:r>
              <a:rPr lang="en-IN" dirty="0">
                <a:latin typeface="Calibri" panose="020F0502020204030204" pitchFamily="34" charset="0"/>
                <a:ea typeface="Calibri" panose="020F0502020204030204" pitchFamily="34" charset="0"/>
                <a:cs typeface="Calibri" panose="020F0502020204030204" pitchFamily="34" charset="0"/>
              </a:rPr>
              <a:t>Spyware is malware that secretly monitors user activities. It collects sensitive information like passwords, browsing history and personal data.</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4ABCF6-4E21-8AE2-C446-3CC73C4F92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5" name="Title 2">
            <a:extLst>
              <a:ext uri="{FF2B5EF4-FFF2-40B4-BE49-F238E27FC236}">
                <a16:creationId xmlns:a16="http://schemas.microsoft.com/office/drawing/2014/main" id="{43D40378-0787-74FB-0840-BA2DD50781BD}"/>
              </a:ext>
            </a:extLst>
          </p:cNvPr>
          <p:cNvSpPr>
            <a:spLocks noGrp="1"/>
          </p:cNvSpPr>
          <p:nvPr>
            <p:ph type="title"/>
          </p:nvPr>
        </p:nvSpPr>
        <p:spPr>
          <a:xfrm>
            <a:off x="838200" y="238125"/>
            <a:ext cx="10444163" cy="719138"/>
          </a:xfrm>
        </p:spPr>
        <p:txBody>
          <a:bodyPr/>
          <a:lstStyle/>
          <a:p>
            <a:pPr algn="ctr"/>
            <a:r>
              <a:rPr lang="en-US" b="1" dirty="0">
                <a:latin typeface="+mj-lt"/>
              </a:rPr>
              <a:t>TYPES OF MALWARE</a:t>
            </a:r>
            <a:endParaRPr lang="en-IN" dirty="0">
              <a:latin typeface="+mj-lt"/>
            </a:endParaRPr>
          </a:p>
        </p:txBody>
      </p:sp>
    </p:spTree>
    <p:extLst>
      <p:ext uri="{BB962C8B-B14F-4D97-AF65-F5344CB8AC3E}">
        <p14:creationId xmlns:p14="http://schemas.microsoft.com/office/powerpoint/2010/main" val="749626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F80A04-19EA-C399-2152-152DEC89EED1}"/>
              </a:ext>
            </a:extLst>
          </p:cNvPr>
          <p:cNvSpPr>
            <a:spLocks noGrp="1"/>
          </p:cNvSpPr>
          <p:nvPr>
            <p:ph type="body" idx="1"/>
          </p:nvPr>
        </p:nvSpPr>
        <p:spPr/>
        <p:txBody>
          <a:bodyPr/>
          <a:lstStyle/>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Phishing is a cyberattack where attackers use fake messages or websites to trick victims into giving away sensitive information. It works like “fishing,” using bait to lure targets into clicking harmful links or entering confidential data.</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Aims to steal sensitive information such as user credentials, credit card details, government identification numbers and personal data by impersonating trusted organizations or online services.</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Commonly delivered through fraudulent emails, messages or spoofed websites that closely resemble legitimate platforms but use deceptive or suspicious URLs to trick users.</a:t>
            </a:r>
          </a:p>
        </p:txBody>
      </p:sp>
      <p:sp>
        <p:nvSpPr>
          <p:cNvPr id="3" name="Title 2">
            <a:extLst>
              <a:ext uri="{FF2B5EF4-FFF2-40B4-BE49-F238E27FC236}">
                <a16:creationId xmlns:a16="http://schemas.microsoft.com/office/drawing/2014/main" id="{A9CBCAA4-B007-0769-06FC-DFF90055BF14}"/>
              </a:ext>
            </a:extLst>
          </p:cNvPr>
          <p:cNvSpPr>
            <a:spLocks noGrp="1"/>
          </p:cNvSpPr>
          <p:nvPr>
            <p:ph type="title"/>
          </p:nvPr>
        </p:nvSpPr>
        <p:spPr/>
        <p:txBody>
          <a:bodyPr/>
          <a:lstStyle/>
          <a:p>
            <a:pPr algn="ctr"/>
            <a:r>
              <a:rPr lang="en-US" b="1" dirty="0">
                <a:latin typeface="+mj-lt"/>
              </a:rPr>
              <a:t>PHISHING</a:t>
            </a:r>
            <a:endParaRPr lang="en-IN" b="1" dirty="0">
              <a:latin typeface="+mj-lt"/>
            </a:endParaRPr>
          </a:p>
        </p:txBody>
      </p:sp>
      <p:sp>
        <p:nvSpPr>
          <p:cNvPr id="4" name="Slide Number Placeholder 3">
            <a:extLst>
              <a:ext uri="{FF2B5EF4-FFF2-40B4-BE49-F238E27FC236}">
                <a16:creationId xmlns:a16="http://schemas.microsoft.com/office/drawing/2014/main" id="{0CBC52A2-7B8C-97E2-049F-F15E67009C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3159365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94C5FC-B240-2F8C-EFE6-5EA868BC6326}"/>
              </a:ext>
            </a:extLst>
          </p:cNvPr>
          <p:cNvSpPr>
            <a:spLocks noGrp="1"/>
          </p:cNvSpPr>
          <p:nvPr>
            <p:ph type="body" idx="1"/>
          </p:nvPr>
        </p:nvSpPr>
        <p:spPr/>
        <p:txBody>
          <a:bodyPr/>
          <a:lstStyle/>
          <a:p>
            <a:pPr marL="114300" indent="0" algn="just">
              <a:lnSpc>
                <a:spcPct val="100000"/>
              </a:lnSpc>
              <a:buNone/>
            </a:pPr>
            <a:r>
              <a:rPr lang="en-US" b="1" dirty="0">
                <a:latin typeface="Calibri" panose="020F0502020204030204" pitchFamily="34" charset="0"/>
                <a:ea typeface="Calibri" panose="020F0502020204030204" pitchFamily="34" charset="0"/>
                <a:cs typeface="Calibri" panose="020F0502020204030204" pitchFamily="34" charset="0"/>
              </a:rPr>
              <a:t>1. EMAIL PHISING:</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Attackers send fake emails pretending to be trusted organizations to steal sensitive information.</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Often request login credentials, banking details or personal information. May include malicious links or infected attachments.</a:t>
            </a:r>
          </a:p>
          <a:p>
            <a:pPr marL="114300" indent="0" algn="just" fontAlgn="base">
              <a:lnSpc>
                <a:spcPct val="100000"/>
              </a:lnSpc>
              <a:buNone/>
            </a:pPr>
            <a:r>
              <a:rPr lang="en-IN" b="1" dirty="0">
                <a:latin typeface="Calibri" panose="020F0502020204030204" pitchFamily="34" charset="0"/>
                <a:ea typeface="Calibri" panose="020F0502020204030204" pitchFamily="34" charset="0"/>
                <a:cs typeface="Calibri" panose="020F0502020204030204" pitchFamily="34" charset="0"/>
              </a:rPr>
              <a:t>Example:</a:t>
            </a:r>
            <a:r>
              <a:rPr lang="en-IN" dirty="0">
                <a:latin typeface="Calibri" panose="020F0502020204030204" pitchFamily="34" charset="0"/>
                <a:ea typeface="Calibri" panose="020F0502020204030204" pitchFamily="34" charset="0"/>
                <a:cs typeface="Calibri" panose="020F0502020204030204" pitchFamily="34" charset="0"/>
              </a:rPr>
              <a:t> An email claiming to be from a bank asks the user to verify account details through a fake website.</a:t>
            </a:r>
          </a:p>
        </p:txBody>
      </p:sp>
      <p:sp>
        <p:nvSpPr>
          <p:cNvPr id="3" name="Title 2">
            <a:extLst>
              <a:ext uri="{FF2B5EF4-FFF2-40B4-BE49-F238E27FC236}">
                <a16:creationId xmlns:a16="http://schemas.microsoft.com/office/drawing/2014/main" id="{6B2ECC45-2258-33D1-B320-73A12246A68C}"/>
              </a:ext>
            </a:extLst>
          </p:cNvPr>
          <p:cNvSpPr>
            <a:spLocks noGrp="1"/>
          </p:cNvSpPr>
          <p:nvPr>
            <p:ph type="title"/>
          </p:nvPr>
        </p:nvSpPr>
        <p:spPr/>
        <p:txBody>
          <a:bodyPr/>
          <a:lstStyle/>
          <a:p>
            <a:pPr algn="ctr"/>
            <a:r>
              <a:rPr lang="en-US" b="1" dirty="0">
                <a:latin typeface="+mj-lt"/>
              </a:rPr>
              <a:t>TYPES OF PHISHING</a:t>
            </a:r>
            <a:endParaRPr lang="en-IN" b="1" dirty="0">
              <a:latin typeface="+mj-lt"/>
            </a:endParaRPr>
          </a:p>
        </p:txBody>
      </p:sp>
      <p:sp>
        <p:nvSpPr>
          <p:cNvPr id="4" name="Slide Number Placeholder 3">
            <a:extLst>
              <a:ext uri="{FF2B5EF4-FFF2-40B4-BE49-F238E27FC236}">
                <a16:creationId xmlns:a16="http://schemas.microsoft.com/office/drawing/2014/main" id="{5578B1F5-0F55-781D-EF80-5D90EBC514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627535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1F42B5-700B-0AC9-8FC8-0320EB767E5E}"/>
              </a:ext>
            </a:extLst>
          </p:cNvPr>
          <p:cNvSpPr>
            <a:spLocks noGrp="1"/>
          </p:cNvSpPr>
          <p:nvPr>
            <p:ph type="body" idx="1"/>
          </p:nvPr>
        </p:nvSpPr>
        <p:spPr/>
        <p:txBody>
          <a:bodyPr/>
          <a:lstStyle/>
          <a:p>
            <a:pPr marL="114300" indent="0" algn="just">
              <a:lnSpc>
                <a:spcPct val="100000"/>
              </a:lnSpc>
              <a:buNone/>
            </a:pPr>
            <a:r>
              <a:rPr lang="en-US" b="1" dirty="0">
                <a:latin typeface="Calibri" panose="020F0502020204030204" pitchFamily="34" charset="0"/>
                <a:ea typeface="Calibri" panose="020F0502020204030204" pitchFamily="34" charset="0"/>
                <a:cs typeface="Calibri" panose="020F0502020204030204" pitchFamily="34" charset="0"/>
              </a:rPr>
              <a:t>2. SPEAR PHISHING:</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A targeted phishing attack aimed at a specific individual or organization.</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Uses personal or professional information to appear legitimate. Messages are customized to increase credibility.</a:t>
            </a:r>
          </a:p>
          <a:p>
            <a:pPr marL="114300" indent="0" algn="just" fontAlgn="base">
              <a:lnSpc>
                <a:spcPct val="100000"/>
              </a:lnSpc>
              <a:buNone/>
            </a:pPr>
            <a:r>
              <a:rPr lang="en-IN" b="1" dirty="0">
                <a:latin typeface="Calibri" panose="020F0502020204030204" pitchFamily="34" charset="0"/>
                <a:ea typeface="Calibri" panose="020F0502020204030204" pitchFamily="34" charset="0"/>
                <a:cs typeface="Calibri" panose="020F0502020204030204" pitchFamily="34" charset="0"/>
              </a:rPr>
              <a:t>Example:</a:t>
            </a:r>
            <a:r>
              <a:rPr lang="en-IN" dirty="0">
                <a:latin typeface="Calibri" panose="020F0502020204030204" pitchFamily="34" charset="0"/>
                <a:ea typeface="Calibri" panose="020F0502020204030204" pitchFamily="34" charset="0"/>
                <a:cs typeface="Calibri" panose="020F0502020204030204" pitchFamily="34" charset="0"/>
              </a:rPr>
              <a:t> An employee receives an email appearing to be from their manager requesting access to a confidential document.</a:t>
            </a:r>
          </a:p>
          <a:p>
            <a:pPr marL="114300" indent="0" algn="just">
              <a:lnSpc>
                <a:spcPct val="100000"/>
              </a:lnSpc>
              <a:buNone/>
            </a:pP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6999B80-25D6-5162-3DBA-8C66D1E505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5" name="Title 2">
            <a:extLst>
              <a:ext uri="{FF2B5EF4-FFF2-40B4-BE49-F238E27FC236}">
                <a16:creationId xmlns:a16="http://schemas.microsoft.com/office/drawing/2014/main" id="{A209BFCD-033E-1DF6-2705-EC9200915BEA}"/>
              </a:ext>
            </a:extLst>
          </p:cNvPr>
          <p:cNvSpPr>
            <a:spLocks noGrp="1"/>
          </p:cNvSpPr>
          <p:nvPr>
            <p:ph type="title"/>
          </p:nvPr>
        </p:nvSpPr>
        <p:spPr>
          <a:xfrm>
            <a:off x="838200" y="238125"/>
            <a:ext cx="10444163" cy="719138"/>
          </a:xfrm>
        </p:spPr>
        <p:txBody>
          <a:bodyPr/>
          <a:lstStyle/>
          <a:p>
            <a:pPr algn="ctr"/>
            <a:r>
              <a:rPr lang="en-US" b="1" dirty="0">
                <a:latin typeface="+mj-lt"/>
              </a:rPr>
              <a:t>TYPES OF PHISHING</a:t>
            </a:r>
            <a:endParaRPr lang="en-IN" b="1" dirty="0">
              <a:latin typeface="+mj-lt"/>
            </a:endParaRPr>
          </a:p>
        </p:txBody>
      </p:sp>
    </p:spTree>
    <p:extLst>
      <p:ext uri="{BB962C8B-B14F-4D97-AF65-F5344CB8AC3E}">
        <p14:creationId xmlns:p14="http://schemas.microsoft.com/office/powerpoint/2010/main" val="896405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669FEB-737F-41BC-7766-D2099321BAD0}"/>
              </a:ext>
            </a:extLst>
          </p:cNvPr>
          <p:cNvSpPr>
            <a:spLocks noGrp="1"/>
          </p:cNvSpPr>
          <p:nvPr>
            <p:ph type="body" idx="1"/>
          </p:nvPr>
        </p:nvSpPr>
        <p:spPr/>
        <p:txBody>
          <a:bodyPr/>
          <a:lstStyle/>
          <a:p>
            <a:pPr marL="114300" indent="0" algn="just">
              <a:lnSpc>
                <a:spcPct val="100000"/>
              </a:lnSpc>
              <a:buNone/>
            </a:pPr>
            <a:r>
              <a:rPr lang="en-US" b="1" dirty="0">
                <a:latin typeface="Calibri" panose="020F0502020204030204" pitchFamily="34" charset="0"/>
                <a:ea typeface="Calibri" panose="020F0502020204030204" pitchFamily="34" charset="0"/>
                <a:cs typeface="Calibri" panose="020F0502020204030204" pitchFamily="34" charset="0"/>
              </a:rPr>
              <a:t>3. WHALING:</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A phishing attack specifically targeting senior executives and decision-makers.</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Focuses on CEOs, CFOs, directors and other high-ranking officials. Often involves requests for sensitive data or financial transactions.</a:t>
            </a:r>
          </a:p>
          <a:p>
            <a:pPr marL="114300" indent="0" algn="just" fontAlgn="base">
              <a:lnSpc>
                <a:spcPct val="100000"/>
              </a:lnSpc>
              <a:buNone/>
            </a:pPr>
            <a:r>
              <a:rPr lang="en-IN" b="1" dirty="0">
                <a:latin typeface="Calibri" panose="020F0502020204030204" pitchFamily="34" charset="0"/>
                <a:ea typeface="Calibri" panose="020F0502020204030204" pitchFamily="34" charset="0"/>
                <a:cs typeface="Calibri" panose="020F0502020204030204" pitchFamily="34" charset="0"/>
              </a:rPr>
              <a:t>Example:</a:t>
            </a:r>
            <a:r>
              <a:rPr lang="en-IN" dirty="0">
                <a:latin typeface="Calibri" panose="020F0502020204030204" pitchFamily="34" charset="0"/>
                <a:ea typeface="Calibri" panose="020F0502020204030204" pitchFamily="34" charset="0"/>
                <a:cs typeface="Calibri" panose="020F0502020204030204" pitchFamily="34" charset="0"/>
              </a:rPr>
              <a:t> A CFO receives an email impersonating the CEO requesting an urgent wire transfer.</a:t>
            </a:r>
          </a:p>
        </p:txBody>
      </p:sp>
      <p:sp>
        <p:nvSpPr>
          <p:cNvPr id="4" name="Slide Number Placeholder 3">
            <a:extLst>
              <a:ext uri="{FF2B5EF4-FFF2-40B4-BE49-F238E27FC236}">
                <a16:creationId xmlns:a16="http://schemas.microsoft.com/office/drawing/2014/main" id="{5FE7B47F-C4CA-329F-C777-BEA4922B50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5" name="Title 2">
            <a:extLst>
              <a:ext uri="{FF2B5EF4-FFF2-40B4-BE49-F238E27FC236}">
                <a16:creationId xmlns:a16="http://schemas.microsoft.com/office/drawing/2014/main" id="{E3B5F47F-3F9A-9C04-557F-B1C495A14B48}"/>
              </a:ext>
            </a:extLst>
          </p:cNvPr>
          <p:cNvSpPr>
            <a:spLocks noGrp="1"/>
          </p:cNvSpPr>
          <p:nvPr>
            <p:ph type="title"/>
          </p:nvPr>
        </p:nvSpPr>
        <p:spPr>
          <a:xfrm>
            <a:off x="838200" y="238125"/>
            <a:ext cx="10444163" cy="719138"/>
          </a:xfrm>
        </p:spPr>
        <p:txBody>
          <a:bodyPr/>
          <a:lstStyle/>
          <a:p>
            <a:pPr algn="ctr"/>
            <a:r>
              <a:rPr lang="en-US" b="1" dirty="0">
                <a:latin typeface="+mj-lt"/>
              </a:rPr>
              <a:t>TYPES OF PHISHING</a:t>
            </a:r>
            <a:endParaRPr lang="en-IN" b="1" dirty="0">
              <a:latin typeface="+mj-lt"/>
            </a:endParaRPr>
          </a:p>
        </p:txBody>
      </p:sp>
    </p:spTree>
    <p:extLst>
      <p:ext uri="{BB962C8B-B14F-4D97-AF65-F5344CB8AC3E}">
        <p14:creationId xmlns:p14="http://schemas.microsoft.com/office/powerpoint/2010/main" val="1593807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63625F-4FC2-D6C5-F11B-BD3B694F6939}"/>
              </a:ext>
            </a:extLst>
          </p:cNvPr>
          <p:cNvSpPr>
            <a:spLocks noGrp="1"/>
          </p:cNvSpPr>
          <p:nvPr>
            <p:ph type="body" idx="1"/>
          </p:nvPr>
        </p:nvSpPr>
        <p:spPr/>
        <p:txBody>
          <a:bodyPr/>
          <a:lstStyle/>
          <a:p>
            <a:pPr marL="114300" indent="0" algn="just">
              <a:lnSpc>
                <a:spcPct val="100000"/>
              </a:lnSpc>
              <a:buNone/>
            </a:pPr>
            <a:r>
              <a:rPr lang="en-US" b="1" dirty="0">
                <a:latin typeface="Calibri" panose="020F0502020204030204" pitchFamily="34" charset="0"/>
                <a:ea typeface="Calibri" panose="020F0502020204030204" pitchFamily="34" charset="0"/>
                <a:cs typeface="Calibri" panose="020F0502020204030204" pitchFamily="34" charset="0"/>
              </a:rPr>
              <a:t>4. SMISHING:</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Phishing conducted through SMS or text messages.</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Contains fraudulent links or fake alerts. Attempts to steal credentials, OTPs or financial information.</a:t>
            </a:r>
          </a:p>
          <a:p>
            <a:pPr marL="114300" indent="0" algn="just" fontAlgn="base">
              <a:lnSpc>
                <a:spcPct val="100000"/>
              </a:lnSpc>
              <a:buNone/>
            </a:pPr>
            <a:r>
              <a:rPr lang="en-IN" b="1" dirty="0">
                <a:latin typeface="Calibri" panose="020F0502020204030204" pitchFamily="34" charset="0"/>
                <a:ea typeface="Calibri" panose="020F0502020204030204" pitchFamily="34" charset="0"/>
                <a:cs typeface="Calibri" panose="020F0502020204030204" pitchFamily="34" charset="0"/>
              </a:rPr>
              <a:t>Example:</a:t>
            </a:r>
            <a:r>
              <a:rPr lang="en-IN" dirty="0">
                <a:latin typeface="Calibri" panose="020F0502020204030204" pitchFamily="34" charset="0"/>
                <a:ea typeface="Calibri" panose="020F0502020204030204" pitchFamily="34" charset="0"/>
                <a:cs typeface="Calibri" panose="020F0502020204030204" pitchFamily="34" charset="0"/>
              </a:rPr>
              <a:t> A text message claiming a package delivery issue asks the user to click a malicious tracking link.</a:t>
            </a:r>
          </a:p>
        </p:txBody>
      </p:sp>
      <p:sp>
        <p:nvSpPr>
          <p:cNvPr id="4" name="Slide Number Placeholder 3">
            <a:extLst>
              <a:ext uri="{FF2B5EF4-FFF2-40B4-BE49-F238E27FC236}">
                <a16:creationId xmlns:a16="http://schemas.microsoft.com/office/drawing/2014/main" id="{F10BA598-3570-EA1A-AE87-22FAD0C82D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5" name="Title 2">
            <a:extLst>
              <a:ext uri="{FF2B5EF4-FFF2-40B4-BE49-F238E27FC236}">
                <a16:creationId xmlns:a16="http://schemas.microsoft.com/office/drawing/2014/main" id="{576B25D8-7A2F-8D79-A04D-18C6AD934EC9}"/>
              </a:ext>
            </a:extLst>
          </p:cNvPr>
          <p:cNvSpPr>
            <a:spLocks noGrp="1"/>
          </p:cNvSpPr>
          <p:nvPr>
            <p:ph type="title"/>
          </p:nvPr>
        </p:nvSpPr>
        <p:spPr>
          <a:xfrm>
            <a:off x="838200" y="238125"/>
            <a:ext cx="10444163" cy="719138"/>
          </a:xfrm>
        </p:spPr>
        <p:txBody>
          <a:bodyPr/>
          <a:lstStyle/>
          <a:p>
            <a:pPr algn="ctr"/>
            <a:r>
              <a:rPr lang="en-US" b="1" dirty="0">
                <a:latin typeface="+mj-lt"/>
              </a:rPr>
              <a:t>TYPES OF PHISHING</a:t>
            </a:r>
            <a:endParaRPr lang="en-IN" b="1" dirty="0">
              <a:latin typeface="+mj-lt"/>
            </a:endParaRPr>
          </a:p>
        </p:txBody>
      </p:sp>
    </p:spTree>
    <p:extLst>
      <p:ext uri="{BB962C8B-B14F-4D97-AF65-F5344CB8AC3E}">
        <p14:creationId xmlns:p14="http://schemas.microsoft.com/office/powerpoint/2010/main" val="1511246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D025A7-B050-87AD-1993-828F747D9122}"/>
              </a:ext>
            </a:extLst>
          </p:cNvPr>
          <p:cNvSpPr>
            <a:spLocks noGrp="1"/>
          </p:cNvSpPr>
          <p:nvPr>
            <p:ph type="body" idx="1"/>
          </p:nvPr>
        </p:nvSpPr>
        <p:spPr/>
        <p:txBody>
          <a:bodyPr/>
          <a:lstStyle/>
          <a:p>
            <a:pPr marL="114300" indent="0" algn="just">
              <a:lnSpc>
                <a:spcPct val="100000"/>
              </a:lnSpc>
              <a:buNone/>
            </a:pPr>
            <a:r>
              <a:rPr lang="en-US" b="1" dirty="0">
                <a:latin typeface="Calibri" panose="020F0502020204030204" pitchFamily="34" charset="0"/>
                <a:ea typeface="Calibri" panose="020F0502020204030204" pitchFamily="34" charset="0"/>
                <a:cs typeface="Calibri" panose="020F0502020204030204" pitchFamily="34" charset="0"/>
              </a:rPr>
              <a:t>5. VISHING:</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Phishing performed through voice calls.</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Attackers impersonate banks, government agencies or technical support. Victims are persuaded to reveal confidential information.</a:t>
            </a:r>
          </a:p>
          <a:p>
            <a:pPr marL="114300" indent="0" algn="just" fontAlgn="base">
              <a:lnSpc>
                <a:spcPct val="100000"/>
              </a:lnSpc>
              <a:buNone/>
            </a:pPr>
            <a:r>
              <a:rPr lang="en-IN" b="1" dirty="0">
                <a:latin typeface="Calibri" panose="020F0502020204030204" pitchFamily="34" charset="0"/>
                <a:ea typeface="Calibri" panose="020F0502020204030204" pitchFamily="34" charset="0"/>
                <a:cs typeface="Calibri" panose="020F0502020204030204" pitchFamily="34" charset="0"/>
              </a:rPr>
              <a:t>Example:</a:t>
            </a:r>
            <a:r>
              <a:rPr lang="en-IN" dirty="0">
                <a:latin typeface="Calibri" panose="020F0502020204030204" pitchFamily="34" charset="0"/>
                <a:ea typeface="Calibri" panose="020F0502020204030204" pitchFamily="34" charset="0"/>
                <a:cs typeface="Calibri" panose="020F0502020204030204" pitchFamily="34" charset="0"/>
              </a:rPr>
              <a:t> A caller pretending to be a bank representative asks for an OTP to "verify" an account.</a:t>
            </a:r>
          </a:p>
        </p:txBody>
      </p:sp>
      <p:sp>
        <p:nvSpPr>
          <p:cNvPr id="4" name="Slide Number Placeholder 3">
            <a:extLst>
              <a:ext uri="{FF2B5EF4-FFF2-40B4-BE49-F238E27FC236}">
                <a16:creationId xmlns:a16="http://schemas.microsoft.com/office/drawing/2014/main" id="{A4B9AB19-7E1E-AB3F-FD6D-B13A6995BC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5" name="Title 2">
            <a:extLst>
              <a:ext uri="{FF2B5EF4-FFF2-40B4-BE49-F238E27FC236}">
                <a16:creationId xmlns:a16="http://schemas.microsoft.com/office/drawing/2014/main" id="{56F02268-BAA2-18F2-F7E4-B83484E56802}"/>
              </a:ext>
            </a:extLst>
          </p:cNvPr>
          <p:cNvSpPr>
            <a:spLocks noGrp="1"/>
          </p:cNvSpPr>
          <p:nvPr>
            <p:ph type="title"/>
          </p:nvPr>
        </p:nvSpPr>
        <p:spPr>
          <a:xfrm>
            <a:off x="838200" y="238125"/>
            <a:ext cx="10444163" cy="719138"/>
          </a:xfrm>
        </p:spPr>
        <p:txBody>
          <a:bodyPr/>
          <a:lstStyle/>
          <a:p>
            <a:pPr algn="ctr"/>
            <a:r>
              <a:rPr lang="en-US" b="1" dirty="0">
                <a:latin typeface="+mj-lt"/>
              </a:rPr>
              <a:t>TYPES OF PHISHING</a:t>
            </a:r>
            <a:endParaRPr lang="en-IN" b="1" dirty="0">
              <a:latin typeface="+mj-lt"/>
            </a:endParaRPr>
          </a:p>
        </p:txBody>
      </p:sp>
    </p:spTree>
    <p:extLst>
      <p:ext uri="{BB962C8B-B14F-4D97-AF65-F5344CB8AC3E}">
        <p14:creationId xmlns:p14="http://schemas.microsoft.com/office/powerpoint/2010/main" val="1574442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CFE0C4-B53D-2641-9C2B-35425D6971CE}"/>
              </a:ext>
            </a:extLst>
          </p:cNvPr>
          <p:cNvSpPr>
            <a:spLocks noGrp="1"/>
          </p:cNvSpPr>
          <p:nvPr>
            <p:ph type="body" idx="1"/>
          </p:nvPr>
        </p:nvSpPr>
        <p:spPr/>
        <p:txBody>
          <a:bodyPr/>
          <a:lstStyle/>
          <a:p>
            <a:pPr marL="114300" indent="0" algn="just">
              <a:lnSpc>
                <a:spcPct val="100000"/>
              </a:lnSpc>
              <a:buNone/>
            </a:pPr>
            <a:r>
              <a:rPr lang="en-US" b="1" dirty="0">
                <a:latin typeface="Calibri" panose="020F0502020204030204" pitchFamily="34" charset="0"/>
                <a:ea typeface="Calibri" panose="020F0502020204030204" pitchFamily="34" charset="0"/>
                <a:cs typeface="Calibri" panose="020F0502020204030204" pitchFamily="34" charset="0"/>
              </a:rPr>
              <a:t>6. CLONE PHISHING:</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Attackers copy a legitimate email and replace its links or attachments with malicious ones.</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The cloned email closely resembles the original message. Victims trust the email because it appears familiar.</a:t>
            </a:r>
          </a:p>
          <a:p>
            <a:pPr marL="114300" indent="0" algn="just" fontAlgn="base">
              <a:lnSpc>
                <a:spcPct val="100000"/>
              </a:lnSpc>
              <a:buNone/>
            </a:pPr>
            <a:r>
              <a:rPr lang="en-IN" b="1" dirty="0">
                <a:latin typeface="Calibri" panose="020F0502020204030204" pitchFamily="34" charset="0"/>
                <a:ea typeface="Calibri" panose="020F0502020204030204" pitchFamily="34" charset="0"/>
                <a:cs typeface="Calibri" panose="020F0502020204030204" pitchFamily="34" charset="0"/>
              </a:rPr>
              <a:t>Example:</a:t>
            </a:r>
            <a:r>
              <a:rPr lang="en-IN" dirty="0">
                <a:latin typeface="Calibri" panose="020F0502020204030204" pitchFamily="34" charset="0"/>
                <a:ea typeface="Calibri" panose="020F0502020204030204" pitchFamily="34" charset="0"/>
                <a:cs typeface="Calibri" panose="020F0502020204030204" pitchFamily="34" charset="0"/>
              </a:rPr>
              <a:t> A previously received company invoice is resent with a malicious attachment disguised as an updated document.</a:t>
            </a:r>
          </a:p>
        </p:txBody>
      </p:sp>
      <p:sp>
        <p:nvSpPr>
          <p:cNvPr id="4" name="Slide Number Placeholder 3">
            <a:extLst>
              <a:ext uri="{FF2B5EF4-FFF2-40B4-BE49-F238E27FC236}">
                <a16:creationId xmlns:a16="http://schemas.microsoft.com/office/drawing/2014/main" id="{6FDE9E8A-F162-EBBE-7234-403A5A2A1D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5" name="Title 2">
            <a:extLst>
              <a:ext uri="{FF2B5EF4-FFF2-40B4-BE49-F238E27FC236}">
                <a16:creationId xmlns:a16="http://schemas.microsoft.com/office/drawing/2014/main" id="{76143C5A-336D-DF38-D5B0-9ACE1435B123}"/>
              </a:ext>
            </a:extLst>
          </p:cNvPr>
          <p:cNvSpPr>
            <a:spLocks noGrp="1"/>
          </p:cNvSpPr>
          <p:nvPr>
            <p:ph type="title"/>
          </p:nvPr>
        </p:nvSpPr>
        <p:spPr>
          <a:xfrm>
            <a:off x="838200" y="238125"/>
            <a:ext cx="10444163" cy="719138"/>
          </a:xfrm>
        </p:spPr>
        <p:txBody>
          <a:bodyPr/>
          <a:lstStyle/>
          <a:p>
            <a:pPr algn="ctr"/>
            <a:r>
              <a:rPr lang="en-US" b="1" dirty="0">
                <a:latin typeface="+mj-lt"/>
              </a:rPr>
              <a:t>TYPES OF PHISHING</a:t>
            </a:r>
            <a:endParaRPr lang="en-IN" b="1" dirty="0">
              <a:latin typeface="+mj-lt"/>
            </a:endParaRPr>
          </a:p>
        </p:txBody>
      </p:sp>
    </p:spTree>
    <p:extLst>
      <p:ext uri="{BB962C8B-B14F-4D97-AF65-F5344CB8AC3E}">
        <p14:creationId xmlns:p14="http://schemas.microsoft.com/office/powerpoint/2010/main" val="2217617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DB36BF-40FC-F5CC-2E8B-264257C5FAFE}"/>
              </a:ext>
            </a:extLst>
          </p:cNvPr>
          <p:cNvSpPr>
            <a:spLocks noGrp="1"/>
          </p:cNvSpPr>
          <p:nvPr>
            <p:ph type="body" idx="1"/>
          </p:nvPr>
        </p:nvSpPr>
        <p:spPr/>
        <p:txBody>
          <a:bodyPr/>
          <a:lstStyle/>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Denial of Service (DoS) is a cyber-attack on an individual Computer or Website with the intent to deny services to intended users. Their purpose is to disrupt an organization's network operations by denying access to its users. Denial of service is typically accomplished by flooding the targeted machine or resource with surplus requests in an attempt to overload systems and prevent some or all legitimate requests from being fulfilled.</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DoS attacks exploit various weaknesses in computer network technologies. They may target servers, network routers, or network communication links. They can cause computers and routers to crash and links to bog down. </a:t>
            </a:r>
          </a:p>
        </p:txBody>
      </p:sp>
      <p:sp>
        <p:nvSpPr>
          <p:cNvPr id="3" name="Title 2">
            <a:extLst>
              <a:ext uri="{FF2B5EF4-FFF2-40B4-BE49-F238E27FC236}">
                <a16:creationId xmlns:a16="http://schemas.microsoft.com/office/drawing/2014/main" id="{D28CB94E-D7A2-D510-4119-C4CBD6BC8FD8}"/>
              </a:ext>
            </a:extLst>
          </p:cNvPr>
          <p:cNvSpPr>
            <a:spLocks noGrp="1"/>
          </p:cNvSpPr>
          <p:nvPr>
            <p:ph type="title"/>
          </p:nvPr>
        </p:nvSpPr>
        <p:spPr/>
        <p:txBody>
          <a:bodyPr/>
          <a:lstStyle/>
          <a:p>
            <a:pPr algn="ctr"/>
            <a:r>
              <a:rPr lang="en-US" b="1" dirty="0">
                <a:latin typeface="+mj-lt"/>
              </a:rPr>
              <a:t>DOS (DENIAL OF SERVICE)</a:t>
            </a:r>
            <a:endParaRPr lang="en-IN" b="1" dirty="0">
              <a:latin typeface="+mj-lt"/>
            </a:endParaRPr>
          </a:p>
        </p:txBody>
      </p:sp>
      <p:sp>
        <p:nvSpPr>
          <p:cNvPr id="4" name="Slide Number Placeholder 3">
            <a:extLst>
              <a:ext uri="{FF2B5EF4-FFF2-40B4-BE49-F238E27FC236}">
                <a16:creationId xmlns:a16="http://schemas.microsoft.com/office/drawing/2014/main" id="{8472CA16-2503-CF67-1DCD-861489E658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630786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972EBD-D6D6-4935-7DA0-179D65252827}"/>
              </a:ext>
            </a:extLst>
          </p:cNvPr>
          <p:cNvSpPr>
            <a:spLocks noGrp="1"/>
          </p:cNvSpPr>
          <p:nvPr>
            <p:ph type="body" idx="1"/>
          </p:nvPr>
        </p:nvSpPr>
        <p:spPr/>
        <p:txBody>
          <a:bodyPr>
            <a:normAutofit fontScale="85000" lnSpcReduction="20000"/>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The most famous DoS technique is the Ping of Death. The Ping of Death attack works by generating and sending special network messages (specifically, ICMP packets of non-standard sizes) that cause problems for systems that receive them.</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Another variant of the DoS is the Smurf attack. This involves emails with automatic responses. If someone emails hundreds of email messages with a fake return email address to hundreds of people in an organization with an autoresponder on in their email, the initially sent messages can become thousands sent to the fake email address. If that fake email address belongs to someone, this can overwhelm that person's account. DoS attacks can cause the following problems: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Ineffective services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Inaccessible services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Interruption of network traffic</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Connection interference</a:t>
            </a:r>
          </a:p>
        </p:txBody>
      </p:sp>
      <p:sp>
        <p:nvSpPr>
          <p:cNvPr id="4" name="Slide Number Placeholder 3">
            <a:extLst>
              <a:ext uri="{FF2B5EF4-FFF2-40B4-BE49-F238E27FC236}">
                <a16:creationId xmlns:a16="http://schemas.microsoft.com/office/drawing/2014/main" id="{987FB842-4B12-FCD2-8572-20CB712F6BB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5" name="Title 2">
            <a:extLst>
              <a:ext uri="{FF2B5EF4-FFF2-40B4-BE49-F238E27FC236}">
                <a16:creationId xmlns:a16="http://schemas.microsoft.com/office/drawing/2014/main" id="{D9C3C94B-9BC5-A35A-3147-415FECDC9333}"/>
              </a:ext>
            </a:extLst>
          </p:cNvPr>
          <p:cNvSpPr>
            <a:spLocks noGrp="1"/>
          </p:cNvSpPr>
          <p:nvPr>
            <p:ph type="title"/>
          </p:nvPr>
        </p:nvSpPr>
        <p:spPr>
          <a:xfrm>
            <a:off x="838200" y="238125"/>
            <a:ext cx="10444163" cy="719138"/>
          </a:xfrm>
        </p:spPr>
        <p:txBody>
          <a:bodyPr/>
          <a:lstStyle/>
          <a:p>
            <a:pPr algn="ctr"/>
            <a:r>
              <a:rPr lang="en-US" b="1" dirty="0">
                <a:latin typeface="+mj-lt"/>
              </a:rPr>
              <a:t>DOS (DENIAL OF SERVICE)</a:t>
            </a:r>
            <a:endParaRPr lang="en-IN" b="1" dirty="0">
              <a:latin typeface="+mj-lt"/>
            </a:endParaRPr>
          </a:p>
        </p:txBody>
      </p:sp>
    </p:spTree>
    <p:extLst>
      <p:ext uri="{BB962C8B-B14F-4D97-AF65-F5344CB8AC3E}">
        <p14:creationId xmlns:p14="http://schemas.microsoft.com/office/powerpoint/2010/main" val="1942353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B4CEA3-AD5E-6D27-08EB-B611C97A5168}"/>
              </a:ext>
            </a:extLst>
          </p:cNvPr>
          <p:cNvSpPr>
            <a:spLocks noGrp="1"/>
          </p:cNvSpPr>
          <p:nvPr>
            <p:ph type="body" idx="1"/>
          </p:nvPr>
        </p:nvSpPr>
        <p:spPr/>
        <p:txBody>
          <a:bodyPr/>
          <a:lstStyle/>
          <a:p>
            <a:pPr marL="114300" indent="0" algn="just" fontAlgn="base">
              <a:lnSpc>
                <a:spcPct val="100000"/>
              </a:lnSpc>
              <a:buNone/>
            </a:pPr>
            <a:r>
              <a:rPr lang="en-IN" b="1" dirty="0">
                <a:latin typeface="Calibri" panose="020F0502020204030204" pitchFamily="34" charset="0"/>
                <a:ea typeface="Calibri" panose="020F0502020204030204" pitchFamily="34" charset="0"/>
                <a:cs typeface="Calibri" panose="020F0502020204030204" pitchFamily="34" charset="0"/>
              </a:rPr>
              <a:t>How Do DoS Attacks Work?</a:t>
            </a:r>
            <a:endParaRPr lang="en-IN" dirty="0">
              <a:latin typeface="Calibri" panose="020F0502020204030204" pitchFamily="34" charset="0"/>
              <a:ea typeface="Calibri" panose="020F0502020204030204" pitchFamily="34" charset="0"/>
              <a:cs typeface="Calibri" panose="020F0502020204030204" pitchFamily="34" charset="0"/>
            </a:endParaRPr>
          </a:p>
          <a:p>
            <a:pPr marL="114300" indent="0" algn="just" fontAlgn="base">
              <a:lnSpc>
                <a:spcPct val="100000"/>
              </a:lnSpc>
              <a:buNone/>
            </a:pPr>
            <a:r>
              <a:rPr lang="en-IN" dirty="0">
                <a:latin typeface="Calibri" panose="020F0502020204030204" pitchFamily="34" charset="0"/>
                <a:ea typeface="Calibri" panose="020F0502020204030204" pitchFamily="34" charset="0"/>
                <a:cs typeface="Calibri" panose="020F0502020204030204" pitchFamily="34" charset="0"/>
              </a:rPr>
              <a:t>DoS attacks typically exploit vulnerabilities in a target's network or computer systems. Attackers can use a variety of methods to generate overwhelming traffic or requests, including:</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Flooding the target with a massive amount of data</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Sending repeated requests to a specific part of the system</a:t>
            </a:r>
          </a:p>
          <a:p>
            <a:pPr algn="just" fontAlgn="base">
              <a:lnSpc>
                <a:spcPct val="100000"/>
              </a:lnSpc>
            </a:pPr>
            <a:r>
              <a:rPr lang="en-IN" dirty="0">
                <a:latin typeface="Calibri" panose="020F0502020204030204" pitchFamily="34" charset="0"/>
                <a:ea typeface="Calibri" panose="020F0502020204030204" pitchFamily="34" charset="0"/>
                <a:cs typeface="Calibri" panose="020F0502020204030204" pitchFamily="34" charset="0"/>
              </a:rPr>
              <a:t>Exploiting software vulnerabilities to crash the system</a:t>
            </a:r>
          </a:p>
        </p:txBody>
      </p:sp>
      <p:sp>
        <p:nvSpPr>
          <p:cNvPr id="4" name="Slide Number Placeholder 3">
            <a:extLst>
              <a:ext uri="{FF2B5EF4-FFF2-40B4-BE49-F238E27FC236}">
                <a16:creationId xmlns:a16="http://schemas.microsoft.com/office/drawing/2014/main" id="{F935CD80-284B-7887-1ED9-D9FFFD64EA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5" name="Title 2">
            <a:extLst>
              <a:ext uri="{FF2B5EF4-FFF2-40B4-BE49-F238E27FC236}">
                <a16:creationId xmlns:a16="http://schemas.microsoft.com/office/drawing/2014/main" id="{E46F6F1A-8F5B-5DBB-26CB-05A6728F8571}"/>
              </a:ext>
            </a:extLst>
          </p:cNvPr>
          <p:cNvSpPr>
            <a:spLocks noGrp="1"/>
          </p:cNvSpPr>
          <p:nvPr>
            <p:ph type="title"/>
          </p:nvPr>
        </p:nvSpPr>
        <p:spPr>
          <a:xfrm>
            <a:off x="838200" y="226550"/>
            <a:ext cx="10444163" cy="719138"/>
          </a:xfrm>
        </p:spPr>
        <p:txBody>
          <a:bodyPr/>
          <a:lstStyle/>
          <a:p>
            <a:pPr algn="ctr"/>
            <a:r>
              <a:rPr lang="en-US" b="1" dirty="0">
                <a:latin typeface="+mj-lt"/>
              </a:rPr>
              <a:t>DOS (DENIAL OF SERVICE)</a:t>
            </a:r>
            <a:endParaRPr lang="en-IN" b="1" dirty="0">
              <a:latin typeface="+mj-lt"/>
            </a:endParaRPr>
          </a:p>
        </p:txBody>
      </p:sp>
    </p:spTree>
    <p:extLst>
      <p:ext uri="{BB962C8B-B14F-4D97-AF65-F5344CB8AC3E}">
        <p14:creationId xmlns:p14="http://schemas.microsoft.com/office/powerpoint/2010/main" val="1366993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ABE94C-C001-FFBB-C331-A5EF81CBC871}"/>
              </a:ext>
            </a:extLst>
          </p:cNvPr>
          <p:cNvSpPr>
            <a:spLocks noGrp="1"/>
          </p:cNvSpPr>
          <p:nvPr>
            <p:ph type="body" idx="1"/>
          </p:nvPr>
        </p:nvSpPr>
        <p:spPr/>
        <p:txBody>
          <a:bodyPr>
            <a:normAutofit/>
          </a:bodyPr>
          <a:lstStyle/>
          <a:p>
            <a:pPr algn="just">
              <a:lnSpc>
                <a:spcPct val="100000"/>
              </a:lnSpc>
            </a:pPr>
            <a:r>
              <a:rPr lang="en-IN" sz="2400" dirty="0">
                <a:latin typeface="Calibri" panose="020F0502020204030204" pitchFamily="34" charset="0"/>
                <a:ea typeface="Calibri" panose="020F0502020204030204" pitchFamily="34" charset="0"/>
                <a:cs typeface="Calibri" panose="020F0502020204030204" pitchFamily="34" charset="0"/>
              </a:rPr>
              <a:t>A DDoS attack uses multiple servers and Internet connections to flood the targeted resource. A DDoS attack is one of the most powerful weapons on the cyber platform. When you come to know about a website being brought down, it generally means it has become a victim of a DDoS attack. This means that the hackers have attacked your website or PC by imposing heavy traffic. Thus, crashing the website or computer due to overloading. </a:t>
            </a:r>
          </a:p>
          <a:p>
            <a:pPr algn="just">
              <a:lnSpc>
                <a:spcPct val="100000"/>
              </a:lnSpc>
            </a:pPr>
            <a:r>
              <a:rPr lang="en-IN" sz="2400" dirty="0">
                <a:latin typeface="Calibri" panose="020F0502020204030204" pitchFamily="34" charset="0"/>
                <a:ea typeface="Calibri" panose="020F0502020204030204" pitchFamily="34" charset="0"/>
                <a:cs typeface="Calibri" panose="020F0502020204030204" pitchFamily="34" charset="0"/>
              </a:rPr>
              <a:t>DoS stands for Denial of Service. It is a type of attack on a service that disrupts its normal function and prevents other users from accessing it. The most common target for a DoS attack is an online service such as a website, though attacks can also be launched against networks, machines, or even a single program.</a:t>
            </a:r>
          </a:p>
        </p:txBody>
      </p:sp>
      <p:sp>
        <p:nvSpPr>
          <p:cNvPr id="3" name="Title 2">
            <a:extLst>
              <a:ext uri="{FF2B5EF4-FFF2-40B4-BE49-F238E27FC236}">
                <a16:creationId xmlns:a16="http://schemas.microsoft.com/office/drawing/2014/main" id="{534ACEFE-86CF-274F-1C22-D37759F8C3CA}"/>
              </a:ext>
            </a:extLst>
          </p:cNvPr>
          <p:cNvSpPr>
            <a:spLocks noGrp="1"/>
          </p:cNvSpPr>
          <p:nvPr>
            <p:ph type="title"/>
          </p:nvPr>
        </p:nvSpPr>
        <p:spPr/>
        <p:txBody>
          <a:bodyPr/>
          <a:lstStyle/>
          <a:p>
            <a:pPr algn="ctr"/>
            <a:r>
              <a:rPr lang="en-US" b="1" dirty="0">
                <a:latin typeface="+mj-lt"/>
              </a:rPr>
              <a:t>DDOS (DISTRIBUTED DENIAL OF SERVICE)</a:t>
            </a:r>
            <a:endParaRPr lang="en-IN" b="1" dirty="0">
              <a:latin typeface="+mj-lt"/>
            </a:endParaRPr>
          </a:p>
        </p:txBody>
      </p:sp>
      <p:sp>
        <p:nvSpPr>
          <p:cNvPr id="4" name="Slide Number Placeholder 3">
            <a:extLst>
              <a:ext uri="{FF2B5EF4-FFF2-40B4-BE49-F238E27FC236}">
                <a16:creationId xmlns:a16="http://schemas.microsoft.com/office/drawing/2014/main" id="{4923F702-ED04-551E-BA05-4AC2B577DD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extLst>
      <p:ext uri="{BB962C8B-B14F-4D97-AF65-F5344CB8AC3E}">
        <p14:creationId xmlns:p14="http://schemas.microsoft.com/office/powerpoint/2010/main" val="3911357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0E498B-A820-F834-A3E0-50C8114B7239}"/>
              </a:ext>
            </a:extLst>
          </p:cNvPr>
          <p:cNvSpPr>
            <a:spLocks noGrp="1"/>
          </p:cNvSpPr>
          <p:nvPr>
            <p:ph type="body" idx="1"/>
          </p:nvPr>
        </p:nvSpPr>
        <p:spPr/>
        <p:txBody>
          <a:bodyPr/>
          <a:lstStyle/>
          <a:p>
            <a:pPr marL="114300" indent="0">
              <a:buNone/>
            </a:pPr>
            <a:r>
              <a:rPr lang="en-US" dirty="0">
                <a:solidFill>
                  <a:schemeClr val="bg1"/>
                </a:solidFill>
              </a:rPr>
              <a:t>..</a:t>
            </a:r>
            <a:endParaRPr lang="en-IN" dirty="0">
              <a:solidFill>
                <a:schemeClr val="bg1"/>
              </a:solidFill>
            </a:endParaRPr>
          </a:p>
        </p:txBody>
      </p:sp>
      <p:sp>
        <p:nvSpPr>
          <p:cNvPr id="3" name="Title 2">
            <a:extLst>
              <a:ext uri="{FF2B5EF4-FFF2-40B4-BE49-F238E27FC236}">
                <a16:creationId xmlns:a16="http://schemas.microsoft.com/office/drawing/2014/main" id="{4E5E305A-FEC7-A6A0-8C10-3569322BE56D}"/>
              </a:ext>
            </a:extLst>
          </p:cNvPr>
          <p:cNvSpPr>
            <a:spLocks noGrp="1"/>
          </p:cNvSpPr>
          <p:nvPr>
            <p:ph type="title"/>
          </p:nvPr>
        </p:nvSpPr>
        <p:spPr/>
        <p:txBody>
          <a:bodyPr/>
          <a:lstStyle/>
          <a:p>
            <a:pPr algn="ctr"/>
            <a:r>
              <a:rPr lang="en-US" b="1" dirty="0">
                <a:latin typeface="+mj-lt"/>
              </a:rPr>
              <a:t>DOS V/S DDOS</a:t>
            </a:r>
            <a:endParaRPr lang="en-IN" b="1" dirty="0">
              <a:latin typeface="+mj-lt"/>
            </a:endParaRPr>
          </a:p>
        </p:txBody>
      </p:sp>
      <p:sp>
        <p:nvSpPr>
          <p:cNvPr id="4" name="Slide Number Placeholder 3">
            <a:extLst>
              <a:ext uri="{FF2B5EF4-FFF2-40B4-BE49-F238E27FC236}">
                <a16:creationId xmlns:a16="http://schemas.microsoft.com/office/drawing/2014/main" id="{56F6ABDA-0C91-6145-7F37-E34C523970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graphicFrame>
        <p:nvGraphicFramePr>
          <p:cNvPr id="5" name="Table 4">
            <a:extLst>
              <a:ext uri="{FF2B5EF4-FFF2-40B4-BE49-F238E27FC236}">
                <a16:creationId xmlns:a16="http://schemas.microsoft.com/office/drawing/2014/main" id="{C5436710-6DD9-2445-97F7-E53F6F53CD6F}"/>
              </a:ext>
            </a:extLst>
          </p:cNvPr>
          <p:cNvGraphicFramePr>
            <a:graphicFrameLocks noGrp="1"/>
          </p:cNvGraphicFramePr>
          <p:nvPr>
            <p:extLst>
              <p:ext uri="{D42A27DB-BD31-4B8C-83A1-F6EECF244321}">
                <p14:modId xmlns:p14="http://schemas.microsoft.com/office/powerpoint/2010/main" val="3361177132"/>
              </p:ext>
            </p:extLst>
          </p:nvPr>
        </p:nvGraphicFramePr>
        <p:xfrm>
          <a:off x="1030146" y="1265251"/>
          <a:ext cx="10104700" cy="4811460"/>
        </p:xfrm>
        <a:graphic>
          <a:graphicData uri="http://schemas.openxmlformats.org/drawingml/2006/table">
            <a:tbl>
              <a:tblPr firstRow="1" bandRow="1">
                <a:tableStyleId>{5C22544A-7EE6-4342-B048-85BDC9FD1C3A}</a:tableStyleId>
              </a:tblPr>
              <a:tblGrid>
                <a:gridCol w="5052350">
                  <a:extLst>
                    <a:ext uri="{9D8B030D-6E8A-4147-A177-3AD203B41FA5}">
                      <a16:colId xmlns:a16="http://schemas.microsoft.com/office/drawing/2014/main" val="2887765409"/>
                    </a:ext>
                  </a:extLst>
                </a:gridCol>
                <a:gridCol w="5052350">
                  <a:extLst>
                    <a:ext uri="{9D8B030D-6E8A-4147-A177-3AD203B41FA5}">
                      <a16:colId xmlns:a16="http://schemas.microsoft.com/office/drawing/2014/main" val="3100297333"/>
                    </a:ext>
                  </a:extLst>
                </a:gridCol>
              </a:tblGrid>
              <a:tr h="962292">
                <a:tc>
                  <a:txBody>
                    <a:bodyPr/>
                    <a:lstStyle/>
                    <a:p>
                      <a:pPr marL="0" marR="0" algn="ctr" fontAlgn="base">
                        <a:spcBef>
                          <a:spcPts val="1875"/>
                        </a:spcBef>
                        <a:spcAft>
                          <a:spcPts val="1875"/>
                        </a:spcAft>
                        <a:buNone/>
                      </a:pPr>
                      <a:r>
                        <a:rPr lang="en-IN" sz="28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DoS</a:t>
                      </a:r>
                    </a:p>
                  </a:txBody>
                  <a:tcPr marL="38100" marR="38100" marT="63500" marB="63500" anchor="ctr"/>
                </a:tc>
                <a:tc>
                  <a:txBody>
                    <a:bodyPr/>
                    <a:lstStyle/>
                    <a:p>
                      <a:pPr marL="0" marR="0" algn="ctr" fontAlgn="base">
                        <a:spcBef>
                          <a:spcPts val="1875"/>
                        </a:spcBef>
                        <a:spcAft>
                          <a:spcPts val="1875"/>
                        </a:spcAft>
                        <a:buNone/>
                      </a:pPr>
                      <a:r>
                        <a:rPr lang="en-IN" sz="28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DDoS</a:t>
                      </a:r>
                    </a:p>
                  </a:txBody>
                  <a:tcPr marL="63500" marR="63500" marT="63500" marB="63500" anchor="ctr"/>
                </a:tc>
                <a:extLst>
                  <a:ext uri="{0D108BD9-81ED-4DB2-BD59-A6C34878D82A}">
                    <a16:rowId xmlns:a16="http://schemas.microsoft.com/office/drawing/2014/main" val="1187362007"/>
                  </a:ext>
                </a:extLst>
              </a:tr>
              <a:tr h="962292">
                <a:tc>
                  <a:txBody>
                    <a:bodyPr/>
                    <a:lstStyle/>
                    <a:p>
                      <a:pPr marL="0" marR="0" algn="just" fontAlgn="ctr">
                        <a:spcBef>
                          <a:spcPts val="1875"/>
                        </a:spcBef>
                        <a:spcAft>
                          <a:spcPts val="1875"/>
                        </a:spcAft>
                        <a:buNone/>
                      </a:pPr>
                      <a:r>
                        <a:rPr lang="en-IN" sz="24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DoS Stands for Denial of service attack.</a:t>
                      </a:r>
                      <a:endParaRPr lang="en-IN" sz="24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4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DDoS Stands for Distributed Denial of service attack.</a:t>
                      </a:r>
                      <a:endParaRPr lang="en-IN" sz="24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635804311"/>
                  </a:ext>
                </a:extLst>
              </a:tr>
              <a:tr h="962292">
                <a:tc>
                  <a:txBody>
                    <a:bodyPr/>
                    <a:lstStyle/>
                    <a:p>
                      <a:pPr marL="0" marR="0" algn="just" fontAlgn="ctr">
                        <a:spcBef>
                          <a:spcPts val="1875"/>
                        </a:spcBef>
                        <a:spcAft>
                          <a:spcPts val="1875"/>
                        </a:spcAft>
                        <a:buNone/>
                      </a:pPr>
                      <a:r>
                        <a:rPr lang="en-IN" sz="24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 Dos attack single system targets the victim system.</a:t>
                      </a:r>
                      <a:endParaRPr lang="en-IN" sz="24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4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In DDoS multiple systems attack the victim's system.</a:t>
                      </a:r>
                      <a:endParaRPr lang="en-IN" sz="24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013832267"/>
                  </a:ext>
                </a:extLst>
              </a:tr>
              <a:tr h="962292">
                <a:tc>
                  <a:txBody>
                    <a:bodyPr/>
                    <a:lstStyle/>
                    <a:p>
                      <a:pPr marL="0" marR="0" algn="just" fontAlgn="ctr">
                        <a:spcBef>
                          <a:spcPts val="1875"/>
                        </a:spcBef>
                        <a:spcAft>
                          <a:spcPts val="1875"/>
                        </a:spcAft>
                        <a:buNone/>
                      </a:pPr>
                      <a:r>
                        <a:rPr lang="en-IN" sz="24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Victim's PC is loaded from the packet of data sent from a single location.</a:t>
                      </a:r>
                      <a:endParaRPr lang="en-IN" sz="24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4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Victim PC is loaded from the packet of data sent from Multiple locations.</a:t>
                      </a:r>
                      <a:endParaRPr lang="en-IN" sz="24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918261043"/>
                  </a:ext>
                </a:extLst>
              </a:tr>
              <a:tr h="962292">
                <a:tc>
                  <a:txBody>
                    <a:bodyPr/>
                    <a:lstStyle/>
                    <a:p>
                      <a:pPr marL="0" marR="0" algn="just" fontAlgn="ctr">
                        <a:spcBef>
                          <a:spcPts val="1875"/>
                        </a:spcBef>
                        <a:spcAft>
                          <a:spcPts val="1875"/>
                        </a:spcAft>
                        <a:buNone/>
                      </a:pPr>
                      <a:r>
                        <a:rPr lang="en-IN" sz="24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Dos attack is slower as compared to DDoS.</a:t>
                      </a:r>
                      <a:endParaRPr lang="en-IN" sz="24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4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 DDoS attack is faster than Dos Attack.</a:t>
                      </a:r>
                      <a:endParaRPr lang="en-IN" sz="24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333117945"/>
                  </a:ext>
                </a:extLst>
              </a:tr>
            </a:tbl>
          </a:graphicData>
        </a:graphic>
      </p:graphicFrame>
    </p:spTree>
    <p:extLst>
      <p:ext uri="{BB962C8B-B14F-4D97-AF65-F5344CB8AC3E}">
        <p14:creationId xmlns:p14="http://schemas.microsoft.com/office/powerpoint/2010/main" val="10924115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25E950-A478-448B-5F07-E14C54743B2A}"/>
              </a:ext>
            </a:extLst>
          </p:cNvPr>
          <p:cNvSpPr>
            <a:spLocks noGrp="1"/>
          </p:cNvSpPr>
          <p:nvPr>
            <p:ph type="body" idx="1"/>
          </p:nvPr>
        </p:nvSpPr>
        <p:spPr/>
        <p:txBody>
          <a:bodyPr/>
          <a:lstStyle/>
          <a:p>
            <a:pPr marL="114300" indent="0">
              <a:buNone/>
            </a:pPr>
            <a:r>
              <a:rPr lang="en-US" dirty="0">
                <a:solidFill>
                  <a:schemeClr val="bg1"/>
                </a:solidFill>
              </a:rPr>
              <a:t>..</a:t>
            </a:r>
            <a:endParaRPr lang="en-IN" dirty="0">
              <a:solidFill>
                <a:schemeClr val="bg1"/>
              </a:solidFill>
            </a:endParaRPr>
          </a:p>
        </p:txBody>
      </p:sp>
      <p:sp>
        <p:nvSpPr>
          <p:cNvPr id="4" name="Slide Number Placeholder 3">
            <a:extLst>
              <a:ext uri="{FF2B5EF4-FFF2-40B4-BE49-F238E27FC236}">
                <a16:creationId xmlns:a16="http://schemas.microsoft.com/office/drawing/2014/main" id="{CF756E67-3897-4066-3B80-89960AEDA5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
        <p:nvSpPr>
          <p:cNvPr id="5" name="Title 2">
            <a:extLst>
              <a:ext uri="{FF2B5EF4-FFF2-40B4-BE49-F238E27FC236}">
                <a16:creationId xmlns:a16="http://schemas.microsoft.com/office/drawing/2014/main" id="{AE793B09-0A55-9DA4-A116-C13A4E5197F0}"/>
              </a:ext>
            </a:extLst>
          </p:cNvPr>
          <p:cNvSpPr>
            <a:spLocks noGrp="1"/>
          </p:cNvSpPr>
          <p:nvPr>
            <p:ph type="title"/>
          </p:nvPr>
        </p:nvSpPr>
        <p:spPr>
          <a:xfrm>
            <a:off x="838200" y="238125"/>
            <a:ext cx="10444163" cy="719138"/>
          </a:xfrm>
        </p:spPr>
        <p:txBody>
          <a:bodyPr/>
          <a:lstStyle/>
          <a:p>
            <a:pPr algn="ctr"/>
            <a:r>
              <a:rPr lang="en-US" b="1" dirty="0">
                <a:latin typeface="+mj-lt"/>
              </a:rPr>
              <a:t>DOS V/S DDOS</a:t>
            </a:r>
            <a:endParaRPr lang="en-IN" b="1" dirty="0">
              <a:latin typeface="+mj-lt"/>
            </a:endParaRPr>
          </a:p>
        </p:txBody>
      </p:sp>
      <p:graphicFrame>
        <p:nvGraphicFramePr>
          <p:cNvPr id="6" name="Table 5">
            <a:extLst>
              <a:ext uri="{FF2B5EF4-FFF2-40B4-BE49-F238E27FC236}">
                <a16:creationId xmlns:a16="http://schemas.microsoft.com/office/drawing/2014/main" id="{9C686343-6F72-D75E-FC62-F5D888AB36A7}"/>
              </a:ext>
            </a:extLst>
          </p:cNvPr>
          <p:cNvGraphicFramePr>
            <a:graphicFrameLocks noGrp="1"/>
          </p:cNvGraphicFramePr>
          <p:nvPr>
            <p:extLst>
              <p:ext uri="{D42A27DB-BD31-4B8C-83A1-F6EECF244321}">
                <p14:modId xmlns:p14="http://schemas.microsoft.com/office/powerpoint/2010/main" val="770552578"/>
              </p:ext>
            </p:extLst>
          </p:nvPr>
        </p:nvGraphicFramePr>
        <p:xfrm>
          <a:off x="838199" y="1265250"/>
          <a:ext cx="10515600" cy="4711661"/>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265762069"/>
                    </a:ext>
                  </a:extLst>
                </a:gridCol>
                <a:gridCol w="5257800">
                  <a:extLst>
                    <a:ext uri="{9D8B030D-6E8A-4147-A177-3AD203B41FA5}">
                      <a16:colId xmlns:a16="http://schemas.microsoft.com/office/drawing/2014/main" val="1045833928"/>
                    </a:ext>
                  </a:extLst>
                </a:gridCol>
              </a:tblGrid>
              <a:tr h="439598">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DOS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DDOS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574223092"/>
                  </a:ext>
                </a:extLst>
              </a:tr>
              <a:tr h="1050151">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Can be blocked easily as only one system is used.</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It is difficult to block this attack as multiple devices are sending packets and attacking from multiple locations.</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277192197"/>
                  </a:ext>
                </a:extLst>
              </a:tr>
              <a:tr h="757085">
                <a:tc>
                  <a:txBody>
                    <a:bodyPr/>
                    <a:lstStyle/>
                    <a:p>
                      <a:pPr marL="0" marR="0" algn="just"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In DOS Attack only a single device is used with DOS Attack tools.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 a DDoS attack, The volume Bots are used to attack at the same time.</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369963065"/>
                  </a:ext>
                </a:extLst>
              </a:tr>
              <a:tr h="464020">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DOS Attacks are Easy to trace.</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DDOS Attacks are Difficult to trace.</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356695110"/>
                  </a:ext>
                </a:extLst>
              </a:tr>
              <a:tr h="1892261">
                <a:tc>
                  <a:txBody>
                    <a:bodyPr/>
                    <a:lstStyle/>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Types of DOS Attacks are: </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1. Buffer overflow attacks</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2. Ping of Death or ICMP flood </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3. Teardrop Attack </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4. Flooding Attack</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Types of DDOS Attacks are:</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1. Volumetric Attacks</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2. Fragmentation Attacks </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3. Application Layer Attacks </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0"/>
                        </a:spcBef>
                        <a:spcAft>
                          <a:spcPts val="0"/>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4. Protocol Attack.</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83242805"/>
                  </a:ext>
                </a:extLst>
              </a:tr>
            </a:tbl>
          </a:graphicData>
        </a:graphic>
      </p:graphicFrame>
    </p:spTree>
    <p:extLst>
      <p:ext uri="{BB962C8B-B14F-4D97-AF65-F5344CB8AC3E}">
        <p14:creationId xmlns:p14="http://schemas.microsoft.com/office/powerpoint/2010/main" val="1522412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32D5CD-BAF0-2F1A-0BC2-FCB3B3270482}"/>
              </a:ext>
            </a:extLst>
          </p:cNvPr>
          <p:cNvSpPr>
            <a:spLocks noGrp="1"/>
          </p:cNvSpPr>
          <p:nvPr>
            <p:ph type="body" idx="1"/>
          </p:nvPr>
        </p:nvSpPr>
        <p:spPr/>
        <p:txBody>
          <a:bodyPr/>
          <a:lstStyle/>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A man-in-the-middle (MITM) attack is a cyberattack in which a hacker steals sensitive information by eavesdropping on communications between two online targets such as a user and a web application.</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After stealthily placing themselves in the middle of two-party communications, MITM attackers intercept sensitive data such as credit card numbers, account information and login credentials. Hackers then use that information to commit other cybercrimes such as making unauthorized purchases, hijacking financial accounts and identity theft.</a:t>
            </a:r>
          </a:p>
        </p:txBody>
      </p:sp>
      <p:sp>
        <p:nvSpPr>
          <p:cNvPr id="3" name="Title 2">
            <a:extLst>
              <a:ext uri="{FF2B5EF4-FFF2-40B4-BE49-F238E27FC236}">
                <a16:creationId xmlns:a16="http://schemas.microsoft.com/office/drawing/2014/main" id="{3B75EB6E-FA3E-E461-0B1F-7238EC8BED43}"/>
              </a:ext>
            </a:extLst>
          </p:cNvPr>
          <p:cNvSpPr>
            <a:spLocks noGrp="1"/>
          </p:cNvSpPr>
          <p:nvPr>
            <p:ph type="title"/>
          </p:nvPr>
        </p:nvSpPr>
        <p:spPr/>
        <p:txBody>
          <a:bodyPr/>
          <a:lstStyle/>
          <a:p>
            <a:pPr algn="ctr"/>
            <a:r>
              <a:rPr lang="en-US" b="1" dirty="0">
                <a:latin typeface="+mj-lt"/>
              </a:rPr>
              <a:t>MAN IN THE MIDDLE ATTACK</a:t>
            </a:r>
            <a:endParaRPr lang="en-IN" b="1" dirty="0">
              <a:latin typeface="+mj-lt"/>
            </a:endParaRPr>
          </a:p>
        </p:txBody>
      </p:sp>
      <p:sp>
        <p:nvSpPr>
          <p:cNvPr id="4" name="Slide Number Placeholder 3">
            <a:extLst>
              <a:ext uri="{FF2B5EF4-FFF2-40B4-BE49-F238E27FC236}">
                <a16:creationId xmlns:a16="http://schemas.microsoft.com/office/drawing/2014/main" id="{4F188343-6372-62BE-CE9B-C64D7CB74C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2768438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79D939-2666-1D29-2904-04683017CCD8}"/>
              </a:ext>
            </a:extLst>
          </p:cNvPr>
          <p:cNvSpPr>
            <a:spLocks noGrp="1"/>
          </p:cNvSpPr>
          <p:nvPr>
            <p:ph type="body" idx="1"/>
          </p:nvPr>
        </p:nvSpPr>
        <p:spPr/>
        <p:txBody>
          <a:bodyPr>
            <a:normAutofit lnSpcReduction="10000"/>
          </a:bodyPr>
          <a:lstStyle/>
          <a:p>
            <a:pPr marL="114300" indent="0" algn="just">
              <a:buNone/>
            </a:pPr>
            <a:r>
              <a:rPr lang="en-US" b="1" dirty="0">
                <a:latin typeface="Calibri" panose="020F0502020204030204" pitchFamily="34" charset="0"/>
                <a:ea typeface="Calibri" panose="020F0502020204030204" pitchFamily="34" charset="0"/>
                <a:cs typeface="Calibri" panose="020F0502020204030204" pitchFamily="34" charset="0"/>
              </a:rPr>
              <a:t>HOW MITM WROKS?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Vulnerabilities across networks, web browsers, email accounts, user behaviours and security protocols are the starting points of MITM attacks. Cybercriminals exploit these weaknesses to insert themselves between users and trusted applications so they can control communications and intercept data in real time.</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Phishing attacks are one common means of entry for MITM attackers. By clicking on a malicious link in an email, a user can unknowingly launch a man-in-the browser attack. MITM attackers often rely on this tactic to infect a user’s web browser with malware that enables them to make covert changes to web pages, manipulate transactions and spy on the user’s activity.</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5BB8619-A13B-AF63-8F06-66E9ED3FFA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
        <p:nvSpPr>
          <p:cNvPr id="5" name="Title 2">
            <a:extLst>
              <a:ext uri="{FF2B5EF4-FFF2-40B4-BE49-F238E27FC236}">
                <a16:creationId xmlns:a16="http://schemas.microsoft.com/office/drawing/2014/main" id="{9E8DB9DE-B29D-A9FF-E966-C1FFFC6B7AB5}"/>
              </a:ext>
            </a:extLst>
          </p:cNvPr>
          <p:cNvSpPr>
            <a:spLocks noGrp="1"/>
          </p:cNvSpPr>
          <p:nvPr>
            <p:ph type="title"/>
          </p:nvPr>
        </p:nvSpPr>
        <p:spPr>
          <a:xfrm>
            <a:off x="838200" y="238125"/>
            <a:ext cx="10444163" cy="719138"/>
          </a:xfrm>
        </p:spPr>
        <p:txBody>
          <a:bodyPr/>
          <a:lstStyle/>
          <a:p>
            <a:pPr algn="ctr"/>
            <a:r>
              <a:rPr lang="en-US" b="1" dirty="0">
                <a:latin typeface="+mj-lt"/>
              </a:rPr>
              <a:t>MAN IN THE MIDDLE ATTACK</a:t>
            </a:r>
            <a:endParaRPr lang="en-IN" b="1" dirty="0">
              <a:latin typeface="+mj-lt"/>
            </a:endParaRPr>
          </a:p>
        </p:txBody>
      </p:sp>
    </p:spTree>
    <p:extLst>
      <p:ext uri="{BB962C8B-B14F-4D97-AF65-F5344CB8AC3E}">
        <p14:creationId xmlns:p14="http://schemas.microsoft.com/office/powerpoint/2010/main" val="86525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E62105-7E4A-38F2-95D6-0D80A4D68293}"/>
              </a:ext>
            </a:extLst>
          </p:cNvPr>
          <p:cNvSpPr>
            <a:spLocks noGrp="1"/>
          </p:cNvSpPr>
          <p:nvPr>
            <p:ph type="body" idx="1"/>
          </p:nvPr>
        </p:nvSpPr>
        <p:spPr/>
        <p:txBody>
          <a:bodyPr>
            <a:normAutofit lnSpcReduction="10000"/>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Attackers use a variety of techniques to intercept and decrypt data during MITM attacks. Common techniques include:</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IP spoofing:</a:t>
            </a:r>
            <a:r>
              <a:rPr lang="en-IN" dirty="0">
                <a:latin typeface="Calibri" panose="020F0502020204030204" pitchFamily="34" charset="0"/>
                <a:ea typeface="Calibri" panose="020F0502020204030204" pitchFamily="34" charset="0"/>
                <a:cs typeface="Calibri" panose="020F0502020204030204" pitchFamily="34" charset="0"/>
              </a:rPr>
              <a:t> Internet Protocol (IP) addresses identify online entities such as websites, devices and email addresses. MITM attackers alter or ‘spoof’ their IP addresses so it appears a user is communicating with a genuine host when they are actually connected to a malicious source.</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ARP spoofing or ARP cache poisoning:</a:t>
            </a:r>
            <a:r>
              <a:rPr lang="en-IN" dirty="0">
                <a:latin typeface="Calibri" panose="020F0502020204030204" pitchFamily="34" charset="0"/>
                <a:ea typeface="Calibri" panose="020F0502020204030204" pitchFamily="34" charset="0"/>
                <a:cs typeface="Calibri" panose="020F0502020204030204" pitchFamily="34" charset="0"/>
              </a:rPr>
              <a:t> The Address Resolution Protocol (ARP) connects an IP address with the correct Media Access Control (MAC) address on a local area network. By spoofing the ARP address, an attacker can route this connection to their own MAC address to extract information.</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93B9A649-0412-F745-CFDC-67248A037D56}"/>
              </a:ext>
            </a:extLst>
          </p:cNvPr>
          <p:cNvSpPr>
            <a:spLocks noGrp="1"/>
          </p:cNvSpPr>
          <p:nvPr>
            <p:ph type="title"/>
          </p:nvPr>
        </p:nvSpPr>
        <p:spPr/>
        <p:txBody>
          <a:bodyPr>
            <a:normAutofit/>
          </a:bodyPr>
          <a:lstStyle/>
          <a:p>
            <a:pPr algn="ctr"/>
            <a:r>
              <a:rPr lang="en-US" b="1" dirty="0">
                <a:latin typeface="+mj-lt"/>
              </a:rPr>
              <a:t>MITM ATTACK TECHNIQUES</a:t>
            </a:r>
            <a:endParaRPr lang="en-IN" b="1" dirty="0">
              <a:latin typeface="+mj-lt"/>
            </a:endParaRPr>
          </a:p>
        </p:txBody>
      </p:sp>
      <p:sp>
        <p:nvSpPr>
          <p:cNvPr id="4" name="Slide Number Placeholder 3">
            <a:extLst>
              <a:ext uri="{FF2B5EF4-FFF2-40B4-BE49-F238E27FC236}">
                <a16:creationId xmlns:a16="http://schemas.microsoft.com/office/drawing/2014/main" id="{BDFFEAE0-A127-4CF1-E37F-53B0535ECA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2362000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108AF2-4233-382A-FE2D-117B9157AF6B}"/>
              </a:ext>
            </a:extLst>
          </p:cNvPr>
          <p:cNvSpPr>
            <a:spLocks noGrp="1"/>
          </p:cNvSpPr>
          <p:nvPr>
            <p:ph type="body" idx="1"/>
          </p:nvPr>
        </p:nvSpPr>
        <p:spPr/>
        <p:txBody>
          <a:bodyPr/>
          <a:lstStyle/>
          <a:p>
            <a:pPr algn="just" fontAlgn="base"/>
            <a:r>
              <a:rPr lang="en-IN" b="1" dirty="0">
                <a:latin typeface="Calibri" panose="020F0502020204030204" pitchFamily="34" charset="0"/>
                <a:ea typeface="Calibri" panose="020F0502020204030204" pitchFamily="34" charset="0"/>
                <a:cs typeface="Calibri" panose="020F0502020204030204" pitchFamily="34" charset="0"/>
              </a:rPr>
              <a:t>DNS spoofing: </a:t>
            </a:r>
            <a:r>
              <a:rPr lang="en-IN" dirty="0">
                <a:latin typeface="Calibri" panose="020F0502020204030204" pitchFamily="34" charset="0"/>
                <a:ea typeface="Calibri" panose="020F0502020204030204" pitchFamily="34" charset="0"/>
                <a:cs typeface="Calibri" panose="020F0502020204030204" pitchFamily="34" charset="0"/>
              </a:rPr>
              <a:t>The</a:t>
            </a:r>
            <a:r>
              <a:rPr lang="en-IN" b="1" dirty="0">
                <a:latin typeface="Calibri" panose="020F0502020204030204" pitchFamily="34" charset="0"/>
                <a:ea typeface="Calibri" panose="020F0502020204030204" pitchFamily="34" charset="0"/>
                <a:cs typeface="Calibri" panose="020F0502020204030204" pitchFamily="34" charset="0"/>
              </a:rPr>
              <a:t> </a:t>
            </a:r>
            <a:r>
              <a:rPr lang="en-IN" dirty="0">
                <a:latin typeface="Calibri" panose="020F0502020204030204" pitchFamily="34" charset="0"/>
                <a:ea typeface="Calibri" panose="020F0502020204030204" pitchFamily="34" charset="0"/>
                <a:cs typeface="Calibri" panose="020F0502020204030204" pitchFamily="34" charset="0"/>
              </a:rPr>
              <a:t>Domain Name System (DNS) connects the domain names of websites to their assigned IP addresses. By changing a domain name in the DNS records, an MITM attacker can route users away from a legitimate site to a fraudulent website.</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HTTPS spoofing:</a:t>
            </a:r>
            <a:r>
              <a:rPr lang="en-IN" dirty="0">
                <a:latin typeface="Calibri" panose="020F0502020204030204" pitchFamily="34" charset="0"/>
                <a:ea typeface="Calibri" panose="020F0502020204030204" pitchFamily="34" charset="0"/>
                <a:cs typeface="Calibri" panose="020F0502020204030204" pitchFamily="34" charset="0"/>
              </a:rPr>
              <a:t> Hypertext Transfer Protocol Secure (HTTPS) ensures secure communications by encrypting the data that travels back and forth between a user and a website. MITM attackers will secretly route users to a standard HTTP page without encryption so they can access unprotected data.</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67E114C-2604-A61D-E594-250368015D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5" name="Title 2">
            <a:extLst>
              <a:ext uri="{FF2B5EF4-FFF2-40B4-BE49-F238E27FC236}">
                <a16:creationId xmlns:a16="http://schemas.microsoft.com/office/drawing/2014/main" id="{F640E15A-5FA3-2059-23BE-6E1947DCDE4E}"/>
              </a:ext>
            </a:extLst>
          </p:cNvPr>
          <p:cNvSpPr>
            <a:spLocks noGrp="1"/>
          </p:cNvSpPr>
          <p:nvPr>
            <p:ph type="title"/>
          </p:nvPr>
        </p:nvSpPr>
        <p:spPr>
          <a:xfrm>
            <a:off x="838200" y="238125"/>
            <a:ext cx="10444163" cy="719138"/>
          </a:xfrm>
        </p:spPr>
        <p:txBody>
          <a:bodyPr>
            <a:normAutofit/>
          </a:bodyPr>
          <a:lstStyle/>
          <a:p>
            <a:pPr algn="ctr"/>
            <a:r>
              <a:rPr lang="en-US" b="1" dirty="0">
                <a:latin typeface="+mj-lt"/>
              </a:rPr>
              <a:t>MITM ATTACK TECHNIQUES</a:t>
            </a:r>
            <a:endParaRPr lang="en-IN" b="1" dirty="0">
              <a:latin typeface="+mj-lt"/>
            </a:endParaRPr>
          </a:p>
        </p:txBody>
      </p:sp>
    </p:spTree>
    <p:extLst>
      <p:ext uri="{BB962C8B-B14F-4D97-AF65-F5344CB8AC3E}">
        <p14:creationId xmlns:p14="http://schemas.microsoft.com/office/powerpoint/2010/main" val="858700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BA01AE-2E1D-3DED-F3AA-F63691D4A9E0}"/>
              </a:ext>
            </a:extLst>
          </p:cNvPr>
          <p:cNvSpPr>
            <a:spLocks noGrp="1"/>
          </p:cNvSpPr>
          <p:nvPr>
            <p:ph type="body" idx="1"/>
          </p:nvPr>
        </p:nvSpPr>
        <p:spPr/>
        <p:txBody>
          <a:bodyPr/>
          <a:lstStyle/>
          <a:p>
            <a:pPr algn="just"/>
            <a:r>
              <a:rPr lang="en-IN" b="1" dirty="0">
                <a:latin typeface="Calibri" panose="020F0502020204030204" pitchFamily="34" charset="0"/>
                <a:ea typeface="Calibri" panose="020F0502020204030204" pitchFamily="34" charset="0"/>
                <a:cs typeface="Calibri" panose="020F0502020204030204" pitchFamily="34" charset="0"/>
              </a:rPr>
              <a:t>Structured Query Language (SQL)</a:t>
            </a:r>
            <a:r>
              <a:rPr lang="en-IN" dirty="0">
                <a:latin typeface="Calibri" panose="020F0502020204030204" pitchFamily="34" charset="0"/>
                <a:ea typeface="Calibri" panose="020F0502020204030204" pitchFamily="34" charset="0"/>
                <a:cs typeface="Calibri" panose="020F0502020204030204" pitchFamily="34" charset="0"/>
              </a:rPr>
              <a:t> is the standard language used to query a database.</a:t>
            </a:r>
          </a:p>
          <a:p>
            <a:pPr algn="just"/>
            <a:r>
              <a:rPr lang="en-IN" dirty="0">
                <a:latin typeface="Calibri" panose="020F0502020204030204" pitchFamily="34" charset="0"/>
                <a:ea typeface="Calibri" panose="020F0502020204030204" pitchFamily="34" charset="0"/>
                <a:cs typeface="Calibri" panose="020F0502020204030204" pitchFamily="34" charset="0"/>
              </a:rPr>
              <a:t>An SQL injection (SQLi) is a type of attack in which cyber criminals attempt to exploit vulnerabilities in an application's code by inserting an SQL query into regular input or form fields, such as a username or password. The SQL statement is then passed to the application's underlying SQL database.</a:t>
            </a:r>
          </a:p>
          <a:p>
            <a:pPr algn="just"/>
            <a:r>
              <a:rPr lang="en-IN" dirty="0">
                <a:latin typeface="Calibri" panose="020F0502020204030204" pitchFamily="34" charset="0"/>
                <a:ea typeface="Calibri" panose="020F0502020204030204" pitchFamily="34" charset="0"/>
                <a:cs typeface="Calibri" panose="020F0502020204030204" pitchFamily="34" charset="0"/>
              </a:rPr>
              <a:t>It exploits poor input handling, allowing attackers to bypass authentication, view, modify, or delete sensitive database records, and even gain administrative control over the underlying server.</a:t>
            </a:r>
          </a:p>
        </p:txBody>
      </p:sp>
      <p:sp>
        <p:nvSpPr>
          <p:cNvPr id="3" name="Title 2">
            <a:extLst>
              <a:ext uri="{FF2B5EF4-FFF2-40B4-BE49-F238E27FC236}">
                <a16:creationId xmlns:a16="http://schemas.microsoft.com/office/drawing/2014/main" id="{6D8D2966-C204-FA90-1955-B97A7A9A792C}"/>
              </a:ext>
            </a:extLst>
          </p:cNvPr>
          <p:cNvSpPr>
            <a:spLocks noGrp="1"/>
          </p:cNvSpPr>
          <p:nvPr>
            <p:ph type="title"/>
          </p:nvPr>
        </p:nvSpPr>
        <p:spPr/>
        <p:txBody>
          <a:bodyPr/>
          <a:lstStyle/>
          <a:p>
            <a:pPr algn="ctr"/>
            <a:r>
              <a:rPr lang="en-US" b="1" dirty="0">
                <a:latin typeface="+mj-lt"/>
              </a:rPr>
              <a:t>SQL INJECTION</a:t>
            </a:r>
            <a:endParaRPr lang="en-IN" b="1" dirty="0">
              <a:latin typeface="+mj-lt"/>
            </a:endParaRPr>
          </a:p>
        </p:txBody>
      </p:sp>
      <p:sp>
        <p:nvSpPr>
          <p:cNvPr id="4" name="Slide Number Placeholder 3">
            <a:extLst>
              <a:ext uri="{FF2B5EF4-FFF2-40B4-BE49-F238E27FC236}">
                <a16:creationId xmlns:a16="http://schemas.microsoft.com/office/drawing/2014/main" id="{80A58F1C-7184-1F8C-3643-5B5301FA9D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3332328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8E47C4-68E5-B9FE-8DD5-596C6DEC9CC1}"/>
              </a:ext>
            </a:extLst>
          </p:cNvPr>
          <p:cNvSpPr>
            <a:spLocks noGrp="1"/>
          </p:cNvSpPr>
          <p:nvPr>
            <p:ph type="body" idx="1"/>
          </p:nvPr>
        </p:nvSpPr>
        <p:spPr/>
        <p:txBody>
          <a:bodyPr>
            <a:normAutofit lnSpcReduction="10000"/>
          </a:bodyPr>
          <a:lstStyle/>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Social engineering attacks manipulate people into sharing information that they shouldn’t share, downloading software that they shouldn’t download, visiting websites they shouldn’t visit, sending money to criminals or making other mistakes that compromise their personal or organizational security.</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Social engineering attacks happen in one or more steps. A perpetrator first investigates the intended victim to gather necessary background information, such as potential points of entry and weak security protocols, needed to proceed with the attack. Then, the attacker moves to gain the victim’s trust and provide stimuli for subsequent actions that break security practices, such as revealing sensitive information or granting access to critical resources.</a:t>
            </a:r>
          </a:p>
        </p:txBody>
      </p:sp>
      <p:sp>
        <p:nvSpPr>
          <p:cNvPr id="3" name="Title 2">
            <a:extLst>
              <a:ext uri="{FF2B5EF4-FFF2-40B4-BE49-F238E27FC236}">
                <a16:creationId xmlns:a16="http://schemas.microsoft.com/office/drawing/2014/main" id="{6A4A36F0-E9DE-C278-4AC4-3F53F913C873}"/>
              </a:ext>
            </a:extLst>
          </p:cNvPr>
          <p:cNvSpPr>
            <a:spLocks noGrp="1"/>
          </p:cNvSpPr>
          <p:nvPr>
            <p:ph type="title"/>
          </p:nvPr>
        </p:nvSpPr>
        <p:spPr/>
        <p:txBody>
          <a:bodyPr/>
          <a:lstStyle/>
          <a:p>
            <a:pPr algn="ctr"/>
            <a:r>
              <a:rPr lang="en-US" b="1" dirty="0">
                <a:latin typeface="+mj-lt"/>
              </a:rPr>
              <a:t>SOCIAL ENGINEERING</a:t>
            </a:r>
            <a:endParaRPr lang="en-IN" b="1" dirty="0">
              <a:latin typeface="+mj-lt"/>
            </a:endParaRPr>
          </a:p>
        </p:txBody>
      </p:sp>
      <p:sp>
        <p:nvSpPr>
          <p:cNvPr id="4" name="Slide Number Placeholder 3">
            <a:extLst>
              <a:ext uri="{FF2B5EF4-FFF2-40B4-BE49-F238E27FC236}">
                <a16:creationId xmlns:a16="http://schemas.microsoft.com/office/drawing/2014/main" id="{523B43BF-55BD-E062-FF8E-5C94D41BE6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extLst>
      <p:ext uri="{BB962C8B-B14F-4D97-AF65-F5344CB8AC3E}">
        <p14:creationId xmlns:p14="http://schemas.microsoft.com/office/powerpoint/2010/main" val="12977703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8"/>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fontScale="87500" lnSpcReduction="20000"/>
          </a:bodyPr>
          <a:lstStyle/>
          <a:p>
            <a:pPr marL="0" lvl="0" indent="0" algn="just" rtl="0">
              <a:lnSpc>
                <a:spcPct val="100000"/>
              </a:lnSpc>
              <a:spcBef>
                <a:spcPts val="0"/>
              </a:spcBef>
              <a:spcAft>
                <a:spcPts val="0"/>
              </a:spcAft>
              <a:buClr>
                <a:schemeClr val="dk1"/>
              </a:buClr>
              <a:buSzPct val="100000"/>
              <a:buNone/>
            </a:pPr>
            <a:r>
              <a:rPr lang="en-US">
                <a:latin typeface="Calibri" panose="020F0502020204030204"/>
                <a:ea typeface="Calibri" panose="020F0502020204030204"/>
                <a:cs typeface="Calibri" panose="020F0502020204030204"/>
                <a:sym typeface="Calibri" panose="020F0502020204030204"/>
              </a:rPr>
              <a:t>In 2017, Paul Pols introduced the Unified Cyber Kill Chain to augment and expand upon the Cyber Kill Chain. The Unified Kill Chain incorporates elements from both the Lockheed Martin-Cyber Kill Chain and the MITRE ATT&amp;CK framework. It distills the attack process into three high-level steps:</a:t>
            </a:r>
            <a:endParaRPr>
              <a:latin typeface="Calibri" panose="020F0502020204030204"/>
              <a:ea typeface="Calibri" panose="020F0502020204030204"/>
              <a:cs typeface="Calibri" panose="020F0502020204030204"/>
              <a:sym typeface="Calibri" panose="020F0502020204030204"/>
            </a:endParaRPr>
          </a:p>
          <a:p>
            <a:pPr marL="0" lvl="0" indent="0" algn="just" rtl="0">
              <a:lnSpc>
                <a:spcPct val="100000"/>
              </a:lnSpc>
              <a:spcBef>
                <a:spcPts val="1000"/>
              </a:spcBef>
              <a:spcAft>
                <a:spcPts val="0"/>
              </a:spcAft>
              <a:buClr>
                <a:schemeClr val="dk1"/>
              </a:buClr>
              <a:buSzPct val="100000"/>
              <a:buNone/>
            </a:pPr>
            <a:r>
              <a:rPr lang="en-US">
                <a:latin typeface="Calibri" panose="020F0502020204030204"/>
                <a:ea typeface="Calibri" panose="020F0502020204030204"/>
                <a:cs typeface="Calibri" panose="020F0502020204030204"/>
                <a:sym typeface="Calibri" panose="020F0502020204030204"/>
              </a:rPr>
              <a:t>• Initial Foothold</a:t>
            </a:r>
            <a:endParaRPr>
              <a:latin typeface="Calibri" panose="020F0502020204030204"/>
              <a:ea typeface="Calibri" panose="020F0502020204030204"/>
              <a:cs typeface="Calibri" panose="020F0502020204030204"/>
              <a:sym typeface="Calibri" panose="020F0502020204030204"/>
            </a:endParaRPr>
          </a:p>
          <a:p>
            <a:pPr marL="0" lvl="0" indent="0" algn="just" rtl="0">
              <a:lnSpc>
                <a:spcPct val="100000"/>
              </a:lnSpc>
              <a:spcBef>
                <a:spcPts val="1000"/>
              </a:spcBef>
              <a:spcAft>
                <a:spcPts val="0"/>
              </a:spcAft>
              <a:buClr>
                <a:schemeClr val="dk1"/>
              </a:buClr>
              <a:buSzPct val="100000"/>
              <a:buNone/>
            </a:pPr>
            <a:r>
              <a:rPr lang="en-US">
                <a:latin typeface="Calibri" panose="020F0502020204030204"/>
                <a:ea typeface="Calibri" panose="020F0502020204030204"/>
                <a:cs typeface="Calibri" panose="020F0502020204030204"/>
                <a:sym typeface="Calibri" panose="020F0502020204030204"/>
              </a:rPr>
              <a:t>• Network Propagation</a:t>
            </a:r>
            <a:endParaRPr>
              <a:latin typeface="Calibri" panose="020F0502020204030204"/>
              <a:ea typeface="Calibri" panose="020F0502020204030204"/>
              <a:cs typeface="Calibri" panose="020F0502020204030204"/>
              <a:sym typeface="Calibri" panose="020F0502020204030204"/>
            </a:endParaRPr>
          </a:p>
          <a:p>
            <a:pPr marL="0" lvl="0" indent="0" algn="just" rtl="0">
              <a:lnSpc>
                <a:spcPct val="100000"/>
              </a:lnSpc>
              <a:spcBef>
                <a:spcPts val="1000"/>
              </a:spcBef>
              <a:spcAft>
                <a:spcPts val="0"/>
              </a:spcAft>
              <a:buClr>
                <a:schemeClr val="dk1"/>
              </a:buClr>
              <a:buSzPct val="100000"/>
              <a:buNone/>
            </a:pPr>
            <a:r>
              <a:rPr lang="en-US">
                <a:latin typeface="Calibri" panose="020F0502020204030204"/>
                <a:ea typeface="Calibri" panose="020F0502020204030204"/>
                <a:cs typeface="Calibri" panose="020F0502020204030204"/>
                <a:sym typeface="Calibri" panose="020F0502020204030204"/>
              </a:rPr>
              <a:t>• Action on Objectives.</a:t>
            </a:r>
            <a:endParaRPr>
              <a:latin typeface="Calibri" panose="020F0502020204030204"/>
              <a:ea typeface="Calibri" panose="020F0502020204030204"/>
              <a:cs typeface="Calibri" panose="020F0502020204030204"/>
              <a:sym typeface="Calibri" panose="020F0502020204030204"/>
            </a:endParaRPr>
          </a:p>
          <a:p>
            <a:pPr marL="0" lvl="0" indent="0" algn="just" rtl="0">
              <a:lnSpc>
                <a:spcPct val="100000"/>
              </a:lnSpc>
              <a:spcBef>
                <a:spcPts val="1000"/>
              </a:spcBef>
              <a:spcAft>
                <a:spcPts val="0"/>
              </a:spcAft>
              <a:buClr>
                <a:schemeClr val="dk1"/>
              </a:buClr>
              <a:buSzPct val="100000"/>
              <a:buNone/>
            </a:pPr>
            <a:r>
              <a:rPr lang="en-US">
                <a:latin typeface="Calibri" panose="020F0502020204030204"/>
                <a:ea typeface="Calibri" panose="020F0502020204030204"/>
                <a:cs typeface="Calibri" panose="020F0502020204030204"/>
                <a:sym typeface="Calibri" panose="020F0502020204030204"/>
              </a:rPr>
              <a:t>• Such three steps make the attack process easier to understand, even for non-technical staff. Each of these tactics is then elaborated in detail with specific techniques.</a:t>
            </a:r>
            <a:endParaRPr>
              <a:latin typeface="Calibri" panose="020F0502020204030204"/>
              <a:ea typeface="Calibri" panose="020F0502020204030204"/>
              <a:cs typeface="Calibri" panose="020F0502020204030204"/>
              <a:sym typeface="Calibri" panose="020F0502020204030204"/>
            </a:endParaRPr>
          </a:p>
          <a:p>
            <a:pPr marL="0" lvl="0" indent="0" algn="just" rtl="0">
              <a:lnSpc>
                <a:spcPct val="100000"/>
              </a:lnSpc>
              <a:spcBef>
                <a:spcPts val="1000"/>
              </a:spcBef>
              <a:spcAft>
                <a:spcPts val="0"/>
              </a:spcAft>
              <a:buClr>
                <a:schemeClr val="dk1"/>
              </a:buClr>
              <a:buSzPct val="100000"/>
              <a:buNone/>
            </a:pPr>
            <a:r>
              <a:rPr lang="en-US">
                <a:latin typeface="Calibri" panose="020F0502020204030204"/>
                <a:ea typeface="Calibri" panose="020F0502020204030204"/>
                <a:cs typeface="Calibri" panose="020F0502020204030204"/>
                <a:sym typeface="Calibri" panose="020F0502020204030204"/>
              </a:rPr>
              <a:t>• The Unified Kill Chain provides a robust foundation for strategically realigning defensive capabilities and cybersecurity investments within organizations, covering prevention, detection, response, and threat intelligence</a:t>
            </a:r>
            <a:endParaRPr>
              <a:latin typeface="Calibri" panose="020F0502020204030204"/>
              <a:ea typeface="Calibri" panose="020F0502020204030204"/>
              <a:cs typeface="Calibri" panose="020F0502020204030204"/>
              <a:sym typeface="Calibri" panose="020F0502020204030204"/>
            </a:endParaRPr>
          </a:p>
        </p:txBody>
      </p:sp>
      <p:sp>
        <p:nvSpPr>
          <p:cNvPr id="295" name="Google Shape;295;p28"/>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Play" panose="00000500000000000000"/>
              <a:buNone/>
            </a:pPr>
            <a:r>
              <a:rPr lang="en-US" b="1">
                <a:latin typeface="Arial" panose="020B0604020202020204"/>
                <a:ea typeface="Arial" panose="020B0604020202020204"/>
                <a:cs typeface="Arial" panose="020B0604020202020204"/>
                <a:sym typeface="Arial" panose="020B0604020202020204"/>
              </a:rPr>
              <a:t>UNIFIED CYBER KILL CHAIN</a:t>
            </a:r>
            <a:endParaRPr>
              <a:latin typeface="Arial" panose="020B0604020202020204"/>
              <a:ea typeface="Arial" panose="020B0604020202020204"/>
              <a:cs typeface="Arial" panose="020B0604020202020204"/>
              <a:sym typeface="Arial" panose="020B0604020202020204"/>
            </a:endParaRPr>
          </a:p>
        </p:txBody>
      </p:sp>
      <p:sp>
        <p:nvSpPr>
          <p:cNvPr id="296" name="Google Shape;296;p28"/>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p29"/>
          <p:cNvPicPr preferRelativeResize="0">
            <a:picLocks noGrp="1"/>
          </p:cNvPicPr>
          <p:nvPr>
            <p:ph type="body" idx="1"/>
          </p:nvPr>
        </p:nvPicPr>
        <p:blipFill rotWithShape="1">
          <a:blip r:embed="rId3"/>
          <a:srcRect/>
          <a:stretch>
            <a:fillRect/>
          </a:stretch>
        </p:blipFill>
        <p:spPr>
          <a:xfrm>
            <a:off x="1471295" y="1127125"/>
            <a:ext cx="9152255" cy="5165725"/>
          </a:xfrm>
          <a:prstGeom prst="rect">
            <a:avLst/>
          </a:prstGeom>
          <a:noFill/>
          <a:ln>
            <a:noFill/>
          </a:ln>
        </p:spPr>
      </p:pic>
      <p:sp>
        <p:nvSpPr>
          <p:cNvPr id="302" name="Google Shape;302;p29"/>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Play" panose="00000500000000000000"/>
              <a:buNone/>
            </a:pPr>
            <a:r>
              <a:rPr lang="en-US" b="1" dirty="0">
                <a:latin typeface="Arial" panose="020B0604020202020204"/>
                <a:ea typeface="Arial" panose="020B0604020202020204"/>
                <a:cs typeface="Arial" panose="020B0604020202020204"/>
                <a:sym typeface="Arial" panose="020B0604020202020204"/>
              </a:rPr>
              <a:t>UNIFIED CYBER KILL CHAIN</a:t>
            </a:r>
            <a:endParaRPr dirty="0">
              <a:latin typeface="Arial" panose="020B0604020202020204"/>
              <a:ea typeface="Arial" panose="020B0604020202020204"/>
              <a:cs typeface="Arial" panose="020B0604020202020204"/>
              <a:sym typeface="Arial" panose="020B0604020202020204"/>
            </a:endParaRPr>
          </a:p>
        </p:txBody>
      </p:sp>
      <p:sp>
        <p:nvSpPr>
          <p:cNvPr id="303" name="Google Shape;303;p29"/>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5"/>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110000"/>
              </a:lnSpc>
              <a:spcBef>
                <a:spcPts val="0"/>
              </a:spcBef>
              <a:spcAft>
                <a:spcPts val="0"/>
              </a:spcAft>
              <a:buClr>
                <a:schemeClr val="dk1"/>
              </a:buClr>
              <a:buSzPts val="3200"/>
              <a:buNone/>
            </a:pPr>
            <a:r>
              <a:rPr lang="en-US" sz="3200" b="1" dirty="0">
                <a:latin typeface="Calibri" panose="020F0502020204030204"/>
                <a:ea typeface="Calibri" panose="020F0502020204030204"/>
                <a:cs typeface="Calibri" panose="020F0502020204030204"/>
                <a:sym typeface="Calibri" panose="020F0502020204030204"/>
              </a:rPr>
              <a:t>Cyber Kill Chain:</a:t>
            </a:r>
            <a:endParaRPr sz="3200" b="1" dirty="0">
              <a:latin typeface="Calibri" panose="020F0502020204030204"/>
              <a:ea typeface="Calibri" panose="020F0502020204030204"/>
              <a:cs typeface="Calibri" panose="020F0502020204030204"/>
              <a:sym typeface="Calibri" panose="020F0502020204030204"/>
            </a:endParaRPr>
          </a:p>
          <a:p>
            <a:pPr marL="0" lvl="0" indent="0" algn="just" rtl="0">
              <a:lnSpc>
                <a:spcPct val="110000"/>
              </a:lnSpc>
              <a:spcBef>
                <a:spcPts val="1000"/>
              </a:spcBef>
              <a:spcAft>
                <a:spcPts val="0"/>
              </a:spcAft>
              <a:buClr>
                <a:schemeClr val="dk1"/>
              </a:buClr>
              <a:buSzPts val="2800"/>
              <a:buNone/>
            </a:pPr>
            <a:r>
              <a:rPr lang="en-US" dirty="0">
                <a:latin typeface="Calibri" panose="020F0502020204030204"/>
                <a:ea typeface="Calibri" panose="020F0502020204030204"/>
                <a:cs typeface="Calibri" panose="020F0502020204030204"/>
                <a:sym typeface="Calibri" panose="020F0502020204030204"/>
              </a:rPr>
              <a:t>• The Cyber Kill Chain was developed by Lockheed Martin, an American aerospace and security company, and is also referred to as the Cyber Attack Lifecycle.</a:t>
            </a:r>
            <a:endParaRPr dirty="0">
              <a:latin typeface="Calibri" panose="020F0502020204030204"/>
              <a:ea typeface="Calibri" panose="020F0502020204030204"/>
              <a:cs typeface="Calibri" panose="020F0502020204030204"/>
              <a:sym typeface="Calibri" panose="020F0502020204030204"/>
            </a:endParaRPr>
          </a:p>
          <a:p>
            <a:pPr marL="0" lvl="0" indent="0" algn="just" rtl="0">
              <a:lnSpc>
                <a:spcPct val="110000"/>
              </a:lnSpc>
              <a:spcBef>
                <a:spcPts val="1000"/>
              </a:spcBef>
              <a:spcAft>
                <a:spcPts val="0"/>
              </a:spcAft>
              <a:buClr>
                <a:schemeClr val="dk1"/>
              </a:buClr>
              <a:buSzPts val="2800"/>
              <a:buNone/>
            </a:pPr>
            <a:r>
              <a:rPr lang="en-US" dirty="0">
                <a:latin typeface="Calibri" panose="020F0502020204030204"/>
                <a:ea typeface="Calibri" panose="020F0502020204030204"/>
                <a:cs typeface="Calibri" panose="020F0502020204030204"/>
                <a:sym typeface="Calibri" panose="020F0502020204030204"/>
              </a:rPr>
              <a:t>• This framework, one of the earliest and best-known, takes a step-by-step approach to identify and interrupt adversarial activity. </a:t>
            </a:r>
            <a:endParaRPr dirty="0">
              <a:latin typeface="Calibri" panose="020F0502020204030204"/>
              <a:ea typeface="Calibri" panose="020F0502020204030204"/>
              <a:cs typeface="Calibri" panose="020F0502020204030204"/>
              <a:sym typeface="Calibri" panose="020F0502020204030204"/>
            </a:endParaRPr>
          </a:p>
          <a:p>
            <a:pPr marL="0" lvl="0" indent="0" algn="just" rtl="0">
              <a:lnSpc>
                <a:spcPct val="110000"/>
              </a:lnSpc>
              <a:spcBef>
                <a:spcPts val="1000"/>
              </a:spcBef>
              <a:spcAft>
                <a:spcPts val="0"/>
              </a:spcAft>
              <a:buClr>
                <a:schemeClr val="dk1"/>
              </a:buClr>
              <a:buSzPts val="2800"/>
              <a:buNone/>
            </a:pPr>
            <a:r>
              <a:rPr lang="en-US" dirty="0">
                <a:latin typeface="Calibri" panose="020F0502020204030204"/>
                <a:ea typeface="Calibri" panose="020F0502020204030204"/>
                <a:cs typeface="Calibri" panose="020F0502020204030204"/>
                <a:sym typeface="Calibri" panose="020F0502020204030204"/>
              </a:rPr>
              <a:t>• Drawing on a military concept, it breaks down cyberattacks into stages of the cyber kill chain with the aim of disrupting one kill chain step at a time. </a:t>
            </a:r>
            <a:endParaRPr dirty="0">
              <a:latin typeface="Calibri" panose="020F0502020204030204"/>
              <a:ea typeface="Calibri" panose="020F0502020204030204"/>
              <a:cs typeface="Calibri" panose="020F0502020204030204"/>
              <a:sym typeface="Calibri" panose="020F0502020204030204"/>
            </a:endParaRPr>
          </a:p>
          <a:p>
            <a:pPr marL="0" lvl="0" indent="0" algn="just" rtl="0">
              <a:lnSpc>
                <a:spcPct val="110000"/>
              </a:lnSpc>
              <a:spcBef>
                <a:spcPts val="1000"/>
              </a:spcBef>
              <a:spcAft>
                <a:spcPts val="0"/>
              </a:spcAft>
              <a:buClr>
                <a:schemeClr val="dk1"/>
              </a:buClr>
              <a:buSzPts val="2800"/>
              <a:buNone/>
            </a:pPr>
            <a:r>
              <a:rPr lang="en-US" dirty="0">
                <a:latin typeface="Calibri" panose="020F0502020204030204"/>
                <a:ea typeface="Calibri" panose="020F0502020204030204"/>
                <a:cs typeface="Calibri" panose="020F0502020204030204"/>
                <a:sym typeface="Calibri" panose="020F0502020204030204"/>
              </a:rPr>
              <a:t>• This allows cyber defenders to identify the current stage of an attack and deploy countermeasures accordingly.</a:t>
            </a:r>
            <a:endParaRPr dirty="0">
              <a:latin typeface="Calibri" panose="020F0502020204030204"/>
              <a:ea typeface="Calibri" panose="020F0502020204030204"/>
              <a:cs typeface="Calibri" panose="020F0502020204030204"/>
              <a:sym typeface="Calibri" panose="020F0502020204030204"/>
            </a:endParaRPr>
          </a:p>
        </p:txBody>
      </p:sp>
      <p:sp>
        <p:nvSpPr>
          <p:cNvPr id="274" name="Google Shape;274;p25"/>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ct val="100000"/>
              <a:buFont typeface="Play" panose="00000500000000000000"/>
              <a:buNone/>
            </a:pPr>
            <a:r>
              <a:rPr lang="en-US" b="1" dirty="0">
                <a:latin typeface="Arial" panose="020B0604020202020204"/>
                <a:ea typeface="Arial" panose="020B0604020202020204"/>
                <a:cs typeface="Arial" panose="020B0604020202020204"/>
                <a:sym typeface="Arial" panose="020B0604020202020204"/>
              </a:rPr>
              <a:t>CYBER KILL CHAIN</a:t>
            </a:r>
            <a:endParaRPr b="1" dirty="0">
              <a:latin typeface="Arial" panose="020B0604020202020204"/>
              <a:ea typeface="Arial" panose="020B0604020202020204"/>
              <a:cs typeface="Arial" panose="020B0604020202020204"/>
              <a:sym typeface="Arial" panose="020B0604020202020204"/>
            </a:endParaRPr>
          </a:p>
        </p:txBody>
      </p:sp>
      <p:sp>
        <p:nvSpPr>
          <p:cNvPr id="275" name="Google Shape;275;p25"/>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p26"/>
          <p:cNvPicPr preferRelativeResize="0">
            <a:picLocks noGrp="1"/>
          </p:cNvPicPr>
          <p:nvPr>
            <p:ph type="body" idx="1"/>
          </p:nvPr>
        </p:nvPicPr>
        <p:blipFill rotWithShape="1">
          <a:blip r:embed="rId3"/>
          <a:srcRect/>
          <a:stretch>
            <a:fillRect/>
          </a:stretch>
        </p:blipFill>
        <p:spPr>
          <a:xfrm>
            <a:off x="942975" y="1313815"/>
            <a:ext cx="10252710" cy="4816475"/>
          </a:xfrm>
          <a:prstGeom prst="rect">
            <a:avLst/>
          </a:prstGeom>
          <a:noFill/>
          <a:ln>
            <a:noFill/>
          </a:ln>
        </p:spPr>
      </p:pic>
      <p:sp>
        <p:nvSpPr>
          <p:cNvPr id="281" name="Google Shape;281;p26"/>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Play" panose="00000500000000000000"/>
              <a:buNone/>
            </a:pPr>
            <a:r>
              <a:rPr lang="en-US" b="1">
                <a:latin typeface="Arial" panose="020B0604020202020204"/>
                <a:ea typeface="Arial" panose="020B0604020202020204"/>
                <a:cs typeface="Arial" panose="020B0604020202020204"/>
                <a:sym typeface="Arial" panose="020B0604020202020204"/>
              </a:rPr>
              <a:t>CYBER KILL CHAIN</a:t>
            </a:r>
            <a:endParaRPr>
              <a:latin typeface="Arial" panose="020B0604020202020204"/>
              <a:ea typeface="Arial" panose="020B0604020202020204"/>
              <a:cs typeface="Arial" panose="020B0604020202020204"/>
              <a:sym typeface="Arial" panose="020B0604020202020204"/>
            </a:endParaRPr>
          </a:p>
        </p:txBody>
      </p:sp>
      <p:sp>
        <p:nvSpPr>
          <p:cNvPr id="282" name="Google Shape;282;p26"/>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27"/>
          <p:cNvPicPr preferRelativeResize="0">
            <a:picLocks noGrp="1"/>
          </p:cNvPicPr>
          <p:nvPr>
            <p:ph type="body" idx="1"/>
          </p:nvPr>
        </p:nvPicPr>
        <p:blipFill rotWithShape="1">
          <a:blip r:embed="rId3"/>
          <a:srcRect/>
          <a:stretch>
            <a:fillRect/>
          </a:stretch>
        </p:blipFill>
        <p:spPr>
          <a:xfrm>
            <a:off x="2654300" y="1243330"/>
            <a:ext cx="6882765" cy="4933950"/>
          </a:xfrm>
          <a:prstGeom prst="rect">
            <a:avLst/>
          </a:prstGeom>
          <a:noFill/>
          <a:ln>
            <a:noFill/>
          </a:ln>
        </p:spPr>
      </p:pic>
      <p:sp>
        <p:nvSpPr>
          <p:cNvPr id="288" name="Google Shape;288;p27"/>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Play" panose="00000500000000000000"/>
              <a:buNone/>
            </a:pPr>
            <a:r>
              <a:rPr lang="en-US" b="1">
                <a:latin typeface="Arial" panose="020B0604020202020204"/>
                <a:ea typeface="Arial" panose="020B0604020202020204"/>
                <a:cs typeface="Arial" panose="020B0604020202020204"/>
                <a:sym typeface="Arial" panose="020B0604020202020204"/>
              </a:rPr>
              <a:t>CYBER KILL CHAIN</a:t>
            </a:r>
            <a:endParaRPr>
              <a:latin typeface="Arial" panose="020B0604020202020204"/>
              <a:ea typeface="Arial" panose="020B0604020202020204"/>
              <a:cs typeface="Arial" panose="020B0604020202020204"/>
              <a:sym typeface="Arial" panose="020B0604020202020204"/>
            </a:endParaRPr>
          </a:p>
        </p:txBody>
      </p:sp>
      <p:sp>
        <p:nvSpPr>
          <p:cNvPr id="289" name="Google Shape;289;p27"/>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75A76C-0453-DA17-33F4-9F75E6D44C41}"/>
              </a:ext>
            </a:extLst>
          </p:cNvPr>
          <p:cNvSpPr>
            <a:spLocks noGrp="1"/>
          </p:cNvSpPr>
          <p:nvPr>
            <p:ph type="body" idx="1"/>
          </p:nvPr>
        </p:nvSpPr>
        <p:spPr/>
        <p:txBody>
          <a:bodyPr>
            <a:normAutofit/>
          </a:bodyPr>
          <a:lstStyle/>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1. Reconnaissance</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Reconnaissance is the first stage of the Cyber Kill Chain model. It provides insights about potential targets and studies them. You also learn about their vulnerabilities and find out which third parties these targets may be connected to. You will also explore other potential entry points, find new ones, and reconnaissance can happen both online and offline as well.</a:t>
            </a:r>
          </a:p>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2. Weaponization</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Cyber weapons and kill chain tools will be used to attack and penetrate the target’s network. These tools can range from malware, ransomware strains, payloads, and other malicious variants.</a:t>
            </a:r>
          </a:p>
        </p:txBody>
      </p:sp>
      <p:sp>
        <p:nvSpPr>
          <p:cNvPr id="3" name="Title 2">
            <a:extLst>
              <a:ext uri="{FF2B5EF4-FFF2-40B4-BE49-F238E27FC236}">
                <a16:creationId xmlns:a16="http://schemas.microsoft.com/office/drawing/2014/main" id="{7F93CE5D-C6ED-C70E-5720-AA512DC7E18B}"/>
              </a:ext>
            </a:extLst>
          </p:cNvPr>
          <p:cNvSpPr>
            <a:spLocks noGrp="1"/>
          </p:cNvSpPr>
          <p:nvPr>
            <p:ph type="title"/>
          </p:nvPr>
        </p:nvSpPr>
        <p:spPr/>
        <p:txBody>
          <a:bodyPr/>
          <a:lstStyle/>
          <a:p>
            <a:pPr algn="ctr"/>
            <a:r>
              <a:rPr lang="en-US" b="1" dirty="0">
                <a:latin typeface="+mj-lt"/>
              </a:rPr>
              <a:t>CYBER KILL CHAIN </a:t>
            </a:r>
            <a:endParaRPr lang="en-IN" b="1" dirty="0">
              <a:latin typeface="+mj-lt"/>
            </a:endParaRPr>
          </a:p>
        </p:txBody>
      </p:sp>
      <p:sp>
        <p:nvSpPr>
          <p:cNvPr id="4" name="Slide Number Placeholder 3">
            <a:extLst>
              <a:ext uri="{FF2B5EF4-FFF2-40B4-BE49-F238E27FC236}">
                <a16:creationId xmlns:a16="http://schemas.microsoft.com/office/drawing/2014/main" id="{92D4F1AA-66F8-CBBE-EC45-D8F5FCF0FA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3733999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67927D-8CD0-6A57-0AFB-789FBB5DA8C5}"/>
              </a:ext>
            </a:extLst>
          </p:cNvPr>
          <p:cNvSpPr>
            <a:spLocks noGrp="1"/>
          </p:cNvSpPr>
          <p:nvPr>
            <p:ph type="body" idx="1"/>
          </p:nvPr>
        </p:nvSpPr>
        <p:spPr/>
        <p:txBody>
          <a:bodyPr>
            <a:normAutofit fontScale="92500" lnSpcReduction="10000"/>
          </a:bodyPr>
          <a:lstStyle/>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3. Delivery</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The adversaries will try to reach users and send a wide variety of phishing means that contain malicious links.  The subject lines in these emails will try to coax or prompt the victim into taking action.  After delivery is successful, the adversary can hack into the organization’s network and exploit hardware and software vulnerabilities further.</a:t>
            </a:r>
          </a:p>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4. Exploitation</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Attackers will try to penetrate networks deeper and take advantage of the vulnerabilities that they discovered and exploited in the previous steps.  They will try to advance in their objectives and attempt to move laterally across networks to reach bigger targets. If any targets are responsible for the network and have not deployed necessary security measures, then attackers will go after them.</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0AC892B-9676-EF49-FD5B-D89672C618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
        <p:nvSpPr>
          <p:cNvPr id="5" name="Title 2">
            <a:extLst>
              <a:ext uri="{FF2B5EF4-FFF2-40B4-BE49-F238E27FC236}">
                <a16:creationId xmlns:a16="http://schemas.microsoft.com/office/drawing/2014/main" id="{952F33FD-AD4E-EDB8-854C-33E6BC22F940}"/>
              </a:ext>
            </a:extLst>
          </p:cNvPr>
          <p:cNvSpPr>
            <a:spLocks noGrp="1"/>
          </p:cNvSpPr>
          <p:nvPr>
            <p:ph type="title"/>
          </p:nvPr>
        </p:nvSpPr>
        <p:spPr>
          <a:xfrm>
            <a:off x="838200" y="238125"/>
            <a:ext cx="10444163" cy="719138"/>
          </a:xfrm>
        </p:spPr>
        <p:txBody>
          <a:bodyPr/>
          <a:lstStyle/>
          <a:p>
            <a:pPr algn="ctr"/>
            <a:r>
              <a:rPr lang="en-US" b="1" dirty="0">
                <a:latin typeface="+mj-lt"/>
              </a:rPr>
              <a:t>CYBER KILL CHAIN </a:t>
            </a:r>
            <a:endParaRPr lang="en-IN" b="1" dirty="0">
              <a:latin typeface="+mj-lt"/>
            </a:endParaRPr>
          </a:p>
        </p:txBody>
      </p:sp>
    </p:spTree>
    <p:extLst>
      <p:ext uri="{BB962C8B-B14F-4D97-AF65-F5344CB8AC3E}">
        <p14:creationId xmlns:p14="http://schemas.microsoft.com/office/powerpoint/2010/main" val="28852646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095960-593C-C63D-B171-C3C802196DC2}"/>
              </a:ext>
            </a:extLst>
          </p:cNvPr>
          <p:cNvSpPr>
            <a:spLocks noGrp="1"/>
          </p:cNvSpPr>
          <p:nvPr>
            <p:ph type="body" idx="1"/>
          </p:nvPr>
        </p:nvSpPr>
        <p:spPr/>
        <p:txBody>
          <a:bodyPr>
            <a:normAutofit fontScale="92500" lnSpcReduction="10000"/>
          </a:bodyPr>
          <a:lstStyle/>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5. Installation</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The installation phase involves attempting to install malware and other ransomware variants on the target networks. The attackers will try to take control over your systems and exfiltrate sensitive data. They may also install other cyberweapons, trojan horses, backdoors, and command-line interfaces.</a:t>
            </a:r>
          </a:p>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6. Command-and-Control (C2)</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In the command-and-control phase of the </a:t>
            </a:r>
            <a:r>
              <a:rPr lang="en-IN" dirty="0" err="1">
                <a:latin typeface="Calibri" panose="020F0502020204030204" pitchFamily="34" charset="0"/>
                <a:ea typeface="Calibri" panose="020F0502020204030204" pitchFamily="34" charset="0"/>
                <a:cs typeface="Calibri" panose="020F0502020204030204" pitchFamily="34" charset="0"/>
              </a:rPr>
              <a:t>cyberkill</a:t>
            </a:r>
            <a:r>
              <a:rPr lang="en-IN" dirty="0">
                <a:latin typeface="Calibri" panose="020F0502020204030204" pitchFamily="34" charset="0"/>
                <a:ea typeface="Calibri" panose="020F0502020204030204" pitchFamily="34" charset="0"/>
                <a:cs typeface="Calibri" panose="020F0502020204030204" pitchFamily="34" charset="0"/>
              </a:rPr>
              <a:t> chain, attackers will try to communicate with the malware they’ve just planted onto your networks. They will instruct the tools to carry out specific tasks remotely. The attackers will use communication channels to control computers that have been infected with their malware and botnets.  They can try to overload websites with traffic or instruct C2 servers to carry out their mission.</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6B1FF04-E194-E39D-05E6-FCF4BD5E08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
        <p:nvSpPr>
          <p:cNvPr id="7" name="Title 2">
            <a:extLst>
              <a:ext uri="{FF2B5EF4-FFF2-40B4-BE49-F238E27FC236}">
                <a16:creationId xmlns:a16="http://schemas.microsoft.com/office/drawing/2014/main" id="{5AE4CCEC-2C59-24C8-AFA2-49230053F8CF}"/>
              </a:ext>
            </a:extLst>
          </p:cNvPr>
          <p:cNvSpPr>
            <a:spLocks noGrp="1"/>
          </p:cNvSpPr>
          <p:nvPr>
            <p:ph type="title"/>
          </p:nvPr>
        </p:nvSpPr>
        <p:spPr>
          <a:xfrm>
            <a:off x="838200" y="238125"/>
            <a:ext cx="10444163" cy="719138"/>
          </a:xfrm>
        </p:spPr>
        <p:txBody>
          <a:bodyPr/>
          <a:lstStyle/>
          <a:p>
            <a:pPr algn="ctr"/>
            <a:r>
              <a:rPr lang="en-US" b="1" dirty="0">
                <a:latin typeface="+mj-lt"/>
              </a:rPr>
              <a:t>CYBER KILL CHAIN </a:t>
            </a:r>
            <a:endParaRPr lang="en-IN" b="1" dirty="0">
              <a:latin typeface="+mj-lt"/>
            </a:endParaRPr>
          </a:p>
        </p:txBody>
      </p:sp>
    </p:spTree>
    <p:extLst>
      <p:ext uri="{BB962C8B-B14F-4D97-AF65-F5344CB8AC3E}">
        <p14:creationId xmlns:p14="http://schemas.microsoft.com/office/powerpoint/2010/main" val="35136730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601633-C573-F9CC-6275-D5605E8E057C}"/>
              </a:ext>
            </a:extLst>
          </p:cNvPr>
          <p:cNvSpPr>
            <a:spLocks noGrp="1"/>
          </p:cNvSpPr>
          <p:nvPr>
            <p:ph type="body" idx="1"/>
          </p:nvPr>
        </p:nvSpPr>
        <p:spPr/>
        <p:txBody>
          <a:bodyPr/>
          <a:lstStyle/>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7. Actions on Goals</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This is the final stage where attackers will try to carry out their objectives and succeed in them. Their goals can vary depending on the type of cyber attack that they are launching. Some attackers will try to interrupt your services, take them down or make the organization go completely online.  They might distribute malware to steal sensitive data, launch denial of service attacks, or use ransomware as a means of extorting the organization.</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1936769-F310-B513-9607-3D57D41DA2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
        <p:nvSpPr>
          <p:cNvPr id="5" name="Title 2">
            <a:extLst>
              <a:ext uri="{FF2B5EF4-FFF2-40B4-BE49-F238E27FC236}">
                <a16:creationId xmlns:a16="http://schemas.microsoft.com/office/drawing/2014/main" id="{B3B0C122-B949-B929-5B59-5BFA6840D67C}"/>
              </a:ext>
            </a:extLst>
          </p:cNvPr>
          <p:cNvSpPr>
            <a:spLocks noGrp="1"/>
          </p:cNvSpPr>
          <p:nvPr>
            <p:ph type="title"/>
          </p:nvPr>
        </p:nvSpPr>
        <p:spPr>
          <a:xfrm>
            <a:off x="838200" y="238125"/>
            <a:ext cx="10444163" cy="719138"/>
          </a:xfrm>
        </p:spPr>
        <p:txBody>
          <a:bodyPr/>
          <a:lstStyle/>
          <a:p>
            <a:pPr algn="ctr"/>
            <a:r>
              <a:rPr lang="en-US" b="1" dirty="0">
                <a:latin typeface="+mj-lt"/>
              </a:rPr>
              <a:t>CYBER KILL CHAIN </a:t>
            </a:r>
            <a:endParaRPr lang="en-IN" b="1" dirty="0">
              <a:latin typeface="+mj-lt"/>
            </a:endParaRPr>
          </a:p>
        </p:txBody>
      </p:sp>
    </p:spTree>
    <p:extLst>
      <p:ext uri="{BB962C8B-B14F-4D97-AF65-F5344CB8AC3E}">
        <p14:creationId xmlns:p14="http://schemas.microsoft.com/office/powerpoint/2010/main" val="16620433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B7E44B-F2B1-B296-C4C3-5F82955DF718}"/>
              </a:ext>
            </a:extLst>
          </p:cNvPr>
          <p:cNvSpPr>
            <a:spLocks noGrp="1"/>
          </p:cNvSpPr>
          <p:nvPr>
            <p:ph type="body" idx="1"/>
          </p:nvPr>
        </p:nvSpPr>
        <p:spPr/>
        <p:txBody>
          <a:bodyPr>
            <a:normAutofit fontScale="85000" lnSpcReduction="20000"/>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A threat is any entity, event or condition capable of causing damage to information systems, networks, applications or digital assets. A threat represents the potential source of harm, whether intentional or accidental. Common Types of Threats: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Malware Threats: </a:t>
            </a:r>
            <a:r>
              <a:rPr lang="en-IN" dirty="0">
                <a:latin typeface="Calibri" panose="020F0502020204030204" pitchFamily="34" charset="0"/>
                <a:ea typeface="Calibri" panose="020F0502020204030204" pitchFamily="34" charset="0"/>
                <a:cs typeface="Calibri" panose="020F0502020204030204" pitchFamily="34" charset="0"/>
              </a:rPr>
              <a:t>Software intentionally designed to disrupt operations, steal information or gain unauthorized access. Examples Ransomware, Trojan horses, Worms, Spyware, Rootkits.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Network-Based Threats: </a:t>
            </a:r>
            <a:r>
              <a:rPr lang="en-IN" dirty="0">
                <a:latin typeface="Calibri" panose="020F0502020204030204" pitchFamily="34" charset="0"/>
                <a:ea typeface="Calibri" panose="020F0502020204030204" pitchFamily="34" charset="0"/>
                <a:cs typeface="Calibri" panose="020F0502020204030204" pitchFamily="34" charset="0"/>
              </a:rPr>
              <a:t>Threats targeting communication channels and network services. Examples Distributed Denial-of-Service (DDoS), ARP spoofing, DNS poisoning, Packet sniffing, Session hijacking.</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Insider Threats: </a:t>
            </a:r>
            <a:r>
              <a:rPr lang="en-IN" dirty="0">
                <a:latin typeface="Calibri" panose="020F0502020204030204" pitchFamily="34" charset="0"/>
                <a:ea typeface="Calibri" panose="020F0502020204030204" pitchFamily="34" charset="0"/>
                <a:cs typeface="Calibri" panose="020F0502020204030204" pitchFamily="34" charset="0"/>
              </a:rPr>
              <a:t>Individuals with authorized access who intentionally or unintentionally compromise security. Examples Privilege misuse, Data leakage, Credential sharing, Unauthorized configuration.</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Physical Threats</a:t>
            </a:r>
            <a:r>
              <a:rPr lang="en-IN" dirty="0">
                <a:latin typeface="Calibri" panose="020F0502020204030204" pitchFamily="34" charset="0"/>
                <a:ea typeface="Calibri" panose="020F0502020204030204" pitchFamily="34" charset="0"/>
                <a:cs typeface="Calibri" panose="020F0502020204030204" pitchFamily="34" charset="0"/>
              </a:rPr>
              <a:t>: Events affecting hardware infrastructure. Examples Device theft, Fire, Flood, Power failure, Hardware sabotage.</a:t>
            </a:r>
          </a:p>
        </p:txBody>
      </p:sp>
      <p:sp>
        <p:nvSpPr>
          <p:cNvPr id="3" name="Title 2">
            <a:extLst>
              <a:ext uri="{FF2B5EF4-FFF2-40B4-BE49-F238E27FC236}">
                <a16:creationId xmlns:a16="http://schemas.microsoft.com/office/drawing/2014/main" id="{528A28F1-EB40-6C9D-A988-A1FA926B321C}"/>
              </a:ext>
            </a:extLst>
          </p:cNvPr>
          <p:cNvSpPr>
            <a:spLocks noGrp="1"/>
          </p:cNvSpPr>
          <p:nvPr>
            <p:ph type="title"/>
          </p:nvPr>
        </p:nvSpPr>
        <p:spPr/>
        <p:txBody>
          <a:bodyPr/>
          <a:lstStyle/>
          <a:p>
            <a:pPr algn="ctr"/>
            <a:r>
              <a:rPr lang="en-US" b="1" dirty="0">
                <a:latin typeface="+mj-lt"/>
              </a:rPr>
              <a:t>THREAT</a:t>
            </a:r>
            <a:endParaRPr lang="en-IN" b="1" dirty="0">
              <a:latin typeface="+mj-lt"/>
            </a:endParaRPr>
          </a:p>
        </p:txBody>
      </p:sp>
      <p:sp>
        <p:nvSpPr>
          <p:cNvPr id="4" name="Slide Number Placeholder 3">
            <a:extLst>
              <a:ext uri="{FF2B5EF4-FFF2-40B4-BE49-F238E27FC236}">
                <a16:creationId xmlns:a16="http://schemas.microsoft.com/office/drawing/2014/main" id="{70ECE40E-F90E-1B89-13A2-123A6EF6BF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extLst>
      <p:ext uri="{BB962C8B-B14F-4D97-AF65-F5344CB8AC3E}">
        <p14:creationId xmlns:p14="http://schemas.microsoft.com/office/powerpoint/2010/main" val="37843699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214085-72F1-B3C0-2BAD-57A51667C02D}"/>
              </a:ext>
            </a:extLst>
          </p:cNvPr>
          <p:cNvSpPr>
            <a:spLocks noGrp="1"/>
          </p:cNvSpPr>
          <p:nvPr>
            <p:ph type="body" idx="1"/>
          </p:nvPr>
        </p:nvSpPr>
        <p:spPr/>
        <p:txBody>
          <a:bodyPr>
            <a:normAutofit fontScale="92500" lnSpcReduction="10000"/>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A vulnerability is a weakness in software, hardware, network infrastructure, operating systems or security processes that could allow unauthorized actions when exposed to a threat. Common Sources of Vulnerabilities: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Software Vulnerabilities</a:t>
            </a:r>
            <a:r>
              <a:rPr lang="en-IN" dirty="0">
                <a:latin typeface="Calibri" panose="020F0502020204030204" pitchFamily="34" charset="0"/>
                <a:ea typeface="Calibri" panose="020F0502020204030204" pitchFamily="34" charset="0"/>
                <a:cs typeface="Calibri" panose="020F0502020204030204" pitchFamily="34" charset="0"/>
              </a:rPr>
              <a:t>: Buffer overflow, SQL injection, Cross-Site Scripting (XSS), Remote code execution flaws, Integer overflow.</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Configuration Vulnerabilities</a:t>
            </a:r>
            <a:r>
              <a:rPr lang="en-IN" dirty="0">
                <a:latin typeface="Calibri" panose="020F0502020204030204" pitchFamily="34" charset="0"/>
                <a:ea typeface="Calibri" panose="020F0502020204030204" pitchFamily="34" charset="0"/>
                <a:cs typeface="Calibri" panose="020F0502020204030204" pitchFamily="34" charset="0"/>
              </a:rPr>
              <a:t>: Default credentials, Open administrative ports, Weak password policies, Improper firewall rules, Unrestricted file permissions.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Operating System Vulnerabilities</a:t>
            </a:r>
            <a:r>
              <a:rPr lang="en-IN" dirty="0">
                <a:latin typeface="Calibri" panose="020F0502020204030204" pitchFamily="34" charset="0"/>
                <a:ea typeface="Calibri" panose="020F0502020204030204" pitchFamily="34" charset="0"/>
                <a:cs typeface="Calibri" panose="020F0502020204030204" pitchFamily="34" charset="0"/>
              </a:rPr>
              <a:t>: Missing security updates, Unsupported operating systems, Insecure services, Kernel flaws.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Network Vulnerabilities</a:t>
            </a:r>
            <a:r>
              <a:rPr lang="en-IN" dirty="0">
                <a:latin typeface="Calibri" panose="020F0502020204030204" pitchFamily="34" charset="0"/>
                <a:ea typeface="Calibri" panose="020F0502020204030204" pitchFamily="34" charset="0"/>
                <a:cs typeface="Calibri" panose="020F0502020204030204" pitchFamily="34" charset="0"/>
              </a:rPr>
              <a:t>: Unencrypted protocols, Weak wireless encryption, Misconfigured routers, Exposed management interfaces.</a:t>
            </a:r>
          </a:p>
        </p:txBody>
      </p:sp>
      <p:sp>
        <p:nvSpPr>
          <p:cNvPr id="3" name="Title 2">
            <a:extLst>
              <a:ext uri="{FF2B5EF4-FFF2-40B4-BE49-F238E27FC236}">
                <a16:creationId xmlns:a16="http://schemas.microsoft.com/office/drawing/2014/main" id="{1CAED16B-A2D4-8391-ECCA-6E76FB448FE5}"/>
              </a:ext>
            </a:extLst>
          </p:cNvPr>
          <p:cNvSpPr>
            <a:spLocks noGrp="1"/>
          </p:cNvSpPr>
          <p:nvPr>
            <p:ph type="title"/>
          </p:nvPr>
        </p:nvSpPr>
        <p:spPr/>
        <p:txBody>
          <a:bodyPr/>
          <a:lstStyle/>
          <a:p>
            <a:pPr algn="ctr"/>
            <a:r>
              <a:rPr lang="en-US" b="1" dirty="0">
                <a:latin typeface="+mj-lt"/>
              </a:rPr>
              <a:t>VULNERABILITY</a:t>
            </a:r>
            <a:endParaRPr lang="en-IN" b="1" dirty="0">
              <a:latin typeface="+mj-lt"/>
            </a:endParaRPr>
          </a:p>
        </p:txBody>
      </p:sp>
      <p:sp>
        <p:nvSpPr>
          <p:cNvPr id="4" name="Slide Number Placeholder 3">
            <a:extLst>
              <a:ext uri="{FF2B5EF4-FFF2-40B4-BE49-F238E27FC236}">
                <a16:creationId xmlns:a16="http://schemas.microsoft.com/office/drawing/2014/main" id="{A8D593BE-5209-DD21-8494-BCB86AA0D7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extLst>
      <p:ext uri="{BB962C8B-B14F-4D97-AF65-F5344CB8AC3E}">
        <p14:creationId xmlns:p14="http://schemas.microsoft.com/office/powerpoint/2010/main" val="20419111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F2761E-CB2F-1D76-E853-383E228EB2F2}"/>
              </a:ext>
            </a:extLst>
          </p:cNvPr>
          <p:cNvSpPr>
            <a:spLocks noGrp="1"/>
          </p:cNvSpPr>
          <p:nvPr>
            <p:ph type="body" idx="1"/>
          </p:nvPr>
        </p:nvSpPr>
        <p:spPr/>
        <p:txBody>
          <a:bodyPr>
            <a:normAutofit fontScale="92500" lnSpcReduction="10000"/>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Risk is the possibility that a threat will successfully exploit a vulnerability and produce a negative impact on business operations, data or infrastructure. it measures the likelihood of exploitation combined with the potential consequences. Risk Categories: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Low Risk</a:t>
            </a:r>
            <a:r>
              <a:rPr lang="en-IN" dirty="0">
                <a:latin typeface="Calibri" panose="020F0502020204030204" pitchFamily="34" charset="0"/>
                <a:ea typeface="Calibri" panose="020F0502020204030204" pitchFamily="34" charset="0"/>
                <a:cs typeface="Calibri" panose="020F0502020204030204" pitchFamily="34" charset="0"/>
              </a:rPr>
              <a:t>: Difficult to exploit, Minimal operational impact, Strong mitigating controls.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Medium Risk</a:t>
            </a:r>
            <a:r>
              <a:rPr lang="en-IN" dirty="0">
                <a:latin typeface="Calibri" panose="020F0502020204030204" pitchFamily="34" charset="0"/>
                <a:ea typeface="Calibri" panose="020F0502020204030204" pitchFamily="34" charset="0"/>
                <a:cs typeface="Calibri" panose="020F0502020204030204" pitchFamily="34" charset="0"/>
              </a:rPr>
              <a:t>: Exploitable under certain conditions, Moderate business disruption, Limited data exposure.</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High Risk</a:t>
            </a:r>
            <a:r>
              <a:rPr lang="en-IN" dirty="0">
                <a:latin typeface="Calibri" panose="020F0502020204030204" pitchFamily="34" charset="0"/>
                <a:ea typeface="Calibri" panose="020F0502020204030204" pitchFamily="34" charset="0"/>
                <a:cs typeface="Calibri" panose="020F0502020204030204" pitchFamily="34" charset="0"/>
              </a:rPr>
              <a:t>: Easily exploitable, Significant operational impact, Sensitive information at risk.</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Critical Risk</a:t>
            </a:r>
            <a:r>
              <a:rPr lang="en-IN" dirty="0">
                <a:latin typeface="Calibri" panose="020F0502020204030204" pitchFamily="34" charset="0"/>
                <a:ea typeface="Calibri" panose="020F0502020204030204" pitchFamily="34" charset="0"/>
                <a:cs typeface="Calibri" panose="020F0502020204030204" pitchFamily="34" charset="0"/>
              </a:rPr>
              <a:t>: Publicly accessible attack surface, Reliable exploitation methods available, Severe financial, operational or reputational consequences.</a:t>
            </a:r>
          </a:p>
        </p:txBody>
      </p:sp>
      <p:sp>
        <p:nvSpPr>
          <p:cNvPr id="3" name="Title 2">
            <a:extLst>
              <a:ext uri="{FF2B5EF4-FFF2-40B4-BE49-F238E27FC236}">
                <a16:creationId xmlns:a16="http://schemas.microsoft.com/office/drawing/2014/main" id="{C3EDC0EA-F6C9-D882-AA2C-F1B61C01E17F}"/>
              </a:ext>
            </a:extLst>
          </p:cNvPr>
          <p:cNvSpPr>
            <a:spLocks noGrp="1"/>
          </p:cNvSpPr>
          <p:nvPr>
            <p:ph type="title"/>
          </p:nvPr>
        </p:nvSpPr>
        <p:spPr/>
        <p:txBody>
          <a:bodyPr/>
          <a:lstStyle/>
          <a:p>
            <a:pPr algn="ctr"/>
            <a:r>
              <a:rPr lang="en-US" b="1" dirty="0">
                <a:latin typeface="+mj-lt"/>
              </a:rPr>
              <a:t>RISK</a:t>
            </a:r>
            <a:endParaRPr lang="en-IN" b="1" dirty="0">
              <a:latin typeface="+mj-lt"/>
            </a:endParaRPr>
          </a:p>
        </p:txBody>
      </p:sp>
      <p:sp>
        <p:nvSpPr>
          <p:cNvPr id="4" name="Slide Number Placeholder 3">
            <a:extLst>
              <a:ext uri="{FF2B5EF4-FFF2-40B4-BE49-F238E27FC236}">
                <a16:creationId xmlns:a16="http://schemas.microsoft.com/office/drawing/2014/main" id="{1FE288C0-B9C9-DA49-A8B0-7E8DC730B1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extLst>
      <p:ext uri="{BB962C8B-B14F-4D97-AF65-F5344CB8AC3E}">
        <p14:creationId xmlns:p14="http://schemas.microsoft.com/office/powerpoint/2010/main" val="28526490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2473F1-192F-9B5B-531A-C662F2B88355}"/>
              </a:ext>
            </a:extLst>
          </p:cNvPr>
          <p:cNvSpPr>
            <a:spLocks noGrp="1"/>
          </p:cNvSpPr>
          <p:nvPr>
            <p:ph type="body" idx="1"/>
          </p:nvPr>
        </p:nvSpPr>
        <p:spPr/>
        <p:txBody>
          <a:bodyPr/>
          <a:lstStyle/>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A common risk assessment model is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Likelihood</a:t>
            </a:r>
            <a:r>
              <a:rPr lang="en-IN" dirty="0">
                <a:latin typeface="Calibri" panose="020F0502020204030204" pitchFamily="34" charset="0"/>
                <a:ea typeface="Calibri" panose="020F0502020204030204" pitchFamily="34" charset="0"/>
                <a:cs typeface="Calibri" panose="020F0502020204030204" pitchFamily="34" charset="0"/>
              </a:rPr>
              <a:t> estimates the probability of successful exploitation.</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Impact</a:t>
            </a:r>
            <a:r>
              <a:rPr lang="en-IN" dirty="0">
                <a:latin typeface="Calibri" panose="020F0502020204030204" pitchFamily="34" charset="0"/>
                <a:ea typeface="Calibri" panose="020F0502020204030204" pitchFamily="34" charset="0"/>
                <a:cs typeface="Calibri" panose="020F0502020204030204" pitchFamily="34" charset="0"/>
              </a:rPr>
              <a:t> measures the resulting damage if exploitation occurs.</a:t>
            </a:r>
          </a:p>
          <a:p>
            <a:pPr algn="just" fontAlgn="base"/>
            <a:r>
              <a:rPr lang="en-IN" i="1" dirty="0">
                <a:latin typeface="Calibri" panose="020F0502020204030204" pitchFamily="34" charset="0"/>
                <a:ea typeface="Calibri" panose="020F0502020204030204" pitchFamily="34" charset="0"/>
                <a:cs typeface="Calibri" panose="020F0502020204030204" pitchFamily="34" charset="0"/>
              </a:rPr>
              <a:t>Risk = Likelihood × Impact</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20B2386-1641-E526-A131-C11A7784170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
        <p:nvSpPr>
          <p:cNvPr id="5" name="Title 2">
            <a:extLst>
              <a:ext uri="{FF2B5EF4-FFF2-40B4-BE49-F238E27FC236}">
                <a16:creationId xmlns:a16="http://schemas.microsoft.com/office/drawing/2014/main" id="{0C9D2E43-E4E6-BC77-BE71-1787B7A347B1}"/>
              </a:ext>
            </a:extLst>
          </p:cNvPr>
          <p:cNvSpPr>
            <a:spLocks noGrp="1"/>
          </p:cNvSpPr>
          <p:nvPr>
            <p:ph type="title"/>
          </p:nvPr>
        </p:nvSpPr>
        <p:spPr>
          <a:xfrm>
            <a:off x="838200" y="238125"/>
            <a:ext cx="10444163" cy="719138"/>
          </a:xfrm>
        </p:spPr>
        <p:txBody>
          <a:bodyPr/>
          <a:lstStyle/>
          <a:p>
            <a:pPr algn="ctr"/>
            <a:r>
              <a:rPr lang="en-US" b="1" dirty="0">
                <a:latin typeface="+mj-lt"/>
              </a:rPr>
              <a:t>RISK</a:t>
            </a:r>
            <a:endParaRPr lang="en-IN" b="1" dirty="0">
              <a:latin typeface="+mj-lt"/>
            </a:endParaRPr>
          </a:p>
        </p:txBody>
      </p:sp>
    </p:spTree>
    <p:extLst>
      <p:ext uri="{BB962C8B-B14F-4D97-AF65-F5344CB8AC3E}">
        <p14:creationId xmlns:p14="http://schemas.microsoft.com/office/powerpoint/2010/main" val="10957480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E36336-288D-26F8-877D-B6C2F55FFC0D}"/>
              </a:ext>
            </a:extLst>
          </p:cNvPr>
          <p:cNvSpPr>
            <a:spLocks noGrp="1"/>
          </p:cNvSpPr>
          <p:nvPr>
            <p:ph type="body" idx="1"/>
          </p:nvPr>
        </p:nvSpPr>
        <p:spPr/>
        <p:txBody>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Threat actors, also known as cyberthreat actors or malicious actors, are individuals or groups that intentionally cause harm to digital devices or systems. Threat actors exploit vulnerabilities in computer systems, networks and software to perpetuate various cyberattacks, including phishing, ransomware and malware attacks.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Today, there are many types of threat actors, all with varying attributes, motivations, skill levels and tactics. Some of the most common types of threat actors include hacktivists, nation-state actors, cybercriminals, thrill seekers, insider threat actors and cyberterrorists.</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1318567E-E4BF-46B1-AC5C-35421D66284A}"/>
              </a:ext>
            </a:extLst>
          </p:cNvPr>
          <p:cNvSpPr>
            <a:spLocks noGrp="1"/>
          </p:cNvSpPr>
          <p:nvPr>
            <p:ph type="title"/>
          </p:nvPr>
        </p:nvSpPr>
        <p:spPr/>
        <p:txBody>
          <a:bodyPr/>
          <a:lstStyle/>
          <a:p>
            <a:pPr algn="ctr"/>
            <a:r>
              <a:rPr lang="en-US" b="1" dirty="0">
                <a:latin typeface="+mj-lt"/>
              </a:rPr>
              <a:t>THREAT ACTORS</a:t>
            </a:r>
            <a:endParaRPr lang="en-IN" b="1" dirty="0">
              <a:latin typeface="+mj-lt"/>
            </a:endParaRPr>
          </a:p>
        </p:txBody>
      </p:sp>
      <p:sp>
        <p:nvSpPr>
          <p:cNvPr id="4" name="Slide Number Placeholder 3">
            <a:extLst>
              <a:ext uri="{FF2B5EF4-FFF2-40B4-BE49-F238E27FC236}">
                <a16:creationId xmlns:a16="http://schemas.microsoft.com/office/drawing/2014/main" id="{F6181FF8-4BBA-FDCF-B287-D3BAAD70B4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19207023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BD2C2A-803F-85C9-F4DF-470DE9698A3A}"/>
              </a:ext>
            </a:extLst>
          </p:cNvPr>
          <p:cNvSpPr>
            <a:spLocks noGrp="1"/>
          </p:cNvSpPr>
          <p:nvPr>
            <p:ph type="body" idx="1"/>
          </p:nvPr>
        </p:nvSpPr>
        <p:spPr/>
        <p:txBody>
          <a:bodyPr>
            <a:normAutofit fontScale="92500"/>
          </a:bodyPr>
          <a:lstStyle/>
          <a:p>
            <a:pPr marL="114300" indent="0" algn="just" fontAlgn="base">
              <a:buNone/>
            </a:pPr>
            <a:r>
              <a:rPr lang="en-US" b="1" dirty="0">
                <a:latin typeface="Calibri" panose="020F0502020204030204" pitchFamily="34" charset="0"/>
                <a:ea typeface="Calibri" panose="020F0502020204030204" pitchFamily="34" charset="0"/>
                <a:cs typeface="Calibri" panose="020F0502020204030204" pitchFamily="34" charset="0"/>
              </a:rPr>
              <a:t>1. </a:t>
            </a:r>
            <a:r>
              <a:rPr lang="en-IN" b="1" dirty="0">
                <a:latin typeface="Calibri" panose="020F0502020204030204" pitchFamily="34" charset="0"/>
                <a:ea typeface="Calibri" panose="020F0502020204030204" pitchFamily="34" charset="0"/>
                <a:cs typeface="Calibri" panose="020F0502020204030204" pitchFamily="34" charset="0"/>
              </a:rPr>
              <a:t>Cybercriminals: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These individuals or groups commit cybercrimes mostly for financial gain. Common crimes that are committed by cybercriminals include ransomware attacks and phishing scams that trick people into making money transfers or divulging credit card information, login credentials, intellectual property or other private or sensitive information.</a:t>
            </a:r>
          </a:p>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2. Nation-state actors: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Nation states and governments frequently fund threat actors with the goal of stealing sensitive data, gathering confidential information or disrupting another government’s critical infrastructure. These malicious activities often include espionage or cyberwarfare and tend to be highly funded, making the threats complex and challenging to detect.</a:t>
            </a:r>
          </a:p>
        </p:txBody>
      </p:sp>
      <p:sp>
        <p:nvSpPr>
          <p:cNvPr id="4" name="Slide Number Placeholder 3">
            <a:extLst>
              <a:ext uri="{FF2B5EF4-FFF2-40B4-BE49-F238E27FC236}">
                <a16:creationId xmlns:a16="http://schemas.microsoft.com/office/drawing/2014/main" id="{C08B9583-A1E5-3E75-B3F0-16D76CC30A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
        <p:nvSpPr>
          <p:cNvPr id="5" name="Title 2">
            <a:extLst>
              <a:ext uri="{FF2B5EF4-FFF2-40B4-BE49-F238E27FC236}">
                <a16:creationId xmlns:a16="http://schemas.microsoft.com/office/drawing/2014/main" id="{52F0621D-BA82-9EFB-C96E-3B2DBEDAEDC6}"/>
              </a:ext>
            </a:extLst>
          </p:cNvPr>
          <p:cNvSpPr>
            <a:spLocks noGrp="1"/>
          </p:cNvSpPr>
          <p:nvPr>
            <p:ph type="title"/>
          </p:nvPr>
        </p:nvSpPr>
        <p:spPr>
          <a:xfrm>
            <a:off x="838200" y="238125"/>
            <a:ext cx="10444163" cy="719138"/>
          </a:xfrm>
        </p:spPr>
        <p:txBody>
          <a:bodyPr/>
          <a:lstStyle/>
          <a:p>
            <a:pPr algn="ctr"/>
            <a:r>
              <a:rPr lang="en-US" b="1" dirty="0">
                <a:latin typeface="+mj-lt"/>
              </a:rPr>
              <a:t>TYPES OF THREAT ACTORS</a:t>
            </a:r>
            <a:endParaRPr lang="en-IN" b="1" dirty="0">
              <a:latin typeface="+mj-lt"/>
            </a:endParaRPr>
          </a:p>
        </p:txBody>
      </p:sp>
    </p:spTree>
    <p:extLst>
      <p:ext uri="{BB962C8B-B14F-4D97-AF65-F5344CB8AC3E}">
        <p14:creationId xmlns:p14="http://schemas.microsoft.com/office/powerpoint/2010/main" val="1569369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86DCA5-4E2A-BBD1-BECD-45E50A853C86}"/>
              </a:ext>
            </a:extLst>
          </p:cNvPr>
          <p:cNvSpPr>
            <a:spLocks noGrp="1"/>
          </p:cNvSpPr>
          <p:nvPr>
            <p:ph type="body" idx="1"/>
          </p:nvPr>
        </p:nvSpPr>
        <p:spPr/>
        <p:txBody>
          <a:bodyPr>
            <a:normAutofit fontScale="77500" lnSpcReduction="20000"/>
          </a:bodyPr>
          <a:lstStyle/>
          <a:p>
            <a:pPr marL="114300" indent="0" algn="just" fontAlgn="base">
              <a:buNone/>
            </a:pPr>
            <a:r>
              <a:rPr lang="en-US" b="1" dirty="0">
                <a:latin typeface="Calibri" panose="020F0502020204030204" pitchFamily="34" charset="0"/>
                <a:ea typeface="Calibri" panose="020F0502020204030204" pitchFamily="34" charset="0"/>
                <a:cs typeface="Calibri" panose="020F0502020204030204" pitchFamily="34" charset="0"/>
              </a:rPr>
              <a:t>3. </a:t>
            </a:r>
            <a:r>
              <a:rPr lang="en-IN" b="1" dirty="0">
                <a:latin typeface="Calibri" panose="020F0502020204030204" pitchFamily="34" charset="0"/>
                <a:ea typeface="Calibri" panose="020F0502020204030204" pitchFamily="34" charset="0"/>
                <a:cs typeface="Calibri" panose="020F0502020204030204" pitchFamily="34" charset="0"/>
              </a:rPr>
              <a:t>Hacktivists: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These threat actors use hacking techniques to promote political or social agendas, such as spreading free speech or uncovering human rights violations. Hacktivists believe that they are affecting positive social change and feel justified in targeting individuals, organizations or government agencies to expose secrets or other sensitive information. A well-known example of a hacktivist group is Anonymous, an international hacking collective that claims to advocate for freedom of speech on the internet.</a:t>
            </a:r>
          </a:p>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4. Thrill seekers: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Thrill seekers are just what they sound like: they attack computer and information systems primarily for fun. Some want to see how much sensitive information or data they can steal. Others want to use hacking to better understand how networks and computer systems work. One class of thrill seekers, called script kiddies, lack advanced technical skills, but use preexisting tools and techniques to attack vulnerable systems, primarily for amusement or personal satisfaction. Though they don't always seek to cause harm, thrill seekers can still cause unintended damage by interfering with a network's cybersecurity and opening the door to future cyberattacks.</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BF5AD3C-DF26-9E62-58D7-E42010CF55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
        <p:nvSpPr>
          <p:cNvPr id="5" name="Title 2">
            <a:extLst>
              <a:ext uri="{FF2B5EF4-FFF2-40B4-BE49-F238E27FC236}">
                <a16:creationId xmlns:a16="http://schemas.microsoft.com/office/drawing/2014/main" id="{7F6D92D0-7D72-AE4D-39FF-49C153EA021C}"/>
              </a:ext>
            </a:extLst>
          </p:cNvPr>
          <p:cNvSpPr>
            <a:spLocks noGrp="1"/>
          </p:cNvSpPr>
          <p:nvPr>
            <p:ph type="title"/>
          </p:nvPr>
        </p:nvSpPr>
        <p:spPr>
          <a:xfrm>
            <a:off x="838200" y="238125"/>
            <a:ext cx="10444163" cy="719138"/>
          </a:xfrm>
        </p:spPr>
        <p:txBody>
          <a:bodyPr/>
          <a:lstStyle/>
          <a:p>
            <a:pPr algn="ctr"/>
            <a:r>
              <a:rPr lang="en-US" b="1" dirty="0">
                <a:latin typeface="+mj-lt"/>
              </a:rPr>
              <a:t>TYPES OF THREAT ACTORS</a:t>
            </a:r>
            <a:endParaRPr lang="en-IN" b="1" dirty="0">
              <a:latin typeface="+mj-lt"/>
            </a:endParaRPr>
          </a:p>
        </p:txBody>
      </p:sp>
    </p:spTree>
    <p:extLst>
      <p:ext uri="{BB962C8B-B14F-4D97-AF65-F5344CB8AC3E}">
        <p14:creationId xmlns:p14="http://schemas.microsoft.com/office/powerpoint/2010/main" val="10120012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578FB1-7640-DD3B-8D68-E16BD1919F8A}"/>
              </a:ext>
            </a:extLst>
          </p:cNvPr>
          <p:cNvSpPr>
            <a:spLocks noGrp="1"/>
          </p:cNvSpPr>
          <p:nvPr>
            <p:ph type="body" idx="1"/>
          </p:nvPr>
        </p:nvSpPr>
        <p:spPr/>
        <p:txBody>
          <a:bodyPr>
            <a:normAutofit fontScale="92500" lnSpcReduction="10000"/>
          </a:bodyPr>
          <a:lstStyle/>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5. Insider threats: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Unlike most other actor types, insider threat actors do not always have malicious intent. Some hurt their companies through human error, such as by unwittingly installing malware or losing a company-issued device that a cybercriminal finds and uses to access the network. But malicious insiders do exist. For example, the disgruntled employee who abuses access privileges to steal data for monetary gain or inflicts damage to data or applications in retaliation for being passed over for promotion.</a:t>
            </a:r>
          </a:p>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6. Cyberterrorists:</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Cyberterrorists start politically or ideologically motivated cyberattacks that threaten or result in violence. Some cyberterrorists are nation-state actors; others are actors on their own or on behalf of a nongovernment group.</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7B26FFE-7016-9D31-E4C2-32EECA1FB4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
        <p:nvSpPr>
          <p:cNvPr id="5" name="Title 2">
            <a:extLst>
              <a:ext uri="{FF2B5EF4-FFF2-40B4-BE49-F238E27FC236}">
                <a16:creationId xmlns:a16="http://schemas.microsoft.com/office/drawing/2014/main" id="{20C0EF3D-EADE-1149-303F-9ADB64CB98C1}"/>
              </a:ext>
            </a:extLst>
          </p:cNvPr>
          <p:cNvSpPr>
            <a:spLocks noGrp="1"/>
          </p:cNvSpPr>
          <p:nvPr>
            <p:ph type="title"/>
          </p:nvPr>
        </p:nvSpPr>
        <p:spPr>
          <a:xfrm>
            <a:off x="838200" y="238125"/>
            <a:ext cx="10444163" cy="719138"/>
          </a:xfrm>
        </p:spPr>
        <p:txBody>
          <a:bodyPr/>
          <a:lstStyle/>
          <a:p>
            <a:pPr algn="ctr"/>
            <a:r>
              <a:rPr lang="en-US" b="1" dirty="0">
                <a:latin typeface="+mj-lt"/>
              </a:rPr>
              <a:t>TYPES OF THREAT ACTORS</a:t>
            </a:r>
            <a:endParaRPr lang="en-IN" b="1" dirty="0">
              <a:latin typeface="+mj-lt"/>
            </a:endParaRPr>
          </a:p>
        </p:txBody>
      </p:sp>
    </p:spTree>
    <p:extLst>
      <p:ext uri="{BB962C8B-B14F-4D97-AF65-F5344CB8AC3E}">
        <p14:creationId xmlns:p14="http://schemas.microsoft.com/office/powerpoint/2010/main" val="6412086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EC82C7-DFC3-0335-C530-954C8D1074DF}"/>
              </a:ext>
            </a:extLst>
          </p:cNvPr>
          <p:cNvSpPr>
            <a:spLocks noGrp="1"/>
          </p:cNvSpPr>
          <p:nvPr>
            <p:ph type="body" idx="1"/>
          </p:nvPr>
        </p:nvSpPr>
        <p:spPr/>
        <p:txBody>
          <a:bodyPr>
            <a:normAutofit/>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The attack surface is the number of all possible points, or attack vectors, where an unauthorized user can access a system and extract data. The smaller the attack surface, the easier it is to protect.</a:t>
            </a:r>
          </a:p>
          <a:p>
            <a:pPr algn="just"/>
            <a:r>
              <a:rPr lang="en-IN" dirty="0">
                <a:latin typeface="Calibri" panose="020F0502020204030204" pitchFamily="34" charset="0"/>
                <a:ea typeface="Calibri" panose="020F0502020204030204" pitchFamily="34" charset="0"/>
                <a:cs typeface="Calibri" panose="020F0502020204030204" pitchFamily="34" charset="0"/>
              </a:rPr>
              <a:t>Organizations must constantly monitor their attack surface to identify and block potential threats as quickly as possible. They also must try and minimize the attack surface area to reduce the risk of cyberattacks succeeding. However, doing so becomes difficult as they expand their digital footprint and embrace new technologies.</a:t>
            </a:r>
          </a:p>
          <a:p>
            <a:pPr algn="just"/>
            <a:r>
              <a:rPr lang="en-IN" dirty="0">
                <a:latin typeface="Calibri" panose="020F0502020204030204" pitchFamily="34" charset="0"/>
                <a:ea typeface="Calibri" panose="020F0502020204030204" pitchFamily="34" charset="0"/>
                <a:cs typeface="Calibri" panose="020F0502020204030204" pitchFamily="34" charset="0"/>
              </a:rPr>
              <a:t>The attack surface is split into two categories: the digital and physical.</a:t>
            </a:r>
          </a:p>
        </p:txBody>
      </p:sp>
      <p:sp>
        <p:nvSpPr>
          <p:cNvPr id="3" name="Title 2">
            <a:extLst>
              <a:ext uri="{FF2B5EF4-FFF2-40B4-BE49-F238E27FC236}">
                <a16:creationId xmlns:a16="http://schemas.microsoft.com/office/drawing/2014/main" id="{82554A80-CA1D-0AA3-1F14-37E50DCA483C}"/>
              </a:ext>
            </a:extLst>
          </p:cNvPr>
          <p:cNvSpPr>
            <a:spLocks noGrp="1"/>
          </p:cNvSpPr>
          <p:nvPr>
            <p:ph type="title"/>
          </p:nvPr>
        </p:nvSpPr>
        <p:spPr/>
        <p:txBody>
          <a:bodyPr/>
          <a:lstStyle/>
          <a:p>
            <a:pPr algn="ctr"/>
            <a:r>
              <a:rPr lang="en-US" b="1" dirty="0">
                <a:latin typeface="+mj-lt"/>
              </a:rPr>
              <a:t>ATTACK SURFACE</a:t>
            </a:r>
            <a:endParaRPr lang="en-IN" b="1" dirty="0">
              <a:latin typeface="+mj-lt"/>
            </a:endParaRPr>
          </a:p>
        </p:txBody>
      </p:sp>
      <p:sp>
        <p:nvSpPr>
          <p:cNvPr id="4" name="Slide Number Placeholder 3">
            <a:extLst>
              <a:ext uri="{FF2B5EF4-FFF2-40B4-BE49-F238E27FC236}">
                <a16:creationId xmlns:a16="http://schemas.microsoft.com/office/drawing/2014/main" id="{5D37BD19-0957-9962-E32D-3C2EF46301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extLst>
      <p:ext uri="{BB962C8B-B14F-4D97-AF65-F5344CB8AC3E}">
        <p14:creationId xmlns:p14="http://schemas.microsoft.com/office/powerpoint/2010/main" val="5251793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17A4E7-F207-6A07-FF82-59C551F00D0E}"/>
              </a:ext>
            </a:extLst>
          </p:cNvPr>
          <p:cNvSpPr>
            <a:spLocks noGrp="1"/>
          </p:cNvSpPr>
          <p:nvPr>
            <p:ph type="body" idx="1"/>
          </p:nvPr>
        </p:nvSpPr>
        <p:spPr/>
        <p:txBody>
          <a:bodyPr/>
          <a:lstStyle/>
          <a:p>
            <a:pPr marL="114300" indent="0" algn="just">
              <a:buNone/>
            </a:pPr>
            <a:r>
              <a:rPr lang="en-IN" b="1" dirty="0">
                <a:latin typeface="Calibri" panose="020F0502020204030204" pitchFamily="34" charset="0"/>
                <a:ea typeface="Calibri" panose="020F0502020204030204" pitchFamily="34" charset="0"/>
                <a:cs typeface="Calibri" panose="020F0502020204030204" pitchFamily="34" charset="0"/>
              </a:rPr>
              <a:t>1. Digital attack surface:</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The digital attack surface area encompasses all the hardware and software that connect to an organization’s network. These include applications, code, ports, servers, and websites, as well as shadow IT, which sees users bypass IT to use unauthorized applications or devices.</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2C2830A-4652-7843-028B-C698441A52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
        <p:nvSpPr>
          <p:cNvPr id="5" name="Title 2">
            <a:extLst>
              <a:ext uri="{FF2B5EF4-FFF2-40B4-BE49-F238E27FC236}">
                <a16:creationId xmlns:a16="http://schemas.microsoft.com/office/drawing/2014/main" id="{7C7C6CFC-E2D0-1D0E-B0FD-A8046F6F7CE9}"/>
              </a:ext>
            </a:extLst>
          </p:cNvPr>
          <p:cNvSpPr>
            <a:spLocks noGrp="1"/>
          </p:cNvSpPr>
          <p:nvPr>
            <p:ph type="title"/>
          </p:nvPr>
        </p:nvSpPr>
        <p:spPr>
          <a:xfrm>
            <a:off x="838200" y="238125"/>
            <a:ext cx="10444163" cy="719138"/>
          </a:xfrm>
        </p:spPr>
        <p:txBody>
          <a:bodyPr/>
          <a:lstStyle/>
          <a:p>
            <a:pPr algn="ctr"/>
            <a:r>
              <a:rPr lang="en-US" b="1" dirty="0">
                <a:latin typeface="+mj-lt"/>
              </a:rPr>
              <a:t>ATTACK SURFACE</a:t>
            </a:r>
            <a:endParaRPr lang="en-IN" b="1" dirty="0">
              <a:latin typeface="+mj-lt"/>
            </a:endParaRPr>
          </a:p>
        </p:txBody>
      </p:sp>
    </p:spTree>
    <p:extLst>
      <p:ext uri="{BB962C8B-B14F-4D97-AF65-F5344CB8AC3E}">
        <p14:creationId xmlns:p14="http://schemas.microsoft.com/office/powerpoint/2010/main" val="2810792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6EA551-D3B3-E9E8-B616-E6CD6886CFF5}"/>
              </a:ext>
            </a:extLst>
          </p:cNvPr>
          <p:cNvSpPr>
            <a:spLocks noGrp="1"/>
          </p:cNvSpPr>
          <p:nvPr>
            <p:ph type="body" idx="1"/>
          </p:nvPr>
        </p:nvSpPr>
        <p:spPr/>
        <p:txBody>
          <a:bodyPr>
            <a:normAutofit lnSpcReduction="10000"/>
          </a:bodyPr>
          <a:lstStyle/>
          <a:p>
            <a:pPr marL="114300" indent="0" algn="just">
              <a:buNone/>
            </a:pPr>
            <a:r>
              <a:rPr lang="en-US" b="1" dirty="0">
                <a:latin typeface="Calibri" panose="020F0502020204030204" pitchFamily="34" charset="0"/>
                <a:ea typeface="Calibri" panose="020F0502020204030204" pitchFamily="34" charset="0"/>
                <a:cs typeface="Calibri" panose="020F0502020204030204" pitchFamily="34" charset="0"/>
              </a:rPr>
              <a:t>2. Physical Attack Surface:</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The physical attack surface comprises all endpoint devices that an attacker can gain physical access to, such as desktop computers, hard drives, laptops, mobile phones, and universal serial bus (USB) drives. The physical attack threat surface includes carelessly discarded hardware that contains user data and login credentials, users writing passwords on paper, and physical break-ins.</a:t>
            </a:r>
          </a:p>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Organizations can protect the physical attack surface with support from a managed security service provider (MSSP), which may include implementing access control, surveillance, and physical security policies. They also must implement and test disaster recovery procedures and policies.</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4B15D24-1A3D-1A35-7009-5A49DE1514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
        <p:nvSpPr>
          <p:cNvPr id="5" name="Title 2">
            <a:extLst>
              <a:ext uri="{FF2B5EF4-FFF2-40B4-BE49-F238E27FC236}">
                <a16:creationId xmlns:a16="http://schemas.microsoft.com/office/drawing/2014/main" id="{F373B4CE-AC8B-EB32-8D36-A7CED79D214A}"/>
              </a:ext>
            </a:extLst>
          </p:cNvPr>
          <p:cNvSpPr>
            <a:spLocks noGrp="1"/>
          </p:cNvSpPr>
          <p:nvPr>
            <p:ph type="title"/>
          </p:nvPr>
        </p:nvSpPr>
        <p:spPr>
          <a:xfrm>
            <a:off x="838200" y="238125"/>
            <a:ext cx="10444163" cy="719138"/>
          </a:xfrm>
        </p:spPr>
        <p:txBody>
          <a:bodyPr/>
          <a:lstStyle/>
          <a:p>
            <a:pPr algn="ctr"/>
            <a:r>
              <a:rPr lang="en-US" b="1" dirty="0">
                <a:latin typeface="+mj-lt"/>
              </a:rPr>
              <a:t>ATTACK SURFACE</a:t>
            </a:r>
            <a:endParaRPr lang="en-IN" b="1" dirty="0">
              <a:latin typeface="+mj-lt"/>
            </a:endParaRPr>
          </a:p>
        </p:txBody>
      </p:sp>
    </p:spTree>
    <p:extLst>
      <p:ext uri="{BB962C8B-B14F-4D97-AF65-F5344CB8AC3E}">
        <p14:creationId xmlns:p14="http://schemas.microsoft.com/office/powerpoint/2010/main" val="3960661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A066D4-9F89-ECE6-77B4-E67BF75A8481}"/>
              </a:ext>
            </a:extLst>
          </p:cNvPr>
          <p:cNvSpPr>
            <a:spLocks noGrp="1"/>
          </p:cNvSpPr>
          <p:nvPr>
            <p:ph type="body" idx="1"/>
          </p:nvPr>
        </p:nvSpPr>
        <p:spPr/>
        <p:txBody>
          <a:bodyPr/>
          <a:lstStyle/>
          <a:p>
            <a:pPr marL="114300" indent="0" algn="just">
              <a:buNone/>
            </a:pPr>
            <a:r>
              <a:rPr lang="en-IN" b="1" dirty="0"/>
              <a:t>1. Defence in Depth:</a:t>
            </a:r>
          </a:p>
          <a:p>
            <a:pPr marL="114300" indent="0" algn="just">
              <a:buNone/>
            </a:pPr>
            <a:r>
              <a:rPr lang="en-IN" dirty="0"/>
              <a:t>Defence in Depth is a security strategy that uses </a:t>
            </a:r>
            <a:r>
              <a:rPr lang="en-IN" b="1" dirty="0"/>
              <a:t>multiple layers of security controls</a:t>
            </a:r>
            <a:r>
              <a:rPr lang="en-IN" dirty="0"/>
              <a:t> so that if one control fails, others continue to protect the system.</a:t>
            </a:r>
          </a:p>
          <a:p>
            <a:pPr marL="114300" indent="0" algn="just">
              <a:buNone/>
            </a:pPr>
            <a:r>
              <a:rPr lang="en-IN" b="1" dirty="0"/>
              <a:t>Key Points:</a:t>
            </a:r>
            <a:endParaRPr lang="en-IN" dirty="0"/>
          </a:p>
          <a:p>
            <a:pPr lvl="0" algn="just"/>
            <a:r>
              <a:rPr lang="en-IN" dirty="0"/>
              <a:t>Prevents a single point of failure. </a:t>
            </a:r>
          </a:p>
          <a:p>
            <a:pPr lvl="0" algn="just"/>
            <a:r>
              <a:rPr lang="en-IN" dirty="0"/>
              <a:t>Combines physical, technical, and administrative controls. </a:t>
            </a:r>
          </a:p>
          <a:p>
            <a:pPr lvl="0" algn="just"/>
            <a:r>
              <a:rPr lang="en-IN" dirty="0"/>
              <a:t>Improves the overall resilience of an organization.</a:t>
            </a:r>
          </a:p>
          <a:p>
            <a:pPr marL="114300" indent="0" algn="just">
              <a:buNone/>
            </a:pPr>
            <a:endParaRPr lang="en-IN" dirty="0"/>
          </a:p>
        </p:txBody>
      </p:sp>
      <p:sp>
        <p:nvSpPr>
          <p:cNvPr id="3" name="Title 2">
            <a:extLst>
              <a:ext uri="{FF2B5EF4-FFF2-40B4-BE49-F238E27FC236}">
                <a16:creationId xmlns:a16="http://schemas.microsoft.com/office/drawing/2014/main" id="{85C541C0-523E-2727-41C7-D5C06942358C}"/>
              </a:ext>
            </a:extLst>
          </p:cNvPr>
          <p:cNvSpPr>
            <a:spLocks noGrp="1"/>
          </p:cNvSpPr>
          <p:nvPr>
            <p:ph type="title"/>
          </p:nvPr>
        </p:nvSpPr>
        <p:spPr/>
        <p:txBody>
          <a:bodyPr/>
          <a:lstStyle/>
          <a:p>
            <a:pPr algn="ctr"/>
            <a:r>
              <a:rPr lang="en-US" b="1" dirty="0">
                <a:latin typeface="+mj-lt"/>
              </a:rPr>
              <a:t>INFORMATION SECURITY PRINCIPLES</a:t>
            </a:r>
            <a:endParaRPr lang="en-IN" b="1" dirty="0">
              <a:latin typeface="+mj-lt"/>
            </a:endParaRPr>
          </a:p>
        </p:txBody>
      </p:sp>
      <p:sp>
        <p:nvSpPr>
          <p:cNvPr id="4" name="Slide Number Placeholder 3">
            <a:extLst>
              <a:ext uri="{FF2B5EF4-FFF2-40B4-BE49-F238E27FC236}">
                <a16:creationId xmlns:a16="http://schemas.microsoft.com/office/drawing/2014/main" id="{9EBEF6BC-816E-08A6-A3A6-121E89FC6B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extLst>
      <p:ext uri="{BB962C8B-B14F-4D97-AF65-F5344CB8AC3E}">
        <p14:creationId xmlns:p14="http://schemas.microsoft.com/office/powerpoint/2010/main" val="41589124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0CFB98-2844-5B56-77A4-A9D15DC9E143}"/>
              </a:ext>
            </a:extLst>
          </p:cNvPr>
          <p:cNvSpPr>
            <a:spLocks noGrp="1"/>
          </p:cNvSpPr>
          <p:nvPr>
            <p:ph type="body" idx="1"/>
          </p:nvPr>
        </p:nvSpPr>
        <p:spPr/>
        <p:txBody>
          <a:bodyPr/>
          <a:lstStyle/>
          <a:p>
            <a:pPr marL="114300" indent="0" algn="just">
              <a:buNone/>
            </a:pPr>
            <a:r>
              <a:rPr lang="en-IN" b="1" dirty="0"/>
              <a:t>Examples:</a:t>
            </a:r>
            <a:endParaRPr lang="en-IN" dirty="0"/>
          </a:p>
          <a:p>
            <a:pPr lvl="0" algn="just"/>
            <a:r>
              <a:rPr lang="en-IN" dirty="0"/>
              <a:t>Firewall → Intrusion Detection System (IDS) → Antivirus → Multi-Factor Authentication (MFA). </a:t>
            </a:r>
          </a:p>
          <a:p>
            <a:pPr lvl="0" algn="just"/>
            <a:r>
              <a:rPr lang="en-IN" dirty="0"/>
              <a:t>Security guard → Biometric access → CCTV surveillance for a data </a:t>
            </a:r>
            <a:r>
              <a:rPr lang="en-IN" dirty="0" err="1"/>
              <a:t>center</a:t>
            </a:r>
            <a:r>
              <a:rPr lang="en-IN" dirty="0"/>
              <a:t>. </a:t>
            </a:r>
          </a:p>
          <a:p>
            <a:pPr marL="114300" indent="0" algn="just">
              <a:buNone/>
            </a:pPr>
            <a:r>
              <a:rPr lang="en-IN" b="1" dirty="0"/>
              <a:t>Benefits:</a:t>
            </a:r>
            <a:endParaRPr lang="en-IN" dirty="0"/>
          </a:p>
          <a:p>
            <a:pPr lvl="0" algn="just"/>
            <a:r>
              <a:rPr lang="en-IN" dirty="0"/>
              <a:t>Reduces the risk of successful cyberattacks. </a:t>
            </a:r>
          </a:p>
          <a:p>
            <a:pPr lvl="0" algn="just"/>
            <a:r>
              <a:rPr lang="en-IN" dirty="0"/>
              <a:t>Provides multiple opportunities to detect and stop attackers.</a:t>
            </a:r>
          </a:p>
          <a:p>
            <a:pPr marL="114300" indent="0" algn="just">
              <a:buNone/>
            </a:pPr>
            <a:endParaRPr lang="en-IN" dirty="0"/>
          </a:p>
        </p:txBody>
      </p:sp>
      <p:sp>
        <p:nvSpPr>
          <p:cNvPr id="4" name="Slide Number Placeholder 3">
            <a:extLst>
              <a:ext uri="{FF2B5EF4-FFF2-40B4-BE49-F238E27FC236}">
                <a16:creationId xmlns:a16="http://schemas.microsoft.com/office/drawing/2014/main" id="{6A62F1A9-8805-023D-463D-053ACBB421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
        <p:nvSpPr>
          <p:cNvPr id="5" name="Title 2">
            <a:extLst>
              <a:ext uri="{FF2B5EF4-FFF2-40B4-BE49-F238E27FC236}">
                <a16:creationId xmlns:a16="http://schemas.microsoft.com/office/drawing/2014/main" id="{F506E61D-4C30-4E8C-65F1-EBB023FB8E56}"/>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28583915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F8439B-7E32-7254-5BE8-5D680C7D9824}"/>
              </a:ext>
            </a:extLst>
          </p:cNvPr>
          <p:cNvSpPr>
            <a:spLocks noGrp="1"/>
          </p:cNvSpPr>
          <p:nvPr>
            <p:ph type="body" idx="1"/>
          </p:nvPr>
        </p:nvSpPr>
        <p:spPr/>
        <p:txBody>
          <a:bodyPr/>
          <a:lstStyle/>
          <a:p>
            <a:pPr marL="114300" indent="0" algn="just">
              <a:buNone/>
            </a:pPr>
            <a:r>
              <a:rPr lang="en-US" b="1" dirty="0"/>
              <a:t>2. Least Privilege:</a:t>
            </a:r>
          </a:p>
          <a:p>
            <a:pPr marL="114300" indent="0" algn="just">
              <a:buNone/>
            </a:pPr>
            <a:r>
              <a:rPr lang="en-IN" dirty="0"/>
              <a:t>The Principle of Least Privilege (</a:t>
            </a:r>
            <a:r>
              <a:rPr lang="en-IN" dirty="0" err="1"/>
              <a:t>PoLP</a:t>
            </a:r>
            <a:r>
              <a:rPr lang="en-IN" dirty="0"/>
              <a:t>) states that </a:t>
            </a:r>
            <a:r>
              <a:rPr lang="en-IN" b="1" dirty="0"/>
              <a:t>users, applications, and systems should only have the minimum permissions necessary</a:t>
            </a:r>
            <a:r>
              <a:rPr lang="en-IN" dirty="0"/>
              <a:t> to perform their tasks.</a:t>
            </a:r>
          </a:p>
          <a:p>
            <a:pPr marL="114300" indent="0" algn="just">
              <a:buNone/>
            </a:pPr>
            <a:r>
              <a:rPr lang="en-IN" b="1" dirty="0"/>
              <a:t>Key Points:</a:t>
            </a:r>
            <a:endParaRPr lang="en-IN" dirty="0"/>
          </a:p>
          <a:p>
            <a:pPr lvl="0" algn="just"/>
            <a:r>
              <a:rPr lang="en-IN" dirty="0"/>
              <a:t>Limits unnecessary access. </a:t>
            </a:r>
          </a:p>
          <a:p>
            <a:pPr lvl="0" algn="just"/>
            <a:r>
              <a:rPr lang="en-IN" dirty="0"/>
              <a:t>Reduces the impact of compromised accounts. </a:t>
            </a:r>
          </a:p>
          <a:p>
            <a:pPr lvl="0" algn="just"/>
            <a:r>
              <a:rPr lang="en-IN" dirty="0"/>
              <a:t>Prevents accidental or intentional misuse of data.</a:t>
            </a:r>
          </a:p>
          <a:p>
            <a:pPr marL="114300" indent="0" algn="just">
              <a:buNone/>
            </a:pPr>
            <a:endParaRPr lang="en-IN" dirty="0"/>
          </a:p>
        </p:txBody>
      </p:sp>
      <p:sp>
        <p:nvSpPr>
          <p:cNvPr id="4" name="Slide Number Placeholder 3">
            <a:extLst>
              <a:ext uri="{FF2B5EF4-FFF2-40B4-BE49-F238E27FC236}">
                <a16:creationId xmlns:a16="http://schemas.microsoft.com/office/drawing/2014/main" id="{79123D2C-456C-557B-F585-9D7BE9715C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
        <p:nvSpPr>
          <p:cNvPr id="5" name="Title 2">
            <a:extLst>
              <a:ext uri="{FF2B5EF4-FFF2-40B4-BE49-F238E27FC236}">
                <a16:creationId xmlns:a16="http://schemas.microsoft.com/office/drawing/2014/main" id="{06240E1B-AB4C-E041-DC4A-1AE031E47832}"/>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39763193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17B1D4-6512-9AC2-99B3-143C79487117}"/>
              </a:ext>
            </a:extLst>
          </p:cNvPr>
          <p:cNvSpPr>
            <a:spLocks noGrp="1"/>
          </p:cNvSpPr>
          <p:nvPr>
            <p:ph type="body" idx="1"/>
          </p:nvPr>
        </p:nvSpPr>
        <p:spPr/>
        <p:txBody>
          <a:bodyPr/>
          <a:lstStyle/>
          <a:p>
            <a:pPr marL="114300" indent="0" algn="just">
              <a:buNone/>
            </a:pPr>
            <a:r>
              <a:rPr lang="en-IN" b="1" dirty="0"/>
              <a:t>Examples:</a:t>
            </a:r>
            <a:endParaRPr lang="en-IN" dirty="0"/>
          </a:p>
          <a:p>
            <a:pPr lvl="0" algn="just"/>
            <a:r>
              <a:rPr lang="en-IN" dirty="0"/>
              <a:t>A student can only view their own grades. </a:t>
            </a:r>
          </a:p>
          <a:p>
            <a:pPr lvl="0" algn="just"/>
            <a:r>
              <a:rPr lang="en-IN" dirty="0"/>
              <a:t>An HR employee cannot access financial records. </a:t>
            </a:r>
          </a:p>
          <a:p>
            <a:pPr lvl="0" algn="just"/>
            <a:r>
              <a:rPr lang="en-IN" dirty="0"/>
              <a:t>A software application has only read access instead of full administrator privileges. </a:t>
            </a:r>
          </a:p>
          <a:p>
            <a:pPr marL="114300" indent="0" algn="just">
              <a:buNone/>
            </a:pPr>
            <a:r>
              <a:rPr lang="en-IN" b="1" dirty="0"/>
              <a:t>Benefits:</a:t>
            </a:r>
            <a:endParaRPr lang="en-IN" dirty="0"/>
          </a:p>
          <a:p>
            <a:pPr lvl="0" algn="just"/>
            <a:r>
              <a:rPr lang="en-IN" dirty="0"/>
              <a:t>Minimizes insider threats. </a:t>
            </a:r>
          </a:p>
          <a:p>
            <a:pPr lvl="0" algn="just"/>
            <a:r>
              <a:rPr lang="en-IN" dirty="0"/>
              <a:t>Reduces the attack surface. </a:t>
            </a:r>
          </a:p>
          <a:p>
            <a:pPr lvl="0" algn="just"/>
            <a:r>
              <a:rPr lang="en-IN" dirty="0"/>
              <a:t>Improves accountability.</a:t>
            </a:r>
          </a:p>
          <a:p>
            <a:pPr marL="114300" indent="0" algn="just">
              <a:buNone/>
            </a:pPr>
            <a:endParaRPr lang="en-IN" dirty="0"/>
          </a:p>
        </p:txBody>
      </p:sp>
      <p:sp>
        <p:nvSpPr>
          <p:cNvPr id="4" name="Slide Number Placeholder 3">
            <a:extLst>
              <a:ext uri="{FF2B5EF4-FFF2-40B4-BE49-F238E27FC236}">
                <a16:creationId xmlns:a16="http://schemas.microsoft.com/office/drawing/2014/main" id="{4DEB910E-220C-7E1B-D4C3-3271AC8E4E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
        <p:nvSpPr>
          <p:cNvPr id="5" name="Title 2">
            <a:extLst>
              <a:ext uri="{FF2B5EF4-FFF2-40B4-BE49-F238E27FC236}">
                <a16:creationId xmlns:a16="http://schemas.microsoft.com/office/drawing/2014/main" id="{3438AFE1-D717-8677-6641-3CF0339AA7CB}"/>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21113637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8D6950-11F2-2835-2938-36C9087CC8E3}"/>
              </a:ext>
            </a:extLst>
          </p:cNvPr>
          <p:cNvSpPr>
            <a:spLocks noGrp="1"/>
          </p:cNvSpPr>
          <p:nvPr>
            <p:ph type="body" idx="1"/>
          </p:nvPr>
        </p:nvSpPr>
        <p:spPr/>
        <p:txBody>
          <a:bodyPr/>
          <a:lstStyle/>
          <a:p>
            <a:pPr marL="114300" indent="0" algn="just">
              <a:buNone/>
            </a:pPr>
            <a:r>
              <a:rPr lang="en-US" b="1" dirty="0"/>
              <a:t>3. Separation of Duties:</a:t>
            </a:r>
          </a:p>
          <a:p>
            <a:pPr marL="114300" indent="0" algn="just">
              <a:buNone/>
            </a:pPr>
            <a:r>
              <a:rPr lang="en-IN" dirty="0"/>
              <a:t>Separation of Duties means </a:t>
            </a:r>
            <a:r>
              <a:rPr lang="en-IN" b="1" dirty="0"/>
              <a:t>dividing critical tasks among multiple individuals</a:t>
            </a:r>
            <a:r>
              <a:rPr lang="en-IN" dirty="0"/>
              <a:t> so that no single person has complete control over an important process.</a:t>
            </a:r>
          </a:p>
          <a:p>
            <a:pPr marL="114300" indent="0" algn="just">
              <a:buNone/>
            </a:pPr>
            <a:r>
              <a:rPr lang="en-IN" b="1" dirty="0"/>
              <a:t>Key Points:</a:t>
            </a:r>
            <a:endParaRPr lang="en-IN" dirty="0"/>
          </a:p>
          <a:p>
            <a:pPr lvl="0" algn="just"/>
            <a:r>
              <a:rPr lang="en-IN" dirty="0"/>
              <a:t>Prevents fraud and abuse. </a:t>
            </a:r>
          </a:p>
          <a:p>
            <a:pPr lvl="0" algn="just"/>
            <a:r>
              <a:rPr lang="en-IN" dirty="0"/>
              <a:t>Ensures checks and balances. </a:t>
            </a:r>
          </a:p>
          <a:p>
            <a:pPr lvl="0" algn="just"/>
            <a:r>
              <a:rPr lang="en-IN" dirty="0"/>
              <a:t>Reduces the possibility of errors.</a:t>
            </a:r>
          </a:p>
          <a:p>
            <a:pPr marL="114300" indent="0" algn="just">
              <a:buNone/>
            </a:pPr>
            <a:endParaRPr lang="en-IN" dirty="0"/>
          </a:p>
        </p:txBody>
      </p:sp>
      <p:sp>
        <p:nvSpPr>
          <p:cNvPr id="4" name="Slide Number Placeholder 3">
            <a:extLst>
              <a:ext uri="{FF2B5EF4-FFF2-40B4-BE49-F238E27FC236}">
                <a16:creationId xmlns:a16="http://schemas.microsoft.com/office/drawing/2014/main" id="{FCBD8388-87FE-3EEB-9ABE-A2A85B31A9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
        <p:nvSpPr>
          <p:cNvPr id="5" name="Title 2">
            <a:extLst>
              <a:ext uri="{FF2B5EF4-FFF2-40B4-BE49-F238E27FC236}">
                <a16:creationId xmlns:a16="http://schemas.microsoft.com/office/drawing/2014/main" id="{F282EE15-2E32-FED6-6C65-2F06C8E35541}"/>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28221439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9B6492-1245-EA12-0A41-2039F9AB9418}"/>
              </a:ext>
            </a:extLst>
          </p:cNvPr>
          <p:cNvSpPr>
            <a:spLocks noGrp="1"/>
          </p:cNvSpPr>
          <p:nvPr>
            <p:ph type="body" idx="1"/>
          </p:nvPr>
        </p:nvSpPr>
        <p:spPr/>
        <p:txBody>
          <a:bodyPr>
            <a:normAutofit lnSpcReduction="10000"/>
          </a:bodyPr>
          <a:lstStyle/>
          <a:p>
            <a:pPr marL="114300" indent="0" algn="just">
              <a:buNone/>
            </a:pPr>
            <a:r>
              <a:rPr lang="en-IN" b="1" dirty="0"/>
              <a:t>Examples:</a:t>
            </a:r>
            <a:endParaRPr lang="en-IN" dirty="0"/>
          </a:p>
          <a:p>
            <a:pPr lvl="0" algn="just"/>
            <a:r>
              <a:rPr lang="en-IN" dirty="0"/>
              <a:t>One employee creates a payment request, while another approves it. </a:t>
            </a:r>
          </a:p>
          <a:p>
            <a:pPr lvl="0" algn="just"/>
            <a:r>
              <a:rPr lang="en-IN" dirty="0"/>
              <a:t>A developer writes code, but a different team reviews and deploys it. </a:t>
            </a:r>
          </a:p>
          <a:p>
            <a:pPr lvl="0" algn="just"/>
            <a:r>
              <a:rPr lang="en-IN" dirty="0"/>
              <a:t>One administrator creates user accounts, while another assigns privileges. </a:t>
            </a:r>
          </a:p>
          <a:p>
            <a:pPr marL="114300" indent="0" algn="just">
              <a:buNone/>
            </a:pPr>
            <a:r>
              <a:rPr lang="en-IN" b="1" dirty="0"/>
              <a:t>Benefits:</a:t>
            </a:r>
            <a:endParaRPr lang="en-IN" dirty="0"/>
          </a:p>
          <a:p>
            <a:pPr lvl="0" algn="just"/>
            <a:r>
              <a:rPr lang="en-IN" dirty="0"/>
              <a:t>Increases accountability. </a:t>
            </a:r>
          </a:p>
          <a:p>
            <a:pPr lvl="0" algn="just"/>
            <a:r>
              <a:rPr lang="en-IN" dirty="0"/>
              <a:t>Detects mistakes more easily. </a:t>
            </a:r>
          </a:p>
          <a:p>
            <a:pPr lvl="0" algn="just"/>
            <a:r>
              <a:rPr lang="en-IN" dirty="0"/>
              <a:t>Reduces insider threats.</a:t>
            </a:r>
          </a:p>
          <a:p>
            <a:pPr algn="just"/>
            <a:endParaRPr lang="en-IN" dirty="0"/>
          </a:p>
        </p:txBody>
      </p:sp>
      <p:sp>
        <p:nvSpPr>
          <p:cNvPr id="4" name="Slide Number Placeholder 3">
            <a:extLst>
              <a:ext uri="{FF2B5EF4-FFF2-40B4-BE49-F238E27FC236}">
                <a16:creationId xmlns:a16="http://schemas.microsoft.com/office/drawing/2014/main" id="{EA8916C3-8A00-FF49-4A97-6AA8E49EB0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
        <p:nvSpPr>
          <p:cNvPr id="5" name="Title 2">
            <a:extLst>
              <a:ext uri="{FF2B5EF4-FFF2-40B4-BE49-F238E27FC236}">
                <a16:creationId xmlns:a16="http://schemas.microsoft.com/office/drawing/2014/main" id="{682F58F4-6A72-C0D7-DBC8-7E32ED73A199}"/>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40924920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8CEED2-0E13-1944-3EDB-2F7F8FCBB081}"/>
              </a:ext>
            </a:extLst>
          </p:cNvPr>
          <p:cNvSpPr>
            <a:spLocks noGrp="1"/>
          </p:cNvSpPr>
          <p:nvPr>
            <p:ph type="body" idx="1"/>
          </p:nvPr>
        </p:nvSpPr>
        <p:spPr/>
        <p:txBody>
          <a:bodyPr/>
          <a:lstStyle/>
          <a:p>
            <a:pPr marL="114300" indent="0" algn="just">
              <a:buNone/>
            </a:pPr>
            <a:r>
              <a:rPr lang="en-US" b="1" dirty="0"/>
              <a:t>4. Need to Know:</a:t>
            </a:r>
          </a:p>
          <a:p>
            <a:pPr marL="114300" indent="0" algn="just">
              <a:buNone/>
            </a:pPr>
            <a:r>
              <a:rPr lang="en-IN" dirty="0"/>
              <a:t>The Need-to-Know principle states that </a:t>
            </a:r>
            <a:r>
              <a:rPr lang="en-IN" b="1" dirty="0"/>
              <a:t>information should only be accessible to individuals who require it to perform their job responsibilities</a:t>
            </a:r>
            <a:r>
              <a:rPr lang="en-IN" dirty="0"/>
              <a:t>, even if they already have the necessary security clearance.</a:t>
            </a:r>
          </a:p>
          <a:p>
            <a:pPr marL="114300" indent="0" algn="just">
              <a:buNone/>
            </a:pPr>
            <a:r>
              <a:rPr lang="en-IN" b="1" dirty="0"/>
              <a:t>Key Points:</a:t>
            </a:r>
            <a:endParaRPr lang="en-IN" dirty="0"/>
          </a:p>
          <a:p>
            <a:pPr lvl="0" algn="just"/>
            <a:r>
              <a:rPr lang="en-IN" dirty="0"/>
              <a:t>Restricts access to sensitive information. </a:t>
            </a:r>
          </a:p>
          <a:p>
            <a:pPr lvl="0" algn="just"/>
            <a:r>
              <a:rPr lang="en-IN" dirty="0"/>
              <a:t>Protects confidential and classified data. </a:t>
            </a:r>
          </a:p>
          <a:p>
            <a:pPr lvl="0" algn="just"/>
            <a:r>
              <a:rPr lang="en-IN" dirty="0"/>
              <a:t>Works alongside the Least Privilege principle.</a:t>
            </a:r>
          </a:p>
          <a:p>
            <a:pPr marL="114300" indent="0" algn="just">
              <a:buNone/>
            </a:pPr>
            <a:endParaRPr lang="en-IN" dirty="0"/>
          </a:p>
        </p:txBody>
      </p:sp>
      <p:sp>
        <p:nvSpPr>
          <p:cNvPr id="4" name="Slide Number Placeholder 3">
            <a:extLst>
              <a:ext uri="{FF2B5EF4-FFF2-40B4-BE49-F238E27FC236}">
                <a16:creationId xmlns:a16="http://schemas.microsoft.com/office/drawing/2014/main" id="{7E30FF36-CDC2-DADC-4D83-5B4FB40E1C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
        <p:nvSpPr>
          <p:cNvPr id="5" name="Title 2">
            <a:extLst>
              <a:ext uri="{FF2B5EF4-FFF2-40B4-BE49-F238E27FC236}">
                <a16:creationId xmlns:a16="http://schemas.microsoft.com/office/drawing/2014/main" id="{F4B312D5-2495-F6B7-21F7-44A08AC96460}"/>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25078570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29EA32-E3E8-D0F1-B217-2F9B5E96FDFE}"/>
              </a:ext>
            </a:extLst>
          </p:cNvPr>
          <p:cNvSpPr>
            <a:spLocks noGrp="1"/>
          </p:cNvSpPr>
          <p:nvPr>
            <p:ph type="body" idx="1"/>
          </p:nvPr>
        </p:nvSpPr>
        <p:spPr/>
        <p:txBody>
          <a:bodyPr>
            <a:normAutofit lnSpcReduction="10000"/>
          </a:bodyPr>
          <a:lstStyle/>
          <a:p>
            <a:pPr marL="114300" indent="0" algn="just">
              <a:buNone/>
            </a:pPr>
            <a:r>
              <a:rPr lang="en-IN" b="1" dirty="0"/>
              <a:t>Examples:</a:t>
            </a:r>
            <a:endParaRPr lang="en-IN" dirty="0"/>
          </a:p>
          <a:p>
            <a:pPr lvl="0" algn="just"/>
            <a:r>
              <a:rPr lang="en-IN" dirty="0"/>
              <a:t>A doctor can access only the records of patients under their care. </a:t>
            </a:r>
          </a:p>
          <a:p>
            <a:pPr lvl="0" algn="just"/>
            <a:r>
              <a:rPr lang="en-IN" dirty="0"/>
              <a:t>Employees in the finance department cannot access confidential R&amp;D documents. </a:t>
            </a:r>
          </a:p>
          <a:p>
            <a:pPr lvl="0" algn="just"/>
            <a:r>
              <a:rPr lang="en-IN" dirty="0"/>
              <a:t>A project team can view only documents related to their project. </a:t>
            </a:r>
          </a:p>
          <a:p>
            <a:pPr marL="114300" indent="0" algn="just">
              <a:buNone/>
            </a:pPr>
            <a:r>
              <a:rPr lang="en-IN" b="1" dirty="0"/>
              <a:t>Benefits:</a:t>
            </a:r>
            <a:endParaRPr lang="en-IN" dirty="0"/>
          </a:p>
          <a:p>
            <a:pPr lvl="0" algn="just"/>
            <a:r>
              <a:rPr lang="en-IN" dirty="0"/>
              <a:t>Prevents unauthorized information disclosure. </a:t>
            </a:r>
          </a:p>
          <a:p>
            <a:pPr lvl="0" algn="just"/>
            <a:r>
              <a:rPr lang="en-IN" dirty="0"/>
              <a:t>Improves confidentiality. </a:t>
            </a:r>
          </a:p>
          <a:p>
            <a:pPr lvl="0" algn="just"/>
            <a:r>
              <a:rPr lang="en-IN" dirty="0"/>
              <a:t>Reduces the risk of data leakage.</a:t>
            </a:r>
          </a:p>
          <a:p>
            <a:pPr marL="114300" indent="0" algn="just">
              <a:buNone/>
            </a:pPr>
            <a:endParaRPr lang="en-IN" b="1" dirty="0"/>
          </a:p>
        </p:txBody>
      </p:sp>
      <p:sp>
        <p:nvSpPr>
          <p:cNvPr id="4" name="Slide Number Placeholder 3">
            <a:extLst>
              <a:ext uri="{FF2B5EF4-FFF2-40B4-BE49-F238E27FC236}">
                <a16:creationId xmlns:a16="http://schemas.microsoft.com/office/drawing/2014/main" id="{118178AB-A70A-35FF-F1CF-AA99FE10BF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67</a:t>
            </a:fld>
            <a:endParaRPr lang="en-US"/>
          </a:p>
        </p:txBody>
      </p:sp>
      <p:sp>
        <p:nvSpPr>
          <p:cNvPr id="5" name="Title 2">
            <a:extLst>
              <a:ext uri="{FF2B5EF4-FFF2-40B4-BE49-F238E27FC236}">
                <a16:creationId xmlns:a16="http://schemas.microsoft.com/office/drawing/2014/main" id="{9228FB76-CC1B-72EE-0704-D6A071CC24F2}"/>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18490746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BF0B0A-EA96-8EED-4798-1D62D0A6C6B1}"/>
              </a:ext>
            </a:extLst>
          </p:cNvPr>
          <p:cNvSpPr>
            <a:spLocks noGrp="1"/>
          </p:cNvSpPr>
          <p:nvPr>
            <p:ph type="body" idx="1"/>
          </p:nvPr>
        </p:nvSpPr>
        <p:spPr/>
        <p:txBody>
          <a:bodyPr/>
          <a:lstStyle/>
          <a:p>
            <a:pPr marL="114300" indent="0" algn="just">
              <a:buNone/>
            </a:pPr>
            <a:r>
              <a:rPr lang="en-US" b="1" dirty="0"/>
              <a:t>5. Fail – Safe Defaults:</a:t>
            </a:r>
          </a:p>
          <a:p>
            <a:pPr marL="114300" indent="0" algn="just">
              <a:buNone/>
            </a:pPr>
            <a:r>
              <a:rPr lang="en-IN" dirty="0"/>
              <a:t>Fail-Safe Defaults means that </a:t>
            </a:r>
            <a:r>
              <a:rPr lang="en-IN" b="1" dirty="0"/>
              <a:t>access should be denied by default</a:t>
            </a:r>
            <a:r>
              <a:rPr lang="en-IN" dirty="0"/>
              <a:t>, and permissions are granted only when explicitly authorized. If a system fails, it should remain in a secure state.</a:t>
            </a:r>
          </a:p>
          <a:p>
            <a:pPr marL="114300" indent="0" algn="just">
              <a:buNone/>
            </a:pPr>
            <a:r>
              <a:rPr lang="en-IN" b="1" dirty="0"/>
              <a:t>Key Points:</a:t>
            </a:r>
            <a:endParaRPr lang="en-IN" dirty="0"/>
          </a:p>
          <a:p>
            <a:pPr lvl="0" algn="just"/>
            <a:r>
              <a:rPr lang="en-IN" dirty="0"/>
              <a:t>Uses a </a:t>
            </a:r>
            <a:r>
              <a:rPr lang="en-IN" b="1" dirty="0"/>
              <a:t>default deny</a:t>
            </a:r>
            <a:r>
              <a:rPr lang="en-IN" dirty="0"/>
              <a:t> approach. </a:t>
            </a:r>
          </a:p>
          <a:p>
            <a:pPr lvl="0" algn="just"/>
            <a:r>
              <a:rPr lang="en-IN" dirty="0"/>
              <a:t>Prevents accidental access during failures. </a:t>
            </a:r>
          </a:p>
          <a:p>
            <a:pPr lvl="0" algn="just"/>
            <a:r>
              <a:rPr lang="en-IN" dirty="0"/>
              <a:t>Ensures security even when errors occur.</a:t>
            </a:r>
          </a:p>
          <a:p>
            <a:pPr marL="114300" indent="0" algn="just">
              <a:buNone/>
            </a:pPr>
            <a:endParaRPr lang="en-IN" dirty="0"/>
          </a:p>
        </p:txBody>
      </p:sp>
      <p:sp>
        <p:nvSpPr>
          <p:cNvPr id="4" name="Slide Number Placeholder 3">
            <a:extLst>
              <a:ext uri="{FF2B5EF4-FFF2-40B4-BE49-F238E27FC236}">
                <a16:creationId xmlns:a16="http://schemas.microsoft.com/office/drawing/2014/main" id="{94B471E9-92DE-8E2B-07E0-E7FADDCE7D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68</a:t>
            </a:fld>
            <a:endParaRPr lang="en-US"/>
          </a:p>
        </p:txBody>
      </p:sp>
      <p:sp>
        <p:nvSpPr>
          <p:cNvPr id="6" name="Title 2">
            <a:extLst>
              <a:ext uri="{FF2B5EF4-FFF2-40B4-BE49-F238E27FC236}">
                <a16:creationId xmlns:a16="http://schemas.microsoft.com/office/drawing/2014/main" id="{6D7A2FC2-C62B-61ED-ECF8-BC87F588FFCC}"/>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20353570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DD5EF2-DF97-9DC2-9380-72CD569F484F}"/>
              </a:ext>
            </a:extLst>
          </p:cNvPr>
          <p:cNvSpPr>
            <a:spLocks noGrp="1"/>
          </p:cNvSpPr>
          <p:nvPr>
            <p:ph type="body" idx="1"/>
          </p:nvPr>
        </p:nvSpPr>
        <p:spPr/>
        <p:txBody>
          <a:bodyPr>
            <a:normAutofit lnSpcReduction="10000"/>
          </a:bodyPr>
          <a:lstStyle/>
          <a:p>
            <a:pPr marL="114300" indent="0" algn="just">
              <a:buNone/>
            </a:pPr>
            <a:r>
              <a:rPr lang="en-IN" b="1" dirty="0"/>
              <a:t>Examples:</a:t>
            </a:r>
            <a:endParaRPr lang="en-IN" dirty="0"/>
          </a:p>
          <a:p>
            <a:pPr lvl="0" algn="just"/>
            <a:r>
              <a:rPr lang="en-IN" dirty="0"/>
              <a:t>A firewall blocks all incoming traffic unless a rule specifically allows it. </a:t>
            </a:r>
          </a:p>
          <a:p>
            <a:pPr lvl="0" algn="just"/>
            <a:r>
              <a:rPr lang="en-IN" dirty="0"/>
              <a:t>A newly created user account has no permissions until access is assigned. </a:t>
            </a:r>
          </a:p>
          <a:p>
            <a:pPr lvl="0" algn="just"/>
            <a:r>
              <a:rPr lang="en-IN" dirty="0"/>
              <a:t>If an authentication server is unavailable, users are denied access instead of being automatically logged in. </a:t>
            </a:r>
          </a:p>
          <a:p>
            <a:pPr marL="114300" indent="0" algn="just">
              <a:buNone/>
            </a:pPr>
            <a:r>
              <a:rPr lang="en-IN" b="1" dirty="0"/>
              <a:t>Benefits:</a:t>
            </a:r>
            <a:endParaRPr lang="en-IN" dirty="0"/>
          </a:p>
          <a:p>
            <a:pPr lvl="0" algn="just"/>
            <a:r>
              <a:rPr lang="en-IN" dirty="0"/>
              <a:t>Reduces unauthorized access. </a:t>
            </a:r>
          </a:p>
          <a:p>
            <a:pPr lvl="0" algn="just"/>
            <a:r>
              <a:rPr lang="en-IN" dirty="0"/>
              <a:t>Improves system security. </a:t>
            </a:r>
          </a:p>
          <a:p>
            <a:pPr lvl="0" algn="just"/>
            <a:r>
              <a:rPr lang="en-IN" dirty="0"/>
              <a:t>Prevents privilege escalation due to configuration errors.</a:t>
            </a:r>
          </a:p>
          <a:p>
            <a:pPr algn="just"/>
            <a:endParaRPr lang="en-IN" b="1" dirty="0"/>
          </a:p>
        </p:txBody>
      </p:sp>
      <p:sp>
        <p:nvSpPr>
          <p:cNvPr id="4" name="Slide Number Placeholder 3">
            <a:extLst>
              <a:ext uri="{FF2B5EF4-FFF2-40B4-BE49-F238E27FC236}">
                <a16:creationId xmlns:a16="http://schemas.microsoft.com/office/drawing/2014/main" id="{7223E603-C420-7085-8068-089C5DCDD8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69</a:t>
            </a:fld>
            <a:endParaRPr lang="en-US"/>
          </a:p>
        </p:txBody>
      </p:sp>
      <p:sp>
        <p:nvSpPr>
          <p:cNvPr id="5" name="Title 2">
            <a:extLst>
              <a:ext uri="{FF2B5EF4-FFF2-40B4-BE49-F238E27FC236}">
                <a16:creationId xmlns:a16="http://schemas.microsoft.com/office/drawing/2014/main" id="{C36D5148-8619-0C03-0708-DAECA37445E6}"/>
              </a:ext>
            </a:extLst>
          </p:cNvPr>
          <p:cNvSpPr>
            <a:spLocks noGrp="1"/>
          </p:cNvSpPr>
          <p:nvPr>
            <p:ph type="title"/>
          </p:nvPr>
        </p:nvSpPr>
        <p:spPr>
          <a:xfrm>
            <a:off x="838200" y="238125"/>
            <a:ext cx="10444163" cy="719138"/>
          </a:xfrm>
        </p:spPr>
        <p:txBody>
          <a:bodyPr/>
          <a:lstStyle/>
          <a:p>
            <a:pPr algn="ctr"/>
            <a:r>
              <a:rPr lang="en-US" b="1" dirty="0">
                <a:latin typeface="+mj-lt"/>
              </a:rPr>
              <a:t>INFORMATION SECURITY PRINCIPLES</a:t>
            </a:r>
            <a:endParaRPr lang="en-IN" b="1" dirty="0">
              <a:latin typeface="+mj-lt"/>
            </a:endParaRPr>
          </a:p>
        </p:txBody>
      </p:sp>
    </p:spTree>
    <p:extLst>
      <p:ext uri="{BB962C8B-B14F-4D97-AF65-F5344CB8AC3E}">
        <p14:creationId xmlns:p14="http://schemas.microsoft.com/office/powerpoint/2010/main" val="42867224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8"/>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Play"/>
              <a:buNone/>
            </a:pPr>
            <a:r>
              <a:rPr lang="en-US" sz="4000" b="1">
                <a:latin typeface="Arial"/>
                <a:ea typeface="Arial"/>
                <a:cs typeface="Arial"/>
                <a:sym typeface="Arial"/>
              </a:rPr>
              <a:t>ANY QUERIES??</a:t>
            </a:r>
            <a:endParaRPr>
              <a:latin typeface="Arial"/>
              <a:ea typeface="Arial"/>
              <a:cs typeface="Arial"/>
              <a:sym typeface="Arial"/>
            </a:endParaRPr>
          </a:p>
        </p:txBody>
      </p:sp>
      <p:sp>
        <p:nvSpPr>
          <p:cNvPr id="436" name="Google Shape;436;p48"/>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sp>
        <p:nvSpPr>
          <p:cNvPr id="437" name="Google Shape;437;p48"/>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None/>
            </a:pPr>
            <a:r>
              <a:rPr lang="en-US">
                <a:latin typeface="Calibri"/>
                <a:ea typeface="Calibri"/>
                <a:cs typeface="Calibri"/>
                <a:sym typeface="Calibri"/>
              </a:rPr>
              <a:t>                </a:t>
            </a:r>
            <a:r>
              <a:rPr lang="en-US" sz="3200">
                <a:latin typeface="Calibri"/>
                <a:ea typeface="Calibri"/>
                <a:cs typeface="Calibri"/>
                <a:sym typeface="Calibri"/>
              </a:rPr>
              <a:t> Contact</a:t>
            </a:r>
            <a:endParaRPr sz="3200">
              <a:latin typeface="Calibri"/>
              <a:ea typeface="Calibri"/>
              <a:cs typeface="Calibri"/>
              <a:sym typeface="Calibri"/>
            </a:endParaRPr>
          </a:p>
          <a:p>
            <a:pPr marL="0" lvl="0" indent="0" algn="l" rtl="0">
              <a:lnSpc>
                <a:spcPct val="90000"/>
              </a:lnSpc>
              <a:spcBef>
                <a:spcPts val="1000"/>
              </a:spcBef>
              <a:spcAft>
                <a:spcPts val="0"/>
              </a:spcAft>
              <a:buClr>
                <a:schemeClr val="dk1"/>
              </a:buClr>
              <a:buSzPts val="3200"/>
              <a:buNone/>
            </a:pPr>
            <a:r>
              <a:rPr lang="en-US" sz="3200">
                <a:latin typeface="Calibri"/>
                <a:ea typeface="Calibri"/>
                <a:cs typeface="Calibri"/>
                <a:sym typeface="Calibri"/>
              </a:rPr>
              <a:t>gayathri.g@techdefence.com</a:t>
            </a:r>
            <a:endParaRPr sz="3200">
              <a:latin typeface="Calibri"/>
              <a:ea typeface="Calibri"/>
              <a:cs typeface="Calibri"/>
              <a:sym typeface="Calibri"/>
            </a:endParaRPr>
          </a:p>
        </p:txBody>
      </p:sp>
      <p:pic>
        <p:nvPicPr>
          <p:cNvPr id="438" name="Google Shape;438;p48" descr="Top Questions on Food Regulations Answered by Experts"/>
          <p:cNvPicPr preferRelativeResize="0"/>
          <p:nvPr/>
        </p:nvPicPr>
        <p:blipFill rotWithShape="1">
          <a:blip r:embed="rId3">
            <a:alphaModFix/>
          </a:blip>
          <a:srcRect/>
          <a:stretch/>
        </p:blipFill>
        <p:spPr>
          <a:xfrm>
            <a:off x="6462689" y="1849219"/>
            <a:ext cx="5247873" cy="3724097"/>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pic>
        <p:nvPicPr>
          <p:cNvPr id="443" name="Google Shape;443;p49" descr="Stick Figure Drawing Thank You | Great PowerPoint ClipArt for Presentations  - PresenterMedia.com"/>
          <p:cNvPicPr preferRelativeResize="0"/>
          <p:nvPr/>
        </p:nvPicPr>
        <p:blipFill rotWithShape="1">
          <a:blip r:embed="rId3">
            <a:alphaModFix/>
          </a:blip>
          <a:srcRect/>
          <a:stretch/>
        </p:blipFill>
        <p:spPr>
          <a:xfrm>
            <a:off x="4010954" y="1111362"/>
            <a:ext cx="4162747" cy="522348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2052</TotalTime>
  <Words>6034</Words>
  <Application>Microsoft Office PowerPoint</Application>
  <PresentationFormat>Widescreen</PresentationFormat>
  <Paragraphs>455</Paragraphs>
  <Slides>71</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Calibri</vt:lpstr>
      <vt:lpstr>Arial</vt:lpstr>
      <vt:lpstr>Noto Sans Symbols</vt:lpstr>
      <vt:lpstr>Play</vt:lpstr>
      <vt:lpstr>Office Theme</vt:lpstr>
      <vt:lpstr>PowerPoint Presentation</vt:lpstr>
      <vt:lpstr>CONTENT</vt:lpstr>
      <vt:lpstr>WHAT IS CYBERSECURITY?</vt:lpstr>
      <vt:lpstr>SCOPE OF CYBERSECURITY</vt:lpstr>
      <vt:lpstr>WHY IS CYBERSECURITY IMPORTANT?</vt:lpstr>
      <vt:lpstr>WHY IS CYBERSECURITY IMPORTANT?</vt:lpstr>
      <vt:lpstr>WHY IS CYBERSECURITY IMPORTANT?</vt:lpstr>
      <vt:lpstr>INFORMATION SECURITY V/S CYBERSECURITY</vt:lpstr>
      <vt:lpstr>INFORMATION SECURITY V/S CYBERSECURITY</vt:lpstr>
      <vt:lpstr>INFORMATION SECURITY V/S CYBERSECURITY</vt:lpstr>
      <vt:lpstr>CIA TRIAD</vt:lpstr>
      <vt:lpstr>CIA TRIAD</vt:lpstr>
      <vt:lpstr>CONFIDENTIALITY</vt:lpstr>
      <vt:lpstr>INTEGRITY</vt:lpstr>
      <vt:lpstr>AVAILABILITY</vt:lpstr>
      <vt:lpstr>TYPES OF CYBER ATTACKS</vt:lpstr>
      <vt:lpstr>MALWARE</vt:lpstr>
      <vt:lpstr>TYPES OF MALWARE</vt:lpstr>
      <vt:lpstr>TYPES OF MALWARE</vt:lpstr>
      <vt:lpstr>TYPES OF MALWARE</vt:lpstr>
      <vt:lpstr>PHISHING</vt:lpstr>
      <vt:lpstr>TYPES OF PHISHING</vt:lpstr>
      <vt:lpstr>TYPES OF PHISHING</vt:lpstr>
      <vt:lpstr>TYPES OF PHISHING</vt:lpstr>
      <vt:lpstr>TYPES OF PHISHING</vt:lpstr>
      <vt:lpstr>TYPES OF PHISHING</vt:lpstr>
      <vt:lpstr>TYPES OF PHISHING</vt:lpstr>
      <vt:lpstr>DOS (DENIAL OF SERVICE)</vt:lpstr>
      <vt:lpstr>DOS (DENIAL OF SERVICE)</vt:lpstr>
      <vt:lpstr>DOS (DENIAL OF SERVICE)</vt:lpstr>
      <vt:lpstr>DDOS (DISTRIBUTED DENIAL OF SERVICE)</vt:lpstr>
      <vt:lpstr>DOS V/S DDOS</vt:lpstr>
      <vt:lpstr>DOS V/S DDOS</vt:lpstr>
      <vt:lpstr>MAN IN THE MIDDLE ATTACK</vt:lpstr>
      <vt:lpstr>MAN IN THE MIDDLE ATTACK</vt:lpstr>
      <vt:lpstr>MITM ATTACK TECHNIQUES</vt:lpstr>
      <vt:lpstr>MITM ATTACK TECHNIQUES</vt:lpstr>
      <vt:lpstr>SQL INJECTION</vt:lpstr>
      <vt:lpstr>SOCIAL ENGINEERING</vt:lpstr>
      <vt:lpstr>UNIFIED CYBER KILL CHAIN</vt:lpstr>
      <vt:lpstr>UNIFIED CYBER KILL CHAIN</vt:lpstr>
      <vt:lpstr>CYBER KILL CHAIN</vt:lpstr>
      <vt:lpstr>CYBER KILL CHAIN</vt:lpstr>
      <vt:lpstr>CYBER KILL CHAIN</vt:lpstr>
      <vt:lpstr>CYBER KILL CHAIN </vt:lpstr>
      <vt:lpstr>CYBER KILL CHAIN </vt:lpstr>
      <vt:lpstr>CYBER KILL CHAIN </vt:lpstr>
      <vt:lpstr>CYBER KILL CHAIN </vt:lpstr>
      <vt:lpstr>THREAT</vt:lpstr>
      <vt:lpstr>VULNERABILITY</vt:lpstr>
      <vt:lpstr>RISK</vt:lpstr>
      <vt:lpstr>RISK</vt:lpstr>
      <vt:lpstr>THREAT ACTORS</vt:lpstr>
      <vt:lpstr>TYPES OF THREAT ACTORS</vt:lpstr>
      <vt:lpstr>TYPES OF THREAT ACTORS</vt:lpstr>
      <vt:lpstr>TYPES OF THREAT ACTORS</vt:lpstr>
      <vt:lpstr>ATTACK SURFACE</vt:lpstr>
      <vt:lpstr>ATTACK SURFACE</vt:lpstr>
      <vt:lpstr>ATTACK SURFACE</vt:lpstr>
      <vt:lpstr>INFORMATION SECURITY PRINCIPLES</vt:lpstr>
      <vt:lpstr>INFORMATION SECURITY PRINCIPLES</vt:lpstr>
      <vt:lpstr>INFORMATION SECURITY PRINCIPLES</vt:lpstr>
      <vt:lpstr>INFORMATION SECURITY PRINCIPLES</vt:lpstr>
      <vt:lpstr>INFORMATION SECURITY PRINCIPLES</vt:lpstr>
      <vt:lpstr>INFORMATION SECURITY PRINCIPLES</vt:lpstr>
      <vt:lpstr>INFORMATION SECURITY PRINCIPLES</vt:lpstr>
      <vt:lpstr>INFORMATION SECURITY PRINCIPLES</vt:lpstr>
      <vt:lpstr>INFORMATION SECURITY PRINCIPLES</vt:lpstr>
      <vt:lpstr>INFORMATION SECURITY PRINCIPLES</vt:lpstr>
      <vt:lpstr>ANY QUERIES??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SOC ERT</dc:creator>
  <cp:lastModifiedBy>Training Common</cp:lastModifiedBy>
  <cp:revision>22</cp:revision>
  <dcterms:created xsi:type="dcterms:W3CDTF">2024-01-13T08:18:00Z</dcterms:created>
  <dcterms:modified xsi:type="dcterms:W3CDTF">2026-08-11T16:13:29Z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7F129FF21C714B5C89A36A5E0B85CD42_12</vt:lpwstr>
  </property>
  <property fmtid="{D5CDD505-2E9C-101B-9397-08002B2CF9AE}" pid="3" name="KSOProductBuildVer">
    <vt:lpwstr>1033-12.2.0.23196</vt:lpwstr>
  </property>
</Properties>
</file>