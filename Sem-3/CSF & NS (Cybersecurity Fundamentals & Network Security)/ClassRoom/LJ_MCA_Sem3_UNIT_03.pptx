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0"/>
  </p:notesMasterIdLst>
  <p:sldIdLst>
    <p:sldId id="256" r:id="rId2"/>
    <p:sldId id="257" r:id="rId3"/>
    <p:sldId id="675" r:id="rId4"/>
    <p:sldId id="258" r:id="rId5"/>
    <p:sldId id="565" r:id="rId6"/>
    <p:sldId id="564" r:id="rId7"/>
    <p:sldId id="563" r:id="rId8"/>
    <p:sldId id="566" r:id="rId9"/>
    <p:sldId id="567" r:id="rId10"/>
    <p:sldId id="568" r:id="rId11"/>
    <p:sldId id="630" r:id="rId12"/>
    <p:sldId id="631" r:id="rId13"/>
    <p:sldId id="632" r:id="rId14"/>
    <p:sldId id="633" r:id="rId15"/>
    <p:sldId id="634" r:id="rId16"/>
    <p:sldId id="635" r:id="rId17"/>
    <p:sldId id="636" r:id="rId18"/>
    <p:sldId id="319" r:id="rId19"/>
    <p:sldId id="320" r:id="rId20"/>
    <p:sldId id="321" r:id="rId21"/>
    <p:sldId id="322" r:id="rId22"/>
    <p:sldId id="323" r:id="rId23"/>
    <p:sldId id="324" r:id="rId24"/>
    <p:sldId id="648" r:id="rId25"/>
    <p:sldId id="649" r:id="rId26"/>
    <p:sldId id="650" r:id="rId27"/>
    <p:sldId id="625" r:id="rId28"/>
    <p:sldId id="626" r:id="rId29"/>
    <p:sldId id="627" r:id="rId30"/>
    <p:sldId id="628" r:id="rId31"/>
    <p:sldId id="629" r:id="rId32"/>
    <p:sldId id="637" r:id="rId33"/>
    <p:sldId id="638" r:id="rId34"/>
    <p:sldId id="639" r:id="rId35"/>
    <p:sldId id="640" r:id="rId36"/>
    <p:sldId id="641" r:id="rId37"/>
    <p:sldId id="642" r:id="rId38"/>
    <p:sldId id="643" r:id="rId39"/>
    <p:sldId id="644" r:id="rId40"/>
    <p:sldId id="645" r:id="rId41"/>
    <p:sldId id="646" r:id="rId42"/>
    <p:sldId id="647" r:id="rId43"/>
    <p:sldId id="325" r:id="rId44"/>
    <p:sldId id="326" r:id="rId45"/>
    <p:sldId id="327" r:id="rId46"/>
    <p:sldId id="328" r:id="rId47"/>
    <p:sldId id="329" r:id="rId48"/>
    <p:sldId id="651" r:id="rId49"/>
    <p:sldId id="652" r:id="rId50"/>
    <p:sldId id="653" r:id="rId51"/>
    <p:sldId id="654" r:id="rId52"/>
    <p:sldId id="655" r:id="rId53"/>
    <p:sldId id="656" r:id="rId54"/>
    <p:sldId id="657" r:id="rId55"/>
    <p:sldId id="658" r:id="rId56"/>
    <p:sldId id="659" r:id="rId57"/>
    <p:sldId id="660" r:id="rId58"/>
    <p:sldId id="661" r:id="rId59"/>
    <p:sldId id="662" r:id="rId60"/>
    <p:sldId id="663" r:id="rId61"/>
    <p:sldId id="664" r:id="rId62"/>
    <p:sldId id="667" r:id="rId63"/>
    <p:sldId id="668" r:id="rId64"/>
    <p:sldId id="665" r:id="rId65"/>
    <p:sldId id="666" r:id="rId66"/>
    <p:sldId id="669" r:id="rId67"/>
    <p:sldId id="670" r:id="rId68"/>
    <p:sldId id="671" r:id="rId69"/>
    <p:sldId id="672" r:id="rId70"/>
    <p:sldId id="673" r:id="rId71"/>
    <p:sldId id="676" r:id="rId72"/>
    <p:sldId id="677" r:id="rId73"/>
    <p:sldId id="700" r:id="rId74"/>
    <p:sldId id="701" r:id="rId75"/>
    <p:sldId id="702" r:id="rId76"/>
    <p:sldId id="678" r:id="rId77"/>
    <p:sldId id="679" r:id="rId78"/>
    <p:sldId id="680" r:id="rId79"/>
    <p:sldId id="681" r:id="rId80"/>
    <p:sldId id="682" r:id="rId81"/>
    <p:sldId id="683" r:id="rId82"/>
    <p:sldId id="696" r:id="rId83"/>
    <p:sldId id="697" r:id="rId84"/>
    <p:sldId id="698" r:id="rId85"/>
    <p:sldId id="699" r:id="rId86"/>
    <p:sldId id="695" r:id="rId87"/>
    <p:sldId id="294" r:id="rId88"/>
    <p:sldId id="295" r:id="rId89"/>
    <p:sldId id="296" r:id="rId90"/>
    <p:sldId id="297" r:id="rId91"/>
    <p:sldId id="298" r:id="rId92"/>
    <p:sldId id="299" r:id="rId93"/>
    <p:sldId id="300" r:id="rId94"/>
    <p:sldId id="301" r:id="rId95"/>
    <p:sldId id="302" r:id="rId96"/>
    <p:sldId id="703" r:id="rId97"/>
    <p:sldId id="704" r:id="rId98"/>
    <p:sldId id="305" r:id="rId99"/>
    <p:sldId id="306" r:id="rId100"/>
    <p:sldId id="307" r:id="rId101"/>
    <p:sldId id="308" r:id="rId102"/>
    <p:sldId id="309" r:id="rId103"/>
    <p:sldId id="310" r:id="rId104"/>
    <p:sldId id="311" r:id="rId105"/>
    <p:sldId id="312" r:id="rId106"/>
    <p:sldId id="313" r:id="rId107"/>
    <p:sldId id="314" r:id="rId108"/>
    <p:sldId id="304" r:id="rId109"/>
  </p:sldIdLst>
  <p:sldSz cx="12192000" cy="6858000"/>
  <p:notesSz cx="6858000" cy="9144000"/>
  <p:embeddedFontLst>
    <p:embeddedFont>
      <p:font typeface="Play" panose="020B0604020202020204" charset="0"/>
      <p:regular r:id="rId111"/>
      <p:bold r:id="rId1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3" roundtripDataSignature="AMtx7mjFcU3CRqsck02bazUXjZ4hne8G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A9F95-5157-482B-A483-33E6D760DBC8}" v="1" dt="2026-10-24T09:56:58.2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2.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customschemas.google.com/relationships/presentationmetadata" Target="metadata"/><Relationship Id="rId118" Type="http://schemas.microsoft.com/office/2016/11/relationships/changesInfo" Target="changesInfos/changesInfo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19"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ining Common" userId="04244515-1ace-4f18-abbf-28df0af8cc9f" providerId="ADAL" clId="{2CD65E0F-2C5A-426E-A8DD-3FCAB465F7CA}"/>
    <pc:docChg chg="undo redo custSel addSld delSld modSld sldOrd addSection delSection">
      <pc:chgData name="Training Common" userId="04244515-1ace-4f18-abbf-28df0af8cc9f" providerId="ADAL" clId="{2CD65E0F-2C5A-426E-A8DD-3FCAB465F7CA}" dt="2026-10-24T10:03:41.115" v="4531" actId="2711"/>
      <pc:docMkLst>
        <pc:docMk/>
      </pc:docMkLst>
      <pc:sldChg chg="modSp add mod">
        <pc:chgData name="Training Common" userId="04244515-1ace-4f18-abbf-28df0af8cc9f" providerId="ADAL" clId="{2CD65E0F-2C5A-426E-A8DD-3FCAB465F7CA}" dt="2026-10-24T10:03:22.316" v="4528" actId="2711"/>
        <pc:sldMkLst>
          <pc:docMk/>
          <pc:sldMk cId="0" sldId="294"/>
        </pc:sldMkLst>
        <pc:spChg chg="mod">
          <ac:chgData name="Training Common" userId="04244515-1ace-4f18-abbf-28df0af8cc9f" providerId="ADAL" clId="{2CD65E0F-2C5A-426E-A8DD-3FCAB465F7CA}" dt="2026-10-24T10:03:22.316" v="4528" actId="2711"/>
          <ac:spMkLst>
            <pc:docMk/>
            <pc:sldMk cId="0" sldId="294"/>
            <ac:spMk id="3" creationId="{00000000-0000-0000-0000-000000000000}"/>
          </ac:spMkLst>
        </pc:spChg>
      </pc:sldChg>
      <pc:sldChg chg="modSp add mod">
        <pc:chgData name="Training Common" userId="04244515-1ace-4f18-abbf-28df0af8cc9f" providerId="ADAL" clId="{2CD65E0F-2C5A-426E-A8DD-3FCAB465F7CA}" dt="2026-10-24T10:03:29.258" v="4529" actId="2711"/>
        <pc:sldMkLst>
          <pc:docMk/>
          <pc:sldMk cId="0" sldId="295"/>
        </pc:sldMkLst>
        <pc:spChg chg="mod">
          <ac:chgData name="Training Common" userId="04244515-1ace-4f18-abbf-28df0af8cc9f" providerId="ADAL" clId="{2CD65E0F-2C5A-426E-A8DD-3FCAB465F7CA}" dt="2026-10-24T10:03:29.258" v="4529" actId="2711"/>
          <ac:spMkLst>
            <pc:docMk/>
            <pc:sldMk cId="0" sldId="295"/>
            <ac:spMk id="3" creationId="{00000000-0000-0000-0000-000000000000}"/>
          </ac:spMkLst>
        </pc:spChg>
      </pc:sldChg>
      <pc:sldChg chg="modSp add mod">
        <pc:chgData name="Training Common" userId="04244515-1ace-4f18-abbf-28df0af8cc9f" providerId="ADAL" clId="{2CD65E0F-2C5A-426E-A8DD-3FCAB465F7CA}" dt="2026-10-24T10:03:35.409" v="4530" actId="2711"/>
        <pc:sldMkLst>
          <pc:docMk/>
          <pc:sldMk cId="0" sldId="296"/>
        </pc:sldMkLst>
        <pc:spChg chg="mod">
          <ac:chgData name="Training Common" userId="04244515-1ace-4f18-abbf-28df0af8cc9f" providerId="ADAL" clId="{2CD65E0F-2C5A-426E-A8DD-3FCAB465F7CA}" dt="2026-10-24T10:03:35.409" v="4530" actId="2711"/>
          <ac:spMkLst>
            <pc:docMk/>
            <pc:sldMk cId="0" sldId="296"/>
            <ac:spMk id="3" creationId="{00000000-0000-0000-0000-000000000000}"/>
          </ac:spMkLst>
        </pc:spChg>
      </pc:sldChg>
      <pc:sldChg chg="modSp add mod">
        <pc:chgData name="Training Common" userId="04244515-1ace-4f18-abbf-28df0af8cc9f" providerId="ADAL" clId="{2CD65E0F-2C5A-426E-A8DD-3FCAB465F7CA}" dt="2026-10-24T10:03:41.115" v="4531" actId="2711"/>
        <pc:sldMkLst>
          <pc:docMk/>
          <pc:sldMk cId="0" sldId="297"/>
        </pc:sldMkLst>
        <pc:spChg chg="mod">
          <ac:chgData name="Training Common" userId="04244515-1ace-4f18-abbf-28df0af8cc9f" providerId="ADAL" clId="{2CD65E0F-2C5A-426E-A8DD-3FCAB465F7CA}" dt="2026-10-24T10:03:41.115" v="4531" actId="2711"/>
          <ac:spMkLst>
            <pc:docMk/>
            <pc:sldMk cId="0" sldId="297"/>
            <ac:spMk id="3" creationId="{00000000-0000-0000-0000-000000000000}"/>
          </ac:spMkLst>
        </pc:spChg>
      </pc:sldChg>
      <pc:sldChg chg="modSp add mod">
        <pc:chgData name="Training Common" userId="04244515-1ace-4f18-abbf-28df0af8cc9f" providerId="ADAL" clId="{2CD65E0F-2C5A-426E-A8DD-3FCAB465F7CA}" dt="2026-10-24T10:03:12.723" v="4527" actId="2711"/>
        <pc:sldMkLst>
          <pc:docMk/>
          <pc:sldMk cId="0" sldId="298"/>
        </pc:sldMkLst>
        <pc:spChg chg="mod">
          <ac:chgData name="Training Common" userId="04244515-1ace-4f18-abbf-28df0af8cc9f" providerId="ADAL" clId="{2CD65E0F-2C5A-426E-A8DD-3FCAB465F7CA}" dt="2026-10-24T10:03:12.723" v="4527" actId="2711"/>
          <ac:spMkLst>
            <pc:docMk/>
            <pc:sldMk cId="0" sldId="298"/>
            <ac:spMk id="3" creationId="{00000000-0000-0000-0000-000000000000}"/>
          </ac:spMkLst>
        </pc:spChg>
      </pc:sldChg>
      <pc:sldChg chg="modSp add mod">
        <pc:chgData name="Training Common" userId="04244515-1ace-4f18-abbf-28df0af8cc9f" providerId="ADAL" clId="{2CD65E0F-2C5A-426E-A8DD-3FCAB465F7CA}" dt="2026-10-24T10:02:49.385" v="4526" actId="2711"/>
        <pc:sldMkLst>
          <pc:docMk/>
          <pc:sldMk cId="0" sldId="299"/>
        </pc:sldMkLst>
        <pc:spChg chg="mod">
          <ac:chgData name="Training Common" userId="04244515-1ace-4f18-abbf-28df0af8cc9f" providerId="ADAL" clId="{2CD65E0F-2C5A-426E-A8DD-3FCAB465F7CA}" dt="2026-10-24T10:02:49.385" v="4526" actId="2711"/>
          <ac:spMkLst>
            <pc:docMk/>
            <pc:sldMk cId="0" sldId="299"/>
            <ac:spMk id="3" creationId="{00000000-0000-0000-0000-000000000000}"/>
          </ac:spMkLst>
        </pc:spChg>
      </pc:sldChg>
      <pc:sldChg chg="modSp add mod">
        <pc:chgData name="Training Common" userId="04244515-1ace-4f18-abbf-28df0af8cc9f" providerId="ADAL" clId="{2CD65E0F-2C5A-426E-A8DD-3FCAB465F7CA}" dt="2026-10-24T10:02:43.255" v="4525" actId="2711"/>
        <pc:sldMkLst>
          <pc:docMk/>
          <pc:sldMk cId="0" sldId="300"/>
        </pc:sldMkLst>
        <pc:spChg chg="mod">
          <ac:chgData name="Training Common" userId="04244515-1ace-4f18-abbf-28df0af8cc9f" providerId="ADAL" clId="{2CD65E0F-2C5A-426E-A8DD-3FCAB465F7CA}" dt="2026-10-24T10:02:43.255" v="4525" actId="2711"/>
          <ac:spMkLst>
            <pc:docMk/>
            <pc:sldMk cId="0" sldId="300"/>
            <ac:spMk id="3" creationId="{00000000-0000-0000-0000-000000000000}"/>
          </ac:spMkLst>
        </pc:spChg>
      </pc:sldChg>
      <pc:sldChg chg="modSp add mod">
        <pc:chgData name="Training Common" userId="04244515-1ace-4f18-abbf-28df0af8cc9f" providerId="ADAL" clId="{2CD65E0F-2C5A-426E-A8DD-3FCAB465F7CA}" dt="2026-10-24T10:02:34.945" v="4524" actId="2711"/>
        <pc:sldMkLst>
          <pc:docMk/>
          <pc:sldMk cId="0" sldId="301"/>
        </pc:sldMkLst>
        <pc:spChg chg="mod">
          <ac:chgData name="Training Common" userId="04244515-1ace-4f18-abbf-28df0af8cc9f" providerId="ADAL" clId="{2CD65E0F-2C5A-426E-A8DD-3FCAB465F7CA}" dt="2026-10-24T10:02:34.945" v="4524" actId="2711"/>
          <ac:spMkLst>
            <pc:docMk/>
            <pc:sldMk cId="0" sldId="301"/>
            <ac:spMk id="3" creationId="{00000000-0000-0000-0000-000000000000}"/>
          </ac:spMkLst>
        </pc:spChg>
      </pc:sldChg>
      <pc:sldChg chg="modSp add mod">
        <pc:chgData name="Training Common" userId="04244515-1ace-4f18-abbf-28df0af8cc9f" providerId="ADAL" clId="{2CD65E0F-2C5A-426E-A8DD-3FCAB465F7CA}" dt="2026-10-24T10:02:23.005" v="4523" actId="2711"/>
        <pc:sldMkLst>
          <pc:docMk/>
          <pc:sldMk cId="0" sldId="302"/>
        </pc:sldMkLst>
        <pc:spChg chg="mod">
          <ac:chgData name="Training Common" userId="04244515-1ace-4f18-abbf-28df0af8cc9f" providerId="ADAL" clId="{2CD65E0F-2C5A-426E-A8DD-3FCAB465F7CA}" dt="2026-10-24T10:02:23.005" v="4523" actId="2711"/>
          <ac:spMkLst>
            <pc:docMk/>
            <pc:sldMk cId="0" sldId="302"/>
            <ac:spMk id="3" creationId="{00000000-0000-0000-0000-000000000000}"/>
          </ac:spMkLst>
        </pc:spChg>
      </pc:sldChg>
      <pc:sldChg chg="del">
        <pc:chgData name="Training Common" userId="04244515-1ace-4f18-abbf-28df0af8cc9f" providerId="ADAL" clId="{2CD65E0F-2C5A-426E-A8DD-3FCAB465F7CA}" dt="2026-10-24T09:57:09.715" v="4505" actId="47"/>
        <pc:sldMkLst>
          <pc:docMk/>
          <pc:sldMk cId="0" sldId="303"/>
        </pc:sldMkLst>
      </pc:sldChg>
      <pc:sldChg chg="modSp add mod">
        <pc:chgData name="Training Common" userId="04244515-1ace-4f18-abbf-28df0af8cc9f" providerId="ADAL" clId="{2CD65E0F-2C5A-426E-A8DD-3FCAB465F7CA}" dt="2026-10-24T10:01:49.979" v="4520" actId="20577"/>
        <pc:sldMkLst>
          <pc:docMk/>
          <pc:sldMk cId="0" sldId="305"/>
        </pc:sldMkLst>
        <pc:spChg chg="mod">
          <ac:chgData name="Training Common" userId="04244515-1ace-4f18-abbf-28df0af8cc9f" providerId="ADAL" clId="{2CD65E0F-2C5A-426E-A8DD-3FCAB465F7CA}" dt="2026-10-24T10:01:49.979" v="4520" actId="20577"/>
          <ac:spMkLst>
            <pc:docMk/>
            <pc:sldMk cId="0" sldId="305"/>
            <ac:spMk id="3" creationId="{00000000-0000-0000-0000-000000000000}"/>
          </ac:spMkLst>
        </pc:spChg>
      </pc:sldChg>
      <pc:sldChg chg="modSp add mod">
        <pc:chgData name="Training Common" userId="04244515-1ace-4f18-abbf-28df0af8cc9f" providerId="ADAL" clId="{2CD65E0F-2C5A-426E-A8DD-3FCAB465F7CA}" dt="2026-10-24T10:01:39.070" v="4517" actId="2711"/>
        <pc:sldMkLst>
          <pc:docMk/>
          <pc:sldMk cId="0" sldId="306"/>
        </pc:sldMkLst>
        <pc:spChg chg="mod">
          <ac:chgData name="Training Common" userId="04244515-1ace-4f18-abbf-28df0af8cc9f" providerId="ADAL" clId="{2CD65E0F-2C5A-426E-A8DD-3FCAB465F7CA}" dt="2026-10-24T10:01:39.070" v="4517" actId="2711"/>
          <ac:spMkLst>
            <pc:docMk/>
            <pc:sldMk cId="0" sldId="306"/>
            <ac:spMk id="3" creationId="{00000000-0000-0000-0000-000000000000}"/>
          </ac:spMkLst>
        </pc:spChg>
      </pc:sldChg>
      <pc:sldChg chg="modSp add mod">
        <pc:chgData name="Training Common" userId="04244515-1ace-4f18-abbf-28df0af8cc9f" providerId="ADAL" clId="{2CD65E0F-2C5A-426E-A8DD-3FCAB465F7CA}" dt="2026-10-24T10:01:29.373" v="4516" actId="2711"/>
        <pc:sldMkLst>
          <pc:docMk/>
          <pc:sldMk cId="0" sldId="307"/>
        </pc:sldMkLst>
        <pc:spChg chg="mod">
          <ac:chgData name="Training Common" userId="04244515-1ace-4f18-abbf-28df0af8cc9f" providerId="ADAL" clId="{2CD65E0F-2C5A-426E-A8DD-3FCAB465F7CA}" dt="2026-10-24T10:01:29.373" v="4516" actId="2711"/>
          <ac:spMkLst>
            <pc:docMk/>
            <pc:sldMk cId="0" sldId="307"/>
            <ac:spMk id="3" creationId="{00000000-0000-0000-0000-000000000000}"/>
          </ac:spMkLst>
        </pc:spChg>
      </pc:sldChg>
      <pc:sldChg chg="modSp add mod">
        <pc:chgData name="Training Common" userId="04244515-1ace-4f18-abbf-28df0af8cc9f" providerId="ADAL" clId="{2CD65E0F-2C5A-426E-A8DD-3FCAB465F7CA}" dt="2026-10-24T10:01:20.539" v="4515" actId="2711"/>
        <pc:sldMkLst>
          <pc:docMk/>
          <pc:sldMk cId="0" sldId="308"/>
        </pc:sldMkLst>
        <pc:spChg chg="mod">
          <ac:chgData name="Training Common" userId="04244515-1ace-4f18-abbf-28df0af8cc9f" providerId="ADAL" clId="{2CD65E0F-2C5A-426E-A8DD-3FCAB465F7CA}" dt="2026-10-24T10:01:20.539" v="4515" actId="2711"/>
          <ac:spMkLst>
            <pc:docMk/>
            <pc:sldMk cId="0" sldId="308"/>
            <ac:spMk id="3" creationId="{00000000-0000-0000-0000-000000000000}"/>
          </ac:spMkLst>
        </pc:spChg>
      </pc:sldChg>
      <pc:sldChg chg="modSp add mod">
        <pc:chgData name="Training Common" userId="04244515-1ace-4f18-abbf-28df0af8cc9f" providerId="ADAL" clId="{2CD65E0F-2C5A-426E-A8DD-3FCAB465F7CA}" dt="2026-10-24T10:01:08.694" v="4514" actId="2711"/>
        <pc:sldMkLst>
          <pc:docMk/>
          <pc:sldMk cId="0" sldId="309"/>
        </pc:sldMkLst>
        <pc:spChg chg="mod">
          <ac:chgData name="Training Common" userId="04244515-1ace-4f18-abbf-28df0af8cc9f" providerId="ADAL" clId="{2CD65E0F-2C5A-426E-A8DD-3FCAB465F7CA}" dt="2026-10-24T10:01:08.694" v="4514" actId="2711"/>
          <ac:spMkLst>
            <pc:docMk/>
            <pc:sldMk cId="0" sldId="309"/>
            <ac:spMk id="3" creationId="{00000000-0000-0000-0000-000000000000}"/>
          </ac:spMkLst>
        </pc:spChg>
      </pc:sldChg>
      <pc:sldChg chg="modSp add mod">
        <pc:chgData name="Training Common" userId="04244515-1ace-4f18-abbf-28df0af8cc9f" providerId="ADAL" clId="{2CD65E0F-2C5A-426E-A8DD-3FCAB465F7CA}" dt="2026-10-24T10:00:56.959" v="4513" actId="2711"/>
        <pc:sldMkLst>
          <pc:docMk/>
          <pc:sldMk cId="0" sldId="310"/>
        </pc:sldMkLst>
        <pc:spChg chg="mod">
          <ac:chgData name="Training Common" userId="04244515-1ace-4f18-abbf-28df0af8cc9f" providerId="ADAL" clId="{2CD65E0F-2C5A-426E-A8DD-3FCAB465F7CA}" dt="2026-10-24T10:00:56.959" v="4513" actId="2711"/>
          <ac:spMkLst>
            <pc:docMk/>
            <pc:sldMk cId="0" sldId="310"/>
            <ac:spMk id="3" creationId="{00000000-0000-0000-0000-000000000000}"/>
          </ac:spMkLst>
        </pc:spChg>
      </pc:sldChg>
      <pc:sldChg chg="modSp add mod">
        <pc:chgData name="Training Common" userId="04244515-1ace-4f18-abbf-28df0af8cc9f" providerId="ADAL" clId="{2CD65E0F-2C5A-426E-A8DD-3FCAB465F7CA}" dt="2026-10-24T10:00:46.340" v="4512" actId="2711"/>
        <pc:sldMkLst>
          <pc:docMk/>
          <pc:sldMk cId="0" sldId="311"/>
        </pc:sldMkLst>
        <pc:spChg chg="mod">
          <ac:chgData name="Training Common" userId="04244515-1ace-4f18-abbf-28df0af8cc9f" providerId="ADAL" clId="{2CD65E0F-2C5A-426E-A8DD-3FCAB465F7CA}" dt="2026-10-24T10:00:46.340" v="4512" actId="2711"/>
          <ac:spMkLst>
            <pc:docMk/>
            <pc:sldMk cId="0" sldId="311"/>
            <ac:spMk id="3" creationId="{00000000-0000-0000-0000-000000000000}"/>
          </ac:spMkLst>
        </pc:spChg>
      </pc:sldChg>
      <pc:sldChg chg="modSp add mod">
        <pc:chgData name="Training Common" userId="04244515-1ace-4f18-abbf-28df0af8cc9f" providerId="ADAL" clId="{2CD65E0F-2C5A-426E-A8DD-3FCAB465F7CA}" dt="2026-10-24T10:00:35.740" v="4511" actId="2711"/>
        <pc:sldMkLst>
          <pc:docMk/>
          <pc:sldMk cId="0" sldId="312"/>
        </pc:sldMkLst>
        <pc:spChg chg="mod">
          <ac:chgData name="Training Common" userId="04244515-1ace-4f18-abbf-28df0af8cc9f" providerId="ADAL" clId="{2CD65E0F-2C5A-426E-A8DD-3FCAB465F7CA}" dt="2026-10-24T10:00:35.740" v="4511" actId="2711"/>
          <ac:spMkLst>
            <pc:docMk/>
            <pc:sldMk cId="0" sldId="312"/>
            <ac:spMk id="3" creationId="{00000000-0000-0000-0000-000000000000}"/>
          </ac:spMkLst>
        </pc:spChg>
      </pc:sldChg>
      <pc:sldChg chg="modSp add mod">
        <pc:chgData name="Training Common" userId="04244515-1ace-4f18-abbf-28df0af8cc9f" providerId="ADAL" clId="{2CD65E0F-2C5A-426E-A8DD-3FCAB465F7CA}" dt="2026-10-24T10:00:23.730" v="4510" actId="2711"/>
        <pc:sldMkLst>
          <pc:docMk/>
          <pc:sldMk cId="0" sldId="313"/>
        </pc:sldMkLst>
        <pc:spChg chg="mod">
          <ac:chgData name="Training Common" userId="04244515-1ace-4f18-abbf-28df0af8cc9f" providerId="ADAL" clId="{2CD65E0F-2C5A-426E-A8DD-3FCAB465F7CA}" dt="2026-10-24T10:00:23.730" v="4510" actId="2711"/>
          <ac:spMkLst>
            <pc:docMk/>
            <pc:sldMk cId="0" sldId="313"/>
            <ac:spMk id="3" creationId="{00000000-0000-0000-0000-000000000000}"/>
          </ac:spMkLst>
        </pc:spChg>
      </pc:sldChg>
      <pc:sldChg chg="modSp add mod">
        <pc:chgData name="Training Common" userId="04244515-1ace-4f18-abbf-28df0af8cc9f" providerId="ADAL" clId="{2CD65E0F-2C5A-426E-A8DD-3FCAB465F7CA}" dt="2026-10-24T10:00:07.139" v="4509" actId="20577"/>
        <pc:sldMkLst>
          <pc:docMk/>
          <pc:sldMk cId="0" sldId="314"/>
        </pc:sldMkLst>
        <pc:spChg chg="mod">
          <ac:chgData name="Training Common" userId="04244515-1ace-4f18-abbf-28df0af8cc9f" providerId="ADAL" clId="{2CD65E0F-2C5A-426E-A8DD-3FCAB465F7CA}" dt="2026-10-24T09:59:59.265" v="4507" actId="2711"/>
          <ac:spMkLst>
            <pc:docMk/>
            <pc:sldMk cId="0" sldId="314"/>
            <ac:spMk id="3" creationId="{00000000-0000-0000-0000-000000000000}"/>
          </ac:spMkLst>
        </pc:spChg>
        <pc:spChg chg="mod">
          <ac:chgData name="Training Common" userId="04244515-1ace-4f18-abbf-28df0af8cc9f" providerId="ADAL" clId="{2CD65E0F-2C5A-426E-A8DD-3FCAB465F7CA}" dt="2026-10-24T10:00:07.139" v="4509" actId="20577"/>
          <ac:spMkLst>
            <pc:docMk/>
            <pc:sldMk cId="0" sldId="314"/>
            <ac:spMk id="5"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7"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9"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0"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1"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2"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3"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4"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5" creationId="{00000000-0000-0000-0000-000000000000}"/>
          </ac:spMkLst>
        </pc:spChg>
        <pc:spChg chg="mod">
          <ac:chgData name="Training Common" userId="04244515-1ace-4f18-abbf-28df0af8cc9f" providerId="ADAL" clId="{2CD65E0F-2C5A-426E-A8DD-3FCAB465F7CA}" dt="2026-10-24T09:59:34.794" v="4506" actId="2711"/>
          <ac:spMkLst>
            <pc:docMk/>
            <pc:sldMk cId="0" sldId="314"/>
            <ac:spMk id="16" creationId="{00000000-0000-0000-0000-000000000000}"/>
          </ac:spMkLst>
        </pc:spChg>
      </pc:sldChg>
      <pc:sldChg chg="del">
        <pc:chgData name="Training Common" userId="04244515-1ace-4f18-abbf-28df0af8cc9f" providerId="ADAL" clId="{2CD65E0F-2C5A-426E-A8DD-3FCAB465F7CA}" dt="2026-10-24T09:57:09.714" v="4504" actId="47"/>
        <pc:sldMkLst>
          <pc:docMk/>
          <pc:sldMk cId="2819528952" sldId="684"/>
        </pc:sldMkLst>
      </pc:sldChg>
      <pc:sldChg chg="del">
        <pc:chgData name="Training Common" userId="04244515-1ace-4f18-abbf-28df0af8cc9f" providerId="ADAL" clId="{2CD65E0F-2C5A-426E-A8DD-3FCAB465F7CA}" dt="2026-10-24T09:57:09.714" v="4504" actId="47"/>
        <pc:sldMkLst>
          <pc:docMk/>
          <pc:sldMk cId="3188105144" sldId="685"/>
        </pc:sldMkLst>
      </pc:sldChg>
      <pc:sldChg chg="del">
        <pc:chgData name="Training Common" userId="04244515-1ace-4f18-abbf-28df0af8cc9f" providerId="ADAL" clId="{2CD65E0F-2C5A-426E-A8DD-3FCAB465F7CA}" dt="2026-10-24T09:57:09.714" v="4504" actId="47"/>
        <pc:sldMkLst>
          <pc:docMk/>
          <pc:sldMk cId="881389792" sldId="686"/>
        </pc:sldMkLst>
      </pc:sldChg>
      <pc:sldChg chg="del">
        <pc:chgData name="Training Common" userId="04244515-1ace-4f18-abbf-28df0af8cc9f" providerId="ADAL" clId="{2CD65E0F-2C5A-426E-A8DD-3FCAB465F7CA}" dt="2026-10-24T09:57:09.714" v="4504" actId="47"/>
        <pc:sldMkLst>
          <pc:docMk/>
          <pc:sldMk cId="725697231" sldId="687"/>
        </pc:sldMkLst>
      </pc:sldChg>
      <pc:sldChg chg="del">
        <pc:chgData name="Training Common" userId="04244515-1ace-4f18-abbf-28df0af8cc9f" providerId="ADAL" clId="{2CD65E0F-2C5A-426E-A8DD-3FCAB465F7CA}" dt="2026-10-24T09:57:09.714" v="4504" actId="47"/>
        <pc:sldMkLst>
          <pc:docMk/>
          <pc:sldMk cId="3842831275" sldId="688"/>
        </pc:sldMkLst>
      </pc:sldChg>
      <pc:sldChg chg="del">
        <pc:chgData name="Training Common" userId="04244515-1ace-4f18-abbf-28df0af8cc9f" providerId="ADAL" clId="{2CD65E0F-2C5A-426E-A8DD-3FCAB465F7CA}" dt="2026-10-24T09:57:09.714" v="4504" actId="47"/>
        <pc:sldMkLst>
          <pc:docMk/>
          <pc:sldMk cId="2716163634" sldId="689"/>
        </pc:sldMkLst>
      </pc:sldChg>
      <pc:sldChg chg="del">
        <pc:chgData name="Training Common" userId="04244515-1ace-4f18-abbf-28df0af8cc9f" providerId="ADAL" clId="{2CD65E0F-2C5A-426E-A8DD-3FCAB465F7CA}" dt="2026-10-24T09:57:09.714" v="4504" actId="47"/>
        <pc:sldMkLst>
          <pc:docMk/>
          <pc:sldMk cId="3197421921" sldId="690"/>
        </pc:sldMkLst>
      </pc:sldChg>
      <pc:sldChg chg="del">
        <pc:chgData name="Training Common" userId="04244515-1ace-4f18-abbf-28df0af8cc9f" providerId="ADAL" clId="{2CD65E0F-2C5A-426E-A8DD-3FCAB465F7CA}" dt="2026-10-24T09:57:09.714" v="4504" actId="47"/>
        <pc:sldMkLst>
          <pc:docMk/>
          <pc:sldMk cId="4023603329" sldId="691"/>
        </pc:sldMkLst>
      </pc:sldChg>
      <pc:sldChg chg="del">
        <pc:chgData name="Training Common" userId="04244515-1ace-4f18-abbf-28df0af8cc9f" providerId="ADAL" clId="{2CD65E0F-2C5A-426E-A8DD-3FCAB465F7CA}" dt="2026-10-24T09:57:09.714" v="4504" actId="47"/>
        <pc:sldMkLst>
          <pc:docMk/>
          <pc:sldMk cId="1031583088" sldId="692"/>
        </pc:sldMkLst>
      </pc:sldChg>
      <pc:sldChg chg="del">
        <pc:chgData name="Training Common" userId="04244515-1ace-4f18-abbf-28df0af8cc9f" providerId="ADAL" clId="{2CD65E0F-2C5A-426E-A8DD-3FCAB465F7CA}" dt="2026-10-24T09:57:09.714" v="4504" actId="47"/>
        <pc:sldMkLst>
          <pc:docMk/>
          <pc:sldMk cId="173145218" sldId="693"/>
        </pc:sldMkLst>
      </pc:sldChg>
      <pc:sldChg chg="del">
        <pc:chgData name="Training Common" userId="04244515-1ace-4f18-abbf-28df0af8cc9f" providerId="ADAL" clId="{2CD65E0F-2C5A-426E-A8DD-3FCAB465F7CA}" dt="2026-10-24T09:57:09.714" v="4504" actId="47"/>
        <pc:sldMkLst>
          <pc:docMk/>
          <pc:sldMk cId="2827231764" sldId="694"/>
        </pc:sldMkLst>
      </pc:sldChg>
      <pc:sldChg chg="modSp add mod">
        <pc:chgData name="Training Common" userId="04244515-1ace-4f18-abbf-28df0af8cc9f" providerId="ADAL" clId="{2CD65E0F-2C5A-426E-A8DD-3FCAB465F7CA}" dt="2026-10-24T10:02:16.244" v="4522" actId="2711"/>
        <pc:sldMkLst>
          <pc:docMk/>
          <pc:sldMk cId="0" sldId="703"/>
        </pc:sldMkLst>
        <pc:spChg chg="mod">
          <ac:chgData name="Training Common" userId="04244515-1ace-4f18-abbf-28df0af8cc9f" providerId="ADAL" clId="{2CD65E0F-2C5A-426E-A8DD-3FCAB465F7CA}" dt="2026-10-24T10:02:16.244" v="4522" actId="2711"/>
          <ac:spMkLst>
            <pc:docMk/>
            <pc:sldMk cId="0" sldId="703"/>
            <ac:spMk id="3" creationId="{00000000-0000-0000-0000-000000000000}"/>
          </ac:spMkLst>
        </pc:spChg>
      </pc:sldChg>
      <pc:sldChg chg="modSp add mod">
        <pc:chgData name="Training Common" userId="04244515-1ace-4f18-abbf-28df0af8cc9f" providerId="ADAL" clId="{2CD65E0F-2C5A-426E-A8DD-3FCAB465F7CA}" dt="2026-10-24T10:02:01.630" v="4521" actId="2711"/>
        <pc:sldMkLst>
          <pc:docMk/>
          <pc:sldMk cId="0" sldId="704"/>
        </pc:sldMkLst>
        <pc:spChg chg="mod">
          <ac:chgData name="Training Common" userId="04244515-1ace-4f18-abbf-28df0af8cc9f" providerId="ADAL" clId="{2CD65E0F-2C5A-426E-A8DD-3FCAB465F7CA}" dt="2026-10-24T10:02:01.630" v="4521" actId="2711"/>
          <ac:spMkLst>
            <pc:docMk/>
            <pc:sldMk cId="0" sldId="704"/>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DDDBA2A-8133-1912-F43C-738C96CA549B}"/>
            </a:ext>
          </a:extLst>
        </p:cNvPr>
        <p:cNvGrpSpPr/>
        <p:nvPr/>
      </p:nvGrpSpPr>
      <p:grpSpPr>
        <a:xfrm>
          <a:off x="0" y="0"/>
          <a:ext cx="0" cy="0"/>
          <a:chOff x="0" y="0"/>
          <a:chExt cx="0" cy="0"/>
        </a:xfrm>
      </p:grpSpPr>
      <p:sp>
        <p:nvSpPr>
          <p:cNvPr id="109" name="Google Shape;109;p2:notes">
            <a:extLst>
              <a:ext uri="{FF2B5EF4-FFF2-40B4-BE49-F238E27FC236}">
                <a16:creationId xmlns:a16="http://schemas.microsoft.com/office/drawing/2014/main" id="{D4E520D2-04E6-1849-B719-B73F3532E4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a:extLst>
              <a:ext uri="{FF2B5EF4-FFF2-40B4-BE49-F238E27FC236}">
                <a16:creationId xmlns:a16="http://schemas.microsoft.com/office/drawing/2014/main" id="{05D1DDF4-6D42-DE05-3C80-A529FC03C4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1779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A3FDD48A-16C4-CA75-2E58-895EC97B7DC1}"/>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F2C7239-8D57-C436-1CD8-409DB0FE18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61ECC3A-8982-705F-FA82-52F05E541A9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962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5E4DB8C-FF90-7CED-0306-85330F6DE8FF}"/>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9ED1E548-D775-C5CD-4C4B-7BDC4E7A42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3D4576F8-BFF4-7940-A67A-7C1C0622F4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9511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8D04F10F-2FED-23DF-626E-3D3AFFF0D2B0}"/>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49A859A-8E57-6229-877F-B4A736DD98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E264AE9-9359-20EA-3C2C-0A68576981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224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18DC155-62D5-3D9C-194A-E7BADF53A04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E32B7F3D-7364-65E1-C12E-DE0B975257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4B00D638-8222-686B-F394-9963A5938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4941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343598A-3B3E-328C-B618-598CB601FAE9}"/>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3275916B-3081-0ECD-9861-2CB07FE96D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B7B70B2-8862-ADBF-B2B0-17C1EB0A9C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532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C6FBDA94-07A5-AB40-21CC-876CF4A2652B}"/>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C0107E53-672A-2CAF-2684-D08C415AF8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96694B4-0E84-B465-3375-40F1C93604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5439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7D361C2F-A25E-5D32-2003-0B51D0ADC90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D2B7E6FA-B349-D6A2-0969-CCA68E5C70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2D79C187-A9FE-36CD-80EB-F2F40060FC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440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3C4107BC-B63E-066C-67F4-52402A12F3CF}"/>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29E91BA1-7346-544D-6032-214B4641D4A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CF0C20DC-4F3D-FAE4-6B0E-E0BDE76C52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8336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D92ECA9C-CE6D-D9AD-7F8A-0D396A93F722}"/>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135A4471-DD05-599F-B6A6-CD816644AC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ACB819D6-B710-D7B3-2E0C-8561D5D708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3994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0D629726-17B4-8CAF-0854-E1865AF498E8}"/>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A6E44B62-8887-85E2-2054-6BB9E8EAC9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155B4004-F92B-1666-F07D-151AD1E4F9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3987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a:extLst>
            <a:ext uri="{FF2B5EF4-FFF2-40B4-BE49-F238E27FC236}">
              <a16:creationId xmlns:a16="http://schemas.microsoft.com/office/drawing/2014/main" id="{18112014-5DD8-5289-185A-F9CEC8F00923}"/>
            </a:ext>
          </a:extLst>
        </p:cNvPr>
        <p:cNvGrpSpPr/>
        <p:nvPr/>
      </p:nvGrpSpPr>
      <p:grpSpPr>
        <a:xfrm>
          <a:off x="0" y="0"/>
          <a:ext cx="0" cy="0"/>
          <a:chOff x="0" y="0"/>
          <a:chExt cx="0" cy="0"/>
        </a:xfrm>
      </p:grpSpPr>
      <p:sp>
        <p:nvSpPr>
          <p:cNvPr id="116" name="Google Shape;116;p3:notes">
            <a:extLst>
              <a:ext uri="{FF2B5EF4-FFF2-40B4-BE49-F238E27FC236}">
                <a16:creationId xmlns:a16="http://schemas.microsoft.com/office/drawing/2014/main" id="{6E7E03EE-5600-59E1-32C1-E4DED341A55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a:extLst>
              <a:ext uri="{FF2B5EF4-FFF2-40B4-BE49-F238E27FC236}">
                <a16:creationId xmlns:a16="http://schemas.microsoft.com/office/drawing/2014/main" id="{8BB3C30D-4860-BBF9-C3A8-61FA99BD4E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9397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pic>
        <p:nvPicPr>
          <p:cNvPr id="19" name="Google Shape;19;p51"/>
          <p:cNvPicPr preferRelativeResize="0"/>
          <p:nvPr/>
        </p:nvPicPr>
        <p:blipFill rotWithShape="1">
          <a:blip r:embed="rId2">
            <a:alphaModFix/>
          </a:blip>
          <a:srcRect l="35222" t="35220"/>
          <a:stretch/>
        </p:blipFill>
        <p:spPr>
          <a:xfrm>
            <a:off x="0" y="19018"/>
            <a:ext cx="12192000" cy="6857465"/>
          </a:xfrm>
          <a:prstGeom prst="rect">
            <a:avLst/>
          </a:prstGeom>
          <a:noFill/>
          <a:ln>
            <a:noFill/>
          </a:ln>
        </p:spPr>
      </p:pic>
      <p:sp>
        <p:nvSpPr>
          <p:cNvPr id="20" name="Google Shape;20;p51"/>
          <p:cNvSpPr/>
          <p:nvPr/>
        </p:nvSpPr>
        <p:spPr>
          <a:xfrm>
            <a:off x="449690" y="995329"/>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pic>
        <p:nvPicPr>
          <p:cNvPr id="21" name="Google Shape;21;p51"/>
          <p:cNvPicPr preferRelativeResize="0"/>
          <p:nvPr/>
        </p:nvPicPr>
        <p:blipFill rotWithShape="1">
          <a:blip r:embed="rId3">
            <a:alphaModFix/>
          </a:blip>
          <a:srcRect r="77077"/>
          <a:stretch/>
        </p:blipFill>
        <p:spPr>
          <a:xfrm>
            <a:off x="11248169" y="19018"/>
            <a:ext cx="673100" cy="919228"/>
          </a:xfrm>
          <a:prstGeom prst="rect">
            <a:avLst/>
          </a:prstGeom>
          <a:noFill/>
          <a:ln>
            <a:noFill/>
          </a:ln>
        </p:spPr>
      </p:pic>
      <p:sp>
        <p:nvSpPr>
          <p:cNvPr id="22" name="Google Shape;22;p5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51"/>
          <p:cNvSpPr txBox="1">
            <a:spLocks noGrp="1"/>
          </p:cNvSpPr>
          <p:nvPr>
            <p:ph type="dt" idx="10"/>
          </p:nvPr>
        </p:nvSpPr>
        <p:spPr>
          <a:xfrm>
            <a:off x="838201" y="6470147"/>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1"/>
          <p:cNvSpPr txBox="1">
            <a:spLocks noGrp="1"/>
          </p:cNvSpPr>
          <p:nvPr>
            <p:ph type="ftr" idx="11"/>
          </p:nvPr>
        </p:nvSpPr>
        <p:spPr>
          <a:xfrm>
            <a:off x="4038598" y="6470147"/>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52"/>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2"/>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2"/>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
        <p:cNvGrpSpPr/>
        <p:nvPr/>
      </p:nvGrpSpPr>
      <p:grpSpPr>
        <a:xfrm>
          <a:off x="0" y="0"/>
          <a:ext cx="0" cy="0"/>
          <a:chOff x="0" y="0"/>
          <a:chExt cx="0" cy="0"/>
        </a:xfrm>
      </p:grpSpPr>
      <p:sp>
        <p:nvSpPr>
          <p:cNvPr id="34" name="Google Shape;34;p53"/>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3"/>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54"/>
          <p:cNvSpPr txBox="1">
            <a:spLocks noGrp="1"/>
          </p:cNvSpPr>
          <p:nvPr>
            <p:ph type="title"/>
          </p:nvPr>
        </p:nvSpPr>
        <p:spPr>
          <a:xfrm>
            <a:off x="831850" y="1233488"/>
            <a:ext cx="10515601" cy="19764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4"/>
          <p:cNvSpPr txBox="1">
            <a:spLocks noGrp="1"/>
          </p:cNvSpPr>
          <p:nvPr>
            <p:ph type="body" idx="1"/>
          </p:nvPr>
        </p:nvSpPr>
        <p:spPr>
          <a:xfrm>
            <a:off x="831850" y="3295650"/>
            <a:ext cx="10515601" cy="279400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0" name="Google Shape;40;p54"/>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4"/>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4"/>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55"/>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5"/>
          <p:cNvSpPr txBox="1">
            <a:spLocks noGrp="1"/>
          </p:cNvSpPr>
          <p:nvPr>
            <p:ph type="body" idx="1"/>
          </p:nvPr>
        </p:nvSpPr>
        <p:spPr>
          <a:xfrm>
            <a:off x="838201"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5"/>
          <p:cNvSpPr txBox="1">
            <a:spLocks noGrp="1"/>
          </p:cNvSpPr>
          <p:nvPr>
            <p:ph type="body" idx="2"/>
          </p:nvPr>
        </p:nvSpPr>
        <p:spPr>
          <a:xfrm>
            <a:off x="6172202"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5"/>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5"/>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5"/>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0"/>
        <p:cNvGrpSpPr/>
        <p:nvPr/>
      </p:nvGrpSpPr>
      <p:grpSpPr>
        <a:xfrm>
          <a:off x="0" y="0"/>
          <a:ext cx="0" cy="0"/>
          <a:chOff x="0" y="0"/>
          <a:chExt cx="0" cy="0"/>
        </a:xfrm>
      </p:grpSpPr>
      <p:sp>
        <p:nvSpPr>
          <p:cNvPr id="51" name="Google Shape;51;p56"/>
          <p:cNvSpPr txBox="1">
            <a:spLocks noGrp="1"/>
          </p:cNvSpPr>
          <p:nvPr>
            <p:ph type="title"/>
          </p:nvPr>
        </p:nvSpPr>
        <p:spPr>
          <a:xfrm>
            <a:off x="839787" y="171451"/>
            <a:ext cx="10515601" cy="7381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6"/>
          <p:cNvSpPr txBox="1">
            <a:spLocks noGrp="1"/>
          </p:cNvSpPr>
          <p:nvPr>
            <p:ph type="body" idx="1"/>
          </p:nvPr>
        </p:nvSpPr>
        <p:spPr>
          <a:xfrm>
            <a:off x="839790" y="1190622"/>
            <a:ext cx="51577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56"/>
          <p:cNvSpPr txBox="1">
            <a:spLocks noGrp="1"/>
          </p:cNvSpPr>
          <p:nvPr>
            <p:ph type="body" idx="2"/>
          </p:nvPr>
        </p:nvSpPr>
        <p:spPr>
          <a:xfrm>
            <a:off x="839790" y="2014533"/>
            <a:ext cx="5157788"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6"/>
          <p:cNvSpPr txBox="1">
            <a:spLocks noGrp="1"/>
          </p:cNvSpPr>
          <p:nvPr>
            <p:ph type="body" idx="3"/>
          </p:nvPr>
        </p:nvSpPr>
        <p:spPr>
          <a:xfrm>
            <a:off x="6172201" y="1190622"/>
            <a:ext cx="51831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56"/>
          <p:cNvSpPr txBox="1">
            <a:spLocks noGrp="1"/>
          </p:cNvSpPr>
          <p:nvPr>
            <p:ph type="body" idx="4"/>
          </p:nvPr>
        </p:nvSpPr>
        <p:spPr>
          <a:xfrm>
            <a:off x="6172201" y="2014533"/>
            <a:ext cx="5183187" cy="399097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56"/>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6"/>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6"/>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57"/>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57"/>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7"/>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7"/>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58"/>
          <p:cNvSpPr txBox="1">
            <a:spLocks noGrp="1"/>
          </p:cNvSpPr>
          <p:nvPr>
            <p:ph type="title"/>
          </p:nvPr>
        </p:nvSpPr>
        <p:spPr>
          <a:xfrm>
            <a:off x="839788" y="0"/>
            <a:ext cx="10380661" cy="8715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8"/>
          <p:cNvSpPr txBox="1">
            <a:spLocks noGrp="1"/>
          </p:cNvSpPr>
          <p:nvPr>
            <p:ph type="body" idx="1"/>
          </p:nvPr>
        </p:nvSpPr>
        <p:spPr>
          <a:xfrm>
            <a:off x="5183187" y="1309688"/>
            <a:ext cx="6172201" cy="4551363"/>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58"/>
          <p:cNvSpPr txBox="1">
            <a:spLocks noGrp="1"/>
          </p:cNvSpPr>
          <p:nvPr>
            <p:ph type="body" idx="2"/>
          </p:nvPr>
        </p:nvSpPr>
        <p:spPr>
          <a:xfrm>
            <a:off x="839789" y="1317625"/>
            <a:ext cx="3932236" cy="455136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58"/>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8"/>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8"/>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59"/>
          <p:cNvSpPr txBox="1">
            <a:spLocks noGrp="1"/>
          </p:cNvSpPr>
          <p:nvPr>
            <p:ph type="title"/>
          </p:nvPr>
        </p:nvSpPr>
        <p:spPr>
          <a:xfrm>
            <a:off x="839788" y="285750"/>
            <a:ext cx="10399711" cy="61436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59"/>
          <p:cNvSpPr>
            <a:spLocks noGrp="1"/>
          </p:cNvSpPr>
          <p:nvPr>
            <p:ph type="pic" idx="2"/>
          </p:nvPr>
        </p:nvSpPr>
        <p:spPr>
          <a:xfrm>
            <a:off x="5183187" y="1149351"/>
            <a:ext cx="6172201" cy="4711700"/>
          </a:xfrm>
          <a:prstGeom prst="rect">
            <a:avLst/>
          </a:prstGeom>
          <a:noFill/>
          <a:ln>
            <a:noFill/>
          </a:ln>
        </p:spPr>
      </p:sp>
      <p:sp>
        <p:nvSpPr>
          <p:cNvPr id="74" name="Google Shape;74;p59"/>
          <p:cNvSpPr txBox="1">
            <a:spLocks noGrp="1"/>
          </p:cNvSpPr>
          <p:nvPr>
            <p:ph type="body" idx="1"/>
          </p:nvPr>
        </p:nvSpPr>
        <p:spPr>
          <a:xfrm>
            <a:off x="839789" y="1157288"/>
            <a:ext cx="3932236" cy="4711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59"/>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9"/>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9"/>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6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0"/>
          <p:cNvSpPr txBox="1">
            <a:spLocks noGrp="1"/>
          </p:cNvSpPr>
          <p:nvPr>
            <p:ph type="body" idx="1"/>
          </p:nvPr>
        </p:nvSpPr>
        <p:spPr>
          <a:xfrm rot="5400000">
            <a:off x="3629025" y="-1547812"/>
            <a:ext cx="4933950" cy="105156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1"/>
          <p:cNvSpPr txBox="1">
            <a:spLocks noGrp="1"/>
          </p:cNvSpPr>
          <p:nvPr>
            <p:ph type="title"/>
          </p:nvPr>
        </p:nvSpPr>
        <p:spPr>
          <a:xfrm rot="5400000">
            <a:off x="7133434" y="1956594"/>
            <a:ext cx="5811838" cy="262889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1"/>
          <p:cNvSpPr txBox="1">
            <a:spLocks noGrp="1"/>
          </p:cNvSpPr>
          <p:nvPr>
            <p:ph type="body" idx="1"/>
          </p:nvPr>
        </p:nvSpPr>
        <p:spPr>
          <a:xfrm rot="5400000">
            <a:off x="1799432" y="-596106"/>
            <a:ext cx="5811838" cy="77343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1"/>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1"/>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1"/>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pic>
        <p:nvPicPr>
          <p:cNvPr id="10" name="Google Shape;10;p50"/>
          <p:cNvPicPr preferRelativeResize="0"/>
          <p:nvPr/>
        </p:nvPicPr>
        <p:blipFill rotWithShape="1">
          <a:blip r:embed="rId13">
            <a:alphaModFix/>
          </a:blip>
          <a:srcRect l="35222" t="35220"/>
          <a:stretch/>
        </p:blipFill>
        <p:spPr>
          <a:xfrm>
            <a:off x="0" y="19018"/>
            <a:ext cx="12192000" cy="6857465"/>
          </a:xfrm>
          <a:prstGeom prst="rect">
            <a:avLst/>
          </a:prstGeom>
          <a:noFill/>
          <a:ln>
            <a:noFill/>
          </a:ln>
        </p:spPr>
      </p:pic>
      <p:pic>
        <p:nvPicPr>
          <p:cNvPr id="11" name="Google Shape;11;p50"/>
          <p:cNvPicPr preferRelativeResize="0"/>
          <p:nvPr/>
        </p:nvPicPr>
        <p:blipFill rotWithShape="1">
          <a:blip r:embed="rId14">
            <a:alphaModFix/>
          </a:blip>
          <a:srcRect r="77077"/>
          <a:stretch/>
        </p:blipFill>
        <p:spPr>
          <a:xfrm>
            <a:off x="11248169" y="19018"/>
            <a:ext cx="673100" cy="919228"/>
          </a:xfrm>
          <a:prstGeom prst="rect">
            <a:avLst/>
          </a:prstGeom>
          <a:noFill/>
          <a:ln>
            <a:noFill/>
          </a:ln>
        </p:spPr>
      </p:pic>
      <p:sp>
        <p:nvSpPr>
          <p:cNvPr id="12" name="Google Shape;12;p50"/>
          <p:cNvSpPr/>
          <p:nvPr/>
        </p:nvSpPr>
        <p:spPr>
          <a:xfrm>
            <a:off x="449690" y="957263"/>
            <a:ext cx="11292619" cy="5474818"/>
          </a:xfrm>
          <a:prstGeom prst="roundRect">
            <a:avLst>
              <a:gd name="adj" fmla="val 9331"/>
            </a:avLst>
          </a:prstGeom>
          <a:solidFill>
            <a:schemeClr val="lt1"/>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   </a:t>
            </a:r>
            <a:endParaRPr sz="1800" b="0" i="0" u="none" strike="noStrike" cap="none">
              <a:solidFill>
                <a:schemeClr val="lt1"/>
              </a:solidFill>
              <a:latin typeface="Arial"/>
              <a:ea typeface="Arial"/>
              <a:cs typeface="Arial"/>
              <a:sym typeface="Arial"/>
            </a:endParaRPr>
          </a:p>
        </p:txBody>
      </p:sp>
      <p:sp>
        <p:nvSpPr>
          <p:cNvPr id="13" name="Google Shape;13;p50"/>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600"/>
              <a:buFont typeface="Play"/>
              <a:buNone/>
              <a:defRPr sz="36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50"/>
          <p:cNvSpPr txBox="1">
            <a:spLocks noGrp="1"/>
          </p:cNvSpPr>
          <p:nvPr>
            <p:ph type="body" idx="1"/>
          </p:nvPr>
        </p:nvSpPr>
        <p:spPr>
          <a:xfrm>
            <a:off x="838200" y="1243013"/>
            <a:ext cx="10515601" cy="49339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 name="Google Shape;15;p50"/>
          <p:cNvSpPr txBox="1">
            <a:spLocks noGrp="1"/>
          </p:cNvSpPr>
          <p:nvPr>
            <p:ph type="dt" idx="10"/>
          </p:nvPr>
        </p:nvSpPr>
        <p:spPr>
          <a:xfrm>
            <a:off x="838201" y="64849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6" name="Google Shape;16;p50"/>
          <p:cNvSpPr txBox="1">
            <a:spLocks noGrp="1"/>
          </p:cNvSpPr>
          <p:nvPr>
            <p:ph type="ftr" idx="11"/>
          </p:nvPr>
        </p:nvSpPr>
        <p:spPr>
          <a:xfrm>
            <a:off x="4038602" y="6484951"/>
            <a:ext cx="4114801"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 name="Google Shape;17;p50"/>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grpSp>
        <p:nvGrpSpPr>
          <p:cNvPr id="95" name="Google Shape;95;p1"/>
          <p:cNvGrpSpPr/>
          <p:nvPr/>
        </p:nvGrpSpPr>
        <p:grpSpPr>
          <a:xfrm>
            <a:off x="-57778" y="0"/>
            <a:ext cx="12307556" cy="6925679"/>
            <a:chOff x="-115556" y="-1"/>
            <a:chExt cx="12307556" cy="6925679"/>
          </a:xfrm>
        </p:grpSpPr>
        <p:pic>
          <p:nvPicPr>
            <p:cNvPr id="96" name="Google Shape;96;p1" descr="C:\Users\vasim\Desktop\ppt\SV PPT.png"/>
            <p:cNvPicPr preferRelativeResize="0"/>
            <p:nvPr/>
          </p:nvPicPr>
          <p:blipFill rotWithShape="1">
            <a:blip r:embed="rId3">
              <a:alphaModFix/>
            </a:blip>
            <a:srcRect l="47855" t="40791" r="41050" b="31445"/>
            <a:stretch/>
          </p:blipFill>
          <p:spPr>
            <a:xfrm>
              <a:off x="7026729" y="-1"/>
              <a:ext cx="5165271" cy="6925677"/>
            </a:xfrm>
            <a:prstGeom prst="rect">
              <a:avLst/>
            </a:prstGeom>
            <a:noFill/>
            <a:ln>
              <a:noFill/>
            </a:ln>
          </p:spPr>
        </p:pic>
        <p:grpSp>
          <p:nvGrpSpPr>
            <p:cNvPr id="97" name="Google Shape;97;p1"/>
            <p:cNvGrpSpPr/>
            <p:nvPr/>
          </p:nvGrpSpPr>
          <p:grpSpPr>
            <a:xfrm>
              <a:off x="-115556" y="0"/>
              <a:ext cx="7256444" cy="6925678"/>
              <a:chOff x="-21189" y="13252"/>
              <a:chExt cx="7187198" cy="6859588"/>
            </a:xfrm>
          </p:grpSpPr>
          <p:pic>
            <p:nvPicPr>
              <p:cNvPr id="98" name="Google Shape;98;p1" descr="C:\Users\vasim\Desktop\ppt\SV PPT.png"/>
              <p:cNvPicPr preferRelativeResize="0"/>
              <p:nvPr/>
            </p:nvPicPr>
            <p:blipFill rotWithShape="1">
              <a:blip r:embed="rId3">
                <a:alphaModFix/>
              </a:blip>
              <a:srcRect r="41050"/>
              <a:stretch/>
            </p:blipFill>
            <p:spPr>
              <a:xfrm>
                <a:off x="-21189" y="13252"/>
                <a:ext cx="7187198" cy="6859588"/>
              </a:xfrm>
              <a:prstGeom prst="rect">
                <a:avLst/>
              </a:prstGeom>
              <a:noFill/>
              <a:ln>
                <a:noFill/>
              </a:ln>
            </p:spPr>
          </p:pic>
          <p:pic>
            <p:nvPicPr>
              <p:cNvPr id="99" name="Google Shape;99;p1" descr="C:\Users\vasim\Desktop\ppt\SV PPT.png"/>
              <p:cNvPicPr preferRelativeResize="0"/>
              <p:nvPr/>
            </p:nvPicPr>
            <p:blipFill rotWithShape="1">
              <a:blip r:embed="rId3">
                <a:alphaModFix/>
              </a:blip>
              <a:srcRect l="48539" t="33621" r="41050" b="61032"/>
              <a:stretch/>
            </p:blipFill>
            <p:spPr>
              <a:xfrm>
                <a:off x="5896708" y="2582425"/>
                <a:ext cx="1269301" cy="366765"/>
              </a:xfrm>
              <a:prstGeom prst="rect">
                <a:avLst/>
              </a:prstGeom>
              <a:noFill/>
              <a:ln>
                <a:noFill/>
              </a:ln>
            </p:spPr>
          </p:pic>
        </p:grpSp>
      </p:grpSp>
      <p:sp>
        <p:nvSpPr>
          <p:cNvPr id="100" name="Google Shape;100;p1"/>
          <p:cNvSpPr/>
          <p:nvPr/>
        </p:nvSpPr>
        <p:spPr>
          <a:xfrm>
            <a:off x="6215605" y="433070"/>
            <a:ext cx="5963060" cy="15367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1"/>
              </a:buClr>
              <a:buSzPts val="3600"/>
              <a:buFont typeface="Arial"/>
              <a:buNone/>
            </a:pPr>
            <a:r>
              <a:rPr lang="en-US" sz="3600" b="1" i="0" u="none" strike="noStrike" cap="none" dirty="0">
                <a:solidFill>
                  <a:schemeClr val="dk1"/>
                </a:solidFill>
                <a:latin typeface="Arial"/>
                <a:ea typeface="Arial"/>
                <a:cs typeface="Arial"/>
                <a:sym typeface="Arial"/>
              </a:rPr>
              <a:t>CYBERSECURITY FUNDAMENTALS AND NETWORK SECURITY</a:t>
            </a:r>
            <a:endParaRPr sz="3600" b="1" i="0" u="none" strike="noStrike" cap="none" dirty="0">
              <a:solidFill>
                <a:schemeClr val="dk1"/>
              </a:solidFill>
              <a:latin typeface="Arial"/>
              <a:ea typeface="Arial"/>
              <a:cs typeface="Arial"/>
              <a:sym typeface="Arial"/>
            </a:endParaRPr>
          </a:p>
        </p:txBody>
      </p:sp>
      <p:pic>
        <p:nvPicPr>
          <p:cNvPr id="101" name="Google Shape;101;p1"/>
          <p:cNvPicPr preferRelativeResize="0"/>
          <p:nvPr/>
        </p:nvPicPr>
        <p:blipFill rotWithShape="1">
          <a:blip r:embed="rId4">
            <a:alphaModFix/>
          </a:blip>
          <a:srcRect/>
          <a:stretch/>
        </p:blipFill>
        <p:spPr>
          <a:xfrm>
            <a:off x="8838561" y="5424480"/>
            <a:ext cx="3037753" cy="950948"/>
          </a:xfrm>
          <a:prstGeom prst="rect">
            <a:avLst/>
          </a:prstGeom>
          <a:noFill/>
          <a:ln>
            <a:noFill/>
          </a:ln>
        </p:spPr>
      </p:pic>
      <p:pic>
        <p:nvPicPr>
          <p:cNvPr id="102" name="Google Shape;102;p1" descr="ljku.edu.in/web/image/res.company/1/logo"/>
          <p:cNvPicPr preferRelativeResize="0"/>
          <p:nvPr/>
        </p:nvPicPr>
        <p:blipFill rotWithShape="1">
          <a:blip r:embed="rId5">
            <a:alphaModFix/>
          </a:blip>
          <a:srcRect/>
          <a:stretch/>
        </p:blipFill>
        <p:spPr>
          <a:xfrm>
            <a:off x="5559814" y="5558151"/>
            <a:ext cx="2924303" cy="776261"/>
          </a:xfrm>
          <a:prstGeom prst="rect">
            <a:avLst/>
          </a:prstGeom>
          <a:noFill/>
          <a:ln>
            <a:noFill/>
          </a:ln>
        </p:spPr>
      </p:pic>
      <p:sp>
        <p:nvSpPr>
          <p:cNvPr id="103" name="Google Shape;103;p1"/>
          <p:cNvSpPr/>
          <p:nvPr/>
        </p:nvSpPr>
        <p:spPr>
          <a:xfrm>
            <a:off x="5741902" y="2201924"/>
            <a:ext cx="6134412" cy="168717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200"/>
              <a:buFont typeface="Play"/>
              <a:buNone/>
            </a:pPr>
            <a:r>
              <a:rPr lang="en-IN" sz="3200" b="1" dirty="0">
                <a:solidFill>
                  <a:schemeClr val="dk1"/>
                </a:solidFill>
              </a:rPr>
              <a:t>Unit-03</a:t>
            </a:r>
          </a:p>
          <a:p>
            <a:pPr marL="0" marR="0" lvl="0" indent="0" algn="r" rtl="0">
              <a:lnSpc>
                <a:spcPct val="100000"/>
              </a:lnSpc>
              <a:spcBef>
                <a:spcPts val="0"/>
              </a:spcBef>
              <a:spcAft>
                <a:spcPts val="0"/>
              </a:spcAft>
              <a:buClr>
                <a:schemeClr val="dk1"/>
              </a:buClr>
              <a:buSzPts val="3200"/>
              <a:buFont typeface="Play"/>
              <a:buNone/>
            </a:pPr>
            <a:r>
              <a:rPr lang="en-IN" sz="3200" b="1" dirty="0">
                <a:solidFill>
                  <a:schemeClr val="dk1"/>
                </a:solidFill>
              </a:rPr>
              <a:t>NETWORK SECURITY TECHNOLOGIES</a:t>
            </a:r>
          </a:p>
        </p:txBody>
      </p:sp>
      <p:cxnSp>
        <p:nvCxnSpPr>
          <p:cNvPr id="104" name="Google Shape;104;p1"/>
          <p:cNvCxnSpPr/>
          <p:nvPr/>
        </p:nvCxnSpPr>
        <p:spPr>
          <a:xfrm>
            <a:off x="6487886" y="2051293"/>
            <a:ext cx="5388428" cy="0"/>
          </a:xfrm>
          <a:prstGeom prst="straightConnector1">
            <a:avLst/>
          </a:prstGeom>
          <a:noFill/>
          <a:ln w="28575" cap="flat" cmpd="sng">
            <a:solidFill>
              <a:srgbClr val="FF0000"/>
            </a:solidFill>
            <a:prstDash val="solid"/>
            <a:miter lim="800000"/>
            <a:headEnd type="none" w="sm" len="sm"/>
            <a:tailEnd type="none" w="sm" len="sm"/>
          </a:ln>
        </p:spPr>
      </p:cxnSp>
      <p:sp>
        <p:nvSpPr>
          <p:cNvPr id="105" name="Google Shape;105;p1"/>
          <p:cNvSpPr/>
          <p:nvPr/>
        </p:nvSpPr>
        <p:spPr>
          <a:xfrm>
            <a:off x="8253448" y="4298179"/>
            <a:ext cx="3925217" cy="947720"/>
          </a:xfrm>
          <a:prstGeom prst="rect">
            <a:avLst/>
          </a:prstGeom>
          <a:noFill/>
          <a:ln>
            <a:noFill/>
          </a:ln>
        </p:spPr>
        <p:txBody>
          <a:bodyPr spcFirstLastPara="1" wrap="square" lIns="91425" tIns="45700" rIns="91425" bIns="45700" anchor="b" anchorCtr="0">
            <a:noAutofit/>
          </a:bodyPr>
          <a:lstStyle/>
          <a:p>
            <a:pPr marL="0" marR="0" lvl="0" indent="0" algn="l"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Gayathri Gagana</a:t>
            </a:r>
            <a:br>
              <a:rPr lang="en-US" sz="2200" i="0" u="none" strike="noStrike" cap="none" dirty="0">
                <a:solidFill>
                  <a:schemeClr val="dk1"/>
                </a:solidFill>
              </a:rPr>
            </a:br>
            <a:r>
              <a:rPr lang="en-US" sz="2200" i="0" u="none" strike="noStrike" cap="none" dirty="0">
                <a:solidFill>
                  <a:schemeClr val="dk1"/>
                </a:solidFill>
              </a:rPr>
              <a:t>gayathri.g@techdefence.com </a:t>
            </a:r>
            <a:endParaRPr sz="2200" b="1" i="0" u="none" strike="noStrike" cap="none" dirty="0">
              <a:solidFill>
                <a:schemeClr val="dk1"/>
              </a:solidFill>
            </a:endParaRPr>
          </a:p>
        </p:txBody>
      </p:sp>
      <p:sp>
        <p:nvSpPr>
          <p:cNvPr id="106" name="Google Shape;106;p1"/>
          <p:cNvSpPr/>
          <p:nvPr/>
        </p:nvSpPr>
        <p:spPr>
          <a:xfrm>
            <a:off x="5741902" y="4314226"/>
            <a:ext cx="2530392" cy="947720"/>
          </a:xfrm>
          <a:prstGeom prst="rect">
            <a:avLst/>
          </a:prstGeom>
          <a:noFill/>
          <a:ln>
            <a:noFill/>
          </a:ln>
        </p:spPr>
        <p:txBody>
          <a:bodyPr spcFirstLastPara="1" wrap="square" lIns="91425" tIns="45700" rIns="91425" bIns="45700" anchor="b" anchorCtr="0">
            <a:noAutofit/>
          </a:bodyPr>
          <a:lstStyle/>
          <a:p>
            <a:pPr marL="0" marR="0" lvl="0" indent="0" algn="r" rtl="0">
              <a:lnSpc>
                <a:spcPct val="160000"/>
              </a:lnSpc>
              <a:spcBef>
                <a:spcPts val="0"/>
              </a:spcBef>
              <a:spcAft>
                <a:spcPts val="0"/>
              </a:spcAft>
              <a:buClr>
                <a:schemeClr val="dk1"/>
              </a:buClr>
              <a:buSzPts val="2200"/>
              <a:buFont typeface="Play"/>
              <a:buNone/>
            </a:pPr>
            <a:r>
              <a:rPr lang="en-US" sz="2200" i="0" u="none" strike="noStrike" cap="none" dirty="0">
                <a:solidFill>
                  <a:schemeClr val="dk1"/>
                </a:solidFill>
              </a:rPr>
              <a:t>Created by:</a:t>
            </a:r>
            <a:br>
              <a:rPr lang="en-US" sz="2200" i="0" u="none" strike="noStrike" cap="none" dirty="0">
                <a:solidFill>
                  <a:schemeClr val="dk1"/>
                </a:solidFill>
              </a:rPr>
            </a:br>
            <a:r>
              <a:rPr lang="en-US" sz="2200" i="0" u="none" strike="noStrike" cap="none" dirty="0">
                <a:solidFill>
                  <a:schemeClr val="dk1"/>
                </a:solidFill>
              </a:rPr>
              <a:t>Email Address: </a:t>
            </a:r>
            <a:endParaRPr sz="2200" b="1" i="0" u="none" strike="noStrike" cap="none" dirty="0">
              <a:solidFill>
                <a:schemeClr val="dk1"/>
              </a:solidFill>
            </a:endParaRPr>
          </a:p>
        </p:txBody>
      </p:sp>
      <p:sp>
        <p:nvSpPr>
          <p:cNvPr id="107" name="Google Shape;107;p1"/>
          <p:cNvSpPr txBox="1">
            <a:spLocks noGrp="1"/>
          </p:cNvSpPr>
          <p:nvPr>
            <p:ph type="sldNum" idx="12"/>
          </p:nvPr>
        </p:nvSpPr>
        <p:spPr>
          <a:xfrm>
            <a:off x="8610602" y="6470147"/>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body" idx="1"/>
          </p:nvPr>
        </p:nvSpPr>
        <p:spPr>
          <a:xfrm>
            <a:off x="838200" y="1108542"/>
            <a:ext cx="10515601" cy="4933950"/>
          </a:xfrm>
          <a:prstGeom prst="rect">
            <a:avLst/>
          </a:prstGeom>
          <a:noFill/>
          <a:ln>
            <a:noFill/>
          </a:ln>
        </p:spPr>
        <p:txBody>
          <a:bodyPr spcFirstLastPara="1" wrap="square" lIns="91425" tIns="45700" rIns="91425" bIns="45700" anchor="t" anchorCtr="0">
            <a:noAutofit/>
          </a:bodyPr>
          <a:lstStyle/>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Firewalls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Types of firewalls</a:t>
            </a:r>
          </a:p>
          <a:p>
            <a:pPr marL="228600" indent="-228600" algn="just">
              <a:lnSpc>
                <a:spcPct val="150000"/>
              </a:lnSpc>
              <a:spcBef>
                <a:spcPts val="0"/>
              </a:spcBef>
              <a:buSzPts val="3200"/>
              <a:buFont typeface="Noto Sans Symbols"/>
              <a:buChar char="⮚"/>
            </a:pPr>
            <a:r>
              <a:rPr lang="en-US" dirty="0">
                <a:latin typeface="Calibri"/>
                <a:ea typeface="Calibri"/>
                <a:cs typeface="Calibri"/>
                <a:sym typeface="Calibri"/>
              </a:rPr>
              <a:t>DMZ Architecture</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IDS and IPS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IDS v/s IPS and types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HIDS v/s NIDS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Snort v/s Suricata</a:t>
            </a:r>
          </a:p>
          <a:p>
            <a:pPr marL="228600" indent="-228600" algn="just">
              <a:lnSpc>
                <a:spcPct val="150000"/>
              </a:lnSpc>
              <a:spcBef>
                <a:spcPts val="0"/>
              </a:spcBef>
              <a:buSzPts val="3200"/>
              <a:buFont typeface="Noto Sans Symbols"/>
              <a:buChar char="⮚"/>
            </a:pPr>
            <a:r>
              <a:rPr lang="en-US" dirty="0">
                <a:latin typeface="Calibri"/>
                <a:ea typeface="Calibri"/>
                <a:cs typeface="Calibri"/>
                <a:sym typeface="Calibri"/>
              </a:rPr>
              <a:t>VPN and Types</a:t>
            </a:r>
          </a:p>
          <a:p>
            <a:pPr marL="228600" lvl="0" indent="-228600" algn="just">
              <a:lnSpc>
                <a:spcPct val="150000"/>
              </a:lnSpc>
              <a:spcBef>
                <a:spcPts val="0"/>
              </a:spcBef>
              <a:buSzPts val="3200"/>
              <a:buFont typeface="Noto Sans Symbols"/>
              <a:buChar char="⮚"/>
            </a:pPr>
            <a:endParaRPr lang="en-US" dirty="0">
              <a:latin typeface="Calibri"/>
              <a:ea typeface="Calibri"/>
              <a:cs typeface="Calibri"/>
              <a:sym typeface="Calibri"/>
            </a:endParaRPr>
          </a:p>
        </p:txBody>
      </p:sp>
      <p:sp>
        <p:nvSpPr>
          <p:cNvPr id="113" name="Google Shape;113;p2"/>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CONTENT</a:t>
            </a:r>
            <a:endParaRPr/>
          </a:p>
        </p:txBody>
      </p:sp>
      <p:sp>
        <p:nvSpPr>
          <p:cNvPr id="114" name="Google Shape;114;p2"/>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DDF51EA5-7231-BFE2-B6A0-68C2466AD169}"/>
            </a:ext>
          </a:extLst>
        </p:cNvPr>
        <p:cNvGrpSpPr/>
        <p:nvPr/>
      </p:nvGrpSpPr>
      <p:grpSpPr>
        <a:xfrm>
          <a:off x="0" y="0"/>
          <a:ext cx="0" cy="0"/>
          <a:chOff x="0" y="0"/>
          <a:chExt cx="0" cy="0"/>
        </a:xfrm>
      </p:grpSpPr>
      <p:sp>
        <p:nvSpPr>
          <p:cNvPr id="112" name="Google Shape;112;p2">
            <a:extLst>
              <a:ext uri="{FF2B5EF4-FFF2-40B4-BE49-F238E27FC236}">
                <a16:creationId xmlns:a16="http://schemas.microsoft.com/office/drawing/2014/main" id="{E7057579-9FE1-B627-A0C0-8153B5A219C3}"/>
              </a:ext>
            </a:extLst>
          </p:cNvPr>
          <p:cNvSpPr txBox="1">
            <a:spLocks noGrp="1"/>
          </p:cNvSpPr>
          <p:nvPr>
            <p:ph type="body" idx="1"/>
          </p:nvPr>
        </p:nvSpPr>
        <p:spPr>
          <a:xfrm>
            <a:off x="838200" y="1108542"/>
            <a:ext cx="10515601" cy="4933950"/>
          </a:xfrm>
          <a:prstGeom prst="rect">
            <a:avLst/>
          </a:prstGeom>
          <a:noFill/>
          <a:ln>
            <a:noFill/>
          </a:ln>
        </p:spPr>
        <p:txBody>
          <a:bodyPr spcFirstLastPara="1" wrap="square" lIns="91425" tIns="45700" rIns="91425" bIns="45700" anchor="t" anchorCtr="0">
            <a:noAutofit/>
          </a:bodyPr>
          <a:lstStyle/>
          <a:p>
            <a:pPr marL="228600" indent="-228600" algn="just">
              <a:lnSpc>
                <a:spcPct val="150000"/>
              </a:lnSpc>
              <a:spcBef>
                <a:spcPts val="0"/>
              </a:spcBef>
              <a:buSzPts val="3200"/>
              <a:buFont typeface="Noto Sans Symbols"/>
              <a:buChar char="⮚"/>
            </a:pPr>
            <a:r>
              <a:rPr lang="en-US" dirty="0">
                <a:latin typeface="Calibri"/>
                <a:ea typeface="Calibri"/>
                <a:cs typeface="Calibri"/>
                <a:sym typeface="Calibri"/>
              </a:rPr>
              <a:t>Split Tunneling</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Proxy Servers and Types</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Network Segmentation</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VLAN</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Zero Trust Architecture</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Identity Centric Security v/s Perimeter Security</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Wireless Security</a:t>
            </a:r>
          </a:p>
          <a:p>
            <a:pPr marL="228600" lvl="0" indent="-228600" algn="just">
              <a:lnSpc>
                <a:spcPct val="150000"/>
              </a:lnSpc>
              <a:spcBef>
                <a:spcPts val="0"/>
              </a:spcBef>
              <a:buSzPts val="3200"/>
              <a:buFont typeface="Noto Sans Symbols"/>
              <a:buChar char="⮚"/>
            </a:pPr>
            <a:r>
              <a:rPr lang="en-US" dirty="0">
                <a:latin typeface="Calibri"/>
                <a:ea typeface="Calibri"/>
                <a:cs typeface="Calibri"/>
                <a:sym typeface="Calibri"/>
              </a:rPr>
              <a:t>KRACK Concept</a:t>
            </a:r>
          </a:p>
          <a:p>
            <a:pPr marL="228600" lvl="0" indent="-228600" algn="just">
              <a:lnSpc>
                <a:spcPct val="150000"/>
              </a:lnSpc>
              <a:spcBef>
                <a:spcPts val="0"/>
              </a:spcBef>
              <a:buSzPts val="3200"/>
              <a:buFont typeface="Noto Sans Symbols"/>
              <a:buChar char="⮚"/>
            </a:pPr>
            <a:endParaRPr lang="en-US" dirty="0">
              <a:latin typeface="Calibri"/>
              <a:ea typeface="Calibri"/>
              <a:cs typeface="Calibri"/>
              <a:sym typeface="Calibri"/>
            </a:endParaRPr>
          </a:p>
        </p:txBody>
      </p:sp>
      <p:sp>
        <p:nvSpPr>
          <p:cNvPr id="113" name="Google Shape;113;p2">
            <a:extLst>
              <a:ext uri="{FF2B5EF4-FFF2-40B4-BE49-F238E27FC236}">
                <a16:creationId xmlns:a16="http://schemas.microsoft.com/office/drawing/2014/main" id="{4958B6CE-1B6F-F897-75B9-D46F17CC71B2}"/>
              </a:ext>
            </a:extLst>
          </p:cNvPr>
          <p:cNvSpPr txBox="1">
            <a:spLocks noGrp="1"/>
          </p:cNvSpPr>
          <p:nvPr>
            <p:ph type="title"/>
          </p:nvPr>
        </p:nvSpPr>
        <p:spPr>
          <a:xfrm>
            <a:off x="838200" y="238125"/>
            <a:ext cx="10444163" cy="71913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000" b="1">
                <a:latin typeface="Arial"/>
                <a:ea typeface="Arial"/>
                <a:cs typeface="Arial"/>
                <a:sym typeface="Arial"/>
              </a:rPr>
              <a:t>CONTENT</a:t>
            </a:r>
            <a:endParaRPr/>
          </a:p>
        </p:txBody>
      </p:sp>
      <p:sp>
        <p:nvSpPr>
          <p:cNvPr id="114" name="Google Shape;114;p2">
            <a:extLst>
              <a:ext uri="{FF2B5EF4-FFF2-40B4-BE49-F238E27FC236}">
                <a16:creationId xmlns:a16="http://schemas.microsoft.com/office/drawing/2014/main" id="{D2DE4D21-2467-16BB-DDB7-D658FCE9B33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940899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342900" lvl="0" algn="just">
              <a:lnSpc>
                <a:spcPct val="110000"/>
              </a:lnSpc>
              <a:spcBef>
                <a:spcPts val="0"/>
              </a:spcBef>
              <a:buClr>
                <a:srgbClr val="000000"/>
              </a:buClr>
              <a:buSzTx/>
              <a:buFont typeface="Arial" panose="020B0604020202020204" pitchFamily="34" charset="0"/>
              <a:buChar char="•"/>
              <a:defRPr/>
            </a:pPr>
            <a:r>
              <a:rPr lang="en-GB" sz="2200" dirty="0">
                <a:latin typeface="Calibri" panose="020F0502020204030204" charset="0"/>
                <a:cs typeface="Calibri" panose="020F0502020204030204" charset="0"/>
                <a:sym typeface="+mn-ea"/>
              </a:rPr>
              <a:t>A firewall is a security system designed to prevent unauthorized access to or from a private network. It can be hardware-based, software-based, or a combination of both. Firewalls are an essential part of a network’s security strategy, protecting sensitive data and ensuring the network remains secure from external threats.</a:t>
            </a:r>
            <a:endParaRPr lang="en-GB" sz="2200" dirty="0">
              <a:latin typeface="Calibri" panose="020F0502020204030204" charset="0"/>
              <a:cs typeface="Calibri" panose="020F0502020204030204" charset="0"/>
            </a:endParaRPr>
          </a:p>
          <a:p>
            <a:pPr marL="342900" lvl="0" algn="just">
              <a:lnSpc>
                <a:spcPct val="110000"/>
              </a:lnSpc>
              <a:spcBef>
                <a:spcPts val="0"/>
              </a:spcBef>
              <a:buClr>
                <a:srgbClr val="000000"/>
              </a:buClr>
              <a:buSzTx/>
              <a:buFont typeface="Arial" panose="020B0604020202020204" pitchFamily="34" charset="0"/>
              <a:buChar char="•"/>
              <a:defRPr/>
            </a:pPr>
            <a:r>
              <a:rPr lang="en-GB" sz="2200" b="1" dirty="0">
                <a:latin typeface="Calibri" panose="020F0502020204030204" charset="0"/>
                <a:cs typeface="Calibri" panose="020F0502020204030204" charset="0"/>
                <a:sym typeface="+mn-ea"/>
              </a:rPr>
              <a:t>Functions of a Firewall:</a:t>
            </a:r>
            <a:endParaRPr lang="en-GB" sz="2200" b="1"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sz="2200" b="1" dirty="0">
                <a:latin typeface="Calibri" panose="020F0502020204030204" charset="0"/>
                <a:cs typeface="Calibri" panose="020F0502020204030204" charset="0"/>
                <a:sym typeface="+mn-ea"/>
              </a:rPr>
              <a:t>Traffic Filtering: </a:t>
            </a:r>
            <a:r>
              <a:rPr lang="en-GB" sz="2200" dirty="0">
                <a:latin typeface="Calibri" panose="020F0502020204030204" charset="0"/>
                <a:cs typeface="Calibri" panose="020F0502020204030204" charset="0"/>
                <a:sym typeface="+mn-ea"/>
              </a:rPr>
              <a:t>Firewalls </a:t>
            </a:r>
            <a:r>
              <a:rPr lang="en-GB" sz="2200" dirty="0" err="1">
                <a:latin typeface="Calibri" panose="020F0502020204030204" charset="0"/>
                <a:cs typeface="Calibri" panose="020F0502020204030204" charset="0"/>
                <a:sym typeface="+mn-ea"/>
              </a:rPr>
              <a:t>analyze</a:t>
            </a:r>
            <a:r>
              <a:rPr lang="en-GB" sz="2200" dirty="0">
                <a:latin typeface="Calibri" panose="020F0502020204030204" charset="0"/>
                <a:cs typeface="Calibri" panose="020F0502020204030204" charset="0"/>
                <a:sym typeface="+mn-ea"/>
              </a:rPr>
              <a:t> incoming and outgoing packets based on specific rules.</a:t>
            </a:r>
            <a:endParaRPr lang="en-GB" sz="2200"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sz="2200" b="1" dirty="0">
                <a:latin typeface="Calibri" panose="020F0502020204030204" charset="0"/>
                <a:cs typeface="Calibri" panose="020F0502020204030204" charset="0"/>
                <a:sym typeface="+mn-ea"/>
              </a:rPr>
              <a:t>Access Control: </a:t>
            </a:r>
            <a:r>
              <a:rPr lang="en-GB" sz="2200" dirty="0">
                <a:latin typeface="Calibri" panose="020F0502020204030204" charset="0"/>
                <a:cs typeface="Calibri" panose="020F0502020204030204" charset="0"/>
                <a:sym typeface="+mn-ea"/>
              </a:rPr>
              <a:t>They enforce policies that determine which traffic can enter or exit the network.</a:t>
            </a:r>
            <a:endParaRPr lang="en-GB" sz="2200"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sz="2200" b="1" dirty="0">
                <a:latin typeface="Calibri" panose="020F0502020204030204" charset="0"/>
                <a:cs typeface="Calibri" panose="020F0502020204030204" charset="0"/>
                <a:sym typeface="+mn-ea"/>
              </a:rPr>
              <a:t>Monitoring and Logging: </a:t>
            </a:r>
            <a:r>
              <a:rPr lang="en-GB" sz="2200" dirty="0">
                <a:latin typeface="Calibri" panose="020F0502020204030204" charset="0"/>
                <a:cs typeface="Calibri" panose="020F0502020204030204" charset="0"/>
                <a:sym typeface="+mn-ea"/>
              </a:rPr>
              <a:t>Firewalls log traffic data, providing insights into potential threats.</a:t>
            </a:r>
            <a:endParaRPr lang="en-GB" sz="2200"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sz="2200" b="1" dirty="0">
                <a:latin typeface="Calibri" panose="020F0502020204030204" charset="0"/>
                <a:cs typeface="Calibri" panose="020F0502020204030204" charset="0"/>
                <a:sym typeface="+mn-ea"/>
              </a:rPr>
              <a:t>Threat Detection: </a:t>
            </a:r>
            <a:r>
              <a:rPr lang="en-GB" sz="2200" dirty="0">
                <a:latin typeface="Calibri" panose="020F0502020204030204" charset="0"/>
                <a:cs typeface="Calibri" panose="020F0502020204030204" charset="0"/>
                <a:sym typeface="+mn-ea"/>
              </a:rPr>
              <a:t>Advanced firewalls can identify and block malicious activity.</a:t>
            </a:r>
            <a:endParaRPr lang="en-GB" sz="2200" dirty="0">
              <a:latin typeface="Calibri" panose="020F0502020204030204" charset="0"/>
              <a:cs typeface="Calibri" panose="020F0502020204030204" charset="0"/>
            </a:endParaRPr>
          </a:p>
          <a:p>
            <a:pPr marL="0" lvl="0" indent="0" algn="just">
              <a:lnSpc>
                <a:spcPct val="110000"/>
              </a:lnSpc>
              <a:spcBef>
                <a:spcPts val="0"/>
              </a:spcBef>
              <a:buClr>
                <a:srgbClr val="000000"/>
              </a:buClr>
              <a:buSzTx/>
              <a:buNone/>
              <a:defRPr/>
            </a:pPr>
            <a:endParaRPr lang="en-GB" sz="2200" dirty="0">
              <a:latin typeface="Calibri" panose="020F0502020204030204" charset="0"/>
              <a:cs typeface="Calibri" panose="020F0502020204030204" charset="0"/>
            </a:endParaRPr>
          </a:p>
        </p:txBody>
      </p:sp>
      <p:sp>
        <p:nvSpPr>
          <p:cNvPr id="120" name="Google Shape;120;p3"/>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FIREWALL</a:t>
            </a:r>
            <a:endParaRPr b="1" dirty="0">
              <a:latin typeface="Arial"/>
              <a:ea typeface="Arial"/>
              <a:cs typeface="Arial"/>
              <a:sym typeface="Arial"/>
            </a:endParaRPr>
          </a:p>
        </p:txBody>
      </p:sp>
      <p:sp>
        <p:nvSpPr>
          <p:cNvPr id="121" name="Google Shape;121;p3"/>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mj-lt"/>
              </a:rPr>
              <a:t>TYPES OF FIREWALLS</a:t>
            </a:r>
          </a:p>
        </p:txBody>
      </p:sp>
      <p:sp>
        <p:nvSpPr>
          <p:cNvPr id="4" name="Slide Number Placeholder 3"/>
          <p:cNvSpPr>
            <a:spLocks noGrp="1"/>
          </p:cNvSpPr>
          <p:nvPr>
            <p:ph type="sldNum" sz="quarter" idx="12"/>
          </p:nvPr>
        </p:nvSpPr>
        <p:spPr/>
        <p:txBody>
          <a:bodyPr/>
          <a:lstStyle/>
          <a:p>
            <a:fld id="{02C84146-E65B-4948-A521-8AE14AC02658}" type="slidenum">
              <a:rPr lang="en-US" smtClean="0"/>
              <a:t>5</a:t>
            </a:fld>
            <a:endParaRPr lang="en-US"/>
          </a:p>
        </p:txBody>
      </p:sp>
      <p:sp>
        <p:nvSpPr>
          <p:cNvPr id="6" name="Text Placeholder 5">
            <a:extLst>
              <a:ext uri="{FF2B5EF4-FFF2-40B4-BE49-F238E27FC236}">
                <a16:creationId xmlns:a16="http://schemas.microsoft.com/office/drawing/2014/main" id="{2B116F03-0339-C975-40AB-0C5C14BFC24D}"/>
              </a:ext>
            </a:extLst>
          </p:cNvPr>
          <p:cNvSpPr>
            <a:spLocks noGrp="1"/>
          </p:cNvSpPr>
          <p:nvPr>
            <p:ph type="body" idx="1"/>
          </p:nvPr>
        </p:nvSpPr>
        <p:spPr/>
        <p:txBody>
          <a:bodyPr/>
          <a:lstStyle/>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Firewalls can be classified into various types based on their operational characteristics. The primary types we will discuss are:</a:t>
            </a:r>
            <a:endParaRPr lang="en-GB" b="1"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mj-lt"/>
              <a:buAutoNum type="arabicPeriod"/>
              <a:defRPr/>
            </a:pPr>
            <a:r>
              <a:rPr lang="en-GB" dirty="0">
                <a:latin typeface="Calibri" panose="020F0502020204030204" charset="0"/>
                <a:cs typeface="Calibri" panose="020F0502020204030204" charset="0"/>
                <a:sym typeface="+mn-ea"/>
              </a:rPr>
              <a:t>Stateful Firewall</a:t>
            </a:r>
            <a:endParaRPr lang="en-GB"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mj-lt"/>
              <a:buAutoNum type="arabicPeriod"/>
              <a:defRPr/>
            </a:pPr>
            <a:r>
              <a:rPr lang="en-GB" dirty="0">
                <a:latin typeface="Calibri" panose="020F0502020204030204" charset="0"/>
                <a:cs typeface="Calibri" panose="020F0502020204030204" charset="0"/>
                <a:sym typeface="+mn-ea"/>
              </a:rPr>
              <a:t>Stateless Firewall</a:t>
            </a:r>
            <a:endParaRPr lang="en-GB"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mj-lt"/>
              <a:buAutoNum type="arabicPeriod"/>
              <a:defRPr/>
            </a:pPr>
            <a:r>
              <a:rPr lang="en-GB" dirty="0">
                <a:latin typeface="Calibri" panose="020F0502020204030204" charset="0"/>
                <a:cs typeface="Calibri" panose="020F0502020204030204" charset="0"/>
                <a:sym typeface="+mn-ea"/>
              </a:rPr>
              <a:t>Packet Filtering Firewall</a:t>
            </a:r>
            <a:endParaRPr lang="en-GB"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mj-lt"/>
              <a:buAutoNum type="arabicPeriod"/>
              <a:defRPr/>
            </a:pPr>
            <a:r>
              <a:rPr lang="en-GB" dirty="0">
                <a:latin typeface="Calibri" panose="020F0502020204030204" charset="0"/>
                <a:cs typeface="Calibri" panose="020F0502020204030204" charset="0"/>
                <a:sym typeface="+mn-ea"/>
              </a:rPr>
              <a:t>Proxy Firewall</a:t>
            </a:r>
            <a:endParaRPr lang="en-US" dirty="0">
              <a:latin typeface="Calibri" panose="020F0502020204030204" charset="0"/>
              <a:cs typeface="Calibri" panose="020F0502020204030204" charset="0"/>
              <a:sym typeface="+mn-ea"/>
            </a:endParaRPr>
          </a:p>
          <a:p>
            <a:pPr marL="342900" lvl="0" algn="just">
              <a:lnSpc>
                <a:spcPct val="120000"/>
              </a:lnSpc>
              <a:spcBef>
                <a:spcPts val="0"/>
              </a:spcBef>
              <a:buClr>
                <a:srgbClr val="000000"/>
              </a:buClr>
              <a:buSzTx/>
              <a:buFont typeface="+mj-lt"/>
              <a:buAutoNum type="arabicPeriod"/>
              <a:defRPr/>
            </a:pPr>
            <a:r>
              <a:rPr lang="en-US" dirty="0">
                <a:latin typeface="Calibri" panose="020F0502020204030204" charset="0"/>
                <a:cs typeface="Calibri" panose="020F0502020204030204" charset="0"/>
                <a:sym typeface="+mn-ea"/>
              </a:rPr>
              <a:t>New Generation Firewall</a:t>
            </a:r>
            <a:endParaRPr lang="en-GB" dirty="0">
              <a:latin typeface="Calibri" panose="020F0502020204030204" charset="0"/>
              <a:cs typeface="Calibri" panose="020F050202020403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42900" lvl="0" algn="just">
              <a:lnSpc>
                <a:spcPct val="120000"/>
              </a:lnSpc>
              <a:spcBef>
                <a:spcPts val="0"/>
              </a:spcBef>
              <a:buClr>
                <a:srgbClr val="000000"/>
              </a:buClr>
              <a:buSzTx/>
              <a:buFont typeface="Arial" panose="020B0604020202020204" pitchFamily="34" charset="0"/>
              <a:buChar char="•"/>
              <a:defRPr/>
            </a:pPr>
            <a:r>
              <a:rPr lang="en-GB" dirty="0">
                <a:latin typeface="Calibri" panose="020F0502020204030204" charset="0"/>
                <a:cs typeface="Calibri" panose="020F0502020204030204" charset="0"/>
                <a:sym typeface="+mn-ea"/>
              </a:rPr>
              <a:t>A </a:t>
            </a:r>
            <a:r>
              <a:rPr lang="en-GB" b="1" dirty="0">
                <a:latin typeface="Calibri" panose="020F0502020204030204" charset="0"/>
                <a:cs typeface="Calibri" panose="020F0502020204030204" charset="0"/>
                <a:sym typeface="+mn-ea"/>
              </a:rPr>
              <a:t>stateful firewall</a:t>
            </a:r>
            <a:r>
              <a:rPr lang="en-GB" dirty="0">
                <a:latin typeface="Calibri" panose="020F0502020204030204" charset="0"/>
                <a:cs typeface="Calibri" panose="020F0502020204030204" charset="0"/>
                <a:sym typeface="+mn-ea"/>
              </a:rPr>
              <a:t> tracks the state of active connections and makes decisions based on the context of the traffic, maintaining a table of active sessions.</a:t>
            </a:r>
            <a:endParaRPr lang="en-GB" b="1"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It Works:</a:t>
            </a:r>
            <a:endParaRPr lang="en-GB" b="1"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Connection Tracking: </a:t>
            </a:r>
            <a:r>
              <a:rPr lang="en-GB" dirty="0">
                <a:latin typeface="Calibri" panose="020F0502020204030204" charset="0"/>
                <a:cs typeface="Calibri" panose="020F0502020204030204" charset="0"/>
                <a:sym typeface="+mn-ea"/>
              </a:rPr>
              <a:t>Stateful firewalls maintain a state table that stores information about active connections. This means they can determine whether an incoming packet is part of an established session or a new connection.</a:t>
            </a:r>
            <a:endParaRPr lang="en-GB"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Dynamic Rules: </a:t>
            </a:r>
            <a:r>
              <a:rPr lang="en-GB" dirty="0">
                <a:latin typeface="Calibri" panose="020F0502020204030204" charset="0"/>
                <a:cs typeface="Calibri" panose="020F0502020204030204" charset="0"/>
                <a:sym typeface="+mn-ea"/>
              </a:rPr>
              <a:t>When a connection is established, the firewall creates rules dynamically to allow returning traffic. This provides enhanced security since it understands the context of the data packets.</a:t>
            </a:r>
            <a:endParaRPr lang="en-GB"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STATEFUL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mj-lt"/>
                <a:sym typeface="+mn-ea"/>
              </a:rPr>
              <a:t>STATEFUL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7</a:t>
            </a:fld>
            <a:endParaRPr lang="en-US"/>
          </a:p>
        </p:txBody>
      </p:sp>
      <p:sp>
        <p:nvSpPr>
          <p:cNvPr id="6" name="Text Placeholder 5">
            <a:extLst>
              <a:ext uri="{FF2B5EF4-FFF2-40B4-BE49-F238E27FC236}">
                <a16:creationId xmlns:a16="http://schemas.microsoft.com/office/drawing/2014/main" id="{F69A103A-7D75-B371-758B-96A3F32B17C5}"/>
              </a:ext>
            </a:extLst>
          </p:cNvPr>
          <p:cNvSpPr>
            <a:spLocks noGrp="1"/>
          </p:cNvSpPr>
          <p:nvPr>
            <p:ph type="body" idx="1"/>
          </p:nvPr>
        </p:nvSpPr>
        <p:spPr/>
        <p:txBody>
          <a:bodyPr>
            <a:normAutofit fontScale="92500"/>
          </a:bodyPr>
          <a:lstStyle/>
          <a:p>
            <a:pPr marL="342900" lvl="0" algn="just">
              <a:lnSpc>
                <a:spcPct val="11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a:t>
            </a:r>
            <a:endParaRPr lang="en-GB" b="1"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Improved Security: </a:t>
            </a:r>
            <a:r>
              <a:rPr lang="en-GB" dirty="0">
                <a:latin typeface="Calibri" panose="020F0502020204030204" charset="0"/>
                <a:cs typeface="Calibri" panose="020F0502020204030204" charset="0"/>
                <a:sym typeface="+mn-ea"/>
              </a:rPr>
              <a:t>By keeping track of active sessions, stateful firewalls can identify legitimate traffic more effectively than stateless ones.</a:t>
            </a:r>
            <a:endParaRPr lang="en-GB"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Efficiency: </a:t>
            </a:r>
            <a:r>
              <a:rPr lang="en-GB" dirty="0">
                <a:latin typeface="Calibri" panose="020F0502020204030204" charset="0"/>
                <a:cs typeface="Calibri" panose="020F0502020204030204" charset="0"/>
                <a:sym typeface="+mn-ea"/>
              </a:rPr>
              <a:t>They require fewer rules for tracking connections, which can lead to faster processing of packets.</a:t>
            </a:r>
            <a:endParaRPr lang="en-GB"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endParaRPr lang="en-GB"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a:t>
            </a:r>
            <a:endParaRPr lang="en-GB" b="1"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Resource Intensive: </a:t>
            </a:r>
            <a:r>
              <a:rPr lang="en-GB" dirty="0">
                <a:latin typeface="Calibri" panose="020F0502020204030204" charset="0"/>
                <a:cs typeface="Calibri" panose="020F0502020204030204" charset="0"/>
                <a:sym typeface="+mn-ea"/>
              </a:rPr>
              <a:t>Stateful firewalls consume more resources (memory and processing power) since they keep track of active sessions.</a:t>
            </a:r>
            <a:endParaRPr lang="en-GB" dirty="0">
              <a:latin typeface="Calibri" panose="020F0502020204030204" charset="0"/>
              <a:cs typeface="Calibri" panose="020F0502020204030204" charset="0"/>
            </a:endParaRPr>
          </a:p>
          <a:p>
            <a:pPr marL="285750" lvl="0" indent="-285750" algn="just">
              <a:lnSpc>
                <a:spcPct val="11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Complexity: </a:t>
            </a:r>
            <a:r>
              <a:rPr lang="en-GB" dirty="0">
                <a:latin typeface="Calibri" panose="020F0502020204030204" charset="0"/>
                <a:cs typeface="Calibri" panose="020F0502020204030204" charset="0"/>
                <a:sym typeface="+mn-ea"/>
              </a:rPr>
              <a:t>They can be more complex to configure compared to stateless firewalls.</a:t>
            </a:r>
            <a:endParaRPr lang="en-US" dirty="0">
              <a:latin typeface="Calibri" panose="020F0502020204030204" charset="0"/>
              <a:cs typeface="Calibri" panose="020F0502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mj-lt"/>
              </a:rPr>
              <a:t>STATEFUL FIREWALL</a:t>
            </a:r>
          </a:p>
        </p:txBody>
      </p:sp>
      <p:sp>
        <p:nvSpPr>
          <p:cNvPr id="4" name="Slide Number Placeholder 3"/>
          <p:cNvSpPr>
            <a:spLocks noGrp="1"/>
          </p:cNvSpPr>
          <p:nvPr>
            <p:ph type="sldNum" sz="quarter" idx="12"/>
          </p:nvPr>
        </p:nvSpPr>
        <p:spPr/>
        <p:txBody>
          <a:bodyPr/>
          <a:lstStyle/>
          <a:p>
            <a:fld id="{02C84146-E65B-4948-A521-8AE14AC02658}" type="slidenum">
              <a:rPr lang="en-US" smtClean="0"/>
              <a:t>8</a:t>
            </a:fld>
            <a:endParaRPr lang="en-US"/>
          </a:p>
        </p:txBody>
      </p:sp>
      <p:pic>
        <p:nvPicPr>
          <p:cNvPr id="5" name="Picture 4" descr="Packet Filtering Firewall - an overview | ScienceDirect Topics">
            <a:extLst>
              <a:ext uri="{FF2B5EF4-FFF2-40B4-BE49-F238E27FC236}">
                <a16:creationId xmlns:a16="http://schemas.microsoft.com/office/drawing/2014/main" id="{4B3C3248-0850-AFC8-CEDF-E648CDF27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3202" y="1960887"/>
            <a:ext cx="9205595" cy="3520440"/>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Stateless firewalls </a:t>
            </a:r>
            <a:r>
              <a:rPr lang="en-GB" dirty="0">
                <a:latin typeface="Calibri" panose="020F0502020204030204" charset="0"/>
                <a:cs typeface="Calibri" panose="020F0502020204030204" charset="0"/>
                <a:sym typeface="+mn-ea"/>
              </a:rPr>
              <a:t>operate without maintaining a connection state, filtering packets solely based on predetermined rules.</a:t>
            </a:r>
            <a:endParaRPr lang="en-GB"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It Works:</a:t>
            </a:r>
            <a:endParaRPr lang="en-GB" b="1"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Rule-Based Filtering: </a:t>
            </a:r>
            <a:r>
              <a:rPr lang="en-GB" dirty="0">
                <a:latin typeface="Calibri" panose="020F0502020204030204" charset="0"/>
                <a:cs typeface="Calibri" panose="020F0502020204030204" charset="0"/>
                <a:sym typeface="+mn-ea"/>
              </a:rPr>
              <a:t>Each packet is evaluated against a set of rules. If it matches any rule, it is either allowed or denied without regard for any previous packets.</a:t>
            </a:r>
            <a:endParaRPr lang="en-GB"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No Context Awareness: </a:t>
            </a:r>
            <a:r>
              <a:rPr lang="en-GB" dirty="0">
                <a:latin typeface="Calibri" panose="020F0502020204030204" charset="0"/>
                <a:cs typeface="Calibri" panose="020F0502020204030204" charset="0"/>
                <a:sym typeface="+mn-ea"/>
              </a:rPr>
              <a:t>Stateless firewalls do not keep track of traffic sessions, treating each packet in isolation.</a:t>
            </a:r>
            <a:endParaRPr lang="en-US"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STATELESS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latin typeface="+mj-lt"/>
                <a:sym typeface="+mn-ea"/>
              </a:rPr>
              <a:t>STATELESS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10</a:t>
            </a:fld>
            <a:endParaRPr lang="en-US"/>
          </a:p>
        </p:txBody>
      </p:sp>
      <p:sp>
        <p:nvSpPr>
          <p:cNvPr id="6" name="Text Placeholder 5">
            <a:extLst>
              <a:ext uri="{FF2B5EF4-FFF2-40B4-BE49-F238E27FC236}">
                <a16:creationId xmlns:a16="http://schemas.microsoft.com/office/drawing/2014/main" id="{98F1B608-A8E9-0AB4-9397-80A4AA074DDF}"/>
              </a:ext>
            </a:extLst>
          </p:cNvPr>
          <p:cNvSpPr>
            <a:spLocks noGrp="1"/>
          </p:cNvSpPr>
          <p:nvPr>
            <p:ph type="body" idx="1"/>
          </p:nvPr>
        </p:nvSpPr>
        <p:spPr/>
        <p:txBody>
          <a:bodyPr>
            <a:normAutofit fontScale="92500" lnSpcReduction="20000"/>
          </a:bodyPr>
          <a:lstStyle/>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a:t>
            </a:r>
            <a:endParaRPr lang="en-GB" b="1"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Simplicity: </a:t>
            </a:r>
            <a:r>
              <a:rPr lang="en-GB" dirty="0">
                <a:latin typeface="Calibri" panose="020F0502020204030204" charset="0"/>
                <a:cs typeface="Calibri" panose="020F0502020204030204" charset="0"/>
                <a:sym typeface="+mn-ea"/>
              </a:rPr>
              <a:t>Easier to configure and manage due to the lack of session tracking.</a:t>
            </a:r>
            <a:endParaRPr lang="en-GB"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Performance: </a:t>
            </a:r>
            <a:r>
              <a:rPr lang="en-GB" dirty="0">
                <a:latin typeface="Calibri" panose="020F0502020204030204" charset="0"/>
                <a:cs typeface="Calibri" panose="020F0502020204030204" charset="0"/>
                <a:sym typeface="+mn-ea"/>
              </a:rPr>
              <a:t>Generally faster and less resource-intensive since they do not maintain a state table.</a:t>
            </a:r>
            <a:endParaRPr lang="en-GB"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342900" lvl="0" algn="just">
              <a:lnSpc>
                <a:spcPct val="120000"/>
              </a:lnSpc>
              <a:spcBef>
                <a:spcPts val="0"/>
              </a:spcBef>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a:t>
            </a:r>
            <a:endParaRPr lang="en-GB" b="1"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Lower Security: </a:t>
            </a:r>
            <a:r>
              <a:rPr lang="en-GB" dirty="0">
                <a:latin typeface="Calibri" panose="020F0502020204030204" charset="0"/>
                <a:cs typeface="Calibri" panose="020F0502020204030204" charset="0"/>
                <a:sym typeface="+mn-ea"/>
              </a:rPr>
              <a:t>Stateless firewalls are less secure than stateful firewalls because they lack the context of active connections, making it easier for malicious packets to bypass security measures.</a:t>
            </a:r>
            <a:endParaRPr lang="en-GB" dirty="0">
              <a:latin typeface="Calibri" panose="020F0502020204030204" charset="0"/>
              <a:cs typeface="Calibri" panose="020F0502020204030204" charset="0"/>
            </a:endParaRPr>
          </a:p>
          <a:p>
            <a:pPr marL="285750" lvl="0" indent="-285750" algn="just">
              <a:lnSpc>
                <a:spcPct val="120000"/>
              </a:lnSpc>
              <a:spcBef>
                <a:spcPts val="0"/>
              </a:spcBef>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Limited Functionality: </a:t>
            </a:r>
            <a:r>
              <a:rPr lang="en-GB" dirty="0">
                <a:latin typeface="Calibri" panose="020F0502020204030204" charset="0"/>
                <a:cs typeface="Calibri" panose="020F0502020204030204" charset="0"/>
                <a:sym typeface="+mn-ea"/>
              </a:rPr>
              <a:t>They cannot track or make decisions based on the context of network traffic.</a:t>
            </a:r>
            <a:endParaRPr lang="en-GB" dirty="0">
              <a:latin typeface="Calibri" panose="020F0502020204030204" charset="0"/>
              <a:cs typeface="Calibri" panose="020F05020202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35380" y="1141095"/>
            <a:ext cx="9921875" cy="4576445"/>
          </a:xfrm>
          <a:prstGeom prst="rect">
            <a:avLst/>
          </a:prstGeom>
        </p:spPr>
      </p:pic>
      <p:sp>
        <p:nvSpPr>
          <p:cNvPr id="3" name="Title 2"/>
          <p:cNvSpPr>
            <a:spLocks noGrp="1"/>
          </p:cNvSpPr>
          <p:nvPr>
            <p:ph type="title"/>
          </p:nvPr>
        </p:nvSpPr>
        <p:spPr/>
        <p:txBody>
          <a:bodyPr/>
          <a:lstStyle/>
          <a:p>
            <a:pPr algn="ctr"/>
            <a:r>
              <a:rPr lang="en-US" b="1" dirty="0">
                <a:latin typeface="+mj-lt"/>
                <a:sym typeface="+mn-ea"/>
              </a:rPr>
              <a:t>STATELESS FIREWALLS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3369310" y="1064260"/>
            <a:ext cx="5117465" cy="5280660"/>
          </a:xfrm>
          <a:prstGeom prst="rect">
            <a:avLst/>
          </a:prstGeom>
        </p:spPr>
      </p:pic>
      <p:sp>
        <p:nvSpPr>
          <p:cNvPr id="3" name="Title 2"/>
          <p:cNvSpPr>
            <a:spLocks noGrp="1"/>
          </p:cNvSpPr>
          <p:nvPr>
            <p:ph type="title"/>
          </p:nvPr>
        </p:nvSpPr>
        <p:spPr/>
        <p:txBody>
          <a:bodyPr>
            <a:normAutofit fontScale="90000"/>
          </a:bodyPr>
          <a:lstStyle/>
          <a:p>
            <a:pPr algn="ctr"/>
            <a:r>
              <a:rPr lang="en-US" b="1" dirty="0">
                <a:latin typeface="+mj-lt"/>
              </a:rPr>
              <a:t>DIFFERENCE BETWEEN STATEFUL &amp; STATELESS</a:t>
            </a:r>
          </a:p>
        </p:txBody>
      </p:sp>
      <p:sp>
        <p:nvSpPr>
          <p:cNvPr id="4" name="Slide Number Placeholder 3"/>
          <p:cNvSpPr>
            <a:spLocks noGrp="1"/>
          </p:cNvSpPr>
          <p:nvPr>
            <p:ph type="sldNum" sz="quarter" idx="12"/>
          </p:nvPr>
        </p:nvSpPr>
        <p:spPr/>
        <p:txBody>
          <a:bodyPr/>
          <a:lstStyle/>
          <a:p>
            <a:fld id="{02C84146-E65B-4948-A521-8AE14AC02658}"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Packet filtering </a:t>
            </a:r>
            <a:r>
              <a:rPr lang="en-GB" dirty="0">
                <a:latin typeface="Calibri" panose="020F0502020204030204" charset="0"/>
                <a:cs typeface="Calibri" panose="020F0502020204030204" charset="0"/>
                <a:sym typeface="+mn-ea"/>
              </a:rPr>
              <a:t>firewalls inspect packets and allow or block them based on source and destination IP addresses, port numbers, and protocols.</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It Works: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Header Inspection: </a:t>
            </a:r>
            <a:r>
              <a:rPr lang="en-GB" dirty="0">
                <a:latin typeface="Calibri" panose="020F0502020204030204" charset="0"/>
                <a:cs typeface="Calibri" panose="020F0502020204030204" charset="0"/>
                <a:sym typeface="+mn-ea"/>
              </a:rPr>
              <a:t>These firewalls examine packet headers for information such as IP addresses and port numbers.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Decision Making: </a:t>
            </a:r>
            <a:r>
              <a:rPr lang="en-GB" dirty="0">
                <a:latin typeface="Calibri" panose="020F0502020204030204" charset="0"/>
                <a:cs typeface="Calibri" panose="020F0502020204030204" charset="0"/>
                <a:sym typeface="+mn-ea"/>
              </a:rPr>
              <a:t>Based on predefined rules, the firewall will either allow or deny the packet passage. Rules can be based on protocols like TCP, UDP, or ICMP.</a:t>
            </a:r>
            <a:endParaRPr lang="en-US"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PACKET FILTERING FIREWALL</a:t>
            </a:r>
          </a:p>
        </p:txBody>
      </p:sp>
      <p:sp>
        <p:nvSpPr>
          <p:cNvPr id="4" name="Slide Number Placeholder 3"/>
          <p:cNvSpPr>
            <a:spLocks noGrp="1"/>
          </p:cNvSpPr>
          <p:nvPr>
            <p:ph type="sldNum" sz="quarter" idx="12"/>
          </p:nvPr>
        </p:nvSpPr>
        <p:spPr/>
        <p:txBody>
          <a:bodyPr/>
          <a:lstStyle/>
          <a:p>
            <a:fld id="{02C84146-E65B-4948-A521-8AE14AC02658}"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2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Speed: </a:t>
            </a:r>
            <a:r>
              <a:rPr lang="en-GB" dirty="0">
                <a:latin typeface="Calibri" panose="020F0502020204030204" charset="0"/>
                <a:cs typeface="Calibri" panose="020F0502020204030204" charset="0"/>
                <a:sym typeface="+mn-ea"/>
              </a:rPr>
              <a:t>Packet filtering is usually fast since it operates at a low level and doesn’t require extensive processing.</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Resource Efficiency: </a:t>
            </a:r>
            <a:r>
              <a:rPr lang="en-GB" dirty="0">
                <a:latin typeface="Calibri" panose="020F0502020204030204" charset="0"/>
                <a:cs typeface="Calibri" panose="020F0502020204030204" charset="0"/>
                <a:sym typeface="+mn-ea"/>
              </a:rPr>
              <a:t>They consume fewer resources compared to stateful firewalls since they don’t track sessions.</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Limited Insight: </a:t>
            </a:r>
            <a:r>
              <a:rPr lang="en-GB" dirty="0">
                <a:latin typeface="Calibri" panose="020F0502020204030204" charset="0"/>
                <a:cs typeface="Calibri" panose="020F0502020204030204" charset="0"/>
                <a:sym typeface="+mn-ea"/>
              </a:rPr>
              <a:t>Packet filtering does not </a:t>
            </a:r>
            <a:r>
              <a:rPr lang="en-GB" dirty="0" err="1">
                <a:latin typeface="Calibri" panose="020F0502020204030204" charset="0"/>
                <a:cs typeface="Calibri" panose="020F0502020204030204" charset="0"/>
                <a:sym typeface="+mn-ea"/>
              </a:rPr>
              <a:t>analyze</a:t>
            </a:r>
            <a:r>
              <a:rPr lang="en-GB" dirty="0">
                <a:latin typeface="Calibri" panose="020F0502020204030204" charset="0"/>
                <a:cs typeface="Calibri" panose="020F0502020204030204" charset="0"/>
                <a:sym typeface="+mn-ea"/>
              </a:rPr>
              <a:t> the content of the packets, making it less effective against certain types of attacks (e.g., application-layer attacks).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Less Granular Control: </a:t>
            </a:r>
            <a:r>
              <a:rPr lang="en-GB" dirty="0">
                <a:latin typeface="Calibri" panose="020F0502020204030204" charset="0"/>
                <a:cs typeface="Calibri" panose="020F0502020204030204" charset="0"/>
                <a:sym typeface="+mn-ea"/>
              </a:rPr>
              <a:t>More difficult to implement sophisticated filtering policies compared to stateful firewalls.</a:t>
            </a:r>
            <a:endParaRPr lang="en-US"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PACKET FILTERING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122805" y="1444625"/>
            <a:ext cx="7947025" cy="4552950"/>
          </a:xfrm>
          <a:prstGeom prst="rect">
            <a:avLst/>
          </a:prstGeom>
        </p:spPr>
      </p:pic>
      <p:sp>
        <p:nvSpPr>
          <p:cNvPr id="3" name="Title 2"/>
          <p:cNvSpPr>
            <a:spLocks noGrp="1"/>
          </p:cNvSpPr>
          <p:nvPr>
            <p:ph type="title"/>
          </p:nvPr>
        </p:nvSpPr>
        <p:spPr/>
        <p:txBody>
          <a:bodyPr/>
          <a:lstStyle/>
          <a:p>
            <a:pPr algn="ctr"/>
            <a:r>
              <a:rPr lang="en-US" b="1" dirty="0">
                <a:latin typeface="+mj-lt"/>
                <a:sym typeface="+mn-ea"/>
              </a:rPr>
              <a:t>PACKET FILTERING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342900" marR="0" lvl="0" indent="-34290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Proxy firewalls </a:t>
            </a:r>
            <a:r>
              <a:rPr lang="en-GB" dirty="0">
                <a:latin typeface="Calibri" panose="020F0502020204030204" charset="0"/>
                <a:cs typeface="Calibri" panose="020F0502020204030204" charset="0"/>
                <a:sym typeface="+mn-ea"/>
              </a:rPr>
              <a:t>act as intermediaries between a client and a server, intercepts all incoming and outgoing traffic and breaks the direct connection between the client and the outside internet (server). Instead of letting the packets pass straight through, the proxy firewall reads the application data, evaluates the request and creates a brand-new connection to fetch the data.</a:t>
            </a:r>
            <a:endParaRPr lang="en-GB" dirty="0">
              <a:latin typeface="Calibri" panose="020F0502020204030204" charset="0"/>
              <a:cs typeface="Calibri" panose="020F0502020204030204" charset="0"/>
            </a:endParaRPr>
          </a:p>
          <a:p>
            <a:pPr marL="342900" marR="0" lvl="0" indent="-34290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It Works: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Traffic Interception: </a:t>
            </a:r>
            <a:r>
              <a:rPr lang="en-GB" dirty="0">
                <a:latin typeface="Calibri" panose="020F0502020204030204" charset="0"/>
                <a:cs typeface="Calibri" panose="020F0502020204030204" charset="0"/>
                <a:sym typeface="+mn-ea"/>
              </a:rPr>
              <a:t>When a user makes a request, the proxy firewall intercepts it, forwards it to the destination, and then returns the response to the user. This adds a layer of anonymity and security.</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Content Filtering: </a:t>
            </a:r>
            <a:r>
              <a:rPr lang="en-GB" dirty="0">
                <a:latin typeface="Calibri" panose="020F0502020204030204" charset="0"/>
                <a:cs typeface="Calibri" panose="020F0502020204030204" charset="0"/>
                <a:sym typeface="+mn-ea"/>
              </a:rPr>
              <a:t>Proxy firewalls can inspect the content of packets, allowing for more thorough filtering based on application-level data.</a:t>
            </a:r>
            <a:endParaRPr lang="en-US" dirty="0">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PROXY FIREWALL</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marR="0" lvl="0" indent="-34290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Enhanced Security: </a:t>
            </a:r>
            <a:r>
              <a:rPr lang="en-GB" dirty="0">
                <a:latin typeface="Calibri" panose="020F0502020204030204" charset="0"/>
                <a:cs typeface="Calibri" panose="020F0502020204030204" charset="0"/>
                <a:sym typeface="+mn-ea"/>
              </a:rPr>
              <a:t>By hiding internal IP addresses, proxy firewalls provide a higher level of security against external attacks.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Content Filtering: </a:t>
            </a:r>
            <a:r>
              <a:rPr lang="en-GB" dirty="0">
                <a:latin typeface="Calibri" panose="020F0502020204030204" charset="0"/>
                <a:cs typeface="Calibri" panose="020F0502020204030204" charset="0"/>
                <a:sym typeface="+mn-ea"/>
              </a:rPr>
              <a:t>They can block malicious content or applications, protecting users from threats.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Performance Overhead: </a:t>
            </a:r>
            <a:r>
              <a:rPr lang="en-GB" dirty="0">
                <a:latin typeface="Calibri" panose="020F0502020204030204" charset="0"/>
                <a:cs typeface="Calibri" panose="020F0502020204030204" charset="0"/>
                <a:sym typeface="+mn-ea"/>
              </a:rPr>
              <a:t>Acting as an intermediary can introduce latency, as every request and response must pass through the firewall.</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Complex Configuration: </a:t>
            </a:r>
            <a:r>
              <a:rPr lang="en-GB" dirty="0">
                <a:latin typeface="Calibri" panose="020F0502020204030204" charset="0"/>
                <a:cs typeface="Calibri" panose="020F0502020204030204" charset="0"/>
                <a:sym typeface="+mn-ea"/>
              </a:rPr>
              <a:t>Setting up proxy firewalls can be more complicated than other types of firewalls.</a:t>
            </a:r>
            <a:endParaRPr lang="en-GB" dirty="0">
              <a:latin typeface="Calibri" panose="020F0502020204030204" charset="0"/>
              <a:cs typeface="Calibri" panose="020F0502020204030204" charset="0"/>
            </a:endParaRPr>
          </a:p>
          <a:p>
            <a:pPr>
              <a:lnSpc>
                <a:spcPct val="10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PROXY FIREWALL</a:t>
            </a:r>
          </a:p>
        </p:txBody>
      </p:sp>
      <p:sp>
        <p:nvSpPr>
          <p:cNvPr id="4" name="Slide Number Placeholder 3"/>
          <p:cNvSpPr>
            <a:spLocks noGrp="1"/>
          </p:cNvSpPr>
          <p:nvPr>
            <p:ph type="sldNum" sz="quarter" idx="12"/>
          </p:nvPr>
        </p:nvSpPr>
        <p:spPr/>
        <p:txBody>
          <a:bodyPr/>
          <a:lstStyle/>
          <a:p>
            <a:fld id="{02C84146-E65B-4948-A521-8AE14AC02658}"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7E84A6BD-090D-F180-E120-1001CE5F7095}"/>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4A321F12-3DE4-1248-9A1C-F1D56F02F430}"/>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 next-generation firewall (NGFW) is a security appliance that processes network traffic and applies rules to block potentially dangerous traffic. NGFWs evolve and expand upon the capabilities of traditional firewalls. They do all that firewalls do, but more powerfully and with additional features.</a:t>
            </a:r>
          </a:p>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An ordinary firewall is like: it blocks or allows data based on where it is going, whether or not it is part of a legitimate network connection, and where it comes from. An NGFW is more like: it inspects data on a deeper level to identify and block threats that may be hidden in normal-seeming traffic.</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1469626A-EF4B-C634-41FB-53C5909B87E4}"/>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NEXT GENERATION FIREWALL</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9999E469-D619-F6FD-3EAE-67990CE46AD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19826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DE6FCD70-C2FC-7D9F-655C-6E807D34B38B}"/>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8BB8F0E3-EF46-706F-6468-0561D1A497FF}"/>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NGFWs can do everything that regular firewalls can do. This includes:</a:t>
            </a:r>
          </a:p>
          <a:p>
            <a:pPr lvl="0" algn="just"/>
            <a:r>
              <a:rPr lang="en-IN" b="1" dirty="0">
                <a:latin typeface="Calibri" panose="020F0502020204030204" pitchFamily="34" charset="0"/>
                <a:ea typeface="Calibri" panose="020F0502020204030204" pitchFamily="34" charset="0"/>
                <a:cs typeface="Calibri" panose="020F0502020204030204" pitchFamily="34" charset="0"/>
              </a:rPr>
              <a:t>Packet filtering: </a:t>
            </a:r>
            <a:r>
              <a:rPr lang="en-IN" dirty="0">
                <a:latin typeface="Calibri" panose="020F0502020204030204" pitchFamily="34" charset="0"/>
                <a:ea typeface="Calibri" panose="020F0502020204030204" pitchFamily="34" charset="0"/>
                <a:cs typeface="Calibri" panose="020F0502020204030204" pitchFamily="34" charset="0"/>
              </a:rPr>
              <a:t>Inspecting each individual packet of data and blocking dangerous or unexpected packets. Packet filtering is explained more below.</a:t>
            </a:r>
          </a:p>
          <a:p>
            <a:pPr lvl="0" algn="just"/>
            <a:r>
              <a:rPr lang="en-IN" b="1" dirty="0">
                <a:latin typeface="Calibri" panose="020F0502020204030204" pitchFamily="34" charset="0"/>
                <a:ea typeface="Calibri" panose="020F0502020204030204" pitchFamily="34" charset="0"/>
                <a:cs typeface="Calibri" panose="020F0502020204030204" pitchFamily="34" charset="0"/>
              </a:rPr>
              <a:t>Stateful inspection: </a:t>
            </a:r>
            <a:r>
              <a:rPr lang="en-IN" dirty="0">
                <a:latin typeface="Calibri" panose="020F0502020204030204" pitchFamily="34" charset="0"/>
                <a:ea typeface="Calibri" panose="020F0502020204030204" pitchFamily="34" charset="0"/>
                <a:cs typeface="Calibri" panose="020F0502020204030204" pitchFamily="34" charset="0"/>
              </a:rPr>
              <a:t>Looking at packets in context to make sure they are part of a legitimate network connection.</a:t>
            </a:r>
          </a:p>
          <a:p>
            <a:pPr lvl="0" algn="just"/>
            <a:r>
              <a:rPr lang="en-IN" b="1" dirty="0">
                <a:latin typeface="Calibri" panose="020F0502020204030204" pitchFamily="34" charset="0"/>
                <a:ea typeface="Calibri" panose="020F0502020204030204" pitchFamily="34" charset="0"/>
                <a:cs typeface="Calibri" panose="020F0502020204030204" pitchFamily="34" charset="0"/>
              </a:rPr>
              <a:t>VPN awareness: </a:t>
            </a:r>
            <a:r>
              <a:rPr lang="en-IN" dirty="0">
                <a:latin typeface="Calibri" panose="020F0502020204030204" pitchFamily="34" charset="0"/>
                <a:ea typeface="Calibri" panose="020F0502020204030204" pitchFamily="34" charset="0"/>
                <a:cs typeface="Calibri" panose="020F0502020204030204" pitchFamily="34" charset="0"/>
              </a:rPr>
              <a:t>Firewalls are able to identify encrypted VPN traffic and allow it through.</a:t>
            </a:r>
          </a:p>
          <a:p>
            <a:pPr marL="114300" indent="0" algn="just" fontAlgn="base">
              <a:lnSpc>
                <a:spcPct val="100000"/>
              </a:lnSpc>
              <a:buNone/>
            </a:pP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BECE0588-A95C-D695-4697-4803D8536AFF}"/>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NEXT GENERATION FIREWALL</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AA6D8899-B78E-62F7-5FD2-A34E411B91A4}"/>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431084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48528F0-2221-CA8A-BCDD-CC7356904493}"/>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24ECC217-BE2D-D848-973E-AEFE660FAB5C}"/>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a:buNone/>
            </a:pPr>
            <a:r>
              <a:rPr lang="en-IN" dirty="0">
                <a:latin typeface="Calibri" panose="020F0502020204030204" pitchFamily="34" charset="0"/>
                <a:ea typeface="Calibri" panose="020F0502020204030204" pitchFamily="34" charset="0"/>
                <a:cs typeface="Calibri" panose="020F0502020204030204" pitchFamily="34" charset="0"/>
              </a:rPr>
              <a:t>NGFWs also add several capabilities that older firewalls do not have. NGFWs use deep packet inspection (DPI) in addition to packet filtering. And according to Gartner, a global research and advisory firm, an NGFW includes:</a:t>
            </a:r>
          </a:p>
          <a:p>
            <a:pPr lvl="0" algn="just"/>
            <a:r>
              <a:rPr lang="en-IN" dirty="0">
                <a:latin typeface="Calibri" panose="020F0502020204030204" pitchFamily="34" charset="0"/>
                <a:ea typeface="Calibri" panose="020F0502020204030204" pitchFamily="34" charset="0"/>
                <a:cs typeface="Calibri" panose="020F0502020204030204" pitchFamily="34" charset="0"/>
              </a:rPr>
              <a:t>Application awareness and control</a:t>
            </a:r>
          </a:p>
          <a:p>
            <a:pPr lvl="0" algn="just"/>
            <a:r>
              <a:rPr lang="en-IN" dirty="0">
                <a:latin typeface="Calibri" panose="020F0502020204030204" pitchFamily="34" charset="0"/>
                <a:ea typeface="Calibri" panose="020F0502020204030204" pitchFamily="34" charset="0"/>
                <a:cs typeface="Calibri" panose="020F0502020204030204" pitchFamily="34" charset="0"/>
              </a:rPr>
              <a:t>Intrusion prevention</a:t>
            </a:r>
          </a:p>
          <a:p>
            <a:pPr lvl="0" algn="just"/>
            <a:r>
              <a:rPr lang="en-IN" dirty="0">
                <a:latin typeface="Calibri" panose="020F0502020204030204" pitchFamily="34" charset="0"/>
                <a:ea typeface="Calibri" panose="020F0502020204030204" pitchFamily="34" charset="0"/>
                <a:cs typeface="Calibri" panose="020F0502020204030204" pitchFamily="34" charset="0"/>
              </a:rPr>
              <a:t>Threat intelligence</a:t>
            </a:r>
          </a:p>
          <a:p>
            <a:pPr lvl="0" algn="just"/>
            <a:r>
              <a:rPr lang="en-IN" dirty="0">
                <a:latin typeface="Calibri" panose="020F0502020204030204" pitchFamily="34" charset="0"/>
                <a:ea typeface="Calibri" panose="020F0502020204030204" pitchFamily="34" charset="0"/>
                <a:cs typeface="Calibri" panose="020F0502020204030204" pitchFamily="34" charset="0"/>
              </a:rPr>
              <a:t>Paths for upgrading in order to add future information feeds</a:t>
            </a:r>
          </a:p>
          <a:p>
            <a:pPr lvl="0" algn="just"/>
            <a:r>
              <a:rPr lang="en-IN" dirty="0">
                <a:latin typeface="Calibri" panose="020F0502020204030204" pitchFamily="34" charset="0"/>
                <a:ea typeface="Calibri" panose="020F0502020204030204" pitchFamily="34" charset="0"/>
                <a:cs typeface="Calibri" panose="020F0502020204030204" pitchFamily="34" charset="0"/>
              </a:rPr>
              <a:t>Techniques to address evolving security threats</a:t>
            </a:r>
          </a:p>
        </p:txBody>
      </p:sp>
      <p:sp>
        <p:nvSpPr>
          <p:cNvPr id="120" name="Google Shape;120;p3">
            <a:extLst>
              <a:ext uri="{FF2B5EF4-FFF2-40B4-BE49-F238E27FC236}">
                <a16:creationId xmlns:a16="http://schemas.microsoft.com/office/drawing/2014/main" id="{4A6281EF-2F3C-7FBE-17F3-C8702AD71037}"/>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NEXT GENERATION FIREWALL</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6603DA35-61F1-C887-4172-5F3DF765B77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71380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B7D030BF-7F5E-80DB-14A9-D224D94840FB}"/>
            </a:ext>
          </a:extLst>
        </p:cNvPr>
        <p:cNvGrpSpPr/>
        <p:nvPr/>
      </p:nvGrpSpPr>
      <p:grpSpPr>
        <a:xfrm>
          <a:off x="0" y="0"/>
          <a:ext cx="0" cy="0"/>
          <a:chOff x="0" y="0"/>
          <a:chExt cx="0" cy="0"/>
        </a:xfrm>
      </p:grpSpPr>
      <p:sp>
        <p:nvSpPr>
          <p:cNvPr id="120" name="Google Shape;120;p3">
            <a:extLst>
              <a:ext uri="{FF2B5EF4-FFF2-40B4-BE49-F238E27FC236}">
                <a16:creationId xmlns:a16="http://schemas.microsoft.com/office/drawing/2014/main" id="{C12EB7F3-4BE3-2F8D-C6CD-0468349AF0C5}"/>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300" b="1" dirty="0">
                <a:latin typeface="Arial"/>
                <a:ea typeface="Arial"/>
                <a:cs typeface="Arial"/>
                <a:sym typeface="Arial"/>
              </a:rPr>
              <a:t>NEXT GENERATION v/s TRADITIONAL FIREWALL</a:t>
            </a:r>
            <a:endParaRPr sz="3300" b="1" dirty="0">
              <a:latin typeface="Arial"/>
              <a:ea typeface="Arial"/>
              <a:cs typeface="Arial"/>
              <a:sym typeface="Arial"/>
            </a:endParaRPr>
          </a:p>
        </p:txBody>
      </p:sp>
      <p:sp>
        <p:nvSpPr>
          <p:cNvPr id="121" name="Google Shape;121;p3">
            <a:extLst>
              <a:ext uri="{FF2B5EF4-FFF2-40B4-BE49-F238E27FC236}">
                <a16:creationId xmlns:a16="http://schemas.microsoft.com/office/drawing/2014/main" id="{0D00E4C8-3D93-4A36-5B02-2A8570CFD70D}"/>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pic>
        <p:nvPicPr>
          <p:cNvPr id="3" name="Picture 2">
            <a:extLst>
              <a:ext uri="{FF2B5EF4-FFF2-40B4-BE49-F238E27FC236}">
                <a16:creationId xmlns:a16="http://schemas.microsoft.com/office/drawing/2014/main" id="{9E5244B1-6D94-C95C-131F-1E69C72F5082}"/>
              </a:ext>
            </a:extLst>
          </p:cNvPr>
          <p:cNvPicPr>
            <a:picLocks noChangeAspect="1"/>
          </p:cNvPicPr>
          <p:nvPr/>
        </p:nvPicPr>
        <p:blipFill>
          <a:blip r:embed="rId3"/>
          <a:stretch>
            <a:fillRect/>
          </a:stretch>
        </p:blipFill>
        <p:spPr>
          <a:xfrm>
            <a:off x="1447799" y="1171757"/>
            <a:ext cx="9296402" cy="5040086"/>
          </a:xfrm>
          <a:prstGeom prst="rect">
            <a:avLst/>
          </a:prstGeom>
        </p:spPr>
      </p:pic>
    </p:spTree>
    <p:extLst>
      <p:ext uri="{BB962C8B-B14F-4D97-AF65-F5344CB8AC3E}">
        <p14:creationId xmlns:p14="http://schemas.microsoft.com/office/powerpoint/2010/main" val="1645525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8D691BB7-AD1E-84F6-F029-195D6D68E36D}"/>
            </a:ext>
          </a:extLst>
        </p:cNvPr>
        <p:cNvGrpSpPr/>
        <p:nvPr/>
      </p:nvGrpSpPr>
      <p:grpSpPr>
        <a:xfrm>
          <a:off x="0" y="0"/>
          <a:ext cx="0" cy="0"/>
          <a:chOff x="0" y="0"/>
          <a:chExt cx="0" cy="0"/>
        </a:xfrm>
      </p:grpSpPr>
      <p:sp>
        <p:nvSpPr>
          <p:cNvPr id="121" name="Google Shape;121;p3">
            <a:extLst>
              <a:ext uri="{FF2B5EF4-FFF2-40B4-BE49-F238E27FC236}">
                <a16:creationId xmlns:a16="http://schemas.microsoft.com/office/drawing/2014/main" id="{233B5ADF-95C1-9163-2651-48F934734130}"/>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2" name="Google Shape;120;p3">
            <a:extLst>
              <a:ext uri="{FF2B5EF4-FFF2-40B4-BE49-F238E27FC236}">
                <a16:creationId xmlns:a16="http://schemas.microsoft.com/office/drawing/2014/main" id="{D13CF304-43DF-DE03-85ED-CC33E1583229}"/>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300" b="1" dirty="0">
                <a:latin typeface="Arial"/>
                <a:ea typeface="Arial"/>
                <a:cs typeface="Arial"/>
                <a:sym typeface="Arial"/>
              </a:rPr>
              <a:t>NEXT GENERATION v/s TRADITIONAL FIREWALL</a:t>
            </a:r>
            <a:endParaRPr sz="3300" b="1" dirty="0">
              <a:latin typeface="Arial"/>
              <a:ea typeface="Arial"/>
              <a:cs typeface="Arial"/>
              <a:sym typeface="Arial"/>
            </a:endParaRPr>
          </a:p>
        </p:txBody>
      </p:sp>
      <p:pic>
        <p:nvPicPr>
          <p:cNvPr id="4" name="Picture 3">
            <a:extLst>
              <a:ext uri="{FF2B5EF4-FFF2-40B4-BE49-F238E27FC236}">
                <a16:creationId xmlns:a16="http://schemas.microsoft.com/office/drawing/2014/main" id="{486DAB86-F864-1310-B0E4-C8228CE87CE4}"/>
              </a:ext>
            </a:extLst>
          </p:cNvPr>
          <p:cNvPicPr>
            <a:picLocks noChangeAspect="1"/>
          </p:cNvPicPr>
          <p:nvPr/>
        </p:nvPicPr>
        <p:blipFill>
          <a:blip r:embed="rId3"/>
          <a:stretch>
            <a:fillRect/>
          </a:stretch>
        </p:blipFill>
        <p:spPr>
          <a:xfrm>
            <a:off x="1474089" y="1202431"/>
            <a:ext cx="9054909" cy="4978613"/>
          </a:xfrm>
          <a:prstGeom prst="rect">
            <a:avLst/>
          </a:prstGeom>
        </p:spPr>
      </p:pic>
    </p:spTree>
    <p:extLst>
      <p:ext uri="{BB962C8B-B14F-4D97-AF65-F5344CB8AC3E}">
        <p14:creationId xmlns:p14="http://schemas.microsoft.com/office/powerpoint/2010/main" val="3231040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90B57E8E-C40F-F1A2-687E-1602DF700323}"/>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840ACCC4-12D9-D339-DFEC-C6E8EAE9D40F}"/>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a:r>
              <a:rPr lang="en-IN" sz="2200" dirty="0">
                <a:latin typeface="Calibri" panose="020F0502020204030204" pitchFamily="34" charset="0"/>
                <a:ea typeface="Calibri" panose="020F0502020204030204" pitchFamily="34" charset="0"/>
                <a:cs typeface="Calibri" panose="020F0502020204030204" pitchFamily="34" charset="0"/>
              </a:rPr>
              <a:t>A DMZ  or demilitarized zone is a perimeter network that protects and adds an extra layer of security to an organization’s internal local-area network from untrusted traffic.</a:t>
            </a:r>
          </a:p>
          <a:p>
            <a:pPr algn="just"/>
            <a:r>
              <a:rPr lang="en-IN" sz="2200" dirty="0">
                <a:latin typeface="Calibri" panose="020F0502020204030204" pitchFamily="34" charset="0"/>
                <a:ea typeface="Calibri" panose="020F0502020204030204" pitchFamily="34" charset="0"/>
                <a:cs typeface="Calibri" panose="020F0502020204030204" pitchFamily="34" charset="0"/>
              </a:rPr>
              <a:t>The end goal of a demilitarized zone network is to allow an organization to access untrusted networks, such as the internet, while ensuring its private network or LAN remains secure. Organizations typically store external-facing services and resources, as well as servers for the Domain Name System (DNS), File Transfer Protocol (FTP), mail, proxy, Voice over Internet Protocol (VoIP), and web servers, in the DMZ. </a:t>
            </a:r>
          </a:p>
          <a:p>
            <a:pPr algn="just"/>
            <a:r>
              <a:rPr lang="en-IN" sz="2200" dirty="0">
                <a:latin typeface="Calibri" panose="020F0502020204030204" pitchFamily="34" charset="0"/>
                <a:ea typeface="Calibri" panose="020F0502020204030204" pitchFamily="34" charset="0"/>
                <a:cs typeface="Calibri" panose="020F0502020204030204" pitchFamily="34" charset="0"/>
              </a:rPr>
              <a:t>These servers and resources are isolated and given limited access to the LAN to ensure they can be accessed via the internet but the internal LAN cannot. As a result, a DMZ approach makes it more difficult for a hacker to gain direct access to an organization’s data and internal servers via the internet. A company can minimize the vulnerabilities of its Local Area Network, creating an environment safe from threats while also ensuring employees can communicate efficiently and share information directly via a safe connection.</a:t>
            </a:r>
            <a:endParaRPr lang="en-IN" sz="2200" b="1" dirty="0">
              <a:latin typeface="Calibri" panose="020F0502020204030204" pitchFamily="34" charset="0"/>
              <a:ea typeface="Calibri" panose="020F0502020204030204" pitchFamily="34" charset="0"/>
              <a:cs typeface="Calibri" panose="020F0502020204030204" pitchFamily="34" charset="0"/>
            </a:endParaRPr>
          </a:p>
          <a:p>
            <a:pPr marL="114300" indent="0" algn="just" fontAlgn="base">
              <a:lnSpc>
                <a:spcPct val="100000"/>
              </a:lnSpc>
              <a:buNone/>
            </a:pPr>
            <a:endParaRPr lang="en-IN" sz="22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AC864467-6BFD-9EDD-7E1C-CABD80EC08CB}"/>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b="1" dirty="0">
                <a:latin typeface="Arial"/>
                <a:ea typeface="Arial"/>
                <a:cs typeface="Arial"/>
                <a:sym typeface="Arial"/>
              </a:rPr>
              <a:t>DMZ ARCHITECTURE</a:t>
            </a:r>
            <a:endParaRPr b="1" dirty="0">
              <a:latin typeface="Arial"/>
              <a:ea typeface="Arial"/>
              <a:cs typeface="Arial"/>
              <a:sym typeface="Arial"/>
            </a:endParaRPr>
          </a:p>
        </p:txBody>
      </p:sp>
      <p:sp>
        <p:nvSpPr>
          <p:cNvPr id="121" name="Google Shape;121;p3">
            <a:extLst>
              <a:ext uri="{FF2B5EF4-FFF2-40B4-BE49-F238E27FC236}">
                <a16:creationId xmlns:a16="http://schemas.microsoft.com/office/drawing/2014/main" id="{AD4BE36F-CB67-CDB4-877C-CFBA328E8A0A}"/>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713774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30F7846-31E6-EADC-D948-BF4818BEBA64}"/>
              </a:ext>
            </a:extLst>
          </p:cNvPr>
          <p:cNvSpPr>
            <a:spLocks noGrp="1"/>
          </p:cNvSpPr>
          <p:nvPr>
            <p:ph type="title"/>
          </p:nvPr>
        </p:nvSpPr>
        <p:spPr/>
        <p:txBody>
          <a:bodyPr/>
          <a:lstStyle/>
          <a:p>
            <a:pPr algn="ctr"/>
            <a:r>
              <a:rPr lang="en-US" b="1" dirty="0">
                <a:latin typeface="+mj-lt"/>
              </a:rPr>
              <a:t>DMZ ARCHITECTURE</a:t>
            </a:r>
            <a:endParaRPr lang="en-IN" b="1" dirty="0">
              <a:latin typeface="+mj-lt"/>
            </a:endParaRPr>
          </a:p>
        </p:txBody>
      </p:sp>
      <p:sp>
        <p:nvSpPr>
          <p:cNvPr id="4" name="Slide Number Placeholder 3">
            <a:extLst>
              <a:ext uri="{FF2B5EF4-FFF2-40B4-BE49-F238E27FC236}">
                <a16:creationId xmlns:a16="http://schemas.microsoft.com/office/drawing/2014/main" id="{2D4E1DC1-7121-15A4-9D85-159A98C82C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6" name="Picture 5">
            <a:extLst>
              <a:ext uri="{FF2B5EF4-FFF2-40B4-BE49-F238E27FC236}">
                <a16:creationId xmlns:a16="http://schemas.microsoft.com/office/drawing/2014/main" id="{BFDA88F8-230D-18AA-8B1B-8DDD8B7D28BE}"/>
              </a:ext>
            </a:extLst>
          </p:cNvPr>
          <p:cNvPicPr>
            <a:picLocks noChangeAspect="1"/>
          </p:cNvPicPr>
          <p:nvPr/>
        </p:nvPicPr>
        <p:blipFill>
          <a:blip r:embed="rId2"/>
          <a:stretch>
            <a:fillRect/>
          </a:stretch>
        </p:blipFill>
        <p:spPr>
          <a:xfrm>
            <a:off x="1491005" y="1829820"/>
            <a:ext cx="9209990" cy="3198359"/>
          </a:xfrm>
          <a:prstGeom prst="rect">
            <a:avLst/>
          </a:prstGeom>
        </p:spPr>
      </p:pic>
    </p:spTree>
    <p:extLst>
      <p:ext uri="{BB962C8B-B14F-4D97-AF65-F5344CB8AC3E}">
        <p14:creationId xmlns:p14="http://schemas.microsoft.com/office/powerpoint/2010/main" val="1322737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AFB032-2B1A-D46E-CF06-E654DAF99151}"/>
              </a:ext>
            </a:extLst>
          </p:cNvPr>
          <p:cNvSpPr>
            <a:spLocks noGrp="1"/>
          </p:cNvSpPr>
          <p:nvPr>
            <p:ph type="body" idx="1"/>
          </p:nvPr>
        </p:nvSpPr>
        <p:spPr/>
        <p:txBody>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A key benefit of a DMZ is that it adds an extra layer of security to your internal network by restricting access to sensitive data and servers. DMZ allows website visitors to subscribe to certain services while providing a buffer to and from your organization's private network.</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The primary benefit of using DMZ is a secure network connection.</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provides access control.</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provides protection against Internet Protocol (IP) spoofing.</a:t>
            </a:r>
          </a:p>
        </p:txBody>
      </p:sp>
      <p:sp>
        <p:nvSpPr>
          <p:cNvPr id="4" name="Slide Number Placeholder 3">
            <a:extLst>
              <a:ext uri="{FF2B5EF4-FFF2-40B4-BE49-F238E27FC236}">
                <a16:creationId xmlns:a16="http://schemas.microsoft.com/office/drawing/2014/main" id="{6D8D191C-3624-CA6A-F3DA-533CAC66DA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Title 2">
            <a:extLst>
              <a:ext uri="{FF2B5EF4-FFF2-40B4-BE49-F238E27FC236}">
                <a16:creationId xmlns:a16="http://schemas.microsoft.com/office/drawing/2014/main" id="{7039EBA1-75E8-98DE-88C0-B752CB7B3C22}"/>
              </a:ext>
            </a:extLst>
          </p:cNvPr>
          <p:cNvSpPr>
            <a:spLocks noGrp="1"/>
          </p:cNvSpPr>
          <p:nvPr>
            <p:ph type="title"/>
          </p:nvPr>
        </p:nvSpPr>
        <p:spPr>
          <a:xfrm>
            <a:off x="838200" y="238125"/>
            <a:ext cx="10444163" cy="719138"/>
          </a:xfrm>
        </p:spPr>
        <p:txBody>
          <a:bodyPr/>
          <a:lstStyle/>
          <a:p>
            <a:pPr algn="ctr"/>
            <a:r>
              <a:rPr lang="en-US" b="1" dirty="0">
                <a:latin typeface="+mj-lt"/>
              </a:rPr>
              <a:t>BENEFITS OF USING DMZ</a:t>
            </a:r>
            <a:endParaRPr lang="en-IN" b="1" dirty="0">
              <a:latin typeface="+mj-lt"/>
            </a:endParaRPr>
          </a:p>
        </p:txBody>
      </p:sp>
    </p:spTree>
    <p:extLst>
      <p:ext uri="{BB962C8B-B14F-4D97-AF65-F5344CB8AC3E}">
        <p14:creationId xmlns:p14="http://schemas.microsoft.com/office/powerpoint/2010/main" val="827301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A95F13-78BE-DC0C-5CA5-A7636E620767}"/>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DMZ networks are an important part of corporate network security for as long as firewalls have existed. They are used for similar reasons. Protect sensitive organizational systems and resources. DMZ networks are commonly used for:</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Reduce and control access to the systems by external users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Host corporate resources to make them available to authorized external users.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DFCACA43-1B1A-B14E-E71E-6667349514CF}"/>
              </a:ext>
            </a:extLst>
          </p:cNvPr>
          <p:cNvSpPr>
            <a:spLocks noGrp="1"/>
          </p:cNvSpPr>
          <p:nvPr>
            <p:ph type="title"/>
          </p:nvPr>
        </p:nvSpPr>
        <p:spPr/>
        <p:txBody>
          <a:bodyPr/>
          <a:lstStyle/>
          <a:p>
            <a:pPr algn="ctr"/>
            <a:r>
              <a:rPr lang="en-US" b="1" dirty="0">
                <a:latin typeface="+mj-lt"/>
              </a:rPr>
              <a:t>USES OF DMZ</a:t>
            </a:r>
            <a:endParaRPr lang="en-IN" b="1" dirty="0">
              <a:latin typeface="+mj-lt"/>
            </a:endParaRPr>
          </a:p>
        </p:txBody>
      </p:sp>
      <p:sp>
        <p:nvSpPr>
          <p:cNvPr id="4" name="Slide Number Placeholder 3">
            <a:extLst>
              <a:ext uri="{FF2B5EF4-FFF2-40B4-BE49-F238E27FC236}">
                <a16:creationId xmlns:a16="http://schemas.microsoft.com/office/drawing/2014/main" id="{59FDEEA6-BE55-8B83-0393-F69B4A2B5B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731875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marR="0" lvl="0" indent="-34290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What is an Intrusion Detection System (IDS)?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An</a:t>
            </a:r>
            <a:r>
              <a:rPr lang="en-GB" b="1" dirty="0">
                <a:latin typeface="Calibri" panose="020F0502020204030204" charset="0"/>
                <a:cs typeface="Calibri" panose="020F0502020204030204" charset="0"/>
                <a:sym typeface="Wingdings" panose="05000000000000000000" pitchFamily="2" charset="2"/>
              </a:rPr>
              <a:t> Intrusion Detection System (IDS) </a:t>
            </a:r>
            <a:r>
              <a:rPr lang="en-GB" dirty="0">
                <a:latin typeface="Calibri" panose="020F0502020204030204" charset="0"/>
                <a:cs typeface="Calibri" panose="020F0502020204030204" charset="0"/>
                <a:sym typeface="Wingdings" panose="05000000000000000000" pitchFamily="2" charset="2"/>
              </a:rPr>
              <a:t>is a device or software application that monitors network traffic or system activities for malicious actions or policy violations. The primary role of IDS is to detect potential threats and alert administrators to take action. IDS does not prevent attacks directly; instead, it acts as a surveillance system, notifying network administrators of suspicious activities.</a:t>
            </a:r>
          </a:p>
          <a:p>
            <a:pPr marR="0" lvl="0" algn="just" defTabSz="914400" rtl="0" eaLnBrk="1" fontAlgn="auto" latinLnBrk="0" hangingPunct="1">
              <a:lnSpc>
                <a:spcPct val="110000"/>
              </a:lnSpc>
              <a:spcBef>
                <a:spcPts val="0"/>
              </a:spcBef>
              <a:spcAft>
                <a:spcPts val="0"/>
              </a:spcAft>
              <a:buClr>
                <a:srgbClr val="000000"/>
              </a:buClr>
              <a:buSzTx/>
              <a:defRPr/>
            </a:pPr>
            <a:endParaRPr lang="en-GB" dirty="0">
              <a:latin typeface="Calibri" panose="020F0502020204030204" charset="0"/>
              <a:cs typeface="Calibri" panose="020F0502020204030204" charset="0"/>
            </a:endParaRPr>
          </a:p>
          <a:p>
            <a:pPr>
              <a:lnSpc>
                <a:spcPct val="110000"/>
              </a:lnSpc>
            </a:pPr>
            <a:endParaRPr lang="en-US" b="1">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rPr>
              <a:t>INTRUSION DETECTION SYSTEM (IDS)</a:t>
            </a:r>
          </a:p>
        </p:txBody>
      </p:sp>
      <p:sp>
        <p:nvSpPr>
          <p:cNvPr id="4" name="Slide Number Placeholder 3"/>
          <p:cNvSpPr>
            <a:spLocks noGrp="1"/>
          </p:cNvSpPr>
          <p:nvPr>
            <p:ph type="sldNum" sz="quarter" idx="12"/>
          </p:nvPr>
        </p:nvSpPr>
        <p:spPr/>
        <p:txBody>
          <a:bodyPr/>
          <a:lstStyle/>
          <a:p>
            <a:fld id="{02C84146-E65B-4948-A521-8AE14AC02658}"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IDS Works: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Monitoring: </a:t>
            </a:r>
            <a:r>
              <a:rPr lang="en-GB" dirty="0">
                <a:latin typeface="Calibri" panose="020F0502020204030204" charset="0"/>
                <a:cs typeface="Calibri" panose="020F0502020204030204" charset="0"/>
                <a:sym typeface="+mn-ea"/>
              </a:rPr>
              <a:t>IDS continuously monitors network traffic or system </a:t>
            </a:r>
            <a:r>
              <a:rPr lang="en-GB" dirty="0" err="1">
                <a:latin typeface="Calibri" panose="020F0502020204030204" charset="0"/>
                <a:cs typeface="Calibri" panose="020F0502020204030204" charset="0"/>
                <a:sym typeface="+mn-ea"/>
              </a:rPr>
              <a:t>behavior</a:t>
            </a:r>
            <a:r>
              <a:rPr lang="en-GB" dirty="0">
                <a:latin typeface="Calibri" panose="020F0502020204030204" charset="0"/>
                <a:cs typeface="Calibri" panose="020F0502020204030204" charset="0"/>
                <a:sym typeface="+mn-ea"/>
              </a:rPr>
              <a:t> in real time, scanning for anomalies or known malicious signatures.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Detection: </a:t>
            </a:r>
            <a:r>
              <a:rPr lang="en-GB" dirty="0">
                <a:latin typeface="Calibri" panose="020F0502020204030204" charset="0"/>
                <a:cs typeface="Calibri" panose="020F0502020204030204" charset="0"/>
                <a:sym typeface="+mn-ea"/>
              </a:rPr>
              <a:t>It detects potential intrusions by comparing incoming traffic to a set of predefined rules or </a:t>
            </a:r>
            <a:r>
              <a:rPr lang="en-GB" dirty="0" err="1">
                <a:latin typeface="Calibri" panose="020F0502020204030204" charset="0"/>
                <a:cs typeface="Calibri" panose="020F0502020204030204" charset="0"/>
                <a:sym typeface="+mn-ea"/>
              </a:rPr>
              <a:t>behavioral</a:t>
            </a:r>
            <a:r>
              <a:rPr lang="en-GB" dirty="0">
                <a:latin typeface="Calibri" panose="020F0502020204030204" charset="0"/>
                <a:cs typeface="Calibri" panose="020F0502020204030204" charset="0"/>
                <a:sym typeface="+mn-ea"/>
              </a:rPr>
              <a:t> patterns.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Alerting: </a:t>
            </a:r>
            <a:r>
              <a:rPr lang="en-GB" dirty="0">
                <a:latin typeface="Calibri" panose="020F0502020204030204" charset="0"/>
                <a:cs typeface="Calibri" panose="020F0502020204030204" charset="0"/>
                <a:sym typeface="+mn-ea"/>
              </a:rPr>
              <a:t>Once a potential threat is identified, the IDS sends alerts to administrators. Alerts may include information about the nature of the attack, the source and destination IPs, and the time of the incident.</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Logging: </a:t>
            </a:r>
            <a:r>
              <a:rPr lang="en-GB" dirty="0">
                <a:latin typeface="Calibri" panose="020F0502020204030204" charset="0"/>
                <a:cs typeface="Calibri" panose="020F0502020204030204" charset="0"/>
                <a:sym typeface="+mn-ea"/>
              </a:rPr>
              <a:t>IDS logs details of detected events for future analysis and forensics.</a:t>
            </a:r>
            <a:endParaRPr lang="en-GB" dirty="0">
              <a:latin typeface="Calibri" panose="020F0502020204030204" charset="0"/>
              <a:cs typeface="Calibri" panose="020F0502020204030204" charset="0"/>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marR="0" lvl="0" indent="-34290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Types of IDS:</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2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Signature-Based IDS (SIDS):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Signature-based IDS </a:t>
            </a:r>
            <a:r>
              <a:rPr lang="en-GB" dirty="0">
                <a:latin typeface="Calibri" panose="020F0502020204030204" charset="0"/>
                <a:cs typeface="Calibri" panose="020F0502020204030204" charset="0"/>
                <a:sym typeface="+mn-ea"/>
              </a:rPr>
              <a:t>compares network traffic or system activity to a database of known attack patterns or signatures.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How It Works: </a:t>
            </a:r>
            <a:r>
              <a:rPr lang="en-GB" dirty="0">
                <a:latin typeface="Calibri" panose="020F0502020204030204" charset="0"/>
                <a:cs typeface="Calibri" panose="020F0502020204030204" charset="0"/>
                <a:sym typeface="+mn-ea"/>
              </a:rPr>
              <a:t>When the IDS encounters traffic that matches a known signature, it triggers an alert.</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Advantages: </a:t>
            </a:r>
            <a:r>
              <a:rPr lang="en-GB" dirty="0">
                <a:latin typeface="Calibri" panose="020F0502020204030204" charset="0"/>
                <a:cs typeface="Calibri" panose="020F0502020204030204" charset="0"/>
                <a:sym typeface="+mn-ea"/>
              </a:rPr>
              <a:t>Efficient at identifying well-known attacks that have established signatures.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Disadvantages: </a:t>
            </a:r>
            <a:r>
              <a:rPr lang="en-GB" dirty="0">
                <a:latin typeface="Calibri" panose="020F0502020204030204" charset="0"/>
                <a:cs typeface="Calibri" panose="020F0502020204030204" charset="0"/>
                <a:sym typeface="+mn-ea"/>
              </a:rPr>
              <a:t>Cannot detect new, unknown threats (zero-day attacks) that lack pre-established signatures.</a:t>
            </a:r>
            <a:endParaRPr lang="en-GB" dirty="0">
              <a:latin typeface="Calibri" panose="020F0502020204030204" charset="0"/>
              <a:cs typeface="Calibri" panose="020F0502020204030204" charset="0"/>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7500" lnSpcReduction="20000"/>
          </a:bodyPr>
          <a:lstStyle/>
          <a:p>
            <a:pPr marL="342900" marR="0" lvl="0" indent="-342900" algn="just" defTabSz="914400" rtl="0" eaLnBrk="1" fontAlgn="auto" latinLnBrk="0" hangingPunct="1">
              <a:lnSpc>
                <a:spcPct val="100000"/>
              </a:lnSpc>
              <a:spcBef>
                <a:spcPts val="0"/>
              </a:spcBef>
              <a:spcAft>
                <a:spcPts val="0"/>
              </a:spcAft>
              <a:buClr>
                <a:srgbClr val="000000"/>
              </a:buClr>
              <a:buSzTx/>
              <a:buFont typeface="+mj-lt"/>
              <a:buAutoNum type="arabicPeriod" startAt="2"/>
              <a:defRPr/>
            </a:pPr>
            <a:r>
              <a:rPr lang="en-GB" b="1" dirty="0">
                <a:latin typeface="Calibri" panose="020F0502020204030204" charset="0"/>
                <a:cs typeface="Calibri" panose="020F0502020204030204" charset="0"/>
                <a:sym typeface="+mn-ea"/>
              </a:rPr>
              <a:t>Anomaly-Based IDS (AIDS):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Anomaly-based IDS </a:t>
            </a:r>
            <a:r>
              <a:rPr lang="en-GB" dirty="0" err="1">
                <a:latin typeface="Calibri" panose="020F0502020204030204" charset="0"/>
                <a:cs typeface="Calibri" panose="020F0502020204030204" charset="0"/>
                <a:sym typeface="+mn-ea"/>
              </a:rPr>
              <a:t>analyzes</a:t>
            </a:r>
            <a:r>
              <a:rPr lang="en-GB" dirty="0">
                <a:latin typeface="Calibri" panose="020F0502020204030204" charset="0"/>
                <a:cs typeface="Calibri" panose="020F0502020204030204" charset="0"/>
                <a:sym typeface="+mn-ea"/>
              </a:rPr>
              <a:t> normal network </a:t>
            </a:r>
            <a:r>
              <a:rPr lang="en-GB" dirty="0" err="1">
                <a:latin typeface="Calibri" panose="020F0502020204030204" charset="0"/>
                <a:cs typeface="Calibri" panose="020F0502020204030204" charset="0"/>
                <a:sym typeface="+mn-ea"/>
              </a:rPr>
              <a:t>behavior</a:t>
            </a:r>
            <a:r>
              <a:rPr lang="en-GB" dirty="0">
                <a:latin typeface="Calibri" panose="020F0502020204030204" charset="0"/>
                <a:cs typeface="Calibri" panose="020F0502020204030204" charset="0"/>
                <a:sym typeface="+mn-ea"/>
              </a:rPr>
              <a:t> to create a baseline and then identifies deviations from this baseline as potential threats.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How It Works: </a:t>
            </a:r>
            <a:r>
              <a:rPr lang="en-GB" dirty="0">
                <a:latin typeface="Calibri" panose="020F0502020204030204" charset="0"/>
                <a:cs typeface="Calibri" panose="020F0502020204030204" charset="0"/>
                <a:sym typeface="+mn-ea"/>
              </a:rPr>
              <a:t>It continuously monitors traffic patterns, and when an unusual or anomalous </a:t>
            </a:r>
            <a:r>
              <a:rPr lang="en-GB" dirty="0" err="1">
                <a:latin typeface="Calibri" panose="020F0502020204030204" charset="0"/>
                <a:cs typeface="Calibri" panose="020F0502020204030204" charset="0"/>
                <a:sym typeface="+mn-ea"/>
              </a:rPr>
              <a:t>behavior</a:t>
            </a:r>
            <a:r>
              <a:rPr lang="en-GB" dirty="0">
                <a:latin typeface="Calibri" panose="020F0502020204030204" charset="0"/>
                <a:cs typeface="Calibri" panose="020F0502020204030204" charset="0"/>
                <a:sym typeface="+mn-ea"/>
              </a:rPr>
              <a:t> occurs, it flags it as suspicious.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Advantages: </a:t>
            </a:r>
            <a:r>
              <a:rPr lang="en-GB" dirty="0">
                <a:latin typeface="Calibri" panose="020F0502020204030204" charset="0"/>
                <a:cs typeface="Calibri" panose="020F0502020204030204" charset="0"/>
                <a:sym typeface="+mn-ea"/>
              </a:rPr>
              <a:t>Can detect novel attacks, including zero-day exploits that have no pre-existing signatures.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Disadvantages: </a:t>
            </a:r>
            <a:r>
              <a:rPr lang="en-GB" dirty="0">
                <a:latin typeface="Calibri" panose="020F0502020204030204" charset="0"/>
                <a:cs typeface="Calibri" panose="020F0502020204030204" charset="0"/>
                <a:sym typeface="+mn-ea"/>
              </a:rPr>
              <a:t>Prone to false positives, as legitimate deviations from normal </a:t>
            </a:r>
            <a:r>
              <a:rPr lang="en-GB" dirty="0" err="1">
                <a:latin typeface="Calibri" panose="020F0502020204030204" charset="0"/>
                <a:cs typeface="Calibri" panose="020F0502020204030204" charset="0"/>
                <a:sym typeface="+mn-ea"/>
              </a:rPr>
              <a:t>behavior</a:t>
            </a:r>
            <a:r>
              <a:rPr lang="en-GB" dirty="0">
                <a:latin typeface="Calibri" panose="020F0502020204030204" charset="0"/>
                <a:cs typeface="Calibri" panose="020F0502020204030204" charset="0"/>
                <a:sym typeface="+mn-ea"/>
              </a:rPr>
              <a:t> may trigger alerts.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Other Types of 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Host-based IDS (HIDS): </a:t>
            </a:r>
            <a:r>
              <a:rPr lang="en-GB" dirty="0">
                <a:latin typeface="Calibri" panose="020F0502020204030204" charset="0"/>
                <a:cs typeface="Calibri" panose="020F0502020204030204" charset="0"/>
                <a:sym typeface="+mn-ea"/>
              </a:rPr>
              <a:t>Monitors activities on a specific device or host, such as system files and processes, for suspicious </a:t>
            </a:r>
            <a:r>
              <a:rPr lang="en-GB" dirty="0" err="1">
                <a:latin typeface="Calibri" panose="020F0502020204030204" charset="0"/>
                <a:cs typeface="Calibri" panose="020F0502020204030204" charset="0"/>
                <a:sym typeface="+mn-ea"/>
              </a:rPr>
              <a:t>behavior</a:t>
            </a:r>
            <a:r>
              <a:rPr lang="en-GB" dirty="0">
                <a:latin typeface="Calibri" panose="020F0502020204030204" charset="0"/>
                <a:cs typeface="Calibri" panose="020F0502020204030204" charset="0"/>
                <a:sym typeface="+mn-ea"/>
              </a:rPr>
              <a:t>.</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Network-based IDS (NIDS): </a:t>
            </a:r>
            <a:r>
              <a:rPr lang="en-GB" dirty="0">
                <a:latin typeface="Calibri" panose="020F0502020204030204" charset="0"/>
                <a:cs typeface="Calibri" panose="020F0502020204030204" charset="0"/>
                <a:sym typeface="+mn-ea"/>
              </a:rPr>
              <a:t>Monitors network traffic for signs of malicious activity, typically deployed at critical points in a network like routers or switches.</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 of 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Early Warning: </a:t>
            </a:r>
            <a:r>
              <a:rPr lang="en-GB" dirty="0">
                <a:latin typeface="Calibri" panose="020F0502020204030204" charset="0"/>
                <a:cs typeface="Calibri" panose="020F0502020204030204" charset="0"/>
                <a:sym typeface="+mn-ea"/>
              </a:rPr>
              <a:t>Provides early detection of potential intrusions or breaches, allowing security teams to respond quickly.</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Visibility: </a:t>
            </a:r>
            <a:r>
              <a:rPr lang="en-GB" dirty="0">
                <a:latin typeface="Calibri" panose="020F0502020204030204" charset="0"/>
                <a:cs typeface="Calibri" panose="020F0502020204030204" charset="0"/>
                <a:sym typeface="+mn-ea"/>
              </a:rPr>
              <a:t>Offers insight into the types of attacks targeting the network, enabling better understanding of threat landscapes.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Passive Monitoring: </a:t>
            </a:r>
            <a:r>
              <a:rPr lang="en-GB" dirty="0">
                <a:latin typeface="Calibri" panose="020F0502020204030204" charset="0"/>
                <a:cs typeface="Calibri" panose="020F0502020204030204" charset="0"/>
                <a:sym typeface="+mn-ea"/>
              </a:rPr>
              <a:t>As IDS does not interfere with network traffic, it does not introduce latency or affect network performance.</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 of IDS: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No Prevention: </a:t>
            </a:r>
            <a:r>
              <a:rPr lang="en-GB" dirty="0">
                <a:latin typeface="Calibri" panose="020F0502020204030204" charset="0"/>
                <a:cs typeface="Calibri" panose="020F0502020204030204" charset="0"/>
                <a:sym typeface="+mn-ea"/>
              </a:rPr>
              <a:t>IDS is limited to detection and alerting, meaning that it cannot stop an attack from occurring.</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False Positives: </a:t>
            </a:r>
            <a:r>
              <a:rPr lang="en-GB" dirty="0">
                <a:latin typeface="Calibri" panose="020F0502020204030204" charset="0"/>
                <a:cs typeface="Calibri" panose="020F0502020204030204" charset="0"/>
                <a:sym typeface="+mn-ea"/>
              </a:rPr>
              <a:t>Anomaly-based IDS can generate false alerts, leading to unnecessary investigations or alarm fatigue.</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Limited to Known Signatures: </a:t>
            </a:r>
            <a:r>
              <a:rPr lang="en-GB" dirty="0">
                <a:latin typeface="Calibri" panose="020F0502020204030204" charset="0"/>
                <a:cs typeface="Calibri" panose="020F0502020204030204" charset="0"/>
                <a:sym typeface="+mn-ea"/>
              </a:rPr>
              <a:t>Signature-based IDS relies on pre-existing signatures, making it less effective against new or evolving threats.</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86250" y="988060"/>
            <a:ext cx="3509645" cy="542353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b="1" dirty="0">
                <a:latin typeface="+mj-lt"/>
                <a:sym typeface="+mn-ea"/>
              </a:rPr>
              <a:t>INTRUSION DETECTION SYSTEM (IDS)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3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What is an Intrusion Prevention System (IPS)?</a:t>
            </a:r>
            <a:endParaRPr lang="en-GB" b="1" dirty="0">
              <a:latin typeface="Calibri" panose="020F0502020204030204" charset="0"/>
              <a:cs typeface="Calibri" panose="020F0502020204030204" charset="0"/>
              <a:sym typeface="Wingdings" panose="05000000000000000000" pitchFamily="2" charset="2"/>
            </a:endParaRPr>
          </a:p>
          <a:p>
            <a:pPr marL="285750" marR="0" lvl="0" indent="-285750" algn="just" defTabSz="914400" rtl="0" eaLnBrk="1" fontAlgn="auto" latinLnBrk="0" hangingPunct="1">
              <a:lnSpc>
                <a:spcPct val="13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Wingdings" panose="05000000000000000000" pitchFamily="2" charset="2"/>
              </a:rPr>
              <a:t>An </a:t>
            </a:r>
            <a:r>
              <a:rPr lang="en-GB" b="1" dirty="0">
                <a:latin typeface="Calibri" panose="020F0502020204030204" charset="0"/>
                <a:cs typeface="Calibri" panose="020F0502020204030204" charset="0"/>
                <a:sym typeface="Wingdings" panose="05000000000000000000" pitchFamily="2" charset="2"/>
              </a:rPr>
              <a:t>Intrusion Prevention System (IPS) </a:t>
            </a:r>
            <a:r>
              <a:rPr lang="en-GB" dirty="0">
                <a:latin typeface="Calibri" panose="020F0502020204030204" charset="0"/>
                <a:cs typeface="Calibri" panose="020F0502020204030204" charset="0"/>
                <a:sym typeface="Wingdings" panose="05000000000000000000" pitchFamily="2" charset="2"/>
              </a:rPr>
              <a:t>is a security tool that actively monitors network traffic and can automatically take action to prevent attacks or suspicious activities in real time. Unlike IDS, which only detects and alerts, IPS can block or prevent threats from reaching their target.</a:t>
            </a:r>
          </a:p>
          <a:p>
            <a:pPr>
              <a:lnSpc>
                <a:spcPct val="13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PREVENTION SYSTEM (IPS)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285750" marR="0" lvl="0" indent="-285750" algn="just" defTabSz="914400" rtl="0" eaLnBrk="1" fontAlgn="auto" latinLnBrk="0" hangingPunct="1">
              <a:lnSpc>
                <a:spcPct val="12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How IPS Works: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Traffic Inspection: </a:t>
            </a:r>
            <a:r>
              <a:rPr lang="en-GB" dirty="0">
                <a:latin typeface="Calibri" panose="020F0502020204030204" charset="0"/>
                <a:cs typeface="Calibri" panose="020F0502020204030204" charset="0"/>
                <a:sym typeface="+mn-ea"/>
              </a:rPr>
              <a:t>IPS sits in-line with network traffic (often between the firewall and the rest of the network), inspecting packets as they pass through.</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Detection and Prevention: </a:t>
            </a:r>
            <a:r>
              <a:rPr lang="en-GB" dirty="0">
                <a:latin typeface="Calibri" panose="020F0502020204030204" charset="0"/>
                <a:cs typeface="Calibri" panose="020F0502020204030204" charset="0"/>
                <a:sym typeface="+mn-ea"/>
              </a:rPr>
              <a:t>It detects potential threats using signature-based or anomaly-based techniques, similar to IDS. However, it goes a step further by automatically blocking or dropping malicious packets.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2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Response: </a:t>
            </a:r>
            <a:r>
              <a:rPr lang="en-GB" dirty="0">
                <a:latin typeface="Calibri" panose="020F0502020204030204" charset="0"/>
                <a:cs typeface="Calibri" panose="020F0502020204030204" charset="0"/>
                <a:sym typeface="+mn-ea"/>
              </a:rPr>
              <a:t>In addition to blocking attacks, IPS can also take other corrective actions such as resetting connections, modifying firewall rules, or triggering alerts.</a:t>
            </a:r>
            <a:endParaRPr lang="en-GB" dirty="0">
              <a:latin typeface="Calibri" panose="020F0502020204030204" charset="0"/>
              <a:cs typeface="Calibri" panose="020F0502020204030204" charset="0"/>
              <a:sym typeface="Wingdings" panose="05000000000000000000" pitchFamily="2" charset="2"/>
            </a:endParaRPr>
          </a:p>
          <a:p>
            <a:pPr>
              <a:lnSpc>
                <a:spcPct val="12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PREVENTION SYSTEM (IPS)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0000" lnSpcReduction="10000"/>
          </a:bodyPr>
          <a:lstStyle/>
          <a:p>
            <a:pPr marL="285750" marR="0" lvl="0" indent="-285750" algn="just" defTabSz="914400" rtl="0" eaLnBrk="1" fontAlgn="auto" latinLnBrk="0" hangingPunct="1">
              <a:lnSpc>
                <a:spcPct val="11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Types of IPS:</a:t>
            </a: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a:defRPr/>
            </a:pPr>
            <a:r>
              <a:rPr lang="en-GB" b="1" dirty="0">
                <a:latin typeface="Calibri" panose="020F0502020204030204" charset="0"/>
                <a:cs typeface="Calibri" panose="020F0502020204030204" charset="0"/>
                <a:sym typeface="+mn-ea"/>
              </a:rPr>
              <a:t>Network-Based IPS (NIPS):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Network-based IPS </a:t>
            </a:r>
            <a:r>
              <a:rPr lang="en-GB" dirty="0">
                <a:latin typeface="Calibri" panose="020F0502020204030204" charset="0"/>
                <a:cs typeface="Calibri" panose="020F0502020204030204" charset="0"/>
                <a:sym typeface="+mn-ea"/>
              </a:rPr>
              <a:t>is deployed at strategic points within the network to monitor traffic entering and leaving the network.</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It can prevent threats like Denial of Service (DoS) attacks, worms, or other malware from spreading through the network.</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endParaRPr lang="en-GB" b="1" dirty="0">
              <a:latin typeface="Calibri" panose="020F0502020204030204" charset="0"/>
              <a:cs typeface="Calibri" panose="020F0502020204030204" charset="0"/>
            </a:endParaRPr>
          </a:p>
          <a:p>
            <a:pPr marL="342900" marR="0" lvl="0" indent="-342900" algn="just" defTabSz="914400" rtl="0" eaLnBrk="1" fontAlgn="auto" latinLnBrk="0" hangingPunct="1">
              <a:lnSpc>
                <a:spcPct val="110000"/>
              </a:lnSpc>
              <a:spcBef>
                <a:spcPts val="0"/>
              </a:spcBef>
              <a:spcAft>
                <a:spcPts val="0"/>
              </a:spcAft>
              <a:buClr>
                <a:srgbClr val="000000"/>
              </a:buClr>
              <a:buSzTx/>
              <a:buFont typeface="+mj-lt"/>
              <a:buAutoNum type="arabicPeriod" startAt="2"/>
              <a:defRPr/>
            </a:pPr>
            <a:r>
              <a:rPr lang="en-GB" b="1" dirty="0">
                <a:latin typeface="Calibri" panose="020F0502020204030204" charset="0"/>
                <a:cs typeface="Calibri" panose="020F0502020204030204" charset="0"/>
                <a:sym typeface="+mn-ea"/>
              </a:rPr>
              <a:t>Host-Based IPS (HIPS):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dirty="0">
                <a:latin typeface="Calibri" panose="020F0502020204030204" charset="0"/>
                <a:cs typeface="Calibri" panose="020F0502020204030204" charset="0"/>
                <a:sym typeface="+mn-ea"/>
              </a:rPr>
              <a:t>Host-based IPS is installed on individual hosts or devices, monitoring and preventing suspicious activities on that system.</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1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Function: </a:t>
            </a:r>
            <a:r>
              <a:rPr lang="en-GB" dirty="0">
                <a:latin typeface="Calibri" panose="020F0502020204030204" charset="0"/>
                <a:cs typeface="Calibri" panose="020F0502020204030204" charset="0"/>
                <a:sym typeface="+mn-ea"/>
              </a:rPr>
              <a:t>It focuses on protecting the system from attacks like buffer overflows, privilege escalations, or unauthorized access.</a:t>
            </a:r>
            <a:endParaRPr lang="en-GB" dirty="0">
              <a:latin typeface="Calibri" panose="020F0502020204030204" charset="0"/>
              <a:cs typeface="Calibri" panose="020F0502020204030204" charset="0"/>
              <a:sym typeface="Wingdings" panose="05000000000000000000" pitchFamily="2" charset="2"/>
            </a:endParaRPr>
          </a:p>
          <a:p>
            <a:pPr>
              <a:lnSpc>
                <a:spcPct val="110000"/>
              </a:lnSpc>
            </a:pP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PREVENTION SYSTEM (IPS)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7500" lnSpcReduction="20000"/>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Advantages of IPS: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Active Protection: </a:t>
            </a:r>
            <a:r>
              <a:rPr lang="en-GB" dirty="0">
                <a:latin typeface="Calibri" panose="020F0502020204030204" charset="0"/>
                <a:cs typeface="Calibri" panose="020F0502020204030204" charset="0"/>
                <a:sym typeface="+mn-ea"/>
              </a:rPr>
              <a:t>IPS can automatically block attacks in real-time, reducing the risk of successful breaches.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Automated Response: </a:t>
            </a:r>
            <a:r>
              <a:rPr lang="en-GB" dirty="0">
                <a:latin typeface="Calibri" panose="020F0502020204030204" charset="0"/>
                <a:cs typeface="Calibri" panose="020F0502020204030204" charset="0"/>
                <a:sym typeface="+mn-ea"/>
              </a:rPr>
              <a:t>Immediate action is taken to stop threats without waiting for manual intervention.</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Granular Control: </a:t>
            </a:r>
            <a:r>
              <a:rPr lang="en-GB" dirty="0">
                <a:latin typeface="Calibri" panose="020F0502020204030204" charset="0"/>
                <a:cs typeface="Calibri" panose="020F0502020204030204" charset="0"/>
                <a:sym typeface="+mn-ea"/>
              </a:rPr>
              <a:t>Allows administrators to fine-tune rules and responses based on network needs.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b="1" dirty="0">
                <a:latin typeface="Calibri" panose="020F0502020204030204" charset="0"/>
                <a:cs typeface="Calibri" panose="020F0502020204030204" charset="0"/>
                <a:sym typeface="+mn-ea"/>
              </a:rPr>
              <a:t>Disadvantages of IPS:</a:t>
            </a:r>
            <a:endParaRPr lang="en-GB"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False Positives: </a:t>
            </a:r>
            <a:r>
              <a:rPr lang="en-GB" dirty="0">
                <a:latin typeface="Calibri" panose="020F0502020204030204" charset="0"/>
                <a:cs typeface="Calibri" panose="020F0502020204030204" charset="0"/>
                <a:sym typeface="+mn-ea"/>
              </a:rPr>
              <a:t>Like IDS, IPS can generate false positives, potentially blocking legitimate traffic or users.</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Performance Impact: </a:t>
            </a:r>
            <a:r>
              <a:rPr lang="en-GB" dirty="0">
                <a:latin typeface="Calibri" panose="020F0502020204030204" charset="0"/>
                <a:cs typeface="Calibri" panose="020F0502020204030204" charset="0"/>
                <a:sym typeface="+mn-ea"/>
              </a:rPr>
              <a:t>Since IPS is placed in-line with network traffic, it can introduce latency and affect network performance, especially if improperly configured.</a:t>
            </a:r>
            <a:endParaRPr lang="en-GB"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b="1" dirty="0">
                <a:latin typeface="Calibri" panose="020F0502020204030204" charset="0"/>
                <a:cs typeface="Calibri" panose="020F0502020204030204" charset="0"/>
                <a:sym typeface="+mn-ea"/>
              </a:rPr>
              <a:t>Complex Configuration: </a:t>
            </a:r>
            <a:r>
              <a:rPr lang="en-GB" dirty="0">
                <a:latin typeface="Calibri" panose="020F0502020204030204" charset="0"/>
                <a:cs typeface="Calibri" panose="020F0502020204030204" charset="0"/>
                <a:sym typeface="+mn-ea"/>
              </a:rPr>
              <a:t>Requires careful tuning and regular updates to prevent incorrect blocking or degradation of network service.</a:t>
            </a:r>
            <a:endParaRPr lang="en-US">
              <a:latin typeface="Calibri" panose="020F0502020204030204" charset="0"/>
              <a:cs typeface="Calibri" panose="020F0502020204030204" charset="0"/>
            </a:endParaRPr>
          </a:p>
        </p:txBody>
      </p:sp>
      <p:sp>
        <p:nvSpPr>
          <p:cNvPr id="3" name="Title 2"/>
          <p:cNvSpPr>
            <a:spLocks noGrp="1"/>
          </p:cNvSpPr>
          <p:nvPr>
            <p:ph type="title"/>
          </p:nvPr>
        </p:nvSpPr>
        <p:spPr/>
        <p:txBody>
          <a:bodyPr/>
          <a:lstStyle/>
          <a:p>
            <a:pPr algn="ctr"/>
            <a:r>
              <a:rPr lang="en-US" b="1" dirty="0">
                <a:latin typeface="+mj-lt"/>
                <a:sym typeface="+mn-ea"/>
              </a:rPr>
              <a:t>INTRUSION PREVENTION SYSTEM (IPS)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8330" y="979805"/>
            <a:ext cx="3281045" cy="5340985"/>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pPr algn="ctr"/>
            <a:r>
              <a:rPr lang="en-US" b="1" dirty="0">
                <a:latin typeface="+mj-lt"/>
                <a:sym typeface="+mn-ea"/>
              </a:rPr>
              <a:t>INTRUSION PREVENTION SYSTEM (IPS)</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US"/>
              <a:t>  </a:t>
            </a:r>
          </a:p>
        </p:txBody>
      </p:sp>
      <p:sp>
        <p:nvSpPr>
          <p:cNvPr id="3" name="Title 2"/>
          <p:cNvSpPr>
            <a:spLocks noGrp="1"/>
          </p:cNvSpPr>
          <p:nvPr>
            <p:ph type="title"/>
          </p:nvPr>
        </p:nvSpPr>
        <p:spPr/>
        <p:txBody>
          <a:bodyPr/>
          <a:lstStyle/>
          <a:p>
            <a:pPr algn="ctr"/>
            <a:r>
              <a:rPr lang="en-US" b="1" dirty="0">
                <a:latin typeface="+mj-lt"/>
              </a:rPr>
              <a:t>KEY DIFFERENCE BETWEEN IDS &amp; IPS</a:t>
            </a:r>
          </a:p>
        </p:txBody>
      </p:sp>
      <p:sp>
        <p:nvSpPr>
          <p:cNvPr id="4" name="Slide Number Placeholder 3"/>
          <p:cNvSpPr>
            <a:spLocks noGrp="1"/>
          </p:cNvSpPr>
          <p:nvPr>
            <p:ph type="sldNum" sz="quarter" idx="12"/>
          </p:nvPr>
        </p:nvSpPr>
        <p:spPr/>
        <p:txBody>
          <a:bodyPr/>
          <a:lstStyle/>
          <a:p>
            <a:fld id="{02C84146-E65B-4948-A521-8AE14AC02658}" type="slidenum">
              <a:rPr lang="en-US" smtClean="0"/>
              <a:t>39</a:t>
            </a:fld>
            <a:endParaRPr lang="en-US"/>
          </a:p>
        </p:txBody>
      </p:sp>
      <p:graphicFrame>
        <p:nvGraphicFramePr>
          <p:cNvPr id="5" name="Table 4"/>
          <p:cNvGraphicFramePr/>
          <p:nvPr>
            <p:custDataLst>
              <p:tags r:id="rId1"/>
            </p:custDataLst>
          </p:nvPr>
        </p:nvGraphicFramePr>
        <p:xfrm>
          <a:off x="853440" y="1243330"/>
          <a:ext cx="10485120" cy="4933949"/>
        </p:xfrm>
        <a:graphic>
          <a:graphicData uri="http://schemas.openxmlformats.org/drawingml/2006/table">
            <a:tbl>
              <a:tblPr/>
              <a:tblGrid>
                <a:gridCol w="3495040">
                  <a:extLst>
                    <a:ext uri="{9D8B030D-6E8A-4147-A177-3AD203B41FA5}">
                      <a16:colId xmlns:a16="http://schemas.microsoft.com/office/drawing/2014/main" val="20000"/>
                    </a:ext>
                  </a:extLst>
                </a:gridCol>
                <a:gridCol w="3495040">
                  <a:extLst>
                    <a:ext uri="{9D8B030D-6E8A-4147-A177-3AD203B41FA5}">
                      <a16:colId xmlns:a16="http://schemas.microsoft.com/office/drawing/2014/main" val="20001"/>
                    </a:ext>
                  </a:extLst>
                </a:gridCol>
                <a:gridCol w="3495040">
                  <a:extLst>
                    <a:ext uri="{9D8B030D-6E8A-4147-A177-3AD203B41FA5}">
                      <a16:colId xmlns:a16="http://schemas.microsoft.com/office/drawing/2014/main" val="20002"/>
                    </a:ext>
                  </a:extLst>
                </a:gridCol>
              </a:tblGrid>
              <a:tr h="718185">
                <a:tc>
                  <a:txBody>
                    <a:bodyPr/>
                    <a:lstStyle/>
                    <a:p>
                      <a:pPr marL="0" indent="0" algn="ctr" fontAlgn="base">
                        <a:spcBef>
                          <a:spcPct val="0"/>
                        </a:spcBef>
                        <a:spcAft>
                          <a:spcPct val="0"/>
                        </a:spcAft>
                      </a:pPr>
                      <a:r>
                        <a:rPr sz="2400" b="1" i="0">
                          <a:solidFill>
                            <a:srgbClr val="273239"/>
                          </a:solidFill>
                          <a:latin typeface="Calibri" panose="020F0502020204030204" charset="0"/>
                          <a:ea typeface="Nunito"/>
                          <a:cs typeface="Calibri" panose="020F0502020204030204" charset="0"/>
                        </a:rPr>
                        <a:t>Feature</a:t>
                      </a:r>
                    </a:p>
                  </a:txBody>
                  <a:tcPr marL="38100" marR="38100" marT="63817" marB="63817">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solidFill>
                      <a:srgbClr val="F9F9F9"/>
                    </a:solidFill>
                  </a:tcPr>
                </a:tc>
                <a:tc>
                  <a:txBody>
                    <a:bodyPr/>
                    <a:lstStyle/>
                    <a:p>
                      <a:pPr marL="0" indent="0" algn="ctr" fontAlgn="base">
                        <a:spcBef>
                          <a:spcPct val="0"/>
                        </a:spcBef>
                        <a:spcAft>
                          <a:spcPct val="0"/>
                        </a:spcAft>
                      </a:pPr>
                      <a:r>
                        <a:rPr sz="2400" b="1" i="0">
                          <a:solidFill>
                            <a:srgbClr val="273239"/>
                          </a:solidFill>
                          <a:latin typeface="Calibri" panose="020F0502020204030204" charset="0"/>
                          <a:ea typeface="Nunito"/>
                          <a:cs typeface="Calibri" panose="020F0502020204030204" charset="0"/>
                        </a:rPr>
                        <a:t>Intrusion Detection System (IDS)</a:t>
                      </a:r>
                    </a:p>
                  </a:txBody>
                  <a:tcPr marL="63817" marR="63817" marT="63817" marB="63817">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solidFill>
                      <a:srgbClr val="F9F9F9"/>
                    </a:solidFill>
                  </a:tcPr>
                </a:tc>
                <a:tc>
                  <a:txBody>
                    <a:bodyPr/>
                    <a:lstStyle/>
                    <a:p>
                      <a:pPr marL="0" indent="0" algn="ctr" fontAlgn="base">
                        <a:spcBef>
                          <a:spcPct val="0"/>
                        </a:spcBef>
                        <a:spcAft>
                          <a:spcPct val="0"/>
                        </a:spcAft>
                      </a:pPr>
                      <a:r>
                        <a:rPr sz="2400" b="1" i="0">
                          <a:solidFill>
                            <a:srgbClr val="273239"/>
                          </a:solidFill>
                          <a:latin typeface="Calibri" panose="020F0502020204030204" charset="0"/>
                          <a:ea typeface="Nunito"/>
                          <a:cs typeface="Calibri" panose="020F0502020204030204" charset="0"/>
                        </a:rPr>
                        <a:t>Intrusion Prevention System (IPS)</a:t>
                      </a:r>
                    </a:p>
                  </a:txBody>
                  <a:tcPr marL="63817" marR="63817" marT="63817" marB="63817">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solidFill>
                      <a:srgbClr val="F9F9F9"/>
                    </a:solidFill>
                  </a:tcPr>
                </a:tc>
                <a:extLst>
                  <a:ext uri="{0D108BD9-81ED-4DB2-BD59-A6C34878D82A}">
                    <a16:rowId xmlns:a16="http://schemas.microsoft.com/office/drawing/2014/main" val="10000"/>
                  </a:ext>
                </a:extLst>
              </a:tr>
              <a:tr h="814705">
                <a:tc>
                  <a:txBody>
                    <a:bodyPr/>
                    <a:lstStyle/>
                    <a:p>
                      <a:pPr marL="0" indent="0" algn="ctr" fontAlgn="base">
                        <a:spcBef>
                          <a:spcPct val="0"/>
                        </a:spcBef>
                        <a:spcAft>
                          <a:spcPct val="0"/>
                        </a:spcAft>
                      </a:pPr>
                      <a:r>
                        <a:rPr sz="2000" b="0" i="0">
                          <a:solidFill>
                            <a:srgbClr val="273239"/>
                          </a:solidFill>
                          <a:latin typeface="Calibri" panose="020F0502020204030204" charset="0"/>
                          <a:ea typeface="Nunito"/>
                          <a:cs typeface="Calibri" panose="020F0502020204030204" charset="0"/>
                        </a:rPr>
                        <a:t>Functionality</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Detects and alerts on malicious activities.</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Detects, alerts, and blocks malicious activities in real-time.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extLst>
                  <a:ext uri="{0D108BD9-81ED-4DB2-BD59-A6C34878D82A}">
                    <a16:rowId xmlns:a16="http://schemas.microsoft.com/office/drawing/2014/main" val="10001"/>
                  </a:ext>
                </a:extLst>
              </a:tr>
              <a:tr h="814705">
                <a:tc>
                  <a:txBody>
                    <a:bodyPr/>
                    <a:lstStyle/>
                    <a:p>
                      <a:pPr marL="0" indent="0" algn="ctr" fontAlgn="base">
                        <a:spcBef>
                          <a:spcPct val="0"/>
                        </a:spcBef>
                        <a:spcAft>
                          <a:spcPct val="0"/>
                        </a:spcAft>
                      </a:pPr>
                      <a:r>
                        <a:rPr sz="2000" b="0" i="0">
                          <a:solidFill>
                            <a:srgbClr val="273239"/>
                          </a:solidFill>
                          <a:latin typeface="Calibri" panose="020F0502020204030204" charset="0"/>
                          <a:ea typeface="Nunito"/>
                          <a:cs typeface="Calibri" panose="020F0502020204030204" charset="0"/>
                        </a:rPr>
                        <a:t>Action</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Does not take action, only provides alerts.</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Actively blocks or neutralizes threats to prevent damage.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extLst>
                  <a:ext uri="{0D108BD9-81ED-4DB2-BD59-A6C34878D82A}">
                    <a16:rowId xmlns:a16="http://schemas.microsoft.com/office/drawing/2014/main" val="10002"/>
                  </a:ext>
                </a:extLst>
              </a:tr>
              <a:tr h="815975">
                <a:tc>
                  <a:txBody>
                    <a:bodyPr/>
                    <a:lstStyle/>
                    <a:p>
                      <a:pPr marL="0" indent="0" algn="ctr" fontAlgn="base">
                        <a:spcBef>
                          <a:spcPct val="0"/>
                        </a:spcBef>
                        <a:spcAft>
                          <a:spcPct val="0"/>
                        </a:spcAft>
                      </a:pPr>
                      <a:r>
                        <a:rPr sz="2000" b="0" i="0">
                          <a:solidFill>
                            <a:srgbClr val="273239"/>
                          </a:solidFill>
                          <a:latin typeface="Calibri" panose="020F0502020204030204" charset="0"/>
                          <a:ea typeface="Nunito"/>
                          <a:cs typeface="Calibri" panose="020F0502020204030204" charset="0"/>
                        </a:rPr>
                        <a:t>Response Time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Passive monitoring; alerts after the fact.</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Real-time, active prevention of threats.</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extLst>
                  <a:ext uri="{0D108BD9-81ED-4DB2-BD59-A6C34878D82A}">
                    <a16:rowId xmlns:a16="http://schemas.microsoft.com/office/drawing/2014/main" val="10003"/>
                  </a:ext>
                </a:extLst>
              </a:tr>
              <a:tr h="814705">
                <a:tc>
                  <a:txBody>
                    <a:bodyPr/>
                    <a:lstStyle/>
                    <a:p>
                      <a:pPr marL="0" indent="0" algn="ctr" fontAlgn="base">
                        <a:spcBef>
                          <a:spcPct val="0"/>
                        </a:spcBef>
                        <a:spcAft>
                          <a:spcPct val="0"/>
                        </a:spcAft>
                      </a:pPr>
                      <a:r>
                        <a:rPr sz="2000" b="0" i="0">
                          <a:solidFill>
                            <a:srgbClr val="273239"/>
                          </a:solidFill>
                          <a:latin typeface="Calibri" panose="020F0502020204030204" charset="0"/>
                          <a:ea typeface="Nunito"/>
                          <a:cs typeface="Calibri" panose="020F0502020204030204" charset="0"/>
                        </a:rPr>
                        <a:t>Use Case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Useful for monitoring and alerting about potential threats.</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Suitable for preventing breaches in real-time.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extLst>
                  <a:ext uri="{0D108BD9-81ED-4DB2-BD59-A6C34878D82A}">
                    <a16:rowId xmlns:a16="http://schemas.microsoft.com/office/drawing/2014/main" val="10004"/>
                  </a:ext>
                </a:extLst>
              </a:tr>
              <a:tr h="814705">
                <a:tc>
                  <a:txBody>
                    <a:bodyPr/>
                    <a:lstStyle/>
                    <a:p>
                      <a:pPr marL="0" indent="0" algn="ctr" fontAlgn="base">
                        <a:spcBef>
                          <a:spcPct val="0"/>
                        </a:spcBef>
                        <a:spcAft>
                          <a:spcPct val="0"/>
                        </a:spcAft>
                      </a:pPr>
                      <a:r>
                        <a:rPr sz="2000" b="0" i="0">
                          <a:solidFill>
                            <a:srgbClr val="273239"/>
                          </a:solidFill>
                          <a:latin typeface="Calibri" panose="020F0502020204030204" charset="0"/>
                          <a:ea typeface="Nunito"/>
                          <a:cs typeface="Calibri" panose="020F0502020204030204" charset="0"/>
                        </a:rPr>
                        <a:t>Example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Alerting about traffic spikes during non-burst times.</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tc>
                  <a:txBody>
                    <a:bodyPr/>
                    <a:lstStyle/>
                    <a:p>
                      <a:pPr marL="0" indent="0" algn="ctr" fontAlgn="ctr">
                        <a:spcBef>
                          <a:spcPct val="0"/>
                        </a:spcBef>
                        <a:spcAft>
                          <a:spcPct val="0"/>
                        </a:spcAft>
                      </a:pPr>
                      <a:r>
                        <a:rPr sz="2000" b="0" i="0">
                          <a:solidFill>
                            <a:srgbClr val="273239"/>
                          </a:solidFill>
                          <a:latin typeface="Calibri" panose="020F0502020204030204" charset="0"/>
                          <a:ea typeface="Nunito"/>
                          <a:cs typeface="Calibri" panose="020F0502020204030204" charset="0"/>
                        </a:rPr>
                        <a:t>Blocking malware in real-time based on a known signature.</a:t>
                      </a:r>
                    </a:p>
                  </a:txBody>
                  <a:tcPr marL="63817" marR="63817" marT="89217" marB="89217" anchor="ctr">
                    <a:lnL w="1905" cap="flat" cmpd="sng">
                      <a:solidFill>
                        <a:srgbClr val="DFDFDF"/>
                      </a:solidFill>
                      <a:prstDash val="solid"/>
                      <a:headEnd type="none" w="med" len="med"/>
                      <a:tailEnd type="none" w="med" len="med"/>
                    </a:lnL>
                    <a:lnR w="1905" cap="flat" cmpd="sng">
                      <a:solidFill>
                        <a:srgbClr val="DFDFDF"/>
                      </a:solidFill>
                      <a:prstDash val="solid"/>
                      <a:headEnd type="none" w="med" len="med"/>
                      <a:tailEnd type="none" w="med" len="med"/>
                    </a:lnR>
                    <a:lnT w="1905" cap="flat" cmpd="sng">
                      <a:solidFill>
                        <a:srgbClr val="DFDFDF"/>
                      </a:solidFill>
                      <a:prstDash val="solid"/>
                      <a:headEnd type="none" w="med" len="med"/>
                      <a:tailEnd type="none" w="med" len="med"/>
                    </a:lnT>
                    <a:lnB w="1905" cap="flat" cmpd="sng">
                      <a:solidFill>
                        <a:srgbClr val="DFDFDF"/>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sz="2400" dirty="0">
                <a:latin typeface="Calibri" panose="020F0502020204030204" charset="0"/>
                <a:cs typeface="Calibri" panose="020F0502020204030204" charset="0"/>
                <a:sym typeface="+mn-ea"/>
              </a:rPr>
              <a:t>Many modern security systems combine the features of IDS and IPS into a single system known as an </a:t>
            </a:r>
            <a:r>
              <a:rPr lang="en-GB" sz="2400" b="1" dirty="0">
                <a:latin typeface="Calibri" panose="020F0502020204030204" charset="0"/>
                <a:cs typeface="Calibri" panose="020F0502020204030204" charset="0"/>
                <a:sym typeface="+mn-ea"/>
              </a:rPr>
              <a:t>Intrusion Detection and Prevention System (IDPS). </a:t>
            </a:r>
            <a:r>
              <a:rPr lang="en-GB" sz="2400" dirty="0">
                <a:latin typeface="Calibri" panose="020F0502020204030204" charset="0"/>
                <a:cs typeface="Calibri" panose="020F0502020204030204" charset="0"/>
                <a:sym typeface="+mn-ea"/>
              </a:rPr>
              <a:t>This hybrid solution offers both detection and prevention capabilities, allowing organizations to monitor their networks for suspicious activity while also taking action to block threats as they arise.</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endParaRPr lang="en-GB" sz="2400"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sz="2400" b="1" dirty="0">
                <a:latin typeface="Calibri" panose="020F0502020204030204" charset="0"/>
                <a:cs typeface="Calibri" panose="020F0502020204030204" charset="0"/>
                <a:sym typeface="+mn-ea"/>
              </a:rPr>
              <a:t>Advantages of IDPS:</a:t>
            </a:r>
            <a:endParaRPr lang="en-GB" sz="2400"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Comprehensive Security: </a:t>
            </a:r>
            <a:r>
              <a:rPr lang="en-GB" sz="2400" dirty="0">
                <a:latin typeface="Calibri" panose="020F0502020204030204" charset="0"/>
                <a:cs typeface="Calibri" panose="020F0502020204030204" charset="0"/>
                <a:sym typeface="+mn-ea"/>
              </a:rPr>
              <a:t>Provides the benefits of both IDS and IPS, offering visibility into network threats and real-time protection.</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Proactive </a:t>
            </a:r>
            <a:r>
              <a:rPr lang="en-GB" sz="2400" b="1" dirty="0" err="1">
                <a:latin typeface="Calibri" panose="020F0502020204030204" charset="0"/>
                <a:cs typeface="Calibri" panose="020F0502020204030204" charset="0"/>
                <a:sym typeface="+mn-ea"/>
              </a:rPr>
              <a:t>Defense</a:t>
            </a:r>
            <a:r>
              <a:rPr lang="en-GB" sz="2400" b="1" dirty="0">
                <a:latin typeface="Calibri" panose="020F0502020204030204" charset="0"/>
                <a:cs typeface="Calibri" panose="020F0502020204030204" charset="0"/>
                <a:sym typeface="+mn-ea"/>
              </a:rPr>
              <a:t>: </a:t>
            </a:r>
            <a:r>
              <a:rPr lang="en-GB" sz="2400" dirty="0">
                <a:latin typeface="Calibri" panose="020F0502020204030204" charset="0"/>
                <a:cs typeface="Calibri" panose="020F0502020204030204" charset="0"/>
                <a:sym typeface="+mn-ea"/>
              </a:rPr>
              <a:t>Organizations can detect and prevent attacks simultaneously, reducing the likelihood of successful breaches.</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Reduced Complexity: </a:t>
            </a:r>
            <a:r>
              <a:rPr lang="en-GB" sz="2400" dirty="0">
                <a:latin typeface="Calibri" panose="020F0502020204030204" charset="0"/>
                <a:cs typeface="Calibri" panose="020F0502020204030204" charset="0"/>
                <a:sym typeface="+mn-ea"/>
              </a:rPr>
              <a:t>With IDS and IPS integrated into one system, it simplifies management and monitoring.</a:t>
            </a:r>
          </a:p>
        </p:txBody>
      </p:sp>
      <p:sp>
        <p:nvSpPr>
          <p:cNvPr id="3" name="Title 2"/>
          <p:cNvSpPr>
            <a:spLocks noGrp="1"/>
          </p:cNvSpPr>
          <p:nvPr>
            <p:ph type="title"/>
          </p:nvPr>
        </p:nvSpPr>
        <p:spPr/>
        <p:txBody>
          <a:bodyPr/>
          <a:lstStyle/>
          <a:p>
            <a:pPr algn="ctr"/>
            <a:r>
              <a:rPr lang="en-US" b="1" dirty="0">
                <a:latin typeface="+mj-lt"/>
              </a:rPr>
              <a:t>IDS AND IPS INTEGRATION</a:t>
            </a:r>
          </a:p>
        </p:txBody>
      </p:sp>
      <p:sp>
        <p:nvSpPr>
          <p:cNvPr id="4" name="Slide Number Placeholder 3"/>
          <p:cNvSpPr>
            <a:spLocks noGrp="1"/>
          </p:cNvSpPr>
          <p:nvPr>
            <p:ph type="sldNum" sz="quarter" idx="12"/>
          </p:nvPr>
        </p:nvSpPr>
        <p:spPr/>
        <p:txBody>
          <a:bodyPr/>
          <a:lstStyle/>
          <a:p>
            <a:fld id="{02C84146-E65B-4948-A521-8AE14AC02658}"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rcRect t="7104"/>
          <a:stretch>
            <a:fillRect/>
          </a:stretch>
        </p:blipFill>
        <p:spPr>
          <a:xfrm>
            <a:off x="3354705" y="1017905"/>
            <a:ext cx="5086985" cy="5321935"/>
          </a:xfrm>
          <a:prstGeom prst="rect">
            <a:avLst/>
          </a:prstGeom>
        </p:spPr>
      </p:pic>
      <p:sp>
        <p:nvSpPr>
          <p:cNvPr id="3" name="Title 2"/>
          <p:cNvSpPr>
            <a:spLocks noGrp="1"/>
          </p:cNvSpPr>
          <p:nvPr>
            <p:ph type="title"/>
          </p:nvPr>
        </p:nvSpPr>
        <p:spPr/>
        <p:txBody>
          <a:bodyPr/>
          <a:lstStyle/>
          <a:p>
            <a:pPr algn="ctr"/>
            <a:r>
              <a:rPr lang="en-US" b="1" dirty="0">
                <a:latin typeface="+mj-lt"/>
                <a:sym typeface="+mn-ea"/>
              </a:rPr>
              <a:t>IDS AND IPS INTEGRATION</a:t>
            </a:r>
            <a:endParaRPr lang="en-US" dirty="0">
              <a:latin typeface="+mj-lt"/>
            </a:endParaRPr>
          </a:p>
        </p:txBody>
      </p:sp>
      <p:sp>
        <p:nvSpPr>
          <p:cNvPr id="4" name="Slide Number Placeholder 3"/>
          <p:cNvSpPr>
            <a:spLocks noGrp="1"/>
          </p:cNvSpPr>
          <p:nvPr>
            <p:ph type="sldNum" sz="quarter" idx="12"/>
          </p:nvPr>
        </p:nvSpPr>
        <p:spPr/>
        <p:txBody>
          <a:bodyPr/>
          <a:lstStyle/>
          <a:p>
            <a:fld id="{02C84146-E65B-4948-A521-8AE14AC02658}"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sz="2400" b="1" dirty="0">
                <a:latin typeface="Calibri" panose="020F0502020204030204" charset="0"/>
                <a:cs typeface="Calibri" panose="020F0502020204030204" charset="0"/>
                <a:sym typeface="+mn-ea"/>
              </a:rPr>
              <a:t>Intrusion Detection Systems (IDS):</a:t>
            </a:r>
            <a:endParaRPr lang="en-GB" sz="2400"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Threat Monitoring: </a:t>
            </a:r>
            <a:r>
              <a:rPr lang="en-GB" sz="2400" dirty="0">
                <a:latin typeface="Calibri" panose="020F0502020204030204" charset="0"/>
                <a:cs typeface="Calibri" panose="020F0502020204030204" charset="0"/>
                <a:sym typeface="+mn-ea"/>
              </a:rPr>
              <a:t>Ideal for organizations that want to monitor threats passively and respond manually.</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Compliance and Auditing: </a:t>
            </a:r>
            <a:r>
              <a:rPr lang="en-GB" sz="2400" dirty="0">
                <a:latin typeface="Calibri" panose="020F0502020204030204" charset="0"/>
                <a:cs typeface="Calibri" panose="020F0502020204030204" charset="0"/>
                <a:sym typeface="+mn-ea"/>
              </a:rPr>
              <a:t>Provides a detailed audit trail of network activity, useful for compliance with regulations like GDPR or HIPAA.</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Forensic Analysis: </a:t>
            </a:r>
            <a:r>
              <a:rPr lang="en-GB" sz="2400" dirty="0">
                <a:latin typeface="Calibri" panose="020F0502020204030204" charset="0"/>
                <a:cs typeface="Calibri" panose="020F0502020204030204" charset="0"/>
                <a:sym typeface="+mn-ea"/>
              </a:rPr>
              <a:t>Captures network activity for later analysis during incident response.</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defRPr/>
            </a:pPr>
            <a:r>
              <a:rPr lang="en-GB" sz="2400" b="1" dirty="0">
                <a:latin typeface="Calibri" panose="020F0502020204030204" charset="0"/>
                <a:cs typeface="Calibri" panose="020F0502020204030204" charset="0"/>
                <a:sym typeface="+mn-ea"/>
              </a:rPr>
              <a:t>Intrusion Prevention Systems (IPS):</a:t>
            </a:r>
            <a:endParaRPr lang="en-GB" sz="2400" b="1"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Proactive </a:t>
            </a:r>
            <a:r>
              <a:rPr lang="en-GB" sz="2400" b="1" dirty="0" err="1">
                <a:latin typeface="Calibri" panose="020F0502020204030204" charset="0"/>
                <a:cs typeface="Calibri" panose="020F0502020204030204" charset="0"/>
                <a:sym typeface="+mn-ea"/>
              </a:rPr>
              <a:t>Defense</a:t>
            </a:r>
            <a:r>
              <a:rPr lang="en-GB" sz="2400" b="1" dirty="0">
                <a:latin typeface="Calibri" panose="020F0502020204030204" charset="0"/>
                <a:cs typeface="Calibri" panose="020F0502020204030204" charset="0"/>
                <a:sym typeface="+mn-ea"/>
              </a:rPr>
              <a:t>: </a:t>
            </a:r>
            <a:r>
              <a:rPr lang="en-GB" sz="2400" dirty="0">
                <a:latin typeface="Calibri" panose="020F0502020204030204" charset="0"/>
                <a:cs typeface="Calibri" panose="020F0502020204030204" charset="0"/>
                <a:sym typeface="+mn-ea"/>
              </a:rPr>
              <a:t>IPS is useful for preventing malware, DDoS attacks, and other threats in real-time.</a:t>
            </a:r>
            <a:endParaRPr lang="en-GB" sz="2400" dirty="0">
              <a:latin typeface="Calibri" panose="020F0502020204030204" charset="0"/>
              <a:cs typeface="Calibri" panose="020F0502020204030204" charset="0"/>
            </a:endParaRPr>
          </a:p>
          <a:p>
            <a:pPr marL="285750" marR="0" lvl="0" indent="-285750" algn="just"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à"/>
              <a:defRPr/>
            </a:pPr>
            <a:r>
              <a:rPr lang="en-GB" sz="2400" b="1" dirty="0">
                <a:latin typeface="Calibri" panose="020F0502020204030204" charset="0"/>
                <a:cs typeface="Calibri" panose="020F0502020204030204" charset="0"/>
                <a:sym typeface="+mn-ea"/>
              </a:rPr>
              <a:t>High-Security Environments: </a:t>
            </a:r>
            <a:r>
              <a:rPr lang="en-GB" sz="2400" dirty="0">
                <a:latin typeface="Calibri" panose="020F0502020204030204" charset="0"/>
                <a:cs typeface="Calibri" panose="020F0502020204030204" charset="0"/>
                <a:sym typeface="+mn-ea"/>
              </a:rPr>
              <a:t>Critical infrastructure, financial institutions, and organizations that cannot tolerate any downtime or breaches benefit from IPS.</a:t>
            </a:r>
          </a:p>
        </p:txBody>
      </p:sp>
      <p:sp>
        <p:nvSpPr>
          <p:cNvPr id="3" name="Title 2"/>
          <p:cNvSpPr>
            <a:spLocks noGrp="1"/>
          </p:cNvSpPr>
          <p:nvPr>
            <p:ph type="title"/>
          </p:nvPr>
        </p:nvSpPr>
        <p:spPr/>
        <p:txBody>
          <a:bodyPr/>
          <a:lstStyle/>
          <a:p>
            <a:pPr algn="ctr"/>
            <a:r>
              <a:rPr lang="en-US" b="1" dirty="0">
                <a:latin typeface="+mj-lt"/>
              </a:rPr>
              <a:t>USE CASES OF IDS &amp; IPS</a:t>
            </a:r>
          </a:p>
        </p:txBody>
      </p:sp>
      <p:sp>
        <p:nvSpPr>
          <p:cNvPr id="4" name="Slide Number Placeholder 3"/>
          <p:cNvSpPr>
            <a:spLocks noGrp="1"/>
          </p:cNvSpPr>
          <p:nvPr>
            <p:ph type="sldNum" sz="quarter" idx="12"/>
          </p:nvPr>
        </p:nvSpPr>
        <p:spPr/>
        <p:txBody>
          <a:bodyPr/>
          <a:lstStyle/>
          <a:p>
            <a:fld id="{02C84146-E65B-4948-A521-8AE14AC02658}"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4D070FFA-50FF-E4E7-4902-56DB1F77FFB1}"/>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4020A282-3178-C141-3968-83F0DB7F2CEA}"/>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This intrusion detection system takes the host as a complete world in itself. It can be a computer (PC) or a server that can serve as a system in itself, analysing and monitoring its internals. It operates by examining the files/data incoming and outgoing from the host it is operating upon. It works by taking a snapshot of the existing file system from the one taken previously and comparing them against each other. If they are the same, the host is safe and devoid of attack whereas changes might point towards a potential attack.</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5D845CC1-8488-0893-7D9F-5649DFC303EB}"/>
              </a:ext>
            </a:extLst>
          </p:cNvPr>
          <p:cNvSpPr txBox="1">
            <a:spLocks noGrp="1"/>
          </p:cNvSpPr>
          <p:nvPr>
            <p:ph type="title"/>
          </p:nvPr>
        </p:nvSpPr>
        <p:spPr>
          <a:xfrm>
            <a:off x="803031" y="179510"/>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000" b="1" dirty="0">
                <a:latin typeface="Arial"/>
                <a:ea typeface="Arial"/>
                <a:cs typeface="Arial"/>
                <a:sym typeface="Arial"/>
              </a:rPr>
              <a:t>HIDS (HOST BASED INTRUSION DETECTION SYSTEM)</a:t>
            </a:r>
            <a:endParaRPr sz="3000" b="1" dirty="0">
              <a:latin typeface="Arial"/>
              <a:ea typeface="Arial"/>
              <a:cs typeface="Arial"/>
              <a:sym typeface="Arial"/>
            </a:endParaRPr>
          </a:p>
        </p:txBody>
      </p:sp>
      <p:sp>
        <p:nvSpPr>
          <p:cNvPr id="121" name="Google Shape;121;p3">
            <a:extLst>
              <a:ext uri="{FF2B5EF4-FFF2-40B4-BE49-F238E27FC236}">
                <a16:creationId xmlns:a16="http://schemas.microsoft.com/office/drawing/2014/main" id="{DA8FE696-1206-1479-3716-FAF395BB7DB3}"/>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3705664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6F20AD2C-13D0-F9E0-22CC-C575BB5149D9}"/>
            </a:ext>
          </a:extLst>
        </p:cNvPr>
        <p:cNvGrpSpPr/>
        <p:nvPr/>
      </p:nvGrpSpPr>
      <p:grpSpPr>
        <a:xfrm>
          <a:off x="0" y="0"/>
          <a:ext cx="0" cy="0"/>
          <a:chOff x="0" y="0"/>
          <a:chExt cx="0" cy="0"/>
        </a:xfrm>
      </p:grpSpPr>
      <p:sp>
        <p:nvSpPr>
          <p:cNvPr id="121" name="Google Shape;121;p3">
            <a:extLst>
              <a:ext uri="{FF2B5EF4-FFF2-40B4-BE49-F238E27FC236}">
                <a16:creationId xmlns:a16="http://schemas.microsoft.com/office/drawing/2014/main" id="{22B2EA20-14B8-E5F2-DBC9-1CA7F91FDE71}"/>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
        <p:nvSpPr>
          <p:cNvPr id="2" name="Google Shape;120;p3">
            <a:extLst>
              <a:ext uri="{FF2B5EF4-FFF2-40B4-BE49-F238E27FC236}">
                <a16:creationId xmlns:a16="http://schemas.microsoft.com/office/drawing/2014/main" id="{778EC760-0AAC-CB1C-489F-61A85E2C916B}"/>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000" b="1" dirty="0">
                <a:latin typeface="Arial"/>
                <a:ea typeface="Arial"/>
                <a:cs typeface="Arial"/>
                <a:sym typeface="Arial"/>
              </a:rPr>
              <a:t>HIDS (HOST BASED INTRUSION DETECTION SYSTEM)</a:t>
            </a:r>
            <a:endParaRPr sz="3000" b="1" dirty="0">
              <a:latin typeface="Arial"/>
              <a:ea typeface="Arial"/>
              <a:cs typeface="Arial"/>
              <a:sym typeface="Arial"/>
            </a:endParaRPr>
          </a:p>
        </p:txBody>
      </p:sp>
      <p:pic>
        <p:nvPicPr>
          <p:cNvPr id="4" name="Picture 3">
            <a:extLst>
              <a:ext uri="{FF2B5EF4-FFF2-40B4-BE49-F238E27FC236}">
                <a16:creationId xmlns:a16="http://schemas.microsoft.com/office/drawing/2014/main" id="{37F300F9-1A30-9A17-DEFE-007E2EC729EF}"/>
              </a:ext>
            </a:extLst>
          </p:cNvPr>
          <p:cNvPicPr>
            <a:picLocks noChangeAspect="1"/>
          </p:cNvPicPr>
          <p:nvPr/>
        </p:nvPicPr>
        <p:blipFill>
          <a:blip r:embed="rId3"/>
          <a:stretch>
            <a:fillRect/>
          </a:stretch>
        </p:blipFill>
        <p:spPr>
          <a:xfrm>
            <a:off x="2854793" y="1106381"/>
            <a:ext cx="6293502" cy="5170714"/>
          </a:xfrm>
          <a:prstGeom prst="rect">
            <a:avLst/>
          </a:prstGeom>
        </p:spPr>
      </p:pic>
    </p:spTree>
    <p:extLst>
      <p:ext uri="{BB962C8B-B14F-4D97-AF65-F5344CB8AC3E}">
        <p14:creationId xmlns:p14="http://schemas.microsoft.com/office/powerpoint/2010/main" val="1098390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A626EF11-1722-FB11-457F-D22C13F3ABB8}"/>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72E0F790-259E-B8BE-8D2E-4DE08ADFF537}"/>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algn="just" fontAlgn="base"/>
            <a:r>
              <a:rPr lang="en-IN" b="1" dirty="0">
                <a:latin typeface="Calibri" panose="020F0502020204030204" pitchFamily="34" charset="0"/>
                <a:ea typeface="Calibri" panose="020F0502020204030204" pitchFamily="34" charset="0"/>
                <a:cs typeface="Calibri" panose="020F0502020204030204" pitchFamily="34" charset="0"/>
              </a:rPr>
              <a:t>Advantages of HIDS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Analyse what an application does.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Detects the attacks excluded from the network</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Disadvantage of HIDS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Excluded from the network</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Needs to be installed on every host spot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Passive in nature, so it just informs about the attack without doing anything about it.</a:t>
            </a:r>
          </a:p>
        </p:txBody>
      </p:sp>
      <p:sp>
        <p:nvSpPr>
          <p:cNvPr id="121" name="Google Shape;121;p3">
            <a:extLst>
              <a:ext uri="{FF2B5EF4-FFF2-40B4-BE49-F238E27FC236}">
                <a16:creationId xmlns:a16="http://schemas.microsoft.com/office/drawing/2014/main" id="{B5F7BA64-73C1-68B0-3EC3-A9895457C9F5}"/>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
        <p:nvSpPr>
          <p:cNvPr id="3" name="Google Shape;120;p3">
            <a:extLst>
              <a:ext uri="{FF2B5EF4-FFF2-40B4-BE49-F238E27FC236}">
                <a16:creationId xmlns:a16="http://schemas.microsoft.com/office/drawing/2014/main" id="{087F9903-B46B-09E3-A1BC-51B17046B5D3}"/>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3000" b="1" dirty="0">
                <a:latin typeface="Arial"/>
                <a:ea typeface="Arial"/>
                <a:cs typeface="Arial"/>
                <a:sym typeface="Arial"/>
              </a:rPr>
              <a:t>HIDS (HOST BASED INTRUSION DETECTION SYSTEM)</a:t>
            </a:r>
            <a:endParaRPr sz="3000" b="1" dirty="0">
              <a:latin typeface="Arial"/>
              <a:ea typeface="Arial"/>
              <a:cs typeface="Arial"/>
              <a:sym typeface="Arial"/>
            </a:endParaRPr>
          </a:p>
        </p:txBody>
      </p:sp>
    </p:spTree>
    <p:extLst>
      <p:ext uri="{BB962C8B-B14F-4D97-AF65-F5344CB8AC3E}">
        <p14:creationId xmlns:p14="http://schemas.microsoft.com/office/powerpoint/2010/main" val="32623455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53B5D54A-F455-C832-C539-522DE3E37F10}"/>
            </a:ext>
          </a:extLst>
        </p:cNvPr>
        <p:cNvGrpSpPr/>
        <p:nvPr/>
      </p:nvGrpSpPr>
      <p:grpSpPr>
        <a:xfrm>
          <a:off x="0" y="0"/>
          <a:ext cx="0" cy="0"/>
          <a:chOff x="0" y="0"/>
          <a:chExt cx="0" cy="0"/>
        </a:xfrm>
      </p:grpSpPr>
      <p:sp>
        <p:nvSpPr>
          <p:cNvPr id="119" name="Google Shape;119;p3">
            <a:extLst>
              <a:ext uri="{FF2B5EF4-FFF2-40B4-BE49-F238E27FC236}">
                <a16:creationId xmlns:a16="http://schemas.microsoft.com/office/drawing/2014/main" id="{649456CD-6353-72CC-62F2-3BF986BB55F3}"/>
              </a:ext>
            </a:extLst>
          </p:cNvPr>
          <p:cNvSpPr txBox="1">
            <a:spLocks noGrp="1"/>
          </p:cNvSpPr>
          <p:nvPr>
            <p:ph type="body" idx="1"/>
          </p:nvPr>
        </p:nvSpPr>
        <p:spPr>
          <a:xfrm>
            <a:off x="838201" y="1224825"/>
            <a:ext cx="10515601" cy="4933950"/>
          </a:xfrm>
          <a:prstGeom prst="rect">
            <a:avLst/>
          </a:prstGeom>
          <a:noFill/>
          <a:ln>
            <a:noFill/>
          </a:ln>
        </p:spPr>
        <p:txBody>
          <a:bodyPr spcFirstLastPara="1" wrap="square" lIns="91425" tIns="45700" rIns="91425" bIns="45700" anchor="t" anchorCtr="0">
            <a:no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This intrusion detection system takes charge. Installation points of HIDS and NIDS of the entire network and is capable of operation in mixed and hybrid environments. If anything malicious or unusual is detected on the network or cloud or any other mixed environment it will initiate alerts. </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20" name="Google Shape;120;p3">
            <a:extLst>
              <a:ext uri="{FF2B5EF4-FFF2-40B4-BE49-F238E27FC236}">
                <a16:creationId xmlns:a16="http://schemas.microsoft.com/office/drawing/2014/main" id="{2E5281BF-42A6-381E-FC88-B08B81516650}"/>
              </a:ext>
            </a:extLst>
          </p:cNvPr>
          <p:cNvSpPr txBox="1">
            <a:spLocks noGrp="1"/>
          </p:cNvSpPr>
          <p:nvPr>
            <p:ph type="title"/>
          </p:nvPr>
        </p:nvSpPr>
        <p:spPr>
          <a:xfrm>
            <a:off x="803031" y="190396"/>
            <a:ext cx="10397272" cy="71913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2800" b="1" dirty="0">
                <a:latin typeface="Arial"/>
                <a:ea typeface="Arial"/>
                <a:cs typeface="Arial"/>
                <a:sym typeface="Arial"/>
              </a:rPr>
              <a:t>NIDS (NETWORK BASED INTRUSION DETECTION SYSTEM)</a:t>
            </a:r>
            <a:endParaRPr sz="2800" b="1" dirty="0">
              <a:latin typeface="Arial"/>
              <a:ea typeface="Arial"/>
              <a:cs typeface="Arial"/>
              <a:sym typeface="Arial"/>
            </a:endParaRPr>
          </a:p>
        </p:txBody>
      </p:sp>
      <p:sp>
        <p:nvSpPr>
          <p:cNvPr id="121" name="Google Shape;121;p3">
            <a:extLst>
              <a:ext uri="{FF2B5EF4-FFF2-40B4-BE49-F238E27FC236}">
                <a16:creationId xmlns:a16="http://schemas.microsoft.com/office/drawing/2014/main" id="{2C039B91-7BBB-A272-E42E-465CC45C20B2}"/>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1866145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F8254151-8F5A-ABB2-B3D4-A957BA2C177E}"/>
            </a:ext>
          </a:extLst>
        </p:cNvPr>
        <p:cNvGrpSpPr/>
        <p:nvPr/>
      </p:nvGrpSpPr>
      <p:grpSpPr>
        <a:xfrm>
          <a:off x="0" y="0"/>
          <a:ext cx="0" cy="0"/>
          <a:chOff x="0" y="0"/>
          <a:chExt cx="0" cy="0"/>
        </a:xfrm>
      </p:grpSpPr>
      <p:sp>
        <p:nvSpPr>
          <p:cNvPr id="121" name="Google Shape;121;p3">
            <a:extLst>
              <a:ext uri="{FF2B5EF4-FFF2-40B4-BE49-F238E27FC236}">
                <a16:creationId xmlns:a16="http://schemas.microsoft.com/office/drawing/2014/main" id="{D9340955-8BAB-020B-EDB5-AE811A53B455}"/>
              </a:ext>
            </a:extLst>
          </p:cNvPr>
          <p:cNvSpPr txBox="1">
            <a:spLocks noGrp="1"/>
          </p:cNvSpPr>
          <p:nvPr>
            <p:ph type="sldNum" idx="12"/>
          </p:nvPr>
        </p:nvSpPr>
        <p:spPr>
          <a:xfrm>
            <a:off x="8610602" y="6484951"/>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sp>
        <p:nvSpPr>
          <p:cNvPr id="2" name="Google Shape;120;p3">
            <a:extLst>
              <a:ext uri="{FF2B5EF4-FFF2-40B4-BE49-F238E27FC236}">
                <a16:creationId xmlns:a16="http://schemas.microsoft.com/office/drawing/2014/main" id="{65737A42-4897-86EB-2509-844028B96F34}"/>
              </a:ext>
            </a:extLst>
          </p:cNvPr>
          <p:cNvSpPr txBox="1">
            <a:spLocks noGrp="1"/>
          </p:cNvSpPr>
          <p:nvPr>
            <p:ph type="title"/>
          </p:nvPr>
        </p:nvSpPr>
        <p:spPr>
          <a:xfrm>
            <a:off x="803275" y="179388"/>
            <a:ext cx="10396538" cy="71913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2800" b="1" dirty="0">
                <a:latin typeface="Arial"/>
                <a:ea typeface="Arial"/>
                <a:cs typeface="Arial"/>
                <a:sym typeface="Arial"/>
              </a:rPr>
              <a:t>NIDS (NETWORK BASED INTRUSION DETECTION SYSTEM)</a:t>
            </a:r>
            <a:endParaRPr sz="2800" b="1" dirty="0">
              <a:latin typeface="Arial"/>
              <a:ea typeface="Arial"/>
              <a:cs typeface="Arial"/>
              <a:sym typeface="Arial"/>
            </a:endParaRPr>
          </a:p>
        </p:txBody>
      </p:sp>
      <p:pic>
        <p:nvPicPr>
          <p:cNvPr id="4" name="Picture 3">
            <a:extLst>
              <a:ext uri="{FF2B5EF4-FFF2-40B4-BE49-F238E27FC236}">
                <a16:creationId xmlns:a16="http://schemas.microsoft.com/office/drawing/2014/main" id="{FEBC41C9-D015-B5DF-2065-165DDB9929D4}"/>
              </a:ext>
            </a:extLst>
          </p:cNvPr>
          <p:cNvPicPr>
            <a:picLocks noChangeAspect="1"/>
          </p:cNvPicPr>
          <p:nvPr/>
        </p:nvPicPr>
        <p:blipFill>
          <a:blip r:embed="rId3"/>
          <a:stretch>
            <a:fillRect/>
          </a:stretch>
        </p:blipFill>
        <p:spPr>
          <a:xfrm>
            <a:off x="2286000" y="1339063"/>
            <a:ext cx="7620000" cy="4705350"/>
          </a:xfrm>
          <a:prstGeom prst="rect">
            <a:avLst/>
          </a:prstGeom>
        </p:spPr>
      </p:pic>
    </p:spTree>
    <p:extLst>
      <p:ext uri="{BB962C8B-B14F-4D97-AF65-F5344CB8AC3E}">
        <p14:creationId xmlns:p14="http://schemas.microsoft.com/office/powerpoint/2010/main" val="16152795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7B050D5-74B1-C47A-B315-05E201EC251C}"/>
              </a:ext>
            </a:extLst>
          </p:cNvPr>
          <p:cNvSpPr>
            <a:spLocks noGrp="1"/>
          </p:cNvSpPr>
          <p:nvPr>
            <p:ph type="body" idx="1"/>
          </p:nvPr>
        </p:nvSpPr>
        <p:spPr/>
        <p:txBody>
          <a:bodyPr/>
          <a:lstStyle/>
          <a:p>
            <a:pPr algn="just" fontAlgn="base"/>
            <a:r>
              <a:rPr lang="en-IN" b="1" dirty="0">
                <a:latin typeface="Calibri" panose="020F0502020204030204" pitchFamily="34" charset="0"/>
                <a:ea typeface="Calibri" panose="020F0502020204030204" pitchFamily="34" charset="0"/>
                <a:cs typeface="Calibri" panose="020F0502020204030204" pitchFamily="34" charset="0"/>
              </a:rPr>
              <a:t>Advantage of NID</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Detect attacks in the entire network</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can use the information collected from attacks on different hosts to detect attacks on a new or fresh host.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Host production/performance remains unaffected.</a:t>
            </a:r>
          </a:p>
          <a:p>
            <a:pPr algn="just" fontAlgn="base"/>
            <a:r>
              <a:rPr lang="en-IN" b="1" dirty="0">
                <a:latin typeface="Calibri" panose="020F0502020204030204" pitchFamily="34" charset="0"/>
                <a:ea typeface="Calibri" panose="020F0502020204030204" pitchFamily="34" charset="0"/>
                <a:cs typeface="Calibri" panose="020F0502020204030204" pitchFamily="34" charset="0"/>
              </a:rPr>
              <a:t>Disadvantage of NID</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might be slow as compared to the network speed.</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Scrutinizing protected channels may possess difficult. </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It is also passive in nature.</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395594C-8D3B-D0F2-6A6B-340A6AF8F7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
        <p:nvSpPr>
          <p:cNvPr id="5" name="Google Shape;120;p3">
            <a:extLst>
              <a:ext uri="{FF2B5EF4-FFF2-40B4-BE49-F238E27FC236}">
                <a16:creationId xmlns:a16="http://schemas.microsoft.com/office/drawing/2014/main" id="{1EAC4806-79F1-1704-3B6D-1DCE6A4C4BA8}"/>
              </a:ext>
            </a:extLst>
          </p:cNvPr>
          <p:cNvSpPr txBox="1">
            <a:spLocks noGrp="1"/>
          </p:cNvSpPr>
          <p:nvPr>
            <p:ph type="title"/>
          </p:nvPr>
        </p:nvSpPr>
        <p:spPr>
          <a:xfrm>
            <a:off x="838200" y="238125"/>
            <a:ext cx="10444163" cy="7191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Arial"/>
              <a:buNone/>
            </a:pPr>
            <a:r>
              <a:rPr lang="en-US" sz="2800" b="1" dirty="0">
                <a:latin typeface="Arial"/>
                <a:ea typeface="Arial"/>
                <a:cs typeface="Arial"/>
                <a:sym typeface="Arial"/>
              </a:rPr>
              <a:t>NIDS (NETWORK BASED INTRUSION DETECTION SYSTEM)</a:t>
            </a:r>
            <a:endParaRPr sz="2800" b="1" dirty="0">
              <a:latin typeface="Arial"/>
              <a:ea typeface="Arial"/>
              <a:cs typeface="Arial"/>
              <a:sym typeface="Arial"/>
            </a:endParaRPr>
          </a:p>
        </p:txBody>
      </p:sp>
    </p:spTree>
    <p:extLst>
      <p:ext uri="{BB962C8B-B14F-4D97-AF65-F5344CB8AC3E}">
        <p14:creationId xmlns:p14="http://schemas.microsoft.com/office/powerpoint/2010/main" val="28028082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C9AEB4-A17F-1483-7011-BE281575FD59}"/>
              </a:ext>
            </a:extLst>
          </p:cNvPr>
          <p:cNvSpPr>
            <a:spLocks noGrp="1"/>
          </p:cNvSpPr>
          <p:nvPr>
            <p:ph type="title"/>
          </p:nvPr>
        </p:nvSpPr>
        <p:spPr/>
        <p:txBody>
          <a:bodyPr/>
          <a:lstStyle/>
          <a:p>
            <a:pPr algn="ctr"/>
            <a:r>
              <a:rPr lang="en-US" b="1" dirty="0">
                <a:latin typeface="+mj-lt"/>
              </a:rPr>
              <a:t>HIDS v/s NIDS</a:t>
            </a:r>
            <a:endParaRPr lang="en-IN" b="1" dirty="0">
              <a:latin typeface="+mj-lt"/>
            </a:endParaRPr>
          </a:p>
        </p:txBody>
      </p:sp>
      <p:sp>
        <p:nvSpPr>
          <p:cNvPr id="4" name="Slide Number Placeholder 3">
            <a:extLst>
              <a:ext uri="{FF2B5EF4-FFF2-40B4-BE49-F238E27FC236}">
                <a16:creationId xmlns:a16="http://schemas.microsoft.com/office/drawing/2014/main" id="{2AC39220-027C-5A8D-142C-832472E3ADE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graphicFrame>
        <p:nvGraphicFramePr>
          <p:cNvPr id="5" name="Table 4">
            <a:extLst>
              <a:ext uri="{FF2B5EF4-FFF2-40B4-BE49-F238E27FC236}">
                <a16:creationId xmlns:a16="http://schemas.microsoft.com/office/drawing/2014/main" id="{3D06BC9F-00C0-06E9-E931-5BD72A9B73BD}"/>
              </a:ext>
            </a:extLst>
          </p:cNvPr>
          <p:cNvGraphicFramePr>
            <a:graphicFrameLocks noGrp="1"/>
          </p:cNvGraphicFramePr>
          <p:nvPr>
            <p:extLst>
              <p:ext uri="{D42A27DB-BD31-4B8C-83A1-F6EECF244321}">
                <p14:modId xmlns:p14="http://schemas.microsoft.com/office/powerpoint/2010/main" val="1883768831"/>
              </p:ext>
            </p:extLst>
          </p:nvPr>
        </p:nvGraphicFramePr>
        <p:xfrm>
          <a:off x="838197" y="1087755"/>
          <a:ext cx="10444163" cy="5196840"/>
        </p:xfrm>
        <a:graphic>
          <a:graphicData uri="http://schemas.openxmlformats.org/drawingml/2006/table">
            <a:tbl>
              <a:tblPr firstRow="1" bandRow="1">
                <a:tableStyleId>{5C22544A-7EE6-4342-B048-85BDC9FD1C3A}</a:tableStyleId>
              </a:tblPr>
              <a:tblGrid>
                <a:gridCol w="1771696">
                  <a:extLst>
                    <a:ext uri="{9D8B030D-6E8A-4147-A177-3AD203B41FA5}">
                      <a16:colId xmlns:a16="http://schemas.microsoft.com/office/drawing/2014/main" val="1800410655"/>
                    </a:ext>
                  </a:extLst>
                </a:gridCol>
                <a:gridCol w="4212678">
                  <a:extLst>
                    <a:ext uri="{9D8B030D-6E8A-4147-A177-3AD203B41FA5}">
                      <a16:colId xmlns:a16="http://schemas.microsoft.com/office/drawing/2014/main" val="1290462887"/>
                    </a:ext>
                  </a:extLst>
                </a:gridCol>
                <a:gridCol w="4459789">
                  <a:extLst>
                    <a:ext uri="{9D8B030D-6E8A-4147-A177-3AD203B41FA5}">
                      <a16:colId xmlns:a16="http://schemas.microsoft.com/office/drawing/2014/main" val="1600971808"/>
                    </a:ext>
                  </a:extLst>
                </a:gridCol>
              </a:tblGrid>
              <a:tr h="420714">
                <a:tc>
                  <a:txBody>
                    <a:bodyPr/>
                    <a:lstStyle/>
                    <a:p>
                      <a:pPr marL="0" marR="0" algn="ctr" fontAlgn="base">
                        <a:spcBef>
                          <a:spcPts val="1875"/>
                        </a:spcBef>
                        <a:spcAft>
                          <a:spcPts val="1875"/>
                        </a:spcAft>
                        <a:buNone/>
                      </a:pPr>
                      <a:r>
                        <a:rPr lang="en-IN" sz="22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Categories</a:t>
                      </a:r>
                    </a:p>
                  </a:txBody>
                  <a:tcPr marL="38100" marR="38100" marT="63500" marB="63500" anchor="ctr"/>
                </a:tc>
                <a:tc>
                  <a:txBody>
                    <a:bodyPr/>
                    <a:lstStyle/>
                    <a:p>
                      <a:pPr marL="0" marR="0" algn="ctr" rtl="0" fontAlgn="base">
                        <a:spcBef>
                          <a:spcPts val="1875"/>
                        </a:spcBef>
                        <a:spcAft>
                          <a:spcPts val="750"/>
                        </a:spcAft>
                        <a:buNone/>
                      </a:pPr>
                      <a:r>
                        <a:rPr lang="en-IN" sz="22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HIDS</a:t>
                      </a:r>
                      <a:endParaRPr lang="en-IN" sz="2200" b="0"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tc>
                  <a:txBody>
                    <a:bodyPr/>
                    <a:lstStyle/>
                    <a:p>
                      <a:pPr marL="0" marR="0" algn="ctr" rtl="0" fontAlgn="base">
                        <a:spcBef>
                          <a:spcPts val="1875"/>
                        </a:spcBef>
                        <a:spcAft>
                          <a:spcPts val="750"/>
                        </a:spcAft>
                        <a:buNone/>
                      </a:pPr>
                      <a:r>
                        <a:rPr lang="en-IN" sz="22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NIDS</a:t>
                      </a:r>
                      <a:endParaRPr lang="en-IN" sz="2200" b="0"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292334298"/>
                  </a:ext>
                </a:extLst>
              </a:tr>
              <a:tr h="508647">
                <a:tc>
                  <a:txBody>
                    <a:bodyPr/>
                    <a:lstStyle/>
                    <a:p>
                      <a:pPr marL="0" marR="0" algn="just" fontAlgn="ctr">
                        <a:spcBef>
                          <a:spcPts val="1875"/>
                        </a:spcBef>
                        <a:spcAft>
                          <a:spcPts val="1875"/>
                        </a:spcAft>
                        <a:buNone/>
                      </a:pPr>
                      <a:r>
                        <a:rPr lang="en-IN" sz="2200" b="1"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Definition</a:t>
                      </a:r>
                      <a:endParaRPr lang="en-IN" sz="22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Host </a:t>
                      </a:r>
                      <a:r>
                        <a:rPr lang="en-IN" sz="2200" b="0" i="0" u="none"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Intrusion Detection System</a:t>
                      </a:r>
                      <a:endParaRPr lang="en-IN" sz="22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Network Intrusion Detection System</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952198148"/>
                  </a:ext>
                </a:extLst>
              </a:tr>
              <a:tr h="490481">
                <a:tc>
                  <a:txBody>
                    <a:bodyPr/>
                    <a:lstStyle/>
                    <a:p>
                      <a:pPr marL="0" marR="0" algn="just" fontAlgn="ctr">
                        <a:spcBef>
                          <a:spcPts val="1875"/>
                        </a:spcBef>
                        <a:spcAft>
                          <a:spcPts val="1875"/>
                        </a:spcAft>
                        <a:buNone/>
                      </a:pPr>
                      <a:r>
                        <a:rPr lang="en-IN" sz="22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Type</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It doesn't work in real-time</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Operates in real-time</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482202522"/>
                  </a:ext>
                </a:extLst>
              </a:tr>
              <a:tr h="1665970">
                <a:tc>
                  <a:txBody>
                    <a:bodyPr/>
                    <a:lstStyle/>
                    <a:p>
                      <a:pPr marL="0" marR="0" algn="just" fontAlgn="ctr">
                        <a:spcBef>
                          <a:spcPts val="1875"/>
                        </a:spcBef>
                        <a:spcAft>
                          <a:spcPts val="1875"/>
                        </a:spcAft>
                        <a:buNone/>
                      </a:pPr>
                      <a:r>
                        <a:rPr lang="en-IN" sz="2200" b="1"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Concern</a:t>
                      </a:r>
                      <a:endParaRPr lang="en-IN" sz="22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HIDS is related to just a single system, as the name suggests it is only concerned with the threats related to the Host system/computer, </a:t>
                      </a:r>
                      <a:endParaRPr lang="en-IN" sz="22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NIDS is concerned with the entire network system, NIDS examines the activities and traffic of all the systems in the network.</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608429408"/>
                  </a:ext>
                </a:extLst>
              </a:tr>
              <a:tr h="1665970">
                <a:tc>
                  <a:txBody>
                    <a:bodyPr/>
                    <a:lstStyle/>
                    <a:p>
                      <a:pPr marL="0" marR="0" algn="just" fontAlgn="ctr">
                        <a:spcBef>
                          <a:spcPts val="1875"/>
                        </a:spcBef>
                        <a:spcAft>
                          <a:spcPts val="1875"/>
                        </a:spcAft>
                        <a:buNone/>
                      </a:pPr>
                      <a:r>
                        <a:rPr lang="en-IN" sz="22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Installation Point</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HIDS can be installed on each and every computer or server i.e., anything that can serve as a host.</a:t>
                      </a:r>
                      <a:endParaRPr lang="en-IN" sz="22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2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NIDS being concerned with the network is installed at places like </a:t>
                      </a:r>
                      <a:r>
                        <a:rPr lang="en-IN" sz="2200" b="0" i="0" u="none" spc="12"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routers or servers</a:t>
                      </a:r>
                      <a:r>
                        <a:rPr lang="en-IN" sz="22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as these are the main intersection points in the network system</a:t>
                      </a:r>
                      <a:endParaRPr lang="en-IN" sz="22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016623830"/>
                  </a:ext>
                </a:extLst>
              </a:tr>
            </a:tbl>
          </a:graphicData>
        </a:graphic>
      </p:graphicFrame>
    </p:spTree>
    <p:extLst>
      <p:ext uri="{BB962C8B-B14F-4D97-AF65-F5344CB8AC3E}">
        <p14:creationId xmlns:p14="http://schemas.microsoft.com/office/powerpoint/2010/main" val="14709683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850A32-B06F-DCEE-0F01-22CB72FE78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
        <p:nvSpPr>
          <p:cNvPr id="5" name="Title 2">
            <a:extLst>
              <a:ext uri="{FF2B5EF4-FFF2-40B4-BE49-F238E27FC236}">
                <a16:creationId xmlns:a16="http://schemas.microsoft.com/office/drawing/2014/main" id="{9C93181C-D135-44AE-192D-AC19226BA099}"/>
              </a:ext>
            </a:extLst>
          </p:cNvPr>
          <p:cNvSpPr>
            <a:spLocks noGrp="1"/>
          </p:cNvSpPr>
          <p:nvPr>
            <p:ph type="title"/>
          </p:nvPr>
        </p:nvSpPr>
        <p:spPr>
          <a:xfrm>
            <a:off x="838200" y="238125"/>
            <a:ext cx="10444163" cy="719138"/>
          </a:xfrm>
        </p:spPr>
        <p:txBody>
          <a:bodyPr/>
          <a:lstStyle/>
          <a:p>
            <a:pPr algn="ctr"/>
            <a:r>
              <a:rPr lang="en-US" b="1" dirty="0">
                <a:latin typeface="+mj-lt"/>
              </a:rPr>
              <a:t>HIDS v/s NIDS</a:t>
            </a:r>
            <a:endParaRPr lang="en-IN" b="1" dirty="0">
              <a:latin typeface="+mj-lt"/>
            </a:endParaRPr>
          </a:p>
        </p:txBody>
      </p:sp>
      <p:graphicFrame>
        <p:nvGraphicFramePr>
          <p:cNvPr id="7" name="Table 6">
            <a:extLst>
              <a:ext uri="{FF2B5EF4-FFF2-40B4-BE49-F238E27FC236}">
                <a16:creationId xmlns:a16="http://schemas.microsoft.com/office/drawing/2014/main" id="{5510FCAA-438E-850F-E0EC-45E11009DE2D}"/>
              </a:ext>
            </a:extLst>
          </p:cNvPr>
          <p:cNvGraphicFramePr>
            <a:graphicFrameLocks noGrp="1"/>
          </p:cNvGraphicFramePr>
          <p:nvPr>
            <p:extLst>
              <p:ext uri="{D42A27DB-BD31-4B8C-83A1-F6EECF244321}">
                <p14:modId xmlns:p14="http://schemas.microsoft.com/office/powerpoint/2010/main" val="610740573"/>
              </p:ext>
            </p:extLst>
          </p:nvPr>
        </p:nvGraphicFramePr>
        <p:xfrm>
          <a:off x="873918" y="1103707"/>
          <a:ext cx="10444163" cy="5350764"/>
        </p:xfrm>
        <a:graphic>
          <a:graphicData uri="http://schemas.openxmlformats.org/drawingml/2006/table">
            <a:tbl>
              <a:tblPr firstRow="1" bandRow="1">
                <a:tableStyleId>{5C22544A-7EE6-4342-B048-85BDC9FD1C3A}</a:tableStyleId>
              </a:tblPr>
              <a:tblGrid>
                <a:gridCol w="1771696">
                  <a:extLst>
                    <a:ext uri="{9D8B030D-6E8A-4147-A177-3AD203B41FA5}">
                      <a16:colId xmlns:a16="http://schemas.microsoft.com/office/drawing/2014/main" val="1800410655"/>
                    </a:ext>
                  </a:extLst>
                </a:gridCol>
                <a:gridCol w="4826492">
                  <a:extLst>
                    <a:ext uri="{9D8B030D-6E8A-4147-A177-3AD203B41FA5}">
                      <a16:colId xmlns:a16="http://schemas.microsoft.com/office/drawing/2014/main" val="1290462887"/>
                    </a:ext>
                  </a:extLst>
                </a:gridCol>
                <a:gridCol w="3845975">
                  <a:extLst>
                    <a:ext uri="{9D8B030D-6E8A-4147-A177-3AD203B41FA5}">
                      <a16:colId xmlns:a16="http://schemas.microsoft.com/office/drawing/2014/main" val="1600971808"/>
                    </a:ext>
                  </a:extLst>
                </a:gridCol>
              </a:tblGrid>
              <a:tr h="420714">
                <a:tc>
                  <a:txBody>
                    <a:bodyPr/>
                    <a:lstStyle/>
                    <a:p>
                      <a:pPr marL="0" marR="0" algn="ctr" fontAlgn="base">
                        <a:spcBef>
                          <a:spcPts val="1875"/>
                        </a:spcBef>
                        <a:spcAft>
                          <a:spcPts val="1875"/>
                        </a:spcAft>
                        <a:buNone/>
                      </a:pPr>
                      <a:r>
                        <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Categories</a:t>
                      </a:r>
                    </a:p>
                  </a:txBody>
                  <a:tcPr marL="38100" marR="38100" marT="63500" marB="63500" anchor="ctr"/>
                </a:tc>
                <a:tc>
                  <a:txBody>
                    <a:bodyPr/>
                    <a:lstStyle/>
                    <a:p>
                      <a:pPr marL="0" marR="0" algn="ctr" rtl="0" fontAlgn="base">
                        <a:spcBef>
                          <a:spcPts val="1875"/>
                        </a:spcBef>
                        <a:spcAft>
                          <a:spcPts val="750"/>
                        </a:spcAft>
                        <a:buNone/>
                      </a:pPr>
                      <a:r>
                        <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HIDS</a:t>
                      </a:r>
                      <a:endParaRPr lang="en-IN" sz="2000" b="0"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tc>
                  <a:txBody>
                    <a:bodyPr/>
                    <a:lstStyle/>
                    <a:p>
                      <a:pPr marL="0" marR="0" algn="ctr" rtl="0" fontAlgn="base">
                        <a:spcBef>
                          <a:spcPts val="1875"/>
                        </a:spcBef>
                        <a:spcAft>
                          <a:spcPts val="750"/>
                        </a:spcAft>
                        <a:buNone/>
                      </a:pPr>
                      <a:r>
                        <a:rPr lang="en-IN" sz="20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NIDS</a:t>
                      </a:r>
                      <a:endParaRPr lang="en-IN" sz="2000" b="0"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63500" marB="63500" anchor="ctr"/>
                </a:tc>
                <a:extLst>
                  <a:ext uri="{0D108BD9-81ED-4DB2-BD59-A6C34878D82A}">
                    <a16:rowId xmlns:a16="http://schemas.microsoft.com/office/drawing/2014/main" val="292334298"/>
                  </a:ext>
                </a:extLst>
              </a:tr>
              <a:tr h="307221">
                <a:tc>
                  <a:txBody>
                    <a:bodyPr/>
                    <a:lstStyle/>
                    <a:p>
                      <a:pPr marL="0" marR="0" algn="just" rtl="0" fontAlgn="base">
                        <a:spcBef>
                          <a:spcPts val="1875"/>
                        </a:spcBef>
                        <a:spcAft>
                          <a:spcPts val="750"/>
                        </a:spcAft>
                        <a:buNone/>
                      </a:pPr>
                      <a:r>
                        <a:rPr lang="en-IN" sz="2000" b="1"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Execution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marR="0" algn="just" rtl="0" fontAlgn="base">
                        <a:spcBef>
                          <a:spcPts val="1875"/>
                        </a:spcBef>
                        <a:spcAft>
                          <a:spcPts val="750"/>
                        </a:spcAft>
                        <a:buNone/>
                      </a:pPr>
                      <a:r>
                        <a:rPr lang="en-IN" sz="2000" b="1"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Process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HIDS operates by taking the snapshot of the current status of the system and comparing it against some already stored malicious tagged snapshots stored in the database, this clearly shows that there is a delay in its operation and activities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NIDS works in real-time by closely examining the data flow and immediately reporting anything unusual. </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952198148"/>
                  </a:ext>
                </a:extLst>
              </a:tr>
              <a:tr h="266754">
                <a:tc>
                  <a:txBody>
                    <a:bodyPr/>
                    <a:lstStyle/>
                    <a:p>
                      <a:pPr marL="0" marR="0" algn="just" rtl="0" fontAlgn="base">
                        <a:spcBef>
                          <a:spcPts val="1875"/>
                        </a:spcBef>
                        <a:spcAft>
                          <a:spcPts val="750"/>
                        </a:spcAft>
                        <a:buNone/>
                      </a:pPr>
                      <a:r>
                        <a:rPr lang="en-IN" sz="20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Information About Attack</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HIDS are more informed about the attacks as they are associated with system files and processes.</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As the network is very large making it hard to keep track of the integrating functionalities, they are less informed of the attacks </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2482202522"/>
                  </a:ext>
                </a:extLst>
              </a:tr>
              <a:tr h="842286">
                <a:tc>
                  <a:txBody>
                    <a:bodyPr/>
                    <a:lstStyle/>
                    <a:p>
                      <a:pPr marL="0" marR="0" algn="just" rtl="0" fontAlgn="base">
                        <a:spcBef>
                          <a:spcPts val="1875"/>
                        </a:spcBef>
                        <a:spcAft>
                          <a:spcPts val="750"/>
                        </a:spcAft>
                        <a:buNone/>
                      </a:pPr>
                      <a:r>
                        <a:rPr lang="en-IN" sz="2000" b="1"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Ease of Installation</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As it needs to be installed on every host, the installation process can be tiresome.</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Few installation points make it easier to install NIDS</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1608429408"/>
                  </a:ext>
                </a:extLst>
              </a:tr>
              <a:tr h="673078">
                <a:tc>
                  <a:txBody>
                    <a:bodyPr/>
                    <a:lstStyle/>
                    <a:p>
                      <a:pPr marL="0" marR="0" algn="just" fontAlgn="ctr">
                        <a:spcBef>
                          <a:spcPts val="1875"/>
                        </a:spcBef>
                        <a:spcAft>
                          <a:spcPts val="1875"/>
                        </a:spcAft>
                        <a:buNone/>
                      </a:pPr>
                      <a:r>
                        <a:rPr lang="en-IN" sz="2000" b="1"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Response Time</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a:solidFill>
                            <a:srgbClr val="273239"/>
                          </a:solidFill>
                          <a:effectLst/>
                          <a:latin typeface="Calibri" panose="020F0502020204030204" pitchFamily="34" charset="0"/>
                          <a:ea typeface="Calibri" panose="020F0502020204030204" pitchFamily="34" charset="0"/>
                          <a:cs typeface="Calibri" panose="020F0502020204030204" pitchFamily="34" charset="0"/>
                        </a:rPr>
                        <a:t>Response time is slow</a:t>
                      </a:r>
                      <a:endPar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tc>
                  <a:txBody>
                    <a:bodyPr/>
                    <a:lstStyle/>
                    <a:p>
                      <a:pPr marL="0" marR="0" algn="just" fontAlgn="ctr">
                        <a:spcBef>
                          <a:spcPts val="1875"/>
                        </a:spcBef>
                        <a:spcAft>
                          <a:spcPts val="1875"/>
                        </a:spcAft>
                        <a:buNone/>
                      </a:pPr>
                      <a:r>
                        <a:rPr lang="en-IN" sz="2000" b="0" i="0" spc="12"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Fast response time</a:t>
                      </a:r>
                      <a:endPar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txBody>
                  <a:tcPr marL="63500" marR="63500" marT="88900" marB="88900" anchor="ctr"/>
                </a:tc>
                <a:extLst>
                  <a:ext uri="{0D108BD9-81ED-4DB2-BD59-A6C34878D82A}">
                    <a16:rowId xmlns:a16="http://schemas.microsoft.com/office/drawing/2014/main" val="3016623830"/>
                  </a:ext>
                </a:extLst>
              </a:tr>
            </a:tbl>
          </a:graphicData>
        </a:graphic>
      </p:graphicFrame>
    </p:spTree>
    <p:extLst>
      <p:ext uri="{BB962C8B-B14F-4D97-AF65-F5344CB8AC3E}">
        <p14:creationId xmlns:p14="http://schemas.microsoft.com/office/powerpoint/2010/main" val="426680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C46018C-A4EC-C778-4A29-AC46857884A1}"/>
              </a:ext>
            </a:extLst>
          </p:cNvPr>
          <p:cNvSpPr>
            <a:spLocks noGrp="1"/>
          </p:cNvSpPr>
          <p:nvPr>
            <p:ph type="body" idx="1"/>
          </p:nvPr>
        </p:nvSpPr>
        <p:spPr/>
        <p:txBody>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This method relies on predefined patterns (signatures) of known attacks. It compares incoming data to a database of attack signatures.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Easy to implement and effective for detecting known threats.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Cannot detect new or unknown attacks unless their signature is added to the database.</a:t>
            </a:r>
          </a:p>
          <a:p>
            <a:pPr algn="just" fontAlgn="base"/>
            <a:r>
              <a:rPr lang="en-IN" b="1" i="1" dirty="0">
                <a:latin typeface="Calibri" panose="020F0502020204030204" pitchFamily="34" charset="0"/>
                <a:ea typeface="Calibri" panose="020F0502020204030204" pitchFamily="34" charset="0"/>
                <a:cs typeface="Calibri" panose="020F0502020204030204" pitchFamily="34" charset="0"/>
              </a:rPr>
              <a:t>Example:</a:t>
            </a:r>
            <a:r>
              <a:rPr lang="en-IN" i="1" dirty="0">
                <a:latin typeface="Calibri" panose="020F0502020204030204" pitchFamily="34" charset="0"/>
                <a:ea typeface="Calibri" panose="020F0502020204030204" pitchFamily="34" charset="0"/>
                <a:cs typeface="Calibri" panose="020F0502020204030204" pitchFamily="34" charset="0"/>
              </a:rPr>
              <a:t> Detecting a specific virus or malware pattern.</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3A1B9F14-D620-2694-8D9C-E6120B73017B}"/>
              </a:ext>
            </a:extLst>
          </p:cNvPr>
          <p:cNvSpPr>
            <a:spLocks noGrp="1"/>
          </p:cNvSpPr>
          <p:nvPr>
            <p:ph type="title"/>
          </p:nvPr>
        </p:nvSpPr>
        <p:spPr/>
        <p:txBody>
          <a:bodyPr/>
          <a:lstStyle/>
          <a:p>
            <a:pPr algn="ctr"/>
            <a:r>
              <a:rPr lang="en-US" b="1" dirty="0">
                <a:latin typeface="+mj-lt"/>
              </a:rPr>
              <a:t>SIGNATURE BASED IDS</a:t>
            </a:r>
            <a:endParaRPr lang="en-IN" b="1" dirty="0">
              <a:latin typeface="+mj-lt"/>
            </a:endParaRPr>
          </a:p>
        </p:txBody>
      </p:sp>
      <p:sp>
        <p:nvSpPr>
          <p:cNvPr id="4" name="Slide Number Placeholder 3">
            <a:extLst>
              <a:ext uri="{FF2B5EF4-FFF2-40B4-BE49-F238E27FC236}">
                <a16:creationId xmlns:a16="http://schemas.microsoft.com/office/drawing/2014/main" id="{E1973A51-EE72-D206-1798-34E0FC7BB9D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2143096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D06C7C9-F821-21C7-28D9-90AFEFDA7E4A}"/>
              </a:ext>
            </a:extLst>
          </p:cNvPr>
          <p:cNvSpPr>
            <a:spLocks noGrp="1"/>
          </p:cNvSpPr>
          <p:nvPr>
            <p:ph type="body" idx="1"/>
          </p:nvPr>
        </p:nvSpPr>
        <p:spPr/>
        <p:txBody>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Anomaly-based IDS uses machine learning or statistical models to define what normal behaviour looks like. Any activity that deviates from this norm is flagged as suspicious.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Can detect unknown attacks or behaviours.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High rate of false positives if the model is not fine-tuned.</a:t>
            </a:r>
          </a:p>
          <a:p>
            <a:pPr algn="just" fontAlgn="base"/>
            <a:r>
              <a:rPr lang="en-IN" b="1" i="1" dirty="0">
                <a:latin typeface="Calibri" panose="020F0502020204030204" pitchFamily="34" charset="0"/>
                <a:ea typeface="Calibri" panose="020F0502020204030204" pitchFamily="34" charset="0"/>
                <a:cs typeface="Calibri" panose="020F0502020204030204" pitchFamily="34" charset="0"/>
              </a:rPr>
              <a:t>Example:</a:t>
            </a:r>
            <a:r>
              <a:rPr lang="en-IN" i="1" dirty="0">
                <a:latin typeface="Calibri" panose="020F0502020204030204" pitchFamily="34" charset="0"/>
                <a:ea typeface="Calibri" panose="020F0502020204030204" pitchFamily="34" charset="0"/>
                <a:cs typeface="Calibri" panose="020F0502020204030204" pitchFamily="34" charset="0"/>
              </a:rPr>
              <a:t> Detecting abnormal traffic volume or unusual access patterns on a server.</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CE83F433-AD60-C58D-DBD8-074A603829C3}"/>
              </a:ext>
            </a:extLst>
          </p:cNvPr>
          <p:cNvSpPr>
            <a:spLocks noGrp="1"/>
          </p:cNvSpPr>
          <p:nvPr>
            <p:ph type="title"/>
          </p:nvPr>
        </p:nvSpPr>
        <p:spPr/>
        <p:txBody>
          <a:bodyPr/>
          <a:lstStyle/>
          <a:p>
            <a:pPr algn="ctr"/>
            <a:r>
              <a:rPr lang="en-US" b="1" dirty="0">
                <a:latin typeface="+mj-lt"/>
              </a:rPr>
              <a:t>ANOMALY BASED IDS</a:t>
            </a:r>
            <a:endParaRPr lang="en-IN" b="1" dirty="0">
              <a:latin typeface="+mj-lt"/>
            </a:endParaRPr>
          </a:p>
        </p:txBody>
      </p:sp>
      <p:sp>
        <p:nvSpPr>
          <p:cNvPr id="4" name="Slide Number Placeholder 3">
            <a:extLst>
              <a:ext uri="{FF2B5EF4-FFF2-40B4-BE49-F238E27FC236}">
                <a16:creationId xmlns:a16="http://schemas.microsoft.com/office/drawing/2014/main" id="{44C25B86-ADF4-B913-85DD-8DF7BEC867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394810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64945D-E8B6-9F79-6F67-72609659F48D}"/>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Suricata is an open source network intrusion detection (NIDS) tool developed by the Open Information Security Foundation (OISF). </a:t>
            </a:r>
          </a:p>
          <a:p>
            <a:pPr algn="just"/>
            <a:r>
              <a:rPr lang="en-IN" dirty="0">
                <a:latin typeface="Calibri" panose="020F0502020204030204" pitchFamily="34" charset="0"/>
                <a:ea typeface="Calibri" panose="020F0502020204030204" pitchFamily="34" charset="0"/>
                <a:cs typeface="Calibri" panose="020F0502020204030204" pitchFamily="34" charset="0"/>
              </a:rPr>
              <a:t>Suricata can also be used as an intrusion prevention system (IPS) and network security monitoring engine, although this is highly dependent on its installation on your network. </a:t>
            </a:r>
          </a:p>
          <a:p>
            <a:pPr algn="just"/>
            <a:r>
              <a:rPr lang="en-IN" dirty="0">
                <a:latin typeface="Calibri" panose="020F0502020204030204" pitchFamily="34" charset="0"/>
                <a:ea typeface="Calibri" panose="020F0502020204030204" pitchFamily="34" charset="0"/>
                <a:cs typeface="Calibri" panose="020F0502020204030204" pitchFamily="34" charset="0"/>
              </a:rPr>
              <a:t>If it is installed as host-based or passive, it works only as an IDS, while if it is installed as an active inline solution, it can also offer IPS functions. </a:t>
            </a:r>
          </a:p>
          <a:p>
            <a:pPr algn="just"/>
            <a:r>
              <a:rPr lang="en-IN" dirty="0">
                <a:latin typeface="Calibri" panose="020F0502020204030204" pitchFamily="34" charset="0"/>
                <a:ea typeface="Calibri" panose="020F0502020204030204" pitchFamily="34" charset="0"/>
                <a:cs typeface="Calibri" panose="020F0502020204030204" pitchFamily="34" charset="0"/>
              </a:rPr>
              <a:t>It is known for its high performance, multi-threaded architecture and focus on providing advanced intrusion detection and prevention capabilities.</a:t>
            </a:r>
          </a:p>
        </p:txBody>
      </p:sp>
      <p:sp>
        <p:nvSpPr>
          <p:cNvPr id="3" name="Title 2">
            <a:extLst>
              <a:ext uri="{FF2B5EF4-FFF2-40B4-BE49-F238E27FC236}">
                <a16:creationId xmlns:a16="http://schemas.microsoft.com/office/drawing/2014/main" id="{D7E3B8C5-0C0B-42D0-F2A0-705CEDBCA46D}"/>
              </a:ext>
            </a:extLst>
          </p:cNvPr>
          <p:cNvSpPr>
            <a:spLocks noGrp="1"/>
          </p:cNvSpPr>
          <p:nvPr>
            <p:ph type="title"/>
          </p:nvPr>
        </p:nvSpPr>
        <p:spPr/>
        <p:txBody>
          <a:bodyPr/>
          <a:lstStyle/>
          <a:p>
            <a:pPr algn="ctr"/>
            <a:r>
              <a:rPr lang="en-US" b="1" dirty="0">
                <a:latin typeface="+mj-lt"/>
              </a:rPr>
              <a:t>SURICATA</a:t>
            </a:r>
            <a:endParaRPr lang="en-IN" b="1" dirty="0">
              <a:latin typeface="+mj-lt"/>
            </a:endParaRPr>
          </a:p>
        </p:txBody>
      </p:sp>
      <p:sp>
        <p:nvSpPr>
          <p:cNvPr id="4" name="Slide Number Placeholder 3">
            <a:extLst>
              <a:ext uri="{FF2B5EF4-FFF2-40B4-BE49-F238E27FC236}">
                <a16:creationId xmlns:a16="http://schemas.microsoft.com/office/drawing/2014/main" id="{033B044D-21B7-1E02-7D80-EFDB2CEDBF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8867588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60DB72-7230-ED76-8247-AF0D25494A81}"/>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Suricata works by analysing network traffic, applying predefined rules to identify malicious activity, and alerting administrators of potential risks. </a:t>
            </a:r>
          </a:p>
          <a:p>
            <a:pPr algn="just"/>
            <a:r>
              <a:rPr lang="en-IN" dirty="0">
                <a:latin typeface="Calibri" panose="020F0502020204030204" pitchFamily="34" charset="0"/>
                <a:ea typeface="Calibri" panose="020F0502020204030204" pitchFamily="34" charset="0"/>
                <a:cs typeface="Calibri" panose="020F0502020204030204" pitchFamily="34" charset="0"/>
              </a:rPr>
              <a:t>What sets Suricata apart from other NIDS is its multi-threaded architecture, which allows it to efficiently process multiple tasks simultaneously. </a:t>
            </a:r>
          </a:p>
          <a:p>
            <a:pPr algn="just"/>
            <a:r>
              <a:rPr lang="en-IN" dirty="0">
                <a:latin typeface="Calibri" panose="020F0502020204030204" pitchFamily="34" charset="0"/>
                <a:ea typeface="Calibri" panose="020F0502020204030204" pitchFamily="34" charset="0"/>
                <a:cs typeface="Calibri" panose="020F0502020204030204" pitchFamily="34" charset="0"/>
              </a:rPr>
              <a:t>This results in faster packet processing and higher throughput compared to single-threaded processing systems.</a:t>
            </a:r>
          </a:p>
        </p:txBody>
      </p:sp>
      <p:sp>
        <p:nvSpPr>
          <p:cNvPr id="3" name="Title 2">
            <a:extLst>
              <a:ext uri="{FF2B5EF4-FFF2-40B4-BE49-F238E27FC236}">
                <a16:creationId xmlns:a16="http://schemas.microsoft.com/office/drawing/2014/main" id="{CF8C17C4-38CA-E817-1247-BAD154D5936D}"/>
              </a:ext>
            </a:extLst>
          </p:cNvPr>
          <p:cNvSpPr>
            <a:spLocks noGrp="1"/>
          </p:cNvSpPr>
          <p:nvPr>
            <p:ph type="title"/>
          </p:nvPr>
        </p:nvSpPr>
        <p:spPr/>
        <p:txBody>
          <a:bodyPr/>
          <a:lstStyle/>
          <a:p>
            <a:pPr algn="ctr"/>
            <a:r>
              <a:rPr lang="en-US" b="1" dirty="0">
                <a:latin typeface="+mj-lt"/>
              </a:rPr>
              <a:t>SURICATA</a:t>
            </a:r>
            <a:endParaRPr lang="en-IN" b="1" dirty="0">
              <a:latin typeface="+mj-lt"/>
            </a:endParaRPr>
          </a:p>
        </p:txBody>
      </p:sp>
      <p:sp>
        <p:nvSpPr>
          <p:cNvPr id="4" name="Slide Number Placeholder 3">
            <a:extLst>
              <a:ext uri="{FF2B5EF4-FFF2-40B4-BE49-F238E27FC236}">
                <a16:creationId xmlns:a16="http://schemas.microsoft.com/office/drawing/2014/main" id="{49AB1FB6-5701-A225-B7B2-5D2016DD153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35711089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191AB0-7529-7F2F-F6CC-9152066D3695}"/>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Snort is a popular open source network intrusion detection (NIDS) tool created by Martin Roesch and maintained by Cisco Systems. </a:t>
            </a:r>
          </a:p>
          <a:p>
            <a:pPr algn="just"/>
            <a:r>
              <a:rPr lang="en-IN" dirty="0">
                <a:latin typeface="Calibri" panose="020F0502020204030204" pitchFamily="34" charset="0"/>
                <a:ea typeface="Calibri" panose="020F0502020204030204" pitchFamily="34" charset="0"/>
                <a:cs typeface="Calibri" panose="020F0502020204030204" pitchFamily="34" charset="0"/>
              </a:rPr>
              <a:t>Snort has been on the market for almost a decade more and enjoys broad compatibility with various devices, operating systems and third-party tools. </a:t>
            </a:r>
          </a:p>
          <a:p>
            <a:pPr algn="just"/>
            <a:r>
              <a:rPr lang="en-IN" dirty="0">
                <a:latin typeface="Calibri" panose="020F0502020204030204" pitchFamily="34" charset="0"/>
                <a:ea typeface="Calibri" panose="020F0502020204030204" pitchFamily="34" charset="0"/>
                <a:cs typeface="Calibri" panose="020F0502020204030204" pitchFamily="34" charset="0"/>
              </a:rPr>
              <a:t>It’s main focus is on rule-based detection and protocol analysis.</a:t>
            </a:r>
          </a:p>
        </p:txBody>
      </p:sp>
      <p:sp>
        <p:nvSpPr>
          <p:cNvPr id="3" name="Title 2">
            <a:extLst>
              <a:ext uri="{FF2B5EF4-FFF2-40B4-BE49-F238E27FC236}">
                <a16:creationId xmlns:a16="http://schemas.microsoft.com/office/drawing/2014/main" id="{7F041770-4CD6-87B8-B281-19B4B1699B2E}"/>
              </a:ext>
            </a:extLst>
          </p:cNvPr>
          <p:cNvSpPr>
            <a:spLocks noGrp="1"/>
          </p:cNvSpPr>
          <p:nvPr>
            <p:ph type="title"/>
          </p:nvPr>
        </p:nvSpPr>
        <p:spPr/>
        <p:txBody>
          <a:bodyPr/>
          <a:lstStyle/>
          <a:p>
            <a:pPr algn="ctr"/>
            <a:r>
              <a:rPr lang="en-US" b="1" dirty="0">
                <a:latin typeface="+mj-lt"/>
              </a:rPr>
              <a:t>SNORT</a:t>
            </a:r>
            <a:endParaRPr lang="en-IN" b="1" dirty="0">
              <a:latin typeface="+mj-lt"/>
            </a:endParaRPr>
          </a:p>
        </p:txBody>
      </p:sp>
      <p:sp>
        <p:nvSpPr>
          <p:cNvPr id="4" name="Slide Number Placeholder 3">
            <a:extLst>
              <a:ext uri="{FF2B5EF4-FFF2-40B4-BE49-F238E27FC236}">
                <a16:creationId xmlns:a16="http://schemas.microsoft.com/office/drawing/2014/main" id="{3AF2C4ED-2DA4-6DD8-1EFF-73E45E02E2D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3471763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3E0F24-6E67-B994-FA1A-C3BF674D335D}"/>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Snort works by monitoring network traffic and applying predefined rules to detect malicious activity, generating alerts for administrators to take appropriate action. </a:t>
            </a:r>
          </a:p>
          <a:p>
            <a:pPr algn="just"/>
            <a:r>
              <a:rPr lang="en-IN" dirty="0">
                <a:latin typeface="Calibri" panose="020F0502020204030204" pitchFamily="34" charset="0"/>
                <a:ea typeface="Calibri" panose="020F0502020204030204" pitchFamily="34" charset="0"/>
                <a:cs typeface="Calibri" panose="020F0502020204030204" pitchFamily="34" charset="0"/>
              </a:rPr>
              <a:t>Snort’s strength lies in its extensive rule set, which can be tailored to meet an organization’s specific security needs. </a:t>
            </a:r>
          </a:p>
          <a:p>
            <a:pPr algn="just"/>
            <a:r>
              <a:rPr lang="en-IN" dirty="0">
                <a:latin typeface="Calibri" panose="020F0502020204030204" pitchFamily="34" charset="0"/>
                <a:ea typeface="Calibri" panose="020F0502020204030204" pitchFamily="34" charset="0"/>
                <a:cs typeface="Calibri" panose="020F0502020204030204" pitchFamily="34" charset="0"/>
              </a:rPr>
              <a:t>This adaptability allows Snort to stand out in different environments, offering personalized protection against a wide range of threats.</a:t>
            </a:r>
          </a:p>
        </p:txBody>
      </p:sp>
      <p:sp>
        <p:nvSpPr>
          <p:cNvPr id="4" name="Slide Number Placeholder 3">
            <a:extLst>
              <a:ext uri="{FF2B5EF4-FFF2-40B4-BE49-F238E27FC236}">
                <a16:creationId xmlns:a16="http://schemas.microsoft.com/office/drawing/2014/main" id="{29A14547-65BC-93B8-08B6-2EAD429924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
        <p:nvSpPr>
          <p:cNvPr id="5" name="Title 2">
            <a:extLst>
              <a:ext uri="{FF2B5EF4-FFF2-40B4-BE49-F238E27FC236}">
                <a16:creationId xmlns:a16="http://schemas.microsoft.com/office/drawing/2014/main" id="{4074BCA6-E2B8-1DE0-EECA-5EDF3949E8E9}"/>
              </a:ext>
            </a:extLst>
          </p:cNvPr>
          <p:cNvSpPr>
            <a:spLocks noGrp="1"/>
          </p:cNvSpPr>
          <p:nvPr>
            <p:ph type="title"/>
          </p:nvPr>
        </p:nvSpPr>
        <p:spPr>
          <a:xfrm>
            <a:off x="838200" y="238125"/>
            <a:ext cx="10444163" cy="719138"/>
          </a:xfrm>
        </p:spPr>
        <p:txBody>
          <a:bodyPr/>
          <a:lstStyle/>
          <a:p>
            <a:pPr algn="ctr"/>
            <a:r>
              <a:rPr lang="en-US" b="1" dirty="0">
                <a:latin typeface="+mj-lt"/>
              </a:rPr>
              <a:t>SNORT</a:t>
            </a:r>
            <a:endParaRPr lang="en-IN" b="1" dirty="0">
              <a:latin typeface="+mj-lt"/>
            </a:endParaRPr>
          </a:p>
        </p:txBody>
      </p:sp>
    </p:spTree>
    <p:extLst>
      <p:ext uri="{BB962C8B-B14F-4D97-AF65-F5344CB8AC3E}">
        <p14:creationId xmlns:p14="http://schemas.microsoft.com/office/powerpoint/2010/main" val="15430478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622D83-1F5F-0A97-D808-A78E36772889}"/>
              </a:ext>
            </a:extLst>
          </p:cNvPr>
          <p:cNvSpPr>
            <a:spLocks noGrp="1"/>
          </p:cNvSpPr>
          <p:nvPr>
            <p:ph type="title"/>
          </p:nvPr>
        </p:nvSpPr>
        <p:spPr/>
        <p:txBody>
          <a:bodyPr/>
          <a:lstStyle/>
          <a:p>
            <a:pPr algn="ctr"/>
            <a:r>
              <a:rPr lang="en-US" b="1" dirty="0">
                <a:latin typeface="+mj-lt"/>
              </a:rPr>
              <a:t>SURICATA v/s SNORT</a:t>
            </a:r>
            <a:endParaRPr lang="en-IN" b="1" dirty="0">
              <a:latin typeface="+mj-lt"/>
            </a:endParaRPr>
          </a:p>
        </p:txBody>
      </p:sp>
      <p:sp>
        <p:nvSpPr>
          <p:cNvPr id="4" name="Slide Number Placeholder 3">
            <a:extLst>
              <a:ext uri="{FF2B5EF4-FFF2-40B4-BE49-F238E27FC236}">
                <a16:creationId xmlns:a16="http://schemas.microsoft.com/office/drawing/2014/main" id="{4EAB7374-D5AB-3716-446D-365782F266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pic>
        <p:nvPicPr>
          <p:cNvPr id="6" name="Picture 5">
            <a:extLst>
              <a:ext uri="{FF2B5EF4-FFF2-40B4-BE49-F238E27FC236}">
                <a16:creationId xmlns:a16="http://schemas.microsoft.com/office/drawing/2014/main" id="{9E3C55C0-1977-C1C2-B050-DD2B2A04B244}"/>
              </a:ext>
            </a:extLst>
          </p:cNvPr>
          <p:cNvPicPr>
            <a:picLocks noChangeAspect="1"/>
          </p:cNvPicPr>
          <p:nvPr/>
        </p:nvPicPr>
        <p:blipFill>
          <a:blip r:embed="rId2"/>
          <a:srcRect t="7550" b="35583"/>
          <a:stretch>
            <a:fillRect/>
          </a:stretch>
        </p:blipFill>
        <p:spPr>
          <a:xfrm>
            <a:off x="3523766" y="1068635"/>
            <a:ext cx="5073029" cy="5136537"/>
          </a:xfrm>
          <a:prstGeom prst="rect">
            <a:avLst/>
          </a:prstGeom>
        </p:spPr>
      </p:pic>
    </p:spTree>
    <p:extLst>
      <p:ext uri="{BB962C8B-B14F-4D97-AF65-F5344CB8AC3E}">
        <p14:creationId xmlns:p14="http://schemas.microsoft.com/office/powerpoint/2010/main" val="12132831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6B4C76-119B-40BD-9676-2A7662AB93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
        <p:nvSpPr>
          <p:cNvPr id="5" name="Title 2">
            <a:extLst>
              <a:ext uri="{FF2B5EF4-FFF2-40B4-BE49-F238E27FC236}">
                <a16:creationId xmlns:a16="http://schemas.microsoft.com/office/drawing/2014/main" id="{6F226AF4-E9D2-E91F-1B70-FC9305F7DB42}"/>
              </a:ext>
            </a:extLst>
          </p:cNvPr>
          <p:cNvSpPr>
            <a:spLocks noGrp="1"/>
          </p:cNvSpPr>
          <p:nvPr>
            <p:ph type="title"/>
          </p:nvPr>
        </p:nvSpPr>
        <p:spPr>
          <a:xfrm>
            <a:off x="838200" y="238125"/>
            <a:ext cx="10444163" cy="719138"/>
          </a:xfrm>
        </p:spPr>
        <p:txBody>
          <a:bodyPr/>
          <a:lstStyle/>
          <a:p>
            <a:pPr algn="ctr"/>
            <a:r>
              <a:rPr lang="en-US" b="1" dirty="0">
                <a:latin typeface="+mj-lt"/>
              </a:rPr>
              <a:t>SURICATA v/s SNORT</a:t>
            </a:r>
            <a:endParaRPr lang="en-IN" b="1" dirty="0">
              <a:latin typeface="+mj-lt"/>
            </a:endParaRPr>
          </a:p>
        </p:txBody>
      </p:sp>
      <p:pic>
        <p:nvPicPr>
          <p:cNvPr id="9" name="Picture 8">
            <a:extLst>
              <a:ext uri="{FF2B5EF4-FFF2-40B4-BE49-F238E27FC236}">
                <a16:creationId xmlns:a16="http://schemas.microsoft.com/office/drawing/2014/main" id="{C3251CA3-B653-C7CE-E03E-A9A5FCDD3894}"/>
              </a:ext>
            </a:extLst>
          </p:cNvPr>
          <p:cNvPicPr>
            <a:picLocks noChangeAspect="1"/>
          </p:cNvPicPr>
          <p:nvPr/>
        </p:nvPicPr>
        <p:blipFill>
          <a:blip r:embed="rId2"/>
          <a:srcRect l="927" t="6703" r="687" b="75466"/>
          <a:stretch>
            <a:fillRect/>
          </a:stretch>
        </p:blipFill>
        <p:spPr>
          <a:xfrm>
            <a:off x="3390294" y="1144047"/>
            <a:ext cx="5411412" cy="1718040"/>
          </a:xfrm>
          <a:prstGeom prst="rect">
            <a:avLst/>
          </a:prstGeom>
        </p:spPr>
      </p:pic>
      <p:pic>
        <p:nvPicPr>
          <p:cNvPr id="11" name="Picture 10">
            <a:extLst>
              <a:ext uri="{FF2B5EF4-FFF2-40B4-BE49-F238E27FC236}">
                <a16:creationId xmlns:a16="http://schemas.microsoft.com/office/drawing/2014/main" id="{21B4F79D-3678-39A3-FF95-9E748C3DB261}"/>
              </a:ext>
            </a:extLst>
          </p:cNvPr>
          <p:cNvPicPr>
            <a:picLocks noChangeAspect="1"/>
          </p:cNvPicPr>
          <p:nvPr/>
        </p:nvPicPr>
        <p:blipFill>
          <a:blip r:embed="rId2"/>
          <a:srcRect t="64096"/>
          <a:stretch>
            <a:fillRect/>
          </a:stretch>
        </p:blipFill>
        <p:spPr>
          <a:xfrm>
            <a:off x="3390294" y="2850479"/>
            <a:ext cx="5411412" cy="3459296"/>
          </a:xfrm>
          <a:prstGeom prst="rect">
            <a:avLst/>
          </a:prstGeom>
        </p:spPr>
      </p:pic>
    </p:spTree>
    <p:extLst>
      <p:ext uri="{BB962C8B-B14F-4D97-AF65-F5344CB8AC3E}">
        <p14:creationId xmlns:p14="http://schemas.microsoft.com/office/powerpoint/2010/main" val="7154425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D7EDDD-EC72-2D34-7DD6-69B2353699FE}"/>
              </a:ext>
            </a:extLst>
          </p:cNvPr>
          <p:cNvSpPr>
            <a:spLocks noGrp="1"/>
          </p:cNvSpPr>
          <p:nvPr>
            <p:ph type="body" idx="1"/>
          </p:nvPr>
        </p:nvSpPr>
        <p:spPr/>
        <p:txBody>
          <a:bodyPr>
            <a:normAutofit fontScale="85000" lnSpcReduction="10000"/>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A Virtual Private Network (VPN) is a security technology that creates an encrypted tunnel between your device and a VPN server over the internet, so your traffic travels privately and your real IP address is hidden.</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Privacy protection:</a:t>
            </a:r>
            <a:r>
              <a:rPr lang="en-IN" dirty="0">
                <a:latin typeface="Calibri" panose="020F0502020204030204" pitchFamily="34" charset="0"/>
                <a:ea typeface="Calibri" panose="020F0502020204030204" pitchFamily="34" charset="0"/>
                <a:cs typeface="Calibri" panose="020F0502020204030204" pitchFamily="34" charset="0"/>
              </a:rPr>
              <a:t> Hides your IP and encrypts traffic, so ISPs, advertisers, and third parties can’t easily monitor your browsing.</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Security on public Wi-Fi:</a:t>
            </a:r>
            <a:r>
              <a:rPr lang="en-IN" dirty="0">
                <a:latin typeface="Calibri" panose="020F0502020204030204" pitchFamily="34" charset="0"/>
                <a:ea typeface="Calibri" panose="020F0502020204030204" pitchFamily="34" charset="0"/>
                <a:cs typeface="Calibri" panose="020F0502020204030204" pitchFamily="34" charset="0"/>
              </a:rPr>
              <a:t> Encryption protects logins and personal data on unsafe networks (airports, cafes).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Bypass geo-restrictions:</a:t>
            </a:r>
            <a:r>
              <a:rPr lang="en-IN" dirty="0">
                <a:latin typeface="Calibri" panose="020F0502020204030204" pitchFamily="34" charset="0"/>
                <a:ea typeface="Calibri" panose="020F0502020204030204" pitchFamily="34" charset="0"/>
                <a:cs typeface="Calibri" panose="020F0502020204030204" pitchFamily="34" charset="0"/>
              </a:rPr>
              <a:t> Changes your apparent location by routing through another region’s server, unlocking region-limited sites or services.</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Reduce ISP throttling:</a:t>
            </a:r>
            <a:r>
              <a:rPr lang="en-IN" dirty="0">
                <a:latin typeface="Calibri" panose="020F0502020204030204" pitchFamily="34" charset="0"/>
                <a:ea typeface="Calibri" panose="020F0502020204030204" pitchFamily="34" charset="0"/>
                <a:cs typeface="Calibri" panose="020F0502020204030204" pitchFamily="34" charset="0"/>
              </a:rPr>
              <a:t> Since traffic is encrypted, ISPs can’t easily identify specific activities (streaming/gaming) to selectively slow them.</a:t>
            </a:r>
          </a:p>
          <a:p>
            <a:pPr lvl="0" algn="just" fontAlgn="base"/>
            <a:r>
              <a:rPr lang="en-IN" b="1" dirty="0">
                <a:latin typeface="Calibri" panose="020F0502020204030204" pitchFamily="34" charset="0"/>
                <a:ea typeface="Calibri" panose="020F0502020204030204" pitchFamily="34" charset="0"/>
                <a:cs typeface="Calibri" panose="020F0502020204030204" pitchFamily="34" charset="0"/>
              </a:rPr>
              <a:t>Secure remote access:</a:t>
            </a:r>
            <a:r>
              <a:rPr lang="en-IN" dirty="0">
                <a:latin typeface="Calibri" panose="020F0502020204030204" pitchFamily="34" charset="0"/>
                <a:ea typeface="Calibri" panose="020F0502020204030204" pitchFamily="34" charset="0"/>
                <a:cs typeface="Calibri" panose="020F0502020204030204" pitchFamily="34" charset="0"/>
              </a:rPr>
              <a:t> Let employees connect to internal company resources securely from outside the organization.</a:t>
            </a:r>
          </a:p>
        </p:txBody>
      </p:sp>
      <p:sp>
        <p:nvSpPr>
          <p:cNvPr id="3" name="Title 2">
            <a:extLst>
              <a:ext uri="{FF2B5EF4-FFF2-40B4-BE49-F238E27FC236}">
                <a16:creationId xmlns:a16="http://schemas.microsoft.com/office/drawing/2014/main" id="{101F98D3-E130-A256-407E-C08DB9E07172}"/>
              </a:ext>
            </a:extLst>
          </p:cNvPr>
          <p:cNvSpPr>
            <a:spLocks noGrp="1"/>
          </p:cNvSpPr>
          <p:nvPr>
            <p:ph type="title"/>
          </p:nvPr>
        </p:nvSpPr>
        <p:spPr/>
        <p:txBody>
          <a:bodyPr/>
          <a:lstStyle/>
          <a:p>
            <a:pPr algn="ctr"/>
            <a:r>
              <a:rPr lang="en-US" b="1" dirty="0">
                <a:latin typeface="+mj-lt"/>
              </a:rPr>
              <a:t>VPN (VIRTUAL PRIVATE NETWORK)</a:t>
            </a:r>
            <a:endParaRPr lang="en-IN" b="1" dirty="0">
              <a:latin typeface="+mj-lt"/>
            </a:endParaRPr>
          </a:p>
        </p:txBody>
      </p:sp>
      <p:sp>
        <p:nvSpPr>
          <p:cNvPr id="4" name="Slide Number Placeholder 3">
            <a:extLst>
              <a:ext uri="{FF2B5EF4-FFF2-40B4-BE49-F238E27FC236}">
                <a16:creationId xmlns:a16="http://schemas.microsoft.com/office/drawing/2014/main" id="{BC2AE7BC-8A22-1150-3E42-1663119ACD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extLst>
      <p:ext uri="{BB962C8B-B14F-4D97-AF65-F5344CB8AC3E}">
        <p14:creationId xmlns:p14="http://schemas.microsoft.com/office/powerpoint/2010/main" val="11258175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59986-C187-4FCD-093F-8464C88909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pic>
        <p:nvPicPr>
          <p:cNvPr id="6" name="Picture 5">
            <a:extLst>
              <a:ext uri="{FF2B5EF4-FFF2-40B4-BE49-F238E27FC236}">
                <a16:creationId xmlns:a16="http://schemas.microsoft.com/office/drawing/2014/main" id="{C43372A8-0626-796D-9801-63FA36A74E50}"/>
              </a:ext>
            </a:extLst>
          </p:cNvPr>
          <p:cNvPicPr>
            <a:picLocks noChangeAspect="1"/>
          </p:cNvPicPr>
          <p:nvPr/>
        </p:nvPicPr>
        <p:blipFill>
          <a:blip r:embed="rId2"/>
          <a:stretch>
            <a:fillRect/>
          </a:stretch>
        </p:blipFill>
        <p:spPr>
          <a:xfrm>
            <a:off x="2286000" y="2182820"/>
            <a:ext cx="7620000" cy="3076575"/>
          </a:xfrm>
          <a:prstGeom prst="rect">
            <a:avLst/>
          </a:prstGeom>
        </p:spPr>
      </p:pic>
      <p:sp>
        <p:nvSpPr>
          <p:cNvPr id="7" name="Title 2">
            <a:extLst>
              <a:ext uri="{FF2B5EF4-FFF2-40B4-BE49-F238E27FC236}">
                <a16:creationId xmlns:a16="http://schemas.microsoft.com/office/drawing/2014/main" id="{EC8B0290-0B63-ABF5-6F85-F52D7C149139}"/>
              </a:ext>
            </a:extLst>
          </p:cNvPr>
          <p:cNvSpPr>
            <a:spLocks noGrp="1"/>
          </p:cNvSpPr>
          <p:nvPr>
            <p:ph type="title"/>
          </p:nvPr>
        </p:nvSpPr>
        <p:spPr>
          <a:xfrm>
            <a:off x="838200" y="238125"/>
            <a:ext cx="10444163" cy="719138"/>
          </a:xfrm>
        </p:spPr>
        <p:txBody>
          <a:bodyPr/>
          <a:lstStyle/>
          <a:p>
            <a:pPr algn="ctr"/>
            <a:r>
              <a:rPr lang="en-US" b="1" dirty="0">
                <a:latin typeface="+mj-lt"/>
              </a:rPr>
              <a:t>VPN (VIRTUAL PRIVATE NETWORK)</a:t>
            </a:r>
            <a:endParaRPr lang="en-IN" b="1" dirty="0">
              <a:latin typeface="+mj-lt"/>
            </a:endParaRPr>
          </a:p>
        </p:txBody>
      </p:sp>
    </p:spTree>
    <p:extLst>
      <p:ext uri="{BB962C8B-B14F-4D97-AF65-F5344CB8AC3E}">
        <p14:creationId xmlns:p14="http://schemas.microsoft.com/office/powerpoint/2010/main" val="27356949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179F98-FA57-C142-B935-1AE560119C5D}"/>
              </a:ext>
            </a:extLst>
          </p:cNvPr>
          <p:cNvSpPr>
            <a:spLocks noGrp="1"/>
          </p:cNvSpPr>
          <p:nvPr>
            <p:ph type="title"/>
          </p:nvPr>
        </p:nvSpPr>
        <p:spPr/>
        <p:txBody>
          <a:bodyPr/>
          <a:lstStyle/>
          <a:p>
            <a:pPr algn="ctr"/>
            <a:r>
              <a:rPr lang="en-US" b="1" dirty="0">
                <a:latin typeface="+mj-lt"/>
              </a:rPr>
              <a:t>TYPES OF VPN</a:t>
            </a:r>
            <a:endParaRPr lang="en-IN" b="1" dirty="0">
              <a:latin typeface="+mj-lt"/>
            </a:endParaRPr>
          </a:p>
        </p:txBody>
      </p:sp>
      <p:sp>
        <p:nvSpPr>
          <p:cNvPr id="4" name="Slide Number Placeholder 3">
            <a:extLst>
              <a:ext uri="{FF2B5EF4-FFF2-40B4-BE49-F238E27FC236}">
                <a16:creationId xmlns:a16="http://schemas.microsoft.com/office/drawing/2014/main" id="{C5EE4575-6C67-40E6-0303-683737133C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pic>
        <p:nvPicPr>
          <p:cNvPr id="6" name="Picture 5">
            <a:extLst>
              <a:ext uri="{FF2B5EF4-FFF2-40B4-BE49-F238E27FC236}">
                <a16:creationId xmlns:a16="http://schemas.microsoft.com/office/drawing/2014/main" id="{DACEBA47-8245-AF34-B7C7-5388D681CBE8}"/>
              </a:ext>
            </a:extLst>
          </p:cNvPr>
          <p:cNvPicPr>
            <a:picLocks noChangeAspect="1"/>
          </p:cNvPicPr>
          <p:nvPr/>
        </p:nvPicPr>
        <p:blipFill>
          <a:blip r:embed="rId2"/>
          <a:srcRect l="-1" t="16964" r="49528"/>
          <a:stretch>
            <a:fillRect/>
          </a:stretch>
        </p:blipFill>
        <p:spPr>
          <a:xfrm>
            <a:off x="3376882" y="1388125"/>
            <a:ext cx="5370511" cy="4417764"/>
          </a:xfrm>
          <a:prstGeom prst="rect">
            <a:avLst/>
          </a:prstGeom>
        </p:spPr>
      </p:pic>
    </p:spTree>
    <p:extLst>
      <p:ext uri="{BB962C8B-B14F-4D97-AF65-F5344CB8AC3E}">
        <p14:creationId xmlns:p14="http://schemas.microsoft.com/office/powerpoint/2010/main" val="20726823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AE6168-2134-D135-AC14-93BB41042053}"/>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In Remote Access VPN, Individual users are connected to the private network and It allows the technique to access the services and resources of that private network remotely. It is most suitable for the business and home users. </a:t>
            </a:r>
          </a:p>
          <a:p>
            <a:pPr algn="just"/>
            <a:r>
              <a:rPr lang="en-IN" dirty="0">
                <a:latin typeface="Calibri" panose="020F0502020204030204" pitchFamily="34" charset="0"/>
                <a:ea typeface="Calibri" panose="020F0502020204030204" pitchFamily="34" charset="0"/>
                <a:cs typeface="Calibri" panose="020F0502020204030204" pitchFamily="34" charset="0"/>
              </a:rPr>
              <a:t>In remote access VPN, multiple users are allowed.</a:t>
            </a:r>
          </a:p>
        </p:txBody>
      </p:sp>
      <p:sp>
        <p:nvSpPr>
          <p:cNvPr id="3" name="Title 2">
            <a:extLst>
              <a:ext uri="{FF2B5EF4-FFF2-40B4-BE49-F238E27FC236}">
                <a16:creationId xmlns:a16="http://schemas.microsoft.com/office/drawing/2014/main" id="{3BCF7FDC-E1C8-5F3D-A885-27EE0BF3144C}"/>
              </a:ext>
            </a:extLst>
          </p:cNvPr>
          <p:cNvSpPr>
            <a:spLocks noGrp="1"/>
          </p:cNvSpPr>
          <p:nvPr>
            <p:ph type="title"/>
          </p:nvPr>
        </p:nvSpPr>
        <p:spPr/>
        <p:txBody>
          <a:bodyPr/>
          <a:lstStyle/>
          <a:p>
            <a:pPr algn="ctr"/>
            <a:r>
              <a:rPr lang="en-US" b="1" dirty="0">
                <a:latin typeface="+mj-lt"/>
              </a:rPr>
              <a:t>REMOTE ACCESS VPN</a:t>
            </a:r>
            <a:endParaRPr lang="en-IN" b="1" dirty="0">
              <a:latin typeface="+mj-lt"/>
            </a:endParaRPr>
          </a:p>
        </p:txBody>
      </p:sp>
      <p:sp>
        <p:nvSpPr>
          <p:cNvPr id="4" name="Slide Number Placeholder 3">
            <a:extLst>
              <a:ext uri="{FF2B5EF4-FFF2-40B4-BE49-F238E27FC236}">
                <a16:creationId xmlns:a16="http://schemas.microsoft.com/office/drawing/2014/main" id="{F1503BEA-B340-2FD6-3CDD-2DA1BDCFBB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pic>
        <p:nvPicPr>
          <p:cNvPr id="6" name="Picture 5">
            <a:extLst>
              <a:ext uri="{FF2B5EF4-FFF2-40B4-BE49-F238E27FC236}">
                <a16:creationId xmlns:a16="http://schemas.microsoft.com/office/drawing/2014/main" id="{D4D7BDAE-2B7A-DD25-3E83-47000E5045AC}"/>
              </a:ext>
            </a:extLst>
          </p:cNvPr>
          <p:cNvPicPr>
            <a:picLocks noChangeAspect="1"/>
          </p:cNvPicPr>
          <p:nvPr/>
        </p:nvPicPr>
        <p:blipFill>
          <a:blip r:embed="rId2"/>
          <a:stretch>
            <a:fillRect/>
          </a:stretch>
        </p:blipFill>
        <p:spPr>
          <a:xfrm>
            <a:off x="2729460" y="3754054"/>
            <a:ext cx="6733079" cy="2195053"/>
          </a:xfrm>
          <a:prstGeom prst="rect">
            <a:avLst/>
          </a:prstGeom>
        </p:spPr>
      </p:pic>
    </p:spTree>
    <p:extLst>
      <p:ext uri="{BB962C8B-B14F-4D97-AF65-F5344CB8AC3E}">
        <p14:creationId xmlns:p14="http://schemas.microsoft.com/office/powerpoint/2010/main" val="2666240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FBEAB1-1866-12F3-AE31-21AE895AA0AB}"/>
              </a:ext>
            </a:extLst>
          </p:cNvPr>
          <p:cNvSpPr>
            <a:spLocks noGrp="1"/>
          </p:cNvSpPr>
          <p:nvPr>
            <p:ph type="body" idx="1"/>
          </p:nvPr>
        </p:nvSpPr>
        <p:spPr/>
        <p:txBody>
          <a:bodyPr>
            <a:normAutofit fontScale="77500" lnSpcReduction="20000"/>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Advantages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Enables secure access to a private network from a remote location or device.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Allows remote workers to access company resources securely.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Provides a flexible solution that can be accessed from anywhere with an internet connection.</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Requires less complex configuration and management than site-to-site VPNs.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Provides a high level of user privacy and data protection.</a:t>
            </a:r>
          </a:p>
          <a:p>
            <a:pPr lvl="0" algn="just" fontAlgn="base"/>
            <a:endParaRPr lang="en-IN" dirty="0">
              <a:latin typeface="Calibri" panose="020F0502020204030204" pitchFamily="34" charset="0"/>
              <a:ea typeface="Calibri" panose="020F0502020204030204" pitchFamily="34" charset="0"/>
              <a:cs typeface="Calibri" panose="020F0502020204030204" pitchFamily="34" charset="0"/>
            </a:endParaRPr>
          </a:p>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Disadvantages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May be slower than site-to-site VPN due to the use of encryption and additional network traffic.</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May require additional software components to be installed on the user's device.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May require additional user training and support to ensure proper use.</a:t>
            </a:r>
          </a:p>
        </p:txBody>
      </p:sp>
      <p:sp>
        <p:nvSpPr>
          <p:cNvPr id="4" name="Slide Number Placeholder 3">
            <a:extLst>
              <a:ext uri="{FF2B5EF4-FFF2-40B4-BE49-F238E27FC236}">
                <a16:creationId xmlns:a16="http://schemas.microsoft.com/office/drawing/2014/main" id="{DF914FB1-2381-F474-484C-7AFBDEAE81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
        <p:nvSpPr>
          <p:cNvPr id="5" name="Title 2">
            <a:extLst>
              <a:ext uri="{FF2B5EF4-FFF2-40B4-BE49-F238E27FC236}">
                <a16:creationId xmlns:a16="http://schemas.microsoft.com/office/drawing/2014/main" id="{74CF1226-5EE3-01E3-9D25-DE59A7DCC4ED}"/>
              </a:ext>
            </a:extLst>
          </p:cNvPr>
          <p:cNvSpPr>
            <a:spLocks noGrp="1"/>
          </p:cNvSpPr>
          <p:nvPr>
            <p:ph type="title"/>
          </p:nvPr>
        </p:nvSpPr>
        <p:spPr>
          <a:xfrm>
            <a:off x="838200" y="238125"/>
            <a:ext cx="10444163" cy="719138"/>
          </a:xfrm>
        </p:spPr>
        <p:txBody>
          <a:bodyPr/>
          <a:lstStyle/>
          <a:p>
            <a:pPr algn="ctr"/>
            <a:r>
              <a:rPr lang="en-US" b="1" dirty="0">
                <a:latin typeface="+mj-lt"/>
              </a:rPr>
              <a:t>REMOTE ACCESS VPN</a:t>
            </a:r>
            <a:endParaRPr lang="en-IN" b="1" dirty="0">
              <a:latin typeface="+mj-lt"/>
            </a:endParaRPr>
          </a:p>
        </p:txBody>
      </p:sp>
    </p:spTree>
    <p:extLst>
      <p:ext uri="{BB962C8B-B14F-4D97-AF65-F5344CB8AC3E}">
        <p14:creationId xmlns:p14="http://schemas.microsoft.com/office/powerpoint/2010/main" val="14184707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F8F4C1-065B-6093-2C56-9BF57EA187A4}"/>
              </a:ext>
            </a:extLst>
          </p:cNvPr>
          <p:cNvSpPr>
            <a:spLocks noGrp="1"/>
          </p:cNvSpPr>
          <p:nvPr>
            <p:ph type="body" idx="1"/>
          </p:nvPr>
        </p:nvSpPr>
        <p:spPr/>
        <p:txBody>
          <a:bodyPr/>
          <a:lstStyle/>
          <a:p>
            <a:pPr algn="just"/>
            <a:r>
              <a:rPr lang="en-IN" b="1" dirty="0">
                <a:latin typeface="Calibri" panose="020F0502020204030204" pitchFamily="34" charset="0"/>
                <a:ea typeface="Calibri" panose="020F0502020204030204" pitchFamily="34" charset="0"/>
                <a:cs typeface="Calibri" panose="020F0502020204030204" pitchFamily="34" charset="0"/>
              </a:rPr>
              <a:t>Site-to-Site VPN</a:t>
            </a:r>
            <a:r>
              <a:rPr lang="en-IN" dirty="0">
                <a:latin typeface="Calibri" panose="020F0502020204030204" pitchFamily="34" charset="0"/>
                <a:ea typeface="Calibri" panose="020F0502020204030204" pitchFamily="34" charset="0"/>
                <a:cs typeface="Calibri" panose="020F0502020204030204" pitchFamily="34" charset="0"/>
              </a:rPr>
              <a:t> is also known as Router-to-Router VPN. In site-to-site VPN, the IPsec security method is used to create an encrypted tunnel from one customer network to the remote site of the customer. </a:t>
            </a:r>
          </a:p>
          <a:p>
            <a:pPr algn="just"/>
            <a:r>
              <a:rPr lang="en-IN" dirty="0">
                <a:latin typeface="Calibri" panose="020F0502020204030204" pitchFamily="34" charset="0"/>
                <a:ea typeface="Calibri" panose="020F0502020204030204" pitchFamily="34" charset="0"/>
                <a:cs typeface="Calibri" panose="020F0502020204030204" pitchFamily="34" charset="0"/>
              </a:rPr>
              <a:t>Multiple users are not allowed in a Site-to-Site VPN. </a:t>
            </a:r>
          </a:p>
        </p:txBody>
      </p:sp>
      <p:sp>
        <p:nvSpPr>
          <p:cNvPr id="3" name="Title 2">
            <a:extLst>
              <a:ext uri="{FF2B5EF4-FFF2-40B4-BE49-F238E27FC236}">
                <a16:creationId xmlns:a16="http://schemas.microsoft.com/office/drawing/2014/main" id="{62236A63-5D4B-B14D-E8AD-2EC509A56EC4}"/>
              </a:ext>
            </a:extLst>
          </p:cNvPr>
          <p:cNvSpPr>
            <a:spLocks noGrp="1"/>
          </p:cNvSpPr>
          <p:nvPr>
            <p:ph type="title"/>
          </p:nvPr>
        </p:nvSpPr>
        <p:spPr/>
        <p:txBody>
          <a:bodyPr/>
          <a:lstStyle/>
          <a:p>
            <a:pPr algn="ctr"/>
            <a:r>
              <a:rPr lang="en-US" b="1" dirty="0">
                <a:latin typeface="+mj-lt"/>
              </a:rPr>
              <a:t>SITE –TO-SITE VPN</a:t>
            </a:r>
            <a:endParaRPr lang="en-IN" b="1" dirty="0">
              <a:latin typeface="+mj-lt"/>
            </a:endParaRPr>
          </a:p>
        </p:txBody>
      </p:sp>
      <p:sp>
        <p:nvSpPr>
          <p:cNvPr id="4" name="Slide Number Placeholder 3">
            <a:extLst>
              <a:ext uri="{FF2B5EF4-FFF2-40B4-BE49-F238E27FC236}">
                <a16:creationId xmlns:a16="http://schemas.microsoft.com/office/drawing/2014/main" id="{71EDDAA8-2A62-CB28-5733-C2450C783A2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64</a:t>
            </a:fld>
            <a:endParaRPr lang="en-US"/>
          </a:p>
        </p:txBody>
      </p:sp>
      <p:pic>
        <p:nvPicPr>
          <p:cNvPr id="6" name="Picture 5">
            <a:extLst>
              <a:ext uri="{FF2B5EF4-FFF2-40B4-BE49-F238E27FC236}">
                <a16:creationId xmlns:a16="http://schemas.microsoft.com/office/drawing/2014/main" id="{E89FAF30-3B94-4046-A390-EBD7CBF57FF8}"/>
              </a:ext>
            </a:extLst>
          </p:cNvPr>
          <p:cNvPicPr>
            <a:picLocks noChangeAspect="1"/>
          </p:cNvPicPr>
          <p:nvPr/>
        </p:nvPicPr>
        <p:blipFill>
          <a:blip r:embed="rId2"/>
          <a:stretch>
            <a:fillRect/>
          </a:stretch>
        </p:blipFill>
        <p:spPr>
          <a:xfrm>
            <a:off x="2557462" y="3778843"/>
            <a:ext cx="7077075" cy="1924050"/>
          </a:xfrm>
          <a:prstGeom prst="rect">
            <a:avLst/>
          </a:prstGeom>
        </p:spPr>
      </p:pic>
    </p:spTree>
    <p:extLst>
      <p:ext uri="{BB962C8B-B14F-4D97-AF65-F5344CB8AC3E}">
        <p14:creationId xmlns:p14="http://schemas.microsoft.com/office/powerpoint/2010/main" val="3892914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E23CAB-A604-264F-AD4B-3AA59D87540D}"/>
              </a:ext>
            </a:extLst>
          </p:cNvPr>
          <p:cNvSpPr>
            <a:spLocks noGrp="1"/>
          </p:cNvSpPr>
          <p:nvPr>
            <p:ph type="body" idx="1"/>
          </p:nvPr>
        </p:nvSpPr>
        <p:spPr/>
        <p:txBody>
          <a:bodyPr>
            <a:normAutofit fontScale="92500" lnSpcReduction="20000"/>
          </a:bodyPr>
          <a:lstStyle/>
          <a:p>
            <a:pPr marL="11430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Advantages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Provides a secure connection between two or more networks.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Enables users to access resources located in another location or office.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Encrypts traffic between networks to enhance security.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Offers a cost-effective solution for interconnecting networks.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Provides a high level of network performance and reliability.</a:t>
            </a:r>
            <a:br>
              <a:rPr lang="en-IN" b="1" dirty="0">
                <a:latin typeface="Calibri" panose="020F0502020204030204" pitchFamily="34" charset="0"/>
                <a:ea typeface="Calibri" panose="020F0502020204030204" pitchFamily="34" charset="0"/>
                <a:cs typeface="Calibri" panose="020F0502020204030204" pitchFamily="34" charset="0"/>
              </a:rPr>
            </a:br>
            <a:endParaRPr lang="en-IN" b="1" dirty="0">
              <a:latin typeface="Calibri" panose="020F0502020204030204" pitchFamily="34" charset="0"/>
              <a:ea typeface="Calibri" panose="020F0502020204030204" pitchFamily="34" charset="0"/>
              <a:cs typeface="Calibri" panose="020F0502020204030204" pitchFamily="34" charset="0"/>
            </a:endParaRPr>
          </a:p>
          <a:p>
            <a:pPr marL="114300" lvl="0" indent="0" algn="just" fontAlgn="base">
              <a:buNone/>
            </a:pPr>
            <a:r>
              <a:rPr lang="en-IN" b="1" dirty="0">
                <a:latin typeface="Calibri" panose="020F0502020204030204" pitchFamily="34" charset="0"/>
                <a:ea typeface="Calibri" panose="020F0502020204030204" pitchFamily="34" charset="0"/>
                <a:cs typeface="Calibri" panose="020F0502020204030204" pitchFamily="34" charset="0"/>
              </a:rPr>
              <a:t>Disadvantages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Requires more complex configuration and management than remote access VPNs.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May require additional hardware and software components to implement.</a:t>
            </a:r>
          </a:p>
        </p:txBody>
      </p:sp>
      <p:sp>
        <p:nvSpPr>
          <p:cNvPr id="4" name="Slide Number Placeholder 3">
            <a:extLst>
              <a:ext uri="{FF2B5EF4-FFF2-40B4-BE49-F238E27FC236}">
                <a16:creationId xmlns:a16="http://schemas.microsoft.com/office/drawing/2014/main" id="{C620F537-5316-09F1-3690-4DAF04DC91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65</a:t>
            </a:fld>
            <a:endParaRPr lang="en-US"/>
          </a:p>
        </p:txBody>
      </p:sp>
      <p:sp>
        <p:nvSpPr>
          <p:cNvPr id="5" name="Title 2">
            <a:extLst>
              <a:ext uri="{FF2B5EF4-FFF2-40B4-BE49-F238E27FC236}">
                <a16:creationId xmlns:a16="http://schemas.microsoft.com/office/drawing/2014/main" id="{6A41F7B5-151C-B0B5-7414-7CABFBCE92BD}"/>
              </a:ext>
            </a:extLst>
          </p:cNvPr>
          <p:cNvSpPr>
            <a:spLocks noGrp="1"/>
          </p:cNvSpPr>
          <p:nvPr>
            <p:ph type="title"/>
          </p:nvPr>
        </p:nvSpPr>
        <p:spPr>
          <a:xfrm>
            <a:off x="838200" y="238125"/>
            <a:ext cx="10444163" cy="719138"/>
          </a:xfrm>
        </p:spPr>
        <p:txBody>
          <a:bodyPr/>
          <a:lstStyle/>
          <a:p>
            <a:pPr algn="ctr"/>
            <a:r>
              <a:rPr lang="en-US" b="1" dirty="0">
                <a:latin typeface="+mj-lt"/>
              </a:rPr>
              <a:t>SITE –TO-SITE VPN</a:t>
            </a:r>
            <a:endParaRPr lang="en-IN" b="1" dirty="0">
              <a:latin typeface="+mj-lt"/>
            </a:endParaRPr>
          </a:p>
        </p:txBody>
      </p:sp>
    </p:spTree>
    <p:extLst>
      <p:ext uri="{BB962C8B-B14F-4D97-AF65-F5344CB8AC3E}">
        <p14:creationId xmlns:p14="http://schemas.microsoft.com/office/powerpoint/2010/main" val="18990753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D4D878-48EC-C1B3-822F-255EAA8F1348}"/>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IPsec is a group of protocols for securing connections between devices. IPsec helps keep data sent over public networks secure. It is often used to set up VPNs, and it works by encrypting IP packets, along with authenticating the source where the packets come from.</a:t>
            </a:r>
          </a:p>
          <a:p>
            <a:pPr algn="just"/>
            <a:r>
              <a:rPr lang="en-IN" dirty="0">
                <a:latin typeface="Calibri" panose="020F0502020204030204" pitchFamily="34" charset="0"/>
                <a:ea typeface="Calibri" panose="020F0502020204030204" pitchFamily="34" charset="0"/>
                <a:cs typeface="Calibri" panose="020F0502020204030204" pitchFamily="34" charset="0"/>
              </a:rPr>
              <a:t>Within the term "IPsec," "IP" stands for "Internet Protocol" and "sec" for "secure." The Internet Protocol is the main routing protocol used on the Internet; it designates where data will go using IP addresses. IPsec is secure because it adds encryption and authentication to this process.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CA322127-F159-0F91-CF33-EA640A4530A3}"/>
              </a:ext>
            </a:extLst>
          </p:cNvPr>
          <p:cNvSpPr>
            <a:spLocks noGrp="1"/>
          </p:cNvSpPr>
          <p:nvPr>
            <p:ph type="title"/>
          </p:nvPr>
        </p:nvSpPr>
        <p:spPr/>
        <p:txBody>
          <a:bodyPr/>
          <a:lstStyle/>
          <a:p>
            <a:pPr algn="ctr"/>
            <a:r>
              <a:rPr lang="en-US" b="1" dirty="0">
                <a:latin typeface="+mj-lt"/>
              </a:rPr>
              <a:t>IPSec</a:t>
            </a:r>
            <a:endParaRPr lang="en-IN" b="1" dirty="0">
              <a:latin typeface="+mj-lt"/>
            </a:endParaRPr>
          </a:p>
        </p:txBody>
      </p:sp>
      <p:sp>
        <p:nvSpPr>
          <p:cNvPr id="4" name="Slide Number Placeholder 3">
            <a:extLst>
              <a:ext uri="{FF2B5EF4-FFF2-40B4-BE49-F238E27FC236}">
                <a16:creationId xmlns:a16="http://schemas.microsoft.com/office/drawing/2014/main" id="{183B77D3-62D5-0887-30B3-BD1B2954EB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66</a:t>
            </a:fld>
            <a:endParaRPr lang="en-US"/>
          </a:p>
        </p:txBody>
      </p:sp>
    </p:spTree>
    <p:extLst>
      <p:ext uri="{BB962C8B-B14F-4D97-AF65-F5344CB8AC3E}">
        <p14:creationId xmlns:p14="http://schemas.microsoft.com/office/powerpoint/2010/main" val="10028826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F805B8-13F3-51D3-5A68-A3ECCBEC2802}"/>
              </a:ext>
            </a:extLst>
          </p:cNvPr>
          <p:cNvSpPr>
            <a:spLocks noGrp="1"/>
          </p:cNvSpPr>
          <p:nvPr>
            <p:ph type="body" idx="1"/>
          </p:nvPr>
        </p:nvSpPr>
        <p:spPr/>
        <p:txBody>
          <a:bodyPr>
            <a:normAutofit/>
          </a:bodyPr>
          <a:lstStyle/>
          <a:p>
            <a:pPr algn="just"/>
            <a:r>
              <a:rPr lang="en-IN" sz="2300" b="1" dirty="0">
                <a:latin typeface="Calibri" panose="020F0502020204030204" pitchFamily="34" charset="0"/>
                <a:ea typeface="Calibri" panose="020F0502020204030204" pitchFamily="34" charset="0"/>
                <a:cs typeface="Calibri" panose="020F0502020204030204" pitchFamily="34" charset="0"/>
              </a:rPr>
              <a:t>A secure sockets layer VPN (SSL VPN)</a:t>
            </a:r>
            <a:r>
              <a:rPr lang="en-IN" sz="2300" dirty="0">
                <a:latin typeface="Calibri" panose="020F0502020204030204" pitchFamily="34" charset="0"/>
                <a:ea typeface="Calibri" panose="020F0502020204030204" pitchFamily="34" charset="0"/>
                <a:cs typeface="Calibri" panose="020F0502020204030204" pitchFamily="34" charset="0"/>
              </a:rPr>
              <a:t> enables individual users to access an organization's network, client-server applications, and internal network utilities and directories without the need for specialized software. SSL VPNs provide safe, secure communication via an encrypted connection for all types of devices, regardless of whether access to the network is via the public internet or another secure network. </a:t>
            </a:r>
          </a:p>
          <a:p>
            <a:pPr algn="just"/>
            <a:r>
              <a:rPr lang="en-IN" sz="2300" dirty="0">
                <a:latin typeface="Calibri" panose="020F0502020204030204" pitchFamily="34" charset="0"/>
                <a:ea typeface="Calibri" panose="020F0502020204030204" pitchFamily="34" charset="0"/>
                <a:cs typeface="Calibri" panose="020F0502020204030204" pitchFamily="34" charset="0"/>
              </a:rPr>
              <a:t>All traffic between a web browser and an </a:t>
            </a:r>
            <a:r>
              <a:rPr lang="en-IN" sz="2300" b="1" dirty="0">
                <a:latin typeface="Calibri" panose="020F0502020204030204" pitchFamily="34" charset="0"/>
                <a:ea typeface="Calibri" panose="020F0502020204030204" pitchFamily="34" charset="0"/>
                <a:cs typeface="Calibri" panose="020F0502020204030204" pitchFamily="34" charset="0"/>
              </a:rPr>
              <a:t>SSL VPN</a:t>
            </a:r>
            <a:r>
              <a:rPr lang="en-IN" sz="2300" dirty="0">
                <a:latin typeface="Calibri" panose="020F0502020204030204" pitchFamily="34" charset="0"/>
                <a:ea typeface="Calibri" panose="020F0502020204030204" pitchFamily="34" charset="0"/>
                <a:cs typeface="Calibri" panose="020F0502020204030204" pitchFamily="34" charset="0"/>
              </a:rPr>
              <a:t> device is encrypted with either the </a:t>
            </a:r>
            <a:r>
              <a:rPr lang="en-IN" sz="2300" b="1" dirty="0">
                <a:latin typeface="Calibri" panose="020F0502020204030204" pitchFamily="34" charset="0"/>
                <a:ea typeface="Calibri" panose="020F0502020204030204" pitchFamily="34" charset="0"/>
                <a:cs typeface="Calibri" panose="020F0502020204030204" pitchFamily="34" charset="0"/>
              </a:rPr>
              <a:t>SSL or transport layer security (TLS) protocol</a:t>
            </a:r>
            <a:r>
              <a:rPr lang="en-IN" sz="2300" dirty="0">
                <a:latin typeface="Calibri" panose="020F0502020204030204" pitchFamily="34" charset="0"/>
                <a:ea typeface="Calibri" panose="020F0502020204030204" pitchFamily="34" charset="0"/>
                <a:cs typeface="Calibri" panose="020F0502020204030204" pitchFamily="34" charset="0"/>
              </a:rPr>
              <a:t>. Individual users of the SSL VPN do not have to decide which protocol to use for the VPN to do its job. Instead, the SSL VPN automatically uses the newest, most updated cryptographic protocol that has been installed on the user's browser. Users do not need to worry about updating the protocol on their browser either. Whenever a browser or an operating system (OS) is updated, the newest version of the protocol is updated along with it.</a:t>
            </a:r>
          </a:p>
          <a:p>
            <a:pPr algn="just"/>
            <a:endParaRPr lang="en-IN" sz="2300"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0B9FD11F-061C-825C-597E-70BD4E20D62C}"/>
              </a:ext>
            </a:extLst>
          </p:cNvPr>
          <p:cNvSpPr>
            <a:spLocks noGrp="1"/>
          </p:cNvSpPr>
          <p:nvPr>
            <p:ph type="title"/>
          </p:nvPr>
        </p:nvSpPr>
        <p:spPr/>
        <p:txBody>
          <a:bodyPr/>
          <a:lstStyle/>
          <a:p>
            <a:pPr algn="ctr"/>
            <a:r>
              <a:rPr lang="en-US" b="1" dirty="0">
                <a:latin typeface="+mj-lt"/>
              </a:rPr>
              <a:t>SSL VPN</a:t>
            </a:r>
            <a:endParaRPr lang="en-IN" b="1" dirty="0">
              <a:latin typeface="+mj-lt"/>
            </a:endParaRPr>
          </a:p>
        </p:txBody>
      </p:sp>
      <p:sp>
        <p:nvSpPr>
          <p:cNvPr id="4" name="Slide Number Placeholder 3">
            <a:extLst>
              <a:ext uri="{FF2B5EF4-FFF2-40B4-BE49-F238E27FC236}">
                <a16:creationId xmlns:a16="http://schemas.microsoft.com/office/drawing/2014/main" id="{23A16F04-8503-51A5-5D2F-06D4C6A929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67</a:t>
            </a:fld>
            <a:endParaRPr lang="en-US"/>
          </a:p>
        </p:txBody>
      </p:sp>
    </p:spTree>
    <p:extLst>
      <p:ext uri="{BB962C8B-B14F-4D97-AF65-F5344CB8AC3E}">
        <p14:creationId xmlns:p14="http://schemas.microsoft.com/office/powerpoint/2010/main" val="40495846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E7FC55-AA62-CB62-005F-9FDFB5ACABE2}"/>
              </a:ext>
            </a:extLst>
          </p:cNvPr>
          <p:cNvSpPr>
            <a:spLocks noGrp="1"/>
          </p:cNvSpPr>
          <p:nvPr>
            <p:ph type="title"/>
          </p:nvPr>
        </p:nvSpPr>
        <p:spPr/>
        <p:txBody>
          <a:bodyPr/>
          <a:lstStyle/>
          <a:p>
            <a:pPr algn="ctr"/>
            <a:r>
              <a:rPr lang="en-US" b="1" dirty="0">
                <a:latin typeface="+mj-lt"/>
              </a:rPr>
              <a:t>IPSec v/s SSL VPN</a:t>
            </a:r>
            <a:endParaRPr lang="en-IN" b="1" dirty="0">
              <a:latin typeface="+mj-lt"/>
            </a:endParaRPr>
          </a:p>
        </p:txBody>
      </p:sp>
      <p:sp>
        <p:nvSpPr>
          <p:cNvPr id="4" name="Slide Number Placeholder 3">
            <a:extLst>
              <a:ext uri="{FF2B5EF4-FFF2-40B4-BE49-F238E27FC236}">
                <a16:creationId xmlns:a16="http://schemas.microsoft.com/office/drawing/2014/main" id="{288322C8-E43B-227B-ABF6-666E9C6BC6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68</a:t>
            </a:fld>
            <a:endParaRPr lang="en-US"/>
          </a:p>
        </p:txBody>
      </p:sp>
      <p:graphicFrame>
        <p:nvGraphicFramePr>
          <p:cNvPr id="5" name="Table 4">
            <a:extLst>
              <a:ext uri="{FF2B5EF4-FFF2-40B4-BE49-F238E27FC236}">
                <a16:creationId xmlns:a16="http://schemas.microsoft.com/office/drawing/2014/main" id="{16DC8960-E59F-43D7-89AB-8210053BA947}"/>
              </a:ext>
            </a:extLst>
          </p:cNvPr>
          <p:cNvGraphicFramePr>
            <a:graphicFrameLocks noGrp="1"/>
          </p:cNvGraphicFramePr>
          <p:nvPr>
            <p:extLst>
              <p:ext uri="{D42A27DB-BD31-4B8C-83A1-F6EECF244321}">
                <p14:modId xmlns:p14="http://schemas.microsoft.com/office/powerpoint/2010/main" val="3754854135"/>
              </p:ext>
            </p:extLst>
          </p:nvPr>
        </p:nvGraphicFramePr>
        <p:xfrm>
          <a:off x="1012768" y="1142353"/>
          <a:ext cx="10341034" cy="5016076"/>
        </p:xfrm>
        <a:graphic>
          <a:graphicData uri="http://schemas.openxmlformats.org/drawingml/2006/table">
            <a:tbl>
              <a:tblPr firstRow="1" bandRow="1">
                <a:tableStyleId>{5C22544A-7EE6-4342-B048-85BDC9FD1C3A}</a:tableStyleId>
              </a:tblPr>
              <a:tblGrid>
                <a:gridCol w="5170517">
                  <a:extLst>
                    <a:ext uri="{9D8B030D-6E8A-4147-A177-3AD203B41FA5}">
                      <a16:colId xmlns:a16="http://schemas.microsoft.com/office/drawing/2014/main" val="3109330243"/>
                    </a:ext>
                  </a:extLst>
                </a:gridCol>
                <a:gridCol w="5170517">
                  <a:extLst>
                    <a:ext uri="{9D8B030D-6E8A-4147-A177-3AD203B41FA5}">
                      <a16:colId xmlns:a16="http://schemas.microsoft.com/office/drawing/2014/main" val="3311974966"/>
                    </a:ext>
                  </a:extLst>
                </a:gridCol>
              </a:tblGrid>
              <a:tr h="685572">
                <a:tc>
                  <a:txBody>
                    <a:bodyPr/>
                    <a:lstStyle/>
                    <a:p>
                      <a:pPr marL="0" marR="0" algn="ctr" fontAlgn="base">
                        <a:spcBef>
                          <a:spcPts val="1875"/>
                        </a:spcBef>
                        <a:spcAft>
                          <a:spcPts val="1875"/>
                        </a:spcAft>
                        <a:buNone/>
                      </a:pPr>
                      <a:r>
                        <a:rPr lang="en-IN" sz="24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IPSec</a:t>
                      </a:r>
                    </a:p>
                  </a:txBody>
                  <a:tcPr marL="38100" marR="38100" marT="63500" marB="63500" anchor="ctr"/>
                </a:tc>
                <a:tc>
                  <a:txBody>
                    <a:bodyPr/>
                    <a:lstStyle/>
                    <a:p>
                      <a:pPr marL="0" marR="0" algn="ctr" fontAlgn="base">
                        <a:spcBef>
                          <a:spcPts val="1875"/>
                        </a:spcBef>
                        <a:spcAft>
                          <a:spcPts val="1875"/>
                        </a:spcAft>
                        <a:buNone/>
                      </a:pPr>
                      <a:r>
                        <a:rPr lang="en-IN" sz="24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SSL</a:t>
                      </a:r>
                    </a:p>
                  </a:txBody>
                  <a:tcPr marL="63500" marR="63500" marT="63500" marB="63500" anchor="ctr"/>
                </a:tc>
                <a:extLst>
                  <a:ext uri="{0D108BD9-81ED-4DB2-BD59-A6C34878D82A}">
                    <a16:rowId xmlns:a16="http://schemas.microsoft.com/office/drawing/2014/main" val="2154314935"/>
                  </a:ext>
                </a:extLst>
              </a:tr>
              <a:tr h="1290279">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Internet protocol security (IPsec) is a set of protocols that provide security for </a:t>
                      </a:r>
                      <a:r>
                        <a:rPr lang="en-IN" sz="20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Internet Protocol</a:t>
                      </a: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tc>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SSL is a secure protocol developed for sending information securely over the Internet.</a:t>
                      </a:r>
                    </a:p>
                  </a:txBody>
                  <a:tcPr marL="63500" marR="63500" marT="88900" marB="88900" anchor="ctr"/>
                </a:tc>
                <a:extLst>
                  <a:ext uri="{0D108BD9-81ED-4DB2-BD59-A6C34878D82A}">
                    <a16:rowId xmlns:a16="http://schemas.microsoft.com/office/drawing/2014/main" val="2610157084"/>
                  </a:ext>
                </a:extLst>
              </a:tr>
              <a:tr h="1076788">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It Work in Internet Layer of the </a:t>
                      </a:r>
                      <a:r>
                        <a:rPr lang="en-IN" sz="20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OSI model</a:t>
                      </a: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tc>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It Work in Between the</a:t>
                      </a:r>
                      <a:r>
                        <a:rPr lang="en-IN" sz="20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transport layer</a:t>
                      </a: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and </a:t>
                      </a:r>
                      <a:r>
                        <a:rPr lang="en-IN" sz="20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application layer</a:t>
                      </a:r>
                      <a:r>
                        <a:rPr lang="en-IN" sz="2000" b="0" i="0" u="sng"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t>
                      </a: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of the OSI model.</a:t>
                      </a:r>
                    </a:p>
                  </a:txBody>
                  <a:tcPr marL="63500" marR="63500" marT="88900" marB="88900" anchor="ctr"/>
                </a:tc>
                <a:extLst>
                  <a:ext uri="{0D108BD9-81ED-4DB2-BD59-A6C34878D82A}">
                    <a16:rowId xmlns:a16="http://schemas.microsoft.com/office/drawing/2014/main" val="1096072544"/>
                  </a:ext>
                </a:extLst>
              </a:tr>
              <a:tr h="886649">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Configuration of IPsec is Complex</a:t>
                      </a:r>
                    </a:p>
                  </a:txBody>
                  <a:tcPr marL="63500" marR="63500" marT="88900" marB="88900" anchor="ctr"/>
                </a:tc>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Configuration of SSL is Comparatively Simple</a:t>
                      </a:r>
                    </a:p>
                  </a:txBody>
                  <a:tcPr marL="63500" marR="63500" marT="88900" marB="88900" anchor="ctr"/>
                </a:tc>
                <a:extLst>
                  <a:ext uri="{0D108BD9-81ED-4DB2-BD59-A6C34878D82A}">
                    <a16:rowId xmlns:a16="http://schemas.microsoft.com/office/drawing/2014/main" val="1503061321"/>
                  </a:ext>
                </a:extLst>
              </a:tr>
              <a:tr h="1076788">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IPsec is used to secure a </a:t>
                      </a:r>
                      <a:r>
                        <a:rPr lang="en-IN" sz="2000" b="0" i="0" u="none" spc="1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Virtual Private Network</a:t>
                      </a: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p>
                  </a:txBody>
                  <a:tcPr marL="63500" marR="63500" marT="88900" marB="88900" anchor="ctr"/>
                </a:tc>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SSL is used to secure web transactions.</a:t>
                      </a:r>
                    </a:p>
                  </a:txBody>
                  <a:tcPr marL="63500" marR="63500" marT="88900" marB="88900" anchor="ctr"/>
                </a:tc>
                <a:extLst>
                  <a:ext uri="{0D108BD9-81ED-4DB2-BD59-A6C34878D82A}">
                    <a16:rowId xmlns:a16="http://schemas.microsoft.com/office/drawing/2014/main" val="4288254039"/>
                  </a:ext>
                </a:extLst>
              </a:tr>
            </a:tbl>
          </a:graphicData>
        </a:graphic>
      </p:graphicFrame>
    </p:spTree>
    <p:extLst>
      <p:ext uri="{BB962C8B-B14F-4D97-AF65-F5344CB8AC3E}">
        <p14:creationId xmlns:p14="http://schemas.microsoft.com/office/powerpoint/2010/main" val="10675057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CDF6A5-9B60-C156-584C-7A01361DE5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69</a:t>
            </a:fld>
            <a:endParaRPr lang="en-US"/>
          </a:p>
        </p:txBody>
      </p:sp>
      <p:sp>
        <p:nvSpPr>
          <p:cNvPr id="5" name="Title 2">
            <a:extLst>
              <a:ext uri="{FF2B5EF4-FFF2-40B4-BE49-F238E27FC236}">
                <a16:creationId xmlns:a16="http://schemas.microsoft.com/office/drawing/2014/main" id="{8E1AEB80-C9E8-01F0-6EB4-AF855EE96E26}"/>
              </a:ext>
            </a:extLst>
          </p:cNvPr>
          <p:cNvSpPr>
            <a:spLocks noGrp="1"/>
          </p:cNvSpPr>
          <p:nvPr>
            <p:ph type="title"/>
          </p:nvPr>
        </p:nvSpPr>
        <p:spPr>
          <a:xfrm>
            <a:off x="838200" y="238125"/>
            <a:ext cx="10444163" cy="719138"/>
          </a:xfrm>
        </p:spPr>
        <p:txBody>
          <a:bodyPr/>
          <a:lstStyle/>
          <a:p>
            <a:pPr algn="ctr"/>
            <a:r>
              <a:rPr lang="en-US" b="1" dirty="0">
                <a:latin typeface="+mj-lt"/>
              </a:rPr>
              <a:t>IPSec v/s SSL VPN</a:t>
            </a:r>
            <a:endParaRPr lang="en-IN" b="1" dirty="0">
              <a:latin typeface="+mj-lt"/>
            </a:endParaRPr>
          </a:p>
        </p:txBody>
      </p:sp>
      <p:graphicFrame>
        <p:nvGraphicFramePr>
          <p:cNvPr id="12" name="Table 11">
            <a:extLst>
              <a:ext uri="{FF2B5EF4-FFF2-40B4-BE49-F238E27FC236}">
                <a16:creationId xmlns:a16="http://schemas.microsoft.com/office/drawing/2014/main" id="{DFF372D7-8C04-4B72-E798-F9A4B8FF31DA}"/>
              </a:ext>
            </a:extLst>
          </p:cNvPr>
          <p:cNvGraphicFramePr>
            <a:graphicFrameLocks noGrp="1"/>
          </p:cNvGraphicFramePr>
          <p:nvPr>
            <p:extLst>
              <p:ext uri="{D42A27DB-BD31-4B8C-83A1-F6EECF244321}">
                <p14:modId xmlns:p14="http://schemas.microsoft.com/office/powerpoint/2010/main" val="278068298"/>
              </p:ext>
            </p:extLst>
          </p:nvPr>
        </p:nvGraphicFramePr>
        <p:xfrm>
          <a:off x="838200" y="1314577"/>
          <a:ext cx="10515602" cy="4967280"/>
        </p:xfrm>
        <a:graphic>
          <a:graphicData uri="http://schemas.openxmlformats.org/drawingml/2006/table">
            <a:tbl>
              <a:tblPr firstRow="1" bandRow="1">
                <a:tableStyleId>{5C22544A-7EE6-4342-B048-85BDC9FD1C3A}</a:tableStyleId>
              </a:tblPr>
              <a:tblGrid>
                <a:gridCol w="5257801">
                  <a:extLst>
                    <a:ext uri="{9D8B030D-6E8A-4147-A177-3AD203B41FA5}">
                      <a16:colId xmlns:a16="http://schemas.microsoft.com/office/drawing/2014/main" val="2312246084"/>
                    </a:ext>
                  </a:extLst>
                </a:gridCol>
                <a:gridCol w="5257801">
                  <a:extLst>
                    <a:ext uri="{9D8B030D-6E8A-4147-A177-3AD203B41FA5}">
                      <a16:colId xmlns:a16="http://schemas.microsoft.com/office/drawing/2014/main" val="3173133468"/>
                    </a:ext>
                  </a:extLst>
                </a:gridCol>
              </a:tblGrid>
              <a:tr h="968770">
                <a:tc>
                  <a:txBody>
                    <a:bodyPr/>
                    <a:lstStyle/>
                    <a:p>
                      <a:pPr marL="0" marR="0" algn="ctr" fontAlgn="base">
                        <a:spcBef>
                          <a:spcPts val="1875"/>
                        </a:spcBef>
                        <a:spcAft>
                          <a:spcPts val="1875"/>
                        </a:spcAft>
                        <a:buNone/>
                      </a:pPr>
                      <a:r>
                        <a:rPr lang="en-IN" sz="24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IPSec</a:t>
                      </a:r>
                    </a:p>
                  </a:txBody>
                  <a:tcPr marL="38100" marR="38100" marT="63500" marB="63500" anchor="ctr"/>
                </a:tc>
                <a:tc>
                  <a:txBody>
                    <a:bodyPr/>
                    <a:lstStyle/>
                    <a:p>
                      <a:pPr marL="0" marR="0" algn="ctr" fontAlgn="base">
                        <a:spcBef>
                          <a:spcPts val="1875"/>
                        </a:spcBef>
                        <a:spcAft>
                          <a:spcPts val="1875"/>
                        </a:spcAft>
                        <a:buNone/>
                      </a:pPr>
                      <a:r>
                        <a:rPr lang="en-IN" sz="2400" b="1" i="0" spc="1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SSL</a:t>
                      </a:r>
                    </a:p>
                  </a:txBody>
                  <a:tcPr marL="63500" marR="63500" marT="63500" marB="63500" anchor="ctr"/>
                </a:tc>
                <a:extLst>
                  <a:ext uri="{0D108BD9-81ED-4DB2-BD59-A6C34878D82A}">
                    <a16:rowId xmlns:a16="http://schemas.microsoft.com/office/drawing/2014/main" val="3200271948"/>
                  </a:ext>
                </a:extLst>
              </a:tr>
              <a:tr h="968770">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Installation process is Vendor Non-Specific</a:t>
                      </a:r>
                    </a:p>
                  </a:txBody>
                  <a:tcPr marL="63500" marR="63500" marT="88900" marB="88900" anchor="ctr"/>
                </a:tc>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Installation process is Vendor Specific</a:t>
                      </a:r>
                    </a:p>
                  </a:txBody>
                  <a:tcPr marL="63500" marR="63500" marT="88900" marB="88900" anchor="ctr"/>
                </a:tc>
                <a:extLst>
                  <a:ext uri="{0D108BD9-81ED-4DB2-BD59-A6C34878D82A}">
                    <a16:rowId xmlns:a16="http://schemas.microsoft.com/office/drawing/2014/main" val="175989056"/>
                  </a:ext>
                </a:extLst>
              </a:tr>
              <a:tr h="968770">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Changes are required to OS for implementation. NO Changes are required to the application</a:t>
                      </a:r>
                    </a:p>
                  </a:txBody>
                  <a:tcPr marL="63500" marR="63500" marT="88900" marB="88900" anchor="ctr"/>
                </a:tc>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No changes are required to OS for implementation but Changes are required to application</a:t>
                      </a:r>
                    </a:p>
                  </a:txBody>
                  <a:tcPr marL="63500" marR="63500" marT="88900" marB="88900" anchor="ctr"/>
                </a:tc>
                <a:extLst>
                  <a:ext uri="{0D108BD9-81ED-4DB2-BD59-A6C34878D82A}">
                    <a16:rowId xmlns:a16="http://schemas.microsoft.com/office/drawing/2014/main" val="3065175283"/>
                  </a:ext>
                </a:extLst>
              </a:tr>
              <a:tr h="968770">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IPsec resides in the for operating the  system space</a:t>
                      </a:r>
                    </a:p>
                  </a:txBody>
                  <a:tcPr marL="63500" marR="63500" marT="88900" marB="88900" anchor="ctr"/>
                </a:tc>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SSL resides in user space</a:t>
                      </a:r>
                    </a:p>
                  </a:txBody>
                  <a:tcPr marL="63500" marR="63500" marT="88900" marB="88900" anchor="ctr"/>
                </a:tc>
                <a:extLst>
                  <a:ext uri="{0D108BD9-81ED-4DB2-BD59-A6C34878D82A}">
                    <a16:rowId xmlns:a16="http://schemas.microsoft.com/office/drawing/2014/main" val="1072919882"/>
                  </a:ext>
                </a:extLst>
              </a:tr>
              <a:tr h="968770">
                <a:tc>
                  <a:txBody>
                    <a:bodyPr/>
                    <a:lstStyle/>
                    <a:p>
                      <a:pPr marL="0" marR="0" algn="ctr" fontAlgn="ctr">
                        <a:spcBef>
                          <a:spcPts val="1875"/>
                        </a:spcBef>
                        <a:spcAft>
                          <a:spcPts val="1875"/>
                        </a:spcAft>
                        <a:buNone/>
                      </a:pPr>
                      <a:r>
                        <a:rPr lang="en-IN" sz="2000" b="0" i="0" spc="10">
                          <a:solidFill>
                            <a:srgbClr val="273239"/>
                          </a:solidFill>
                          <a:effectLst/>
                          <a:latin typeface="Calibri" panose="020F0502020204030204" pitchFamily="34" charset="0"/>
                          <a:ea typeface="Calibri" panose="020F0502020204030204" pitchFamily="34" charset="0"/>
                          <a:cs typeface="Calibri" panose="020F0502020204030204" pitchFamily="34" charset="0"/>
                        </a:rPr>
                        <a:t>IPsec has a pre-shared key.</a:t>
                      </a:r>
                    </a:p>
                  </a:txBody>
                  <a:tcPr marL="63500" marR="63500" marT="88900" marB="88900" anchor="ctr"/>
                </a:tc>
                <a:tc>
                  <a:txBody>
                    <a:bodyPr/>
                    <a:lstStyle/>
                    <a:p>
                      <a:pPr marL="0" marR="0" algn="ctr" fontAlgn="ctr">
                        <a:spcBef>
                          <a:spcPts val="1875"/>
                        </a:spcBef>
                        <a:spcAft>
                          <a:spcPts val="1875"/>
                        </a:spcAft>
                        <a:buNone/>
                      </a:pPr>
                      <a:r>
                        <a:rPr lang="en-IN" sz="2000" b="0" i="0" spc="1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SSL does not have a pre-shared Key.</a:t>
                      </a:r>
                    </a:p>
                  </a:txBody>
                  <a:tcPr marL="63500" marR="63500" marT="88900" marB="88900" anchor="ctr"/>
                </a:tc>
                <a:extLst>
                  <a:ext uri="{0D108BD9-81ED-4DB2-BD59-A6C34878D82A}">
                    <a16:rowId xmlns:a16="http://schemas.microsoft.com/office/drawing/2014/main" val="3426242201"/>
                  </a:ext>
                </a:extLst>
              </a:tr>
            </a:tbl>
          </a:graphicData>
        </a:graphic>
      </p:graphicFrame>
    </p:spTree>
    <p:extLst>
      <p:ext uri="{BB962C8B-B14F-4D97-AF65-F5344CB8AC3E}">
        <p14:creationId xmlns:p14="http://schemas.microsoft.com/office/powerpoint/2010/main" val="41798789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43A4CF-DEF7-865D-8D94-95DC5DB5A5F1}"/>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5DB8F9C2-9F43-3AE2-EFEC-44392AF3B70C}"/>
              </a:ext>
            </a:extLst>
          </p:cNvPr>
          <p:cNvSpPr>
            <a:spLocks noGrp="1"/>
          </p:cNvSpPr>
          <p:nvPr>
            <p:ph type="title"/>
          </p:nvPr>
        </p:nvSpPr>
        <p:spPr/>
        <p:txBody>
          <a:bodyPr/>
          <a:lstStyle/>
          <a:p>
            <a:pPr algn="ctr"/>
            <a:r>
              <a:rPr lang="en-US" b="1" dirty="0">
                <a:latin typeface="+mj-lt"/>
              </a:rPr>
              <a:t>SPLIT TUNNELING</a:t>
            </a:r>
            <a:endParaRPr lang="en-IN" b="1" dirty="0">
              <a:latin typeface="+mj-lt"/>
            </a:endParaRPr>
          </a:p>
        </p:txBody>
      </p:sp>
      <p:sp>
        <p:nvSpPr>
          <p:cNvPr id="4" name="Slide Number Placeholder 3">
            <a:extLst>
              <a:ext uri="{FF2B5EF4-FFF2-40B4-BE49-F238E27FC236}">
                <a16:creationId xmlns:a16="http://schemas.microsoft.com/office/drawing/2014/main" id="{EBF4BA4C-5F1A-3A07-70EE-EB6E56A6618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70</a:t>
            </a:fld>
            <a:endParaRPr lang="en-US"/>
          </a:p>
        </p:txBody>
      </p:sp>
    </p:spTree>
    <p:extLst>
      <p:ext uri="{BB962C8B-B14F-4D97-AF65-F5344CB8AC3E}">
        <p14:creationId xmlns:p14="http://schemas.microsoft.com/office/powerpoint/2010/main" val="20041417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BB67FE-2558-6029-24B8-EAA6FE344910}"/>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D0D6E59F-3276-FE3C-8970-2321DF6D8C45}"/>
              </a:ext>
            </a:extLst>
          </p:cNvPr>
          <p:cNvSpPr>
            <a:spLocks noGrp="1"/>
          </p:cNvSpPr>
          <p:nvPr>
            <p:ph type="title"/>
          </p:nvPr>
        </p:nvSpPr>
        <p:spPr/>
        <p:txBody>
          <a:bodyPr>
            <a:normAutofit fontScale="90000"/>
          </a:bodyPr>
          <a:lstStyle/>
          <a:p>
            <a:pPr algn="ctr"/>
            <a:r>
              <a:rPr lang="en-US" b="1" dirty="0">
                <a:latin typeface="+mj-lt"/>
              </a:rPr>
              <a:t>WHY VPN DOES NOT MAKE YOU ANONYMOUS</a:t>
            </a:r>
            <a:endParaRPr lang="en-IN" b="1" dirty="0">
              <a:latin typeface="+mj-lt"/>
            </a:endParaRPr>
          </a:p>
        </p:txBody>
      </p:sp>
      <p:sp>
        <p:nvSpPr>
          <p:cNvPr id="4" name="Slide Number Placeholder 3">
            <a:extLst>
              <a:ext uri="{FF2B5EF4-FFF2-40B4-BE49-F238E27FC236}">
                <a16:creationId xmlns:a16="http://schemas.microsoft.com/office/drawing/2014/main" id="{8006880B-71AA-0759-0FA6-AD587C62F7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71</a:t>
            </a:fld>
            <a:endParaRPr lang="en-US"/>
          </a:p>
        </p:txBody>
      </p:sp>
    </p:spTree>
    <p:extLst>
      <p:ext uri="{BB962C8B-B14F-4D97-AF65-F5344CB8AC3E}">
        <p14:creationId xmlns:p14="http://schemas.microsoft.com/office/powerpoint/2010/main" val="12212208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0D09AA-1835-141A-99CA-7A679910FEA7}"/>
              </a:ext>
            </a:extLst>
          </p:cNvPr>
          <p:cNvSpPr>
            <a:spLocks noGrp="1"/>
          </p:cNvSpPr>
          <p:nvPr>
            <p:ph type="body" idx="1"/>
          </p:nvPr>
        </p:nvSpPr>
        <p:spPr/>
        <p:txBody>
          <a:bodyPr>
            <a:normAutofit/>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A proxy server is an intermediary that sits between your device and the internet, forwarding your requests through another server to improve privacy and control access. It helps mask your real identity while managing how traffic flows.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Hides the user’s IP address from websites and external servers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Filters and controls access to specific websites or content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Can cache data to improve browsing speed and reduce bandwidth use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Adds a layer of security by separating users from direct internet exposure</a:t>
            </a:r>
          </a:p>
        </p:txBody>
      </p:sp>
      <p:sp>
        <p:nvSpPr>
          <p:cNvPr id="3" name="Title 2">
            <a:extLst>
              <a:ext uri="{FF2B5EF4-FFF2-40B4-BE49-F238E27FC236}">
                <a16:creationId xmlns:a16="http://schemas.microsoft.com/office/drawing/2014/main" id="{94081694-5147-F145-3D83-DB1D87B4ED51}"/>
              </a:ext>
            </a:extLst>
          </p:cNvPr>
          <p:cNvSpPr>
            <a:spLocks noGrp="1"/>
          </p:cNvSpPr>
          <p:nvPr>
            <p:ph type="title"/>
          </p:nvPr>
        </p:nvSpPr>
        <p:spPr/>
        <p:txBody>
          <a:bodyPr/>
          <a:lstStyle/>
          <a:p>
            <a:pPr algn="ctr"/>
            <a:r>
              <a:rPr lang="en-US" b="1" dirty="0">
                <a:latin typeface="+mj-lt"/>
              </a:rPr>
              <a:t>PROXY SERVER AND TYPES</a:t>
            </a:r>
            <a:endParaRPr lang="en-IN" b="1" dirty="0">
              <a:latin typeface="+mj-lt"/>
            </a:endParaRPr>
          </a:p>
        </p:txBody>
      </p:sp>
      <p:sp>
        <p:nvSpPr>
          <p:cNvPr id="4" name="Slide Number Placeholder 3">
            <a:extLst>
              <a:ext uri="{FF2B5EF4-FFF2-40B4-BE49-F238E27FC236}">
                <a16:creationId xmlns:a16="http://schemas.microsoft.com/office/drawing/2014/main" id="{5885E28D-5C5E-9A1B-F49B-56A835FEE8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72</a:t>
            </a:fld>
            <a:endParaRPr lang="en-US"/>
          </a:p>
        </p:txBody>
      </p:sp>
    </p:spTree>
    <p:extLst>
      <p:ext uri="{BB962C8B-B14F-4D97-AF65-F5344CB8AC3E}">
        <p14:creationId xmlns:p14="http://schemas.microsoft.com/office/powerpoint/2010/main" val="25666770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EF129A-F451-A271-4269-BFE81B942C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73</a:t>
            </a:fld>
            <a:endParaRPr lang="en-US"/>
          </a:p>
        </p:txBody>
      </p:sp>
      <p:pic>
        <p:nvPicPr>
          <p:cNvPr id="6" name="Picture 5">
            <a:extLst>
              <a:ext uri="{FF2B5EF4-FFF2-40B4-BE49-F238E27FC236}">
                <a16:creationId xmlns:a16="http://schemas.microsoft.com/office/drawing/2014/main" id="{5C811139-FC27-042C-BA2E-02984502B2F9}"/>
              </a:ext>
            </a:extLst>
          </p:cNvPr>
          <p:cNvPicPr>
            <a:picLocks noChangeAspect="1"/>
          </p:cNvPicPr>
          <p:nvPr/>
        </p:nvPicPr>
        <p:blipFill>
          <a:blip r:embed="rId2"/>
          <a:stretch>
            <a:fillRect/>
          </a:stretch>
        </p:blipFill>
        <p:spPr>
          <a:xfrm>
            <a:off x="1888671" y="1523999"/>
            <a:ext cx="8414657" cy="4207329"/>
          </a:xfrm>
          <a:prstGeom prst="rect">
            <a:avLst/>
          </a:prstGeom>
        </p:spPr>
      </p:pic>
      <p:sp>
        <p:nvSpPr>
          <p:cNvPr id="7" name="Title 2">
            <a:extLst>
              <a:ext uri="{FF2B5EF4-FFF2-40B4-BE49-F238E27FC236}">
                <a16:creationId xmlns:a16="http://schemas.microsoft.com/office/drawing/2014/main" id="{C43FD968-332E-15FF-76BC-3D978BB708C8}"/>
              </a:ext>
            </a:extLst>
          </p:cNvPr>
          <p:cNvSpPr>
            <a:spLocks noGrp="1"/>
          </p:cNvSpPr>
          <p:nvPr>
            <p:ph type="title"/>
          </p:nvPr>
        </p:nvSpPr>
        <p:spPr>
          <a:xfrm>
            <a:off x="838200" y="238125"/>
            <a:ext cx="10444163" cy="719138"/>
          </a:xfrm>
        </p:spPr>
        <p:txBody>
          <a:bodyPr/>
          <a:lstStyle/>
          <a:p>
            <a:pPr algn="ctr"/>
            <a:r>
              <a:rPr lang="en-US" b="1" dirty="0">
                <a:latin typeface="+mj-lt"/>
              </a:rPr>
              <a:t>PROXY SERVER AND TYPES</a:t>
            </a:r>
            <a:endParaRPr lang="en-IN" b="1" dirty="0">
              <a:latin typeface="+mj-lt"/>
            </a:endParaRPr>
          </a:p>
        </p:txBody>
      </p:sp>
    </p:spTree>
    <p:extLst>
      <p:ext uri="{BB962C8B-B14F-4D97-AF65-F5344CB8AC3E}">
        <p14:creationId xmlns:p14="http://schemas.microsoft.com/office/powerpoint/2010/main" val="42479015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62133D-E4E6-C5FC-641D-28EDD44EB428}"/>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Proxy server processes requests between the client and the internet: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User sends a request to access a website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Request goes to the proxy server instead of directly to the internet</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Proxy forwards the request to the target server</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Server sends response back to the proxy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Proxy checks security and forwards data to the user</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D14108D-9B94-856A-D6F3-53A1D4787D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74</a:t>
            </a:fld>
            <a:endParaRPr lang="en-US"/>
          </a:p>
        </p:txBody>
      </p:sp>
      <p:sp>
        <p:nvSpPr>
          <p:cNvPr id="9" name="Title 2">
            <a:extLst>
              <a:ext uri="{FF2B5EF4-FFF2-40B4-BE49-F238E27FC236}">
                <a16:creationId xmlns:a16="http://schemas.microsoft.com/office/drawing/2014/main" id="{607A4390-C80D-9976-9052-E2ED4C6B70AD}"/>
              </a:ext>
            </a:extLst>
          </p:cNvPr>
          <p:cNvSpPr>
            <a:spLocks noGrp="1"/>
          </p:cNvSpPr>
          <p:nvPr>
            <p:ph type="title"/>
          </p:nvPr>
        </p:nvSpPr>
        <p:spPr>
          <a:xfrm>
            <a:off x="838200" y="238125"/>
            <a:ext cx="10444163" cy="719138"/>
          </a:xfrm>
        </p:spPr>
        <p:txBody>
          <a:bodyPr/>
          <a:lstStyle/>
          <a:p>
            <a:pPr algn="ctr"/>
            <a:r>
              <a:rPr lang="en-US" b="1" dirty="0">
                <a:latin typeface="+mj-lt"/>
              </a:rPr>
              <a:t>PROXY SERVER AND TYPES</a:t>
            </a:r>
            <a:endParaRPr lang="en-IN" b="1" dirty="0">
              <a:latin typeface="+mj-lt"/>
            </a:endParaRPr>
          </a:p>
        </p:txBody>
      </p:sp>
    </p:spTree>
    <p:extLst>
      <p:ext uri="{BB962C8B-B14F-4D97-AF65-F5344CB8AC3E}">
        <p14:creationId xmlns:p14="http://schemas.microsoft.com/office/powerpoint/2010/main" val="21152105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5CA3D3-EA5B-8E93-B367-CD6F4235B1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75</a:t>
            </a:fld>
            <a:endParaRPr lang="en-US"/>
          </a:p>
        </p:txBody>
      </p:sp>
      <p:pic>
        <p:nvPicPr>
          <p:cNvPr id="6" name="Picture 5">
            <a:extLst>
              <a:ext uri="{FF2B5EF4-FFF2-40B4-BE49-F238E27FC236}">
                <a16:creationId xmlns:a16="http://schemas.microsoft.com/office/drawing/2014/main" id="{B229B12D-0936-AFBC-725D-844772172EDD}"/>
              </a:ext>
            </a:extLst>
          </p:cNvPr>
          <p:cNvPicPr>
            <a:picLocks noChangeAspect="1"/>
          </p:cNvPicPr>
          <p:nvPr/>
        </p:nvPicPr>
        <p:blipFill>
          <a:blip r:embed="rId2"/>
          <a:stretch>
            <a:fillRect/>
          </a:stretch>
        </p:blipFill>
        <p:spPr>
          <a:xfrm>
            <a:off x="1861457" y="1523999"/>
            <a:ext cx="8469086" cy="4234543"/>
          </a:xfrm>
          <a:prstGeom prst="rect">
            <a:avLst/>
          </a:prstGeom>
        </p:spPr>
      </p:pic>
      <p:sp>
        <p:nvSpPr>
          <p:cNvPr id="7" name="Title 2">
            <a:extLst>
              <a:ext uri="{FF2B5EF4-FFF2-40B4-BE49-F238E27FC236}">
                <a16:creationId xmlns:a16="http://schemas.microsoft.com/office/drawing/2014/main" id="{21FB043B-B6E4-5C20-2885-51012F59B235}"/>
              </a:ext>
            </a:extLst>
          </p:cNvPr>
          <p:cNvSpPr>
            <a:spLocks noGrp="1"/>
          </p:cNvSpPr>
          <p:nvPr>
            <p:ph type="title"/>
          </p:nvPr>
        </p:nvSpPr>
        <p:spPr>
          <a:xfrm>
            <a:off x="838200" y="238125"/>
            <a:ext cx="10444163" cy="719138"/>
          </a:xfrm>
        </p:spPr>
        <p:txBody>
          <a:bodyPr/>
          <a:lstStyle/>
          <a:p>
            <a:pPr algn="ctr"/>
            <a:r>
              <a:rPr lang="en-US" b="1" dirty="0">
                <a:latin typeface="+mj-lt"/>
              </a:rPr>
              <a:t>PROXY SERVER AND TYPES</a:t>
            </a:r>
            <a:endParaRPr lang="en-IN" b="1" dirty="0">
              <a:latin typeface="+mj-lt"/>
            </a:endParaRPr>
          </a:p>
        </p:txBody>
      </p:sp>
    </p:spTree>
    <p:extLst>
      <p:ext uri="{BB962C8B-B14F-4D97-AF65-F5344CB8AC3E}">
        <p14:creationId xmlns:p14="http://schemas.microsoft.com/office/powerpoint/2010/main" val="22056315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0934D-1B8B-69C8-6FC4-040FD86C6A30}"/>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Sits between users and the internet, hiding the client’s identity.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Filters outgoing traffic</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Enhances user privacy</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Organizations use it to monitor employee traffic</a:t>
            </a:r>
          </a:p>
          <a:p>
            <a:pPr marL="114300" indent="0" algn="just">
              <a:buNone/>
            </a:pP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A832C296-EE88-5263-D012-99771D6FF564}"/>
              </a:ext>
            </a:extLst>
          </p:cNvPr>
          <p:cNvSpPr>
            <a:spLocks noGrp="1"/>
          </p:cNvSpPr>
          <p:nvPr>
            <p:ph type="title"/>
          </p:nvPr>
        </p:nvSpPr>
        <p:spPr/>
        <p:txBody>
          <a:bodyPr/>
          <a:lstStyle/>
          <a:p>
            <a:pPr algn="ctr"/>
            <a:r>
              <a:rPr lang="en-US" b="1" dirty="0">
                <a:latin typeface="+mj-lt"/>
              </a:rPr>
              <a:t>FORWARD PROXY</a:t>
            </a:r>
            <a:endParaRPr lang="en-IN" b="1" dirty="0">
              <a:latin typeface="+mj-lt"/>
            </a:endParaRPr>
          </a:p>
        </p:txBody>
      </p:sp>
      <p:sp>
        <p:nvSpPr>
          <p:cNvPr id="4" name="Slide Number Placeholder 3">
            <a:extLst>
              <a:ext uri="{FF2B5EF4-FFF2-40B4-BE49-F238E27FC236}">
                <a16:creationId xmlns:a16="http://schemas.microsoft.com/office/drawing/2014/main" id="{98123611-CDA9-03AA-369F-9C8318CAA1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pic>
        <p:nvPicPr>
          <p:cNvPr id="6" name="Picture 5">
            <a:extLst>
              <a:ext uri="{FF2B5EF4-FFF2-40B4-BE49-F238E27FC236}">
                <a16:creationId xmlns:a16="http://schemas.microsoft.com/office/drawing/2014/main" id="{4A123334-72B2-71D3-8693-5684C0B8AFAA}"/>
              </a:ext>
            </a:extLst>
          </p:cNvPr>
          <p:cNvPicPr>
            <a:picLocks noChangeAspect="1"/>
          </p:cNvPicPr>
          <p:nvPr/>
        </p:nvPicPr>
        <p:blipFill>
          <a:blip r:embed="rId2"/>
          <a:srcRect t="15244" b="5116"/>
          <a:stretch>
            <a:fillRect/>
          </a:stretch>
        </p:blipFill>
        <p:spPr>
          <a:xfrm>
            <a:off x="2324100" y="3326499"/>
            <a:ext cx="7543800" cy="3004458"/>
          </a:xfrm>
          <a:prstGeom prst="rect">
            <a:avLst/>
          </a:prstGeom>
        </p:spPr>
      </p:pic>
    </p:spTree>
    <p:extLst>
      <p:ext uri="{BB962C8B-B14F-4D97-AF65-F5344CB8AC3E}">
        <p14:creationId xmlns:p14="http://schemas.microsoft.com/office/powerpoint/2010/main" val="19705885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5EBE65-C6E6-8318-638E-B85717F63440}"/>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Sits in front of servers to hide and protect them.</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Load balances traffic</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Caches content to reduce server load</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Improves security and performance</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FC6CB376-721B-59C0-65F4-A253B8C354B8}"/>
              </a:ext>
            </a:extLst>
          </p:cNvPr>
          <p:cNvSpPr>
            <a:spLocks noGrp="1"/>
          </p:cNvSpPr>
          <p:nvPr>
            <p:ph type="title"/>
          </p:nvPr>
        </p:nvSpPr>
        <p:spPr/>
        <p:txBody>
          <a:bodyPr/>
          <a:lstStyle/>
          <a:p>
            <a:pPr algn="ctr"/>
            <a:r>
              <a:rPr lang="en-US" b="1" dirty="0">
                <a:latin typeface="+mj-lt"/>
              </a:rPr>
              <a:t>REVERSE PROXY</a:t>
            </a:r>
            <a:endParaRPr lang="en-IN" b="1" dirty="0">
              <a:latin typeface="+mj-lt"/>
            </a:endParaRPr>
          </a:p>
        </p:txBody>
      </p:sp>
      <p:sp>
        <p:nvSpPr>
          <p:cNvPr id="4" name="Slide Number Placeholder 3">
            <a:extLst>
              <a:ext uri="{FF2B5EF4-FFF2-40B4-BE49-F238E27FC236}">
                <a16:creationId xmlns:a16="http://schemas.microsoft.com/office/drawing/2014/main" id="{19B85834-AB4B-75C5-1951-7251B76D51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77</a:t>
            </a:fld>
            <a:endParaRPr lang="en-US"/>
          </a:p>
        </p:txBody>
      </p:sp>
      <p:pic>
        <p:nvPicPr>
          <p:cNvPr id="6" name="Picture 5">
            <a:extLst>
              <a:ext uri="{FF2B5EF4-FFF2-40B4-BE49-F238E27FC236}">
                <a16:creationId xmlns:a16="http://schemas.microsoft.com/office/drawing/2014/main" id="{5B831829-E1E9-8A35-583B-51EDFA956497}"/>
              </a:ext>
            </a:extLst>
          </p:cNvPr>
          <p:cNvPicPr>
            <a:picLocks noChangeAspect="1"/>
          </p:cNvPicPr>
          <p:nvPr/>
        </p:nvPicPr>
        <p:blipFill>
          <a:blip r:embed="rId2"/>
          <a:srcRect t="14512" b="8208"/>
          <a:stretch>
            <a:fillRect/>
          </a:stretch>
        </p:blipFill>
        <p:spPr>
          <a:xfrm>
            <a:off x="2443843" y="3429000"/>
            <a:ext cx="7304314" cy="2822874"/>
          </a:xfrm>
          <a:prstGeom prst="rect">
            <a:avLst/>
          </a:prstGeom>
        </p:spPr>
      </p:pic>
    </p:spTree>
    <p:extLst>
      <p:ext uri="{BB962C8B-B14F-4D97-AF65-F5344CB8AC3E}">
        <p14:creationId xmlns:p14="http://schemas.microsoft.com/office/powerpoint/2010/main" val="2935604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5C9962-7DC4-17FC-23A5-17428C9C8CA5}"/>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Handles only HTTP/HTTPS traffic.</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Processes URL-based requests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Often used in browsers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Examples: Apache, </a:t>
            </a:r>
            <a:r>
              <a:rPr lang="en-IN" dirty="0" err="1">
                <a:latin typeface="Calibri" panose="020F0502020204030204" pitchFamily="34" charset="0"/>
                <a:ea typeface="Calibri" panose="020F0502020204030204" pitchFamily="34" charset="0"/>
                <a:cs typeface="Calibri" panose="020F0502020204030204" pitchFamily="34" charset="0"/>
              </a:rPr>
              <a:t>HAProxy</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1D3B1D75-8415-6A6F-1635-3FB5346C10D4}"/>
              </a:ext>
            </a:extLst>
          </p:cNvPr>
          <p:cNvSpPr>
            <a:spLocks noGrp="1"/>
          </p:cNvSpPr>
          <p:nvPr>
            <p:ph type="title"/>
          </p:nvPr>
        </p:nvSpPr>
        <p:spPr/>
        <p:txBody>
          <a:bodyPr/>
          <a:lstStyle/>
          <a:p>
            <a:pPr algn="ctr"/>
            <a:r>
              <a:rPr lang="en-US" b="1" dirty="0">
                <a:latin typeface="+mj-lt"/>
              </a:rPr>
              <a:t>WEB FILTERING PROXY</a:t>
            </a:r>
            <a:endParaRPr lang="en-IN" b="1" dirty="0">
              <a:latin typeface="+mj-lt"/>
            </a:endParaRPr>
          </a:p>
        </p:txBody>
      </p:sp>
      <p:sp>
        <p:nvSpPr>
          <p:cNvPr id="4" name="Slide Number Placeholder 3">
            <a:extLst>
              <a:ext uri="{FF2B5EF4-FFF2-40B4-BE49-F238E27FC236}">
                <a16:creationId xmlns:a16="http://schemas.microsoft.com/office/drawing/2014/main" id="{1BE9A244-7FCA-605C-1BC9-126BF6F8CC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78</a:t>
            </a:fld>
            <a:endParaRPr lang="en-US"/>
          </a:p>
        </p:txBody>
      </p:sp>
    </p:spTree>
    <p:extLst>
      <p:ext uri="{BB962C8B-B14F-4D97-AF65-F5344CB8AC3E}">
        <p14:creationId xmlns:p14="http://schemas.microsoft.com/office/powerpoint/2010/main" val="946214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20C01C0-8388-5D00-D2C9-158F95FBF1CD}"/>
              </a:ext>
            </a:extLst>
          </p:cNvPr>
          <p:cNvSpPr>
            <a:spLocks noGrp="1"/>
          </p:cNvSpPr>
          <p:nvPr>
            <p:ph type="body" idx="1"/>
          </p:nvPr>
        </p:nvSpPr>
        <p:spPr/>
        <p:txBody>
          <a:bodyPr/>
          <a:lstStyle/>
          <a:p>
            <a:pPr marL="114300" indent="0" algn="just" fontAlgn="base">
              <a:buNone/>
            </a:pPr>
            <a:r>
              <a:rPr lang="en-IN" dirty="0">
                <a:latin typeface="Calibri" panose="020F0502020204030204" pitchFamily="34" charset="0"/>
                <a:ea typeface="Calibri" panose="020F0502020204030204" pitchFamily="34" charset="0"/>
                <a:cs typeface="Calibri" panose="020F0502020204030204" pitchFamily="34" charset="0"/>
              </a:rPr>
              <a:t>Does not hide your IP; often used for caching.</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Users may not know it’s running</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Common in schools &amp; offices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No anonymity, only filtering</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FAB025FF-9972-A017-45AE-035021774488}"/>
              </a:ext>
            </a:extLst>
          </p:cNvPr>
          <p:cNvSpPr>
            <a:spLocks noGrp="1"/>
          </p:cNvSpPr>
          <p:nvPr>
            <p:ph type="title"/>
          </p:nvPr>
        </p:nvSpPr>
        <p:spPr/>
        <p:txBody>
          <a:bodyPr/>
          <a:lstStyle/>
          <a:p>
            <a:pPr algn="ctr"/>
            <a:r>
              <a:rPr lang="en-US" b="1" dirty="0">
                <a:latin typeface="+mj-lt"/>
              </a:rPr>
              <a:t>TRANSPARENT PROXY</a:t>
            </a:r>
            <a:endParaRPr lang="en-IN" b="1" dirty="0">
              <a:latin typeface="+mj-lt"/>
            </a:endParaRPr>
          </a:p>
        </p:txBody>
      </p:sp>
      <p:sp>
        <p:nvSpPr>
          <p:cNvPr id="4" name="Slide Number Placeholder 3">
            <a:extLst>
              <a:ext uri="{FF2B5EF4-FFF2-40B4-BE49-F238E27FC236}">
                <a16:creationId xmlns:a16="http://schemas.microsoft.com/office/drawing/2014/main" id="{880BBE68-D43C-8B95-A2A5-BC63A61D5D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79</a:t>
            </a:fld>
            <a:endParaRPr lang="en-US"/>
          </a:p>
        </p:txBody>
      </p:sp>
    </p:spTree>
    <p:extLst>
      <p:ext uri="{BB962C8B-B14F-4D97-AF65-F5344CB8AC3E}">
        <p14:creationId xmlns:p14="http://schemas.microsoft.com/office/powerpoint/2010/main" val="26155194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D8A451-3B93-9AD3-18D2-C0FA5589F596}"/>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An explicit proxy is configured within the application and is visible to the client. </a:t>
            </a:r>
          </a:p>
          <a:p>
            <a:pPr algn="just"/>
            <a:r>
              <a:rPr lang="en-IN" dirty="0">
                <a:latin typeface="Calibri" panose="020F0502020204030204" pitchFamily="34" charset="0"/>
                <a:ea typeface="Calibri" panose="020F0502020204030204" pitchFamily="34" charset="0"/>
                <a:cs typeface="Calibri" panose="020F0502020204030204" pitchFamily="34" charset="0"/>
              </a:rPr>
              <a:t>The client is explicitly configured to use a proxy server in which the browser knows that all requests will go through the proxy. </a:t>
            </a:r>
          </a:p>
          <a:p>
            <a:pPr algn="just"/>
            <a:r>
              <a:rPr lang="en-IN" dirty="0">
                <a:latin typeface="Calibri" panose="020F0502020204030204" pitchFamily="34" charset="0"/>
                <a:ea typeface="Calibri" panose="020F0502020204030204" pitchFamily="34" charset="0"/>
                <a:cs typeface="Calibri" panose="020F0502020204030204" pitchFamily="34" charset="0"/>
              </a:rPr>
              <a:t>Unlike Transparent proxy, each desktop must be configured to run explicit proxy.</a:t>
            </a:r>
          </a:p>
        </p:txBody>
      </p:sp>
      <p:sp>
        <p:nvSpPr>
          <p:cNvPr id="3" name="Title 2">
            <a:extLst>
              <a:ext uri="{FF2B5EF4-FFF2-40B4-BE49-F238E27FC236}">
                <a16:creationId xmlns:a16="http://schemas.microsoft.com/office/drawing/2014/main" id="{438EC3E4-8D4E-0459-3B36-03445EDB3049}"/>
              </a:ext>
            </a:extLst>
          </p:cNvPr>
          <p:cNvSpPr>
            <a:spLocks noGrp="1"/>
          </p:cNvSpPr>
          <p:nvPr>
            <p:ph type="title"/>
          </p:nvPr>
        </p:nvSpPr>
        <p:spPr/>
        <p:txBody>
          <a:bodyPr/>
          <a:lstStyle/>
          <a:p>
            <a:pPr algn="ctr"/>
            <a:r>
              <a:rPr lang="en-US" b="1" dirty="0">
                <a:latin typeface="+mj-lt"/>
              </a:rPr>
              <a:t>EXPLICIT PROXY</a:t>
            </a:r>
            <a:endParaRPr lang="en-IN" b="1" dirty="0">
              <a:latin typeface="+mj-lt"/>
            </a:endParaRPr>
          </a:p>
        </p:txBody>
      </p:sp>
      <p:sp>
        <p:nvSpPr>
          <p:cNvPr id="4" name="Slide Number Placeholder 3">
            <a:extLst>
              <a:ext uri="{FF2B5EF4-FFF2-40B4-BE49-F238E27FC236}">
                <a16:creationId xmlns:a16="http://schemas.microsoft.com/office/drawing/2014/main" id="{4FB61644-79A1-0B7D-9703-E0907D79E8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80</a:t>
            </a:fld>
            <a:endParaRPr lang="en-US"/>
          </a:p>
        </p:txBody>
      </p:sp>
    </p:spTree>
    <p:extLst>
      <p:ext uri="{BB962C8B-B14F-4D97-AF65-F5344CB8AC3E}">
        <p14:creationId xmlns:p14="http://schemas.microsoft.com/office/powerpoint/2010/main" val="28036585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8D80B1-1B0D-4A44-74AB-E01FEDD0AED0}"/>
              </a:ext>
            </a:extLst>
          </p:cNvPr>
          <p:cNvSpPr>
            <a:spLocks noGrp="1"/>
          </p:cNvSpPr>
          <p:nvPr>
            <p:ph type="body" idx="1"/>
          </p:nvPr>
        </p:nvSpPr>
        <p:spPr/>
        <p:txBody>
          <a:bodyPr/>
          <a:lstStyle/>
          <a:p>
            <a:pPr algn="just" fontAlgn="base"/>
            <a:r>
              <a:rPr lang="en-IN" dirty="0">
                <a:latin typeface="Calibri" panose="020F0502020204030204" pitchFamily="34" charset="0"/>
                <a:ea typeface="Calibri" panose="020F0502020204030204" pitchFamily="34" charset="0"/>
                <a:cs typeface="Calibri" panose="020F0502020204030204" pitchFamily="34" charset="0"/>
              </a:rPr>
              <a:t>Network segmentation divides a computer network into smaller, isolated segments to control and restrict communication. It enhances security by limiting unauthorized access and containing potential threats within defined boundaries.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Reduces attack surface by isolating critical systems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Limits lateral movement during cyberattacks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Improves traffic control and network performance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Enforces access restrictions using firewalls, routers, or VLANs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Helps contain breaches and protect sensitive data</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9CC65C23-BFF1-7AAC-83A0-1872E723BBC8}"/>
              </a:ext>
            </a:extLst>
          </p:cNvPr>
          <p:cNvSpPr>
            <a:spLocks noGrp="1"/>
          </p:cNvSpPr>
          <p:nvPr>
            <p:ph type="title"/>
          </p:nvPr>
        </p:nvSpPr>
        <p:spPr/>
        <p:txBody>
          <a:bodyPr/>
          <a:lstStyle/>
          <a:p>
            <a:pPr algn="ctr"/>
            <a:r>
              <a:rPr lang="en-US" b="1" dirty="0">
                <a:latin typeface="+mj-lt"/>
              </a:rPr>
              <a:t>NETWORK SEGMENTATION</a:t>
            </a:r>
            <a:endParaRPr lang="en-IN" b="1" dirty="0">
              <a:latin typeface="+mj-lt"/>
            </a:endParaRPr>
          </a:p>
        </p:txBody>
      </p:sp>
      <p:sp>
        <p:nvSpPr>
          <p:cNvPr id="4" name="Slide Number Placeholder 3">
            <a:extLst>
              <a:ext uri="{FF2B5EF4-FFF2-40B4-BE49-F238E27FC236}">
                <a16:creationId xmlns:a16="http://schemas.microsoft.com/office/drawing/2014/main" id="{83233ED3-670E-5C4A-8D9B-291D337B63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81</a:t>
            </a:fld>
            <a:endParaRPr lang="en-US"/>
          </a:p>
        </p:txBody>
      </p:sp>
    </p:spTree>
    <p:extLst>
      <p:ext uri="{BB962C8B-B14F-4D97-AF65-F5344CB8AC3E}">
        <p14:creationId xmlns:p14="http://schemas.microsoft.com/office/powerpoint/2010/main" val="1911088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17FF01-39F6-05E0-4EF5-5ECD3DACFC1D}"/>
              </a:ext>
            </a:extLst>
          </p:cNvPr>
          <p:cNvSpPr>
            <a:spLocks noGrp="1"/>
          </p:cNvSpPr>
          <p:nvPr>
            <p:ph type="body" idx="1"/>
          </p:nvPr>
        </p:nvSpPr>
        <p:spPr/>
        <p:txBody>
          <a:bodyPr>
            <a:normAutofit fontScale="92500" lnSpcReduction="10000"/>
          </a:bodyPr>
          <a:lstStyle/>
          <a:p>
            <a:pPr algn="just" fontAlgn="base"/>
            <a:r>
              <a:rPr lang="en-IN" b="1" dirty="0">
                <a:latin typeface="Calibri" panose="020F0502020204030204" pitchFamily="34" charset="0"/>
                <a:ea typeface="Calibri" panose="020F0502020204030204" pitchFamily="34" charset="0"/>
                <a:cs typeface="Calibri" panose="020F0502020204030204" pitchFamily="34" charset="0"/>
              </a:rPr>
              <a:t>Purpose of Network Segmentation</a:t>
            </a:r>
          </a:p>
          <a:p>
            <a:pPr algn="just" fontAlgn="base"/>
            <a:r>
              <a:rPr lang="en-IN" dirty="0">
                <a:latin typeface="Calibri" panose="020F0502020204030204" pitchFamily="34" charset="0"/>
                <a:ea typeface="Calibri" panose="020F0502020204030204" pitchFamily="34" charset="0"/>
                <a:cs typeface="Calibri" panose="020F0502020204030204" pitchFamily="34" charset="0"/>
              </a:rPr>
              <a:t>Network segmentation is used to:</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Enhance security by reducing the attack surface.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Improve performance by limiting broadcast traffic and reducing congestion.</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Enforce access control by controlling which devices can communicate.</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Simplify management and troubleshooting by isolating issues to specific segments.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Support compliance with data protection and industry regulations.</a:t>
            </a:r>
          </a:p>
          <a:p>
            <a:pPr lvl="0" algn="just" fontAlgn="base"/>
            <a:r>
              <a:rPr lang="en-IN" dirty="0">
                <a:latin typeface="Calibri" panose="020F0502020204030204" pitchFamily="34" charset="0"/>
                <a:ea typeface="Calibri" panose="020F0502020204030204" pitchFamily="34" charset="0"/>
                <a:cs typeface="Calibri" panose="020F0502020204030204" pitchFamily="34" charset="0"/>
              </a:rPr>
              <a:t>Enable scalability by allowing easy addition of new segments as the organization grows.</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7B8B6ED-8FF1-9455-8D59-6F75AACE95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82</a:t>
            </a:fld>
            <a:endParaRPr lang="en-US"/>
          </a:p>
        </p:txBody>
      </p:sp>
      <p:sp>
        <p:nvSpPr>
          <p:cNvPr id="5" name="Title 2">
            <a:extLst>
              <a:ext uri="{FF2B5EF4-FFF2-40B4-BE49-F238E27FC236}">
                <a16:creationId xmlns:a16="http://schemas.microsoft.com/office/drawing/2014/main" id="{D1A55259-3854-5E56-CE48-2343B565D9F4}"/>
              </a:ext>
            </a:extLst>
          </p:cNvPr>
          <p:cNvSpPr>
            <a:spLocks noGrp="1"/>
          </p:cNvSpPr>
          <p:nvPr>
            <p:ph type="title"/>
          </p:nvPr>
        </p:nvSpPr>
        <p:spPr>
          <a:xfrm>
            <a:off x="838200" y="238125"/>
            <a:ext cx="10444163" cy="719138"/>
          </a:xfrm>
        </p:spPr>
        <p:txBody>
          <a:bodyPr/>
          <a:lstStyle/>
          <a:p>
            <a:pPr algn="ctr"/>
            <a:r>
              <a:rPr lang="en-US" b="1" dirty="0">
                <a:latin typeface="+mj-lt"/>
              </a:rPr>
              <a:t>NETWORK SEGMENTATION</a:t>
            </a:r>
            <a:endParaRPr lang="en-IN" b="1" dirty="0">
              <a:latin typeface="+mj-lt"/>
            </a:endParaRPr>
          </a:p>
        </p:txBody>
      </p:sp>
    </p:spTree>
    <p:extLst>
      <p:ext uri="{BB962C8B-B14F-4D97-AF65-F5344CB8AC3E}">
        <p14:creationId xmlns:p14="http://schemas.microsoft.com/office/powerpoint/2010/main" val="36505852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725755-BB33-66F7-A9AD-B36F0D4A6684}"/>
              </a:ext>
            </a:extLst>
          </p:cNvPr>
          <p:cNvSpPr>
            <a:spLocks noGrp="1"/>
          </p:cNvSpPr>
          <p:nvPr>
            <p:ph type="body" idx="1"/>
          </p:nvPr>
        </p:nvSpPr>
        <p:spPr/>
        <p:txBody>
          <a:bodyPr>
            <a:normAutofit/>
          </a:bodyPr>
          <a:lstStyle/>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Steps to Implement Network Segmentation</a:t>
            </a:r>
          </a:p>
          <a:p>
            <a:pPr algn="just" fontAlgn="base"/>
            <a:r>
              <a:rPr lang="en-IN" sz="2000" dirty="0">
                <a:latin typeface="Calibri" panose="020F0502020204030204" pitchFamily="34" charset="0"/>
                <a:ea typeface="Calibri" panose="020F0502020204030204" pitchFamily="34" charset="0"/>
                <a:cs typeface="Calibri" panose="020F0502020204030204" pitchFamily="34" charset="0"/>
              </a:rPr>
              <a:t>Implementing network segmentation involves strategic planning and the use of technologies like VLANs, subnets, firewalls, and access control policies.</a:t>
            </a:r>
          </a:p>
          <a:p>
            <a:pPr algn="just"/>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A29C1F3-A6F8-6E0C-3BB2-3B097F688A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83</a:t>
            </a:fld>
            <a:endParaRPr lang="en-US"/>
          </a:p>
        </p:txBody>
      </p:sp>
      <p:sp>
        <p:nvSpPr>
          <p:cNvPr id="5" name="Title 2">
            <a:extLst>
              <a:ext uri="{FF2B5EF4-FFF2-40B4-BE49-F238E27FC236}">
                <a16:creationId xmlns:a16="http://schemas.microsoft.com/office/drawing/2014/main" id="{F0DE1233-4E3A-50AF-0559-9A755455B7AB}"/>
              </a:ext>
            </a:extLst>
          </p:cNvPr>
          <p:cNvSpPr>
            <a:spLocks noGrp="1"/>
          </p:cNvSpPr>
          <p:nvPr>
            <p:ph type="title"/>
          </p:nvPr>
        </p:nvSpPr>
        <p:spPr>
          <a:xfrm>
            <a:off x="838200" y="238125"/>
            <a:ext cx="10444163" cy="719138"/>
          </a:xfrm>
        </p:spPr>
        <p:txBody>
          <a:bodyPr/>
          <a:lstStyle/>
          <a:p>
            <a:pPr algn="ctr"/>
            <a:r>
              <a:rPr lang="en-US" b="1" dirty="0">
                <a:latin typeface="+mj-lt"/>
              </a:rPr>
              <a:t>NETWORK SEGMENTATION</a:t>
            </a:r>
            <a:endParaRPr lang="en-IN" b="1" dirty="0">
              <a:latin typeface="+mj-lt"/>
            </a:endParaRPr>
          </a:p>
        </p:txBody>
      </p:sp>
      <p:pic>
        <p:nvPicPr>
          <p:cNvPr id="7" name="Picture 6">
            <a:extLst>
              <a:ext uri="{FF2B5EF4-FFF2-40B4-BE49-F238E27FC236}">
                <a16:creationId xmlns:a16="http://schemas.microsoft.com/office/drawing/2014/main" id="{09A99716-688A-3640-937F-10F6B45998E3}"/>
              </a:ext>
            </a:extLst>
          </p:cNvPr>
          <p:cNvPicPr>
            <a:picLocks noChangeAspect="1"/>
          </p:cNvPicPr>
          <p:nvPr/>
        </p:nvPicPr>
        <p:blipFill>
          <a:blip r:embed="rId2"/>
          <a:stretch>
            <a:fillRect/>
          </a:stretch>
        </p:blipFill>
        <p:spPr>
          <a:xfrm>
            <a:off x="2286000" y="2520957"/>
            <a:ext cx="7620000" cy="3810000"/>
          </a:xfrm>
          <a:prstGeom prst="rect">
            <a:avLst/>
          </a:prstGeom>
        </p:spPr>
      </p:pic>
    </p:spTree>
    <p:extLst>
      <p:ext uri="{BB962C8B-B14F-4D97-AF65-F5344CB8AC3E}">
        <p14:creationId xmlns:p14="http://schemas.microsoft.com/office/powerpoint/2010/main" val="9595169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94DC7A-7846-375B-8E1E-610A79E3A851}"/>
              </a:ext>
            </a:extLst>
          </p:cNvPr>
          <p:cNvSpPr>
            <a:spLocks noGrp="1"/>
          </p:cNvSpPr>
          <p:nvPr>
            <p:ph type="body" idx="1"/>
          </p:nvPr>
        </p:nvSpPr>
        <p:spPr/>
        <p:txBody>
          <a:bodyPr>
            <a:normAutofit/>
          </a:bodyPr>
          <a:lstStyle/>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1.Identify the most valuable assets and data</a:t>
            </a:r>
            <a:r>
              <a:rPr lang="en-IN" sz="2000" dirty="0">
                <a:latin typeface="Calibri" panose="020F0502020204030204" pitchFamily="34" charset="0"/>
                <a:ea typeface="Calibri" panose="020F0502020204030204" pitchFamily="34" charset="0"/>
                <a:cs typeface="Calibri" panose="020F0502020204030204" pitchFamily="34" charset="0"/>
              </a:rPr>
              <a:t>: Determine which systems, applications, and information need the highest protection.</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2. Detect and create a map of the network and data flow</a:t>
            </a:r>
            <a:r>
              <a:rPr lang="en-IN" sz="2000" dirty="0">
                <a:latin typeface="Calibri" panose="020F0502020204030204" pitchFamily="34" charset="0"/>
                <a:ea typeface="Calibri" panose="020F0502020204030204" pitchFamily="34" charset="0"/>
                <a:cs typeface="Calibri" panose="020F0502020204030204" pitchFamily="34" charset="0"/>
              </a:rPr>
              <a:t>: Visualize how devices communicate and where data travels across the network.</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3. Determine how to segment the network</a:t>
            </a:r>
            <a:r>
              <a:rPr lang="en-IN" sz="2000" dirty="0">
                <a:latin typeface="Calibri" panose="020F0502020204030204" pitchFamily="34" charset="0"/>
                <a:ea typeface="Calibri" panose="020F0502020204030204" pitchFamily="34" charset="0"/>
                <a:cs typeface="Calibri" panose="020F0502020204030204" pitchFamily="34" charset="0"/>
              </a:rPr>
              <a:t>: Decide the segmentation strategy (e.g., VLANs, subnets, firewalls, zones).</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4. Perform audits, reviews, and automate networks</a:t>
            </a:r>
            <a:r>
              <a:rPr lang="en-IN" sz="2000" dirty="0">
                <a:latin typeface="Calibri" panose="020F0502020204030204" pitchFamily="34" charset="0"/>
                <a:ea typeface="Calibri" panose="020F0502020204030204" pitchFamily="34" charset="0"/>
                <a:cs typeface="Calibri" panose="020F0502020204030204" pitchFamily="34" charset="0"/>
              </a:rPr>
              <a:t>: Assess current configurations, identify gaps, and use automation for consistency.</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5. Produce a company-wide access control policy</a:t>
            </a:r>
            <a:r>
              <a:rPr lang="en-IN" sz="2000" dirty="0">
                <a:latin typeface="Calibri" panose="020F0502020204030204" pitchFamily="34" charset="0"/>
                <a:ea typeface="Calibri" panose="020F0502020204030204" pitchFamily="34" charset="0"/>
                <a:cs typeface="Calibri" panose="020F0502020204030204" pitchFamily="34" charset="0"/>
              </a:rPr>
              <a:t>: Define who can access what, ensuring least-privilege enforcement.</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6. Deploy a network traffic segmentation gateway</a:t>
            </a:r>
            <a:r>
              <a:rPr lang="en-IN" sz="2000" dirty="0">
                <a:latin typeface="Calibri" panose="020F0502020204030204" pitchFamily="34" charset="0"/>
                <a:ea typeface="Calibri" panose="020F0502020204030204" pitchFamily="34" charset="0"/>
                <a:cs typeface="Calibri" panose="020F0502020204030204" pitchFamily="34" charset="0"/>
              </a:rPr>
              <a:t>: Implement firewalls, ACLs, and gateways to enforce segmentation rules.</a:t>
            </a:r>
          </a:p>
          <a:p>
            <a:pPr algn="just" fontAlgn="base"/>
            <a:r>
              <a:rPr lang="en-IN" sz="2000" b="1" dirty="0">
                <a:latin typeface="Calibri" panose="020F0502020204030204" pitchFamily="34" charset="0"/>
                <a:ea typeface="Calibri" panose="020F0502020204030204" pitchFamily="34" charset="0"/>
                <a:cs typeface="Calibri" panose="020F0502020204030204" pitchFamily="34" charset="0"/>
              </a:rPr>
              <a:t>7. Perform ongoing audits, reviews, and automation</a:t>
            </a:r>
            <a:r>
              <a:rPr lang="en-IN" sz="2000" dirty="0">
                <a:latin typeface="Calibri" panose="020F0502020204030204" pitchFamily="34" charset="0"/>
                <a:ea typeface="Calibri" panose="020F0502020204030204" pitchFamily="34" charset="0"/>
                <a:cs typeface="Calibri" panose="020F0502020204030204" pitchFamily="34" charset="0"/>
              </a:rPr>
              <a:t>: Continuously monitor, update, and optimize segmentation as the network evolves.</a:t>
            </a:r>
          </a:p>
        </p:txBody>
      </p:sp>
      <p:sp>
        <p:nvSpPr>
          <p:cNvPr id="4" name="Slide Number Placeholder 3">
            <a:extLst>
              <a:ext uri="{FF2B5EF4-FFF2-40B4-BE49-F238E27FC236}">
                <a16:creationId xmlns:a16="http://schemas.microsoft.com/office/drawing/2014/main" id="{12FFBD42-BAE7-B6CA-5DB0-C956605DC0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84</a:t>
            </a:fld>
            <a:endParaRPr lang="en-US"/>
          </a:p>
        </p:txBody>
      </p:sp>
      <p:sp>
        <p:nvSpPr>
          <p:cNvPr id="5" name="Title 2">
            <a:extLst>
              <a:ext uri="{FF2B5EF4-FFF2-40B4-BE49-F238E27FC236}">
                <a16:creationId xmlns:a16="http://schemas.microsoft.com/office/drawing/2014/main" id="{98297B05-F52F-75A6-7B1C-ACDD735A9549}"/>
              </a:ext>
            </a:extLst>
          </p:cNvPr>
          <p:cNvSpPr>
            <a:spLocks noGrp="1"/>
          </p:cNvSpPr>
          <p:nvPr>
            <p:ph type="title"/>
          </p:nvPr>
        </p:nvSpPr>
        <p:spPr>
          <a:xfrm>
            <a:off x="838200" y="238125"/>
            <a:ext cx="10444163" cy="719138"/>
          </a:xfrm>
        </p:spPr>
        <p:txBody>
          <a:bodyPr/>
          <a:lstStyle/>
          <a:p>
            <a:pPr algn="ctr"/>
            <a:r>
              <a:rPr lang="en-US" b="1" dirty="0">
                <a:latin typeface="+mj-lt"/>
              </a:rPr>
              <a:t>NETWORK SEGMENTATION</a:t>
            </a:r>
            <a:endParaRPr lang="en-IN" b="1" dirty="0">
              <a:latin typeface="+mj-lt"/>
            </a:endParaRPr>
          </a:p>
        </p:txBody>
      </p:sp>
    </p:spTree>
    <p:extLst>
      <p:ext uri="{BB962C8B-B14F-4D97-AF65-F5344CB8AC3E}">
        <p14:creationId xmlns:p14="http://schemas.microsoft.com/office/powerpoint/2010/main" val="40396344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15295B-6E9D-F1B4-1520-EA11441D86CF}"/>
              </a:ext>
            </a:extLst>
          </p:cNvPr>
          <p:cNvSpPr>
            <a:spLocks noGrp="1"/>
          </p:cNvSpPr>
          <p:nvPr>
            <p:ph type="body" idx="1"/>
          </p:nvPr>
        </p:nvSpPr>
        <p:spPr>
          <a:xfrm>
            <a:off x="838201" y="1101498"/>
            <a:ext cx="10515601" cy="4933950"/>
          </a:xfrm>
        </p:spPr>
        <p:txBody>
          <a:bodyPr>
            <a:noAutofit/>
          </a:bodyPr>
          <a:lstStyle/>
          <a:p>
            <a:pPr algn="just" fontAlgn="base"/>
            <a:r>
              <a:rPr lang="en-IN" sz="2400" b="1" dirty="0">
                <a:latin typeface="Calibri" panose="020F0502020204030204" pitchFamily="34" charset="0"/>
                <a:ea typeface="Calibri" panose="020F0502020204030204" pitchFamily="34" charset="0"/>
                <a:cs typeface="Calibri" panose="020F0502020204030204" pitchFamily="34" charset="0"/>
              </a:rPr>
              <a:t>1. Physical Segmentation</a:t>
            </a:r>
          </a:p>
          <a:p>
            <a:pPr lvl="0" algn="just" fontAlgn="base"/>
            <a:r>
              <a:rPr lang="en-IN" sz="2400" dirty="0">
                <a:latin typeface="Calibri" panose="020F0502020204030204" pitchFamily="34" charset="0"/>
                <a:ea typeface="Calibri" panose="020F0502020204030204" pitchFamily="34" charset="0"/>
                <a:cs typeface="Calibri" panose="020F0502020204030204" pitchFamily="34" charset="0"/>
              </a:rPr>
              <a:t>Physical Segmentation (or perimeter-based segmentation) separates device groups using dedicated switches, wiring, firewalls, and sometimes individual internet connections.</a:t>
            </a:r>
          </a:p>
          <a:p>
            <a:pPr lvl="0" algn="just" fontAlgn="base"/>
            <a:r>
              <a:rPr lang="en-IN" sz="2400" dirty="0">
                <a:latin typeface="Calibri" panose="020F0502020204030204" pitchFamily="34" charset="0"/>
                <a:ea typeface="Calibri" panose="020F0502020204030204" pitchFamily="34" charset="0"/>
                <a:cs typeface="Calibri" panose="020F0502020204030204" pitchFamily="34" charset="0"/>
              </a:rPr>
              <a:t>While it offers strong isolation, it's costly, difficult to scale, and complex to manage. Internal networks often remain flat, so if an attacker bypasses the firewall, they can move laterally with little resistance.</a:t>
            </a:r>
          </a:p>
          <a:p>
            <a:pPr algn="just" fontAlgn="base"/>
            <a:r>
              <a:rPr lang="en-IN" sz="2400" b="1" dirty="0">
                <a:latin typeface="Calibri" panose="020F0502020204030204" pitchFamily="34" charset="0"/>
                <a:ea typeface="Calibri" panose="020F0502020204030204" pitchFamily="34" charset="0"/>
                <a:cs typeface="Calibri" panose="020F0502020204030204" pitchFamily="34" charset="0"/>
              </a:rPr>
              <a:t>2. Virtual Segmentation</a:t>
            </a:r>
          </a:p>
          <a:p>
            <a:pPr lvl="0" algn="just" fontAlgn="base"/>
            <a:r>
              <a:rPr lang="en-IN" sz="2400" dirty="0">
                <a:latin typeface="Calibri" panose="020F0502020204030204" pitchFamily="34" charset="0"/>
                <a:ea typeface="Calibri" panose="020F0502020204030204" pitchFamily="34" charset="0"/>
                <a:cs typeface="Calibri" panose="020F0502020204030204" pitchFamily="34" charset="0"/>
              </a:rPr>
              <a:t>Virtual Segmentation, or logical segmentation, divides a single physical network into multiple isolated virtual segments.</a:t>
            </a:r>
          </a:p>
          <a:p>
            <a:pPr lvl="0" algn="just" fontAlgn="base"/>
            <a:r>
              <a:rPr lang="en-IN" sz="2400" dirty="0">
                <a:latin typeface="Calibri" panose="020F0502020204030204" pitchFamily="34" charset="0"/>
                <a:ea typeface="Calibri" panose="020F0502020204030204" pitchFamily="34" charset="0"/>
                <a:cs typeface="Calibri" panose="020F0502020204030204" pitchFamily="34" charset="0"/>
              </a:rPr>
              <a:t>Each segment can have its own security and communication policies. This is commonly implemented using technologies like VLANs (Virtual Local Area Networks).</a:t>
            </a:r>
          </a:p>
        </p:txBody>
      </p:sp>
      <p:sp>
        <p:nvSpPr>
          <p:cNvPr id="4" name="Slide Number Placeholder 3">
            <a:extLst>
              <a:ext uri="{FF2B5EF4-FFF2-40B4-BE49-F238E27FC236}">
                <a16:creationId xmlns:a16="http://schemas.microsoft.com/office/drawing/2014/main" id="{CA38C34F-1F93-08EB-99DF-0A37769A93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85</a:t>
            </a:fld>
            <a:endParaRPr lang="en-US"/>
          </a:p>
        </p:txBody>
      </p:sp>
      <p:sp>
        <p:nvSpPr>
          <p:cNvPr id="5" name="Title 2">
            <a:extLst>
              <a:ext uri="{FF2B5EF4-FFF2-40B4-BE49-F238E27FC236}">
                <a16:creationId xmlns:a16="http://schemas.microsoft.com/office/drawing/2014/main" id="{F137EBA7-F2A4-AE03-5ADB-19B25A0FFC57}"/>
              </a:ext>
            </a:extLst>
          </p:cNvPr>
          <p:cNvSpPr>
            <a:spLocks noGrp="1"/>
          </p:cNvSpPr>
          <p:nvPr>
            <p:ph type="title"/>
          </p:nvPr>
        </p:nvSpPr>
        <p:spPr>
          <a:xfrm>
            <a:off x="838200" y="238125"/>
            <a:ext cx="10444163" cy="719138"/>
          </a:xfrm>
        </p:spPr>
        <p:txBody>
          <a:bodyPr/>
          <a:lstStyle/>
          <a:p>
            <a:pPr algn="ctr"/>
            <a:r>
              <a:rPr lang="en-US" b="1" dirty="0">
                <a:latin typeface="+mj-lt"/>
              </a:rPr>
              <a:t>NETWORK SEGMENTATION</a:t>
            </a:r>
            <a:endParaRPr lang="en-IN" b="1" dirty="0">
              <a:latin typeface="+mj-lt"/>
            </a:endParaRPr>
          </a:p>
        </p:txBody>
      </p:sp>
    </p:spTree>
    <p:extLst>
      <p:ext uri="{BB962C8B-B14F-4D97-AF65-F5344CB8AC3E}">
        <p14:creationId xmlns:p14="http://schemas.microsoft.com/office/powerpoint/2010/main" val="38956709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E8F95AD-5431-566F-8BE1-064EFEE27051}"/>
              </a:ext>
            </a:extLst>
          </p:cNvPr>
          <p:cNvSpPr>
            <a:spLocks noGrp="1"/>
          </p:cNvSpPr>
          <p:nvPr>
            <p:ph type="body" idx="1"/>
          </p:nvPr>
        </p:nvSpPr>
        <p:spPr/>
        <p:txBody>
          <a:bodyPr/>
          <a:lstStyle/>
          <a:p>
            <a:pPr algn="just"/>
            <a:r>
              <a:rPr lang="en-IN" dirty="0">
                <a:latin typeface="Calibri" panose="020F0502020204030204" pitchFamily="34" charset="0"/>
                <a:ea typeface="Calibri" panose="020F0502020204030204" pitchFamily="34" charset="0"/>
                <a:cs typeface="Calibri" panose="020F0502020204030204" pitchFamily="34" charset="0"/>
              </a:rPr>
              <a:t>A flat network is a type of network architecture</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where all the devices in the data centre can reach each other</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without having to go through</a:t>
            </a:r>
            <a:r>
              <a:rPr lang="en-IN" b="1" dirty="0">
                <a:latin typeface="Calibri" panose="020F0502020204030204" pitchFamily="34" charset="0"/>
                <a:ea typeface="Calibri" panose="020F0502020204030204" pitchFamily="34" charset="0"/>
                <a:cs typeface="Calibri" panose="020F0502020204030204" pitchFamily="34" charset="0"/>
              </a:rPr>
              <a:t> </a:t>
            </a:r>
            <a:r>
              <a:rPr lang="en-IN" dirty="0">
                <a:latin typeface="Calibri" panose="020F0502020204030204" pitchFamily="34" charset="0"/>
                <a:ea typeface="Calibri" panose="020F0502020204030204" pitchFamily="34" charset="0"/>
                <a:cs typeface="Calibri" panose="020F0502020204030204" pitchFamily="34" charset="0"/>
              </a:rPr>
              <a:t>intermediary devices like routers.</a:t>
            </a:r>
            <a:r>
              <a:rPr lang="en-IN" b="1" dirty="0">
                <a:latin typeface="Calibri" panose="020F0502020204030204" pitchFamily="34" charset="0"/>
                <a:ea typeface="Calibri" panose="020F0502020204030204" pitchFamily="34" charset="0"/>
                <a:cs typeface="Calibri" panose="020F0502020204030204" pitchFamily="34" charset="0"/>
              </a:rPr>
              <a:t> </a:t>
            </a:r>
            <a:endParaRPr lang="en-IN" dirty="0">
              <a:latin typeface="Calibri" panose="020F0502020204030204" pitchFamily="34" charset="0"/>
              <a:ea typeface="Calibri" panose="020F0502020204030204" pitchFamily="34" charset="0"/>
              <a:cs typeface="Calibri" panose="020F0502020204030204" pitchFamily="34" charset="0"/>
            </a:endParaRPr>
          </a:p>
          <a:p>
            <a:pPr algn="just"/>
            <a:r>
              <a:rPr lang="en-IN" dirty="0">
                <a:latin typeface="Calibri" panose="020F0502020204030204" pitchFamily="34" charset="0"/>
                <a:ea typeface="Calibri" panose="020F0502020204030204" pitchFamily="34" charset="0"/>
                <a:cs typeface="Calibri" panose="020F0502020204030204" pitchFamily="34" charset="0"/>
              </a:rPr>
              <a:t>In a flat network, all devices are linked to a single switch, meaning that all the workstations connected to the flat network are part of the same network segment. Since all devices are connected to a single switch, it becomes one of the easiest network designs to manage. It is also very cost-effective. </a:t>
            </a:r>
          </a:p>
          <a:p>
            <a:pPr algn="just"/>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itle 2">
            <a:extLst>
              <a:ext uri="{FF2B5EF4-FFF2-40B4-BE49-F238E27FC236}">
                <a16:creationId xmlns:a16="http://schemas.microsoft.com/office/drawing/2014/main" id="{5F8F1C7D-A90D-96BA-2816-E2660AE6E8C4}"/>
              </a:ext>
            </a:extLst>
          </p:cNvPr>
          <p:cNvSpPr>
            <a:spLocks noGrp="1"/>
          </p:cNvSpPr>
          <p:nvPr>
            <p:ph type="title"/>
          </p:nvPr>
        </p:nvSpPr>
        <p:spPr/>
        <p:txBody>
          <a:bodyPr/>
          <a:lstStyle/>
          <a:p>
            <a:pPr algn="ctr"/>
            <a:r>
              <a:rPr lang="en-US" b="1" dirty="0">
                <a:latin typeface="+mj-lt"/>
              </a:rPr>
              <a:t>FLAT NETWORK RISKS</a:t>
            </a:r>
            <a:endParaRPr lang="en-IN" b="1" dirty="0">
              <a:latin typeface="+mj-lt"/>
            </a:endParaRPr>
          </a:p>
        </p:txBody>
      </p:sp>
      <p:sp>
        <p:nvSpPr>
          <p:cNvPr id="4" name="Slide Number Placeholder 3">
            <a:extLst>
              <a:ext uri="{FF2B5EF4-FFF2-40B4-BE49-F238E27FC236}">
                <a16:creationId xmlns:a16="http://schemas.microsoft.com/office/drawing/2014/main" id="{278BBA56-38C0-07C0-80A5-4D49DD8285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86</a:t>
            </a:fld>
            <a:endParaRPr lang="en-US"/>
          </a:p>
        </p:txBody>
      </p:sp>
    </p:spTree>
    <p:extLst>
      <p:ext uri="{BB962C8B-B14F-4D97-AF65-F5344CB8AC3E}">
        <p14:creationId xmlns:p14="http://schemas.microsoft.com/office/powerpoint/2010/main" val="7321328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000" b="1">
                <a:latin typeface="Calibri"/>
              </a:rPr>
              <a:t>What is a VLAN? </a:t>
            </a:r>
            <a:r>
              <a:rPr sz="2000" b="0">
                <a:latin typeface="Calibri"/>
              </a:rPr>
              <a:t>a Virtual LAN that groups devices into a separate logical network on the same switches.</a:t>
            </a:r>
          </a:p>
          <a:p>
            <a:pPr>
              <a:spcAft>
                <a:spcPts val="500"/>
              </a:spcAft>
            </a:pPr>
            <a:r>
              <a:rPr sz="2000" b="1">
                <a:latin typeface="Calibri"/>
              </a:rPr>
              <a:t>Logical separation: </a:t>
            </a:r>
            <a:r>
              <a:rPr sz="2000" b="0">
                <a:latin typeface="Calibri"/>
              </a:rPr>
              <a:t>each VLAN is its own broadcast domain and subnet.</a:t>
            </a:r>
          </a:p>
          <a:p>
            <a:pPr>
              <a:spcAft>
                <a:spcPts val="500"/>
              </a:spcAft>
            </a:pPr>
            <a:r>
              <a:rPr sz="2000" b="1">
                <a:latin typeface="Calibri"/>
              </a:rPr>
              <a:t>Access ports: </a:t>
            </a:r>
            <a:r>
              <a:rPr sz="2000" b="0">
                <a:latin typeface="Calibri"/>
              </a:rPr>
              <a:t>carry one VLAN to an end device.  Trunk ports: carry many VLANs between switches (802.1Q tags).</a:t>
            </a:r>
          </a:p>
          <a:p>
            <a:pPr>
              <a:spcAft>
                <a:spcPts val="500"/>
              </a:spcAft>
            </a:pPr>
            <a:r>
              <a:rPr sz="2000" b="1">
                <a:latin typeface="Calibri"/>
              </a:rPr>
              <a:t>VLAN-to-VLAN communication: </a:t>
            </a:r>
            <a:r>
              <a:rPr sz="2000" b="0">
                <a:latin typeface="Calibri"/>
              </a:rPr>
              <a:t>not possible without a router or Layer 3 switch.</a:t>
            </a:r>
          </a:p>
          <a:p>
            <a:pPr>
              <a:spcAft>
                <a:spcPts val="500"/>
              </a:spcAft>
            </a:pPr>
            <a:r>
              <a:rPr sz="2000" b="1">
                <a:latin typeface="Calibri"/>
              </a:rPr>
              <a:t>Inter-VLAN routing: </a:t>
            </a:r>
            <a:r>
              <a:rPr sz="2000" b="0">
                <a:latin typeface="Calibri"/>
              </a:rPr>
              <a:t>routing between VLANs through a router or L3 switch.</a:t>
            </a:r>
          </a:p>
          <a:p>
            <a:pPr>
              <a:spcAft>
                <a:spcPts val="500"/>
              </a:spcAft>
            </a:pPr>
            <a:r>
              <a:rPr sz="2000" b="1">
                <a:latin typeface="Calibri"/>
              </a:rPr>
              <a:t>ACLs and firewall policies: </a:t>
            </a:r>
            <a:r>
              <a:rPr sz="2000" b="0">
                <a:latin typeface="Calibri"/>
              </a:rPr>
              <a:t>control which traffic is allowed between VLANs.</a:t>
            </a:r>
          </a:p>
        </p:txBody>
      </p:sp>
      <p:sp>
        <p:nvSpPr>
          <p:cNvPr id="3" name="Title 2"/>
          <p:cNvSpPr>
            <a:spLocks noGrp="1"/>
          </p:cNvSpPr>
          <p:nvPr>
            <p:ph type="title"/>
          </p:nvPr>
        </p:nvSpPr>
        <p:spPr/>
        <p:txBody>
          <a:bodyPr/>
          <a:lstStyle/>
          <a:p>
            <a:pPr algn="ctr"/>
            <a:r>
              <a:rPr sz="3000" b="1" dirty="0">
                <a:latin typeface="+mj-lt"/>
              </a:rPr>
              <a:t>VLAN-BASED SEGMENTATION</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DMZ-BASED SEGMENTATION</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88</a:t>
            </a:fld>
            <a:endParaRPr lang="en-US"/>
          </a:p>
        </p:txBody>
      </p:sp>
      <p:sp>
        <p:nvSpPr>
          <p:cNvPr id="5" name="TextBox 4"/>
          <p:cNvSpPr txBox="1"/>
          <p:nvPr/>
        </p:nvSpPr>
        <p:spPr>
          <a:xfrm>
            <a:off x="914400" y="1234440"/>
            <a:ext cx="10360152" cy="822960"/>
          </a:xfrm>
          <a:prstGeom prst="rect">
            <a:avLst/>
          </a:prstGeom>
          <a:noFill/>
        </p:spPr>
        <p:txBody>
          <a:bodyPr wrap="square">
            <a:spAutoFit/>
          </a:bodyPr>
          <a:lstStyle/>
          <a:p>
            <a:pPr>
              <a:spcAft>
                <a:spcPts val="600"/>
              </a:spcAft>
            </a:pPr>
            <a:r>
              <a:rPr sz="1800">
                <a:solidFill>
                  <a:srgbClr val="222222"/>
                </a:solidFill>
                <a:latin typeface="Calibri"/>
              </a:rPr>
              <a:t>Public-facing services are isolated from internal resources, and traffic between zones is restricted.</a:t>
            </a:r>
          </a:p>
        </p:txBody>
      </p:sp>
      <p:sp>
        <p:nvSpPr>
          <p:cNvPr id="6" name="Rounded Rectangle 5"/>
          <p:cNvSpPr/>
          <p:nvPr/>
        </p:nvSpPr>
        <p:spPr>
          <a:xfrm>
            <a:off x="914400" y="2331720"/>
            <a:ext cx="239801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Internet</a:t>
            </a:r>
          </a:p>
          <a:p>
            <a:pPr algn="ctr"/>
            <a:r>
              <a:rPr sz="1300">
                <a:solidFill>
                  <a:srgbClr val="F0E6F7"/>
                </a:solidFill>
                <a:latin typeface="Calibri"/>
              </a:rPr>
              <a:t>Untrusted</a:t>
            </a:r>
          </a:p>
        </p:txBody>
      </p:sp>
      <p:sp>
        <p:nvSpPr>
          <p:cNvPr id="7" name="Right Arrow 6"/>
          <p:cNvSpPr/>
          <p:nvPr/>
        </p:nvSpPr>
        <p:spPr>
          <a:xfrm>
            <a:off x="3330702"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68446" y="2331720"/>
            <a:ext cx="239801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DMZ Web Server</a:t>
            </a:r>
          </a:p>
          <a:p>
            <a:pPr algn="ctr"/>
            <a:r>
              <a:rPr sz="1300">
                <a:solidFill>
                  <a:srgbClr val="F0E6F7"/>
                </a:solidFill>
                <a:latin typeface="Calibri"/>
              </a:rPr>
              <a:t>Public-facing</a:t>
            </a:r>
          </a:p>
        </p:txBody>
      </p:sp>
      <p:sp>
        <p:nvSpPr>
          <p:cNvPr id="9" name="Right Arrow 8"/>
          <p:cNvSpPr/>
          <p:nvPr/>
        </p:nvSpPr>
        <p:spPr>
          <a:xfrm>
            <a:off x="5984748"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22492" y="2331720"/>
            <a:ext cx="239801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Firewall</a:t>
            </a:r>
          </a:p>
          <a:p>
            <a:pPr algn="ctr"/>
            <a:r>
              <a:rPr sz="1300">
                <a:solidFill>
                  <a:srgbClr val="F0E6F7"/>
                </a:solidFill>
                <a:latin typeface="Calibri"/>
              </a:rPr>
              <a:t>Zone rules</a:t>
            </a:r>
          </a:p>
        </p:txBody>
      </p:sp>
      <p:sp>
        <p:nvSpPr>
          <p:cNvPr id="11" name="Right Arrow 10"/>
          <p:cNvSpPr/>
          <p:nvPr/>
        </p:nvSpPr>
        <p:spPr>
          <a:xfrm>
            <a:off x="8638794"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876538" y="2331720"/>
            <a:ext cx="239801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Internal DB Server</a:t>
            </a:r>
          </a:p>
          <a:p>
            <a:pPr algn="ctr"/>
            <a:r>
              <a:rPr sz="1300">
                <a:solidFill>
                  <a:srgbClr val="F0E6F7"/>
                </a:solidFill>
                <a:latin typeface="Calibri"/>
              </a:rPr>
              <a:t>Protected zone</a:t>
            </a:r>
          </a:p>
        </p:txBody>
      </p:sp>
      <p:sp>
        <p:nvSpPr>
          <p:cNvPr id="13" name="TextBox 12"/>
          <p:cNvSpPr txBox="1"/>
          <p:nvPr/>
        </p:nvSpPr>
        <p:spPr>
          <a:xfrm>
            <a:off x="914400" y="4023360"/>
            <a:ext cx="10360152" cy="1554480"/>
          </a:xfrm>
          <a:prstGeom prst="rect">
            <a:avLst/>
          </a:prstGeom>
          <a:noFill/>
        </p:spPr>
        <p:txBody>
          <a:bodyPr wrap="square">
            <a:spAutoFit/>
          </a:bodyPr>
          <a:lstStyle/>
          <a:p>
            <a:pPr>
              <a:spcAft>
                <a:spcPts val="600"/>
              </a:spcAft>
            </a:pPr>
            <a:r>
              <a:rPr sz="1700">
                <a:solidFill>
                  <a:srgbClr val="222222"/>
                </a:solidFill>
                <a:latin typeface="Calibri"/>
              </a:rPr>
              <a:t>•  Example: the web server in the DMZ may connect to the internal database only on the database port (e.g. TCP 3306); all other DMZ-to-internal traffic is denied.</a:t>
            </a:r>
          </a:p>
          <a:p>
            <a:pPr>
              <a:spcAft>
                <a:spcPts val="600"/>
              </a:spcAft>
            </a:pPr>
            <a:r>
              <a:rPr sz="1700">
                <a:solidFill>
                  <a:srgbClr val="222222"/>
                </a:solidFill>
                <a:latin typeface="Calibri"/>
              </a:rPr>
              <a:t>•  The Internet can never reach the database directly.</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MICRO-SEGMENTATION</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89</a:t>
            </a:fld>
            <a:endParaRPr lang="en-US"/>
          </a:p>
        </p:txBody>
      </p:sp>
      <p:sp>
        <p:nvSpPr>
          <p:cNvPr id="5" name="TextBox 4"/>
          <p:cNvSpPr txBox="1"/>
          <p:nvPr/>
        </p:nvSpPr>
        <p:spPr>
          <a:xfrm>
            <a:off x="914400" y="1188720"/>
            <a:ext cx="10360152" cy="640080"/>
          </a:xfrm>
          <a:prstGeom prst="rect">
            <a:avLst/>
          </a:prstGeom>
          <a:noFill/>
        </p:spPr>
        <p:txBody>
          <a:bodyPr wrap="square">
            <a:spAutoFit/>
          </a:bodyPr>
          <a:lstStyle/>
          <a:p>
            <a:pPr>
              <a:spcAft>
                <a:spcPts val="600"/>
              </a:spcAft>
            </a:pPr>
            <a:r>
              <a:rPr sz="1800">
                <a:solidFill>
                  <a:srgbClr val="222222"/>
                </a:solidFill>
                <a:latin typeface="Calibri"/>
              </a:rPr>
              <a:t>Applies very fine-grained policy down to individual workloads or applications.</a:t>
            </a:r>
          </a:p>
        </p:txBody>
      </p:sp>
      <p:graphicFrame>
        <p:nvGraphicFramePr>
          <p:cNvPr id="6" name="Table 5"/>
          <p:cNvGraphicFramePr>
            <a:graphicFrameLocks noGrp="1"/>
          </p:cNvGraphicFramePr>
          <p:nvPr/>
        </p:nvGraphicFramePr>
        <p:xfrm>
          <a:off x="914400" y="1874519"/>
          <a:ext cx="10360150" cy="2514600"/>
        </p:xfrm>
        <a:graphic>
          <a:graphicData uri="http://schemas.openxmlformats.org/drawingml/2006/table">
            <a:tbl>
              <a:tblPr>
                <a:tableStyleId>{5C22544A-7EE6-4342-B048-85BDC9FD1C3A}</a:tableStyleId>
              </a:tblPr>
              <a:tblGrid>
                <a:gridCol w="2072030">
                  <a:extLst>
                    <a:ext uri="{9D8B030D-6E8A-4147-A177-3AD203B41FA5}">
                      <a16:colId xmlns:a16="http://schemas.microsoft.com/office/drawing/2014/main" val="20000"/>
                    </a:ext>
                  </a:extLst>
                </a:gridCol>
                <a:gridCol w="3936857">
                  <a:extLst>
                    <a:ext uri="{9D8B030D-6E8A-4147-A177-3AD203B41FA5}">
                      <a16:colId xmlns:a16="http://schemas.microsoft.com/office/drawing/2014/main" val="20001"/>
                    </a:ext>
                  </a:extLst>
                </a:gridCol>
                <a:gridCol w="4351263">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Aspect</a:t>
                      </a:r>
                    </a:p>
                  </a:txBody>
                  <a:tcPr anchor="ctr">
                    <a:solidFill>
                      <a:srgbClr val="5E2A84"/>
                    </a:solidFill>
                  </a:tcPr>
                </a:tc>
                <a:tc>
                  <a:txBody>
                    <a:bodyPr/>
                    <a:lstStyle/>
                    <a:p>
                      <a:r>
                        <a:rPr sz="1600" b="1">
                          <a:solidFill>
                            <a:srgbClr val="FFFFFF"/>
                          </a:solidFill>
                          <a:latin typeface="Calibri"/>
                        </a:rPr>
                        <a:t>VLAN segmentation</a:t>
                      </a:r>
                    </a:p>
                  </a:txBody>
                  <a:tcPr anchor="ctr">
                    <a:solidFill>
                      <a:srgbClr val="5E2A84"/>
                    </a:solidFill>
                  </a:tcPr>
                </a:tc>
                <a:tc>
                  <a:txBody>
                    <a:bodyPr/>
                    <a:lstStyle/>
                    <a:p>
                      <a:r>
                        <a:rPr sz="1600" b="1">
                          <a:solidFill>
                            <a:srgbClr val="FFFFFF"/>
                          </a:solidFill>
                          <a:latin typeface="Calibri"/>
                        </a:rPr>
                        <a:t>Micro-segmentation</a:t>
                      </a:r>
                    </a:p>
                  </a:txBody>
                  <a:tcPr anchor="ctr">
                    <a:solidFill>
                      <a:srgbClr val="5E2A84"/>
                    </a:solidFill>
                  </a:tcPr>
                </a:tc>
                <a:extLst>
                  <a:ext uri="{0D108BD9-81ED-4DB2-BD59-A6C34878D82A}">
                    <a16:rowId xmlns:a16="http://schemas.microsoft.com/office/drawing/2014/main" val="10000"/>
                  </a:ext>
                </a:extLst>
              </a:tr>
              <a:tr h="502920">
                <a:tc>
                  <a:txBody>
                    <a:bodyPr/>
                    <a:lstStyle/>
                    <a:p>
                      <a:r>
                        <a:rPr sz="1600" b="1">
                          <a:solidFill>
                            <a:srgbClr val="222222"/>
                          </a:solidFill>
                          <a:latin typeface="Calibri"/>
                        </a:rPr>
                        <a:t>Granularity</a:t>
                      </a:r>
                    </a:p>
                  </a:txBody>
                  <a:tcPr anchor="ctr">
                    <a:solidFill>
                      <a:srgbClr val="F3ECF8"/>
                    </a:solidFill>
                  </a:tcPr>
                </a:tc>
                <a:tc>
                  <a:txBody>
                    <a:bodyPr/>
                    <a:lstStyle/>
                    <a:p>
                      <a:r>
                        <a:rPr sz="1600">
                          <a:solidFill>
                            <a:srgbClr val="222222"/>
                          </a:solidFill>
                          <a:latin typeface="Calibri"/>
                        </a:rPr>
                        <a:t>Groups of devices (subnet)</a:t>
                      </a:r>
                    </a:p>
                  </a:txBody>
                  <a:tcPr anchor="ctr">
                    <a:solidFill>
                      <a:srgbClr val="F3ECF8"/>
                    </a:solidFill>
                  </a:tcPr>
                </a:tc>
                <a:tc>
                  <a:txBody>
                    <a:bodyPr/>
                    <a:lstStyle/>
                    <a:p>
                      <a:r>
                        <a:rPr sz="1600">
                          <a:solidFill>
                            <a:srgbClr val="222222"/>
                          </a:solidFill>
                          <a:latin typeface="Calibri"/>
                        </a:rPr>
                        <a:t>Individual workload or application</a:t>
                      </a:r>
                    </a:p>
                  </a:txBody>
                  <a:tcPr anchor="ctr">
                    <a:solidFill>
                      <a:srgbClr val="F3ECF8"/>
                    </a:solidFill>
                  </a:tcPr>
                </a:tc>
                <a:extLst>
                  <a:ext uri="{0D108BD9-81ED-4DB2-BD59-A6C34878D82A}">
                    <a16:rowId xmlns:a16="http://schemas.microsoft.com/office/drawing/2014/main" val="10001"/>
                  </a:ext>
                </a:extLst>
              </a:tr>
              <a:tr h="502920">
                <a:tc>
                  <a:txBody>
                    <a:bodyPr/>
                    <a:lstStyle/>
                    <a:p>
                      <a:r>
                        <a:rPr sz="1600" b="1">
                          <a:solidFill>
                            <a:srgbClr val="222222"/>
                          </a:solidFill>
                          <a:latin typeface="Calibri"/>
                        </a:rPr>
                        <a:t>Enforcement</a:t>
                      </a:r>
                    </a:p>
                  </a:txBody>
                  <a:tcPr anchor="ctr">
                    <a:solidFill>
                      <a:srgbClr val="FFFFFF"/>
                    </a:solidFill>
                  </a:tcPr>
                </a:tc>
                <a:tc>
                  <a:txBody>
                    <a:bodyPr/>
                    <a:lstStyle/>
                    <a:p>
                      <a:r>
                        <a:rPr sz="1600">
                          <a:solidFill>
                            <a:srgbClr val="222222"/>
                          </a:solidFill>
                          <a:latin typeface="Calibri"/>
                        </a:rPr>
                        <a:t>Switches, routers, firewalls</a:t>
                      </a:r>
                    </a:p>
                  </a:txBody>
                  <a:tcPr anchor="ctr">
                    <a:solidFill>
                      <a:srgbClr val="FFFFFF"/>
                    </a:solidFill>
                  </a:tcPr>
                </a:tc>
                <a:tc>
                  <a:txBody>
                    <a:bodyPr/>
                    <a:lstStyle/>
                    <a:p>
                      <a:r>
                        <a:rPr sz="1600">
                          <a:solidFill>
                            <a:srgbClr val="222222"/>
                          </a:solidFill>
                          <a:latin typeface="Calibri"/>
                        </a:rPr>
                        <a:t>Host agents, hypervisor, SDN</a:t>
                      </a:r>
                    </a:p>
                  </a:txBody>
                  <a:tcPr anchor="ctr">
                    <a:solidFill>
                      <a:srgbClr val="FFFFFF"/>
                    </a:solidFill>
                  </a:tcPr>
                </a:tc>
                <a:extLst>
                  <a:ext uri="{0D108BD9-81ED-4DB2-BD59-A6C34878D82A}">
                    <a16:rowId xmlns:a16="http://schemas.microsoft.com/office/drawing/2014/main" val="10002"/>
                  </a:ext>
                </a:extLst>
              </a:tr>
              <a:tr h="502920">
                <a:tc>
                  <a:txBody>
                    <a:bodyPr/>
                    <a:lstStyle/>
                    <a:p>
                      <a:r>
                        <a:rPr sz="1600" b="1">
                          <a:solidFill>
                            <a:srgbClr val="222222"/>
                          </a:solidFill>
                          <a:latin typeface="Calibri"/>
                        </a:rPr>
                        <a:t>Policy basis</a:t>
                      </a:r>
                    </a:p>
                  </a:txBody>
                  <a:tcPr anchor="ctr">
                    <a:solidFill>
                      <a:srgbClr val="F3ECF8"/>
                    </a:solidFill>
                  </a:tcPr>
                </a:tc>
                <a:tc>
                  <a:txBody>
                    <a:bodyPr/>
                    <a:lstStyle/>
                    <a:p>
                      <a:r>
                        <a:rPr sz="1600">
                          <a:solidFill>
                            <a:srgbClr val="222222"/>
                          </a:solidFill>
                          <a:latin typeface="Calibri"/>
                        </a:rPr>
                        <a:t>IP / VLAN</a:t>
                      </a:r>
                    </a:p>
                  </a:txBody>
                  <a:tcPr anchor="ctr">
                    <a:solidFill>
                      <a:srgbClr val="F3ECF8"/>
                    </a:solidFill>
                  </a:tcPr>
                </a:tc>
                <a:tc>
                  <a:txBody>
                    <a:bodyPr/>
                    <a:lstStyle/>
                    <a:p>
                      <a:r>
                        <a:rPr sz="1600">
                          <a:solidFill>
                            <a:srgbClr val="222222"/>
                          </a:solidFill>
                          <a:latin typeface="Calibri"/>
                        </a:rPr>
                        <a:t>Identity, context and application</a:t>
                      </a:r>
                    </a:p>
                  </a:txBody>
                  <a:tcPr anchor="ctr">
                    <a:solidFill>
                      <a:srgbClr val="F3ECF8"/>
                    </a:solidFill>
                  </a:tcPr>
                </a:tc>
                <a:extLst>
                  <a:ext uri="{0D108BD9-81ED-4DB2-BD59-A6C34878D82A}">
                    <a16:rowId xmlns:a16="http://schemas.microsoft.com/office/drawing/2014/main" val="10003"/>
                  </a:ext>
                </a:extLst>
              </a:tr>
              <a:tr h="502920">
                <a:tc>
                  <a:txBody>
                    <a:bodyPr/>
                    <a:lstStyle/>
                    <a:p>
                      <a:r>
                        <a:rPr sz="1600" b="1">
                          <a:solidFill>
                            <a:srgbClr val="222222"/>
                          </a:solidFill>
                          <a:latin typeface="Calibri"/>
                        </a:rPr>
                        <a:t>Best for</a:t>
                      </a:r>
                    </a:p>
                  </a:txBody>
                  <a:tcPr anchor="ctr">
                    <a:solidFill>
                      <a:srgbClr val="FFFFFF"/>
                    </a:solidFill>
                  </a:tcPr>
                </a:tc>
                <a:tc>
                  <a:txBody>
                    <a:bodyPr/>
                    <a:lstStyle/>
                    <a:p>
                      <a:r>
                        <a:rPr sz="1600">
                          <a:solidFill>
                            <a:srgbClr val="222222"/>
                          </a:solidFill>
                          <a:latin typeface="Calibri"/>
                        </a:rPr>
                        <a:t>North-south and zone separation</a:t>
                      </a:r>
                    </a:p>
                  </a:txBody>
                  <a:tcPr anchor="ctr">
                    <a:solidFill>
                      <a:srgbClr val="FFFFFF"/>
                    </a:solidFill>
                  </a:tcPr>
                </a:tc>
                <a:tc>
                  <a:txBody>
                    <a:bodyPr/>
                    <a:lstStyle/>
                    <a:p>
                      <a:r>
                        <a:rPr sz="1600">
                          <a:solidFill>
                            <a:srgbClr val="222222"/>
                          </a:solidFill>
                          <a:latin typeface="Calibri"/>
                        </a:rPr>
                        <a:t>East-west traffic control</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914400" y="4617719"/>
            <a:ext cx="10360152" cy="1143001"/>
          </a:xfrm>
          <a:prstGeom prst="rect">
            <a:avLst/>
          </a:prstGeom>
          <a:noFill/>
        </p:spPr>
        <p:txBody>
          <a:bodyPr wrap="square">
            <a:spAutoFit/>
          </a:bodyPr>
          <a:lstStyle/>
          <a:p>
            <a:pPr>
              <a:spcAft>
                <a:spcPts val="600"/>
              </a:spcAft>
            </a:pPr>
            <a:r>
              <a:rPr sz="1600">
                <a:solidFill>
                  <a:srgbClr val="222222"/>
                </a:solidFill>
                <a:latin typeface="Calibri"/>
              </a:rPr>
              <a:t>East-west traffic is traffic between servers inside the data centre; controlling it stops attackers moving sideways.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1800" b="0">
                <a:latin typeface="Calibri"/>
              </a:rPr>
              <a:t>Lateral movement is an attacker moving from one compromised system to others.</a:t>
            </a:r>
          </a:p>
          <a:p>
            <a:pPr>
              <a:spcAft>
                <a:spcPts val="500"/>
              </a:spcAft>
            </a:pPr>
            <a:r>
              <a:rPr sz="1800" b="1">
                <a:latin typeface="Calibri"/>
              </a:rPr>
              <a:t>Restricting unnecessary connectivity: </a:t>
            </a:r>
            <a:r>
              <a:rPr sz="1800" b="0">
                <a:latin typeface="Calibri"/>
              </a:rPr>
              <a:t>allow only required flows between segments.</a:t>
            </a:r>
          </a:p>
          <a:p>
            <a:pPr>
              <a:spcAft>
                <a:spcPts val="500"/>
              </a:spcAft>
            </a:pPr>
            <a:r>
              <a:rPr sz="1800" b="1">
                <a:latin typeface="Calibri"/>
              </a:rPr>
              <a:t>Separating user and server networks: </a:t>
            </a:r>
            <a:r>
              <a:rPr sz="1800" b="0">
                <a:latin typeface="Calibri"/>
              </a:rPr>
              <a:t>workstations cannot talk to each other or directly to sensitive servers.</a:t>
            </a:r>
          </a:p>
          <a:p>
            <a:pPr>
              <a:spcAft>
                <a:spcPts val="500"/>
              </a:spcAft>
            </a:pPr>
            <a:r>
              <a:rPr sz="1800" b="1">
                <a:latin typeface="Calibri"/>
              </a:rPr>
              <a:t>Protecting privileged systems: </a:t>
            </a:r>
            <a:r>
              <a:rPr sz="1800" b="0">
                <a:latin typeface="Calibri"/>
              </a:rPr>
              <a:t>put admin tools and domain controllers in restricted zones.</a:t>
            </a:r>
          </a:p>
          <a:p>
            <a:pPr>
              <a:spcAft>
                <a:spcPts val="500"/>
              </a:spcAft>
            </a:pPr>
            <a:r>
              <a:rPr sz="1800" b="1">
                <a:latin typeface="Calibri"/>
              </a:rPr>
              <a:t>Limiting administrative protocols: </a:t>
            </a:r>
            <a:r>
              <a:rPr sz="1800" b="0">
                <a:latin typeface="Calibri"/>
              </a:rPr>
              <a:t>allow SMB, RDP, SSH and WinRM only from jump hosts.</a:t>
            </a:r>
          </a:p>
          <a:p>
            <a:pPr>
              <a:spcAft>
                <a:spcPts val="500"/>
              </a:spcAft>
            </a:pPr>
            <a:r>
              <a:rPr sz="1800" b="1">
                <a:latin typeface="Calibri"/>
              </a:rPr>
              <a:t>Monitoring east-west traffic: </a:t>
            </a:r>
            <a:r>
              <a:rPr sz="1800" b="0">
                <a:latin typeface="Calibri"/>
              </a:rPr>
              <a:t>alert on unusual internal connections.</a:t>
            </a:r>
          </a:p>
          <a:p>
            <a:pPr>
              <a:spcAft>
                <a:spcPts val="500"/>
              </a:spcAft>
            </a:pPr>
            <a:r>
              <a:rPr sz="1800" b="1">
                <a:latin typeface="Calibri"/>
              </a:rPr>
              <a:t>Applying least privilege: </a:t>
            </a:r>
            <a:r>
              <a:rPr sz="1800" b="0">
                <a:latin typeface="Calibri"/>
              </a:rPr>
              <a:t>minimum access for users, services and devices.</a:t>
            </a:r>
          </a:p>
        </p:txBody>
      </p:sp>
      <p:sp>
        <p:nvSpPr>
          <p:cNvPr id="3" name="Title 2"/>
          <p:cNvSpPr>
            <a:spLocks noGrp="1"/>
          </p:cNvSpPr>
          <p:nvPr>
            <p:ph type="title"/>
          </p:nvPr>
        </p:nvSpPr>
        <p:spPr/>
        <p:txBody>
          <a:bodyPr/>
          <a:lstStyle/>
          <a:p>
            <a:pPr algn="ctr"/>
            <a:r>
              <a:rPr sz="3000" b="1" dirty="0">
                <a:latin typeface="+mj-lt"/>
              </a:rPr>
              <a:t>LIMITING LATERAL MOVEMENT</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NETWORK SEGMENTATION DESIGN EXAMPLE</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91</a:t>
            </a:fld>
            <a:endParaRPr lang="en-US"/>
          </a:p>
        </p:txBody>
      </p:sp>
      <p:sp>
        <p:nvSpPr>
          <p:cNvPr id="5" name="TextBox 4"/>
          <p:cNvSpPr txBox="1"/>
          <p:nvPr/>
        </p:nvSpPr>
        <p:spPr>
          <a:xfrm>
            <a:off x="914400" y="1188720"/>
            <a:ext cx="10360152" cy="640080"/>
          </a:xfrm>
          <a:prstGeom prst="rect">
            <a:avLst/>
          </a:prstGeom>
          <a:noFill/>
        </p:spPr>
        <p:txBody>
          <a:bodyPr wrap="square">
            <a:spAutoFit/>
          </a:bodyPr>
          <a:lstStyle/>
          <a:p>
            <a:pPr>
              <a:spcAft>
                <a:spcPts val="600"/>
              </a:spcAft>
            </a:pPr>
            <a:r>
              <a:rPr sz="1800">
                <a:solidFill>
                  <a:srgbClr val="222222"/>
                </a:solidFill>
                <a:latin typeface="Calibri"/>
              </a:rPr>
              <a:t>A typical enterprise design, with a firewall enforcing rules between all segments.</a:t>
            </a:r>
          </a:p>
        </p:txBody>
      </p:sp>
      <p:graphicFrame>
        <p:nvGraphicFramePr>
          <p:cNvPr id="6" name="Table 5"/>
          <p:cNvGraphicFramePr>
            <a:graphicFrameLocks noGrp="1"/>
          </p:cNvGraphicFramePr>
          <p:nvPr/>
        </p:nvGraphicFramePr>
        <p:xfrm>
          <a:off x="914400" y="1874519"/>
          <a:ext cx="10360150" cy="3017520"/>
        </p:xfrm>
        <a:graphic>
          <a:graphicData uri="http://schemas.openxmlformats.org/drawingml/2006/table">
            <a:tbl>
              <a:tblPr>
                <a:tableStyleId>{5C22544A-7EE6-4342-B048-85BDC9FD1C3A}</a:tableStyleId>
              </a:tblPr>
              <a:tblGrid>
                <a:gridCol w="2072030">
                  <a:extLst>
                    <a:ext uri="{9D8B030D-6E8A-4147-A177-3AD203B41FA5}">
                      <a16:colId xmlns:a16="http://schemas.microsoft.com/office/drawing/2014/main" val="20000"/>
                    </a:ext>
                  </a:extLst>
                </a:gridCol>
                <a:gridCol w="3936857">
                  <a:extLst>
                    <a:ext uri="{9D8B030D-6E8A-4147-A177-3AD203B41FA5}">
                      <a16:colId xmlns:a16="http://schemas.microsoft.com/office/drawing/2014/main" val="20001"/>
                    </a:ext>
                  </a:extLst>
                </a:gridCol>
                <a:gridCol w="4351263">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Segment</a:t>
                      </a:r>
                    </a:p>
                  </a:txBody>
                  <a:tcPr anchor="ctr">
                    <a:solidFill>
                      <a:srgbClr val="5E2A84"/>
                    </a:solidFill>
                  </a:tcPr>
                </a:tc>
                <a:tc>
                  <a:txBody>
                    <a:bodyPr/>
                    <a:lstStyle/>
                    <a:p>
                      <a:r>
                        <a:rPr sz="1600" b="1">
                          <a:solidFill>
                            <a:srgbClr val="FFFFFF"/>
                          </a:solidFill>
                          <a:latin typeface="Calibri"/>
                        </a:rPr>
                        <a:t>Contents</a:t>
                      </a:r>
                    </a:p>
                  </a:txBody>
                  <a:tcPr anchor="ctr">
                    <a:solidFill>
                      <a:srgbClr val="5E2A84"/>
                    </a:solidFill>
                  </a:tcPr>
                </a:tc>
                <a:tc>
                  <a:txBody>
                    <a:bodyPr/>
                    <a:lstStyle/>
                    <a:p>
                      <a:r>
                        <a:rPr sz="1600" b="1">
                          <a:solidFill>
                            <a:srgbClr val="FFFFFF"/>
                          </a:solidFill>
                          <a:latin typeface="Calibri"/>
                        </a:rPr>
                        <a:t>Key rule</a:t>
                      </a:r>
                    </a:p>
                  </a:txBody>
                  <a:tcPr anchor="ctr">
                    <a:solidFill>
                      <a:srgbClr val="5E2A84"/>
                    </a:solidFill>
                  </a:tcPr>
                </a:tc>
                <a:extLst>
                  <a:ext uri="{0D108BD9-81ED-4DB2-BD59-A6C34878D82A}">
                    <a16:rowId xmlns:a16="http://schemas.microsoft.com/office/drawing/2014/main" val="10000"/>
                  </a:ext>
                </a:extLst>
              </a:tr>
              <a:tr h="502920">
                <a:tc>
                  <a:txBody>
                    <a:bodyPr/>
                    <a:lstStyle/>
                    <a:p>
                      <a:r>
                        <a:rPr sz="1600" b="1">
                          <a:solidFill>
                            <a:srgbClr val="222222"/>
                          </a:solidFill>
                          <a:latin typeface="Calibri"/>
                        </a:rPr>
                        <a:t>User VLAN</a:t>
                      </a:r>
                    </a:p>
                  </a:txBody>
                  <a:tcPr anchor="ctr">
                    <a:solidFill>
                      <a:srgbClr val="F3ECF8"/>
                    </a:solidFill>
                  </a:tcPr>
                </a:tc>
                <a:tc>
                  <a:txBody>
                    <a:bodyPr/>
                    <a:lstStyle/>
                    <a:p>
                      <a:r>
                        <a:rPr sz="1600">
                          <a:solidFill>
                            <a:srgbClr val="222222"/>
                          </a:solidFill>
                          <a:latin typeface="Calibri"/>
                        </a:rPr>
                        <a:t>Employee PCs</a:t>
                      </a:r>
                    </a:p>
                  </a:txBody>
                  <a:tcPr anchor="ctr">
                    <a:solidFill>
                      <a:srgbClr val="F3ECF8"/>
                    </a:solidFill>
                  </a:tcPr>
                </a:tc>
                <a:tc>
                  <a:txBody>
                    <a:bodyPr/>
                    <a:lstStyle/>
                    <a:p>
                      <a:r>
                        <a:rPr sz="1600">
                          <a:solidFill>
                            <a:srgbClr val="222222"/>
                          </a:solidFill>
                          <a:latin typeface="Calibri"/>
                        </a:rPr>
                        <a:t>Reach servers on required ports only</a:t>
                      </a:r>
                    </a:p>
                  </a:txBody>
                  <a:tcPr anchor="ctr">
                    <a:solidFill>
                      <a:srgbClr val="F3ECF8"/>
                    </a:solidFill>
                  </a:tcPr>
                </a:tc>
                <a:extLst>
                  <a:ext uri="{0D108BD9-81ED-4DB2-BD59-A6C34878D82A}">
                    <a16:rowId xmlns:a16="http://schemas.microsoft.com/office/drawing/2014/main" val="10001"/>
                  </a:ext>
                </a:extLst>
              </a:tr>
              <a:tr h="502920">
                <a:tc>
                  <a:txBody>
                    <a:bodyPr/>
                    <a:lstStyle/>
                    <a:p>
                      <a:r>
                        <a:rPr sz="1600" b="1">
                          <a:solidFill>
                            <a:srgbClr val="222222"/>
                          </a:solidFill>
                          <a:latin typeface="Calibri"/>
                        </a:rPr>
                        <a:t>Server VLAN</a:t>
                      </a:r>
                    </a:p>
                  </a:txBody>
                  <a:tcPr anchor="ctr">
                    <a:solidFill>
                      <a:srgbClr val="FFFFFF"/>
                    </a:solidFill>
                  </a:tcPr>
                </a:tc>
                <a:tc>
                  <a:txBody>
                    <a:bodyPr/>
                    <a:lstStyle/>
                    <a:p>
                      <a:r>
                        <a:rPr sz="1600">
                          <a:solidFill>
                            <a:srgbClr val="222222"/>
                          </a:solidFill>
                          <a:latin typeface="Calibri"/>
                        </a:rPr>
                        <a:t>Internal applications and databases</a:t>
                      </a:r>
                    </a:p>
                  </a:txBody>
                  <a:tcPr anchor="ctr">
                    <a:solidFill>
                      <a:srgbClr val="FFFFFF"/>
                    </a:solidFill>
                  </a:tcPr>
                </a:tc>
                <a:tc>
                  <a:txBody>
                    <a:bodyPr/>
                    <a:lstStyle/>
                    <a:p>
                      <a:r>
                        <a:rPr sz="1600">
                          <a:solidFill>
                            <a:srgbClr val="222222"/>
                          </a:solidFill>
                          <a:latin typeface="Calibri"/>
                        </a:rPr>
                        <a:t>No direct Internet access</a:t>
                      </a:r>
                    </a:p>
                  </a:txBody>
                  <a:tcPr anchor="ctr">
                    <a:solidFill>
                      <a:srgbClr val="FFFFFF"/>
                    </a:solidFill>
                  </a:tcPr>
                </a:tc>
                <a:extLst>
                  <a:ext uri="{0D108BD9-81ED-4DB2-BD59-A6C34878D82A}">
                    <a16:rowId xmlns:a16="http://schemas.microsoft.com/office/drawing/2014/main" val="10002"/>
                  </a:ext>
                </a:extLst>
              </a:tr>
              <a:tr h="502920">
                <a:tc>
                  <a:txBody>
                    <a:bodyPr/>
                    <a:lstStyle/>
                    <a:p>
                      <a:r>
                        <a:rPr sz="1600" b="1">
                          <a:solidFill>
                            <a:srgbClr val="222222"/>
                          </a:solidFill>
                          <a:latin typeface="Calibri"/>
                        </a:rPr>
                        <a:t>Management VLAN</a:t>
                      </a:r>
                    </a:p>
                  </a:txBody>
                  <a:tcPr anchor="ctr">
                    <a:solidFill>
                      <a:srgbClr val="F3ECF8"/>
                    </a:solidFill>
                  </a:tcPr>
                </a:tc>
                <a:tc>
                  <a:txBody>
                    <a:bodyPr/>
                    <a:lstStyle/>
                    <a:p>
                      <a:r>
                        <a:rPr sz="1600">
                          <a:solidFill>
                            <a:srgbClr val="222222"/>
                          </a:solidFill>
                          <a:latin typeface="Calibri"/>
                        </a:rPr>
                        <a:t>Admin tools, switches, jump host</a:t>
                      </a:r>
                    </a:p>
                  </a:txBody>
                  <a:tcPr anchor="ctr">
                    <a:solidFill>
                      <a:srgbClr val="F3ECF8"/>
                    </a:solidFill>
                  </a:tcPr>
                </a:tc>
                <a:tc>
                  <a:txBody>
                    <a:bodyPr/>
                    <a:lstStyle/>
                    <a:p>
                      <a:r>
                        <a:rPr sz="1600">
                          <a:solidFill>
                            <a:srgbClr val="222222"/>
                          </a:solidFill>
                          <a:latin typeface="Calibri"/>
                        </a:rPr>
                        <a:t>Reachable only by admins</a:t>
                      </a:r>
                    </a:p>
                  </a:txBody>
                  <a:tcPr anchor="ctr">
                    <a:solidFill>
                      <a:srgbClr val="F3ECF8"/>
                    </a:solidFill>
                  </a:tcPr>
                </a:tc>
                <a:extLst>
                  <a:ext uri="{0D108BD9-81ED-4DB2-BD59-A6C34878D82A}">
                    <a16:rowId xmlns:a16="http://schemas.microsoft.com/office/drawing/2014/main" val="10003"/>
                  </a:ext>
                </a:extLst>
              </a:tr>
              <a:tr h="502920">
                <a:tc>
                  <a:txBody>
                    <a:bodyPr/>
                    <a:lstStyle/>
                    <a:p>
                      <a:r>
                        <a:rPr sz="1600" b="1">
                          <a:solidFill>
                            <a:srgbClr val="222222"/>
                          </a:solidFill>
                          <a:latin typeface="Calibri"/>
                        </a:rPr>
                        <a:t>DMZ</a:t>
                      </a:r>
                    </a:p>
                  </a:txBody>
                  <a:tcPr anchor="ctr">
                    <a:solidFill>
                      <a:srgbClr val="FFFFFF"/>
                    </a:solidFill>
                  </a:tcPr>
                </a:tc>
                <a:tc>
                  <a:txBody>
                    <a:bodyPr/>
                    <a:lstStyle/>
                    <a:p>
                      <a:r>
                        <a:rPr sz="1600">
                          <a:solidFill>
                            <a:srgbClr val="222222"/>
                          </a:solidFill>
                          <a:latin typeface="Calibri"/>
                        </a:rPr>
                        <a:t>Web, DNS, mail servers</a:t>
                      </a:r>
                    </a:p>
                  </a:txBody>
                  <a:tcPr anchor="ctr">
                    <a:solidFill>
                      <a:srgbClr val="FFFFFF"/>
                    </a:solidFill>
                  </a:tcPr>
                </a:tc>
                <a:tc>
                  <a:txBody>
                    <a:bodyPr/>
                    <a:lstStyle/>
                    <a:p>
                      <a:r>
                        <a:rPr sz="1600">
                          <a:solidFill>
                            <a:srgbClr val="222222"/>
                          </a:solidFill>
                          <a:latin typeface="Calibri"/>
                        </a:rPr>
                        <a:t>Internet to DMZ only on required ports</a:t>
                      </a:r>
                    </a:p>
                  </a:txBody>
                  <a:tcPr anchor="ctr">
                    <a:solidFill>
                      <a:srgbClr val="FFFFFF"/>
                    </a:solidFill>
                  </a:tcPr>
                </a:tc>
                <a:extLst>
                  <a:ext uri="{0D108BD9-81ED-4DB2-BD59-A6C34878D82A}">
                    <a16:rowId xmlns:a16="http://schemas.microsoft.com/office/drawing/2014/main" val="10004"/>
                  </a:ext>
                </a:extLst>
              </a:tr>
              <a:tr h="502920">
                <a:tc>
                  <a:txBody>
                    <a:bodyPr/>
                    <a:lstStyle/>
                    <a:p>
                      <a:r>
                        <a:rPr sz="1600" b="1">
                          <a:solidFill>
                            <a:srgbClr val="222222"/>
                          </a:solidFill>
                          <a:latin typeface="Calibri"/>
                        </a:rPr>
                        <a:t>Guest Wi-Fi</a:t>
                      </a:r>
                    </a:p>
                  </a:txBody>
                  <a:tcPr anchor="ctr">
                    <a:solidFill>
                      <a:srgbClr val="F3ECF8"/>
                    </a:solidFill>
                  </a:tcPr>
                </a:tc>
                <a:tc>
                  <a:txBody>
                    <a:bodyPr/>
                    <a:lstStyle/>
                    <a:p>
                      <a:r>
                        <a:rPr sz="1600">
                          <a:solidFill>
                            <a:srgbClr val="222222"/>
                          </a:solidFill>
                          <a:latin typeface="Calibri"/>
                        </a:rPr>
                        <a:t>Visitor devices</a:t>
                      </a:r>
                    </a:p>
                  </a:txBody>
                  <a:tcPr anchor="ctr">
                    <a:solidFill>
                      <a:srgbClr val="F3ECF8"/>
                    </a:solidFill>
                  </a:tcPr>
                </a:tc>
                <a:tc>
                  <a:txBody>
                    <a:bodyPr/>
                    <a:lstStyle/>
                    <a:p>
                      <a:r>
                        <a:rPr sz="1600">
                          <a:solidFill>
                            <a:srgbClr val="222222"/>
                          </a:solidFill>
                          <a:latin typeface="Calibri"/>
                        </a:rPr>
                        <a:t>Internet only, no internal access</a:t>
                      </a:r>
                    </a:p>
                  </a:txBody>
                  <a:tcPr anchor="ctr">
                    <a:solidFill>
                      <a:srgbClr val="F3ECF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What is Zero Trust Architecture? </a:t>
            </a:r>
            <a:r>
              <a:rPr sz="2200" b="0">
                <a:latin typeface="Calibri"/>
              </a:rPr>
              <a:t>a security model that trusts no user, device or network by default, and verifies every request.</a:t>
            </a:r>
          </a:p>
          <a:p>
            <a:pPr>
              <a:spcAft>
                <a:spcPts val="500"/>
              </a:spcAft>
            </a:pPr>
            <a:r>
              <a:rPr sz="2200" b="1">
                <a:latin typeface="Calibri"/>
              </a:rPr>
              <a:t>Why perimeter security is insufficient: </a:t>
            </a:r>
            <a:r>
              <a:rPr sz="2200" b="0">
                <a:latin typeface="Calibri"/>
              </a:rPr>
              <a:t>once an attacker is inside the 'trusted' network, they can move freely.</a:t>
            </a:r>
          </a:p>
          <a:p>
            <a:pPr>
              <a:spcAft>
                <a:spcPts val="500"/>
              </a:spcAft>
            </a:pPr>
            <a:r>
              <a:rPr sz="2200" b="1">
                <a:latin typeface="Calibri"/>
              </a:rPr>
              <a:t>Remote work and cloud: </a:t>
            </a:r>
            <a:r>
              <a:rPr sz="2200" b="0">
                <a:latin typeface="Calibri"/>
              </a:rPr>
              <a:t>users, apps and data now sit outside the corporate network, so there is no clear perimeter.</a:t>
            </a:r>
          </a:p>
          <a:p>
            <a:pPr>
              <a:spcAft>
                <a:spcPts val="500"/>
              </a:spcAft>
            </a:pPr>
            <a:r>
              <a:rPr sz="2200" b="1">
                <a:latin typeface="Calibri"/>
              </a:rPr>
              <a:t>Core principles: </a:t>
            </a:r>
            <a:r>
              <a:rPr sz="2200" b="0">
                <a:latin typeface="Calibri"/>
              </a:rPr>
              <a:t>never trust, always verify; least privilege; assume breach; verify explicitly and continuously.</a:t>
            </a:r>
          </a:p>
        </p:txBody>
      </p:sp>
      <p:sp>
        <p:nvSpPr>
          <p:cNvPr id="3" name="Title 2"/>
          <p:cNvSpPr>
            <a:spLocks noGrp="1"/>
          </p:cNvSpPr>
          <p:nvPr>
            <p:ph type="title"/>
          </p:nvPr>
        </p:nvSpPr>
        <p:spPr/>
        <p:txBody>
          <a:bodyPr/>
          <a:lstStyle/>
          <a:p>
            <a:pPr algn="ctr"/>
            <a:r>
              <a:rPr sz="3000" b="1" dirty="0">
                <a:latin typeface="+mj-lt"/>
              </a:rPr>
              <a:t>INTRODUCTION TO ZERO TRUST</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No implicit trust based on network location: </a:t>
            </a:r>
            <a:r>
              <a:rPr sz="2200" b="0">
                <a:latin typeface="Calibri"/>
              </a:rPr>
              <a:t>being inside the office network grants nothing automatically.</a:t>
            </a:r>
          </a:p>
          <a:p>
            <a:pPr>
              <a:spcAft>
                <a:spcPts val="500"/>
              </a:spcAft>
            </a:pPr>
            <a:r>
              <a:rPr sz="2200" b="1">
                <a:latin typeface="Calibri"/>
              </a:rPr>
              <a:t>Authenticate every access request: </a:t>
            </a:r>
            <a:r>
              <a:rPr sz="2200" b="0">
                <a:latin typeface="Calibri"/>
              </a:rPr>
              <a:t>strong identity checks, with MFA.</a:t>
            </a:r>
          </a:p>
          <a:p>
            <a:pPr>
              <a:spcAft>
                <a:spcPts val="500"/>
              </a:spcAft>
            </a:pPr>
            <a:r>
              <a:rPr sz="2200" b="1">
                <a:latin typeface="Calibri"/>
              </a:rPr>
              <a:t>Authorise based on policy: </a:t>
            </a:r>
            <a:r>
              <a:rPr sz="2200" b="0">
                <a:latin typeface="Calibri"/>
              </a:rPr>
              <a:t>decisions use rules about who, what, where and when.</a:t>
            </a:r>
          </a:p>
          <a:p>
            <a:pPr>
              <a:spcAft>
                <a:spcPts val="500"/>
              </a:spcAft>
            </a:pPr>
            <a:r>
              <a:rPr sz="2200" b="1">
                <a:latin typeface="Calibri"/>
              </a:rPr>
              <a:t>Verify device and session context: </a:t>
            </a:r>
            <a:r>
              <a:rPr sz="2200" b="0">
                <a:latin typeface="Calibri"/>
              </a:rPr>
              <a:t>device health, location and behaviour are checked.</a:t>
            </a:r>
          </a:p>
          <a:p>
            <a:pPr>
              <a:spcAft>
                <a:spcPts val="500"/>
              </a:spcAft>
            </a:pPr>
            <a:r>
              <a:rPr sz="2200" b="1">
                <a:latin typeface="Calibri"/>
              </a:rPr>
              <a:t>Least-privilege access: </a:t>
            </a:r>
            <a:r>
              <a:rPr sz="2200" b="0">
                <a:latin typeface="Calibri"/>
              </a:rPr>
              <a:t>users receive only the access needed for the task, for the time needed.</a:t>
            </a:r>
          </a:p>
        </p:txBody>
      </p:sp>
      <p:sp>
        <p:nvSpPr>
          <p:cNvPr id="3" name="Title 2"/>
          <p:cNvSpPr>
            <a:spLocks noGrp="1"/>
          </p:cNvSpPr>
          <p:nvPr>
            <p:ph type="title"/>
          </p:nvPr>
        </p:nvSpPr>
        <p:spPr/>
        <p:txBody>
          <a:bodyPr/>
          <a:lstStyle/>
          <a:p>
            <a:pPr algn="ctr"/>
            <a:r>
              <a:rPr sz="3000" b="1" dirty="0">
                <a:latin typeface="+mj-lt"/>
              </a:rPr>
              <a:t>“NEVER TRUST, ALWAYS VERIFY”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000" b="0">
                <a:latin typeface="Calibri"/>
              </a:rPr>
              <a:t>In Zero Trust, identity is the new perimeter.</a:t>
            </a:r>
          </a:p>
          <a:p>
            <a:pPr>
              <a:spcAft>
                <a:spcPts val="500"/>
              </a:spcAft>
            </a:pPr>
            <a:r>
              <a:rPr sz="2000" b="1">
                <a:latin typeface="Calibri"/>
              </a:rPr>
              <a:t>User identity: </a:t>
            </a:r>
            <a:r>
              <a:rPr sz="2000" b="0">
                <a:latin typeface="Calibri"/>
              </a:rPr>
              <a:t>verified through a central identity provider (single sign-on).</a:t>
            </a:r>
          </a:p>
          <a:p>
            <a:pPr>
              <a:spcAft>
                <a:spcPts val="500"/>
              </a:spcAft>
            </a:pPr>
            <a:r>
              <a:rPr sz="2000" b="1">
                <a:latin typeface="Calibri"/>
              </a:rPr>
              <a:t>Device identity: </a:t>
            </a:r>
            <a:r>
              <a:rPr sz="2000" b="0">
                <a:latin typeface="Calibri"/>
              </a:rPr>
              <a:t>certificates or management enrolment prove the device is known.</a:t>
            </a:r>
          </a:p>
          <a:p>
            <a:pPr>
              <a:spcAft>
                <a:spcPts val="500"/>
              </a:spcAft>
            </a:pPr>
            <a:r>
              <a:rPr sz="2000" b="1">
                <a:latin typeface="Calibri"/>
              </a:rPr>
              <a:t>Multi-factor authentication (MFA): </a:t>
            </a:r>
            <a:r>
              <a:rPr sz="2000" b="0">
                <a:latin typeface="Calibri"/>
              </a:rPr>
              <a:t>two or more proofs, e.g. password plus app code.</a:t>
            </a:r>
          </a:p>
          <a:p>
            <a:pPr>
              <a:spcAft>
                <a:spcPts val="500"/>
              </a:spcAft>
            </a:pPr>
            <a:r>
              <a:rPr sz="2000" b="1">
                <a:latin typeface="Calibri"/>
              </a:rPr>
              <a:t>Role-based access control (RBAC): </a:t>
            </a:r>
            <a:r>
              <a:rPr sz="2000" b="0">
                <a:latin typeface="Calibri"/>
              </a:rPr>
              <a:t>access based on job role.</a:t>
            </a:r>
          </a:p>
          <a:p>
            <a:pPr>
              <a:spcAft>
                <a:spcPts val="500"/>
              </a:spcAft>
            </a:pPr>
            <a:r>
              <a:rPr sz="2000" b="1">
                <a:latin typeface="Calibri"/>
              </a:rPr>
              <a:t>Attribute-based access control (ABAC): </a:t>
            </a:r>
            <a:r>
              <a:rPr sz="2000" b="0">
                <a:latin typeface="Calibri"/>
              </a:rPr>
              <a:t>access based on attributes such as department, device state, location and time.</a:t>
            </a:r>
          </a:p>
          <a:p>
            <a:pPr>
              <a:spcAft>
                <a:spcPts val="500"/>
              </a:spcAft>
            </a:pPr>
            <a:r>
              <a:rPr sz="2000" b="1">
                <a:latin typeface="Calibri"/>
              </a:rPr>
              <a:t>Privileged access management (PAM): </a:t>
            </a:r>
            <a:r>
              <a:rPr sz="2000" b="0">
                <a:latin typeface="Calibri"/>
              </a:rPr>
              <a:t>controls, records and time-limits admin access.</a:t>
            </a:r>
          </a:p>
        </p:txBody>
      </p:sp>
      <p:sp>
        <p:nvSpPr>
          <p:cNvPr id="3" name="Title 2"/>
          <p:cNvSpPr>
            <a:spLocks noGrp="1"/>
          </p:cNvSpPr>
          <p:nvPr>
            <p:ph type="title"/>
          </p:nvPr>
        </p:nvSpPr>
        <p:spPr/>
        <p:txBody>
          <a:bodyPr/>
          <a:lstStyle/>
          <a:p>
            <a:pPr algn="ctr"/>
            <a:r>
              <a:rPr sz="3000" b="1" dirty="0">
                <a:latin typeface="+mj-lt"/>
              </a:rPr>
              <a:t>IDENTITY-CENTRIC SECURITY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Workload isolation: </a:t>
            </a:r>
            <a:r>
              <a:rPr sz="2200" b="0">
                <a:latin typeface="Calibri"/>
              </a:rPr>
              <a:t>each application or server is placed in its own protected segment.</a:t>
            </a:r>
          </a:p>
          <a:p>
            <a:pPr>
              <a:spcAft>
                <a:spcPts val="500"/>
              </a:spcAft>
            </a:pPr>
            <a:r>
              <a:rPr sz="2200" b="1">
                <a:latin typeface="Calibri"/>
              </a:rPr>
              <a:t>Application-specific access: </a:t>
            </a:r>
            <a:r>
              <a:rPr sz="2200" b="0">
                <a:latin typeface="Calibri"/>
              </a:rPr>
              <a:t>users reach only the application they need, not the whole network.</a:t>
            </a:r>
          </a:p>
          <a:p>
            <a:pPr>
              <a:spcAft>
                <a:spcPts val="500"/>
              </a:spcAft>
            </a:pPr>
            <a:r>
              <a:rPr sz="2200" b="1">
                <a:latin typeface="Calibri"/>
              </a:rPr>
              <a:t>Restricting lateral movement: </a:t>
            </a:r>
            <a:r>
              <a:rPr sz="2200" b="0">
                <a:latin typeface="Calibri"/>
              </a:rPr>
              <a:t>a compromised system cannot reach neighbouring ones.</a:t>
            </a:r>
          </a:p>
          <a:p>
            <a:pPr>
              <a:spcAft>
                <a:spcPts val="500"/>
              </a:spcAft>
            </a:pPr>
            <a:r>
              <a:rPr sz="2200" b="1">
                <a:latin typeface="Calibri"/>
              </a:rPr>
              <a:t>Enforcing policies between resources: </a:t>
            </a:r>
            <a:r>
              <a:rPr sz="2200" b="0">
                <a:latin typeface="Calibri"/>
              </a:rPr>
              <a:t>every connection between workloads is checked against policy, even inside the data centre.</a:t>
            </a:r>
          </a:p>
        </p:txBody>
      </p:sp>
      <p:sp>
        <p:nvSpPr>
          <p:cNvPr id="3" name="Title 2"/>
          <p:cNvSpPr>
            <a:spLocks noGrp="1"/>
          </p:cNvSpPr>
          <p:nvPr>
            <p:ph type="title"/>
          </p:nvPr>
        </p:nvSpPr>
        <p:spPr/>
        <p:txBody>
          <a:bodyPr/>
          <a:lstStyle/>
          <a:p>
            <a:pPr algn="ctr"/>
            <a:r>
              <a:rPr sz="3000" b="1" dirty="0">
                <a:latin typeface="+mj-lt"/>
              </a:rPr>
              <a:t>MICRO-SEGMENTATION IN ZERO TRUST</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CONTINUOUS VALIDATION</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96</a:t>
            </a:fld>
            <a:endParaRPr lang="en-US"/>
          </a:p>
        </p:txBody>
      </p:sp>
      <p:sp>
        <p:nvSpPr>
          <p:cNvPr id="5" name="TextBox 4"/>
          <p:cNvSpPr txBox="1"/>
          <p:nvPr/>
        </p:nvSpPr>
        <p:spPr>
          <a:xfrm>
            <a:off x="914400" y="1234440"/>
            <a:ext cx="10360152" cy="822960"/>
          </a:xfrm>
          <a:prstGeom prst="rect">
            <a:avLst/>
          </a:prstGeom>
          <a:noFill/>
        </p:spPr>
        <p:txBody>
          <a:bodyPr wrap="square">
            <a:spAutoFit/>
          </a:bodyPr>
          <a:lstStyle/>
          <a:p>
            <a:pPr>
              <a:spcAft>
                <a:spcPts val="600"/>
              </a:spcAft>
            </a:pPr>
            <a:r>
              <a:rPr sz="1800">
                <a:solidFill>
                  <a:srgbClr val="222222"/>
                </a:solidFill>
                <a:latin typeface="Calibri"/>
              </a:rPr>
              <a:t>Trust is re-checked throughout a session, not only at login.</a:t>
            </a:r>
          </a:p>
        </p:txBody>
      </p:sp>
      <p:sp>
        <p:nvSpPr>
          <p:cNvPr id="6" name="Rounded Rectangle 5"/>
          <p:cNvSpPr/>
          <p:nvPr/>
        </p:nvSpPr>
        <p:spPr>
          <a:xfrm>
            <a:off x="914400"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Device Health</a:t>
            </a:r>
          </a:p>
          <a:p>
            <a:pPr algn="ctr"/>
            <a:r>
              <a:rPr sz="1300">
                <a:solidFill>
                  <a:srgbClr val="F0E6F7"/>
                </a:solidFill>
                <a:latin typeface="Calibri"/>
              </a:rPr>
              <a:t>Patched? Protected?</a:t>
            </a:r>
          </a:p>
        </p:txBody>
      </p:sp>
      <p:sp>
        <p:nvSpPr>
          <p:cNvPr id="7" name="Right Arrow 6"/>
          <p:cNvSpPr/>
          <p:nvPr/>
        </p:nvSpPr>
        <p:spPr>
          <a:xfrm>
            <a:off x="2799892"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37636" y="2331720"/>
            <a:ext cx="186720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Risk-Based Decision</a:t>
            </a:r>
          </a:p>
          <a:p>
            <a:pPr algn="ctr"/>
            <a:r>
              <a:rPr sz="1300">
                <a:solidFill>
                  <a:srgbClr val="F0E6F7"/>
                </a:solidFill>
                <a:latin typeface="Calibri"/>
              </a:rPr>
              <a:t>Score the request</a:t>
            </a:r>
          </a:p>
        </p:txBody>
      </p:sp>
      <p:sp>
        <p:nvSpPr>
          <p:cNvPr id="9" name="Right Arrow 8"/>
          <p:cNvSpPr/>
          <p:nvPr/>
        </p:nvSpPr>
        <p:spPr>
          <a:xfrm>
            <a:off x="4923128"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0872"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Session Monitoring</a:t>
            </a:r>
          </a:p>
          <a:p>
            <a:pPr algn="ctr"/>
            <a:r>
              <a:rPr sz="1300">
                <a:solidFill>
                  <a:srgbClr val="F0E6F7"/>
                </a:solidFill>
                <a:latin typeface="Calibri"/>
              </a:rPr>
              <a:t>Watch behaviour</a:t>
            </a:r>
          </a:p>
        </p:txBody>
      </p:sp>
      <p:sp>
        <p:nvSpPr>
          <p:cNvPr id="11" name="Right Arrow 10"/>
          <p:cNvSpPr/>
          <p:nvPr/>
        </p:nvSpPr>
        <p:spPr>
          <a:xfrm>
            <a:off x="7046364"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284108" y="2331720"/>
            <a:ext cx="186720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Re-authentication</a:t>
            </a:r>
          </a:p>
          <a:p>
            <a:pPr algn="ctr"/>
            <a:r>
              <a:rPr sz="1300">
                <a:solidFill>
                  <a:srgbClr val="F0E6F7"/>
                </a:solidFill>
                <a:latin typeface="Calibri"/>
              </a:rPr>
              <a:t>When risk rises</a:t>
            </a:r>
          </a:p>
        </p:txBody>
      </p:sp>
      <p:sp>
        <p:nvSpPr>
          <p:cNvPr id="13" name="Right Arrow 12"/>
          <p:cNvSpPr/>
          <p:nvPr/>
        </p:nvSpPr>
        <p:spPr>
          <a:xfrm>
            <a:off x="9169600"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407344"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Respond to Change</a:t>
            </a:r>
          </a:p>
          <a:p>
            <a:pPr algn="ctr"/>
            <a:r>
              <a:rPr sz="1300">
                <a:solidFill>
                  <a:srgbClr val="F0E6F7"/>
                </a:solidFill>
                <a:latin typeface="Calibri"/>
              </a:rPr>
              <a:t>Restrict or end session</a:t>
            </a:r>
          </a:p>
        </p:txBody>
      </p:sp>
      <p:sp>
        <p:nvSpPr>
          <p:cNvPr id="15" name="TextBox 14"/>
          <p:cNvSpPr txBox="1"/>
          <p:nvPr/>
        </p:nvSpPr>
        <p:spPr>
          <a:xfrm>
            <a:off x="914400" y="4023360"/>
            <a:ext cx="10360152" cy="1554480"/>
          </a:xfrm>
          <a:prstGeom prst="rect">
            <a:avLst/>
          </a:prstGeom>
          <a:noFill/>
        </p:spPr>
        <p:txBody>
          <a:bodyPr wrap="square">
            <a:spAutoFit/>
          </a:bodyPr>
          <a:lstStyle/>
          <a:p>
            <a:pPr>
              <a:spcAft>
                <a:spcPts val="600"/>
              </a:spcAft>
            </a:pPr>
            <a:r>
              <a:rPr sz="1700">
                <a:solidFill>
                  <a:srgbClr val="222222"/>
                </a:solidFill>
                <a:latin typeface="Calibri"/>
              </a:rPr>
              <a:t>•  Example: a user logs in from a new country mid-session, so the system asks for MFA again or blocks access.</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ZERO TRUST VS PERIMETER SECURITY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97</a:t>
            </a:fld>
            <a:endParaRPr lang="en-US"/>
          </a:p>
        </p:txBody>
      </p:sp>
      <p:sp>
        <p:nvSpPr>
          <p:cNvPr id="5" name="TextBox 4"/>
          <p:cNvSpPr txBox="1"/>
          <p:nvPr/>
        </p:nvSpPr>
        <p:spPr>
          <a:xfrm>
            <a:off x="914400" y="1188720"/>
            <a:ext cx="10360152" cy="640080"/>
          </a:xfrm>
          <a:prstGeom prst="rect">
            <a:avLst/>
          </a:prstGeom>
          <a:noFill/>
        </p:spPr>
        <p:txBody>
          <a:bodyPr wrap="square">
            <a:spAutoFit/>
          </a:bodyPr>
          <a:lstStyle/>
          <a:p>
            <a:pPr>
              <a:spcAft>
                <a:spcPts val="600"/>
              </a:spcAft>
            </a:pPr>
            <a:r>
              <a:rPr sz="1800">
                <a:solidFill>
                  <a:srgbClr val="222222"/>
                </a:solidFill>
                <a:latin typeface="Calibri"/>
              </a:rPr>
              <a:t>Zero Trust moves protection from the network edge to every resource.</a:t>
            </a:r>
          </a:p>
        </p:txBody>
      </p:sp>
      <p:graphicFrame>
        <p:nvGraphicFramePr>
          <p:cNvPr id="6" name="Table 5"/>
          <p:cNvGraphicFramePr>
            <a:graphicFrameLocks noGrp="1"/>
          </p:cNvGraphicFramePr>
          <p:nvPr/>
        </p:nvGraphicFramePr>
        <p:xfrm>
          <a:off x="914400" y="1874519"/>
          <a:ext cx="10360150" cy="3017520"/>
        </p:xfrm>
        <a:graphic>
          <a:graphicData uri="http://schemas.openxmlformats.org/drawingml/2006/table">
            <a:tbl>
              <a:tblPr>
                <a:tableStyleId>{5C22544A-7EE6-4342-B048-85BDC9FD1C3A}</a:tableStyleId>
              </a:tblPr>
              <a:tblGrid>
                <a:gridCol w="2072030">
                  <a:extLst>
                    <a:ext uri="{9D8B030D-6E8A-4147-A177-3AD203B41FA5}">
                      <a16:colId xmlns:a16="http://schemas.microsoft.com/office/drawing/2014/main" val="20000"/>
                    </a:ext>
                  </a:extLst>
                </a:gridCol>
                <a:gridCol w="3936857">
                  <a:extLst>
                    <a:ext uri="{9D8B030D-6E8A-4147-A177-3AD203B41FA5}">
                      <a16:colId xmlns:a16="http://schemas.microsoft.com/office/drawing/2014/main" val="20001"/>
                    </a:ext>
                  </a:extLst>
                </a:gridCol>
                <a:gridCol w="4351263">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Feature</a:t>
                      </a:r>
                    </a:p>
                  </a:txBody>
                  <a:tcPr anchor="ctr">
                    <a:solidFill>
                      <a:srgbClr val="5E2A84"/>
                    </a:solidFill>
                  </a:tcPr>
                </a:tc>
                <a:tc>
                  <a:txBody>
                    <a:bodyPr/>
                    <a:lstStyle/>
                    <a:p>
                      <a:r>
                        <a:rPr sz="1600" b="1">
                          <a:solidFill>
                            <a:srgbClr val="FFFFFF"/>
                          </a:solidFill>
                          <a:latin typeface="Calibri"/>
                        </a:rPr>
                        <a:t>Traditional perimeter</a:t>
                      </a:r>
                    </a:p>
                  </a:txBody>
                  <a:tcPr anchor="ctr">
                    <a:solidFill>
                      <a:srgbClr val="5E2A84"/>
                    </a:solidFill>
                  </a:tcPr>
                </a:tc>
                <a:tc>
                  <a:txBody>
                    <a:bodyPr/>
                    <a:lstStyle/>
                    <a:p>
                      <a:r>
                        <a:rPr sz="1600" b="1">
                          <a:solidFill>
                            <a:srgbClr val="FFFFFF"/>
                          </a:solidFill>
                          <a:latin typeface="Calibri"/>
                        </a:rPr>
                        <a:t>Zero Trust</a:t>
                      </a:r>
                    </a:p>
                  </a:txBody>
                  <a:tcPr anchor="ctr">
                    <a:solidFill>
                      <a:srgbClr val="5E2A84"/>
                    </a:solidFill>
                  </a:tcPr>
                </a:tc>
                <a:extLst>
                  <a:ext uri="{0D108BD9-81ED-4DB2-BD59-A6C34878D82A}">
                    <a16:rowId xmlns:a16="http://schemas.microsoft.com/office/drawing/2014/main" val="10000"/>
                  </a:ext>
                </a:extLst>
              </a:tr>
              <a:tr h="502920">
                <a:tc>
                  <a:txBody>
                    <a:bodyPr/>
                    <a:lstStyle/>
                    <a:p>
                      <a:r>
                        <a:rPr sz="1600" b="1">
                          <a:solidFill>
                            <a:srgbClr val="222222"/>
                          </a:solidFill>
                          <a:latin typeface="Calibri"/>
                        </a:rPr>
                        <a:t>Trust model</a:t>
                      </a:r>
                    </a:p>
                  </a:txBody>
                  <a:tcPr anchor="ctr">
                    <a:solidFill>
                      <a:srgbClr val="F3ECF8"/>
                    </a:solidFill>
                  </a:tcPr>
                </a:tc>
                <a:tc>
                  <a:txBody>
                    <a:bodyPr/>
                    <a:lstStyle/>
                    <a:p>
                      <a:r>
                        <a:rPr sz="1600">
                          <a:solidFill>
                            <a:srgbClr val="222222"/>
                          </a:solidFill>
                          <a:latin typeface="Calibri"/>
                        </a:rPr>
                        <a:t>Often trusts the internal network more</a:t>
                      </a:r>
                    </a:p>
                  </a:txBody>
                  <a:tcPr anchor="ctr">
                    <a:solidFill>
                      <a:srgbClr val="F3ECF8"/>
                    </a:solidFill>
                  </a:tcPr>
                </a:tc>
                <a:tc>
                  <a:txBody>
                    <a:bodyPr/>
                    <a:lstStyle/>
                    <a:p>
                      <a:r>
                        <a:rPr sz="1600">
                          <a:solidFill>
                            <a:srgbClr val="222222"/>
                          </a:solidFill>
                          <a:latin typeface="Calibri"/>
                        </a:rPr>
                        <a:t>No implicit trust</a:t>
                      </a:r>
                    </a:p>
                  </a:txBody>
                  <a:tcPr anchor="ctr">
                    <a:solidFill>
                      <a:srgbClr val="F3ECF8"/>
                    </a:solidFill>
                  </a:tcPr>
                </a:tc>
                <a:extLst>
                  <a:ext uri="{0D108BD9-81ED-4DB2-BD59-A6C34878D82A}">
                    <a16:rowId xmlns:a16="http://schemas.microsoft.com/office/drawing/2014/main" val="10001"/>
                  </a:ext>
                </a:extLst>
              </a:tr>
              <a:tr h="502920">
                <a:tc>
                  <a:txBody>
                    <a:bodyPr/>
                    <a:lstStyle/>
                    <a:p>
                      <a:r>
                        <a:rPr sz="1600" b="1">
                          <a:solidFill>
                            <a:srgbClr val="222222"/>
                          </a:solidFill>
                          <a:latin typeface="Calibri"/>
                        </a:rPr>
                        <a:t>Main focus</a:t>
                      </a:r>
                    </a:p>
                  </a:txBody>
                  <a:tcPr anchor="ctr">
                    <a:solidFill>
                      <a:srgbClr val="FFFFFF"/>
                    </a:solidFill>
                  </a:tcPr>
                </a:tc>
                <a:tc>
                  <a:txBody>
                    <a:bodyPr/>
                    <a:lstStyle/>
                    <a:p>
                      <a:r>
                        <a:rPr sz="1600">
                          <a:solidFill>
                            <a:srgbClr val="222222"/>
                          </a:solidFill>
                          <a:latin typeface="Calibri"/>
                        </a:rPr>
                        <a:t>Network boundary</a:t>
                      </a:r>
                    </a:p>
                  </a:txBody>
                  <a:tcPr anchor="ctr">
                    <a:solidFill>
                      <a:srgbClr val="FFFFFF"/>
                    </a:solidFill>
                  </a:tcPr>
                </a:tc>
                <a:tc>
                  <a:txBody>
                    <a:bodyPr/>
                    <a:lstStyle/>
                    <a:p>
                      <a:r>
                        <a:rPr sz="1600">
                          <a:solidFill>
                            <a:srgbClr val="222222"/>
                          </a:solidFill>
                          <a:latin typeface="Calibri"/>
                        </a:rPr>
                        <a:t>Identity, device and resource</a:t>
                      </a:r>
                    </a:p>
                  </a:txBody>
                  <a:tcPr anchor="ctr">
                    <a:solidFill>
                      <a:srgbClr val="FFFFFF"/>
                    </a:solidFill>
                  </a:tcPr>
                </a:tc>
                <a:extLst>
                  <a:ext uri="{0D108BD9-81ED-4DB2-BD59-A6C34878D82A}">
                    <a16:rowId xmlns:a16="http://schemas.microsoft.com/office/drawing/2014/main" val="10002"/>
                  </a:ext>
                </a:extLst>
              </a:tr>
              <a:tr h="502920">
                <a:tc>
                  <a:txBody>
                    <a:bodyPr/>
                    <a:lstStyle/>
                    <a:p>
                      <a:r>
                        <a:rPr sz="1600" b="1">
                          <a:solidFill>
                            <a:srgbClr val="222222"/>
                          </a:solidFill>
                          <a:latin typeface="Calibri"/>
                        </a:rPr>
                        <a:t>Access</a:t>
                      </a:r>
                    </a:p>
                  </a:txBody>
                  <a:tcPr anchor="ctr">
                    <a:solidFill>
                      <a:srgbClr val="F3ECF8"/>
                    </a:solidFill>
                  </a:tcPr>
                </a:tc>
                <a:tc>
                  <a:txBody>
                    <a:bodyPr/>
                    <a:lstStyle/>
                    <a:p>
                      <a:r>
                        <a:rPr sz="1600">
                          <a:solidFill>
                            <a:srgbClr val="222222"/>
                          </a:solidFill>
                          <a:latin typeface="Calibri"/>
                        </a:rPr>
                        <a:t>Often based on network location</a:t>
                      </a:r>
                    </a:p>
                  </a:txBody>
                  <a:tcPr anchor="ctr">
                    <a:solidFill>
                      <a:srgbClr val="F3ECF8"/>
                    </a:solidFill>
                  </a:tcPr>
                </a:tc>
                <a:tc>
                  <a:txBody>
                    <a:bodyPr/>
                    <a:lstStyle/>
                    <a:p>
                      <a:r>
                        <a:rPr sz="1600">
                          <a:solidFill>
                            <a:srgbClr val="222222"/>
                          </a:solidFill>
                          <a:latin typeface="Calibri"/>
                        </a:rPr>
                        <a:t>Based on identity and policy</a:t>
                      </a:r>
                    </a:p>
                  </a:txBody>
                  <a:tcPr anchor="ctr">
                    <a:solidFill>
                      <a:srgbClr val="F3ECF8"/>
                    </a:solidFill>
                  </a:tcPr>
                </a:tc>
                <a:extLst>
                  <a:ext uri="{0D108BD9-81ED-4DB2-BD59-A6C34878D82A}">
                    <a16:rowId xmlns:a16="http://schemas.microsoft.com/office/drawing/2014/main" val="10003"/>
                  </a:ext>
                </a:extLst>
              </a:tr>
              <a:tr h="502920">
                <a:tc>
                  <a:txBody>
                    <a:bodyPr/>
                    <a:lstStyle/>
                    <a:p>
                      <a:r>
                        <a:rPr sz="1600" b="1">
                          <a:solidFill>
                            <a:srgbClr val="222222"/>
                          </a:solidFill>
                          <a:latin typeface="Calibri"/>
                        </a:rPr>
                        <a:t>Verification</a:t>
                      </a:r>
                    </a:p>
                  </a:txBody>
                  <a:tcPr anchor="ctr">
                    <a:solidFill>
                      <a:srgbClr val="FFFFFF"/>
                    </a:solidFill>
                  </a:tcPr>
                </a:tc>
                <a:tc>
                  <a:txBody>
                    <a:bodyPr/>
                    <a:lstStyle/>
                    <a:p>
                      <a:r>
                        <a:rPr sz="1600">
                          <a:solidFill>
                            <a:srgbClr val="222222"/>
                          </a:solidFill>
                          <a:latin typeface="Calibri"/>
                        </a:rPr>
                        <a:t>May occur mainly at entry</a:t>
                      </a:r>
                    </a:p>
                  </a:txBody>
                  <a:tcPr anchor="ctr">
                    <a:solidFill>
                      <a:srgbClr val="FFFFFF"/>
                    </a:solidFill>
                  </a:tcPr>
                </a:tc>
                <a:tc>
                  <a:txBody>
                    <a:bodyPr/>
                    <a:lstStyle/>
                    <a:p>
                      <a:r>
                        <a:rPr sz="1600">
                          <a:solidFill>
                            <a:srgbClr val="222222"/>
                          </a:solidFill>
                          <a:latin typeface="Calibri"/>
                        </a:rPr>
                        <a:t>Ongoing and context-aware</a:t>
                      </a:r>
                    </a:p>
                  </a:txBody>
                  <a:tcPr anchor="ctr">
                    <a:solidFill>
                      <a:srgbClr val="FFFFFF"/>
                    </a:solidFill>
                  </a:tcPr>
                </a:tc>
                <a:extLst>
                  <a:ext uri="{0D108BD9-81ED-4DB2-BD59-A6C34878D82A}">
                    <a16:rowId xmlns:a16="http://schemas.microsoft.com/office/drawing/2014/main" val="10004"/>
                  </a:ext>
                </a:extLst>
              </a:tr>
              <a:tr h="502920">
                <a:tc>
                  <a:txBody>
                    <a:bodyPr/>
                    <a:lstStyle/>
                    <a:p>
                      <a:r>
                        <a:rPr sz="1600" b="1">
                          <a:solidFill>
                            <a:srgbClr val="222222"/>
                          </a:solidFill>
                          <a:latin typeface="Calibri"/>
                        </a:rPr>
                        <a:t>Segmentation</a:t>
                      </a:r>
                    </a:p>
                  </a:txBody>
                  <a:tcPr anchor="ctr">
                    <a:solidFill>
                      <a:srgbClr val="F3ECF8"/>
                    </a:solidFill>
                  </a:tcPr>
                </a:tc>
                <a:tc>
                  <a:txBody>
                    <a:bodyPr/>
                    <a:lstStyle/>
                    <a:p>
                      <a:r>
                        <a:rPr sz="1600">
                          <a:solidFill>
                            <a:srgbClr val="222222"/>
                          </a:solidFill>
                          <a:latin typeface="Calibri"/>
                        </a:rPr>
                        <a:t>May be limited to network zones</a:t>
                      </a:r>
                    </a:p>
                  </a:txBody>
                  <a:tcPr anchor="ctr">
                    <a:solidFill>
                      <a:srgbClr val="F3ECF8"/>
                    </a:solidFill>
                  </a:tcPr>
                </a:tc>
                <a:tc>
                  <a:txBody>
                    <a:bodyPr/>
                    <a:lstStyle/>
                    <a:p>
                      <a:r>
                        <a:rPr sz="1600">
                          <a:solidFill>
                            <a:srgbClr val="222222"/>
                          </a:solidFill>
                          <a:latin typeface="Calibri"/>
                        </a:rPr>
                        <a:t>Can extend to individual resources</a:t>
                      </a:r>
                    </a:p>
                  </a:txBody>
                  <a:tcPr anchor="ctr">
                    <a:solidFill>
                      <a:srgbClr val="F3ECF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sz="3000" b="1" dirty="0">
                <a:latin typeface="+mj-lt"/>
              </a:rPr>
              <a:t>ZERO TRUST IMPLEMENTATION EXAMPLE</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98</a:t>
            </a:fld>
            <a:endParaRPr lang="en-US"/>
          </a:p>
        </p:txBody>
      </p:sp>
      <p:sp>
        <p:nvSpPr>
          <p:cNvPr id="5" name="TextBox 4"/>
          <p:cNvSpPr txBox="1"/>
          <p:nvPr/>
        </p:nvSpPr>
        <p:spPr>
          <a:xfrm>
            <a:off x="914400" y="1234440"/>
            <a:ext cx="10360152" cy="822960"/>
          </a:xfrm>
          <a:prstGeom prst="rect">
            <a:avLst/>
          </a:prstGeom>
          <a:noFill/>
        </p:spPr>
        <p:txBody>
          <a:bodyPr wrap="square">
            <a:spAutoFit/>
          </a:bodyPr>
          <a:lstStyle/>
          <a:p>
            <a:pPr>
              <a:spcAft>
                <a:spcPts val="600"/>
              </a:spcAft>
            </a:pPr>
            <a:r>
              <a:rPr sz="1800">
                <a:solidFill>
                  <a:srgbClr val="222222"/>
                </a:solidFill>
                <a:latin typeface="Calibri"/>
              </a:rPr>
              <a:t>A user requests access to an internal application.</a:t>
            </a:r>
          </a:p>
        </p:txBody>
      </p:sp>
      <p:sp>
        <p:nvSpPr>
          <p:cNvPr id="6" name="Rounded Rectangle 5"/>
          <p:cNvSpPr/>
          <p:nvPr/>
        </p:nvSpPr>
        <p:spPr>
          <a:xfrm>
            <a:off x="914400"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Request</a:t>
            </a:r>
          </a:p>
          <a:p>
            <a:pPr algn="ctr"/>
            <a:r>
              <a:rPr sz="1200">
                <a:solidFill>
                  <a:srgbClr val="F0E6F7"/>
                </a:solidFill>
                <a:latin typeface="Calibri"/>
              </a:rPr>
              <a:t>User asks for the app</a:t>
            </a:r>
          </a:p>
        </p:txBody>
      </p:sp>
      <p:sp>
        <p:nvSpPr>
          <p:cNvPr id="7" name="Right Arrow 6"/>
          <p:cNvSpPr/>
          <p:nvPr/>
        </p:nvSpPr>
        <p:spPr>
          <a:xfrm>
            <a:off x="2446020"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683764"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Identity + MFA</a:t>
            </a:r>
          </a:p>
          <a:p>
            <a:pPr algn="ctr"/>
            <a:r>
              <a:rPr sz="1200">
                <a:solidFill>
                  <a:srgbClr val="F0E6F7"/>
                </a:solidFill>
                <a:latin typeface="Calibri"/>
              </a:rPr>
              <a:t>Verified</a:t>
            </a:r>
          </a:p>
        </p:txBody>
      </p:sp>
      <p:sp>
        <p:nvSpPr>
          <p:cNvPr id="9" name="Right Arrow 8"/>
          <p:cNvSpPr/>
          <p:nvPr/>
        </p:nvSpPr>
        <p:spPr>
          <a:xfrm>
            <a:off x="4215384"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53128"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Device Check</a:t>
            </a:r>
          </a:p>
          <a:p>
            <a:pPr algn="ctr"/>
            <a:r>
              <a:rPr sz="1200">
                <a:solidFill>
                  <a:srgbClr val="F0E6F7"/>
                </a:solidFill>
                <a:latin typeface="Calibri"/>
              </a:rPr>
              <a:t>Compliant?</a:t>
            </a:r>
          </a:p>
        </p:txBody>
      </p:sp>
      <p:sp>
        <p:nvSpPr>
          <p:cNvPr id="11" name="Right Arrow 10"/>
          <p:cNvSpPr/>
          <p:nvPr/>
        </p:nvSpPr>
        <p:spPr>
          <a:xfrm>
            <a:off x="5984748"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222492"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Policy Evaluation</a:t>
            </a:r>
          </a:p>
          <a:p>
            <a:pPr algn="ctr"/>
            <a:r>
              <a:rPr sz="1200">
                <a:solidFill>
                  <a:srgbClr val="F0E6F7"/>
                </a:solidFill>
                <a:latin typeface="Calibri"/>
              </a:rPr>
              <a:t>Allowed?</a:t>
            </a:r>
          </a:p>
        </p:txBody>
      </p:sp>
      <p:sp>
        <p:nvSpPr>
          <p:cNvPr id="13" name="Right Arrow 12"/>
          <p:cNvSpPr/>
          <p:nvPr/>
        </p:nvSpPr>
        <p:spPr>
          <a:xfrm>
            <a:off x="7754112"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991856"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Least Access</a:t>
            </a:r>
          </a:p>
          <a:p>
            <a:pPr algn="ctr"/>
            <a:r>
              <a:rPr sz="1200">
                <a:solidFill>
                  <a:srgbClr val="F0E6F7"/>
                </a:solidFill>
                <a:latin typeface="Calibri"/>
              </a:rPr>
              <a:t>Only what is needed</a:t>
            </a:r>
          </a:p>
        </p:txBody>
      </p:sp>
      <p:sp>
        <p:nvSpPr>
          <p:cNvPr id="15" name="Right Arrow 14"/>
          <p:cNvSpPr/>
          <p:nvPr/>
        </p:nvSpPr>
        <p:spPr>
          <a:xfrm>
            <a:off x="9523476"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761220"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a:rPr>
              <a:t>Monitor</a:t>
            </a:r>
          </a:p>
          <a:p>
            <a:pPr algn="ctr"/>
            <a:r>
              <a:rPr sz="1200">
                <a:solidFill>
                  <a:srgbClr val="F0E6F7"/>
                </a:solidFill>
                <a:latin typeface="Calibri"/>
              </a:rPr>
              <a:t>Reassess if risk changes</a:t>
            </a:r>
          </a:p>
        </p:txBody>
      </p:sp>
      <p:sp>
        <p:nvSpPr>
          <p:cNvPr id="17" name="TextBox 16"/>
          <p:cNvSpPr txBox="1"/>
          <p:nvPr/>
        </p:nvSpPr>
        <p:spPr>
          <a:xfrm>
            <a:off x="914400" y="4023360"/>
            <a:ext cx="10360152" cy="1554480"/>
          </a:xfrm>
          <a:prstGeom prst="rect">
            <a:avLst/>
          </a:prstGeom>
          <a:noFill/>
        </p:spPr>
        <p:txBody>
          <a:bodyPr wrap="square">
            <a:spAutoFit/>
          </a:bodyPr>
          <a:lstStyle/>
          <a:p>
            <a:pPr>
              <a:spcAft>
                <a:spcPts val="600"/>
              </a:spcAft>
            </a:pPr>
            <a:r>
              <a:rPr sz="1700">
                <a:solidFill>
                  <a:srgbClr val="222222"/>
                </a:solidFill>
                <a:latin typeface="Calibri"/>
              </a:rPr>
              <a:t>•  If any check fails, access is denied or limited, for example a non-compliant device gets no access or read-only access.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Wireless LAN basics: </a:t>
            </a:r>
            <a:r>
              <a:rPr sz="2200" b="0">
                <a:latin typeface="Calibri"/>
              </a:rPr>
              <a:t>devices connect to the network by radio through access points (APs).</a:t>
            </a:r>
          </a:p>
          <a:p>
            <a:pPr>
              <a:spcAft>
                <a:spcPts val="500"/>
              </a:spcAft>
            </a:pPr>
            <a:r>
              <a:rPr sz="2200" b="1">
                <a:latin typeface="Calibri"/>
              </a:rPr>
              <a:t>SSID: </a:t>
            </a:r>
            <a:r>
              <a:rPr sz="2200" b="0">
                <a:latin typeface="Calibri"/>
              </a:rPr>
              <a:t>the network name broadcast by an AP; hiding it is not real security.</a:t>
            </a:r>
          </a:p>
          <a:p>
            <a:pPr>
              <a:spcAft>
                <a:spcPts val="500"/>
              </a:spcAft>
            </a:pPr>
            <a:r>
              <a:rPr sz="2200" b="1">
                <a:latin typeface="Calibri"/>
              </a:rPr>
              <a:t>Authentication and encryption: </a:t>
            </a:r>
            <a:r>
              <a:rPr sz="2200" b="0">
                <a:latin typeface="Calibri"/>
              </a:rPr>
              <a:t>authentication proves who may join; encryption protects data over the air.</a:t>
            </a:r>
          </a:p>
          <a:p>
            <a:pPr>
              <a:spcAft>
                <a:spcPts val="500"/>
              </a:spcAft>
            </a:pPr>
            <a:r>
              <a:rPr sz="2200" b="1">
                <a:latin typeface="Calibri"/>
              </a:rPr>
              <a:t>Common Wi-Fi risks: </a:t>
            </a:r>
            <a:r>
              <a:rPr sz="2200" b="0">
                <a:latin typeface="Calibri"/>
              </a:rPr>
              <a:t>weak or shared passwords, open networks, rogue access points, eavesdropping, evil twins and deauthentication attacks.</a:t>
            </a:r>
          </a:p>
        </p:txBody>
      </p:sp>
      <p:sp>
        <p:nvSpPr>
          <p:cNvPr id="3" name="Title 2"/>
          <p:cNvSpPr>
            <a:spLocks noGrp="1"/>
          </p:cNvSpPr>
          <p:nvPr>
            <p:ph type="title"/>
          </p:nvPr>
        </p:nvSpPr>
        <p:spPr/>
        <p:txBody>
          <a:bodyPr/>
          <a:lstStyle/>
          <a:p>
            <a:pPr algn="ctr"/>
            <a:r>
              <a:rPr sz="3000" b="1" dirty="0">
                <a:latin typeface="+mj-lt"/>
              </a:rPr>
              <a:t>INTRODUCTION TO WIRELESS SECURITY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WPA2-Personal (PSK): </a:t>
            </a:r>
            <a:r>
              <a:rPr sz="2200" b="0">
                <a:latin typeface="Calibri"/>
              </a:rPr>
              <a:t>one shared passphrase for everyone; common at home and small offices.</a:t>
            </a:r>
          </a:p>
          <a:p>
            <a:pPr>
              <a:spcAft>
                <a:spcPts val="500"/>
              </a:spcAft>
            </a:pPr>
            <a:r>
              <a:rPr sz="2200" b="1">
                <a:latin typeface="Calibri"/>
              </a:rPr>
              <a:t>WPA2-Enterprise (802.1X): </a:t>
            </a:r>
            <a:r>
              <a:rPr sz="2200" b="0">
                <a:latin typeface="Calibri"/>
              </a:rPr>
              <a:t>each user logs in with their own credentials via a RADIUS server (EAP).</a:t>
            </a:r>
          </a:p>
          <a:p>
            <a:pPr>
              <a:spcAft>
                <a:spcPts val="500"/>
              </a:spcAft>
            </a:pPr>
            <a:r>
              <a:rPr sz="2200" b="1">
                <a:latin typeface="Calibri"/>
              </a:rPr>
              <a:t>AES-CCMP: </a:t>
            </a:r>
            <a:r>
              <a:rPr sz="2200" b="0">
                <a:latin typeface="Calibri"/>
              </a:rPr>
              <a:t>the strong encryption and integrity method used by WPA2.</a:t>
            </a:r>
          </a:p>
          <a:p>
            <a:pPr>
              <a:spcAft>
                <a:spcPts val="500"/>
              </a:spcAft>
            </a:pPr>
            <a:r>
              <a:rPr sz="2200" b="1">
                <a:latin typeface="Calibri"/>
              </a:rPr>
              <a:t>Authentication and encryption: </a:t>
            </a:r>
            <a:r>
              <a:rPr sz="2200" b="0">
                <a:latin typeface="Calibri"/>
              </a:rPr>
              <a:t>a 4-way handshake creates the session keys.</a:t>
            </a:r>
          </a:p>
          <a:p>
            <a:pPr>
              <a:spcAft>
                <a:spcPts val="500"/>
              </a:spcAft>
            </a:pPr>
            <a:r>
              <a:rPr sz="2200" b="1">
                <a:latin typeface="Calibri"/>
              </a:rPr>
              <a:t>Security limitations: </a:t>
            </a:r>
            <a:r>
              <a:rPr sz="2200" b="0">
                <a:latin typeface="Calibri"/>
              </a:rPr>
              <a:t>a captured handshake can be attacked offline to guess weak passphrases; management frames are unprotected by default; KRACK weakness.</a:t>
            </a:r>
          </a:p>
        </p:txBody>
      </p:sp>
      <p:sp>
        <p:nvSpPr>
          <p:cNvPr id="3" name="Title 2"/>
          <p:cNvSpPr>
            <a:spLocks noGrp="1"/>
          </p:cNvSpPr>
          <p:nvPr>
            <p:ph type="title"/>
          </p:nvPr>
        </p:nvSpPr>
        <p:spPr/>
        <p:txBody>
          <a:bodyPr/>
          <a:lstStyle/>
          <a:p>
            <a:pPr algn="ctr"/>
            <a:r>
              <a:rPr sz="3000" b="1" dirty="0">
                <a:latin typeface="+mj-lt"/>
              </a:rPr>
              <a:t>WPA2 SECURITY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200" b="1">
                <a:latin typeface="Calibri"/>
              </a:rPr>
              <a:t>WPA3-Personal: </a:t>
            </a:r>
            <a:r>
              <a:rPr sz="2200" b="0">
                <a:latin typeface="Calibri"/>
              </a:rPr>
              <a:t>replaces the shared-key handshake with a stronger method.</a:t>
            </a:r>
          </a:p>
          <a:p>
            <a:pPr>
              <a:spcAft>
                <a:spcPts val="500"/>
              </a:spcAft>
            </a:pPr>
            <a:r>
              <a:rPr sz="2200" b="1">
                <a:latin typeface="Calibri"/>
              </a:rPr>
              <a:t>SAE (Simultaneous Authentication of Equals): </a:t>
            </a:r>
            <a:r>
              <a:rPr sz="2200" b="0">
                <a:latin typeface="Calibri"/>
              </a:rPr>
              <a:t>a password-based key exchange where each session key is unique.</a:t>
            </a:r>
          </a:p>
          <a:p>
            <a:pPr>
              <a:spcAft>
                <a:spcPts val="500"/>
              </a:spcAft>
            </a:pPr>
            <a:r>
              <a:rPr sz="2200" b="1">
                <a:latin typeface="Calibri"/>
              </a:rPr>
              <a:t>Protection against offline guessing: </a:t>
            </a:r>
            <a:r>
              <a:rPr sz="2200" b="0">
                <a:latin typeface="Calibri"/>
              </a:rPr>
              <a:t>a captured handshake cannot be attacked offline, and online guesses are limited.</a:t>
            </a:r>
          </a:p>
          <a:p>
            <a:pPr>
              <a:spcAft>
                <a:spcPts val="500"/>
              </a:spcAft>
            </a:pPr>
            <a:r>
              <a:rPr sz="2200" b="1">
                <a:latin typeface="Calibri"/>
              </a:rPr>
              <a:t>Protected Management Frames (PMF): </a:t>
            </a:r>
            <a:r>
              <a:rPr sz="2200" b="0">
                <a:latin typeface="Calibri"/>
              </a:rPr>
              <a:t>protect management frames such as deauthentication.</a:t>
            </a:r>
          </a:p>
          <a:p>
            <a:pPr>
              <a:spcAft>
                <a:spcPts val="500"/>
              </a:spcAft>
            </a:pPr>
            <a:r>
              <a:rPr sz="2200" b="1">
                <a:latin typeface="Calibri"/>
              </a:rPr>
              <a:t>WPA3-Enterprise: </a:t>
            </a:r>
            <a:r>
              <a:rPr sz="2200" b="0">
                <a:latin typeface="Calibri"/>
              </a:rPr>
              <a:t>stronger cryptography, with an optional 192-bit security mode.</a:t>
            </a:r>
          </a:p>
        </p:txBody>
      </p:sp>
      <p:sp>
        <p:nvSpPr>
          <p:cNvPr id="3" name="Title 2"/>
          <p:cNvSpPr>
            <a:spLocks noGrp="1"/>
          </p:cNvSpPr>
          <p:nvPr>
            <p:ph type="title"/>
          </p:nvPr>
        </p:nvSpPr>
        <p:spPr/>
        <p:txBody>
          <a:bodyPr/>
          <a:lstStyle/>
          <a:p>
            <a:pPr algn="ctr"/>
            <a:r>
              <a:rPr sz="3000" b="1" dirty="0">
                <a:latin typeface="+mj-lt"/>
              </a:rPr>
              <a:t>WPA3 SECURITY</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WPA2 VS WPA3</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102</a:t>
            </a:fld>
            <a:endParaRPr lang="en-US"/>
          </a:p>
        </p:txBody>
      </p:sp>
      <p:sp>
        <p:nvSpPr>
          <p:cNvPr id="5" name="TextBox 4"/>
          <p:cNvSpPr txBox="1"/>
          <p:nvPr/>
        </p:nvSpPr>
        <p:spPr>
          <a:xfrm>
            <a:off x="914400" y="1188720"/>
            <a:ext cx="10360152" cy="640080"/>
          </a:xfrm>
          <a:prstGeom prst="rect">
            <a:avLst/>
          </a:prstGeom>
          <a:noFill/>
        </p:spPr>
        <p:txBody>
          <a:bodyPr wrap="square">
            <a:spAutoFit/>
          </a:bodyPr>
          <a:lstStyle/>
          <a:p>
            <a:pPr>
              <a:spcAft>
                <a:spcPts val="600"/>
              </a:spcAft>
            </a:pPr>
            <a:r>
              <a:rPr sz="1800">
                <a:solidFill>
                  <a:srgbClr val="222222"/>
                </a:solidFill>
                <a:latin typeface="Calibri"/>
              </a:rPr>
              <a:t>WPA3 improves password protection and management frame security.</a:t>
            </a:r>
          </a:p>
        </p:txBody>
      </p:sp>
      <p:graphicFrame>
        <p:nvGraphicFramePr>
          <p:cNvPr id="6" name="Table 5"/>
          <p:cNvGraphicFramePr>
            <a:graphicFrameLocks noGrp="1"/>
          </p:cNvGraphicFramePr>
          <p:nvPr/>
        </p:nvGraphicFramePr>
        <p:xfrm>
          <a:off x="914400" y="1874519"/>
          <a:ext cx="10360150" cy="2819400"/>
        </p:xfrm>
        <a:graphic>
          <a:graphicData uri="http://schemas.openxmlformats.org/drawingml/2006/table">
            <a:tbl>
              <a:tblPr>
                <a:tableStyleId>{5C22544A-7EE6-4342-B048-85BDC9FD1C3A}</a:tableStyleId>
              </a:tblPr>
              <a:tblGrid>
                <a:gridCol w="2072030">
                  <a:extLst>
                    <a:ext uri="{9D8B030D-6E8A-4147-A177-3AD203B41FA5}">
                      <a16:colId xmlns:a16="http://schemas.microsoft.com/office/drawing/2014/main" val="20000"/>
                    </a:ext>
                  </a:extLst>
                </a:gridCol>
                <a:gridCol w="3936857">
                  <a:extLst>
                    <a:ext uri="{9D8B030D-6E8A-4147-A177-3AD203B41FA5}">
                      <a16:colId xmlns:a16="http://schemas.microsoft.com/office/drawing/2014/main" val="20001"/>
                    </a:ext>
                  </a:extLst>
                </a:gridCol>
                <a:gridCol w="4351263">
                  <a:extLst>
                    <a:ext uri="{9D8B030D-6E8A-4147-A177-3AD203B41FA5}">
                      <a16:colId xmlns:a16="http://schemas.microsoft.com/office/drawing/2014/main" val="20002"/>
                    </a:ext>
                  </a:extLst>
                </a:gridCol>
              </a:tblGrid>
              <a:tr h="502920">
                <a:tc>
                  <a:txBody>
                    <a:bodyPr/>
                    <a:lstStyle/>
                    <a:p>
                      <a:r>
                        <a:rPr sz="1600" b="1">
                          <a:solidFill>
                            <a:srgbClr val="FFFFFF"/>
                          </a:solidFill>
                          <a:latin typeface="Calibri"/>
                        </a:rPr>
                        <a:t>Feature</a:t>
                      </a:r>
                    </a:p>
                  </a:txBody>
                  <a:tcPr anchor="ctr">
                    <a:solidFill>
                      <a:srgbClr val="5E2A84"/>
                    </a:solidFill>
                  </a:tcPr>
                </a:tc>
                <a:tc>
                  <a:txBody>
                    <a:bodyPr/>
                    <a:lstStyle/>
                    <a:p>
                      <a:r>
                        <a:rPr sz="1600" b="1">
                          <a:solidFill>
                            <a:srgbClr val="FFFFFF"/>
                          </a:solidFill>
                          <a:latin typeface="Calibri"/>
                        </a:rPr>
                        <a:t>WPA2</a:t>
                      </a:r>
                    </a:p>
                  </a:txBody>
                  <a:tcPr anchor="ctr">
                    <a:solidFill>
                      <a:srgbClr val="5E2A84"/>
                    </a:solidFill>
                  </a:tcPr>
                </a:tc>
                <a:tc>
                  <a:txBody>
                    <a:bodyPr/>
                    <a:lstStyle/>
                    <a:p>
                      <a:r>
                        <a:rPr sz="1600" b="1">
                          <a:solidFill>
                            <a:srgbClr val="FFFFFF"/>
                          </a:solidFill>
                          <a:latin typeface="Calibri"/>
                        </a:rPr>
                        <a:t>WPA3</a:t>
                      </a:r>
                    </a:p>
                  </a:txBody>
                  <a:tcPr anchor="ctr">
                    <a:solidFill>
                      <a:srgbClr val="5E2A84"/>
                    </a:solidFill>
                  </a:tcPr>
                </a:tc>
                <a:extLst>
                  <a:ext uri="{0D108BD9-81ED-4DB2-BD59-A6C34878D82A}">
                    <a16:rowId xmlns:a16="http://schemas.microsoft.com/office/drawing/2014/main" val="10000"/>
                  </a:ext>
                </a:extLst>
              </a:tr>
              <a:tr h="502920">
                <a:tc>
                  <a:txBody>
                    <a:bodyPr/>
                    <a:lstStyle/>
                    <a:p>
                      <a:r>
                        <a:rPr sz="1600" b="1">
                          <a:solidFill>
                            <a:srgbClr val="222222"/>
                          </a:solidFill>
                          <a:latin typeface="Calibri"/>
                        </a:rPr>
                        <a:t>Personal authentication</a:t>
                      </a:r>
                    </a:p>
                  </a:txBody>
                  <a:tcPr anchor="ctr">
                    <a:solidFill>
                      <a:srgbClr val="F3ECF8"/>
                    </a:solidFill>
                  </a:tcPr>
                </a:tc>
                <a:tc>
                  <a:txBody>
                    <a:bodyPr/>
                    <a:lstStyle/>
                    <a:p>
                      <a:r>
                        <a:rPr sz="1600">
                          <a:solidFill>
                            <a:srgbClr val="222222"/>
                          </a:solidFill>
                          <a:latin typeface="Calibri"/>
                        </a:rPr>
                        <a:t>Commonly pre-shared key</a:t>
                      </a:r>
                    </a:p>
                  </a:txBody>
                  <a:tcPr anchor="ctr">
                    <a:solidFill>
                      <a:srgbClr val="F3ECF8"/>
                    </a:solidFill>
                  </a:tcPr>
                </a:tc>
                <a:tc>
                  <a:txBody>
                    <a:bodyPr/>
                    <a:lstStyle/>
                    <a:p>
                      <a:r>
                        <a:rPr sz="1600">
                          <a:solidFill>
                            <a:srgbClr val="222222"/>
                          </a:solidFill>
                          <a:latin typeface="Calibri"/>
                        </a:rPr>
                        <a:t>SAE</a:t>
                      </a:r>
                    </a:p>
                  </a:txBody>
                  <a:tcPr anchor="ctr">
                    <a:solidFill>
                      <a:srgbClr val="F3ECF8"/>
                    </a:solidFill>
                  </a:tcPr>
                </a:tc>
                <a:extLst>
                  <a:ext uri="{0D108BD9-81ED-4DB2-BD59-A6C34878D82A}">
                    <a16:rowId xmlns:a16="http://schemas.microsoft.com/office/drawing/2014/main" val="10001"/>
                  </a:ext>
                </a:extLst>
              </a:tr>
              <a:tr h="502920">
                <a:tc>
                  <a:txBody>
                    <a:bodyPr/>
                    <a:lstStyle/>
                    <a:p>
                      <a:r>
                        <a:rPr sz="1600" b="1">
                          <a:solidFill>
                            <a:srgbClr val="222222"/>
                          </a:solidFill>
                          <a:latin typeface="Calibri"/>
                        </a:rPr>
                        <a:t>Password-guessing protection</a:t>
                      </a:r>
                    </a:p>
                  </a:txBody>
                  <a:tcPr anchor="ctr">
                    <a:solidFill>
                      <a:srgbClr val="FFFFFF"/>
                    </a:solidFill>
                  </a:tcPr>
                </a:tc>
                <a:tc>
                  <a:txBody>
                    <a:bodyPr/>
                    <a:lstStyle/>
                    <a:p>
                      <a:r>
                        <a:rPr sz="1600">
                          <a:solidFill>
                            <a:srgbClr val="222222"/>
                          </a:solidFill>
                          <a:latin typeface="Calibri"/>
                        </a:rPr>
                        <a:t>Depends on configuration and attack conditions</a:t>
                      </a:r>
                    </a:p>
                  </a:txBody>
                  <a:tcPr anchor="ctr">
                    <a:solidFill>
                      <a:srgbClr val="FFFFFF"/>
                    </a:solidFill>
                  </a:tcPr>
                </a:tc>
                <a:tc>
                  <a:txBody>
                    <a:bodyPr/>
                    <a:lstStyle/>
                    <a:p>
                      <a:r>
                        <a:rPr sz="1600">
                          <a:solidFill>
                            <a:srgbClr val="222222"/>
                          </a:solidFill>
                          <a:latin typeface="Calibri"/>
                        </a:rPr>
                        <a:t>Improved resistance to offline guessing</a:t>
                      </a:r>
                    </a:p>
                  </a:txBody>
                  <a:tcPr anchor="ctr">
                    <a:solidFill>
                      <a:srgbClr val="FFFFFF"/>
                    </a:solidFill>
                  </a:tcPr>
                </a:tc>
                <a:extLst>
                  <a:ext uri="{0D108BD9-81ED-4DB2-BD59-A6C34878D82A}">
                    <a16:rowId xmlns:a16="http://schemas.microsoft.com/office/drawing/2014/main" val="10002"/>
                  </a:ext>
                </a:extLst>
              </a:tr>
              <a:tr h="502920">
                <a:tc>
                  <a:txBody>
                    <a:bodyPr/>
                    <a:lstStyle/>
                    <a:p>
                      <a:r>
                        <a:rPr sz="1600" b="1">
                          <a:solidFill>
                            <a:srgbClr val="222222"/>
                          </a:solidFill>
                          <a:latin typeface="Calibri"/>
                        </a:rPr>
                        <a:t>Management-frame protection</a:t>
                      </a:r>
                    </a:p>
                  </a:txBody>
                  <a:tcPr anchor="ctr">
                    <a:solidFill>
                      <a:srgbClr val="F3ECF8"/>
                    </a:solidFill>
                  </a:tcPr>
                </a:tc>
                <a:tc>
                  <a:txBody>
                    <a:bodyPr/>
                    <a:lstStyle/>
                    <a:p>
                      <a:r>
                        <a:rPr sz="1600">
                          <a:solidFill>
                            <a:srgbClr val="222222"/>
                          </a:solidFill>
                          <a:latin typeface="Calibri"/>
                        </a:rPr>
                        <a:t>Optional in many deployments</a:t>
                      </a:r>
                    </a:p>
                  </a:txBody>
                  <a:tcPr anchor="ctr">
                    <a:solidFill>
                      <a:srgbClr val="F3ECF8"/>
                    </a:solidFill>
                  </a:tcPr>
                </a:tc>
                <a:tc>
                  <a:txBody>
                    <a:bodyPr/>
                    <a:lstStyle/>
                    <a:p>
                      <a:r>
                        <a:rPr sz="1600">
                          <a:solidFill>
                            <a:srgbClr val="222222"/>
                          </a:solidFill>
                          <a:latin typeface="Calibri"/>
                        </a:rPr>
                        <a:t>Required for WPA3 certification</a:t>
                      </a:r>
                    </a:p>
                  </a:txBody>
                  <a:tcPr anchor="ctr">
                    <a:solidFill>
                      <a:srgbClr val="F3ECF8"/>
                    </a:solidFill>
                  </a:tcPr>
                </a:tc>
                <a:extLst>
                  <a:ext uri="{0D108BD9-81ED-4DB2-BD59-A6C34878D82A}">
                    <a16:rowId xmlns:a16="http://schemas.microsoft.com/office/drawing/2014/main" val="10003"/>
                  </a:ext>
                </a:extLst>
              </a:tr>
              <a:tr h="502920">
                <a:tc>
                  <a:txBody>
                    <a:bodyPr/>
                    <a:lstStyle/>
                    <a:p>
                      <a:r>
                        <a:rPr sz="1600" b="1">
                          <a:solidFill>
                            <a:srgbClr val="222222"/>
                          </a:solidFill>
                          <a:latin typeface="Calibri"/>
                        </a:rPr>
                        <a:t>Security</a:t>
                      </a:r>
                    </a:p>
                  </a:txBody>
                  <a:tcPr anchor="ctr">
                    <a:solidFill>
                      <a:srgbClr val="FFFFFF"/>
                    </a:solidFill>
                  </a:tcPr>
                </a:tc>
                <a:tc>
                  <a:txBody>
                    <a:bodyPr/>
                    <a:lstStyle/>
                    <a:p>
                      <a:r>
                        <a:rPr sz="1600">
                          <a:solidFill>
                            <a:srgbClr val="222222"/>
                          </a:solidFill>
                          <a:latin typeface="Calibri"/>
                        </a:rPr>
                        <a:t>Strong when configured properly</a:t>
                      </a:r>
                    </a:p>
                  </a:txBody>
                  <a:tcPr anchor="ctr">
                    <a:solidFill>
                      <a:srgbClr val="FFFFFF"/>
                    </a:solidFill>
                  </a:tcPr>
                </a:tc>
                <a:tc>
                  <a:txBody>
                    <a:bodyPr/>
                    <a:lstStyle/>
                    <a:p>
                      <a:r>
                        <a:rPr sz="1600">
                          <a:solidFill>
                            <a:srgbClr val="222222"/>
                          </a:solidFill>
                          <a:latin typeface="Calibri"/>
                        </a:rPr>
                        <a:t>Stronger when supported and correctly configured</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000" b="1" dirty="0">
                <a:latin typeface="Calibri"/>
              </a:rPr>
              <a:t>What is an evil twin? </a:t>
            </a:r>
            <a:r>
              <a:rPr sz="2000" b="0" dirty="0">
                <a:latin typeface="Calibri"/>
              </a:rPr>
              <a:t>a fake access point that copies the name of a real one so users connect to it.</a:t>
            </a:r>
          </a:p>
          <a:p>
            <a:pPr>
              <a:spcAft>
                <a:spcPts val="500"/>
              </a:spcAft>
            </a:pPr>
            <a:r>
              <a:rPr sz="2000" b="1" dirty="0">
                <a:latin typeface="Calibri"/>
              </a:rPr>
              <a:t>Rogue access points: </a:t>
            </a:r>
            <a:r>
              <a:rPr sz="2000" b="0" dirty="0" err="1">
                <a:latin typeface="Calibri"/>
              </a:rPr>
              <a:t>unauthorised</a:t>
            </a:r>
            <a:r>
              <a:rPr sz="2000" b="0" dirty="0">
                <a:latin typeface="Calibri"/>
              </a:rPr>
              <a:t> APs, either attacker-owned or plugged in by staff.</a:t>
            </a:r>
          </a:p>
          <a:p>
            <a:pPr>
              <a:spcAft>
                <a:spcPts val="500"/>
              </a:spcAft>
            </a:pPr>
            <a:r>
              <a:rPr sz="2000" b="1" dirty="0">
                <a:latin typeface="Calibri"/>
              </a:rPr>
              <a:t>Fake Wi-Fi hotspots: </a:t>
            </a:r>
            <a:r>
              <a:rPr sz="2000" b="0" dirty="0">
                <a:latin typeface="Calibri"/>
              </a:rPr>
              <a:t>free-Wi-Fi look-alikes in cafes, airports and hotels.</a:t>
            </a:r>
          </a:p>
          <a:p>
            <a:pPr>
              <a:spcAft>
                <a:spcPts val="500"/>
              </a:spcAft>
            </a:pPr>
            <a:r>
              <a:rPr sz="2000" b="1" dirty="0">
                <a:latin typeface="Calibri"/>
              </a:rPr>
              <a:t>Credential theft and traffic interception: </a:t>
            </a:r>
            <a:r>
              <a:rPr sz="2000" b="0" dirty="0">
                <a:latin typeface="Calibri"/>
              </a:rPr>
              <a:t>the attacker sees traffic or shows a fake login page.</a:t>
            </a:r>
          </a:p>
          <a:p>
            <a:pPr>
              <a:spcAft>
                <a:spcPts val="500"/>
              </a:spcAft>
            </a:pPr>
            <a:r>
              <a:rPr sz="2000" b="1" dirty="0">
                <a:latin typeface="Calibri"/>
              </a:rPr>
              <a:t>Detection: </a:t>
            </a:r>
            <a:r>
              <a:rPr sz="2000" b="0" dirty="0">
                <a:latin typeface="Calibri"/>
              </a:rPr>
              <a:t>wireless IDS / controller alerts on duplicate SSIDs, unknown BSSIDs and signal anomalies.</a:t>
            </a:r>
          </a:p>
          <a:p>
            <a:pPr>
              <a:spcAft>
                <a:spcPts val="500"/>
              </a:spcAft>
            </a:pPr>
            <a:r>
              <a:rPr sz="2000" b="1" dirty="0">
                <a:latin typeface="Calibri"/>
              </a:rPr>
              <a:t>Prevention: </a:t>
            </a:r>
            <a:r>
              <a:rPr sz="2000" b="0" dirty="0">
                <a:latin typeface="Calibri"/>
              </a:rPr>
              <a:t>WPA2/WPA3-Enterprise with certificate validation, VPN on public Wi-Fi, HTTPS, user awareness.</a:t>
            </a:r>
          </a:p>
        </p:txBody>
      </p:sp>
      <p:sp>
        <p:nvSpPr>
          <p:cNvPr id="3" name="Title 2"/>
          <p:cNvSpPr>
            <a:spLocks noGrp="1"/>
          </p:cNvSpPr>
          <p:nvPr>
            <p:ph type="title"/>
          </p:nvPr>
        </p:nvSpPr>
        <p:spPr/>
        <p:txBody>
          <a:bodyPr/>
          <a:lstStyle/>
          <a:p>
            <a:pPr algn="ctr"/>
            <a:r>
              <a:rPr sz="3000" b="1" dirty="0">
                <a:latin typeface="+mj-lt"/>
              </a:rPr>
              <a:t>EVIL TWIN ATTACKS</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000" b="1">
                <a:latin typeface="Calibri"/>
              </a:rPr>
              <a:t>Purpose of deauthentication frames: </a:t>
            </a:r>
            <a:r>
              <a:rPr sz="2000" b="0">
                <a:latin typeface="Calibri"/>
              </a:rPr>
              <a:t>normally tell a client to disconnect from an AP.</a:t>
            </a:r>
          </a:p>
          <a:p>
            <a:pPr>
              <a:spcAft>
                <a:spcPts val="500"/>
              </a:spcAft>
            </a:pPr>
            <a:r>
              <a:rPr sz="2000" b="1">
                <a:latin typeface="Calibri"/>
              </a:rPr>
              <a:t>Attack: </a:t>
            </a:r>
            <a:r>
              <a:rPr sz="2000" b="0">
                <a:latin typeface="Calibri"/>
              </a:rPr>
              <a:t>in older Wi-Fi, these frames are unauthenticated, so an attacker can forge them.</a:t>
            </a:r>
          </a:p>
          <a:p>
            <a:pPr>
              <a:spcAft>
                <a:spcPts val="500"/>
              </a:spcAft>
            </a:pPr>
            <a:r>
              <a:rPr sz="2000" b="1">
                <a:latin typeface="Calibri"/>
              </a:rPr>
              <a:t>Disconnecting wireless clients: </a:t>
            </a:r>
            <a:r>
              <a:rPr sz="2000" b="0">
                <a:latin typeface="Calibri"/>
              </a:rPr>
              <a:t>forced to leave repeatedly, causing denial of service.</a:t>
            </a:r>
          </a:p>
          <a:p>
            <a:pPr>
              <a:spcAft>
                <a:spcPts val="500"/>
              </a:spcAft>
            </a:pPr>
            <a:r>
              <a:rPr sz="2000" b="1">
                <a:latin typeface="Calibri"/>
              </a:rPr>
              <a:t>Rogue-network scenarios: </a:t>
            </a:r>
            <a:r>
              <a:rPr sz="2000" b="0">
                <a:latin typeface="Calibri"/>
              </a:rPr>
              <a:t>clients reconnect to an evil twin, or the handshake is captured for cracking.</a:t>
            </a:r>
          </a:p>
          <a:p>
            <a:pPr>
              <a:spcAft>
                <a:spcPts val="500"/>
              </a:spcAft>
            </a:pPr>
            <a:r>
              <a:rPr sz="2000" b="1">
                <a:latin typeface="Calibri"/>
              </a:rPr>
              <a:t>Role of PMF: </a:t>
            </a:r>
            <a:r>
              <a:rPr sz="2000" b="0">
                <a:latin typeface="Calibri"/>
              </a:rPr>
              <a:t>Protected Management Frames make forged deauthentication frames ineffective.</a:t>
            </a:r>
          </a:p>
          <a:p>
            <a:pPr>
              <a:spcAft>
                <a:spcPts val="500"/>
              </a:spcAft>
            </a:pPr>
            <a:r>
              <a:rPr sz="2000" b="1">
                <a:latin typeface="Calibri"/>
              </a:rPr>
              <a:t>Defensive monitoring: </a:t>
            </a:r>
            <a:r>
              <a:rPr sz="2000" b="0">
                <a:latin typeface="Calibri"/>
              </a:rPr>
              <a:t>wireless IDS detects bursts of deauth frames.</a:t>
            </a:r>
          </a:p>
        </p:txBody>
      </p:sp>
      <p:sp>
        <p:nvSpPr>
          <p:cNvPr id="3" name="Title 2"/>
          <p:cNvSpPr>
            <a:spLocks noGrp="1"/>
          </p:cNvSpPr>
          <p:nvPr>
            <p:ph type="title"/>
          </p:nvPr>
        </p:nvSpPr>
        <p:spPr/>
        <p:txBody>
          <a:bodyPr/>
          <a:lstStyle/>
          <a:p>
            <a:pPr algn="ctr"/>
            <a:r>
              <a:rPr sz="3000" b="1" dirty="0">
                <a:latin typeface="+mj-lt"/>
              </a:rPr>
              <a:t>DEAUTHENTICATION ATTACKS</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rPr>
              <a:t>KRACK ATTACK CONCEPT</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105</a:t>
            </a:fld>
            <a:endParaRPr lang="en-US"/>
          </a:p>
        </p:txBody>
      </p:sp>
      <p:sp>
        <p:nvSpPr>
          <p:cNvPr id="5" name="TextBox 4"/>
          <p:cNvSpPr txBox="1"/>
          <p:nvPr/>
        </p:nvSpPr>
        <p:spPr>
          <a:xfrm>
            <a:off x="914400" y="1234440"/>
            <a:ext cx="10360152" cy="822960"/>
          </a:xfrm>
          <a:prstGeom prst="rect">
            <a:avLst/>
          </a:prstGeom>
          <a:noFill/>
        </p:spPr>
        <p:txBody>
          <a:bodyPr wrap="square">
            <a:spAutoFit/>
          </a:bodyPr>
          <a:lstStyle/>
          <a:p>
            <a:pPr>
              <a:spcAft>
                <a:spcPts val="600"/>
              </a:spcAft>
            </a:pPr>
            <a:r>
              <a:rPr sz="1800" dirty="0">
                <a:solidFill>
                  <a:srgbClr val="222222"/>
                </a:solidFill>
                <a:latin typeface="Calibri"/>
              </a:rPr>
              <a:t>KRACK (Key Reinstallation Attack, 2017) targets the WPA2 4-way handshake.</a:t>
            </a:r>
          </a:p>
        </p:txBody>
      </p:sp>
      <p:sp>
        <p:nvSpPr>
          <p:cNvPr id="6" name="Rounded Rectangle 5"/>
          <p:cNvSpPr/>
          <p:nvPr/>
        </p:nvSpPr>
        <p:spPr>
          <a:xfrm>
            <a:off x="914400"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4-Way Handshake</a:t>
            </a:r>
          </a:p>
          <a:p>
            <a:pPr algn="ctr"/>
            <a:r>
              <a:rPr sz="1300">
                <a:solidFill>
                  <a:srgbClr val="F0E6F7"/>
                </a:solidFill>
                <a:latin typeface="Calibri"/>
              </a:rPr>
              <a:t>Client and AP agree keys</a:t>
            </a:r>
          </a:p>
        </p:txBody>
      </p:sp>
      <p:sp>
        <p:nvSpPr>
          <p:cNvPr id="7" name="Right Arrow 6"/>
          <p:cNvSpPr/>
          <p:nvPr/>
        </p:nvSpPr>
        <p:spPr>
          <a:xfrm>
            <a:off x="2799892"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37636" y="2331720"/>
            <a:ext cx="186720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Message 3 Replayed</a:t>
            </a:r>
          </a:p>
          <a:p>
            <a:pPr algn="ctr"/>
            <a:r>
              <a:rPr sz="1300">
                <a:solidFill>
                  <a:srgbClr val="F0E6F7"/>
                </a:solidFill>
                <a:latin typeface="Calibri"/>
              </a:rPr>
              <a:t>Attacker resends it</a:t>
            </a:r>
          </a:p>
        </p:txBody>
      </p:sp>
      <p:sp>
        <p:nvSpPr>
          <p:cNvPr id="9" name="Right Arrow 8"/>
          <p:cNvSpPr/>
          <p:nvPr/>
        </p:nvSpPr>
        <p:spPr>
          <a:xfrm>
            <a:off x="4923128"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0872"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Key Reinstalled</a:t>
            </a:r>
          </a:p>
          <a:p>
            <a:pPr algn="ctr"/>
            <a:r>
              <a:rPr sz="1300">
                <a:solidFill>
                  <a:srgbClr val="F0E6F7"/>
                </a:solidFill>
                <a:latin typeface="Calibri"/>
              </a:rPr>
              <a:t>Nonce counter reset</a:t>
            </a:r>
          </a:p>
        </p:txBody>
      </p:sp>
      <p:sp>
        <p:nvSpPr>
          <p:cNvPr id="11" name="Right Arrow 10"/>
          <p:cNvSpPr/>
          <p:nvPr/>
        </p:nvSpPr>
        <p:spPr>
          <a:xfrm>
            <a:off x="7046364"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284108" y="2331720"/>
            <a:ext cx="1867204"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Keystream Reused</a:t>
            </a:r>
          </a:p>
          <a:p>
            <a:pPr algn="ctr"/>
            <a:r>
              <a:rPr sz="1300">
                <a:solidFill>
                  <a:srgbClr val="F0E6F7"/>
                </a:solidFill>
                <a:latin typeface="Calibri"/>
              </a:rPr>
              <a:t>Encryption weakened</a:t>
            </a:r>
          </a:p>
        </p:txBody>
      </p:sp>
      <p:sp>
        <p:nvSpPr>
          <p:cNvPr id="13" name="Right Arrow 12"/>
          <p:cNvSpPr/>
          <p:nvPr/>
        </p:nvSpPr>
        <p:spPr>
          <a:xfrm>
            <a:off x="9169600"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407344" y="2331720"/>
            <a:ext cx="1867204"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600" b="1">
                <a:solidFill>
                  <a:srgbClr val="FFFFFF"/>
                </a:solidFill>
                <a:latin typeface="Calibri"/>
              </a:rPr>
              <a:t>Traffic Exposed</a:t>
            </a:r>
          </a:p>
          <a:p>
            <a:pPr algn="ctr"/>
            <a:r>
              <a:rPr sz="1300">
                <a:solidFill>
                  <a:srgbClr val="F0E6F7"/>
                </a:solidFill>
                <a:latin typeface="Calibri"/>
              </a:rPr>
              <a:t>Decrypt or alter</a:t>
            </a:r>
          </a:p>
        </p:txBody>
      </p:sp>
      <p:sp>
        <p:nvSpPr>
          <p:cNvPr id="15" name="TextBox 14"/>
          <p:cNvSpPr txBox="1"/>
          <p:nvPr/>
        </p:nvSpPr>
        <p:spPr>
          <a:xfrm>
            <a:off x="914400" y="4023360"/>
            <a:ext cx="10360152" cy="1554480"/>
          </a:xfrm>
          <a:prstGeom prst="rect">
            <a:avLst/>
          </a:prstGeom>
          <a:noFill/>
        </p:spPr>
        <p:txBody>
          <a:bodyPr wrap="square">
            <a:spAutoFit/>
          </a:bodyPr>
          <a:lstStyle/>
          <a:p>
            <a:pPr>
              <a:spcAft>
                <a:spcPts val="600"/>
              </a:spcAft>
            </a:pPr>
            <a:r>
              <a:rPr sz="1700">
                <a:solidFill>
                  <a:srgbClr val="222222"/>
                </a:solidFill>
                <a:latin typeface="Calibri"/>
              </a:rPr>
              <a:t>•  Impact: potential loss of confidentiality and integrity of traffic.  Mitigation: patch clients and APs, prefer HTTPS/VPN, and use WPA3 where supported.</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38200" y="1243013"/>
            <a:ext cx="10515601" cy="4900000"/>
          </a:xfrm>
        </p:spPr>
        <p:txBody>
          <a:bodyPr>
            <a:noAutofit/>
          </a:bodyPr>
          <a:lstStyle/>
          <a:p>
            <a:pPr>
              <a:spcAft>
                <a:spcPts val="500"/>
              </a:spcAft>
            </a:pPr>
            <a:r>
              <a:rPr sz="2000" b="0" dirty="0">
                <a:latin typeface="Calibri"/>
              </a:rPr>
              <a:t>Use WPA3 where supported (WPA2 with AES where not).</a:t>
            </a:r>
          </a:p>
          <a:p>
            <a:pPr>
              <a:spcAft>
                <a:spcPts val="500"/>
              </a:spcAft>
            </a:pPr>
            <a:r>
              <a:rPr sz="2000" b="0" dirty="0">
                <a:latin typeface="Calibri"/>
              </a:rPr>
              <a:t>Use strong, unique passphrases and change them periodically.</a:t>
            </a:r>
          </a:p>
          <a:p>
            <a:pPr>
              <a:spcAft>
                <a:spcPts val="500"/>
              </a:spcAft>
            </a:pPr>
            <a:r>
              <a:rPr sz="2000" b="0" dirty="0">
                <a:latin typeface="Calibri"/>
              </a:rPr>
              <a:t>Prefer WPA2-Enterprise / WPA3-Enterprise in managed environments.</a:t>
            </a:r>
          </a:p>
          <a:p>
            <a:pPr>
              <a:spcAft>
                <a:spcPts val="500"/>
              </a:spcAft>
            </a:pPr>
            <a:r>
              <a:rPr sz="2000" b="0" dirty="0">
                <a:latin typeface="Calibri"/>
              </a:rPr>
              <a:t>Update access point firmware regularly.</a:t>
            </a:r>
          </a:p>
          <a:p>
            <a:pPr>
              <a:spcAft>
                <a:spcPts val="500"/>
              </a:spcAft>
            </a:pPr>
            <a:r>
              <a:rPr sz="2000" b="0" dirty="0">
                <a:latin typeface="Calibri"/>
              </a:rPr>
              <a:t>Disable insecure legacy protocols such as WEP, WPA/TKIP and WPS.</a:t>
            </a:r>
          </a:p>
          <a:p>
            <a:pPr>
              <a:spcAft>
                <a:spcPts val="500"/>
              </a:spcAft>
            </a:pPr>
            <a:r>
              <a:rPr sz="2000" b="0" dirty="0">
                <a:latin typeface="Calibri"/>
              </a:rPr>
              <a:t>Use guest network isolation; enable Protected Management Frames.</a:t>
            </a:r>
          </a:p>
          <a:p>
            <a:pPr>
              <a:spcAft>
                <a:spcPts val="500"/>
              </a:spcAft>
            </a:pPr>
            <a:r>
              <a:rPr sz="2000" b="0" dirty="0">
                <a:latin typeface="Calibri"/>
              </a:rPr>
              <a:t>Monitor for rogue access points and avoid default administrator credentials.</a:t>
            </a:r>
          </a:p>
        </p:txBody>
      </p:sp>
      <p:sp>
        <p:nvSpPr>
          <p:cNvPr id="3" name="Title 2"/>
          <p:cNvSpPr>
            <a:spLocks noGrp="1"/>
          </p:cNvSpPr>
          <p:nvPr>
            <p:ph type="title"/>
          </p:nvPr>
        </p:nvSpPr>
        <p:spPr/>
        <p:txBody>
          <a:bodyPr/>
          <a:lstStyle/>
          <a:p>
            <a:pPr algn="ctr"/>
            <a:r>
              <a:rPr sz="3000" b="1" dirty="0">
                <a:latin typeface="+mj-lt"/>
              </a:rPr>
              <a:t>SECURING WIRELESS NETWORKS</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sz="3000" b="1" dirty="0">
                <a:latin typeface="+mj-lt"/>
                <a:ea typeface="Calibri" panose="020F0502020204030204" pitchFamily="34" charset="0"/>
                <a:cs typeface="Calibri" panose="020F0502020204030204" pitchFamily="34" charset="0"/>
              </a:rPr>
              <a:t>WIRELESS SECURITY ASSESSMENT WORKFLOW</a:t>
            </a:r>
          </a:p>
        </p:txBody>
      </p:sp>
      <p:sp>
        <p:nvSpPr>
          <p:cNvPr id="4" name="Slide Number Placeholder 3">
            <a:extLst>
              <a:ext uri="{FF2B5EF4-FFF2-40B4-BE49-F238E27FC236}">
                <a16:creationId xmlns:a16="http://schemas.microsoft.com/office/drawing/2014/main" id="{91C87D46-5373-6759-029D-6E7B93D739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Calibri" panose="020F0502020204030204" pitchFamily="34" charset="0"/>
                <a:ea typeface="Calibri" panose="020F0502020204030204" pitchFamily="34" charset="0"/>
                <a:cs typeface="Calibri" panose="020F0502020204030204" pitchFamily="34" charset="0"/>
              </a:rPr>
              <a:t>107</a:t>
            </a:fld>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5" name="TextBox 4"/>
          <p:cNvSpPr txBox="1"/>
          <p:nvPr/>
        </p:nvSpPr>
        <p:spPr>
          <a:xfrm>
            <a:off x="914400" y="1234440"/>
            <a:ext cx="10360152" cy="369332"/>
          </a:xfrm>
          <a:prstGeom prst="rect">
            <a:avLst/>
          </a:prstGeom>
          <a:noFill/>
        </p:spPr>
        <p:txBody>
          <a:bodyPr wrap="square">
            <a:spAutoFit/>
          </a:bodyPr>
          <a:lstStyle/>
          <a:p>
            <a:pPr>
              <a:spcAft>
                <a:spcPts val="600"/>
              </a:spcAft>
            </a:pPr>
            <a:r>
              <a:rPr sz="1800" dirty="0">
                <a:solidFill>
                  <a:srgbClr val="222222"/>
                </a:solidFill>
                <a:latin typeface="Calibri" panose="020F0502020204030204" pitchFamily="34" charset="0"/>
                <a:ea typeface="Calibri" panose="020F0502020204030204" pitchFamily="34" charset="0"/>
                <a:cs typeface="Calibri" panose="020F0502020204030204" pitchFamily="34" charset="0"/>
              </a:rPr>
              <a:t>A structured approach to reviewing a wireless environment (only on networks you are authori</a:t>
            </a:r>
            <a:r>
              <a:rPr lang="en-US" sz="1800" dirty="0">
                <a:solidFill>
                  <a:srgbClr val="222222"/>
                </a:solidFill>
                <a:latin typeface="Calibri" panose="020F0502020204030204" pitchFamily="34" charset="0"/>
                <a:ea typeface="Calibri" panose="020F0502020204030204" pitchFamily="34" charset="0"/>
                <a:cs typeface="Calibri" panose="020F0502020204030204" pitchFamily="34" charset="0"/>
              </a:rPr>
              <a:t>z</a:t>
            </a:r>
            <a:r>
              <a:rPr sz="1800" dirty="0">
                <a:solidFill>
                  <a:srgbClr val="222222"/>
                </a:solidFill>
                <a:latin typeface="Calibri" panose="020F0502020204030204" pitchFamily="34" charset="0"/>
                <a:ea typeface="Calibri" panose="020F0502020204030204" pitchFamily="34" charset="0"/>
                <a:cs typeface="Calibri" panose="020F0502020204030204" pitchFamily="34" charset="0"/>
              </a:rPr>
              <a:t>ed to test).</a:t>
            </a:r>
          </a:p>
        </p:txBody>
      </p:sp>
      <p:sp>
        <p:nvSpPr>
          <p:cNvPr id="6" name="Rounded Rectangle 5"/>
          <p:cNvSpPr/>
          <p:nvPr/>
        </p:nvSpPr>
        <p:spPr>
          <a:xfrm>
            <a:off x="914400"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Identify Access Points</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List all APs / SSIDs</a:t>
            </a:r>
          </a:p>
        </p:txBody>
      </p:sp>
      <p:sp>
        <p:nvSpPr>
          <p:cNvPr id="7" name="Right Arrow 6"/>
          <p:cNvSpPr/>
          <p:nvPr/>
        </p:nvSpPr>
        <p:spPr>
          <a:xfrm>
            <a:off x="2446020"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8" name="Rounded Rectangle 7"/>
          <p:cNvSpPr/>
          <p:nvPr/>
        </p:nvSpPr>
        <p:spPr>
          <a:xfrm>
            <a:off x="2683764"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Verify Encryption</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WPA2 / WPA3?</a:t>
            </a:r>
          </a:p>
        </p:txBody>
      </p:sp>
      <p:sp>
        <p:nvSpPr>
          <p:cNvPr id="9" name="Right Arrow 8"/>
          <p:cNvSpPr/>
          <p:nvPr/>
        </p:nvSpPr>
        <p:spPr>
          <a:xfrm>
            <a:off x="4215384"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0" name="Rounded Rectangle 9"/>
          <p:cNvSpPr/>
          <p:nvPr/>
        </p:nvSpPr>
        <p:spPr>
          <a:xfrm>
            <a:off x="4453128"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Review Configuration</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Passwords, firmware, PMF</a:t>
            </a:r>
          </a:p>
        </p:txBody>
      </p:sp>
      <p:sp>
        <p:nvSpPr>
          <p:cNvPr id="11" name="Right Arrow 10"/>
          <p:cNvSpPr/>
          <p:nvPr/>
        </p:nvSpPr>
        <p:spPr>
          <a:xfrm>
            <a:off x="5984748"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2" name="Rounded Rectangle 11"/>
          <p:cNvSpPr/>
          <p:nvPr/>
        </p:nvSpPr>
        <p:spPr>
          <a:xfrm>
            <a:off x="6222492"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Check Rogue APs</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Unknown devices</a:t>
            </a:r>
          </a:p>
        </p:txBody>
      </p:sp>
      <p:sp>
        <p:nvSpPr>
          <p:cNvPr id="13" name="Right Arrow 12"/>
          <p:cNvSpPr/>
          <p:nvPr/>
        </p:nvSpPr>
        <p:spPr>
          <a:xfrm>
            <a:off x="7754112"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4" name="Rounded Rectangle 13"/>
          <p:cNvSpPr/>
          <p:nvPr/>
        </p:nvSpPr>
        <p:spPr>
          <a:xfrm>
            <a:off x="7991856" y="2331720"/>
            <a:ext cx="1513332" cy="1417320"/>
          </a:xfrm>
          <a:prstGeom prst="roundRect">
            <a:avLst/>
          </a:prstGeom>
          <a:solidFill>
            <a:srgbClr val="5E2A84"/>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Validate Segmentation</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Guest vs internal</a:t>
            </a:r>
          </a:p>
        </p:txBody>
      </p:sp>
      <p:sp>
        <p:nvSpPr>
          <p:cNvPr id="15" name="Right Arrow 14"/>
          <p:cNvSpPr/>
          <p:nvPr/>
        </p:nvSpPr>
        <p:spPr>
          <a:xfrm>
            <a:off x="9523476" y="2930652"/>
            <a:ext cx="219456" cy="219456"/>
          </a:xfrm>
          <a:prstGeom prst="rightArrow">
            <a:avLst/>
          </a:prstGeom>
          <a:solidFill>
            <a:srgbClr val="C01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libri" panose="020F0502020204030204" pitchFamily="34" charset="0"/>
              <a:ea typeface="Calibri" panose="020F0502020204030204" pitchFamily="34" charset="0"/>
              <a:cs typeface="Calibri" panose="020F0502020204030204" pitchFamily="34" charset="0"/>
            </a:endParaRPr>
          </a:p>
        </p:txBody>
      </p:sp>
      <p:sp>
        <p:nvSpPr>
          <p:cNvPr id="16" name="Rounded Rectangle 15"/>
          <p:cNvSpPr/>
          <p:nvPr/>
        </p:nvSpPr>
        <p:spPr>
          <a:xfrm>
            <a:off x="9761220" y="2331720"/>
            <a:ext cx="1513332" cy="1417320"/>
          </a:xfrm>
          <a:prstGeom prst="roundRect">
            <a:avLst/>
          </a:prstGeom>
          <a:solidFill>
            <a:srgbClr val="7A3FA8"/>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a:solidFill>
                  <a:srgbClr val="FFFFFF"/>
                </a:solidFill>
                <a:latin typeface="Calibri" panose="020F0502020204030204" pitchFamily="34" charset="0"/>
                <a:ea typeface="Calibri" panose="020F0502020204030204" pitchFamily="34" charset="0"/>
                <a:cs typeface="Calibri" panose="020F0502020204030204" pitchFamily="34" charset="0"/>
              </a:rPr>
              <a:t>Document Findings</a:t>
            </a:r>
          </a:p>
          <a:p>
            <a:pPr algn="ctr"/>
            <a:r>
              <a:rPr sz="1200">
                <a:solidFill>
                  <a:srgbClr val="F0E6F7"/>
                </a:solidFill>
                <a:latin typeface="Calibri" panose="020F0502020204030204" pitchFamily="34" charset="0"/>
                <a:ea typeface="Calibri" panose="020F0502020204030204" pitchFamily="34" charset="0"/>
                <a:cs typeface="Calibri" panose="020F0502020204030204" pitchFamily="34" charset="0"/>
              </a:rPr>
              <a:t>Risks and fixes</a:t>
            </a:r>
          </a:p>
        </p:txBody>
      </p:sp>
      <p:sp>
        <p:nvSpPr>
          <p:cNvPr id="17" name="TextBox 16"/>
          <p:cNvSpPr txBox="1"/>
          <p:nvPr/>
        </p:nvSpPr>
        <p:spPr>
          <a:xfrm>
            <a:off x="914400" y="4023360"/>
            <a:ext cx="10360152" cy="353943"/>
          </a:xfrm>
          <a:prstGeom prst="rect">
            <a:avLst/>
          </a:prstGeom>
          <a:noFill/>
        </p:spPr>
        <p:txBody>
          <a:bodyPr wrap="square">
            <a:spAutoFit/>
          </a:bodyPr>
          <a:lstStyle/>
          <a:p>
            <a:pPr>
              <a:spcAft>
                <a:spcPts val="600"/>
              </a:spcAft>
            </a:pPr>
            <a:r>
              <a:rPr sz="1700">
                <a:solidFill>
                  <a:srgbClr val="222222"/>
                </a:solidFill>
                <a:latin typeface="Calibri" panose="020F0502020204030204" pitchFamily="34" charset="0"/>
                <a:ea typeface="Calibri" panose="020F0502020204030204" pitchFamily="34" charset="0"/>
                <a:cs typeface="Calibri" panose="020F0502020204030204" pitchFamily="34" charset="0"/>
              </a:rPr>
              <a:t>•  Finish with a report that lists findings, risk level and recommended fixes.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49" descr="Stick Figure Drawing Thank You | Great PowerPoint ClipArt for Presentations  - PresenterMedia.com"/>
          <p:cNvPicPr preferRelativeResize="0"/>
          <p:nvPr/>
        </p:nvPicPr>
        <p:blipFill rotWithShape="1">
          <a:blip r:embed="rId3">
            <a:alphaModFix/>
          </a:blip>
          <a:srcRect/>
          <a:stretch/>
        </p:blipFill>
        <p:spPr>
          <a:xfrm>
            <a:off x="4010954" y="1111362"/>
            <a:ext cx="4162747" cy="5223487"/>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5*241"/>
  <p:tag name="TABLE_ENDDRAG_RECT" val="67*97*825*241"/>
</p:tagLst>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2749</TotalTime>
  <Words>7522</Words>
  <Application>Microsoft Office PowerPoint</Application>
  <PresentationFormat>Widescreen</PresentationFormat>
  <Paragraphs>784</Paragraphs>
  <Slides>108</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108</vt:i4>
      </vt:variant>
    </vt:vector>
  </HeadingPairs>
  <TitlesOfParts>
    <vt:vector size="114" baseType="lpstr">
      <vt:lpstr>Arial</vt:lpstr>
      <vt:lpstr>Wingdings</vt:lpstr>
      <vt:lpstr>Calibri</vt:lpstr>
      <vt:lpstr>Play</vt:lpstr>
      <vt:lpstr>Noto Sans Symbols</vt:lpstr>
      <vt:lpstr>Office Theme</vt:lpstr>
      <vt:lpstr>PowerPoint Presentation</vt:lpstr>
      <vt:lpstr>CONTENT</vt:lpstr>
      <vt:lpstr>CONTENT</vt:lpstr>
      <vt:lpstr>FIREWALL</vt:lpstr>
      <vt:lpstr>TYPES OF FIREWALLS</vt:lpstr>
      <vt:lpstr>STATEFUL FIREWALL</vt:lpstr>
      <vt:lpstr>STATEFUL FIREWALL</vt:lpstr>
      <vt:lpstr>STATEFUL FIREWALL</vt:lpstr>
      <vt:lpstr>STATELESS FIREWALL</vt:lpstr>
      <vt:lpstr>STATELESS FIREWALL</vt:lpstr>
      <vt:lpstr>STATELESS FIREWALLS</vt:lpstr>
      <vt:lpstr>DIFFERENCE BETWEEN STATEFUL &amp; STATELESS</vt:lpstr>
      <vt:lpstr>PACKET FILTERING FIREWALL</vt:lpstr>
      <vt:lpstr>PACKET FILTERING FIREWALL</vt:lpstr>
      <vt:lpstr>PACKET FILTERING FIREWALL</vt:lpstr>
      <vt:lpstr>PROXY FIREWALL</vt:lpstr>
      <vt:lpstr>PROXY FIREWALL</vt:lpstr>
      <vt:lpstr>NEXT GENERATION FIREWALL</vt:lpstr>
      <vt:lpstr>NEXT GENERATION FIREWALL</vt:lpstr>
      <vt:lpstr>NEXT GENERATION FIREWALL</vt:lpstr>
      <vt:lpstr>NEXT GENERATION v/s TRADITIONAL FIREWALL</vt:lpstr>
      <vt:lpstr>NEXT GENERATION v/s TRADITIONAL FIREWALL</vt:lpstr>
      <vt:lpstr>DMZ ARCHITECTURE</vt:lpstr>
      <vt:lpstr>DMZ ARCHITECTURE</vt:lpstr>
      <vt:lpstr>BENEFITS OF USING DMZ</vt:lpstr>
      <vt:lpstr>USES OF DMZ</vt:lpstr>
      <vt:lpstr>INTRUSION DETECTION SYSTEM (IDS)</vt:lpstr>
      <vt:lpstr>INTRUSION DETECTION SYSTEM (IDS)</vt:lpstr>
      <vt:lpstr>INTRUSION DETECTION SYSTEM (IDS)</vt:lpstr>
      <vt:lpstr>INTRUSION DETECTION SYSTEM (IDS)</vt:lpstr>
      <vt:lpstr>INTRUSION DETECTION SYSTEM (IDS)</vt:lpstr>
      <vt:lpstr>INTRUSION DETECTION SYSTEM (IDS)</vt:lpstr>
      <vt:lpstr>INTRUSION DETECTION SYSTEM (IDS)</vt:lpstr>
      <vt:lpstr>INTRUSION PREVENTION SYSTEM (IPS)</vt:lpstr>
      <vt:lpstr>INTRUSION PREVENTION SYSTEM (IPS)</vt:lpstr>
      <vt:lpstr>INTRUSION PREVENTION SYSTEM (IPS)</vt:lpstr>
      <vt:lpstr>INTRUSION PREVENTION SYSTEM (IPS)</vt:lpstr>
      <vt:lpstr>INTRUSION PREVENTION SYSTEM (IPS)</vt:lpstr>
      <vt:lpstr>KEY DIFFERENCE BETWEEN IDS &amp; IPS</vt:lpstr>
      <vt:lpstr>IDS AND IPS INTEGRATION</vt:lpstr>
      <vt:lpstr>IDS AND IPS INTEGRATION</vt:lpstr>
      <vt:lpstr>USE CASES OF IDS &amp; IPS</vt:lpstr>
      <vt:lpstr>HIDS (HOST BASED INTRUSION DETECTION SYSTEM)</vt:lpstr>
      <vt:lpstr>HIDS (HOST BASED INTRUSION DETECTION SYSTEM)</vt:lpstr>
      <vt:lpstr>HIDS (HOST BASED INTRUSION DETECTION SYSTEM)</vt:lpstr>
      <vt:lpstr>NIDS (NETWORK BASED INTRUSION DETECTION SYSTEM)</vt:lpstr>
      <vt:lpstr>NIDS (NETWORK BASED INTRUSION DETECTION SYSTEM)</vt:lpstr>
      <vt:lpstr>NIDS (NETWORK BASED INTRUSION DETECTION SYSTEM)</vt:lpstr>
      <vt:lpstr>HIDS v/s NIDS</vt:lpstr>
      <vt:lpstr>HIDS v/s NIDS</vt:lpstr>
      <vt:lpstr>SIGNATURE BASED IDS</vt:lpstr>
      <vt:lpstr>ANOMALY BASED IDS</vt:lpstr>
      <vt:lpstr>SURICATA</vt:lpstr>
      <vt:lpstr>SURICATA</vt:lpstr>
      <vt:lpstr>SNORT</vt:lpstr>
      <vt:lpstr>SNORT</vt:lpstr>
      <vt:lpstr>SURICATA v/s SNORT</vt:lpstr>
      <vt:lpstr>SURICATA v/s SNORT</vt:lpstr>
      <vt:lpstr>VPN (VIRTUAL PRIVATE NETWORK)</vt:lpstr>
      <vt:lpstr>VPN (VIRTUAL PRIVATE NETWORK)</vt:lpstr>
      <vt:lpstr>TYPES OF VPN</vt:lpstr>
      <vt:lpstr>REMOTE ACCESS VPN</vt:lpstr>
      <vt:lpstr>REMOTE ACCESS VPN</vt:lpstr>
      <vt:lpstr>SITE –TO-SITE VPN</vt:lpstr>
      <vt:lpstr>SITE –TO-SITE VPN</vt:lpstr>
      <vt:lpstr>IPSec</vt:lpstr>
      <vt:lpstr>SSL VPN</vt:lpstr>
      <vt:lpstr>IPSec v/s SSL VPN</vt:lpstr>
      <vt:lpstr>IPSec v/s SSL VPN</vt:lpstr>
      <vt:lpstr>SPLIT TUNNELING</vt:lpstr>
      <vt:lpstr>WHY VPN DOES NOT MAKE YOU ANONYMOUS</vt:lpstr>
      <vt:lpstr>PROXY SERVER AND TYPES</vt:lpstr>
      <vt:lpstr>PROXY SERVER AND TYPES</vt:lpstr>
      <vt:lpstr>PROXY SERVER AND TYPES</vt:lpstr>
      <vt:lpstr>PROXY SERVER AND TYPES</vt:lpstr>
      <vt:lpstr>FORWARD PROXY</vt:lpstr>
      <vt:lpstr>REVERSE PROXY</vt:lpstr>
      <vt:lpstr>WEB FILTERING PROXY</vt:lpstr>
      <vt:lpstr>TRANSPARENT PROXY</vt:lpstr>
      <vt:lpstr>EXPLICIT PROXY</vt:lpstr>
      <vt:lpstr>NETWORK SEGMENTATION</vt:lpstr>
      <vt:lpstr>NETWORK SEGMENTATION</vt:lpstr>
      <vt:lpstr>NETWORK SEGMENTATION</vt:lpstr>
      <vt:lpstr>NETWORK SEGMENTATION</vt:lpstr>
      <vt:lpstr>NETWORK SEGMENTATION</vt:lpstr>
      <vt:lpstr>FLAT NETWORK RISKS</vt:lpstr>
      <vt:lpstr>VLAN-BASED SEGMENTATION</vt:lpstr>
      <vt:lpstr>DMZ-BASED SEGMENTATION</vt:lpstr>
      <vt:lpstr>MICRO-SEGMENTATION</vt:lpstr>
      <vt:lpstr>LIMITING LATERAL MOVEMENT</vt:lpstr>
      <vt:lpstr>NETWORK SEGMENTATION DESIGN EXAMPLE</vt:lpstr>
      <vt:lpstr>INTRODUCTION TO ZERO TRUST</vt:lpstr>
      <vt:lpstr>“NEVER TRUST, ALWAYS VERIFY”</vt:lpstr>
      <vt:lpstr>IDENTITY-CENTRIC SECURITY</vt:lpstr>
      <vt:lpstr>MICRO-SEGMENTATION IN ZERO TRUST</vt:lpstr>
      <vt:lpstr>CONTINUOUS VALIDATION</vt:lpstr>
      <vt:lpstr>ZERO TRUST VS PERIMETER SECURITY</vt:lpstr>
      <vt:lpstr>ZERO TRUST IMPLEMENTATION EXAMPLE</vt:lpstr>
      <vt:lpstr>INTRODUCTION TO WIRELESS SECURITY</vt:lpstr>
      <vt:lpstr>WPA2 SECURITY</vt:lpstr>
      <vt:lpstr>WPA3 SECURITY</vt:lpstr>
      <vt:lpstr>WPA2 VS WPA3</vt:lpstr>
      <vt:lpstr>EVIL TWIN ATTACKS</vt:lpstr>
      <vt:lpstr>DEAUTHENTICATION ATTACKS</vt:lpstr>
      <vt:lpstr>KRACK ATTACK CONCEPT</vt:lpstr>
      <vt:lpstr>SECURING WIRELESS NETWORKS</vt:lpstr>
      <vt:lpstr>WIRELESS SECURITY ASSESSMENT WORKFLOW</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SOC ERT</dc:creator>
  <cp:lastModifiedBy>Training Common</cp:lastModifiedBy>
  <cp:revision>23</cp:revision>
  <dcterms:created xsi:type="dcterms:W3CDTF">2024-01-13T08:18:00Z</dcterms:created>
  <dcterms:modified xsi:type="dcterms:W3CDTF">2026-10-24T10:03:41Z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7F129FF21C714B5C89A36A5E0B85CD42_12</vt:lpwstr>
  </property>
  <property fmtid="{D5CDD505-2E9C-101B-9397-08002B2CF9AE}" pid="3" name="KSOProductBuildVer">
    <vt:lpwstr>1033-12.2.0.23196</vt:lpwstr>
  </property>
</Properties>
</file>