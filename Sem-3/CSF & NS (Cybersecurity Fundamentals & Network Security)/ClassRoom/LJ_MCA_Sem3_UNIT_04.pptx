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5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embeddedFontLst>
    <p:embeddedFont>
      <p:font typeface="Play" panose="020B0604020202020204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6" roundtripDataSignature="AMtx7mjFcU3CRqsck02bazUXjZ4hne8G0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B34B4-BD84-47F5-AA55-909F3B7EC8C8}" v="1" dt="2026-10-24T10:08:09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94660"/>
  </p:normalViewPr>
  <p:slideViewPr>
    <p:cSldViewPr snapToGrid="0">
      <p:cViewPr varScale="1">
        <p:scale>
          <a:sx n="59" d="100"/>
          <a:sy n="59" d="100"/>
        </p:scale>
        <p:origin x="8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font" Target="fonts/font1.fntdata"/><Relationship Id="rId57" Type="http://schemas.openxmlformats.org/officeDocument/2006/relationships/font" Target="fonts/font2.fntdata"/><Relationship Id="rId76" Type="http://customschemas.google.com/relationships/presentationmetadata" Target="metadata"/><Relationship Id="rId77" Type="http://schemas.openxmlformats.org/officeDocument/2006/relationships/presProps" Target="presProps.xml"/><Relationship Id="rId78" Type="http://schemas.openxmlformats.org/officeDocument/2006/relationships/viewProps" Target="viewProps.xml"/><Relationship Id="rId79" Type="http://schemas.openxmlformats.org/officeDocument/2006/relationships/theme" Target="theme/theme1.xml"/><Relationship Id="rId80" Type="http://schemas.openxmlformats.org/officeDocument/2006/relationships/tableStyles" Target="tableStyles.xml"/><Relationship Id="rId81" Type="http://schemas.microsoft.com/office/2016/11/relationships/changesInfo" Target="changesInfos/changesInfo1.xml"/><Relationship Id="rId8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ining Common" userId="04244515-1ace-4f18-abbf-28df0af8cc9f" providerId="ADAL" clId="{2CD65E0F-2C5A-426E-A8DD-3FCAB465F7CA}"/>
    <pc:docChg chg="undo custSel addSld delSld modSld">
      <pc:chgData name="Training Common" userId="04244515-1ace-4f18-abbf-28df0af8cc9f" providerId="ADAL" clId="{2CD65E0F-2C5A-426E-A8DD-3FCAB465F7CA}" dt="2026-10-24T10:08:09.481" v="65"/>
      <pc:docMkLst>
        <pc:docMk/>
      </pc:docMkLst>
      <pc:sldChg chg="modSp mod">
        <pc:chgData name="Training Common" userId="04244515-1ace-4f18-abbf-28df0af8cc9f" providerId="ADAL" clId="{2CD65E0F-2C5A-426E-A8DD-3FCAB465F7CA}" dt="2026-10-24T10:07:40.052" v="63" actId="6549"/>
        <pc:sldMkLst>
          <pc:docMk/>
          <pc:sldMk cId="0" sldId="257"/>
        </pc:sldMkLst>
        <pc:spChg chg="mod">
          <ac:chgData name="Training Common" userId="04244515-1ace-4f18-abbf-28df0af8cc9f" providerId="ADAL" clId="{2CD65E0F-2C5A-426E-A8DD-3FCAB465F7CA}" dt="2026-10-24T10:07:40.052" v="63" actId="6549"/>
          <ac:spMkLst>
            <pc:docMk/>
            <pc:sldMk cId="0" sldId="257"/>
            <ac:spMk id="2" creationId="{00000000-0000-0000-0000-000000000000}"/>
          </ac:spMkLst>
        </pc:spChg>
      </pc:sldChg>
      <pc:sldChg chg="add del">
        <pc:chgData name="Training Common" userId="04244515-1ace-4f18-abbf-28df0af8cc9f" providerId="ADAL" clId="{2CD65E0F-2C5A-426E-A8DD-3FCAB465F7CA}" dt="2026-10-24T10:08:09.481" v="65"/>
        <pc:sldMkLst>
          <pc:docMk/>
          <pc:sldMk cId="0" sldId="307"/>
        </pc:sldMkLst>
      </pc:sldChg>
      <pc:sldChg chg="add">
        <pc:chgData name="Training Common" userId="04244515-1ace-4f18-abbf-28df0af8cc9f" providerId="ADAL" clId="{2CD65E0F-2C5A-426E-A8DD-3FCAB465F7CA}" dt="2026-10-24T10:08:09.481" v="65"/>
        <pc:sldMkLst>
          <pc:docMk/>
          <pc:sldMk cId="0" sldId="308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51"/>
          <p:cNvPicPr preferRelativeResize="0"/>
          <p:nvPr/>
        </p:nvPicPr>
        <p:blipFill rotWithShape="1">
          <a:blip r:embed="rId2">
            <a:alphaModFix/>
          </a:blip>
          <a:srcRect l="35222" t="35220"/>
          <a:stretch/>
        </p:blipFill>
        <p:spPr>
          <a:xfrm>
            <a:off x="0" y="19018"/>
            <a:ext cx="12192000" cy="685746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51"/>
          <p:cNvSpPr/>
          <p:nvPr/>
        </p:nvSpPr>
        <p:spPr>
          <a:xfrm>
            <a:off x="449690" y="995329"/>
            <a:ext cx="11292619" cy="5474818"/>
          </a:xfrm>
          <a:prstGeom prst="roundRect">
            <a:avLst>
              <a:gd name="adj" fmla="val 9331"/>
            </a:avLst>
          </a:prstGeom>
          <a:solidFill>
            <a:schemeClr val="lt1"/>
          </a:solidFill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51"/>
          <p:cNvPicPr preferRelativeResize="0"/>
          <p:nvPr/>
        </p:nvPicPr>
        <p:blipFill rotWithShape="1">
          <a:blip r:embed="rId3">
            <a:alphaModFix/>
          </a:blip>
          <a:srcRect r="77077"/>
          <a:stretch/>
        </p:blipFill>
        <p:spPr>
          <a:xfrm>
            <a:off x="11248169" y="19018"/>
            <a:ext cx="673100" cy="91922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51"/>
          <p:cNvSpPr txBox="1">
            <a:spLocks noGrp="1"/>
          </p:cNvSpPr>
          <p:nvPr>
            <p:ph type="dt" idx="10"/>
          </p:nvPr>
        </p:nvSpPr>
        <p:spPr>
          <a:xfrm>
            <a:off x="838201" y="64701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1"/>
          <p:cNvSpPr txBox="1">
            <a:spLocks noGrp="1"/>
          </p:cNvSpPr>
          <p:nvPr>
            <p:ph type="ftr" idx="11"/>
          </p:nvPr>
        </p:nvSpPr>
        <p:spPr>
          <a:xfrm>
            <a:off x="4038598" y="6470147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1"/>
          <p:cNvSpPr txBox="1">
            <a:spLocks noGrp="1"/>
          </p:cNvSpPr>
          <p:nvPr>
            <p:ph type="sldNum" idx="12"/>
          </p:nvPr>
        </p:nvSpPr>
        <p:spPr>
          <a:xfrm>
            <a:off x="8610602" y="64701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2"/>
          <p:cNvSpPr txBox="1">
            <a:spLocks noGrp="1"/>
          </p:cNvSpPr>
          <p:nvPr>
            <p:ph type="body" idx="1"/>
          </p:nvPr>
        </p:nvSpPr>
        <p:spPr>
          <a:xfrm>
            <a:off x="838200" y="1243013"/>
            <a:ext cx="10515601" cy="49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52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2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2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2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3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3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3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4"/>
          <p:cNvSpPr txBox="1">
            <a:spLocks noGrp="1"/>
          </p:cNvSpPr>
          <p:nvPr>
            <p:ph type="title"/>
          </p:nvPr>
        </p:nvSpPr>
        <p:spPr>
          <a:xfrm>
            <a:off x="831850" y="1233488"/>
            <a:ext cx="10515601" cy="197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4"/>
          <p:cNvSpPr txBox="1">
            <a:spLocks noGrp="1"/>
          </p:cNvSpPr>
          <p:nvPr>
            <p:ph type="body" idx="1"/>
          </p:nvPr>
        </p:nvSpPr>
        <p:spPr>
          <a:xfrm>
            <a:off x="831850" y="3295650"/>
            <a:ext cx="10515601" cy="279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4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4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4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5"/>
          <p:cNvSpPr txBox="1">
            <a:spLocks noGrp="1"/>
          </p:cNvSpPr>
          <p:nvPr>
            <p:ph type="body" idx="1"/>
          </p:nvPr>
        </p:nvSpPr>
        <p:spPr>
          <a:xfrm>
            <a:off x="838201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55"/>
          <p:cNvSpPr txBox="1">
            <a:spLocks noGrp="1"/>
          </p:cNvSpPr>
          <p:nvPr>
            <p:ph type="body" idx="2"/>
          </p:nvPr>
        </p:nvSpPr>
        <p:spPr>
          <a:xfrm>
            <a:off x="6172202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55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5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5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6"/>
          <p:cNvSpPr txBox="1">
            <a:spLocks noGrp="1"/>
          </p:cNvSpPr>
          <p:nvPr>
            <p:ph type="title"/>
          </p:nvPr>
        </p:nvSpPr>
        <p:spPr>
          <a:xfrm>
            <a:off x="839787" y="171451"/>
            <a:ext cx="10515601" cy="738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6"/>
          <p:cNvSpPr txBox="1">
            <a:spLocks noGrp="1"/>
          </p:cNvSpPr>
          <p:nvPr>
            <p:ph type="body" idx="1"/>
          </p:nvPr>
        </p:nvSpPr>
        <p:spPr>
          <a:xfrm>
            <a:off x="839790" y="1190622"/>
            <a:ext cx="515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56"/>
          <p:cNvSpPr txBox="1">
            <a:spLocks noGrp="1"/>
          </p:cNvSpPr>
          <p:nvPr>
            <p:ph type="body" idx="2"/>
          </p:nvPr>
        </p:nvSpPr>
        <p:spPr>
          <a:xfrm>
            <a:off x="839790" y="2014533"/>
            <a:ext cx="5157788" cy="399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56"/>
          <p:cNvSpPr txBox="1">
            <a:spLocks noGrp="1"/>
          </p:cNvSpPr>
          <p:nvPr>
            <p:ph type="body" idx="3"/>
          </p:nvPr>
        </p:nvSpPr>
        <p:spPr>
          <a:xfrm>
            <a:off x="6172201" y="1190622"/>
            <a:ext cx="51831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56"/>
          <p:cNvSpPr txBox="1">
            <a:spLocks noGrp="1"/>
          </p:cNvSpPr>
          <p:nvPr>
            <p:ph type="body" idx="4"/>
          </p:nvPr>
        </p:nvSpPr>
        <p:spPr>
          <a:xfrm>
            <a:off x="6172201" y="2014533"/>
            <a:ext cx="5183187" cy="399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56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56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56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7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57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57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57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8"/>
          <p:cNvSpPr txBox="1">
            <a:spLocks noGrp="1"/>
          </p:cNvSpPr>
          <p:nvPr>
            <p:ph type="title"/>
          </p:nvPr>
        </p:nvSpPr>
        <p:spPr>
          <a:xfrm>
            <a:off x="839788" y="0"/>
            <a:ext cx="10380661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58"/>
          <p:cNvSpPr txBox="1">
            <a:spLocks noGrp="1"/>
          </p:cNvSpPr>
          <p:nvPr>
            <p:ph type="body" idx="1"/>
          </p:nvPr>
        </p:nvSpPr>
        <p:spPr>
          <a:xfrm>
            <a:off x="5183187" y="1309688"/>
            <a:ext cx="6172201" cy="455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58"/>
          <p:cNvSpPr txBox="1">
            <a:spLocks noGrp="1"/>
          </p:cNvSpPr>
          <p:nvPr>
            <p:ph type="body" idx="2"/>
          </p:nvPr>
        </p:nvSpPr>
        <p:spPr>
          <a:xfrm>
            <a:off x="839789" y="1317625"/>
            <a:ext cx="3932236" cy="4551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58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58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58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9"/>
          <p:cNvSpPr txBox="1">
            <a:spLocks noGrp="1"/>
          </p:cNvSpPr>
          <p:nvPr>
            <p:ph type="title"/>
          </p:nvPr>
        </p:nvSpPr>
        <p:spPr>
          <a:xfrm>
            <a:off x="839788" y="285750"/>
            <a:ext cx="10399711" cy="614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9"/>
          <p:cNvSpPr>
            <a:spLocks noGrp="1"/>
          </p:cNvSpPr>
          <p:nvPr>
            <p:ph type="pic" idx="2"/>
          </p:nvPr>
        </p:nvSpPr>
        <p:spPr>
          <a:xfrm>
            <a:off x="5183187" y="1149351"/>
            <a:ext cx="6172201" cy="47117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59"/>
          <p:cNvSpPr txBox="1">
            <a:spLocks noGrp="1"/>
          </p:cNvSpPr>
          <p:nvPr>
            <p:ph type="body" idx="1"/>
          </p:nvPr>
        </p:nvSpPr>
        <p:spPr>
          <a:xfrm>
            <a:off x="839789" y="1157288"/>
            <a:ext cx="3932236" cy="47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59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9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9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0"/>
          <p:cNvSpPr txBox="1">
            <a:spLocks noGrp="1"/>
          </p:cNvSpPr>
          <p:nvPr>
            <p:ph type="body" idx="1"/>
          </p:nvPr>
        </p:nvSpPr>
        <p:spPr>
          <a:xfrm rot="5400000">
            <a:off x="3629025" y="-1547812"/>
            <a:ext cx="4933950" cy="10515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60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0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0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1"/>
          <p:cNvSpPr txBox="1">
            <a:spLocks noGrp="1"/>
          </p:cNvSpPr>
          <p:nvPr>
            <p:ph type="title"/>
          </p:nvPr>
        </p:nvSpPr>
        <p:spPr>
          <a:xfrm rot="5400000">
            <a:off x="7133434" y="1956594"/>
            <a:ext cx="5811838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61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61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1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1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50"/>
          <p:cNvPicPr preferRelativeResize="0"/>
          <p:nvPr/>
        </p:nvPicPr>
        <p:blipFill rotWithShape="1">
          <a:blip r:embed="rId13">
            <a:alphaModFix/>
          </a:blip>
          <a:srcRect l="35222" t="35220"/>
          <a:stretch/>
        </p:blipFill>
        <p:spPr>
          <a:xfrm>
            <a:off x="0" y="19018"/>
            <a:ext cx="12192000" cy="68574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50"/>
          <p:cNvPicPr preferRelativeResize="0"/>
          <p:nvPr/>
        </p:nvPicPr>
        <p:blipFill rotWithShape="1">
          <a:blip r:embed="rId14">
            <a:alphaModFix/>
          </a:blip>
          <a:srcRect r="77077"/>
          <a:stretch/>
        </p:blipFill>
        <p:spPr>
          <a:xfrm>
            <a:off x="11248169" y="19018"/>
            <a:ext cx="673100" cy="919228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50"/>
          <p:cNvSpPr/>
          <p:nvPr/>
        </p:nvSpPr>
        <p:spPr>
          <a:xfrm>
            <a:off x="449690" y="957263"/>
            <a:ext cx="11292619" cy="5474818"/>
          </a:xfrm>
          <a:prstGeom prst="roundRect">
            <a:avLst>
              <a:gd name="adj" fmla="val 9331"/>
            </a:avLst>
          </a:prstGeom>
          <a:solidFill>
            <a:schemeClr val="lt1"/>
          </a:solidFill>
          <a:ln w="19050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</a:t>
            </a: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50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sz="3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0"/>
          <p:cNvSpPr txBox="1">
            <a:spLocks noGrp="1"/>
          </p:cNvSpPr>
          <p:nvPr>
            <p:ph type="body" idx="1"/>
          </p:nvPr>
        </p:nvSpPr>
        <p:spPr>
          <a:xfrm>
            <a:off x="838200" y="1243013"/>
            <a:ext cx="10515601" cy="49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50"/>
          <p:cNvSpPr txBox="1">
            <a:spLocks noGrp="1"/>
          </p:cNvSpPr>
          <p:nvPr>
            <p:ph type="dt" idx="10"/>
          </p:nvPr>
        </p:nvSpPr>
        <p:spPr>
          <a:xfrm>
            <a:off x="838201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50"/>
          <p:cNvSpPr txBox="1">
            <a:spLocks noGrp="1"/>
          </p:cNvSpPr>
          <p:nvPr>
            <p:ph type="ftr" idx="11"/>
          </p:nvPr>
        </p:nvSpPr>
        <p:spPr>
          <a:xfrm>
            <a:off x="4038602" y="6484951"/>
            <a:ext cx="4114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50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"/>
          <p:cNvGrpSpPr/>
          <p:nvPr/>
        </p:nvGrpSpPr>
        <p:grpSpPr>
          <a:xfrm>
            <a:off x="-57778" y="0"/>
            <a:ext cx="12307556" cy="6925679"/>
            <a:chOff x="-115556" y="-1"/>
            <a:chExt cx="12307556" cy="6925679"/>
          </a:xfrm>
        </p:grpSpPr>
        <p:pic>
          <p:nvPicPr>
            <p:cNvPr id="96" name="Google Shape;96;p1" descr="C:\Users\vasim\Desktop\ppt\SV PPT.png"/>
            <p:cNvPicPr preferRelativeResize="0"/>
            <p:nvPr/>
          </p:nvPicPr>
          <p:blipFill rotWithShape="1">
            <a:blip r:embed="rId3">
              <a:alphaModFix/>
            </a:blip>
            <a:srcRect l="47855" t="40791" r="41050" b="31445"/>
            <a:stretch/>
          </p:blipFill>
          <p:spPr>
            <a:xfrm>
              <a:off x="7026729" y="-1"/>
              <a:ext cx="5165271" cy="692567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97" name="Google Shape;97;p1"/>
            <p:cNvGrpSpPr/>
            <p:nvPr/>
          </p:nvGrpSpPr>
          <p:grpSpPr>
            <a:xfrm>
              <a:off x="-115556" y="0"/>
              <a:ext cx="7256444" cy="6925678"/>
              <a:chOff x="-21189" y="13252"/>
              <a:chExt cx="7187198" cy="6859588"/>
            </a:xfrm>
          </p:grpSpPr>
          <p:pic>
            <p:nvPicPr>
              <p:cNvPr id="98" name="Google Shape;98;p1" descr="C:\Users\vasim\Desktop\ppt\SV PPT.png"/>
              <p:cNvPicPr preferRelativeResize="0"/>
              <p:nvPr/>
            </p:nvPicPr>
            <p:blipFill rotWithShape="1">
              <a:blip r:embed="rId3">
                <a:alphaModFix/>
              </a:blip>
              <a:srcRect r="41050"/>
              <a:stretch/>
            </p:blipFill>
            <p:spPr>
              <a:xfrm>
                <a:off x="-21189" y="13252"/>
                <a:ext cx="7187198" cy="685958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1" descr="C:\Users\vasim\Desktop\ppt\SV PPT.png"/>
              <p:cNvPicPr preferRelativeResize="0"/>
              <p:nvPr/>
            </p:nvPicPr>
            <p:blipFill rotWithShape="1">
              <a:blip r:embed="rId3">
                <a:alphaModFix/>
              </a:blip>
              <a:srcRect l="48539" t="33621" r="41050" b="61032"/>
              <a:stretch/>
            </p:blipFill>
            <p:spPr>
              <a:xfrm>
                <a:off x="5896708" y="2582425"/>
                <a:ext cx="1269301" cy="36676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0" name="Google Shape;100;p1"/>
          <p:cNvSpPr/>
          <p:nvPr/>
        </p:nvSpPr>
        <p:spPr>
          <a:xfrm>
            <a:off x="6215605" y="433070"/>
            <a:ext cx="5963060" cy="15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CYBERSECURITY FUNDAMENTALS AND NETWORK SECURITY</a:t>
            </a:r>
            <a:endParaRPr sz="36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8561" y="5424480"/>
            <a:ext cx="3037753" cy="950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" descr="ljku.edu.in/web/image/res.company/1/logo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59814" y="5558151"/>
            <a:ext cx="2924303" cy="776261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5741902" y="2201924"/>
            <a:ext cx="6134412" cy="1687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600" b="1" dirty="0">
                <a:solidFill>
                  <a:schemeClr val="dk1"/>
                </a:solidFill>
                <a:latin typeface="Arial"/>
              </a:rPr>
              <a:t>Unit-04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lang="en-IN" sz="3600" b="1" i="0" u="none" strike="noStrike" cap="none" dirty="0">
                <a:solidFill>
                  <a:schemeClr val="dk1"/>
                </a:solidFill>
                <a:latin typeface="Arial"/>
              </a:rPr>
              <a:t>HANDS-ON SECURITY TOOLS</a:t>
            </a:r>
            <a:endParaRPr sz="2400" b="1" i="0" u="none" strike="noStrike" cap="none" dirty="0">
              <a:solidFill>
                <a:schemeClr val="dk1"/>
              </a:solidFill>
              <a:latin typeface="+mj-lt"/>
            </a:endParaRPr>
          </a:p>
        </p:txBody>
      </p:sp>
      <p:cxnSp>
        <p:nvCxnSpPr>
          <p:cNvPr id="104" name="Google Shape;104;p1"/>
          <p:cNvCxnSpPr/>
          <p:nvPr/>
        </p:nvCxnSpPr>
        <p:spPr>
          <a:xfrm>
            <a:off x="6487886" y="2051293"/>
            <a:ext cx="5388428" cy="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5" name="Google Shape;105;p1"/>
          <p:cNvSpPr/>
          <p:nvPr/>
        </p:nvSpPr>
        <p:spPr>
          <a:xfrm>
            <a:off x="8253448" y="4298179"/>
            <a:ext cx="3925217" cy="94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Gayathri Gagana</a:t>
            </a:r>
            <a:br>
              <a:rPr lang="en-US" sz="2200" i="0" u="none" strike="noStrike" cap="none" dirty="0">
                <a:solidFill>
                  <a:schemeClr val="dk1"/>
                </a:solidFill>
              </a:rPr>
            </a:b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gayathri.g@techdefence.com </a:t>
            </a:r>
            <a:endParaRPr sz="22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6" name="Google Shape;106;p1"/>
          <p:cNvSpPr/>
          <p:nvPr/>
        </p:nvSpPr>
        <p:spPr>
          <a:xfrm>
            <a:off x="5741902" y="4314226"/>
            <a:ext cx="2530392" cy="947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lay"/>
              <a:buNone/>
            </a:pP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Created by:</a:t>
            </a:r>
            <a:br>
              <a:rPr lang="en-US" sz="2200" i="0" u="none" strike="noStrike" cap="none" dirty="0">
                <a:solidFill>
                  <a:schemeClr val="dk1"/>
                </a:solidFill>
              </a:rPr>
            </a:br>
            <a:r>
              <a:rPr lang="en-US" sz="2200" i="0" u="none" strike="noStrike" cap="none" dirty="0">
                <a:solidFill>
                  <a:schemeClr val="dk1"/>
                </a:solidFill>
                <a:latin typeface="Calibri"/>
              </a:rPr>
              <a:t>Email Address: </a:t>
            </a:r>
            <a:endParaRPr sz="2200" b="1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107" name="Google Shape;107;p1"/>
          <p:cNvSpPr txBox="1">
            <a:spLocks noGrp="1"/>
          </p:cNvSpPr>
          <p:nvPr>
            <p:ph type="sldNum" idx="12"/>
          </p:nvPr>
        </p:nvSpPr>
        <p:spPr>
          <a:xfrm>
            <a:off x="8610602" y="647014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Wireshark, Network Traffic Analysis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Nmap, Network Discovery and Port Scanning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Netstat / ss, Connection and Network State Analysis</a:t>
            </a:r>
          </a:p>
          <a:p>
            <a:pPr>
              <a:spcAft>
                <a:spcPts val="500"/>
              </a:spcAft>
            </a:pPr>
            <a:r>
              <a:rPr lang="en-US" sz="2200" b="0" dirty="0" err="1">
                <a:latin typeface="Calibri"/>
              </a:rPr>
              <a:t>T</a:t>
            </a:r>
            <a:r>
              <a:rPr sz="2200" b="0" dirty="0" err="1">
                <a:latin typeface="Calibri"/>
              </a:rPr>
              <a:t>cpdump</a:t>
            </a:r>
            <a:r>
              <a:rPr sz="2200" b="0" dirty="0">
                <a:latin typeface="Calibri"/>
              </a:rPr>
              <a:t>, Command-Line Packet Capture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Splunk Free, Introduction to SIEM</a:t>
            </a:r>
          </a:p>
          <a:p>
            <a:pPr>
              <a:spcAft>
                <a:spcPts val="500"/>
              </a:spcAft>
            </a:pPr>
            <a:r>
              <a:rPr sz="2200" b="0" dirty="0">
                <a:latin typeface="Calibri"/>
              </a:rPr>
              <a:t>Integrated Hands-On Security Investigation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Wireshark? </a:t>
            </a:r>
            <a:r>
              <a:rPr sz="2200" b="0">
                <a:latin typeface="Calibri"/>
              </a:rPr>
              <a:t>a free, open-source graphical packet analyser that captures network traffic and shows it in readable form.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 of packet analysis: </a:t>
            </a:r>
            <a:r>
              <a:rPr sz="2200" b="0">
                <a:latin typeface="Calibri"/>
              </a:rPr>
              <a:t>see exactly what travels on the wire: who talks to whom, using which protocol, with what data.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Role in SOC and network security: </a:t>
            </a:r>
            <a:r>
              <a:rPr sz="2200" b="0">
                <a:latin typeface="Calibri"/>
              </a:rPr>
              <a:t>confirms alerts with real evidence, reconstructs attacks and finds malware communication.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Common use cases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Troubleshooting slow or broken network connections.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Investigating suspicious hosts, DNS and HTTP activity.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Detecting cleartext credentials and data leakage.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Analysing PCAP files from incidents or malware samples.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INTRODUCTION TO WIRESHARK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Menu bar: </a:t>
            </a:r>
            <a:r>
              <a:rPr sz="2200" b="0">
                <a:latin typeface="Calibri"/>
              </a:rPr>
              <a:t>File, Edit, View, Capture, Analyze, Statistics and other main commands.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Toolbar: </a:t>
            </a:r>
            <a:r>
              <a:rPr sz="2200" b="0">
                <a:latin typeface="Calibri"/>
              </a:rPr>
              <a:t>quick buttons to start/stop capture, open/save files, apply filters and zoom.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Packet List pane: </a:t>
            </a:r>
            <a:r>
              <a:rPr sz="2200" b="0">
                <a:latin typeface="Calibri"/>
              </a:rPr>
              <a:t>one row per packet (number, time, source, destination, protocol, info).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Packet Details pane: </a:t>
            </a:r>
            <a:r>
              <a:rPr sz="2200" b="0">
                <a:latin typeface="Calibri"/>
              </a:rPr>
              <a:t>selected packet broken down layer by layer (Ethernet, IP, TCP, application).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Packet Bytes pane: </a:t>
            </a:r>
            <a:r>
              <a:rPr sz="2200" b="0">
                <a:latin typeface="Calibri"/>
              </a:rPr>
              <a:t>raw packet content in hexadecimal and ASCII.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Status bar: </a:t>
            </a:r>
            <a:r>
              <a:rPr sz="2200" b="0">
                <a:latin typeface="Calibri"/>
              </a:rPr>
              <a:t>shows capture file, packets displayed/captured and the active profile.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WIRESHARK INTERFACE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Live packet capture: </a:t>
            </a:r>
            <a:r>
              <a:rPr sz="2200" b="0">
                <a:latin typeface="Calibri"/>
              </a:rPr>
              <a:t>records packets as they cross a network interface in real time.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Selecting a network interface: </a:t>
            </a:r>
            <a:r>
              <a:rPr sz="2200" b="0">
                <a:latin typeface="Calibri"/>
              </a:rPr>
              <a:t>choose Wi-Fi, Ethernet or loopback on the start screen; the small graph beside each shows activity.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Starting and stopping: </a:t>
            </a:r>
            <a:r>
              <a:rPr sz="2200" b="0">
                <a:latin typeface="Calibri"/>
              </a:rPr>
              <a:t>the blue shark-fin starts and the red square stops. Long captures grow large, so stop when done.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Saving captured traffic: </a:t>
            </a:r>
            <a:r>
              <a:rPr sz="2200" b="0">
                <a:latin typeface="Calibri"/>
              </a:rPr>
              <a:t>File &gt; Save As keeps it as a .pcapng file for later analysis.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Good practice: </a:t>
            </a:r>
            <a:r>
              <a:rPr sz="2200" b="0">
                <a:latin typeface="Calibri"/>
              </a:rPr>
              <a:t>capture only on authorised networks and keep captures as short as the investigation needs.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CAPTURING NETWORK TRAFFIC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WORKING WITH PCAP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PCAP is a saved record of captured packets; it lets you analyse traffic later without being on the network.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Live capture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Offline analysis (PCAP)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Real-time packets from an interface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Packets read from a saved file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Traffic changes constantly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Same data every time, repeatable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Needs capture privileges on the host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Safe to analyse anywhere, easy to share as evidence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799"/>
            <a:ext cx="10360152" cy="164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Opening: File &gt; Open.  Saving/exporting: File &gt; Save As, or File &gt; Export Specified Packets for a filtered subset.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WIRESHARK DISPLAY FILTERS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Display filters hide packets you do not need, so only relevant traffic remains. Type in the filter bar and press Enter.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ip.addr == 192.168.1.10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Traffic involving a specific IP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tcp.port == 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TCP traffic on port 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http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HTTP traffic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dns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DNS traffic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617719"/>
            <a:ext cx="10360152" cy="114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Combine with &amp;&amp; (and), || (or) and ! (not), e.g. ip.addr == 192.168.1.10 &amp;&amp; dns.  A green filter bar means valid syntax.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a TCP stream? </a:t>
            </a:r>
            <a:r>
              <a:rPr sz="2200" b="0">
                <a:latin typeface="Calibri"/>
              </a:rPr>
              <a:t>all packets of one TCP conversation between a client and a server, from handshake to close.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How: </a:t>
            </a:r>
            <a:r>
              <a:rPr sz="2200" b="0">
                <a:latin typeface="Calibri"/>
              </a:rPr>
              <a:t>right-click a packet &gt; Follow &gt; TCP Stream (Ctrl+Alt+Shift+T).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Reconstructing communication: </a:t>
            </a:r>
            <a:r>
              <a:rPr sz="2200" b="0">
                <a:latin typeface="Calibri"/>
              </a:rPr>
              <a:t>Wireshark joins the packet payloads into readable text.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Client-server conversation: </a:t>
            </a:r>
            <a:r>
              <a:rPr sz="2200" b="0">
                <a:latin typeface="Calibri"/>
              </a:rPr>
              <a:t>red text is data sent by the client, blue is the server's reply.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Investigating suspicious communication: </a:t>
            </a:r>
            <a:r>
              <a:rPr sz="2200" b="0">
                <a:latin typeface="Calibri"/>
              </a:rPr>
              <a:t>reveals commands, downloaded files, login pages and data being sent out.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FOLLOWING A TCP STREAM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HTTP vs HTTPS: </a:t>
            </a:r>
            <a:r>
              <a:rPr sz="2200" b="0">
                <a:latin typeface="Calibri"/>
              </a:rPr>
              <a:t>HTTP sends data as plain text; HTTPS encrypts it with TLS.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Why HTTP credentials are exposed: </a:t>
            </a:r>
            <a:r>
              <a:rPr sz="2200" b="0">
                <a:latin typeface="Calibri"/>
              </a:rPr>
              <a:t>anyone who can capture the traffic can read form data, including usernames and passwords.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credentials: </a:t>
            </a:r>
            <a:r>
              <a:rPr sz="2200" b="0">
                <a:latin typeface="Calibri"/>
              </a:rPr>
              <a:t>filter http.request.method == POST, then follow the stream or inspect the HTML Form data.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Security implications: </a:t>
            </a:r>
            <a:r>
              <a:rPr sz="2200" b="0">
                <a:latin typeface="Calibri"/>
              </a:rPr>
              <a:t>stolen credentials and account takeover, so use HTTPS everywhere plus MFA.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Lab rule: </a:t>
            </a:r>
            <a:r>
              <a:rPr sz="2200" b="0">
                <a:latin typeface="Calibri"/>
              </a:rPr>
              <a:t>demonstrate only on an intentionally vulnerable local lab or a provided PCAP, never on real users' traffic.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IDENTIFYING CLEARTEXT CREDENTIALS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Normal DNS: </a:t>
            </a:r>
            <a:r>
              <a:rPr sz="2200" b="0">
                <a:latin typeface="Calibri"/>
              </a:rPr>
              <a:t>short, readable domains (e.g. google.com), moderate volume, answered by the organisation's resolver.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Suspicious domains: </a:t>
            </a:r>
            <a:r>
              <a:rPr sz="2200" b="0">
                <a:latin typeface="Calibri"/>
              </a:rPr>
              <a:t>newly registered, odd top-level domains, or known malicious names.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High-volume DNS requests: </a:t>
            </a:r>
            <a:r>
              <a:rPr sz="2200" b="0">
                <a:latin typeface="Calibri"/>
              </a:rPr>
              <a:t>one host sending thousands of queries may indicate malware or data exfiltration.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Long / random-looking domains: </a:t>
            </a:r>
            <a:r>
              <a:rPr sz="2200" b="0">
                <a:latin typeface="Calibri"/>
              </a:rPr>
              <a:t>e.g. x8f2k9qz7a.example.com, typical of domain generation algorithms.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Possible DNS tunnelling: </a:t>
            </a:r>
            <a:r>
              <a:rPr sz="2200" b="0">
                <a:latin typeface="Calibri"/>
              </a:rPr>
              <a:t>long encoded subdomains, many TXT queries and large responses to a single domain.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Filter: </a:t>
            </a:r>
            <a:r>
              <a:rPr sz="2200" b="0">
                <a:latin typeface="Calibri"/>
              </a:rPr>
              <a:t>dns   or   dns.qry.name contains "example"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DETECTING UNUSUAL DNS QUERIES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Found under the Statistics menu; gives a big-picture view of a capture.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Protocol Hierarchy: </a:t>
            </a:r>
            <a:r>
              <a:rPr sz="2200" b="0">
                <a:latin typeface="Calibri"/>
              </a:rPr>
              <a:t>percentage of traffic by protocol (Statistics &gt; Protocol Hierarchy); odd protocols stand out.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Conversations: </a:t>
            </a:r>
            <a:r>
              <a:rPr sz="2200" b="0">
                <a:latin typeface="Calibri"/>
              </a:rPr>
              <a:t>pairs of hosts talking, with packets and bytes; finds the heaviest or strangest talkers.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Endpoints: </a:t>
            </a:r>
            <a:r>
              <a:rPr sz="2200" b="0">
                <a:latin typeface="Calibri"/>
              </a:rPr>
              <a:t>every IP/MAC/port seen and how much it sent and received.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I/O Graphs: </a:t>
            </a:r>
            <a:r>
              <a:rPr sz="2200" b="0">
                <a:latin typeface="Calibri"/>
              </a:rPr>
              <a:t>traffic volume over time; spikes can show scans, floods or beaconing.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PROTOCOL STATISTICS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WIRESHARK INVESTIGATION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consistent order of steps turns thousands of packets into a clear finding.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Capture / PCAP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Get the traffic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3253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30997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Filter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Narrow it down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985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47594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Identify Host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Find the suspect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6447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64191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Follow Traffic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Follow TCP stream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4304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80788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Analyse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Protocols, payloads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59641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97385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Identify Anomaly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What is abnormal?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7623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13982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Document Findings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IOCs and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Start with Statistics (hierarchy, conversations) to decide where to look first.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Nmap? </a:t>
            </a:r>
            <a:r>
              <a:rPr sz="2200" b="0">
                <a:latin typeface="Calibri"/>
              </a:rPr>
              <a:t>Network Mapper, a free command-line tool for discovering hosts and services on a network.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 of network scanning: </a:t>
            </a:r>
            <a:r>
              <a:rPr sz="2200" b="0">
                <a:latin typeface="Calibri"/>
              </a:rPr>
              <a:t>build an inventory of devices and find exposed services before attackers do.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Host discovery: </a:t>
            </a:r>
            <a:r>
              <a:rPr sz="2200" b="0">
                <a:latin typeface="Calibri"/>
              </a:rPr>
              <a:t>find which devices are alive.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Port scanning: </a:t>
            </a:r>
            <a:r>
              <a:rPr sz="2200" b="0">
                <a:latin typeface="Calibri"/>
              </a:rPr>
              <a:t>find which ports are open on each host.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Service identification: </a:t>
            </a:r>
            <a:r>
              <a:rPr sz="2200" b="0">
                <a:latin typeface="Calibri"/>
              </a:rPr>
              <a:t>learn what software runs on each open port.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OS detection: </a:t>
            </a:r>
            <a:r>
              <a:rPr sz="2200" b="0">
                <a:latin typeface="Calibri"/>
              </a:rPr>
              <a:t>estimate the target's operating system.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Only scan systems you own or have written permission to test.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INTRODUCTION TO NMAP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UNDERSTANDING PORTS AND SERVICES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An IP address finds the device; a port number finds the service on it. TCP and UDP each have 65,535 ports.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Port state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A service is listening and accepting connections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Reachable, but no service is listening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Filtered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A firewall blocks probes, so the state cannot be determined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114799"/>
            <a:ext cx="10360152" cy="1645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Common services: 21 FTP, 22 SSH, 23 Telnet, 25 SMTP, 53 DNS, 80 HTTP, 443 HTTPS, 445 SMB, 3389 RDP.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nmap -sS 192.168.1.10   (needs root / administrator)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Purpose: </a:t>
            </a:r>
            <a:r>
              <a:rPr sz="2200" b="0">
                <a:latin typeface="Calibri"/>
              </a:rPr>
              <a:t>fast, popular scan for open TCP ports; also called a half-open or stealth scan.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How it works: </a:t>
            </a:r>
            <a:r>
              <a:rPr sz="2200" b="0">
                <a:latin typeface="Calibri"/>
              </a:rPr>
              <a:t>Nmap sends SYN. SYN/ACK means open; RST means closed; no reply means filtered. Nmap then sends RST and never completes the handshake.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Advantages: </a:t>
            </a:r>
            <a:r>
              <a:rPr sz="2200" b="0">
                <a:latin typeface="Calibri"/>
              </a:rPr>
              <a:t>fast, less likely to be logged by applications, works against most systems.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Interpreting results: </a:t>
            </a:r>
            <a:r>
              <a:rPr sz="2200" b="0">
                <a:latin typeface="Calibri"/>
              </a:rPr>
              <a:t>the PORT / STATE / SERVICE table lists open, closed and filtered ports.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TCP SYN SCAN (-sS)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TCP CONNECT SCAN (-sT)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Uses the operating system's normal connect() call, so it performs the full three-way handshake.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239801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SYN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Nmap to target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3070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568446" y="2331720"/>
            <a:ext cx="239801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SYN/ACK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Target replies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8474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22492" y="2331720"/>
            <a:ext cx="239801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ACK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Connection completes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63879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876538" y="2331720"/>
            <a:ext cx="239801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Close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Nmap ends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Purpose: used when no root privileges are available (the default for non-privileged users).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Difference from -sS: -sT completes the handshake, so it is slower and more easily logged; -sS stops after the SYN/ACK.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nmap -sU 192.168.1.10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Purpose: </a:t>
            </a:r>
            <a:r>
              <a:rPr sz="2200" b="0">
                <a:latin typeface="Calibri"/>
              </a:rPr>
              <a:t>find UDP services such as DNS (53), DHCP (67), SNMP (161) and NTP (123).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Behaviour: </a:t>
            </a:r>
            <a:r>
              <a:rPr sz="2200" b="0">
                <a:latin typeface="Calibri"/>
              </a:rPr>
              <a:t>UDP has no handshake. ICMP 'port unreachable' means closed; a UDP reply means open; silence means open|filtered.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Challenges: </a:t>
            </a:r>
            <a:r>
              <a:rPr sz="2200" b="0">
                <a:latin typeface="Calibri"/>
              </a:rPr>
              <a:t>much slower because of ICMP rate limiting and retries; many results are uncertain.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Interpreting results: </a:t>
            </a:r>
            <a:r>
              <a:rPr sz="2200" b="0">
                <a:latin typeface="Calibri"/>
              </a:rPr>
              <a:t>treat open|filtered as 'unknown' and confirm with -sV or a targeted scan of key ports.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UDP SCAN (-sU)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nmap -sn 192.168.1.0/24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active hosts: </a:t>
            </a:r>
            <a:r>
              <a:rPr sz="2200" b="0">
                <a:latin typeface="Calibri"/>
              </a:rPr>
              <a:t>sends ping-type probes (ARP on local networks, ICMP, TCP) and lists devices that answer.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Network discovery: </a:t>
            </a:r>
            <a:r>
              <a:rPr sz="2200" b="0">
                <a:latin typeface="Calibri"/>
              </a:rPr>
              <a:t>quickly maps which IP addresses are in use, including unexpected or rogue devices.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Host discovery vs port scanning: </a:t>
            </a:r>
            <a:r>
              <a:rPr sz="2200" b="0">
                <a:latin typeface="Calibri"/>
              </a:rPr>
              <a:t>-sn only asks 'is it alive?' and does no port scan, so it is fast and light. Port scans ask 'what is open?'.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HOST DISCOVERY (-sn)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nmap -sV 192.168.1.10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running services: </a:t>
            </a:r>
            <a:r>
              <a:rPr sz="2200" b="0">
                <a:latin typeface="Calibri"/>
              </a:rPr>
              <a:t>probes open ports and reads banners to name the real service, even on non-standard ports.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Version detection: </a:t>
            </a:r>
            <a:r>
              <a:rPr sz="2200" b="0">
                <a:latin typeface="Calibri"/>
              </a:rPr>
              <a:t>reports product and version, e.g. OpenSSH 7.4 or Apache 2.4.49.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Security relevance: </a:t>
            </a:r>
            <a:r>
              <a:rPr sz="2200" b="0">
                <a:latin typeface="Calibri"/>
              </a:rPr>
              <a:t>old versions often have known vulnerabilities (CVEs).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Vulnerability assessment context: </a:t>
            </a:r>
            <a:r>
              <a:rPr sz="2200" b="0">
                <a:latin typeface="Calibri"/>
              </a:rPr>
              <a:t>the version list is compared with vulnerability databases to prioritise patching.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SERVICE / VERSION DETECTION (-sV)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nmap -O 192.168.1.10   (needs root / administrator)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Purpose: </a:t>
            </a:r>
            <a:r>
              <a:rPr sz="2200" b="0">
                <a:latin typeface="Calibri"/>
              </a:rPr>
              <a:t>guess the target's operating system and version.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How Nmap estimates: </a:t>
            </a:r>
            <a:r>
              <a:rPr sz="2200" b="0">
                <a:latin typeface="Calibri"/>
              </a:rPr>
              <a:t>sends special TCP/UDP/ICMP probes and compares replies (TTL, window size, TCP options) with a database of fingerprints.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Factors affecting accuracy: </a:t>
            </a:r>
            <a:r>
              <a:rPr sz="2200" b="0">
                <a:latin typeface="Calibri"/>
              </a:rPr>
              <a:t>firewalls, NAT, virtualisation, too few open/closed ports, customised network stacks.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Interpreting results: </a:t>
            </a:r>
            <a:r>
              <a:rPr sz="2200" b="0">
                <a:latin typeface="Calibri"/>
              </a:rPr>
              <a:t>shows 'OS details' and an accuracy percentage; treat it as a best guess, not proof.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OS FINGERPRINTING (-O)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NSE? </a:t>
            </a:r>
            <a:r>
              <a:rPr sz="2200" b="0">
                <a:latin typeface="Calibri"/>
              </a:rPr>
              <a:t>a feature that runs Lua scripts to extend what Nmap can do.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 of scripts: </a:t>
            </a:r>
            <a:r>
              <a:rPr sz="2200" b="0">
                <a:latin typeface="Calibri"/>
              </a:rPr>
              <a:t>automate discovery, enumeration, vulnerability detection and similar checks.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Default scripts: </a:t>
            </a:r>
            <a:r>
              <a:rPr sz="2200" b="0">
                <a:latin typeface="Calibri"/>
              </a:rPr>
              <a:t>-sC (or --script=default) runs a safe, commonly useful set.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Security auditing and enumeration: </a:t>
            </a:r>
            <a:r>
              <a:rPr sz="2200" b="0">
                <a:latin typeface="Calibri"/>
              </a:rPr>
              <a:t>e.g. list SMB shares, read HTTP titles, check SSL certificates.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Examples: </a:t>
            </a:r>
            <a:r>
              <a:rPr sz="2200" b="0">
                <a:latin typeface="Calibri"/>
              </a:rPr>
              <a:t>nmap -sC 192.168.1.10   nmap --script http-title 192.168.1.10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Some scripts are intrusive, so run only those you are authorised to use.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NMAP SCRIPTING ENGINE (NSE)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NMAP OUTPUT FORMATS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Saving scan results lets you compare scans over time and share evidence.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Typical use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-oN file.txt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Normal output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Human-readable report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-oX file.xml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XML output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Automation, parsing, import into other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3611879"/>
            <a:ext cx="10360152" cy="2148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Why save results: documentation, repeatable audits, comparing changes, and feeding SIEM or security tools.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Example: nmap -sV -oN scan.txt -oX scan.xml 192.168.1.10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Live hosts: </a:t>
            </a:r>
            <a:r>
              <a:rPr sz="2200" b="0">
                <a:latin typeface="Calibri"/>
              </a:rPr>
              <a:t>'Host is up' lines show which devices responded.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Open ports: </a:t>
            </a:r>
            <a:r>
              <a:rPr sz="2200" b="0">
                <a:latin typeface="Calibri"/>
              </a:rPr>
              <a:t>entries marked 'open' are the attack surface.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Running services: </a:t>
            </a:r>
            <a:r>
              <a:rPr sz="2200" b="0">
                <a:latin typeface="Calibri"/>
              </a:rPr>
              <a:t>the SERVICE column names what is listening (ssh, http, ms-wbt-server).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Service versions: </a:t>
            </a:r>
            <a:r>
              <a:rPr sz="2200" b="0">
                <a:latin typeface="Calibri"/>
              </a:rPr>
              <a:t>the VERSION column helps find outdated, vulnerable software.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Operating system: </a:t>
            </a:r>
            <a:r>
              <a:rPr sz="2200" b="0">
                <a:latin typeface="Calibri"/>
              </a:rPr>
              <a:t>from -O, helps decide which vulnerabilities apply.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Potentially unnecessary / exposed services: </a:t>
            </a:r>
            <a:r>
              <a:rPr sz="2200" b="0">
                <a:latin typeface="Calibri"/>
              </a:rPr>
              <a:t>Telnet, FTP, SMB or RDP open to the wider network should be questioned and closed if not needed.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INTERPRETING NMAP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NMAP PRACTICAL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logical order moves from a wide view to specific detail and ends with a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Discover Hosts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-sn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3253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30997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Scan Ports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-sS / -sT / -sU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985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947594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Identify Services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Open ports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226447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64191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Detect Versions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-sV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74304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80788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Identify OS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-O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259641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97385" y="2331720"/>
            <a:ext cx="1260565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Analyse Exposure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Risky services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77623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10013982" y="2331720"/>
            <a:ext cx="1260565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Document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-oN / -oX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Example combined scan: nmap -sS -sV -O -oN report.txt 192.168.1.10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Netstat? </a:t>
            </a:r>
            <a:r>
              <a:rPr sz="2200" b="0">
                <a:latin typeface="Calibri"/>
              </a:rPr>
              <a:t>a built-in command that displays network connections, listening ports and related statistics.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Purpose: </a:t>
            </a:r>
            <a:r>
              <a:rPr sz="2200" b="0">
                <a:latin typeface="Calibri"/>
              </a:rPr>
              <a:t>see the current network state of a single host without installing anything.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Role in incident investigation: </a:t>
            </a:r>
            <a:r>
              <a:rPr sz="2200" b="0">
                <a:latin typeface="Calibri"/>
              </a:rPr>
              <a:t>quickly shows whether a compromised host is talking to an attacker.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active network connections: </a:t>
            </a:r>
            <a:r>
              <a:rPr sz="2200" b="0">
                <a:latin typeface="Calibri"/>
              </a:rPr>
              <a:t>lists who is connected, on which ports and in what state.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Unlike Nmap and Wireshark, which look from the network, Netstat looks from inside the host.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INTRODUCTION TO NETSTAT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WINDOWS NETSTAT: netstat -an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-a shows all connections and listening ports; -n shows numeric addresses instead of names, which is faster.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Column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Meaning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Proto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TCP or UDP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Local Address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This host's IP and 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Foreign Address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Remote host's IP and port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LISTENING, ESTABLISHED, TIME_WAIT, CLOSE_WAIT, SYN_SENT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617719"/>
            <a:ext cx="10360152" cy="114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Active connections show ESTABLISHED sessions; listening ports show services waiting for connections.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netstat -b   (run Command Prompt as Administrator)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the executable: </a:t>
            </a:r>
            <a:r>
              <a:rPr sz="2200" b="0">
                <a:latin typeface="Calibri"/>
              </a:rPr>
              <a:t>shows the program name in square brackets under each connection.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Investigating suspicious processes: </a:t>
            </a:r>
            <a:r>
              <a:rPr sz="2200" b="0">
                <a:latin typeface="Calibri"/>
              </a:rPr>
              <a:t>an unknown program, or a system file name running from the wrong folder, deserves a closer look.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Related option: </a:t>
            </a:r>
            <a:r>
              <a:rPr sz="2200" b="0">
                <a:latin typeface="Calibri"/>
              </a:rPr>
              <a:t>netstat -ano adds the PID, which can be matched in Task Manager or with tasklist.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Note: </a:t>
            </a:r>
            <a:r>
              <a:rPr sz="2200" b="0">
                <a:latin typeface="Calibri"/>
              </a:rPr>
              <a:t>-b can be slow and needs elevated privileges.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WINDOWS PROCESS MAPPING: netstat -b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ss (socket statistics) is the modern replacement for netstat on Linux.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ss -tnlp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t: TCP    n: numeric    l: listening    p: show process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TCP connections and listening ports: </a:t>
            </a:r>
            <a:r>
              <a:rPr sz="2200" b="0">
                <a:latin typeface="Calibri"/>
              </a:rPr>
              <a:t>lists services waiting for connections.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Process information: </a:t>
            </a:r>
            <a:r>
              <a:rPr sz="2200" b="0">
                <a:latin typeface="Calibri"/>
              </a:rPr>
              <a:t>the users: column shows process name and PID (use sudo to see all).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Comparison with netstat: </a:t>
            </a:r>
            <a:r>
              <a:rPr sz="2200" b="0">
                <a:latin typeface="Calibri"/>
              </a:rPr>
              <a:t>ss is faster, reads directly from the kernel and is installed by default; netstat -tnlp gives similar output but is deprecated.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LINUX: ss -tnlp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Unknown destination IPs: </a:t>
            </a:r>
            <a:r>
              <a:rPr sz="2200" b="0">
                <a:latin typeface="Calibri"/>
              </a:rPr>
              <a:t>addresses you cannot link to a business service.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Unusual ports: </a:t>
            </a:r>
            <a:r>
              <a:rPr sz="2200" b="0">
                <a:latin typeface="Calibri"/>
              </a:rPr>
              <a:t>e.g. 4444 or 1337, often used by malware.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Unexpected external connections: </a:t>
            </a:r>
            <a:r>
              <a:rPr sz="2200" b="0">
                <a:latin typeface="Calibri"/>
              </a:rPr>
              <a:t>servers or workstations reaching the internet without reason.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Connections from unusual processes: </a:t>
            </a:r>
            <a:r>
              <a:rPr sz="2200" b="0">
                <a:latin typeface="Calibri"/>
              </a:rPr>
              <a:t>notepad.exe or a script engine making outbound connections.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Persistent connections: </a:t>
            </a:r>
            <a:r>
              <a:rPr sz="2200" b="0">
                <a:latin typeface="Calibri"/>
              </a:rPr>
              <a:t>long-lasting or regularly repeating connections suggest beaconing to a C2 server.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Unusual listening ports: </a:t>
            </a:r>
            <a:r>
              <a:rPr sz="2200" b="0">
                <a:latin typeface="Calibri"/>
              </a:rPr>
              <a:t>new listeners can be backdoors.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ANALYSING ACTIVE 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UNUSUAL OUTBOUND CONNECTIONS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Example investigation: following one suspicious connection to its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Host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Workstation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989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7636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Unknown External IP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e.g. 203.0.113.45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312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0872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Unusual Port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e.g. 4444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636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84108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Unknown Process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Not a known app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960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7344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Reputation, file,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Check the IP on threat intelligence, locate the process file and its hash, and isolate the host if confirmed malicious.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NETSTAT / SS INVESTIGATION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repeatable process for checking any host.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List Connections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netstat -an / 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602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83764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Identify Remote IP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Who is it?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538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3128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Check Port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Expected?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474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22492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Identify Process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-b / -p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5411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91856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Assess Legitimacy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Known software?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3476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61220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Investigate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Escalate if unsure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Repeat the check later: a connection that keeps returning is more suspicious than a one-off.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Tcpdump? </a:t>
            </a:r>
            <a:r>
              <a:rPr sz="2200" b="0">
                <a:latin typeface="Calibri"/>
              </a:rPr>
              <a:t>a lightweight command-line packet capture tool for Linux and macOS.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Command-line packet analyser: </a:t>
            </a:r>
            <a:r>
              <a:rPr sz="2200" b="0">
                <a:latin typeface="Calibri"/>
              </a:rPr>
              <a:t>prints a one-line summary of each packet to the terminal.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When to use it: </a:t>
            </a:r>
            <a:r>
              <a:rPr sz="2200" b="0">
                <a:latin typeface="Calibri"/>
              </a:rPr>
              <a:t>on servers without a GUI, over SSH, for quick or scripted captures.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Role in incident response: </a:t>
            </a:r>
            <a:r>
              <a:rPr sz="2200" b="0">
                <a:latin typeface="Calibri"/>
              </a:rPr>
              <a:t>grab evidence fast, then analyse it later in Wireshark.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Needs root privileges (use sudo).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INTRODUCTION TO TCPDUMP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Starting a capture: </a:t>
            </a:r>
            <a:r>
              <a:rPr sz="2200" b="0">
                <a:latin typeface="Calibri"/>
              </a:rPr>
              <a:t>sudo tcpdump   captures on the default interface and prints packets live.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Selecting an interface: </a:t>
            </a:r>
            <a:r>
              <a:rPr sz="2200" b="0">
                <a:latin typeface="Calibri"/>
              </a:rPr>
              <a:t>sudo tcpdump -i eth0   (list interfaces with tcpdump -D).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Useful options: </a:t>
            </a:r>
            <a:r>
              <a:rPr sz="2200" b="0">
                <a:latin typeface="Calibri"/>
              </a:rPr>
              <a:t>-n (no name resolution), -c 10 (stop after 10 packets), -v (more detail).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Stopping: </a:t>
            </a:r>
            <a:r>
              <a:rPr sz="2200" b="0">
                <a:latin typeface="Calibri"/>
              </a:rPr>
              <a:t>press Ctrl+C; Tcpdump prints a summary of packets captured.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Example: </a:t>
            </a:r>
            <a:r>
              <a:rPr sz="2200" b="0">
                <a:latin typeface="Calibri"/>
              </a:rPr>
              <a:t>sudo tcpdump -i eth0 -n -c 20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BASIC PACKET CAPTURE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tcpdump host 192.168.1.10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Both directions: </a:t>
            </a:r>
            <a:r>
              <a:rPr sz="2200" b="0">
                <a:latin typeface="Calibri"/>
              </a:rPr>
              <a:t>host shows traffic to and from the address.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Source host: </a:t>
            </a:r>
            <a:r>
              <a:rPr sz="2200" b="0">
                <a:latin typeface="Calibri"/>
              </a:rPr>
              <a:t>tcpdump src host 192.168.1.10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Destination host: </a:t>
            </a:r>
            <a:r>
              <a:rPr sz="2200" b="0">
                <a:latin typeface="Calibri"/>
              </a:rPr>
              <a:t>tcpdump dst host 203.0.113.45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Host-based investigation: </a:t>
            </a:r>
            <a:r>
              <a:rPr sz="2200" b="0">
                <a:latin typeface="Calibri"/>
              </a:rPr>
              <a:t>focus on one suspect machine or a suspicious external IP.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Combine: </a:t>
            </a:r>
            <a:r>
              <a:rPr sz="2200" b="0">
                <a:latin typeface="Calibri"/>
              </a:rPr>
              <a:t>tcpdump host 192.168.1.10 and port 443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HOST-BASED FILTERS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Command: </a:t>
            </a:r>
            <a:r>
              <a:rPr sz="2200" b="0">
                <a:latin typeface="Calibri"/>
              </a:rPr>
              <a:t>tcpdump port 80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HTTP traffic: </a:t>
            </a:r>
            <a:r>
              <a:rPr sz="2200" b="0">
                <a:latin typeface="Calibri"/>
              </a:rPr>
              <a:t>tcpdump port 80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SSH traffic: </a:t>
            </a:r>
            <a:r>
              <a:rPr sz="2200" b="0">
                <a:latin typeface="Calibri"/>
              </a:rPr>
              <a:t>tcpdump port 22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DNS traffic: </a:t>
            </a:r>
            <a:r>
              <a:rPr sz="2200" b="0">
                <a:latin typeface="Calibri"/>
              </a:rPr>
              <a:t>tcpdump port 53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Filtering unnecessary traffic: </a:t>
            </a:r>
            <a:r>
              <a:rPr sz="2200" b="0">
                <a:latin typeface="Calibri"/>
              </a:rPr>
              <a:t>exclude noise, e.g. tcpdump not port 22 when connected over SSH.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Protocol filters also work: </a:t>
            </a:r>
            <a:r>
              <a:rPr sz="2200" b="0">
                <a:latin typeface="Calibri"/>
              </a:rPr>
              <a:t>tcpdump tcp, tcpdump udp, tcpdump icmp.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PORT-BASED FILTERS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Writing: </a:t>
            </a:r>
            <a:r>
              <a:rPr sz="2200" b="0">
                <a:latin typeface="Calibri"/>
              </a:rPr>
              <a:t>sudo tcpdump -i eth0 -w capture.pcap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Saves full packets as evidence (no screen output); stop with Ctrl+C.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Add a filter to keep files small: tcpdump -i eth0 host 203.0.113.45 -w capture.pcap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Reading: </a:t>
            </a:r>
            <a:r>
              <a:rPr sz="2200" b="0">
                <a:latin typeface="Calibri"/>
              </a:rPr>
              <a:t>tcpdump -r capture.pcap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Offline analysis without touching the live network.</a:t>
            </a:r>
          </a:p>
          <a:p>
            <a:pPr lvl="1">
              <a:spcAft>
                <a:spcPts val="500"/>
              </a:spcAft>
            </a:pPr>
            <a:r>
              <a:rPr sz="2200" b="0">
                <a:latin typeface="Calibri"/>
              </a:rPr>
              <a:t>Filter previously captured traffic: tcpdump -r capture.pcap port 53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Sharing: </a:t>
            </a:r>
            <a:r>
              <a:rPr sz="2200" b="0">
                <a:latin typeface="Calibri"/>
              </a:rPr>
              <a:t>the .pcap opens directly in Wireshark for detailed examination.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WRITING AND READING CAPTURE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TCPDUMP VS WIRESHARK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Both capture packets and use the same PCAP format, but they suit different moments of an investigation.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72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12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Tcpdump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Wireshark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Interface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Command line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Graphical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Resource 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Very light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Heavier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Best on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Servers, remote SSH sessions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Analyst workstations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Analysis depth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Basic packet summaries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Deep: streams, statistics, graphs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Learning curve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Needs filter syntax knowledge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Easier to explore visually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WHEN TO USE TCPDUMP VS WIRESHARK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The tools work best together: capture quickly, analyse thoroughly.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3282696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Tcpdump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Quick capture and filtering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1538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53128" y="2331720"/>
            <a:ext cx="3282696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Save .pcap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Evidence file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75411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91856" y="2331720"/>
            <a:ext cx="3282696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Wireshark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Detailed packet investigation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Use Tcpdump on a remote server to capture, copy the file to your workstation, then investigate it in Wireshark.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Splunk? </a:t>
            </a:r>
            <a:r>
              <a:rPr sz="2200" b="0">
                <a:latin typeface="Calibri"/>
              </a:rPr>
              <a:t>a platform that collects, indexes and searches machine data such as logs and events.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Security monitoring platform: </a:t>
            </a:r>
            <a:r>
              <a:rPr sz="2200" b="0">
                <a:latin typeface="Calibri"/>
              </a:rPr>
              <a:t>lets analysts search logs, build alerts and dashboards to spot threats.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SIEM concept: </a:t>
            </a:r>
            <a:r>
              <a:rPr sz="2200" b="0">
                <a:latin typeface="Calibri"/>
              </a:rPr>
              <a:t>Security Information and Event Management, meaning centralised logs plus detection and reporting.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Role in SOC operations: </a:t>
            </a:r>
            <a:r>
              <a:rPr sz="2200" b="0">
                <a:latin typeface="Calibri"/>
              </a:rPr>
              <a:t>the main place analysts search, correlate and confirm alerts.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Splunk Free: </a:t>
            </a:r>
            <a:r>
              <a:rPr sz="2200" b="0">
                <a:latin typeface="Calibri"/>
              </a:rPr>
              <a:t>a no-cost licence with a limited daily indexing volume, ideal for learning.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INTRODUCTION TO SPLUNK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SPLUNK ARCHITECTURE: BASIC CONCEPT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Data moves from its source to a searchable, visual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Data Sources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Logs, devices, apps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989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7636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Data Ingestion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Upload, forwarders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312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0872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Indexing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Stored and searchable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636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84108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Searching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SPL queries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960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7344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Visualisation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Charts, dashboards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Core components: forwarders send data, indexers store it, the search head is where you search (Splunk Free runs all on one machine).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Installing Splunk Free: </a:t>
            </a:r>
            <a:r>
              <a:rPr sz="2200" b="0">
                <a:latin typeface="Calibri"/>
              </a:rPr>
              <a:t>download Splunk Enterprise from splunk.com (free account needed) and install it; after the trial it can be switched to the Free licence.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Accessing the interface: </a:t>
            </a:r>
            <a:r>
              <a:rPr sz="2200" b="0">
                <a:latin typeface="Calibri"/>
              </a:rPr>
              <a:t>open a browser at http://localhost:8000 (Splunk Web).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Basic configuration: </a:t>
            </a:r>
            <a:r>
              <a:rPr sz="2200" b="0">
                <a:latin typeface="Calibri"/>
              </a:rPr>
              <a:t>create the admin username and password on first start; choose the Free licence if asked.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Login / dashboard overview: </a:t>
            </a:r>
            <a:r>
              <a:rPr sz="2200" b="0">
                <a:latin typeface="Calibri"/>
              </a:rPr>
              <a:t>the Home page shows the Search &amp; Reporting app, Add Data and Apps menus.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Default ports: </a:t>
            </a:r>
            <a:r>
              <a:rPr sz="2200" b="0">
                <a:latin typeface="Calibri"/>
              </a:rPr>
              <a:t>8000 web interface, 8089 management, 9997 receiving.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SPLUNK INSTALLATION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a data source? </a:t>
            </a:r>
            <a:r>
              <a:rPr sz="2200" b="0">
                <a:latin typeface="Calibri"/>
              </a:rPr>
              <a:t>anything that produces logs: servers, firewalls, applications or a log file.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Uploading / ingesting data: </a:t>
            </a:r>
            <a:r>
              <a:rPr sz="2200" b="0">
                <a:latin typeface="Calibri"/>
              </a:rPr>
              <a:t>Settings &gt; Add Data &gt; Upload, choose the file, set sourcetype, host and index, then Submit.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Log files: </a:t>
            </a:r>
            <a:r>
              <a:rPr sz="2200" b="0">
                <a:latin typeface="Calibri"/>
              </a:rPr>
              <a:t>e.g. auth.log, Windows event exports, web server access logs.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Sample security data: </a:t>
            </a:r>
            <a:r>
              <a:rPr sz="2200" b="0">
                <a:latin typeface="Calibri"/>
              </a:rPr>
              <a:t>use provided or tutorial data sets to practise safely.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Check the result: </a:t>
            </a:r>
            <a:r>
              <a:rPr sz="2200" b="0">
                <a:latin typeface="Calibri"/>
              </a:rPr>
              <a:t>open Search and run a query to confirm events appear.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ADDING A DATA SOURCE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an index? </a:t>
            </a:r>
            <a:r>
              <a:rPr sz="2200" b="0">
                <a:latin typeface="Calibri"/>
              </a:rPr>
              <a:t>a storage location where Splunk keeps incoming data in searchable form.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Purpose of indexes: </a:t>
            </a:r>
            <a:r>
              <a:rPr sz="2200" b="0">
                <a:latin typeface="Calibri"/>
              </a:rPr>
              <a:t>organise data (e.g. windows, firewall, web), control retention and access, and speed up searches.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Default index: </a:t>
            </a:r>
            <a:r>
              <a:rPr sz="2200" b="0">
                <a:latin typeface="Calibri"/>
              </a:rPr>
              <a:t>main, used when no other index is chosen.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Searching across indexes: </a:t>
            </a:r>
            <a:r>
              <a:rPr sz="2200" b="0">
                <a:latin typeface="Calibri"/>
              </a:rPr>
              <a:t>index=main searches one; index=* searches all; index=web OR index=firewall searches selected ones.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Always limit the time range (e.g. Last 24 hours) to keep searches fast.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UNDERSTANDING INDEXES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BASIC SPL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SPL (Search Processing Language) is Splunk's query language. A search filters events first, then can pipe (|) results into commands.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Search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index=*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Show all events from every index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index=* error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Events containing the word 'error'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index=* failed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Events containing 'failed' (e.g. failed logins)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index=* failed | stats count by 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Count failures per host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617719"/>
            <a:ext cx="10360152" cy="1143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Keyword searches are not case-sensitive.  Use AND, OR, NOT and quotes for phrases, e.g. index=* "failed password".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a sourcetype? </a:t>
            </a:r>
            <a:r>
              <a:rPr sz="2200" b="0">
                <a:latin typeface="Calibri"/>
              </a:rPr>
              <a:t>a label that tells Splunk the data format (e.g. linux_secure, access_combined, WinEventLog).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Why sourcetypes matter: </a:t>
            </a:r>
            <a:r>
              <a:rPr sz="2200" b="0">
                <a:latin typeface="Calibri"/>
              </a:rPr>
              <a:t>Splunk uses it to split events correctly, find the timestamp and extract fields.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the type / format: </a:t>
            </a:r>
            <a:r>
              <a:rPr sz="2200" b="0">
                <a:latin typeface="Calibri"/>
              </a:rPr>
              <a:t>set during Add Data and visible in the sourcetype field of every event.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Using sourcetypes in searches: </a:t>
            </a:r>
            <a:r>
              <a:rPr sz="2200" b="0">
                <a:latin typeface="Calibri"/>
              </a:rPr>
              <a:t>index=* sourcetype=linux_secure failed</a:t>
            </a:r>
          </a:p>
          <a:p>
            <a:pPr>
              <a:spcAft>
                <a:spcPts val="500"/>
              </a:spcAft>
            </a:pPr>
            <a:r>
              <a:rPr sz="2200" b="0">
                <a:latin typeface="Calibri"/>
              </a:rPr>
              <a:t>A wrong sourcetype means badly parsed events and missing fields.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SOURCETYPES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SPLUNK SEARCH 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A simple routine for any investigation in Splunk.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Select Index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Where is the data?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79989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037636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Enter Search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SPL query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2312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60872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Filter Events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Narrow results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4636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284108" y="2331720"/>
            <a:ext cx="1867204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Analyse Results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Read events, fields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6960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407344" y="2331720"/>
            <a:ext cx="1867204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Generate Statistics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stats, counts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Set a time range first; refine the search step by step rather than writing one long query.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Where: </a:t>
            </a:r>
            <a:r>
              <a:rPr sz="2200" b="0">
                <a:latin typeface="Calibri"/>
              </a:rPr>
              <a:t>after a search with a transforming command such as stats, the Statistics tab shows a results table.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Event counts: </a:t>
            </a:r>
            <a:r>
              <a:rPr sz="2200" b="0">
                <a:latin typeface="Calibri"/>
              </a:rPr>
              <a:t>index=* failed | stats count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Grouping results: </a:t>
            </a:r>
            <a:r>
              <a:rPr sz="2200" b="0">
                <a:latin typeface="Calibri"/>
              </a:rPr>
              <a:t>index=* failed | stats count by host   (or by src_ip)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Basic statistics: </a:t>
            </a:r>
            <a:r>
              <a:rPr sz="2200" b="0">
                <a:latin typeface="Calibri"/>
              </a:rPr>
              <a:t>count, dc (distinct count), sum, avg, top and rare.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Identifying trends and anomalies: </a:t>
            </a:r>
            <a:r>
              <a:rPr sz="2200" b="0">
                <a:latin typeface="Calibri"/>
              </a:rPr>
              <a:t>sort the results; one source with a very high failure count stands out. The Visualization tab turns the table into a chart.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STATISTICS TAB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38200" y="1243013"/>
            <a:ext cx="10515601" cy="4900000"/>
          </a:xfrm>
        </p:spPr>
        <p:txBody>
          <a:bodyPr>
            <a:noAutofit/>
          </a:bodyPr>
          <a:lstStyle/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What is a saved search? </a:t>
            </a:r>
            <a:r>
              <a:rPr sz="2200" b="0">
                <a:latin typeface="Calibri"/>
              </a:rPr>
              <a:t>a search query stored under a name so it can be run again.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Creating a search: </a:t>
            </a:r>
            <a:r>
              <a:rPr sz="2200" b="0">
                <a:latin typeface="Calibri"/>
              </a:rPr>
              <a:t>run the query in Search &amp; Reporting and confirm the results are useful.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Saving search queries: </a:t>
            </a:r>
            <a:r>
              <a:rPr sz="2200" b="0">
                <a:latin typeface="Calibri"/>
              </a:rPr>
              <a:t>Save As &gt; Report (or Alert), give it a name and choose the time range.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Reusing searches for recurring monitoring: </a:t>
            </a:r>
            <a:r>
              <a:rPr sz="2200" b="0">
                <a:latin typeface="Calibri"/>
              </a:rPr>
              <a:t>open it from Reports, add it to a dashboard, or schedule it.</a:t>
            </a:r>
          </a:p>
          <a:p>
            <a:pPr>
              <a:spcAft>
                <a:spcPts val="500"/>
              </a:spcAft>
            </a:pPr>
            <a:r>
              <a:rPr sz="2200" b="1">
                <a:latin typeface="Calibri"/>
              </a:rPr>
              <a:t>Alerts: </a:t>
            </a:r>
            <a:r>
              <a:rPr sz="2200" b="0">
                <a:latin typeface="Calibri"/>
              </a:rPr>
              <a:t>a saved search can notify when results appear, such as multiple failed logins.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SIMPLE SAVED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SPLUNK SECURITY MONITORING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Detecting repeated failed logins from log files.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Log Source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auth.log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602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83764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Ingest Data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Add Data upload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538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3128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Search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index=* failed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474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22492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Filter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By host / user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5411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91856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Analyse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stats count by src_ip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3476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61220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Suspicious Activity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Brute-force IP found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Next step: save the search as an alert so the SOC is notified automatically.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TOOL SELECTION BASED ON INVESTIGATION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The right tool depends on the question you are asking.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874519"/>
          <a:ext cx="10360151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224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Investigation requirement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Calibri"/>
                        </a:rPr>
                        <a:t>Recommended tool</a:t>
                      </a:r>
                    </a:p>
                  </a:txBody>
                  <a:tcPr anchor="ctr">
                    <a:solidFill>
                      <a:srgbClr val="5E2A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Analyse packet capture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Wireshark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Discover hosts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Nmap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Identify open ports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Nmap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Check active connections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Netstat / 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Capture traffic from the CLI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Tcpdump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Analyse logs and events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Splunk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r>
                        <a:rPr sz="2200" b="1">
                          <a:solidFill>
                            <a:srgbClr val="222222"/>
                          </a:solidFill>
                          <a:latin typeface="Calibri"/>
                        </a:rPr>
                        <a:t>Search large volumes of logs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00">
                          <a:solidFill>
                            <a:srgbClr val="222222"/>
                          </a:solidFill>
                          <a:latin typeface="Calibri"/>
                        </a:rPr>
                        <a:t>Splunk</a:t>
                      </a:r>
                    </a:p>
                  </a:txBody>
                  <a:tcPr anchor="ctr">
                    <a:solidFill>
                      <a:srgbClr val="F3E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latin typeface="Arial"/>
              </a:rPr>
              <a:t>END-TO-END SECURITY INVESTIGATION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87D46-5373-6759-029D-6E7B93D739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01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Scenario: a workstation is suspected of communicating with a suspicious external server.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 Netstat / ss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Find outbound connections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446020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683764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 Nmap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Check the remote host (authorised lab)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215384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53128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 Tcpdump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Capture the traffic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984748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22492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 Wireshark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Filter, follow TCP, DNS/HTTP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754112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991856" y="2331720"/>
            <a:ext cx="1513332" cy="1417320"/>
          </a:xfrm>
          <a:prstGeom prst="roundRect">
            <a:avLst/>
          </a:prstGeom>
          <a:solidFill>
            <a:srgbClr val="5E2A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 Splunk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Correlate with host logs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523476" y="2930652"/>
            <a:ext cx="219456" cy="219456"/>
          </a:xfrm>
          <a:prstGeom prst="rightArrow">
            <a:avLst/>
          </a:prstGeom>
          <a:solidFill>
            <a:srgbClr val="C01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761220" y="2331720"/>
            <a:ext cx="1513332" cy="1417320"/>
          </a:xfrm>
          <a:prstGeom prst="roundRect">
            <a:avLst/>
          </a:prstGeom>
          <a:solidFill>
            <a:srgbClr val="7A3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6 Conclusion</a:t>
            </a:r>
          </a:p>
          <a:p>
            <a:pPr algn="ctr"/>
            <a:r>
              <a:rPr sz="2200">
                <a:solidFill>
                  <a:srgbClr val="F0E6F7"/>
                </a:solidFill>
                <a:latin typeface="Calibri"/>
              </a:rPr>
              <a:t>IOCs and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1036015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222222"/>
                </a:solidFill>
                <a:latin typeface="Calibri"/>
              </a:rPr>
              <a:t>•  Conclusion: identify the suspicious activity, document indicators (IP, domain, port, process) and recommend a response such as isolating the host, blocking the IP and resetting credentials.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8"/>
          <p:cNvSpPr txBox="1">
            <a:spLocks noGrp="1"/>
          </p:cNvSpPr>
          <p:nvPr>
            <p:ph type="title"/>
          </p:nvPr>
        </p:nvSpPr>
        <p:spPr>
          <a:xfrm>
            <a:off x="838200" y="238125"/>
            <a:ext cx="10444163" cy="719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3600" b="1">
                <a:latin typeface="Arial"/>
                <a:ea typeface="Arial"/>
                <a:cs typeface="Arial"/>
                <a:sym typeface="Arial"/>
              </a:rPr>
              <a:t>ANY QUERIES??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8"/>
          <p:cNvSpPr txBox="1">
            <a:spLocks noGrp="1"/>
          </p:cNvSpPr>
          <p:nvPr>
            <p:ph type="sldNum" idx="12"/>
          </p:nvPr>
        </p:nvSpPr>
        <p:spPr>
          <a:xfrm>
            <a:off x="8610602" y="64849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437" name="Google Shape;437;p48"/>
          <p:cNvSpPr txBox="1">
            <a:spLocks noGrp="1"/>
          </p:cNvSpPr>
          <p:nvPr>
            <p:ph type="body" idx="1"/>
          </p:nvPr>
        </p:nvSpPr>
        <p:spPr>
          <a:xfrm>
            <a:off x="838200" y="1243013"/>
            <a:ext cx="10515601" cy="493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                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 Contact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gayathri.g@techdefence.com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8" name="Google Shape;438;p48" descr="Top Questions on Food Regulations Answered by Expert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2689" y="1849219"/>
            <a:ext cx="5247873" cy="3724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49" descr="Stick Figure Drawing Thank You | Great PowerPoint ClipArt for Presentations  - PresenterMedia.com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10954" y="1111362"/>
            <a:ext cx="4162747" cy="5223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2052</TotalTime>
  <Words>4396</Words>
  <Application>Microsoft Office PowerPoint</Application>
  <PresentationFormat>Widescreen</PresentationFormat>
  <Paragraphs>519</Paragraphs>
  <Slides>53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Play</vt:lpstr>
      <vt:lpstr>Arial</vt:lpstr>
      <vt:lpstr>Calibri</vt:lpstr>
      <vt:lpstr>Office Theme</vt:lpstr>
      <vt:lpstr>PowerPoint Presentation</vt:lpstr>
      <vt:lpstr>CONTENT</vt:lpstr>
      <vt:lpstr>INTRODUCTION TO WIRESHARK</vt:lpstr>
      <vt:lpstr>WIRESHARK INTERFACE</vt:lpstr>
      <vt:lpstr>CAPTURING NETWORK TRAFFIC</vt:lpstr>
      <vt:lpstr>WORKING WITH PCAP FILES</vt:lpstr>
      <vt:lpstr>WIRESHARK DISPLAY FILTERS</vt:lpstr>
      <vt:lpstr>FOLLOWING A TCP STREAM</vt:lpstr>
      <vt:lpstr>IDENTIFYING CLEARTEXT CREDENTIALS</vt:lpstr>
      <vt:lpstr>DETECTING UNUSUAL DNS QUERIES</vt:lpstr>
      <vt:lpstr>PROTOCOL STATISTICS</vt:lpstr>
      <vt:lpstr>WIRESHARK INVESTIGATION WORKFLOW</vt:lpstr>
      <vt:lpstr>INTRODUCTION TO NMAP</vt:lpstr>
      <vt:lpstr>UNDERSTANDING PORTS AND SERVICES</vt:lpstr>
      <vt:lpstr>TCP SYN SCAN (-sS)</vt:lpstr>
      <vt:lpstr>TCP CONNECT SCAN (-sT)</vt:lpstr>
      <vt:lpstr>UDP SCAN (-sU)</vt:lpstr>
      <vt:lpstr>HOST DISCOVERY (-sn)</vt:lpstr>
      <vt:lpstr>SERVICE / VERSION DETECTION (-sV)</vt:lpstr>
      <vt:lpstr>OS FINGERPRINTING (-O)</vt:lpstr>
      <vt:lpstr>NMAP SCRIPTING ENGINE (NSE)</vt:lpstr>
      <vt:lpstr>NMAP OUTPUT FORMATS</vt:lpstr>
      <vt:lpstr>INTERPRETING NMAP RESULTS</vt:lpstr>
      <vt:lpstr>NMAP PRACTICAL WORKFLOW</vt:lpstr>
      <vt:lpstr>INTRODUCTION TO NETSTAT</vt:lpstr>
      <vt:lpstr>WINDOWS NETSTAT: netstat -an</vt:lpstr>
      <vt:lpstr>WINDOWS PROCESS MAPPING: netstat -b</vt:lpstr>
      <vt:lpstr>LINUX: ss -tnlp</vt:lpstr>
      <vt:lpstr>ANALYSING ACTIVE CONNECTIONS</vt:lpstr>
      <vt:lpstr>UNUSUAL OUTBOUND CONNECTIONS</vt:lpstr>
      <vt:lpstr>NETSTAT / SS INVESTIGATION WORKFLOW</vt:lpstr>
      <vt:lpstr>INTRODUCTION TO TCPDUMP</vt:lpstr>
      <vt:lpstr>BASIC PACKET CAPTURE</vt:lpstr>
      <vt:lpstr>HOST-BASED FILTERS</vt:lpstr>
      <vt:lpstr>PORT-BASED FILTERS</vt:lpstr>
      <vt:lpstr>WRITING AND READING CAPTURE FILES</vt:lpstr>
      <vt:lpstr>TCPDUMP VS WIRESHARK</vt:lpstr>
      <vt:lpstr>WHEN TO USE TCPDUMP VS WIRESHARK</vt:lpstr>
      <vt:lpstr>INTRODUCTION TO SPLUNK</vt:lpstr>
      <vt:lpstr>SPLUNK ARCHITECTURE: BASIC CONCEPT</vt:lpstr>
      <vt:lpstr>SPLUNK INSTALLATION</vt:lpstr>
      <vt:lpstr>ADDING A DATA SOURCE</vt:lpstr>
      <vt:lpstr>UNDERSTANDING INDEXES</vt:lpstr>
      <vt:lpstr>BASIC SPL</vt:lpstr>
      <vt:lpstr>SOURCETYPES</vt:lpstr>
      <vt:lpstr>SPLUNK SEARCH WORKFLOW</vt:lpstr>
      <vt:lpstr>STATISTICS TAB</vt:lpstr>
      <vt:lpstr>SIMPLE SAVED SEARCH</vt:lpstr>
      <vt:lpstr>SPLUNK SECURITY MONITORING EXAMPLE</vt:lpstr>
      <vt:lpstr>TOOL SELECTION BASED ON INVESTIGATION</vt:lpstr>
      <vt:lpstr>END-TO-END SECURITY INVESTIGATION</vt:lpstr>
      <vt:lpstr>ANY QUERIES??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SOC ERT</dc:creator>
  <cp:lastModifiedBy>Training Common</cp:lastModifiedBy>
  <cp:revision>22</cp:revision>
  <dcterms:created xsi:type="dcterms:W3CDTF">2024-01-13T08:18:00Z</dcterms:created>
  <dcterms:modified xsi:type="dcterms:W3CDTF">2026-10-24T10:08:16Z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7F129FF21C714B5C89A36A5E0B85CD42_12</vt:lpwstr>
  </property>
  <property fmtid="{D5CDD505-2E9C-101B-9397-08002B2CF9AE}" pid="3" name="KSOProductBuildVer">
    <vt:lpwstr>1033-12.2.0.23196</vt:lpwstr>
  </property>
</Properties>
</file>