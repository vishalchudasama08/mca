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image" Target="../media/image-2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9601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WORKSHOP  ·  THEORY + HANDS-ON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49377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CI/CD with Docker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74320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is the hero: one box that travels safely from your code to the world.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LJCCA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3024835"/>
            <a:ext cx="1520190" cy="625450"/>
          </a:xfrm>
          <a:prstGeom prst="rect">
            <a:avLst/>
          </a:prstGeom>
          <a:solidFill>
            <a:srgbClr val="5E6B64"/>
          </a:solidFill>
          <a:ln w="12700">
            <a:solidFill>
              <a:srgbClr val="4A5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8886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0905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2924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4943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6962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8981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1000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3019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5038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0735" y="3209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80735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84898" y="3024835"/>
            <a:ext cx="1520190" cy="62545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5944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7963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9982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2001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4020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6039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058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0077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2096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7793" y="3209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87793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312518"/>
            <a:ext cx="1520190" cy="625450"/>
          </a:xfrm>
          <a:prstGeom prst="rect">
            <a:avLst/>
          </a:prstGeom>
          <a:solidFill>
            <a:srgbClr val="3FB27F"/>
          </a:solidFill>
          <a:ln w="12700">
            <a:solidFill>
              <a:srgbClr val="2A7D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8886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0905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2924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4943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6962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8981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1000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3019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5038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80735" y="249722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80735" y="249722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84898" y="2312518"/>
            <a:ext cx="1520190" cy="625450"/>
          </a:xfrm>
          <a:prstGeom prst="rect">
            <a:avLst/>
          </a:prstGeom>
          <a:solidFill>
            <a:srgbClr val="E6E9E4"/>
          </a:solidFill>
          <a:ln w="12700">
            <a:solidFill>
              <a:srgbClr val="BFC6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25944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77963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29982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82001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34020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86039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38058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90077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42096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87793" y="249722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7793" y="249722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81369" y="1600200"/>
            <a:ext cx="1520190" cy="62545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22415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4434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26453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78472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0491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82510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34529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6548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8567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84264" y="1784909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684264" y="178490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PLAN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Session Roadmap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2360981"/>
            <a:ext cx="261518" cy="261518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64008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Why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36499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problems every team faces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125980" y="12801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12598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125980" y="205740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230886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9561" y="2360981"/>
            <a:ext cx="261518" cy="26151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230886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Ideas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2308860" y="336499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CI, CD and why Docker is the hero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3794760" y="12801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379476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3794760" y="205740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397764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8341" y="2360981"/>
            <a:ext cx="261518" cy="261518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397764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</a:t>
            </a:r>
            <a:endParaRPr lang="en-US" sz="1250" dirty="0"/>
          </a:p>
        </p:txBody>
      </p:sp>
      <p:sp>
        <p:nvSpPr>
          <p:cNvPr id="26" name="Text 21"/>
          <p:cNvSpPr txBox="1"/>
          <p:nvPr/>
        </p:nvSpPr>
        <p:spPr>
          <a:xfrm>
            <a:off x="3977640" y="336499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words and one small file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5463540" y="12801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8" name="Text 23"/>
          <p:cNvSpPr txBox="1"/>
          <p:nvPr/>
        </p:nvSpPr>
        <p:spPr>
          <a:xfrm>
            <a:off x="546354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9" name="Shape 24"/>
          <p:cNvSpPr/>
          <p:nvPr/>
        </p:nvSpPr>
        <p:spPr>
          <a:xfrm>
            <a:off x="5463540" y="205740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564642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7121" y="2360981"/>
            <a:ext cx="261518" cy="261518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564642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</a:t>
            </a:r>
            <a:endParaRPr lang="en-US" sz="1250" dirty="0"/>
          </a:p>
        </p:txBody>
      </p:sp>
      <p:sp>
        <p:nvSpPr>
          <p:cNvPr id="33" name="Text 27"/>
          <p:cNvSpPr txBox="1"/>
          <p:nvPr/>
        </p:nvSpPr>
        <p:spPr>
          <a:xfrm>
            <a:off x="5646420" y="336499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Build, test, publish and run a website image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7132320" y="1280160"/>
            <a:ext cx="1554480" cy="640080"/>
          </a:xfrm>
          <a:prstGeom prst="roundRect">
            <a:avLst>
              <a:gd name="adj" fmla="val 1428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7132320" y="12801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</a:t>
            </a:r>
            <a:endParaRPr lang="en-US" sz="1200" dirty="0"/>
          </a:p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36" name="Shape 30"/>
          <p:cNvSpPr/>
          <p:nvPr/>
        </p:nvSpPr>
        <p:spPr>
          <a:xfrm>
            <a:off x="7132320" y="2057400"/>
            <a:ext cx="1554480" cy="251460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37" name="Shape 31"/>
          <p:cNvSpPr/>
          <p:nvPr/>
        </p:nvSpPr>
        <p:spPr>
          <a:xfrm>
            <a:off x="7315200" y="2240280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3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35901" y="2360981"/>
            <a:ext cx="261518" cy="261518"/>
          </a:xfrm>
          <a:prstGeom prst="rect">
            <a:avLst/>
          </a:prstGeom>
        </p:spPr>
      </p:pic>
      <p:sp>
        <p:nvSpPr>
          <p:cNvPr id="39" name="Text 32"/>
          <p:cNvSpPr txBox="1"/>
          <p:nvPr/>
        </p:nvSpPr>
        <p:spPr>
          <a:xfrm>
            <a:off x="7315200" y="283464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250" dirty="0"/>
          </a:p>
        </p:txBody>
      </p:sp>
      <p:sp>
        <p:nvSpPr>
          <p:cNvPr id="40" name="Text 33"/>
          <p:cNvSpPr txBox="1"/>
          <p:nvPr/>
        </p:nvSpPr>
        <p:spPr>
          <a:xfrm>
            <a:off x="7315200" y="3364992"/>
            <a:ext cx="12344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Mistakes, golden rules and a quick quiz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3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WHY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Problems Every Team Faces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898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10589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89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1: “It works on my machine”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20574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Mohit’s laptop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Windows · his own setup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926080" y="217627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926080" y="217627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640080" y="2880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Linux · different setup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2926080" y="2999232"/>
            <a:ext cx="1371600" cy="402336"/>
          </a:xfrm>
          <a:prstGeom prst="roundRect">
            <a:avLst>
              <a:gd name="adj" fmla="val 13636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926080" y="2999232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663440" y="1234440"/>
            <a:ext cx="4023360" cy="2514600"/>
          </a:xfrm>
          <a:prstGeom prst="roundRect">
            <a:avLst>
              <a:gd name="adj" fmla="val 3636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846320" y="13898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67021" y="1510589"/>
            <a:ext cx="261518" cy="261518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5486400" y="1389888"/>
            <a:ext cx="3108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2: Everything is done by hand</a:t>
            </a:r>
            <a:endParaRPr lang="en-US" sz="1250" dirty="0"/>
          </a:p>
        </p:txBody>
      </p:sp>
      <p:sp>
        <p:nvSpPr>
          <p:cNvPr id="20" name="Shape 16"/>
          <p:cNvSpPr/>
          <p:nvPr/>
        </p:nvSpPr>
        <p:spPr>
          <a:xfrm>
            <a:off x="4892040" y="2075688"/>
            <a:ext cx="237744" cy="237744"/>
          </a:xfrm>
          <a:prstGeom prst="ellipse">
            <a:avLst/>
          </a:prstGeom>
          <a:solidFill>
            <a:srgbClr val="5F6662"/>
          </a:solidFill>
          <a:ln w="12700">
            <a:solidFill>
              <a:srgbClr val="5F666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4892040" y="20756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5257800" y="201168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tests… if someone remembers</a:t>
            </a:r>
            <a:endParaRPr lang="en-US" sz="1100" dirty="0"/>
          </a:p>
        </p:txBody>
      </p:sp>
      <p:sp>
        <p:nvSpPr>
          <p:cNvPr id="23" name="Shape 19"/>
          <p:cNvSpPr/>
          <p:nvPr/>
        </p:nvSpPr>
        <p:spPr>
          <a:xfrm>
            <a:off x="4892040" y="2487168"/>
            <a:ext cx="237744" cy="237744"/>
          </a:xfrm>
          <a:prstGeom prst="ellipse">
            <a:avLst/>
          </a:prstGeom>
          <a:solidFill>
            <a:srgbClr val="5F6662"/>
          </a:solidFill>
          <a:ln w="12700">
            <a:solidFill>
              <a:srgbClr val="5F6662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4892040" y="248716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5" name="Text 21"/>
          <p:cNvSpPr txBox="1"/>
          <p:nvPr/>
        </p:nvSpPr>
        <p:spPr>
          <a:xfrm>
            <a:off x="5257800" y="24231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the web server by hand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4892040" y="2898648"/>
            <a:ext cx="237744" cy="237744"/>
          </a:xfrm>
          <a:prstGeom prst="ellipse">
            <a:avLst/>
          </a:prstGeom>
          <a:solidFill>
            <a:srgbClr val="5F6662"/>
          </a:solidFill>
          <a:ln w="12700">
            <a:solidFill>
              <a:srgbClr val="5F6662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892040" y="28986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8" name="Text 24"/>
          <p:cNvSpPr txBox="1"/>
          <p:nvPr/>
        </p:nvSpPr>
        <p:spPr>
          <a:xfrm>
            <a:off x="5257800" y="283464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 to the server by hand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4892040" y="3310128"/>
            <a:ext cx="237744" cy="237744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4892040" y="33101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5257800" y="32461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Hope nothing breaks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457200" y="3931920"/>
            <a:ext cx="8229600" cy="68580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09194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188720" y="39319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fixes problem 1.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fixes problem 2. </a:t>
            </a:r>
            <a:pPr indent="0" marL="0">
              <a:buNone/>
            </a:pPr>
            <a:r>
              <a:rPr lang="en-US" sz="13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Together, they are unstoppable.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4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DOCKER RECAP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Hero: The Docker Container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325880"/>
            <a:ext cx="4023360" cy="210312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0972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5716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0461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65206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19950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374695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29440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684184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838929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993673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148418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303163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457907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612652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67396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22141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076886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31630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6375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541120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95864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50609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005353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160098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14843" y="1389888"/>
            <a:ext cx="21946" cy="197510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3152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68680" y="1627632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5F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THE BOX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68680" y="193852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8680" y="19385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 page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514600" y="1938528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2514600" y="1938528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web server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868680" y="250545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68680" y="25054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Linux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2514600" y="2505456"/>
            <a:ext cx="1554480" cy="457200"/>
          </a:xfrm>
          <a:prstGeom prst="roundRect">
            <a:avLst>
              <a:gd name="adj" fmla="val 12000"/>
            </a:avLst>
          </a:prstGeom>
          <a:solidFill>
            <a:srgbClr val="5E6B64"/>
          </a:solidFill>
          <a:ln w="12700">
            <a:solidFill>
              <a:srgbClr val="5E6B64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514600" y="2505456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457200" y="352044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the website needs travels together — so it runs the same on every computer.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663440" y="123444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800600" y="1399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4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10328" y="1508760"/>
            <a:ext cx="237744" cy="237744"/>
          </a:xfrm>
          <a:prstGeom prst="rect">
            <a:avLst/>
          </a:prstGeom>
        </p:spPr>
      </p:pic>
      <p:sp>
        <p:nvSpPr>
          <p:cNvPr id="46" name="Text 43"/>
          <p:cNvSpPr txBox="1"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 = the recipe</a:t>
            </a:r>
            <a:endParaRPr lang="en-US" sz="1150" dirty="0"/>
          </a:p>
        </p:txBody>
      </p:sp>
      <p:sp>
        <p:nvSpPr>
          <p:cNvPr id="47" name="Text 44"/>
          <p:cNvSpPr txBox="1"/>
          <p:nvPr/>
        </p:nvSpPr>
        <p:spPr>
          <a:xfrm>
            <a:off x="5394960" y="1645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text file that says how to pack the box.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4663440" y="237744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800600" y="2542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2651760"/>
            <a:ext cx="237744" cy="237744"/>
          </a:xfrm>
          <a:prstGeom prst="rect">
            <a:avLst/>
          </a:prstGeom>
        </p:spPr>
      </p:pic>
      <p:sp>
        <p:nvSpPr>
          <p:cNvPr id="51" name="Text 47"/>
          <p:cNvSpPr txBox="1"/>
          <p:nvPr/>
        </p:nvSpPr>
        <p:spPr>
          <a:xfrm>
            <a:off x="5394960" y="2468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 = the packed box</a:t>
            </a:r>
            <a:endParaRPr lang="en-US" sz="1150" dirty="0"/>
          </a:p>
        </p:txBody>
      </p:sp>
      <p:sp>
        <p:nvSpPr>
          <p:cNvPr id="52" name="Text 48"/>
          <p:cNvSpPr txBox="1"/>
          <p:nvPr/>
        </p:nvSpPr>
        <p:spPr>
          <a:xfrm>
            <a:off x="5394960" y="2788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once from the Dockerfile. Never changes.</a:t>
            </a:r>
            <a:endParaRPr lang="en-US" sz="1000" dirty="0"/>
          </a:p>
        </p:txBody>
      </p:sp>
      <p:sp>
        <p:nvSpPr>
          <p:cNvPr id="53" name="Shape 49"/>
          <p:cNvSpPr/>
          <p:nvPr/>
        </p:nvSpPr>
        <p:spPr>
          <a:xfrm>
            <a:off x="4663440" y="3520440"/>
            <a:ext cx="40233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4800600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5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0328" y="3794760"/>
            <a:ext cx="237744" cy="237744"/>
          </a:xfrm>
          <a:prstGeom prst="rect">
            <a:avLst/>
          </a:prstGeom>
        </p:spPr>
      </p:pic>
      <p:sp>
        <p:nvSpPr>
          <p:cNvPr id="56" name="Text 51"/>
          <p:cNvSpPr txBox="1"/>
          <p:nvPr/>
        </p:nvSpPr>
        <p:spPr>
          <a:xfrm>
            <a:off x="5394960" y="3611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= the warehouse</a:t>
            </a:r>
            <a:endParaRPr lang="en-US" sz="1150" dirty="0"/>
          </a:p>
        </p:txBody>
      </p:sp>
      <p:sp>
        <p:nvSpPr>
          <p:cNvPr id="57" name="Text 52"/>
          <p:cNvSpPr txBox="1"/>
          <p:nvPr/>
        </p:nvSpPr>
        <p:spPr>
          <a:xfrm>
            <a:off x="5394960" y="3931920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boxes so anyone can download and run them.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5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CI (Continuous Integration)?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8229600" cy="640080"/>
          </a:xfrm>
          <a:prstGeom prst="roundRect">
            <a:avLst>
              <a:gd name="adj" fmla="val 14286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23444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= </a:t>
            </a:r>
            <a:pPr indent="0" marL="0">
              <a:buNone/>
            </a:pPr>
            <a:r>
              <a:rPr lang="en-US" sz="13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time you push code, a robot </a:t>
            </a:r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automatically builds</a:t>
            </a:r>
            <a:pPr indent="0" marL="0">
              <a:buNone/>
            </a:pPr>
            <a:r>
              <a:rPr lang="en-US" sz="13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the Docker image and </a:t>
            </a:r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the app inside it</a:t>
            </a:r>
            <a:pPr indent="0" marL="0">
              <a:buNone/>
            </a:pPr>
            <a:r>
              <a:rPr lang="en-US" sz="13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574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2240280"/>
            <a:ext cx="320040" cy="32004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005840" y="20574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little code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2313432" y="2395728"/>
            <a:ext cx="274320" cy="0"/>
          </a:xfrm>
          <a:prstGeom prst="line">
            <a:avLst/>
          </a:prstGeom>
          <a:noFill/>
          <a:ln w="25400">
            <a:solidFill>
              <a:srgbClr val="F26B1D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606040" y="20574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0" y="2240280"/>
            <a:ext cx="320040" cy="32004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154680" y="20574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to GitHub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4462272" y="2395728"/>
            <a:ext cx="274320" cy="0"/>
          </a:xfrm>
          <a:prstGeom prst="line">
            <a:avLst/>
          </a:prstGeom>
          <a:noFill/>
          <a:ln w="25400">
            <a:solidFill>
              <a:srgbClr val="F26B1D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4754880" y="20574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4028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303520" y="20574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Robot builds the box &amp; tests it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611112" y="2395728"/>
            <a:ext cx="274320" cy="0"/>
          </a:xfrm>
          <a:prstGeom prst="line">
            <a:avLst/>
          </a:prstGeom>
          <a:noFill/>
          <a:ln w="25400">
            <a:solidFill>
              <a:srgbClr val="F26B1D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6903720" y="2057400"/>
            <a:ext cx="1828800" cy="685800"/>
          </a:xfrm>
          <a:prstGeom prst="roundRect">
            <a:avLst>
              <a:gd name="adj" fmla="val 1333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40880" y="2240280"/>
            <a:ext cx="320040" cy="32004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452360" y="2057400"/>
            <a:ext cx="1234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in minutes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7315200" y="2743200"/>
            <a:ext cx="0" cy="274320"/>
          </a:xfrm>
          <a:prstGeom prst="line">
            <a:avLst/>
          </a:prstGeom>
          <a:noFill/>
          <a:ln w="25400">
            <a:solidFill>
              <a:srgbClr val="2A7D58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1371600" y="3017520"/>
            <a:ext cx="5943600" cy="0"/>
          </a:xfrm>
          <a:prstGeom prst="line">
            <a:avLst/>
          </a:prstGeom>
          <a:noFill/>
          <a:ln w="25400">
            <a:solidFill>
              <a:srgbClr val="2A7D58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371600" y="2743200"/>
            <a:ext cx="0" cy="274320"/>
          </a:xfrm>
          <a:prstGeom prst="line">
            <a:avLst/>
          </a:prstGeom>
          <a:noFill/>
          <a:ln w="25400">
            <a:solidFill>
              <a:srgbClr val="2A7D58"/>
            </a:solidFill>
            <a:prstDash val="solid"/>
            <a:headEnd type="triangle"/>
          </a:ln>
        </p:spPr>
      </p:sp>
      <p:sp>
        <p:nvSpPr>
          <p:cNvPr id="26" name="Text 20"/>
          <p:cNvSpPr txBox="1"/>
          <p:nvPr/>
        </p:nvSpPr>
        <p:spPr>
          <a:xfrm>
            <a:off x="3429000" y="3044952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A7D5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 many times a day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457200" y="34290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64008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721608"/>
            <a:ext cx="237744" cy="237744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23444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 &amp; often</a:t>
            </a:r>
            <a:endParaRPr lang="en-US" sz="1250" dirty="0"/>
          </a:p>
        </p:txBody>
      </p:sp>
      <p:sp>
        <p:nvSpPr>
          <p:cNvPr id="31" name="Text 24"/>
          <p:cNvSpPr txBox="1"/>
          <p:nvPr/>
        </p:nvSpPr>
        <p:spPr>
          <a:xfrm>
            <a:off x="64008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every day, not every month.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3268980" y="34290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345186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61588" y="3721608"/>
            <a:ext cx="237744" cy="237744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404622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Always automatic</a:t>
            </a:r>
            <a:endParaRPr lang="en-US" sz="1250" dirty="0"/>
          </a:p>
        </p:txBody>
      </p:sp>
      <p:sp>
        <p:nvSpPr>
          <p:cNvPr id="36" name="Text 28"/>
          <p:cNvSpPr txBox="1"/>
          <p:nvPr/>
        </p:nvSpPr>
        <p:spPr>
          <a:xfrm>
            <a:off x="345186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one has to remember to test.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6080760" y="3429000"/>
            <a:ext cx="2606040" cy="1188720"/>
          </a:xfrm>
          <a:prstGeom prst="roundRect">
            <a:avLst>
              <a:gd name="adj" fmla="val 769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6263640" y="361188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3368" y="3721608"/>
            <a:ext cx="237744" cy="237744"/>
          </a:xfrm>
          <a:prstGeom prst="rect">
            <a:avLst/>
          </a:prstGeom>
        </p:spPr>
      </p:pic>
      <p:sp>
        <p:nvSpPr>
          <p:cNvPr id="40" name="Text 31"/>
          <p:cNvSpPr txBox="1"/>
          <p:nvPr/>
        </p:nvSpPr>
        <p:spPr>
          <a:xfrm>
            <a:off x="6858000" y="35661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 feedback</a:t>
            </a:r>
            <a:endParaRPr lang="en-US" sz="1250" dirty="0"/>
          </a:p>
        </p:txBody>
      </p:sp>
      <p:sp>
        <p:nvSpPr>
          <p:cNvPr id="41" name="Text 32"/>
          <p:cNvSpPr txBox="1"/>
          <p:nvPr/>
        </p:nvSpPr>
        <p:spPr>
          <a:xfrm>
            <a:off x="6263640" y="416052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about a bug while it’s fresh.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6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IDEA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CD? Two Flavours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Delivery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tested image is pushed to Docker Hub, ready to run. A person decides when it goes live.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8580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55448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42316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42316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91840" y="2587752"/>
            <a:ext cx="438912" cy="438912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3840480" y="260604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840480" y="2606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8580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2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person presses “go live”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663440" y="1234440"/>
            <a:ext cx="4023360" cy="2606040"/>
          </a:xfrm>
          <a:prstGeom prst="roundRect">
            <a:avLst>
              <a:gd name="adj" fmla="val 350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9204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Deployment</a:t>
            </a:r>
            <a:endParaRPr lang="en-US" sz="1600" dirty="0"/>
          </a:p>
        </p:txBody>
      </p:sp>
      <p:sp>
        <p:nvSpPr>
          <p:cNvPr id="21" name="Text 18"/>
          <p:cNvSpPr txBox="1"/>
          <p:nvPr/>
        </p:nvSpPr>
        <p:spPr>
          <a:xfrm>
            <a:off x="4892040" y="178308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tested image goes live on the server automatically. No button at all.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89204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89204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576072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576072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6629400" y="2606040"/>
            <a:ext cx="731520" cy="411480"/>
          </a:xfrm>
          <a:prstGeom prst="roundRect">
            <a:avLst>
              <a:gd name="adj" fmla="val 13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629400" y="2606040"/>
            <a:ext cx="731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pic>
        <p:nvPicPr>
          <p:cNvPr id="2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2587752"/>
            <a:ext cx="438912" cy="438912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8046720" y="2606040"/>
            <a:ext cx="457200" cy="411480"/>
          </a:xfrm>
          <a:prstGeom prst="roundRect">
            <a:avLst>
              <a:gd name="adj" fmla="val 13333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8046720" y="2606040"/>
            <a:ext cx="457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</a:t>
            </a:r>
            <a:endParaRPr lang="en-US" sz="900" dirty="0"/>
          </a:p>
        </p:txBody>
      </p:sp>
      <p:sp>
        <p:nvSpPr>
          <p:cNvPr id="31" name="Text 27"/>
          <p:cNvSpPr txBox="1"/>
          <p:nvPr/>
        </p:nvSpPr>
        <p:spPr>
          <a:xfrm>
            <a:off x="4892040" y="320040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pipeline presses “go live”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" y="4023360"/>
            <a:ext cx="8229600" cy="594360"/>
          </a:xfrm>
          <a:prstGeom prst="roundRect">
            <a:avLst>
              <a:gd name="adj" fmla="val 15385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4137660"/>
            <a:ext cx="365760" cy="36576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1188720" y="4023360"/>
            <a:ext cx="7315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way to remember: </a:t>
            </a:r>
            <a:pPr indent="0" marL="0">
              <a:buNone/>
            </a:pPr>
            <a:r>
              <a:rPr lang="en-US" sz="12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only difference is WHO presses the final “go live” button.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7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PICTURE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Docker Pipeline: One Box, Start to Finish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868680" y="12801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1444752"/>
            <a:ext cx="356616" cy="35661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 push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1645920" y="1627632"/>
            <a:ext cx="411480" cy="0"/>
          </a:xfrm>
          <a:prstGeom prst="line">
            <a:avLst/>
          </a:prstGeom>
          <a:noFill/>
          <a:ln w="2540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11" name="Shape 8"/>
          <p:cNvSpPr/>
          <p:nvPr/>
        </p:nvSpPr>
        <p:spPr>
          <a:xfrm>
            <a:off x="2560320" y="12801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4912" y="144475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214884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1300" dirty="0"/>
          </a:p>
        </p:txBody>
      </p:sp>
      <p:sp>
        <p:nvSpPr>
          <p:cNvPr id="14" name="Text 10"/>
          <p:cNvSpPr txBox="1"/>
          <p:nvPr/>
        </p:nvSpPr>
        <p:spPr>
          <a:xfrm>
            <a:off x="210312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build</a:t>
            </a:r>
            <a:endParaRPr lang="en-US" sz="850" dirty="0"/>
          </a:p>
        </p:txBody>
      </p:sp>
      <p:sp>
        <p:nvSpPr>
          <p:cNvPr id="15" name="Shape 11"/>
          <p:cNvSpPr/>
          <p:nvPr/>
        </p:nvSpPr>
        <p:spPr>
          <a:xfrm>
            <a:off x="3337560" y="1627632"/>
            <a:ext cx="411480" cy="0"/>
          </a:xfrm>
          <a:prstGeom prst="line">
            <a:avLst/>
          </a:prstGeom>
          <a:noFill/>
          <a:ln w="2540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16" name="Shape 12"/>
          <p:cNvSpPr/>
          <p:nvPr/>
        </p:nvSpPr>
        <p:spPr>
          <a:xfrm>
            <a:off x="2331720" y="2697480"/>
            <a:ext cx="1143000" cy="54864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2484033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2647319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2810604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973890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3137176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3300461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2468880" y="284378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0"/>
          <p:cNvSpPr txBox="1"/>
          <p:nvPr/>
        </p:nvSpPr>
        <p:spPr>
          <a:xfrm>
            <a:off x="2468880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251960" y="12801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6552" y="1444752"/>
            <a:ext cx="356616" cy="356616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384048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</a:t>
            </a:r>
            <a:endParaRPr lang="en-US" sz="1300" dirty="0"/>
          </a:p>
        </p:txBody>
      </p:sp>
      <p:sp>
        <p:nvSpPr>
          <p:cNvPr id="28" name="Text 23"/>
          <p:cNvSpPr txBox="1"/>
          <p:nvPr/>
        </p:nvSpPr>
        <p:spPr>
          <a:xfrm>
            <a:off x="379476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inside the box</a:t>
            </a:r>
            <a:endParaRPr lang="en-US" sz="850" dirty="0"/>
          </a:p>
        </p:txBody>
      </p:sp>
      <p:sp>
        <p:nvSpPr>
          <p:cNvPr id="29" name="Shape 24"/>
          <p:cNvSpPr/>
          <p:nvPr/>
        </p:nvSpPr>
        <p:spPr>
          <a:xfrm>
            <a:off x="5029200" y="1627632"/>
            <a:ext cx="411480" cy="0"/>
          </a:xfrm>
          <a:prstGeom prst="line">
            <a:avLst/>
          </a:prstGeom>
          <a:noFill/>
          <a:ln w="2540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30" name="Shape 25"/>
          <p:cNvSpPr/>
          <p:nvPr/>
        </p:nvSpPr>
        <p:spPr>
          <a:xfrm>
            <a:off x="4023360" y="2697480"/>
            <a:ext cx="1143000" cy="54864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31" name="Shape 26"/>
          <p:cNvSpPr/>
          <p:nvPr/>
        </p:nvSpPr>
        <p:spPr>
          <a:xfrm>
            <a:off x="4175673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2" name="Shape 27"/>
          <p:cNvSpPr/>
          <p:nvPr/>
        </p:nvSpPr>
        <p:spPr>
          <a:xfrm>
            <a:off x="4338959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4502244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4665530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5" name="Shape 30"/>
          <p:cNvSpPr/>
          <p:nvPr/>
        </p:nvSpPr>
        <p:spPr>
          <a:xfrm>
            <a:off x="4828816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4992101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4160520" y="284378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8" name="Text 33"/>
          <p:cNvSpPr txBox="1"/>
          <p:nvPr/>
        </p:nvSpPr>
        <p:spPr>
          <a:xfrm>
            <a:off x="4160520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000" dirty="0"/>
          </a:p>
        </p:txBody>
      </p:sp>
      <p:sp>
        <p:nvSpPr>
          <p:cNvPr id="39" name="Shape 34"/>
          <p:cNvSpPr/>
          <p:nvPr/>
        </p:nvSpPr>
        <p:spPr>
          <a:xfrm>
            <a:off x="5943600" y="12801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4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8192" y="1444752"/>
            <a:ext cx="356616" cy="356616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53212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</a:t>
            </a:r>
            <a:endParaRPr lang="en-US" sz="1300" dirty="0"/>
          </a:p>
        </p:txBody>
      </p:sp>
      <p:sp>
        <p:nvSpPr>
          <p:cNvPr id="42" name="Text 36"/>
          <p:cNvSpPr txBox="1"/>
          <p:nvPr/>
        </p:nvSpPr>
        <p:spPr>
          <a:xfrm>
            <a:off x="548640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 to Docker Hub</a:t>
            </a:r>
            <a:endParaRPr lang="en-US" sz="850" dirty="0"/>
          </a:p>
        </p:txBody>
      </p:sp>
      <p:sp>
        <p:nvSpPr>
          <p:cNvPr id="43" name="Shape 37"/>
          <p:cNvSpPr/>
          <p:nvPr/>
        </p:nvSpPr>
        <p:spPr>
          <a:xfrm>
            <a:off x="6720840" y="1627632"/>
            <a:ext cx="411480" cy="0"/>
          </a:xfrm>
          <a:prstGeom prst="line">
            <a:avLst/>
          </a:prstGeom>
          <a:noFill/>
          <a:ln w="25400">
            <a:solidFill>
              <a:srgbClr val="D9DED8"/>
            </a:solidFill>
            <a:prstDash val="solid"/>
            <a:tailEnd type="triangle"/>
          </a:ln>
        </p:spPr>
      </p:sp>
      <p:sp>
        <p:nvSpPr>
          <p:cNvPr id="44" name="Shape 38"/>
          <p:cNvSpPr/>
          <p:nvPr/>
        </p:nvSpPr>
        <p:spPr>
          <a:xfrm>
            <a:off x="5715000" y="2697480"/>
            <a:ext cx="1143000" cy="54864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5867313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46" name="Shape 40"/>
          <p:cNvSpPr/>
          <p:nvPr/>
        </p:nvSpPr>
        <p:spPr>
          <a:xfrm>
            <a:off x="6030599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47" name="Shape 41"/>
          <p:cNvSpPr/>
          <p:nvPr/>
        </p:nvSpPr>
        <p:spPr>
          <a:xfrm>
            <a:off x="6193884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48" name="Shape 42"/>
          <p:cNvSpPr/>
          <p:nvPr/>
        </p:nvSpPr>
        <p:spPr>
          <a:xfrm>
            <a:off x="6357170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49" name="Shape 43"/>
          <p:cNvSpPr/>
          <p:nvPr/>
        </p:nvSpPr>
        <p:spPr>
          <a:xfrm>
            <a:off x="6520456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0" name="Shape 44"/>
          <p:cNvSpPr/>
          <p:nvPr/>
        </p:nvSpPr>
        <p:spPr>
          <a:xfrm>
            <a:off x="6683741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1" name="Shape 45"/>
          <p:cNvSpPr/>
          <p:nvPr/>
        </p:nvSpPr>
        <p:spPr>
          <a:xfrm>
            <a:off x="5852160" y="284378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2" name="Text 46"/>
          <p:cNvSpPr txBox="1"/>
          <p:nvPr/>
        </p:nvSpPr>
        <p:spPr>
          <a:xfrm>
            <a:off x="5852160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000" dirty="0"/>
          </a:p>
        </p:txBody>
      </p:sp>
      <p:sp>
        <p:nvSpPr>
          <p:cNvPr id="53" name="Shape 47"/>
          <p:cNvSpPr/>
          <p:nvPr/>
        </p:nvSpPr>
        <p:spPr>
          <a:xfrm>
            <a:off x="7635240" y="1280160"/>
            <a:ext cx="685800" cy="6858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5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99832" y="1444752"/>
            <a:ext cx="356616" cy="356616"/>
          </a:xfrm>
          <a:prstGeom prst="rect">
            <a:avLst/>
          </a:prstGeom>
        </p:spPr>
      </p:pic>
      <p:sp>
        <p:nvSpPr>
          <p:cNvPr id="55" name="Text 48"/>
          <p:cNvSpPr txBox="1"/>
          <p:nvPr/>
        </p:nvSpPr>
        <p:spPr>
          <a:xfrm>
            <a:off x="7223760" y="2011680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300" dirty="0"/>
          </a:p>
        </p:txBody>
      </p:sp>
      <p:sp>
        <p:nvSpPr>
          <p:cNvPr id="56" name="Text 49"/>
          <p:cNvSpPr txBox="1"/>
          <p:nvPr/>
        </p:nvSpPr>
        <p:spPr>
          <a:xfrm>
            <a:off x="7178040" y="2267712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anywhere</a:t>
            </a:r>
            <a:endParaRPr lang="en-US" sz="850" dirty="0"/>
          </a:p>
        </p:txBody>
      </p:sp>
      <p:sp>
        <p:nvSpPr>
          <p:cNvPr id="57" name="Shape 50"/>
          <p:cNvSpPr/>
          <p:nvPr/>
        </p:nvSpPr>
        <p:spPr>
          <a:xfrm>
            <a:off x="7406640" y="2697480"/>
            <a:ext cx="1143000" cy="54864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58" name="Shape 51"/>
          <p:cNvSpPr/>
          <p:nvPr/>
        </p:nvSpPr>
        <p:spPr>
          <a:xfrm>
            <a:off x="7558953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9" name="Shape 52"/>
          <p:cNvSpPr/>
          <p:nvPr/>
        </p:nvSpPr>
        <p:spPr>
          <a:xfrm>
            <a:off x="7722239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0" name="Shape 53"/>
          <p:cNvSpPr/>
          <p:nvPr/>
        </p:nvSpPr>
        <p:spPr>
          <a:xfrm>
            <a:off x="7885524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1" name="Shape 54"/>
          <p:cNvSpPr/>
          <p:nvPr/>
        </p:nvSpPr>
        <p:spPr>
          <a:xfrm>
            <a:off x="8048810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2" name="Shape 55"/>
          <p:cNvSpPr/>
          <p:nvPr/>
        </p:nvSpPr>
        <p:spPr>
          <a:xfrm>
            <a:off x="8212096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3" name="Shape 56"/>
          <p:cNvSpPr/>
          <p:nvPr/>
        </p:nvSpPr>
        <p:spPr>
          <a:xfrm>
            <a:off x="8375381" y="2761488"/>
            <a:ext cx="21946" cy="42062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4" name="Shape 57"/>
          <p:cNvSpPr/>
          <p:nvPr/>
        </p:nvSpPr>
        <p:spPr>
          <a:xfrm>
            <a:off x="7543800" y="2843784"/>
            <a:ext cx="86868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58"/>
          <p:cNvSpPr txBox="1"/>
          <p:nvPr/>
        </p:nvSpPr>
        <p:spPr>
          <a:xfrm>
            <a:off x="7543800" y="2843784"/>
            <a:ext cx="868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image</a:t>
            </a:r>
            <a:endParaRPr lang="en-US" sz="1000" dirty="0"/>
          </a:p>
        </p:txBody>
      </p:sp>
      <p:sp>
        <p:nvSpPr>
          <p:cNvPr id="66" name="Text 59"/>
          <p:cNvSpPr txBox="1"/>
          <p:nvPr/>
        </p:nvSpPr>
        <p:spPr>
          <a:xfrm>
            <a:off x="2148840" y="3310128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the SAME image at every stage →</a:t>
            </a:r>
            <a:endParaRPr lang="en-US" sz="1000" dirty="0"/>
          </a:p>
        </p:txBody>
      </p:sp>
      <p:sp>
        <p:nvSpPr>
          <p:cNvPr id="67" name="Shape 60"/>
          <p:cNvSpPr/>
          <p:nvPr/>
        </p:nvSpPr>
        <p:spPr>
          <a:xfrm>
            <a:off x="457200" y="3749040"/>
            <a:ext cx="8229600" cy="868680"/>
          </a:xfrm>
          <a:prstGeom prst="roundRect">
            <a:avLst>
              <a:gd name="adj" fmla="val 1052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6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4000500"/>
            <a:ext cx="365760" cy="365760"/>
          </a:xfrm>
          <a:prstGeom prst="rect">
            <a:avLst/>
          </a:prstGeom>
        </p:spPr>
      </p:pic>
      <p:sp>
        <p:nvSpPr>
          <p:cNvPr id="69" name="Text 61"/>
          <p:cNvSpPr txBox="1"/>
          <p:nvPr/>
        </p:nvSpPr>
        <p:spPr>
          <a:xfrm>
            <a:off x="1188720" y="3749040"/>
            <a:ext cx="7315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once. Test it. Ship the exact same box. </a:t>
            </a:r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passed the tests is exactly what users get — nothing is rebuilt or changed along the way.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8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HERO’S SUPERPOWERS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Docker Makes CI/CD Better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4630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1365" y="1638605"/>
            <a:ext cx="380390" cy="38039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64592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box everywhere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164592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image tested in CI is the image that runs in production.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23444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892040" y="146304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7605" y="1638605"/>
            <a:ext cx="380390" cy="38039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852160" y="14630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 every time</a:t>
            </a:r>
            <a:endParaRPr lang="en-US" sz="1500" dirty="0"/>
          </a:p>
        </p:txBody>
      </p:sp>
      <p:sp>
        <p:nvSpPr>
          <p:cNvPr id="15" name="Text 11"/>
          <p:cNvSpPr txBox="1"/>
          <p:nvPr/>
        </p:nvSpPr>
        <p:spPr>
          <a:xfrm>
            <a:off x="5852160" y="187452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test run starts in a brand-new container. No leftovers.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5800" y="32004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365" y="3375965"/>
            <a:ext cx="380390" cy="38039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164592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undo</a:t>
            </a:r>
            <a:endParaRPr lang="en-US" sz="1500" dirty="0"/>
          </a:p>
        </p:txBody>
      </p:sp>
      <p:sp>
        <p:nvSpPr>
          <p:cNvPr id="20" name="Text 15"/>
          <p:cNvSpPr txBox="1"/>
          <p:nvPr/>
        </p:nvSpPr>
        <p:spPr>
          <a:xfrm>
            <a:off x="1645920" y="3611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version broken? Run the previous image. Back in seconds.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4663440" y="297180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4892040" y="3200400"/>
            <a:ext cx="731520" cy="7315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7605" y="3375965"/>
            <a:ext cx="380390" cy="38039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5852160" y="320040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language</a:t>
            </a:r>
            <a:endParaRPr lang="en-US" sz="1500" dirty="0"/>
          </a:p>
        </p:txBody>
      </p:sp>
      <p:sp>
        <p:nvSpPr>
          <p:cNvPr id="25" name="Text 19"/>
          <p:cNvSpPr txBox="1"/>
          <p:nvPr/>
        </p:nvSpPr>
        <p:spPr>
          <a:xfrm>
            <a:off x="5852160" y="3611880"/>
            <a:ext cx="2697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Python, Java, Node… the pipeline just builds and runs a box.</a:t>
            </a:r>
            <a:endParaRPr lang="en-US" sz="11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9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TEAMS LOVE IT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vs With CI/CD + Docker</a:t>
            </a:r>
            <a:endParaRPr lang="en-US" sz="2600" dirty="0"/>
          </a:p>
        </p:txBody>
      </p:sp>
      <p:sp>
        <p:nvSpPr>
          <p:cNvPr id="6" name="Text 4"/>
          <p:cNvSpPr txBox="1"/>
          <p:nvPr/>
        </p:nvSpPr>
        <p:spPr>
          <a:xfrm>
            <a:off x="2377440" y="1143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D64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577840" y="1143000"/>
            <a:ext cx="3017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2A7D5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CI/CD + DOCKER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141732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Environment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286000" y="141732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95728" y="152704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2743200" y="14173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on every machine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486400" y="141732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96128" y="15270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5943600" y="141732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Docker image everywhere</a:t>
            </a:r>
            <a:endParaRPr lang="en-US" sz="1100" dirty="0"/>
          </a:p>
        </p:txBody>
      </p:sp>
      <p:sp>
        <p:nvSpPr>
          <p:cNvPr id="15" name="Text 11"/>
          <p:cNvSpPr txBox="1"/>
          <p:nvPr/>
        </p:nvSpPr>
        <p:spPr>
          <a:xfrm>
            <a:off x="457200" y="1947672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2286000" y="1947672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5728" y="2057400"/>
            <a:ext cx="237744" cy="23774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43200" y="1947672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Manual, when someone remembers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5486400" y="1947672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96128" y="2057400"/>
            <a:ext cx="237744" cy="23774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943600" y="194767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Automatic, on every push</a:t>
            </a:r>
            <a:endParaRPr lang="en-US" sz="1100" dirty="0"/>
          </a:p>
        </p:txBody>
      </p:sp>
      <p:sp>
        <p:nvSpPr>
          <p:cNvPr id="22" name="Text 16"/>
          <p:cNvSpPr txBox="1"/>
          <p:nvPr/>
        </p:nvSpPr>
        <p:spPr>
          <a:xfrm>
            <a:off x="457200" y="2478024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Finding bugs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2286000" y="2478024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95728" y="2587752"/>
            <a:ext cx="237744" cy="237744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2743200" y="2478024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or weeks later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5486400" y="2478024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96128" y="2587752"/>
            <a:ext cx="237744" cy="237744"/>
          </a:xfrm>
          <a:prstGeom prst="rect">
            <a:avLst/>
          </a:prstGeom>
        </p:spPr>
      </p:pic>
      <p:sp>
        <p:nvSpPr>
          <p:cNvPr id="28" name="Text 20"/>
          <p:cNvSpPr txBox="1"/>
          <p:nvPr/>
        </p:nvSpPr>
        <p:spPr>
          <a:xfrm>
            <a:off x="5943600" y="247802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Within minutes</a:t>
            </a:r>
            <a:endParaRPr lang="en-US" sz="11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3008376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Releasing</a:t>
            </a:r>
            <a:endParaRPr lang="en-US" sz="1200" dirty="0"/>
          </a:p>
        </p:txBody>
      </p:sp>
      <p:sp>
        <p:nvSpPr>
          <p:cNvPr id="30" name="Shape 22"/>
          <p:cNvSpPr/>
          <p:nvPr/>
        </p:nvSpPr>
        <p:spPr>
          <a:xfrm>
            <a:off x="2286000" y="3008376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5728" y="3118104"/>
            <a:ext cx="237744" cy="237744"/>
          </a:xfrm>
          <a:prstGeom prst="rect">
            <a:avLst/>
          </a:prstGeom>
        </p:spPr>
      </p:pic>
      <p:sp>
        <p:nvSpPr>
          <p:cNvPr id="32" name="Text 23"/>
          <p:cNvSpPr txBox="1"/>
          <p:nvPr/>
        </p:nvSpPr>
        <p:spPr>
          <a:xfrm>
            <a:off x="2743200" y="3008376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files by hand</a:t>
            </a:r>
            <a:endParaRPr lang="en-US" sz="1100" dirty="0"/>
          </a:p>
        </p:txBody>
      </p:sp>
      <p:sp>
        <p:nvSpPr>
          <p:cNvPr id="33" name="Shape 24"/>
          <p:cNvSpPr/>
          <p:nvPr/>
        </p:nvSpPr>
        <p:spPr>
          <a:xfrm>
            <a:off x="5486400" y="3008376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34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596128" y="3118104"/>
            <a:ext cx="237744" cy="237744"/>
          </a:xfrm>
          <a:prstGeom prst="rect">
            <a:avLst/>
          </a:prstGeom>
        </p:spPr>
      </p:pic>
      <p:sp>
        <p:nvSpPr>
          <p:cNvPr id="35" name="Text 25"/>
          <p:cNvSpPr txBox="1"/>
          <p:nvPr/>
        </p:nvSpPr>
        <p:spPr>
          <a:xfrm>
            <a:off x="5943600" y="300837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image, run image</a:t>
            </a:r>
            <a:endParaRPr lang="en-US" sz="1100" dirty="0"/>
          </a:p>
        </p:txBody>
      </p:sp>
      <p:sp>
        <p:nvSpPr>
          <p:cNvPr id="36" name="Text 26"/>
          <p:cNvSpPr txBox="1"/>
          <p:nvPr/>
        </p:nvSpPr>
        <p:spPr>
          <a:xfrm>
            <a:off x="457200" y="353872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Going back</a:t>
            </a:r>
            <a:endParaRPr lang="en-US" sz="1200" dirty="0"/>
          </a:p>
        </p:txBody>
      </p:sp>
      <p:sp>
        <p:nvSpPr>
          <p:cNvPr id="37" name="Shape 27"/>
          <p:cNvSpPr/>
          <p:nvPr/>
        </p:nvSpPr>
        <p:spPr>
          <a:xfrm>
            <a:off x="2286000" y="3538728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95728" y="3648456"/>
            <a:ext cx="237744" cy="23774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2743200" y="3538728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Panic</a:t>
            </a:r>
            <a:endParaRPr lang="en-US" sz="1100" dirty="0"/>
          </a:p>
        </p:txBody>
      </p:sp>
      <p:sp>
        <p:nvSpPr>
          <p:cNvPr id="40" name="Shape 29"/>
          <p:cNvSpPr/>
          <p:nvPr/>
        </p:nvSpPr>
        <p:spPr>
          <a:xfrm>
            <a:off x="5486400" y="3538728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4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596128" y="3648456"/>
            <a:ext cx="237744" cy="237744"/>
          </a:xfrm>
          <a:prstGeom prst="rect">
            <a:avLst/>
          </a:prstGeom>
        </p:spPr>
      </p:pic>
      <p:sp>
        <p:nvSpPr>
          <p:cNvPr id="42" name="Text 30"/>
          <p:cNvSpPr txBox="1"/>
          <p:nvPr/>
        </p:nvSpPr>
        <p:spPr>
          <a:xfrm>
            <a:off x="5943600" y="3538728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previous image tag</a:t>
            </a:r>
            <a:endParaRPr lang="en-US" sz="1100" dirty="0"/>
          </a:p>
        </p:txBody>
      </p:sp>
      <p:sp>
        <p:nvSpPr>
          <p:cNvPr id="43" name="Text 31"/>
          <p:cNvSpPr txBox="1"/>
          <p:nvPr/>
        </p:nvSpPr>
        <p:spPr>
          <a:xfrm>
            <a:off x="457200" y="4069080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200" dirty="0"/>
          </a:p>
        </p:txBody>
      </p:sp>
      <p:sp>
        <p:nvSpPr>
          <p:cNvPr id="44" name="Shape 32"/>
          <p:cNvSpPr/>
          <p:nvPr/>
        </p:nvSpPr>
        <p:spPr>
          <a:xfrm>
            <a:off x="2286000" y="4069080"/>
            <a:ext cx="3108960" cy="457200"/>
          </a:xfrm>
          <a:prstGeom prst="roundRect">
            <a:avLst>
              <a:gd name="adj" fmla="val 20000"/>
            </a:avLst>
          </a:prstGeom>
          <a:solidFill>
            <a:srgbClr val="FBE3E3"/>
          </a:solidFill>
          <a:ln w="12700">
            <a:solidFill>
              <a:srgbClr val="FBE3E3"/>
            </a:solidFill>
            <a:prstDash val="solid"/>
          </a:ln>
        </p:spPr>
      </p:sp>
      <p:pic>
        <p:nvPicPr>
          <p:cNvPr id="45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95728" y="4178808"/>
            <a:ext cx="237744" cy="237744"/>
          </a:xfrm>
          <a:prstGeom prst="rect">
            <a:avLst/>
          </a:prstGeom>
        </p:spPr>
      </p:pic>
      <p:sp>
        <p:nvSpPr>
          <p:cNvPr id="46" name="Text 33"/>
          <p:cNvSpPr txBox="1"/>
          <p:nvPr/>
        </p:nvSpPr>
        <p:spPr>
          <a:xfrm>
            <a:off x="2743200" y="406908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Fingers crossed</a:t>
            </a:r>
            <a:endParaRPr lang="en-US" sz="1100" dirty="0"/>
          </a:p>
        </p:txBody>
      </p:sp>
      <p:sp>
        <p:nvSpPr>
          <p:cNvPr id="47" name="Shape 34"/>
          <p:cNvSpPr/>
          <p:nvPr/>
        </p:nvSpPr>
        <p:spPr>
          <a:xfrm>
            <a:off x="5486400" y="4069080"/>
            <a:ext cx="3200400" cy="457200"/>
          </a:xfrm>
          <a:prstGeom prst="roundRect">
            <a:avLst>
              <a:gd name="adj" fmla="val 20000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48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596128" y="4178808"/>
            <a:ext cx="237744" cy="23774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5943600" y="40690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green check 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10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VOCABULARY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Actions in Five Words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60120" y="1417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1794" y="1548994"/>
            <a:ext cx="285293" cy="285293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54864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Workflow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54864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whole recipe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914400" y="3063240"/>
            <a:ext cx="64008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59436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YAML file that describes your automation.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125980" y="123444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28900" y="1417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60574" y="1548994"/>
            <a:ext cx="285293" cy="28529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221742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</a:t>
            </a:r>
            <a:endParaRPr lang="en-US" sz="1400" dirty="0"/>
          </a:p>
        </p:txBody>
      </p:sp>
      <p:sp>
        <p:nvSpPr>
          <p:cNvPr id="17" name="Text 13"/>
          <p:cNvSpPr txBox="1"/>
          <p:nvPr/>
        </p:nvSpPr>
        <p:spPr>
          <a:xfrm>
            <a:off x="221742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doorbell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2583180" y="3063240"/>
            <a:ext cx="64008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226314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starts it — for example, a push.</a:t>
            </a:r>
            <a:endParaRPr lang="en-US" sz="1050" dirty="0"/>
          </a:p>
        </p:txBody>
      </p:sp>
      <p:sp>
        <p:nvSpPr>
          <p:cNvPr id="20" name="Shape 16"/>
          <p:cNvSpPr/>
          <p:nvPr/>
        </p:nvSpPr>
        <p:spPr>
          <a:xfrm>
            <a:off x="3794760" y="123444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4297680" y="1417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29354" y="1548994"/>
            <a:ext cx="285293" cy="285293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388620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Job</a:t>
            </a:r>
            <a:endParaRPr lang="en-US" sz="1400" dirty="0"/>
          </a:p>
        </p:txBody>
      </p:sp>
      <p:sp>
        <p:nvSpPr>
          <p:cNvPr id="24" name="Text 19"/>
          <p:cNvSpPr txBox="1"/>
          <p:nvPr/>
        </p:nvSpPr>
        <p:spPr>
          <a:xfrm>
            <a:off x="388620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cook’s task list</a:t>
            </a:r>
            <a:endParaRPr lang="en-US" sz="1100" dirty="0"/>
          </a:p>
        </p:txBody>
      </p:sp>
      <p:sp>
        <p:nvSpPr>
          <p:cNvPr id="25" name="Shape 20"/>
          <p:cNvSpPr/>
          <p:nvPr/>
        </p:nvSpPr>
        <p:spPr>
          <a:xfrm>
            <a:off x="4251960" y="3063240"/>
            <a:ext cx="64008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26" name="Text 21"/>
          <p:cNvSpPr txBox="1"/>
          <p:nvPr/>
        </p:nvSpPr>
        <p:spPr>
          <a:xfrm>
            <a:off x="393192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group of steps that run together.</a:t>
            </a:r>
            <a:endParaRPr lang="en-US" sz="1050" dirty="0"/>
          </a:p>
        </p:txBody>
      </p:sp>
      <p:sp>
        <p:nvSpPr>
          <p:cNvPr id="27" name="Shape 22"/>
          <p:cNvSpPr/>
          <p:nvPr/>
        </p:nvSpPr>
        <p:spPr>
          <a:xfrm>
            <a:off x="5463540" y="123444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8" name="Shape 23"/>
          <p:cNvSpPr/>
          <p:nvPr/>
        </p:nvSpPr>
        <p:spPr>
          <a:xfrm>
            <a:off x="5966460" y="1417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8134" y="1548994"/>
            <a:ext cx="285293" cy="285293"/>
          </a:xfrm>
          <a:prstGeom prst="rect">
            <a:avLst/>
          </a:prstGeom>
        </p:spPr>
      </p:pic>
      <p:sp>
        <p:nvSpPr>
          <p:cNvPr id="30" name="Text 24"/>
          <p:cNvSpPr txBox="1"/>
          <p:nvPr/>
        </p:nvSpPr>
        <p:spPr>
          <a:xfrm>
            <a:off x="555498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</a:t>
            </a:r>
            <a:endParaRPr lang="en-US" sz="1400" dirty="0"/>
          </a:p>
        </p:txBody>
      </p:sp>
      <p:sp>
        <p:nvSpPr>
          <p:cNvPr id="31" name="Text 25"/>
          <p:cNvSpPr txBox="1"/>
          <p:nvPr/>
        </p:nvSpPr>
        <p:spPr>
          <a:xfrm>
            <a:off x="555498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of the recipe</a:t>
            </a:r>
            <a:endParaRPr lang="en-US" sz="1100" dirty="0"/>
          </a:p>
        </p:txBody>
      </p:sp>
      <p:sp>
        <p:nvSpPr>
          <p:cNvPr id="32" name="Shape 26"/>
          <p:cNvSpPr/>
          <p:nvPr/>
        </p:nvSpPr>
        <p:spPr>
          <a:xfrm>
            <a:off x="5920740" y="3063240"/>
            <a:ext cx="64008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560070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command or ready-made action.</a:t>
            </a:r>
            <a:endParaRPr lang="en-US" sz="1050" dirty="0"/>
          </a:p>
        </p:txBody>
      </p:sp>
      <p:sp>
        <p:nvSpPr>
          <p:cNvPr id="34" name="Shape 28"/>
          <p:cNvSpPr/>
          <p:nvPr/>
        </p:nvSpPr>
        <p:spPr>
          <a:xfrm>
            <a:off x="7132320" y="1234440"/>
            <a:ext cx="1554480" cy="3383280"/>
          </a:xfrm>
          <a:prstGeom prst="roundRect">
            <a:avLst>
              <a:gd name="adj" fmla="val 5882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35" name="Shape 29"/>
          <p:cNvSpPr/>
          <p:nvPr/>
        </p:nvSpPr>
        <p:spPr>
          <a:xfrm>
            <a:off x="7635240" y="1417320"/>
            <a:ext cx="548640" cy="54864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3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66914" y="1548994"/>
            <a:ext cx="285293" cy="285293"/>
          </a:xfrm>
          <a:prstGeom prst="rect">
            <a:avLst/>
          </a:prstGeom>
        </p:spPr>
      </p:pic>
      <p:sp>
        <p:nvSpPr>
          <p:cNvPr id="37" name="Text 30"/>
          <p:cNvSpPr txBox="1"/>
          <p:nvPr/>
        </p:nvSpPr>
        <p:spPr>
          <a:xfrm>
            <a:off x="722376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Runner</a:t>
            </a:r>
            <a:endParaRPr lang="en-US" sz="1400" dirty="0"/>
          </a:p>
        </p:txBody>
      </p:sp>
      <p:sp>
        <p:nvSpPr>
          <p:cNvPr id="38" name="Text 31"/>
          <p:cNvSpPr txBox="1"/>
          <p:nvPr/>
        </p:nvSpPr>
        <p:spPr>
          <a:xfrm>
            <a:off x="7223760" y="246888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kitchen</a:t>
            </a:r>
            <a:endParaRPr lang="en-US" sz="1100" dirty="0"/>
          </a:p>
        </p:txBody>
      </p:sp>
      <p:sp>
        <p:nvSpPr>
          <p:cNvPr id="39" name="Shape 32"/>
          <p:cNvSpPr/>
          <p:nvPr/>
        </p:nvSpPr>
        <p:spPr>
          <a:xfrm>
            <a:off x="7589520" y="3063240"/>
            <a:ext cx="640080" cy="0"/>
          </a:xfrm>
          <a:prstGeom prst="line">
            <a:avLst/>
          </a:prstGeom>
          <a:noFill/>
          <a:ln w="12700">
            <a:solidFill>
              <a:srgbClr val="D9DED8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7269480" y="32004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fresh computer from GitHub — Docker already installed!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11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READING YAML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Workflow File, Line by Line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206240" cy="2514600"/>
          </a:xfrm>
          <a:prstGeom prst="roundRect">
            <a:avLst>
              <a:gd name="adj" fmla="val 2909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1307592"/>
            <a:ext cx="3520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600200"/>
            <a:ext cx="384048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indent="0" marL="0">
              <a:buNone/>
            </a:pPr>
            <a:r>
              <a:rPr lang="en-US" sz="10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pPr indent="0" marL="0">
              <a:buNone/>
            </a:pPr>
            <a:r>
              <a:rPr lang="en-US" sz="10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[push]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test: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runs-on:</a:t>
            </a:r>
            <a:pPr indent="0" marL="0">
              <a:buNone/>
            </a:pPr>
            <a:r>
              <a:rPr lang="en-US" sz="10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ubuntu-latest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steps:</a:t>
            </a:r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uses:</a:t>
            </a:r>
            <a:pPr indent="0" marL="0">
              <a:buNone/>
            </a:pPr>
            <a:r>
              <a:rPr lang="en-US" sz="10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actions/checkout@v4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run:</a:t>
            </a:r>
            <a:pPr indent="0" marL="0">
              <a:buNone/>
            </a:pPr>
            <a:r>
              <a:rPr lang="en-US" sz="10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build -t app 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7200" y="3886200"/>
            <a:ext cx="4206240" cy="731520"/>
          </a:xfrm>
          <a:prstGeom prst="roundRect">
            <a:avLst>
              <a:gd name="adj" fmla="val 12500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069080"/>
            <a:ext cx="365760" cy="365760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1188720" y="388620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Spaces matter in YAML. 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2 spaces per level, never tabs.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937760" y="123444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937760" y="123444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172200" y="123444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shown on GitHub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4937760" y="171907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937760" y="171907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6172200" y="171907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Trigger: run on every push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4937760" y="2203704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4937760" y="2203704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6172200" y="2203704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 of jobs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937760" y="2688336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937760" y="2688336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runs-on: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6172200" y="268833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kind of computer</a:t>
            </a:r>
            <a:endParaRPr lang="en-US" sz="1100" dirty="0"/>
          </a:p>
        </p:txBody>
      </p:sp>
      <p:sp>
        <p:nvSpPr>
          <p:cNvPr id="27" name="Shape 24"/>
          <p:cNvSpPr/>
          <p:nvPr/>
        </p:nvSpPr>
        <p:spPr>
          <a:xfrm>
            <a:off x="4937760" y="3172968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4937760" y="3172968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steps: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6172200" y="3172968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these in order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937760" y="3657600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4937760" y="3657600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uses: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6172200" y="3657600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ready-made action (checkout copies your files)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4937760" y="4142232"/>
            <a:ext cx="10972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937760" y="4142232"/>
            <a:ext cx="1097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run: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6172200" y="4142232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command — here, docker build!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C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2344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4592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Hands-On: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Ship a Container</a:t>
            </a:r>
            <a:endParaRPr lang="en-US" sz="3200" dirty="0"/>
          </a:p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Automatically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61188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Labs 0–3 run in your browser. Lab 4 needs Docker Desktop.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394960" y="1097280"/>
            <a:ext cx="3291840" cy="3291840"/>
          </a:xfrm>
          <a:prstGeom prst="roundRect">
            <a:avLst>
              <a:gd name="adj" fmla="val 3333"/>
            </a:avLst>
          </a:prstGeom>
          <a:solidFill>
            <a:srgbClr val="2B302D"/>
          </a:solidFill>
          <a:ln w="12700">
            <a:solidFill>
              <a:srgbClr val="2B302D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623560" y="123444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Today’s labs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623560" y="1737360"/>
            <a:ext cx="365760" cy="3657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623560" y="17373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126480" y="17373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the app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23560" y="2240280"/>
            <a:ext cx="365760" cy="3657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623560" y="22402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22402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CI: build &amp; test the image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623560" y="2743200"/>
            <a:ext cx="365760" cy="36576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623560" y="2743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126480" y="274320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it on purpose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23560" y="3246120"/>
            <a:ext cx="365760" cy="365760"/>
          </a:xfrm>
          <a:prstGeom prst="ellipse">
            <a:avLst/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623560" y="3246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1264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to Docker Hub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5623560" y="3749040"/>
            <a:ext cx="365760" cy="365760"/>
          </a:xfrm>
          <a:prstGeom prst="ellipse">
            <a:avLst/>
          </a:prstGeom>
          <a:solidFill>
            <a:srgbClr val="2A7D58"/>
          </a:solidFill>
          <a:ln w="12700">
            <a:solidFill>
              <a:srgbClr val="2A7D58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623560" y="37490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12648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it anywhere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13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0: Create the Repository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754880" cy="3383280"/>
          </a:xfrm>
          <a:prstGeom prst="roundRect">
            <a:avLst>
              <a:gd name="adj" fmla="val 270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17904"/>
            <a:ext cx="292608" cy="292608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34416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click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→ New repository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2157984"/>
            <a:ext cx="292608" cy="292608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8424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it </a:t>
            </a:r>
            <a:pPr indent="0" marL="0">
              <a:buNone/>
            </a:pPr>
            <a:r>
              <a:rPr lang="en-US" sz="115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hello-site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choose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tick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README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292608" cy="292608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62432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repository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58368" y="3438144"/>
            <a:ext cx="292608" cy="292608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26440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 → Create new file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create the 2 files on the next slide.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658368" y="4078224"/>
            <a:ext cx="292608" cy="292608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904488"/>
            <a:ext cx="3977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</a:t>
            </a:r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 changes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after each file.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394960" y="1234440"/>
            <a:ext cx="3291840" cy="3383280"/>
          </a:xfrm>
          <a:prstGeom prst="roundRect">
            <a:avLst>
              <a:gd name="adj" fmla="val 2778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1417320"/>
            <a:ext cx="347472" cy="347472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6035040" y="141732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hello-site/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751576" y="2240280"/>
            <a:ext cx="201168" cy="0"/>
          </a:xfrm>
          <a:prstGeom prst="line">
            <a:avLst/>
          </a:prstGeom>
          <a:noFill/>
          <a:ln w="19050">
            <a:solidFill>
              <a:srgbClr val="D9DED8"/>
            </a:solidFill>
            <a:prstDash val="solid"/>
          </a:ln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6752" y="2112264"/>
            <a:ext cx="256032" cy="256032"/>
          </a:xfrm>
          <a:prstGeom prst="rect">
            <a:avLst/>
          </a:prstGeom>
        </p:spPr>
      </p:pic>
      <p:sp>
        <p:nvSpPr>
          <p:cNvPr id="27" name="Text 23"/>
          <p:cNvSpPr txBox="1"/>
          <p:nvPr/>
        </p:nvSpPr>
        <p:spPr>
          <a:xfrm>
            <a:off x="6355080" y="20208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README.md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there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5751576" y="2926080"/>
            <a:ext cx="201168" cy="0"/>
          </a:xfrm>
          <a:prstGeom prst="line">
            <a:avLst/>
          </a:prstGeom>
          <a:noFill/>
          <a:ln w="19050">
            <a:solidFill>
              <a:srgbClr val="D9DED8"/>
            </a:solidFill>
            <a:prstDash val="solid"/>
          </a:ln>
        </p:spPr>
      </p:sp>
      <p:pic>
        <p:nvPicPr>
          <p:cNvPr id="2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6752" y="2798064"/>
            <a:ext cx="256032" cy="256032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355080" y="27066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web page</a:t>
            </a:r>
            <a:endParaRPr lang="en-US" sz="1200" dirty="0"/>
          </a:p>
        </p:txBody>
      </p:sp>
      <p:sp>
        <p:nvSpPr>
          <p:cNvPr id="31" name="Shape 26"/>
          <p:cNvSpPr/>
          <p:nvPr/>
        </p:nvSpPr>
        <p:spPr>
          <a:xfrm>
            <a:off x="5751576" y="3611880"/>
            <a:ext cx="201168" cy="0"/>
          </a:xfrm>
          <a:prstGeom prst="line">
            <a:avLst/>
          </a:prstGeom>
          <a:noFill/>
          <a:ln w="19050">
            <a:solidFill>
              <a:srgbClr val="D9DED8"/>
            </a:solidFill>
            <a:prstDash val="solid"/>
          </a:ln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16752" y="3483864"/>
            <a:ext cx="256032" cy="256032"/>
          </a:xfrm>
          <a:prstGeom prst="rect">
            <a:avLst/>
          </a:prstGeom>
        </p:spPr>
      </p:pic>
      <p:sp>
        <p:nvSpPr>
          <p:cNvPr id="33" name="Text 27"/>
          <p:cNvSpPr txBox="1"/>
          <p:nvPr/>
        </p:nvSpPr>
        <p:spPr>
          <a:xfrm>
            <a:off x="6355080" y="3392424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C452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recipe for the box</a:t>
            </a:r>
            <a:endParaRPr lang="en-US" sz="1200" dirty="0"/>
          </a:p>
        </p:txBody>
      </p:sp>
      <p:sp>
        <p:nvSpPr>
          <p:cNvPr id="34" name="Shape 28"/>
          <p:cNvSpPr/>
          <p:nvPr/>
        </p:nvSpPr>
        <p:spPr>
          <a:xfrm>
            <a:off x="5751576" y="1828800"/>
            <a:ext cx="0" cy="1783080"/>
          </a:xfrm>
          <a:prstGeom prst="line">
            <a:avLst/>
          </a:prstGeom>
          <a:noFill/>
          <a:ln w="19050">
            <a:solidFill>
              <a:srgbClr val="D9DE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14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  ·  TYPE THESE EXACTLY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0: The Two Files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2743200"/>
          </a:xfrm>
          <a:prstGeom prst="roundRect">
            <a:avLst>
              <a:gd name="adj" fmla="val 2667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1307592"/>
            <a:ext cx="3886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index.html  ·  the web page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600200"/>
            <a:ext cx="42062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&lt;!DOCTYPE 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&lt;html&gt;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&lt;title&gt;My Docker Site&lt;/title&gt;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&lt;/head&gt;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&lt;h1&gt;Hello from a container!&lt;/h1&gt;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&lt;p&gt;Built, tested and shipped by CI/CD.&lt;/p&gt;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&lt;/html&gt;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212080" y="1234440"/>
            <a:ext cx="3474720" cy="1417320"/>
          </a:xfrm>
          <a:prstGeom prst="roundRect">
            <a:avLst>
              <a:gd name="adj" fmla="val 5161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5838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51383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6928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815584" y="1307592"/>
            <a:ext cx="2788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Dockerfile  ·  no file extension!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5413248" y="1600200"/>
            <a:ext cx="3108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FF9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nginx:alpine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9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index.html /usr/share/nginx/html/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FF9A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80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212080" y="278892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212080" y="278892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278892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from nginx, a tiny web server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212080" y="320040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212080" y="320040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COPY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6217920" y="320040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our page where nginx serves it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212080" y="3611880"/>
            <a:ext cx="868680" cy="329184"/>
          </a:xfrm>
          <a:prstGeom prst="roundRect">
            <a:avLst>
              <a:gd name="adj" fmla="val 16667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212080" y="36118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EXPOSE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217920" y="3611880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box listens on port 80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" y="4114800"/>
            <a:ext cx="8229600" cy="502920"/>
          </a:xfrm>
          <a:prstGeom prst="roundRect">
            <a:avLst>
              <a:gd name="adj" fmla="val 18182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2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4183380"/>
            <a:ext cx="365760" cy="365760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88720" y="411480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That’s the whole app. </a:t>
            </a:r>
            <a:pPr indent="0" marL="0">
              <a:buNone/>
            </a:pPr>
            <a:r>
              <a:rPr lang="en-US" sz="11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Python, no libraries — just a web page inside a web-server box.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15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CI — Build &amp; Test the Image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937760" cy="3383280"/>
          </a:xfrm>
          <a:prstGeom prst="roundRect">
            <a:avLst>
              <a:gd name="adj" fmla="val 2162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130759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.github/workflows/ci.yml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600200"/>
            <a:ext cx="45720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CI/CD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[push]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jobs: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pipeline: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runs-on: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ubuntu-latest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steps:</a:t>
            </a:r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uses: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actions/checkout@v4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name: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Build the Docker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run: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 build -t hello-site 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name: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Test the running container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run:</a:t>
            </a:r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docker run -d -p 8080:80 hello-site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sleep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curl -s http://localhost:8080 | grep "Hello"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577840" y="1234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399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24728" y="1508760"/>
            <a:ext cx="237744" cy="237744"/>
          </a:xfrm>
          <a:prstGeom prst="rect">
            <a:avLst/>
          </a:prstGeom>
        </p:spPr>
      </p:pic>
      <p:sp>
        <p:nvSpPr>
          <p:cNvPr id="15" name="Text 12"/>
          <p:cNvSpPr txBox="1"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to create it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630936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file → Create new file → .github/workflows/ci.yml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577840" y="2377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15000" y="2542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2651760"/>
            <a:ext cx="237744" cy="23774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build</a:t>
            </a:r>
            <a:endParaRPr lang="en-US" sz="1150" dirty="0"/>
          </a:p>
        </p:txBody>
      </p:sp>
      <p:sp>
        <p:nvSpPr>
          <p:cNvPr id="21" name="Text 17"/>
          <p:cNvSpPr txBox="1"/>
          <p:nvPr/>
        </p:nvSpPr>
        <p:spPr>
          <a:xfrm>
            <a:off x="630936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Packs your app into an image — on GitHub’s computer.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5577840" y="3520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715000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3794760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309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curl … | grep "Hello"</a:t>
            </a:r>
            <a:endParaRPr lang="en-US" sz="1150" dirty="0"/>
          </a:p>
        </p:txBody>
      </p:sp>
      <p:sp>
        <p:nvSpPr>
          <p:cNvPr id="26" name="Text 21"/>
          <p:cNvSpPr txBox="1"/>
          <p:nvPr/>
        </p:nvSpPr>
        <p:spPr>
          <a:xfrm>
            <a:off x="6309360" y="3931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Starts the box, opens the page, and checks it says “Hello”. No “Hello” = test fails.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16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  ·  RESULT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1: Watch It Run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93776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417320"/>
            <a:ext cx="320040" cy="32004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097280" y="1234440"/>
            <a:ext cx="2926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ci.yml</a:t>
            </a:r>
            <a:endParaRPr lang="en-US" sz="115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#1 · main</a:t>
            </a:r>
            <a:endParaRPr lang="en-US" sz="1150" dirty="0"/>
          </a:p>
        </p:txBody>
      </p:sp>
      <p:sp>
        <p:nvSpPr>
          <p:cNvPr id="9" name="Text 6"/>
          <p:cNvSpPr txBox="1"/>
          <p:nvPr/>
        </p:nvSpPr>
        <p:spPr>
          <a:xfrm>
            <a:off x="4114800" y="1234440"/>
            <a:ext cx="1143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Success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57200" y="2057400"/>
            <a:ext cx="4937760" cy="2560320"/>
          </a:xfrm>
          <a:prstGeom prst="roundRect">
            <a:avLst>
              <a:gd name="adj" fmla="val 2857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603504" y="217627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58952" y="217627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14400" y="217627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60704" y="2130552"/>
            <a:ext cx="4251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Actions tab → click the run → click the job</a:t>
            </a:r>
            <a:endParaRPr lang="en-US" sz="900" dirty="0"/>
          </a:p>
        </p:txBody>
      </p:sp>
      <p:sp>
        <p:nvSpPr>
          <p:cNvPr id="15" name="Text 12"/>
          <p:cNvSpPr txBox="1"/>
          <p:nvPr/>
        </p:nvSpPr>
        <p:spPr>
          <a:xfrm>
            <a:off x="658368" y="2423160"/>
            <a:ext cx="45720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Build the Docker image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 [1/2] FROM nginx:alpine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 [2/2] COPY index.html /usr/share/nginx/html/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=&gt; naming to docker.io/library/hello-site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Test the running container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&lt;h1&gt;Hello from a container!&lt;/h1&gt;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grep found "Hello" → the step passes ✓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5577840" y="1234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15000" y="1399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4728" y="1508760"/>
            <a:ext cx="237744" cy="237744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6309360" y="1325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borrowed computer</a:t>
            </a:r>
            <a:endParaRPr lang="en-US" sz="1150" dirty="0"/>
          </a:p>
        </p:txBody>
      </p:sp>
      <p:sp>
        <p:nvSpPr>
          <p:cNvPr id="20" name="Text 16"/>
          <p:cNvSpPr txBox="1"/>
          <p:nvPr/>
        </p:nvSpPr>
        <p:spPr>
          <a:xfrm>
            <a:off x="6309360" y="1645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gave you a fresh Linux machine with Docker already installed.</a:t>
            </a:r>
            <a:endParaRPr lang="en-US" sz="1000" dirty="0"/>
          </a:p>
        </p:txBody>
      </p:sp>
      <p:sp>
        <p:nvSpPr>
          <p:cNvPr id="21" name="Shape 17"/>
          <p:cNvSpPr/>
          <p:nvPr/>
        </p:nvSpPr>
        <p:spPr>
          <a:xfrm>
            <a:off x="5577840" y="2377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715000" y="2542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2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4728" y="2651760"/>
            <a:ext cx="237744" cy="23774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0936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on EVERY push</a:t>
            </a:r>
            <a:endParaRPr lang="en-US" sz="1150" dirty="0"/>
          </a:p>
        </p:txBody>
      </p:sp>
      <p:sp>
        <p:nvSpPr>
          <p:cNvPr id="25" name="Text 20"/>
          <p:cNvSpPr txBox="1"/>
          <p:nvPr/>
        </p:nvSpPr>
        <p:spPr>
          <a:xfrm>
            <a:off x="6309360" y="2788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any file and commit — it runs again by itself.</a:t>
            </a:r>
            <a:endParaRPr lang="en-US" sz="1000" dirty="0"/>
          </a:p>
        </p:txBody>
      </p:sp>
      <p:sp>
        <p:nvSpPr>
          <p:cNvPr id="26" name="Shape 21"/>
          <p:cNvSpPr/>
          <p:nvPr/>
        </p:nvSpPr>
        <p:spPr>
          <a:xfrm>
            <a:off x="5577840" y="3520440"/>
            <a:ext cx="310896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715000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24728" y="3794760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309360" y="3611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6309360" y="3931920"/>
            <a:ext cx="2286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runners are free for public repositories.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17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2: Break It on Purpose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3383280"/>
          </a:xfrm>
          <a:prstGeom prst="roundRect">
            <a:avLst>
              <a:gd name="adj" fmla="val 270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517904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5179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1078992" y="134416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</a:t>
            </a:r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index.html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pencil icon (Edit).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58368" y="2157984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21579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1078992" y="198424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</a:t>
            </a:r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to </a:t>
            </a:r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commit.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8368" y="2798064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" y="2798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078992" y="262432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tab: a red </a:t>
            </a:r>
            <a:pPr indent="0" marL="0">
              <a:buNone/>
            </a:pPr>
            <a:r>
              <a:rPr lang="en-US" sz="1100" b="1" dirty="0">
                <a:solidFill>
                  <a:srgbClr val="D645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appears.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58368" y="3438144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43814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078992" y="326440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log and read the error (right).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078224"/>
            <a:ext cx="292608" cy="292608"/>
          </a:xfrm>
          <a:prstGeom prst="ellipse">
            <a:avLst/>
          </a:prstGeom>
          <a:solidFill>
            <a:srgbClr val="D64545"/>
          </a:solidFill>
          <a:ln w="12700">
            <a:solidFill>
              <a:srgbClr val="D64545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" y="40782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1078992" y="3904488"/>
            <a:ext cx="3246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it back to </a:t>
            </a:r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commit → green </a:t>
            </a:r>
            <a:pPr indent="0" marL="0">
              <a:buNone/>
            </a:pPr>
            <a:r>
              <a:rPr lang="en-US" sz="11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663440" y="1234440"/>
            <a:ext cx="4023360" cy="2377440"/>
          </a:xfrm>
          <a:prstGeom prst="roundRect">
            <a:avLst>
              <a:gd name="adj" fmla="val 3077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0974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96519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266944" y="1307592"/>
            <a:ext cx="33375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 of the failed run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864608" y="1600200"/>
            <a:ext cx="3657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▸ Test the running container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docker run -d -p 8080:80 hello-site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sleep 2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B8BFB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curl -s http://localhost:8080 | grep "Hello"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F7B7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Error: Process completed with exit code 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grep found no "Hello" on the page → test failed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663440" y="3749040"/>
            <a:ext cx="4023360" cy="868680"/>
          </a:xfrm>
          <a:prstGeom prst="roundRect">
            <a:avLst>
              <a:gd name="adj" fmla="val 10526"/>
            </a:avLst>
          </a:prstGeom>
          <a:solidFill>
            <a:srgbClr val="DDF2E7"/>
          </a:solidFill>
          <a:ln w="12700">
            <a:solidFill>
              <a:srgbClr val="DDF2E7"/>
            </a:solidFill>
            <a:prstDash val="solid"/>
          </a:ln>
        </p:spPr>
      </p:sp>
      <p:pic>
        <p:nvPicPr>
          <p:cNvPr id="2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64608" y="4000500"/>
            <a:ext cx="365760" cy="365760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5394960" y="3749040"/>
            <a:ext cx="3108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just saved you! 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broken box was stopped before it reached anyone.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18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Connect GitHub to Docker Hub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898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781" y="1510589"/>
            <a:ext cx="261518" cy="261518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80160" y="13898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Docker Hub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685800" y="2093976"/>
            <a:ext cx="274320" cy="2743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8580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069848" y="2039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at </a:t>
            </a:r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85800" y="2596896"/>
            <a:ext cx="274320" cy="2743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8580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1069848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settings → Personal access tokens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685800" y="3099816"/>
            <a:ext cx="274320" cy="2743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8580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1069848" y="3044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 token with </a:t>
            </a:r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Write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685800" y="3602736"/>
            <a:ext cx="274320" cy="274320"/>
          </a:xfrm>
          <a:prstGeom prst="ellipse">
            <a:avLst/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85800" y="360273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1069848" y="3547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it now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it is shown only once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846320" y="1234440"/>
            <a:ext cx="3840480" cy="3383280"/>
          </a:xfrm>
          <a:prstGeom prst="roundRect">
            <a:avLst>
              <a:gd name="adj" fmla="val 270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029200" y="1389888"/>
            <a:ext cx="502920" cy="50292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9901" y="1510589"/>
            <a:ext cx="261518" cy="261518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5669280" y="1389888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GitHub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5074920" y="2093976"/>
            <a:ext cx="274320" cy="274320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5074920" y="209397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28" name="Text 24"/>
          <p:cNvSpPr txBox="1"/>
          <p:nvPr/>
        </p:nvSpPr>
        <p:spPr>
          <a:xfrm>
            <a:off x="5458968" y="20391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repo → </a:t>
            </a:r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</a:t>
            </a:r>
            <a:endParaRPr lang="en-US" sz="1100" dirty="0"/>
          </a:p>
        </p:txBody>
      </p:sp>
      <p:sp>
        <p:nvSpPr>
          <p:cNvPr id="29" name="Shape 25"/>
          <p:cNvSpPr/>
          <p:nvPr/>
        </p:nvSpPr>
        <p:spPr>
          <a:xfrm>
            <a:off x="5074920" y="2596896"/>
            <a:ext cx="274320" cy="274320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0" name="Text 26"/>
          <p:cNvSpPr txBox="1"/>
          <p:nvPr/>
        </p:nvSpPr>
        <p:spPr>
          <a:xfrm>
            <a:off x="5074920" y="259689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31" name="Text 27"/>
          <p:cNvSpPr txBox="1"/>
          <p:nvPr/>
        </p:nvSpPr>
        <p:spPr>
          <a:xfrm>
            <a:off x="5458968" y="25420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Secrets and variables → Actions</a:t>
            </a:r>
            <a:endParaRPr lang="en-US" sz="1100" dirty="0"/>
          </a:p>
        </p:txBody>
      </p:sp>
      <p:sp>
        <p:nvSpPr>
          <p:cNvPr id="32" name="Shape 28"/>
          <p:cNvSpPr/>
          <p:nvPr/>
        </p:nvSpPr>
        <p:spPr>
          <a:xfrm>
            <a:off x="5074920" y="3099816"/>
            <a:ext cx="274320" cy="274320"/>
          </a:xfrm>
          <a:prstGeom prst="ellipse">
            <a:avLst/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5074920" y="3099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34" name="Text 30"/>
          <p:cNvSpPr txBox="1"/>
          <p:nvPr/>
        </p:nvSpPr>
        <p:spPr>
          <a:xfrm>
            <a:off x="5458968" y="304495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repository secret</a:t>
            </a:r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add both: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4343400" y="2926080"/>
            <a:ext cx="457200" cy="0"/>
          </a:xfrm>
          <a:prstGeom prst="line">
            <a:avLst/>
          </a:prstGeom>
          <a:noFill/>
          <a:ln w="25400">
            <a:solidFill>
              <a:srgbClr val="F26B1D"/>
            </a:solidFill>
            <a:prstDash val="solid"/>
            <a:tailEnd type="triangle"/>
          </a:ln>
        </p:spPr>
      </p:sp>
      <p:sp>
        <p:nvSpPr>
          <p:cNvPr id="36" name="Shape 32"/>
          <p:cNvSpPr/>
          <p:nvPr/>
        </p:nvSpPr>
        <p:spPr>
          <a:xfrm>
            <a:off x="5440680" y="3611880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5440680" y="361188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DOCKERHUB_USERNAME</a:t>
            </a:r>
            <a:endParaRPr lang="en-US" sz="850" dirty="0"/>
          </a:p>
        </p:txBody>
      </p:sp>
      <p:sp>
        <p:nvSpPr>
          <p:cNvPr id="38" name="Text 34"/>
          <p:cNvSpPr txBox="1"/>
          <p:nvPr/>
        </p:nvSpPr>
        <p:spPr>
          <a:xfrm>
            <a:off x="7315200" y="361188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Docker Hub username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5440680" y="4023360"/>
            <a:ext cx="1783080" cy="310896"/>
          </a:xfrm>
          <a:prstGeom prst="roundRect">
            <a:avLst>
              <a:gd name="adj" fmla="val 14706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5440680" y="4023360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DOCKERHUB_TOKEN</a:t>
            </a:r>
            <a:endParaRPr lang="en-US" sz="850" dirty="0"/>
          </a:p>
        </p:txBody>
      </p:sp>
      <p:sp>
        <p:nvSpPr>
          <p:cNvPr id="41" name="Text 37"/>
          <p:cNvSpPr txBox="1"/>
          <p:nvPr/>
        </p:nvSpPr>
        <p:spPr>
          <a:xfrm>
            <a:off x="7315200" y="4023360"/>
            <a:ext cx="1325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token you copied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19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 ·  ADD TO CI.YML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CD — Publish the Image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577840" cy="3383280"/>
          </a:xfrm>
          <a:prstGeom prst="roundRect">
            <a:avLst>
              <a:gd name="adj" fmla="val 2162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60704" y="1307592"/>
            <a:ext cx="4892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ci.yml — add these steps at the end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600200"/>
            <a:ext cx="52120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# ...the build and test steps from Lab 1 stay above...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name: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Log in to Docker Hub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uses: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docker/login-action@v3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with:</a:t>
            </a:r>
            <a:pPr indent="0" marL="0">
              <a:buNone/>
            </a:pP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username: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${{ secrets.DOCKERHUB_USERNAME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password: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${{ secrets.DOCKERHUB_TOKEN }}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- name: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Push the SAME tested image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8FD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run:</a:t>
            </a:r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|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docker tag hello-site ${{ secrets.DOCKERHUB_USERNAME }}/hello-site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          docker push ${{ secrets.DOCKERHUB_USERNAME }}/hello-site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172200" y="1234440"/>
            <a:ext cx="2514600" cy="758952"/>
          </a:xfrm>
          <a:prstGeom prst="roundRect">
            <a:avLst>
              <a:gd name="adj" fmla="val 12048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309360" y="1307592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 matters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6309360" y="15544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run top to bottom. Tests fail → push never happens.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2084832"/>
            <a:ext cx="2514600" cy="758952"/>
          </a:xfrm>
          <a:prstGeom prst="roundRect">
            <a:avLst>
              <a:gd name="adj" fmla="val 12048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309360" y="215798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login-action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6309360" y="240487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Signs in to Docker Hub with your secrets.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72200" y="2935224"/>
            <a:ext cx="2514600" cy="758952"/>
          </a:xfrm>
          <a:prstGeom prst="roundRect">
            <a:avLst>
              <a:gd name="adj" fmla="val 12048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309360" y="3008376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tag + push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6309360" y="325526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 the tested box and uploads it. No rebuild!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72200" y="3785616"/>
            <a:ext cx="2514600" cy="758952"/>
          </a:xfrm>
          <a:prstGeom prst="roundRect">
            <a:avLst>
              <a:gd name="adj" fmla="val 12048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09360" y="3858768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C452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${{ secrets… }}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6309360" y="410565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token stays hidden — never typed in the file.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20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  ·  RESULT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3: The Box Is in the Warehouse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64008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 ·  JOB: PIPELINE</a:t>
            </a:r>
            <a:endParaRPr lang="en-US" sz="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0992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024128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the Docker image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3657600" y="1645920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6s</a:t>
            </a:r>
            <a:endParaRPr lang="en-US" sz="9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112264"/>
            <a:ext cx="237744" cy="23774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24128" y="2048256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running container</a:t>
            </a:r>
            <a:endParaRPr lang="en-US" sz="1100" dirty="0"/>
          </a:p>
        </p:txBody>
      </p:sp>
      <p:sp>
        <p:nvSpPr>
          <p:cNvPr id="13" name="Text 9"/>
          <p:cNvSpPr txBox="1"/>
          <p:nvPr/>
        </p:nvSpPr>
        <p:spPr>
          <a:xfrm>
            <a:off x="3657600" y="2048256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3s</a:t>
            </a:r>
            <a:endParaRPr lang="en-US" sz="950" dirty="0"/>
          </a:p>
        </p:txBody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2514600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 txBox="1"/>
          <p:nvPr/>
        </p:nvSpPr>
        <p:spPr>
          <a:xfrm>
            <a:off x="1024128" y="24505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in to Docker Hub</a:t>
            </a:r>
            <a:endParaRPr lang="en-US" sz="1100" dirty="0"/>
          </a:p>
        </p:txBody>
      </p:sp>
      <p:sp>
        <p:nvSpPr>
          <p:cNvPr id="16" name="Text 11"/>
          <p:cNvSpPr txBox="1"/>
          <p:nvPr/>
        </p:nvSpPr>
        <p:spPr>
          <a:xfrm>
            <a:off x="3657600" y="2450592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1s</a:t>
            </a:r>
            <a:endParaRPr lang="en-US" sz="95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2916936"/>
            <a:ext cx="237744" cy="23774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024128" y="285292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the SAME tested image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3657600" y="2852928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9s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4663440" y="1234440"/>
            <a:ext cx="402336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1" name="Text 15"/>
          <p:cNvSpPr txBox="1"/>
          <p:nvPr/>
        </p:nvSpPr>
        <p:spPr>
          <a:xfrm>
            <a:off x="4846320" y="1325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5F666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HUB  ·  REPOSITORIES</a:t>
            </a:r>
            <a:endParaRPr lang="en-US" sz="800" dirty="0"/>
          </a:p>
        </p:txBody>
      </p:sp>
      <p:sp>
        <p:nvSpPr>
          <p:cNvPr id="22" name="Shape 16"/>
          <p:cNvSpPr/>
          <p:nvPr/>
        </p:nvSpPr>
        <p:spPr>
          <a:xfrm>
            <a:off x="4892040" y="1737360"/>
            <a:ext cx="1188720" cy="68580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2965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4" name="Shape 18"/>
          <p:cNvSpPr/>
          <p:nvPr/>
        </p:nvSpPr>
        <p:spPr>
          <a:xfrm>
            <a:off x="517824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532683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7542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562401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577260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21197" y="1801368"/>
            <a:ext cx="21946" cy="55778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30" name="Text 24"/>
          <p:cNvSpPr txBox="1"/>
          <p:nvPr/>
        </p:nvSpPr>
        <p:spPr>
          <a:xfrm>
            <a:off x="6217920" y="1737360"/>
            <a:ext cx="2423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mohit/hello-site</a:t>
            </a:r>
            <a:endParaRPr lang="en-US" sz="1200" dirty="0"/>
          </a:p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tag: latest · updated a minute ago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4892040" y="2651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A7D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— anyone can pull it</a:t>
            </a:r>
            <a:endParaRPr lang="en-US" sz="1000" dirty="0"/>
          </a:p>
        </p:txBody>
      </p:sp>
      <p:sp>
        <p:nvSpPr>
          <p:cNvPr id="32" name="Shape 26"/>
          <p:cNvSpPr/>
          <p:nvPr/>
        </p:nvSpPr>
        <p:spPr>
          <a:xfrm>
            <a:off x="457200" y="3520440"/>
            <a:ext cx="8229600" cy="1097280"/>
          </a:xfrm>
          <a:prstGeom prst="roundRect">
            <a:avLst>
              <a:gd name="adj" fmla="val 833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3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388620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 txBox="1"/>
          <p:nvPr/>
        </p:nvSpPr>
        <p:spPr>
          <a:xfrm>
            <a:off x="1188720" y="35204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26B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now have CI + Continuous Delivery. </a:t>
            </a:r>
            <a:pPr indent="0" marL="0">
              <a:buNone/>
            </a:pPr>
            <a:r>
              <a:rPr lang="en-US" sz="125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push to main is tested and, if it passes, a fresh image lands on Docker Hub — ready to run anywhere.</a:t>
            </a:r>
            <a:endParaRPr lang="en-US" sz="12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21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  ·  NEEDS DOCKER DESKTOP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 4: Run It Anywhere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120640" cy="2011680"/>
          </a:xfrm>
          <a:prstGeom prst="roundRect">
            <a:avLst>
              <a:gd name="adj" fmla="val 3636"/>
            </a:avLst>
          </a:prstGeom>
          <a:solidFill>
            <a:srgbClr val="232725"/>
          </a:solidFill>
          <a:ln w="12700">
            <a:solidFill>
              <a:srgbClr val="23272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3504" y="1353312"/>
            <a:ext cx="91440" cy="91440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58952" y="1353312"/>
            <a:ext cx="91440" cy="91440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400" y="1353312"/>
            <a:ext cx="91440" cy="91440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60020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848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On your laptop — or a friend’s!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pull mohit/hello-site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3FB2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</a:t>
            </a:r>
            <a:pPr indent="0" marL="0">
              <a:buNone/>
            </a:pPr>
            <a:r>
              <a:rPr lang="en-US" sz="950" dirty="0">
                <a:solidFill>
                  <a:srgbClr val="E6E9E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 run -d -p 8080:80 --name web mohit/hello-site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3429000"/>
            <a:ext cx="512064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9DED8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03504" y="3566160"/>
            <a:ext cx="82296" cy="82296"/>
          </a:xfrm>
          <a:prstGeom prst="ellipse">
            <a:avLst/>
          </a:prstGeom>
          <a:solidFill>
            <a:srgbClr val="D9DED8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49808" y="3566160"/>
            <a:ext cx="82296" cy="82296"/>
          </a:xfrm>
          <a:prstGeom prst="ellipse">
            <a:avLst/>
          </a:prstGeom>
          <a:solidFill>
            <a:srgbClr val="D9DED8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96112" y="3566160"/>
            <a:ext cx="82296" cy="82296"/>
          </a:xfrm>
          <a:prstGeom prst="ellipse">
            <a:avLst/>
          </a:prstGeom>
          <a:solidFill>
            <a:srgbClr val="D9DED8"/>
          </a:solidFill>
          <a:ln w="12700">
            <a:solidFill>
              <a:srgbClr val="D9DE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511296"/>
            <a:ext cx="4297680" cy="201168"/>
          </a:xfrm>
          <a:prstGeom prst="roundRect">
            <a:avLst>
              <a:gd name="adj" fmla="val 45455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207008" y="3511296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6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http://localhost:8080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" y="3794760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Hello from a container!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760720" y="123444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1399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07608" y="1508760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9224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Swap with a partner</a:t>
            </a:r>
            <a:endParaRPr lang="en-US" sz="1150" dirty="0"/>
          </a:p>
        </p:txBody>
      </p:sp>
      <p:sp>
        <p:nvSpPr>
          <p:cNvPr id="22" name="Text 19"/>
          <p:cNvSpPr txBox="1"/>
          <p:nvPr/>
        </p:nvSpPr>
        <p:spPr>
          <a:xfrm>
            <a:off x="6492240" y="1645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partner’s image using their Docker Hub username.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5760720" y="237744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FDE3D3"/>
          </a:solidFill>
          <a:ln w="12700">
            <a:solidFill>
              <a:srgbClr val="FDE3D3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897880" y="2542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7608" y="2651760"/>
            <a:ext cx="237744" cy="237744"/>
          </a:xfrm>
          <a:prstGeom prst="rect">
            <a:avLst/>
          </a:prstGeom>
        </p:spPr>
      </p:pic>
      <p:sp>
        <p:nvSpPr>
          <p:cNvPr id="26" name="Text 22"/>
          <p:cNvSpPr txBox="1"/>
          <p:nvPr/>
        </p:nvSpPr>
        <p:spPr>
          <a:xfrm>
            <a:off x="6492240" y="2468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loop</a:t>
            </a:r>
            <a:endParaRPr lang="en-US" sz="1150" dirty="0"/>
          </a:p>
        </p:txBody>
      </p:sp>
      <p:sp>
        <p:nvSpPr>
          <p:cNvPr id="27" name="Text 23"/>
          <p:cNvSpPr txBox="1"/>
          <p:nvPr/>
        </p:nvSpPr>
        <p:spPr>
          <a:xfrm>
            <a:off x="6492240" y="2788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index.html → push → pipeline → docker pull → new version.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5760720" y="3520440"/>
            <a:ext cx="2926080" cy="1024128"/>
          </a:xfrm>
          <a:prstGeom prst="roundRect">
            <a:avLst>
              <a:gd name="adj" fmla="val 89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5897880" y="3685032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07608" y="3794760"/>
            <a:ext cx="237744" cy="237744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92240" y="3611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CD next</a:t>
            </a:r>
            <a:endParaRPr lang="en-US" sz="1150" dirty="0"/>
          </a:p>
        </p:txBody>
      </p:sp>
      <p:sp>
        <p:nvSpPr>
          <p:cNvPr id="32" name="Text 27"/>
          <p:cNvSpPr txBox="1"/>
          <p:nvPr/>
        </p:nvSpPr>
        <p:spPr>
          <a:xfrm>
            <a:off x="6492240" y="3931920"/>
            <a:ext cx="21031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real projects, the pipeline also runs the new box on a server.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22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YOURSELF TIME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Beginner Mistakes to Avoid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417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527048"/>
            <a:ext cx="237744" cy="23774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folder</a:t>
            </a:r>
            <a:endParaRPr lang="en-US" sz="1250" dirty="0"/>
          </a:p>
        </p:txBody>
      </p:sp>
      <p:sp>
        <p:nvSpPr>
          <p:cNvPr id="10" name="Text 7"/>
          <p:cNvSpPr txBox="1"/>
          <p:nvPr/>
        </p:nvSpPr>
        <p:spPr>
          <a:xfrm>
            <a:off x="640080" y="1984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 only run from .github/workflows/ — note the dot and the “s”.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3246120" y="123444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29000" y="1417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8728" y="1527048"/>
            <a:ext cx="237744" cy="23774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02336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Tabs in YAML</a:t>
            </a:r>
            <a:endParaRPr lang="en-US" sz="1250" dirty="0"/>
          </a:p>
        </p:txBody>
      </p:sp>
      <p:sp>
        <p:nvSpPr>
          <p:cNvPr id="15" name="Text 11"/>
          <p:cNvSpPr txBox="1"/>
          <p:nvPr/>
        </p:nvSpPr>
        <p:spPr>
          <a:xfrm>
            <a:off x="3429000" y="1984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YAML needs spaces. One wrong indent = “Invalid workflow file”.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6035040" y="1234440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17920" y="1417320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527048"/>
            <a:ext cx="237744" cy="23774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6812280" y="141732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Dockerfile.txt</a:t>
            </a:r>
            <a:endParaRPr lang="en-US" sz="1250" dirty="0"/>
          </a:p>
        </p:txBody>
      </p:sp>
      <p:sp>
        <p:nvSpPr>
          <p:cNvPr id="20" name="Text 15"/>
          <p:cNvSpPr txBox="1"/>
          <p:nvPr/>
        </p:nvSpPr>
        <p:spPr>
          <a:xfrm>
            <a:off x="6217920" y="1984248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file is named exactly Dockerfile — no extension.</a:t>
            </a:r>
            <a:endParaRPr lang="en-US" sz="1050" dirty="0"/>
          </a:p>
        </p:txBody>
      </p:sp>
      <p:sp>
        <p:nvSpPr>
          <p:cNvPr id="21" name="Shape 16"/>
          <p:cNvSpPr/>
          <p:nvPr/>
        </p:nvSpPr>
        <p:spPr>
          <a:xfrm>
            <a:off x="457200" y="294436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40080" y="31272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3236976"/>
            <a:ext cx="237744" cy="23774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Secret names differ</a:t>
            </a:r>
            <a:endParaRPr lang="en-US" sz="1250" dirty="0"/>
          </a:p>
        </p:txBody>
      </p:sp>
      <p:sp>
        <p:nvSpPr>
          <p:cNvPr id="25" name="Text 19"/>
          <p:cNvSpPr txBox="1"/>
          <p:nvPr/>
        </p:nvSpPr>
        <p:spPr>
          <a:xfrm>
            <a:off x="640080" y="369417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DOCKERHUB_TOKEN in GitHub must match the YAML exactly.</a:t>
            </a:r>
            <a:endParaRPr lang="en-US" sz="1050" dirty="0"/>
          </a:p>
        </p:txBody>
      </p:sp>
      <p:sp>
        <p:nvSpPr>
          <p:cNvPr id="26" name="Shape 20"/>
          <p:cNvSpPr/>
          <p:nvPr/>
        </p:nvSpPr>
        <p:spPr>
          <a:xfrm>
            <a:off x="3246120" y="294436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3429000" y="31272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8728" y="323697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4023360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Wrong port</a:t>
            </a:r>
            <a:endParaRPr lang="en-US" sz="1250" dirty="0"/>
          </a:p>
        </p:txBody>
      </p:sp>
      <p:sp>
        <p:nvSpPr>
          <p:cNvPr id="30" name="Text 23"/>
          <p:cNvSpPr txBox="1"/>
          <p:nvPr/>
        </p:nvSpPr>
        <p:spPr>
          <a:xfrm>
            <a:off x="3429000" y="369417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listens on port 80 inside the box. Use -p 8080:80, not -p 8080:8080.</a:t>
            </a:r>
            <a:endParaRPr lang="en-US" sz="1050" dirty="0"/>
          </a:p>
        </p:txBody>
      </p:sp>
      <p:sp>
        <p:nvSpPr>
          <p:cNvPr id="31" name="Shape 24"/>
          <p:cNvSpPr/>
          <p:nvPr/>
        </p:nvSpPr>
        <p:spPr>
          <a:xfrm>
            <a:off x="6035040" y="2944368"/>
            <a:ext cx="2651760" cy="1572768"/>
          </a:xfrm>
          <a:prstGeom prst="roundRect">
            <a:avLst>
              <a:gd name="adj" fmla="val 5814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6217920" y="3127248"/>
            <a:ext cx="457200" cy="457200"/>
          </a:xfrm>
          <a:prstGeom prst="roundRect">
            <a:avLst>
              <a:gd name="adj" fmla="val 22000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7648" y="3236976"/>
            <a:ext cx="237744" cy="237744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6812280" y="3127248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Ignoring red ✗</a:t>
            </a:r>
            <a:endParaRPr lang="en-US" sz="1250" dirty="0"/>
          </a:p>
        </p:txBody>
      </p:sp>
      <p:sp>
        <p:nvSpPr>
          <p:cNvPr id="35" name="Text 27"/>
          <p:cNvSpPr txBox="1"/>
          <p:nvPr/>
        </p:nvSpPr>
        <p:spPr>
          <a:xfrm>
            <a:off x="6217920" y="3694176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red build is an alarm. Fix it before adding new work.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23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REMEMBER THESE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Golden Rules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143000" y="1234440"/>
            <a:ext cx="7543800" cy="566928"/>
          </a:xfrm>
          <a:prstGeom prst="roundRect">
            <a:avLst>
              <a:gd name="adj" fmla="val 161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325880" y="1234440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box once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4389120" y="123444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it, ship it, run it — the same image everywhere.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911096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57200" y="1911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143000" y="1911096"/>
            <a:ext cx="7543800" cy="566928"/>
          </a:xfrm>
          <a:prstGeom prst="roundRect">
            <a:avLst>
              <a:gd name="adj" fmla="val 161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25880" y="1911096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before you publish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4389120" y="191109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 the push step AFTER the test step.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" y="2587752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57200" y="25877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143000" y="2587752"/>
            <a:ext cx="7543800" cy="566928"/>
          </a:xfrm>
          <a:prstGeom prst="roundRect">
            <a:avLst>
              <a:gd name="adj" fmla="val 161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325880" y="2587752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build green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389120" y="258775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it turns red, fixing it is everyone’s top priority.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457200" y="3264408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264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1143000" y="3264408"/>
            <a:ext cx="7543800" cy="566928"/>
          </a:xfrm>
          <a:prstGeom prst="roundRect">
            <a:avLst>
              <a:gd name="adj" fmla="val 161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325880" y="3264408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Never type secrets in files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4389120" y="326440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live in GitHub Secrets only.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457200" y="3941064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394106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1143000" y="3941064"/>
            <a:ext cx="7543800" cy="566928"/>
          </a:xfrm>
          <a:prstGeom prst="roundRect">
            <a:avLst>
              <a:gd name="adj" fmla="val 16129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1325880" y="3941064"/>
            <a:ext cx="3017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 small, commit often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4389120" y="39410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F66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changes are easy to test and easy to fix.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24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 YOUR UNDERSTANDING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34440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1234440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463040" y="1234440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problem does Docker solve, and which does CI/CD solve?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57200" y="1901952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901952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1280160" y="1901952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63040" y="1901952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does the robot do in CI every time you push?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57200" y="2569464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57200" y="2569464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80160" y="2569464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63040" y="2569464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Continuous Delivery vs Continuous Deployment — what is the one difference?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57200" y="3236976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236976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1280160" y="3236976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1463040" y="3236976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the push step placed after the test step?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457200" y="3904488"/>
            <a:ext cx="685800" cy="548640"/>
          </a:xfrm>
          <a:prstGeom prst="roundRect">
            <a:avLst>
              <a:gd name="adj" fmla="val 16667"/>
            </a:avLst>
          </a:prstGeom>
          <a:solidFill>
            <a:srgbClr val="F26B1D"/>
          </a:solidFill>
          <a:ln w="12700">
            <a:solidFill>
              <a:srgbClr val="F26B1D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904488"/>
            <a:ext cx="685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Q5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1280160" y="3904488"/>
            <a:ext cx="7406640" cy="548640"/>
          </a:xfrm>
          <a:prstGeom prst="roundRect">
            <a:avLst>
              <a:gd name="adj" fmla="val 16667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63040" y="3904488"/>
            <a:ext cx="713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can a friend run your app without your code?</a:t>
            </a:r>
            <a:endParaRPr lang="en-US" sz="13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828032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 | Assistant Professor, LJCCA</a:t>
            </a:r>
            <a:endParaRPr lang="en-US" sz="800" dirty="0"/>
          </a:p>
        </p:txBody>
      </p:sp>
      <p:sp>
        <p:nvSpPr>
          <p:cNvPr id="3" name="Text 1"/>
          <p:cNvSpPr txBox="1"/>
          <p:nvPr/>
        </p:nvSpPr>
        <p:spPr>
          <a:xfrm>
            <a:off x="5943600" y="48280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A91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 with Docker  ·  25 / 26</a:t>
            </a:r>
            <a:endParaRPr lang="en-US" sz="8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2926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WRAP-UP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512064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Answers &amp; Recap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4572000" cy="3383280"/>
          </a:xfrm>
          <a:prstGeom prst="roundRect">
            <a:avLst>
              <a:gd name="adj" fmla="val 2703"/>
            </a:avLst>
          </a:prstGeom>
          <a:solidFill>
            <a:srgbClr val="F2F4F1"/>
          </a:solidFill>
          <a:ln w="12700">
            <a:solidFill>
              <a:srgbClr val="F2F4F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8368" y="134416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C1F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 answers</a:t>
            </a:r>
            <a:endParaRPr lang="en-US" sz="135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737360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173736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Docker: “works on my machine”. CI/CD: doing everything by hand.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30428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1097280" y="2304288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the Docker image, runs it, and checks the page.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658368" y="2871216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2871216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presses “go live”: a person (Delivery) or the pipeline (Deployment).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3438144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3438144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Steps run in order: if tests fail, the push never happens.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58368" y="4005072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452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A5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1097280" y="4005072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C1F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yourname/hello-site — the image comes from Docker Hub.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212080" y="1234440"/>
            <a:ext cx="3474720" cy="3383280"/>
          </a:xfrm>
          <a:prstGeom prst="roundRect">
            <a:avLst>
              <a:gd name="adj" fmla="val 2703"/>
            </a:avLst>
          </a:prstGeom>
          <a:solidFill>
            <a:srgbClr val="1C1F1D"/>
          </a:solidFill>
          <a:ln w="12700">
            <a:solidFill>
              <a:srgbClr val="1C1F1D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13248" y="1344168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can now…</a:t>
            </a:r>
            <a:endParaRPr lang="en-US" sz="1350" dirty="0"/>
          </a:p>
        </p:txBody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1847088"/>
            <a:ext cx="237744" cy="23774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5760720" y="178308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CI, CD and the pipeline</a:t>
            </a:r>
            <a:endParaRPr lang="en-US" sz="1200" dirty="0"/>
          </a:p>
        </p:txBody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3248" y="2377440"/>
            <a:ext cx="237744" cy="23774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5760720" y="2313432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Docker image in CI</a:t>
            </a:r>
            <a:endParaRPr lang="en-US" sz="1200" dirty="0"/>
          </a:p>
        </p:txBody>
      </p:sp>
      <p:pic>
        <p:nvPicPr>
          <p:cNvPr id="2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3248" y="2907792"/>
            <a:ext cx="237744" cy="23774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5760720" y="2843784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 running container</a:t>
            </a:r>
            <a:endParaRPr lang="en-US" sz="1200" dirty="0"/>
          </a:p>
        </p:txBody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13248" y="3438144"/>
            <a:ext cx="237744" cy="237744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5760720" y="3374136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images to Docker Hub</a:t>
            </a:r>
            <a:endParaRPr lang="en-US" sz="12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3248" y="3968496"/>
            <a:ext cx="237744" cy="237744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5760720" y="39044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9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your app on any machine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C1F1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26B1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60020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Questions?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697480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Homework: redesign index.html, push, and run your new image from Docker Hub.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393192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Parth D. Joshi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C9CEC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LJCCA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577840" y="3024835"/>
            <a:ext cx="1520190" cy="625450"/>
          </a:xfrm>
          <a:prstGeom prst="rect">
            <a:avLst/>
          </a:prstGeom>
          <a:solidFill>
            <a:srgbClr val="5E6B64"/>
          </a:solidFill>
          <a:ln w="12700">
            <a:solidFill>
              <a:srgbClr val="4A555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718886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870905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022924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174943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26962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78981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631000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783019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935038" y="3088843"/>
            <a:ext cx="21946" cy="497434"/>
          </a:xfrm>
          <a:prstGeom prst="rect">
            <a:avLst/>
          </a:prstGeom>
          <a:solidFill>
            <a:srgbClr val="4A5550"/>
          </a:solidFill>
          <a:ln w="6350">
            <a:solidFill>
              <a:srgbClr val="4A555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880735" y="3209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880735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184898" y="3024835"/>
            <a:ext cx="1520190" cy="62545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25944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477963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29982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82001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934020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086039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238058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390077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542096" y="3088843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487793" y="3209544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487793" y="320954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build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577840" y="2312518"/>
            <a:ext cx="1520190" cy="625450"/>
          </a:xfrm>
          <a:prstGeom prst="rect">
            <a:avLst/>
          </a:prstGeom>
          <a:solidFill>
            <a:srgbClr val="3FB27F"/>
          </a:solidFill>
          <a:ln w="12700">
            <a:solidFill>
              <a:srgbClr val="2A7D5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718886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870905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22924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174943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326962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478981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631000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783019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935038" y="2376526"/>
            <a:ext cx="21946" cy="497434"/>
          </a:xfrm>
          <a:prstGeom prst="rect">
            <a:avLst/>
          </a:prstGeom>
          <a:solidFill>
            <a:srgbClr val="2A7D58"/>
          </a:solidFill>
          <a:ln w="6350">
            <a:solidFill>
              <a:srgbClr val="2A7D5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880735" y="249722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5880735" y="249722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184898" y="2312518"/>
            <a:ext cx="1520190" cy="625450"/>
          </a:xfrm>
          <a:prstGeom prst="rect">
            <a:avLst/>
          </a:prstGeom>
          <a:solidFill>
            <a:srgbClr val="E6E9E4"/>
          </a:solidFill>
          <a:ln w="12700">
            <a:solidFill>
              <a:srgbClr val="BFC6C0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25944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477963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629982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782001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934020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086039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238058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8390077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8542096" y="2376526"/>
            <a:ext cx="21946" cy="497434"/>
          </a:xfrm>
          <a:prstGeom prst="rect">
            <a:avLst/>
          </a:prstGeom>
          <a:solidFill>
            <a:srgbClr val="BFC6C0"/>
          </a:solidFill>
          <a:ln w="6350">
            <a:solidFill>
              <a:srgbClr val="BFC6C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487793" y="2497226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487793" y="2497226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push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381369" y="1600200"/>
            <a:ext cx="1520190" cy="625450"/>
          </a:xfrm>
          <a:prstGeom prst="rect">
            <a:avLst/>
          </a:prstGeom>
          <a:solidFill>
            <a:srgbClr val="F26B1D"/>
          </a:solidFill>
          <a:ln w="12700">
            <a:solidFill>
              <a:srgbClr val="C4520F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522415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674434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826453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6978472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130491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82510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7434529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586548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7738567" y="1664208"/>
            <a:ext cx="21946" cy="497434"/>
          </a:xfrm>
          <a:prstGeom prst="rect">
            <a:avLst/>
          </a:prstGeom>
          <a:solidFill>
            <a:srgbClr val="C4520F"/>
          </a:solidFill>
          <a:ln w="6350">
            <a:solidFill>
              <a:srgbClr val="C4520F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6684264" y="1784909"/>
            <a:ext cx="914400" cy="25603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684264" y="1784909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C1F1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CI/CD with Docker</dc:title>
  <dc:subject>PptxGenJS Presentation</dc:subject>
  <dc:creator>Prof. Parth D. Joshi</dc:creator>
  <cp:lastModifiedBy>Prof. Parth D. Joshi</cp:lastModifiedBy>
  <cp:revision>1</cp:revision>
  <dcterms:created xsi:type="dcterms:W3CDTF">2026-09-25T14:16:04Z</dcterms:created>
  <dcterms:modified xsi:type="dcterms:W3CDTF">2026-09-25T14:16:04Z</dcterms:modified>
</cp:coreProperties>
</file>