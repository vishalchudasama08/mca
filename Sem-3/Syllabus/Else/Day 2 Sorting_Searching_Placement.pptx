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covers sorting + searching with real-life story problems for placement prep. Every question was designed to map algorithm choice to a real business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the anchor for the sorting module. Quiz students: describe the real-life story and ask them to identify the algorithm from complexity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swap detection. If a full pass has zero swaps, the array is already sorted. This gives O(n) best case and makes bubble sort useful for nearly-sorted data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these two clearly: selection sort always scans everything (n² comparisons always), but only swaps n times. Insertion sort can exit early — great when data is nearly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merge sort's merge step is what makes it powerful. Two sorted lists can be merged in O(n). Recursively dividing and merging gives O(n log n). This is how Python's sort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choice matters: worst case O(n²) happens when pivot is always the smallest or largest (e.g. sorted array + last-element pivot). Randomized pivot or median-of-3 avoids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decision: is data sorted? If yes, use binary search. If no, use linear OR sort first. Sorting cost O(n log n) is worth it if you'll search many times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flavours of binary search are the most common interview variants. Standard: exact match. Lower bound: first position where arr[mid] &gt;= target (go left to find earlier ones). Upper bound: last position where arr[mid] &lt;= target. Range count = upper −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rapid-fire: read just the story, ask students to name the sorting algorithm. Then reveal. Repeat until students can identify the algorithm from the problem description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question, ask: is the data sorted? That one question determines the search strategy. Then ask: do you need exact match, first occurrence, or last occurrence? That determines the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decision flowchart. Quiz: I call out a scenario, you tell me the algorithm AND the complexity. Speed and accuracy on this table = interview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rapid-fire round. Call out a scenario from any of the 11 story questions. Students answer: algorithm name + complexity. First 3 correct = placement-ready.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109728"/>
            <a:ext cx="73152" cy="5029200"/>
          </a:xfrm>
          <a:prstGeom prst="rect">
            <a:avLst/>
          </a:prstGeom>
          <a:solidFill>
            <a:srgbClr val="0D9488"/>
          </a:solidFill>
          <a:ln w="12700">
            <a:solidFill>
              <a:srgbClr val="0D9488"/>
            </a:solidFill>
            <a:prstDash val="solid"/>
          </a:ln>
        </p:spPr>
      </p:sp>
      <p:sp>
        <p:nvSpPr>
          <p:cNvPr id="4" name="Text 2"/>
          <p:cNvSpPr/>
          <p:nvPr/>
        </p:nvSpPr>
        <p:spPr>
          <a:xfrm>
            <a:off x="320040" y="411480"/>
            <a:ext cx="5486400" cy="2194560"/>
          </a:xfrm>
          <a:prstGeom prst="rect">
            <a:avLst/>
          </a:prstGeom>
          <a:noFill/>
          <a:ln/>
        </p:spPr>
        <p:txBody>
          <a:bodyPr wrap="square" rtlCol="0" anchor="ctr"/>
          <a:lstStyle/>
          <a:p>
            <a:pPr algn="l" indent="0" marL="0">
              <a:lnSpc>
                <a:spcPct val="105000"/>
              </a:lnSpc>
              <a:buNone/>
            </a:pPr>
            <a:r>
              <a:rPr lang="en-US" sz="5200" b="1" dirty="0">
                <a:solidFill>
                  <a:srgbClr val="FFFFFF"/>
                </a:solidFill>
                <a:latin typeface="Calibri" pitchFamily="34" charset="0"/>
                <a:ea typeface="Calibri" pitchFamily="34" charset="-122"/>
                <a:cs typeface="Calibri" pitchFamily="34" charset="-120"/>
              </a:rPr>
              <a:t>SORTING &amp;</a:t>
            </a:r>
            <a:endParaRPr lang="en-US" sz="5200" dirty="0"/>
          </a:p>
          <a:p>
            <a:pPr algn="l" indent="0" marL="0">
              <a:lnSpc>
                <a:spcPct val="105000"/>
              </a:lnSpc>
              <a:buNone/>
            </a:pPr>
            <a:r>
              <a:rPr lang="en-US" sz="5200" b="1" dirty="0">
                <a:solidFill>
                  <a:srgbClr val="FFFFFF"/>
                </a:solidFill>
                <a:latin typeface="Calibri" pitchFamily="34" charset="0"/>
                <a:ea typeface="Calibri" pitchFamily="34" charset="-122"/>
                <a:cs typeface="Calibri" pitchFamily="34" charset="-120"/>
              </a:rPr>
              <a:t>SEARCHING</a:t>
            </a:r>
            <a:endParaRPr lang="en-US" sz="5200" dirty="0"/>
          </a:p>
        </p:txBody>
      </p:sp>
      <p:sp>
        <p:nvSpPr>
          <p:cNvPr id="5" name="Text 3"/>
          <p:cNvSpPr/>
          <p:nvPr/>
        </p:nvSpPr>
        <p:spPr>
          <a:xfrm>
            <a:off x="320040" y="2606040"/>
            <a:ext cx="5486400" cy="502920"/>
          </a:xfrm>
          <a:prstGeom prst="rect">
            <a:avLst/>
          </a:prstGeom>
          <a:noFill/>
          <a:ln/>
        </p:spPr>
        <p:txBody>
          <a:bodyPr wrap="square" rtlCol="0" anchor="ctr"/>
          <a:lstStyle/>
          <a:p>
            <a:pPr algn="l" indent="0" marL="0">
              <a:buNone/>
            </a:pPr>
            <a:r>
              <a:rPr lang="en-US" sz="2000" i="1" dirty="0">
                <a:solidFill>
                  <a:srgbClr val="FCD34D"/>
                </a:solidFill>
                <a:latin typeface="Calibri" pitchFamily="34" charset="0"/>
                <a:ea typeface="Calibri" pitchFamily="34" charset="-122"/>
                <a:cs typeface="Calibri" pitchFamily="34" charset="-120"/>
              </a:rPr>
              <a:t>Placement Revision Series</a:t>
            </a:r>
            <a:endParaRPr lang="en-US" sz="2000" dirty="0"/>
          </a:p>
        </p:txBody>
      </p:sp>
      <p:sp>
        <p:nvSpPr>
          <p:cNvPr id="6" name="Text 4"/>
          <p:cNvSpPr/>
          <p:nvPr/>
        </p:nvSpPr>
        <p:spPr>
          <a:xfrm>
            <a:off x="320040" y="3154680"/>
            <a:ext cx="5943600" cy="347472"/>
          </a:xfrm>
          <a:prstGeom prst="rect">
            <a:avLst/>
          </a:prstGeom>
          <a:noFill/>
          <a:ln/>
        </p:spPr>
        <p:txBody>
          <a:bodyPr wrap="square"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Real-life stories · Algorithm walkthroughs · Placement questions</a:t>
            </a:r>
            <a:endParaRPr lang="en-US" sz="1300" dirty="0"/>
          </a:p>
        </p:txBody>
      </p:sp>
      <p:sp>
        <p:nvSpPr>
          <p:cNvPr id="7" name="Shape 5"/>
          <p:cNvSpPr/>
          <p:nvPr/>
        </p:nvSpPr>
        <p:spPr>
          <a:xfrm>
            <a:off x="6217920" y="411480"/>
            <a:ext cx="2651760" cy="475488"/>
          </a:xfrm>
          <a:prstGeom prst="roundRect">
            <a:avLst>
              <a:gd name="adj" fmla="val 15385"/>
            </a:avLst>
          </a:prstGeom>
          <a:solidFill>
            <a:srgbClr val="0D9488">
              <a:alpha val="25000"/>
            </a:srgbClr>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8" name="Text 6"/>
          <p:cNvSpPr/>
          <p:nvPr/>
        </p:nvSpPr>
        <p:spPr>
          <a:xfrm>
            <a:off x="6217920" y="411480"/>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Bubble Sort</a:t>
            </a:r>
            <a:endParaRPr lang="en-US" sz="1300" dirty="0"/>
          </a:p>
        </p:txBody>
      </p:sp>
      <p:sp>
        <p:nvSpPr>
          <p:cNvPr id="9" name="Shape 7"/>
          <p:cNvSpPr/>
          <p:nvPr/>
        </p:nvSpPr>
        <p:spPr>
          <a:xfrm>
            <a:off x="6217920" y="978408"/>
            <a:ext cx="2651760" cy="475488"/>
          </a:xfrm>
          <a:prstGeom prst="roundRect">
            <a:avLst>
              <a:gd name="adj" fmla="val 15385"/>
            </a:avLst>
          </a:prstGeom>
          <a:solidFill>
            <a:srgbClr val="F59E0B">
              <a:alpha val="25000"/>
            </a:srgbClr>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10" name="Text 8"/>
          <p:cNvSpPr/>
          <p:nvPr/>
        </p:nvSpPr>
        <p:spPr>
          <a:xfrm>
            <a:off x="6217920" y="978408"/>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Selection Sort</a:t>
            </a:r>
            <a:endParaRPr lang="en-US" sz="1300" dirty="0"/>
          </a:p>
        </p:txBody>
      </p:sp>
      <p:sp>
        <p:nvSpPr>
          <p:cNvPr id="11" name="Shape 9"/>
          <p:cNvSpPr/>
          <p:nvPr/>
        </p:nvSpPr>
        <p:spPr>
          <a:xfrm>
            <a:off x="6217920" y="1545336"/>
            <a:ext cx="2651760" cy="475488"/>
          </a:xfrm>
          <a:prstGeom prst="roundRect">
            <a:avLst>
              <a:gd name="adj" fmla="val 15385"/>
            </a:avLst>
          </a:prstGeom>
          <a:solidFill>
            <a:srgbClr val="F43F5E">
              <a:alpha val="25000"/>
            </a:srgbClr>
          </a:solidFill>
          <a:ln w="12700">
            <a:solidFill>
              <a:srgbClr val="F43F5E"/>
            </a:solidFill>
            <a:prstDash val="solid"/>
          </a:ln>
          <a:effectLst>
            <a:outerShdw sx="100000" sy="100000" kx="0" ky="0" algn="bl" rotWithShape="0" blurRad="101600" dist="38100" dir="2700000">
              <a:srgbClr val="000000">
                <a:alpha val="22000"/>
              </a:srgbClr>
            </a:outerShdw>
          </a:effectLst>
        </p:spPr>
      </p:sp>
      <p:sp>
        <p:nvSpPr>
          <p:cNvPr id="12" name="Text 10"/>
          <p:cNvSpPr/>
          <p:nvPr/>
        </p:nvSpPr>
        <p:spPr>
          <a:xfrm>
            <a:off x="6217920" y="1545336"/>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Insertion Sort</a:t>
            </a:r>
            <a:endParaRPr lang="en-US" sz="1300" dirty="0"/>
          </a:p>
        </p:txBody>
      </p:sp>
      <p:sp>
        <p:nvSpPr>
          <p:cNvPr id="13" name="Shape 11"/>
          <p:cNvSpPr/>
          <p:nvPr/>
        </p:nvSpPr>
        <p:spPr>
          <a:xfrm>
            <a:off x="6217920" y="2112264"/>
            <a:ext cx="2651760" cy="475488"/>
          </a:xfrm>
          <a:prstGeom prst="roundRect">
            <a:avLst>
              <a:gd name="adj" fmla="val 15385"/>
            </a:avLst>
          </a:prstGeom>
          <a:solidFill>
            <a:srgbClr val="22C55E">
              <a:alpha val="25000"/>
            </a:srgbClr>
          </a:solidFill>
          <a:ln w="12700">
            <a:solidFill>
              <a:srgbClr val="22C55E"/>
            </a:solidFill>
            <a:prstDash val="solid"/>
          </a:ln>
          <a:effectLst>
            <a:outerShdw sx="100000" sy="100000" kx="0" ky="0" algn="bl" rotWithShape="0" blurRad="101600" dist="38100" dir="2700000">
              <a:srgbClr val="000000">
                <a:alpha val="22000"/>
              </a:srgbClr>
            </a:outerShdw>
          </a:effectLst>
        </p:spPr>
      </p:sp>
      <p:sp>
        <p:nvSpPr>
          <p:cNvPr id="14" name="Text 12"/>
          <p:cNvSpPr/>
          <p:nvPr/>
        </p:nvSpPr>
        <p:spPr>
          <a:xfrm>
            <a:off x="6217920" y="2112264"/>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Merge Sort</a:t>
            </a:r>
            <a:endParaRPr lang="en-US" sz="1300" dirty="0"/>
          </a:p>
        </p:txBody>
      </p:sp>
      <p:sp>
        <p:nvSpPr>
          <p:cNvPr id="15" name="Shape 13"/>
          <p:cNvSpPr/>
          <p:nvPr/>
        </p:nvSpPr>
        <p:spPr>
          <a:xfrm>
            <a:off x="6217920" y="2679192"/>
            <a:ext cx="2651760" cy="475488"/>
          </a:xfrm>
          <a:prstGeom prst="roundRect">
            <a:avLst>
              <a:gd name="adj" fmla="val 15385"/>
            </a:avLst>
          </a:prstGeom>
          <a:solidFill>
            <a:srgbClr val="A78BFA">
              <a:alpha val="25000"/>
            </a:srgbClr>
          </a:solidFill>
          <a:ln w="12700">
            <a:solidFill>
              <a:srgbClr val="A78BFA"/>
            </a:solidFill>
            <a:prstDash val="solid"/>
          </a:ln>
          <a:effectLst>
            <a:outerShdw sx="100000" sy="100000" kx="0" ky="0" algn="bl" rotWithShape="0" blurRad="101600" dist="38100" dir="2700000">
              <a:srgbClr val="000000">
                <a:alpha val="22000"/>
              </a:srgbClr>
            </a:outerShdw>
          </a:effectLst>
        </p:spPr>
      </p:sp>
      <p:sp>
        <p:nvSpPr>
          <p:cNvPr id="16" name="Text 14"/>
          <p:cNvSpPr/>
          <p:nvPr/>
        </p:nvSpPr>
        <p:spPr>
          <a:xfrm>
            <a:off x="6217920" y="2679192"/>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Quick Sort</a:t>
            </a:r>
            <a:endParaRPr lang="en-US" sz="1300" dirty="0"/>
          </a:p>
        </p:txBody>
      </p:sp>
      <p:sp>
        <p:nvSpPr>
          <p:cNvPr id="17" name="Shape 15"/>
          <p:cNvSpPr/>
          <p:nvPr/>
        </p:nvSpPr>
        <p:spPr>
          <a:xfrm>
            <a:off x="6217920" y="3246120"/>
            <a:ext cx="2651760" cy="475488"/>
          </a:xfrm>
          <a:prstGeom prst="roundRect">
            <a:avLst>
              <a:gd name="adj" fmla="val 15385"/>
            </a:avLst>
          </a:prstGeom>
          <a:solidFill>
            <a:srgbClr val="0D9488">
              <a:alpha val="25000"/>
            </a:srgbClr>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18" name="Text 16"/>
          <p:cNvSpPr/>
          <p:nvPr/>
        </p:nvSpPr>
        <p:spPr>
          <a:xfrm>
            <a:off x="6217920" y="3246120"/>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Linear Search</a:t>
            </a:r>
            <a:endParaRPr lang="en-US" sz="1300" dirty="0"/>
          </a:p>
        </p:txBody>
      </p:sp>
      <p:sp>
        <p:nvSpPr>
          <p:cNvPr id="19" name="Shape 17"/>
          <p:cNvSpPr/>
          <p:nvPr/>
        </p:nvSpPr>
        <p:spPr>
          <a:xfrm>
            <a:off x="6217920" y="3813048"/>
            <a:ext cx="2651760" cy="475488"/>
          </a:xfrm>
          <a:prstGeom prst="roundRect">
            <a:avLst>
              <a:gd name="adj" fmla="val 15385"/>
            </a:avLst>
          </a:prstGeom>
          <a:solidFill>
            <a:srgbClr val="F59E0B">
              <a:alpha val="25000"/>
            </a:srgbClr>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20" name="Text 18"/>
          <p:cNvSpPr/>
          <p:nvPr/>
        </p:nvSpPr>
        <p:spPr>
          <a:xfrm>
            <a:off x="6217920" y="3813048"/>
            <a:ext cx="26517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Binary Search</a:t>
            </a:r>
            <a:endParaRPr lang="en-US" sz="1300" dirty="0"/>
          </a:p>
        </p:txBody>
      </p:sp>
      <p:sp>
        <p:nvSpPr>
          <p:cNvPr id="21" name="Shape 19"/>
          <p:cNvSpPr/>
          <p:nvPr/>
        </p:nvSpPr>
        <p:spPr>
          <a:xfrm>
            <a:off x="320040" y="4206240"/>
            <a:ext cx="8503920" cy="685800"/>
          </a:xfrm>
          <a:prstGeom prst="roundRect">
            <a:avLst>
              <a:gd name="adj" fmla="val 13333"/>
            </a:avLst>
          </a:prstGeom>
          <a:solidFill>
            <a:srgbClr val="0D9488">
              <a:alpha val="15000"/>
            </a:srgbClr>
          </a:solidFill>
          <a:ln w="12700">
            <a:solidFill>
              <a:srgbClr val="0D9488"/>
            </a:solidFill>
            <a:prstDash val="solid"/>
          </a:ln>
        </p:spPr>
      </p:sp>
      <p:sp>
        <p:nvSpPr>
          <p:cNvPr id="22" name="Text 20"/>
          <p:cNvSpPr/>
          <p:nvPr/>
        </p:nvSpPr>
        <p:spPr>
          <a:xfrm>
            <a:off x="320040" y="4206240"/>
            <a:ext cx="8503920" cy="685800"/>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"Every sorting algorithm has a real-world twin. Find the twin — ace the interview."</a:t>
            </a:r>
            <a:endParaRPr lang="en-US" sz="1300" dirty="0"/>
          </a:p>
        </p:txBody>
      </p:sp>
      <p:sp>
        <p:nvSpPr>
          <p:cNvPr id="23" name="Shape 21"/>
          <p:cNvSpPr/>
          <p:nvPr/>
        </p:nvSpPr>
        <p:spPr>
          <a:xfrm>
            <a:off x="0" y="5033772"/>
            <a:ext cx="9144000" cy="109728"/>
          </a:xfrm>
          <a:prstGeom prst="rect">
            <a:avLst/>
          </a:prstGeom>
          <a:solidFill>
            <a:srgbClr val="F59E0B"/>
          </a:solidFill>
          <a:ln w="12700">
            <a:solidFill>
              <a:srgbClr val="F59E0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923"/>
          </a:solidFill>
          <a:ln w="12700">
            <a:solidFill>
              <a:srgbClr val="0F1923"/>
            </a:solidFill>
            <a:prstDash val="solid"/>
          </a:ln>
        </p:spPr>
      </p:sp>
      <p:sp>
        <p:nvSpPr>
          <p:cNvPr id="3" name="Text 1"/>
          <p:cNvSpPr/>
          <p:nvPr/>
        </p:nvSpPr>
        <p:spPr>
          <a:xfrm>
            <a:off x="365760" y="91440"/>
            <a:ext cx="8412480" cy="749808"/>
          </a:xfrm>
          <a:prstGeom prst="rect">
            <a:avLst/>
          </a:prstGeom>
          <a:noFill/>
          <a:ln/>
        </p:spPr>
        <p:txBody>
          <a:bodyPr wrap="square" rtlCol="0" anchor="ctr"/>
          <a:lstStyle/>
          <a:p>
            <a:pPr indent="0" marL="0">
              <a:buNone/>
            </a:pPr>
            <a:r>
              <a:rPr lang="en-US" sz="2800" b="1" dirty="0">
                <a:solidFill>
                  <a:srgbClr val="F59E0B"/>
                </a:solidFill>
                <a:latin typeface="Calibri" pitchFamily="34" charset="0"/>
                <a:ea typeface="Calibri" pitchFamily="34" charset="-122"/>
                <a:cs typeface="Calibri" pitchFamily="34" charset="-120"/>
              </a:rPr>
              <a:t>Sorting Algorithms — Quick Comparison</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840480"/>
        </p:xfrm>
        <a:graphic>
          <a:graphicData uri="http://schemas.openxmlformats.org/drawingml/2006/table">
            <a:tbl>
              <a:tblPr/>
              <a:tblGrid>
                <a:gridCol w="1463040"/>
                <a:gridCol w="2743200"/>
                <a:gridCol w="822960"/>
                <a:gridCol w="822960"/>
                <a:gridCol w="822960"/>
                <a:gridCol w="731520"/>
                <a:gridCol w="640080"/>
              </a:tblGrid>
              <a:tr h="566928">
                <a:tc>
                  <a:txBody>
                    <a:bodyPr/>
                    <a:lstStyle/>
                    <a:p>
                      <a:pPr indent="0" marL="0">
                        <a:buNone/>
                      </a:pPr>
                      <a:r>
                        <a:rPr lang="en-US" sz="1200" b="1" dirty="0">
                          <a:solidFill>
                            <a:srgbClr val="0F1923"/>
                          </a:solidFill>
                        </a:rPr>
                        <a:t>Algorithm</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Real-life Story</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Best</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Avg</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Worst</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Space</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200" b="1" dirty="0">
                          <a:solidFill>
                            <a:srgbClr val="0F1923"/>
                          </a:solidFill>
                        </a:rPr>
                        <a:t>Stable?</a:t>
                      </a:r>
                      <a:endParaRPr lang="en-US" sz="12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59E0B"/>
                    </a:solidFill>
                  </a:tcPr>
                </a:tc>
              </a:tr>
              <a:tr h="566928">
                <a:tc>
                  <a:txBody>
                    <a:bodyPr/>
                    <a:lstStyle/>
                    <a:p>
                      <a:pPr indent="0" marL="0">
                        <a:buNone/>
                      </a:pPr>
                      <a:r>
                        <a:rPr lang="en-US" sz="1100" b="1" dirty="0">
                          <a:solidFill>
                            <a:srgbClr val="1E293B"/>
                          </a:solidFill>
                        </a:rPr>
                        <a:t>Bubble Sort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1E293B"/>
                          </a:solidFill>
                        </a:rPr>
                        <a:t>Sibling packs books by weight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O(1)</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16A34A"/>
                          </a:solidFill>
                        </a:rPr>
                        <a:t>Yes</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566928">
                <a:tc>
                  <a:txBody>
                    <a:bodyPr/>
                    <a:lstStyle/>
                    <a:p>
                      <a:pPr indent="0" marL="0">
                        <a:buNone/>
                      </a:pPr>
                      <a:r>
                        <a:rPr lang="en-US" sz="1100" b="1" dirty="0">
                          <a:solidFill>
                            <a:srgbClr val="1E293B"/>
                          </a:solidFill>
                        </a:rPr>
                        <a:t>Selection Sort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dirty="0">
                          <a:solidFill>
                            <a:srgbClr val="1E293B"/>
                          </a:solidFill>
                        </a:rPr>
                        <a:t>Coordinator picks best student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16A34A"/>
                          </a:solidFill>
                        </a:rPr>
                        <a:t>O(1)</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dirty="0">
                          <a:solidFill>
                            <a:srgbClr val="DC2626"/>
                          </a:solidFill>
                        </a:rPr>
                        <a:t>No</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r>
              <a:tr h="566928">
                <a:tc>
                  <a:txBody>
                    <a:bodyPr/>
                    <a:lstStyle/>
                    <a:p>
                      <a:pPr indent="0" marL="0">
                        <a:buNone/>
                      </a:pPr>
                      <a:r>
                        <a:rPr lang="en-US" sz="1100" b="1" dirty="0">
                          <a:solidFill>
                            <a:srgbClr val="1E293B"/>
                          </a:solidFill>
                        </a:rPr>
                        <a:t>Insertion Sort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1E293B"/>
                          </a:solidFill>
                        </a:rPr>
                        <a:t>Card player slots new card</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O(1)</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16A34A"/>
                          </a:solidFill>
                        </a:rPr>
                        <a:t>Yes</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566928">
                <a:tc>
                  <a:txBody>
                    <a:bodyPr/>
                    <a:lstStyle/>
                    <a:p>
                      <a:pPr indent="0" marL="0">
                        <a:buNone/>
                      </a:pPr>
                      <a:r>
                        <a:rPr lang="en-US" sz="1100" b="1" dirty="0">
                          <a:solidFill>
                            <a:srgbClr val="1E293B"/>
                          </a:solidFill>
                        </a:rPr>
                        <a:t>Merge Sort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dirty="0">
                          <a:solidFill>
                            <a:srgbClr val="1E293B"/>
                          </a:solidFill>
                        </a:rPr>
                        <a:t>IRCTC merges two waitlists</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16A34A"/>
                          </a:solidFill>
                        </a:rPr>
                        <a:t>O(n 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16A34A"/>
                          </a:solidFill>
                        </a:rPr>
                        <a:t>O(n 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16A34A"/>
                          </a:solidFill>
                        </a:rPr>
                        <a:t>O(n 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b="1" dirty="0">
                          <a:solidFill>
                            <a:srgbClr val="D97706"/>
                          </a:solidFill>
                        </a:rPr>
                        <a:t>O(n)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indent="0" marL="0">
                        <a:buNone/>
                      </a:pPr>
                      <a:r>
                        <a:rPr lang="en-US" sz="1100" dirty="0">
                          <a:solidFill>
                            <a:srgbClr val="16A34A"/>
                          </a:solidFill>
                        </a:rPr>
                        <a:t>Yes</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r>
              <a:tr h="566928">
                <a:tc>
                  <a:txBody>
                    <a:bodyPr/>
                    <a:lstStyle/>
                    <a:p>
                      <a:pPr indent="0" marL="0">
                        <a:buNone/>
                      </a:pPr>
                      <a:r>
                        <a:rPr lang="en-US" sz="1100" b="1" dirty="0">
                          <a:solidFill>
                            <a:srgbClr val="1E293B"/>
                          </a:solidFill>
                        </a:rPr>
                        <a:t>Quick Sort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1E293B"/>
                          </a:solidFill>
                        </a:rPr>
                        <a:t>Airport splits bags around pivot</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O(n 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O(n 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DC2626"/>
                          </a:solidFill>
                        </a:rPr>
                        <a:t>O(n²)</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b="1" dirty="0">
                          <a:solidFill>
                            <a:srgbClr val="16A34A"/>
                          </a:solidFill>
                        </a:rPr>
                        <a:t>O(log n)</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100" dirty="0">
                          <a:solidFill>
                            <a:srgbClr val="DC2626"/>
                          </a:solidFill>
                        </a:rPr>
                        <a:t>No</a:t>
                      </a:r>
                      <a:endParaRPr lang="en-US" sz="11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45720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Bubble Sort</a:t>
            </a:r>
            <a:endParaRPr lang="en-US" sz="2800" dirty="0"/>
          </a:p>
        </p:txBody>
      </p:sp>
      <p:sp>
        <p:nvSpPr>
          <p:cNvPr id="4" name="Text 2"/>
          <p:cNvSpPr/>
          <p:nvPr/>
        </p:nvSpPr>
        <p:spPr>
          <a:xfrm>
            <a:off x="365760" y="530352"/>
            <a:ext cx="6400800" cy="292608"/>
          </a:xfrm>
          <a:prstGeom prst="rect">
            <a:avLst/>
          </a:prstGeom>
          <a:noFill/>
          <a:ln/>
        </p:spPr>
        <p:txBody>
          <a:bodyPr wrap="square" rtlCol="0" anchor="ctr"/>
          <a:lstStyle/>
          <a:p>
            <a:pPr indent="0" marL="0">
              <a:buNone/>
            </a:pPr>
            <a:r>
              <a:rPr lang="en-US" sz="1200" dirty="0">
                <a:solidFill>
                  <a:srgbClr val="A7F3D0"/>
                </a:solidFill>
                <a:latin typeface="Calibri" pitchFamily="34" charset="0"/>
                <a:ea typeface="Calibri" pitchFamily="34" charset="-122"/>
                <a:cs typeface="Calibri" pitchFamily="34" charset="-120"/>
              </a:rPr>
              <a:t>O(n²) avg  ·  O(n) best  ·  Stable  ·  In-place</a:t>
            </a:r>
            <a:endParaRPr lang="en-US" sz="1200" dirty="0"/>
          </a:p>
        </p:txBody>
      </p:sp>
      <p:sp>
        <p:nvSpPr>
          <p:cNvPr id="5" name="Shape 3"/>
          <p:cNvSpPr/>
          <p:nvPr/>
        </p:nvSpPr>
        <p:spPr>
          <a:xfrm>
            <a:off x="6766560" y="91440"/>
            <a:ext cx="2103120" cy="685800"/>
          </a:xfrm>
          <a:prstGeom prst="roundRect">
            <a:avLst>
              <a:gd name="adj" fmla="val 10667"/>
            </a:avLst>
          </a:prstGeom>
          <a:solidFill>
            <a:srgbClr val="F59E0B">
              <a:alpha val="80000"/>
            </a:srgbClr>
          </a:solidFill>
          <a:ln w="12700">
            <a:solidFill>
              <a:srgbClr val="F59E0B"/>
            </a:solidFill>
            <a:prstDash val="solid"/>
          </a:ln>
        </p:spPr>
      </p:sp>
      <p:sp>
        <p:nvSpPr>
          <p:cNvPr id="6" name="Text 4"/>
          <p:cNvSpPr/>
          <p:nvPr/>
        </p:nvSpPr>
        <p:spPr>
          <a:xfrm>
            <a:off x="6766560" y="91440"/>
            <a:ext cx="2103120" cy="685800"/>
          </a:xfrm>
          <a:prstGeom prst="rect">
            <a:avLst/>
          </a:prstGeom>
          <a:noFill/>
          <a:ln/>
        </p:spPr>
        <p:txBody>
          <a:bodyPr wrap="square" lIns="0" tIns="0" rIns="0" bIns="0" rtlCol="0" anchor="ctr"/>
          <a:lstStyle/>
          <a:p>
            <a:pPr algn="ctr" indent="0" marL="0">
              <a:buNone/>
            </a:pPr>
            <a:r>
              <a:rPr lang="en-US" sz="1200" b="1" dirty="0">
                <a:solidFill>
                  <a:srgbClr val="0F1923"/>
                </a:solidFill>
                <a:latin typeface="Calibri" pitchFamily="34" charset="0"/>
                <a:ea typeface="Calibri" pitchFamily="34" charset="-122"/>
                <a:cs typeface="Calibri" pitchFamily="34" charset="-120"/>
              </a:rPr>
              <a:t>LIFO Pattern</a:t>
            </a:r>
            <a:endParaRPr lang="en-US" sz="1200" dirty="0"/>
          </a:p>
        </p:txBody>
      </p:sp>
      <p:sp>
        <p:nvSpPr>
          <p:cNvPr id="7" name="Shape 5"/>
          <p:cNvSpPr/>
          <p:nvPr/>
        </p:nvSpPr>
        <p:spPr>
          <a:xfrm>
            <a:off x="320040" y="960120"/>
            <a:ext cx="8503920" cy="822960"/>
          </a:xfrm>
          <a:prstGeom prst="roundRect">
            <a:avLst>
              <a:gd name="adj" fmla="val 11111"/>
            </a:avLst>
          </a:prstGeom>
          <a:solidFill>
            <a:srgbClr val="0D9488">
              <a:alpha val="12000"/>
            </a:srgbClr>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8" name="Text 6"/>
          <p:cNvSpPr/>
          <p:nvPr/>
        </p:nvSpPr>
        <p:spPr>
          <a:xfrm>
            <a:off x="502920" y="1005840"/>
            <a:ext cx="8229600" cy="274320"/>
          </a:xfrm>
          <a:prstGeom prst="rect">
            <a:avLst/>
          </a:prstGeom>
          <a:noFill/>
          <a:ln/>
        </p:spPr>
        <p:txBody>
          <a:bodyPr wrap="square"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  STORY: Sibling Packing Books</a:t>
            </a:r>
            <a:endParaRPr lang="en-US" sz="1300" dirty="0"/>
          </a:p>
        </p:txBody>
      </p:sp>
      <p:sp>
        <p:nvSpPr>
          <p:cNvPr id="9" name="Text 7"/>
          <p:cNvSpPr/>
          <p:nvPr/>
        </p:nvSpPr>
        <p:spPr>
          <a:xfrm>
            <a:off x="502920" y="1280160"/>
            <a:ext cx="804672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Your younger sibling packs books into a bag without a plan. They check adjacent books — if a heavier book is on top of a lighter one, they swap. They keep repeating passes until no swap is needed. Heaviest books "bubble up" to the bottom.</a:t>
            </a:r>
            <a:endParaRPr lang="en-US" sz="1100" dirty="0"/>
          </a:p>
        </p:txBody>
      </p:sp>
      <p:sp>
        <p:nvSpPr>
          <p:cNvPr id="10" name="Shape 8"/>
          <p:cNvSpPr/>
          <p:nvPr/>
        </p:nvSpPr>
        <p:spPr>
          <a:xfrm>
            <a:off x="320040" y="1920240"/>
            <a:ext cx="1920240" cy="1645920"/>
          </a:xfrm>
          <a:prstGeom prst="roundRect">
            <a:avLst>
              <a:gd name="adj" fmla="val 4444"/>
            </a:avLst>
          </a:prstGeom>
          <a:solidFill>
            <a:srgbClr val="F43F5E">
              <a:alpha val="70000"/>
            </a:srgbClr>
          </a:solidFill>
          <a:ln w="12700">
            <a:solidFill>
              <a:srgbClr val="F43F5E"/>
            </a:solidFill>
            <a:prstDash val="solid"/>
          </a:ln>
          <a:effectLst>
            <a:outerShdw sx="100000" sy="100000" kx="0" ky="0" algn="bl" rotWithShape="0" blurRad="50800" dist="25400" dir="2700000">
              <a:srgbClr val="000000">
                <a:alpha val="15000"/>
              </a:srgbClr>
            </a:outerShdw>
          </a:effectLst>
        </p:spPr>
      </p:sp>
      <p:sp>
        <p:nvSpPr>
          <p:cNvPr id="11" name="Text 9"/>
          <p:cNvSpPr/>
          <p:nvPr/>
        </p:nvSpPr>
        <p:spPr>
          <a:xfrm>
            <a:off x="320040" y="1920240"/>
            <a:ext cx="1920240" cy="1645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800g</a:t>
            </a:r>
            <a:endParaRPr lang="en-US" sz="1300" dirty="0"/>
          </a:p>
        </p:txBody>
      </p:sp>
      <p:sp>
        <p:nvSpPr>
          <p:cNvPr id="12" name="Text 10"/>
          <p:cNvSpPr/>
          <p:nvPr/>
        </p:nvSpPr>
        <p:spPr>
          <a:xfrm>
            <a:off x="320040" y="3611880"/>
            <a:ext cx="192024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Physics</a:t>
            </a:r>
            <a:endParaRPr lang="en-US" sz="1100" dirty="0"/>
          </a:p>
        </p:txBody>
      </p:sp>
      <p:sp>
        <p:nvSpPr>
          <p:cNvPr id="13" name="Shape 11"/>
          <p:cNvSpPr/>
          <p:nvPr/>
        </p:nvSpPr>
        <p:spPr>
          <a:xfrm>
            <a:off x="2423160" y="1920240"/>
            <a:ext cx="1920240" cy="1234440"/>
          </a:xfrm>
          <a:prstGeom prst="roundRect">
            <a:avLst>
              <a:gd name="adj" fmla="val 5926"/>
            </a:avLst>
          </a:prstGeom>
          <a:solidFill>
            <a:srgbClr val="F59E0B">
              <a:alpha val="70000"/>
            </a:srgbClr>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14" name="Text 12"/>
          <p:cNvSpPr/>
          <p:nvPr/>
        </p:nvSpPr>
        <p:spPr>
          <a:xfrm>
            <a:off x="2423160" y="1920240"/>
            <a:ext cx="1920240"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600g</a:t>
            </a:r>
            <a:endParaRPr lang="en-US" sz="1300" dirty="0"/>
          </a:p>
        </p:txBody>
      </p:sp>
      <p:sp>
        <p:nvSpPr>
          <p:cNvPr id="15" name="Text 13"/>
          <p:cNvSpPr/>
          <p:nvPr/>
        </p:nvSpPr>
        <p:spPr>
          <a:xfrm>
            <a:off x="2423160" y="3200400"/>
            <a:ext cx="192024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Maths</a:t>
            </a:r>
            <a:endParaRPr lang="en-US" sz="1100" dirty="0"/>
          </a:p>
        </p:txBody>
      </p:sp>
      <p:sp>
        <p:nvSpPr>
          <p:cNvPr id="16" name="Shape 14"/>
          <p:cNvSpPr/>
          <p:nvPr/>
        </p:nvSpPr>
        <p:spPr>
          <a:xfrm>
            <a:off x="4526280" y="1920240"/>
            <a:ext cx="1920240" cy="685800"/>
          </a:xfrm>
          <a:prstGeom prst="roundRect">
            <a:avLst>
              <a:gd name="adj" fmla="val 10667"/>
            </a:avLst>
          </a:prstGeom>
          <a:solidFill>
            <a:srgbClr val="0D9488">
              <a:alpha val="70000"/>
            </a:srgbClr>
          </a:solidFill>
          <a:ln w="12700">
            <a:solidFill>
              <a:srgbClr val="0D9488"/>
            </a:solidFill>
            <a:prstDash val="solid"/>
          </a:ln>
          <a:effectLst>
            <a:outerShdw sx="100000" sy="100000" kx="0" ky="0" algn="bl" rotWithShape="0" blurRad="50800" dist="25400" dir="2700000">
              <a:srgbClr val="000000">
                <a:alpha val="15000"/>
              </a:srgbClr>
            </a:outerShdw>
          </a:effectLst>
        </p:spPr>
      </p:sp>
      <p:sp>
        <p:nvSpPr>
          <p:cNvPr id="17" name="Text 15"/>
          <p:cNvSpPr/>
          <p:nvPr/>
        </p:nvSpPr>
        <p:spPr>
          <a:xfrm>
            <a:off x="4526280" y="1920240"/>
            <a:ext cx="192024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300g</a:t>
            </a:r>
            <a:endParaRPr lang="en-US" sz="1300" dirty="0"/>
          </a:p>
        </p:txBody>
      </p:sp>
      <p:sp>
        <p:nvSpPr>
          <p:cNvPr id="18" name="Text 16"/>
          <p:cNvSpPr/>
          <p:nvPr/>
        </p:nvSpPr>
        <p:spPr>
          <a:xfrm>
            <a:off x="4526280" y="2651760"/>
            <a:ext cx="192024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English</a:t>
            </a:r>
            <a:endParaRPr lang="en-US" sz="1100" dirty="0"/>
          </a:p>
        </p:txBody>
      </p:sp>
      <p:sp>
        <p:nvSpPr>
          <p:cNvPr id="19" name="Shape 17"/>
          <p:cNvSpPr/>
          <p:nvPr/>
        </p:nvSpPr>
        <p:spPr>
          <a:xfrm>
            <a:off x="6629400" y="1920240"/>
            <a:ext cx="1920240" cy="1005840"/>
          </a:xfrm>
          <a:prstGeom prst="roundRect">
            <a:avLst>
              <a:gd name="adj" fmla="val 7273"/>
            </a:avLst>
          </a:prstGeom>
          <a:solidFill>
            <a:srgbClr val="A78BFA">
              <a:alpha val="70000"/>
            </a:srgbClr>
          </a:solidFill>
          <a:ln w="12700">
            <a:solidFill>
              <a:srgbClr val="A78BFA"/>
            </a:solidFill>
            <a:prstDash val="solid"/>
          </a:ln>
          <a:effectLst>
            <a:outerShdw sx="100000" sy="100000" kx="0" ky="0" algn="bl" rotWithShape="0" blurRad="50800" dist="25400" dir="2700000">
              <a:srgbClr val="000000">
                <a:alpha val="15000"/>
              </a:srgbClr>
            </a:outerShdw>
          </a:effectLst>
        </p:spPr>
      </p:sp>
      <p:sp>
        <p:nvSpPr>
          <p:cNvPr id="20" name="Text 18"/>
          <p:cNvSpPr/>
          <p:nvPr/>
        </p:nvSpPr>
        <p:spPr>
          <a:xfrm>
            <a:off x="6629400" y="1920240"/>
            <a:ext cx="19202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500g</a:t>
            </a:r>
            <a:endParaRPr lang="en-US" sz="1300" dirty="0"/>
          </a:p>
        </p:txBody>
      </p:sp>
      <p:sp>
        <p:nvSpPr>
          <p:cNvPr id="21" name="Text 19"/>
          <p:cNvSpPr/>
          <p:nvPr/>
        </p:nvSpPr>
        <p:spPr>
          <a:xfrm>
            <a:off x="6629400" y="2971800"/>
            <a:ext cx="192024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History</a:t>
            </a:r>
            <a:endParaRPr lang="en-US" sz="1100" dirty="0"/>
          </a:p>
        </p:txBody>
      </p:sp>
      <p:sp>
        <p:nvSpPr>
          <p:cNvPr id="22" name="Shape 20"/>
          <p:cNvSpPr/>
          <p:nvPr/>
        </p:nvSpPr>
        <p:spPr>
          <a:xfrm>
            <a:off x="320040" y="3657600"/>
            <a:ext cx="2743200" cy="1188720"/>
          </a:xfrm>
          <a:prstGeom prst="roundRect">
            <a:avLst>
              <a:gd name="adj" fmla="val 6923"/>
            </a:avLst>
          </a:prstGeom>
          <a:solidFill>
            <a:srgbClr val="243447"/>
          </a:solidFill>
          <a:ln w="12700">
            <a:solidFill>
              <a:srgbClr val="0D9488"/>
            </a:solidFill>
            <a:prstDash val="solid"/>
          </a:ln>
          <a:effectLst>
            <a:outerShdw sx="100000" sy="100000" kx="0" ky="0" algn="bl" rotWithShape="0" blurRad="50800" dist="25400" dir="2700000">
              <a:srgbClr val="000000">
                <a:alpha val="15000"/>
              </a:srgbClr>
            </a:outerShdw>
          </a:effectLst>
        </p:spPr>
      </p:sp>
      <p:sp>
        <p:nvSpPr>
          <p:cNvPr id="23" name="Text 21"/>
          <p:cNvSpPr/>
          <p:nvPr/>
        </p:nvSpPr>
        <p:spPr>
          <a:xfrm>
            <a:off x="411480" y="3730752"/>
            <a:ext cx="2560320" cy="320040"/>
          </a:xfrm>
          <a:prstGeom prst="rect">
            <a:avLst/>
          </a:prstGeom>
          <a:noFill/>
          <a:ln/>
        </p:spPr>
        <p:txBody>
          <a:bodyPr wrap="square"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Compare adjacent</a:t>
            </a:r>
            <a:endParaRPr lang="en-US" sz="1200" dirty="0"/>
          </a:p>
        </p:txBody>
      </p:sp>
      <p:sp>
        <p:nvSpPr>
          <p:cNvPr id="24" name="Text 22"/>
          <p:cNvSpPr/>
          <p:nvPr/>
        </p:nvSpPr>
        <p:spPr>
          <a:xfrm>
            <a:off x="411480" y="4050792"/>
            <a:ext cx="2560320" cy="7132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Each pass compares pairs side by side and swaps if out of order.</a:t>
            </a:r>
            <a:endParaRPr lang="en-US" sz="1100" dirty="0"/>
          </a:p>
        </p:txBody>
      </p:sp>
      <p:sp>
        <p:nvSpPr>
          <p:cNvPr id="25" name="Shape 23"/>
          <p:cNvSpPr/>
          <p:nvPr/>
        </p:nvSpPr>
        <p:spPr>
          <a:xfrm>
            <a:off x="3246120" y="3657600"/>
            <a:ext cx="2743200" cy="1188720"/>
          </a:xfrm>
          <a:prstGeom prst="roundRect">
            <a:avLst>
              <a:gd name="adj" fmla="val 6923"/>
            </a:avLst>
          </a:prstGeom>
          <a:solidFill>
            <a:srgbClr val="243447"/>
          </a:solidFill>
          <a:ln w="12700">
            <a:solidFill>
              <a:srgbClr val="0D9488"/>
            </a:solidFill>
            <a:prstDash val="solid"/>
          </a:ln>
          <a:effectLst>
            <a:outerShdw sx="100000" sy="100000" kx="0" ky="0" algn="bl" rotWithShape="0" blurRad="50800" dist="25400" dir="2700000">
              <a:srgbClr val="000000">
                <a:alpha val="15000"/>
              </a:srgbClr>
            </a:outerShdw>
          </a:effectLst>
        </p:spPr>
      </p:sp>
      <p:sp>
        <p:nvSpPr>
          <p:cNvPr id="26" name="Text 24"/>
          <p:cNvSpPr/>
          <p:nvPr/>
        </p:nvSpPr>
        <p:spPr>
          <a:xfrm>
            <a:off x="3337560" y="3730752"/>
            <a:ext cx="2560320" cy="320040"/>
          </a:xfrm>
          <a:prstGeom prst="rect">
            <a:avLst/>
          </a:prstGeom>
          <a:noFill/>
          <a:ln/>
        </p:spPr>
        <p:txBody>
          <a:bodyPr wrap="square"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Bubble up</a:t>
            </a:r>
            <a:endParaRPr lang="en-US" sz="1200" dirty="0"/>
          </a:p>
        </p:txBody>
      </p:sp>
      <p:sp>
        <p:nvSpPr>
          <p:cNvPr id="27" name="Text 25"/>
          <p:cNvSpPr/>
          <p:nvPr/>
        </p:nvSpPr>
        <p:spPr>
          <a:xfrm>
            <a:off x="3337560" y="4050792"/>
            <a:ext cx="2560320" cy="7132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Largest unsorted element reaches its final position each pass.</a:t>
            </a:r>
            <a:endParaRPr lang="en-US" sz="1100" dirty="0"/>
          </a:p>
        </p:txBody>
      </p:sp>
      <p:sp>
        <p:nvSpPr>
          <p:cNvPr id="28" name="Shape 26"/>
          <p:cNvSpPr/>
          <p:nvPr/>
        </p:nvSpPr>
        <p:spPr>
          <a:xfrm>
            <a:off x="6172200" y="3657600"/>
            <a:ext cx="2743200" cy="1188720"/>
          </a:xfrm>
          <a:prstGeom prst="roundRect">
            <a:avLst>
              <a:gd name="adj" fmla="val 6923"/>
            </a:avLst>
          </a:prstGeom>
          <a:solidFill>
            <a:srgbClr val="243447"/>
          </a:solidFill>
          <a:ln w="12700">
            <a:solidFill>
              <a:srgbClr val="0D9488"/>
            </a:solidFill>
            <a:prstDash val="solid"/>
          </a:ln>
          <a:effectLst>
            <a:outerShdw sx="100000" sy="100000" kx="0" ky="0" algn="bl" rotWithShape="0" blurRad="50800" dist="25400" dir="2700000">
              <a:srgbClr val="000000">
                <a:alpha val="15000"/>
              </a:srgbClr>
            </a:outerShdw>
          </a:effectLst>
        </p:spPr>
      </p:sp>
      <p:sp>
        <p:nvSpPr>
          <p:cNvPr id="29" name="Text 27"/>
          <p:cNvSpPr/>
          <p:nvPr/>
        </p:nvSpPr>
        <p:spPr>
          <a:xfrm>
            <a:off x="6263640" y="3730752"/>
            <a:ext cx="2560320" cy="320040"/>
          </a:xfrm>
          <a:prstGeom prst="rect">
            <a:avLst/>
          </a:prstGeom>
          <a:noFill/>
          <a:ln/>
        </p:spPr>
        <p:txBody>
          <a:bodyPr wrap="square"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Early exit</a:t>
            </a:r>
            <a:endParaRPr lang="en-US" sz="1200" dirty="0"/>
          </a:p>
        </p:txBody>
      </p:sp>
      <p:sp>
        <p:nvSpPr>
          <p:cNvPr id="30" name="Text 28"/>
          <p:cNvSpPr/>
          <p:nvPr/>
        </p:nvSpPr>
        <p:spPr>
          <a:xfrm>
            <a:off x="6263640" y="4050792"/>
            <a:ext cx="2560320" cy="7132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If no swap in a pass → already sorted → O(n) best case.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923"/>
          </a:solidFill>
          <a:ln w="12700">
            <a:solidFill>
              <a:srgbClr val="0F1923"/>
            </a:solidFill>
            <a:prstDash val="solid"/>
          </a:ln>
        </p:spPr>
      </p:sp>
      <p:sp>
        <p:nvSpPr>
          <p:cNvPr id="3" name="Text 1"/>
          <p:cNvSpPr/>
          <p:nvPr/>
        </p:nvSpPr>
        <p:spPr>
          <a:xfrm>
            <a:off x="365760" y="91440"/>
            <a:ext cx="8412480" cy="713232"/>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Selection Sort  &amp;  Insertion Sort</a:t>
            </a:r>
            <a:endParaRPr lang="en-US" sz="2600" dirty="0"/>
          </a:p>
        </p:txBody>
      </p:sp>
      <p:sp>
        <p:nvSpPr>
          <p:cNvPr id="4" name="Shape 2"/>
          <p:cNvSpPr/>
          <p:nvPr/>
        </p:nvSpPr>
        <p:spPr>
          <a:xfrm>
            <a:off x="274320" y="1005840"/>
            <a:ext cx="4160520" cy="3886200"/>
          </a:xfrm>
          <a:prstGeom prst="roundRect">
            <a:avLst>
              <a:gd name="adj" fmla="val 2824"/>
            </a:avLst>
          </a:prstGeom>
          <a:solidFill>
            <a:srgbClr val="EFF6FF"/>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5" name="Text 3"/>
          <p:cNvSpPr/>
          <p:nvPr/>
        </p:nvSpPr>
        <p:spPr>
          <a:xfrm>
            <a:off x="457200" y="1097280"/>
            <a:ext cx="3749040" cy="384048"/>
          </a:xfrm>
          <a:prstGeom prst="rect">
            <a:avLst/>
          </a:prstGeom>
          <a:noFill/>
          <a:ln/>
        </p:spPr>
        <p:txBody>
          <a:bodyPr wrap="square"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Selection Sort</a:t>
            </a:r>
            <a:endParaRPr lang="en-US" sz="1600" dirty="0"/>
          </a:p>
        </p:txBody>
      </p:sp>
      <p:sp>
        <p:nvSpPr>
          <p:cNvPr id="6" name="Text 4"/>
          <p:cNvSpPr/>
          <p:nvPr/>
        </p:nvSpPr>
        <p:spPr>
          <a:xfrm>
            <a:off x="457200" y="1463040"/>
            <a:ext cx="3749040" cy="2560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O(n²) always  ·  Min swaps  ·  Not stable</a:t>
            </a:r>
            <a:endParaRPr lang="en-US" sz="1100" dirty="0"/>
          </a:p>
        </p:txBody>
      </p:sp>
      <p:sp>
        <p:nvSpPr>
          <p:cNvPr id="7" name="Shape 5"/>
          <p:cNvSpPr/>
          <p:nvPr/>
        </p:nvSpPr>
        <p:spPr>
          <a:xfrm>
            <a:off x="457200" y="1783080"/>
            <a:ext cx="3566160" cy="658368"/>
          </a:xfrm>
          <a:prstGeom prst="roundRect">
            <a:avLst>
              <a:gd name="adj" fmla="val 11111"/>
            </a:avLst>
          </a:prstGeom>
          <a:solidFill>
            <a:srgbClr val="0D9488">
              <a:alpha val="12000"/>
            </a:srgbClr>
          </a:solidFill>
          <a:ln w="12700">
            <a:solidFill>
              <a:srgbClr val="0D9488"/>
            </a:solidFill>
            <a:prstDash val="solid"/>
          </a:ln>
        </p:spPr>
      </p:sp>
      <p:sp>
        <p:nvSpPr>
          <p:cNvPr id="8" name="Text 6"/>
          <p:cNvSpPr/>
          <p:nvPr/>
        </p:nvSpPr>
        <p:spPr>
          <a:xfrm>
            <a:off x="457200" y="1783080"/>
            <a:ext cx="3566160" cy="658368"/>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  Scholarship Ranker</a:t>
            </a:r>
            <a:endParaRPr lang="en-US" sz="1200" dirty="0"/>
          </a:p>
        </p:txBody>
      </p:sp>
      <p:sp>
        <p:nvSpPr>
          <p:cNvPr id="9" name="Text 7"/>
          <p:cNvSpPr/>
          <p:nvPr/>
        </p:nvSpPr>
        <p:spPr>
          <a:xfrm>
            <a:off x="457200" y="2514600"/>
            <a:ext cx="3566160" cy="841248"/>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 coordinator scans the entire marksheet to find the highest scorer, places them at Rank 1. Then scans the remaining students for the next highest. Each pass = one full scan to SELECT the minimum.</a:t>
            </a:r>
            <a:endParaRPr lang="en-US" sz="1100" dirty="0"/>
          </a:p>
        </p:txBody>
      </p:sp>
      <p:sp>
        <p:nvSpPr>
          <p:cNvPr id="10" name="Text 8"/>
          <p:cNvSpPr/>
          <p:nvPr/>
        </p:nvSpPr>
        <p:spPr>
          <a:xfrm>
            <a:off x="457200" y="3401568"/>
            <a:ext cx="3566160" cy="502920"/>
          </a:xfrm>
          <a:prstGeom prst="rect">
            <a:avLst/>
          </a:prstGeom>
          <a:noFill/>
          <a:ln/>
        </p:spPr>
        <p:txBody>
          <a:bodyPr wrap="square" rtlCol="0" anchor="ctr"/>
          <a:lstStyle/>
          <a:p>
            <a:pPr indent="0" marL="0">
              <a:buNone/>
            </a:pPr>
            <a:r>
              <a:rPr lang="en-US" sz="1100" b="1" dirty="0">
                <a:solidFill>
                  <a:srgbClr val="334155"/>
                </a:solidFill>
                <a:latin typeface="Calibri" pitchFamily="34" charset="0"/>
                <a:ea typeface="Calibri" pitchFamily="34" charset="-122"/>
                <a:cs typeface="Calibri" pitchFamily="34" charset="-120"/>
              </a:rPr>
              <a:t>Why use it?  </a:t>
            </a:r>
            <a:pPr indent="0" marL="0">
              <a:buNone/>
            </a:pPr>
            <a:r>
              <a:rPr lang="en-US" sz="1100" dirty="0">
                <a:solidFill>
                  <a:srgbClr val="64748B"/>
                </a:solidFill>
                <a:latin typeface="Calibri" pitchFamily="34" charset="0"/>
                <a:ea typeface="Calibri" pitchFamily="34" charset="-122"/>
                <a:cs typeface="Calibri" pitchFamily="34" charset="-120"/>
              </a:rPr>
              <a:t>Minimises swap count — useful when writing to flash memory or hardware where each write is expensive.</a:t>
            </a:r>
            <a:endParaRPr lang="en-US" sz="1100" dirty="0"/>
          </a:p>
        </p:txBody>
      </p:sp>
      <p:sp>
        <p:nvSpPr>
          <p:cNvPr id="11" name="Shape 9"/>
          <p:cNvSpPr/>
          <p:nvPr/>
        </p:nvSpPr>
        <p:spPr>
          <a:xfrm>
            <a:off x="457200" y="3977640"/>
            <a:ext cx="1097280" cy="685800"/>
          </a:xfrm>
          <a:prstGeom prst="roundRect">
            <a:avLst>
              <a:gd name="adj" fmla="val 9333"/>
            </a:avLst>
          </a:prstGeom>
          <a:solidFill>
            <a:srgbClr val="FFD700"/>
          </a:solidFill>
          <a:ln w="12700">
            <a:solidFill>
              <a:srgbClr val="F59E0B"/>
            </a:solidFill>
            <a:prstDash val="solid"/>
          </a:ln>
        </p:spPr>
      </p:sp>
      <p:sp>
        <p:nvSpPr>
          <p:cNvPr id="12" name="Text 10"/>
          <p:cNvSpPr/>
          <p:nvPr/>
        </p:nvSpPr>
        <p:spPr>
          <a:xfrm>
            <a:off x="457200" y="3977640"/>
            <a:ext cx="1097280" cy="6858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1st</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Ravi</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65</a:t>
            </a:r>
            <a:endParaRPr lang="en-US" sz="1000" dirty="0"/>
          </a:p>
        </p:txBody>
      </p:sp>
      <p:sp>
        <p:nvSpPr>
          <p:cNvPr id="13" name="Shape 11"/>
          <p:cNvSpPr/>
          <p:nvPr/>
        </p:nvSpPr>
        <p:spPr>
          <a:xfrm>
            <a:off x="1664208" y="3977640"/>
            <a:ext cx="1097280" cy="685800"/>
          </a:xfrm>
          <a:prstGeom prst="roundRect">
            <a:avLst>
              <a:gd name="adj" fmla="val 9333"/>
            </a:avLst>
          </a:prstGeom>
          <a:solidFill>
            <a:srgbClr val="C0C0C0"/>
          </a:solidFill>
          <a:ln w="12700">
            <a:solidFill>
              <a:srgbClr val="94A3B8"/>
            </a:solidFill>
            <a:prstDash val="solid"/>
          </a:ln>
        </p:spPr>
      </p:sp>
      <p:sp>
        <p:nvSpPr>
          <p:cNvPr id="14" name="Text 12"/>
          <p:cNvSpPr/>
          <p:nvPr/>
        </p:nvSpPr>
        <p:spPr>
          <a:xfrm>
            <a:off x="1664208" y="3977640"/>
            <a:ext cx="1097280" cy="6858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2nd</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Karan</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71</a:t>
            </a:r>
            <a:endParaRPr lang="en-US" sz="1000" dirty="0"/>
          </a:p>
        </p:txBody>
      </p:sp>
      <p:sp>
        <p:nvSpPr>
          <p:cNvPr id="15" name="Shape 13"/>
          <p:cNvSpPr/>
          <p:nvPr/>
        </p:nvSpPr>
        <p:spPr>
          <a:xfrm>
            <a:off x="2871216" y="3977640"/>
            <a:ext cx="1097280" cy="685800"/>
          </a:xfrm>
          <a:prstGeom prst="roundRect">
            <a:avLst>
              <a:gd name="adj" fmla="val 9333"/>
            </a:avLst>
          </a:prstGeom>
          <a:solidFill>
            <a:srgbClr val="CD7F32"/>
          </a:solidFill>
          <a:ln w="12700">
            <a:solidFill>
              <a:srgbClr val="94A3B8"/>
            </a:solidFill>
            <a:prstDash val="solid"/>
          </a:ln>
        </p:spPr>
      </p:sp>
      <p:sp>
        <p:nvSpPr>
          <p:cNvPr id="16" name="Text 14"/>
          <p:cNvSpPr/>
          <p:nvPr/>
        </p:nvSpPr>
        <p:spPr>
          <a:xfrm>
            <a:off x="2871216" y="3977640"/>
            <a:ext cx="1097280" cy="6858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3rd</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Arjun</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78</a:t>
            </a:r>
            <a:endParaRPr lang="en-US" sz="1000" dirty="0"/>
          </a:p>
        </p:txBody>
      </p:sp>
      <p:sp>
        <p:nvSpPr>
          <p:cNvPr id="17" name="Shape 15"/>
          <p:cNvSpPr/>
          <p:nvPr/>
        </p:nvSpPr>
        <p:spPr>
          <a:xfrm>
            <a:off x="4709160" y="1005840"/>
            <a:ext cx="4160520" cy="3886200"/>
          </a:xfrm>
          <a:prstGeom prst="roundRect">
            <a:avLst>
              <a:gd name="adj" fmla="val 2824"/>
            </a:avLst>
          </a:prstGeom>
          <a:solidFill>
            <a:srgbClr val="FFF7ED"/>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18" name="Text 16"/>
          <p:cNvSpPr/>
          <p:nvPr/>
        </p:nvSpPr>
        <p:spPr>
          <a:xfrm>
            <a:off x="4892040" y="1097280"/>
            <a:ext cx="3749040" cy="384048"/>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Insertion Sort</a:t>
            </a:r>
            <a:endParaRPr lang="en-US" sz="1600" dirty="0"/>
          </a:p>
        </p:txBody>
      </p:sp>
      <p:sp>
        <p:nvSpPr>
          <p:cNvPr id="19" name="Text 17"/>
          <p:cNvSpPr/>
          <p:nvPr/>
        </p:nvSpPr>
        <p:spPr>
          <a:xfrm>
            <a:off x="4892040" y="1463040"/>
            <a:ext cx="3749040" cy="2560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 best  ·  O(n²) worst  ·  Stable  ·  Online</a:t>
            </a:r>
            <a:endParaRPr lang="en-US" sz="1100" dirty="0"/>
          </a:p>
        </p:txBody>
      </p:sp>
      <p:sp>
        <p:nvSpPr>
          <p:cNvPr id="20" name="Shape 18"/>
          <p:cNvSpPr/>
          <p:nvPr/>
        </p:nvSpPr>
        <p:spPr>
          <a:xfrm>
            <a:off x="4892040" y="1783080"/>
            <a:ext cx="3566160" cy="658368"/>
          </a:xfrm>
          <a:prstGeom prst="roundRect">
            <a:avLst>
              <a:gd name="adj" fmla="val 11111"/>
            </a:avLst>
          </a:prstGeom>
          <a:solidFill>
            <a:srgbClr val="F59E0B">
              <a:alpha val="12000"/>
            </a:srgbClr>
          </a:solidFill>
          <a:ln w="12700">
            <a:solidFill>
              <a:srgbClr val="F59E0B"/>
            </a:solidFill>
            <a:prstDash val="solid"/>
          </a:ln>
        </p:spPr>
      </p:sp>
      <p:sp>
        <p:nvSpPr>
          <p:cNvPr id="21" name="Text 19"/>
          <p:cNvSpPr/>
          <p:nvPr/>
        </p:nvSpPr>
        <p:spPr>
          <a:xfrm>
            <a:off x="4892040" y="1783080"/>
            <a:ext cx="3566160" cy="658368"/>
          </a:xfrm>
          <a:prstGeom prst="rect">
            <a:avLst/>
          </a:prstGeom>
          <a:noFill/>
          <a:ln/>
        </p:spPr>
        <p:txBody>
          <a:bodyPr wrap="square" lIns="0" tIns="0" rIns="0" bIns="0"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  Teen Patti Card Player</a:t>
            </a:r>
            <a:endParaRPr lang="en-US" sz="1200" dirty="0"/>
          </a:p>
        </p:txBody>
      </p:sp>
      <p:sp>
        <p:nvSpPr>
          <p:cNvPr id="22" name="Text 20"/>
          <p:cNvSpPr/>
          <p:nvPr/>
        </p:nvSpPr>
        <p:spPr>
          <a:xfrm>
            <a:off x="4892040" y="2514600"/>
            <a:ext cx="3566160" cy="841248"/>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Every time you pick a new card, you slide it into the correct position in your already-sorted hand. You never re-sort your whole hand — you INSERT the new card exactly where it belongs.</a:t>
            </a:r>
            <a:endParaRPr lang="en-US" sz="1100" dirty="0"/>
          </a:p>
        </p:txBody>
      </p:sp>
      <p:sp>
        <p:nvSpPr>
          <p:cNvPr id="23" name="Text 21"/>
          <p:cNvSpPr/>
          <p:nvPr/>
        </p:nvSpPr>
        <p:spPr>
          <a:xfrm>
            <a:off x="4892040" y="3401568"/>
            <a:ext cx="3566160" cy="502920"/>
          </a:xfrm>
          <a:prstGeom prst="rect">
            <a:avLst/>
          </a:prstGeom>
          <a:noFill/>
          <a:ln/>
        </p:spPr>
        <p:txBody>
          <a:bodyPr wrap="square" rtlCol="0" anchor="ctr"/>
          <a:lstStyle/>
          <a:p>
            <a:pPr indent="0" marL="0">
              <a:buNone/>
            </a:pPr>
            <a:r>
              <a:rPr lang="en-US" sz="1100" b="1" dirty="0">
                <a:solidFill>
                  <a:srgbClr val="334155"/>
                </a:solidFill>
                <a:latin typeface="Calibri" pitchFamily="34" charset="0"/>
                <a:ea typeface="Calibri" pitchFamily="34" charset="-122"/>
                <a:cs typeface="Calibri" pitchFamily="34" charset="-120"/>
              </a:rPr>
              <a:t>Why use it?  </a:t>
            </a:r>
            <a:pPr indent="0" marL="0">
              <a:buNone/>
            </a:pPr>
            <a:r>
              <a:rPr lang="en-US" sz="1100" dirty="0">
                <a:solidFill>
                  <a:srgbClr val="64748B"/>
                </a:solidFill>
                <a:latin typeface="Calibri" pitchFamily="34" charset="0"/>
                <a:ea typeface="Calibri" pitchFamily="34" charset="-122"/>
                <a:cs typeface="Calibri" pitchFamily="34" charset="-120"/>
              </a:rPr>
              <a:t>Best for online sorting (data arrives one-by-one like a live scoreboard). O(n) if already sorted.</a:t>
            </a:r>
            <a:endParaRPr lang="en-US" sz="1100" dirty="0"/>
          </a:p>
        </p:txBody>
      </p:sp>
      <p:sp>
        <p:nvSpPr>
          <p:cNvPr id="24" name="Shape 22"/>
          <p:cNvSpPr/>
          <p:nvPr/>
        </p:nvSpPr>
        <p:spPr>
          <a:xfrm>
            <a:off x="4892040" y="3977640"/>
            <a:ext cx="621792" cy="685800"/>
          </a:xfrm>
          <a:prstGeom prst="roundRect">
            <a:avLst>
              <a:gd name="adj" fmla="val 10294"/>
            </a:avLst>
          </a:prstGeom>
          <a:solidFill>
            <a:srgbClr val="FFFBEB"/>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25" name="Text 23"/>
          <p:cNvSpPr/>
          <p:nvPr/>
        </p:nvSpPr>
        <p:spPr>
          <a:xfrm>
            <a:off x="4892040" y="3977640"/>
            <a:ext cx="621792" cy="68580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1</a:t>
            </a:r>
            <a:endParaRPr lang="en-US" sz="1600" dirty="0"/>
          </a:p>
        </p:txBody>
      </p:sp>
      <p:sp>
        <p:nvSpPr>
          <p:cNvPr id="26" name="Shape 24"/>
          <p:cNvSpPr/>
          <p:nvPr/>
        </p:nvSpPr>
        <p:spPr>
          <a:xfrm>
            <a:off x="5596128" y="3977640"/>
            <a:ext cx="621792" cy="685800"/>
          </a:xfrm>
          <a:prstGeom prst="roundRect">
            <a:avLst>
              <a:gd name="adj" fmla="val 10294"/>
            </a:avLst>
          </a:prstGeom>
          <a:solidFill>
            <a:srgbClr val="FFFBEB"/>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27" name="Text 25"/>
          <p:cNvSpPr/>
          <p:nvPr/>
        </p:nvSpPr>
        <p:spPr>
          <a:xfrm>
            <a:off x="5596128" y="3977640"/>
            <a:ext cx="621792" cy="68580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4</a:t>
            </a:r>
            <a:endParaRPr lang="en-US" sz="1600" dirty="0"/>
          </a:p>
        </p:txBody>
      </p:sp>
      <p:sp>
        <p:nvSpPr>
          <p:cNvPr id="28" name="Shape 26"/>
          <p:cNvSpPr/>
          <p:nvPr/>
        </p:nvSpPr>
        <p:spPr>
          <a:xfrm>
            <a:off x="6300216" y="3977640"/>
            <a:ext cx="621792" cy="685800"/>
          </a:xfrm>
          <a:prstGeom prst="roundRect">
            <a:avLst>
              <a:gd name="adj" fmla="val 10294"/>
            </a:avLst>
          </a:prstGeom>
          <a:solidFill>
            <a:srgbClr val="FFFBEB"/>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29" name="Text 27"/>
          <p:cNvSpPr/>
          <p:nvPr/>
        </p:nvSpPr>
        <p:spPr>
          <a:xfrm>
            <a:off x="6300216" y="3977640"/>
            <a:ext cx="621792" cy="68580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7</a:t>
            </a:r>
            <a:endParaRPr lang="en-US" sz="1600" dirty="0"/>
          </a:p>
        </p:txBody>
      </p:sp>
      <p:sp>
        <p:nvSpPr>
          <p:cNvPr id="30" name="Shape 28"/>
          <p:cNvSpPr/>
          <p:nvPr/>
        </p:nvSpPr>
        <p:spPr>
          <a:xfrm>
            <a:off x="7004304" y="3977640"/>
            <a:ext cx="621792" cy="685800"/>
          </a:xfrm>
          <a:prstGeom prst="roundRect">
            <a:avLst>
              <a:gd name="adj" fmla="val 10294"/>
            </a:avLst>
          </a:prstGeom>
          <a:solidFill>
            <a:srgbClr val="FFFBEB"/>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31" name="Text 29"/>
          <p:cNvSpPr/>
          <p:nvPr/>
        </p:nvSpPr>
        <p:spPr>
          <a:xfrm>
            <a:off x="7004304" y="3977640"/>
            <a:ext cx="621792" cy="68580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9</a:t>
            </a:r>
            <a:endParaRPr lang="en-US" sz="1600" dirty="0"/>
          </a:p>
        </p:txBody>
      </p:sp>
      <p:sp>
        <p:nvSpPr>
          <p:cNvPr id="32" name="Shape 30"/>
          <p:cNvSpPr/>
          <p:nvPr/>
        </p:nvSpPr>
        <p:spPr>
          <a:xfrm>
            <a:off x="7708392" y="3977640"/>
            <a:ext cx="621792" cy="685800"/>
          </a:xfrm>
          <a:prstGeom prst="roundRect">
            <a:avLst>
              <a:gd name="adj" fmla="val 10294"/>
            </a:avLst>
          </a:prstGeom>
          <a:solidFill>
            <a:srgbClr val="FFFBEB"/>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33" name="Text 31"/>
          <p:cNvSpPr/>
          <p:nvPr/>
        </p:nvSpPr>
        <p:spPr>
          <a:xfrm>
            <a:off x="7708392" y="3977640"/>
            <a:ext cx="621792" cy="68580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10</a:t>
            </a:r>
            <a:endParaRPr lang="en-US" sz="1600" dirty="0"/>
          </a:p>
        </p:txBody>
      </p:sp>
      <p:sp>
        <p:nvSpPr>
          <p:cNvPr id="34" name="Shape 32"/>
          <p:cNvSpPr/>
          <p:nvPr/>
        </p:nvSpPr>
        <p:spPr>
          <a:xfrm>
            <a:off x="8412480" y="3977640"/>
            <a:ext cx="621792" cy="685800"/>
          </a:xfrm>
          <a:prstGeom prst="roundRect">
            <a:avLst>
              <a:gd name="adj" fmla="val 10294"/>
            </a:avLst>
          </a:prstGeom>
          <a:solidFill>
            <a:srgbClr val="F59E0B">
              <a:alpha val="80000"/>
            </a:srgbClr>
          </a:solidFill>
          <a:ln w="12700">
            <a:solidFill>
              <a:srgbClr val="F59E0B"/>
            </a:solidFill>
            <a:prstDash val="solid"/>
          </a:ln>
          <a:effectLst>
            <a:outerShdw sx="100000" sy="100000" kx="0" ky="0" algn="bl" rotWithShape="0" blurRad="50800" dist="25400" dir="2700000">
              <a:srgbClr val="000000">
                <a:alpha val="15000"/>
              </a:srgbClr>
            </a:outerShdw>
          </a:effectLst>
        </p:spPr>
      </p:sp>
      <p:sp>
        <p:nvSpPr>
          <p:cNvPr id="35" name="Text 33"/>
          <p:cNvSpPr/>
          <p:nvPr/>
        </p:nvSpPr>
        <p:spPr>
          <a:xfrm>
            <a:off x="8412480" y="3977640"/>
            <a:ext cx="621792"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22C55E"/>
          </a:solidFill>
          <a:ln w="12700">
            <a:solidFill>
              <a:srgbClr val="22C55E"/>
            </a:solidFill>
            <a:prstDash val="solid"/>
          </a:ln>
        </p:spPr>
      </p:sp>
      <p:sp>
        <p:nvSpPr>
          <p:cNvPr id="3" name="Text 1"/>
          <p:cNvSpPr/>
          <p:nvPr/>
        </p:nvSpPr>
        <p:spPr>
          <a:xfrm>
            <a:off x="365760" y="54864"/>
            <a:ext cx="5486400" cy="475488"/>
          </a:xfrm>
          <a:prstGeom prst="rect">
            <a:avLst/>
          </a:prstGeom>
          <a:noFill/>
          <a:ln/>
        </p:spPr>
        <p:txBody>
          <a:bodyPr wrap="square" rtlCol="0" anchor="ctr"/>
          <a:lstStyle/>
          <a:p>
            <a:pPr indent="0" marL="0">
              <a:buNone/>
            </a:pPr>
            <a:r>
              <a:rPr lang="en-US" sz="2800" b="1" dirty="0">
                <a:solidFill>
                  <a:srgbClr val="0F1923"/>
                </a:solidFill>
                <a:latin typeface="Calibri" pitchFamily="34" charset="0"/>
                <a:ea typeface="Calibri" pitchFamily="34" charset="-122"/>
                <a:cs typeface="Calibri" pitchFamily="34" charset="-120"/>
              </a:rPr>
              <a:t>Merge Sort</a:t>
            </a:r>
            <a:endParaRPr lang="en-US" sz="2800" dirty="0"/>
          </a:p>
        </p:txBody>
      </p:sp>
      <p:sp>
        <p:nvSpPr>
          <p:cNvPr id="4" name="Text 2"/>
          <p:cNvSpPr/>
          <p:nvPr/>
        </p:nvSpPr>
        <p:spPr>
          <a:xfrm>
            <a:off x="365760" y="512064"/>
            <a:ext cx="8412480" cy="2743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O(n log n) always  ·  Stable  ·  O(n) space  ·  Divide &amp; Conquer</a:t>
            </a:r>
            <a:endParaRPr lang="en-US" sz="1200" dirty="0"/>
          </a:p>
        </p:txBody>
      </p:sp>
      <p:sp>
        <p:nvSpPr>
          <p:cNvPr id="5" name="Shape 3"/>
          <p:cNvSpPr/>
          <p:nvPr/>
        </p:nvSpPr>
        <p:spPr>
          <a:xfrm>
            <a:off x="320040" y="960120"/>
            <a:ext cx="8503920" cy="749808"/>
          </a:xfrm>
          <a:prstGeom prst="roundRect">
            <a:avLst>
              <a:gd name="adj" fmla="val 12195"/>
            </a:avLst>
          </a:prstGeom>
          <a:solidFill>
            <a:srgbClr val="22C55E">
              <a:alpha val="12000"/>
            </a:srgbClr>
          </a:solidFill>
          <a:ln w="12700">
            <a:solidFill>
              <a:srgbClr val="22C55E"/>
            </a:solidFill>
            <a:prstDash val="solid"/>
          </a:ln>
          <a:effectLst>
            <a:outerShdw sx="100000" sy="100000" kx="0" ky="0" algn="bl" rotWithShape="0" blurRad="101600" dist="38100" dir="2700000">
              <a:srgbClr val="000000">
                <a:alpha val="22000"/>
              </a:srgbClr>
            </a:outerShdw>
          </a:effectLst>
        </p:spPr>
      </p:sp>
      <p:sp>
        <p:nvSpPr>
          <p:cNvPr id="6" name="Text 4"/>
          <p:cNvSpPr/>
          <p:nvPr/>
        </p:nvSpPr>
        <p:spPr>
          <a:xfrm>
            <a:off x="502920" y="1005840"/>
            <a:ext cx="4572000" cy="27432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  STORY: IRCTC Waitlist Merger</a:t>
            </a:r>
            <a:endParaRPr lang="en-US" sz="1300" dirty="0"/>
          </a:p>
        </p:txBody>
      </p:sp>
      <p:sp>
        <p:nvSpPr>
          <p:cNvPr id="7" name="Text 5"/>
          <p:cNvSpPr/>
          <p:nvPr/>
        </p:nvSpPr>
        <p:spPr>
          <a:xfrm>
            <a:off x="502920" y="1261872"/>
            <a:ext cx="8046720" cy="4114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IRCTC has two separately sorted waitlists — mobile app and railway counters. To produce a unified list, they merge both by comparing front tokens and picking the smaller — one clean pass without re-sorting from scratch.</a:t>
            </a:r>
            <a:endParaRPr lang="en-US" sz="1100" dirty="0"/>
          </a:p>
        </p:txBody>
      </p:sp>
      <p:sp>
        <p:nvSpPr>
          <p:cNvPr id="8" name="Shape 6"/>
          <p:cNvSpPr/>
          <p:nvPr/>
        </p:nvSpPr>
        <p:spPr>
          <a:xfrm>
            <a:off x="3520440" y="1874520"/>
            <a:ext cx="2103120" cy="411480"/>
          </a:xfrm>
          <a:prstGeom prst="roundRect">
            <a:avLst>
              <a:gd name="adj" fmla="val 15556"/>
            </a:avLst>
          </a:prstGeom>
          <a:solidFill>
            <a:srgbClr val="22C55E">
              <a:alpha val="70000"/>
            </a:srgbClr>
          </a:solidFill>
          <a:ln w="12700">
            <a:solidFill>
              <a:srgbClr val="22C55E"/>
            </a:solidFill>
            <a:prstDash val="solid"/>
          </a:ln>
        </p:spPr>
      </p:sp>
      <p:sp>
        <p:nvSpPr>
          <p:cNvPr id="9" name="Text 7"/>
          <p:cNvSpPr/>
          <p:nvPr/>
        </p:nvSpPr>
        <p:spPr>
          <a:xfrm>
            <a:off x="3520440" y="1874520"/>
            <a:ext cx="210312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ourier New" pitchFamily="34" charset="0"/>
                <a:ea typeface="Courier New" pitchFamily="34" charset="-122"/>
                <a:cs typeface="Courier New" pitchFamily="34" charset="-120"/>
              </a:rPr>
              <a:t>[2, 5, 8, 11, 1, 4, 7, 10]</a:t>
            </a:r>
            <a:endParaRPr lang="en-US" sz="900" dirty="0"/>
          </a:p>
        </p:txBody>
      </p:sp>
      <p:sp>
        <p:nvSpPr>
          <p:cNvPr id="10" name="Text 8"/>
          <p:cNvSpPr/>
          <p:nvPr/>
        </p:nvSpPr>
        <p:spPr>
          <a:xfrm>
            <a:off x="3520440" y="2304288"/>
            <a:ext cx="2103120" cy="22860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divide ↓</a:t>
            </a:r>
            <a:endParaRPr lang="en-US" sz="900" dirty="0"/>
          </a:p>
        </p:txBody>
      </p:sp>
      <p:sp>
        <p:nvSpPr>
          <p:cNvPr id="11" name="Shape 9"/>
          <p:cNvSpPr/>
          <p:nvPr/>
        </p:nvSpPr>
        <p:spPr>
          <a:xfrm>
            <a:off x="1097280" y="2606040"/>
            <a:ext cx="2560320" cy="384048"/>
          </a:xfrm>
          <a:prstGeom prst="roundRect">
            <a:avLst>
              <a:gd name="adj" fmla="val 16667"/>
            </a:avLst>
          </a:prstGeom>
          <a:solidFill>
            <a:srgbClr val="0D9488">
              <a:alpha val="60000"/>
            </a:srgbClr>
          </a:solidFill>
          <a:ln w="12700">
            <a:solidFill>
              <a:srgbClr val="0D9488"/>
            </a:solidFill>
            <a:prstDash val="solid"/>
          </a:ln>
        </p:spPr>
      </p:sp>
      <p:sp>
        <p:nvSpPr>
          <p:cNvPr id="12" name="Text 10"/>
          <p:cNvSpPr/>
          <p:nvPr/>
        </p:nvSpPr>
        <p:spPr>
          <a:xfrm>
            <a:off x="1097280" y="2606040"/>
            <a:ext cx="2560320"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[2, 5, 8, 11]  Mobile</a:t>
            </a:r>
            <a:endParaRPr lang="en-US" sz="950" dirty="0"/>
          </a:p>
        </p:txBody>
      </p:sp>
      <p:sp>
        <p:nvSpPr>
          <p:cNvPr id="13" name="Shape 11"/>
          <p:cNvSpPr/>
          <p:nvPr/>
        </p:nvSpPr>
        <p:spPr>
          <a:xfrm>
            <a:off x="5486400" y="2606040"/>
            <a:ext cx="2560320" cy="384048"/>
          </a:xfrm>
          <a:prstGeom prst="roundRect">
            <a:avLst>
              <a:gd name="adj" fmla="val 16667"/>
            </a:avLst>
          </a:prstGeom>
          <a:solidFill>
            <a:srgbClr val="F59E0B">
              <a:alpha val="60000"/>
            </a:srgbClr>
          </a:solidFill>
          <a:ln w="12700">
            <a:solidFill>
              <a:srgbClr val="F59E0B"/>
            </a:solidFill>
            <a:prstDash val="solid"/>
          </a:ln>
        </p:spPr>
      </p:sp>
      <p:sp>
        <p:nvSpPr>
          <p:cNvPr id="14" name="Text 12"/>
          <p:cNvSpPr/>
          <p:nvPr/>
        </p:nvSpPr>
        <p:spPr>
          <a:xfrm>
            <a:off x="5486400" y="2606040"/>
            <a:ext cx="2560320"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[1, 4, 7, 10]  Counter</a:t>
            </a:r>
            <a:endParaRPr lang="en-US" sz="950" dirty="0"/>
          </a:p>
        </p:txBody>
      </p:sp>
      <p:sp>
        <p:nvSpPr>
          <p:cNvPr id="15" name="Text 13"/>
          <p:cNvSpPr/>
          <p:nvPr/>
        </p:nvSpPr>
        <p:spPr>
          <a:xfrm>
            <a:off x="1371600" y="3063240"/>
            <a:ext cx="640080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merge ↓  (compare fronts, pick smaller, advance)</a:t>
            </a:r>
            <a:endParaRPr lang="en-US" sz="1100" dirty="0"/>
          </a:p>
        </p:txBody>
      </p:sp>
      <p:sp>
        <p:nvSpPr>
          <p:cNvPr id="16" name="Shape 14"/>
          <p:cNvSpPr/>
          <p:nvPr/>
        </p:nvSpPr>
        <p:spPr>
          <a:xfrm>
            <a:off x="2286000" y="3429000"/>
            <a:ext cx="4572000" cy="438912"/>
          </a:xfrm>
          <a:prstGeom prst="roundRect">
            <a:avLst>
              <a:gd name="adj" fmla="val 18750"/>
            </a:avLst>
          </a:prstGeom>
          <a:solidFill>
            <a:srgbClr val="22C55E">
              <a:alpha val="82000"/>
            </a:srgbClr>
          </a:solidFill>
          <a:ln w="12700">
            <a:solidFill>
              <a:srgbClr val="22C55E"/>
            </a:solidFill>
            <a:prstDash val="solid"/>
          </a:ln>
          <a:effectLst>
            <a:outerShdw sx="100000" sy="100000" kx="0" ky="0" algn="bl" rotWithShape="0" blurRad="101600" dist="38100" dir="2700000">
              <a:srgbClr val="000000">
                <a:alpha val="22000"/>
              </a:srgbClr>
            </a:outerShdw>
          </a:effectLst>
        </p:spPr>
      </p:sp>
      <p:sp>
        <p:nvSpPr>
          <p:cNvPr id="17" name="Text 15"/>
          <p:cNvSpPr/>
          <p:nvPr/>
        </p:nvSpPr>
        <p:spPr>
          <a:xfrm>
            <a:off x="2286000" y="3429000"/>
            <a:ext cx="45720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[1, 2, 4, 5, 7, 8, 10, 11]  ← Unified sorted waitlist</a:t>
            </a:r>
            <a:endParaRPr lang="en-US" sz="1050" dirty="0"/>
          </a:p>
        </p:txBody>
      </p:sp>
      <p:sp>
        <p:nvSpPr>
          <p:cNvPr id="18" name="Shape 16"/>
          <p:cNvSpPr/>
          <p:nvPr/>
        </p:nvSpPr>
        <p:spPr>
          <a:xfrm>
            <a:off x="320040" y="4005072"/>
            <a:ext cx="2743200" cy="914400"/>
          </a:xfrm>
          <a:prstGeom prst="roundRect">
            <a:avLst>
              <a:gd name="adj" fmla="val 9000"/>
            </a:avLst>
          </a:prstGeom>
          <a:solidFill>
            <a:srgbClr val="243447"/>
          </a:solidFill>
          <a:ln w="12700">
            <a:solidFill>
              <a:srgbClr val="22C55E"/>
            </a:solidFill>
            <a:prstDash val="solid"/>
          </a:ln>
          <a:effectLst>
            <a:outerShdw sx="100000" sy="100000" kx="0" ky="0" algn="bl" rotWithShape="0" blurRad="50800" dist="25400" dir="2700000">
              <a:srgbClr val="000000">
                <a:alpha val="15000"/>
              </a:srgbClr>
            </a:outerShdw>
          </a:effectLst>
        </p:spPr>
      </p:sp>
      <p:sp>
        <p:nvSpPr>
          <p:cNvPr id="19" name="Text 17"/>
          <p:cNvSpPr/>
          <p:nvPr/>
        </p:nvSpPr>
        <p:spPr>
          <a:xfrm>
            <a:off x="438912" y="4078224"/>
            <a:ext cx="2514600" cy="292608"/>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Guaranteed O(n log n)</a:t>
            </a:r>
            <a:endParaRPr lang="en-US" sz="1100" dirty="0"/>
          </a:p>
        </p:txBody>
      </p:sp>
      <p:sp>
        <p:nvSpPr>
          <p:cNvPr id="20" name="Text 18"/>
          <p:cNvSpPr/>
          <p:nvPr/>
        </p:nvSpPr>
        <p:spPr>
          <a:xfrm>
            <a:off x="438912" y="4370832"/>
            <a:ext cx="251460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Best, avg AND worst. No bad pivots.</a:t>
            </a:r>
            <a:endParaRPr lang="en-US" sz="1050" dirty="0"/>
          </a:p>
        </p:txBody>
      </p:sp>
      <p:sp>
        <p:nvSpPr>
          <p:cNvPr id="21" name="Shape 19"/>
          <p:cNvSpPr/>
          <p:nvPr/>
        </p:nvSpPr>
        <p:spPr>
          <a:xfrm>
            <a:off x="3264408" y="4005072"/>
            <a:ext cx="2743200" cy="914400"/>
          </a:xfrm>
          <a:prstGeom prst="roundRect">
            <a:avLst>
              <a:gd name="adj" fmla="val 9000"/>
            </a:avLst>
          </a:prstGeom>
          <a:solidFill>
            <a:srgbClr val="243447"/>
          </a:solidFill>
          <a:ln w="12700">
            <a:solidFill>
              <a:srgbClr val="22C55E"/>
            </a:solidFill>
            <a:prstDash val="solid"/>
          </a:ln>
          <a:effectLst>
            <a:outerShdw sx="100000" sy="100000" kx="0" ky="0" algn="bl" rotWithShape="0" blurRad="50800" dist="25400" dir="2700000">
              <a:srgbClr val="000000">
                <a:alpha val="15000"/>
              </a:srgbClr>
            </a:outerShdw>
          </a:effectLst>
        </p:spPr>
      </p:sp>
      <p:sp>
        <p:nvSpPr>
          <p:cNvPr id="22" name="Text 20"/>
          <p:cNvSpPr/>
          <p:nvPr/>
        </p:nvSpPr>
        <p:spPr>
          <a:xfrm>
            <a:off x="3383280" y="4078224"/>
            <a:ext cx="2514600" cy="292608"/>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Stable</a:t>
            </a:r>
            <a:endParaRPr lang="en-US" sz="1100" dirty="0"/>
          </a:p>
        </p:txBody>
      </p:sp>
      <p:sp>
        <p:nvSpPr>
          <p:cNvPr id="23" name="Text 21"/>
          <p:cNvSpPr/>
          <p:nvPr/>
        </p:nvSpPr>
        <p:spPr>
          <a:xfrm>
            <a:off x="3383280" y="4370832"/>
            <a:ext cx="251460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Equal tokens keep original order — important for IRCTC!</a:t>
            </a:r>
            <a:endParaRPr lang="en-US" sz="1050" dirty="0"/>
          </a:p>
        </p:txBody>
      </p:sp>
      <p:sp>
        <p:nvSpPr>
          <p:cNvPr id="24" name="Shape 22"/>
          <p:cNvSpPr/>
          <p:nvPr/>
        </p:nvSpPr>
        <p:spPr>
          <a:xfrm>
            <a:off x="6208776" y="4005072"/>
            <a:ext cx="2743200" cy="914400"/>
          </a:xfrm>
          <a:prstGeom prst="roundRect">
            <a:avLst>
              <a:gd name="adj" fmla="val 9000"/>
            </a:avLst>
          </a:prstGeom>
          <a:solidFill>
            <a:srgbClr val="243447"/>
          </a:solidFill>
          <a:ln w="12700">
            <a:solidFill>
              <a:srgbClr val="22C55E"/>
            </a:solidFill>
            <a:prstDash val="solid"/>
          </a:ln>
          <a:effectLst>
            <a:outerShdw sx="100000" sy="100000" kx="0" ky="0" algn="bl" rotWithShape="0" blurRad="50800" dist="25400" dir="2700000">
              <a:srgbClr val="000000">
                <a:alpha val="15000"/>
              </a:srgbClr>
            </a:outerShdw>
          </a:effectLst>
        </p:spPr>
      </p:sp>
      <p:sp>
        <p:nvSpPr>
          <p:cNvPr id="25" name="Text 23"/>
          <p:cNvSpPr/>
          <p:nvPr/>
        </p:nvSpPr>
        <p:spPr>
          <a:xfrm>
            <a:off x="6327648" y="4078224"/>
            <a:ext cx="2514600" cy="292608"/>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Python uses it</a:t>
            </a:r>
            <a:endParaRPr lang="en-US" sz="1100" dirty="0"/>
          </a:p>
        </p:txBody>
      </p:sp>
      <p:sp>
        <p:nvSpPr>
          <p:cNvPr id="26" name="Text 24"/>
          <p:cNvSpPr/>
          <p:nvPr/>
        </p:nvSpPr>
        <p:spPr>
          <a:xfrm>
            <a:off x="6327648" y="4370832"/>
            <a:ext cx="251460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TimSort = Merge + Insertion. Powers sorted() &amp; list.sort().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923"/>
          </a:solidFill>
          <a:ln w="12700">
            <a:solidFill>
              <a:srgbClr val="0F1923"/>
            </a:solidFill>
            <a:prstDash val="solid"/>
          </a:ln>
        </p:spPr>
      </p:sp>
      <p:sp>
        <p:nvSpPr>
          <p:cNvPr id="3" name="Text 1"/>
          <p:cNvSpPr/>
          <p:nvPr/>
        </p:nvSpPr>
        <p:spPr>
          <a:xfrm>
            <a:off x="365760" y="54864"/>
            <a:ext cx="5486400" cy="475488"/>
          </a:xfrm>
          <a:prstGeom prst="rect">
            <a:avLst/>
          </a:prstGeom>
          <a:noFill/>
          <a:ln/>
        </p:spPr>
        <p:txBody>
          <a:bodyPr wrap="square" rtlCol="0" anchor="ctr"/>
          <a:lstStyle/>
          <a:p>
            <a:pPr indent="0" marL="0">
              <a:buNone/>
            </a:pPr>
            <a:r>
              <a:rPr lang="en-US" sz="2800" b="1" dirty="0">
                <a:solidFill>
                  <a:srgbClr val="A78BFA"/>
                </a:solidFill>
                <a:latin typeface="Calibri" pitchFamily="34" charset="0"/>
                <a:ea typeface="Calibri" pitchFamily="34" charset="-122"/>
                <a:cs typeface="Calibri" pitchFamily="34" charset="-120"/>
              </a:rPr>
              <a:t>Quick Sort</a:t>
            </a:r>
            <a:endParaRPr lang="en-US" sz="2800" dirty="0"/>
          </a:p>
        </p:txBody>
      </p:sp>
      <p:sp>
        <p:nvSpPr>
          <p:cNvPr id="4" name="Text 2"/>
          <p:cNvSpPr/>
          <p:nvPr/>
        </p:nvSpPr>
        <p:spPr>
          <a:xfrm>
            <a:off x="365760" y="512064"/>
            <a:ext cx="8412480" cy="274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O(n log n) avg  ·  O(n²) worst  ·  In-place  ·  Cache-friendly  ·  Not stable</a:t>
            </a:r>
            <a:endParaRPr lang="en-US" sz="1200" dirty="0"/>
          </a:p>
        </p:txBody>
      </p:sp>
      <p:sp>
        <p:nvSpPr>
          <p:cNvPr id="5" name="Shape 3"/>
          <p:cNvSpPr/>
          <p:nvPr/>
        </p:nvSpPr>
        <p:spPr>
          <a:xfrm>
            <a:off x="320040" y="960120"/>
            <a:ext cx="8503920" cy="777240"/>
          </a:xfrm>
          <a:prstGeom prst="roundRect">
            <a:avLst>
              <a:gd name="adj" fmla="val 11765"/>
            </a:avLst>
          </a:prstGeom>
          <a:solidFill>
            <a:srgbClr val="A78BFA">
              <a:alpha val="10000"/>
            </a:srgbClr>
          </a:solidFill>
          <a:ln w="12700">
            <a:solidFill>
              <a:srgbClr val="A78BFA"/>
            </a:solidFill>
            <a:prstDash val="solid"/>
          </a:ln>
          <a:effectLst>
            <a:outerShdw sx="100000" sy="100000" kx="0" ky="0" algn="bl" rotWithShape="0" blurRad="101600" dist="38100" dir="2700000">
              <a:srgbClr val="000000">
                <a:alpha val="22000"/>
              </a:srgbClr>
            </a:outerShdw>
          </a:effectLst>
        </p:spPr>
      </p:sp>
      <p:sp>
        <p:nvSpPr>
          <p:cNvPr id="6" name="Text 4"/>
          <p:cNvSpPr/>
          <p:nvPr/>
        </p:nvSpPr>
        <p:spPr>
          <a:xfrm>
            <a:off x="502920" y="1005840"/>
            <a:ext cx="4572000" cy="274320"/>
          </a:xfrm>
          <a:prstGeom prst="rect">
            <a:avLst/>
          </a:prstGeom>
          <a:noFill/>
          <a:ln/>
        </p:spPr>
        <p:txBody>
          <a:bodyPr wrap="square" rtlCol="0" anchor="ctr"/>
          <a:lstStyle/>
          <a:p>
            <a:pPr indent="0" marL="0">
              <a:buNone/>
            </a:pPr>
            <a:r>
              <a:rPr lang="en-US" sz="1300" b="1" dirty="0">
                <a:solidFill>
                  <a:srgbClr val="A78BFA"/>
                </a:solidFill>
                <a:latin typeface="Calibri" pitchFamily="34" charset="0"/>
                <a:ea typeface="Calibri" pitchFamily="34" charset="-122"/>
                <a:cs typeface="Calibri" pitchFamily="34" charset="-120"/>
              </a:rPr>
              <a:t>✈️  STORY: Airport Security Line</a:t>
            </a:r>
            <a:endParaRPr lang="en-US" sz="1300" dirty="0"/>
          </a:p>
        </p:txBody>
      </p:sp>
      <p:sp>
        <p:nvSpPr>
          <p:cNvPr id="7" name="Text 5"/>
          <p:cNvSpPr/>
          <p:nvPr/>
        </p:nvSpPr>
        <p:spPr>
          <a:xfrm>
            <a:off x="502920" y="1280160"/>
            <a:ext cx="8046720" cy="41148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security chief picks a 'pivot' passenger. All with lighter bags go LEFT lane, all with heavier bags go RIGHT lane. Each lane is then independently processed the same way — no waiting for a central coordinator. Divide and conquer!</a:t>
            </a:r>
            <a:endParaRPr lang="en-US" sz="1100" dirty="0"/>
          </a:p>
        </p:txBody>
      </p:sp>
      <p:sp>
        <p:nvSpPr>
          <p:cNvPr id="8" name="Text 6"/>
          <p:cNvSpPr/>
          <p:nvPr/>
        </p:nvSpPr>
        <p:spPr>
          <a:xfrm>
            <a:off x="320040" y="1874520"/>
            <a:ext cx="36576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Before partitioning:</a:t>
            </a:r>
            <a:endParaRPr lang="en-US" sz="1100" dirty="0"/>
          </a:p>
        </p:txBody>
      </p:sp>
      <p:sp>
        <p:nvSpPr>
          <p:cNvPr id="9" name="Shape 7"/>
          <p:cNvSpPr/>
          <p:nvPr/>
        </p:nvSpPr>
        <p:spPr>
          <a:xfrm>
            <a:off x="320040" y="2148840"/>
            <a:ext cx="868680" cy="566928"/>
          </a:xfrm>
          <a:prstGeom prst="roundRect">
            <a:avLst>
              <a:gd name="adj" fmla="val 11290"/>
            </a:avLst>
          </a:prstGeom>
          <a:solidFill>
            <a:srgbClr val="0F1923">
              <a:alpha val="70000"/>
            </a:srgbClr>
          </a:solidFill>
          <a:ln w="12700">
            <a:solidFill>
              <a:srgbClr val="94A3B8"/>
            </a:solidFill>
            <a:prstDash val="solid"/>
          </a:ln>
        </p:spPr>
      </p:sp>
      <p:sp>
        <p:nvSpPr>
          <p:cNvPr id="10" name="Text 8"/>
          <p:cNvSpPr/>
          <p:nvPr/>
        </p:nvSpPr>
        <p:spPr>
          <a:xfrm>
            <a:off x="320040" y="2148840"/>
            <a:ext cx="868680" cy="56692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12kg</a:t>
            </a:r>
            <a:endParaRPr lang="en-US" sz="1100" dirty="0"/>
          </a:p>
        </p:txBody>
      </p:sp>
      <p:sp>
        <p:nvSpPr>
          <p:cNvPr id="11" name="Shape 9"/>
          <p:cNvSpPr/>
          <p:nvPr/>
        </p:nvSpPr>
        <p:spPr>
          <a:xfrm>
            <a:off x="1325880" y="2148840"/>
            <a:ext cx="868680" cy="566928"/>
          </a:xfrm>
          <a:prstGeom prst="roundRect">
            <a:avLst>
              <a:gd name="adj" fmla="val 11290"/>
            </a:avLst>
          </a:prstGeom>
          <a:solidFill>
            <a:srgbClr val="0F1923">
              <a:alpha val="70000"/>
            </a:srgbClr>
          </a:solidFill>
          <a:ln w="12700">
            <a:solidFill>
              <a:srgbClr val="94A3B8"/>
            </a:solidFill>
            <a:prstDash val="solid"/>
          </a:ln>
        </p:spPr>
      </p:sp>
      <p:sp>
        <p:nvSpPr>
          <p:cNvPr id="12" name="Text 10"/>
          <p:cNvSpPr/>
          <p:nvPr/>
        </p:nvSpPr>
        <p:spPr>
          <a:xfrm>
            <a:off x="1325880" y="2148840"/>
            <a:ext cx="868680" cy="56692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7kg</a:t>
            </a:r>
            <a:endParaRPr lang="en-US" sz="1100" dirty="0"/>
          </a:p>
        </p:txBody>
      </p:sp>
      <p:sp>
        <p:nvSpPr>
          <p:cNvPr id="13" name="Shape 11"/>
          <p:cNvSpPr/>
          <p:nvPr/>
        </p:nvSpPr>
        <p:spPr>
          <a:xfrm>
            <a:off x="2331720" y="2148840"/>
            <a:ext cx="868680" cy="566928"/>
          </a:xfrm>
          <a:prstGeom prst="roundRect">
            <a:avLst>
              <a:gd name="adj" fmla="val 11290"/>
            </a:avLst>
          </a:prstGeom>
          <a:solidFill>
            <a:srgbClr val="0F1923">
              <a:alpha val="70000"/>
            </a:srgbClr>
          </a:solidFill>
          <a:ln w="12700">
            <a:solidFill>
              <a:srgbClr val="94A3B8"/>
            </a:solidFill>
            <a:prstDash val="solid"/>
          </a:ln>
        </p:spPr>
      </p:sp>
      <p:sp>
        <p:nvSpPr>
          <p:cNvPr id="14" name="Text 12"/>
          <p:cNvSpPr/>
          <p:nvPr/>
        </p:nvSpPr>
        <p:spPr>
          <a:xfrm>
            <a:off x="2331720" y="2148840"/>
            <a:ext cx="868680" cy="56692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22kg</a:t>
            </a:r>
            <a:endParaRPr lang="en-US" sz="1100" dirty="0"/>
          </a:p>
        </p:txBody>
      </p:sp>
      <p:sp>
        <p:nvSpPr>
          <p:cNvPr id="15" name="Shape 13"/>
          <p:cNvSpPr/>
          <p:nvPr/>
        </p:nvSpPr>
        <p:spPr>
          <a:xfrm>
            <a:off x="3337560" y="2148840"/>
            <a:ext cx="868680" cy="566928"/>
          </a:xfrm>
          <a:prstGeom prst="roundRect">
            <a:avLst>
              <a:gd name="adj" fmla="val 11290"/>
            </a:avLst>
          </a:prstGeom>
          <a:solidFill>
            <a:srgbClr val="0F1923">
              <a:alpha val="70000"/>
            </a:srgbClr>
          </a:solidFill>
          <a:ln w="12700">
            <a:solidFill>
              <a:srgbClr val="94A3B8"/>
            </a:solidFill>
            <a:prstDash val="solid"/>
          </a:ln>
        </p:spPr>
      </p:sp>
      <p:sp>
        <p:nvSpPr>
          <p:cNvPr id="16" name="Text 14"/>
          <p:cNvSpPr/>
          <p:nvPr/>
        </p:nvSpPr>
        <p:spPr>
          <a:xfrm>
            <a:off x="3337560" y="2148840"/>
            <a:ext cx="868680" cy="56692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5kg</a:t>
            </a:r>
            <a:endParaRPr lang="en-US" sz="1100" dirty="0"/>
          </a:p>
        </p:txBody>
      </p:sp>
      <p:sp>
        <p:nvSpPr>
          <p:cNvPr id="17" name="Shape 15"/>
          <p:cNvSpPr/>
          <p:nvPr/>
        </p:nvSpPr>
        <p:spPr>
          <a:xfrm>
            <a:off x="4343400" y="2148840"/>
            <a:ext cx="868680" cy="566928"/>
          </a:xfrm>
          <a:prstGeom prst="roundRect">
            <a:avLst>
              <a:gd name="adj" fmla="val 11290"/>
            </a:avLst>
          </a:prstGeom>
          <a:solidFill>
            <a:srgbClr val="0F1923">
              <a:alpha val="70000"/>
            </a:srgbClr>
          </a:solidFill>
          <a:ln w="12700">
            <a:solidFill>
              <a:srgbClr val="94A3B8"/>
            </a:solidFill>
            <a:prstDash val="solid"/>
          </a:ln>
        </p:spPr>
      </p:sp>
      <p:sp>
        <p:nvSpPr>
          <p:cNvPr id="18" name="Text 16"/>
          <p:cNvSpPr/>
          <p:nvPr/>
        </p:nvSpPr>
        <p:spPr>
          <a:xfrm>
            <a:off x="4343400" y="2148840"/>
            <a:ext cx="868680" cy="56692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15kg</a:t>
            </a:r>
            <a:endParaRPr lang="en-US" sz="1100" dirty="0"/>
          </a:p>
        </p:txBody>
      </p:sp>
      <p:sp>
        <p:nvSpPr>
          <p:cNvPr id="19" name="Shape 17"/>
          <p:cNvSpPr/>
          <p:nvPr/>
        </p:nvSpPr>
        <p:spPr>
          <a:xfrm>
            <a:off x="5349240" y="2148840"/>
            <a:ext cx="868680" cy="566928"/>
          </a:xfrm>
          <a:prstGeom prst="roundRect">
            <a:avLst>
              <a:gd name="adj" fmla="val 11290"/>
            </a:avLst>
          </a:prstGeom>
          <a:solidFill>
            <a:srgbClr val="A78BFA">
              <a:alpha val="80000"/>
            </a:srgbClr>
          </a:solidFill>
          <a:ln w="12700">
            <a:solidFill>
              <a:srgbClr val="A78BFA"/>
            </a:solidFill>
            <a:prstDash val="solid"/>
          </a:ln>
        </p:spPr>
      </p:sp>
      <p:sp>
        <p:nvSpPr>
          <p:cNvPr id="20" name="Text 18"/>
          <p:cNvSpPr/>
          <p:nvPr/>
        </p:nvSpPr>
        <p:spPr>
          <a:xfrm>
            <a:off x="5349240" y="2148840"/>
            <a:ext cx="8686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9kg</a:t>
            </a:r>
            <a:endParaRPr lang="en-US" sz="1100" dirty="0"/>
          </a:p>
        </p:txBody>
      </p:sp>
      <p:sp>
        <p:nvSpPr>
          <p:cNvPr id="21" name="Text 19"/>
          <p:cNvSpPr/>
          <p:nvPr/>
        </p:nvSpPr>
        <p:spPr>
          <a:xfrm>
            <a:off x="5349240" y="2743200"/>
            <a:ext cx="868680" cy="201168"/>
          </a:xfrm>
          <a:prstGeom prst="rect">
            <a:avLst/>
          </a:prstGeom>
          <a:noFill/>
          <a:ln/>
        </p:spPr>
        <p:txBody>
          <a:bodyPr wrap="square" rtlCol="0" anchor="ctr"/>
          <a:lstStyle/>
          <a:p>
            <a:pPr algn="ctr" indent="0" marL="0">
              <a:buNone/>
            </a:pPr>
            <a:r>
              <a:rPr lang="en-US" sz="900" dirty="0">
                <a:solidFill>
                  <a:srgbClr val="A78BFA"/>
                </a:solidFill>
                <a:latin typeface="Calibri" pitchFamily="34" charset="0"/>
                <a:ea typeface="Calibri" pitchFamily="34" charset="-122"/>
                <a:cs typeface="Calibri" pitchFamily="34" charset="-120"/>
              </a:rPr>
              <a:t>pivot</a:t>
            </a:r>
            <a:endParaRPr lang="en-US" sz="900" dirty="0"/>
          </a:p>
        </p:txBody>
      </p:sp>
      <p:sp>
        <p:nvSpPr>
          <p:cNvPr id="22" name="Text 20"/>
          <p:cNvSpPr/>
          <p:nvPr/>
        </p:nvSpPr>
        <p:spPr>
          <a:xfrm>
            <a:off x="320040" y="3017520"/>
            <a:ext cx="850392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After partitioning around pivot (9kg):</a:t>
            </a:r>
            <a:endParaRPr lang="en-US" sz="1100" dirty="0"/>
          </a:p>
        </p:txBody>
      </p:sp>
      <p:sp>
        <p:nvSpPr>
          <p:cNvPr id="23" name="Shape 21"/>
          <p:cNvSpPr/>
          <p:nvPr/>
        </p:nvSpPr>
        <p:spPr>
          <a:xfrm>
            <a:off x="320040" y="3337560"/>
            <a:ext cx="2286000" cy="777240"/>
          </a:xfrm>
          <a:prstGeom prst="roundRect">
            <a:avLst>
              <a:gd name="adj" fmla="val 9412"/>
            </a:avLst>
          </a:prstGeom>
          <a:solidFill>
            <a:srgbClr val="0D9488">
              <a:alpha val="15000"/>
            </a:srgbClr>
          </a:solidFill>
          <a:ln w="12700">
            <a:solidFill>
              <a:srgbClr val="0D9488"/>
            </a:solidFill>
            <a:prstDash val="solid"/>
          </a:ln>
        </p:spPr>
      </p:sp>
      <p:sp>
        <p:nvSpPr>
          <p:cNvPr id="24" name="Text 22"/>
          <p:cNvSpPr/>
          <p:nvPr/>
        </p:nvSpPr>
        <p:spPr>
          <a:xfrm>
            <a:off x="320040" y="3337560"/>
            <a:ext cx="2286000" cy="777240"/>
          </a:xfrm>
          <a:prstGeom prst="rect">
            <a:avLst/>
          </a:prstGeom>
          <a:noFill/>
          <a:ln/>
        </p:spPr>
        <p:txBody>
          <a:bodyPr wrap="square" lIns="0" tIns="0" rIns="0" bIns="0" rtlCol="0" anchor="ctr"/>
          <a:lstStyle/>
          <a:p>
            <a:pPr algn="ctr" indent="0" marL="0">
              <a:buNone/>
            </a:pPr>
            <a:r>
              <a:rPr lang="en-US" sz="1200" b="1" dirty="0">
                <a:solidFill>
                  <a:srgbClr val="0D9488"/>
                </a:solidFill>
                <a:latin typeface="Courier New" pitchFamily="34" charset="0"/>
                <a:ea typeface="Courier New" pitchFamily="34" charset="-122"/>
                <a:cs typeface="Courier New" pitchFamily="34" charset="-120"/>
              </a:rPr>
              <a:t>LEFT  ≤ 9</a:t>
            </a:r>
            <a:endParaRPr lang="en-US" sz="1200" dirty="0"/>
          </a:p>
          <a:p>
            <a:pPr algn="ctr" indent="0" marL="0">
              <a:buNone/>
            </a:pPr>
            <a:r>
              <a:rPr lang="en-US" sz="1200" b="1" dirty="0">
                <a:solidFill>
                  <a:srgbClr val="0D9488"/>
                </a:solidFill>
                <a:latin typeface="Courier New" pitchFamily="34" charset="0"/>
                <a:ea typeface="Courier New" pitchFamily="34" charset="-122"/>
                <a:cs typeface="Courier New" pitchFamily="34" charset="-120"/>
              </a:rPr>
              <a:t>[5, 7]</a:t>
            </a:r>
            <a:endParaRPr lang="en-US" sz="1200" dirty="0"/>
          </a:p>
        </p:txBody>
      </p:sp>
      <p:sp>
        <p:nvSpPr>
          <p:cNvPr id="25" name="Shape 23"/>
          <p:cNvSpPr/>
          <p:nvPr/>
        </p:nvSpPr>
        <p:spPr>
          <a:xfrm>
            <a:off x="2743200" y="3337560"/>
            <a:ext cx="1188720" cy="777240"/>
          </a:xfrm>
          <a:prstGeom prst="roundRect">
            <a:avLst>
              <a:gd name="adj" fmla="val 9412"/>
            </a:avLst>
          </a:prstGeom>
          <a:solidFill>
            <a:srgbClr val="A78BFA">
              <a:alpha val="80000"/>
            </a:srgbClr>
          </a:solidFill>
          <a:ln w="12700">
            <a:solidFill>
              <a:srgbClr val="A78BFA"/>
            </a:solidFill>
            <a:prstDash val="solid"/>
          </a:ln>
        </p:spPr>
      </p:sp>
      <p:sp>
        <p:nvSpPr>
          <p:cNvPr id="26" name="Text 24"/>
          <p:cNvSpPr/>
          <p:nvPr/>
        </p:nvSpPr>
        <p:spPr>
          <a:xfrm>
            <a:off x="2743200" y="3337560"/>
            <a:ext cx="118872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PIVOT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9kg</a:t>
            </a:r>
            <a:endParaRPr lang="en-US" sz="1200" dirty="0"/>
          </a:p>
        </p:txBody>
      </p:sp>
      <p:sp>
        <p:nvSpPr>
          <p:cNvPr id="27" name="Shape 25"/>
          <p:cNvSpPr/>
          <p:nvPr/>
        </p:nvSpPr>
        <p:spPr>
          <a:xfrm>
            <a:off x="4114800" y="3337560"/>
            <a:ext cx="3200400" cy="777240"/>
          </a:xfrm>
          <a:prstGeom prst="roundRect">
            <a:avLst>
              <a:gd name="adj" fmla="val 9412"/>
            </a:avLst>
          </a:prstGeom>
          <a:solidFill>
            <a:srgbClr val="F59E0B">
              <a:alpha val="15000"/>
            </a:srgbClr>
          </a:solidFill>
          <a:ln w="12700">
            <a:solidFill>
              <a:srgbClr val="F59E0B"/>
            </a:solidFill>
            <a:prstDash val="solid"/>
          </a:ln>
        </p:spPr>
      </p:sp>
      <p:sp>
        <p:nvSpPr>
          <p:cNvPr id="28" name="Text 26"/>
          <p:cNvSpPr/>
          <p:nvPr/>
        </p:nvSpPr>
        <p:spPr>
          <a:xfrm>
            <a:off x="4114800" y="3337560"/>
            <a:ext cx="3200400" cy="777240"/>
          </a:xfrm>
          <a:prstGeom prst="rect">
            <a:avLst/>
          </a:prstGeom>
          <a:noFill/>
          <a:ln/>
        </p:spPr>
        <p:txBody>
          <a:bodyPr wrap="square" lIns="0" tIns="0" rIns="0" bIns="0" rtlCol="0" anchor="ctr"/>
          <a:lstStyle/>
          <a:p>
            <a:pPr algn="ctr" indent="0" marL="0">
              <a:buNone/>
            </a:pPr>
            <a:r>
              <a:rPr lang="en-US" sz="1200" b="1" dirty="0">
                <a:solidFill>
                  <a:srgbClr val="F59E0B"/>
                </a:solidFill>
                <a:latin typeface="Courier New" pitchFamily="34" charset="0"/>
                <a:ea typeface="Courier New" pitchFamily="34" charset="-122"/>
                <a:cs typeface="Courier New" pitchFamily="34" charset="-120"/>
              </a:rPr>
              <a:t>RIGHT  &gt; 9</a:t>
            </a:r>
            <a:endParaRPr lang="en-US" sz="1200" dirty="0"/>
          </a:p>
          <a:p>
            <a:pPr algn="ctr" indent="0" marL="0">
              <a:buNone/>
            </a:pPr>
            <a:r>
              <a:rPr lang="en-US" sz="1200" b="1" dirty="0">
                <a:solidFill>
                  <a:srgbClr val="F59E0B"/>
                </a:solidFill>
                <a:latin typeface="Courier New" pitchFamily="34" charset="0"/>
                <a:ea typeface="Courier New" pitchFamily="34" charset="-122"/>
                <a:cs typeface="Courier New" pitchFamily="34" charset="-120"/>
              </a:rPr>
              <a:t>[12, 22, 15]</a:t>
            </a:r>
            <a:endParaRPr lang="en-US" sz="1200" dirty="0"/>
          </a:p>
        </p:txBody>
      </p:sp>
      <p:sp>
        <p:nvSpPr>
          <p:cNvPr id="29" name="Text 27"/>
          <p:cNvSpPr/>
          <p:nvPr/>
        </p:nvSpPr>
        <p:spPr>
          <a:xfrm>
            <a:off x="4114800" y="4133088"/>
            <a:ext cx="320040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 recurse on each independently</a:t>
            </a:r>
            <a:endParaRPr lang="en-US" sz="1000" dirty="0"/>
          </a:p>
        </p:txBody>
      </p:sp>
      <p:sp>
        <p:nvSpPr>
          <p:cNvPr id="30" name="Shape 28"/>
          <p:cNvSpPr/>
          <p:nvPr/>
        </p:nvSpPr>
        <p:spPr>
          <a:xfrm>
            <a:off x="7452360" y="1005840"/>
            <a:ext cx="1417320" cy="3886200"/>
          </a:xfrm>
          <a:prstGeom prst="roundRect">
            <a:avLst>
              <a:gd name="adj" fmla="val 5806"/>
            </a:avLst>
          </a:prstGeom>
          <a:solidFill>
            <a:srgbClr val="243447"/>
          </a:solidFill>
          <a:ln w="12700">
            <a:solidFill>
              <a:srgbClr val="A78BFA"/>
            </a:solidFill>
            <a:prstDash val="solid"/>
          </a:ln>
          <a:effectLst>
            <a:outerShdw sx="100000" sy="100000" kx="0" ky="0" algn="bl" rotWithShape="0" blurRad="50800" dist="25400" dir="2700000">
              <a:srgbClr val="000000">
                <a:alpha val="15000"/>
              </a:srgbClr>
            </a:outerShdw>
          </a:effectLst>
        </p:spPr>
      </p:sp>
      <p:sp>
        <p:nvSpPr>
          <p:cNvPr id="31" name="Text 29"/>
          <p:cNvSpPr/>
          <p:nvPr/>
        </p:nvSpPr>
        <p:spPr>
          <a:xfrm>
            <a:off x="7452360" y="1078992"/>
            <a:ext cx="1417320" cy="320040"/>
          </a:xfrm>
          <a:prstGeom prst="rect">
            <a:avLst/>
          </a:prstGeom>
          <a:noFill/>
          <a:ln/>
        </p:spPr>
        <p:txBody>
          <a:bodyPr wrap="square" rtlCol="0" anchor="ctr"/>
          <a:lstStyle/>
          <a:p>
            <a:pPr algn="ctr" indent="0" marL="0">
              <a:buNone/>
            </a:pPr>
            <a:r>
              <a:rPr lang="en-US" sz="1100" b="1" dirty="0">
                <a:solidFill>
                  <a:srgbClr val="A78BFA"/>
                </a:solidFill>
                <a:latin typeface="Calibri" pitchFamily="34" charset="0"/>
                <a:ea typeface="Calibri" pitchFamily="34" charset="-122"/>
                <a:cs typeface="Calibri" pitchFamily="34" charset="-120"/>
              </a:rPr>
              <a:t>When to use</a:t>
            </a:r>
            <a:endParaRPr lang="en-US" sz="1100" dirty="0"/>
          </a:p>
        </p:txBody>
      </p:sp>
      <p:sp>
        <p:nvSpPr>
          <p:cNvPr id="32" name="Text 30"/>
          <p:cNvSpPr/>
          <p:nvPr/>
        </p:nvSpPr>
        <p:spPr>
          <a:xfrm>
            <a:off x="7452360" y="1463040"/>
            <a:ext cx="1417320" cy="56692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General</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purpose</a:t>
            </a:r>
            <a:endParaRPr lang="en-US" sz="1000" dirty="0"/>
          </a:p>
        </p:txBody>
      </p:sp>
      <p:sp>
        <p:nvSpPr>
          <p:cNvPr id="33" name="Text 31"/>
          <p:cNvSpPr/>
          <p:nvPr/>
        </p:nvSpPr>
        <p:spPr>
          <a:xfrm>
            <a:off x="7452360" y="2103120"/>
            <a:ext cx="1417320" cy="56692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Large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datasets</a:t>
            </a:r>
            <a:endParaRPr lang="en-US" sz="1000" dirty="0"/>
          </a:p>
        </p:txBody>
      </p:sp>
      <p:sp>
        <p:nvSpPr>
          <p:cNvPr id="34" name="Text 32"/>
          <p:cNvSpPr/>
          <p:nvPr/>
        </p:nvSpPr>
        <p:spPr>
          <a:xfrm>
            <a:off x="7452360" y="2743200"/>
            <a:ext cx="1417320" cy="56692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In-memory</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only</a:t>
            </a:r>
            <a:endParaRPr lang="en-US" sz="1000" dirty="0"/>
          </a:p>
        </p:txBody>
      </p:sp>
      <p:sp>
        <p:nvSpPr>
          <p:cNvPr id="35" name="Text 33"/>
          <p:cNvSpPr/>
          <p:nvPr/>
        </p:nvSpPr>
        <p:spPr>
          <a:xfrm>
            <a:off x="7452360" y="3383280"/>
            <a:ext cx="1417320" cy="56692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Fastest</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in practice</a:t>
            </a:r>
            <a:endParaRPr lang="en-US" sz="1000" dirty="0"/>
          </a:p>
        </p:txBody>
      </p:sp>
      <p:sp>
        <p:nvSpPr>
          <p:cNvPr id="36" name="Text 34"/>
          <p:cNvSpPr/>
          <p:nvPr/>
        </p:nvSpPr>
        <p:spPr>
          <a:xfrm>
            <a:off x="7452360" y="4023360"/>
            <a:ext cx="1417320" cy="566928"/>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 qsort</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uses this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F43F5E"/>
          </a:solidFill>
          <a:ln w="12700">
            <a:solidFill>
              <a:srgbClr val="F43F5E"/>
            </a:solidFill>
            <a:prstDash val="solid"/>
          </a:ln>
        </p:spPr>
      </p:sp>
      <p:sp>
        <p:nvSpPr>
          <p:cNvPr id="3" name="Text 1"/>
          <p:cNvSpPr/>
          <p:nvPr/>
        </p:nvSpPr>
        <p:spPr>
          <a:xfrm>
            <a:off x="365760" y="45720"/>
            <a:ext cx="8229600" cy="786384"/>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Searching Algorithms</a:t>
            </a:r>
            <a:endParaRPr lang="en-US" sz="3000" dirty="0"/>
          </a:p>
        </p:txBody>
      </p:sp>
      <p:sp>
        <p:nvSpPr>
          <p:cNvPr id="4" name="Shape 2"/>
          <p:cNvSpPr/>
          <p:nvPr/>
        </p:nvSpPr>
        <p:spPr>
          <a:xfrm>
            <a:off x="274320" y="1005840"/>
            <a:ext cx="4160520" cy="3886200"/>
          </a:xfrm>
          <a:prstGeom prst="roundRect">
            <a:avLst>
              <a:gd name="adj" fmla="val 2824"/>
            </a:avLst>
          </a:prstGeom>
          <a:solidFill>
            <a:srgbClr val="243447"/>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5" name="Text 3"/>
          <p:cNvSpPr/>
          <p:nvPr/>
        </p:nvSpPr>
        <p:spPr>
          <a:xfrm>
            <a:off x="457200" y="1097280"/>
            <a:ext cx="3749040" cy="365760"/>
          </a:xfrm>
          <a:prstGeom prst="rect">
            <a:avLst/>
          </a:prstGeom>
          <a:noFill/>
          <a:ln/>
        </p:spPr>
        <p:txBody>
          <a:bodyPr wrap="square"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Linear Search</a:t>
            </a:r>
            <a:endParaRPr lang="en-US" sz="1800" dirty="0"/>
          </a:p>
        </p:txBody>
      </p:sp>
      <p:sp>
        <p:nvSpPr>
          <p:cNvPr id="6" name="Text 4"/>
          <p:cNvSpPr/>
          <p:nvPr/>
        </p:nvSpPr>
        <p:spPr>
          <a:xfrm>
            <a:off x="457200" y="1444752"/>
            <a:ext cx="3749040" cy="2560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  ·  Works on unsorted data</a:t>
            </a:r>
            <a:endParaRPr lang="en-US" sz="1100" dirty="0"/>
          </a:p>
        </p:txBody>
      </p:sp>
      <p:sp>
        <p:nvSpPr>
          <p:cNvPr id="7" name="Shape 5"/>
          <p:cNvSpPr/>
          <p:nvPr/>
        </p:nvSpPr>
        <p:spPr>
          <a:xfrm>
            <a:off x="457200" y="1810512"/>
            <a:ext cx="3566160" cy="749808"/>
          </a:xfrm>
          <a:prstGeom prst="roundRect">
            <a:avLst>
              <a:gd name="adj" fmla="val 8537"/>
            </a:avLst>
          </a:prstGeom>
          <a:solidFill>
            <a:srgbClr val="1A2B3C"/>
          </a:solidFill>
          <a:ln w="12700">
            <a:solidFill>
              <a:srgbClr val="0D9488">
                <a:alpha val="40000"/>
              </a:srgbClr>
            </a:solidFill>
            <a:prstDash val="solid"/>
          </a:ln>
        </p:spPr>
      </p:sp>
      <p:sp>
        <p:nvSpPr>
          <p:cNvPr id="8" name="Text 6"/>
          <p:cNvSpPr/>
          <p:nvPr/>
        </p:nvSpPr>
        <p:spPr>
          <a:xfrm>
            <a:off x="594360" y="184708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Attendance register</a:t>
            </a:r>
            <a:endParaRPr lang="en-US" sz="1100" dirty="0"/>
          </a:p>
        </p:txBody>
      </p:sp>
      <p:sp>
        <p:nvSpPr>
          <p:cNvPr id="9" name="Text 7"/>
          <p:cNvSpPr/>
          <p:nvPr/>
        </p:nvSpPr>
        <p:spPr>
          <a:xfrm>
            <a:off x="594360" y="212140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Names in arrival order — must scan all to find Riya.</a:t>
            </a:r>
            <a:endParaRPr lang="en-US" sz="1000" dirty="0"/>
          </a:p>
        </p:txBody>
      </p:sp>
      <p:sp>
        <p:nvSpPr>
          <p:cNvPr id="10" name="Shape 8"/>
          <p:cNvSpPr/>
          <p:nvPr/>
        </p:nvSpPr>
        <p:spPr>
          <a:xfrm>
            <a:off x="457200" y="2679192"/>
            <a:ext cx="3566160" cy="749808"/>
          </a:xfrm>
          <a:prstGeom prst="roundRect">
            <a:avLst>
              <a:gd name="adj" fmla="val 8537"/>
            </a:avLst>
          </a:prstGeom>
          <a:solidFill>
            <a:srgbClr val="1A2B3C"/>
          </a:solidFill>
          <a:ln w="12700">
            <a:solidFill>
              <a:srgbClr val="0D9488">
                <a:alpha val="40000"/>
              </a:srgbClr>
            </a:solidFill>
            <a:prstDash val="solid"/>
          </a:ln>
        </p:spPr>
      </p:sp>
      <p:sp>
        <p:nvSpPr>
          <p:cNvPr id="11" name="Text 9"/>
          <p:cNvSpPr/>
          <p:nvPr/>
        </p:nvSpPr>
        <p:spPr>
          <a:xfrm>
            <a:off x="594360" y="271576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Supermarket price check</a:t>
            </a:r>
            <a:endParaRPr lang="en-US" sz="1100" dirty="0"/>
          </a:p>
        </p:txBody>
      </p:sp>
      <p:sp>
        <p:nvSpPr>
          <p:cNvPr id="12" name="Text 10"/>
          <p:cNvSpPr/>
          <p:nvPr/>
        </p:nvSpPr>
        <p:spPr>
          <a:xfrm>
            <a:off x="594360" y="299008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Cashier scans printed product list manually.</a:t>
            </a:r>
            <a:endParaRPr lang="en-US" sz="1000" dirty="0"/>
          </a:p>
        </p:txBody>
      </p:sp>
      <p:sp>
        <p:nvSpPr>
          <p:cNvPr id="13" name="Shape 11"/>
          <p:cNvSpPr/>
          <p:nvPr/>
        </p:nvSpPr>
        <p:spPr>
          <a:xfrm>
            <a:off x="457200" y="3547872"/>
            <a:ext cx="3566160" cy="749808"/>
          </a:xfrm>
          <a:prstGeom prst="roundRect">
            <a:avLst>
              <a:gd name="adj" fmla="val 8537"/>
            </a:avLst>
          </a:prstGeom>
          <a:solidFill>
            <a:srgbClr val="1A2B3C"/>
          </a:solidFill>
          <a:ln w="12700">
            <a:solidFill>
              <a:srgbClr val="0D9488">
                <a:alpha val="40000"/>
              </a:srgbClr>
            </a:solidFill>
            <a:prstDash val="solid"/>
          </a:ln>
        </p:spPr>
      </p:sp>
      <p:sp>
        <p:nvSpPr>
          <p:cNvPr id="14" name="Text 12"/>
          <p:cNvSpPr/>
          <p:nvPr/>
        </p:nvSpPr>
        <p:spPr>
          <a:xfrm>
            <a:off x="594360" y="358444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Spam detector</a:t>
            </a:r>
            <a:endParaRPr lang="en-US" sz="1100" dirty="0"/>
          </a:p>
        </p:txBody>
      </p:sp>
      <p:sp>
        <p:nvSpPr>
          <p:cNvPr id="15" name="Text 13"/>
          <p:cNvSpPr/>
          <p:nvPr/>
        </p:nvSpPr>
        <p:spPr>
          <a:xfrm>
            <a:off x="594360" y="385876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Check sender against blacklist — use set() for O(1)!</a:t>
            </a:r>
            <a:endParaRPr lang="en-US" sz="1000" dirty="0"/>
          </a:p>
        </p:txBody>
      </p:sp>
      <p:sp>
        <p:nvSpPr>
          <p:cNvPr id="16" name="Shape 14"/>
          <p:cNvSpPr/>
          <p:nvPr/>
        </p:nvSpPr>
        <p:spPr>
          <a:xfrm>
            <a:off x="457200" y="4434840"/>
            <a:ext cx="3566160" cy="347472"/>
          </a:xfrm>
          <a:prstGeom prst="roundRect">
            <a:avLst>
              <a:gd name="adj" fmla="val 18421"/>
            </a:avLst>
          </a:prstGeom>
          <a:solidFill>
            <a:srgbClr val="0D9488">
              <a:alpha val="18000"/>
            </a:srgbClr>
          </a:solidFill>
          <a:ln w="12700">
            <a:solidFill>
              <a:srgbClr val="0D9488"/>
            </a:solidFill>
            <a:prstDash val="solid"/>
          </a:ln>
        </p:spPr>
      </p:sp>
      <p:sp>
        <p:nvSpPr>
          <p:cNvPr id="17" name="Text 15"/>
          <p:cNvSpPr/>
          <p:nvPr/>
        </p:nvSpPr>
        <p:spPr>
          <a:xfrm>
            <a:off x="457200" y="4434840"/>
            <a:ext cx="3566160" cy="347472"/>
          </a:xfrm>
          <a:prstGeom prst="rect">
            <a:avLst/>
          </a:prstGeom>
          <a:noFill/>
          <a:ln/>
        </p:spPr>
        <p:txBody>
          <a:bodyPr wrap="square" lIns="0" tIns="0" rIns="0" bIns="0" rtlCol="0" anchor="ctr"/>
          <a:lstStyle/>
          <a:p>
            <a:pPr algn="ctr" indent="0" marL="0">
              <a:buNone/>
            </a:pPr>
            <a:r>
              <a:rPr lang="en-US" sz="1050" dirty="0">
                <a:solidFill>
                  <a:srgbClr val="2DD4BF"/>
                </a:solidFill>
                <a:latin typeface="Calibri" pitchFamily="34" charset="0"/>
                <a:ea typeface="Calibri" pitchFamily="34" charset="-122"/>
                <a:cs typeface="Calibri" pitchFamily="34" charset="-120"/>
              </a:rPr>
              <a:t>Pro tip: convert list → set for O(1) membership check!</a:t>
            </a:r>
            <a:endParaRPr lang="en-US" sz="1050" dirty="0"/>
          </a:p>
        </p:txBody>
      </p:sp>
      <p:sp>
        <p:nvSpPr>
          <p:cNvPr id="18" name="Shape 16"/>
          <p:cNvSpPr/>
          <p:nvPr/>
        </p:nvSpPr>
        <p:spPr>
          <a:xfrm>
            <a:off x="4709160" y="1005840"/>
            <a:ext cx="4160520" cy="3886200"/>
          </a:xfrm>
          <a:prstGeom prst="roundRect">
            <a:avLst>
              <a:gd name="adj" fmla="val 2824"/>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19" name="Text 17"/>
          <p:cNvSpPr/>
          <p:nvPr/>
        </p:nvSpPr>
        <p:spPr>
          <a:xfrm>
            <a:off x="4892040" y="1097280"/>
            <a:ext cx="3749040" cy="365760"/>
          </a:xfrm>
          <a:prstGeom prst="rect">
            <a:avLst/>
          </a:prstGeom>
          <a:noFill/>
          <a:ln/>
        </p:spPr>
        <p:txBody>
          <a:bodyPr wrap="square" rtlCol="0" anchor="ctr"/>
          <a:lstStyle/>
          <a:p>
            <a:pPr indent="0" marL="0">
              <a:buNone/>
            </a:pPr>
            <a:r>
              <a:rPr lang="en-US" sz="1800" b="1" dirty="0">
                <a:solidFill>
                  <a:srgbClr val="FCD34D"/>
                </a:solidFill>
                <a:latin typeface="Calibri" pitchFamily="34" charset="0"/>
                <a:ea typeface="Calibri" pitchFamily="34" charset="-122"/>
                <a:cs typeface="Calibri" pitchFamily="34" charset="-120"/>
              </a:rPr>
              <a:t>Binary Search</a:t>
            </a:r>
            <a:endParaRPr lang="en-US" sz="1800" dirty="0"/>
          </a:p>
        </p:txBody>
      </p:sp>
      <p:sp>
        <p:nvSpPr>
          <p:cNvPr id="20" name="Text 18"/>
          <p:cNvSpPr/>
          <p:nvPr/>
        </p:nvSpPr>
        <p:spPr>
          <a:xfrm>
            <a:off x="4892040" y="1444752"/>
            <a:ext cx="3749040" cy="25603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O(log n)  ·  Requires sorted data</a:t>
            </a:r>
            <a:endParaRPr lang="en-US" sz="1100" dirty="0"/>
          </a:p>
        </p:txBody>
      </p:sp>
      <p:sp>
        <p:nvSpPr>
          <p:cNvPr id="21" name="Shape 19"/>
          <p:cNvSpPr/>
          <p:nvPr/>
        </p:nvSpPr>
        <p:spPr>
          <a:xfrm>
            <a:off x="4892040" y="1810512"/>
            <a:ext cx="3566160" cy="749808"/>
          </a:xfrm>
          <a:prstGeom prst="roundRect">
            <a:avLst>
              <a:gd name="adj" fmla="val 8537"/>
            </a:avLst>
          </a:prstGeom>
          <a:solidFill>
            <a:srgbClr val="1A2B3C"/>
          </a:solidFill>
          <a:ln w="12700">
            <a:solidFill>
              <a:srgbClr val="F59E0B">
                <a:alpha val="40000"/>
              </a:srgbClr>
            </a:solidFill>
            <a:prstDash val="solid"/>
          </a:ln>
        </p:spPr>
      </p:sp>
      <p:sp>
        <p:nvSpPr>
          <p:cNvPr id="22" name="Text 20"/>
          <p:cNvSpPr/>
          <p:nvPr/>
        </p:nvSpPr>
        <p:spPr>
          <a:xfrm>
            <a:off x="5029200" y="184708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Dictionary hunt</a:t>
            </a:r>
            <a:endParaRPr lang="en-US" sz="1100" dirty="0"/>
          </a:p>
        </p:txBody>
      </p:sp>
      <p:sp>
        <p:nvSpPr>
          <p:cNvPr id="23" name="Text 21"/>
          <p:cNvSpPr/>
          <p:nvPr/>
        </p:nvSpPr>
        <p:spPr>
          <a:xfrm>
            <a:off x="5029200" y="212140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Open middle, go left/right half. 10 words → 4 steps.</a:t>
            </a:r>
            <a:endParaRPr lang="en-US" sz="1000" dirty="0"/>
          </a:p>
        </p:txBody>
      </p:sp>
      <p:sp>
        <p:nvSpPr>
          <p:cNvPr id="24" name="Shape 22"/>
          <p:cNvSpPr/>
          <p:nvPr/>
        </p:nvSpPr>
        <p:spPr>
          <a:xfrm>
            <a:off x="4892040" y="2679192"/>
            <a:ext cx="3566160" cy="749808"/>
          </a:xfrm>
          <a:prstGeom prst="roundRect">
            <a:avLst>
              <a:gd name="adj" fmla="val 8537"/>
            </a:avLst>
          </a:prstGeom>
          <a:solidFill>
            <a:srgbClr val="1A2B3C"/>
          </a:solidFill>
          <a:ln w="12700">
            <a:solidFill>
              <a:srgbClr val="F59E0B">
                <a:alpha val="40000"/>
              </a:srgbClr>
            </a:solidFill>
            <a:prstDash val="solid"/>
          </a:ln>
        </p:spPr>
      </p:sp>
      <p:sp>
        <p:nvSpPr>
          <p:cNvPr id="25" name="Text 23"/>
          <p:cNvSpPr/>
          <p:nvPr/>
        </p:nvSpPr>
        <p:spPr>
          <a:xfrm>
            <a:off x="5029200" y="271576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Hospital OPD token</a:t>
            </a:r>
            <a:endParaRPr lang="en-US" sz="1100" dirty="0"/>
          </a:p>
        </p:txBody>
      </p:sp>
      <p:sp>
        <p:nvSpPr>
          <p:cNvPr id="26" name="Text 24"/>
          <p:cNvSpPr/>
          <p:nvPr/>
        </p:nvSpPr>
        <p:spPr>
          <a:xfrm>
            <a:off x="5029200" y="299008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Find token 347 in 280 waiting — only 8 steps!</a:t>
            </a:r>
            <a:endParaRPr lang="en-US" sz="1000" dirty="0"/>
          </a:p>
        </p:txBody>
      </p:sp>
      <p:sp>
        <p:nvSpPr>
          <p:cNvPr id="27" name="Shape 25"/>
          <p:cNvSpPr/>
          <p:nvPr/>
        </p:nvSpPr>
        <p:spPr>
          <a:xfrm>
            <a:off x="4892040" y="3547872"/>
            <a:ext cx="3566160" cy="749808"/>
          </a:xfrm>
          <a:prstGeom prst="roundRect">
            <a:avLst>
              <a:gd name="adj" fmla="val 8537"/>
            </a:avLst>
          </a:prstGeom>
          <a:solidFill>
            <a:srgbClr val="1A2B3C"/>
          </a:solidFill>
          <a:ln w="12700">
            <a:solidFill>
              <a:srgbClr val="F59E0B">
                <a:alpha val="40000"/>
              </a:srgbClr>
            </a:solidFill>
            <a:prstDash val="solid"/>
          </a:ln>
        </p:spPr>
      </p:sp>
      <p:sp>
        <p:nvSpPr>
          <p:cNvPr id="28" name="Text 26"/>
          <p:cNvSpPr/>
          <p:nvPr/>
        </p:nvSpPr>
        <p:spPr>
          <a:xfrm>
            <a:off x="5029200" y="3584448"/>
            <a:ext cx="333756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Flipkart price filter</a:t>
            </a:r>
            <a:endParaRPr lang="en-US" sz="1100" dirty="0"/>
          </a:p>
        </p:txBody>
      </p:sp>
      <p:sp>
        <p:nvSpPr>
          <p:cNvPr id="29" name="Text 27"/>
          <p:cNvSpPr/>
          <p:nvPr/>
        </p:nvSpPr>
        <p:spPr>
          <a:xfrm>
            <a:off x="5029200" y="3858768"/>
            <a:ext cx="333756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Find first laptop ≥ ₹50,000 using lower bound.</a:t>
            </a:r>
            <a:endParaRPr lang="en-US" sz="1000" dirty="0"/>
          </a:p>
        </p:txBody>
      </p:sp>
      <p:sp>
        <p:nvSpPr>
          <p:cNvPr id="30" name="Shape 28"/>
          <p:cNvSpPr/>
          <p:nvPr/>
        </p:nvSpPr>
        <p:spPr>
          <a:xfrm>
            <a:off x="4892040" y="4434840"/>
            <a:ext cx="3566160" cy="347472"/>
          </a:xfrm>
          <a:prstGeom prst="roundRect">
            <a:avLst>
              <a:gd name="adj" fmla="val 18421"/>
            </a:avLst>
          </a:prstGeom>
          <a:solidFill>
            <a:srgbClr val="F59E0B">
              <a:alpha val="18000"/>
            </a:srgbClr>
          </a:solidFill>
          <a:ln w="12700">
            <a:solidFill>
              <a:srgbClr val="F59E0B"/>
            </a:solidFill>
            <a:prstDash val="solid"/>
          </a:ln>
        </p:spPr>
      </p:sp>
      <p:sp>
        <p:nvSpPr>
          <p:cNvPr id="31" name="Text 29"/>
          <p:cNvSpPr/>
          <p:nvPr/>
        </p:nvSpPr>
        <p:spPr>
          <a:xfrm>
            <a:off x="4892040" y="4434840"/>
            <a:ext cx="3566160" cy="347472"/>
          </a:xfrm>
          <a:prstGeom prst="rect">
            <a:avLst/>
          </a:prstGeom>
          <a:noFill/>
          <a:ln/>
        </p:spPr>
        <p:txBody>
          <a:bodyPr wrap="square" lIns="0" tIns="0" rIns="0" bIns="0" rtlCol="0" anchor="ctr"/>
          <a:lstStyle/>
          <a:p>
            <a:pPr algn="ctr" indent="0" marL="0">
              <a:buNone/>
            </a:pPr>
            <a:r>
              <a:rPr lang="en-US" sz="1050" dirty="0">
                <a:solidFill>
                  <a:srgbClr val="FCD34D"/>
                </a:solidFill>
                <a:latin typeface="Calibri" pitchFamily="34" charset="0"/>
                <a:ea typeface="Calibri" pitchFamily="34" charset="-122"/>
                <a:cs typeface="Calibri" pitchFamily="34" charset="-120"/>
              </a:rPr>
              <a:t>1M elements → only 20 steps!  log₂(1,000,000) ≈ 20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923"/>
          </a:solidFill>
          <a:ln w="12700">
            <a:solidFill>
              <a:srgbClr val="0F1923"/>
            </a:solidFill>
            <a:prstDash val="solid"/>
          </a:ln>
        </p:spPr>
      </p:sp>
      <p:sp>
        <p:nvSpPr>
          <p:cNvPr id="3" name="Text 1"/>
          <p:cNvSpPr/>
          <p:nvPr/>
        </p:nvSpPr>
        <p:spPr>
          <a:xfrm>
            <a:off x="365760" y="91440"/>
            <a:ext cx="8412480" cy="713232"/>
          </a:xfrm>
          <a:prstGeom prst="rect">
            <a:avLst/>
          </a:prstGeom>
          <a:noFill/>
          <a:ln/>
        </p:spPr>
        <p:txBody>
          <a:bodyPr wrap="square" rtlCol="0" anchor="ctr"/>
          <a:lstStyle/>
          <a:p>
            <a:pPr indent="0" marL="0">
              <a:buNone/>
            </a:pPr>
            <a:r>
              <a:rPr lang="en-US" sz="2600" b="1" dirty="0">
                <a:solidFill>
                  <a:srgbClr val="FCD34D"/>
                </a:solidFill>
                <a:latin typeface="Calibri" pitchFamily="34" charset="0"/>
                <a:ea typeface="Calibri" pitchFamily="34" charset="-122"/>
                <a:cs typeface="Calibri" pitchFamily="34" charset="-120"/>
              </a:rPr>
              <a:t>Binary Search — 3 Variants</a:t>
            </a:r>
            <a:endParaRPr lang="en-US" sz="2600" dirty="0"/>
          </a:p>
        </p:txBody>
      </p:sp>
      <p:sp>
        <p:nvSpPr>
          <p:cNvPr id="4" name="Shape 2"/>
          <p:cNvSpPr/>
          <p:nvPr/>
        </p:nvSpPr>
        <p:spPr>
          <a:xfrm>
            <a:off x="274320" y="987552"/>
            <a:ext cx="2788920" cy="3931920"/>
          </a:xfrm>
          <a:prstGeom prst="roundRect">
            <a:avLst>
              <a:gd name="adj" fmla="val 3934"/>
            </a:avLst>
          </a:prstGeom>
          <a:solidFill>
            <a:srgbClr val="FFFFFF"/>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5" name="Shape 3"/>
          <p:cNvSpPr/>
          <p:nvPr/>
        </p:nvSpPr>
        <p:spPr>
          <a:xfrm>
            <a:off x="384048" y="1078992"/>
            <a:ext cx="2578608" cy="384048"/>
          </a:xfrm>
          <a:prstGeom prst="roundRect">
            <a:avLst>
              <a:gd name="adj" fmla="val 16667"/>
            </a:avLst>
          </a:prstGeom>
          <a:solidFill>
            <a:srgbClr val="F59E0B">
              <a:alpha val="85000"/>
            </a:srgbClr>
          </a:solidFill>
          <a:ln w="12700">
            <a:solidFill>
              <a:srgbClr val="F59E0B"/>
            </a:solidFill>
            <a:prstDash val="solid"/>
          </a:ln>
        </p:spPr>
      </p:sp>
      <p:sp>
        <p:nvSpPr>
          <p:cNvPr id="6" name="Text 4"/>
          <p:cNvSpPr/>
          <p:nvPr/>
        </p:nvSpPr>
        <p:spPr>
          <a:xfrm>
            <a:off x="384048" y="1078992"/>
            <a:ext cx="25786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Standard Binary Search</a:t>
            </a:r>
            <a:endParaRPr lang="en-US" sz="1200" dirty="0"/>
          </a:p>
        </p:txBody>
      </p:sp>
      <p:sp>
        <p:nvSpPr>
          <p:cNvPr id="7" name="Text 5"/>
          <p:cNvSpPr/>
          <p:nvPr/>
        </p:nvSpPr>
        <p:spPr>
          <a:xfrm>
            <a:off x="384048" y="1508760"/>
            <a:ext cx="2578608" cy="274320"/>
          </a:xfrm>
          <a:prstGeom prst="rect">
            <a:avLst/>
          </a:prstGeom>
          <a:noFill/>
          <a:ln/>
        </p:spPr>
        <p:txBody>
          <a:bodyPr wrap="square" rtlCol="0" anchor="ctr"/>
          <a:lstStyle/>
          <a:p>
            <a:pPr indent="0" marL="0">
              <a:buNone/>
            </a:pPr>
            <a:r>
              <a:rPr lang="en-US" sz="1050" i="1" dirty="0">
                <a:solidFill>
                  <a:srgbClr val="F59E0B"/>
                </a:solidFill>
                <a:latin typeface="Calibri" pitchFamily="34" charset="0"/>
                <a:ea typeface="Calibri" pitchFamily="34" charset="-122"/>
                <a:cs typeface="Calibri" pitchFamily="34" charset="-120"/>
              </a:rPr>
              <a:t>Exact match — find target</a:t>
            </a:r>
            <a:endParaRPr lang="en-US" sz="1050" dirty="0"/>
          </a:p>
        </p:txBody>
      </p:sp>
      <p:sp>
        <p:nvSpPr>
          <p:cNvPr id="8" name="Text 6"/>
          <p:cNvSpPr/>
          <p:nvPr/>
        </p:nvSpPr>
        <p:spPr>
          <a:xfrm>
            <a:off x="384048" y="1810512"/>
            <a:ext cx="2578608"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Dictionary: open middle, check, go left or right.</a:t>
            </a:r>
            <a:endParaRPr lang="en-US" sz="1050" dirty="0"/>
          </a:p>
        </p:txBody>
      </p:sp>
      <p:sp>
        <p:nvSpPr>
          <p:cNvPr id="9" name="Shape 7"/>
          <p:cNvSpPr/>
          <p:nvPr/>
        </p:nvSpPr>
        <p:spPr>
          <a:xfrm>
            <a:off x="384048" y="2331720"/>
            <a:ext cx="2578608" cy="1207008"/>
          </a:xfrm>
          <a:prstGeom prst="roundRect">
            <a:avLst>
              <a:gd name="adj" fmla="val 5303"/>
            </a:avLst>
          </a:prstGeom>
          <a:solidFill>
            <a:srgbClr val="0F1923"/>
          </a:solidFill>
          <a:ln w="12700">
            <a:solidFill>
              <a:srgbClr val="F59E0B">
                <a:alpha val="50000"/>
              </a:srgbClr>
            </a:solidFill>
            <a:prstDash val="solid"/>
          </a:ln>
        </p:spPr>
      </p:sp>
      <p:sp>
        <p:nvSpPr>
          <p:cNvPr id="10" name="Text 8"/>
          <p:cNvSpPr/>
          <p:nvPr/>
        </p:nvSpPr>
        <p:spPr>
          <a:xfrm>
            <a:off x="438912" y="2395728"/>
            <a:ext cx="2487168" cy="1078992"/>
          </a:xfrm>
          <a:prstGeom prst="rect">
            <a:avLst/>
          </a:prstGeom>
          <a:noFill/>
          <a:ln/>
        </p:spPr>
        <p:txBody>
          <a:bodyPr wrap="square" rtlCol="0" anchor="ctr"/>
          <a:lstStyle/>
          <a:p>
            <a:pPr indent="0" marL="0">
              <a:buNone/>
            </a:pPr>
            <a:r>
              <a:rPr lang="en-US" sz="950" dirty="0">
                <a:solidFill>
                  <a:srgbClr val="FCD34D"/>
                </a:solidFill>
                <a:latin typeface="Courier New" pitchFamily="34" charset="0"/>
                <a:ea typeface="Courier New" pitchFamily="34" charset="-122"/>
                <a:cs typeface="Courier New" pitchFamily="34" charset="-120"/>
              </a:rPr>
              <a:t>mid = (lo + hi) // 2</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if arr[mid] == target: return mid</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elif arr[mid] &lt; target: lo = mid + 1</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else: hi = mid - 1</a:t>
            </a:r>
            <a:endParaRPr lang="en-US" sz="950" dirty="0"/>
          </a:p>
        </p:txBody>
      </p:sp>
      <p:sp>
        <p:nvSpPr>
          <p:cNvPr id="11" name="Text 9"/>
          <p:cNvSpPr/>
          <p:nvPr/>
        </p:nvSpPr>
        <p:spPr>
          <a:xfrm>
            <a:off x="384048" y="3611880"/>
            <a:ext cx="2578608"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When to use:</a:t>
            </a:r>
            <a:endParaRPr lang="en-US" sz="1000" dirty="0"/>
          </a:p>
        </p:txBody>
      </p:sp>
      <p:sp>
        <p:nvSpPr>
          <p:cNvPr id="12" name="Text 10"/>
          <p:cNvSpPr/>
          <p:nvPr/>
        </p:nvSpPr>
        <p:spPr>
          <a:xfrm>
            <a:off x="384048" y="3858768"/>
            <a:ext cx="2578608" cy="438912"/>
          </a:xfrm>
          <a:prstGeom prst="rect">
            <a:avLst/>
          </a:prstGeom>
          <a:noFill/>
          <a:ln/>
        </p:spPr>
        <p:txBody>
          <a:bodyPr wrap="square" rtlCol="0" anchor="ctr"/>
          <a:lstStyle/>
          <a:p>
            <a:pPr indent="0" marL="0">
              <a:buNone/>
            </a:pPr>
            <a:r>
              <a:rPr lang="en-US" sz="1050" dirty="0">
                <a:solidFill>
                  <a:srgbClr val="F59E0B"/>
                </a:solidFill>
                <a:latin typeface="Calibri" pitchFamily="34" charset="0"/>
                <a:ea typeface="Calibri" pitchFamily="34" charset="-122"/>
                <a:cs typeface="Calibri" pitchFamily="34" charset="-120"/>
              </a:rPr>
              <a:t>Find exact token / word / product ID</a:t>
            </a:r>
            <a:endParaRPr lang="en-US" sz="1050" dirty="0"/>
          </a:p>
        </p:txBody>
      </p:sp>
      <p:sp>
        <p:nvSpPr>
          <p:cNvPr id="13" name="Shape 11"/>
          <p:cNvSpPr/>
          <p:nvPr/>
        </p:nvSpPr>
        <p:spPr>
          <a:xfrm>
            <a:off x="3246120" y="987552"/>
            <a:ext cx="2788920" cy="3931920"/>
          </a:xfrm>
          <a:prstGeom prst="roundRect">
            <a:avLst>
              <a:gd name="adj" fmla="val 3934"/>
            </a:avLst>
          </a:prstGeom>
          <a:solidFill>
            <a:srgbClr val="FFFFFF"/>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14" name="Shape 12"/>
          <p:cNvSpPr/>
          <p:nvPr/>
        </p:nvSpPr>
        <p:spPr>
          <a:xfrm>
            <a:off x="3355848" y="1078992"/>
            <a:ext cx="2578608" cy="384048"/>
          </a:xfrm>
          <a:prstGeom prst="roundRect">
            <a:avLst>
              <a:gd name="adj" fmla="val 16667"/>
            </a:avLst>
          </a:prstGeom>
          <a:solidFill>
            <a:srgbClr val="0D9488">
              <a:alpha val="85000"/>
            </a:srgbClr>
          </a:solidFill>
          <a:ln w="12700">
            <a:solidFill>
              <a:srgbClr val="0D9488"/>
            </a:solidFill>
            <a:prstDash val="solid"/>
          </a:ln>
        </p:spPr>
      </p:sp>
      <p:sp>
        <p:nvSpPr>
          <p:cNvPr id="15" name="Text 13"/>
          <p:cNvSpPr/>
          <p:nvPr/>
        </p:nvSpPr>
        <p:spPr>
          <a:xfrm>
            <a:off x="3355848" y="1078992"/>
            <a:ext cx="25786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Lower Bound</a:t>
            </a:r>
            <a:endParaRPr lang="en-US" sz="1200" dirty="0"/>
          </a:p>
        </p:txBody>
      </p:sp>
      <p:sp>
        <p:nvSpPr>
          <p:cNvPr id="16" name="Text 14"/>
          <p:cNvSpPr/>
          <p:nvPr/>
        </p:nvSpPr>
        <p:spPr>
          <a:xfrm>
            <a:off x="3355848" y="1508760"/>
            <a:ext cx="2578608" cy="274320"/>
          </a:xfrm>
          <a:prstGeom prst="rect">
            <a:avLst/>
          </a:prstGeom>
          <a:noFill/>
          <a:ln/>
        </p:spPr>
        <p:txBody>
          <a:bodyPr wrap="square" rtlCol="0" anchor="ctr"/>
          <a:lstStyle/>
          <a:p>
            <a:pPr indent="0" marL="0">
              <a:buNone/>
            </a:pPr>
            <a:r>
              <a:rPr lang="en-US" sz="1050" i="1" dirty="0">
                <a:solidFill>
                  <a:srgbClr val="0D9488"/>
                </a:solidFill>
                <a:latin typeface="Calibri" pitchFamily="34" charset="0"/>
                <a:ea typeface="Calibri" pitchFamily="34" charset="-122"/>
                <a:cs typeface="Calibri" pitchFamily="34" charset="-120"/>
              </a:rPr>
              <a:t>First element ≥ target</a:t>
            </a:r>
            <a:endParaRPr lang="en-US" sz="1050" dirty="0"/>
          </a:p>
        </p:txBody>
      </p:sp>
      <p:sp>
        <p:nvSpPr>
          <p:cNvPr id="17" name="Text 15"/>
          <p:cNvSpPr/>
          <p:nvPr/>
        </p:nvSpPr>
        <p:spPr>
          <a:xfrm>
            <a:off x="3355848" y="1810512"/>
            <a:ext cx="2578608"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Flipkart: first laptop priced ≥ ₹50,000 in sorted list.</a:t>
            </a:r>
            <a:endParaRPr lang="en-US" sz="1050" dirty="0"/>
          </a:p>
        </p:txBody>
      </p:sp>
      <p:sp>
        <p:nvSpPr>
          <p:cNvPr id="18" name="Shape 16"/>
          <p:cNvSpPr/>
          <p:nvPr/>
        </p:nvSpPr>
        <p:spPr>
          <a:xfrm>
            <a:off x="3355848" y="2331720"/>
            <a:ext cx="2578608" cy="1207008"/>
          </a:xfrm>
          <a:prstGeom prst="roundRect">
            <a:avLst>
              <a:gd name="adj" fmla="val 5303"/>
            </a:avLst>
          </a:prstGeom>
          <a:solidFill>
            <a:srgbClr val="0F1923"/>
          </a:solidFill>
          <a:ln w="12700">
            <a:solidFill>
              <a:srgbClr val="0D9488">
                <a:alpha val="50000"/>
              </a:srgbClr>
            </a:solidFill>
            <a:prstDash val="solid"/>
          </a:ln>
        </p:spPr>
      </p:sp>
      <p:sp>
        <p:nvSpPr>
          <p:cNvPr id="19" name="Text 17"/>
          <p:cNvSpPr/>
          <p:nvPr/>
        </p:nvSpPr>
        <p:spPr>
          <a:xfrm>
            <a:off x="3410712" y="2395728"/>
            <a:ext cx="2487168" cy="1078992"/>
          </a:xfrm>
          <a:prstGeom prst="rect">
            <a:avLst/>
          </a:prstGeom>
          <a:noFill/>
          <a:ln/>
        </p:spPr>
        <p:txBody>
          <a:bodyPr wrap="square" rtlCol="0" anchor="ctr"/>
          <a:lstStyle/>
          <a:p>
            <a:pPr indent="0" marL="0">
              <a:buNone/>
            </a:pPr>
            <a:r>
              <a:rPr lang="en-US" sz="950" dirty="0">
                <a:solidFill>
                  <a:srgbClr val="FCD34D"/>
                </a:solidFill>
                <a:latin typeface="Courier New" pitchFamily="34" charset="0"/>
                <a:ea typeface="Courier New" pitchFamily="34" charset="-122"/>
                <a:cs typeface="Courier New" pitchFamily="34" charset="-120"/>
              </a:rPr>
              <a:t>if arr[mid] &gt;= target:</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  result = mid</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  hi = mid - 1  # go left, find earlier</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else: lo = mid + 1</a:t>
            </a:r>
            <a:endParaRPr lang="en-US" sz="950" dirty="0"/>
          </a:p>
        </p:txBody>
      </p:sp>
      <p:sp>
        <p:nvSpPr>
          <p:cNvPr id="20" name="Text 18"/>
          <p:cNvSpPr/>
          <p:nvPr/>
        </p:nvSpPr>
        <p:spPr>
          <a:xfrm>
            <a:off x="3355848" y="3611880"/>
            <a:ext cx="2578608"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When to use:</a:t>
            </a:r>
            <a:endParaRPr lang="en-US" sz="1000" dirty="0"/>
          </a:p>
        </p:txBody>
      </p:sp>
      <p:sp>
        <p:nvSpPr>
          <p:cNvPr id="21" name="Text 19"/>
          <p:cNvSpPr/>
          <p:nvPr/>
        </p:nvSpPr>
        <p:spPr>
          <a:xfrm>
            <a:off x="3355848" y="3858768"/>
            <a:ext cx="2578608" cy="438912"/>
          </a:xfrm>
          <a:prstGeom prst="rect">
            <a:avLst/>
          </a:prstGeom>
          <a:noFill/>
          <a:ln/>
        </p:spPr>
        <p:txBody>
          <a:bodyPr wrap="square" rtlCol="0" anchor="ctr"/>
          <a:lstStyle/>
          <a:p>
            <a:pPr indent="0" marL="0">
              <a:buNone/>
            </a:pPr>
            <a:r>
              <a:rPr lang="en-US" sz="1050" dirty="0">
                <a:solidFill>
                  <a:srgbClr val="0D9488"/>
                </a:solidFill>
                <a:latin typeface="Calibri" pitchFamily="34" charset="0"/>
                <a:ea typeface="Calibri" pitchFamily="34" charset="-122"/>
                <a:cs typeface="Calibri" pitchFamily="34" charset="-120"/>
              </a:rPr>
              <a:t>Flipkart filter, database range queries</a:t>
            </a:r>
            <a:endParaRPr lang="en-US" sz="1050" dirty="0"/>
          </a:p>
        </p:txBody>
      </p:sp>
      <p:sp>
        <p:nvSpPr>
          <p:cNvPr id="22" name="Shape 20"/>
          <p:cNvSpPr/>
          <p:nvPr/>
        </p:nvSpPr>
        <p:spPr>
          <a:xfrm>
            <a:off x="6217920" y="987552"/>
            <a:ext cx="2788920" cy="3931920"/>
          </a:xfrm>
          <a:prstGeom prst="roundRect">
            <a:avLst>
              <a:gd name="adj" fmla="val 3934"/>
            </a:avLst>
          </a:prstGeom>
          <a:solidFill>
            <a:srgbClr val="FFFFFF"/>
          </a:solidFill>
          <a:ln w="12700">
            <a:solidFill>
              <a:srgbClr val="F43F5E"/>
            </a:solidFill>
            <a:prstDash val="solid"/>
          </a:ln>
          <a:effectLst>
            <a:outerShdw sx="100000" sy="100000" kx="0" ky="0" algn="bl" rotWithShape="0" blurRad="101600" dist="38100" dir="2700000">
              <a:srgbClr val="000000">
                <a:alpha val="22000"/>
              </a:srgbClr>
            </a:outerShdw>
          </a:effectLst>
        </p:spPr>
      </p:sp>
      <p:sp>
        <p:nvSpPr>
          <p:cNvPr id="23" name="Shape 21"/>
          <p:cNvSpPr/>
          <p:nvPr/>
        </p:nvSpPr>
        <p:spPr>
          <a:xfrm>
            <a:off x="6327648" y="1078992"/>
            <a:ext cx="2578608" cy="384048"/>
          </a:xfrm>
          <a:prstGeom prst="roundRect">
            <a:avLst>
              <a:gd name="adj" fmla="val 16667"/>
            </a:avLst>
          </a:prstGeom>
          <a:solidFill>
            <a:srgbClr val="F43F5E">
              <a:alpha val="85000"/>
            </a:srgbClr>
          </a:solidFill>
          <a:ln w="12700">
            <a:solidFill>
              <a:srgbClr val="F43F5E"/>
            </a:solidFill>
            <a:prstDash val="solid"/>
          </a:ln>
        </p:spPr>
      </p:sp>
      <p:sp>
        <p:nvSpPr>
          <p:cNvPr id="24" name="Text 22"/>
          <p:cNvSpPr/>
          <p:nvPr/>
        </p:nvSpPr>
        <p:spPr>
          <a:xfrm>
            <a:off x="6327648" y="1078992"/>
            <a:ext cx="25786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Upper Bound</a:t>
            </a:r>
            <a:endParaRPr lang="en-US" sz="1200" dirty="0"/>
          </a:p>
        </p:txBody>
      </p:sp>
      <p:sp>
        <p:nvSpPr>
          <p:cNvPr id="25" name="Text 23"/>
          <p:cNvSpPr/>
          <p:nvPr/>
        </p:nvSpPr>
        <p:spPr>
          <a:xfrm>
            <a:off x="6327648" y="1508760"/>
            <a:ext cx="2578608" cy="274320"/>
          </a:xfrm>
          <a:prstGeom prst="rect">
            <a:avLst/>
          </a:prstGeom>
          <a:noFill/>
          <a:ln/>
        </p:spPr>
        <p:txBody>
          <a:bodyPr wrap="square" rtlCol="0" anchor="ctr"/>
          <a:lstStyle/>
          <a:p>
            <a:pPr indent="0" marL="0">
              <a:buNone/>
            </a:pPr>
            <a:r>
              <a:rPr lang="en-US" sz="1050" i="1" dirty="0">
                <a:solidFill>
                  <a:srgbClr val="F43F5E"/>
                </a:solidFill>
                <a:latin typeface="Calibri" pitchFamily="34" charset="0"/>
                <a:ea typeface="Calibri" pitchFamily="34" charset="-122"/>
                <a:cs typeface="Calibri" pitchFamily="34" charset="-120"/>
              </a:rPr>
              <a:t>Last element ≤ target</a:t>
            </a:r>
            <a:endParaRPr lang="en-US" sz="1050" dirty="0"/>
          </a:p>
        </p:txBody>
      </p:sp>
      <p:sp>
        <p:nvSpPr>
          <p:cNvPr id="26" name="Text 24"/>
          <p:cNvSpPr/>
          <p:nvPr/>
        </p:nvSpPr>
        <p:spPr>
          <a:xfrm>
            <a:off x="6327648" y="1810512"/>
            <a:ext cx="2578608"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Find last day with stock price ≤ ₹500.</a:t>
            </a:r>
            <a:endParaRPr lang="en-US" sz="1050" dirty="0"/>
          </a:p>
        </p:txBody>
      </p:sp>
      <p:sp>
        <p:nvSpPr>
          <p:cNvPr id="27" name="Shape 25"/>
          <p:cNvSpPr/>
          <p:nvPr/>
        </p:nvSpPr>
        <p:spPr>
          <a:xfrm>
            <a:off x="6327648" y="2331720"/>
            <a:ext cx="2578608" cy="1207008"/>
          </a:xfrm>
          <a:prstGeom prst="roundRect">
            <a:avLst>
              <a:gd name="adj" fmla="val 5303"/>
            </a:avLst>
          </a:prstGeom>
          <a:solidFill>
            <a:srgbClr val="0F1923"/>
          </a:solidFill>
          <a:ln w="12700">
            <a:solidFill>
              <a:srgbClr val="F43F5E">
                <a:alpha val="50000"/>
              </a:srgbClr>
            </a:solidFill>
            <a:prstDash val="solid"/>
          </a:ln>
        </p:spPr>
      </p:sp>
      <p:sp>
        <p:nvSpPr>
          <p:cNvPr id="28" name="Text 26"/>
          <p:cNvSpPr/>
          <p:nvPr/>
        </p:nvSpPr>
        <p:spPr>
          <a:xfrm>
            <a:off x="6382512" y="2395728"/>
            <a:ext cx="2487168" cy="1078992"/>
          </a:xfrm>
          <a:prstGeom prst="rect">
            <a:avLst/>
          </a:prstGeom>
          <a:noFill/>
          <a:ln/>
        </p:spPr>
        <p:txBody>
          <a:bodyPr wrap="square" rtlCol="0" anchor="ctr"/>
          <a:lstStyle/>
          <a:p>
            <a:pPr indent="0" marL="0">
              <a:buNone/>
            </a:pPr>
            <a:r>
              <a:rPr lang="en-US" sz="950" dirty="0">
                <a:solidFill>
                  <a:srgbClr val="FCD34D"/>
                </a:solidFill>
                <a:latin typeface="Courier New" pitchFamily="34" charset="0"/>
                <a:ea typeface="Courier New" pitchFamily="34" charset="-122"/>
                <a:cs typeface="Courier New" pitchFamily="34" charset="-120"/>
              </a:rPr>
              <a:t>if arr[mid] &lt;= target:</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  result = mid</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  lo = mid + 1  # go right, find later</a:t>
            </a:r>
            <a:endParaRPr lang="en-US" sz="950" dirty="0"/>
          </a:p>
          <a:p>
            <a:pPr indent="0" marL="0">
              <a:buNone/>
            </a:pPr>
            <a:r>
              <a:rPr lang="en-US" sz="950" dirty="0">
                <a:solidFill>
                  <a:srgbClr val="FCD34D"/>
                </a:solidFill>
                <a:latin typeface="Courier New" pitchFamily="34" charset="0"/>
                <a:ea typeface="Courier New" pitchFamily="34" charset="-122"/>
                <a:cs typeface="Courier New" pitchFamily="34" charset="-120"/>
              </a:rPr>
              <a:t>else: hi = mid - 1</a:t>
            </a:r>
            <a:endParaRPr lang="en-US" sz="950" dirty="0"/>
          </a:p>
        </p:txBody>
      </p:sp>
      <p:sp>
        <p:nvSpPr>
          <p:cNvPr id="29" name="Text 27"/>
          <p:cNvSpPr/>
          <p:nvPr/>
        </p:nvSpPr>
        <p:spPr>
          <a:xfrm>
            <a:off x="6327648" y="3611880"/>
            <a:ext cx="2578608" cy="256032"/>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When to use:</a:t>
            </a:r>
            <a:endParaRPr lang="en-US" sz="1000" dirty="0"/>
          </a:p>
        </p:txBody>
      </p:sp>
      <p:sp>
        <p:nvSpPr>
          <p:cNvPr id="30" name="Text 28"/>
          <p:cNvSpPr/>
          <p:nvPr/>
        </p:nvSpPr>
        <p:spPr>
          <a:xfrm>
            <a:off x="6327648" y="3858768"/>
            <a:ext cx="2578608" cy="438912"/>
          </a:xfrm>
          <a:prstGeom prst="rect">
            <a:avLst/>
          </a:prstGeom>
          <a:noFill/>
          <a:ln/>
        </p:spPr>
        <p:txBody>
          <a:bodyPr wrap="square" rtlCol="0" anchor="ctr"/>
          <a:lstStyle/>
          <a:p>
            <a:pPr indent="0" marL="0">
              <a:buNone/>
            </a:pPr>
            <a:r>
              <a:rPr lang="en-US" sz="1050" dirty="0">
                <a:solidFill>
                  <a:srgbClr val="F43F5E"/>
                </a:solidFill>
                <a:latin typeface="Calibri" pitchFamily="34" charset="0"/>
                <a:ea typeface="Calibri" pitchFamily="34" charset="-122"/>
                <a:cs typeface="Calibri" pitchFamily="34" charset="-120"/>
              </a:rPr>
              <a:t>Count elements in range = upper − lower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F59E0B"/>
          </a:solidFill>
          <a:ln w="12700">
            <a:solidFill>
              <a:srgbClr val="F59E0B"/>
            </a:solidFill>
            <a:prstDash val="solid"/>
          </a:ln>
        </p:spPr>
      </p:sp>
      <p:sp>
        <p:nvSpPr>
          <p:cNvPr id="3" name="Text 1"/>
          <p:cNvSpPr/>
          <p:nvPr/>
        </p:nvSpPr>
        <p:spPr>
          <a:xfrm>
            <a:off x="365760" y="91440"/>
            <a:ext cx="8229600" cy="713232"/>
          </a:xfrm>
          <a:prstGeom prst="rect">
            <a:avLst/>
          </a:prstGeom>
          <a:noFill/>
          <a:ln/>
        </p:spPr>
        <p:txBody>
          <a:bodyPr wrap="square" rtlCol="0" anchor="ctr"/>
          <a:lstStyle/>
          <a:p>
            <a:pPr indent="0" marL="0">
              <a:buNone/>
            </a:pPr>
            <a:r>
              <a:rPr lang="en-US" sz="2600" b="1" dirty="0">
                <a:solidFill>
                  <a:srgbClr val="0F1923"/>
                </a:solidFill>
                <a:latin typeface="Calibri" pitchFamily="34" charset="0"/>
                <a:ea typeface="Calibri" pitchFamily="34" charset="-122"/>
                <a:cs typeface="Calibri" pitchFamily="34" charset="-120"/>
              </a:rPr>
              <a:t>Placement Questions — Sorting</a:t>
            </a:r>
            <a:endParaRPr lang="en-US" sz="2600" dirty="0"/>
          </a:p>
        </p:txBody>
      </p:sp>
      <p:sp>
        <p:nvSpPr>
          <p:cNvPr id="4" name="Shape 2"/>
          <p:cNvSpPr/>
          <p:nvPr/>
        </p:nvSpPr>
        <p:spPr>
          <a:xfrm>
            <a:off x="274320" y="987552"/>
            <a:ext cx="2788920" cy="1901952"/>
          </a:xfrm>
          <a:prstGeom prst="roundRect">
            <a:avLst>
              <a:gd name="adj" fmla="val 4808"/>
            </a:avLst>
          </a:prstGeom>
          <a:solidFill>
            <a:srgbClr val="243447"/>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5" name="Shape 3"/>
          <p:cNvSpPr/>
          <p:nvPr/>
        </p:nvSpPr>
        <p:spPr>
          <a:xfrm>
            <a:off x="384048" y="1078992"/>
            <a:ext cx="384048" cy="384048"/>
          </a:xfrm>
          <a:prstGeom prst="ellipse">
            <a:avLst/>
          </a:prstGeom>
          <a:solidFill>
            <a:srgbClr val="0D9488"/>
          </a:solidFill>
          <a:ln w="12700">
            <a:solidFill>
              <a:srgbClr val="0D9488"/>
            </a:solidFill>
            <a:prstDash val="solid"/>
          </a:ln>
        </p:spPr>
      </p:sp>
      <p:sp>
        <p:nvSpPr>
          <p:cNvPr id="6" name="Text 4"/>
          <p:cNvSpPr/>
          <p:nvPr/>
        </p:nvSpPr>
        <p:spPr>
          <a:xfrm>
            <a:off x="384048" y="10789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841248" y="1097280"/>
            <a:ext cx="2057400" cy="320040"/>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Bubble Sort</a:t>
            </a:r>
            <a:endParaRPr lang="en-US" sz="1050" dirty="0"/>
          </a:p>
        </p:txBody>
      </p:sp>
      <p:sp>
        <p:nvSpPr>
          <p:cNvPr id="8" name="Text 6"/>
          <p:cNvSpPr/>
          <p:nvPr/>
        </p:nvSpPr>
        <p:spPr>
          <a:xfrm>
            <a:off x="384048" y="1444752"/>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Sibling Packing Books by Weight</a:t>
            </a:r>
            <a:endParaRPr lang="en-US" sz="1100" dirty="0"/>
          </a:p>
        </p:txBody>
      </p:sp>
      <p:sp>
        <p:nvSpPr>
          <p:cNvPr id="9" name="Text 7"/>
          <p:cNvSpPr/>
          <p:nvPr/>
        </p:nvSpPr>
        <p:spPr>
          <a:xfrm>
            <a:off x="384048" y="1737360"/>
            <a:ext cx="2560320" cy="47548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Sort a list of books by weight so heaviest goes to the bottom of the bag. Detect if the bag is already sorted in one pass.</a:t>
            </a:r>
            <a:endParaRPr lang="en-US" sz="950" dirty="0"/>
          </a:p>
        </p:txBody>
      </p:sp>
      <p:sp>
        <p:nvSpPr>
          <p:cNvPr id="10" name="Text 8"/>
          <p:cNvSpPr/>
          <p:nvPr/>
        </p:nvSpPr>
        <p:spPr>
          <a:xfrm>
            <a:off x="384048" y="2231136"/>
            <a:ext cx="2560320" cy="347472"/>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If no swap in a full pass → already sorted. Return early. O(n) best case.</a:t>
            </a:r>
            <a:endParaRPr lang="en-US" sz="900" dirty="0"/>
          </a:p>
        </p:txBody>
      </p:sp>
      <p:sp>
        <p:nvSpPr>
          <p:cNvPr id="11" name="Text 9"/>
          <p:cNvSpPr/>
          <p:nvPr/>
        </p:nvSpPr>
        <p:spPr>
          <a:xfrm>
            <a:off x="384048" y="2596896"/>
            <a:ext cx="2560320" cy="228600"/>
          </a:xfrm>
          <a:prstGeom prst="rect">
            <a:avLst/>
          </a:prstGeom>
          <a:noFill/>
          <a:ln/>
        </p:spPr>
        <p:txBody>
          <a:bodyPr wrap="square" rtlCol="0" anchor="ctr"/>
          <a:lstStyle/>
          <a:p>
            <a:pPr indent="0" marL="0">
              <a:buNone/>
            </a:pPr>
            <a:r>
              <a:rPr lang="en-US" sz="900" dirty="0">
                <a:solidFill>
                  <a:srgbClr val="0D9488"/>
                </a:solidFill>
                <a:latin typeface="Courier New" pitchFamily="34" charset="0"/>
                <a:ea typeface="Courier New" pitchFamily="34" charset="-122"/>
                <a:cs typeface="Courier New" pitchFamily="34" charset="-120"/>
              </a:rPr>
              <a:t>O(n) best · O(n²) worst</a:t>
            </a:r>
            <a:endParaRPr lang="en-US" sz="900" dirty="0"/>
          </a:p>
        </p:txBody>
      </p:sp>
      <p:sp>
        <p:nvSpPr>
          <p:cNvPr id="12" name="Shape 10"/>
          <p:cNvSpPr/>
          <p:nvPr/>
        </p:nvSpPr>
        <p:spPr>
          <a:xfrm>
            <a:off x="3246120" y="987552"/>
            <a:ext cx="2788920" cy="1901952"/>
          </a:xfrm>
          <a:prstGeom prst="roundRect">
            <a:avLst>
              <a:gd name="adj" fmla="val 4808"/>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13" name="Shape 11"/>
          <p:cNvSpPr/>
          <p:nvPr/>
        </p:nvSpPr>
        <p:spPr>
          <a:xfrm>
            <a:off x="3355848" y="1078992"/>
            <a:ext cx="384048" cy="384048"/>
          </a:xfrm>
          <a:prstGeom prst="ellipse">
            <a:avLst/>
          </a:prstGeom>
          <a:solidFill>
            <a:srgbClr val="F59E0B"/>
          </a:solidFill>
          <a:ln w="12700">
            <a:solidFill>
              <a:srgbClr val="F59E0B"/>
            </a:solidFill>
            <a:prstDash val="solid"/>
          </a:ln>
        </p:spPr>
      </p:sp>
      <p:sp>
        <p:nvSpPr>
          <p:cNvPr id="14" name="Text 12"/>
          <p:cNvSpPr/>
          <p:nvPr/>
        </p:nvSpPr>
        <p:spPr>
          <a:xfrm>
            <a:off x="3355848" y="10789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5" name="Text 13"/>
          <p:cNvSpPr/>
          <p:nvPr/>
        </p:nvSpPr>
        <p:spPr>
          <a:xfrm>
            <a:off x="3813048" y="1097280"/>
            <a:ext cx="2057400" cy="320040"/>
          </a:xfrm>
          <a:prstGeom prst="rect">
            <a:avLst/>
          </a:prstGeom>
          <a:noFill/>
          <a:ln/>
        </p:spPr>
        <p:txBody>
          <a:bodyPr wrap="square"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Selection Sort</a:t>
            </a:r>
            <a:endParaRPr lang="en-US" sz="1050" dirty="0"/>
          </a:p>
        </p:txBody>
      </p:sp>
      <p:sp>
        <p:nvSpPr>
          <p:cNvPr id="16" name="Text 14"/>
          <p:cNvSpPr/>
          <p:nvPr/>
        </p:nvSpPr>
        <p:spPr>
          <a:xfrm>
            <a:off x="3355848" y="1444752"/>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Scholarship Ranker</a:t>
            </a:r>
            <a:endParaRPr lang="en-US" sz="1100" dirty="0"/>
          </a:p>
        </p:txBody>
      </p:sp>
      <p:sp>
        <p:nvSpPr>
          <p:cNvPr id="17" name="Text 15"/>
          <p:cNvSpPr/>
          <p:nvPr/>
        </p:nvSpPr>
        <p:spPr>
          <a:xfrm>
            <a:off x="3355848" y="1737360"/>
            <a:ext cx="2560320" cy="47548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Given student marks, place them in ascending order with the minimum number of swaps. Each swap represents physically rearranging student files.</a:t>
            </a:r>
            <a:endParaRPr lang="en-US" sz="950" dirty="0"/>
          </a:p>
        </p:txBody>
      </p:sp>
      <p:sp>
        <p:nvSpPr>
          <p:cNvPr id="18" name="Text 16"/>
          <p:cNvSpPr/>
          <p:nvPr/>
        </p:nvSpPr>
        <p:spPr>
          <a:xfrm>
            <a:off x="3355848" y="2231136"/>
            <a:ext cx="2560320" cy="347472"/>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Selection sort always does exactly n swaps — ideal when swapping is expensive.</a:t>
            </a:r>
            <a:endParaRPr lang="en-US" sz="900" dirty="0"/>
          </a:p>
        </p:txBody>
      </p:sp>
      <p:sp>
        <p:nvSpPr>
          <p:cNvPr id="19" name="Text 17"/>
          <p:cNvSpPr/>
          <p:nvPr/>
        </p:nvSpPr>
        <p:spPr>
          <a:xfrm>
            <a:off x="3355848" y="2596896"/>
            <a:ext cx="2560320" cy="228600"/>
          </a:xfrm>
          <a:prstGeom prst="rect">
            <a:avLst/>
          </a:prstGeom>
          <a:noFill/>
          <a:ln/>
        </p:spPr>
        <p:txBody>
          <a:bodyPr wrap="square"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Always O(n²) comparisons · Always n swaps</a:t>
            </a:r>
            <a:endParaRPr lang="en-US" sz="900" dirty="0"/>
          </a:p>
        </p:txBody>
      </p:sp>
      <p:sp>
        <p:nvSpPr>
          <p:cNvPr id="20" name="Shape 18"/>
          <p:cNvSpPr/>
          <p:nvPr/>
        </p:nvSpPr>
        <p:spPr>
          <a:xfrm>
            <a:off x="6217920" y="987552"/>
            <a:ext cx="2788920" cy="1901952"/>
          </a:xfrm>
          <a:prstGeom prst="roundRect">
            <a:avLst>
              <a:gd name="adj" fmla="val 4808"/>
            </a:avLst>
          </a:prstGeom>
          <a:solidFill>
            <a:srgbClr val="243447"/>
          </a:solidFill>
          <a:ln w="12700">
            <a:solidFill>
              <a:srgbClr val="F43F5E"/>
            </a:solidFill>
            <a:prstDash val="solid"/>
          </a:ln>
          <a:effectLst>
            <a:outerShdw sx="100000" sy="100000" kx="0" ky="0" algn="bl" rotWithShape="0" blurRad="101600" dist="38100" dir="2700000">
              <a:srgbClr val="000000">
                <a:alpha val="22000"/>
              </a:srgbClr>
            </a:outerShdw>
          </a:effectLst>
        </p:spPr>
      </p:sp>
      <p:sp>
        <p:nvSpPr>
          <p:cNvPr id="21" name="Shape 19"/>
          <p:cNvSpPr/>
          <p:nvPr/>
        </p:nvSpPr>
        <p:spPr>
          <a:xfrm>
            <a:off x="6327648" y="1078992"/>
            <a:ext cx="384048" cy="384048"/>
          </a:xfrm>
          <a:prstGeom prst="ellipse">
            <a:avLst/>
          </a:prstGeom>
          <a:solidFill>
            <a:srgbClr val="F43F5E"/>
          </a:solidFill>
          <a:ln w="12700">
            <a:solidFill>
              <a:srgbClr val="F43F5E"/>
            </a:solidFill>
            <a:prstDash val="solid"/>
          </a:ln>
        </p:spPr>
      </p:sp>
      <p:sp>
        <p:nvSpPr>
          <p:cNvPr id="22" name="Text 20"/>
          <p:cNvSpPr/>
          <p:nvPr/>
        </p:nvSpPr>
        <p:spPr>
          <a:xfrm>
            <a:off x="6327648" y="10789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3" name="Text 21"/>
          <p:cNvSpPr/>
          <p:nvPr/>
        </p:nvSpPr>
        <p:spPr>
          <a:xfrm>
            <a:off x="6784848" y="1097280"/>
            <a:ext cx="2057400" cy="320040"/>
          </a:xfrm>
          <a:prstGeom prst="rect">
            <a:avLst/>
          </a:prstGeom>
          <a:noFill/>
          <a:ln/>
        </p:spPr>
        <p:txBody>
          <a:bodyPr wrap="square" rtlCol="0" anchor="ctr"/>
          <a:lstStyle/>
          <a:p>
            <a:pPr indent="0" marL="0">
              <a:buNone/>
            </a:pPr>
            <a:r>
              <a:rPr lang="en-US" sz="1050" b="1" dirty="0">
                <a:solidFill>
                  <a:srgbClr val="F43F5E"/>
                </a:solidFill>
                <a:latin typeface="Calibri" pitchFamily="34" charset="0"/>
                <a:ea typeface="Calibri" pitchFamily="34" charset="-122"/>
                <a:cs typeface="Calibri" pitchFamily="34" charset="-120"/>
              </a:rPr>
              <a:t>Insertion Sort</a:t>
            </a:r>
            <a:endParaRPr lang="en-US" sz="1050" dirty="0"/>
          </a:p>
        </p:txBody>
      </p:sp>
      <p:sp>
        <p:nvSpPr>
          <p:cNvPr id="24" name="Text 22"/>
          <p:cNvSpPr/>
          <p:nvPr/>
        </p:nvSpPr>
        <p:spPr>
          <a:xfrm>
            <a:off x="6327648" y="1444752"/>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Teen Patti Card Player</a:t>
            </a:r>
            <a:endParaRPr lang="en-US" sz="1100" dirty="0"/>
          </a:p>
        </p:txBody>
      </p:sp>
      <p:sp>
        <p:nvSpPr>
          <p:cNvPr id="25" name="Text 23"/>
          <p:cNvSpPr/>
          <p:nvPr/>
        </p:nvSpPr>
        <p:spPr>
          <a:xfrm>
            <a:off x="6327648" y="1737360"/>
            <a:ext cx="2560320" cy="47548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Cards arrive one by one in a live game. Insert each new card into its correct position in an already-sorted hand. Minimise total moves.</a:t>
            </a:r>
            <a:endParaRPr lang="en-US" sz="950" dirty="0"/>
          </a:p>
        </p:txBody>
      </p:sp>
      <p:sp>
        <p:nvSpPr>
          <p:cNvPr id="26" name="Text 24"/>
          <p:cNvSpPr/>
          <p:nvPr/>
        </p:nvSpPr>
        <p:spPr>
          <a:xfrm>
            <a:off x="6327648" y="2231136"/>
            <a:ext cx="2560320" cy="347472"/>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Online sorting — process data as it arrives. O(n) if nearly sorted.</a:t>
            </a:r>
            <a:endParaRPr lang="en-US" sz="900" dirty="0"/>
          </a:p>
        </p:txBody>
      </p:sp>
      <p:sp>
        <p:nvSpPr>
          <p:cNvPr id="27" name="Text 25"/>
          <p:cNvSpPr/>
          <p:nvPr/>
        </p:nvSpPr>
        <p:spPr>
          <a:xfrm>
            <a:off x="6327648" y="2596896"/>
            <a:ext cx="2560320" cy="228600"/>
          </a:xfrm>
          <a:prstGeom prst="rect">
            <a:avLst/>
          </a:prstGeom>
          <a:noFill/>
          <a:ln/>
        </p:spPr>
        <p:txBody>
          <a:bodyPr wrap="square" rtlCol="0" anchor="ctr"/>
          <a:lstStyle/>
          <a:p>
            <a:pPr indent="0" marL="0">
              <a:buNone/>
            </a:pPr>
            <a:r>
              <a:rPr lang="en-US" sz="900" dirty="0">
                <a:solidFill>
                  <a:srgbClr val="F43F5E"/>
                </a:solidFill>
                <a:latin typeface="Courier New" pitchFamily="34" charset="0"/>
                <a:ea typeface="Courier New" pitchFamily="34" charset="-122"/>
                <a:cs typeface="Courier New" pitchFamily="34" charset="-120"/>
              </a:rPr>
              <a:t>O(n) best · O(n²) worst</a:t>
            </a:r>
            <a:endParaRPr lang="en-US" sz="900" dirty="0"/>
          </a:p>
        </p:txBody>
      </p:sp>
      <p:sp>
        <p:nvSpPr>
          <p:cNvPr id="28" name="Shape 26"/>
          <p:cNvSpPr/>
          <p:nvPr/>
        </p:nvSpPr>
        <p:spPr>
          <a:xfrm>
            <a:off x="274320" y="3090672"/>
            <a:ext cx="4343400" cy="1901952"/>
          </a:xfrm>
          <a:prstGeom prst="roundRect">
            <a:avLst>
              <a:gd name="adj" fmla="val 4808"/>
            </a:avLst>
          </a:prstGeom>
          <a:solidFill>
            <a:srgbClr val="243447"/>
          </a:solidFill>
          <a:ln w="12700">
            <a:solidFill>
              <a:srgbClr val="22C55E"/>
            </a:solidFill>
            <a:prstDash val="solid"/>
          </a:ln>
          <a:effectLst>
            <a:outerShdw sx="100000" sy="100000" kx="0" ky="0" algn="bl" rotWithShape="0" blurRad="101600" dist="38100" dir="2700000">
              <a:srgbClr val="000000">
                <a:alpha val="22000"/>
              </a:srgbClr>
            </a:outerShdw>
          </a:effectLst>
        </p:spPr>
      </p:sp>
      <p:sp>
        <p:nvSpPr>
          <p:cNvPr id="29" name="Shape 27"/>
          <p:cNvSpPr/>
          <p:nvPr/>
        </p:nvSpPr>
        <p:spPr>
          <a:xfrm>
            <a:off x="384048" y="3182112"/>
            <a:ext cx="384048" cy="384048"/>
          </a:xfrm>
          <a:prstGeom prst="ellipse">
            <a:avLst/>
          </a:prstGeom>
          <a:solidFill>
            <a:srgbClr val="22C55E"/>
          </a:solidFill>
          <a:ln w="12700">
            <a:solidFill>
              <a:srgbClr val="22C55E"/>
            </a:solidFill>
            <a:prstDash val="solid"/>
          </a:ln>
        </p:spPr>
      </p:sp>
      <p:sp>
        <p:nvSpPr>
          <p:cNvPr id="30" name="Text 28"/>
          <p:cNvSpPr/>
          <p:nvPr/>
        </p:nvSpPr>
        <p:spPr>
          <a:xfrm>
            <a:off x="384048" y="3182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31" name="Text 29"/>
          <p:cNvSpPr/>
          <p:nvPr/>
        </p:nvSpPr>
        <p:spPr>
          <a:xfrm>
            <a:off x="841248" y="3200400"/>
            <a:ext cx="3611880" cy="320040"/>
          </a:xfrm>
          <a:prstGeom prst="rect">
            <a:avLst/>
          </a:prstGeom>
          <a:noFill/>
          <a:ln/>
        </p:spPr>
        <p:txBody>
          <a:bodyPr wrap="square"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Merge Sort</a:t>
            </a:r>
            <a:endParaRPr lang="en-US" sz="1050" dirty="0"/>
          </a:p>
        </p:txBody>
      </p:sp>
      <p:sp>
        <p:nvSpPr>
          <p:cNvPr id="32" name="Text 30"/>
          <p:cNvSpPr/>
          <p:nvPr/>
        </p:nvSpPr>
        <p:spPr>
          <a:xfrm>
            <a:off x="384048" y="3547872"/>
            <a:ext cx="41148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IRCTC Waitlist Merger</a:t>
            </a:r>
            <a:endParaRPr lang="en-US" sz="1100" dirty="0"/>
          </a:p>
        </p:txBody>
      </p:sp>
      <p:sp>
        <p:nvSpPr>
          <p:cNvPr id="33" name="Text 31"/>
          <p:cNvSpPr/>
          <p:nvPr/>
        </p:nvSpPr>
        <p:spPr>
          <a:xfrm>
            <a:off x="384048" y="3840480"/>
            <a:ext cx="4114800" cy="47548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Two sorted waitlists (mobile app + counter) must be merged into one unified sorted list without re-sorting from scratch.</a:t>
            </a:r>
            <a:endParaRPr lang="en-US" sz="950" dirty="0"/>
          </a:p>
        </p:txBody>
      </p:sp>
      <p:sp>
        <p:nvSpPr>
          <p:cNvPr id="34" name="Text 32"/>
          <p:cNvSpPr/>
          <p:nvPr/>
        </p:nvSpPr>
        <p:spPr>
          <a:xfrm>
            <a:off x="384048" y="4334256"/>
            <a:ext cx="4114800" cy="347472"/>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Merge step: compare front of each list, pick smaller, advance pointer. O(n) merge.</a:t>
            </a:r>
            <a:endParaRPr lang="en-US" sz="900" dirty="0"/>
          </a:p>
        </p:txBody>
      </p:sp>
      <p:sp>
        <p:nvSpPr>
          <p:cNvPr id="35" name="Text 33"/>
          <p:cNvSpPr/>
          <p:nvPr/>
        </p:nvSpPr>
        <p:spPr>
          <a:xfrm>
            <a:off x="384048" y="4700016"/>
            <a:ext cx="4114800" cy="228600"/>
          </a:xfrm>
          <a:prstGeom prst="rect">
            <a:avLst/>
          </a:prstGeom>
          <a:noFill/>
          <a:ln/>
        </p:spPr>
        <p:txBody>
          <a:bodyPr wrap="square" rtlCol="0" anchor="ctr"/>
          <a:lstStyle/>
          <a:p>
            <a:pPr indent="0" marL="0">
              <a:buNone/>
            </a:pPr>
            <a:r>
              <a:rPr lang="en-US" sz="900" dirty="0">
                <a:solidFill>
                  <a:srgbClr val="22C55E"/>
                </a:solidFill>
                <a:latin typeface="Courier New" pitchFamily="34" charset="0"/>
                <a:ea typeface="Courier New" pitchFamily="34" charset="-122"/>
                <a:cs typeface="Courier New" pitchFamily="34" charset="-120"/>
              </a:rPr>
              <a:t>O(n log n) always · Stable</a:t>
            </a:r>
            <a:endParaRPr lang="en-US" sz="900" dirty="0"/>
          </a:p>
        </p:txBody>
      </p:sp>
      <p:sp>
        <p:nvSpPr>
          <p:cNvPr id="36" name="Shape 34"/>
          <p:cNvSpPr/>
          <p:nvPr/>
        </p:nvSpPr>
        <p:spPr>
          <a:xfrm>
            <a:off x="4846320" y="3090672"/>
            <a:ext cx="4297680" cy="1901952"/>
          </a:xfrm>
          <a:prstGeom prst="roundRect">
            <a:avLst>
              <a:gd name="adj" fmla="val 4808"/>
            </a:avLst>
          </a:prstGeom>
          <a:solidFill>
            <a:srgbClr val="243447"/>
          </a:solidFill>
          <a:ln w="12700">
            <a:solidFill>
              <a:srgbClr val="A78BFA"/>
            </a:solidFill>
            <a:prstDash val="solid"/>
          </a:ln>
          <a:effectLst>
            <a:outerShdw sx="100000" sy="100000" kx="0" ky="0" algn="bl" rotWithShape="0" blurRad="101600" dist="38100" dir="2700000">
              <a:srgbClr val="000000">
                <a:alpha val="22000"/>
              </a:srgbClr>
            </a:outerShdw>
          </a:effectLst>
        </p:spPr>
      </p:sp>
      <p:sp>
        <p:nvSpPr>
          <p:cNvPr id="37" name="Shape 35"/>
          <p:cNvSpPr/>
          <p:nvPr/>
        </p:nvSpPr>
        <p:spPr>
          <a:xfrm>
            <a:off x="4956048" y="3182112"/>
            <a:ext cx="384048" cy="384048"/>
          </a:xfrm>
          <a:prstGeom prst="ellipse">
            <a:avLst/>
          </a:prstGeom>
          <a:solidFill>
            <a:srgbClr val="A78BFA"/>
          </a:solidFill>
          <a:ln w="12700">
            <a:solidFill>
              <a:srgbClr val="A78BFA"/>
            </a:solidFill>
            <a:prstDash val="solid"/>
          </a:ln>
        </p:spPr>
      </p:sp>
      <p:sp>
        <p:nvSpPr>
          <p:cNvPr id="38" name="Text 36"/>
          <p:cNvSpPr/>
          <p:nvPr/>
        </p:nvSpPr>
        <p:spPr>
          <a:xfrm>
            <a:off x="4956048" y="3182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39" name="Text 37"/>
          <p:cNvSpPr/>
          <p:nvPr/>
        </p:nvSpPr>
        <p:spPr>
          <a:xfrm>
            <a:off x="5413248" y="3200400"/>
            <a:ext cx="3566160" cy="320040"/>
          </a:xfrm>
          <a:prstGeom prst="rect">
            <a:avLst/>
          </a:prstGeom>
          <a:noFill/>
          <a:ln/>
        </p:spPr>
        <p:txBody>
          <a:bodyPr wrap="square" rtlCol="0" anchor="ctr"/>
          <a:lstStyle/>
          <a:p>
            <a:pPr indent="0" marL="0">
              <a:buNone/>
            </a:pPr>
            <a:r>
              <a:rPr lang="en-US" sz="1050" b="1" dirty="0">
                <a:solidFill>
                  <a:srgbClr val="A78BFA"/>
                </a:solidFill>
                <a:latin typeface="Calibri" pitchFamily="34" charset="0"/>
                <a:ea typeface="Calibri" pitchFamily="34" charset="-122"/>
                <a:cs typeface="Calibri" pitchFamily="34" charset="-120"/>
              </a:rPr>
              <a:t>Quick Sort</a:t>
            </a:r>
            <a:endParaRPr lang="en-US" sz="1050" dirty="0"/>
          </a:p>
        </p:txBody>
      </p:sp>
      <p:sp>
        <p:nvSpPr>
          <p:cNvPr id="40" name="Text 38"/>
          <p:cNvSpPr/>
          <p:nvPr/>
        </p:nvSpPr>
        <p:spPr>
          <a:xfrm>
            <a:off x="4956048" y="3547872"/>
            <a:ext cx="40690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Airport Bag Security</a:t>
            </a:r>
            <a:endParaRPr lang="en-US" sz="1100" dirty="0"/>
          </a:p>
        </p:txBody>
      </p:sp>
      <p:sp>
        <p:nvSpPr>
          <p:cNvPr id="41" name="Text 39"/>
          <p:cNvSpPr/>
          <p:nvPr/>
        </p:nvSpPr>
        <p:spPr>
          <a:xfrm>
            <a:off x="4956048" y="3840480"/>
            <a:ext cx="4069080" cy="47548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Sort passengers by bag weight using a pivot strategy. All lighter bags go left, heavier go right. Recurse on each side independently.</a:t>
            </a:r>
            <a:endParaRPr lang="en-US" sz="950" dirty="0"/>
          </a:p>
        </p:txBody>
      </p:sp>
      <p:sp>
        <p:nvSpPr>
          <p:cNvPr id="42" name="Text 40"/>
          <p:cNvSpPr/>
          <p:nvPr/>
        </p:nvSpPr>
        <p:spPr>
          <a:xfrm>
            <a:off x="4956048" y="4334256"/>
            <a:ext cx="4069080" cy="347472"/>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Pivot choice matters. Bad pivot (always min/max) → O(n²). Use random or median-of-3.</a:t>
            </a:r>
            <a:endParaRPr lang="en-US" sz="900" dirty="0"/>
          </a:p>
        </p:txBody>
      </p:sp>
      <p:sp>
        <p:nvSpPr>
          <p:cNvPr id="43" name="Text 41"/>
          <p:cNvSpPr/>
          <p:nvPr/>
        </p:nvSpPr>
        <p:spPr>
          <a:xfrm>
            <a:off x="4956048" y="4700016"/>
            <a:ext cx="4069080" cy="228600"/>
          </a:xfrm>
          <a:prstGeom prst="rect">
            <a:avLst/>
          </a:prstGeom>
          <a:noFill/>
          <a:ln/>
        </p:spPr>
        <p:txBody>
          <a:bodyPr wrap="square" rtlCol="0" anchor="ctr"/>
          <a:lstStyle/>
          <a:p>
            <a:pPr indent="0" marL="0">
              <a:buNone/>
            </a:pPr>
            <a:r>
              <a:rPr lang="en-US" sz="900" dirty="0">
                <a:solidFill>
                  <a:srgbClr val="A78BFA"/>
                </a:solidFill>
                <a:latin typeface="Courier New" pitchFamily="34" charset="0"/>
                <a:ea typeface="Courier New" pitchFamily="34" charset="-122"/>
                <a:cs typeface="Courier New" pitchFamily="34" charset="-120"/>
              </a:rPr>
              <a:t>O(n log n) avg · O(n²) worst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91440"/>
            <a:ext cx="8229600" cy="713232"/>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Placement Questions — Searching</a:t>
            </a:r>
            <a:endParaRPr lang="en-US" sz="2600" dirty="0"/>
          </a:p>
        </p:txBody>
      </p:sp>
      <p:sp>
        <p:nvSpPr>
          <p:cNvPr id="4" name="Shape 2"/>
          <p:cNvSpPr/>
          <p:nvPr/>
        </p:nvSpPr>
        <p:spPr>
          <a:xfrm>
            <a:off x="274320" y="987552"/>
            <a:ext cx="2788920" cy="1920240"/>
          </a:xfrm>
          <a:prstGeom prst="roundRect">
            <a:avLst>
              <a:gd name="adj" fmla="val 4762"/>
            </a:avLst>
          </a:prstGeom>
          <a:solidFill>
            <a:srgbClr val="243447"/>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5" name="Shape 3"/>
          <p:cNvSpPr/>
          <p:nvPr/>
        </p:nvSpPr>
        <p:spPr>
          <a:xfrm>
            <a:off x="384048" y="1078992"/>
            <a:ext cx="365760" cy="365760"/>
          </a:xfrm>
          <a:prstGeom prst="ellipse">
            <a:avLst/>
          </a:prstGeom>
          <a:solidFill>
            <a:srgbClr val="0D9488"/>
          </a:solidFill>
          <a:ln w="12700">
            <a:solidFill>
              <a:srgbClr val="0D9488"/>
            </a:solidFill>
            <a:prstDash val="solid"/>
          </a:ln>
        </p:spPr>
      </p:sp>
      <p:sp>
        <p:nvSpPr>
          <p:cNvPr id="6" name="Text 4"/>
          <p:cNvSpPr/>
          <p:nvPr/>
        </p:nvSpPr>
        <p:spPr>
          <a:xfrm>
            <a:off x="384048" y="107899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822960" y="1097280"/>
            <a:ext cx="2148840" cy="27432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Linear Search</a:t>
            </a:r>
            <a:endParaRPr lang="en-US" sz="1000" dirty="0"/>
          </a:p>
        </p:txBody>
      </p:sp>
      <p:sp>
        <p:nvSpPr>
          <p:cNvPr id="8" name="Text 6"/>
          <p:cNvSpPr/>
          <p:nvPr/>
        </p:nvSpPr>
        <p:spPr>
          <a:xfrm>
            <a:off x="384048" y="1426464"/>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Lost Student — Attendance Register</a:t>
            </a:r>
            <a:endParaRPr lang="en-US" sz="1050" dirty="0"/>
          </a:p>
        </p:txBody>
      </p:sp>
      <p:sp>
        <p:nvSpPr>
          <p:cNvPr id="9" name="Text 7"/>
          <p:cNvSpPr/>
          <p:nvPr/>
        </p:nvSpPr>
        <p:spPr>
          <a:xfrm>
            <a:off x="384048" y="1719072"/>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Professor needs to check if 'Riya Desai' is present. The attendance register is NOT sorted — names written in seating order.</a:t>
            </a:r>
            <a:endParaRPr lang="en-US" sz="950" dirty="0"/>
          </a:p>
        </p:txBody>
      </p:sp>
      <p:sp>
        <p:nvSpPr>
          <p:cNvPr id="10" name="Text 8"/>
          <p:cNvSpPr/>
          <p:nvPr/>
        </p:nvSpPr>
        <p:spPr>
          <a:xfrm>
            <a:off x="384048" y="2194560"/>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No choice but linear search on unsorted data. Worst case: scan all n entries.</a:t>
            </a:r>
            <a:endParaRPr lang="en-US" sz="900" dirty="0"/>
          </a:p>
        </p:txBody>
      </p:sp>
      <p:sp>
        <p:nvSpPr>
          <p:cNvPr id="11" name="Text 9"/>
          <p:cNvSpPr/>
          <p:nvPr/>
        </p:nvSpPr>
        <p:spPr>
          <a:xfrm>
            <a:off x="384048" y="2578608"/>
            <a:ext cx="2606040" cy="256032"/>
          </a:xfrm>
          <a:prstGeom prst="rect">
            <a:avLst/>
          </a:prstGeom>
          <a:noFill/>
          <a:ln/>
        </p:spPr>
        <p:txBody>
          <a:bodyPr wrap="square" rtlCol="0" anchor="ctr"/>
          <a:lstStyle/>
          <a:p>
            <a:pPr indent="0" marL="0">
              <a:buNone/>
            </a:pPr>
            <a:r>
              <a:rPr lang="en-US" sz="900" dirty="0">
                <a:solidFill>
                  <a:srgbClr val="0D9488"/>
                </a:solidFill>
                <a:latin typeface="Courier New" pitchFamily="34" charset="0"/>
                <a:ea typeface="Courier New" pitchFamily="34" charset="-122"/>
                <a:cs typeface="Courier New" pitchFamily="34" charset="-120"/>
              </a:rPr>
              <a:t>O(n) · Works on unsorted</a:t>
            </a:r>
            <a:endParaRPr lang="en-US" sz="900" dirty="0"/>
          </a:p>
        </p:txBody>
      </p:sp>
      <p:sp>
        <p:nvSpPr>
          <p:cNvPr id="12" name="Shape 10"/>
          <p:cNvSpPr/>
          <p:nvPr/>
        </p:nvSpPr>
        <p:spPr>
          <a:xfrm>
            <a:off x="3246120" y="987552"/>
            <a:ext cx="2788920" cy="1920240"/>
          </a:xfrm>
          <a:prstGeom prst="roundRect">
            <a:avLst>
              <a:gd name="adj" fmla="val 4762"/>
            </a:avLst>
          </a:prstGeom>
          <a:solidFill>
            <a:srgbClr val="243447"/>
          </a:solidFill>
          <a:ln w="12700">
            <a:solidFill>
              <a:srgbClr val="FB7185"/>
            </a:solidFill>
            <a:prstDash val="solid"/>
          </a:ln>
          <a:effectLst>
            <a:outerShdw sx="100000" sy="100000" kx="0" ky="0" algn="bl" rotWithShape="0" blurRad="101600" dist="38100" dir="2700000">
              <a:srgbClr val="000000">
                <a:alpha val="22000"/>
              </a:srgbClr>
            </a:outerShdw>
          </a:effectLst>
        </p:spPr>
      </p:sp>
      <p:sp>
        <p:nvSpPr>
          <p:cNvPr id="13" name="Shape 11"/>
          <p:cNvSpPr/>
          <p:nvPr/>
        </p:nvSpPr>
        <p:spPr>
          <a:xfrm>
            <a:off x="3355848" y="1078992"/>
            <a:ext cx="365760" cy="365760"/>
          </a:xfrm>
          <a:prstGeom prst="ellipse">
            <a:avLst/>
          </a:prstGeom>
          <a:solidFill>
            <a:srgbClr val="FB7185"/>
          </a:solidFill>
          <a:ln w="12700">
            <a:solidFill>
              <a:srgbClr val="FB7185"/>
            </a:solidFill>
            <a:prstDash val="solid"/>
          </a:ln>
        </p:spPr>
      </p:sp>
      <p:sp>
        <p:nvSpPr>
          <p:cNvPr id="14" name="Text 12"/>
          <p:cNvSpPr/>
          <p:nvPr/>
        </p:nvSpPr>
        <p:spPr>
          <a:xfrm>
            <a:off x="3355848" y="107899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15" name="Text 13"/>
          <p:cNvSpPr/>
          <p:nvPr/>
        </p:nvSpPr>
        <p:spPr>
          <a:xfrm>
            <a:off x="3794760" y="1097280"/>
            <a:ext cx="2148840" cy="274320"/>
          </a:xfrm>
          <a:prstGeom prst="rect">
            <a:avLst/>
          </a:prstGeom>
          <a:noFill/>
          <a:ln/>
        </p:spPr>
        <p:txBody>
          <a:bodyPr wrap="square" rtlCol="0" anchor="ctr"/>
          <a:lstStyle/>
          <a:p>
            <a:pPr indent="0" marL="0">
              <a:buNone/>
            </a:pPr>
            <a:r>
              <a:rPr lang="en-US" sz="1000" b="1" dirty="0">
                <a:solidFill>
                  <a:srgbClr val="FB7185"/>
                </a:solidFill>
                <a:latin typeface="Calibri" pitchFamily="34" charset="0"/>
                <a:ea typeface="Calibri" pitchFamily="34" charset="-122"/>
                <a:cs typeface="Calibri" pitchFamily="34" charset="-120"/>
              </a:rPr>
              <a:t>Linear Search</a:t>
            </a:r>
            <a:endParaRPr lang="en-US" sz="1000" dirty="0"/>
          </a:p>
        </p:txBody>
      </p:sp>
      <p:sp>
        <p:nvSpPr>
          <p:cNvPr id="16" name="Text 14"/>
          <p:cNvSpPr/>
          <p:nvPr/>
        </p:nvSpPr>
        <p:spPr>
          <a:xfrm>
            <a:off x="3355848" y="1426464"/>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Supermarket Price Check</a:t>
            </a:r>
            <a:endParaRPr lang="en-US" sz="1050" dirty="0"/>
          </a:p>
        </p:txBody>
      </p:sp>
      <p:sp>
        <p:nvSpPr>
          <p:cNvPr id="17" name="Text 15"/>
          <p:cNvSpPr/>
          <p:nvPr/>
        </p:nvSpPr>
        <p:spPr>
          <a:xfrm>
            <a:off x="3355848" y="1719072"/>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Cashier system crashes. Find 'Amul Butter 500g' price from a 500-item unsorted printed list manually.</a:t>
            </a:r>
            <a:endParaRPr lang="en-US" sz="950" dirty="0"/>
          </a:p>
        </p:txBody>
      </p:sp>
      <p:sp>
        <p:nvSpPr>
          <p:cNvPr id="18" name="Text 16"/>
          <p:cNvSpPr/>
          <p:nvPr/>
        </p:nvSpPr>
        <p:spPr>
          <a:xfrm>
            <a:off x="3355848" y="2194560"/>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Full table scan — this is what databases do without an index. Add an index → binary search.</a:t>
            </a:r>
            <a:endParaRPr lang="en-US" sz="900" dirty="0"/>
          </a:p>
        </p:txBody>
      </p:sp>
      <p:sp>
        <p:nvSpPr>
          <p:cNvPr id="19" name="Text 17"/>
          <p:cNvSpPr/>
          <p:nvPr/>
        </p:nvSpPr>
        <p:spPr>
          <a:xfrm>
            <a:off x="3355848" y="2578608"/>
            <a:ext cx="2606040" cy="256032"/>
          </a:xfrm>
          <a:prstGeom prst="rect">
            <a:avLst/>
          </a:prstGeom>
          <a:noFill/>
          <a:ln/>
        </p:spPr>
        <p:txBody>
          <a:bodyPr wrap="square" rtlCol="0" anchor="ctr"/>
          <a:lstStyle/>
          <a:p>
            <a:pPr indent="0" marL="0">
              <a:buNone/>
            </a:pPr>
            <a:r>
              <a:rPr lang="en-US" sz="900" dirty="0">
                <a:solidFill>
                  <a:srgbClr val="FB7185"/>
                </a:solidFill>
                <a:latin typeface="Courier New" pitchFamily="34" charset="0"/>
                <a:ea typeface="Courier New" pitchFamily="34" charset="-122"/>
                <a:cs typeface="Courier New" pitchFamily="34" charset="-120"/>
              </a:rPr>
              <a:t>O(n) · Worst case 500 comparisons</a:t>
            </a:r>
            <a:endParaRPr lang="en-US" sz="900" dirty="0"/>
          </a:p>
        </p:txBody>
      </p:sp>
      <p:sp>
        <p:nvSpPr>
          <p:cNvPr id="20" name="Shape 18"/>
          <p:cNvSpPr/>
          <p:nvPr/>
        </p:nvSpPr>
        <p:spPr>
          <a:xfrm>
            <a:off x="6217920" y="987552"/>
            <a:ext cx="2788920" cy="1920240"/>
          </a:xfrm>
          <a:prstGeom prst="roundRect">
            <a:avLst>
              <a:gd name="adj" fmla="val 4762"/>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21" name="Shape 19"/>
          <p:cNvSpPr/>
          <p:nvPr/>
        </p:nvSpPr>
        <p:spPr>
          <a:xfrm>
            <a:off x="6327648" y="1078992"/>
            <a:ext cx="365760" cy="365760"/>
          </a:xfrm>
          <a:prstGeom prst="ellipse">
            <a:avLst/>
          </a:prstGeom>
          <a:solidFill>
            <a:srgbClr val="F59E0B"/>
          </a:solidFill>
          <a:ln w="12700">
            <a:solidFill>
              <a:srgbClr val="F59E0B"/>
            </a:solidFill>
            <a:prstDash val="solid"/>
          </a:ln>
        </p:spPr>
      </p:sp>
      <p:sp>
        <p:nvSpPr>
          <p:cNvPr id="22" name="Text 20"/>
          <p:cNvSpPr/>
          <p:nvPr/>
        </p:nvSpPr>
        <p:spPr>
          <a:xfrm>
            <a:off x="6327648" y="107899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23" name="Text 21"/>
          <p:cNvSpPr/>
          <p:nvPr/>
        </p:nvSpPr>
        <p:spPr>
          <a:xfrm>
            <a:off x="6766560" y="1097280"/>
            <a:ext cx="2148840" cy="27432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Linear Search + Set</a:t>
            </a:r>
            <a:endParaRPr lang="en-US" sz="1000" dirty="0"/>
          </a:p>
        </p:txBody>
      </p:sp>
      <p:sp>
        <p:nvSpPr>
          <p:cNvPr id="24" name="Text 22"/>
          <p:cNvSpPr/>
          <p:nvPr/>
        </p:nvSpPr>
        <p:spPr>
          <a:xfrm>
            <a:off x="6327648" y="1426464"/>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Spam Detector</a:t>
            </a:r>
            <a:endParaRPr lang="en-US" sz="1050" dirty="0"/>
          </a:p>
        </p:txBody>
      </p:sp>
      <p:sp>
        <p:nvSpPr>
          <p:cNvPr id="25" name="Text 23"/>
          <p:cNvSpPr/>
          <p:nvPr/>
        </p:nvSpPr>
        <p:spPr>
          <a:xfrm>
            <a:off x="6327648" y="1719072"/>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Check if an incoming email sender is on a blacklist. The blacklist is unsorted.</a:t>
            </a:r>
            <a:endParaRPr lang="en-US" sz="950" dirty="0"/>
          </a:p>
        </p:txBody>
      </p:sp>
      <p:sp>
        <p:nvSpPr>
          <p:cNvPr id="26" name="Text 24"/>
          <p:cNvSpPr/>
          <p:nvPr/>
        </p:nvSpPr>
        <p:spPr>
          <a:xfrm>
            <a:off x="6327648" y="2194560"/>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Linear scan is O(n). Better: convert blacklist to a Python set → O(1) lookup always.</a:t>
            </a:r>
            <a:endParaRPr lang="en-US" sz="900" dirty="0"/>
          </a:p>
        </p:txBody>
      </p:sp>
      <p:sp>
        <p:nvSpPr>
          <p:cNvPr id="27" name="Text 25"/>
          <p:cNvSpPr/>
          <p:nvPr/>
        </p:nvSpPr>
        <p:spPr>
          <a:xfrm>
            <a:off x="6327648" y="2578608"/>
            <a:ext cx="2606040" cy="256032"/>
          </a:xfrm>
          <a:prstGeom prst="rect">
            <a:avLst/>
          </a:prstGeom>
          <a:noFill/>
          <a:ln/>
        </p:spPr>
        <p:txBody>
          <a:bodyPr wrap="square"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O(n) scan · O(1) with set</a:t>
            </a:r>
            <a:endParaRPr lang="en-US" sz="900" dirty="0"/>
          </a:p>
        </p:txBody>
      </p:sp>
      <p:sp>
        <p:nvSpPr>
          <p:cNvPr id="28" name="Shape 26"/>
          <p:cNvSpPr/>
          <p:nvPr/>
        </p:nvSpPr>
        <p:spPr>
          <a:xfrm>
            <a:off x="274320" y="3072384"/>
            <a:ext cx="2788920" cy="1920240"/>
          </a:xfrm>
          <a:prstGeom prst="roundRect">
            <a:avLst>
              <a:gd name="adj" fmla="val 4762"/>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29" name="Shape 27"/>
          <p:cNvSpPr/>
          <p:nvPr/>
        </p:nvSpPr>
        <p:spPr>
          <a:xfrm>
            <a:off x="384048" y="3163824"/>
            <a:ext cx="365760" cy="365760"/>
          </a:xfrm>
          <a:prstGeom prst="ellipse">
            <a:avLst/>
          </a:prstGeom>
          <a:solidFill>
            <a:srgbClr val="F59E0B"/>
          </a:solidFill>
          <a:ln w="12700">
            <a:solidFill>
              <a:srgbClr val="F59E0B"/>
            </a:solidFill>
            <a:prstDash val="solid"/>
          </a:ln>
        </p:spPr>
      </p:sp>
      <p:sp>
        <p:nvSpPr>
          <p:cNvPr id="30" name="Text 28"/>
          <p:cNvSpPr/>
          <p:nvPr/>
        </p:nvSpPr>
        <p:spPr>
          <a:xfrm>
            <a:off x="384048" y="3163824"/>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Q4</a:t>
            </a:r>
            <a:endParaRPr lang="en-US" sz="1000" dirty="0"/>
          </a:p>
        </p:txBody>
      </p:sp>
      <p:sp>
        <p:nvSpPr>
          <p:cNvPr id="31" name="Text 29"/>
          <p:cNvSpPr/>
          <p:nvPr/>
        </p:nvSpPr>
        <p:spPr>
          <a:xfrm>
            <a:off x="822960" y="3182112"/>
            <a:ext cx="2148840" cy="27432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Binary Search</a:t>
            </a:r>
            <a:endParaRPr lang="en-US" sz="1000" dirty="0"/>
          </a:p>
        </p:txBody>
      </p:sp>
      <p:sp>
        <p:nvSpPr>
          <p:cNvPr id="32" name="Text 30"/>
          <p:cNvSpPr/>
          <p:nvPr/>
        </p:nvSpPr>
        <p:spPr>
          <a:xfrm>
            <a:off x="384048" y="3511296"/>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Dictionary Hunt</a:t>
            </a:r>
            <a:endParaRPr lang="en-US" sz="1050" dirty="0"/>
          </a:p>
        </p:txBody>
      </p:sp>
      <p:sp>
        <p:nvSpPr>
          <p:cNvPr id="33" name="Text 31"/>
          <p:cNvSpPr/>
          <p:nvPr/>
        </p:nvSpPr>
        <p:spPr>
          <a:xfrm>
            <a:off x="384048" y="3803904"/>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Search for 'Ephemeral' in a 10-word sorted dictionary. Show each comparison step. How many steps for 1M words?</a:t>
            </a:r>
            <a:endParaRPr lang="en-US" sz="950" dirty="0"/>
          </a:p>
        </p:txBody>
      </p:sp>
      <p:sp>
        <p:nvSpPr>
          <p:cNvPr id="34" name="Text 32"/>
          <p:cNvSpPr/>
          <p:nvPr/>
        </p:nvSpPr>
        <p:spPr>
          <a:xfrm>
            <a:off x="384048" y="4279392"/>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Each step halves the search space. log₂(10) ≈ 4 steps. log₂(1,000,000) ≈ 20 steps.</a:t>
            </a:r>
            <a:endParaRPr lang="en-US" sz="900" dirty="0"/>
          </a:p>
        </p:txBody>
      </p:sp>
      <p:sp>
        <p:nvSpPr>
          <p:cNvPr id="35" name="Text 33"/>
          <p:cNvSpPr/>
          <p:nvPr/>
        </p:nvSpPr>
        <p:spPr>
          <a:xfrm>
            <a:off x="384048" y="4663440"/>
            <a:ext cx="2606040" cy="256032"/>
          </a:xfrm>
          <a:prstGeom prst="rect">
            <a:avLst/>
          </a:prstGeom>
          <a:noFill/>
          <a:ln/>
        </p:spPr>
        <p:txBody>
          <a:bodyPr wrap="square"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O(log n) · Sorted only</a:t>
            </a:r>
            <a:endParaRPr lang="en-US" sz="900" dirty="0"/>
          </a:p>
        </p:txBody>
      </p:sp>
      <p:sp>
        <p:nvSpPr>
          <p:cNvPr id="36" name="Shape 34"/>
          <p:cNvSpPr/>
          <p:nvPr/>
        </p:nvSpPr>
        <p:spPr>
          <a:xfrm>
            <a:off x="3246120" y="3072384"/>
            <a:ext cx="2788920" cy="1920240"/>
          </a:xfrm>
          <a:prstGeom prst="roundRect">
            <a:avLst>
              <a:gd name="adj" fmla="val 4762"/>
            </a:avLst>
          </a:prstGeom>
          <a:solidFill>
            <a:srgbClr val="243447"/>
          </a:solidFill>
          <a:ln w="12700">
            <a:solidFill>
              <a:srgbClr val="22C55E"/>
            </a:solidFill>
            <a:prstDash val="solid"/>
          </a:ln>
          <a:effectLst>
            <a:outerShdw sx="100000" sy="100000" kx="0" ky="0" algn="bl" rotWithShape="0" blurRad="101600" dist="38100" dir="2700000">
              <a:srgbClr val="000000">
                <a:alpha val="22000"/>
              </a:srgbClr>
            </a:outerShdw>
          </a:effectLst>
        </p:spPr>
      </p:sp>
      <p:sp>
        <p:nvSpPr>
          <p:cNvPr id="37" name="Shape 35"/>
          <p:cNvSpPr/>
          <p:nvPr/>
        </p:nvSpPr>
        <p:spPr>
          <a:xfrm>
            <a:off x="3355848" y="3163824"/>
            <a:ext cx="365760" cy="365760"/>
          </a:xfrm>
          <a:prstGeom prst="ellipse">
            <a:avLst/>
          </a:prstGeom>
          <a:solidFill>
            <a:srgbClr val="22C55E"/>
          </a:solidFill>
          <a:ln w="12700">
            <a:solidFill>
              <a:srgbClr val="22C55E"/>
            </a:solidFill>
            <a:prstDash val="solid"/>
          </a:ln>
        </p:spPr>
      </p:sp>
      <p:sp>
        <p:nvSpPr>
          <p:cNvPr id="38" name="Text 36"/>
          <p:cNvSpPr/>
          <p:nvPr/>
        </p:nvSpPr>
        <p:spPr>
          <a:xfrm>
            <a:off x="3355848" y="3163824"/>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Q5</a:t>
            </a:r>
            <a:endParaRPr lang="en-US" sz="1000" dirty="0"/>
          </a:p>
        </p:txBody>
      </p:sp>
      <p:sp>
        <p:nvSpPr>
          <p:cNvPr id="39" name="Text 37"/>
          <p:cNvSpPr/>
          <p:nvPr/>
        </p:nvSpPr>
        <p:spPr>
          <a:xfrm>
            <a:off x="3794760" y="3182112"/>
            <a:ext cx="2148840" cy="274320"/>
          </a:xfrm>
          <a:prstGeom prst="rect">
            <a:avLst/>
          </a:prstGeom>
          <a:noFill/>
          <a:ln/>
        </p:spPr>
        <p:txBody>
          <a:bodyPr wrap="square"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Binary Search</a:t>
            </a:r>
            <a:endParaRPr lang="en-US" sz="1000" dirty="0"/>
          </a:p>
        </p:txBody>
      </p:sp>
      <p:sp>
        <p:nvSpPr>
          <p:cNvPr id="40" name="Text 38"/>
          <p:cNvSpPr/>
          <p:nvPr/>
        </p:nvSpPr>
        <p:spPr>
          <a:xfrm>
            <a:off x="3355848" y="3511296"/>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Hospital OPD Token</a:t>
            </a:r>
            <a:endParaRPr lang="en-US" sz="1050" dirty="0"/>
          </a:p>
        </p:txBody>
      </p:sp>
      <p:sp>
        <p:nvSpPr>
          <p:cNvPr id="41" name="Text 39"/>
          <p:cNvSpPr/>
          <p:nvPr/>
        </p:nvSpPr>
        <p:spPr>
          <a:xfrm>
            <a:off x="3355848" y="3803904"/>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Tokens 200–479 are still waiting (280 tokens, sorted). Find if token 347 is waiting and how many people are ahead.</a:t>
            </a:r>
            <a:endParaRPr lang="en-US" sz="950" dirty="0"/>
          </a:p>
        </p:txBody>
      </p:sp>
      <p:sp>
        <p:nvSpPr>
          <p:cNvPr id="42" name="Text 40"/>
          <p:cNvSpPr/>
          <p:nvPr/>
        </p:nvSpPr>
        <p:spPr>
          <a:xfrm>
            <a:off x="3355848" y="4279392"/>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Binary search finds the index in ≤ 9 steps. Position = index + 1. People ahead = index.</a:t>
            </a:r>
            <a:endParaRPr lang="en-US" sz="900" dirty="0"/>
          </a:p>
        </p:txBody>
      </p:sp>
      <p:sp>
        <p:nvSpPr>
          <p:cNvPr id="43" name="Text 41"/>
          <p:cNvSpPr/>
          <p:nvPr/>
        </p:nvSpPr>
        <p:spPr>
          <a:xfrm>
            <a:off x="3355848" y="4663440"/>
            <a:ext cx="2606040" cy="256032"/>
          </a:xfrm>
          <a:prstGeom prst="rect">
            <a:avLst/>
          </a:prstGeom>
          <a:noFill/>
          <a:ln/>
        </p:spPr>
        <p:txBody>
          <a:bodyPr wrap="square" rtlCol="0" anchor="ctr"/>
          <a:lstStyle/>
          <a:p>
            <a:pPr indent="0" marL="0">
              <a:buNone/>
            </a:pPr>
            <a:r>
              <a:rPr lang="en-US" sz="900" dirty="0">
                <a:solidFill>
                  <a:srgbClr val="22C55E"/>
                </a:solidFill>
                <a:latin typeface="Courier New" pitchFamily="34" charset="0"/>
                <a:ea typeface="Courier New" pitchFamily="34" charset="-122"/>
                <a:cs typeface="Courier New" pitchFamily="34" charset="-120"/>
              </a:rPr>
              <a:t>O(log n) · 9 steps vs 148</a:t>
            </a:r>
            <a:endParaRPr lang="en-US" sz="900" dirty="0"/>
          </a:p>
        </p:txBody>
      </p:sp>
      <p:sp>
        <p:nvSpPr>
          <p:cNvPr id="44" name="Shape 42"/>
          <p:cNvSpPr/>
          <p:nvPr/>
        </p:nvSpPr>
        <p:spPr>
          <a:xfrm>
            <a:off x="6217920" y="3072384"/>
            <a:ext cx="2788920" cy="1920240"/>
          </a:xfrm>
          <a:prstGeom prst="roundRect">
            <a:avLst>
              <a:gd name="adj" fmla="val 4762"/>
            </a:avLst>
          </a:prstGeom>
          <a:solidFill>
            <a:srgbClr val="243447"/>
          </a:solidFill>
          <a:ln w="12700">
            <a:solidFill>
              <a:srgbClr val="A78BFA"/>
            </a:solidFill>
            <a:prstDash val="solid"/>
          </a:ln>
          <a:effectLst>
            <a:outerShdw sx="100000" sy="100000" kx="0" ky="0" algn="bl" rotWithShape="0" blurRad="101600" dist="38100" dir="2700000">
              <a:srgbClr val="000000">
                <a:alpha val="22000"/>
              </a:srgbClr>
            </a:outerShdw>
          </a:effectLst>
        </p:spPr>
      </p:sp>
      <p:sp>
        <p:nvSpPr>
          <p:cNvPr id="45" name="Shape 43"/>
          <p:cNvSpPr/>
          <p:nvPr/>
        </p:nvSpPr>
        <p:spPr>
          <a:xfrm>
            <a:off x="6327648" y="3163824"/>
            <a:ext cx="365760" cy="365760"/>
          </a:xfrm>
          <a:prstGeom prst="ellipse">
            <a:avLst/>
          </a:prstGeom>
          <a:solidFill>
            <a:srgbClr val="A78BFA"/>
          </a:solidFill>
          <a:ln w="12700">
            <a:solidFill>
              <a:srgbClr val="A78BFA"/>
            </a:solidFill>
            <a:prstDash val="solid"/>
          </a:ln>
        </p:spPr>
      </p:sp>
      <p:sp>
        <p:nvSpPr>
          <p:cNvPr id="46" name="Text 44"/>
          <p:cNvSpPr/>
          <p:nvPr/>
        </p:nvSpPr>
        <p:spPr>
          <a:xfrm>
            <a:off x="6327648" y="3163824"/>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Q6</a:t>
            </a:r>
            <a:endParaRPr lang="en-US" sz="1000" dirty="0"/>
          </a:p>
        </p:txBody>
      </p:sp>
      <p:sp>
        <p:nvSpPr>
          <p:cNvPr id="47" name="Text 45"/>
          <p:cNvSpPr/>
          <p:nvPr/>
        </p:nvSpPr>
        <p:spPr>
          <a:xfrm>
            <a:off x="6766560" y="3182112"/>
            <a:ext cx="2148840" cy="274320"/>
          </a:xfrm>
          <a:prstGeom prst="rect">
            <a:avLst/>
          </a:prstGeom>
          <a:noFill/>
          <a:ln/>
        </p:spPr>
        <p:txBody>
          <a:bodyPr wrap="square" rtlCol="0" anchor="ctr"/>
          <a:lstStyle/>
          <a:p>
            <a:pPr indent="0" marL="0">
              <a:buNone/>
            </a:pPr>
            <a:r>
              <a:rPr lang="en-US" sz="1000" b="1" dirty="0">
                <a:solidFill>
                  <a:srgbClr val="A78BFA"/>
                </a:solidFill>
                <a:latin typeface="Calibri" pitchFamily="34" charset="0"/>
                <a:ea typeface="Calibri" pitchFamily="34" charset="-122"/>
                <a:cs typeface="Calibri" pitchFamily="34" charset="-120"/>
              </a:rPr>
              <a:t>Binary Search (Lower Bound)</a:t>
            </a:r>
            <a:endParaRPr lang="en-US" sz="1000" dirty="0"/>
          </a:p>
        </p:txBody>
      </p:sp>
      <p:sp>
        <p:nvSpPr>
          <p:cNvPr id="48" name="Text 46"/>
          <p:cNvSpPr/>
          <p:nvPr/>
        </p:nvSpPr>
        <p:spPr>
          <a:xfrm>
            <a:off x="6327648" y="3511296"/>
            <a:ext cx="260604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Flipkart Price Filter</a:t>
            </a:r>
            <a:endParaRPr lang="en-US" sz="1050" dirty="0"/>
          </a:p>
        </p:txBody>
      </p:sp>
      <p:sp>
        <p:nvSpPr>
          <p:cNvPr id="49" name="Text 47"/>
          <p:cNvSpPr/>
          <p:nvPr/>
        </p:nvSpPr>
        <p:spPr>
          <a:xfrm>
            <a:off x="6327648" y="3803904"/>
            <a:ext cx="260604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Sorted laptop prices. Find the FIRST laptop priced ≥ ₹50,000. Show all laptops from that index onward.</a:t>
            </a:r>
            <a:endParaRPr lang="en-US" sz="950" dirty="0"/>
          </a:p>
        </p:txBody>
      </p:sp>
      <p:sp>
        <p:nvSpPr>
          <p:cNvPr id="50" name="Text 48"/>
          <p:cNvSpPr/>
          <p:nvPr/>
        </p:nvSpPr>
        <p:spPr>
          <a:xfrm>
            <a:off x="6327648" y="4279392"/>
            <a:ext cx="2606040" cy="329184"/>
          </a:xfrm>
          <a:prstGeom prst="rect">
            <a:avLst/>
          </a:prstGeom>
          <a:noFill/>
          <a:ln/>
        </p:spPr>
        <p:txBody>
          <a:bodyPr wrap="square" rtlCol="0" anchor="ctr"/>
          <a:lstStyle/>
          <a:p>
            <a:pPr indent="0" marL="0">
              <a:buNone/>
            </a:pPr>
            <a:r>
              <a:rPr lang="en-US" sz="900" dirty="0">
                <a:solidFill>
                  <a:srgbClr val="FCD34D"/>
                </a:solidFill>
                <a:latin typeface="Calibri" pitchFamily="34" charset="0"/>
                <a:ea typeface="Calibri" pitchFamily="34" charset="-122"/>
                <a:cs typeface="Calibri" pitchFamily="34" charset="-120"/>
              </a:rPr>
              <a:t>💡 Lower bound: when arr[mid] &gt;= target, save mid as result but continue searching LEFT for an earlier match.</a:t>
            </a:r>
            <a:endParaRPr lang="en-US" sz="900" dirty="0"/>
          </a:p>
        </p:txBody>
      </p:sp>
      <p:sp>
        <p:nvSpPr>
          <p:cNvPr id="51" name="Text 49"/>
          <p:cNvSpPr/>
          <p:nvPr/>
        </p:nvSpPr>
        <p:spPr>
          <a:xfrm>
            <a:off x="6327648" y="4663440"/>
            <a:ext cx="2606040" cy="256032"/>
          </a:xfrm>
          <a:prstGeom prst="rect">
            <a:avLst/>
          </a:prstGeom>
          <a:noFill/>
          <a:ln/>
        </p:spPr>
        <p:txBody>
          <a:bodyPr wrap="square" rtlCol="0" anchor="ctr"/>
          <a:lstStyle/>
          <a:p>
            <a:pPr indent="0" marL="0">
              <a:buNone/>
            </a:pPr>
            <a:r>
              <a:rPr lang="en-US" sz="900" dirty="0">
                <a:solidFill>
                  <a:srgbClr val="A78BFA"/>
                </a:solidFill>
                <a:latin typeface="Courier New" pitchFamily="34" charset="0"/>
                <a:ea typeface="Courier New" pitchFamily="34" charset="-122"/>
                <a:cs typeface="Courier New" pitchFamily="34" charset="-120"/>
              </a:rPr>
              <a:t>O(log n) · Lower bound variant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923"/>
          </a:solidFill>
          <a:ln w="12700">
            <a:solidFill>
              <a:srgbClr val="0F1923"/>
            </a:solidFill>
            <a:prstDash val="solid"/>
          </a:ln>
        </p:spPr>
      </p:sp>
      <p:sp>
        <p:nvSpPr>
          <p:cNvPr id="3" name="Text 1"/>
          <p:cNvSpPr/>
          <p:nvPr/>
        </p:nvSpPr>
        <p:spPr>
          <a:xfrm>
            <a:off x="365760" y="91440"/>
            <a:ext cx="8412480" cy="713232"/>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When to Use What — Decision Guide</a:t>
            </a:r>
            <a:endParaRPr lang="en-US" sz="2600" dirty="0"/>
          </a:p>
        </p:txBody>
      </p:sp>
      <p:sp>
        <p:nvSpPr>
          <p:cNvPr id="4" name="Shape 2"/>
          <p:cNvSpPr/>
          <p:nvPr/>
        </p:nvSpPr>
        <p:spPr>
          <a:xfrm>
            <a:off x="274320" y="987552"/>
            <a:ext cx="4160520" cy="3950208"/>
          </a:xfrm>
          <a:prstGeom prst="roundRect">
            <a:avLst>
              <a:gd name="adj" fmla="val 2778"/>
            </a:avLst>
          </a:prstGeom>
          <a:solidFill>
            <a:srgbClr val="F8FAFF"/>
          </a:solidFill>
          <a:ln w="12700">
            <a:solidFill>
              <a:srgbClr val="0F1923"/>
            </a:solidFill>
            <a:prstDash val="solid"/>
          </a:ln>
          <a:effectLst>
            <a:outerShdw sx="100000" sy="100000" kx="0" ky="0" algn="bl" rotWithShape="0" blurRad="101600" dist="38100" dir="2700000">
              <a:srgbClr val="000000">
                <a:alpha val="22000"/>
              </a:srgbClr>
            </a:outerShdw>
          </a:effectLst>
        </p:spPr>
      </p:sp>
      <p:sp>
        <p:nvSpPr>
          <p:cNvPr id="5" name="Text 3"/>
          <p:cNvSpPr/>
          <p:nvPr/>
        </p:nvSpPr>
        <p:spPr>
          <a:xfrm>
            <a:off x="457200" y="1051560"/>
            <a:ext cx="3794760" cy="347472"/>
          </a:xfrm>
          <a:prstGeom prst="rect">
            <a:avLst/>
          </a:prstGeom>
          <a:noFill/>
          <a:ln/>
        </p:spPr>
        <p:txBody>
          <a:bodyPr wrap="square" rtlCol="0" anchor="ctr"/>
          <a:lstStyle/>
          <a:p>
            <a:pPr indent="0" marL="0">
              <a:buNone/>
            </a:pPr>
            <a:r>
              <a:rPr lang="en-US" sz="1500" b="1" dirty="0">
                <a:solidFill>
                  <a:srgbClr val="0F1923"/>
                </a:solidFill>
                <a:latin typeface="Calibri" pitchFamily="34" charset="0"/>
                <a:ea typeface="Calibri" pitchFamily="34" charset="-122"/>
                <a:cs typeface="Calibri" pitchFamily="34" charset="-120"/>
              </a:rPr>
              <a:t>SORTING — Which one?</a:t>
            </a:r>
            <a:endParaRPr lang="en-US" sz="1500" dirty="0"/>
          </a:p>
        </p:txBody>
      </p:sp>
      <p:sp>
        <p:nvSpPr>
          <p:cNvPr id="6" name="Shape 4"/>
          <p:cNvSpPr/>
          <p:nvPr/>
        </p:nvSpPr>
        <p:spPr>
          <a:xfrm>
            <a:off x="411480" y="1481328"/>
            <a:ext cx="3886200" cy="475488"/>
          </a:xfrm>
          <a:prstGeom prst="roundRect">
            <a:avLst>
              <a:gd name="adj" fmla="val 13462"/>
            </a:avLst>
          </a:prstGeom>
          <a:solidFill>
            <a:srgbClr val="F43F5E">
              <a:alpha val="8000"/>
            </a:srgbClr>
          </a:solidFill>
          <a:ln w="12700">
            <a:solidFill>
              <a:srgbClr val="F43F5E"/>
            </a:solidFill>
            <a:prstDash val="solid"/>
          </a:ln>
        </p:spPr>
      </p:sp>
      <p:sp>
        <p:nvSpPr>
          <p:cNvPr id="7" name="Text 5"/>
          <p:cNvSpPr/>
          <p:nvPr/>
        </p:nvSpPr>
        <p:spPr>
          <a:xfrm>
            <a:off x="530352" y="1481328"/>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Data nearly sorted?</a:t>
            </a:r>
            <a:endParaRPr lang="en-US" sz="1050" dirty="0"/>
          </a:p>
        </p:txBody>
      </p:sp>
      <p:sp>
        <p:nvSpPr>
          <p:cNvPr id="8" name="Text 6"/>
          <p:cNvSpPr/>
          <p:nvPr/>
        </p:nvSpPr>
        <p:spPr>
          <a:xfrm>
            <a:off x="2377440" y="1481328"/>
            <a:ext cx="1828800" cy="475488"/>
          </a:xfrm>
          <a:prstGeom prst="rect">
            <a:avLst/>
          </a:prstGeom>
          <a:noFill/>
          <a:ln/>
        </p:spPr>
        <p:txBody>
          <a:bodyPr wrap="square" rtlCol="0" anchor="ctr"/>
          <a:lstStyle/>
          <a:p>
            <a:pPr indent="0" marL="0">
              <a:buNone/>
            </a:pPr>
            <a:r>
              <a:rPr lang="en-US" sz="1050" b="1" dirty="0">
                <a:solidFill>
                  <a:srgbClr val="F43F5E"/>
                </a:solidFill>
                <a:latin typeface="Calibri" pitchFamily="34" charset="0"/>
                <a:ea typeface="Calibri" pitchFamily="34" charset="-122"/>
                <a:cs typeface="Calibri" pitchFamily="34" charset="-120"/>
              </a:rPr>
              <a:t>→  Insertion Sort  O(n) best</a:t>
            </a:r>
            <a:endParaRPr lang="en-US" sz="1050" dirty="0"/>
          </a:p>
        </p:txBody>
      </p:sp>
      <p:sp>
        <p:nvSpPr>
          <p:cNvPr id="9" name="Shape 7"/>
          <p:cNvSpPr/>
          <p:nvPr/>
        </p:nvSpPr>
        <p:spPr>
          <a:xfrm>
            <a:off x="411480" y="2048256"/>
            <a:ext cx="3886200" cy="475488"/>
          </a:xfrm>
          <a:prstGeom prst="roundRect">
            <a:avLst>
              <a:gd name="adj" fmla="val 13462"/>
            </a:avLst>
          </a:prstGeom>
          <a:solidFill>
            <a:srgbClr val="F59E0B">
              <a:alpha val="8000"/>
            </a:srgbClr>
          </a:solidFill>
          <a:ln w="12700">
            <a:solidFill>
              <a:srgbClr val="F59E0B"/>
            </a:solidFill>
            <a:prstDash val="solid"/>
          </a:ln>
        </p:spPr>
      </p:sp>
      <p:sp>
        <p:nvSpPr>
          <p:cNvPr id="10" name="Text 8"/>
          <p:cNvSpPr/>
          <p:nvPr/>
        </p:nvSpPr>
        <p:spPr>
          <a:xfrm>
            <a:off x="530352" y="2048256"/>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Minimum swaps needed?</a:t>
            </a:r>
            <a:endParaRPr lang="en-US" sz="1050" dirty="0"/>
          </a:p>
        </p:txBody>
      </p:sp>
      <p:sp>
        <p:nvSpPr>
          <p:cNvPr id="11" name="Text 9"/>
          <p:cNvSpPr/>
          <p:nvPr/>
        </p:nvSpPr>
        <p:spPr>
          <a:xfrm>
            <a:off x="2377440" y="2048256"/>
            <a:ext cx="1828800" cy="475488"/>
          </a:xfrm>
          <a:prstGeom prst="rect">
            <a:avLst/>
          </a:prstGeom>
          <a:noFill/>
          <a:ln/>
        </p:spPr>
        <p:txBody>
          <a:bodyPr wrap="square"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Selection Sort  n swaps</a:t>
            </a:r>
            <a:endParaRPr lang="en-US" sz="1050" dirty="0"/>
          </a:p>
        </p:txBody>
      </p:sp>
      <p:sp>
        <p:nvSpPr>
          <p:cNvPr id="12" name="Shape 10"/>
          <p:cNvSpPr/>
          <p:nvPr/>
        </p:nvSpPr>
        <p:spPr>
          <a:xfrm>
            <a:off x="411480" y="2615184"/>
            <a:ext cx="3886200" cy="475488"/>
          </a:xfrm>
          <a:prstGeom prst="roundRect">
            <a:avLst>
              <a:gd name="adj" fmla="val 13462"/>
            </a:avLst>
          </a:prstGeom>
          <a:solidFill>
            <a:srgbClr val="22C55E">
              <a:alpha val="8000"/>
            </a:srgbClr>
          </a:solidFill>
          <a:ln w="12700">
            <a:solidFill>
              <a:srgbClr val="22C55E"/>
            </a:solidFill>
            <a:prstDash val="solid"/>
          </a:ln>
        </p:spPr>
      </p:sp>
      <p:sp>
        <p:nvSpPr>
          <p:cNvPr id="13" name="Text 11"/>
          <p:cNvSpPr/>
          <p:nvPr/>
        </p:nvSpPr>
        <p:spPr>
          <a:xfrm>
            <a:off x="530352" y="2615184"/>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Need stable + guaranteed?</a:t>
            </a:r>
            <a:endParaRPr lang="en-US" sz="1050" dirty="0"/>
          </a:p>
        </p:txBody>
      </p:sp>
      <p:sp>
        <p:nvSpPr>
          <p:cNvPr id="14" name="Text 12"/>
          <p:cNvSpPr/>
          <p:nvPr/>
        </p:nvSpPr>
        <p:spPr>
          <a:xfrm>
            <a:off x="2377440" y="2615184"/>
            <a:ext cx="1828800" cy="475488"/>
          </a:xfrm>
          <a:prstGeom prst="rect">
            <a:avLst/>
          </a:prstGeom>
          <a:noFill/>
          <a:ln/>
        </p:spPr>
        <p:txBody>
          <a:bodyPr wrap="square"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  Merge Sort  O(n log n)</a:t>
            </a:r>
            <a:endParaRPr lang="en-US" sz="1050" dirty="0"/>
          </a:p>
        </p:txBody>
      </p:sp>
      <p:sp>
        <p:nvSpPr>
          <p:cNvPr id="15" name="Shape 13"/>
          <p:cNvSpPr/>
          <p:nvPr/>
        </p:nvSpPr>
        <p:spPr>
          <a:xfrm>
            <a:off x="411480" y="3182112"/>
            <a:ext cx="3886200" cy="475488"/>
          </a:xfrm>
          <a:prstGeom prst="roundRect">
            <a:avLst>
              <a:gd name="adj" fmla="val 13462"/>
            </a:avLst>
          </a:prstGeom>
          <a:solidFill>
            <a:srgbClr val="A78BFA">
              <a:alpha val="8000"/>
            </a:srgbClr>
          </a:solidFill>
          <a:ln w="12700">
            <a:solidFill>
              <a:srgbClr val="A78BFA"/>
            </a:solidFill>
            <a:prstDash val="solid"/>
          </a:ln>
        </p:spPr>
      </p:sp>
      <p:sp>
        <p:nvSpPr>
          <p:cNvPr id="16" name="Text 14"/>
          <p:cNvSpPr/>
          <p:nvPr/>
        </p:nvSpPr>
        <p:spPr>
          <a:xfrm>
            <a:off x="530352" y="3182112"/>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General purpose, fastest?</a:t>
            </a:r>
            <a:endParaRPr lang="en-US" sz="1050" dirty="0"/>
          </a:p>
        </p:txBody>
      </p:sp>
      <p:sp>
        <p:nvSpPr>
          <p:cNvPr id="17" name="Text 15"/>
          <p:cNvSpPr/>
          <p:nvPr/>
        </p:nvSpPr>
        <p:spPr>
          <a:xfrm>
            <a:off x="2377440" y="3182112"/>
            <a:ext cx="1828800" cy="475488"/>
          </a:xfrm>
          <a:prstGeom prst="rect">
            <a:avLst/>
          </a:prstGeom>
          <a:noFill/>
          <a:ln/>
        </p:spPr>
        <p:txBody>
          <a:bodyPr wrap="square" rtlCol="0" anchor="ctr"/>
          <a:lstStyle/>
          <a:p>
            <a:pPr indent="0" marL="0">
              <a:buNone/>
            </a:pPr>
            <a:r>
              <a:rPr lang="en-US" sz="1050" b="1" dirty="0">
                <a:solidFill>
                  <a:srgbClr val="A78BFA"/>
                </a:solidFill>
                <a:latin typeface="Calibri" pitchFamily="34" charset="0"/>
                <a:ea typeface="Calibri" pitchFamily="34" charset="-122"/>
                <a:cs typeface="Calibri" pitchFamily="34" charset="-120"/>
              </a:rPr>
              <a:t>→  Quick Sort  O(n log n)</a:t>
            </a:r>
            <a:endParaRPr lang="en-US" sz="1050" dirty="0"/>
          </a:p>
        </p:txBody>
      </p:sp>
      <p:sp>
        <p:nvSpPr>
          <p:cNvPr id="18" name="Shape 16"/>
          <p:cNvSpPr/>
          <p:nvPr/>
        </p:nvSpPr>
        <p:spPr>
          <a:xfrm>
            <a:off x="411480" y="3749040"/>
            <a:ext cx="3886200" cy="475488"/>
          </a:xfrm>
          <a:prstGeom prst="roundRect">
            <a:avLst>
              <a:gd name="adj" fmla="val 13462"/>
            </a:avLst>
          </a:prstGeom>
          <a:solidFill>
            <a:srgbClr val="0D9488">
              <a:alpha val="8000"/>
            </a:srgbClr>
          </a:solidFill>
          <a:ln w="12700">
            <a:solidFill>
              <a:srgbClr val="0D9488"/>
            </a:solidFill>
            <a:prstDash val="solid"/>
          </a:ln>
        </p:spPr>
      </p:sp>
      <p:sp>
        <p:nvSpPr>
          <p:cNvPr id="19" name="Text 17"/>
          <p:cNvSpPr/>
          <p:nvPr/>
        </p:nvSpPr>
        <p:spPr>
          <a:xfrm>
            <a:off x="530352" y="3749040"/>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Teaching / detect sorted?</a:t>
            </a:r>
            <a:endParaRPr lang="en-US" sz="1050" dirty="0"/>
          </a:p>
        </p:txBody>
      </p:sp>
      <p:sp>
        <p:nvSpPr>
          <p:cNvPr id="20" name="Text 18"/>
          <p:cNvSpPr/>
          <p:nvPr/>
        </p:nvSpPr>
        <p:spPr>
          <a:xfrm>
            <a:off x="2377440" y="3749040"/>
            <a:ext cx="1828800" cy="47548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Bubble Sort  early exit</a:t>
            </a:r>
            <a:endParaRPr lang="en-US" sz="1050" dirty="0"/>
          </a:p>
        </p:txBody>
      </p:sp>
      <p:sp>
        <p:nvSpPr>
          <p:cNvPr id="21" name="Shape 19"/>
          <p:cNvSpPr/>
          <p:nvPr/>
        </p:nvSpPr>
        <p:spPr>
          <a:xfrm>
            <a:off x="411480" y="4315968"/>
            <a:ext cx="3886200" cy="475488"/>
          </a:xfrm>
          <a:prstGeom prst="roundRect">
            <a:avLst>
              <a:gd name="adj" fmla="val 13462"/>
            </a:avLst>
          </a:prstGeom>
          <a:solidFill>
            <a:srgbClr val="F43F5E">
              <a:alpha val="8000"/>
            </a:srgbClr>
          </a:solidFill>
          <a:ln w="12700">
            <a:solidFill>
              <a:srgbClr val="F43F5E"/>
            </a:solidFill>
            <a:prstDash val="solid"/>
          </a:ln>
        </p:spPr>
      </p:sp>
      <p:sp>
        <p:nvSpPr>
          <p:cNvPr id="22" name="Text 20"/>
          <p:cNvSpPr/>
          <p:nvPr/>
        </p:nvSpPr>
        <p:spPr>
          <a:xfrm>
            <a:off x="530352" y="4315968"/>
            <a:ext cx="182880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Data too big for RAM?</a:t>
            </a:r>
            <a:endParaRPr lang="en-US" sz="1050" dirty="0"/>
          </a:p>
        </p:txBody>
      </p:sp>
      <p:sp>
        <p:nvSpPr>
          <p:cNvPr id="23" name="Text 21"/>
          <p:cNvSpPr/>
          <p:nvPr/>
        </p:nvSpPr>
        <p:spPr>
          <a:xfrm>
            <a:off x="2377440" y="4315968"/>
            <a:ext cx="1828800" cy="475488"/>
          </a:xfrm>
          <a:prstGeom prst="rect">
            <a:avLst/>
          </a:prstGeom>
          <a:noFill/>
          <a:ln/>
        </p:spPr>
        <p:txBody>
          <a:bodyPr wrap="square" rtlCol="0" anchor="ctr"/>
          <a:lstStyle/>
          <a:p>
            <a:pPr indent="0" marL="0">
              <a:buNone/>
            </a:pPr>
            <a:r>
              <a:rPr lang="en-US" sz="1050" b="1" dirty="0">
                <a:solidFill>
                  <a:srgbClr val="F43F5E"/>
                </a:solidFill>
                <a:latin typeface="Calibri" pitchFamily="34" charset="0"/>
                <a:ea typeface="Calibri" pitchFamily="34" charset="-122"/>
                <a:cs typeface="Calibri" pitchFamily="34" charset="-120"/>
              </a:rPr>
              <a:t>→  External Merge Sort</a:t>
            </a:r>
            <a:endParaRPr lang="en-US" sz="1050" dirty="0"/>
          </a:p>
        </p:txBody>
      </p:sp>
      <p:sp>
        <p:nvSpPr>
          <p:cNvPr id="24" name="Shape 22"/>
          <p:cNvSpPr/>
          <p:nvPr/>
        </p:nvSpPr>
        <p:spPr>
          <a:xfrm>
            <a:off x="4709160" y="987552"/>
            <a:ext cx="4160520" cy="3950208"/>
          </a:xfrm>
          <a:prstGeom prst="roundRect">
            <a:avLst>
              <a:gd name="adj" fmla="val 2778"/>
            </a:avLst>
          </a:prstGeom>
          <a:solidFill>
            <a:srgbClr val="FFFCF5"/>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25" name="Text 23"/>
          <p:cNvSpPr/>
          <p:nvPr/>
        </p:nvSpPr>
        <p:spPr>
          <a:xfrm>
            <a:off x="4892040" y="1051560"/>
            <a:ext cx="3794760" cy="347472"/>
          </a:xfrm>
          <a:prstGeom prst="rect">
            <a:avLst/>
          </a:prstGeom>
          <a:noFill/>
          <a:ln/>
        </p:spPr>
        <p:txBody>
          <a:bodyPr wrap="square" rtlCol="0" anchor="ctr"/>
          <a:lstStyle/>
          <a:p>
            <a:pPr indent="0" marL="0">
              <a:buNone/>
            </a:pPr>
            <a:r>
              <a:rPr lang="en-US" sz="1500" b="1" dirty="0">
                <a:solidFill>
                  <a:srgbClr val="0F1923"/>
                </a:solidFill>
                <a:latin typeface="Calibri" pitchFamily="34" charset="0"/>
                <a:ea typeface="Calibri" pitchFamily="34" charset="-122"/>
                <a:cs typeface="Calibri" pitchFamily="34" charset="-120"/>
              </a:rPr>
              <a:t>SEARCHING — Which one?</a:t>
            </a:r>
            <a:endParaRPr lang="en-US" sz="1500" dirty="0"/>
          </a:p>
        </p:txBody>
      </p:sp>
      <p:sp>
        <p:nvSpPr>
          <p:cNvPr id="26" name="Shape 24"/>
          <p:cNvSpPr/>
          <p:nvPr/>
        </p:nvSpPr>
        <p:spPr>
          <a:xfrm>
            <a:off x="4846320" y="1481328"/>
            <a:ext cx="3886200" cy="475488"/>
          </a:xfrm>
          <a:prstGeom prst="roundRect">
            <a:avLst>
              <a:gd name="adj" fmla="val 13462"/>
            </a:avLst>
          </a:prstGeom>
          <a:solidFill>
            <a:srgbClr val="0D9488">
              <a:alpha val="8000"/>
            </a:srgbClr>
          </a:solidFill>
          <a:ln w="12700">
            <a:solidFill>
              <a:srgbClr val="0D9488"/>
            </a:solidFill>
            <a:prstDash val="solid"/>
          </a:ln>
        </p:spPr>
      </p:sp>
      <p:sp>
        <p:nvSpPr>
          <p:cNvPr id="27" name="Text 25"/>
          <p:cNvSpPr/>
          <p:nvPr/>
        </p:nvSpPr>
        <p:spPr>
          <a:xfrm>
            <a:off x="4983480" y="1481328"/>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Unsorted data?</a:t>
            </a:r>
            <a:endParaRPr lang="en-US" sz="1050" dirty="0"/>
          </a:p>
        </p:txBody>
      </p:sp>
      <p:sp>
        <p:nvSpPr>
          <p:cNvPr id="28" name="Text 26"/>
          <p:cNvSpPr/>
          <p:nvPr/>
        </p:nvSpPr>
        <p:spPr>
          <a:xfrm>
            <a:off x="6967728" y="1481328"/>
            <a:ext cx="1691640" cy="47548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Linear Search  O(n)</a:t>
            </a:r>
            <a:endParaRPr lang="en-US" sz="1050" dirty="0"/>
          </a:p>
        </p:txBody>
      </p:sp>
      <p:sp>
        <p:nvSpPr>
          <p:cNvPr id="29" name="Shape 27"/>
          <p:cNvSpPr/>
          <p:nvPr/>
        </p:nvSpPr>
        <p:spPr>
          <a:xfrm>
            <a:off x="4846320" y="2048256"/>
            <a:ext cx="3886200" cy="475488"/>
          </a:xfrm>
          <a:prstGeom prst="roundRect">
            <a:avLst>
              <a:gd name="adj" fmla="val 13462"/>
            </a:avLst>
          </a:prstGeom>
          <a:solidFill>
            <a:srgbClr val="22C55E">
              <a:alpha val="8000"/>
            </a:srgbClr>
          </a:solidFill>
          <a:ln w="12700">
            <a:solidFill>
              <a:srgbClr val="22C55E"/>
            </a:solidFill>
            <a:prstDash val="solid"/>
          </a:ln>
        </p:spPr>
      </p:sp>
      <p:sp>
        <p:nvSpPr>
          <p:cNvPr id="30" name="Text 28"/>
          <p:cNvSpPr/>
          <p:nvPr/>
        </p:nvSpPr>
        <p:spPr>
          <a:xfrm>
            <a:off x="4983480" y="2048256"/>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Membership check only?</a:t>
            </a:r>
            <a:endParaRPr lang="en-US" sz="1050" dirty="0"/>
          </a:p>
        </p:txBody>
      </p:sp>
      <p:sp>
        <p:nvSpPr>
          <p:cNvPr id="31" name="Text 29"/>
          <p:cNvSpPr/>
          <p:nvPr/>
        </p:nvSpPr>
        <p:spPr>
          <a:xfrm>
            <a:off x="6967728" y="2048256"/>
            <a:ext cx="1691640" cy="475488"/>
          </a:xfrm>
          <a:prstGeom prst="rect">
            <a:avLst/>
          </a:prstGeom>
          <a:noFill/>
          <a:ln/>
        </p:spPr>
        <p:txBody>
          <a:bodyPr wrap="square"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  Python set  O(1)</a:t>
            </a:r>
            <a:endParaRPr lang="en-US" sz="1050" dirty="0"/>
          </a:p>
        </p:txBody>
      </p:sp>
      <p:sp>
        <p:nvSpPr>
          <p:cNvPr id="32" name="Shape 30"/>
          <p:cNvSpPr/>
          <p:nvPr/>
        </p:nvSpPr>
        <p:spPr>
          <a:xfrm>
            <a:off x="4846320" y="2615184"/>
            <a:ext cx="3886200" cy="475488"/>
          </a:xfrm>
          <a:prstGeom prst="roundRect">
            <a:avLst>
              <a:gd name="adj" fmla="val 13462"/>
            </a:avLst>
          </a:prstGeom>
          <a:solidFill>
            <a:srgbClr val="F59E0B">
              <a:alpha val="8000"/>
            </a:srgbClr>
          </a:solidFill>
          <a:ln w="12700">
            <a:solidFill>
              <a:srgbClr val="F59E0B"/>
            </a:solidFill>
            <a:prstDash val="solid"/>
          </a:ln>
        </p:spPr>
      </p:sp>
      <p:sp>
        <p:nvSpPr>
          <p:cNvPr id="33" name="Text 31"/>
          <p:cNvSpPr/>
          <p:nvPr/>
        </p:nvSpPr>
        <p:spPr>
          <a:xfrm>
            <a:off x="4983480" y="2615184"/>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Sorted, exact match?</a:t>
            </a:r>
            <a:endParaRPr lang="en-US" sz="1050" dirty="0"/>
          </a:p>
        </p:txBody>
      </p:sp>
      <p:sp>
        <p:nvSpPr>
          <p:cNvPr id="34" name="Text 32"/>
          <p:cNvSpPr/>
          <p:nvPr/>
        </p:nvSpPr>
        <p:spPr>
          <a:xfrm>
            <a:off x="6967728" y="2615184"/>
            <a:ext cx="1691640" cy="475488"/>
          </a:xfrm>
          <a:prstGeom prst="rect">
            <a:avLst/>
          </a:prstGeom>
          <a:noFill/>
          <a:ln/>
        </p:spPr>
        <p:txBody>
          <a:bodyPr wrap="square"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Binary Search  O(log n)</a:t>
            </a:r>
            <a:endParaRPr lang="en-US" sz="1050" dirty="0"/>
          </a:p>
        </p:txBody>
      </p:sp>
      <p:sp>
        <p:nvSpPr>
          <p:cNvPr id="35" name="Shape 33"/>
          <p:cNvSpPr/>
          <p:nvPr/>
        </p:nvSpPr>
        <p:spPr>
          <a:xfrm>
            <a:off x="4846320" y="3182112"/>
            <a:ext cx="3886200" cy="475488"/>
          </a:xfrm>
          <a:prstGeom prst="roundRect">
            <a:avLst>
              <a:gd name="adj" fmla="val 13462"/>
            </a:avLst>
          </a:prstGeom>
          <a:solidFill>
            <a:srgbClr val="F43F5E">
              <a:alpha val="8000"/>
            </a:srgbClr>
          </a:solidFill>
          <a:ln w="12700">
            <a:solidFill>
              <a:srgbClr val="F43F5E"/>
            </a:solidFill>
            <a:prstDash val="solid"/>
          </a:ln>
        </p:spPr>
      </p:sp>
      <p:sp>
        <p:nvSpPr>
          <p:cNvPr id="36" name="Text 34"/>
          <p:cNvSpPr/>
          <p:nvPr/>
        </p:nvSpPr>
        <p:spPr>
          <a:xfrm>
            <a:off x="4983480" y="3182112"/>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First element ≥ x?</a:t>
            </a:r>
            <a:endParaRPr lang="en-US" sz="1050" dirty="0"/>
          </a:p>
        </p:txBody>
      </p:sp>
      <p:sp>
        <p:nvSpPr>
          <p:cNvPr id="37" name="Text 35"/>
          <p:cNvSpPr/>
          <p:nvPr/>
        </p:nvSpPr>
        <p:spPr>
          <a:xfrm>
            <a:off x="6967728" y="3182112"/>
            <a:ext cx="1691640" cy="475488"/>
          </a:xfrm>
          <a:prstGeom prst="rect">
            <a:avLst/>
          </a:prstGeom>
          <a:noFill/>
          <a:ln/>
        </p:spPr>
        <p:txBody>
          <a:bodyPr wrap="square" rtlCol="0" anchor="ctr"/>
          <a:lstStyle/>
          <a:p>
            <a:pPr indent="0" marL="0">
              <a:buNone/>
            </a:pPr>
            <a:r>
              <a:rPr lang="en-US" sz="1050" b="1" dirty="0">
                <a:solidFill>
                  <a:srgbClr val="F43F5E"/>
                </a:solidFill>
                <a:latin typeface="Calibri" pitchFamily="34" charset="0"/>
                <a:ea typeface="Calibri" pitchFamily="34" charset="-122"/>
                <a:cs typeface="Calibri" pitchFamily="34" charset="-120"/>
              </a:rPr>
              <a:t>→  Lower Bound Binary</a:t>
            </a:r>
            <a:endParaRPr lang="en-US" sz="1050" dirty="0"/>
          </a:p>
        </p:txBody>
      </p:sp>
      <p:sp>
        <p:nvSpPr>
          <p:cNvPr id="38" name="Shape 36"/>
          <p:cNvSpPr/>
          <p:nvPr/>
        </p:nvSpPr>
        <p:spPr>
          <a:xfrm>
            <a:off x="4846320" y="3749040"/>
            <a:ext cx="3886200" cy="475488"/>
          </a:xfrm>
          <a:prstGeom prst="roundRect">
            <a:avLst>
              <a:gd name="adj" fmla="val 13462"/>
            </a:avLst>
          </a:prstGeom>
          <a:solidFill>
            <a:srgbClr val="A78BFA">
              <a:alpha val="8000"/>
            </a:srgbClr>
          </a:solidFill>
          <a:ln w="12700">
            <a:solidFill>
              <a:srgbClr val="A78BFA"/>
            </a:solidFill>
            <a:prstDash val="solid"/>
          </a:ln>
        </p:spPr>
      </p:sp>
      <p:sp>
        <p:nvSpPr>
          <p:cNvPr id="39" name="Text 37"/>
          <p:cNvSpPr/>
          <p:nvPr/>
        </p:nvSpPr>
        <p:spPr>
          <a:xfrm>
            <a:off x="4983480" y="3749040"/>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Last element ≤ x?</a:t>
            </a:r>
            <a:endParaRPr lang="en-US" sz="1050" dirty="0"/>
          </a:p>
        </p:txBody>
      </p:sp>
      <p:sp>
        <p:nvSpPr>
          <p:cNvPr id="40" name="Text 38"/>
          <p:cNvSpPr/>
          <p:nvPr/>
        </p:nvSpPr>
        <p:spPr>
          <a:xfrm>
            <a:off x="6967728" y="3749040"/>
            <a:ext cx="1691640" cy="475488"/>
          </a:xfrm>
          <a:prstGeom prst="rect">
            <a:avLst/>
          </a:prstGeom>
          <a:noFill/>
          <a:ln/>
        </p:spPr>
        <p:txBody>
          <a:bodyPr wrap="square" rtlCol="0" anchor="ctr"/>
          <a:lstStyle/>
          <a:p>
            <a:pPr indent="0" marL="0">
              <a:buNone/>
            </a:pPr>
            <a:r>
              <a:rPr lang="en-US" sz="1050" b="1" dirty="0">
                <a:solidFill>
                  <a:srgbClr val="A78BFA"/>
                </a:solidFill>
                <a:latin typeface="Calibri" pitchFamily="34" charset="0"/>
                <a:ea typeface="Calibri" pitchFamily="34" charset="-122"/>
                <a:cs typeface="Calibri" pitchFamily="34" charset="-120"/>
              </a:rPr>
              <a:t>→  Upper Bound Binary</a:t>
            </a:r>
            <a:endParaRPr lang="en-US" sz="1050" dirty="0"/>
          </a:p>
        </p:txBody>
      </p:sp>
      <p:sp>
        <p:nvSpPr>
          <p:cNvPr id="41" name="Shape 39"/>
          <p:cNvSpPr/>
          <p:nvPr/>
        </p:nvSpPr>
        <p:spPr>
          <a:xfrm>
            <a:off x="4846320" y="4315968"/>
            <a:ext cx="3886200" cy="475488"/>
          </a:xfrm>
          <a:prstGeom prst="roundRect">
            <a:avLst>
              <a:gd name="adj" fmla="val 13462"/>
            </a:avLst>
          </a:prstGeom>
          <a:solidFill>
            <a:srgbClr val="F59E0B">
              <a:alpha val="8000"/>
            </a:srgbClr>
          </a:solidFill>
          <a:ln w="12700">
            <a:solidFill>
              <a:srgbClr val="F59E0B"/>
            </a:solidFill>
            <a:prstDash val="solid"/>
          </a:ln>
        </p:spPr>
      </p:sp>
      <p:sp>
        <p:nvSpPr>
          <p:cNvPr id="42" name="Text 40"/>
          <p:cNvSpPr/>
          <p:nvPr/>
        </p:nvSpPr>
        <p:spPr>
          <a:xfrm>
            <a:off x="4983480" y="4315968"/>
            <a:ext cx="1965960" cy="47548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Count in range [a, b]?</a:t>
            </a:r>
            <a:endParaRPr lang="en-US" sz="1050" dirty="0"/>
          </a:p>
        </p:txBody>
      </p:sp>
      <p:sp>
        <p:nvSpPr>
          <p:cNvPr id="43" name="Text 41"/>
          <p:cNvSpPr/>
          <p:nvPr/>
        </p:nvSpPr>
        <p:spPr>
          <a:xfrm>
            <a:off x="6967728" y="4315968"/>
            <a:ext cx="1691640" cy="475488"/>
          </a:xfrm>
          <a:prstGeom prst="rect">
            <a:avLst/>
          </a:prstGeom>
          <a:noFill/>
          <a:ln/>
        </p:spPr>
        <p:txBody>
          <a:bodyPr wrap="square"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Upper − Lower Bound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5033772"/>
            <a:ext cx="9144000" cy="109728"/>
          </a:xfrm>
          <a:prstGeom prst="rect">
            <a:avLst/>
          </a:prstGeom>
          <a:solidFill>
            <a:srgbClr val="F59E0B"/>
          </a:solidFill>
          <a:ln w="12700">
            <a:solidFill>
              <a:srgbClr val="F59E0B"/>
            </a:solidFill>
            <a:prstDash val="solid"/>
          </a:ln>
        </p:spPr>
      </p:sp>
      <p:sp>
        <p:nvSpPr>
          <p:cNvPr id="4" name="Text 2"/>
          <p:cNvSpPr/>
          <p:nvPr/>
        </p:nvSpPr>
        <p:spPr>
          <a:xfrm>
            <a:off x="457200" y="320040"/>
            <a:ext cx="8229600" cy="502920"/>
          </a:xfrm>
          <a:prstGeom prst="rect">
            <a:avLst/>
          </a:prstGeom>
          <a:noFill/>
          <a:ln/>
        </p:spPr>
        <p:txBody>
          <a:bodyPr wrap="square"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Placement Mantras</a:t>
            </a:r>
            <a:endParaRPr lang="en-US" sz="1800" dirty="0"/>
          </a:p>
        </p:txBody>
      </p:sp>
      <p:sp>
        <p:nvSpPr>
          <p:cNvPr id="5" name="Shape 3"/>
          <p:cNvSpPr/>
          <p:nvPr/>
        </p:nvSpPr>
        <p:spPr>
          <a:xfrm>
            <a:off x="457200" y="914400"/>
            <a:ext cx="8229600" cy="841248"/>
          </a:xfrm>
          <a:prstGeom prst="roundRect">
            <a:avLst>
              <a:gd name="adj" fmla="val 13043"/>
            </a:avLst>
          </a:prstGeom>
          <a:solidFill>
            <a:srgbClr val="0D9488">
              <a:alpha val="15000"/>
            </a:srgbClr>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6" name="Text 4"/>
          <p:cNvSpPr/>
          <p:nvPr/>
        </p:nvSpPr>
        <p:spPr>
          <a:xfrm>
            <a:off x="594360" y="960120"/>
            <a:ext cx="7955280" cy="749808"/>
          </a:xfrm>
          <a:prstGeom prst="rect">
            <a:avLst/>
          </a:prstGeom>
          <a:noFill/>
          <a:ln/>
        </p:spPr>
        <p:txBody>
          <a:bodyPr wrap="square" rtlCol="0" anchor="ctr"/>
          <a:lstStyle/>
          <a:p>
            <a:pPr algn="ctr" indent="0" marL="0">
              <a:buNone/>
            </a:pPr>
            <a:r>
              <a:rPr lang="en-US" sz="1350" i="1" dirty="0">
                <a:solidFill>
                  <a:srgbClr val="FFFFFF"/>
                </a:solidFill>
                <a:latin typeface="Calibri" pitchFamily="34" charset="0"/>
                <a:ea typeface="Calibri" pitchFamily="34" charset="-122"/>
                <a:cs typeface="Calibri" pitchFamily="34" charset="-120"/>
              </a:rPr>
              <a:t>"Is the data sorted? If yes → Binary Search O(log n). If no → Linear Search or Hash Set O(1). That one question scores you marks."</a:t>
            </a:r>
            <a:endParaRPr lang="en-US" sz="1350" dirty="0"/>
          </a:p>
        </p:txBody>
      </p:sp>
      <p:sp>
        <p:nvSpPr>
          <p:cNvPr id="7" name="Shape 5"/>
          <p:cNvSpPr/>
          <p:nvPr/>
        </p:nvSpPr>
        <p:spPr>
          <a:xfrm>
            <a:off x="457200" y="1874520"/>
            <a:ext cx="8229600" cy="841248"/>
          </a:xfrm>
          <a:prstGeom prst="roundRect">
            <a:avLst>
              <a:gd name="adj" fmla="val 13043"/>
            </a:avLst>
          </a:prstGeom>
          <a:solidFill>
            <a:srgbClr val="F59E0B">
              <a:alpha val="15000"/>
            </a:srgbClr>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8" name="Text 6"/>
          <p:cNvSpPr/>
          <p:nvPr/>
        </p:nvSpPr>
        <p:spPr>
          <a:xfrm>
            <a:off x="594360" y="1920240"/>
            <a:ext cx="7955280" cy="749808"/>
          </a:xfrm>
          <a:prstGeom prst="rect">
            <a:avLst/>
          </a:prstGeom>
          <a:noFill/>
          <a:ln/>
        </p:spPr>
        <p:txBody>
          <a:bodyPr wrap="square" rtlCol="0" anchor="ctr"/>
          <a:lstStyle/>
          <a:p>
            <a:pPr algn="ctr" indent="0" marL="0">
              <a:buNone/>
            </a:pPr>
            <a:r>
              <a:rPr lang="en-US" sz="1350" i="1" dirty="0">
                <a:solidFill>
                  <a:srgbClr val="FFFFFF"/>
                </a:solidFill>
                <a:latin typeface="Calibri" pitchFamily="34" charset="0"/>
                <a:ea typeface="Calibri" pitchFamily="34" charset="-122"/>
                <a:cs typeface="Calibri" pitchFamily="34" charset="-120"/>
              </a:rPr>
              <a:t>"For sorting: Quick Sort in practice. Merge Sort for stability. Insertion Sort for online/nearly-sorted. Always state your complexity before writing code."</a:t>
            </a:r>
            <a:endParaRPr lang="en-US" sz="1350" dirty="0"/>
          </a:p>
        </p:txBody>
      </p:sp>
      <p:sp>
        <p:nvSpPr>
          <p:cNvPr id="9" name="Shape 7"/>
          <p:cNvSpPr/>
          <p:nvPr/>
        </p:nvSpPr>
        <p:spPr>
          <a:xfrm>
            <a:off x="457200" y="2926080"/>
            <a:ext cx="1920240" cy="1874520"/>
          </a:xfrm>
          <a:prstGeom prst="roundRect">
            <a:avLst>
              <a:gd name="adj" fmla="val 4878"/>
            </a:avLst>
          </a:prstGeom>
          <a:solidFill>
            <a:srgbClr val="243447"/>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10" name="Text 8"/>
          <p:cNvSpPr/>
          <p:nvPr/>
        </p:nvSpPr>
        <p:spPr>
          <a:xfrm>
            <a:off x="457200" y="2999232"/>
            <a:ext cx="192024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548640" y="3429000"/>
            <a:ext cx="1737360" cy="320040"/>
          </a:xfrm>
          <a:prstGeom prst="rect">
            <a:avLst/>
          </a:prstGeom>
          <a:noFill/>
          <a:ln/>
        </p:spPr>
        <p:txBody>
          <a:bodyPr wrap="square"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Pattern First</a:t>
            </a:r>
            <a:endParaRPr lang="en-US" sz="1200" dirty="0"/>
          </a:p>
        </p:txBody>
      </p:sp>
      <p:sp>
        <p:nvSpPr>
          <p:cNvPr id="12" name="Text 10"/>
          <p:cNvSpPr/>
          <p:nvPr/>
        </p:nvSpPr>
        <p:spPr>
          <a:xfrm>
            <a:off x="548640" y="3767328"/>
            <a:ext cx="1737360" cy="80467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Identify: sorted? size? type?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Then pick the algorithm.</a:t>
            </a:r>
            <a:endParaRPr lang="en-US" sz="1000" dirty="0"/>
          </a:p>
        </p:txBody>
      </p:sp>
      <p:sp>
        <p:nvSpPr>
          <p:cNvPr id="13" name="Shape 11"/>
          <p:cNvSpPr/>
          <p:nvPr/>
        </p:nvSpPr>
        <p:spPr>
          <a:xfrm>
            <a:off x="2542032" y="2926080"/>
            <a:ext cx="1920240" cy="1874520"/>
          </a:xfrm>
          <a:prstGeom prst="roundRect">
            <a:avLst>
              <a:gd name="adj" fmla="val 4878"/>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14" name="Text 12"/>
          <p:cNvSpPr/>
          <p:nvPr/>
        </p:nvSpPr>
        <p:spPr>
          <a:xfrm>
            <a:off x="2542032" y="2999232"/>
            <a:ext cx="192024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2633472" y="3429000"/>
            <a:ext cx="1737360" cy="320040"/>
          </a:xfrm>
          <a:prstGeom prst="rect">
            <a:avLst/>
          </a:prstGeom>
          <a:noFill/>
          <a:ln/>
        </p:spPr>
        <p:txBody>
          <a:bodyPr wrap="square" rtlCol="0" anchor="ctr"/>
          <a:lstStyle/>
          <a:p>
            <a:pPr algn="ctr" indent="0" marL="0">
              <a:buNone/>
            </a:pPr>
            <a:r>
              <a:rPr lang="en-US" sz="1200" b="1" dirty="0">
                <a:solidFill>
                  <a:srgbClr val="FCD34D"/>
                </a:solidFill>
                <a:latin typeface="Calibri" pitchFamily="34" charset="0"/>
                <a:ea typeface="Calibri" pitchFamily="34" charset="-122"/>
                <a:cs typeface="Calibri" pitchFamily="34" charset="-120"/>
              </a:rPr>
              <a:t>State Complexity</a:t>
            </a:r>
            <a:endParaRPr lang="en-US" sz="1200" dirty="0"/>
          </a:p>
        </p:txBody>
      </p:sp>
      <p:sp>
        <p:nvSpPr>
          <p:cNvPr id="16" name="Text 14"/>
          <p:cNvSpPr/>
          <p:nvPr/>
        </p:nvSpPr>
        <p:spPr>
          <a:xfrm>
            <a:off x="2633472" y="3767328"/>
            <a:ext cx="1737360" cy="80467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Say O(n log n) before typing.</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Interviewers reward this.</a:t>
            </a:r>
            <a:endParaRPr lang="en-US" sz="1000" dirty="0"/>
          </a:p>
        </p:txBody>
      </p:sp>
      <p:sp>
        <p:nvSpPr>
          <p:cNvPr id="17" name="Shape 15"/>
          <p:cNvSpPr/>
          <p:nvPr/>
        </p:nvSpPr>
        <p:spPr>
          <a:xfrm>
            <a:off x="4626864" y="2926080"/>
            <a:ext cx="1920240" cy="1874520"/>
          </a:xfrm>
          <a:prstGeom prst="roundRect">
            <a:avLst>
              <a:gd name="adj" fmla="val 4878"/>
            </a:avLst>
          </a:prstGeom>
          <a:solidFill>
            <a:srgbClr val="243447"/>
          </a:solidFill>
          <a:ln w="12700">
            <a:solidFill>
              <a:srgbClr val="0D9488"/>
            </a:solidFill>
            <a:prstDash val="solid"/>
          </a:ln>
          <a:effectLst>
            <a:outerShdw sx="100000" sy="100000" kx="0" ky="0" algn="bl" rotWithShape="0" blurRad="101600" dist="38100" dir="2700000">
              <a:srgbClr val="000000">
                <a:alpha val="22000"/>
              </a:srgbClr>
            </a:outerShdw>
          </a:effectLst>
        </p:spPr>
      </p:sp>
      <p:sp>
        <p:nvSpPr>
          <p:cNvPr id="18" name="Text 16"/>
          <p:cNvSpPr/>
          <p:nvPr/>
        </p:nvSpPr>
        <p:spPr>
          <a:xfrm>
            <a:off x="4626864" y="2999232"/>
            <a:ext cx="192024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718304" y="3429000"/>
            <a:ext cx="1737360" cy="320040"/>
          </a:xfrm>
          <a:prstGeom prst="rect">
            <a:avLst/>
          </a:prstGeom>
          <a:noFill/>
          <a:ln/>
        </p:spPr>
        <p:txBody>
          <a:bodyPr wrap="square"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Know Variants</a:t>
            </a:r>
            <a:endParaRPr lang="en-US" sz="1200" dirty="0"/>
          </a:p>
        </p:txBody>
      </p:sp>
      <p:sp>
        <p:nvSpPr>
          <p:cNvPr id="20" name="Text 18"/>
          <p:cNvSpPr/>
          <p:nvPr/>
        </p:nvSpPr>
        <p:spPr>
          <a:xfrm>
            <a:off x="4718304" y="3767328"/>
            <a:ext cx="1737360" cy="80467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Lower bound, upper bound,</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range count — all binary.</a:t>
            </a:r>
            <a:endParaRPr lang="en-US" sz="1000" dirty="0"/>
          </a:p>
        </p:txBody>
      </p:sp>
      <p:sp>
        <p:nvSpPr>
          <p:cNvPr id="21" name="Shape 19"/>
          <p:cNvSpPr/>
          <p:nvPr/>
        </p:nvSpPr>
        <p:spPr>
          <a:xfrm>
            <a:off x="6711696" y="2926080"/>
            <a:ext cx="1920240" cy="1874520"/>
          </a:xfrm>
          <a:prstGeom prst="roundRect">
            <a:avLst>
              <a:gd name="adj" fmla="val 4878"/>
            </a:avLst>
          </a:prstGeom>
          <a:solidFill>
            <a:srgbClr val="243447"/>
          </a:solidFill>
          <a:ln w="12700">
            <a:solidFill>
              <a:srgbClr val="F59E0B"/>
            </a:solidFill>
            <a:prstDash val="solid"/>
          </a:ln>
          <a:effectLst>
            <a:outerShdw sx="100000" sy="100000" kx="0" ky="0" algn="bl" rotWithShape="0" blurRad="101600" dist="38100" dir="2700000">
              <a:srgbClr val="000000">
                <a:alpha val="22000"/>
              </a:srgbClr>
            </a:outerShdw>
          </a:effectLst>
        </p:spPr>
      </p:sp>
      <p:sp>
        <p:nvSpPr>
          <p:cNvPr id="22" name="Text 20"/>
          <p:cNvSpPr/>
          <p:nvPr/>
        </p:nvSpPr>
        <p:spPr>
          <a:xfrm>
            <a:off x="6711696" y="2999232"/>
            <a:ext cx="192024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6803136" y="3429000"/>
            <a:ext cx="1737360" cy="320040"/>
          </a:xfrm>
          <a:prstGeom prst="rect">
            <a:avLst/>
          </a:prstGeom>
          <a:noFill/>
          <a:ln/>
        </p:spPr>
        <p:txBody>
          <a:bodyPr wrap="square" rtlCol="0" anchor="ctr"/>
          <a:lstStyle/>
          <a:p>
            <a:pPr algn="ctr" indent="0" marL="0">
              <a:buNone/>
            </a:pPr>
            <a:r>
              <a:rPr lang="en-US" sz="1200" b="1" dirty="0">
                <a:solidFill>
                  <a:srgbClr val="FCD34D"/>
                </a:solidFill>
                <a:latin typeface="Calibri" pitchFamily="34" charset="0"/>
                <a:ea typeface="Calibri" pitchFamily="34" charset="-122"/>
                <a:cs typeface="Calibri" pitchFamily="34" charset="-120"/>
              </a:rPr>
              <a:t>Know Trade-offs</a:t>
            </a:r>
            <a:endParaRPr lang="en-US" sz="1200" dirty="0"/>
          </a:p>
        </p:txBody>
      </p:sp>
      <p:sp>
        <p:nvSpPr>
          <p:cNvPr id="24" name="Text 22"/>
          <p:cNvSpPr/>
          <p:nvPr/>
        </p:nvSpPr>
        <p:spPr>
          <a:xfrm>
            <a:off x="6803136" y="3767328"/>
            <a:ext cx="1737360" cy="80467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Stable vs unstable.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In-place vs extra space.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&amp; Searching — Placement Revision</dc:title>
  <dc:subject>PptxGenJS Presentation</dc:subject>
  <dc:creator>PptxGenJS</dc:creator>
  <cp:lastModifiedBy>PptxGenJS</cp:lastModifiedBy>
  <cp:revision>1</cp:revision>
  <dcterms:created xsi:type="dcterms:W3CDTF">2026-06-29T09:14:45Z</dcterms:created>
  <dcterms:modified xsi:type="dcterms:W3CDTF">2026-06-29T09:14:45Z</dcterms:modified>
</cp:coreProperties>
</file>