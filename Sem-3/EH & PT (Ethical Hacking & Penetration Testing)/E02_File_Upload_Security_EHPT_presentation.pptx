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2C8F"/>
    <a:srgbClr val="13287F"/>
    <a:srgbClr val="0F2067"/>
    <a:srgbClr val="162E99"/>
    <a:srgbClr val="1C3394"/>
    <a:srgbClr val="162E62"/>
    <a:srgbClr val="182C80"/>
    <a:srgbClr val="162E95"/>
    <a:srgbClr val="FFFFFF"/>
    <a:srgbClr val="16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15513F-DD1A-4EA4-AA42-10906ED8644F}" v="11" dt="2026-08-20T17:01:54.081"/>
    <p1510:client id="{BD0EB7E5-45A2-4B02-B23C-56CC2F053B33}" v="137" dt="2026-08-20T16:49:59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049" autoAdjust="0"/>
  </p:normalViewPr>
  <p:slideViewPr>
    <p:cSldViewPr snapToGrid="0">
      <p:cViewPr varScale="1">
        <p:scale>
          <a:sx n="83" d="100"/>
          <a:sy n="83" d="100"/>
        </p:scale>
        <p:origin x="701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C3C2E-E234-4423-B1A5-38F5F1FD548E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7309A-200B-4507-A178-1ECBDDD58D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73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Title slide. Introduce yourself and the topic: how a file upload form that accepts executable files can be abused, and how to defend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50 seconds. Explain what upload features are, what weak validation means (trusting name or Content-Type), and why executable files are risky. Stress the key idea: accepting a file is not the same as executing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 seconds. Extension checks can be tricked with double or alternate extensions; the Content-Type header is client-controlled. Possible impacts are remote code execution, malware distribution and data compromise. Walk the five-step flow and stress the condition on step 5: the file must be reachable and the server must execute that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 seconds. Authorized testers check four areas: file type, content, storage and execution, using harmless test files only. Then show the checklist on the right: written permission, test environment, harmless files, logging, clean-up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60 seconds. Four layers: file type allowlist, content and signature validation, storage outside the web root with restricted access, and execution disabled with least privilege. No single control is enough; if one fails, the next still protects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About 50 seconds. Summarize: weak validation is easy to bypass; impact depends on storage and execution settings; use all four layers; test only with authorization. Then point to the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77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838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08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50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680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153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533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04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028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44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497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98DA-5893-CC53-447B-296023D5F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0DA94-84BB-5CA2-102D-C9A3ABDCD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D46F7-A2C7-CE41-4BBA-400B0E515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6E9C3-D489-4EFF-7645-2F843618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56148-CA06-7B95-1212-95A5BBC5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24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860D3-F771-437E-7D8F-3420D40C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0EEB1-38CC-317F-2D8C-BD9561CC4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96B45-0127-BFF8-69B9-F0909B6A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B18AD-7B1B-17B7-2715-FF39B052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40B24-493C-65D5-C983-6BA0568A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31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A1D0D-C682-E637-E47A-338F7CF94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CEA15-4C8F-34CA-6EDD-BFFF681F9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54CB6-6E76-E536-1AFD-F615F3AC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54140-73DA-5ED2-F30D-FB035601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A1D1C-C4E6-D09D-C400-0D52DBC9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62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3DFF-0D1F-02F8-BAD7-96699BDA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EF1EF-98C4-6F96-63CE-660484D63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77974-DAE2-B4BD-469C-60D1E5696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7EE4F-3570-932D-F0F1-8BD1F307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BEDBA-4207-7F37-F29C-C892F57AA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49AB3-3FA5-4D87-DC76-EBCE9FA60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125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3DEC0-111B-D9E8-2212-BBA1C0E9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A847E-6525-4CBC-C2F0-88D29A1DC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7A7C5-E263-C91C-048A-B8F02393E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81731D-82D8-B060-1B0A-8C66BAEA68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930C94-153A-37C3-B74A-4B2677B74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0C91E5-F1D2-DFED-0D65-3D89427D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85962-D381-8C81-F02A-80B718577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60DBB-A4FC-D8D0-F8B7-5CCF5E11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35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73F5-0B53-C2DF-0228-AF2CCA58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5CDEC-D46F-AFE9-190E-784990D9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2A3DA-67A0-D516-A2F9-942F1673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62687-2085-15CA-BB92-921FBCD9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7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516C8A-0408-83DF-9F2B-3B44156A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6C6A5-B371-E9EA-D988-34F31C622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8C211-3BF0-26CF-5655-2ECA8051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4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D296-1A0C-FE5D-D95B-C94E670A8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42298-AA77-B678-AFEC-B802EEC67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05B27-D7FD-6E74-6F3D-88061B08C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462F2-C56D-F7F4-1F75-72EB18B74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0B71F-21B9-2431-740E-79180C88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3D340-2B14-4896-195A-CB6A1EF4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966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F20E-2514-D5BA-22F6-90BA9F214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01CBE2-BBD9-CA3B-39A6-046053A3E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95AF3-8BEB-ADEA-8384-E9FFA4285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9AEBA-D2E6-AA4C-961B-293F4F9A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A8F15-198E-910A-4D89-371A13DE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10FFB-D855-114C-590C-62E0F4A8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80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8E135-1070-D74A-2BAF-9F06DD3A9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3EED0-9211-10A2-46A7-C30708BB5C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812DE-17F1-96C5-CC03-6FFB50EFE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BE601-0967-17C0-B000-DAE1CA2E2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CB12C-851E-8373-728A-A913D7E8D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76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B96095-60A3-BB6E-00A2-30F3AC823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F410B-3FDD-5C8B-52A0-F0E7B278A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E615B-81F5-1323-993B-5E9C5B3F6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A9648-853C-D989-27B9-C51FBE84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00EA5-F97A-7C3D-966B-FF7C3BF8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F93C-21A0-AEBA-F710-42191C1E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79A87-E84A-699E-C5B4-0E5996EEE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64889-A65F-9E52-E9BC-979BC595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22044-3CA3-4DAF-3B78-B2830831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32687"/>
            <a:ext cx="9878568" cy="835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76" y="1972284"/>
            <a:ext cx="10515600" cy="4710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A5547-0C75-4804-84DA-EE02A5E2A271}" type="datetimeFigureOut">
              <a:rPr lang="en-IN" smtClean="0"/>
              <a:t>22-10-2026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0AC10B-E2DB-40D6-76DD-486DF027A00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0620"/>
            <a:ext cx="3180089" cy="943307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0ED23-4570-478F-8E10-B8447DF96B4E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28113-212E-1B30-DD36-BE99587541B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280" y="0"/>
            <a:ext cx="2958084" cy="72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7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E4852-7B81-98E4-69F2-DAE264E6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D7339-01BF-AD39-7883-57DF9A9E1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A9B9F-4B87-91D4-F644-05E25AAA5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A7F34-3CC7-4D26-8DEE-BB0878DBC50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84FB-2BF4-4B01-5A54-340A2EFB1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C4F6F-FAEA-1AD4-8F8A-3F9C48328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3A3793-7AC4-4EE9-B80F-06CFDC7D1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7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heatsheetseries.owasp.org/cheatsheets/File_Upload_Cheat_Shee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we.mitre.org/data/definitions/434.html" TargetMode="External"/><Relationship Id="rId5" Type="http://schemas.openxmlformats.org/officeDocument/2006/relationships/hyperlink" Target="https://wstg.owasp.org/latest/4-Web_Application_Security_Testing/10-Business_Logic/09-Upload_of_Malicious_Files/" TargetMode="External"/><Relationship Id="rId4" Type="http://schemas.openxmlformats.org/officeDocument/2006/relationships/hyperlink" Target="https://wstg.owasp.org/latest/4-Web_Application_Security_Testing/10-Business_Logic/08-Upload_of_Unexpected_File_Typ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 bwMode="auto">
          <a:xfrm>
            <a:off x="6647821" y="4474832"/>
            <a:ext cx="5115719" cy="835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002060"/>
                </a:solidFill>
                <a:latin typeface="Bell Gothic Std Black"/>
                <a:ea typeface="Adobe Gothic Std B"/>
                <a:cs typeface="Adobe Hebrew"/>
              </a:rPr>
              <a:t>E02 </a:t>
            </a:r>
          </a:p>
          <a:p>
            <a:pPr algn="r" ea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z="2000" b="1" dirty="0">
                <a:solidFill>
                  <a:srgbClr val="002060"/>
                </a:solidFill>
                <a:latin typeface="Bell Gothic Std Black"/>
                <a:ea typeface="Adobe Gothic Std B"/>
                <a:cs typeface="Adobe Hebrew"/>
              </a:rPr>
              <a:t>Vishal Chudasama</a:t>
            </a:r>
          </a:p>
        </p:txBody>
      </p:sp>
      <p:sp>
        <p:nvSpPr>
          <p:cNvPr id="6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8734425" y="6356350"/>
            <a:ext cx="2843213" cy="365125"/>
          </a:xfrm>
        </p:spPr>
        <p:txBody>
          <a:bodyPr/>
          <a:lstStyle/>
          <a:p>
            <a:pPr>
              <a:defRPr/>
            </a:pPr>
            <a:fld id="{657B3580-1400-497E-A019-9190D5AB9838}" type="slidenum">
              <a:rPr lang="en-IN"/>
              <a:pPr>
                <a:defRPr/>
              </a:pPr>
              <a:t>1</a:t>
            </a:fld>
            <a:endParaRPr lang="en-IN" dirty="0"/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1737360" y="2148840"/>
            <a:ext cx="8686800" cy="128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3600" b="1" dirty="0">
                <a:solidFill>
                  <a:srgbClr val="002060"/>
                </a:solidFill>
                <a:latin typeface="Bell Gothic Std Black"/>
                <a:ea typeface="Adobe Gothic Std B"/>
                <a:cs typeface="Adobe Hebrew"/>
              </a:rPr>
              <a:t>A File Upload Form Accepts Executable Files</a:t>
            </a:r>
          </a:p>
        </p:txBody>
      </p:sp>
    </p:spTree>
    <p:extLst>
      <p:ext uri="{BB962C8B-B14F-4D97-AF65-F5344CB8AC3E}">
        <p14:creationId xmlns:p14="http://schemas.microsoft.com/office/powerpoint/2010/main" val="274575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2060"/>
                </a:solidFill>
              </a:rPr>
              <a:t>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2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383280" cy="237744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B7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" y="2148840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488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File upload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Lets users send files to a web app, such as profile photos, resumes, and documents. The server must receive, check, store, and serve them safely.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65960"/>
            <a:ext cx="3383280" cy="237744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B7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2148840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488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Weak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8892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Trusting only the file name or the Content-Type header. Both come from the client, so an unsafe file can look harmless.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65960"/>
            <a:ext cx="3383280" cy="237744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B7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21040" y="2148840"/>
            <a:ext cx="411480" cy="411480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14884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Executable files are risky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88920"/>
            <a:ext cx="30175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Scripts or programs on the server can run code. They run only if stored in a reachable place and the server is set to execute them.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6344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10149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Key idea: </a:t>
            </a:r>
            <a:r>
              <a:rPr sz="1700" b="0" i="0">
                <a:solidFill>
                  <a:srgbClr val="1F1F1F"/>
                </a:solidFill>
                <a:latin typeface="Calibri"/>
              </a:rPr>
              <a:t>accepting an executable file does not automatically execute it. The risk depends on storage and server settings.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Subject: Ethical Hacking and Penetration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2060"/>
                </a:solidFill>
              </a:rPr>
              <a:t>Security Risks of Weak Upload Validation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Why weak checks fail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4937760" cy="9144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B7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Extension-only check</a:t>
            </a:r>
          </a:p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Names are easy to fake: shell.php.jpg, .PhP, or alternates like .phtml can slip through.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54680"/>
            <a:ext cx="4937760" cy="9144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B7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Content-Type header</a:t>
            </a:r>
          </a:p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Sent by the client, so it can be changed to image/jpeg for any file.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02060"/>
                </a:solidFill>
                <a:latin typeface="Calibri"/>
              </a:rPr>
              <a:t>What can go wrong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2258568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148840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Remote code execution</a:t>
            </a:r>
          </a:p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Possible only if the file is reachable and the server runs it.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935224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825496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Malware distribution</a:t>
            </a:r>
          </a:p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The site can host and serve harmful files to other users.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361188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502152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Data compromise</a:t>
            </a:r>
          </a:p>
          <a:p>
            <a:pPr algn="l"/>
            <a:r>
              <a:rPr sz="1400" b="0" i="0">
                <a:solidFill>
                  <a:srgbClr val="595959"/>
                </a:solidFill>
                <a:latin typeface="Calibri"/>
              </a:rPr>
              <a:t>Overwritten files, exposed secrets, or script running in users’ browsers.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Calibri"/>
              </a:rPr>
              <a:t>Simple attack flow (concept)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663440"/>
            <a:ext cx="1783080" cy="12344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727448"/>
            <a:ext cx="1600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1  Upload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F1F1F"/>
                </a:solidFill>
                <a:latin typeface="Calibri"/>
              </a:rPr>
              <a:t>File sent with a harmless-looking name or type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33472" y="5285232"/>
            <a:ext cx="345186" cy="0"/>
          </a:xfrm>
          <a:prstGeom prst="line">
            <a:avLst/>
          </a:prstGeom>
          <a:ln w="317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006090" y="4663440"/>
            <a:ext cx="1783080" cy="12344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97530" y="4727448"/>
            <a:ext cx="1600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2  Weak check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F1F1F"/>
                </a:solidFill>
                <a:latin typeface="Calibri"/>
              </a:rPr>
              <a:t>Extension or header check passes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816602" y="5285232"/>
            <a:ext cx="345186" cy="0"/>
          </a:xfrm>
          <a:prstGeom prst="line">
            <a:avLst/>
          </a:prstGeom>
          <a:ln w="317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89220" y="4663440"/>
            <a:ext cx="1783080" cy="12344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80660" y="4727448"/>
            <a:ext cx="1600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3  Stored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F1F1F"/>
                </a:solidFill>
                <a:latin typeface="Calibri"/>
              </a:rPr>
              <a:t>Saved in a web-reachable folder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99732" y="5285232"/>
            <a:ext cx="345186" cy="0"/>
          </a:xfrm>
          <a:prstGeom prst="line">
            <a:avLst/>
          </a:prstGeom>
          <a:ln w="317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72350" y="4663440"/>
            <a:ext cx="1783080" cy="123444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63790" y="4727448"/>
            <a:ext cx="1600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4  Requested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F1F1F"/>
                </a:solidFill>
                <a:latin typeface="Calibri"/>
              </a:rPr>
              <a:t>Attacker opens the file’s URL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82861" y="5285232"/>
            <a:ext cx="345187" cy="0"/>
          </a:xfrm>
          <a:prstGeom prst="line">
            <a:avLst/>
          </a:prstGeom>
          <a:ln w="317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55480" y="4663440"/>
            <a:ext cx="1783080" cy="123444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46920" y="4727448"/>
            <a:ext cx="1600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00000"/>
                </a:solidFill>
                <a:latin typeface="Calibri"/>
              </a:rPr>
              <a:t>5  Impact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1F1F1F"/>
                </a:solidFill>
                <a:latin typeface="Calibri"/>
              </a:rPr>
              <a:t>Runs only if the server executes 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9618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Step 5 needs both: the file is in a reachable location AND the server is set to execute that file 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2060"/>
                </a:solidFill>
              </a:rPr>
              <a:t>Penetration Testing Assessment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4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File 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783080"/>
            <a:ext cx="5212080" cy="9144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B7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78308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Try approved and unapproved extensions, including upper-case, double-extension, and alternate-extension variants. Confirm checks run on the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39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39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2834639"/>
            <a:ext cx="5212080" cy="9144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B7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2834639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Send harmless files whose content does not match their name or Content-Type (for example, text renamed .jpg). Confirm signature checks and size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3886200"/>
            <a:ext cx="5212080" cy="9144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B7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388620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Find where files are saved and whether the URL is directly reachable. Check filename handling, access control, and storage outside the web root.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3776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1371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4937760"/>
            <a:ext cx="5212080" cy="91440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B7C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20" y="4937760"/>
            <a:ext cx="4983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Upload a benign marker file that only shows a test string. Check that it comes back as plain data and is not run by the server.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1783080"/>
            <a:ext cx="3657600" cy="4069080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1874519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Safe testing checklist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441448"/>
            <a:ext cx="237744" cy="237744"/>
          </a:xfrm>
          <a:prstGeom prst="rect">
            <a:avLst/>
          </a:prstGeom>
          <a:noFill/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242316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Written authorization and agreed scope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008376"/>
            <a:ext cx="237744" cy="237744"/>
          </a:xfrm>
          <a:prstGeom prst="rect">
            <a:avLst/>
          </a:prstGeom>
          <a:noFill/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2990088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Test or staging system, not production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575304"/>
            <a:ext cx="237744" cy="237744"/>
          </a:xfrm>
          <a:prstGeom prst="rect">
            <a:avLst/>
          </a:prstGeom>
          <a:noFill/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3557016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Harmless files only (text, EICAR test file)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4142231"/>
            <a:ext cx="237744" cy="237744"/>
          </a:xfrm>
          <a:prstGeom prst="rect">
            <a:avLst/>
          </a:prstGeom>
          <a:noFill/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75320" y="4123944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No real malware; log every upload and URL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4709159"/>
            <a:ext cx="237744" cy="237744"/>
          </a:xfrm>
          <a:prstGeom prst="rect">
            <a:avLst/>
          </a:prstGeom>
          <a:noFill/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20" y="4690872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Delete test files after testing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5276088"/>
            <a:ext cx="237744" cy="237744"/>
          </a:xfrm>
          <a:prstGeom prst="rect">
            <a:avLst/>
          </a:prstGeom>
          <a:noFill/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75320" y="525780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  <a:latin typeface="Calibri"/>
              </a:rPr>
              <a:t>Report findings with fixes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2060"/>
                </a:solidFill>
              </a:rPr>
              <a:t>Layered Security Controls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5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2423160" cy="36576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2423160" cy="5943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  File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Server-side extension allowlist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3240"/>
            <a:ext cx="2148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Allow only needed types (e.g., .jpg, .png, .pdf)</a:t>
            </a:r>
          </a:p>
          <a:p>
            <a:pPr algn="l">
              <a:spcBef>
                <a:spcPts val="90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Check after decoding the name; reject double extensions</a:t>
            </a:r>
          </a:p>
          <a:p>
            <a:pPr algn="l">
              <a:spcBef>
                <a:spcPts val="90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Treat Content-Type as a hint only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73551" y="3017520"/>
            <a:ext cx="219457" cy="0"/>
          </a:xfrm>
          <a:prstGeom prst="line">
            <a:avLst/>
          </a:prstGeom>
          <a:ln w="3175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20440" y="1783080"/>
            <a:ext cx="2423160" cy="36576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1783080"/>
            <a:ext cx="2423160" cy="5943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1783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2 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87168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Signature check and secure parsing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63240"/>
            <a:ext cx="2148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Verify the file signature matches the type</a:t>
            </a:r>
          </a:p>
          <a:p>
            <a:pPr algn="l">
              <a:spcBef>
                <a:spcPts val="90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Re-encode images; use patched, sandboxed parsers</a:t>
            </a:r>
          </a:p>
          <a:p>
            <a:pPr algn="l">
              <a:spcBef>
                <a:spcPts val="90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Set size limits and scan with antivirus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71032" y="3017520"/>
            <a:ext cx="219456" cy="0"/>
          </a:xfrm>
          <a:prstGeom prst="line">
            <a:avLst/>
          </a:prstGeom>
          <a:ln w="3175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1783080"/>
            <a:ext cx="2423160" cy="36576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783080"/>
            <a:ext cx="2423160" cy="5943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783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3 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487168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Outside the web root,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63240"/>
            <a:ext cx="2148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Store outside the web root or on another host</a:t>
            </a:r>
          </a:p>
          <a:p>
            <a:pPr algn="l">
              <a:spcBef>
                <a:spcPts val="90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Use random, app-generated filenames</a:t>
            </a:r>
          </a:p>
          <a:p>
            <a:pPr algn="l">
              <a:spcBef>
                <a:spcPts val="90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Allow only authorized users; limit permissions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68512" y="3017520"/>
            <a:ext cx="219456" cy="0"/>
          </a:xfrm>
          <a:prstGeom prst="line">
            <a:avLst/>
          </a:prstGeom>
          <a:ln w="31750">
            <a:solidFill>
              <a:srgbClr val="002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15400" y="1783080"/>
            <a:ext cx="2423160" cy="3657600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15400" y="1783080"/>
            <a:ext cx="2423160" cy="59436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52560" y="1783080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4 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487168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Disable execution, least privilege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063240"/>
            <a:ext cx="2148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No execute rights or script handlers in upload folders</a:t>
            </a:r>
          </a:p>
          <a:p>
            <a:pPr algn="l">
              <a:spcBef>
                <a:spcPts val="90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Serve files with correct type and download headers</a:t>
            </a:r>
          </a:p>
          <a:p>
            <a:pPr algn="l">
              <a:spcBef>
                <a:spcPts val="900"/>
              </a:spcBef>
            </a:pPr>
            <a:r>
              <a:rPr sz="1500" b="0" i="0">
                <a:solidFill>
                  <a:srgbClr val="1F1F1F"/>
                </a:solidFill>
                <a:latin typeface="Calibri"/>
              </a:rPr>
              <a:t>•  Run the app with least privilege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62356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62356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Calibri"/>
              </a:rPr>
              <a:t>Defense in depth: </a:t>
            </a:r>
            <a:r>
              <a:rPr sz="1500" b="0" i="0">
                <a:solidFill>
                  <a:srgbClr val="1F1F1F"/>
                </a:solidFill>
                <a:latin typeface="Calibri"/>
              </a:rPr>
              <a:t>no single control is enough. If one layer fails, the next still protects the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002060"/>
                </a:solidFill>
              </a:rPr>
              <a:t>Conclusion and References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ED23-4570-478F-8E10-B8447DF96B4E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•  Extension-only or Content-Type-only checks are easy to bypass.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1F1F1F"/>
                </a:solidFill>
                <a:latin typeface="Calibri"/>
              </a:rPr>
              <a:t>•  Risk depends on where the file is stored and whether the server will execute it.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1F1F1F"/>
                </a:solidFill>
                <a:latin typeface="Calibri"/>
              </a:rPr>
              <a:t>•  Impacts include code execution, malware hosting, and data compromise.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Defensive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49377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•  Use a server-side allowlist and verify file signature and content.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1F1F1F"/>
                </a:solidFill>
                <a:latin typeface="Calibri"/>
              </a:rPr>
              <a:t>•  Store outside the web root with random names and restricted access.</a:t>
            </a:r>
          </a:p>
          <a:p>
            <a:pPr algn="l">
              <a:spcBef>
                <a:spcPts val="500"/>
              </a:spcBef>
            </a:pPr>
            <a:r>
              <a:rPr sz="1600" b="0" i="0">
                <a:solidFill>
                  <a:srgbClr val="1F1F1F"/>
                </a:solidFill>
                <a:latin typeface="Calibri"/>
              </a:rPr>
              <a:t>•  Disable execution, use least privilege, and test only with authorization.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83080"/>
            <a:ext cx="5303520" cy="3657600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Calibri"/>
              </a:rP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31720"/>
            <a:ext cx="49377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F1F1F"/>
                </a:solidFill>
                <a:latin typeface="Calibri"/>
              </a:rPr>
              <a:t>[1] OWASP File Upload Cheat Sheet</a:t>
            </a:r>
          </a:p>
          <a:p>
            <a:pPr algn="l"/>
            <a:r>
              <a:rPr sz="1100" b="0" i="0">
                <a:solidFill>
                  <a:srgbClr val="0563C1"/>
                </a:solidFill>
                <a:latin typeface="Calibri"/>
                <a:hlinkClick r:id="rId3"/>
              </a:rPr>
              <a:t>https://cheatsheetseries.owasp.org/cheatsheets/File_Upload_Cheat_Sheet.html</a:t>
            </a:r>
          </a:p>
          <a:p>
            <a:pPr algn="l">
              <a:spcBef>
                <a:spcPts val="800"/>
              </a:spcBef>
            </a:pPr>
            <a:r>
              <a:rPr sz="1300" b="1" i="0">
                <a:solidFill>
                  <a:srgbClr val="1F1F1F"/>
                </a:solidFill>
                <a:latin typeface="Calibri"/>
              </a:rPr>
              <a:t>[2] OWASP Web Security Testing Guide: WSTG-BUSL-08, Upload of Unexpected File Types</a:t>
            </a:r>
          </a:p>
          <a:p>
            <a:pPr algn="l"/>
            <a:r>
              <a:rPr sz="1100" b="0" i="0">
                <a:solidFill>
                  <a:srgbClr val="0563C1"/>
                </a:solidFill>
                <a:latin typeface="Calibri"/>
                <a:hlinkClick r:id="rId4"/>
              </a:rPr>
              <a:t>https://wstg.owasp.org/latest/4-Web_Application_Security_Testing/10-Business_Logic/08-Upload_of_Unexpected_File_Types/</a:t>
            </a:r>
          </a:p>
          <a:p>
            <a:pPr algn="l">
              <a:spcBef>
                <a:spcPts val="800"/>
              </a:spcBef>
            </a:pPr>
            <a:r>
              <a:rPr sz="1300" b="1" i="0">
                <a:solidFill>
                  <a:srgbClr val="1F1F1F"/>
                </a:solidFill>
                <a:latin typeface="Calibri"/>
              </a:rPr>
              <a:t>[3] OWASP Web Security Testing Guide: WSTG-BUSL-09, Upload of Malicious Files</a:t>
            </a:r>
          </a:p>
          <a:p>
            <a:pPr algn="l"/>
            <a:r>
              <a:rPr sz="1100" b="0" i="0">
                <a:solidFill>
                  <a:srgbClr val="0563C1"/>
                </a:solidFill>
                <a:latin typeface="Calibri"/>
                <a:hlinkClick r:id="rId5"/>
              </a:rPr>
              <a:t>https://wstg.owasp.org/latest/4-Web_Application_Security_Testing/10-Business_Logic/09-Upload_of_Malicious_Files/</a:t>
            </a:r>
          </a:p>
          <a:p>
            <a:pPr algn="l">
              <a:spcBef>
                <a:spcPts val="800"/>
              </a:spcBef>
            </a:pPr>
            <a:r>
              <a:rPr sz="1300" b="1" i="0">
                <a:solidFill>
                  <a:srgbClr val="1F1F1F"/>
                </a:solidFill>
                <a:latin typeface="Calibri"/>
              </a:rPr>
              <a:t>[4] CWE-434: Unrestricted Upload of File with Dangerous Type (MITRE)</a:t>
            </a:r>
          </a:p>
          <a:p>
            <a:pPr algn="l"/>
            <a:r>
              <a:rPr sz="1100" b="0" i="0">
                <a:solidFill>
                  <a:srgbClr val="0563C1"/>
                </a:solidFill>
                <a:latin typeface="Calibri"/>
                <a:hlinkClick r:id="rId6"/>
              </a:rPr>
              <a:t>https://cwe.mitre.org/data/definitions/434.html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16450</TotalTime>
  <Words>1143</Words>
  <Application>Microsoft Office PowerPoint</Application>
  <PresentationFormat>Widescreen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Bell Gothic Std Black</vt:lpstr>
      <vt:lpstr>Calibri</vt:lpstr>
      <vt:lpstr>Calibri Light</vt:lpstr>
      <vt:lpstr>Office Theme</vt:lpstr>
      <vt:lpstr>Custom Design</vt:lpstr>
      <vt:lpstr>PowerPoint Presentation</vt:lpstr>
      <vt:lpstr>Introduction</vt:lpstr>
      <vt:lpstr>Security Risks of Weak Upload Validation</vt:lpstr>
      <vt:lpstr>Penetration Testing Assessment</vt:lpstr>
      <vt:lpstr>Layered Security Controls</vt:lpstr>
      <vt:lpstr>Conclusion and References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Chudasama Vishal</cp:lastModifiedBy>
  <cp:revision>419</cp:revision>
  <dcterms:created xsi:type="dcterms:W3CDTF">2023-09-16T07:20:30Z</dcterms:created>
  <dcterms:modified xsi:type="dcterms:W3CDTF">2026-10-22T17:19:12Z</dcterms:modified>
</cp:coreProperties>
</file>