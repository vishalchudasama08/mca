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6" r:id="rId3"/>
    <p:sldId id="420" r:id="rId4"/>
    <p:sldId id="377" r:id="rId5"/>
    <p:sldId id="378" r:id="rId6"/>
    <p:sldId id="379" r:id="rId7"/>
    <p:sldId id="380" r:id="rId8"/>
    <p:sldId id="381" r:id="rId9"/>
    <p:sldId id="382" r:id="rId10"/>
    <p:sldId id="383" r:id="rId11"/>
    <p:sldId id="384" r:id="rId12"/>
    <p:sldId id="386" r:id="rId13"/>
    <p:sldId id="3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2C8F"/>
    <a:srgbClr val="13287F"/>
    <a:srgbClr val="0F2067"/>
    <a:srgbClr val="162E99"/>
    <a:srgbClr val="1C3394"/>
    <a:srgbClr val="162E62"/>
    <a:srgbClr val="182C80"/>
    <a:srgbClr val="162E95"/>
    <a:srgbClr val="FFFFFF"/>
    <a:srgbClr val="162E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15513F-DD1A-4EA4-AA42-10906ED8644F}" v="11" dt="2026-08-20T17:01:54.081"/>
    <p1510:client id="{BD0EB7E5-45A2-4B02-B23C-56CC2F053B33}" v="137" dt="2026-08-20T16:49:59.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4049" autoAdjust="0"/>
  </p:normalViewPr>
  <p:slideViewPr>
    <p:cSldViewPr snapToGrid="0">
      <p:cViewPr>
        <p:scale>
          <a:sx n="66" d="100"/>
          <a:sy n="66" d="100"/>
        </p:scale>
        <p:origin x="68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44557-B89C-45EB-BD04-67C28C45F609}"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B609D2C9-1E83-4FE0-BF50-21E6E069C17F}">
      <dgm:prSet custT="1"/>
      <dgm:spPr/>
      <dgm:t>
        <a:bodyPr/>
        <a:lstStyle/>
        <a:p>
          <a:r>
            <a:rPr lang="en-US" sz="2000" b="1" dirty="0"/>
            <a:t>Identify the organization's domain</a:t>
          </a:r>
        </a:p>
      </dgm:t>
    </dgm:pt>
    <dgm:pt modelId="{A12380E2-DEEB-47B9-8052-4305252F62EC}" type="parTrans" cxnId="{6353CB14-9EC0-40BF-8F10-62B7B821A61B}">
      <dgm:prSet/>
      <dgm:spPr/>
      <dgm:t>
        <a:bodyPr/>
        <a:lstStyle/>
        <a:p>
          <a:endParaRPr lang="en-US"/>
        </a:p>
      </dgm:t>
    </dgm:pt>
    <dgm:pt modelId="{BCAE82FC-A767-435B-A2A3-E9DC98361067}" type="sibTrans" cxnId="{6353CB14-9EC0-40BF-8F10-62B7B821A61B}">
      <dgm:prSet/>
      <dgm:spPr/>
      <dgm:t>
        <a:bodyPr/>
        <a:lstStyle/>
        <a:p>
          <a:endParaRPr lang="en-US"/>
        </a:p>
      </dgm:t>
    </dgm:pt>
    <dgm:pt modelId="{CA4EC04E-623D-43CC-8AAC-35B2487A4403}">
      <dgm:prSet custT="1"/>
      <dgm:spPr/>
      <dgm:t>
        <a:bodyPr/>
        <a:lstStyle/>
        <a:p>
          <a:r>
            <a:rPr lang="en-US" sz="2000" b="1" dirty="0"/>
            <a:t>Identify authoritative DNS servers</a:t>
          </a:r>
        </a:p>
      </dgm:t>
    </dgm:pt>
    <dgm:pt modelId="{5F351B7D-3B93-4767-B70A-C7B78FB3F54F}" type="parTrans" cxnId="{184FCC27-4A20-454C-A80A-AC4D89075D93}">
      <dgm:prSet/>
      <dgm:spPr/>
      <dgm:t>
        <a:bodyPr/>
        <a:lstStyle/>
        <a:p>
          <a:endParaRPr lang="en-US"/>
        </a:p>
      </dgm:t>
    </dgm:pt>
    <dgm:pt modelId="{5072A9AA-D0CA-470F-BC06-5A4C3CA5DE64}" type="sibTrans" cxnId="{184FCC27-4A20-454C-A80A-AC4D89075D93}">
      <dgm:prSet/>
      <dgm:spPr/>
      <dgm:t>
        <a:bodyPr/>
        <a:lstStyle/>
        <a:p>
          <a:endParaRPr lang="en-US"/>
        </a:p>
      </dgm:t>
    </dgm:pt>
    <dgm:pt modelId="{DC458AA6-2A1E-4465-9CC3-D229FFF76239}">
      <dgm:prSet custT="1"/>
      <dgm:spPr/>
      <dgm:t>
        <a:bodyPr/>
        <a:lstStyle/>
        <a:p>
          <a:r>
            <a:rPr lang="en-US" sz="2000" b="1" dirty="0"/>
            <a:t>Determine whether zone transfers are permitted</a:t>
          </a:r>
        </a:p>
      </dgm:t>
    </dgm:pt>
    <dgm:pt modelId="{8D06F923-B35E-4972-A0D0-8C1FC8F88060}" type="parTrans" cxnId="{B9733AE2-82FF-4CA2-A381-569CB40BD276}">
      <dgm:prSet/>
      <dgm:spPr/>
      <dgm:t>
        <a:bodyPr/>
        <a:lstStyle/>
        <a:p>
          <a:endParaRPr lang="en-US"/>
        </a:p>
      </dgm:t>
    </dgm:pt>
    <dgm:pt modelId="{29F43F7D-B7A2-4D3B-A5E3-4E6C8255BD61}" type="sibTrans" cxnId="{B9733AE2-82FF-4CA2-A381-569CB40BD276}">
      <dgm:prSet/>
      <dgm:spPr/>
      <dgm:t>
        <a:bodyPr/>
        <a:lstStyle/>
        <a:p>
          <a:endParaRPr lang="en-US"/>
        </a:p>
      </dgm:t>
    </dgm:pt>
    <dgm:pt modelId="{370A7641-7777-43F7-A488-96967C1D0827}">
      <dgm:prSet custT="1"/>
      <dgm:spPr/>
      <dgm:t>
        <a:bodyPr/>
        <a:lstStyle/>
        <a:p>
          <a:r>
            <a:rPr lang="en-US" sz="2000" b="1"/>
            <a:t>Attempt an authorized AXFR test</a:t>
          </a:r>
        </a:p>
      </dgm:t>
    </dgm:pt>
    <dgm:pt modelId="{F92E59A3-D9B9-4EDF-A333-58F3202FF950}" type="parTrans" cxnId="{DF0BD7F0-5FA9-43FB-9DB2-C3D74ECFC0B7}">
      <dgm:prSet/>
      <dgm:spPr/>
      <dgm:t>
        <a:bodyPr/>
        <a:lstStyle/>
        <a:p>
          <a:endParaRPr lang="en-US"/>
        </a:p>
      </dgm:t>
    </dgm:pt>
    <dgm:pt modelId="{8D2713D5-BE2C-472C-AB7A-3457EE1543C6}" type="sibTrans" cxnId="{DF0BD7F0-5FA9-43FB-9DB2-C3D74ECFC0B7}">
      <dgm:prSet/>
      <dgm:spPr/>
      <dgm:t>
        <a:bodyPr/>
        <a:lstStyle/>
        <a:p>
          <a:endParaRPr lang="en-US"/>
        </a:p>
      </dgm:t>
    </dgm:pt>
    <dgm:pt modelId="{413463B6-E394-4601-BF6B-940483FF33D3}">
      <dgm:prSet custT="1"/>
      <dgm:spPr/>
      <dgm:t>
        <a:bodyPr/>
        <a:lstStyle/>
        <a:p>
          <a:r>
            <a:rPr lang="en-US" sz="2000" b="1" dirty="0"/>
            <a:t>Analyze the response</a:t>
          </a:r>
        </a:p>
      </dgm:t>
    </dgm:pt>
    <dgm:pt modelId="{D368AC0A-DF91-459A-9CB1-58B72C74FD31}" type="parTrans" cxnId="{A96E352A-5720-44CC-B2B2-EF2D2F66EB68}">
      <dgm:prSet/>
      <dgm:spPr/>
      <dgm:t>
        <a:bodyPr/>
        <a:lstStyle/>
        <a:p>
          <a:endParaRPr lang="en-US"/>
        </a:p>
      </dgm:t>
    </dgm:pt>
    <dgm:pt modelId="{DF646A44-54A2-49BB-A55A-AC33C39C60E6}" type="sibTrans" cxnId="{A96E352A-5720-44CC-B2B2-EF2D2F66EB68}">
      <dgm:prSet/>
      <dgm:spPr/>
      <dgm:t>
        <a:bodyPr/>
        <a:lstStyle/>
        <a:p>
          <a:endParaRPr lang="en-US"/>
        </a:p>
      </dgm:t>
    </dgm:pt>
    <dgm:pt modelId="{8BB0FDD3-8D39-4264-8E9D-AFACF4A10CC6}">
      <dgm:prSet custT="1"/>
      <dgm:spPr/>
      <dgm:t>
        <a:bodyPr/>
        <a:lstStyle/>
        <a:p>
          <a:r>
            <a:rPr lang="en-US" sz="2000" b="1" dirty="0"/>
            <a:t>Determine whether unauthorized DNS information is exposed</a:t>
          </a:r>
        </a:p>
      </dgm:t>
    </dgm:pt>
    <dgm:pt modelId="{DF907E4F-9DA7-4364-9EA9-306866942CC2}" type="parTrans" cxnId="{C301D274-791D-4949-80F8-B8BF413A696F}">
      <dgm:prSet/>
      <dgm:spPr/>
      <dgm:t>
        <a:bodyPr/>
        <a:lstStyle/>
        <a:p>
          <a:endParaRPr lang="en-US"/>
        </a:p>
      </dgm:t>
    </dgm:pt>
    <dgm:pt modelId="{17FD180E-8193-44DB-BAC7-2AEA0E7DA19A}" type="sibTrans" cxnId="{C301D274-791D-4949-80F8-B8BF413A696F}">
      <dgm:prSet/>
      <dgm:spPr/>
      <dgm:t>
        <a:bodyPr/>
        <a:lstStyle/>
        <a:p>
          <a:endParaRPr lang="en-US"/>
        </a:p>
      </dgm:t>
    </dgm:pt>
    <dgm:pt modelId="{B5C70AE1-622F-42EF-B1B5-BB161EF272B0}" type="pres">
      <dgm:prSet presAssocID="{B5B44557-B89C-45EB-BD04-67C28C45F609}" presName="rootnode" presStyleCnt="0">
        <dgm:presLayoutVars>
          <dgm:chMax/>
          <dgm:chPref/>
          <dgm:dir/>
          <dgm:animLvl val="lvl"/>
        </dgm:presLayoutVars>
      </dgm:prSet>
      <dgm:spPr/>
    </dgm:pt>
    <dgm:pt modelId="{EFE8406F-C1B2-4C56-AB93-AB5FBD17AF96}" type="pres">
      <dgm:prSet presAssocID="{B609D2C9-1E83-4FE0-BF50-21E6E069C17F}" presName="composite" presStyleCnt="0"/>
      <dgm:spPr/>
    </dgm:pt>
    <dgm:pt modelId="{2E7FD943-6259-45EE-8DBF-7F0E3F0576A0}" type="pres">
      <dgm:prSet presAssocID="{B609D2C9-1E83-4FE0-BF50-21E6E069C17F}" presName="LShape" presStyleLbl="alignNode1" presStyleIdx="0" presStyleCnt="11"/>
      <dgm:spPr/>
    </dgm:pt>
    <dgm:pt modelId="{6D140858-5294-4CFB-BCFD-63DF1CFDC7E6}" type="pres">
      <dgm:prSet presAssocID="{B609D2C9-1E83-4FE0-BF50-21E6E069C17F}" presName="ParentText" presStyleLbl="revTx" presStyleIdx="0" presStyleCnt="6">
        <dgm:presLayoutVars>
          <dgm:chMax val="0"/>
          <dgm:chPref val="0"/>
          <dgm:bulletEnabled val="1"/>
        </dgm:presLayoutVars>
      </dgm:prSet>
      <dgm:spPr/>
    </dgm:pt>
    <dgm:pt modelId="{101D0039-A7FB-4004-B328-C28EC929B09F}" type="pres">
      <dgm:prSet presAssocID="{B609D2C9-1E83-4FE0-BF50-21E6E069C17F}" presName="Triangle" presStyleLbl="alignNode1" presStyleIdx="1" presStyleCnt="11"/>
      <dgm:spPr/>
    </dgm:pt>
    <dgm:pt modelId="{5CF2E217-3330-459B-98AB-CC6080CB4500}" type="pres">
      <dgm:prSet presAssocID="{BCAE82FC-A767-435B-A2A3-E9DC98361067}" presName="sibTrans" presStyleCnt="0"/>
      <dgm:spPr/>
    </dgm:pt>
    <dgm:pt modelId="{33198F18-4645-422B-8323-54E969E235E9}" type="pres">
      <dgm:prSet presAssocID="{BCAE82FC-A767-435B-A2A3-E9DC98361067}" presName="space" presStyleCnt="0"/>
      <dgm:spPr/>
    </dgm:pt>
    <dgm:pt modelId="{A2A16174-9E91-4B7B-9447-F8B904A36677}" type="pres">
      <dgm:prSet presAssocID="{CA4EC04E-623D-43CC-8AAC-35B2487A4403}" presName="composite" presStyleCnt="0"/>
      <dgm:spPr/>
    </dgm:pt>
    <dgm:pt modelId="{874E8617-FF1A-42F3-BA36-EA81CD990969}" type="pres">
      <dgm:prSet presAssocID="{CA4EC04E-623D-43CC-8AAC-35B2487A4403}" presName="LShape" presStyleLbl="alignNode1" presStyleIdx="2" presStyleCnt="11"/>
      <dgm:spPr/>
    </dgm:pt>
    <dgm:pt modelId="{0AC3C12D-7458-4747-834A-2E41E888B3C4}" type="pres">
      <dgm:prSet presAssocID="{CA4EC04E-623D-43CC-8AAC-35B2487A4403}" presName="ParentText" presStyleLbl="revTx" presStyleIdx="1" presStyleCnt="6">
        <dgm:presLayoutVars>
          <dgm:chMax val="0"/>
          <dgm:chPref val="0"/>
          <dgm:bulletEnabled val="1"/>
        </dgm:presLayoutVars>
      </dgm:prSet>
      <dgm:spPr/>
    </dgm:pt>
    <dgm:pt modelId="{9E28BCA9-3608-435A-8C0B-B5BF6F3F1982}" type="pres">
      <dgm:prSet presAssocID="{CA4EC04E-623D-43CC-8AAC-35B2487A4403}" presName="Triangle" presStyleLbl="alignNode1" presStyleIdx="3" presStyleCnt="11"/>
      <dgm:spPr/>
    </dgm:pt>
    <dgm:pt modelId="{97AD2A64-FB43-436C-B769-B2A6F2C8F74C}" type="pres">
      <dgm:prSet presAssocID="{5072A9AA-D0CA-470F-BC06-5A4C3CA5DE64}" presName="sibTrans" presStyleCnt="0"/>
      <dgm:spPr/>
    </dgm:pt>
    <dgm:pt modelId="{06559F34-D8FE-4FF2-A745-4F8588B1EF63}" type="pres">
      <dgm:prSet presAssocID="{5072A9AA-D0CA-470F-BC06-5A4C3CA5DE64}" presName="space" presStyleCnt="0"/>
      <dgm:spPr/>
    </dgm:pt>
    <dgm:pt modelId="{5F0F215B-36DB-4C4B-9FEA-68E6E8961217}" type="pres">
      <dgm:prSet presAssocID="{DC458AA6-2A1E-4465-9CC3-D229FFF76239}" presName="composite" presStyleCnt="0"/>
      <dgm:spPr/>
    </dgm:pt>
    <dgm:pt modelId="{95961746-4499-4DBB-A99D-20DB75F8B032}" type="pres">
      <dgm:prSet presAssocID="{DC458AA6-2A1E-4465-9CC3-D229FFF76239}" presName="LShape" presStyleLbl="alignNode1" presStyleIdx="4" presStyleCnt="11"/>
      <dgm:spPr/>
    </dgm:pt>
    <dgm:pt modelId="{55BDCFD8-D6BA-4674-94A8-4B79D936A6D0}" type="pres">
      <dgm:prSet presAssocID="{DC458AA6-2A1E-4465-9CC3-D229FFF76239}" presName="ParentText" presStyleLbl="revTx" presStyleIdx="2" presStyleCnt="6">
        <dgm:presLayoutVars>
          <dgm:chMax val="0"/>
          <dgm:chPref val="0"/>
          <dgm:bulletEnabled val="1"/>
        </dgm:presLayoutVars>
      </dgm:prSet>
      <dgm:spPr/>
    </dgm:pt>
    <dgm:pt modelId="{188403ED-6BA7-4073-B136-7FE992669342}" type="pres">
      <dgm:prSet presAssocID="{DC458AA6-2A1E-4465-9CC3-D229FFF76239}" presName="Triangle" presStyleLbl="alignNode1" presStyleIdx="5" presStyleCnt="11"/>
      <dgm:spPr/>
    </dgm:pt>
    <dgm:pt modelId="{8331BDB3-0411-417D-A9B6-0B49668F9B7F}" type="pres">
      <dgm:prSet presAssocID="{29F43F7D-B7A2-4D3B-A5E3-4E6C8255BD61}" presName="sibTrans" presStyleCnt="0"/>
      <dgm:spPr/>
    </dgm:pt>
    <dgm:pt modelId="{58C28CF4-2D01-4D13-8588-467F186B3CA8}" type="pres">
      <dgm:prSet presAssocID="{29F43F7D-B7A2-4D3B-A5E3-4E6C8255BD61}" presName="space" presStyleCnt="0"/>
      <dgm:spPr/>
    </dgm:pt>
    <dgm:pt modelId="{83E70706-45B5-4543-B317-B9362D0A2075}" type="pres">
      <dgm:prSet presAssocID="{370A7641-7777-43F7-A488-96967C1D0827}" presName="composite" presStyleCnt="0"/>
      <dgm:spPr/>
    </dgm:pt>
    <dgm:pt modelId="{D1C16443-FABD-4380-B794-63E5F59E1BA0}" type="pres">
      <dgm:prSet presAssocID="{370A7641-7777-43F7-A488-96967C1D0827}" presName="LShape" presStyleLbl="alignNode1" presStyleIdx="6" presStyleCnt="11"/>
      <dgm:spPr/>
    </dgm:pt>
    <dgm:pt modelId="{35FE4033-DA20-4E06-95F2-8D49DADCF7E6}" type="pres">
      <dgm:prSet presAssocID="{370A7641-7777-43F7-A488-96967C1D0827}" presName="ParentText" presStyleLbl="revTx" presStyleIdx="3" presStyleCnt="6">
        <dgm:presLayoutVars>
          <dgm:chMax val="0"/>
          <dgm:chPref val="0"/>
          <dgm:bulletEnabled val="1"/>
        </dgm:presLayoutVars>
      </dgm:prSet>
      <dgm:spPr/>
    </dgm:pt>
    <dgm:pt modelId="{A1DA5580-9DBA-46F3-AA7E-43FDF25AEFE0}" type="pres">
      <dgm:prSet presAssocID="{370A7641-7777-43F7-A488-96967C1D0827}" presName="Triangle" presStyleLbl="alignNode1" presStyleIdx="7" presStyleCnt="11"/>
      <dgm:spPr/>
    </dgm:pt>
    <dgm:pt modelId="{B1EFA96A-65C2-43F7-BAE9-38777BDB36AC}" type="pres">
      <dgm:prSet presAssocID="{8D2713D5-BE2C-472C-AB7A-3457EE1543C6}" presName="sibTrans" presStyleCnt="0"/>
      <dgm:spPr/>
    </dgm:pt>
    <dgm:pt modelId="{A2851379-8AA4-4DB9-B2F2-515933AE2E5F}" type="pres">
      <dgm:prSet presAssocID="{8D2713D5-BE2C-472C-AB7A-3457EE1543C6}" presName="space" presStyleCnt="0"/>
      <dgm:spPr/>
    </dgm:pt>
    <dgm:pt modelId="{4A19CDB8-1D93-432C-B126-BF43C3504927}" type="pres">
      <dgm:prSet presAssocID="{413463B6-E394-4601-BF6B-940483FF33D3}" presName="composite" presStyleCnt="0"/>
      <dgm:spPr/>
    </dgm:pt>
    <dgm:pt modelId="{FC98D596-99C9-4B18-9875-07AD30FA6B90}" type="pres">
      <dgm:prSet presAssocID="{413463B6-E394-4601-BF6B-940483FF33D3}" presName="LShape" presStyleLbl="alignNode1" presStyleIdx="8" presStyleCnt="11"/>
      <dgm:spPr/>
    </dgm:pt>
    <dgm:pt modelId="{6D76D70D-A40F-42C7-9388-6E311F7F8D33}" type="pres">
      <dgm:prSet presAssocID="{413463B6-E394-4601-BF6B-940483FF33D3}" presName="ParentText" presStyleLbl="revTx" presStyleIdx="4" presStyleCnt="6">
        <dgm:presLayoutVars>
          <dgm:chMax val="0"/>
          <dgm:chPref val="0"/>
          <dgm:bulletEnabled val="1"/>
        </dgm:presLayoutVars>
      </dgm:prSet>
      <dgm:spPr/>
    </dgm:pt>
    <dgm:pt modelId="{2D87AF15-6B0E-4248-B1FF-F33DBE25955B}" type="pres">
      <dgm:prSet presAssocID="{413463B6-E394-4601-BF6B-940483FF33D3}" presName="Triangle" presStyleLbl="alignNode1" presStyleIdx="9" presStyleCnt="11"/>
      <dgm:spPr/>
    </dgm:pt>
    <dgm:pt modelId="{43F02540-D8E3-4650-98C3-D218679C6A29}" type="pres">
      <dgm:prSet presAssocID="{DF646A44-54A2-49BB-A55A-AC33C39C60E6}" presName="sibTrans" presStyleCnt="0"/>
      <dgm:spPr/>
    </dgm:pt>
    <dgm:pt modelId="{122FE979-D76D-4228-AAB5-69D371B61807}" type="pres">
      <dgm:prSet presAssocID="{DF646A44-54A2-49BB-A55A-AC33C39C60E6}" presName="space" presStyleCnt="0"/>
      <dgm:spPr/>
    </dgm:pt>
    <dgm:pt modelId="{EA12EC2B-227D-40CC-9957-6AFA008609FD}" type="pres">
      <dgm:prSet presAssocID="{8BB0FDD3-8D39-4264-8E9D-AFACF4A10CC6}" presName="composite" presStyleCnt="0"/>
      <dgm:spPr/>
    </dgm:pt>
    <dgm:pt modelId="{5D8F5C81-B36F-442D-968D-683378381FAC}" type="pres">
      <dgm:prSet presAssocID="{8BB0FDD3-8D39-4264-8E9D-AFACF4A10CC6}" presName="LShape" presStyleLbl="alignNode1" presStyleIdx="10" presStyleCnt="11"/>
      <dgm:spPr/>
    </dgm:pt>
    <dgm:pt modelId="{75F558AB-8EAB-42EA-B2A9-C21CE11AFD32}" type="pres">
      <dgm:prSet presAssocID="{8BB0FDD3-8D39-4264-8E9D-AFACF4A10CC6}" presName="ParentText" presStyleLbl="revTx" presStyleIdx="5" presStyleCnt="6">
        <dgm:presLayoutVars>
          <dgm:chMax val="0"/>
          <dgm:chPref val="0"/>
          <dgm:bulletEnabled val="1"/>
        </dgm:presLayoutVars>
      </dgm:prSet>
      <dgm:spPr/>
    </dgm:pt>
  </dgm:ptLst>
  <dgm:cxnLst>
    <dgm:cxn modelId="{D6FCAE09-711B-41B9-9D1A-E80593E1CCDA}" type="presOf" srcId="{370A7641-7777-43F7-A488-96967C1D0827}" destId="{35FE4033-DA20-4E06-95F2-8D49DADCF7E6}" srcOrd="0" destOrd="0" presId="urn:microsoft.com/office/officeart/2009/3/layout/StepUpProcess"/>
    <dgm:cxn modelId="{B68B520C-2CEE-4E58-BFE8-239349E63BB8}" type="presOf" srcId="{DC458AA6-2A1E-4465-9CC3-D229FFF76239}" destId="{55BDCFD8-D6BA-4674-94A8-4B79D936A6D0}" srcOrd="0" destOrd="0" presId="urn:microsoft.com/office/officeart/2009/3/layout/StepUpProcess"/>
    <dgm:cxn modelId="{6353CB14-9EC0-40BF-8F10-62B7B821A61B}" srcId="{B5B44557-B89C-45EB-BD04-67C28C45F609}" destId="{B609D2C9-1E83-4FE0-BF50-21E6E069C17F}" srcOrd="0" destOrd="0" parTransId="{A12380E2-DEEB-47B9-8052-4305252F62EC}" sibTransId="{BCAE82FC-A767-435B-A2A3-E9DC98361067}"/>
    <dgm:cxn modelId="{CBFD7C1F-E7EE-490A-92D0-5E55BE0BD1BB}" type="presOf" srcId="{B5B44557-B89C-45EB-BD04-67C28C45F609}" destId="{B5C70AE1-622F-42EF-B1B5-BB161EF272B0}" srcOrd="0" destOrd="0" presId="urn:microsoft.com/office/officeart/2009/3/layout/StepUpProcess"/>
    <dgm:cxn modelId="{184FCC27-4A20-454C-A80A-AC4D89075D93}" srcId="{B5B44557-B89C-45EB-BD04-67C28C45F609}" destId="{CA4EC04E-623D-43CC-8AAC-35B2487A4403}" srcOrd="1" destOrd="0" parTransId="{5F351B7D-3B93-4767-B70A-C7B78FB3F54F}" sibTransId="{5072A9AA-D0CA-470F-BC06-5A4C3CA5DE64}"/>
    <dgm:cxn modelId="{A96E352A-5720-44CC-B2B2-EF2D2F66EB68}" srcId="{B5B44557-B89C-45EB-BD04-67C28C45F609}" destId="{413463B6-E394-4601-BF6B-940483FF33D3}" srcOrd="4" destOrd="0" parTransId="{D368AC0A-DF91-459A-9CB1-58B72C74FD31}" sibTransId="{DF646A44-54A2-49BB-A55A-AC33C39C60E6}"/>
    <dgm:cxn modelId="{C301D274-791D-4949-80F8-B8BF413A696F}" srcId="{B5B44557-B89C-45EB-BD04-67C28C45F609}" destId="{8BB0FDD3-8D39-4264-8E9D-AFACF4A10CC6}" srcOrd="5" destOrd="0" parTransId="{DF907E4F-9DA7-4364-9EA9-306866942CC2}" sibTransId="{17FD180E-8193-44DB-BAC7-2AEA0E7DA19A}"/>
    <dgm:cxn modelId="{2C520975-1152-4625-BFFC-1C0C87CFE5FA}" type="presOf" srcId="{B609D2C9-1E83-4FE0-BF50-21E6E069C17F}" destId="{6D140858-5294-4CFB-BCFD-63DF1CFDC7E6}" srcOrd="0" destOrd="0" presId="urn:microsoft.com/office/officeart/2009/3/layout/StepUpProcess"/>
    <dgm:cxn modelId="{4820B775-7B6B-4A54-936A-3F611FE8F5FE}" type="presOf" srcId="{CA4EC04E-623D-43CC-8AAC-35B2487A4403}" destId="{0AC3C12D-7458-4747-834A-2E41E888B3C4}" srcOrd="0" destOrd="0" presId="urn:microsoft.com/office/officeart/2009/3/layout/StepUpProcess"/>
    <dgm:cxn modelId="{EBDE54A4-9FE0-499B-AC22-5EA1065567AD}" type="presOf" srcId="{413463B6-E394-4601-BF6B-940483FF33D3}" destId="{6D76D70D-A40F-42C7-9388-6E311F7F8D33}" srcOrd="0" destOrd="0" presId="urn:microsoft.com/office/officeart/2009/3/layout/StepUpProcess"/>
    <dgm:cxn modelId="{E9C744E1-5841-463B-AE39-88A50A9A33A4}" type="presOf" srcId="{8BB0FDD3-8D39-4264-8E9D-AFACF4A10CC6}" destId="{75F558AB-8EAB-42EA-B2A9-C21CE11AFD32}" srcOrd="0" destOrd="0" presId="urn:microsoft.com/office/officeart/2009/3/layout/StepUpProcess"/>
    <dgm:cxn modelId="{B9733AE2-82FF-4CA2-A381-569CB40BD276}" srcId="{B5B44557-B89C-45EB-BD04-67C28C45F609}" destId="{DC458AA6-2A1E-4465-9CC3-D229FFF76239}" srcOrd="2" destOrd="0" parTransId="{8D06F923-B35E-4972-A0D0-8C1FC8F88060}" sibTransId="{29F43F7D-B7A2-4D3B-A5E3-4E6C8255BD61}"/>
    <dgm:cxn modelId="{DF0BD7F0-5FA9-43FB-9DB2-C3D74ECFC0B7}" srcId="{B5B44557-B89C-45EB-BD04-67C28C45F609}" destId="{370A7641-7777-43F7-A488-96967C1D0827}" srcOrd="3" destOrd="0" parTransId="{F92E59A3-D9B9-4EDF-A333-58F3202FF950}" sibTransId="{8D2713D5-BE2C-472C-AB7A-3457EE1543C6}"/>
    <dgm:cxn modelId="{69690DFD-A03D-4B5F-8387-3738EC0F2541}" type="presParOf" srcId="{B5C70AE1-622F-42EF-B1B5-BB161EF272B0}" destId="{EFE8406F-C1B2-4C56-AB93-AB5FBD17AF96}" srcOrd="0" destOrd="0" presId="urn:microsoft.com/office/officeart/2009/3/layout/StepUpProcess"/>
    <dgm:cxn modelId="{FB6541C4-2D16-4098-85AE-11769E8667C5}" type="presParOf" srcId="{EFE8406F-C1B2-4C56-AB93-AB5FBD17AF96}" destId="{2E7FD943-6259-45EE-8DBF-7F0E3F0576A0}" srcOrd="0" destOrd="0" presId="urn:microsoft.com/office/officeart/2009/3/layout/StepUpProcess"/>
    <dgm:cxn modelId="{7AE744EF-F215-43C4-9F5D-FC705278E8CC}" type="presParOf" srcId="{EFE8406F-C1B2-4C56-AB93-AB5FBD17AF96}" destId="{6D140858-5294-4CFB-BCFD-63DF1CFDC7E6}" srcOrd="1" destOrd="0" presId="urn:microsoft.com/office/officeart/2009/3/layout/StepUpProcess"/>
    <dgm:cxn modelId="{7297B4D9-512E-4767-BD7C-D211CC7516BA}" type="presParOf" srcId="{EFE8406F-C1B2-4C56-AB93-AB5FBD17AF96}" destId="{101D0039-A7FB-4004-B328-C28EC929B09F}" srcOrd="2" destOrd="0" presId="urn:microsoft.com/office/officeart/2009/3/layout/StepUpProcess"/>
    <dgm:cxn modelId="{1C5C5AED-439B-415D-9ACE-04E5425708CD}" type="presParOf" srcId="{B5C70AE1-622F-42EF-B1B5-BB161EF272B0}" destId="{5CF2E217-3330-459B-98AB-CC6080CB4500}" srcOrd="1" destOrd="0" presId="urn:microsoft.com/office/officeart/2009/3/layout/StepUpProcess"/>
    <dgm:cxn modelId="{F0A641AE-2C03-41C8-A607-02897FA10FBA}" type="presParOf" srcId="{5CF2E217-3330-459B-98AB-CC6080CB4500}" destId="{33198F18-4645-422B-8323-54E969E235E9}" srcOrd="0" destOrd="0" presId="urn:microsoft.com/office/officeart/2009/3/layout/StepUpProcess"/>
    <dgm:cxn modelId="{4B284F44-26C5-4B64-AD61-40F89D1E0152}" type="presParOf" srcId="{B5C70AE1-622F-42EF-B1B5-BB161EF272B0}" destId="{A2A16174-9E91-4B7B-9447-F8B904A36677}" srcOrd="2" destOrd="0" presId="urn:microsoft.com/office/officeart/2009/3/layout/StepUpProcess"/>
    <dgm:cxn modelId="{27105E14-4911-4FF9-A6BF-59FF11F73596}" type="presParOf" srcId="{A2A16174-9E91-4B7B-9447-F8B904A36677}" destId="{874E8617-FF1A-42F3-BA36-EA81CD990969}" srcOrd="0" destOrd="0" presId="urn:microsoft.com/office/officeart/2009/3/layout/StepUpProcess"/>
    <dgm:cxn modelId="{D3C4B1EE-5B17-46CC-8545-C3F264CADB52}" type="presParOf" srcId="{A2A16174-9E91-4B7B-9447-F8B904A36677}" destId="{0AC3C12D-7458-4747-834A-2E41E888B3C4}" srcOrd="1" destOrd="0" presId="urn:microsoft.com/office/officeart/2009/3/layout/StepUpProcess"/>
    <dgm:cxn modelId="{F87EA57C-6E4E-4AD5-A4D9-A91CDA5013A9}" type="presParOf" srcId="{A2A16174-9E91-4B7B-9447-F8B904A36677}" destId="{9E28BCA9-3608-435A-8C0B-B5BF6F3F1982}" srcOrd="2" destOrd="0" presId="urn:microsoft.com/office/officeart/2009/3/layout/StepUpProcess"/>
    <dgm:cxn modelId="{E9C48699-B69A-4329-982B-479EF496F105}" type="presParOf" srcId="{B5C70AE1-622F-42EF-B1B5-BB161EF272B0}" destId="{97AD2A64-FB43-436C-B769-B2A6F2C8F74C}" srcOrd="3" destOrd="0" presId="urn:microsoft.com/office/officeart/2009/3/layout/StepUpProcess"/>
    <dgm:cxn modelId="{CD6B777F-74AB-4344-9514-2A41927A6F5C}" type="presParOf" srcId="{97AD2A64-FB43-436C-B769-B2A6F2C8F74C}" destId="{06559F34-D8FE-4FF2-A745-4F8588B1EF63}" srcOrd="0" destOrd="0" presId="urn:microsoft.com/office/officeart/2009/3/layout/StepUpProcess"/>
    <dgm:cxn modelId="{1752291E-AF2B-4400-9236-1A28B86731D8}" type="presParOf" srcId="{B5C70AE1-622F-42EF-B1B5-BB161EF272B0}" destId="{5F0F215B-36DB-4C4B-9FEA-68E6E8961217}" srcOrd="4" destOrd="0" presId="urn:microsoft.com/office/officeart/2009/3/layout/StepUpProcess"/>
    <dgm:cxn modelId="{B0383932-A22C-425D-AFB3-503504ADE084}" type="presParOf" srcId="{5F0F215B-36DB-4C4B-9FEA-68E6E8961217}" destId="{95961746-4499-4DBB-A99D-20DB75F8B032}" srcOrd="0" destOrd="0" presId="urn:microsoft.com/office/officeart/2009/3/layout/StepUpProcess"/>
    <dgm:cxn modelId="{C2EF79F3-29F2-45F2-AE7B-8774C4D4AB86}" type="presParOf" srcId="{5F0F215B-36DB-4C4B-9FEA-68E6E8961217}" destId="{55BDCFD8-D6BA-4674-94A8-4B79D936A6D0}" srcOrd="1" destOrd="0" presId="urn:microsoft.com/office/officeart/2009/3/layout/StepUpProcess"/>
    <dgm:cxn modelId="{B001F036-9ACD-4DE7-9664-D3B3D3A864C6}" type="presParOf" srcId="{5F0F215B-36DB-4C4B-9FEA-68E6E8961217}" destId="{188403ED-6BA7-4073-B136-7FE992669342}" srcOrd="2" destOrd="0" presId="urn:microsoft.com/office/officeart/2009/3/layout/StepUpProcess"/>
    <dgm:cxn modelId="{7CC7329D-8EFC-400B-B9DE-1AFD7B4090F0}" type="presParOf" srcId="{B5C70AE1-622F-42EF-B1B5-BB161EF272B0}" destId="{8331BDB3-0411-417D-A9B6-0B49668F9B7F}" srcOrd="5" destOrd="0" presId="urn:microsoft.com/office/officeart/2009/3/layout/StepUpProcess"/>
    <dgm:cxn modelId="{61A2AC9F-D0F0-4614-BD9E-81DC266629FC}" type="presParOf" srcId="{8331BDB3-0411-417D-A9B6-0B49668F9B7F}" destId="{58C28CF4-2D01-4D13-8588-467F186B3CA8}" srcOrd="0" destOrd="0" presId="urn:microsoft.com/office/officeart/2009/3/layout/StepUpProcess"/>
    <dgm:cxn modelId="{236A5EA9-481D-4412-AE37-1075DCF73CF1}" type="presParOf" srcId="{B5C70AE1-622F-42EF-B1B5-BB161EF272B0}" destId="{83E70706-45B5-4543-B317-B9362D0A2075}" srcOrd="6" destOrd="0" presId="urn:microsoft.com/office/officeart/2009/3/layout/StepUpProcess"/>
    <dgm:cxn modelId="{250494D1-4E69-47D1-81AD-6EB223E77181}" type="presParOf" srcId="{83E70706-45B5-4543-B317-B9362D0A2075}" destId="{D1C16443-FABD-4380-B794-63E5F59E1BA0}" srcOrd="0" destOrd="0" presId="urn:microsoft.com/office/officeart/2009/3/layout/StepUpProcess"/>
    <dgm:cxn modelId="{C0869F7F-26A2-4BBE-BD88-00FDE5D1C05D}" type="presParOf" srcId="{83E70706-45B5-4543-B317-B9362D0A2075}" destId="{35FE4033-DA20-4E06-95F2-8D49DADCF7E6}" srcOrd="1" destOrd="0" presId="urn:microsoft.com/office/officeart/2009/3/layout/StepUpProcess"/>
    <dgm:cxn modelId="{C105B17E-7E2D-4E21-BEDE-5A36A8536CFF}" type="presParOf" srcId="{83E70706-45B5-4543-B317-B9362D0A2075}" destId="{A1DA5580-9DBA-46F3-AA7E-43FDF25AEFE0}" srcOrd="2" destOrd="0" presId="urn:microsoft.com/office/officeart/2009/3/layout/StepUpProcess"/>
    <dgm:cxn modelId="{D433FCA5-619A-44D5-9105-240C2C7A5225}" type="presParOf" srcId="{B5C70AE1-622F-42EF-B1B5-BB161EF272B0}" destId="{B1EFA96A-65C2-43F7-BAE9-38777BDB36AC}" srcOrd="7" destOrd="0" presId="urn:microsoft.com/office/officeart/2009/3/layout/StepUpProcess"/>
    <dgm:cxn modelId="{ABFADA77-9AF1-43E9-99E9-FE12E3511560}" type="presParOf" srcId="{B1EFA96A-65C2-43F7-BAE9-38777BDB36AC}" destId="{A2851379-8AA4-4DB9-B2F2-515933AE2E5F}" srcOrd="0" destOrd="0" presId="urn:microsoft.com/office/officeart/2009/3/layout/StepUpProcess"/>
    <dgm:cxn modelId="{5D4AA9C0-5AF5-4527-8EFA-A2A2F50ED314}" type="presParOf" srcId="{B5C70AE1-622F-42EF-B1B5-BB161EF272B0}" destId="{4A19CDB8-1D93-432C-B126-BF43C3504927}" srcOrd="8" destOrd="0" presId="urn:microsoft.com/office/officeart/2009/3/layout/StepUpProcess"/>
    <dgm:cxn modelId="{774C2EEC-ECB9-4267-8641-3781299DD31F}" type="presParOf" srcId="{4A19CDB8-1D93-432C-B126-BF43C3504927}" destId="{FC98D596-99C9-4B18-9875-07AD30FA6B90}" srcOrd="0" destOrd="0" presId="urn:microsoft.com/office/officeart/2009/3/layout/StepUpProcess"/>
    <dgm:cxn modelId="{3BB541CB-082D-4752-96B2-2ED278E7F636}" type="presParOf" srcId="{4A19CDB8-1D93-432C-B126-BF43C3504927}" destId="{6D76D70D-A40F-42C7-9388-6E311F7F8D33}" srcOrd="1" destOrd="0" presId="urn:microsoft.com/office/officeart/2009/3/layout/StepUpProcess"/>
    <dgm:cxn modelId="{DA287932-CCC1-4F00-B5B8-FAA21B1D7C20}" type="presParOf" srcId="{4A19CDB8-1D93-432C-B126-BF43C3504927}" destId="{2D87AF15-6B0E-4248-B1FF-F33DBE25955B}" srcOrd="2" destOrd="0" presId="urn:microsoft.com/office/officeart/2009/3/layout/StepUpProcess"/>
    <dgm:cxn modelId="{981DABC2-218F-49F7-B6BB-6C0D73FD77F9}" type="presParOf" srcId="{B5C70AE1-622F-42EF-B1B5-BB161EF272B0}" destId="{43F02540-D8E3-4650-98C3-D218679C6A29}" srcOrd="9" destOrd="0" presId="urn:microsoft.com/office/officeart/2009/3/layout/StepUpProcess"/>
    <dgm:cxn modelId="{0A42643C-7F96-4042-9225-18CBAC0AD2F7}" type="presParOf" srcId="{43F02540-D8E3-4650-98C3-D218679C6A29}" destId="{122FE979-D76D-4228-AAB5-69D371B61807}" srcOrd="0" destOrd="0" presId="urn:microsoft.com/office/officeart/2009/3/layout/StepUpProcess"/>
    <dgm:cxn modelId="{03939A0D-9BB4-4D63-B561-489B867F3D7F}" type="presParOf" srcId="{B5C70AE1-622F-42EF-B1B5-BB161EF272B0}" destId="{EA12EC2B-227D-40CC-9957-6AFA008609FD}" srcOrd="10" destOrd="0" presId="urn:microsoft.com/office/officeart/2009/3/layout/StepUpProcess"/>
    <dgm:cxn modelId="{E4EC0DEE-BE53-4ECA-8B3E-BD6F025E1FB2}" type="presParOf" srcId="{EA12EC2B-227D-40CC-9957-6AFA008609FD}" destId="{5D8F5C81-B36F-442D-968D-683378381FAC}" srcOrd="0" destOrd="0" presId="urn:microsoft.com/office/officeart/2009/3/layout/StepUpProcess"/>
    <dgm:cxn modelId="{ED341D06-769B-4278-8976-542711D0CFF8}" type="presParOf" srcId="{EA12EC2B-227D-40CC-9957-6AFA008609FD}" destId="{75F558AB-8EAB-42EA-B2A9-C21CE11AFD32}"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BB7377-9E21-4552-ACBC-E9F553744F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2436BDB-B4C9-4EAE-BA03-590181DD96A6}">
      <dgm:prSet/>
      <dgm:spPr/>
      <dgm:t>
        <a:bodyPr/>
        <a:lstStyle/>
        <a:p>
          <a:r>
            <a:rPr lang="en-US"/>
            <a:t>Host</a:t>
          </a:r>
        </a:p>
      </dgm:t>
    </dgm:pt>
    <dgm:pt modelId="{98061EA5-44EC-4B0E-8BD8-CD84064DDBBE}" type="parTrans" cxnId="{E5093B1F-EBB6-444B-9B03-35B16D9194CB}">
      <dgm:prSet/>
      <dgm:spPr/>
      <dgm:t>
        <a:bodyPr/>
        <a:lstStyle/>
        <a:p>
          <a:endParaRPr lang="en-US"/>
        </a:p>
      </dgm:t>
    </dgm:pt>
    <dgm:pt modelId="{FB68943C-1E95-4EA7-A63F-28A19BED5D00}" type="sibTrans" cxnId="{E5093B1F-EBB6-444B-9B03-35B16D9194CB}">
      <dgm:prSet/>
      <dgm:spPr/>
      <dgm:t>
        <a:bodyPr/>
        <a:lstStyle/>
        <a:p>
          <a:endParaRPr lang="en-US"/>
        </a:p>
      </dgm:t>
    </dgm:pt>
    <dgm:pt modelId="{18F5B1C0-FEFF-46D7-AFDD-7FED6C6F1443}">
      <dgm:prSet/>
      <dgm:spPr/>
      <dgm:t>
        <a:bodyPr/>
        <a:lstStyle/>
        <a:p>
          <a:r>
            <a:rPr lang="en-US"/>
            <a:t>Dig</a:t>
          </a:r>
        </a:p>
      </dgm:t>
    </dgm:pt>
    <dgm:pt modelId="{22EC9A31-7369-427E-8DAE-B9B11C627CD2}" type="parTrans" cxnId="{16A3206E-4D3A-428D-81C0-DA2387012CF4}">
      <dgm:prSet/>
      <dgm:spPr/>
      <dgm:t>
        <a:bodyPr/>
        <a:lstStyle/>
        <a:p>
          <a:endParaRPr lang="en-US"/>
        </a:p>
      </dgm:t>
    </dgm:pt>
    <dgm:pt modelId="{2F82E316-17DA-4D58-AF0A-01BC656B4C57}" type="sibTrans" cxnId="{16A3206E-4D3A-428D-81C0-DA2387012CF4}">
      <dgm:prSet/>
      <dgm:spPr/>
      <dgm:t>
        <a:bodyPr/>
        <a:lstStyle/>
        <a:p>
          <a:endParaRPr lang="en-US"/>
        </a:p>
      </dgm:t>
    </dgm:pt>
    <dgm:pt modelId="{D0E5633F-287A-44F2-A190-CAC44EB2CFA9}">
      <dgm:prSet/>
      <dgm:spPr/>
      <dgm:t>
        <a:bodyPr/>
        <a:lstStyle/>
        <a:p>
          <a:r>
            <a:rPr lang="en-US"/>
            <a:t>nslookup</a:t>
          </a:r>
        </a:p>
      </dgm:t>
    </dgm:pt>
    <dgm:pt modelId="{9EFFC7C0-3A82-4065-97BF-48805F6DE4D3}" type="parTrans" cxnId="{B749B566-E120-46B3-94E0-75FA0CB78EBC}">
      <dgm:prSet/>
      <dgm:spPr/>
      <dgm:t>
        <a:bodyPr/>
        <a:lstStyle/>
        <a:p>
          <a:endParaRPr lang="en-US"/>
        </a:p>
      </dgm:t>
    </dgm:pt>
    <dgm:pt modelId="{4BBC613C-68FA-4E78-B4E7-44A7DC83BE5C}" type="sibTrans" cxnId="{B749B566-E120-46B3-94E0-75FA0CB78EBC}">
      <dgm:prSet/>
      <dgm:spPr/>
      <dgm:t>
        <a:bodyPr/>
        <a:lstStyle/>
        <a:p>
          <a:endParaRPr lang="en-US"/>
        </a:p>
      </dgm:t>
    </dgm:pt>
    <dgm:pt modelId="{7DE4571B-E376-4CE6-ACCD-4F8EDCD9F3F1}" type="pres">
      <dgm:prSet presAssocID="{74BB7377-9E21-4552-ACBC-E9F553744FF2}" presName="linear" presStyleCnt="0">
        <dgm:presLayoutVars>
          <dgm:animLvl val="lvl"/>
          <dgm:resizeHandles val="exact"/>
        </dgm:presLayoutVars>
      </dgm:prSet>
      <dgm:spPr/>
    </dgm:pt>
    <dgm:pt modelId="{96DB66C2-D8B8-4CBC-988F-3543C4D2D91C}" type="pres">
      <dgm:prSet presAssocID="{02436BDB-B4C9-4EAE-BA03-590181DD96A6}" presName="parentText" presStyleLbl="node1" presStyleIdx="0" presStyleCnt="3">
        <dgm:presLayoutVars>
          <dgm:chMax val="0"/>
          <dgm:bulletEnabled val="1"/>
        </dgm:presLayoutVars>
      </dgm:prSet>
      <dgm:spPr/>
    </dgm:pt>
    <dgm:pt modelId="{EAC51B37-C54F-4B8F-85E4-766D36ABF9C8}" type="pres">
      <dgm:prSet presAssocID="{FB68943C-1E95-4EA7-A63F-28A19BED5D00}" presName="spacer" presStyleCnt="0"/>
      <dgm:spPr/>
    </dgm:pt>
    <dgm:pt modelId="{D3F5C7EF-5CE7-465C-9D26-61E09BD346B2}" type="pres">
      <dgm:prSet presAssocID="{18F5B1C0-FEFF-46D7-AFDD-7FED6C6F1443}" presName="parentText" presStyleLbl="node1" presStyleIdx="1" presStyleCnt="3">
        <dgm:presLayoutVars>
          <dgm:chMax val="0"/>
          <dgm:bulletEnabled val="1"/>
        </dgm:presLayoutVars>
      </dgm:prSet>
      <dgm:spPr/>
    </dgm:pt>
    <dgm:pt modelId="{B839C9E2-9DB6-40AD-A371-A55E348A649C}" type="pres">
      <dgm:prSet presAssocID="{2F82E316-17DA-4D58-AF0A-01BC656B4C57}" presName="spacer" presStyleCnt="0"/>
      <dgm:spPr/>
    </dgm:pt>
    <dgm:pt modelId="{08352AC6-3096-4E8A-9933-95E70DA824A3}" type="pres">
      <dgm:prSet presAssocID="{D0E5633F-287A-44F2-A190-CAC44EB2CFA9}" presName="parentText" presStyleLbl="node1" presStyleIdx="2" presStyleCnt="3">
        <dgm:presLayoutVars>
          <dgm:chMax val="0"/>
          <dgm:bulletEnabled val="1"/>
        </dgm:presLayoutVars>
      </dgm:prSet>
      <dgm:spPr/>
    </dgm:pt>
  </dgm:ptLst>
  <dgm:cxnLst>
    <dgm:cxn modelId="{3302EB04-0685-421E-893B-442DDF155CCC}" type="presOf" srcId="{02436BDB-B4C9-4EAE-BA03-590181DD96A6}" destId="{96DB66C2-D8B8-4CBC-988F-3543C4D2D91C}" srcOrd="0" destOrd="0" presId="urn:microsoft.com/office/officeart/2005/8/layout/vList2"/>
    <dgm:cxn modelId="{2B055C0C-181A-4893-A3F8-4F04951D41C1}" type="presOf" srcId="{D0E5633F-287A-44F2-A190-CAC44EB2CFA9}" destId="{08352AC6-3096-4E8A-9933-95E70DA824A3}" srcOrd="0" destOrd="0" presId="urn:microsoft.com/office/officeart/2005/8/layout/vList2"/>
    <dgm:cxn modelId="{E5093B1F-EBB6-444B-9B03-35B16D9194CB}" srcId="{74BB7377-9E21-4552-ACBC-E9F553744FF2}" destId="{02436BDB-B4C9-4EAE-BA03-590181DD96A6}" srcOrd="0" destOrd="0" parTransId="{98061EA5-44EC-4B0E-8BD8-CD84064DDBBE}" sibTransId="{FB68943C-1E95-4EA7-A63F-28A19BED5D00}"/>
    <dgm:cxn modelId="{B749B566-E120-46B3-94E0-75FA0CB78EBC}" srcId="{74BB7377-9E21-4552-ACBC-E9F553744FF2}" destId="{D0E5633F-287A-44F2-A190-CAC44EB2CFA9}" srcOrd="2" destOrd="0" parTransId="{9EFFC7C0-3A82-4065-97BF-48805F6DE4D3}" sibTransId="{4BBC613C-68FA-4E78-B4E7-44A7DC83BE5C}"/>
    <dgm:cxn modelId="{16A3206E-4D3A-428D-81C0-DA2387012CF4}" srcId="{74BB7377-9E21-4552-ACBC-E9F553744FF2}" destId="{18F5B1C0-FEFF-46D7-AFDD-7FED6C6F1443}" srcOrd="1" destOrd="0" parTransId="{22EC9A31-7369-427E-8DAE-B9B11C627CD2}" sibTransId="{2F82E316-17DA-4D58-AF0A-01BC656B4C57}"/>
    <dgm:cxn modelId="{E80FF8D1-9965-4326-876F-6CC7ED93E1B3}" type="presOf" srcId="{74BB7377-9E21-4552-ACBC-E9F553744FF2}" destId="{7DE4571B-E376-4CE6-ACCD-4F8EDCD9F3F1}" srcOrd="0" destOrd="0" presId="urn:microsoft.com/office/officeart/2005/8/layout/vList2"/>
    <dgm:cxn modelId="{54F97ED8-8F44-4CA2-BA61-4FD39A7F2111}" type="presOf" srcId="{18F5B1C0-FEFF-46D7-AFDD-7FED6C6F1443}" destId="{D3F5C7EF-5CE7-465C-9D26-61E09BD346B2}" srcOrd="0" destOrd="0" presId="urn:microsoft.com/office/officeart/2005/8/layout/vList2"/>
    <dgm:cxn modelId="{6B019931-0E58-4975-A38D-5A9777EAD5CA}" type="presParOf" srcId="{7DE4571B-E376-4CE6-ACCD-4F8EDCD9F3F1}" destId="{96DB66C2-D8B8-4CBC-988F-3543C4D2D91C}" srcOrd="0" destOrd="0" presId="urn:microsoft.com/office/officeart/2005/8/layout/vList2"/>
    <dgm:cxn modelId="{24EDE5E9-5555-4F3A-87AC-C81A912EA52A}" type="presParOf" srcId="{7DE4571B-E376-4CE6-ACCD-4F8EDCD9F3F1}" destId="{EAC51B37-C54F-4B8F-85E4-766D36ABF9C8}" srcOrd="1" destOrd="0" presId="urn:microsoft.com/office/officeart/2005/8/layout/vList2"/>
    <dgm:cxn modelId="{2458D677-F787-4433-9F03-7FEED10CF2CC}" type="presParOf" srcId="{7DE4571B-E376-4CE6-ACCD-4F8EDCD9F3F1}" destId="{D3F5C7EF-5CE7-465C-9D26-61E09BD346B2}" srcOrd="2" destOrd="0" presId="urn:microsoft.com/office/officeart/2005/8/layout/vList2"/>
    <dgm:cxn modelId="{DE42E794-2BE9-451A-BBCD-EE20C65DBAF4}" type="presParOf" srcId="{7DE4571B-E376-4CE6-ACCD-4F8EDCD9F3F1}" destId="{B839C9E2-9DB6-40AD-A371-A55E348A649C}" srcOrd="3" destOrd="0" presId="urn:microsoft.com/office/officeart/2005/8/layout/vList2"/>
    <dgm:cxn modelId="{0B4E1737-A09F-4930-91D0-BE1A57D76E3D}" type="presParOf" srcId="{7DE4571B-E376-4CE6-ACCD-4F8EDCD9F3F1}" destId="{08352AC6-3096-4E8A-9933-95E70DA824A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FD943-6259-45EE-8DBF-7F0E3F0576A0}">
      <dsp:nvSpPr>
        <dsp:cNvPr id="0" name=""/>
        <dsp:cNvSpPr/>
      </dsp:nvSpPr>
      <dsp:spPr>
        <a:xfrm rot="5400000">
          <a:off x="346260" y="3331196"/>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140858-5294-4CFB-BCFD-63DF1CFDC7E6}">
      <dsp:nvSpPr>
        <dsp:cNvPr id="0" name=""/>
        <dsp:cNvSpPr/>
      </dsp:nvSpPr>
      <dsp:spPr>
        <a:xfrm>
          <a:off x="173693" y="3845172"/>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Identify the organization's domain</a:t>
          </a:r>
        </a:p>
      </dsp:txBody>
      <dsp:txXfrm>
        <a:off x="173693" y="3845172"/>
        <a:ext cx="1553027" cy="1361319"/>
      </dsp:txXfrm>
    </dsp:sp>
    <dsp:sp modelId="{101D0039-A7FB-4004-B328-C28EC929B09F}">
      <dsp:nvSpPr>
        <dsp:cNvPr id="0" name=""/>
        <dsp:cNvSpPr/>
      </dsp:nvSpPr>
      <dsp:spPr>
        <a:xfrm>
          <a:off x="1433696" y="3204552"/>
          <a:ext cx="293023" cy="293023"/>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4E8617-FF1A-42F3-BA36-EA81CD990969}">
      <dsp:nvSpPr>
        <dsp:cNvPr id="0" name=""/>
        <dsp:cNvSpPr/>
      </dsp:nvSpPr>
      <dsp:spPr>
        <a:xfrm rot="5400000">
          <a:off x="2247469" y="2860740"/>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C3C12D-7458-4747-834A-2E41E888B3C4}">
      <dsp:nvSpPr>
        <dsp:cNvPr id="0" name=""/>
        <dsp:cNvSpPr/>
      </dsp:nvSpPr>
      <dsp:spPr>
        <a:xfrm>
          <a:off x="2074901" y="3374716"/>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Identify authoritative DNS servers</a:t>
          </a:r>
        </a:p>
      </dsp:txBody>
      <dsp:txXfrm>
        <a:off x="2074901" y="3374716"/>
        <a:ext cx="1553027" cy="1361319"/>
      </dsp:txXfrm>
    </dsp:sp>
    <dsp:sp modelId="{9E28BCA9-3608-435A-8C0B-B5BF6F3F1982}">
      <dsp:nvSpPr>
        <dsp:cNvPr id="0" name=""/>
        <dsp:cNvSpPr/>
      </dsp:nvSpPr>
      <dsp:spPr>
        <a:xfrm>
          <a:off x="3334905" y="2734096"/>
          <a:ext cx="293023" cy="293023"/>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961746-4499-4DBB-A99D-20DB75F8B032}">
      <dsp:nvSpPr>
        <dsp:cNvPr id="0" name=""/>
        <dsp:cNvSpPr/>
      </dsp:nvSpPr>
      <dsp:spPr>
        <a:xfrm rot="5400000">
          <a:off x="4148677" y="2390284"/>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BDCFD8-D6BA-4674-94A8-4B79D936A6D0}">
      <dsp:nvSpPr>
        <dsp:cNvPr id="0" name=""/>
        <dsp:cNvSpPr/>
      </dsp:nvSpPr>
      <dsp:spPr>
        <a:xfrm>
          <a:off x="3976110" y="2904261"/>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Determine whether zone transfers are permitted</a:t>
          </a:r>
        </a:p>
      </dsp:txBody>
      <dsp:txXfrm>
        <a:off x="3976110" y="2904261"/>
        <a:ext cx="1553027" cy="1361319"/>
      </dsp:txXfrm>
    </dsp:sp>
    <dsp:sp modelId="{188403ED-6BA7-4073-B136-7FE992669342}">
      <dsp:nvSpPr>
        <dsp:cNvPr id="0" name=""/>
        <dsp:cNvSpPr/>
      </dsp:nvSpPr>
      <dsp:spPr>
        <a:xfrm>
          <a:off x="5236113" y="2263640"/>
          <a:ext cx="293023" cy="293023"/>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C16443-FABD-4380-B794-63E5F59E1BA0}">
      <dsp:nvSpPr>
        <dsp:cNvPr id="0" name=""/>
        <dsp:cNvSpPr/>
      </dsp:nvSpPr>
      <dsp:spPr>
        <a:xfrm rot="5400000">
          <a:off x="6049886" y="1919829"/>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E4033-DA20-4E06-95F2-8D49DADCF7E6}">
      <dsp:nvSpPr>
        <dsp:cNvPr id="0" name=""/>
        <dsp:cNvSpPr/>
      </dsp:nvSpPr>
      <dsp:spPr>
        <a:xfrm>
          <a:off x="5877318" y="2433805"/>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Attempt an authorized AXFR test</a:t>
          </a:r>
        </a:p>
      </dsp:txBody>
      <dsp:txXfrm>
        <a:off x="5877318" y="2433805"/>
        <a:ext cx="1553027" cy="1361319"/>
      </dsp:txXfrm>
    </dsp:sp>
    <dsp:sp modelId="{A1DA5580-9DBA-46F3-AA7E-43FDF25AEFE0}">
      <dsp:nvSpPr>
        <dsp:cNvPr id="0" name=""/>
        <dsp:cNvSpPr/>
      </dsp:nvSpPr>
      <dsp:spPr>
        <a:xfrm>
          <a:off x="7137321" y="1793184"/>
          <a:ext cx="293023" cy="293023"/>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98D596-99C9-4B18-9875-07AD30FA6B90}">
      <dsp:nvSpPr>
        <dsp:cNvPr id="0" name=""/>
        <dsp:cNvSpPr/>
      </dsp:nvSpPr>
      <dsp:spPr>
        <a:xfrm rot="5400000">
          <a:off x="7951094" y="1449373"/>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76D70D-A40F-42C7-9388-6E311F7F8D33}">
      <dsp:nvSpPr>
        <dsp:cNvPr id="0" name=""/>
        <dsp:cNvSpPr/>
      </dsp:nvSpPr>
      <dsp:spPr>
        <a:xfrm>
          <a:off x="7778527" y="1963349"/>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Analyze the response</a:t>
          </a:r>
        </a:p>
      </dsp:txBody>
      <dsp:txXfrm>
        <a:off x="7778527" y="1963349"/>
        <a:ext cx="1553027" cy="1361319"/>
      </dsp:txXfrm>
    </dsp:sp>
    <dsp:sp modelId="{2D87AF15-6B0E-4248-B1FF-F33DBE25955B}">
      <dsp:nvSpPr>
        <dsp:cNvPr id="0" name=""/>
        <dsp:cNvSpPr/>
      </dsp:nvSpPr>
      <dsp:spPr>
        <a:xfrm>
          <a:off x="9038530" y="1322728"/>
          <a:ext cx="293023" cy="293023"/>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8F5C81-B36F-442D-968D-683378381FAC}">
      <dsp:nvSpPr>
        <dsp:cNvPr id="0" name=""/>
        <dsp:cNvSpPr/>
      </dsp:nvSpPr>
      <dsp:spPr>
        <a:xfrm rot="5400000">
          <a:off x="9852303" y="978917"/>
          <a:ext cx="1033801" cy="1720223"/>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F558AB-8EAB-42EA-B2A9-C21CE11AFD32}">
      <dsp:nvSpPr>
        <dsp:cNvPr id="0" name=""/>
        <dsp:cNvSpPr/>
      </dsp:nvSpPr>
      <dsp:spPr>
        <a:xfrm>
          <a:off x="9679735" y="1492893"/>
          <a:ext cx="1553027" cy="136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Determine whether unauthorized DNS information is exposed</a:t>
          </a:r>
        </a:p>
      </dsp:txBody>
      <dsp:txXfrm>
        <a:off x="9679735" y="1492893"/>
        <a:ext cx="1553027" cy="13613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DB66C2-D8B8-4CBC-988F-3543C4D2D91C}">
      <dsp:nvSpPr>
        <dsp:cNvPr id="0" name=""/>
        <dsp:cNvSpPr/>
      </dsp:nvSpPr>
      <dsp:spPr>
        <a:xfrm>
          <a:off x="0" y="23606"/>
          <a:ext cx="10515600" cy="14390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Host</a:t>
          </a:r>
        </a:p>
      </dsp:txBody>
      <dsp:txXfrm>
        <a:off x="70251" y="93857"/>
        <a:ext cx="10375098" cy="1298597"/>
      </dsp:txXfrm>
    </dsp:sp>
    <dsp:sp modelId="{D3F5C7EF-5CE7-465C-9D26-61E09BD346B2}">
      <dsp:nvSpPr>
        <dsp:cNvPr id="0" name=""/>
        <dsp:cNvSpPr/>
      </dsp:nvSpPr>
      <dsp:spPr>
        <a:xfrm>
          <a:off x="0" y="1635506"/>
          <a:ext cx="10515600" cy="14390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Dig</a:t>
          </a:r>
        </a:p>
      </dsp:txBody>
      <dsp:txXfrm>
        <a:off x="70251" y="1705757"/>
        <a:ext cx="10375098" cy="1298597"/>
      </dsp:txXfrm>
    </dsp:sp>
    <dsp:sp modelId="{08352AC6-3096-4E8A-9933-95E70DA824A3}">
      <dsp:nvSpPr>
        <dsp:cNvPr id="0" name=""/>
        <dsp:cNvSpPr/>
      </dsp:nvSpPr>
      <dsp:spPr>
        <a:xfrm>
          <a:off x="0" y="3247406"/>
          <a:ext cx="10515600" cy="14390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nslookup</a:t>
          </a:r>
        </a:p>
      </dsp:txBody>
      <dsp:txXfrm>
        <a:off x="70251" y="3317657"/>
        <a:ext cx="10375098" cy="129859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C3C2E-E234-4423-B1A5-38F5F1FD548E}" type="datetimeFigureOut">
              <a:rPr lang="en-IN" smtClean="0"/>
              <a:t>07-10-2026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E7309A-200B-4507-A178-1ECBDDD58D63}" type="slidenum">
              <a:rPr lang="en-IN" smtClean="0"/>
              <a:t>‹#›</a:t>
            </a:fld>
            <a:endParaRPr lang="en-IN"/>
          </a:p>
        </p:txBody>
      </p:sp>
    </p:spTree>
    <p:extLst>
      <p:ext uri="{BB962C8B-B14F-4D97-AF65-F5344CB8AC3E}">
        <p14:creationId xmlns:p14="http://schemas.microsoft.com/office/powerpoint/2010/main" val="368673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07-10-2026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83777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07-10-2026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08083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A5547-0C75-4804-84DA-EE02A5E2A271}" type="datetimeFigureOut">
              <a:rPr lang="en-IN" smtClean="0"/>
              <a:t>07-10-2026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2870084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D4A5547-0C75-4804-84DA-EE02A5E2A271}" type="datetimeFigureOut">
              <a:rPr lang="en-IN" smtClean="0"/>
              <a:t>07-10-2026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732503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D4A5547-0C75-4804-84DA-EE02A5E2A271}" type="datetimeFigureOut">
              <a:rPr lang="en-IN" smtClean="0"/>
              <a:t>07-10-2026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54268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D4A5547-0C75-4804-84DA-EE02A5E2A271}" type="datetimeFigureOut">
              <a:rPr lang="en-IN" smtClean="0"/>
              <a:t>07-10-2026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591153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A5547-0C75-4804-84DA-EE02A5E2A271}" type="datetimeFigureOut">
              <a:rPr lang="en-IN" smtClean="0"/>
              <a:t>07-10-2026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27753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4A5547-0C75-4804-84DA-EE02A5E2A271}" type="datetimeFigureOut">
              <a:rPr lang="en-IN" smtClean="0"/>
              <a:t>07-10-2026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00904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4A5547-0C75-4804-84DA-EE02A5E2A271}" type="datetimeFigureOut">
              <a:rPr lang="en-IN" smtClean="0"/>
              <a:t>07-10-2026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22402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07-10-2026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16944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07-10-2026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909497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98DA-5893-CC53-447B-296023D5FB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70DA94-84BB-5CA2-102D-C9A3ABDCD9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7D46F7-A2C7-CE41-4BBA-400B0E515011}"/>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6B26E9C3-D489-4EFF-7645-2F8436181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F56148-CA06-7B95-1212-95A5BBC512BA}"/>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965624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860D3-F771-437E-7D8F-3420D40CA6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50EEB1-38CC-317F-2D8C-BD9561CC4A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96B45-0127-BFF8-69B9-F0909B6A1A44}"/>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8DFB18AD-7B1B-17B7-2715-FF39B0529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40B24-493C-65D5-C983-6BA0568A0DA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624431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1D0D-C682-E637-E47A-338F7CF942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CEA15-4C8F-34CA-6EDD-BFFF681F9B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D54CB6-6E76-E536-1AFD-F615F3AC8F1F}"/>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C7D54140-73DA-5ED2-F30D-FB0356016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A1D1C-C4E6-D09D-C400-0D52DBC9C04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3809262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C3DFF-0D1F-02F8-BAD7-96699BDA5E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7EF1EF-98C4-6F96-63CE-660484D63D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B77974-DAE2-B4BD-469C-60D1E56962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47EE4F-3570-932D-F0F1-8BD1F3078FFB}"/>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6" name="Footer Placeholder 5">
            <a:extLst>
              <a:ext uri="{FF2B5EF4-FFF2-40B4-BE49-F238E27FC236}">
                <a16:creationId xmlns:a16="http://schemas.microsoft.com/office/drawing/2014/main" id="{DC1BEDBA-4207-7F37-F29C-C892F57AA6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49AB3-3FA5-4D87-DC76-EBCE9FA60235}"/>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889512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3DEC0-111B-D9E8-2212-BBA1C0E92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0A847E-6525-4CBC-C2F0-88D29A1DC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F7A7C5-E263-C91C-048A-B8F02393E8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81731D-82D8-B060-1B0A-8C66BAEA68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30C94-153A-37C3-B74A-4B2677B741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0C91E5-F1D2-DFED-0D65-3D89427D0687}"/>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8" name="Footer Placeholder 7">
            <a:extLst>
              <a:ext uri="{FF2B5EF4-FFF2-40B4-BE49-F238E27FC236}">
                <a16:creationId xmlns:a16="http://schemas.microsoft.com/office/drawing/2014/main" id="{52485962-D381-8C81-F02A-80B7185770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960DBB-A4FC-D8D0-F8B7-5CCF5E11BF0C}"/>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626935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673F5-0B53-C2DF-0228-AF2CCA587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65CDEC-D46F-AFE9-190E-784990D99C51}"/>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4" name="Footer Placeholder 3">
            <a:extLst>
              <a:ext uri="{FF2B5EF4-FFF2-40B4-BE49-F238E27FC236}">
                <a16:creationId xmlns:a16="http://schemas.microsoft.com/office/drawing/2014/main" id="{5112A3DA-67A0-D516-A2F9-942F16733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162687-2085-15CA-BB92-921FBCD9A393}"/>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2493870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516C8A-0408-83DF-9F2B-3B44156A901A}"/>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3" name="Footer Placeholder 2">
            <a:extLst>
              <a:ext uri="{FF2B5EF4-FFF2-40B4-BE49-F238E27FC236}">
                <a16:creationId xmlns:a16="http://schemas.microsoft.com/office/drawing/2014/main" id="{3B36C6A5-B371-E9EA-D988-34F31C622C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88C211-3BF0-26CF-5655-2ECA80514E34}"/>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68044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D296-1A0C-FE5D-D95B-C94E670A8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142298-AA77-B678-AFEC-B802EEC67F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05B27-D7FD-6E74-6F3D-88061B08C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A462F2-C56D-F7F4-1F75-72EB18B74FDD}"/>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6" name="Footer Placeholder 5">
            <a:extLst>
              <a:ext uri="{FF2B5EF4-FFF2-40B4-BE49-F238E27FC236}">
                <a16:creationId xmlns:a16="http://schemas.microsoft.com/office/drawing/2014/main" id="{64E0B71F-21B9-2431-740E-79180C8812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3D340-2B14-4896-195A-CB6A1EF40C5B}"/>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2742966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F20E-2514-D5BA-22F6-90BA9F214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01CBE2-BBD9-CA3B-39A6-046053A3E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795AF3-8BEB-ADEA-8384-E9FFA4285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99AEBA-D2E6-AA4C-961B-293F4F9A31D6}"/>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6" name="Footer Placeholder 5">
            <a:extLst>
              <a:ext uri="{FF2B5EF4-FFF2-40B4-BE49-F238E27FC236}">
                <a16:creationId xmlns:a16="http://schemas.microsoft.com/office/drawing/2014/main" id="{9D0A8F15-198E-910A-4D89-371A13DEEF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C10FFB-D855-114C-590C-62E0F4A8F11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147258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E135-1070-D74A-2BAF-9F06DD3A9B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23EED0-9211-10A2-46A7-C30708BB5C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812DE-17F1-96C5-CC03-6FFB50EFE0E6}"/>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347BE601-0967-17C0-B000-DAE1CA2E2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CB12C-851E-8373-728A-A913D7E8DC7F}"/>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39660761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B96095-60A3-BB6E-00A2-30F3AC823C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6F410B-3FDD-5C8B-52A0-F0E7B278A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E615B-81F5-1323-993B-5E9C5B3F6222}"/>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055A9648-853C-D989-27B9-C51FBE84A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00EA5-F97A-7C3D-966B-FF7C3BF89059}"/>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0291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0F93C-21A0-AEBA-F710-42191C1E48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079A87-E84A-699E-C5B4-0E5996EEED1E}"/>
              </a:ext>
            </a:extLst>
          </p:cNvPr>
          <p:cNvSpPr>
            <a:spLocks noGrp="1"/>
          </p:cNvSpPr>
          <p:nvPr>
            <p:ph type="dt" sz="half" idx="10"/>
          </p:nvPr>
        </p:nvSpPr>
        <p:spPr/>
        <p:txBody>
          <a:bodyPr/>
          <a:lstStyle/>
          <a:p>
            <a:fld id="{FDFA7F34-3CC7-4D26-8DEE-BB0878DBC504}" type="datetimeFigureOut">
              <a:rPr lang="en-US" smtClean="0"/>
              <a:t>10/7/2026</a:t>
            </a:fld>
            <a:endParaRPr lang="en-US"/>
          </a:p>
        </p:txBody>
      </p:sp>
      <p:sp>
        <p:nvSpPr>
          <p:cNvPr id="4" name="Footer Placeholder 3">
            <a:extLst>
              <a:ext uri="{FF2B5EF4-FFF2-40B4-BE49-F238E27FC236}">
                <a16:creationId xmlns:a16="http://schemas.microsoft.com/office/drawing/2014/main" id="{70864889-A65F-9E52-E9BC-979BC59574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D22044-3CA3-4DAF-3B78-B28308319E76}"/>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010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2800" y="136525"/>
            <a:ext cx="83058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8800"/>
            <a:ext cx="10515600" cy="47101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A5547-0C75-4804-84DA-EE02A5E2A271}" type="datetimeFigureOut">
              <a:rPr lang="en-IN" smtClean="0"/>
              <a:t>07-10-2026</a:t>
            </a:fld>
            <a:endParaRPr lang="en-IN"/>
          </a:p>
        </p:txBody>
      </p:sp>
      <p:pic>
        <p:nvPicPr>
          <p:cNvPr id="8" name="Picture 7">
            <a:extLst>
              <a:ext uri="{FF2B5EF4-FFF2-40B4-BE49-F238E27FC236}">
                <a16:creationId xmlns:a16="http://schemas.microsoft.com/office/drawing/2014/main" id="{840AC10B-E2DB-40D6-76DD-486DF027A0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10620"/>
            <a:ext cx="3180089" cy="943307"/>
          </a:xfrm>
          <a:prstGeom prst="rect">
            <a:avLst/>
          </a:prstGeom>
        </p:spPr>
      </p:pic>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0ED23-4570-478F-8E10-B8447DF96B4E}" type="slidenum">
              <a:rPr lang="en-IN" smtClean="0"/>
              <a:t>‹#›</a:t>
            </a:fld>
            <a:endParaRPr lang="en-IN"/>
          </a:p>
        </p:txBody>
      </p:sp>
    </p:spTree>
    <p:extLst>
      <p:ext uri="{BB962C8B-B14F-4D97-AF65-F5344CB8AC3E}">
        <p14:creationId xmlns:p14="http://schemas.microsoft.com/office/powerpoint/2010/main" val="369017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E4852-7B81-98E4-69F2-DAE264E6DD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0D7339-01BF-AD39-7883-57DF9A9E1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1A9B9F-4B87-91D4-F644-05E25AAA5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FA7F34-3CC7-4D26-8DEE-BB0878DBC504}" type="datetimeFigureOut">
              <a:rPr lang="en-US" smtClean="0"/>
              <a:t>10/7/2026</a:t>
            </a:fld>
            <a:endParaRPr lang="en-US"/>
          </a:p>
        </p:txBody>
      </p:sp>
      <p:sp>
        <p:nvSpPr>
          <p:cNvPr id="5" name="Footer Placeholder 4">
            <a:extLst>
              <a:ext uri="{FF2B5EF4-FFF2-40B4-BE49-F238E27FC236}">
                <a16:creationId xmlns:a16="http://schemas.microsoft.com/office/drawing/2014/main" id="{8E5B84FB-2BF4-4B01-5A54-340A2EFB18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9C4F6F-FAEA-1AD4-8F8A-3F9C483286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3A3793-7AC4-4EE9-B80F-06CFDC7D1055}" type="slidenum">
              <a:rPr lang="en-US" smtClean="0"/>
              <a:t>‹#›</a:t>
            </a:fld>
            <a:endParaRPr lang="en-US"/>
          </a:p>
        </p:txBody>
      </p:sp>
    </p:spTree>
    <p:extLst>
      <p:ext uri="{BB962C8B-B14F-4D97-AF65-F5344CB8AC3E}">
        <p14:creationId xmlns:p14="http://schemas.microsoft.com/office/powerpoint/2010/main" val="1009774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bwMode="auto">
          <a:xfrm>
            <a:off x="6666295" y="5398326"/>
            <a:ext cx="5115719" cy="123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algn="r" eaLnBrk="1" hangingPunct="1">
              <a:spcBef>
                <a:spcPct val="20000"/>
              </a:spcBef>
              <a:buFont typeface="Arial" pitchFamily="34" charset="0"/>
              <a:buNone/>
            </a:pPr>
            <a:r>
              <a:rPr lang="en-US" sz="2000" b="1">
                <a:solidFill>
                  <a:srgbClr val="002060"/>
                </a:solidFill>
                <a:latin typeface="Bell Gothic Std Black"/>
                <a:ea typeface="Adobe Gothic Std B"/>
                <a:cs typeface="Adobe Hebrew"/>
              </a:rPr>
              <a:t>Avinash Verma</a:t>
            </a:r>
            <a:endParaRPr lang="en-US" sz="2000" b="1" dirty="0">
              <a:solidFill>
                <a:srgbClr val="002060"/>
              </a:solidFill>
              <a:latin typeface="Bell Gothic Std Black"/>
              <a:ea typeface="Adobe Gothic Std B"/>
              <a:cs typeface="Adobe Hebrew"/>
            </a:endParaRPr>
          </a:p>
          <a:p>
            <a:pPr algn="r" eaLnBrk="1" hangingPunct="1">
              <a:spcBef>
                <a:spcPct val="20000"/>
              </a:spcBef>
              <a:buFont typeface="Arial" pitchFamily="34" charset="0"/>
              <a:buNone/>
            </a:pPr>
            <a:r>
              <a:rPr lang="en-US" sz="2000" b="1" dirty="0">
                <a:solidFill>
                  <a:srgbClr val="002060"/>
                </a:solidFill>
                <a:latin typeface="Bell Gothic Std Black"/>
                <a:ea typeface="Adobe Gothic Std B"/>
                <a:cs typeface="Adobe Hebrew"/>
              </a:rPr>
              <a:t>Cybersecurity Trainer</a:t>
            </a:r>
          </a:p>
          <a:p>
            <a:pPr algn="r" eaLnBrk="1" hangingPunct="1">
              <a:spcBef>
                <a:spcPct val="20000"/>
              </a:spcBef>
              <a:buFont typeface="Arial" pitchFamily="34" charset="0"/>
              <a:buNone/>
            </a:pPr>
            <a:r>
              <a:rPr lang="en-US" sz="2000" b="1" dirty="0" err="1">
                <a:solidFill>
                  <a:srgbClr val="002060"/>
                </a:solidFill>
                <a:latin typeface="Bell Gothic Std Black"/>
                <a:ea typeface="Adobe Gothic Std B"/>
                <a:cs typeface="Adobe Hebrew"/>
              </a:rPr>
              <a:t>TechD</a:t>
            </a:r>
            <a:r>
              <a:rPr lang="en-US" sz="2000" b="1" dirty="0">
                <a:solidFill>
                  <a:srgbClr val="002060"/>
                </a:solidFill>
                <a:latin typeface="Bell Gothic Std Black"/>
                <a:ea typeface="Adobe Gothic Std B"/>
                <a:cs typeface="Adobe Hebrew"/>
              </a:rPr>
              <a:t> Cybersecurity Limited</a:t>
            </a:r>
          </a:p>
        </p:txBody>
      </p:sp>
      <p:sp>
        <p:nvSpPr>
          <p:cNvPr id="6" name="Slide Number Placeholder 11"/>
          <p:cNvSpPr>
            <a:spLocks noGrp="1"/>
          </p:cNvSpPr>
          <p:nvPr>
            <p:ph type="sldNum" sz="quarter" idx="12"/>
          </p:nvPr>
        </p:nvSpPr>
        <p:spPr>
          <a:xfrm>
            <a:off x="8734425" y="6356350"/>
            <a:ext cx="2843213" cy="365125"/>
          </a:xfrm>
        </p:spPr>
        <p:txBody>
          <a:bodyPr/>
          <a:lstStyle/>
          <a:p>
            <a:pPr>
              <a:defRPr/>
            </a:pPr>
            <a:fld id="{657B3580-1400-497E-A019-9190D5AB9838}" type="slidenum">
              <a:rPr lang="en-IN"/>
              <a:pPr>
                <a:defRPr/>
              </a:pPr>
              <a:t>1</a:t>
            </a:fld>
            <a:endParaRPr lang="en-IN" dirty="0"/>
          </a:p>
        </p:txBody>
      </p:sp>
      <p:sp>
        <p:nvSpPr>
          <p:cNvPr id="7" name="Text Box 10"/>
          <p:cNvSpPr txBox="1">
            <a:spLocks noChangeArrowheads="1"/>
          </p:cNvSpPr>
          <p:nvPr/>
        </p:nvSpPr>
        <p:spPr bwMode="auto">
          <a:xfrm>
            <a:off x="2772155" y="2413337"/>
            <a:ext cx="664768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endParaRPr lang="en-US" sz="3600" b="1" dirty="0">
              <a:solidFill>
                <a:srgbClr val="002060"/>
              </a:solidFill>
              <a:latin typeface="Bell Gothic Std Black"/>
              <a:ea typeface="Adobe Gothic Std B"/>
              <a:cs typeface="Adobe Hebrew"/>
            </a:endParaRPr>
          </a:p>
          <a:p>
            <a:pPr algn="ctr" eaLnBrk="1" hangingPunct="1">
              <a:spcBef>
                <a:spcPct val="50000"/>
              </a:spcBef>
            </a:pPr>
            <a:r>
              <a:rPr lang="en-US" sz="3600" b="1" dirty="0">
                <a:solidFill>
                  <a:srgbClr val="002060"/>
                </a:solidFill>
                <a:latin typeface="Bell Gothic Std Black"/>
                <a:ea typeface="Adobe Gothic Std B"/>
                <a:cs typeface="Adobe Hebrew"/>
              </a:rPr>
              <a:t>DNS Zone Transfer </a:t>
            </a:r>
          </a:p>
        </p:txBody>
      </p:sp>
    </p:spTree>
    <p:extLst>
      <p:ext uri="{BB962C8B-B14F-4D97-AF65-F5344CB8AC3E}">
        <p14:creationId xmlns:p14="http://schemas.microsoft.com/office/powerpoint/2010/main" val="274575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232C56-FE76-5D75-884D-58F213E0F474}"/>
              </a:ext>
            </a:extLst>
          </p:cNvPr>
          <p:cNvSpPr>
            <a:spLocks noGrp="1"/>
          </p:cNvSpPr>
          <p:nvPr>
            <p:ph idx="1"/>
          </p:nvPr>
        </p:nvSpPr>
        <p:spPr/>
        <p:txBody>
          <a:bodyPr>
            <a:normAutofit/>
          </a:bodyPr>
          <a:lstStyle/>
          <a:p>
            <a:r>
              <a:rPr lang="en-US" b="1" dirty="0"/>
              <a:t>DNS Zone Transfer</a:t>
            </a:r>
            <a:r>
              <a:rPr lang="en-US" dirty="0"/>
              <a:t> is a mechanism used by DNS servers to copy DNS zone information from one DNS server to another. </a:t>
            </a:r>
          </a:p>
          <a:p>
            <a:r>
              <a:rPr lang="en-US" b="1" dirty="0"/>
              <a:t>It is primarily designed to keep multiple DNS servers synchronized.</a:t>
            </a:r>
            <a:r>
              <a:rPr lang="en-US" dirty="0"/>
              <a:t> </a:t>
            </a:r>
          </a:p>
          <a:p>
            <a:r>
              <a:rPr lang="en-US" b="1" dirty="0"/>
              <a:t>For example</a:t>
            </a:r>
            <a:r>
              <a:rPr lang="en-US" dirty="0"/>
              <a:t>, an organization may have a </a:t>
            </a:r>
            <a:r>
              <a:rPr lang="en-US" b="1" dirty="0"/>
              <a:t>primary DNS server</a:t>
            </a:r>
            <a:r>
              <a:rPr lang="en-US" dirty="0"/>
              <a:t> that maintains the original DNS records and one or more </a:t>
            </a:r>
            <a:r>
              <a:rPr lang="en-US" b="1" dirty="0"/>
              <a:t>secondary DNS servers</a:t>
            </a:r>
            <a:r>
              <a:rPr lang="en-US" dirty="0"/>
              <a:t> that maintain copies of those records. Instead of manually configuring every DNS record on every server, the secondary server can obtain the zone information from the primary server through a zone transfer. </a:t>
            </a:r>
          </a:p>
          <a:p>
            <a:r>
              <a:rPr lang="en-US" dirty="0"/>
              <a:t>A zone transfer is a legitimate </a:t>
            </a:r>
            <a:r>
              <a:rPr lang="en-US" b="1" dirty="0"/>
              <a:t>DNS replication process</a:t>
            </a:r>
            <a:r>
              <a:rPr lang="en-US" dirty="0"/>
              <a:t>, not inherently an attack technique.</a:t>
            </a:r>
          </a:p>
        </p:txBody>
      </p:sp>
      <p:sp>
        <p:nvSpPr>
          <p:cNvPr id="3" name="Title 2">
            <a:extLst>
              <a:ext uri="{FF2B5EF4-FFF2-40B4-BE49-F238E27FC236}">
                <a16:creationId xmlns:a16="http://schemas.microsoft.com/office/drawing/2014/main" id="{6EDC9272-E3A0-8250-0F34-C248BC0FED56}"/>
              </a:ext>
            </a:extLst>
          </p:cNvPr>
          <p:cNvSpPr>
            <a:spLocks noGrp="1"/>
          </p:cNvSpPr>
          <p:nvPr>
            <p:ph type="title"/>
          </p:nvPr>
        </p:nvSpPr>
        <p:spPr/>
        <p:txBody>
          <a:bodyPr/>
          <a:lstStyle/>
          <a:p>
            <a:r>
              <a:rPr lang="en-US" b="1" dirty="0"/>
              <a:t>DNS Zone Transfer</a:t>
            </a:r>
          </a:p>
        </p:txBody>
      </p:sp>
      <p:sp>
        <p:nvSpPr>
          <p:cNvPr id="4" name="Slide Number Placeholder 3">
            <a:extLst>
              <a:ext uri="{FF2B5EF4-FFF2-40B4-BE49-F238E27FC236}">
                <a16:creationId xmlns:a16="http://schemas.microsoft.com/office/drawing/2014/main" id="{4909B9A6-9418-C81C-1448-EF424BDB75EC}"/>
              </a:ext>
            </a:extLst>
          </p:cNvPr>
          <p:cNvSpPr>
            <a:spLocks noGrp="1"/>
          </p:cNvSpPr>
          <p:nvPr>
            <p:ph type="sldNum" sz="quarter" idx="12"/>
          </p:nvPr>
        </p:nvSpPr>
        <p:spPr/>
        <p:txBody>
          <a:bodyPr/>
          <a:lstStyle/>
          <a:p>
            <a:fld id="{02C84146-E65B-4948-A521-8AE14AC02658}" type="slidenum">
              <a:rPr lang="en-US" smtClean="0"/>
              <a:t>2</a:t>
            </a:fld>
            <a:endParaRPr lang="en-US"/>
          </a:p>
        </p:txBody>
      </p:sp>
      <p:sp>
        <p:nvSpPr>
          <p:cNvPr id="5" name="TextBox 4">
            <a:extLst>
              <a:ext uri="{FF2B5EF4-FFF2-40B4-BE49-F238E27FC236}">
                <a16:creationId xmlns:a16="http://schemas.microsoft.com/office/drawing/2014/main" id="{3A99035D-A1C5-E9BC-B0AC-CEC7841C25F9}"/>
              </a:ext>
            </a:extLst>
          </p:cNvPr>
          <p:cNvSpPr txBox="1"/>
          <p:nvPr/>
        </p:nvSpPr>
        <p:spPr>
          <a:xfrm>
            <a:off x="292608" y="21945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04691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7B7739-ABD6-E453-9418-582DD895EAF3}"/>
              </a:ext>
            </a:extLst>
          </p:cNvPr>
          <p:cNvSpPr>
            <a:spLocks noGrp="1"/>
          </p:cNvSpPr>
          <p:nvPr>
            <p:ph idx="1"/>
          </p:nvPr>
        </p:nvSpPr>
        <p:spPr/>
        <p:txBody>
          <a:bodyPr>
            <a:normAutofit/>
          </a:bodyPr>
          <a:lstStyle/>
          <a:p>
            <a:r>
              <a:rPr lang="en-US" dirty="0"/>
              <a:t>A DNS zone contains information about the domain and its associated hosts and services. </a:t>
            </a:r>
          </a:p>
          <a:p>
            <a:r>
              <a:rPr lang="en-US" dirty="0"/>
              <a:t>For example, a zone for example.com might contain records such as www.example.com, mail.example.com, vpn.example.com, and dev.example.com, along with their corresponding IP addresses. </a:t>
            </a:r>
          </a:p>
          <a:p>
            <a:r>
              <a:rPr lang="en-US" dirty="0"/>
              <a:t>It can also contain other DNS record types such as </a:t>
            </a:r>
            <a:r>
              <a:rPr lang="en-US" b="1" dirty="0"/>
              <a:t>A, AAAA, MX, NS, CNAME, TXT, and SOA</a:t>
            </a:r>
            <a:r>
              <a:rPr lang="en-US" dirty="0"/>
              <a:t> records. </a:t>
            </a:r>
          </a:p>
          <a:p>
            <a:r>
              <a:rPr lang="en-US" dirty="0"/>
              <a:t>If a complete zone is transferred to another DNS server, the receiving server can obtain a large amount of information about the organization's DNS namespace.</a:t>
            </a:r>
          </a:p>
        </p:txBody>
      </p:sp>
      <p:sp>
        <p:nvSpPr>
          <p:cNvPr id="3" name="Title 2">
            <a:extLst>
              <a:ext uri="{FF2B5EF4-FFF2-40B4-BE49-F238E27FC236}">
                <a16:creationId xmlns:a16="http://schemas.microsoft.com/office/drawing/2014/main" id="{93DB24FA-51C4-BF36-D469-93709960B3AE}"/>
              </a:ext>
            </a:extLst>
          </p:cNvPr>
          <p:cNvSpPr>
            <a:spLocks noGrp="1"/>
          </p:cNvSpPr>
          <p:nvPr>
            <p:ph type="title"/>
          </p:nvPr>
        </p:nvSpPr>
        <p:spPr/>
        <p:txBody>
          <a:bodyPr/>
          <a:lstStyle/>
          <a:p>
            <a:r>
              <a:rPr lang="en-US" b="1" dirty="0"/>
              <a:t>Web Application Penetration Testing</a:t>
            </a:r>
            <a:endParaRPr lang="en-US" dirty="0"/>
          </a:p>
        </p:txBody>
      </p:sp>
      <p:sp>
        <p:nvSpPr>
          <p:cNvPr id="4" name="Slide Number Placeholder 3">
            <a:extLst>
              <a:ext uri="{FF2B5EF4-FFF2-40B4-BE49-F238E27FC236}">
                <a16:creationId xmlns:a16="http://schemas.microsoft.com/office/drawing/2014/main" id="{3BD4828A-3945-C076-0F4F-5F28CF46A666}"/>
              </a:ext>
            </a:extLst>
          </p:cNvPr>
          <p:cNvSpPr>
            <a:spLocks noGrp="1"/>
          </p:cNvSpPr>
          <p:nvPr>
            <p:ph type="sldNum" sz="quarter" idx="12"/>
          </p:nvPr>
        </p:nvSpPr>
        <p:spPr/>
        <p:txBody>
          <a:bodyPr/>
          <a:lstStyle/>
          <a:p>
            <a:fld id="{02C84146-E65B-4948-A521-8AE14AC02658}" type="slidenum">
              <a:rPr lang="en-US" smtClean="0"/>
              <a:t>3</a:t>
            </a:fld>
            <a:endParaRPr lang="en-US"/>
          </a:p>
        </p:txBody>
      </p:sp>
    </p:spTree>
    <p:extLst>
      <p:ext uri="{BB962C8B-B14F-4D97-AF65-F5344CB8AC3E}">
        <p14:creationId xmlns:p14="http://schemas.microsoft.com/office/powerpoint/2010/main" val="1192194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000BC7-067E-855F-AF24-6F84C80683BC}"/>
              </a:ext>
            </a:extLst>
          </p:cNvPr>
          <p:cNvSpPr>
            <a:spLocks noGrp="1"/>
          </p:cNvSpPr>
          <p:nvPr>
            <p:ph type="title"/>
          </p:nvPr>
        </p:nvSpPr>
        <p:spPr/>
        <p:txBody>
          <a:bodyPr/>
          <a:lstStyle/>
          <a:p>
            <a:r>
              <a:rPr lang="en-US" b="1" dirty="0"/>
              <a:t>Types of DNS Zone Transfer</a:t>
            </a:r>
          </a:p>
        </p:txBody>
      </p:sp>
      <p:sp>
        <p:nvSpPr>
          <p:cNvPr id="4" name="Slide Number Placeholder 3">
            <a:extLst>
              <a:ext uri="{FF2B5EF4-FFF2-40B4-BE49-F238E27FC236}">
                <a16:creationId xmlns:a16="http://schemas.microsoft.com/office/drawing/2014/main" id="{7A7D7A81-1EE9-C98E-5106-CEEF01CFDB1F}"/>
              </a:ext>
            </a:extLst>
          </p:cNvPr>
          <p:cNvSpPr>
            <a:spLocks noGrp="1"/>
          </p:cNvSpPr>
          <p:nvPr>
            <p:ph type="sldNum" sz="quarter" idx="12"/>
          </p:nvPr>
        </p:nvSpPr>
        <p:spPr/>
        <p:txBody>
          <a:bodyPr/>
          <a:lstStyle/>
          <a:p>
            <a:fld id="{02C84146-E65B-4948-A521-8AE14AC02658}" type="slidenum">
              <a:rPr lang="en-US" smtClean="0"/>
              <a:t>4</a:t>
            </a:fld>
            <a:endParaRPr lang="en-US"/>
          </a:p>
        </p:txBody>
      </p:sp>
      <p:sp>
        <p:nvSpPr>
          <p:cNvPr id="2" name="Content Placeholder 1">
            <a:extLst>
              <a:ext uri="{FF2B5EF4-FFF2-40B4-BE49-F238E27FC236}">
                <a16:creationId xmlns:a16="http://schemas.microsoft.com/office/drawing/2014/main" id="{49CA8BDA-A3C1-BFC5-6885-F29D977CA5F6}"/>
              </a:ext>
            </a:extLst>
          </p:cNvPr>
          <p:cNvSpPr>
            <a:spLocks noGrp="1"/>
          </p:cNvSpPr>
          <p:nvPr>
            <p:ph idx="1"/>
          </p:nvPr>
        </p:nvSpPr>
        <p:spPr/>
        <p:txBody>
          <a:bodyPr/>
          <a:lstStyle/>
          <a:p>
            <a:pPr lvl="0"/>
            <a:r>
              <a:rPr lang="en-US" dirty="0"/>
              <a:t>There are two important types of DNS zone transfers: </a:t>
            </a:r>
          </a:p>
          <a:p>
            <a:pPr lvl="1"/>
            <a:r>
              <a:rPr lang="en-US" b="1" dirty="0">
                <a:solidFill>
                  <a:srgbClr val="FF0000"/>
                </a:solidFill>
              </a:rPr>
              <a:t>AXFR (Authoritative Zone Transfer) and IXFR (Incremental Zone Transfer). </a:t>
            </a:r>
          </a:p>
          <a:p>
            <a:r>
              <a:rPr lang="en-US" dirty="0"/>
              <a:t>An </a:t>
            </a:r>
            <a:r>
              <a:rPr lang="en-US" dirty="0">
                <a:solidFill>
                  <a:srgbClr val="FF0000"/>
                </a:solidFill>
              </a:rPr>
              <a:t>AXFR </a:t>
            </a:r>
            <a:r>
              <a:rPr lang="en-US" dirty="0"/>
              <a:t>transfer is essentially a complete transfer of the DNS zone. When a secondary DNS server performs an AXFR, it can receive the records contained within the zone. </a:t>
            </a:r>
          </a:p>
          <a:p>
            <a:r>
              <a:rPr lang="en-US" dirty="0">
                <a:solidFill>
                  <a:srgbClr val="FF0000"/>
                </a:solidFill>
              </a:rPr>
              <a:t>IXFR </a:t>
            </a:r>
            <a:r>
              <a:rPr lang="en-US" dirty="0"/>
              <a:t>is an incremental zone transfer and is designed to transfer only the changes that have occurred since the secondary server's previous copy. IXFR is therefore more efficient when only a small number of DNS records have changed.</a:t>
            </a:r>
          </a:p>
        </p:txBody>
      </p:sp>
    </p:spTree>
    <p:extLst>
      <p:ext uri="{BB962C8B-B14F-4D97-AF65-F5344CB8AC3E}">
        <p14:creationId xmlns:p14="http://schemas.microsoft.com/office/powerpoint/2010/main" val="182574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86032E-69FD-0BBB-0BAC-FBAAC07353E1}"/>
              </a:ext>
            </a:extLst>
          </p:cNvPr>
          <p:cNvSpPr>
            <a:spLocks noGrp="1"/>
          </p:cNvSpPr>
          <p:nvPr>
            <p:ph idx="1"/>
          </p:nvPr>
        </p:nvSpPr>
        <p:spPr>
          <a:xfrm>
            <a:off x="838200" y="1462087"/>
            <a:ext cx="10515599" cy="4714875"/>
          </a:xfrm>
        </p:spPr>
        <p:txBody>
          <a:bodyPr>
            <a:normAutofit/>
          </a:bodyPr>
          <a:lstStyle/>
          <a:p>
            <a:r>
              <a:rPr lang="en-US" dirty="0"/>
              <a:t>From a </a:t>
            </a:r>
            <a:r>
              <a:rPr lang="en-US" b="1" dirty="0"/>
              <a:t>cybersecurity and VAPT perspective,</a:t>
            </a:r>
            <a:r>
              <a:rPr lang="en-US" dirty="0"/>
              <a:t> DNS zone transfer testing is performed to determine whether an organization's authoritative DNS server is improperly allowing unauthorized systems to obtain zone information. </a:t>
            </a:r>
          </a:p>
          <a:p>
            <a:r>
              <a:rPr lang="en-US" dirty="0"/>
              <a:t>Normally, a DNS administrator should configure the DNS server so that zone transfers are permitted only to specifically authorized secondary DNS servers. </a:t>
            </a:r>
          </a:p>
          <a:p>
            <a:r>
              <a:rPr lang="en-US" dirty="0"/>
              <a:t>If an Internet-facing DNS server allows any requester to perform an unrestricted AXFR, an unauthorized party could potentially retrieve a large portion of the organization's DNS records. This is generally considered a </a:t>
            </a:r>
            <a:r>
              <a:rPr lang="en-US" b="1" dirty="0"/>
              <a:t>DNS misconfiguration and information-disclosure issue</a:t>
            </a:r>
            <a:r>
              <a:rPr lang="en-US" dirty="0"/>
              <a:t>.</a:t>
            </a:r>
          </a:p>
        </p:txBody>
      </p:sp>
      <p:sp>
        <p:nvSpPr>
          <p:cNvPr id="3" name="Title 2">
            <a:extLst>
              <a:ext uri="{FF2B5EF4-FFF2-40B4-BE49-F238E27FC236}">
                <a16:creationId xmlns:a16="http://schemas.microsoft.com/office/drawing/2014/main" id="{E57B6907-C529-45B1-664C-C80132497548}"/>
              </a:ext>
            </a:extLst>
          </p:cNvPr>
          <p:cNvSpPr>
            <a:spLocks noGrp="1"/>
          </p:cNvSpPr>
          <p:nvPr>
            <p:ph type="title"/>
          </p:nvPr>
        </p:nvSpPr>
        <p:spPr/>
        <p:txBody>
          <a:bodyPr/>
          <a:lstStyle/>
          <a:p>
            <a:r>
              <a:rPr lang="en-US" b="1" dirty="0"/>
              <a:t>Why is DNS Zone Transfer important?</a:t>
            </a:r>
          </a:p>
        </p:txBody>
      </p:sp>
      <p:sp>
        <p:nvSpPr>
          <p:cNvPr id="4" name="Slide Number Placeholder 3">
            <a:extLst>
              <a:ext uri="{FF2B5EF4-FFF2-40B4-BE49-F238E27FC236}">
                <a16:creationId xmlns:a16="http://schemas.microsoft.com/office/drawing/2014/main" id="{F0649708-EB7D-45E7-ABF1-FAFDD72AB580}"/>
              </a:ext>
            </a:extLst>
          </p:cNvPr>
          <p:cNvSpPr>
            <a:spLocks noGrp="1"/>
          </p:cNvSpPr>
          <p:nvPr>
            <p:ph type="sldNum" sz="quarter" idx="12"/>
          </p:nvPr>
        </p:nvSpPr>
        <p:spPr/>
        <p:txBody>
          <a:bodyPr/>
          <a:lstStyle/>
          <a:p>
            <a:fld id="{02C84146-E65B-4948-A521-8AE14AC02658}" type="slidenum">
              <a:rPr lang="en-US" smtClean="0"/>
              <a:t>5</a:t>
            </a:fld>
            <a:endParaRPr lang="en-US"/>
          </a:p>
        </p:txBody>
      </p:sp>
    </p:spTree>
    <p:extLst>
      <p:ext uri="{BB962C8B-B14F-4D97-AF65-F5344CB8AC3E}">
        <p14:creationId xmlns:p14="http://schemas.microsoft.com/office/powerpoint/2010/main" val="1005543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97D53-3368-B9FA-0318-13E3F44B0A20}"/>
              </a:ext>
            </a:extLst>
          </p:cNvPr>
          <p:cNvSpPr>
            <a:spLocks noGrp="1"/>
          </p:cNvSpPr>
          <p:nvPr>
            <p:ph idx="1"/>
          </p:nvPr>
        </p:nvSpPr>
        <p:spPr/>
        <p:txBody>
          <a:bodyPr>
            <a:normAutofit/>
          </a:bodyPr>
          <a:lstStyle/>
          <a:p>
            <a:r>
              <a:rPr lang="en-US" dirty="0"/>
              <a:t>If an unauthorized user successfully performs a zone transfer and receives these records, they may gain a much clearer understanding of the organization's infrastructure. </a:t>
            </a:r>
          </a:p>
          <a:p>
            <a:r>
              <a:rPr lang="en-US" dirty="0"/>
              <a:t>The information itself does not necessarily provide unauthorized access, but it can significantly improve </a:t>
            </a:r>
            <a:r>
              <a:rPr lang="en-US" b="1" dirty="0"/>
              <a:t>reconnaissance</a:t>
            </a:r>
            <a:r>
              <a:rPr lang="en-US" dirty="0"/>
              <a:t>. </a:t>
            </a:r>
          </a:p>
          <a:p>
            <a:r>
              <a:rPr lang="en-US" dirty="0"/>
              <a:t>Instead of discovering these systems individually through extensive enumeration, the tester may receive their names and associated DNS information directly from the DNS server.</a:t>
            </a:r>
          </a:p>
        </p:txBody>
      </p:sp>
      <p:sp>
        <p:nvSpPr>
          <p:cNvPr id="3" name="Title 2">
            <a:extLst>
              <a:ext uri="{FF2B5EF4-FFF2-40B4-BE49-F238E27FC236}">
                <a16:creationId xmlns:a16="http://schemas.microsoft.com/office/drawing/2014/main" id="{000E1C04-2614-F949-516B-DF18D32397CF}"/>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2AE10C8F-CDED-3105-B596-C69C5358CC24}"/>
              </a:ext>
            </a:extLst>
          </p:cNvPr>
          <p:cNvSpPr>
            <a:spLocks noGrp="1"/>
          </p:cNvSpPr>
          <p:nvPr>
            <p:ph type="sldNum" sz="quarter" idx="12"/>
          </p:nvPr>
        </p:nvSpPr>
        <p:spPr/>
        <p:txBody>
          <a:bodyPr/>
          <a:lstStyle/>
          <a:p>
            <a:fld id="{02C84146-E65B-4948-A521-8AE14AC02658}" type="slidenum">
              <a:rPr lang="en-US" smtClean="0"/>
              <a:t>6</a:t>
            </a:fld>
            <a:endParaRPr lang="en-US"/>
          </a:p>
        </p:txBody>
      </p:sp>
    </p:spTree>
    <p:extLst>
      <p:ext uri="{BB962C8B-B14F-4D97-AF65-F5344CB8AC3E}">
        <p14:creationId xmlns:p14="http://schemas.microsoft.com/office/powerpoint/2010/main" val="235874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2904F19-EE89-1743-F19D-EDAFE709686B}"/>
              </a:ext>
            </a:extLst>
          </p:cNvPr>
          <p:cNvGraphicFramePr>
            <a:graphicFrameLocks noGrp="1"/>
          </p:cNvGraphicFramePr>
          <p:nvPr>
            <p:ph idx="1"/>
            <p:extLst>
              <p:ext uri="{D42A27DB-BD31-4B8C-83A1-F6EECF244321}">
                <p14:modId xmlns:p14="http://schemas.microsoft.com/office/powerpoint/2010/main" val="135225225"/>
              </p:ext>
            </p:extLst>
          </p:nvPr>
        </p:nvGraphicFramePr>
        <p:xfrm>
          <a:off x="346586" y="644909"/>
          <a:ext cx="11235813" cy="65286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262F9A86-C30D-19E5-16F0-A68EABF2D773}"/>
              </a:ext>
            </a:extLst>
          </p:cNvPr>
          <p:cNvSpPr>
            <a:spLocks noGrp="1"/>
          </p:cNvSpPr>
          <p:nvPr>
            <p:ph type="title"/>
          </p:nvPr>
        </p:nvSpPr>
        <p:spPr/>
        <p:txBody>
          <a:bodyPr/>
          <a:lstStyle/>
          <a:p>
            <a:r>
              <a:rPr lang="en-US" dirty="0"/>
              <a:t>Workflow of a DNS zone-transfer</a:t>
            </a:r>
          </a:p>
        </p:txBody>
      </p:sp>
      <p:sp>
        <p:nvSpPr>
          <p:cNvPr id="4" name="Slide Number Placeholder 3">
            <a:extLst>
              <a:ext uri="{FF2B5EF4-FFF2-40B4-BE49-F238E27FC236}">
                <a16:creationId xmlns:a16="http://schemas.microsoft.com/office/drawing/2014/main" id="{17AF833D-3AB9-AFFD-4760-2CBA8FA882D2}"/>
              </a:ext>
            </a:extLst>
          </p:cNvPr>
          <p:cNvSpPr>
            <a:spLocks noGrp="1"/>
          </p:cNvSpPr>
          <p:nvPr>
            <p:ph type="sldNum" sz="quarter" idx="12"/>
          </p:nvPr>
        </p:nvSpPr>
        <p:spPr/>
        <p:txBody>
          <a:bodyPr/>
          <a:lstStyle/>
          <a:p>
            <a:fld id="{02C84146-E65B-4948-A521-8AE14AC02658}" type="slidenum">
              <a:rPr lang="en-US" smtClean="0"/>
              <a:t>7</a:t>
            </a:fld>
            <a:endParaRPr lang="en-US"/>
          </a:p>
        </p:txBody>
      </p:sp>
      <p:sp>
        <p:nvSpPr>
          <p:cNvPr id="8" name="Arrow: Right 7">
            <a:extLst>
              <a:ext uri="{FF2B5EF4-FFF2-40B4-BE49-F238E27FC236}">
                <a16:creationId xmlns:a16="http://schemas.microsoft.com/office/drawing/2014/main" id="{024B5056-1B2A-1F2D-FF7C-A45C2A2BDBF7}"/>
              </a:ext>
            </a:extLst>
          </p:cNvPr>
          <p:cNvSpPr/>
          <p:nvPr/>
        </p:nvSpPr>
        <p:spPr>
          <a:xfrm rot="20806932">
            <a:off x="1113031" y="2111503"/>
            <a:ext cx="4961466" cy="11493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2199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051BA53-021A-104B-1AEE-37D4AF489DB0}"/>
              </a:ext>
            </a:extLst>
          </p:cNvPr>
          <p:cNvGraphicFramePr>
            <a:graphicFrameLocks noGrp="1"/>
          </p:cNvGraphicFramePr>
          <p:nvPr>
            <p:ph idx="1"/>
            <p:extLst>
              <p:ext uri="{D42A27DB-BD31-4B8C-83A1-F6EECF244321}">
                <p14:modId xmlns:p14="http://schemas.microsoft.com/office/powerpoint/2010/main" val="191607218"/>
              </p:ext>
            </p:extLst>
          </p:nvPr>
        </p:nvGraphicFramePr>
        <p:xfrm>
          <a:off x="838200" y="1828800"/>
          <a:ext cx="10515600" cy="4710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2C5DAC13-2E7C-9181-EBCD-3CFDF16AB14F}"/>
              </a:ext>
            </a:extLst>
          </p:cNvPr>
          <p:cNvSpPr>
            <a:spLocks noGrp="1"/>
          </p:cNvSpPr>
          <p:nvPr>
            <p:ph type="title"/>
          </p:nvPr>
        </p:nvSpPr>
        <p:spPr/>
        <p:txBody>
          <a:bodyPr>
            <a:normAutofit/>
          </a:bodyPr>
          <a:lstStyle/>
          <a:p>
            <a:r>
              <a:rPr lang="en-US" sz="6000" b="1" dirty="0"/>
              <a:t>Tools used</a:t>
            </a:r>
          </a:p>
        </p:txBody>
      </p:sp>
      <p:sp>
        <p:nvSpPr>
          <p:cNvPr id="4" name="Slide Number Placeholder 3">
            <a:extLst>
              <a:ext uri="{FF2B5EF4-FFF2-40B4-BE49-F238E27FC236}">
                <a16:creationId xmlns:a16="http://schemas.microsoft.com/office/drawing/2014/main" id="{685E46B2-8B31-2DBE-2FD3-48AC06F26820}"/>
              </a:ext>
            </a:extLst>
          </p:cNvPr>
          <p:cNvSpPr>
            <a:spLocks noGrp="1"/>
          </p:cNvSpPr>
          <p:nvPr>
            <p:ph type="sldNum" sz="quarter" idx="12"/>
          </p:nvPr>
        </p:nvSpPr>
        <p:spPr/>
        <p:txBody>
          <a:bodyPr/>
          <a:lstStyle/>
          <a:p>
            <a:fld id="{02C84146-E65B-4948-A521-8AE14AC02658}" type="slidenum">
              <a:rPr lang="en-US" smtClean="0"/>
              <a:t>8</a:t>
            </a:fld>
            <a:endParaRPr lang="en-US"/>
          </a:p>
        </p:txBody>
      </p:sp>
    </p:spTree>
    <p:extLst>
      <p:ext uri="{BB962C8B-B14F-4D97-AF65-F5344CB8AC3E}">
        <p14:creationId xmlns:p14="http://schemas.microsoft.com/office/powerpoint/2010/main" val="2558945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11D73-0445-5161-30A6-E6901CEA26A4}"/>
              </a:ext>
            </a:extLst>
          </p:cNvPr>
          <p:cNvSpPr>
            <a:spLocks noGrp="1"/>
          </p:cNvSpPr>
          <p:nvPr>
            <p:ph idx="1"/>
          </p:nvPr>
        </p:nvSpPr>
        <p:spPr>
          <a:xfrm>
            <a:off x="838200" y="1243013"/>
            <a:ext cx="10515599" cy="4933950"/>
          </a:xfrm>
        </p:spPr>
        <p:txBody>
          <a:bodyPr/>
          <a:lstStyle/>
          <a:p>
            <a:r>
              <a:rPr lang="en-US" dirty="0"/>
              <a:t>Syntax:- </a:t>
            </a:r>
            <a:r>
              <a:rPr lang="en-US" b="1" i="1" dirty="0"/>
              <a:t>dig NS example.com</a:t>
            </a:r>
          </a:p>
          <a:p>
            <a:r>
              <a:rPr lang="sv-SE" b="1" i="1" dirty="0"/>
              <a:t>dig AXFR example.com @ns1.example.com</a:t>
            </a:r>
          </a:p>
          <a:p>
            <a:r>
              <a:rPr lang="en-US" dirty="0"/>
              <a:t>Here, dig is the DNS query utility, AXFR specifies that a full zone-transfer request is being made, example.com identifies the DNS zone being tested, and ns1.example.com specifies the DNS server to which the request is sent. If the server is correctly configured and the requester is not an authorized secondary server, the expected result is that the transfer is </a:t>
            </a:r>
            <a:r>
              <a:rPr lang="en-US" b="1" dirty="0"/>
              <a:t>refused or otherwise not provided</a:t>
            </a:r>
            <a:r>
              <a:rPr lang="en-US" dirty="0"/>
              <a:t>.</a:t>
            </a:r>
            <a:endParaRPr lang="en-US" b="1" i="1" dirty="0"/>
          </a:p>
        </p:txBody>
      </p:sp>
      <p:sp>
        <p:nvSpPr>
          <p:cNvPr id="3" name="Title 2">
            <a:extLst>
              <a:ext uri="{FF2B5EF4-FFF2-40B4-BE49-F238E27FC236}">
                <a16:creationId xmlns:a16="http://schemas.microsoft.com/office/drawing/2014/main" id="{1AF2FBF3-65DF-D7DA-FE97-E760B23A4279}"/>
              </a:ext>
            </a:extLst>
          </p:cNvPr>
          <p:cNvSpPr>
            <a:spLocks noGrp="1"/>
          </p:cNvSpPr>
          <p:nvPr>
            <p:ph type="title"/>
          </p:nvPr>
        </p:nvSpPr>
        <p:spPr/>
        <p:txBody>
          <a:bodyPr/>
          <a:lstStyle/>
          <a:p>
            <a:r>
              <a:rPr lang="en-US" b="1" dirty="0"/>
              <a:t>dig tool </a:t>
            </a:r>
          </a:p>
        </p:txBody>
      </p:sp>
      <p:sp>
        <p:nvSpPr>
          <p:cNvPr id="4" name="Slide Number Placeholder 3">
            <a:extLst>
              <a:ext uri="{FF2B5EF4-FFF2-40B4-BE49-F238E27FC236}">
                <a16:creationId xmlns:a16="http://schemas.microsoft.com/office/drawing/2014/main" id="{690B0904-AF9A-3363-30A4-2D4681CAF0CB}"/>
              </a:ext>
            </a:extLst>
          </p:cNvPr>
          <p:cNvSpPr>
            <a:spLocks noGrp="1"/>
          </p:cNvSpPr>
          <p:nvPr>
            <p:ph type="sldNum" sz="quarter" idx="12"/>
          </p:nvPr>
        </p:nvSpPr>
        <p:spPr/>
        <p:txBody>
          <a:bodyPr/>
          <a:lstStyle/>
          <a:p>
            <a:fld id="{02C84146-E65B-4948-A521-8AE14AC02658}" type="slidenum">
              <a:rPr lang="en-US" smtClean="0"/>
              <a:t>9</a:t>
            </a:fld>
            <a:endParaRPr lang="en-US"/>
          </a:p>
        </p:txBody>
      </p:sp>
    </p:spTree>
    <p:extLst>
      <p:ext uri="{BB962C8B-B14F-4D97-AF65-F5344CB8AC3E}">
        <p14:creationId xmlns:p14="http://schemas.microsoft.com/office/powerpoint/2010/main" val="301428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876F34-9F82-11BE-F79B-0BCFFF93E229}"/>
              </a:ext>
            </a:extLst>
          </p:cNvPr>
          <p:cNvSpPr>
            <a:spLocks noGrp="1"/>
          </p:cNvSpPr>
          <p:nvPr>
            <p:ph type="title"/>
          </p:nvPr>
        </p:nvSpPr>
        <p:spPr/>
        <p:txBody>
          <a:bodyPr>
            <a:normAutofit/>
          </a:bodyPr>
          <a:lstStyle/>
          <a:p>
            <a:r>
              <a:rPr lang="en-US" b="1" dirty="0"/>
              <a:t>Important DNS Records Students Should Know</a:t>
            </a:r>
          </a:p>
        </p:txBody>
      </p:sp>
      <p:sp>
        <p:nvSpPr>
          <p:cNvPr id="4" name="Slide Number Placeholder 3">
            <a:extLst>
              <a:ext uri="{FF2B5EF4-FFF2-40B4-BE49-F238E27FC236}">
                <a16:creationId xmlns:a16="http://schemas.microsoft.com/office/drawing/2014/main" id="{2C7939D9-C5A8-5515-A20C-DBCAB6411075}"/>
              </a:ext>
            </a:extLst>
          </p:cNvPr>
          <p:cNvSpPr>
            <a:spLocks noGrp="1"/>
          </p:cNvSpPr>
          <p:nvPr>
            <p:ph type="sldNum" sz="quarter" idx="12"/>
          </p:nvPr>
        </p:nvSpPr>
        <p:spPr/>
        <p:txBody>
          <a:bodyPr/>
          <a:lstStyle/>
          <a:p>
            <a:fld id="{02C84146-E65B-4948-A521-8AE14AC02658}" type="slidenum">
              <a:rPr lang="en-US" smtClean="0"/>
              <a:t>10</a:t>
            </a:fld>
            <a:endParaRPr lang="en-US"/>
          </a:p>
        </p:txBody>
      </p:sp>
      <p:graphicFrame>
        <p:nvGraphicFramePr>
          <p:cNvPr id="5" name="Table 4">
            <a:extLst>
              <a:ext uri="{FF2B5EF4-FFF2-40B4-BE49-F238E27FC236}">
                <a16:creationId xmlns:a16="http://schemas.microsoft.com/office/drawing/2014/main" id="{434E00B3-7600-24CA-9DF9-6124377CC1DD}"/>
              </a:ext>
            </a:extLst>
          </p:cNvPr>
          <p:cNvGraphicFramePr>
            <a:graphicFrameLocks noGrp="1"/>
          </p:cNvGraphicFramePr>
          <p:nvPr>
            <p:extLst>
              <p:ext uri="{D42A27DB-BD31-4B8C-83A1-F6EECF244321}">
                <p14:modId xmlns:p14="http://schemas.microsoft.com/office/powerpoint/2010/main" val="4091341296"/>
              </p:ext>
            </p:extLst>
          </p:nvPr>
        </p:nvGraphicFramePr>
        <p:xfrm>
          <a:off x="838200" y="1508760"/>
          <a:ext cx="10515600" cy="4847589"/>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69059740"/>
                    </a:ext>
                  </a:extLst>
                </a:gridCol>
                <a:gridCol w="3505200">
                  <a:extLst>
                    <a:ext uri="{9D8B030D-6E8A-4147-A177-3AD203B41FA5}">
                      <a16:colId xmlns:a16="http://schemas.microsoft.com/office/drawing/2014/main" val="4011040332"/>
                    </a:ext>
                  </a:extLst>
                </a:gridCol>
                <a:gridCol w="3505200">
                  <a:extLst>
                    <a:ext uri="{9D8B030D-6E8A-4147-A177-3AD203B41FA5}">
                      <a16:colId xmlns:a16="http://schemas.microsoft.com/office/drawing/2014/main" val="1908699783"/>
                    </a:ext>
                  </a:extLst>
                </a:gridCol>
              </a:tblGrid>
              <a:tr h="461675">
                <a:tc>
                  <a:txBody>
                    <a:bodyPr/>
                    <a:lstStyle/>
                    <a:p>
                      <a:pPr algn="ctr">
                        <a:buNone/>
                      </a:pPr>
                      <a:r>
                        <a:rPr lang="en-US" sz="2400" b="1" dirty="0"/>
                        <a:t>Record</a:t>
                      </a:r>
                    </a:p>
                  </a:txBody>
                  <a:tcPr anchor="ctr"/>
                </a:tc>
                <a:tc>
                  <a:txBody>
                    <a:bodyPr/>
                    <a:lstStyle/>
                    <a:p>
                      <a:pPr algn="ctr">
                        <a:buNone/>
                      </a:pPr>
                      <a:r>
                        <a:rPr lang="en-US" sz="2400" b="1" dirty="0"/>
                        <a:t>Purpose</a:t>
                      </a:r>
                    </a:p>
                  </a:txBody>
                  <a:tcPr anchor="ctr"/>
                </a:tc>
                <a:tc>
                  <a:txBody>
                    <a:bodyPr/>
                    <a:lstStyle/>
                    <a:p>
                      <a:pPr algn="ctr">
                        <a:buNone/>
                      </a:pPr>
                      <a:r>
                        <a:rPr lang="en-US" sz="2400" b="1" dirty="0" err="1"/>
                        <a:t>Reconaissance</a:t>
                      </a:r>
                      <a:r>
                        <a:rPr lang="en-US" sz="2400" b="1" dirty="0"/>
                        <a:t> Value</a:t>
                      </a:r>
                    </a:p>
                  </a:txBody>
                  <a:tcPr anchor="ctr"/>
                </a:tc>
                <a:extLst>
                  <a:ext uri="{0D108BD9-81ED-4DB2-BD59-A6C34878D82A}">
                    <a16:rowId xmlns:a16="http://schemas.microsoft.com/office/drawing/2014/main" val="310917517"/>
                  </a:ext>
                </a:extLst>
              </a:tr>
              <a:tr h="461675">
                <a:tc>
                  <a:txBody>
                    <a:bodyPr/>
                    <a:lstStyle/>
                    <a:p>
                      <a:pPr algn="ctr">
                        <a:buNone/>
                      </a:pPr>
                      <a:r>
                        <a:rPr lang="en-US" sz="2400" b="1"/>
                        <a:t>A</a:t>
                      </a:r>
                    </a:p>
                  </a:txBody>
                  <a:tcPr anchor="ctr"/>
                </a:tc>
                <a:tc>
                  <a:txBody>
                    <a:bodyPr/>
                    <a:lstStyle/>
                    <a:p>
                      <a:pPr algn="ctr">
                        <a:buNone/>
                      </a:pPr>
                      <a:r>
                        <a:rPr lang="en-US"/>
                        <a:t>Maps hostname → IPv4</a:t>
                      </a:r>
                    </a:p>
                  </a:txBody>
                  <a:tcPr anchor="ctr"/>
                </a:tc>
                <a:tc>
                  <a:txBody>
                    <a:bodyPr/>
                    <a:lstStyle/>
                    <a:p>
                      <a:pPr algn="ctr">
                        <a:buNone/>
                      </a:pPr>
                      <a:r>
                        <a:rPr lang="en-US"/>
                        <a:t>Identifies IPv4 addresses</a:t>
                      </a:r>
                    </a:p>
                  </a:txBody>
                  <a:tcPr anchor="ctr"/>
                </a:tc>
                <a:extLst>
                  <a:ext uri="{0D108BD9-81ED-4DB2-BD59-A6C34878D82A}">
                    <a16:rowId xmlns:a16="http://schemas.microsoft.com/office/drawing/2014/main" val="206056358"/>
                  </a:ext>
                </a:extLst>
              </a:tr>
              <a:tr h="461675">
                <a:tc>
                  <a:txBody>
                    <a:bodyPr/>
                    <a:lstStyle/>
                    <a:p>
                      <a:pPr algn="ctr">
                        <a:buNone/>
                      </a:pPr>
                      <a:r>
                        <a:rPr lang="en-US" sz="2400" b="1"/>
                        <a:t>AAAA</a:t>
                      </a:r>
                    </a:p>
                  </a:txBody>
                  <a:tcPr anchor="ctr"/>
                </a:tc>
                <a:tc>
                  <a:txBody>
                    <a:bodyPr/>
                    <a:lstStyle/>
                    <a:p>
                      <a:pPr algn="ctr">
                        <a:buNone/>
                      </a:pPr>
                      <a:r>
                        <a:rPr lang="en-US"/>
                        <a:t>Maps hostname → IPv6</a:t>
                      </a:r>
                    </a:p>
                  </a:txBody>
                  <a:tcPr anchor="ctr"/>
                </a:tc>
                <a:tc>
                  <a:txBody>
                    <a:bodyPr/>
                    <a:lstStyle/>
                    <a:p>
                      <a:pPr algn="ctr">
                        <a:buNone/>
                      </a:pPr>
                      <a:r>
                        <a:rPr lang="en-US" dirty="0"/>
                        <a:t>Identifies IPv6 addresses</a:t>
                      </a:r>
                    </a:p>
                  </a:txBody>
                  <a:tcPr anchor="ctr"/>
                </a:tc>
                <a:extLst>
                  <a:ext uri="{0D108BD9-81ED-4DB2-BD59-A6C34878D82A}">
                    <a16:rowId xmlns:a16="http://schemas.microsoft.com/office/drawing/2014/main" val="1551416216"/>
                  </a:ext>
                </a:extLst>
              </a:tr>
              <a:tr h="461675">
                <a:tc>
                  <a:txBody>
                    <a:bodyPr/>
                    <a:lstStyle/>
                    <a:p>
                      <a:pPr algn="ctr">
                        <a:buNone/>
                      </a:pPr>
                      <a:r>
                        <a:rPr lang="en-US" sz="2400" b="1"/>
                        <a:t>MX</a:t>
                      </a:r>
                    </a:p>
                  </a:txBody>
                  <a:tcPr anchor="ctr"/>
                </a:tc>
                <a:tc>
                  <a:txBody>
                    <a:bodyPr/>
                    <a:lstStyle/>
                    <a:p>
                      <a:pPr algn="ctr">
                        <a:buNone/>
                      </a:pPr>
                      <a:r>
                        <a:rPr lang="en-US"/>
                        <a:t>Identifies mail servers</a:t>
                      </a:r>
                    </a:p>
                  </a:txBody>
                  <a:tcPr anchor="ctr"/>
                </a:tc>
                <a:tc>
                  <a:txBody>
                    <a:bodyPr/>
                    <a:lstStyle/>
                    <a:p>
                      <a:pPr algn="ctr">
                        <a:buNone/>
                      </a:pPr>
                      <a:r>
                        <a:rPr lang="en-US"/>
                        <a:t>Reveals email infrastructure</a:t>
                      </a:r>
                    </a:p>
                  </a:txBody>
                  <a:tcPr anchor="ctr"/>
                </a:tc>
                <a:extLst>
                  <a:ext uri="{0D108BD9-81ED-4DB2-BD59-A6C34878D82A}">
                    <a16:rowId xmlns:a16="http://schemas.microsoft.com/office/drawing/2014/main" val="651541050"/>
                  </a:ext>
                </a:extLst>
              </a:tr>
              <a:tr h="461675">
                <a:tc>
                  <a:txBody>
                    <a:bodyPr/>
                    <a:lstStyle/>
                    <a:p>
                      <a:pPr algn="ctr">
                        <a:buNone/>
                      </a:pPr>
                      <a:r>
                        <a:rPr lang="en-US" sz="2400" b="1"/>
                        <a:t>NS</a:t>
                      </a:r>
                    </a:p>
                  </a:txBody>
                  <a:tcPr anchor="ctr"/>
                </a:tc>
                <a:tc>
                  <a:txBody>
                    <a:bodyPr/>
                    <a:lstStyle/>
                    <a:p>
                      <a:pPr algn="ctr">
                        <a:buNone/>
                      </a:pPr>
                      <a:r>
                        <a:rPr lang="en-US"/>
                        <a:t>Identifies authoritative DNS servers</a:t>
                      </a:r>
                    </a:p>
                  </a:txBody>
                  <a:tcPr anchor="ctr"/>
                </a:tc>
                <a:tc>
                  <a:txBody>
                    <a:bodyPr/>
                    <a:lstStyle/>
                    <a:p>
                      <a:pPr algn="ctr">
                        <a:buNone/>
                      </a:pPr>
                      <a:r>
                        <a:rPr lang="en-US"/>
                        <a:t>Identifies DNS infrastructure</a:t>
                      </a:r>
                    </a:p>
                  </a:txBody>
                  <a:tcPr anchor="ctr"/>
                </a:tc>
                <a:extLst>
                  <a:ext uri="{0D108BD9-81ED-4DB2-BD59-A6C34878D82A}">
                    <a16:rowId xmlns:a16="http://schemas.microsoft.com/office/drawing/2014/main" val="3426640007"/>
                  </a:ext>
                </a:extLst>
              </a:tr>
              <a:tr h="461675">
                <a:tc>
                  <a:txBody>
                    <a:bodyPr/>
                    <a:lstStyle/>
                    <a:p>
                      <a:pPr algn="ctr">
                        <a:buNone/>
                      </a:pPr>
                      <a:r>
                        <a:rPr lang="en-US" sz="2400" b="1"/>
                        <a:t>CNAME</a:t>
                      </a:r>
                    </a:p>
                  </a:txBody>
                  <a:tcPr anchor="ctr"/>
                </a:tc>
                <a:tc>
                  <a:txBody>
                    <a:bodyPr/>
                    <a:lstStyle/>
                    <a:p>
                      <a:pPr algn="ctr">
                        <a:buNone/>
                      </a:pPr>
                      <a:r>
                        <a:rPr lang="en-US"/>
                        <a:t>Creates an alias</a:t>
                      </a:r>
                    </a:p>
                  </a:txBody>
                  <a:tcPr anchor="ctr"/>
                </a:tc>
                <a:tc>
                  <a:txBody>
                    <a:bodyPr/>
                    <a:lstStyle/>
                    <a:p>
                      <a:pPr algn="ctr">
                        <a:buNone/>
                      </a:pPr>
                      <a:r>
                        <a:rPr lang="en-US"/>
                        <a:t>May reveal underlying hostnames</a:t>
                      </a:r>
                    </a:p>
                  </a:txBody>
                  <a:tcPr anchor="ctr"/>
                </a:tc>
                <a:extLst>
                  <a:ext uri="{0D108BD9-81ED-4DB2-BD59-A6C34878D82A}">
                    <a16:rowId xmlns:a16="http://schemas.microsoft.com/office/drawing/2014/main" val="1797676465"/>
                  </a:ext>
                </a:extLst>
              </a:tr>
              <a:tr h="807932">
                <a:tc>
                  <a:txBody>
                    <a:bodyPr/>
                    <a:lstStyle/>
                    <a:p>
                      <a:pPr algn="ctr">
                        <a:buNone/>
                      </a:pPr>
                      <a:r>
                        <a:rPr lang="en-US" sz="2400" b="1"/>
                        <a:t>TXT</a:t>
                      </a:r>
                    </a:p>
                  </a:txBody>
                  <a:tcPr anchor="ctr"/>
                </a:tc>
                <a:tc>
                  <a:txBody>
                    <a:bodyPr/>
                    <a:lstStyle/>
                    <a:p>
                      <a:pPr algn="ctr">
                        <a:buNone/>
                      </a:pPr>
                      <a:r>
                        <a:rPr lang="en-US"/>
                        <a:t>Stores text information</a:t>
                      </a:r>
                    </a:p>
                  </a:txBody>
                  <a:tcPr anchor="ctr"/>
                </a:tc>
                <a:tc>
                  <a:txBody>
                    <a:bodyPr/>
                    <a:lstStyle/>
                    <a:p>
                      <a:pPr algn="ctr">
                        <a:buNone/>
                      </a:pPr>
                      <a:r>
                        <a:rPr lang="en-US"/>
                        <a:t>May reveal SPF/domain configuration</a:t>
                      </a:r>
                    </a:p>
                  </a:txBody>
                  <a:tcPr anchor="ctr"/>
                </a:tc>
                <a:extLst>
                  <a:ext uri="{0D108BD9-81ED-4DB2-BD59-A6C34878D82A}">
                    <a16:rowId xmlns:a16="http://schemas.microsoft.com/office/drawing/2014/main" val="2672576706"/>
                  </a:ext>
                </a:extLst>
              </a:tr>
              <a:tr h="807932">
                <a:tc>
                  <a:txBody>
                    <a:bodyPr/>
                    <a:lstStyle/>
                    <a:p>
                      <a:pPr algn="ctr">
                        <a:buNone/>
                      </a:pPr>
                      <a:r>
                        <a:rPr lang="en-US" sz="2400" b="1"/>
                        <a:t>SOA</a:t>
                      </a:r>
                    </a:p>
                  </a:txBody>
                  <a:tcPr anchor="ctr"/>
                </a:tc>
                <a:tc>
                  <a:txBody>
                    <a:bodyPr/>
                    <a:lstStyle/>
                    <a:p>
                      <a:pPr algn="ctr">
                        <a:buNone/>
                      </a:pPr>
                      <a:r>
                        <a:rPr lang="en-US"/>
                        <a:t>Provides zone authority information</a:t>
                      </a:r>
                    </a:p>
                  </a:txBody>
                  <a:tcPr anchor="ctr"/>
                </a:tc>
                <a:tc>
                  <a:txBody>
                    <a:bodyPr/>
                    <a:lstStyle/>
                    <a:p>
                      <a:pPr algn="ctr">
                        <a:buNone/>
                      </a:pPr>
                      <a:r>
                        <a:rPr lang="en-US" dirty="0"/>
                        <a:t>Helps understand DNS zone configuration</a:t>
                      </a:r>
                    </a:p>
                  </a:txBody>
                  <a:tcPr anchor="ctr"/>
                </a:tc>
                <a:extLst>
                  <a:ext uri="{0D108BD9-81ED-4DB2-BD59-A6C34878D82A}">
                    <a16:rowId xmlns:a16="http://schemas.microsoft.com/office/drawing/2014/main" val="2786135584"/>
                  </a:ext>
                </a:extLst>
              </a:tr>
              <a:tr h="461675">
                <a:tc>
                  <a:txBody>
                    <a:bodyPr/>
                    <a:lstStyle/>
                    <a:p>
                      <a:pPr algn="ctr">
                        <a:buNone/>
                      </a:pPr>
                      <a:r>
                        <a:rPr lang="en-US" sz="2400" b="1" dirty="0"/>
                        <a:t>PTR</a:t>
                      </a:r>
                    </a:p>
                  </a:txBody>
                  <a:tcPr anchor="ctr"/>
                </a:tc>
                <a:tc>
                  <a:txBody>
                    <a:bodyPr/>
                    <a:lstStyle/>
                    <a:p>
                      <a:pPr algn="ctr">
                        <a:buNone/>
                      </a:pPr>
                      <a:r>
                        <a:rPr lang="en-US" dirty="0"/>
                        <a:t>Maps IP → hostname</a:t>
                      </a:r>
                    </a:p>
                  </a:txBody>
                  <a:tcPr anchor="ctr"/>
                </a:tc>
                <a:tc>
                  <a:txBody>
                    <a:bodyPr/>
                    <a:lstStyle/>
                    <a:p>
                      <a:pPr algn="ctr">
                        <a:buNone/>
                      </a:pPr>
                      <a:r>
                        <a:rPr lang="en-US" dirty="0"/>
                        <a:t>Useful for reverse DNS</a:t>
                      </a:r>
                    </a:p>
                  </a:txBody>
                  <a:tcPr anchor="ctr"/>
                </a:tc>
                <a:extLst>
                  <a:ext uri="{0D108BD9-81ED-4DB2-BD59-A6C34878D82A}">
                    <a16:rowId xmlns:a16="http://schemas.microsoft.com/office/drawing/2014/main" val="4265415213"/>
                  </a:ext>
                </a:extLst>
              </a:tr>
            </a:tbl>
          </a:graphicData>
        </a:graphic>
      </p:graphicFrame>
    </p:spTree>
    <p:extLst>
      <p:ext uri="{BB962C8B-B14F-4D97-AF65-F5344CB8AC3E}">
        <p14:creationId xmlns:p14="http://schemas.microsoft.com/office/powerpoint/2010/main" val="4031892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7A819C-D21A-5D42-B775-CD2B0DD9C3EE}"/>
              </a:ext>
            </a:extLst>
          </p:cNvPr>
          <p:cNvSpPr>
            <a:spLocks noGrp="1"/>
          </p:cNvSpPr>
          <p:nvPr>
            <p:ph idx="1"/>
          </p:nvPr>
        </p:nvSpPr>
        <p:spPr/>
        <p:txBody>
          <a:bodyPr>
            <a:normAutofit/>
          </a:bodyPr>
          <a:lstStyle/>
          <a:p>
            <a:r>
              <a:rPr lang="en-US" dirty="0"/>
              <a:t>Organizations should configure DNS servers so that zone transfers are allowed </a:t>
            </a:r>
            <a:r>
              <a:rPr lang="en-US" b="1" dirty="0"/>
              <a:t>only to authorized secondary DNS servers</a:t>
            </a:r>
            <a:r>
              <a:rPr lang="en-US" dirty="0"/>
              <a:t>. </a:t>
            </a:r>
          </a:p>
          <a:p>
            <a:r>
              <a:rPr lang="en-US" dirty="0"/>
              <a:t>Administrators should maintain an explicit </a:t>
            </a:r>
            <a:r>
              <a:rPr lang="en-US" b="1" dirty="0"/>
              <a:t>allowlist of permitted secondary servers rather than allowing transfers from arbitrary clients. </a:t>
            </a:r>
          </a:p>
          <a:p>
            <a:r>
              <a:rPr lang="en-US" dirty="0"/>
              <a:t>DNS infrastructure should also be </a:t>
            </a:r>
            <a:r>
              <a:rPr lang="en-US" b="1" dirty="0"/>
              <a:t>monitored for unusual AXFR/IXFR requests</a:t>
            </a:r>
            <a:r>
              <a:rPr lang="en-US" dirty="0"/>
              <a:t>, and unnecessary DNS records should not be published. </a:t>
            </a:r>
          </a:p>
          <a:p>
            <a:r>
              <a:rPr lang="en-US" dirty="0"/>
              <a:t>Where appropriate, administrators can use mechanisms such as </a:t>
            </a:r>
            <a:r>
              <a:rPr lang="en-US" b="1" dirty="0"/>
              <a:t>TSIG (Transaction Signature)</a:t>
            </a:r>
            <a:r>
              <a:rPr lang="en-US" dirty="0"/>
              <a:t> to authenticate zone-transfer requests between DNS servers.</a:t>
            </a:r>
          </a:p>
        </p:txBody>
      </p:sp>
      <p:sp>
        <p:nvSpPr>
          <p:cNvPr id="3" name="Title 2">
            <a:extLst>
              <a:ext uri="{FF2B5EF4-FFF2-40B4-BE49-F238E27FC236}">
                <a16:creationId xmlns:a16="http://schemas.microsoft.com/office/drawing/2014/main" id="{6DE10A34-8114-8324-E9C5-2946A4F692D8}"/>
              </a:ext>
            </a:extLst>
          </p:cNvPr>
          <p:cNvSpPr>
            <a:spLocks noGrp="1"/>
          </p:cNvSpPr>
          <p:nvPr>
            <p:ph type="title"/>
          </p:nvPr>
        </p:nvSpPr>
        <p:spPr/>
        <p:txBody>
          <a:bodyPr>
            <a:normAutofit/>
          </a:bodyPr>
          <a:lstStyle/>
          <a:p>
            <a:r>
              <a:rPr lang="en-US" b="1" dirty="0"/>
              <a:t>How to Prevent Unauthorized Zone Transfers</a:t>
            </a:r>
          </a:p>
        </p:txBody>
      </p:sp>
      <p:sp>
        <p:nvSpPr>
          <p:cNvPr id="4" name="Slide Number Placeholder 3">
            <a:extLst>
              <a:ext uri="{FF2B5EF4-FFF2-40B4-BE49-F238E27FC236}">
                <a16:creationId xmlns:a16="http://schemas.microsoft.com/office/drawing/2014/main" id="{4E57225F-423D-F512-7854-86FB48FB7AA0}"/>
              </a:ext>
            </a:extLst>
          </p:cNvPr>
          <p:cNvSpPr>
            <a:spLocks noGrp="1"/>
          </p:cNvSpPr>
          <p:nvPr>
            <p:ph type="sldNum" sz="quarter" idx="12"/>
          </p:nvPr>
        </p:nvSpPr>
        <p:spPr/>
        <p:txBody>
          <a:bodyPr/>
          <a:lstStyle/>
          <a:p>
            <a:fld id="{02C84146-E65B-4948-A521-8AE14AC02658}" type="slidenum">
              <a:rPr lang="en-US" smtClean="0"/>
              <a:t>11</a:t>
            </a:fld>
            <a:endParaRPr lang="en-US"/>
          </a:p>
        </p:txBody>
      </p:sp>
    </p:spTree>
    <p:extLst>
      <p:ext uri="{BB962C8B-B14F-4D97-AF65-F5344CB8AC3E}">
        <p14:creationId xmlns:p14="http://schemas.microsoft.com/office/powerpoint/2010/main" val="3127585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6C3259-1B0A-E04E-19D7-A303F30A771D}"/>
              </a:ext>
            </a:extLst>
          </p:cNvPr>
          <p:cNvSpPr>
            <a:spLocks noGrp="1"/>
          </p:cNvSpPr>
          <p:nvPr>
            <p:ph idx="1"/>
          </p:nvPr>
        </p:nvSpPr>
        <p:spPr/>
        <p:txBody>
          <a:bodyPr>
            <a:normAutofit/>
          </a:bodyPr>
          <a:lstStyle/>
          <a:p>
            <a:r>
              <a:rPr lang="en-US" b="1" dirty="0"/>
              <a:t>Finding:</a:t>
            </a:r>
            <a:r>
              <a:rPr lang="en-US" dirty="0"/>
              <a:t> Unrestricted DNS Zone Transfer</a:t>
            </a:r>
          </a:p>
          <a:p>
            <a:r>
              <a:rPr lang="en-US" b="1" dirty="0"/>
              <a:t>Category:</a:t>
            </a:r>
            <a:r>
              <a:rPr lang="en-US" dirty="0"/>
              <a:t> Information Disclosure / Security Misconfiguration</a:t>
            </a:r>
          </a:p>
          <a:p>
            <a:r>
              <a:rPr lang="en-US" b="1" dirty="0"/>
              <a:t>Issue:</a:t>
            </a:r>
            <a:r>
              <a:rPr lang="en-US" dirty="0"/>
              <a:t> The authoritative DNS server allows unauthorized clients to request a full DNS zone transfer.</a:t>
            </a:r>
          </a:p>
          <a:p>
            <a:r>
              <a:rPr lang="en-US" b="1" dirty="0"/>
              <a:t>Impact:</a:t>
            </a:r>
            <a:r>
              <a:rPr lang="en-US" dirty="0"/>
              <a:t> An unauthorized party may obtain DNS records containing hostnames, IP addresses, and information about the organization's infrastructure, facilitating reconnaissance.</a:t>
            </a:r>
          </a:p>
          <a:p>
            <a:r>
              <a:rPr lang="en-US" b="1" dirty="0"/>
              <a:t>Recommendation:</a:t>
            </a:r>
            <a:r>
              <a:rPr lang="en-US" dirty="0"/>
              <a:t> Restrict AXFR/IXFR requests 	to authorized secondary DNS servers and implement appropriate DNS server access controls and authentication mechanisms.</a:t>
            </a:r>
          </a:p>
        </p:txBody>
      </p:sp>
      <p:sp>
        <p:nvSpPr>
          <p:cNvPr id="3" name="Title 2">
            <a:extLst>
              <a:ext uri="{FF2B5EF4-FFF2-40B4-BE49-F238E27FC236}">
                <a16:creationId xmlns:a16="http://schemas.microsoft.com/office/drawing/2014/main" id="{8B944936-85D1-43AA-020A-FF2EB86733D9}"/>
              </a:ext>
            </a:extLst>
          </p:cNvPr>
          <p:cNvSpPr>
            <a:spLocks noGrp="1"/>
          </p:cNvSpPr>
          <p:nvPr>
            <p:ph type="title"/>
          </p:nvPr>
        </p:nvSpPr>
        <p:spPr/>
        <p:txBody>
          <a:bodyPr/>
          <a:lstStyle/>
          <a:p>
            <a:r>
              <a:rPr lang="en-US" dirty="0"/>
              <a:t>Finding could be documented as:</a:t>
            </a:r>
          </a:p>
        </p:txBody>
      </p:sp>
      <p:sp>
        <p:nvSpPr>
          <p:cNvPr id="4" name="Slide Number Placeholder 3">
            <a:extLst>
              <a:ext uri="{FF2B5EF4-FFF2-40B4-BE49-F238E27FC236}">
                <a16:creationId xmlns:a16="http://schemas.microsoft.com/office/drawing/2014/main" id="{89C4440A-2E09-96B4-1E3A-FC8C34232A3D}"/>
              </a:ext>
            </a:extLst>
          </p:cNvPr>
          <p:cNvSpPr>
            <a:spLocks noGrp="1"/>
          </p:cNvSpPr>
          <p:nvPr>
            <p:ph type="sldNum" sz="quarter" idx="12"/>
          </p:nvPr>
        </p:nvSpPr>
        <p:spPr/>
        <p:txBody>
          <a:bodyPr/>
          <a:lstStyle/>
          <a:p>
            <a:fld id="{02C84146-E65B-4948-A521-8AE14AC02658}" type="slidenum">
              <a:rPr lang="en-US" smtClean="0"/>
              <a:t>12</a:t>
            </a:fld>
            <a:endParaRPr lang="en-US"/>
          </a:p>
        </p:txBody>
      </p:sp>
    </p:spTree>
    <p:extLst>
      <p:ext uri="{BB962C8B-B14F-4D97-AF65-F5344CB8AC3E}">
        <p14:creationId xmlns:p14="http://schemas.microsoft.com/office/powerpoint/2010/main" val="34400047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14115</TotalTime>
  <Words>907</Words>
  <Application>Microsoft Office PowerPoint</Application>
  <PresentationFormat>Widescreen</PresentationFormat>
  <Paragraphs>93</Paragraphs>
  <Slides>12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Bell Gothic Std Black</vt:lpstr>
      <vt:lpstr>Calibri</vt:lpstr>
      <vt:lpstr>Calibri Light</vt:lpstr>
      <vt:lpstr>Office Theme</vt:lpstr>
      <vt:lpstr>Custom Design</vt:lpstr>
      <vt:lpstr>PowerPoint Presentation</vt:lpstr>
      <vt:lpstr>DNS Zone Transfer</vt:lpstr>
      <vt:lpstr>Web Application Penetration Testing</vt:lpstr>
      <vt:lpstr>Types of DNS Zone Transfer</vt:lpstr>
      <vt:lpstr>Why is DNS Zone Transfer important?</vt:lpstr>
      <vt:lpstr>PowerPoint Presentation</vt:lpstr>
      <vt:lpstr>Workflow of a DNS zone-transfer</vt:lpstr>
      <vt:lpstr>Tools used</vt:lpstr>
      <vt:lpstr>dig tool </vt:lpstr>
      <vt:lpstr>Important DNS Records Students Should Know</vt:lpstr>
      <vt:lpstr>How to Prevent Unauthorized Zone Transfers</vt:lpstr>
      <vt:lpstr>Finding could be documented as:</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Training Common</cp:lastModifiedBy>
  <cp:revision>417</cp:revision>
  <dcterms:created xsi:type="dcterms:W3CDTF">2023-09-16T07:20:30Z</dcterms:created>
  <dcterms:modified xsi:type="dcterms:W3CDTF">2026-10-07T09:44:51Z</dcterms:modified>
</cp:coreProperties>
</file>