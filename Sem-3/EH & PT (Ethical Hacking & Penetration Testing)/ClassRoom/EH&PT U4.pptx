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7"/>
  </p:notesMasterIdLst>
  <p:sldIdLst>
    <p:sldId id="256" r:id="rId3"/>
    <p:sldId id="420" r:id="rId4"/>
    <p:sldId id="377" r:id="rId5"/>
    <p:sldId id="378" r:id="rId6"/>
    <p:sldId id="379" r:id="rId7"/>
    <p:sldId id="380" r:id="rId8"/>
    <p:sldId id="381" r:id="rId9"/>
    <p:sldId id="382" r:id="rId10"/>
    <p:sldId id="383" r:id="rId11"/>
    <p:sldId id="384" r:id="rId12"/>
    <p:sldId id="385" r:id="rId13"/>
    <p:sldId id="386" r:id="rId14"/>
    <p:sldId id="387" r:id="rId15"/>
    <p:sldId id="388" r:id="rId16"/>
    <p:sldId id="419" r:id="rId17"/>
    <p:sldId id="389" r:id="rId18"/>
    <p:sldId id="391" r:id="rId19"/>
    <p:sldId id="392" r:id="rId20"/>
    <p:sldId id="393" r:id="rId21"/>
    <p:sldId id="394" r:id="rId22"/>
    <p:sldId id="395" r:id="rId23"/>
    <p:sldId id="396" r:id="rId24"/>
    <p:sldId id="397" r:id="rId25"/>
    <p:sldId id="398" r:id="rId26"/>
    <p:sldId id="399" r:id="rId27"/>
    <p:sldId id="400" r:id="rId28"/>
    <p:sldId id="401" r:id="rId29"/>
    <p:sldId id="421" r:id="rId30"/>
    <p:sldId id="424" r:id="rId31"/>
    <p:sldId id="425" r:id="rId32"/>
    <p:sldId id="426" r:id="rId33"/>
    <p:sldId id="427" r:id="rId34"/>
    <p:sldId id="433" r:id="rId35"/>
    <p:sldId id="428" r:id="rId36"/>
    <p:sldId id="429" r:id="rId37"/>
    <p:sldId id="422" r:id="rId38"/>
    <p:sldId id="430" r:id="rId39"/>
    <p:sldId id="431" r:id="rId40"/>
    <p:sldId id="432" r:id="rId41"/>
    <p:sldId id="435" r:id="rId42"/>
    <p:sldId id="423" r:id="rId43"/>
    <p:sldId id="434" r:id="rId44"/>
    <p:sldId id="402" r:id="rId45"/>
    <p:sldId id="403"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2C8F"/>
    <a:srgbClr val="13287F"/>
    <a:srgbClr val="0F2067"/>
    <a:srgbClr val="162E99"/>
    <a:srgbClr val="1C3394"/>
    <a:srgbClr val="162E62"/>
    <a:srgbClr val="182C80"/>
    <a:srgbClr val="162E95"/>
    <a:srgbClr val="FFFFFF"/>
    <a:srgbClr val="162E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15513F-DD1A-4EA4-AA42-10906ED8644F}" v="11" dt="2026-08-20T17:01:54.081"/>
    <p1510:client id="{BD0EB7E5-45A2-4B02-B23C-56CC2F053B33}" v="137" dt="2026-08-20T16:49:59.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34" autoAdjust="0"/>
    <p:restoredTop sz="94049" autoAdjust="0"/>
  </p:normalViewPr>
  <p:slideViewPr>
    <p:cSldViewPr snapToGrid="0">
      <p:cViewPr>
        <p:scale>
          <a:sx n="66" d="100"/>
          <a:sy n="66" d="100"/>
        </p:scale>
        <p:origin x="680" y="2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4FE0A4B-25D5-4A85-A6C5-1E10A2CEAC59}" type="doc">
      <dgm:prSet loTypeId="urn:microsoft.com/office/officeart/2008/layout/VerticalCircleList" loCatId="list" qsTypeId="urn:microsoft.com/office/officeart/2005/8/quickstyle/simple1#1" qsCatId="simple" csTypeId="urn:microsoft.com/office/officeart/2005/8/colors/accent1_2#1" csCatId="accent1"/>
      <dgm:spPr/>
      <dgm:t>
        <a:bodyPr/>
        <a:lstStyle/>
        <a:p>
          <a:endParaRPr lang="en-US"/>
        </a:p>
      </dgm:t>
    </dgm:pt>
    <dgm:pt modelId="{093077AF-6EA6-4EAF-A34C-0C6B619A3893}">
      <dgm:prSet/>
      <dgm:spPr/>
      <dgm:t>
        <a:bodyPr/>
        <a:lstStyle/>
        <a:p>
          <a:r>
            <a:rPr lang="en-US" b="1"/>
            <a:t>Scope &amp; Authorization</a:t>
          </a:r>
        </a:p>
      </dgm:t>
    </dgm:pt>
    <dgm:pt modelId="{93F7E098-2AA9-43A2-8F19-08C853AD7984}" type="parTrans" cxnId="{0AC950F2-DDDE-4A62-B8F9-2DDB5A207477}">
      <dgm:prSet/>
      <dgm:spPr/>
      <dgm:t>
        <a:bodyPr/>
        <a:lstStyle/>
        <a:p>
          <a:endParaRPr lang="en-US"/>
        </a:p>
      </dgm:t>
    </dgm:pt>
    <dgm:pt modelId="{8F73FD96-20FA-43B9-A350-3DE86712DB8B}" type="sibTrans" cxnId="{0AC950F2-DDDE-4A62-B8F9-2DDB5A207477}">
      <dgm:prSet/>
      <dgm:spPr/>
      <dgm:t>
        <a:bodyPr/>
        <a:lstStyle/>
        <a:p>
          <a:endParaRPr lang="en-US"/>
        </a:p>
      </dgm:t>
    </dgm:pt>
    <dgm:pt modelId="{1E2F4C7E-A404-42F9-8245-063FADBBF3D7}">
      <dgm:prSet/>
      <dgm:spPr/>
      <dgm:t>
        <a:bodyPr/>
        <a:lstStyle/>
        <a:p>
          <a:r>
            <a:rPr lang="en-US" b="1"/>
            <a:t>Information Gathering</a:t>
          </a:r>
        </a:p>
      </dgm:t>
    </dgm:pt>
    <dgm:pt modelId="{655D8C58-19ED-435D-9114-07D8A4E81546}" type="parTrans" cxnId="{197EC806-DB10-4657-83E0-BEBC62560486}">
      <dgm:prSet/>
      <dgm:spPr/>
      <dgm:t>
        <a:bodyPr/>
        <a:lstStyle/>
        <a:p>
          <a:endParaRPr lang="en-US"/>
        </a:p>
      </dgm:t>
    </dgm:pt>
    <dgm:pt modelId="{948E3F3A-F186-4A94-96E6-47FCA669FB7D}" type="sibTrans" cxnId="{197EC806-DB10-4657-83E0-BEBC62560486}">
      <dgm:prSet/>
      <dgm:spPr/>
      <dgm:t>
        <a:bodyPr/>
        <a:lstStyle/>
        <a:p>
          <a:endParaRPr lang="en-US"/>
        </a:p>
      </dgm:t>
    </dgm:pt>
    <dgm:pt modelId="{E3843FFF-834A-45EF-AA8C-3B670D3DE6C0}">
      <dgm:prSet/>
      <dgm:spPr/>
      <dgm:t>
        <a:bodyPr/>
        <a:lstStyle/>
        <a:p>
          <a:r>
            <a:rPr lang="en-US" b="1"/>
            <a:t>Application Mapping</a:t>
          </a:r>
        </a:p>
      </dgm:t>
    </dgm:pt>
    <dgm:pt modelId="{9FC324DD-C096-4677-9268-9E6FC4D6B3A7}" type="parTrans" cxnId="{46CA52B4-A786-46D5-B98A-F5E8A70C6BE5}">
      <dgm:prSet/>
      <dgm:spPr/>
      <dgm:t>
        <a:bodyPr/>
        <a:lstStyle/>
        <a:p>
          <a:endParaRPr lang="en-US"/>
        </a:p>
      </dgm:t>
    </dgm:pt>
    <dgm:pt modelId="{64A5723F-01B1-4D7B-9652-DF5B0F62308B}" type="sibTrans" cxnId="{46CA52B4-A786-46D5-B98A-F5E8A70C6BE5}">
      <dgm:prSet/>
      <dgm:spPr/>
      <dgm:t>
        <a:bodyPr/>
        <a:lstStyle/>
        <a:p>
          <a:endParaRPr lang="en-US"/>
        </a:p>
      </dgm:t>
    </dgm:pt>
    <dgm:pt modelId="{83F297E1-B718-46C1-8F7F-F59387CC5D1C}">
      <dgm:prSet/>
      <dgm:spPr/>
      <dgm:t>
        <a:bodyPr/>
        <a:lstStyle/>
        <a:p>
          <a:r>
            <a:rPr lang="en-US" b="1"/>
            <a:t>Authentication Testing</a:t>
          </a:r>
        </a:p>
      </dgm:t>
    </dgm:pt>
    <dgm:pt modelId="{43CD89E5-863B-49B3-B057-6DC54AB69A61}" type="parTrans" cxnId="{43B1495F-AADC-4488-A9E3-ACC2D909A8BC}">
      <dgm:prSet/>
      <dgm:spPr/>
      <dgm:t>
        <a:bodyPr/>
        <a:lstStyle/>
        <a:p>
          <a:endParaRPr lang="en-US"/>
        </a:p>
      </dgm:t>
    </dgm:pt>
    <dgm:pt modelId="{E519796A-CA45-4DB6-B969-9466D0B20681}" type="sibTrans" cxnId="{43B1495F-AADC-4488-A9E3-ACC2D909A8BC}">
      <dgm:prSet/>
      <dgm:spPr/>
      <dgm:t>
        <a:bodyPr/>
        <a:lstStyle/>
        <a:p>
          <a:endParaRPr lang="en-US"/>
        </a:p>
      </dgm:t>
    </dgm:pt>
    <dgm:pt modelId="{007A80E7-3C25-4FA7-9CA7-B7CE20B8758E}">
      <dgm:prSet/>
      <dgm:spPr/>
      <dgm:t>
        <a:bodyPr/>
        <a:lstStyle/>
        <a:p>
          <a:r>
            <a:rPr lang="en-US" b="1"/>
            <a:t>Authorization Testing</a:t>
          </a:r>
        </a:p>
      </dgm:t>
    </dgm:pt>
    <dgm:pt modelId="{378EA75A-B580-4B7E-9265-E7263351E763}" type="parTrans" cxnId="{2707AE19-7D41-4F75-B528-886078AD83A5}">
      <dgm:prSet/>
      <dgm:spPr/>
      <dgm:t>
        <a:bodyPr/>
        <a:lstStyle/>
        <a:p>
          <a:endParaRPr lang="en-US"/>
        </a:p>
      </dgm:t>
    </dgm:pt>
    <dgm:pt modelId="{3823F4A4-ED52-4BB5-B2E5-C47051B9EDED}" type="sibTrans" cxnId="{2707AE19-7D41-4F75-B528-886078AD83A5}">
      <dgm:prSet/>
      <dgm:spPr/>
      <dgm:t>
        <a:bodyPr/>
        <a:lstStyle/>
        <a:p>
          <a:endParaRPr lang="en-US"/>
        </a:p>
      </dgm:t>
    </dgm:pt>
    <dgm:pt modelId="{49156938-5895-488E-A3C8-CBA947490E98}">
      <dgm:prSet/>
      <dgm:spPr/>
      <dgm:t>
        <a:bodyPr/>
        <a:lstStyle/>
        <a:p>
          <a:r>
            <a:rPr lang="en-US" b="1"/>
            <a:t>Input Validation Testing</a:t>
          </a:r>
        </a:p>
      </dgm:t>
    </dgm:pt>
    <dgm:pt modelId="{F7D7DDE8-3433-4887-96EC-0AEE068889CF}" type="parTrans" cxnId="{4275F7CC-AA19-4515-88CF-1386010C1EDD}">
      <dgm:prSet/>
      <dgm:spPr/>
      <dgm:t>
        <a:bodyPr/>
        <a:lstStyle/>
        <a:p>
          <a:endParaRPr lang="en-US"/>
        </a:p>
      </dgm:t>
    </dgm:pt>
    <dgm:pt modelId="{A03BE87A-400A-4E90-974F-33F74A71F920}" type="sibTrans" cxnId="{4275F7CC-AA19-4515-88CF-1386010C1EDD}">
      <dgm:prSet/>
      <dgm:spPr/>
      <dgm:t>
        <a:bodyPr/>
        <a:lstStyle/>
        <a:p>
          <a:endParaRPr lang="en-US"/>
        </a:p>
      </dgm:t>
    </dgm:pt>
    <dgm:pt modelId="{80DB92EA-136B-4CBE-B4F4-B0A8930B3A91}">
      <dgm:prSet/>
      <dgm:spPr/>
      <dgm:t>
        <a:bodyPr/>
        <a:lstStyle/>
        <a:p>
          <a:r>
            <a:rPr lang="en-US" b="1"/>
            <a:t>Vulnerability Validation</a:t>
          </a:r>
        </a:p>
      </dgm:t>
    </dgm:pt>
    <dgm:pt modelId="{D49CE3AB-0B17-499D-9917-794FC819AD2F}" type="parTrans" cxnId="{2A267A3B-741C-4C02-A84C-1CACAA8B2854}">
      <dgm:prSet/>
      <dgm:spPr/>
      <dgm:t>
        <a:bodyPr/>
        <a:lstStyle/>
        <a:p>
          <a:endParaRPr lang="en-US"/>
        </a:p>
      </dgm:t>
    </dgm:pt>
    <dgm:pt modelId="{FB190453-045B-46C2-9215-99D387094E89}" type="sibTrans" cxnId="{2A267A3B-741C-4C02-A84C-1CACAA8B2854}">
      <dgm:prSet/>
      <dgm:spPr/>
      <dgm:t>
        <a:bodyPr/>
        <a:lstStyle/>
        <a:p>
          <a:endParaRPr lang="en-US"/>
        </a:p>
      </dgm:t>
    </dgm:pt>
    <dgm:pt modelId="{8B04581E-A70F-412C-9BC8-A76ED903568F}">
      <dgm:prSet/>
      <dgm:spPr/>
      <dgm:t>
        <a:bodyPr/>
        <a:lstStyle/>
        <a:p>
          <a:r>
            <a:rPr lang="en-US" b="1"/>
            <a:t>Impact Assessment</a:t>
          </a:r>
        </a:p>
      </dgm:t>
    </dgm:pt>
    <dgm:pt modelId="{A63BA383-E762-480C-820F-88243E4D25FF}" type="parTrans" cxnId="{50FD4259-E564-436E-AB06-A11CF6A1386A}">
      <dgm:prSet/>
      <dgm:spPr/>
      <dgm:t>
        <a:bodyPr/>
        <a:lstStyle/>
        <a:p>
          <a:endParaRPr lang="en-US"/>
        </a:p>
      </dgm:t>
    </dgm:pt>
    <dgm:pt modelId="{1F01822D-11FF-41A9-A234-43E0808D1A8F}" type="sibTrans" cxnId="{50FD4259-E564-436E-AB06-A11CF6A1386A}">
      <dgm:prSet/>
      <dgm:spPr/>
      <dgm:t>
        <a:bodyPr/>
        <a:lstStyle/>
        <a:p>
          <a:endParaRPr lang="en-US"/>
        </a:p>
      </dgm:t>
    </dgm:pt>
    <dgm:pt modelId="{B705F252-5475-4091-B2E7-775DBE8EE9AF}">
      <dgm:prSet/>
      <dgm:spPr/>
      <dgm:t>
        <a:bodyPr/>
        <a:lstStyle/>
        <a:p>
          <a:r>
            <a:rPr lang="en-US" b="1"/>
            <a:t>Reporting</a:t>
          </a:r>
        </a:p>
      </dgm:t>
    </dgm:pt>
    <dgm:pt modelId="{77C40374-2D8A-4149-926F-A1561308BDE5}" type="parTrans" cxnId="{1DE3B945-4F58-4641-BA56-1FBB4BF9E5D6}">
      <dgm:prSet/>
      <dgm:spPr/>
      <dgm:t>
        <a:bodyPr/>
        <a:lstStyle/>
        <a:p>
          <a:endParaRPr lang="en-US"/>
        </a:p>
      </dgm:t>
    </dgm:pt>
    <dgm:pt modelId="{832DB9E2-E7FC-4E67-8C3A-065654284385}" type="sibTrans" cxnId="{1DE3B945-4F58-4641-BA56-1FBB4BF9E5D6}">
      <dgm:prSet/>
      <dgm:spPr/>
      <dgm:t>
        <a:bodyPr/>
        <a:lstStyle/>
        <a:p>
          <a:endParaRPr lang="en-US"/>
        </a:p>
      </dgm:t>
    </dgm:pt>
    <dgm:pt modelId="{0328FDF5-77F4-4CF7-B032-1B732FC8ADA0}">
      <dgm:prSet/>
      <dgm:spPr/>
      <dgm:t>
        <a:bodyPr/>
        <a:lstStyle/>
        <a:p>
          <a:r>
            <a:rPr lang="en-US" b="1" dirty="0"/>
            <a:t>Remediation</a:t>
          </a:r>
        </a:p>
      </dgm:t>
    </dgm:pt>
    <dgm:pt modelId="{C5F16553-ABAC-449E-8076-D0153831977A}" type="parTrans" cxnId="{4FAA2799-4DBE-4ECB-82D6-F6C38556F76F}">
      <dgm:prSet/>
      <dgm:spPr/>
      <dgm:t>
        <a:bodyPr/>
        <a:lstStyle/>
        <a:p>
          <a:endParaRPr lang="en-US"/>
        </a:p>
      </dgm:t>
    </dgm:pt>
    <dgm:pt modelId="{B0171C51-B07E-49A7-AA1E-85E6D3141BA3}" type="sibTrans" cxnId="{4FAA2799-4DBE-4ECB-82D6-F6C38556F76F}">
      <dgm:prSet/>
      <dgm:spPr/>
      <dgm:t>
        <a:bodyPr/>
        <a:lstStyle/>
        <a:p>
          <a:endParaRPr lang="en-US"/>
        </a:p>
      </dgm:t>
    </dgm:pt>
    <dgm:pt modelId="{09D7D2E3-42A6-4625-A3A0-1059FDACBAFF}">
      <dgm:prSet/>
      <dgm:spPr/>
      <dgm:t>
        <a:bodyPr/>
        <a:lstStyle/>
        <a:p>
          <a:r>
            <a:rPr lang="en-US" b="1" dirty="0"/>
            <a:t>Retesting</a:t>
          </a:r>
        </a:p>
      </dgm:t>
    </dgm:pt>
    <dgm:pt modelId="{F83A7AC8-6ECC-4495-89D7-97D0C68B2F94}" type="parTrans" cxnId="{282ECF1C-DDCC-4352-8576-31C804D3F432}">
      <dgm:prSet/>
      <dgm:spPr/>
      <dgm:t>
        <a:bodyPr/>
        <a:lstStyle/>
        <a:p>
          <a:endParaRPr lang="en-US"/>
        </a:p>
      </dgm:t>
    </dgm:pt>
    <dgm:pt modelId="{E7D74AAF-8D91-4D0E-9264-3FCA9BEAC7F6}" type="sibTrans" cxnId="{282ECF1C-DDCC-4352-8576-31C804D3F432}">
      <dgm:prSet/>
      <dgm:spPr/>
      <dgm:t>
        <a:bodyPr/>
        <a:lstStyle/>
        <a:p>
          <a:endParaRPr lang="en-US"/>
        </a:p>
      </dgm:t>
    </dgm:pt>
    <dgm:pt modelId="{210F6084-AE41-4383-9B79-87BEA67B600F}" type="pres">
      <dgm:prSet presAssocID="{54FE0A4B-25D5-4A85-A6C5-1E10A2CEAC59}" presName="Name0" presStyleCnt="0">
        <dgm:presLayoutVars>
          <dgm:dir/>
        </dgm:presLayoutVars>
      </dgm:prSet>
      <dgm:spPr/>
    </dgm:pt>
    <dgm:pt modelId="{BF1FFB63-94F5-4683-B2D1-1BFB567721BB}" type="pres">
      <dgm:prSet presAssocID="{093077AF-6EA6-4EAF-A34C-0C6B619A3893}" presName="noChildren" presStyleCnt="0"/>
      <dgm:spPr/>
    </dgm:pt>
    <dgm:pt modelId="{3158D01C-70E4-4BCF-B808-D3EF871E3FBA}" type="pres">
      <dgm:prSet presAssocID="{093077AF-6EA6-4EAF-A34C-0C6B619A3893}" presName="gap" presStyleCnt="0"/>
      <dgm:spPr/>
    </dgm:pt>
    <dgm:pt modelId="{7A2B4867-5C07-48B8-8B56-2D112D39E634}" type="pres">
      <dgm:prSet presAssocID="{093077AF-6EA6-4EAF-A34C-0C6B619A3893}" presName="medCircle2" presStyleLbl="vennNode1" presStyleIdx="0" presStyleCnt="11"/>
      <dgm:spPr/>
    </dgm:pt>
    <dgm:pt modelId="{784B2C82-7650-479D-9E8E-FE0C40E59216}" type="pres">
      <dgm:prSet presAssocID="{093077AF-6EA6-4EAF-A34C-0C6B619A3893}" presName="txLvlOnly1" presStyleLbl="revTx" presStyleIdx="0" presStyleCnt="11"/>
      <dgm:spPr/>
    </dgm:pt>
    <dgm:pt modelId="{9A8682FF-8A7A-4827-A1C9-F5EB94F03E1D}" type="pres">
      <dgm:prSet presAssocID="{1E2F4C7E-A404-42F9-8245-063FADBBF3D7}" presName="noChildren" presStyleCnt="0"/>
      <dgm:spPr/>
    </dgm:pt>
    <dgm:pt modelId="{D87C9D77-D140-42A7-B6FD-3C7E60E02967}" type="pres">
      <dgm:prSet presAssocID="{1E2F4C7E-A404-42F9-8245-063FADBBF3D7}" presName="gap" presStyleCnt="0"/>
      <dgm:spPr/>
    </dgm:pt>
    <dgm:pt modelId="{288FFF4E-AFAC-41FC-AA81-9F1A7B67CDA3}" type="pres">
      <dgm:prSet presAssocID="{1E2F4C7E-A404-42F9-8245-063FADBBF3D7}" presName="medCircle2" presStyleLbl="vennNode1" presStyleIdx="1" presStyleCnt="11"/>
      <dgm:spPr/>
    </dgm:pt>
    <dgm:pt modelId="{9CEDA0F0-C94B-47C0-B608-C0AA8A5F2685}" type="pres">
      <dgm:prSet presAssocID="{1E2F4C7E-A404-42F9-8245-063FADBBF3D7}" presName="txLvlOnly1" presStyleLbl="revTx" presStyleIdx="1" presStyleCnt="11"/>
      <dgm:spPr/>
    </dgm:pt>
    <dgm:pt modelId="{34392702-D4C0-4313-AE01-1DEFB1C7B089}" type="pres">
      <dgm:prSet presAssocID="{E3843FFF-834A-45EF-AA8C-3B670D3DE6C0}" presName="noChildren" presStyleCnt="0"/>
      <dgm:spPr/>
    </dgm:pt>
    <dgm:pt modelId="{79E63DF3-92F5-4C50-B42F-B85D6868F659}" type="pres">
      <dgm:prSet presAssocID="{E3843FFF-834A-45EF-AA8C-3B670D3DE6C0}" presName="gap" presStyleCnt="0"/>
      <dgm:spPr/>
    </dgm:pt>
    <dgm:pt modelId="{203C5781-72C1-4EC2-B9B5-8E1005BAF385}" type="pres">
      <dgm:prSet presAssocID="{E3843FFF-834A-45EF-AA8C-3B670D3DE6C0}" presName="medCircle2" presStyleLbl="vennNode1" presStyleIdx="2" presStyleCnt="11"/>
      <dgm:spPr/>
    </dgm:pt>
    <dgm:pt modelId="{473379D9-FDD7-42CC-815F-6CCEF17BB694}" type="pres">
      <dgm:prSet presAssocID="{E3843FFF-834A-45EF-AA8C-3B670D3DE6C0}" presName="txLvlOnly1" presStyleLbl="revTx" presStyleIdx="2" presStyleCnt="11"/>
      <dgm:spPr/>
    </dgm:pt>
    <dgm:pt modelId="{7E8E6D43-8AE2-4C5E-A727-3522D9FC67D9}" type="pres">
      <dgm:prSet presAssocID="{83F297E1-B718-46C1-8F7F-F59387CC5D1C}" presName="noChildren" presStyleCnt="0"/>
      <dgm:spPr/>
    </dgm:pt>
    <dgm:pt modelId="{B6FA0A30-68B1-4619-8FCA-796E6258BB86}" type="pres">
      <dgm:prSet presAssocID="{83F297E1-B718-46C1-8F7F-F59387CC5D1C}" presName="gap" presStyleCnt="0"/>
      <dgm:spPr/>
    </dgm:pt>
    <dgm:pt modelId="{E149A5BA-2A0B-45DE-B594-1B9517ECAE77}" type="pres">
      <dgm:prSet presAssocID="{83F297E1-B718-46C1-8F7F-F59387CC5D1C}" presName="medCircle2" presStyleLbl="vennNode1" presStyleIdx="3" presStyleCnt="11"/>
      <dgm:spPr/>
    </dgm:pt>
    <dgm:pt modelId="{2AC90E0B-A47E-4C12-964F-B351D4C0CAA7}" type="pres">
      <dgm:prSet presAssocID="{83F297E1-B718-46C1-8F7F-F59387CC5D1C}" presName="txLvlOnly1" presStyleLbl="revTx" presStyleIdx="3" presStyleCnt="11"/>
      <dgm:spPr/>
    </dgm:pt>
    <dgm:pt modelId="{9FD44AC4-53F4-4AE8-8200-2058C5068FCF}" type="pres">
      <dgm:prSet presAssocID="{007A80E7-3C25-4FA7-9CA7-B7CE20B8758E}" presName="noChildren" presStyleCnt="0"/>
      <dgm:spPr/>
    </dgm:pt>
    <dgm:pt modelId="{21B3562F-1BEB-4C7C-B53B-C84EDEE3C78F}" type="pres">
      <dgm:prSet presAssocID="{007A80E7-3C25-4FA7-9CA7-B7CE20B8758E}" presName="gap" presStyleCnt="0"/>
      <dgm:spPr/>
    </dgm:pt>
    <dgm:pt modelId="{7CA305CB-CD5A-458D-B1ED-6CB0076D26BC}" type="pres">
      <dgm:prSet presAssocID="{007A80E7-3C25-4FA7-9CA7-B7CE20B8758E}" presName="medCircle2" presStyleLbl="vennNode1" presStyleIdx="4" presStyleCnt="11"/>
      <dgm:spPr/>
    </dgm:pt>
    <dgm:pt modelId="{36669CEB-F2EA-4EFD-86D5-8AE1B60A07FF}" type="pres">
      <dgm:prSet presAssocID="{007A80E7-3C25-4FA7-9CA7-B7CE20B8758E}" presName="txLvlOnly1" presStyleLbl="revTx" presStyleIdx="4" presStyleCnt="11"/>
      <dgm:spPr/>
    </dgm:pt>
    <dgm:pt modelId="{7338A7E3-2F37-40C1-8465-422F9FB9151C}" type="pres">
      <dgm:prSet presAssocID="{49156938-5895-488E-A3C8-CBA947490E98}" presName="noChildren" presStyleCnt="0"/>
      <dgm:spPr/>
    </dgm:pt>
    <dgm:pt modelId="{A80AF3C2-F154-41AC-9D32-14615895C83E}" type="pres">
      <dgm:prSet presAssocID="{49156938-5895-488E-A3C8-CBA947490E98}" presName="gap" presStyleCnt="0"/>
      <dgm:spPr/>
    </dgm:pt>
    <dgm:pt modelId="{B57D3692-BB20-43A6-885E-E47CB88C42CA}" type="pres">
      <dgm:prSet presAssocID="{49156938-5895-488E-A3C8-CBA947490E98}" presName="medCircle2" presStyleLbl="vennNode1" presStyleIdx="5" presStyleCnt="11"/>
      <dgm:spPr/>
    </dgm:pt>
    <dgm:pt modelId="{2FBEB9FC-3192-441A-A15C-3E1596B80A30}" type="pres">
      <dgm:prSet presAssocID="{49156938-5895-488E-A3C8-CBA947490E98}" presName="txLvlOnly1" presStyleLbl="revTx" presStyleIdx="5" presStyleCnt="11"/>
      <dgm:spPr/>
    </dgm:pt>
    <dgm:pt modelId="{E05128F6-A00F-48F1-83F6-A3E68AF5C546}" type="pres">
      <dgm:prSet presAssocID="{80DB92EA-136B-4CBE-B4F4-B0A8930B3A91}" presName="noChildren" presStyleCnt="0"/>
      <dgm:spPr/>
    </dgm:pt>
    <dgm:pt modelId="{1E4FA413-1E1C-469F-92B2-ACD2E12FD8FA}" type="pres">
      <dgm:prSet presAssocID="{80DB92EA-136B-4CBE-B4F4-B0A8930B3A91}" presName="gap" presStyleCnt="0"/>
      <dgm:spPr/>
    </dgm:pt>
    <dgm:pt modelId="{79608EF2-8482-4794-BD69-F3BEEF9F60B7}" type="pres">
      <dgm:prSet presAssocID="{80DB92EA-136B-4CBE-B4F4-B0A8930B3A91}" presName="medCircle2" presStyleLbl="vennNode1" presStyleIdx="6" presStyleCnt="11"/>
      <dgm:spPr/>
    </dgm:pt>
    <dgm:pt modelId="{CE0924FE-07A6-4D78-BDB3-C0C0F052247F}" type="pres">
      <dgm:prSet presAssocID="{80DB92EA-136B-4CBE-B4F4-B0A8930B3A91}" presName="txLvlOnly1" presStyleLbl="revTx" presStyleIdx="6" presStyleCnt="11"/>
      <dgm:spPr/>
    </dgm:pt>
    <dgm:pt modelId="{D74080B3-F6DF-4C51-A736-56B032A6F31C}" type="pres">
      <dgm:prSet presAssocID="{8B04581E-A70F-412C-9BC8-A76ED903568F}" presName="noChildren" presStyleCnt="0"/>
      <dgm:spPr/>
    </dgm:pt>
    <dgm:pt modelId="{A6644434-15FA-4268-A9FB-F497E6534C19}" type="pres">
      <dgm:prSet presAssocID="{8B04581E-A70F-412C-9BC8-A76ED903568F}" presName="gap" presStyleCnt="0"/>
      <dgm:spPr/>
    </dgm:pt>
    <dgm:pt modelId="{833B6054-E7AC-4692-B4ED-7E683B8D9349}" type="pres">
      <dgm:prSet presAssocID="{8B04581E-A70F-412C-9BC8-A76ED903568F}" presName="medCircle2" presStyleLbl="vennNode1" presStyleIdx="7" presStyleCnt="11"/>
      <dgm:spPr/>
    </dgm:pt>
    <dgm:pt modelId="{2C7BF613-5EB2-4862-9F98-FA91BBEF5A84}" type="pres">
      <dgm:prSet presAssocID="{8B04581E-A70F-412C-9BC8-A76ED903568F}" presName="txLvlOnly1" presStyleLbl="revTx" presStyleIdx="7" presStyleCnt="11"/>
      <dgm:spPr/>
    </dgm:pt>
    <dgm:pt modelId="{C3E94EAC-A039-40C0-9A41-81A442670218}" type="pres">
      <dgm:prSet presAssocID="{B705F252-5475-4091-B2E7-775DBE8EE9AF}" presName="noChildren" presStyleCnt="0"/>
      <dgm:spPr/>
    </dgm:pt>
    <dgm:pt modelId="{7D40C7F3-E004-43BF-B761-81AB722BC423}" type="pres">
      <dgm:prSet presAssocID="{B705F252-5475-4091-B2E7-775DBE8EE9AF}" presName="gap" presStyleCnt="0"/>
      <dgm:spPr/>
    </dgm:pt>
    <dgm:pt modelId="{BA202631-6B80-44A7-A0C1-FC7E05A018E1}" type="pres">
      <dgm:prSet presAssocID="{B705F252-5475-4091-B2E7-775DBE8EE9AF}" presName="medCircle2" presStyleLbl="vennNode1" presStyleIdx="8" presStyleCnt="11"/>
      <dgm:spPr/>
    </dgm:pt>
    <dgm:pt modelId="{485B9A9F-E65E-498C-B43A-525F6F1ECFE2}" type="pres">
      <dgm:prSet presAssocID="{B705F252-5475-4091-B2E7-775DBE8EE9AF}" presName="txLvlOnly1" presStyleLbl="revTx" presStyleIdx="8" presStyleCnt="11"/>
      <dgm:spPr/>
    </dgm:pt>
    <dgm:pt modelId="{132CF9A0-6EC0-4E4E-89DE-695ABB8053F3}" type="pres">
      <dgm:prSet presAssocID="{0328FDF5-77F4-4CF7-B032-1B732FC8ADA0}" presName="noChildren" presStyleCnt="0"/>
      <dgm:spPr/>
    </dgm:pt>
    <dgm:pt modelId="{BDCAD6AD-7634-4B4B-B1A7-EF151F3334AB}" type="pres">
      <dgm:prSet presAssocID="{0328FDF5-77F4-4CF7-B032-1B732FC8ADA0}" presName="gap" presStyleCnt="0"/>
      <dgm:spPr/>
    </dgm:pt>
    <dgm:pt modelId="{1AB3E13C-CF7D-40C4-A92F-7A1ECC9FE544}" type="pres">
      <dgm:prSet presAssocID="{0328FDF5-77F4-4CF7-B032-1B732FC8ADA0}" presName="medCircle2" presStyleLbl="vennNode1" presStyleIdx="9" presStyleCnt="11"/>
      <dgm:spPr/>
    </dgm:pt>
    <dgm:pt modelId="{4D096278-80C1-403A-A285-D9C10B678CB3}" type="pres">
      <dgm:prSet presAssocID="{0328FDF5-77F4-4CF7-B032-1B732FC8ADA0}" presName="txLvlOnly1" presStyleLbl="revTx" presStyleIdx="9" presStyleCnt="11"/>
      <dgm:spPr/>
    </dgm:pt>
    <dgm:pt modelId="{E412BA41-C3F9-4E1D-BE39-E57519242DE5}" type="pres">
      <dgm:prSet presAssocID="{09D7D2E3-42A6-4625-A3A0-1059FDACBAFF}" presName="noChildren" presStyleCnt="0"/>
      <dgm:spPr/>
    </dgm:pt>
    <dgm:pt modelId="{4FF55ADB-25A2-46D7-8D34-3FA5BEFDA90B}" type="pres">
      <dgm:prSet presAssocID="{09D7D2E3-42A6-4625-A3A0-1059FDACBAFF}" presName="gap" presStyleCnt="0"/>
      <dgm:spPr/>
    </dgm:pt>
    <dgm:pt modelId="{F54CEC58-64E6-4FF6-9DF0-620CB78BBD2A}" type="pres">
      <dgm:prSet presAssocID="{09D7D2E3-42A6-4625-A3A0-1059FDACBAFF}" presName="medCircle2" presStyleLbl="vennNode1" presStyleIdx="10" presStyleCnt="11"/>
      <dgm:spPr/>
    </dgm:pt>
    <dgm:pt modelId="{765B2202-A9C3-4BA0-B6DA-D0E48CD35D98}" type="pres">
      <dgm:prSet presAssocID="{09D7D2E3-42A6-4625-A3A0-1059FDACBAFF}" presName="txLvlOnly1" presStyleLbl="revTx" presStyleIdx="10" presStyleCnt="11"/>
      <dgm:spPr/>
    </dgm:pt>
  </dgm:ptLst>
  <dgm:cxnLst>
    <dgm:cxn modelId="{4FE1E903-1915-4391-A3FE-8BCA616AE4D0}" type="presOf" srcId="{8B04581E-A70F-412C-9BC8-A76ED903568F}" destId="{2C7BF613-5EB2-4862-9F98-FA91BBEF5A84}" srcOrd="0" destOrd="0" presId="urn:microsoft.com/office/officeart/2008/layout/VerticalCircleList"/>
    <dgm:cxn modelId="{197EC806-DB10-4657-83E0-BEBC62560486}" srcId="{54FE0A4B-25D5-4A85-A6C5-1E10A2CEAC59}" destId="{1E2F4C7E-A404-42F9-8245-063FADBBF3D7}" srcOrd="1" destOrd="0" parTransId="{655D8C58-19ED-435D-9114-07D8A4E81546}" sibTransId="{948E3F3A-F186-4A94-96E6-47FCA669FB7D}"/>
    <dgm:cxn modelId="{2707AE19-7D41-4F75-B528-886078AD83A5}" srcId="{54FE0A4B-25D5-4A85-A6C5-1E10A2CEAC59}" destId="{007A80E7-3C25-4FA7-9CA7-B7CE20B8758E}" srcOrd="4" destOrd="0" parTransId="{378EA75A-B580-4B7E-9265-E7263351E763}" sibTransId="{3823F4A4-ED52-4BB5-B2E5-C47051B9EDED}"/>
    <dgm:cxn modelId="{282ECF1C-DDCC-4352-8576-31C804D3F432}" srcId="{54FE0A4B-25D5-4A85-A6C5-1E10A2CEAC59}" destId="{09D7D2E3-42A6-4625-A3A0-1059FDACBAFF}" srcOrd="10" destOrd="0" parTransId="{F83A7AC8-6ECC-4495-89D7-97D0C68B2F94}" sibTransId="{E7D74AAF-8D91-4D0E-9264-3FCA9BEAC7F6}"/>
    <dgm:cxn modelId="{21429823-D41D-4C85-A508-1859903414D8}" type="presOf" srcId="{49156938-5895-488E-A3C8-CBA947490E98}" destId="{2FBEB9FC-3192-441A-A15C-3E1596B80A30}" srcOrd="0" destOrd="0" presId="urn:microsoft.com/office/officeart/2008/layout/VerticalCircleList"/>
    <dgm:cxn modelId="{2BB21728-980B-42B5-8095-77AABD726F86}" type="presOf" srcId="{0328FDF5-77F4-4CF7-B032-1B732FC8ADA0}" destId="{4D096278-80C1-403A-A285-D9C10B678CB3}" srcOrd="0" destOrd="0" presId="urn:microsoft.com/office/officeart/2008/layout/VerticalCircleList"/>
    <dgm:cxn modelId="{2A267A3B-741C-4C02-A84C-1CACAA8B2854}" srcId="{54FE0A4B-25D5-4A85-A6C5-1E10A2CEAC59}" destId="{80DB92EA-136B-4CBE-B4F4-B0A8930B3A91}" srcOrd="6" destOrd="0" parTransId="{D49CE3AB-0B17-499D-9917-794FC819AD2F}" sibTransId="{FB190453-045B-46C2-9215-99D387094E89}"/>
    <dgm:cxn modelId="{43B1495F-AADC-4488-A9E3-ACC2D909A8BC}" srcId="{54FE0A4B-25D5-4A85-A6C5-1E10A2CEAC59}" destId="{83F297E1-B718-46C1-8F7F-F59387CC5D1C}" srcOrd="3" destOrd="0" parTransId="{43CD89E5-863B-49B3-B057-6DC54AB69A61}" sibTransId="{E519796A-CA45-4DB6-B969-9466D0B20681}"/>
    <dgm:cxn modelId="{1DE3B945-4F58-4641-BA56-1FBB4BF9E5D6}" srcId="{54FE0A4B-25D5-4A85-A6C5-1E10A2CEAC59}" destId="{B705F252-5475-4091-B2E7-775DBE8EE9AF}" srcOrd="8" destOrd="0" parTransId="{77C40374-2D8A-4149-926F-A1561308BDE5}" sibTransId="{832DB9E2-E7FC-4E67-8C3A-065654284385}"/>
    <dgm:cxn modelId="{B596534A-CC0B-4C89-8700-9DB8944D07A0}" type="presOf" srcId="{007A80E7-3C25-4FA7-9CA7-B7CE20B8758E}" destId="{36669CEB-F2EA-4EFD-86D5-8AE1B60A07FF}" srcOrd="0" destOrd="0" presId="urn:microsoft.com/office/officeart/2008/layout/VerticalCircleList"/>
    <dgm:cxn modelId="{2979B46E-333F-4AD7-BB02-6F4FE4D48A80}" type="presOf" srcId="{54FE0A4B-25D5-4A85-A6C5-1E10A2CEAC59}" destId="{210F6084-AE41-4383-9B79-87BEA67B600F}" srcOrd="0" destOrd="0" presId="urn:microsoft.com/office/officeart/2008/layout/VerticalCircleList"/>
    <dgm:cxn modelId="{50FD4259-E564-436E-AB06-A11CF6A1386A}" srcId="{54FE0A4B-25D5-4A85-A6C5-1E10A2CEAC59}" destId="{8B04581E-A70F-412C-9BC8-A76ED903568F}" srcOrd="7" destOrd="0" parTransId="{A63BA383-E762-480C-820F-88243E4D25FF}" sibTransId="{1F01822D-11FF-41A9-A234-43E0808D1A8F}"/>
    <dgm:cxn modelId="{12513295-908F-4918-9CA4-4AC5E13F685A}" type="presOf" srcId="{09D7D2E3-42A6-4625-A3A0-1059FDACBAFF}" destId="{765B2202-A9C3-4BA0-B6DA-D0E48CD35D98}" srcOrd="0" destOrd="0" presId="urn:microsoft.com/office/officeart/2008/layout/VerticalCircleList"/>
    <dgm:cxn modelId="{4FAA2799-4DBE-4ECB-82D6-F6C38556F76F}" srcId="{54FE0A4B-25D5-4A85-A6C5-1E10A2CEAC59}" destId="{0328FDF5-77F4-4CF7-B032-1B732FC8ADA0}" srcOrd="9" destOrd="0" parTransId="{C5F16553-ABAC-449E-8076-D0153831977A}" sibTransId="{B0171C51-B07E-49A7-AA1E-85E6D3141BA3}"/>
    <dgm:cxn modelId="{B9A2D1A9-8EBD-44FE-B0CE-6DF4F268B196}" type="presOf" srcId="{B705F252-5475-4091-B2E7-775DBE8EE9AF}" destId="{485B9A9F-E65E-498C-B43A-525F6F1ECFE2}" srcOrd="0" destOrd="0" presId="urn:microsoft.com/office/officeart/2008/layout/VerticalCircleList"/>
    <dgm:cxn modelId="{46CA52B4-A786-46D5-B98A-F5E8A70C6BE5}" srcId="{54FE0A4B-25D5-4A85-A6C5-1E10A2CEAC59}" destId="{E3843FFF-834A-45EF-AA8C-3B670D3DE6C0}" srcOrd="2" destOrd="0" parTransId="{9FC324DD-C096-4677-9268-9E6FC4D6B3A7}" sibTransId="{64A5723F-01B1-4D7B-9652-DF5B0F62308B}"/>
    <dgm:cxn modelId="{D3B0BFBB-43F0-4675-87D4-DBE379D54CE6}" type="presOf" srcId="{E3843FFF-834A-45EF-AA8C-3B670D3DE6C0}" destId="{473379D9-FDD7-42CC-815F-6CCEF17BB694}" srcOrd="0" destOrd="0" presId="urn:microsoft.com/office/officeart/2008/layout/VerticalCircleList"/>
    <dgm:cxn modelId="{7F0922C4-FC81-49FD-8C8E-E0450FE62404}" type="presOf" srcId="{83F297E1-B718-46C1-8F7F-F59387CC5D1C}" destId="{2AC90E0B-A47E-4C12-964F-B351D4C0CAA7}" srcOrd="0" destOrd="0" presId="urn:microsoft.com/office/officeart/2008/layout/VerticalCircleList"/>
    <dgm:cxn modelId="{4275F7CC-AA19-4515-88CF-1386010C1EDD}" srcId="{54FE0A4B-25D5-4A85-A6C5-1E10A2CEAC59}" destId="{49156938-5895-488E-A3C8-CBA947490E98}" srcOrd="5" destOrd="0" parTransId="{F7D7DDE8-3433-4887-96EC-0AEE068889CF}" sibTransId="{A03BE87A-400A-4E90-974F-33F74A71F920}"/>
    <dgm:cxn modelId="{E612C8CD-43C1-451B-81FB-62E52B9D23D9}" type="presOf" srcId="{80DB92EA-136B-4CBE-B4F4-B0A8930B3A91}" destId="{CE0924FE-07A6-4D78-BDB3-C0C0F052247F}" srcOrd="0" destOrd="0" presId="urn:microsoft.com/office/officeart/2008/layout/VerticalCircleList"/>
    <dgm:cxn modelId="{BE4192D1-0E85-4EDA-9B1D-8BFEE28D0EB4}" type="presOf" srcId="{1E2F4C7E-A404-42F9-8245-063FADBBF3D7}" destId="{9CEDA0F0-C94B-47C0-B608-C0AA8A5F2685}" srcOrd="0" destOrd="0" presId="urn:microsoft.com/office/officeart/2008/layout/VerticalCircleList"/>
    <dgm:cxn modelId="{51B40CE3-5100-438E-81F5-2271B4C45BC7}" type="presOf" srcId="{093077AF-6EA6-4EAF-A34C-0C6B619A3893}" destId="{784B2C82-7650-479D-9E8E-FE0C40E59216}" srcOrd="0" destOrd="0" presId="urn:microsoft.com/office/officeart/2008/layout/VerticalCircleList"/>
    <dgm:cxn modelId="{0AC950F2-DDDE-4A62-B8F9-2DDB5A207477}" srcId="{54FE0A4B-25D5-4A85-A6C5-1E10A2CEAC59}" destId="{093077AF-6EA6-4EAF-A34C-0C6B619A3893}" srcOrd="0" destOrd="0" parTransId="{93F7E098-2AA9-43A2-8F19-08C853AD7984}" sibTransId="{8F73FD96-20FA-43B9-A350-3DE86712DB8B}"/>
    <dgm:cxn modelId="{0F6D340E-BF63-42FC-8BCC-BA059871EFBF}" type="presParOf" srcId="{210F6084-AE41-4383-9B79-87BEA67B600F}" destId="{BF1FFB63-94F5-4683-B2D1-1BFB567721BB}" srcOrd="0" destOrd="0" presId="urn:microsoft.com/office/officeart/2008/layout/VerticalCircleList"/>
    <dgm:cxn modelId="{2541F16F-CBF4-433A-AC9A-370B3A5C386B}" type="presParOf" srcId="{BF1FFB63-94F5-4683-B2D1-1BFB567721BB}" destId="{3158D01C-70E4-4BCF-B808-D3EF871E3FBA}" srcOrd="0" destOrd="0" presId="urn:microsoft.com/office/officeart/2008/layout/VerticalCircleList"/>
    <dgm:cxn modelId="{B9A65FD5-09E9-46FF-A0EA-01222AB18527}" type="presParOf" srcId="{BF1FFB63-94F5-4683-B2D1-1BFB567721BB}" destId="{7A2B4867-5C07-48B8-8B56-2D112D39E634}" srcOrd="1" destOrd="0" presId="urn:microsoft.com/office/officeart/2008/layout/VerticalCircleList"/>
    <dgm:cxn modelId="{6D6A21AB-EFD5-4259-A419-22D4DA3140D0}" type="presParOf" srcId="{BF1FFB63-94F5-4683-B2D1-1BFB567721BB}" destId="{784B2C82-7650-479D-9E8E-FE0C40E59216}" srcOrd="2" destOrd="0" presId="urn:microsoft.com/office/officeart/2008/layout/VerticalCircleList"/>
    <dgm:cxn modelId="{CAEF0BDE-9EC6-4F85-9E21-8926F25428CB}" type="presParOf" srcId="{210F6084-AE41-4383-9B79-87BEA67B600F}" destId="{9A8682FF-8A7A-4827-A1C9-F5EB94F03E1D}" srcOrd="1" destOrd="0" presId="urn:microsoft.com/office/officeart/2008/layout/VerticalCircleList"/>
    <dgm:cxn modelId="{E977B4F8-39C8-4F66-952C-050C6629AC3C}" type="presParOf" srcId="{9A8682FF-8A7A-4827-A1C9-F5EB94F03E1D}" destId="{D87C9D77-D140-42A7-B6FD-3C7E60E02967}" srcOrd="0" destOrd="0" presId="urn:microsoft.com/office/officeart/2008/layout/VerticalCircleList"/>
    <dgm:cxn modelId="{E7D7EAB0-94C6-474F-9032-07BAC3A52A1F}" type="presParOf" srcId="{9A8682FF-8A7A-4827-A1C9-F5EB94F03E1D}" destId="{288FFF4E-AFAC-41FC-AA81-9F1A7B67CDA3}" srcOrd="1" destOrd="0" presId="urn:microsoft.com/office/officeart/2008/layout/VerticalCircleList"/>
    <dgm:cxn modelId="{C47AB266-7B1E-4C08-860F-A596F114ED13}" type="presParOf" srcId="{9A8682FF-8A7A-4827-A1C9-F5EB94F03E1D}" destId="{9CEDA0F0-C94B-47C0-B608-C0AA8A5F2685}" srcOrd="2" destOrd="0" presId="urn:microsoft.com/office/officeart/2008/layout/VerticalCircleList"/>
    <dgm:cxn modelId="{2062BC7D-EA4A-4816-AA99-D24891AB6E68}" type="presParOf" srcId="{210F6084-AE41-4383-9B79-87BEA67B600F}" destId="{34392702-D4C0-4313-AE01-1DEFB1C7B089}" srcOrd="2" destOrd="0" presId="urn:microsoft.com/office/officeart/2008/layout/VerticalCircleList"/>
    <dgm:cxn modelId="{FCBFD8D9-CAAF-46D3-A444-F4CEE09A5716}" type="presParOf" srcId="{34392702-D4C0-4313-AE01-1DEFB1C7B089}" destId="{79E63DF3-92F5-4C50-B42F-B85D6868F659}" srcOrd="0" destOrd="0" presId="urn:microsoft.com/office/officeart/2008/layout/VerticalCircleList"/>
    <dgm:cxn modelId="{F425A734-474A-4E77-90EA-01111ADF6CBE}" type="presParOf" srcId="{34392702-D4C0-4313-AE01-1DEFB1C7B089}" destId="{203C5781-72C1-4EC2-B9B5-8E1005BAF385}" srcOrd="1" destOrd="0" presId="urn:microsoft.com/office/officeart/2008/layout/VerticalCircleList"/>
    <dgm:cxn modelId="{EC9BAB84-98CC-4C2A-8342-6502ECCC2538}" type="presParOf" srcId="{34392702-D4C0-4313-AE01-1DEFB1C7B089}" destId="{473379D9-FDD7-42CC-815F-6CCEF17BB694}" srcOrd="2" destOrd="0" presId="urn:microsoft.com/office/officeart/2008/layout/VerticalCircleList"/>
    <dgm:cxn modelId="{6E9A9C0B-C9E8-421B-8639-68BB9019C488}" type="presParOf" srcId="{210F6084-AE41-4383-9B79-87BEA67B600F}" destId="{7E8E6D43-8AE2-4C5E-A727-3522D9FC67D9}" srcOrd="3" destOrd="0" presId="urn:microsoft.com/office/officeart/2008/layout/VerticalCircleList"/>
    <dgm:cxn modelId="{94BB2A33-9F1A-4BC1-A223-B03E605528FB}" type="presParOf" srcId="{7E8E6D43-8AE2-4C5E-A727-3522D9FC67D9}" destId="{B6FA0A30-68B1-4619-8FCA-796E6258BB86}" srcOrd="0" destOrd="0" presId="urn:microsoft.com/office/officeart/2008/layout/VerticalCircleList"/>
    <dgm:cxn modelId="{B8A40322-CF16-4787-8BE1-9358B4F2A0C8}" type="presParOf" srcId="{7E8E6D43-8AE2-4C5E-A727-3522D9FC67D9}" destId="{E149A5BA-2A0B-45DE-B594-1B9517ECAE77}" srcOrd="1" destOrd="0" presId="urn:microsoft.com/office/officeart/2008/layout/VerticalCircleList"/>
    <dgm:cxn modelId="{BBB62D04-DF1E-4B4A-89C4-3E1CD54EF090}" type="presParOf" srcId="{7E8E6D43-8AE2-4C5E-A727-3522D9FC67D9}" destId="{2AC90E0B-A47E-4C12-964F-B351D4C0CAA7}" srcOrd="2" destOrd="0" presId="urn:microsoft.com/office/officeart/2008/layout/VerticalCircleList"/>
    <dgm:cxn modelId="{4DBF69B5-26F7-41B2-9E8A-C6D398855D13}" type="presParOf" srcId="{210F6084-AE41-4383-9B79-87BEA67B600F}" destId="{9FD44AC4-53F4-4AE8-8200-2058C5068FCF}" srcOrd="4" destOrd="0" presId="urn:microsoft.com/office/officeart/2008/layout/VerticalCircleList"/>
    <dgm:cxn modelId="{EC8972A8-54EB-44A3-A98A-DC50EAA179C2}" type="presParOf" srcId="{9FD44AC4-53F4-4AE8-8200-2058C5068FCF}" destId="{21B3562F-1BEB-4C7C-B53B-C84EDEE3C78F}" srcOrd="0" destOrd="0" presId="urn:microsoft.com/office/officeart/2008/layout/VerticalCircleList"/>
    <dgm:cxn modelId="{61E63DF5-CAC0-4341-861B-172872B5232B}" type="presParOf" srcId="{9FD44AC4-53F4-4AE8-8200-2058C5068FCF}" destId="{7CA305CB-CD5A-458D-B1ED-6CB0076D26BC}" srcOrd="1" destOrd="0" presId="urn:microsoft.com/office/officeart/2008/layout/VerticalCircleList"/>
    <dgm:cxn modelId="{1B63B675-B014-43F8-9976-C1FCFDB92582}" type="presParOf" srcId="{9FD44AC4-53F4-4AE8-8200-2058C5068FCF}" destId="{36669CEB-F2EA-4EFD-86D5-8AE1B60A07FF}" srcOrd="2" destOrd="0" presId="urn:microsoft.com/office/officeart/2008/layout/VerticalCircleList"/>
    <dgm:cxn modelId="{6637F802-B9C8-40E2-BA6E-922BF99929FC}" type="presParOf" srcId="{210F6084-AE41-4383-9B79-87BEA67B600F}" destId="{7338A7E3-2F37-40C1-8465-422F9FB9151C}" srcOrd="5" destOrd="0" presId="urn:microsoft.com/office/officeart/2008/layout/VerticalCircleList"/>
    <dgm:cxn modelId="{3B8233EA-EC90-4E53-9A49-1E23AEE4DBFE}" type="presParOf" srcId="{7338A7E3-2F37-40C1-8465-422F9FB9151C}" destId="{A80AF3C2-F154-41AC-9D32-14615895C83E}" srcOrd="0" destOrd="0" presId="urn:microsoft.com/office/officeart/2008/layout/VerticalCircleList"/>
    <dgm:cxn modelId="{E45F822A-1DB8-490D-811E-275F52B03F28}" type="presParOf" srcId="{7338A7E3-2F37-40C1-8465-422F9FB9151C}" destId="{B57D3692-BB20-43A6-885E-E47CB88C42CA}" srcOrd="1" destOrd="0" presId="urn:microsoft.com/office/officeart/2008/layout/VerticalCircleList"/>
    <dgm:cxn modelId="{D4FE67DB-DA10-44E4-AC54-E5D1D4850388}" type="presParOf" srcId="{7338A7E3-2F37-40C1-8465-422F9FB9151C}" destId="{2FBEB9FC-3192-441A-A15C-3E1596B80A30}" srcOrd="2" destOrd="0" presId="urn:microsoft.com/office/officeart/2008/layout/VerticalCircleList"/>
    <dgm:cxn modelId="{D011E130-742A-415F-B962-4DF1379E3DF6}" type="presParOf" srcId="{210F6084-AE41-4383-9B79-87BEA67B600F}" destId="{E05128F6-A00F-48F1-83F6-A3E68AF5C546}" srcOrd="6" destOrd="0" presId="urn:microsoft.com/office/officeart/2008/layout/VerticalCircleList"/>
    <dgm:cxn modelId="{7E1390F5-0F9E-4FE9-A479-AF834270F873}" type="presParOf" srcId="{E05128F6-A00F-48F1-83F6-A3E68AF5C546}" destId="{1E4FA413-1E1C-469F-92B2-ACD2E12FD8FA}" srcOrd="0" destOrd="0" presId="urn:microsoft.com/office/officeart/2008/layout/VerticalCircleList"/>
    <dgm:cxn modelId="{5E546A40-46D7-4AAF-964F-6B9025A8B106}" type="presParOf" srcId="{E05128F6-A00F-48F1-83F6-A3E68AF5C546}" destId="{79608EF2-8482-4794-BD69-F3BEEF9F60B7}" srcOrd="1" destOrd="0" presId="urn:microsoft.com/office/officeart/2008/layout/VerticalCircleList"/>
    <dgm:cxn modelId="{B292379C-B578-4DB3-AA0D-BAC360B9898A}" type="presParOf" srcId="{E05128F6-A00F-48F1-83F6-A3E68AF5C546}" destId="{CE0924FE-07A6-4D78-BDB3-C0C0F052247F}" srcOrd="2" destOrd="0" presId="urn:microsoft.com/office/officeart/2008/layout/VerticalCircleList"/>
    <dgm:cxn modelId="{662F8347-761B-41E2-AB10-57EF3F73902A}" type="presParOf" srcId="{210F6084-AE41-4383-9B79-87BEA67B600F}" destId="{D74080B3-F6DF-4C51-A736-56B032A6F31C}" srcOrd="7" destOrd="0" presId="urn:microsoft.com/office/officeart/2008/layout/VerticalCircleList"/>
    <dgm:cxn modelId="{936097DC-0BB1-43B0-ADEB-DEF6DD45B4D3}" type="presParOf" srcId="{D74080B3-F6DF-4C51-A736-56B032A6F31C}" destId="{A6644434-15FA-4268-A9FB-F497E6534C19}" srcOrd="0" destOrd="0" presId="urn:microsoft.com/office/officeart/2008/layout/VerticalCircleList"/>
    <dgm:cxn modelId="{495F59B3-D7D7-4FD7-8057-B7DEA0CFCFB9}" type="presParOf" srcId="{D74080B3-F6DF-4C51-A736-56B032A6F31C}" destId="{833B6054-E7AC-4692-B4ED-7E683B8D9349}" srcOrd="1" destOrd="0" presId="urn:microsoft.com/office/officeart/2008/layout/VerticalCircleList"/>
    <dgm:cxn modelId="{663DC975-6C5A-4525-AF46-4803546F0A56}" type="presParOf" srcId="{D74080B3-F6DF-4C51-A736-56B032A6F31C}" destId="{2C7BF613-5EB2-4862-9F98-FA91BBEF5A84}" srcOrd="2" destOrd="0" presId="urn:microsoft.com/office/officeart/2008/layout/VerticalCircleList"/>
    <dgm:cxn modelId="{D42EB7F5-6564-4CC4-A263-11E46956CE68}" type="presParOf" srcId="{210F6084-AE41-4383-9B79-87BEA67B600F}" destId="{C3E94EAC-A039-40C0-9A41-81A442670218}" srcOrd="8" destOrd="0" presId="urn:microsoft.com/office/officeart/2008/layout/VerticalCircleList"/>
    <dgm:cxn modelId="{C8B5112F-747A-4908-A19C-4440D28EF25B}" type="presParOf" srcId="{C3E94EAC-A039-40C0-9A41-81A442670218}" destId="{7D40C7F3-E004-43BF-B761-81AB722BC423}" srcOrd="0" destOrd="0" presId="urn:microsoft.com/office/officeart/2008/layout/VerticalCircleList"/>
    <dgm:cxn modelId="{5E10D09A-C781-4BD0-8B13-D45F1C9C3C26}" type="presParOf" srcId="{C3E94EAC-A039-40C0-9A41-81A442670218}" destId="{BA202631-6B80-44A7-A0C1-FC7E05A018E1}" srcOrd="1" destOrd="0" presId="urn:microsoft.com/office/officeart/2008/layout/VerticalCircleList"/>
    <dgm:cxn modelId="{84B9B4D6-3BC2-435C-9C51-1E12865B535A}" type="presParOf" srcId="{C3E94EAC-A039-40C0-9A41-81A442670218}" destId="{485B9A9F-E65E-498C-B43A-525F6F1ECFE2}" srcOrd="2" destOrd="0" presId="urn:microsoft.com/office/officeart/2008/layout/VerticalCircleList"/>
    <dgm:cxn modelId="{90576664-F24C-4B3A-AD30-82598228BD8B}" type="presParOf" srcId="{210F6084-AE41-4383-9B79-87BEA67B600F}" destId="{132CF9A0-6EC0-4E4E-89DE-695ABB8053F3}" srcOrd="9" destOrd="0" presId="urn:microsoft.com/office/officeart/2008/layout/VerticalCircleList"/>
    <dgm:cxn modelId="{9B7C0592-3ED9-4F63-8E71-412B7D7F3E69}" type="presParOf" srcId="{132CF9A0-6EC0-4E4E-89DE-695ABB8053F3}" destId="{BDCAD6AD-7634-4B4B-B1A7-EF151F3334AB}" srcOrd="0" destOrd="0" presId="urn:microsoft.com/office/officeart/2008/layout/VerticalCircleList"/>
    <dgm:cxn modelId="{103172E5-5BCD-42EE-98F8-A862D69F2180}" type="presParOf" srcId="{132CF9A0-6EC0-4E4E-89DE-695ABB8053F3}" destId="{1AB3E13C-CF7D-40C4-A92F-7A1ECC9FE544}" srcOrd="1" destOrd="0" presId="urn:microsoft.com/office/officeart/2008/layout/VerticalCircleList"/>
    <dgm:cxn modelId="{94856065-1768-47FE-B212-BB5F2532EC00}" type="presParOf" srcId="{132CF9A0-6EC0-4E4E-89DE-695ABB8053F3}" destId="{4D096278-80C1-403A-A285-D9C10B678CB3}" srcOrd="2" destOrd="0" presId="urn:microsoft.com/office/officeart/2008/layout/VerticalCircleList"/>
    <dgm:cxn modelId="{AD1E61B1-BA65-47F7-98F1-E4AC9B9DC247}" type="presParOf" srcId="{210F6084-AE41-4383-9B79-87BEA67B600F}" destId="{E412BA41-C3F9-4E1D-BE39-E57519242DE5}" srcOrd="10" destOrd="0" presId="urn:microsoft.com/office/officeart/2008/layout/VerticalCircleList"/>
    <dgm:cxn modelId="{107FB90D-4C1A-45E6-90D3-BC6232FBE0E3}" type="presParOf" srcId="{E412BA41-C3F9-4E1D-BE39-E57519242DE5}" destId="{4FF55ADB-25A2-46D7-8D34-3FA5BEFDA90B}" srcOrd="0" destOrd="0" presId="urn:microsoft.com/office/officeart/2008/layout/VerticalCircleList"/>
    <dgm:cxn modelId="{5037410B-87BD-4595-9B4F-31D9354EFDD4}" type="presParOf" srcId="{E412BA41-C3F9-4E1D-BE39-E57519242DE5}" destId="{F54CEC58-64E6-4FF6-9DF0-620CB78BBD2A}" srcOrd="1" destOrd="0" presId="urn:microsoft.com/office/officeart/2008/layout/VerticalCircleList"/>
    <dgm:cxn modelId="{29BB9C88-3BEB-45A4-8704-11BC8C10F13A}" type="presParOf" srcId="{E412BA41-C3F9-4E1D-BE39-E57519242DE5}" destId="{765B2202-A9C3-4BA0-B6DA-D0E48CD35D98}" srcOrd="2" destOrd="0" presId="urn:microsoft.com/office/officeart/2008/layout/Vertical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2B4867-5C07-48B8-8B56-2D112D39E634}">
      <dsp:nvSpPr>
        <dsp:cNvPr id="0" name=""/>
        <dsp:cNvSpPr/>
      </dsp:nvSpPr>
      <dsp:spPr>
        <a:xfrm>
          <a:off x="160240" y="865"/>
          <a:ext cx="448383" cy="448383"/>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784B2C82-7650-479D-9E8E-FE0C40E59216}">
      <dsp:nvSpPr>
        <dsp:cNvPr id="0" name=""/>
        <dsp:cNvSpPr/>
      </dsp:nvSpPr>
      <dsp:spPr>
        <a:xfrm>
          <a:off x="384432" y="865"/>
          <a:ext cx="2392290" cy="448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4130" rIns="0" bIns="24130" numCol="1" spcCol="1270" anchor="ctr" anchorCtr="0">
          <a:noAutofit/>
        </a:bodyPr>
        <a:lstStyle/>
        <a:p>
          <a:pPr marL="0" lvl="0" indent="0" algn="l" defTabSz="844550">
            <a:lnSpc>
              <a:spcPct val="90000"/>
            </a:lnSpc>
            <a:spcBef>
              <a:spcPct val="0"/>
            </a:spcBef>
            <a:spcAft>
              <a:spcPct val="35000"/>
            </a:spcAft>
            <a:buNone/>
          </a:pPr>
          <a:r>
            <a:rPr lang="en-US" sz="1900" b="1" kern="1200"/>
            <a:t>Scope &amp; Authorization</a:t>
          </a:r>
        </a:p>
      </dsp:txBody>
      <dsp:txXfrm>
        <a:off x="384432" y="865"/>
        <a:ext cx="2392290" cy="448383"/>
      </dsp:txXfrm>
    </dsp:sp>
    <dsp:sp modelId="{288FFF4E-AFAC-41FC-AA81-9F1A7B67CDA3}">
      <dsp:nvSpPr>
        <dsp:cNvPr id="0" name=""/>
        <dsp:cNvSpPr/>
      </dsp:nvSpPr>
      <dsp:spPr>
        <a:xfrm>
          <a:off x="160240" y="449248"/>
          <a:ext cx="448383" cy="448383"/>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9CEDA0F0-C94B-47C0-B608-C0AA8A5F2685}">
      <dsp:nvSpPr>
        <dsp:cNvPr id="0" name=""/>
        <dsp:cNvSpPr/>
      </dsp:nvSpPr>
      <dsp:spPr>
        <a:xfrm>
          <a:off x="384432" y="449248"/>
          <a:ext cx="2392290" cy="448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4130" rIns="0" bIns="24130" numCol="1" spcCol="1270" anchor="ctr" anchorCtr="0">
          <a:noAutofit/>
        </a:bodyPr>
        <a:lstStyle/>
        <a:p>
          <a:pPr marL="0" lvl="0" indent="0" algn="l" defTabSz="844550">
            <a:lnSpc>
              <a:spcPct val="90000"/>
            </a:lnSpc>
            <a:spcBef>
              <a:spcPct val="0"/>
            </a:spcBef>
            <a:spcAft>
              <a:spcPct val="35000"/>
            </a:spcAft>
            <a:buNone/>
          </a:pPr>
          <a:r>
            <a:rPr lang="en-US" sz="1900" b="1" kern="1200"/>
            <a:t>Information Gathering</a:t>
          </a:r>
        </a:p>
      </dsp:txBody>
      <dsp:txXfrm>
        <a:off x="384432" y="449248"/>
        <a:ext cx="2392290" cy="448383"/>
      </dsp:txXfrm>
    </dsp:sp>
    <dsp:sp modelId="{203C5781-72C1-4EC2-B9B5-8E1005BAF385}">
      <dsp:nvSpPr>
        <dsp:cNvPr id="0" name=""/>
        <dsp:cNvSpPr/>
      </dsp:nvSpPr>
      <dsp:spPr>
        <a:xfrm>
          <a:off x="160240" y="897632"/>
          <a:ext cx="448383" cy="448383"/>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473379D9-FDD7-42CC-815F-6CCEF17BB694}">
      <dsp:nvSpPr>
        <dsp:cNvPr id="0" name=""/>
        <dsp:cNvSpPr/>
      </dsp:nvSpPr>
      <dsp:spPr>
        <a:xfrm>
          <a:off x="384432" y="897632"/>
          <a:ext cx="2392290" cy="448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4130" rIns="0" bIns="24130" numCol="1" spcCol="1270" anchor="ctr" anchorCtr="0">
          <a:noAutofit/>
        </a:bodyPr>
        <a:lstStyle/>
        <a:p>
          <a:pPr marL="0" lvl="0" indent="0" algn="l" defTabSz="844550">
            <a:lnSpc>
              <a:spcPct val="90000"/>
            </a:lnSpc>
            <a:spcBef>
              <a:spcPct val="0"/>
            </a:spcBef>
            <a:spcAft>
              <a:spcPct val="35000"/>
            </a:spcAft>
            <a:buNone/>
          </a:pPr>
          <a:r>
            <a:rPr lang="en-US" sz="1900" b="1" kern="1200"/>
            <a:t>Application Mapping</a:t>
          </a:r>
        </a:p>
      </dsp:txBody>
      <dsp:txXfrm>
        <a:off x="384432" y="897632"/>
        <a:ext cx="2392290" cy="448383"/>
      </dsp:txXfrm>
    </dsp:sp>
    <dsp:sp modelId="{E149A5BA-2A0B-45DE-B594-1B9517ECAE77}">
      <dsp:nvSpPr>
        <dsp:cNvPr id="0" name=""/>
        <dsp:cNvSpPr/>
      </dsp:nvSpPr>
      <dsp:spPr>
        <a:xfrm>
          <a:off x="160240" y="1346016"/>
          <a:ext cx="448383" cy="448383"/>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2AC90E0B-A47E-4C12-964F-B351D4C0CAA7}">
      <dsp:nvSpPr>
        <dsp:cNvPr id="0" name=""/>
        <dsp:cNvSpPr/>
      </dsp:nvSpPr>
      <dsp:spPr>
        <a:xfrm>
          <a:off x="384432" y="1346016"/>
          <a:ext cx="2392290" cy="448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4130" rIns="0" bIns="24130" numCol="1" spcCol="1270" anchor="ctr" anchorCtr="0">
          <a:noAutofit/>
        </a:bodyPr>
        <a:lstStyle/>
        <a:p>
          <a:pPr marL="0" lvl="0" indent="0" algn="l" defTabSz="844550">
            <a:lnSpc>
              <a:spcPct val="90000"/>
            </a:lnSpc>
            <a:spcBef>
              <a:spcPct val="0"/>
            </a:spcBef>
            <a:spcAft>
              <a:spcPct val="35000"/>
            </a:spcAft>
            <a:buNone/>
          </a:pPr>
          <a:r>
            <a:rPr lang="en-US" sz="1900" b="1" kern="1200"/>
            <a:t>Authentication Testing</a:t>
          </a:r>
        </a:p>
      </dsp:txBody>
      <dsp:txXfrm>
        <a:off x="384432" y="1346016"/>
        <a:ext cx="2392290" cy="448383"/>
      </dsp:txXfrm>
    </dsp:sp>
    <dsp:sp modelId="{7CA305CB-CD5A-458D-B1ED-6CB0076D26BC}">
      <dsp:nvSpPr>
        <dsp:cNvPr id="0" name=""/>
        <dsp:cNvSpPr/>
      </dsp:nvSpPr>
      <dsp:spPr>
        <a:xfrm>
          <a:off x="160240" y="1794399"/>
          <a:ext cx="448383" cy="448383"/>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36669CEB-F2EA-4EFD-86D5-8AE1B60A07FF}">
      <dsp:nvSpPr>
        <dsp:cNvPr id="0" name=""/>
        <dsp:cNvSpPr/>
      </dsp:nvSpPr>
      <dsp:spPr>
        <a:xfrm>
          <a:off x="384432" y="1794399"/>
          <a:ext cx="2392290" cy="448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4130" rIns="0" bIns="24130" numCol="1" spcCol="1270" anchor="ctr" anchorCtr="0">
          <a:noAutofit/>
        </a:bodyPr>
        <a:lstStyle/>
        <a:p>
          <a:pPr marL="0" lvl="0" indent="0" algn="l" defTabSz="844550">
            <a:lnSpc>
              <a:spcPct val="90000"/>
            </a:lnSpc>
            <a:spcBef>
              <a:spcPct val="0"/>
            </a:spcBef>
            <a:spcAft>
              <a:spcPct val="35000"/>
            </a:spcAft>
            <a:buNone/>
          </a:pPr>
          <a:r>
            <a:rPr lang="en-US" sz="1900" b="1" kern="1200"/>
            <a:t>Authorization Testing</a:t>
          </a:r>
        </a:p>
      </dsp:txBody>
      <dsp:txXfrm>
        <a:off x="384432" y="1794399"/>
        <a:ext cx="2392290" cy="448383"/>
      </dsp:txXfrm>
    </dsp:sp>
    <dsp:sp modelId="{B57D3692-BB20-43A6-885E-E47CB88C42CA}">
      <dsp:nvSpPr>
        <dsp:cNvPr id="0" name=""/>
        <dsp:cNvSpPr/>
      </dsp:nvSpPr>
      <dsp:spPr>
        <a:xfrm>
          <a:off x="160240" y="2242783"/>
          <a:ext cx="448383" cy="448383"/>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2FBEB9FC-3192-441A-A15C-3E1596B80A30}">
      <dsp:nvSpPr>
        <dsp:cNvPr id="0" name=""/>
        <dsp:cNvSpPr/>
      </dsp:nvSpPr>
      <dsp:spPr>
        <a:xfrm>
          <a:off x="384432" y="2242783"/>
          <a:ext cx="2392290" cy="448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4130" rIns="0" bIns="24130" numCol="1" spcCol="1270" anchor="ctr" anchorCtr="0">
          <a:noAutofit/>
        </a:bodyPr>
        <a:lstStyle/>
        <a:p>
          <a:pPr marL="0" lvl="0" indent="0" algn="l" defTabSz="844550">
            <a:lnSpc>
              <a:spcPct val="90000"/>
            </a:lnSpc>
            <a:spcBef>
              <a:spcPct val="0"/>
            </a:spcBef>
            <a:spcAft>
              <a:spcPct val="35000"/>
            </a:spcAft>
            <a:buNone/>
          </a:pPr>
          <a:r>
            <a:rPr lang="en-US" sz="1900" b="1" kern="1200"/>
            <a:t>Input Validation Testing</a:t>
          </a:r>
        </a:p>
      </dsp:txBody>
      <dsp:txXfrm>
        <a:off x="384432" y="2242783"/>
        <a:ext cx="2392290" cy="448383"/>
      </dsp:txXfrm>
    </dsp:sp>
    <dsp:sp modelId="{79608EF2-8482-4794-BD69-F3BEEF9F60B7}">
      <dsp:nvSpPr>
        <dsp:cNvPr id="0" name=""/>
        <dsp:cNvSpPr/>
      </dsp:nvSpPr>
      <dsp:spPr>
        <a:xfrm>
          <a:off x="160240" y="2691166"/>
          <a:ext cx="448383" cy="448383"/>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CE0924FE-07A6-4D78-BDB3-C0C0F052247F}">
      <dsp:nvSpPr>
        <dsp:cNvPr id="0" name=""/>
        <dsp:cNvSpPr/>
      </dsp:nvSpPr>
      <dsp:spPr>
        <a:xfrm>
          <a:off x="384432" y="2691166"/>
          <a:ext cx="2392290" cy="448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4130" rIns="0" bIns="24130" numCol="1" spcCol="1270" anchor="ctr" anchorCtr="0">
          <a:noAutofit/>
        </a:bodyPr>
        <a:lstStyle/>
        <a:p>
          <a:pPr marL="0" lvl="0" indent="0" algn="l" defTabSz="844550">
            <a:lnSpc>
              <a:spcPct val="90000"/>
            </a:lnSpc>
            <a:spcBef>
              <a:spcPct val="0"/>
            </a:spcBef>
            <a:spcAft>
              <a:spcPct val="35000"/>
            </a:spcAft>
            <a:buNone/>
          </a:pPr>
          <a:r>
            <a:rPr lang="en-US" sz="1900" b="1" kern="1200"/>
            <a:t>Vulnerability Validation</a:t>
          </a:r>
        </a:p>
      </dsp:txBody>
      <dsp:txXfrm>
        <a:off x="384432" y="2691166"/>
        <a:ext cx="2392290" cy="448383"/>
      </dsp:txXfrm>
    </dsp:sp>
    <dsp:sp modelId="{833B6054-E7AC-4692-B4ED-7E683B8D9349}">
      <dsp:nvSpPr>
        <dsp:cNvPr id="0" name=""/>
        <dsp:cNvSpPr/>
      </dsp:nvSpPr>
      <dsp:spPr>
        <a:xfrm>
          <a:off x="160240" y="3139550"/>
          <a:ext cx="448383" cy="448383"/>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2C7BF613-5EB2-4862-9F98-FA91BBEF5A84}">
      <dsp:nvSpPr>
        <dsp:cNvPr id="0" name=""/>
        <dsp:cNvSpPr/>
      </dsp:nvSpPr>
      <dsp:spPr>
        <a:xfrm>
          <a:off x="384432" y="3139550"/>
          <a:ext cx="2392290" cy="448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4130" rIns="0" bIns="24130" numCol="1" spcCol="1270" anchor="ctr" anchorCtr="0">
          <a:noAutofit/>
        </a:bodyPr>
        <a:lstStyle/>
        <a:p>
          <a:pPr marL="0" lvl="0" indent="0" algn="l" defTabSz="844550">
            <a:lnSpc>
              <a:spcPct val="90000"/>
            </a:lnSpc>
            <a:spcBef>
              <a:spcPct val="0"/>
            </a:spcBef>
            <a:spcAft>
              <a:spcPct val="35000"/>
            </a:spcAft>
            <a:buNone/>
          </a:pPr>
          <a:r>
            <a:rPr lang="en-US" sz="1900" b="1" kern="1200"/>
            <a:t>Impact Assessment</a:t>
          </a:r>
        </a:p>
      </dsp:txBody>
      <dsp:txXfrm>
        <a:off x="384432" y="3139550"/>
        <a:ext cx="2392290" cy="448383"/>
      </dsp:txXfrm>
    </dsp:sp>
    <dsp:sp modelId="{BA202631-6B80-44A7-A0C1-FC7E05A018E1}">
      <dsp:nvSpPr>
        <dsp:cNvPr id="0" name=""/>
        <dsp:cNvSpPr/>
      </dsp:nvSpPr>
      <dsp:spPr>
        <a:xfrm>
          <a:off x="160240" y="3587933"/>
          <a:ext cx="448383" cy="448383"/>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485B9A9F-E65E-498C-B43A-525F6F1ECFE2}">
      <dsp:nvSpPr>
        <dsp:cNvPr id="0" name=""/>
        <dsp:cNvSpPr/>
      </dsp:nvSpPr>
      <dsp:spPr>
        <a:xfrm>
          <a:off x="384432" y="3587933"/>
          <a:ext cx="2392290" cy="448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4130" rIns="0" bIns="24130" numCol="1" spcCol="1270" anchor="ctr" anchorCtr="0">
          <a:noAutofit/>
        </a:bodyPr>
        <a:lstStyle/>
        <a:p>
          <a:pPr marL="0" lvl="0" indent="0" algn="l" defTabSz="844550">
            <a:lnSpc>
              <a:spcPct val="90000"/>
            </a:lnSpc>
            <a:spcBef>
              <a:spcPct val="0"/>
            </a:spcBef>
            <a:spcAft>
              <a:spcPct val="35000"/>
            </a:spcAft>
            <a:buNone/>
          </a:pPr>
          <a:r>
            <a:rPr lang="en-US" sz="1900" b="1" kern="1200"/>
            <a:t>Reporting</a:t>
          </a:r>
        </a:p>
      </dsp:txBody>
      <dsp:txXfrm>
        <a:off x="384432" y="3587933"/>
        <a:ext cx="2392290" cy="448383"/>
      </dsp:txXfrm>
    </dsp:sp>
    <dsp:sp modelId="{1AB3E13C-CF7D-40C4-A92F-7A1ECC9FE544}">
      <dsp:nvSpPr>
        <dsp:cNvPr id="0" name=""/>
        <dsp:cNvSpPr/>
      </dsp:nvSpPr>
      <dsp:spPr>
        <a:xfrm>
          <a:off x="160240" y="4036317"/>
          <a:ext cx="448383" cy="448383"/>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4D096278-80C1-403A-A285-D9C10B678CB3}">
      <dsp:nvSpPr>
        <dsp:cNvPr id="0" name=""/>
        <dsp:cNvSpPr/>
      </dsp:nvSpPr>
      <dsp:spPr>
        <a:xfrm>
          <a:off x="384432" y="4036317"/>
          <a:ext cx="2392290" cy="448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4130" rIns="0" bIns="24130" numCol="1" spcCol="1270" anchor="ctr" anchorCtr="0">
          <a:noAutofit/>
        </a:bodyPr>
        <a:lstStyle/>
        <a:p>
          <a:pPr marL="0" lvl="0" indent="0" algn="l" defTabSz="844550">
            <a:lnSpc>
              <a:spcPct val="90000"/>
            </a:lnSpc>
            <a:spcBef>
              <a:spcPct val="0"/>
            </a:spcBef>
            <a:spcAft>
              <a:spcPct val="35000"/>
            </a:spcAft>
            <a:buNone/>
          </a:pPr>
          <a:r>
            <a:rPr lang="en-US" sz="1900" b="1" kern="1200" dirty="0"/>
            <a:t>Remediation</a:t>
          </a:r>
        </a:p>
      </dsp:txBody>
      <dsp:txXfrm>
        <a:off x="384432" y="4036317"/>
        <a:ext cx="2392290" cy="448383"/>
      </dsp:txXfrm>
    </dsp:sp>
    <dsp:sp modelId="{F54CEC58-64E6-4FF6-9DF0-620CB78BBD2A}">
      <dsp:nvSpPr>
        <dsp:cNvPr id="0" name=""/>
        <dsp:cNvSpPr/>
      </dsp:nvSpPr>
      <dsp:spPr>
        <a:xfrm>
          <a:off x="160240" y="4484701"/>
          <a:ext cx="448383" cy="448383"/>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765B2202-A9C3-4BA0-B6DA-D0E48CD35D98}">
      <dsp:nvSpPr>
        <dsp:cNvPr id="0" name=""/>
        <dsp:cNvSpPr/>
      </dsp:nvSpPr>
      <dsp:spPr>
        <a:xfrm>
          <a:off x="384432" y="4484701"/>
          <a:ext cx="2392290" cy="448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4130" rIns="0" bIns="24130" numCol="1" spcCol="1270" anchor="ctr" anchorCtr="0">
          <a:noAutofit/>
        </a:bodyPr>
        <a:lstStyle/>
        <a:p>
          <a:pPr marL="0" lvl="0" indent="0" algn="l" defTabSz="844550">
            <a:lnSpc>
              <a:spcPct val="90000"/>
            </a:lnSpc>
            <a:spcBef>
              <a:spcPct val="0"/>
            </a:spcBef>
            <a:spcAft>
              <a:spcPct val="35000"/>
            </a:spcAft>
            <a:buNone/>
          </a:pPr>
          <a:r>
            <a:rPr lang="en-US" sz="1900" b="1" kern="1200" dirty="0"/>
            <a:t>Retesting</a:t>
          </a:r>
        </a:p>
      </dsp:txBody>
      <dsp:txXfrm>
        <a:off x="384432" y="4484701"/>
        <a:ext cx="2392290" cy="448383"/>
      </dsp:txXfrm>
    </dsp:sp>
  </dsp:spTree>
</dsp:drawing>
</file>

<file path=ppt/diagrams/layout1.xml><?xml version="1.0" encoding="utf-8"?>
<dgm:layoutDef xmlns:dgm="http://schemas.openxmlformats.org/drawingml/2006/diagram" xmlns:a="http://schemas.openxmlformats.org/drawingml/2006/main" uniqueId="urn:microsoft.com/office/officeart/2008/layout/VerticalCircleList">
  <dgm:title val=""/>
  <dgm:desc val=""/>
  <dgm:catLst>
    <dgm:cat type="list" pri="235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41" srcId="1" destId="11" srcOrd="0" destOrd="0"/>
        <dgm:cxn modelId="42" srcId="1" destId="12" srcOrd="1" destOrd="0"/>
        <dgm:cxn modelId="5" srcId="0" destId="2" srcOrd="0" destOrd="0"/>
        <dgm:cxn modelId="51" srcId="2" destId="21" srcOrd="0" destOrd="0"/>
        <dgm:cxn modelId="52" srcId="2" destId="22" srcOrd="1" destOrd="0"/>
      </dgm:cxnLst>
      <dgm:bg/>
      <dgm:whole/>
    </dgm:dataModel>
  </dgm:sampData>
  <dgm:styleData useDef="1">
    <dgm:dataModel>
      <dgm:ptLst/>
      <dgm:bg/>
      <dgm:whole/>
    </dgm:dataModel>
  </dgm:styleData>
  <dgm:clrData useDef="1">
    <dgm:dataModel>
      <dgm:ptLst/>
      <dgm:bg/>
      <dgm:whole/>
    </dgm:dataModel>
  </dgm:clrData>
  <dgm:layoutNode name="Name0">
    <dgm:varLst>
      <dgm:dir/>
    </dgm:varLst>
    <dgm:alg type="lin">
      <dgm:param type="linDir" val="fromT"/>
      <dgm:param type="fallback" val="2D"/>
    </dgm:alg>
    <dgm:shape xmlns:r="http://schemas.openxmlformats.org/officeDocument/2006/relationships" r:blip="">
      <dgm:adjLst/>
    </dgm:shape>
    <dgm:presOf/>
    <dgm:constrLst>
      <dgm:constr type="w" for="ch" forName="withChildren" refType="w"/>
      <dgm:constr type="h" for="ch" forName="withChildren" refType="w" fact="0.909"/>
      <dgm:constr type="w" for="ch" forName="noChildren" refType="w"/>
      <dgm:constr type="h" for="ch" forName="noChildren" refType="w" fact="0.164"/>
      <dgm:constr type="w" for="ch" forName="overlap" val="1"/>
      <dgm:constr type="h" for="ch" forName="overlap" refType="w" refFor="ch" refForName="withChildren" fact="-0.089"/>
      <dgm:constr type="primFontSz" for="des" forName="txLvl1" op="equ" val="65"/>
      <dgm:constr type="primFontSz" for="des" forName="txLvlOnly1" refType="primFontSz" refFor="des" refForName="txLvl1" op="equ"/>
      <dgm:constr type="primFontSz" for="des" forName="txLvl2" refType="primFontSz" refFor="des" refForName="txLvl1" op="equ" fact="0.78"/>
      <dgm:constr type="primFontSz" for="des" forName="txLvl3" refType="primFontSz" refFor="des" refForName="txLvl1" op="equ" fact="0.78"/>
      <dgm:constr type="userF" for="des" forName="lin" refType="primFontSz" refFor="des" refForName="txLvl2" op="equ"/>
    </dgm:constrLst>
    <dgm:forEach name="Name1" axis="ch" ptType="node">
      <dgm:choose name="Name2">
        <dgm:if name="Name3" axis="ch" ptType="node" func="cnt" op="gte" val="1">
          <dgm:layoutNode name="withChildren">
            <dgm:alg type="composite"/>
            <dgm:choose name="Name4">
              <dgm:if name="Name5" func="var" arg="dir" op="equ" val="norm">
                <dgm:constrLst>
                  <dgm:constr type="l" for="ch" forName="bigCircle"/>
                  <dgm:constr type="w" for="ch" forName="bigCircle" refType="h" refFor="ch" refForName="bigCircle"/>
                  <dgm:constr type="t" for="ch" forName="bigCircle"/>
                  <dgm:constr type="h" for="ch" forName="bigCircle" refType="h"/>
                  <dgm:constr type="l" for="ch" forName="medCircle" refType="w" fact="0.043"/>
                  <dgm:constr type="w" for="ch" forName="medCircle" refType="h" refFor="ch" refForName="medCircle"/>
                  <dgm:constr type="t" for="ch" forName="medCircle" refType="h" fact="0.042"/>
                  <dgm:constr type="h" for="ch" forName="medCircle" refType="h" fact="0.18"/>
                  <dgm:constr type="l" for="ch" forName="txLvl1" refType="ctrX" refFor="ch" refForName="medCircle"/>
                  <dgm:constr type="r" for="ch" forName="txLvl1" refType="w"/>
                  <dgm:constr type="h" for="ch" forName="txLvl1" refType="h" refFor="ch" refForName="medCircle"/>
                  <dgm:constr type="t" for="ch" forName="txLvl1" refType="t" refFor="ch" refForName="medCircle"/>
                  <dgm:constr type="l" for="ch" forName="lin" refType="ctrX" refFor="ch" refForName="medCircle"/>
                  <dgm:constr type="r" for="ch" forName="lin" refType="w"/>
                  <dgm:constr type="t" for="ch" forName="lin" refType="h" fact="0.222"/>
                  <dgm:constr type="h" for="ch" forName="lin" refType="h" fact="0.68"/>
                </dgm:constrLst>
              </dgm:if>
              <dgm:else name="Name6">
                <dgm:constrLst>
                  <dgm:constr type="r" for="ch" forName="bigCircle" refType="w"/>
                  <dgm:constr type="w" for="ch" forName="bigCircle" refType="h" refFor="ch" refForName="bigCircle"/>
                  <dgm:constr type="t" for="ch" forName="bigCircle"/>
                  <dgm:constr type="h" for="ch" forName="bigCircle" refType="h"/>
                  <dgm:constr type="r" for="ch" forName="medCircle" refType="w" fact="0.957"/>
                  <dgm:constr type="w" for="ch" forName="medCircle" refType="h" refFor="ch" refForName="medCircle"/>
                  <dgm:constr type="t" for="ch" forName="medCircle" refType="h" fact="0.042"/>
                  <dgm:constr type="h" for="ch" forName="medCircle" refType="h" fact="0.18"/>
                  <dgm:constr type="l" for="ch" forName="txLvl1"/>
                  <dgm:constr type="r" for="ch" forName="txLvl1" refType="ctrX" refFor="ch" refForName="medCircle"/>
                  <dgm:constr type="h" for="ch" forName="txLvl1" refType="h" refFor="ch" refForName="medCircle"/>
                  <dgm:constr type="t" for="ch" forName="txLvl1" refType="t" refFor="ch" refForName="medCircle"/>
                  <dgm:constr type="l" for="ch" forName="lin"/>
                  <dgm:constr type="r" for="ch" forName="lin" refType="ctrX" refFor="ch" refForName="medCircle"/>
                  <dgm:constr type="t" for="ch" forName="lin" refType="h" fact="0.222"/>
                  <dgm:constr type="h" for="ch" forName="lin" refType="h" fact="0.68"/>
                </dgm:constrLst>
              </dgm:else>
            </dgm:choose>
            <dgm:layoutNode name="bigCircle" styleLbl="vennNode1">
              <dgm:alg type="sp"/>
              <dgm:shape xmlns:r="http://schemas.openxmlformats.org/officeDocument/2006/relationships" type="ellipse" r:blip="">
                <dgm:adjLst/>
              </dgm:shape>
              <dgm:presOf/>
              <dgm:constrLst>
                <dgm:constr type="w" refType="h"/>
              </dgm:constrLst>
            </dgm:layoutNode>
            <dgm:layoutNode name="medCircle" styleLbl="vennNode1">
              <dgm:alg type="sp"/>
              <dgm:shape xmlns:r="http://schemas.openxmlformats.org/officeDocument/2006/relationships" type="ellipse" r:blip="">
                <dgm:adjLst/>
              </dgm:shape>
              <dgm:presOf/>
              <dgm:constrLst>
                <dgm:constr type="w" refType="h"/>
              </dgm:constrLst>
            </dgm:layoutNode>
            <dgm:layoutNode name="txLvl1" styleLbl="revTx">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name="lin">
              <dgm:choose name="Name10">
                <dgm:if name="Name11" func="var" arg="dir" op="equ" val="norm">
                  <dgm:alg type="lin">
                    <dgm:param type="linDir" val="fromT"/>
                    <dgm:param type="vertAlign" val="t"/>
                    <dgm:param type="nodeHorzAlign" val="l"/>
                  </dgm:alg>
                </dgm:if>
                <dgm:else name="Name12">
                  <dgm:alg type="lin">
                    <dgm:param type="linDir" val="fromT"/>
                    <dgm:param type="vertAlign" val="t"/>
                    <dgm:param type="nodeHorzAlign" val="r"/>
                  </dgm:alg>
                </dgm:else>
              </dgm:choose>
              <dgm:shape xmlns:r="http://schemas.openxmlformats.org/officeDocument/2006/relationships" r:blip="">
                <dgm:adjLst/>
              </dgm:shape>
              <dgm:presOf/>
              <dgm:constrLst>
                <dgm:constr type="userF"/>
                <dgm:constr type="primFontSz" for="ch" forName="txLvl2" refType="userF"/>
                <dgm:constr type="w" for="ch" forName="txLvl2" refType="w"/>
                <dgm:constr type="h" for="ch" forName="txLvl2" refType="primFontSz" refFor="ch" refForName="txLvl2" fact="0.39"/>
                <dgm:constr type="w" for="ch" forName="txLvl3" refType="w"/>
                <dgm:constr type="h" for="ch" forName="txLvl3" refType="primFontSz" refFor="ch" refForName="txLvl2" fact="0.39"/>
                <dgm:constr type="h" for="ch" forName="smCircle" refType="primFontSz" refFor="ch" refForName="txLvl2" fact="0.14"/>
                <dgm:constr type="h" for="ch" forName="indentDot1" refType="primFontSz" refFor="ch" refForName="txLvl2" fact="0.14"/>
                <dgm:constr type="h" for="ch" forName="indentDot2" refType="primFontSz" refFor="ch" refForName="txLvl2" fact="0.14"/>
                <dgm:constr type="h" for="ch" forName="indentDot3" refType="primFontSz" refFor="ch" refForName="txLvl2" fact="0.14"/>
                <dgm:constr type="w" for="ch" forName="indentDot1" refType="w"/>
                <dgm:constr type="w" for="ch" forName="indentDot2" refType="w"/>
                <dgm:constr type="w" for="ch" forName="indentDot3" refType="w"/>
                <dgm:constr type="userI" for="ch" forName="txLvl3" refType="primFontSz" refFor="ch" refForName="txLvl2" fact="0.14"/>
                <dgm:constr type="userI" for="ch" forName="indentDot1" refType="primFontSz" refFor="ch" refForName="txLvl2" fact="0.14"/>
                <dgm:constr type="userI" for="ch" forName="indentDot2" refType="primFontSz" refFor="ch" refForName="txLvl2" fact="0.14"/>
                <dgm:constr type="userI" for="ch" forName="indentDot3" refType="primFontSz" refFor="ch" refForName="txLvl2" fact="0.14"/>
              </dgm:constrLst>
              <dgm:ruleLst>
                <dgm:rule type="primFontSz" for="ch" forName="txLvl2" val="5" fact="NaN" max="NaN"/>
              </dgm:ruleLst>
              <dgm:forEach name="Name13" axis="ch" ptType="node">
                <dgm:layoutNode name="txLvl2" styleLbl="revTx">
                  <dgm:choose name="Name14">
                    <dgm:if name="Name15" func="var" arg="dir" op="equ" val="norm">
                      <dgm:alg type="tx">
                        <dgm:param type="parTxLTRAlign" val="l"/>
                        <dgm:param type="parTxRTLAlign" val="l"/>
                      </dgm:alg>
                    </dgm:if>
                    <dgm:else name="Name16">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h" val="INF" fact="NaN" max="NaN"/>
                  </dgm:ruleLst>
                </dgm:layoutNode>
                <dgm:forEach name="Name17" axis="ch" ptType="node" cnt="1">
                  <dgm:layoutNode name="indentDot1">
                    <dgm:alg type="composite"/>
                    <dgm:shape xmlns:r="http://schemas.openxmlformats.org/officeDocument/2006/relationships" r:blip="">
                      <dgm:adjLst/>
                    </dgm:shape>
                    <dgm:presOf/>
                    <dgm:choose name="Name18">
                      <dgm:if name="Name19" func="var" arg="dir" op="equ" val="norm">
                        <dgm:constrLst>
                          <dgm:constr type="userI"/>
                          <dgm:constr type="w" for="ch" forName="gap1" refType="userI" fact="3"/>
                          <dgm:constr type="w" for="ch" forName="smCircle1" refType="h"/>
                          <dgm:constr type="l" for="ch" forName="smCircle1" refType="r" refFor="ch" refForName="gap1"/>
                        </dgm:constrLst>
                      </dgm:if>
                      <dgm:else name="Name20">
                        <dgm:constrLst>
                          <dgm:constr type="userI"/>
                          <dgm:constr type="w" for="ch" forName="gap1" refType="userI" fact="3"/>
                          <dgm:constr type="w" for="ch" forName="smCircle1" refType="h"/>
                          <dgm:constr type="r" for="ch" forName="smCircle1" refType="l" refFor="ch" refForName="gap1"/>
                        </dgm:constrLst>
                      </dgm:else>
                    </dgm:choose>
                    <dgm:layoutNode name="gap1">
                      <dgm:alg type="sp"/>
                      <dgm:shape xmlns:r="http://schemas.openxmlformats.org/officeDocument/2006/relationships" type="rect" r:blip="" hideGeom="1">
                        <dgm:adjLst/>
                      </dgm:shape>
                      <dgm:presOf/>
                    </dgm:layoutNode>
                    <dgm:layoutNode name="smCircle1" styleLbl="vennNode1">
                      <dgm:alg type="sp"/>
                      <dgm:shape xmlns:r="http://schemas.openxmlformats.org/officeDocument/2006/relationships" type="ellipse" r:blip="">
                        <dgm:adjLst/>
                      </dgm:shape>
                      <dgm:presOf/>
                      <dgm:constrLst>
                        <dgm:constr type="w" refType="h"/>
                      </dgm:constrLst>
                    </dgm:layoutNode>
                  </dgm:layoutNode>
                </dgm:forEach>
                <dgm:forEach name="Name21" axis="ch" ptType="node">
                  <dgm:layoutNode name="txLvl3" styleLbl="revTx">
                    <dgm:varLst>
                      <dgm:bulletEnabled val="1"/>
                    </dgm:varLst>
                    <dgm:choose name="Name22">
                      <dgm:if name="Name23" func="var" arg="dir" op="equ" val="norm">
                        <dgm:alg type="tx">
                          <dgm:param type="parTxLTRAlign" val="l"/>
                          <dgm:param type="parTxRTLAlign" val="l"/>
                          <dgm:param type="shpTxLTRAlignCh" val="l"/>
                          <dgm:param type="shpTxRTLAlignCh" val="l"/>
                        </dgm:alg>
                      </dgm:if>
                      <dgm:else name="Name24">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hoose name="Name25">
                      <dgm:if name="Name26" func="var" arg="dir" op="equ" val="norm">
                        <dgm:constrLst>
                          <dgm:constr type="userI"/>
                          <dgm:constr type="lMarg" refType="userI" fact="8.504"/>
                          <dgm:constr type="rMarg"/>
                          <dgm:constr type="tMarg" refType="primFontSz" fact="0.1"/>
                          <dgm:constr type="bMarg" refType="primFontSz" fact="0.1"/>
                        </dgm:constrLst>
                      </dgm:if>
                      <dgm:else name="Name27">
                        <dgm:constrLst>
                          <dgm:constr type="userI"/>
                          <dgm:constr type="lMarg"/>
                          <dgm:constr type="rMarg" refType="userI" fact="8.504"/>
                          <dgm:constr type="tMarg" refType="primFontSz" fact="0.1"/>
                          <dgm:constr type="bMarg" refType="primFontSz" fact="0.1"/>
                        </dgm:constrLst>
                      </dgm:else>
                    </dgm:choose>
                    <dgm:ruleLst>
                      <dgm:rule type="h" val="INF" fact="NaN" max="NaN"/>
                    </dgm:ruleLst>
                  </dgm:layoutNode>
                  <dgm:forEach name="Name28" axis="followSib" ptType="sibTrans" cnt="1">
                    <dgm:layoutNode name="indentDot2">
                      <dgm:alg type="composite"/>
                      <dgm:shape xmlns:r="http://schemas.openxmlformats.org/officeDocument/2006/relationships" r:blip="">
                        <dgm:adjLst/>
                      </dgm:shape>
                      <dgm:presOf/>
                      <dgm:choose name="Name29">
                        <dgm:if name="Name30" func="var" arg="dir" op="equ" val="norm">
                          <dgm:constrLst>
                            <dgm:constr type="userI"/>
                            <dgm:constr type="w" for="ch" forName="gap2" refType="userI" fact="3"/>
                            <dgm:constr type="w" for="ch" forName="smCircle2" refType="h"/>
                            <dgm:constr type="l" for="ch" forName="smCircle2" refType="r" refFor="ch" refForName="gap2"/>
                          </dgm:constrLst>
                        </dgm:if>
                        <dgm:else name="Name31">
                          <dgm:constrLst>
                            <dgm:constr type="userI"/>
                            <dgm:constr type="w" for="ch" forName="gap2" refType="userI" fact="3"/>
                            <dgm:constr type="w" for="ch" forName="smCircle2" refType="h"/>
                            <dgm:constr type="r" for="ch" forName="smCircle2" refType="l" refFor="ch" refForName="gap2"/>
                          </dgm:constrLst>
                        </dgm:else>
                      </dgm:choose>
                      <dgm:layoutNode name="gap2">
                        <dgm:alg type="sp"/>
                        <dgm:shape xmlns:r="http://schemas.openxmlformats.org/officeDocument/2006/relationships" type="rect" r:blip="" hideGeom="1">
                          <dgm:adjLst/>
                        </dgm:shape>
                        <dgm:presOf/>
                      </dgm:layoutNode>
                      <dgm:layoutNode name="smCircle2" styleLbl="vennNode1">
                        <dgm:alg type="sp"/>
                        <dgm:shape xmlns:r="http://schemas.openxmlformats.org/officeDocument/2006/relationships" type="ellipse" r:blip="">
                          <dgm:adjLst/>
                        </dgm:shape>
                        <dgm:presOf/>
                        <dgm:constrLst>
                          <dgm:constr type="w" refType="h"/>
                        </dgm:constrLst>
                      </dgm:layoutNode>
                    </dgm:layoutNode>
                  </dgm:forEach>
                </dgm:forEach>
                <dgm:choose name="Name32">
                  <dgm:if name="Name33" axis="ch" ptType="node" func="cnt" op="gte" val="1">
                    <dgm:forEach name="Name34" axis="followSib" ptType="sibTrans" cnt="1">
                      <dgm:layoutNode name="indentDot3">
                        <dgm:alg type="composite"/>
                        <dgm:shape xmlns:r="http://schemas.openxmlformats.org/officeDocument/2006/relationships" r:blip="">
                          <dgm:adjLst/>
                        </dgm:shape>
                        <dgm:presOf/>
                        <dgm:choose name="Name35">
                          <dgm:if name="Name36" func="var" arg="dir" op="equ" val="norm">
                            <dgm:constrLst>
                              <dgm:constr type="userI"/>
                              <dgm:constr type="w" for="ch" forName="gap3" refType="userI" fact="3"/>
                              <dgm:constr type="w" for="ch" forName="smCircle3" refType="h"/>
                              <dgm:constr type="l" for="ch" forName="smCircle3" refType="r" refFor="ch" refForName="gap3"/>
                            </dgm:constrLst>
                          </dgm:if>
                          <dgm:else name="Name37">
                            <dgm:constrLst>
                              <dgm:constr type="userI"/>
                              <dgm:constr type="w" for="ch" forName="gap3" refType="userI" fact="3"/>
                              <dgm:constr type="w" for="ch" forName="smCircle3" refType="h"/>
                              <dgm:constr type="r" for="ch" forName="smCircle3" refType="l" refFor="ch" refForName="gap3"/>
                            </dgm:constrLst>
                          </dgm:else>
                        </dgm:choose>
                        <dgm:layoutNode name="gap3">
                          <dgm:alg type="sp"/>
                          <dgm:shape xmlns:r="http://schemas.openxmlformats.org/officeDocument/2006/relationships" type="rect" r:blip="" hideGeom="1">
                            <dgm:adjLst/>
                          </dgm:shape>
                          <dgm:presOf/>
                        </dgm:layoutNode>
                        <dgm:layoutNode name="smCircle3" styleLbl="vennNode1">
                          <dgm:alg type="sp"/>
                          <dgm:shape xmlns:r="http://schemas.openxmlformats.org/officeDocument/2006/relationships" type="ellipse" r:blip="">
                            <dgm:adjLst/>
                          </dgm:shape>
                          <dgm:presOf/>
                          <dgm:constrLst>
                            <dgm:constr type="w" refType="h"/>
                          </dgm:constrLst>
                        </dgm:layoutNode>
                      </dgm:layoutNode>
                    </dgm:forEach>
                  </dgm:if>
                  <dgm:else name="Name38">
                    <dgm:forEach name="Name39" axis="followSib" ptType="sibTrans" cnt="1">
                      <dgm:layoutNode name="smCircle" styleLbl="vennNode1">
                        <dgm:alg type="sp"/>
                        <dgm:shape xmlns:r="http://schemas.openxmlformats.org/officeDocument/2006/relationships" type="ellipse" r:blip="">
                          <dgm:adjLst/>
                        </dgm:shape>
                        <dgm:presOf/>
                        <dgm:constrLst>
                          <dgm:constr type="w" refType="h"/>
                        </dgm:constrLst>
                      </dgm:layoutNode>
                    </dgm:forEach>
                  </dgm:else>
                </dgm:choose>
              </dgm:forEach>
            </dgm:layoutNode>
          </dgm:layoutNode>
          <dgm:choose name="Name40">
            <dgm:if name="Name41" axis="followSib ch" ptType="node node" cnt="1 0" func="cnt" op="gte" val="1">
              <dgm:layoutNode name="overlap">
                <dgm:alg type="sp"/>
                <dgm:shape xmlns:r="http://schemas.openxmlformats.org/officeDocument/2006/relationships" r:blip="">
                  <dgm:adjLst/>
                </dgm:shape>
                <dgm:presOf/>
              </dgm:layoutNode>
            </dgm:if>
            <dgm:else name="Name42"/>
          </dgm:choose>
        </dgm:if>
        <dgm:else name="Name43">
          <dgm:layoutNode name="noChildren">
            <dgm:alg type="composite"/>
            <dgm:choose name="Name44">
              <dgm:if name="Name45" func="var" arg="dir" op="equ" val="norm">
                <dgm:constrLst>
                  <dgm:constr type="l" for="ch" forName="gap"/>
                  <dgm:constr type="w" for="ch" forName="gap" refType="w" fact="0.043"/>
                  <dgm:constr type="h" for="ch" forName="gap" refType="h"/>
                  <dgm:constr type="t" for="ch" forName="gap"/>
                  <dgm:constr type="l" for="ch" forName="medCircle2" refType="r" refFor="ch" refForName="gap"/>
                  <dgm:constr type="w" for="ch" forName="medCircle2" refType="h" refFor="ch" refForName="medCircle2"/>
                  <dgm:constr type="t" for="ch" forName="medCircle2"/>
                  <dgm:constr type="h" for="ch" forName="medCircle2" refType="h"/>
                  <dgm:constr type="l" for="ch" forName="txLvlOnly1" refType="ctrX" refFor="ch" refForName="medCircle2"/>
                  <dgm:constr type="r" for="ch" forName="txLvlOnly1" refType="w"/>
                  <dgm:constr type="h" for="ch" forName="txLvlOnly1" refType="h"/>
                  <dgm:constr type="t" for="ch" forName="txLvlOnly1"/>
                </dgm:constrLst>
              </dgm:if>
              <dgm:else name="Name46">
                <dgm:constrLst>
                  <dgm:constr type="r" for="ch" forName="gap" refType="w"/>
                  <dgm:constr type="w" for="ch" forName="gap" refType="w" fact="0.043"/>
                  <dgm:constr type="h" for="ch" forName="gap" refType="h"/>
                  <dgm:constr type="t" for="ch" forName="gap"/>
                  <dgm:constr type="r" for="ch" forName="medCircle2" refType="l" refFor="ch" refForName="gap"/>
                  <dgm:constr type="w" for="ch" forName="medCircle2" refType="h" refFor="ch" refForName="medCircle2"/>
                  <dgm:constr type="t" for="ch" forName="medCircle2"/>
                  <dgm:constr type="h" for="ch" forName="medCircle2" refType="h"/>
                  <dgm:constr type="l" for="ch" forName="txLvlOnly1"/>
                  <dgm:constr type="r" for="ch" forName="txLvlOnly1" refType="ctrX" refFor="ch" refForName="medCircle2"/>
                  <dgm:constr type="h" for="ch" forName="txLvlOnly1" refType="h"/>
                  <dgm:constr type="t" for="ch" forName="txLvlOnly1"/>
                </dgm:constrLst>
              </dgm:else>
            </dgm:choose>
            <dgm:layoutNode name="gap">
              <dgm:alg type="sp"/>
              <dgm:shape xmlns:r="http://schemas.openxmlformats.org/officeDocument/2006/relationships" r:blip="">
                <dgm:adjLst/>
              </dgm:shape>
              <dgm:presOf/>
            </dgm:layoutNode>
            <dgm:layoutNode name="medCircle2" styleLbl="vennNode1">
              <dgm:alg type="sp"/>
              <dgm:shape xmlns:r="http://schemas.openxmlformats.org/officeDocument/2006/relationships" type="ellipse" r:blip="">
                <dgm:adjLst/>
              </dgm:shape>
              <dgm:presOf/>
              <dgm:constrLst>
                <dgm:constr type="w" refType="h"/>
              </dgm:constrLst>
            </dgm:layoutNode>
            <dgm:layoutNode name="txLvlOnly1" styleLbl="revTx">
              <dgm:choose name="Name47">
                <dgm:if name="Name48" func="var" arg="dir" op="equ" val="norm">
                  <dgm:alg type="tx">
                    <dgm:param type="parTxLTRAlign" val="l"/>
                    <dgm:param type="parTxRTLAlign" val="l"/>
                  </dgm:alg>
                </dgm:if>
                <dgm:else name="Name4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FC3C2E-E234-4423-B1A5-38F5F1FD548E}" type="datetimeFigureOut">
              <a:rPr lang="en-IN" smtClean="0"/>
              <a:t>26-10-2026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E7309A-200B-4507-A178-1ECBDDD58D63}" type="slidenum">
              <a:rPr lang="en-IN" smtClean="0"/>
              <a:t>‹#›</a:t>
            </a:fld>
            <a:endParaRPr lang="en-IN"/>
          </a:p>
        </p:txBody>
      </p:sp>
    </p:spTree>
    <p:extLst>
      <p:ext uri="{BB962C8B-B14F-4D97-AF65-F5344CB8AC3E}">
        <p14:creationId xmlns:p14="http://schemas.microsoft.com/office/powerpoint/2010/main" val="368673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D4A5547-0C75-4804-84DA-EE02A5E2A271}" type="datetimeFigureOut">
              <a:rPr lang="en-IN" smtClean="0"/>
              <a:t>26-10-2026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00ED23-4570-478F-8E10-B8447DF96B4E}" type="slidenum">
              <a:rPr lang="en-IN" smtClean="0"/>
              <a:t>‹#›</a:t>
            </a:fld>
            <a:endParaRPr lang="en-IN"/>
          </a:p>
        </p:txBody>
      </p:sp>
    </p:spTree>
    <p:extLst>
      <p:ext uri="{BB962C8B-B14F-4D97-AF65-F5344CB8AC3E}">
        <p14:creationId xmlns:p14="http://schemas.microsoft.com/office/powerpoint/2010/main" val="3837770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D4A5547-0C75-4804-84DA-EE02A5E2A271}" type="datetimeFigureOut">
              <a:rPr lang="en-IN" smtClean="0"/>
              <a:t>26-10-2026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00ED23-4570-478F-8E10-B8447DF96B4E}" type="slidenum">
              <a:rPr lang="en-IN" smtClean="0"/>
              <a:t>‹#›</a:t>
            </a:fld>
            <a:endParaRPr lang="en-IN"/>
          </a:p>
        </p:txBody>
      </p:sp>
    </p:spTree>
    <p:extLst>
      <p:ext uri="{BB962C8B-B14F-4D97-AF65-F5344CB8AC3E}">
        <p14:creationId xmlns:p14="http://schemas.microsoft.com/office/powerpoint/2010/main" val="1080838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4A5547-0C75-4804-84DA-EE02A5E2A271}" type="datetimeFigureOut">
              <a:rPr lang="en-IN" smtClean="0"/>
              <a:t>26-10-2026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00ED23-4570-478F-8E10-B8447DF96B4E}" type="slidenum">
              <a:rPr lang="en-IN" smtClean="0"/>
              <a:t>‹#›</a:t>
            </a:fld>
            <a:endParaRPr lang="en-IN"/>
          </a:p>
        </p:txBody>
      </p:sp>
    </p:spTree>
    <p:extLst>
      <p:ext uri="{BB962C8B-B14F-4D97-AF65-F5344CB8AC3E}">
        <p14:creationId xmlns:p14="http://schemas.microsoft.com/office/powerpoint/2010/main" val="2870084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D4A5547-0C75-4804-84DA-EE02A5E2A271}" type="datetimeFigureOut">
              <a:rPr lang="en-IN" smtClean="0"/>
              <a:t>26-10-2026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E00ED23-4570-478F-8E10-B8447DF96B4E}" type="slidenum">
              <a:rPr lang="en-IN" smtClean="0"/>
              <a:t>‹#›</a:t>
            </a:fld>
            <a:endParaRPr lang="en-IN"/>
          </a:p>
        </p:txBody>
      </p:sp>
    </p:spTree>
    <p:extLst>
      <p:ext uri="{BB962C8B-B14F-4D97-AF65-F5344CB8AC3E}">
        <p14:creationId xmlns:p14="http://schemas.microsoft.com/office/powerpoint/2010/main" val="3732503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D4A5547-0C75-4804-84DA-EE02A5E2A271}" type="datetimeFigureOut">
              <a:rPr lang="en-IN" smtClean="0"/>
              <a:t>26-10-2026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E00ED23-4570-478F-8E10-B8447DF96B4E}" type="slidenum">
              <a:rPr lang="en-IN" smtClean="0"/>
              <a:t>‹#›</a:t>
            </a:fld>
            <a:endParaRPr lang="en-IN"/>
          </a:p>
        </p:txBody>
      </p:sp>
    </p:spTree>
    <p:extLst>
      <p:ext uri="{BB962C8B-B14F-4D97-AF65-F5344CB8AC3E}">
        <p14:creationId xmlns:p14="http://schemas.microsoft.com/office/powerpoint/2010/main" val="542680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D4A5547-0C75-4804-84DA-EE02A5E2A271}" type="datetimeFigureOut">
              <a:rPr lang="en-IN" smtClean="0"/>
              <a:t>26-10-2026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E00ED23-4570-478F-8E10-B8447DF96B4E}" type="slidenum">
              <a:rPr lang="en-IN" smtClean="0"/>
              <a:t>‹#›</a:t>
            </a:fld>
            <a:endParaRPr lang="en-IN"/>
          </a:p>
        </p:txBody>
      </p:sp>
    </p:spTree>
    <p:extLst>
      <p:ext uri="{BB962C8B-B14F-4D97-AF65-F5344CB8AC3E}">
        <p14:creationId xmlns:p14="http://schemas.microsoft.com/office/powerpoint/2010/main" val="591153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4A5547-0C75-4804-84DA-EE02A5E2A271}" type="datetimeFigureOut">
              <a:rPr lang="en-IN" smtClean="0"/>
              <a:t>26-10-2026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E00ED23-4570-478F-8E10-B8447DF96B4E}" type="slidenum">
              <a:rPr lang="en-IN" smtClean="0"/>
              <a:t>‹#›</a:t>
            </a:fld>
            <a:endParaRPr lang="en-IN"/>
          </a:p>
        </p:txBody>
      </p:sp>
    </p:spTree>
    <p:extLst>
      <p:ext uri="{BB962C8B-B14F-4D97-AF65-F5344CB8AC3E}">
        <p14:creationId xmlns:p14="http://schemas.microsoft.com/office/powerpoint/2010/main" val="3277533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4A5547-0C75-4804-84DA-EE02A5E2A271}" type="datetimeFigureOut">
              <a:rPr lang="en-IN" smtClean="0"/>
              <a:t>26-10-2026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E00ED23-4570-478F-8E10-B8447DF96B4E}" type="slidenum">
              <a:rPr lang="en-IN" smtClean="0"/>
              <a:t>‹#›</a:t>
            </a:fld>
            <a:endParaRPr lang="en-IN"/>
          </a:p>
        </p:txBody>
      </p:sp>
    </p:spTree>
    <p:extLst>
      <p:ext uri="{BB962C8B-B14F-4D97-AF65-F5344CB8AC3E}">
        <p14:creationId xmlns:p14="http://schemas.microsoft.com/office/powerpoint/2010/main" val="3009044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4A5547-0C75-4804-84DA-EE02A5E2A271}" type="datetimeFigureOut">
              <a:rPr lang="en-IN" smtClean="0"/>
              <a:t>26-10-2026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E00ED23-4570-478F-8E10-B8447DF96B4E}" type="slidenum">
              <a:rPr lang="en-IN" smtClean="0"/>
              <a:t>‹#›</a:t>
            </a:fld>
            <a:endParaRPr lang="en-IN"/>
          </a:p>
        </p:txBody>
      </p:sp>
    </p:spTree>
    <p:extLst>
      <p:ext uri="{BB962C8B-B14F-4D97-AF65-F5344CB8AC3E}">
        <p14:creationId xmlns:p14="http://schemas.microsoft.com/office/powerpoint/2010/main" val="1224028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D4A5547-0C75-4804-84DA-EE02A5E2A271}" type="datetimeFigureOut">
              <a:rPr lang="en-IN" smtClean="0"/>
              <a:t>26-10-2026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00ED23-4570-478F-8E10-B8447DF96B4E}" type="slidenum">
              <a:rPr lang="en-IN" smtClean="0"/>
              <a:t>‹#›</a:t>
            </a:fld>
            <a:endParaRPr lang="en-IN"/>
          </a:p>
        </p:txBody>
      </p:sp>
    </p:spTree>
    <p:extLst>
      <p:ext uri="{BB962C8B-B14F-4D97-AF65-F5344CB8AC3E}">
        <p14:creationId xmlns:p14="http://schemas.microsoft.com/office/powerpoint/2010/main" val="1169440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D4A5547-0C75-4804-84DA-EE02A5E2A271}" type="datetimeFigureOut">
              <a:rPr lang="en-IN" smtClean="0"/>
              <a:t>26-10-2026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00ED23-4570-478F-8E10-B8447DF96B4E}" type="slidenum">
              <a:rPr lang="en-IN" smtClean="0"/>
              <a:t>‹#›</a:t>
            </a:fld>
            <a:endParaRPr lang="en-IN"/>
          </a:p>
        </p:txBody>
      </p:sp>
    </p:spTree>
    <p:extLst>
      <p:ext uri="{BB962C8B-B14F-4D97-AF65-F5344CB8AC3E}">
        <p14:creationId xmlns:p14="http://schemas.microsoft.com/office/powerpoint/2010/main" val="9094976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198DA-5893-CC53-447B-296023D5FB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70DA94-84BB-5CA2-102D-C9A3ABDCD9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7D46F7-A2C7-CE41-4BBA-400B0E515011}"/>
              </a:ext>
            </a:extLst>
          </p:cNvPr>
          <p:cNvSpPr>
            <a:spLocks noGrp="1"/>
          </p:cNvSpPr>
          <p:nvPr>
            <p:ph type="dt" sz="half" idx="10"/>
          </p:nvPr>
        </p:nvSpPr>
        <p:spPr/>
        <p:txBody>
          <a:bodyPr/>
          <a:lstStyle/>
          <a:p>
            <a:fld id="{FDFA7F34-3CC7-4D26-8DEE-BB0878DBC504}" type="datetimeFigureOut">
              <a:rPr lang="en-US" smtClean="0"/>
              <a:t>10/26/2026</a:t>
            </a:fld>
            <a:endParaRPr lang="en-US"/>
          </a:p>
        </p:txBody>
      </p:sp>
      <p:sp>
        <p:nvSpPr>
          <p:cNvPr id="5" name="Footer Placeholder 4">
            <a:extLst>
              <a:ext uri="{FF2B5EF4-FFF2-40B4-BE49-F238E27FC236}">
                <a16:creationId xmlns:a16="http://schemas.microsoft.com/office/drawing/2014/main" id="{6B26E9C3-D489-4EFF-7645-2F84361811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F56148-CA06-7B95-1212-95A5BBC512BA}"/>
              </a:ext>
            </a:extLst>
          </p:cNvPr>
          <p:cNvSpPr>
            <a:spLocks noGrp="1"/>
          </p:cNvSpPr>
          <p:nvPr>
            <p:ph type="sldNum" sz="quarter" idx="12"/>
          </p:nvPr>
        </p:nvSpPr>
        <p:spPr/>
        <p:txBody>
          <a:bodyPr/>
          <a:lstStyle/>
          <a:p>
            <a:fld id="{8B3A3793-7AC4-4EE9-B80F-06CFDC7D1055}" type="slidenum">
              <a:rPr lang="en-US" smtClean="0"/>
              <a:t>‹#›</a:t>
            </a:fld>
            <a:endParaRPr lang="en-US"/>
          </a:p>
        </p:txBody>
      </p:sp>
    </p:spTree>
    <p:extLst>
      <p:ext uri="{BB962C8B-B14F-4D97-AF65-F5344CB8AC3E}">
        <p14:creationId xmlns:p14="http://schemas.microsoft.com/office/powerpoint/2010/main" val="9656249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860D3-F771-437E-7D8F-3420D40CA6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50EEB1-38CC-317F-2D8C-BD9561CC4A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296B45-0127-BFF8-69B9-F0909B6A1A44}"/>
              </a:ext>
            </a:extLst>
          </p:cNvPr>
          <p:cNvSpPr>
            <a:spLocks noGrp="1"/>
          </p:cNvSpPr>
          <p:nvPr>
            <p:ph type="dt" sz="half" idx="10"/>
          </p:nvPr>
        </p:nvSpPr>
        <p:spPr/>
        <p:txBody>
          <a:bodyPr/>
          <a:lstStyle/>
          <a:p>
            <a:fld id="{FDFA7F34-3CC7-4D26-8DEE-BB0878DBC504}" type="datetimeFigureOut">
              <a:rPr lang="en-US" smtClean="0"/>
              <a:t>10/26/2026</a:t>
            </a:fld>
            <a:endParaRPr lang="en-US"/>
          </a:p>
        </p:txBody>
      </p:sp>
      <p:sp>
        <p:nvSpPr>
          <p:cNvPr id="5" name="Footer Placeholder 4">
            <a:extLst>
              <a:ext uri="{FF2B5EF4-FFF2-40B4-BE49-F238E27FC236}">
                <a16:creationId xmlns:a16="http://schemas.microsoft.com/office/drawing/2014/main" id="{8DFB18AD-7B1B-17B7-2715-FF39B05290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340B24-493C-65D5-C983-6BA0568A0DAD}"/>
              </a:ext>
            </a:extLst>
          </p:cNvPr>
          <p:cNvSpPr>
            <a:spLocks noGrp="1"/>
          </p:cNvSpPr>
          <p:nvPr>
            <p:ph type="sldNum" sz="quarter" idx="12"/>
          </p:nvPr>
        </p:nvSpPr>
        <p:spPr/>
        <p:txBody>
          <a:bodyPr/>
          <a:lstStyle/>
          <a:p>
            <a:fld id="{8B3A3793-7AC4-4EE9-B80F-06CFDC7D1055}" type="slidenum">
              <a:rPr lang="en-US" smtClean="0"/>
              <a:t>‹#›</a:t>
            </a:fld>
            <a:endParaRPr lang="en-US"/>
          </a:p>
        </p:txBody>
      </p:sp>
    </p:spTree>
    <p:extLst>
      <p:ext uri="{BB962C8B-B14F-4D97-AF65-F5344CB8AC3E}">
        <p14:creationId xmlns:p14="http://schemas.microsoft.com/office/powerpoint/2010/main" val="6244318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A1D0D-C682-E637-E47A-338F7CF942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69CEA15-4C8F-34CA-6EDD-BFFF681F9BD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D54CB6-6E76-E536-1AFD-F615F3AC8F1F}"/>
              </a:ext>
            </a:extLst>
          </p:cNvPr>
          <p:cNvSpPr>
            <a:spLocks noGrp="1"/>
          </p:cNvSpPr>
          <p:nvPr>
            <p:ph type="dt" sz="half" idx="10"/>
          </p:nvPr>
        </p:nvSpPr>
        <p:spPr/>
        <p:txBody>
          <a:bodyPr/>
          <a:lstStyle/>
          <a:p>
            <a:fld id="{FDFA7F34-3CC7-4D26-8DEE-BB0878DBC504}" type="datetimeFigureOut">
              <a:rPr lang="en-US" smtClean="0"/>
              <a:t>10/26/2026</a:t>
            </a:fld>
            <a:endParaRPr lang="en-US"/>
          </a:p>
        </p:txBody>
      </p:sp>
      <p:sp>
        <p:nvSpPr>
          <p:cNvPr id="5" name="Footer Placeholder 4">
            <a:extLst>
              <a:ext uri="{FF2B5EF4-FFF2-40B4-BE49-F238E27FC236}">
                <a16:creationId xmlns:a16="http://schemas.microsoft.com/office/drawing/2014/main" id="{C7D54140-73DA-5ED2-F30D-FB0356016D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2A1D1C-C4E6-D09D-C400-0D52DBC9C04D}"/>
              </a:ext>
            </a:extLst>
          </p:cNvPr>
          <p:cNvSpPr>
            <a:spLocks noGrp="1"/>
          </p:cNvSpPr>
          <p:nvPr>
            <p:ph type="sldNum" sz="quarter" idx="12"/>
          </p:nvPr>
        </p:nvSpPr>
        <p:spPr/>
        <p:txBody>
          <a:bodyPr/>
          <a:lstStyle/>
          <a:p>
            <a:fld id="{8B3A3793-7AC4-4EE9-B80F-06CFDC7D1055}" type="slidenum">
              <a:rPr lang="en-US" smtClean="0"/>
              <a:t>‹#›</a:t>
            </a:fld>
            <a:endParaRPr lang="en-US"/>
          </a:p>
        </p:txBody>
      </p:sp>
    </p:spTree>
    <p:extLst>
      <p:ext uri="{BB962C8B-B14F-4D97-AF65-F5344CB8AC3E}">
        <p14:creationId xmlns:p14="http://schemas.microsoft.com/office/powerpoint/2010/main" val="38092621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C3DFF-0D1F-02F8-BAD7-96699BDA5E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7EF1EF-98C4-6F96-63CE-660484D63D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9B77974-DAE2-B4BD-469C-60D1E56962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E47EE4F-3570-932D-F0F1-8BD1F3078FFB}"/>
              </a:ext>
            </a:extLst>
          </p:cNvPr>
          <p:cNvSpPr>
            <a:spLocks noGrp="1"/>
          </p:cNvSpPr>
          <p:nvPr>
            <p:ph type="dt" sz="half" idx="10"/>
          </p:nvPr>
        </p:nvSpPr>
        <p:spPr/>
        <p:txBody>
          <a:bodyPr/>
          <a:lstStyle/>
          <a:p>
            <a:fld id="{FDFA7F34-3CC7-4D26-8DEE-BB0878DBC504}" type="datetimeFigureOut">
              <a:rPr lang="en-US" smtClean="0"/>
              <a:t>10/26/2026</a:t>
            </a:fld>
            <a:endParaRPr lang="en-US"/>
          </a:p>
        </p:txBody>
      </p:sp>
      <p:sp>
        <p:nvSpPr>
          <p:cNvPr id="6" name="Footer Placeholder 5">
            <a:extLst>
              <a:ext uri="{FF2B5EF4-FFF2-40B4-BE49-F238E27FC236}">
                <a16:creationId xmlns:a16="http://schemas.microsoft.com/office/drawing/2014/main" id="{DC1BEDBA-4207-7F37-F29C-C892F57AA6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749AB3-3FA5-4D87-DC76-EBCE9FA60235}"/>
              </a:ext>
            </a:extLst>
          </p:cNvPr>
          <p:cNvSpPr>
            <a:spLocks noGrp="1"/>
          </p:cNvSpPr>
          <p:nvPr>
            <p:ph type="sldNum" sz="quarter" idx="12"/>
          </p:nvPr>
        </p:nvSpPr>
        <p:spPr/>
        <p:txBody>
          <a:bodyPr/>
          <a:lstStyle/>
          <a:p>
            <a:fld id="{8B3A3793-7AC4-4EE9-B80F-06CFDC7D1055}" type="slidenum">
              <a:rPr lang="en-US" smtClean="0"/>
              <a:t>‹#›</a:t>
            </a:fld>
            <a:endParaRPr lang="en-US"/>
          </a:p>
        </p:txBody>
      </p:sp>
    </p:spTree>
    <p:extLst>
      <p:ext uri="{BB962C8B-B14F-4D97-AF65-F5344CB8AC3E}">
        <p14:creationId xmlns:p14="http://schemas.microsoft.com/office/powerpoint/2010/main" val="28895125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3DEC0-111B-D9E8-2212-BBA1C0E92E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0A847E-6525-4CBC-C2F0-88D29A1DCB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F7A7C5-E263-C91C-048A-B8F02393E8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381731D-82D8-B060-1B0A-8C66BAEA68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930C94-153A-37C3-B74A-4B2677B7412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30C91E5-F1D2-DFED-0D65-3D89427D0687}"/>
              </a:ext>
            </a:extLst>
          </p:cNvPr>
          <p:cNvSpPr>
            <a:spLocks noGrp="1"/>
          </p:cNvSpPr>
          <p:nvPr>
            <p:ph type="dt" sz="half" idx="10"/>
          </p:nvPr>
        </p:nvSpPr>
        <p:spPr/>
        <p:txBody>
          <a:bodyPr/>
          <a:lstStyle/>
          <a:p>
            <a:fld id="{FDFA7F34-3CC7-4D26-8DEE-BB0878DBC504}" type="datetimeFigureOut">
              <a:rPr lang="en-US" smtClean="0"/>
              <a:t>10/26/2026</a:t>
            </a:fld>
            <a:endParaRPr lang="en-US"/>
          </a:p>
        </p:txBody>
      </p:sp>
      <p:sp>
        <p:nvSpPr>
          <p:cNvPr id="8" name="Footer Placeholder 7">
            <a:extLst>
              <a:ext uri="{FF2B5EF4-FFF2-40B4-BE49-F238E27FC236}">
                <a16:creationId xmlns:a16="http://schemas.microsoft.com/office/drawing/2014/main" id="{52485962-D381-8C81-F02A-80B71857702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8960DBB-A4FC-D8D0-F8B7-5CCF5E11BF0C}"/>
              </a:ext>
            </a:extLst>
          </p:cNvPr>
          <p:cNvSpPr>
            <a:spLocks noGrp="1"/>
          </p:cNvSpPr>
          <p:nvPr>
            <p:ph type="sldNum" sz="quarter" idx="12"/>
          </p:nvPr>
        </p:nvSpPr>
        <p:spPr/>
        <p:txBody>
          <a:bodyPr/>
          <a:lstStyle/>
          <a:p>
            <a:fld id="{8B3A3793-7AC4-4EE9-B80F-06CFDC7D1055}" type="slidenum">
              <a:rPr lang="en-US" smtClean="0"/>
              <a:t>‹#›</a:t>
            </a:fld>
            <a:endParaRPr lang="en-US"/>
          </a:p>
        </p:txBody>
      </p:sp>
    </p:spTree>
    <p:extLst>
      <p:ext uri="{BB962C8B-B14F-4D97-AF65-F5344CB8AC3E}">
        <p14:creationId xmlns:p14="http://schemas.microsoft.com/office/powerpoint/2010/main" val="26269350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673F5-0B53-C2DF-0228-AF2CCA5876F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65CDEC-D46F-AFE9-190E-784990D99C51}"/>
              </a:ext>
            </a:extLst>
          </p:cNvPr>
          <p:cNvSpPr>
            <a:spLocks noGrp="1"/>
          </p:cNvSpPr>
          <p:nvPr>
            <p:ph type="dt" sz="half" idx="10"/>
          </p:nvPr>
        </p:nvSpPr>
        <p:spPr/>
        <p:txBody>
          <a:bodyPr/>
          <a:lstStyle/>
          <a:p>
            <a:fld id="{FDFA7F34-3CC7-4D26-8DEE-BB0878DBC504}" type="datetimeFigureOut">
              <a:rPr lang="en-US" smtClean="0"/>
              <a:t>10/26/2026</a:t>
            </a:fld>
            <a:endParaRPr lang="en-US"/>
          </a:p>
        </p:txBody>
      </p:sp>
      <p:sp>
        <p:nvSpPr>
          <p:cNvPr id="4" name="Footer Placeholder 3">
            <a:extLst>
              <a:ext uri="{FF2B5EF4-FFF2-40B4-BE49-F238E27FC236}">
                <a16:creationId xmlns:a16="http://schemas.microsoft.com/office/drawing/2014/main" id="{5112A3DA-67A0-D516-A2F9-942F167338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3162687-2085-15CA-BB92-921FBCD9A393}"/>
              </a:ext>
            </a:extLst>
          </p:cNvPr>
          <p:cNvSpPr>
            <a:spLocks noGrp="1"/>
          </p:cNvSpPr>
          <p:nvPr>
            <p:ph type="sldNum" sz="quarter" idx="12"/>
          </p:nvPr>
        </p:nvSpPr>
        <p:spPr/>
        <p:txBody>
          <a:bodyPr/>
          <a:lstStyle/>
          <a:p>
            <a:fld id="{8B3A3793-7AC4-4EE9-B80F-06CFDC7D1055}" type="slidenum">
              <a:rPr lang="en-US" smtClean="0"/>
              <a:t>‹#›</a:t>
            </a:fld>
            <a:endParaRPr lang="en-US"/>
          </a:p>
        </p:txBody>
      </p:sp>
    </p:spTree>
    <p:extLst>
      <p:ext uri="{BB962C8B-B14F-4D97-AF65-F5344CB8AC3E}">
        <p14:creationId xmlns:p14="http://schemas.microsoft.com/office/powerpoint/2010/main" val="12493870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516C8A-0408-83DF-9F2B-3B44156A901A}"/>
              </a:ext>
            </a:extLst>
          </p:cNvPr>
          <p:cNvSpPr>
            <a:spLocks noGrp="1"/>
          </p:cNvSpPr>
          <p:nvPr>
            <p:ph type="dt" sz="half" idx="10"/>
          </p:nvPr>
        </p:nvSpPr>
        <p:spPr/>
        <p:txBody>
          <a:bodyPr/>
          <a:lstStyle/>
          <a:p>
            <a:fld id="{FDFA7F34-3CC7-4D26-8DEE-BB0878DBC504}" type="datetimeFigureOut">
              <a:rPr lang="en-US" smtClean="0"/>
              <a:t>10/26/2026</a:t>
            </a:fld>
            <a:endParaRPr lang="en-US"/>
          </a:p>
        </p:txBody>
      </p:sp>
      <p:sp>
        <p:nvSpPr>
          <p:cNvPr id="3" name="Footer Placeholder 2">
            <a:extLst>
              <a:ext uri="{FF2B5EF4-FFF2-40B4-BE49-F238E27FC236}">
                <a16:creationId xmlns:a16="http://schemas.microsoft.com/office/drawing/2014/main" id="{3B36C6A5-B371-E9EA-D988-34F31C622C6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588C211-3BF0-26CF-5655-2ECA80514E34}"/>
              </a:ext>
            </a:extLst>
          </p:cNvPr>
          <p:cNvSpPr>
            <a:spLocks noGrp="1"/>
          </p:cNvSpPr>
          <p:nvPr>
            <p:ph type="sldNum" sz="quarter" idx="12"/>
          </p:nvPr>
        </p:nvSpPr>
        <p:spPr/>
        <p:txBody>
          <a:bodyPr/>
          <a:lstStyle/>
          <a:p>
            <a:fld id="{8B3A3793-7AC4-4EE9-B80F-06CFDC7D1055}" type="slidenum">
              <a:rPr lang="en-US" smtClean="0"/>
              <a:t>‹#›</a:t>
            </a:fld>
            <a:endParaRPr lang="en-US"/>
          </a:p>
        </p:txBody>
      </p:sp>
    </p:spTree>
    <p:extLst>
      <p:ext uri="{BB962C8B-B14F-4D97-AF65-F5344CB8AC3E}">
        <p14:creationId xmlns:p14="http://schemas.microsoft.com/office/powerpoint/2010/main" val="2680446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0D296-1A0C-FE5D-D95B-C94E670A87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142298-AA77-B678-AFEC-B802EEC67F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705B27-D7FD-6E74-6F3D-88061B08C5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A462F2-C56D-F7F4-1F75-72EB18B74FDD}"/>
              </a:ext>
            </a:extLst>
          </p:cNvPr>
          <p:cNvSpPr>
            <a:spLocks noGrp="1"/>
          </p:cNvSpPr>
          <p:nvPr>
            <p:ph type="dt" sz="half" idx="10"/>
          </p:nvPr>
        </p:nvSpPr>
        <p:spPr/>
        <p:txBody>
          <a:bodyPr/>
          <a:lstStyle/>
          <a:p>
            <a:fld id="{FDFA7F34-3CC7-4D26-8DEE-BB0878DBC504}" type="datetimeFigureOut">
              <a:rPr lang="en-US" smtClean="0"/>
              <a:t>10/26/2026</a:t>
            </a:fld>
            <a:endParaRPr lang="en-US"/>
          </a:p>
        </p:txBody>
      </p:sp>
      <p:sp>
        <p:nvSpPr>
          <p:cNvPr id="6" name="Footer Placeholder 5">
            <a:extLst>
              <a:ext uri="{FF2B5EF4-FFF2-40B4-BE49-F238E27FC236}">
                <a16:creationId xmlns:a16="http://schemas.microsoft.com/office/drawing/2014/main" id="{64E0B71F-21B9-2431-740E-79180C8812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43D340-2B14-4896-195A-CB6A1EF40C5B}"/>
              </a:ext>
            </a:extLst>
          </p:cNvPr>
          <p:cNvSpPr>
            <a:spLocks noGrp="1"/>
          </p:cNvSpPr>
          <p:nvPr>
            <p:ph type="sldNum" sz="quarter" idx="12"/>
          </p:nvPr>
        </p:nvSpPr>
        <p:spPr/>
        <p:txBody>
          <a:bodyPr/>
          <a:lstStyle/>
          <a:p>
            <a:fld id="{8B3A3793-7AC4-4EE9-B80F-06CFDC7D1055}" type="slidenum">
              <a:rPr lang="en-US" smtClean="0"/>
              <a:t>‹#›</a:t>
            </a:fld>
            <a:endParaRPr lang="en-US"/>
          </a:p>
        </p:txBody>
      </p:sp>
    </p:spTree>
    <p:extLst>
      <p:ext uri="{BB962C8B-B14F-4D97-AF65-F5344CB8AC3E}">
        <p14:creationId xmlns:p14="http://schemas.microsoft.com/office/powerpoint/2010/main" val="22742966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3F20E-2514-D5BA-22F6-90BA9F2140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F01CBE2-BBD9-CA3B-39A6-046053A3E6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D795AF3-8BEB-ADEA-8384-E9FFA4285F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99AEBA-D2E6-AA4C-961B-293F4F9A31D6}"/>
              </a:ext>
            </a:extLst>
          </p:cNvPr>
          <p:cNvSpPr>
            <a:spLocks noGrp="1"/>
          </p:cNvSpPr>
          <p:nvPr>
            <p:ph type="dt" sz="half" idx="10"/>
          </p:nvPr>
        </p:nvSpPr>
        <p:spPr/>
        <p:txBody>
          <a:bodyPr/>
          <a:lstStyle/>
          <a:p>
            <a:fld id="{FDFA7F34-3CC7-4D26-8DEE-BB0878DBC504}" type="datetimeFigureOut">
              <a:rPr lang="en-US" smtClean="0"/>
              <a:t>10/26/2026</a:t>
            </a:fld>
            <a:endParaRPr lang="en-US"/>
          </a:p>
        </p:txBody>
      </p:sp>
      <p:sp>
        <p:nvSpPr>
          <p:cNvPr id="6" name="Footer Placeholder 5">
            <a:extLst>
              <a:ext uri="{FF2B5EF4-FFF2-40B4-BE49-F238E27FC236}">
                <a16:creationId xmlns:a16="http://schemas.microsoft.com/office/drawing/2014/main" id="{9D0A8F15-198E-910A-4D89-371A13DEEF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C10FFB-D855-114C-590C-62E0F4A8F11D}"/>
              </a:ext>
            </a:extLst>
          </p:cNvPr>
          <p:cNvSpPr>
            <a:spLocks noGrp="1"/>
          </p:cNvSpPr>
          <p:nvPr>
            <p:ph type="sldNum" sz="quarter" idx="12"/>
          </p:nvPr>
        </p:nvSpPr>
        <p:spPr/>
        <p:txBody>
          <a:bodyPr/>
          <a:lstStyle/>
          <a:p>
            <a:fld id="{8B3A3793-7AC4-4EE9-B80F-06CFDC7D1055}" type="slidenum">
              <a:rPr lang="en-US" smtClean="0"/>
              <a:t>‹#›</a:t>
            </a:fld>
            <a:endParaRPr lang="en-US"/>
          </a:p>
        </p:txBody>
      </p:sp>
    </p:spTree>
    <p:extLst>
      <p:ext uri="{BB962C8B-B14F-4D97-AF65-F5344CB8AC3E}">
        <p14:creationId xmlns:p14="http://schemas.microsoft.com/office/powerpoint/2010/main" val="11472580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8E135-1070-D74A-2BAF-9F06DD3A9B1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723EED0-9211-10A2-46A7-C30708BB5C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F812DE-17F1-96C5-CC03-6FFB50EFE0E6}"/>
              </a:ext>
            </a:extLst>
          </p:cNvPr>
          <p:cNvSpPr>
            <a:spLocks noGrp="1"/>
          </p:cNvSpPr>
          <p:nvPr>
            <p:ph type="dt" sz="half" idx="10"/>
          </p:nvPr>
        </p:nvSpPr>
        <p:spPr/>
        <p:txBody>
          <a:bodyPr/>
          <a:lstStyle/>
          <a:p>
            <a:fld id="{FDFA7F34-3CC7-4D26-8DEE-BB0878DBC504}" type="datetimeFigureOut">
              <a:rPr lang="en-US" smtClean="0"/>
              <a:t>10/26/2026</a:t>
            </a:fld>
            <a:endParaRPr lang="en-US"/>
          </a:p>
        </p:txBody>
      </p:sp>
      <p:sp>
        <p:nvSpPr>
          <p:cNvPr id="5" name="Footer Placeholder 4">
            <a:extLst>
              <a:ext uri="{FF2B5EF4-FFF2-40B4-BE49-F238E27FC236}">
                <a16:creationId xmlns:a16="http://schemas.microsoft.com/office/drawing/2014/main" id="{347BE601-0967-17C0-B000-DAE1CA2E26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8CB12C-851E-8373-728A-A913D7E8DC7F}"/>
              </a:ext>
            </a:extLst>
          </p:cNvPr>
          <p:cNvSpPr>
            <a:spLocks noGrp="1"/>
          </p:cNvSpPr>
          <p:nvPr>
            <p:ph type="sldNum" sz="quarter" idx="12"/>
          </p:nvPr>
        </p:nvSpPr>
        <p:spPr/>
        <p:txBody>
          <a:bodyPr/>
          <a:lstStyle/>
          <a:p>
            <a:fld id="{8B3A3793-7AC4-4EE9-B80F-06CFDC7D1055}" type="slidenum">
              <a:rPr lang="en-US" smtClean="0"/>
              <a:t>‹#›</a:t>
            </a:fld>
            <a:endParaRPr lang="en-US"/>
          </a:p>
        </p:txBody>
      </p:sp>
    </p:spTree>
    <p:extLst>
      <p:ext uri="{BB962C8B-B14F-4D97-AF65-F5344CB8AC3E}">
        <p14:creationId xmlns:p14="http://schemas.microsoft.com/office/powerpoint/2010/main" val="39660761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B96095-60A3-BB6E-00A2-30F3AC823C8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6F410B-3FDD-5C8B-52A0-F0E7B278A2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3E615B-81F5-1323-993B-5E9C5B3F6222}"/>
              </a:ext>
            </a:extLst>
          </p:cNvPr>
          <p:cNvSpPr>
            <a:spLocks noGrp="1"/>
          </p:cNvSpPr>
          <p:nvPr>
            <p:ph type="dt" sz="half" idx="10"/>
          </p:nvPr>
        </p:nvSpPr>
        <p:spPr/>
        <p:txBody>
          <a:bodyPr/>
          <a:lstStyle/>
          <a:p>
            <a:fld id="{FDFA7F34-3CC7-4D26-8DEE-BB0878DBC504}" type="datetimeFigureOut">
              <a:rPr lang="en-US" smtClean="0"/>
              <a:t>10/26/2026</a:t>
            </a:fld>
            <a:endParaRPr lang="en-US"/>
          </a:p>
        </p:txBody>
      </p:sp>
      <p:sp>
        <p:nvSpPr>
          <p:cNvPr id="5" name="Footer Placeholder 4">
            <a:extLst>
              <a:ext uri="{FF2B5EF4-FFF2-40B4-BE49-F238E27FC236}">
                <a16:creationId xmlns:a16="http://schemas.microsoft.com/office/drawing/2014/main" id="{055A9648-853C-D989-27B9-C51FBE84A0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400EA5-F97A-7C3D-966B-FF7C3BF89059}"/>
              </a:ext>
            </a:extLst>
          </p:cNvPr>
          <p:cNvSpPr>
            <a:spLocks noGrp="1"/>
          </p:cNvSpPr>
          <p:nvPr>
            <p:ph type="sldNum" sz="quarter" idx="12"/>
          </p:nvPr>
        </p:nvSpPr>
        <p:spPr/>
        <p:txBody>
          <a:bodyPr/>
          <a:lstStyle/>
          <a:p>
            <a:fld id="{8B3A3793-7AC4-4EE9-B80F-06CFDC7D1055}" type="slidenum">
              <a:rPr lang="en-US" smtClean="0"/>
              <a:t>‹#›</a:t>
            </a:fld>
            <a:endParaRPr lang="en-US"/>
          </a:p>
        </p:txBody>
      </p:sp>
    </p:spTree>
    <p:extLst>
      <p:ext uri="{BB962C8B-B14F-4D97-AF65-F5344CB8AC3E}">
        <p14:creationId xmlns:p14="http://schemas.microsoft.com/office/powerpoint/2010/main" val="202919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0F93C-21A0-AEBA-F710-42191C1E48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7079A87-E84A-699E-C5B4-0E5996EEED1E}"/>
              </a:ext>
            </a:extLst>
          </p:cNvPr>
          <p:cNvSpPr>
            <a:spLocks noGrp="1"/>
          </p:cNvSpPr>
          <p:nvPr>
            <p:ph type="dt" sz="half" idx="10"/>
          </p:nvPr>
        </p:nvSpPr>
        <p:spPr/>
        <p:txBody>
          <a:bodyPr/>
          <a:lstStyle/>
          <a:p>
            <a:fld id="{FDFA7F34-3CC7-4D26-8DEE-BB0878DBC504}" type="datetimeFigureOut">
              <a:rPr lang="en-US" smtClean="0"/>
              <a:t>10/26/2026</a:t>
            </a:fld>
            <a:endParaRPr lang="en-US"/>
          </a:p>
        </p:txBody>
      </p:sp>
      <p:sp>
        <p:nvSpPr>
          <p:cNvPr id="4" name="Footer Placeholder 3">
            <a:extLst>
              <a:ext uri="{FF2B5EF4-FFF2-40B4-BE49-F238E27FC236}">
                <a16:creationId xmlns:a16="http://schemas.microsoft.com/office/drawing/2014/main" id="{70864889-A65F-9E52-E9BC-979BC595741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8D22044-3CA3-4DAF-3B78-B28308319E76}"/>
              </a:ext>
            </a:extLst>
          </p:cNvPr>
          <p:cNvSpPr>
            <a:spLocks noGrp="1"/>
          </p:cNvSpPr>
          <p:nvPr>
            <p:ph type="sldNum" sz="quarter" idx="12"/>
          </p:nvPr>
        </p:nvSpPr>
        <p:spPr/>
        <p:txBody>
          <a:bodyPr/>
          <a:lstStyle/>
          <a:p>
            <a:fld id="{8B3A3793-7AC4-4EE9-B80F-06CFDC7D1055}" type="slidenum">
              <a:rPr lang="en-US" smtClean="0"/>
              <a:t>‹#›</a:t>
            </a:fld>
            <a:endParaRPr lang="en-US"/>
          </a:p>
        </p:txBody>
      </p:sp>
    </p:spTree>
    <p:extLst>
      <p:ext uri="{BB962C8B-B14F-4D97-AF65-F5344CB8AC3E}">
        <p14:creationId xmlns:p14="http://schemas.microsoft.com/office/powerpoint/2010/main" val="10103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52800" y="136525"/>
            <a:ext cx="83058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p:cNvSpPr>
            <a:spLocks noGrp="1"/>
          </p:cNvSpPr>
          <p:nvPr>
            <p:ph type="body" idx="1"/>
          </p:nvPr>
        </p:nvSpPr>
        <p:spPr>
          <a:xfrm>
            <a:off x="838200" y="1828800"/>
            <a:ext cx="10515600" cy="471011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4A5547-0C75-4804-84DA-EE02A5E2A271}" type="datetimeFigureOut">
              <a:rPr lang="en-IN" smtClean="0"/>
              <a:t>26-10-2026</a:t>
            </a:fld>
            <a:endParaRPr lang="en-IN"/>
          </a:p>
        </p:txBody>
      </p:sp>
      <p:pic>
        <p:nvPicPr>
          <p:cNvPr id="8" name="Picture 7">
            <a:extLst>
              <a:ext uri="{FF2B5EF4-FFF2-40B4-BE49-F238E27FC236}">
                <a16:creationId xmlns:a16="http://schemas.microsoft.com/office/drawing/2014/main" id="{840AC10B-E2DB-40D6-76DD-486DF027A00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 y="-10620"/>
            <a:ext cx="3180089" cy="943307"/>
          </a:xfrm>
          <a:prstGeom prst="rect">
            <a:avLst/>
          </a:prstGeom>
        </p:spPr>
      </p:pic>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00ED23-4570-478F-8E10-B8447DF96B4E}" type="slidenum">
              <a:rPr lang="en-IN" smtClean="0"/>
              <a:t>‹#›</a:t>
            </a:fld>
            <a:endParaRPr lang="en-IN"/>
          </a:p>
        </p:txBody>
      </p:sp>
    </p:spTree>
    <p:extLst>
      <p:ext uri="{BB962C8B-B14F-4D97-AF65-F5344CB8AC3E}">
        <p14:creationId xmlns:p14="http://schemas.microsoft.com/office/powerpoint/2010/main" val="3690174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BE4852-7B81-98E4-69F2-DAE264E6DD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0D7339-01BF-AD39-7883-57DF9A9E10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1A9B9F-4B87-91D4-F644-05E25AAA59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DFA7F34-3CC7-4D26-8DEE-BB0878DBC504}" type="datetimeFigureOut">
              <a:rPr lang="en-US" smtClean="0"/>
              <a:t>10/26/2026</a:t>
            </a:fld>
            <a:endParaRPr lang="en-US"/>
          </a:p>
        </p:txBody>
      </p:sp>
      <p:sp>
        <p:nvSpPr>
          <p:cNvPr id="5" name="Footer Placeholder 4">
            <a:extLst>
              <a:ext uri="{FF2B5EF4-FFF2-40B4-BE49-F238E27FC236}">
                <a16:creationId xmlns:a16="http://schemas.microsoft.com/office/drawing/2014/main" id="{8E5B84FB-2BF4-4B01-5A54-340A2EFB18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69C4F6F-FAEA-1AD4-8F8A-3F9C483286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B3A3793-7AC4-4EE9-B80F-06CFDC7D1055}" type="slidenum">
              <a:rPr lang="en-US" smtClean="0"/>
              <a:t>‹#›</a:t>
            </a:fld>
            <a:endParaRPr lang="en-US"/>
          </a:p>
        </p:txBody>
      </p:sp>
    </p:spTree>
    <p:extLst>
      <p:ext uri="{BB962C8B-B14F-4D97-AF65-F5344CB8AC3E}">
        <p14:creationId xmlns:p14="http://schemas.microsoft.com/office/powerpoint/2010/main" val="10097749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company.example.com/employee?id=1001"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bwMode="auto">
          <a:xfrm>
            <a:off x="6666295" y="5398326"/>
            <a:ext cx="5115719" cy="123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defRPr>
            </a:lvl9pPr>
          </a:lstStyle>
          <a:p>
            <a:pPr algn="r" eaLnBrk="1" hangingPunct="1">
              <a:spcBef>
                <a:spcPct val="20000"/>
              </a:spcBef>
              <a:buFont typeface="Arial" pitchFamily="34" charset="0"/>
              <a:buNone/>
            </a:pPr>
            <a:r>
              <a:rPr lang="en-US" sz="2000" b="1">
                <a:solidFill>
                  <a:srgbClr val="002060"/>
                </a:solidFill>
                <a:latin typeface="Bell Gothic Std Black"/>
                <a:ea typeface="Adobe Gothic Std B"/>
                <a:cs typeface="Adobe Hebrew"/>
              </a:rPr>
              <a:t>Avinash Verma</a:t>
            </a:r>
            <a:endParaRPr lang="en-US" sz="2000" b="1" dirty="0">
              <a:solidFill>
                <a:srgbClr val="002060"/>
              </a:solidFill>
              <a:latin typeface="Bell Gothic Std Black"/>
              <a:ea typeface="Adobe Gothic Std B"/>
              <a:cs typeface="Adobe Hebrew"/>
            </a:endParaRPr>
          </a:p>
          <a:p>
            <a:pPr algn="r" eaLnBrk="1" hangingPunct="1">
              <a:spcBef>
                <a:spcPct val="20000"/>
              </a:spcBef>
              <a:buFont typeface="Arial" pitchFamily="34" charset="0"/>
              <a:buNone/>
            </a:pPr>
            <a:r>
              <a:rPr lang="en-US" sz="2000" b="1" dirty="0">
                <a:solidFill>
                  <a:srgbClr val="002060"/>
                </a:solidFill>
                <a:latin typeface="Bell Gothic Std Black"/>
                <a:ea typeface="Adobe Gothic Std B"/>
                <a:cs typeface="Adobe Hebrew"/>
              </a:rPr>
              <a:t>Cybersecurity Trainer</a:t>
            </a:r>
          </a:p>
          <a:p>
            <a:pPr algn="r" eaLnBrk="1" hangingPunct="1">
              <a:spcBef>
                <a:spcPct val="20000"/>
              </a:spcBef>
              <a:buFont typeface="Arial" pitchFamily="34" charset="0"/>
              <a:buNone/>
            </a:pPr>
            <a:r>
              <a:rPr lang="en-US" sz="2000" b="1" dirty="0" err="1">
                <a:solidFill>
                  <a:srgbClr val="002060"/>
                </a:solidFill>
                <a:latin typeface="Bell Gothic Std Black"/>
                <a:ea typeface="Adobe Gothic Std B"/>
                <a:cs typeface="Adobe Hebrew"/>
              </a:rPr>
              <a:t>TechD</a:t>
            </a:r>
            <a:r>
              <a:rPr lang="en-US" sz="2000" b="1" dirty="0">
                <a:solidFill>
                  <a:srgbClr val="002060"/>
                </a:solidFill>
                <a:latin typeface="Bell Gothic Std Black"/>
                <a:ea typeface="Adobe Gothic Std B"/>
                <a:cs typeface="Adobe Hebrew"/>
              </a:rPr>
              <a:t> Cybersecurity Limited</a:t>
            </a:r>
          </a:p>
        </p:txBody>
      </p:sp>
      <p:sp>
        <p:nvSpPr>
          <p:cNvPr id="6" name="Slide Number Placeholder 11"/>
          <p:cNvSpPr>
            <a:spLocks noGrp="1"/>
          </p:cNvSpPr>
          <p:nvPr>
            <p:ph type="sldNum" sz="quarter" idx="12"/>
          </p:nvPr>
        </p:nvSpPr>
        <p:spPr>
          <a:xfrm>
            <a:off x="8734425" y="6356350"/>
            <a:ext cx="2843213" cy="365125"/>
          </a:xfrm>
        </p:spPr>
        <p:txBody>
          <a:bodyPr/>
          <a:lstStyle/>
          <a:p>
            <a:pPr>
              <a:defRPr/>
            </a:pPr>
            <a:fld id="{657B3580-1400-497E-A019-9190D5AB9838}" type="slidenum">
              <a:rPr lang="en-IN"/>
              <a:pPr>
                <a:defRPr/>
              </a:pPr>
              <a:t>1</a:t>
            </a:fld>
            <a:endParaRPr lang="en-IN" dirty="0"/>
          </a:p>
        </p:txBody>
      </p:sp>
      <p:sp>
        <p:nvSpPr>
          <p:cNvPr id="7" name="Text Box 10"/>
          <p:cNvSpPr txBox="1">
            <a:spLocks noChangeArrowheads="1"/>
          </p:cNvSpPr>
          <p:nvPr/>
        </p:nvSpPr>
        <p:spPr bwMode="auto">
          <a:xfrm>
            <a:off x="2772155" y="2413337"/>
            <a:ext cx="6647689"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algn="ctr" eaLnBrk="0" fontAlgn="base" hangingPunct="0">
              <a:spcBef>
                <a:spcPct val="0"/>
              </a:spcBef>
              <a:spcAft>
                <a:spcPct val="0"/>
              </a:spcAft>
              <a:defRPr>
                <a:solidFill>
                  <a:schemeClr val="tx1"/>
                </a:solidFill>
                <a:latin typeface="Arial" pitchFamily="34" charset="0"/>
              </a:defRPr>
            </a:lvl6pPr>
            <a:lvl7pPr marL="2971800" indent="-228600" algn="ctr" eaLnBrk="0" fontAlgn="base" hangingPunct="0">
              <a:spcBef>
                <a:spcPct val="0"/>
              </a:spcBef>
              <a:spcAft>
                <a:spcPct val="0"/>
              </a:spcAft>
              <a:defRPr>
                <a:solidFill>
                  <a:schemeClr val="tx1"/>
                </a:solidFill>
                <a:latin typeface="Arial" pitchFamily="34" charset="0"/>
              </a:defRPr>
            </a:lvl7pPr>
            <a:lvl8pPr marL="3429000" indent="-228600" algn="ctr" eaLnBrk="0" fontAlgn="base" hangingPunct="0">
              <a:spcBef>
                <a:spcPct val="0"/>
              </a:spcBef>
              <a:spcAft>
                <a:spcPct val="0"/>
              </a:spcAft>
              <a:defRPr>
                <a:solidFill>
                  <a:schemeClr val="tx1"/>
                </a:solidFill>
                <a:latin typeface="Arial" pitchFamily="34" charset="0"/>
              </a:defRPr>
            </a:lvl8pPr>
            <a:lvl9pPr marL="3886200" indent="-228600" algn="ctr" eaLnBrk="0" fontAlgn="base" hangingPunct="0">
              <a:spcBef>
                <a:spcPct val="0"/>
              </a:spcBef>
              <a:spcAft>
                <a:spcPct val="0"/>
              </a:spcAft>
              <a:defRPr>
                <a:solidFill>
                  <a:schemeClr val="tx1"/>
                </a:solidFill>
                <a:latin typeface="Arial" pitchFamily="34" charset="0"/>
              </a:defRPr>
            </a:lvl9pPr>
          </a:lstStyle>
          <a:p>
            <a:pPr algn="ctr" eaLnBrk="1" hangingPunct="1">
              <a:spcBef>
                <a:spcPct val="50000"/>
              </a:spcBef>
            </a:pPr>
            <a:r>
              <a:rPr lang="en-US" sz="3600" b="1" dirty="0">
                <a:solidFill>
                  <a:srgbClr val="002060"/>
                </a:solidFill>
                <a:latin typeface="Bell Gothic Std Black"/>
                <a:ea typeface="Adobe Gothic Std B"/>
                <a:cs typeface="Adobe Hebrew"/>
              </a:rPr>
              <a:t>UNIT-01	</a:t>
            </a:r>
          </a:p>
          <a:p>
            <a:pPr algn="ctr" eaLnBrk="1" hangingPunct="1">
              <a:spcBef>
                <a:spcPct val="50000"/>
              </a:spcBef>
            </a:pPr>
            <a:r>
              <a:rPr lang="en-US" sz="3600" b="1" dirty="0"/>
              <a:t>Web Application Security Fundamentals</a:t>
            </a:r>
            <a:endParaRPr lang="en-US" sz="3600" b="1" dirty="0">
              <a:solidFill>
                <a:srgbClr val="002060"/>
              </a:solidFill>
              <a:latin typeface="Bell Gothic Std Black"/>
              <a:ea typeface="Adobe Gothic Std B"/>
              <a:cs typeface="Adobe Hebrew"/>
            </a:endParaRPr>
          </a:p>
        </p:txBody>
      </p:sp>
    </p:spTree>
    <p:extLst>
      <p:ext uri="{BB962C8B-B14F-4D97-AF65-F5344CB8AC3E}">
        <p14:creationId xmlns:p14="http://schemas.microsoft.com/office/powerpoint/2010/main" val="2745751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A232C56-FE76-5D75-884D-58F213E0F474}"/>
              </a:ext>
            </a:extLst>
          </p:cNvPr>
          <p:cNvSpPr>
            <a:spLocks noGrp="1"/>
          </p:cNvSpPr>
          <p:nvPr>
            <p:ph idx="1"/>
          </p:nvPr>
        </p:nvSpPr>
        <p:spPr/>
        <p:txBody>
          <a:bodyPr>
            <a:normAutofit fontScale="85000" lnSpcReduction="20000"/>
          </a:bodyPr>
          <a:lstStyle/>
          <a:p>
            <a:r>
              <a:rPr lang="en-US" dirty="0"/>
              <a:t>A </a:t>
            </a:r>
            <a:r>
              <a:rPr lang="en-US" b="1" dirty="0"/>
              <a:t>vulnerability</a:t>
            </a:r>
            <a:r>
              <a:rPr lang="en-US" dirty="0"/>
              <a:t> is a weakness in software, configuration, architecture, or implementation that can potentially be exploited to violate security requirements. </a:t>
            </a:r>
          </a:p>
          <a:p>
            <a:r>
              <a:rPr lang="en-US" dirty="0"/>
              <a:t>A </a:t>
            </a:r>
            <a:r>
              <a:rPr lang="en-US" b="1" dirty="0"/>
              <a:t>CVE (Common Vulnerabilities and Exposures)</a:t>
            </a:r>
            <a:r>
              <a:rPr lang="en-US" dirty="0"/>
              <a:t> is a standardized identifier assigned to publicly known cybersecurity vulnerabilities. </a:t>
            </a:r>
          </a:p>
          <a:p>
            <a:r>
              <a:rPr lang="en-US" dirty="0"/>
              <a:t>CVEs help security teams communicate about specific vulnerabilities consistently. </a:t>
            </a:r>
          </a:p>
          <a:p>
            <a:r>
              <a:rPr lang="en-US" dirty="0"/>
              <a:t>It is generally follows a format such as </a:t>
            </a:r>
            <a:r>
              <a:rPr lang="en-US" b="1" dirty="0"/>
              <a:t>CVE-YYYY-NNNN</a:t>
            </a:r>
            <a:r>
              <a:rPr lang="en-US" dirty="0"/>
              <a:t>.</a:t>
            </a:r>
          </a:p>
          <a:p>
            <a:r>
              <a:rPr lang="en-US" dirty="0"/>
              <a:t>SQL Injection, Cross-Site Scripting, and Broken Access Control are vulnerability types or classes. </a:t>
            </a:r>
          </a:p>
          <a:p>
            <a:r>
              <a:rPr lang="en-US" dirty="0"/>
              <a:t>A CVE, on the other hand, normally refers to a specific vulnerability affecting a particular product or software version. </a:t>
            </a:r>
          </a:p>
          <a:p>
            <a:r>
              <a:rPr lang="en-US" dirty="0"/>
              <a:t>For example, a vulnerable version of a web framework may have a </a:t>
            </a:r>
            <a:r>
              <a:rPr lang="en-US" b="1" dirty="0"/>
              <a:t>particular CVE that allows remote code execution</a:t>
            </a:r>
            <a:r>
              <a:rPr lang="en-US" dirty="0"/>
              <a:t>. The underlying weakness may be related to unsafe input handling or insecure deserialization.</a:t>
            </a:r>
          </a:p>
        </p:txBody>
      </p:sp>
      <p:sp>
        <p:nvSpPr>
          <p:cNvPr id="3" name="Title 2">
            <a:extLst>
              <a:ext uri="{FF2B5EF4-FFF2-40B4-BE49-F238E27FC236}">
                <a16:creationId xmlns:a16="http://schemas.microsoft.com/office/drawing/2014/main" id="{6EDC9272-E3A0-8250-0F34-C248BC0FED56}"/>
              </a:ext>
            </a:extLst>
          </p:cNvPr>
          <p:cNvSpPr>
            <a:spLocks noGrp="1"/>
          </p:cNvSpPr>
          <p:nvPr>
            <p:ph type="title"/>
          </p:nvPr>
        </p:nvSpPr>
        <p:spPr/>
        <p:txBody>
          <a:bodyPr/>
          <a:lstStyle/>
          <a:p>
            <a:r>
              <a:rPr lang="en-US" b="1" dirty="0"/>
              <a:t>Common Web Application Vulnerabilities and CVEs</a:t>
            </a:r>
          </a:p>
        </p:txBody>
      </p:sp>
      <p:sp>
        <p:nvSpPr>
          <p:cNvPr id="4" name="Slide Number Placeholder 3">
            <a:extLst>
              <a:ext uri="{FF2B5EF4-FFF2-40B4-BE49-F238E27FC236}">
                <a16:creationId xmlns:a16="http://schemas.microsoft.com/office/drawing/2014/main" id="{4909B9A6-9418-C81C-1448-EF424BDB75EC}"/>
              </a:ext>
            </a:extLst>
          </p:cNvPr>
          <p:cNvSpPr>
            <a:spLocks noGrp="1"/>
          </p:cNvSpPr>
          <p:nvPr>
            <p:ph type="sldNum" sz="quarter" idx="12"/>
          </p:nvPr>
        </p:nvSpPr>
        <p:spPr/>
        <p:txBody>
          <a:bodyPr/>
          <a:lstStyle/>
          <a:p>
            <a:fld id="{02C84146-E65B-4948-A521-8AE14AC02658}" type="slidenum">
              <a:rPr lang="en-US" smtClean="0"/>
              <a:t>2</a:t>
            </a:fld>
            <a:endParaRPr lang="en-US"/>
          </a:p>
        </p:txBody>
      </p:sp>
      <p:sp>
        <p:nvSpPr>
          <p:cNvPr id="5" name="TextBox 4">
            <a:extLst>
              <a:ext uri="{FF2B5EF4-FFF2-40B4-BE49-F238E27FC236}">
                <a16:creationId xmlns:a16="http://schemas.microsoft.com/office/drawing/2014/main" id="{3A99035D-A1C5-E9BC-B0AC-CEC7841C25F9}"/>
              </a:ext>
            </a:extLst>
          </p:cNvPr>
          <p:cNvSpPr txBox="1"/>
          <p:nvPr/>
        </p:nvSpPr>
        <p:spPr>
          <a:xfrm>
            <a:off x="292608" y="219456"/>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40046915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7B7739-ABD6-E453-9418-582DD895EAF3}"/>
              </a:ext>
            </a:extLst>
          </p:cNvPr>
          <p:cNvSpPr>
            <a:spLocks noGrp="1"/>
          </p:cNvSpPr>
          <p:nvPr>
            <p:ph idx="1"/>
          </p:nvPr>
        </p:nvSpPr>
        <p:spPr/>
        <p:txBody>
          <a:bodyPr>
            <a:normAutofit fontScale="85000" lnSpcReduction="10000"/>
          </a:bodyPr>
          <a:lstStyle/>
          <a:p>
            <a:r>
              <a:rPr lang="en-US" b="1" dirty="0"/>
              <a:t>Web VAPT </a:t>
            </a:r>
            <a:r>
              <a:rPr lang="en-US" dirty="0"/>
              <a:t>is the authorized process of examining a web application for security vulnerabilities by thinking and testing like an attacker. </a:t>
            </a:r>
          </a:p>
          <a:p>
            <a:r>
              <a:rPr lang="en-US" dirty="0"/>
              <a:t>A penetration tester does not simply look for software bugs but they also examine authentication, authorization, input validation, sessions, APIs, business logic, file uploads, configuration, encryption, and error handling to determine whether an attacker can compromise </a:t>
            </a:r>
            <a:r>
              <a:rPr lang="en-US" b="1" dirty="0"/>
              <a:t>confidentiality, integrity, or availability.</a:t>
            </a:r>
          </a:p>
          <a:p>
            <a:r>
              <a:rPr lang="en-US" dirty="0"/>
              <a:t>For example, imagine a university has an online student portal where students can view marks. </a:t>
            </a:r>
          </a:p>
          <a:p>
            <a:r>
              <a:rPr lang="en-US" dirty="0"/>
              <a:t>A tester is officially hired by the university to assess the portal. </a:t>
            </a:r>
          </a:p>
          <a:p>
            <a:r>
              <a:rPr lang="en-US" dirty="0"/>
              <a:t>The tester creates two test accounts, Student A and Student B, and verifies whether Student A can access Student B's marks. If changing an object identifier allows access to another student's information, the tester documents a Broken Access Control vulnerability. The tester then provides evidence, impact, 0072isk rating, and remediation rather than simply exploiting the weakness further.</a:t>
            </a:r>
          </a:p>
          <a:p>
            <a:endParaRPr lang="en-US" dirty="0"/>
          </a:p>
        </p:txBody>
      </p:sp>
      <p:sp>
        <p:nvSpPr>
          <p:cNvPr id="3" name="Title 2">
            <a:extLst>
              <a:ext uri="{FF2B5EF4-FFF2-40B4-BE49-F238E27FC236}">
                <a16:creationId xmlns:a16="http://schemas.microsoft.com/office/drawing/2014/main" id="{93DB24FA-51C4-BF36-D469-93709960B3AE}"/>
              </a:ext>
            </a:extLst>
          </p:cNvPr>
          <p:cNvSpPr>
            <a:spLocks noGrp="1"/>
          </p:cNvSpPr>
          <p:nvPr>
            <p:ph type="title"/>
          </p:nvPr>
        </p:nvSpPr>
        <p:spPr/>
        <p:txBody>
          <a:bodyPr/>
          <a:lstStyle/>
          <a:p>
            <a:r>
              <a:rPr lang="en-US" b="1" dirty="0"/>
              <a:t>Web Application Penetration Testing</a:t>
            </a:r>
            <a:endParaRPr lang="en-US" dirty="0"/>
          </a:p>
        </p:txBody>
      </p:sp>
      <p:sp>
        <p:nvSpPr>
          <p:cNvPr id="4" name="Slide Number Placeholder 3">
            <a:extLst>
              <a:ext uri="{FF2B5EF4-FFF2-40B4-BE49-F238E27FC236}">
                <a16:creationId xmlns:a16="http://schemas.microsoft.com/office/drawing/2014/main" id="{3BD4828A-3945-C076-0F4F-5F28CF46A666}"/>
              </a:ext>
            </a:extLst>
          </p:cNvPr>
          <p:cNvSpPr>
            <a:spLocks noGrp="1"/>
          </p:cNvSpPr>
          <p:nvPr>
            <p:ph type="sldNum" sz="quarter" idx="12"/>
          </p:nvPr>
        </p:nvSpPr>
        <p:spPr/>
        <p:txBody>
          <a:bodyPr/>
          <a:lstStyle/>
          <a:p>
            <a:fld id="{02C84146-E65B-4948-A521-8AE14AC02658}" type="slidenum">
              <a:rPr lang="en-US" smtClean="0"/>
              <a:t>3</a:t>
            </a:fld>
            <a:endParaRPr lang="en-US"/>
          </a:p>
        </p:txBody>
      </p:sp>
    </p:spTree>
    <p:extLst>
      <p:ext uri="{BB962C8B-B14F-4D97-AF65-F5344CB8AC3E}">
        <p14:creationId xmlns:p14="http://schemas.microsoft.com/office/powerpoint/2010/main" val="1192194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4A072415-1E1B-FA93-3A12-7BAE89772D3C}"/>
              </a:ext>
            </a:extLst>
          </p:cNvPr>
          <p:cNvGraphicFramePr>
            <a:graphicFrameLocks noGrp="1"/>
          </p:cNvGraphicFramePr>
          <p:nvPr>
            <p:ph idx="1"/>
          </p:nvPr>
        </p:nvGraphicFramePr>
        <p:xfrm>
          <a:off x="838201" y="1243013"/>
          <a:ext cx="2819399" cy="4933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a:extLst>
              <a:ext uri="{FF2B5EF4-FFF2-40B4-BE49-F238E27FC236}">
                <a16:creationId xmlns:a16="http://schemas.microsoft.com/office/drawing/2014/main" id="{B6000BC7-067E-855F-AF24-6F84C80683BC}"/>
              </a:ext>
            </a:extLst>
          </p:cNvPr>
          <p:cNvSpPr>
            <a:spLocks noGrp="1"/>
          </p:cNvSpPr>
          <p:nvPr>
            <p:ph type="title"/>
          </p:nvPr>
        </p:nvSpPr>
        <p:spPr/>
        <p:txBody>
          <a:bodyPr/>
          <a:lstStyle/>
          <a:p>
            <a:r>
              <a:rPr lang="en-US" dirty="0"/>
              <a:t>Web VAPT cycle </a:t>
            </a:r>
          </a:p>
        </p:txBody>
      </p:sp>
      <p:sp>
        <p:nvSpPr>
          <p:cNvPr id="4" name="Slide Number Placeholder 3">
            <a:extLst>
              <a:ext uri="{FF2B5EF4-FFF2-40B4-BE49-F238E27FC236}">
                <a16:creationId xmlns:a16="http://schemas.microsoft.com/office/drawing/2014/main" id="{7A7D7A81-1EE9-C98E-5106-CEEF01CFDB1F}"/>
              </a:ext>
            </a:extLst>
          </p:cNvPr>
          <p:cNvSpPr>
            <a:spLocks noGrp="1"/>
          </p:cNvSpPr>
          <p:nvPr>
            <p:ph type="sldNum" sz="quarter" idx="12"/>
          </p:nvPr>
        </p:nvSpPr>
        <p:spPr/>
        <p:txBody>
          <a:bodyPr/>
          <a:lstStyle/>
          <a:p>
            <a:fld id="{02C84146-E65B-4948-A521-8AE14AC02658}" type="slidenum">
              <a:rPr lang="en-US" smtClean="0"/>
              <a:t>4</a:t>
            </a:fld>
            <a:endParaRPr lang="en-US"/>
          </a:p>
        </p:txBody>
      </p:sp>
    </p:spTree>
    <p:extLst>
      <p:ext uri="{BB962C8B-B14F-4D97-AF65-F5344CB8AC3E}">
        <p14:creationId xmlns:p14="http://schemas.microsoft.com/office/powerpoint/2010/main" val="182574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omprehensive Guide to the OWASP Top 10">
            <a:extLst>
              <a:ext uri="{FF2B5EF4-FFF2-40B4-BE49-F238E27FC236}">
                <a16:creationId xmlns:a16="http://schemas.microsoft.com/office/drawing/2014/main" id="{CC43033A-1ADD-08C0-934F-EE86DFD35353}"/>
              </a:ext>
            </a:extLst>
          </p:cNvPr>
          <p:cNvPicPr>
            <a:picLocks noChangeAspect="1"/>
          </p:cNvPicPr>
          <p:nvPr/>
        </p:nvPicPr>
        <p:blipFill>
          <a:blip r:embed="rId2"/>
          <a:stretch>
            <a:fillRect/>
          </a:stretch>
        </p:blipFill>
        <p:spPr>
          <a:xfrm>
            <a:off x="5658040" y="1243013"/>
            <a:ext cx="6048375" cy="3867150"/>
          </a:xfrm>
          <a:prstGeom prst="rect">
            <a:avLst/>
          </a:prstGeom>
        </p:spPr>
      </p:pic>
      <p:sp>
        <p:nvSpPr>
          <p:cNvPr id="2" name="Content Placeholder 1">
            <a:extLst>
              <a:ext uri="{FF2B5EF4-FFF2-40B4-BE49-F238E27FC236}">
                <a16:creationId xmlns:a16="http://schemas.microsoft.com/office/drawing/2014/main" id="{2286032E-69FD-0BBB-0BAC-FBAAC07353E1}"/>
              </a:ext>
            </a:extLst>
          </p:cNvPr>
          <p:cNvSpPr>
            <a:spLocks noGrp="1"/>
          </p:cNvSpPr>
          <p:nvPr>
            <p:ph idx="1"/>
          </p:nvPr>
        </p:nvSpPr>
        <p:spPr>
          <a:xfrm>
            <a:off x="838201" y="1243013"/>
            <a:ext cx="5505640" cy="4933950"/>
          </a:xfrm>
        </p:spPr>
        <p:txBody>
          <a:bodyPr>
            <a:normAutofit fontScale="92500"/>
          </a:bodyPr>
          <a:lstStyle/>
          <a:p>
            <a:pPr lvl="0"/>
            <a:r>
              <a:rPr lang="en-US" sz="2400" dirty="0"/>
              <a:t>A01 – Broken Access Control </a:t>
            </a:r>
          </a:p>
          <a:p>
            <a:pPr lvl="0"/>
            <a:r>
              <a:rPr lang="en-US" sz="2400" dirty="0"/>
              <a:t>A02 – Cryptographic Failures </a:t>
            </a:r>
          </a:p>
          <a:p>
            <a:pPr lvl="0"/>
            <a:r>
              <a:rPr lang="en-US" sz="2400" dirty="0"/>
              <a:t>A03 – Injection </a:t>
            </a:r>
          </a:p>
          <a:p>
            <a:pPr lvl="0"/>
            <a:r>
              <a:rPr lang="en-US" sz="2400" dirty="0"/>
              <a:t>A04 – Insecure Design </a:t>
            </a:r>
          </a:p>
          <a:p>
            <a:pPr lvl="0"/>
            <a:r>
              <a:rPr lang="en-US" sz="2400" dirty="0"/>
              <a:t>A05 – Security Misconfiguration </a:t>
            </a:r>
          </a:p>
          <a:p>
            <a:pPr lvl="0"/>
            <a:r>
              <a:rPr lang="en-US" sz="2400" dirty="0"/>
              <a:t>A06 – Vulnerable and Outdated Components </a:t>
            </a:r>
          </a:p>
          <a:p>
            <a:pPr lvl="0"/>
            <a:r>
              <a:rPr lang="en-US" sz="2400" dirty="0"/>
              <a:t>A07 – Identification and Authentication Failures </a:t>
            </a:r>
          </a:p>
          <a:p>
            <a:pPr lvl="0"/>
            <a:r>
              <a:rPr lang="en-US" sz="2400" dirty="0"/>
              <a:t>A08 – Software and Data Integrity Failures </a:t>
            </a:r>
          </a:p>
          <a:p>
            <a:pPr lvl="0"/>
            <a:r>
              <a:rPr lang="en-US" sz="2400" dirty="0"/>
              <a:t>A09 – Security Logging and Monitoring Failures </a:t>
            </a:r>
          </a:p>
          <a:p>
            <a:pPr lvl="0"/>
            <a:r>
              <a:rPr lang="en-US" sz="2400" dirty="0"/>
              <a:t>A10 – Server-Side Request Forgery</a:t>
            </a:r>
          </a:p>
          <a:p>
            <a:endParaRPr lang="en-US" dirty="0"/>
          </a:p>
        </p:txBody>
      </p:sp>
      <p:sp>
        <p:nvSpPr>
          <p:cNvPr id="3" name="Title 2">
            <a:extLst>
              <a:ext uri="{FF2B5EF4-FFF2-40B4-BE49-F238E27FC236}">
                <a16:creationId xmlns:a16="http://schemas.microsoft.com/office/drawing/2014/main" id="{E57B6907-C529-45B1-664C-C80132497548}"/>
              </a:ext>
            </a:extLst>
          </p:cNvPr>
          <p:cNvSpPr>
            <a:spLocks noGrp="1"/>
          </p:cNvSpPr>
          <p:nvPr>
            <p:ph type="title"/>
          </p:nvPr>
        </p:nvSpPr>
        <p:spPr/>
        <p:txBody>
          <a:bodyPr/>
          <a:lstStyle/>
          <a:p>
            <a:r>
              <a:rPr lang="en-US" dirty="0"/>
              <a:t>OWASP Top 10 (2021)</a:t>
            </a:r>
          </a:p>
        </p:txBody>
      </p:sp>
      <p:sp>
        <p:nvSpPr>
          <p:cNvPr id="4" name="Slide Number Placeholder 3">
            <a:extLst>
              <a:ext uri="{FF2B5EF4-FFF2-40B4-BE49-F238E27FC236}">
                <a16:creationId xmlns:a16="http://schemas.microsoft.com/office/drawing/2014/main" id="{F0649708-EB7D-45E7-ABF1-FAFDD72AB580}"/>
              </a:ext>
            </a:extLst>
          </p:cNvPr>
          <p:cNvSpPr>
            <a:spLocks noGrp="1"/>
          </p:cNvSpPr>
          <p:nvPr>
            <p:ph type="sldNum" sz="quarter" idx="12"/>
          </p:nvPr>
        </p:nvSpPr>
        <p:spPr/>
        <p:txBody>
          <a:bodyPr/>
          <a:lstStyle/>
          <a:p>
            <a:fld id="{02C84146-E65B-4948-A521-8AE14AC02658}" type="slidenum">
              <a:rPr lang="en-US" smtClean="0"/>
              <a:t>5</a:t>
            </a:fld>
            <a:endParaRPr lang="en-US"/>
          </a:p>
        </p:txBody>
      </p:sp>
    </p:spTree>
    <p:extLst>
      <p:ext uri="{BB962C8B-B14F-4D97-AF65-F5344CB8AC3E}">
        <p14:creationId xmlns:p14="http://schemas.microsoft.com/office/powerpoint/2010/main" val="1005543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C97D53-3368-B9FA-0318-13E3F44B0A20}"/>
              </a:ext>
            </a:extLst>
          </p:cNvPr>
          <p:cNvSpPr>
            <a:spLocks noGrp="1"/>
          </p:cNvSpPr>
          <p:nvPr>
            <p:ph idx="1"/>
          </p:nvPr>
        </p:nvSpPr>
        <p:spPr/>
        <p:txBody>
          <a:bodyPr>
            <a:normAutofit lnSpcReduction="10000"/>
          </a:bodyPr>
          <a:lstStyle/>
          <a:p>
            <a:r>
              <a:rPr lang="en-US" b="1" dirty="0"/>
              <a:t>Access control</a:t>
            </a:r>
            <a:r>
              <a:rPr lang="en-US" dirty="0"/>
              <a:t> determines what an authenticated user is allowed to access or perform.</a:t>
            </a:r>
          </a:p>
          <a:p>
            <a:r>
              <a:rPr lang="en-US" dirty="0"/>
              <a:t>For example:- </a:t>
            </a:r>
          </a:p>
          <a:p>
            <a:pPr lvl="1"/>
            <a:r>
              <a:rPr lang="en-US" dirty="0"/>
              <a:t>Admin → Can create users</a:t>
            </a:r>
          </a:p>
          <a:p>
            <a:pPr lvl="1"/>
            <a:r>
              <a:rPr lang="en-US" dirty="0"/>
              <a:t>Manager → Can approve requests</a:t>
            </a:r>
          </a:p>
          <a:p>
            <a:pPr lvl="1"/>
            <a:r>
              <a:rPr lang="en-US" dirty="0"/>
              <a:t>Employee → Can view own requests</a:t>
            </a:r>
          </a:p>
          <a:p>
            <a:pPr lvl="1"/>
            <a:r>
              <a:rPr lang="en-US" dirty="0"/>
              <a:t>Guest → Can view public information</a:t>
            </a:r>
          </a:p>
          <a:p>
            <a:r>
              <a:rPr lang="en-US" dirty="0"/>
              <a:t>Broken Access Control occurs when the application does not correctly enforce these permissions.</a:t>
            </a:r>
          </a:p>
          <a:p>
            <a:r>
              <a:rPr lang="en-US" dirty="0"/>
              <a:t>A user may be authenticated correctly but still be able to access something that belongs to another user or to a higher-privileged role.</a:t>
            </a:r>
          </a:p>
        </p:txBody>
      </p:sp>
      <p:sp>
        <p:nvSpPr>
          <p:cNvPr id="3" name="Title 2">
            <a:extLst>
              <a:ext uri="{FF2B5EF4-FFF2-40B4-BE49-F238E27FC236}">
                <a16:creationId xmlns:a16="http://schemas.microsoft.com/office/drawing/2014/main" id="{000E1C04-2614-F949-516B-DF18D32397CF}"/>
              </a:ext>
            </a:extLst>
          </p:cNvPr>
          <p:cNvSpPr>
            <a:spLocks noGrp="1"/>
          </p:cNvSpPr>
          <p:nvPr>
            <p:ph type="title"/>
          </p:nvPr>
        </p:nvSpPr>
        <p:spPr/>
        <p:txBody>
          <a:bodyPr/>
          <a:lstStyle/>
          <a:p>
            <a:r>
              <a:rPr lang="en-US" dirty="0"/>
              <a:t>A01 - Broken Access Control</a:t>
            </a:r>
          </a:p>
        </p:txBody>
      </p:sp>
      <p:sp>
        <p:nvSpPr>
          <p:cNvPr id="4" name="Slide Number Placeholder 3">
            <a:extLst>
              <a:ext uri="{FF2B5EF4-FFF2-40B4-BE49-F238E27FC236}">
                <a16:creationId xmlns:a16="http://schemas.microsoft.com/office/drawing/2014/main" id="{2AE10C8F-CDED-3105-B596-C69C5358CC24}"/>
              </a:ext>
            </a:extLst>
          </p:cNvPr>
          <p:cNvSpPr>
            <a:spLocks noGrp="1"/>
          </p:cNvSpPr>
          <p:nvPr>
            <p:ph type="sldNum" sz="quarter" idx="12"/>
          </p:nvPr>
        </p:nvSpPr>
        <p:spPr/>
        <p:txBody>
          <a:bodyPr/>
          <a:lstStyle/>
          <a:p>
            <a:fld id="{02C84146-E65B-4948-A521-8AE14AC02658}" type="slidenum">
              <a:rPr lang="en-US" smtClean="0"/>
              <a:t>6</a:t>
            </a:fld>
            <a:endParaRPr lang="en-US"/>
          </a:p>
        </p:txBody>
      </p:sp>
    </p:spTree>
    <p:extLst>
      <p:ext uri="{BB962C8B-B14F-4D97-AF65-F5344CB8AC3E}">
        <p14:creationId xmlns:p14="http://schemas.microsoft.com/office/powerpoint/2010/main" val="235874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5DD5AAB-EADA-D2D6-63A8-6CCEE9DE1930}"/>
              </a:ext>
            </a:extLst>
          </p:cNvPr>
          <p:cNvSpPr>
            <a:spLocks noGrp="1"/>
          </p:cNvSpPr>
          <p:nvPr>
            <p:ph idx="1"/>
          </p:nvPr>
        </p:nvSpPr>
        <p:spPr/>
        <p:txBody>
          <a:bodyPr>
            <a:normAutofit fontScale="92500" lnSpcReduction="20000"/>
          </a:bodyPr>
          <a:lstStyle/>
          <a:p>
            <a:r>
              <a:rPr lang="en-US" dirty="0">
                <a:hlinkClick r:id="rId2"/>
              </a:rPr>
              <a:t>https://company.example.com/employee?id=1001</a:t>
            </a:r>
            <a:endParaRPr lang="en-US" dirty="0"/>
          </a:p>
          <a:p>
            <a:pPr lvl="1"/>
            <a:r>
              <a:rPr lang="en-US" dirty="0"/>
              <a:t>Employee A has ID 1001.</a:t>
            </a:r>
          </a:p>
          <a:p>
            <a:pPr lvl="1"/>
            <a:r>
              <a:rPr lang="en-US" dirty="0"/>
              <a:t>Employee B has ID 1002.</a:t>
            </a:r>
          </a:p>
          <a:p>
            <a:r>
              <a:rPr lang="en-US" dirty="0"/>
              <a:t>Employee A should be allowed to access:</a:t>
            </a:r>
          </a:p>
          <a:p>
            <a:pPr lvl="1"/>
            <a:r>
              <a:rPr lang="en-US" dirty="0"/>
              <a:t>/</a:t>
            </a:r>
            <a:r>
              <a:rPr lang="en-US" dirty="0" err="1"/>
              <a:t>employee?id</a:t>
            </a:r>
            <a:r>
              <a:rPr lang="en-US" dirty="0"/>
              <a:t>=1001</a:t>
            </a:r>
          </a:p>
          <a:p>
            <a:r>
              <a:rPr lang="en-US" dirty="0"/>
              <a:t>but not:</a:t>
            </a:r>
          </a:p>
          <a:p>
            <a:pPr lvl="1"/>
            <a:r>
              <a:rPr lang="en-US" dirty="0"/>
              <a:t>/</a:t>
            </a:r>
            <a:r>
              <a:rPr lang="en-US" dirty="0" err="1"/>
              <a:t>employee?id</a:t>
            </a:r>
            <a:r>
              <a:rPr lang="en-US" dirty="0"/>
              <a:t>=1002</a:t>
            </a:r>
          </a:p>
          <a:p>
            <a:r>
              <a:rPr lang="en-US" dirty="0"/>
              <a:t>During an authorized penetration test, the tester logs in as Employee A and changes the identifier from 1001 to 1002.</a:t>
            </a:r>
          </a:p>
          <a:p>
            <a:r>
              <a:rPr lang="en-US" dirty="0"/>
              <a:t>If the server returns Employee B's profile, the application has an </a:t>
            </a:r>
            <a:r>
              <a:rPr lang="en-US" b="1" dirty="0"/>
              <a:t>authorization failure</a:t>
            </a:r>
            <a:r>
              <a:rPr lang="en-US" dirty="0"/>
              <a:t>.</a:t>
            </a:r>
          </a:p>
          <a:p>
            <a:r>
              <a:rPr lang="en-US" dirty="0"/>
              <a:t>This is commonly called </a:t>
            </a:r>
            <a:r>
              <a:rPr lang="en-US" b="1" dirty="0"/>
              <a:t>IDOR — Insecure Direct Object Reference</a:t>
            </a:r>
            <a:r>
              <a:rPr lang="en-US" dirty="0"/>
              <a:t>, which is a common manifestation of Broken Access Control.</a:t>
            </a:r>
          </a:p>
          <a:p>
            <a:endParaRPr lang="en-US" dirty="0"/>
          </a:p>
        </p:txBody>
      </p:sp>
      <p:sp>
        <p:nvSpPr>
          <p:cNvPr id="3" name="Title 2">
            <a:extLst>
              <a:ext uri="{FF2B5EF4-FFF2-40B4-BE49-F238E27FC236}">
                <a16:creationId xmlns:a16="http://schemas.microsoft.com/office/drawing/2014/main" id="{262F9A86-C30D-19E5-16F0-A68EABF2D773}"/>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17AF833D-3AB9-AFFD-4760-2CBA8FA882D2}"/>
              </a:ext>
            </a:extLst>
          </p:cNvPr>
          <p:cNvSpPr>
            <a:spLocks noGrp="1"/>
          </p:cNvSpPr>
          <p:nvPr>
            <p:ph type="sldNum" sz="quarter" idx="12"/>
          </p:nvPr>
        </p:nvSpPr>
        <p:spPr/>
        <p:txBody>
          <a:bodyPr/>
          <a:lstStyle/>
          <a:p>
            <a:fld id="{02C84146-E65B-4948-A521-8AE14AC02658}" type="slidenum">
              <a:rPr lang="en-US" smtClean="0"/>
              <a:t>7</a:t>
            </a:fld>
            <a:endParaRPr lang="en-US"/>
          </a:p>
        </p:txBody>
      </p:sp>
    </p:spTree>
    <p:extLst>
      <p:ext uri="{BB962C8B-B14F-4D97-AF65-F5344CB8AC3E}">
        <p14:creationId xmlns:p14="http://schemas.microsoft.com/office/powerpoint/2010/main" val="3592199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052E75-2BDF-75B5-C8AC-AAA5140401B6}"/>
              </a:ext>
            </a:extLst>
          </p:cNvPr>
          <p:cNvSpPr>
            <a:spLocks noGrp="1"/>
          </p:cNvSpPr>
          <p:nvPr>
            <p:ph idx="1"/>
          </p:nvPr>
        </p:nvSpPr>
        <p:spPr/>
        <p:txBody>
          <a:bodyPr>
            <a:normAutofit fontScale="92500" lnSpcReduction="10000"/>
          </a:bodyPr>
          <a:lstStyle/>
          <a:p>
            <a:pPr lvl="0"/>
            <a:r>
              <a:rPr lang="en-US" dirty="0"/>
              <a:t>It happens when an application uses an </a:t>
            </a:r>
            <a:r>
              <a:rPr lang="en-US" b="1" dirty="0"/>
              <a:t>ID or reference from the user</a:t>
            </a:r>
            <a:r>
              <a:rPr lang="en-US" dirty="0"/>
              <a:t> to access data, but </a:t>
            </a:r>
            <a:r>
              <a:rPr lang="en-US" b="1" dirty="0"/>
              <a:t>does not properly check whether the user is allowed to access that data</a:t>
            </a:r>
            <a:r>
              <a:rPr lang="en-US" dirty="0"/>
              <a:t>. </a:t>
            </a:r>
          </a:p>
          <a:p>
            <a:pPr lvl="0"/>
            <a:r>
              <a:rPr lang="en-US" dirty="0"/>
              <a:t>In simple words: </a:t>
            </a:r>
            <a:r>
              <a:rPr lang="en-US" b="1" dirty="0"/>
              <a:t>The application checks "What data are you asking for?" but forgets to check "Are you allowed to see it?"</a:t>
            </a:r>
            <a:r>
              <a:rPr lang="en-US" dirty="0"/>
              <a:t> </a:t>
            </a:r>
          </a:p>
          <a:p>
            <a:pPr lvl="0"/>
            <a:r>
              <a:rPr lang="en-US" dirty="0"/>
              <a:t>IDOR commonly occurs with: </a:t>
            </a:r>
          </a:p>
          <a:p>
            <a:pPr lvl="1"/>
            <a:r>
              <a:rPr lang="en-US" dirty="0"/>
              <a:t>User IDs </a:t>
            </a:r>
          </a:p>
          <a:p>
            <a:pPr lvl="1"/>
            <a:r>
              <a:rPr lang="en-US" dirty="0"/>
              <a:t>Account numbers </a:t>
            </a:r>
          </a:p>
          <a:p>
            <a:pPr lvl="1"/>
            <a:r>
              <a:rPr lang="en-US" dirty="0"/>
              <a:t>Order IDs </a:t>
            </a:r>
          </a:p>
          <a:p>
            <a:pPr lvl="1"/>
            <a:r>
              <a:rPr lang="en-US" dirty="0"/>
              <a:t>Invoice IDs </a:t>
            </a:r>
          </a:p>
          <a:p>
            <a:pPr lvl="1"/>
            <a:r>
              <a:rPr lang="en-US" dirty="0"/>
              <a:t>File IDs </a:t>
            </a:r>
          </a:p>
          <a:p>
            <a:pPr lvl="1"/>
            <a:r>
              <a:rPr lang="en-US" dirty="0"/>
              <a:t>Document IDs </a:t>
            </a:r>
          </a:p>
          <a:p>
            <a:pPr lvl="1"/>
            <a:r>
              <a:rPr lang="en-US" dirty="0"/>
              <a:t>Employee IDs</a:t>
            </a:r>
          </a:p>
          <a:p>
            <a:endParaRPr lang="en-US" dirty="0"/>
          </a:p>
        </p:txBody>
      </p:sp>
      <p:sp>
        <p:nvSpPr>
          <p:cNvPr id="3" name="Title 2">
            <a:extLst>
              <a:ext uri="{FF2B5EF4-FFF2-40B4-BE49-F238E27FC236}">
                <a16:creationId xmlns:a16="http://schemas.microsoft.com/office/drawing/2014/main" id="{2C5DAC13-2E7C-9181-EBCD-3CFDF16AB14F}"/>
              </a:ext>
            </a:extLst>
          </p:cNvPr>
          <p:cNvSpPr>
            <a:spLocks noGrp="1"/>
          </p:cNvSpPr>
          <p:nvPr>
            <p:ph type="title"/>
          </p:nvPr>
        </p:nvSpPr>
        <p:spPr/>
        <p:txBody>
          <a:bodyPr/>
          <a:lstStyle/>
          <a:p>
            <a:r>
              <a:rPr lang="en-US" dirty="0"/>
              <a:t>IDOR </a:t>
            </a:r>
          </a:p>
        </p:txBody>
      </p:sp>
      <p:sp>
        <p:nvSpPr>
          <p:cNvPr id="4" name="Slide Number Placeholder 3">
            <a:extLst>
              <a:ext uri="{FF2B5EF4-FFF2-40B4-BE49-F238E27FC236}">
                <a16:creationId xmlns:a16="http://schemas.microsoft.com/office/drawing/2014/main" id="{685E46B2-8B31-2DBE-2FD3-48AC06F26820}"/>
              </a:ext>
            </a:extLst>
          </p:cNvPr>
          <p:cNvSpPr>
            <a:spLocks noGrp="1"/>
          </p:cNvSpPr>
          <p:nvPr>
            <p:ph type="sldNum" sz="quarter" idx="12"/>
          </p:nvPr>
        </p:nvSpPr>
        <p:spPr/>
        <p:txBody>
          <a:bodyPr/>
          <a:lstStyle/>
          <a:p>
            <a:fld id="{02C84146-E65B-4948-A521-8AE14AC02658}" type="slidenum">
              <a:rPr lang="en-US" smtClean="0"/>
              <a:t>8</a:t>
            </a:fld>
            <a:endParaRPr lang="en-US"/>
          </a:p>
        </p:txBody>
      </p:sp>
    </p:spTree>
    <p:extLst>
      <p:ext uri="{BB962C8B-B14F-4D97-AF65-F5344CB8AC3E}">
        <p14:creationId xmlns:p14="http://schemas.microsoft.com/office/powerpoint/2010/main" val="2558945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811D73-0445-5161-30A6-E6901CEA26A4}"/>
              </a:ext>
            </a:extLst>
          </p:cNvPr>
          <p:cNvSpPr>
            <a:spLocks noGrp="1"/>
          </p:cNvSpPr>
          <p:nvPr>
            <p:ph idx="1"/>
          </p:nvPr>
        </p:nvSpPr>
        <p:spPr>
          <a:xfrm>
            <a:off x="838201" y="1243013"/>
            <a:ext cx="4639056" cy="4933950"/>
          </a:xfrm>
        </p:spPr>
        <p:txBody>
          <a:bodyPr/>
          <a:lstStyle/>
          <a:p>
            <a:r>
              <a:rPr lang="en-US" dirty="0"/>
              <a:t>Normal flow </a:t>
            </a:r>
          </a:p>
          <a:p>
            <a:endParaRPr lang="en-US" dirty="0"/>
          </a:p>
          <a:p>
            <a:pPr marL="0" indent="0">
              <a:buNone/>
            </a:pPr>
            <a:r>
              <a:rPr lang="en-US" dirty="0"/>
              <a:t>User → Request → Server</a:t>
            </a:r>
          </a:p>
          <a:p>
            <a:pPr marL="0" indent="0">
              <a:buNone/>
            </a:pPr>
            <a:r>
              <a:rPr lang="en-US" dirty="0"/>
              <a:t>                 		    ↓</a:t>
            </a:r>
          </a:p>
          <a:p>
            <a:pPr marL="0" indent="0">
              <a:buNone/>
            </a:pPr>
            <a:r>
              <a:rPr lang="en-US" dirty="0"/>
              <a:t>          Check authentication</a:t>
            </a:r>
          </a:p>
          <a:p>
            <a:pPr marL="0" indent="0">
              <a:buNone/>
            </a:pPr>
            <a:r>
              <a:rPr lang="en-US" dirty="0"/>
              <a:t>                                          ↓</a:t>
            </a:r>
          </a:p>
          <a:p>
            <a:pPr marL="0" indent="0">
              <a:buNone/>
            </a:pPr>
            <a:r>
              <a:rPr lang="en-US" dirty="0"/>
              <a:t>          Check authorization</a:t>
            </a:r>
          </a:p>
          <a:p>
            <a:pPr marL="0" indent="0">
              <a:buNone/>
            </a:pPr>
            <a:r>
              <a:rPr lang="en-US" dirty="0"/>
              <a:t>                                          ↓</a:t>
            </a:r>
          </a:p>
          <a:p>
            <a:pPr marL="0" indent="0">
              <a:buNone/>
            </a:pPr>
            <a:r>
              <a:rPr lang="en-US" dirty="0"/>
              <a:t>          Return allowed data</a:t>
            </a:r>
          </a:p>
        </p:txBody>
      </p:sp>
      <p:sp>
        <p:nvSpPr>
          <p:cNvPr id="3" name="Title 2">
            <a:extLst>
              <a:ext uri="{FF2B5EF4-FFF2-40B4-BE49-F238E27FC236}">
                <a16:creationId xmlns:a16="http://schemas.microsoft.com/office/drawing/2014/main" id="{1AF2FBF3-65DF-D7DA-FE97-E760B23A4279}"/>
              </a:ext>
            </a:extLst>
          </p:cNvPr>
          <p:cNvSpPr>
            <a:spLocks noGrp="1"/>
          </p:cNvSpPr>
          <p:nvPr>
            <p:ph type="title"/>
          </p:nvPr>
        </p:nvSpPr>
        <p:spPr/>
        <p:txBody>
          <a:bodyPr/>
          <a:lstStyle/>
          <a:p>
            <a:r>
              <a:rPr lang="en-US" dirty="0"/>
              <a:t>How does IDOR happen ? </a:t>
            </a:r>
          </a:p>
        </p:txBody>
      </p:sp>
      <p:sp>
        <p:nvSpPr>
          <p:cNvPr id="4" name="Slide Number Placeholder 3">
            <a:extLst>
              <a:ext uri="{FF2B5EF4-FFF2-40B4-BE49-F238E27FC236}">
                <a16:creationId xmlns:a16="http://schemas.microsoft.com/office/drawing/2014/main" id="{690B0904-AF9A-3363-30A4-2D4681CAF0CB}"/>
              </a:ext>
            </a:extLst>
          </p:cNvPr>
          <p:cNvSpPr>
            <a:spLocks noGrp="1"/>
          </p:cNvSpPr>
          <p:nvPr>
            <p:ph type="sldNum" sz="quarter" idx="12"/>
          </p:nvPr>
        </p:nvSpPr>
        <p:spPr/>
        <p:txBody>
          <a:bodyPr/>
          <a:lstStyle/>
          <a:p>
            <a:fld id="{02C84146-E65B-4948-A521-8AE14AC02658}" type="slidenum">
              <a:rPr lang="en-US" smtClean="0"/>
              <a:t>9</a:t>
            </a:fld>
            <a:endParaRPr lang="en-US"/>
          </a:p>
        </p:txBody>
      </p:sp>
      <p:sp>
        <p:nvSpPr>
          <p:cNvPr id="5" name="Content Placeholder 1">
            <a:extLst>
              <a:ext uri="{FF2B5EF4-FFF2-40B4-BE49-F238E27FC236}">
                <a16:creationId xmlns:a16="http://schemas.microsoft.com/office/drawing/2014/main" id="{6E88EF19-70E0-36C0-0198-995E7DDB5FC3}"/>
              </a:ext>
            </a:extLst>
          </p:cNvPr>
          <p:cNvSpPr txBox="1">
            <a:spLocks/>
          </p:cNvSpPr>
          <p:nvPr/>
        </p:nvSpPr>
        <p:spPr>
          <a:xfrm>
            <a:off x="6060280" y="1243013"/>
            <a:ext cx="5506879" cy="49339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52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Prone flow </a:t>
            </a:r>
          </a:p>
          <a:p>
            <a:endParaRPr lang="en-US" dirty="0"/>
          </a:p>
          <a:p>
            <a:pPr marL="0" indent="0">
              <a:buNone/>
            </a:pPr>
            <a:r>
              <a:rPr lang="en-US" dirty="0"/>
              <a:t>User → /</a:t>
            </a:r>
            <a:r>
              <a:rPr lang="en-US" dirty="0" err="1"/>
              <a:t>order?id</a:t>
            </a:r>
            <a:r>
              <a:rPr lang="en-US" dirty="0"/>
              <a:t>=5002 → Server</a:t>
            </a:r>
          </a:p>
          <a:p>
            <a:pPr marL="0" indent="0">
              <a:buNone/>
            </a:pPr>
            <a:r>
              <a:rPr lang="en-US" dirty="0"/>
              <a:t>                                                        ↓</a:t>
            </a:r>
          </a:p>
          <a:p>
            <a:pPr marL="0" indent="0">
              <a:buNone/>
            </a:pPr>
            <a:r>
              <a:rPr lang="en-US" dirty="0"/>
              <a:t>                                "User is logged in"</a:t>
            </a:r>
          </a:p>
          <a:p>
            <a:pPr marL="0" indent="0">
              <a:buNone/>
            </a:pPr>
            <a:r>
              <a:rPr lang="en-US" dirty="0"/>
              <a:t>                                                         ↓</a:t>
            </a:r>
          </a:p>
          <a:p>
            <a:pPr marL="0" indent="0">
              <a:buNone/>
            </a:pPr>
            <a:r>
              <a:rPr lang="en-US" dirty="0"/>
              <a:t>                               Return order 5002 </a:t>
            </a:r>
          </a:p>
        </p:txBody>
      </p:sp>
    </p:spTree>
    <p:extLst>
      <p:ext uri="{BB962C8B-B14F-4D97-AF65-F5344CB8AC3E}">
        <p14:creationId xmlns:p14="http://schemas.microsoft.com/office/powerpoint/2010/main" val="3014280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FB7C30B-9533-E974-8000-F9FE8047EFC4}"/>
              </a:ext>
            </a:extLst>
          </p:cNvPr>
          <p:cNvSpPr>
            <a:spLocks noGrp="1"/>
          </p:cNvSpPr>
          <p:nvPr>
            <p:ph idx="1"/>
          </p:nvPr>
        </p:nvSpPr>
        <p:spPr/>
        <p:txBody>
          <a:bodyPr/>
          <a:lstStyle/>
          <a:p>
            <a:r>
              <a:rPr lang="en-US" dirty="0"/>
              <a:t>During an </a:t>
            </a:r>
            <a:r>
              <a:rPr lang="en-US" b="1" dirty="0"/>
              <a:t>authorized VAPT</a:t>
            </a:r>
            <a:r>
              <a:rPr lang="en-US" dirty="0"/>
              <a:t>, a tester may:</a:t>
            </a:r>
          </a:p>
          <a:p>
            <a:pPr lvl="1"/>
            <a:r>
              <a:rPr lang="en-US" sz="3200" dirty="0"/>
              <a:t>Log in as User A. </a:t>
            </a:r>
          </a:p>
          <a:p>
            <a:pPr lvl="1"/>
            <a:r>
              <a:rPr lang="en-US" sz="3200" dirty="0"/>
              <a:t>Access User A's resource. </a:t>
            </a:r>
          </a:p>
          <a:p>
            <a:pPr lvl="1"/>
            <a:r>
              <a:rPr lang="en-US" sz="3200" dirty="0"/>
              <a:t>Identify an object identifier such as </a:t>
            </a:r>
            <a:r>
              <a:rPr lang="en-US" sz="3200" dirty="0" err="1"/>
              <a:t>user_id</a:t>
            </a:r>
            <a:r>
              <a:rPr lang="en-US" sz="3200" dirty="0"/>
              <a:t>, </a:t>
            </a:r>
            <a:r>
              <a:rPr lang="en-US" sz="3200" dirty="0" err="1"/>
              <a:t>order_id</a:t>
            </a:r>
            <a:r>
              <a:rPr lang="en-US" sz="3200" dirty="0"/>
              <a:t>, or </a:t>
            </a:r>
            <a:r>
              <a:rPr lang="en-US" sz="3200" dirty="0" err="1"/>
              <a:t>document_id</a:t>
            </a:r>
            <a:r>
              <a:rPr lang="en-US" sz="3200" dirty="0"/>
              <a:t>. </a:t>
            </a:r>
          </a:p>
          <a:p>
            <a:pPr lvl="1"/>
            <a:r>
              <a:rPr lang="en-US" sz="3200" dirty="0"/>
              <a:t>Test whether changing the identifier allows access to another user's resource. </a:t>
            </a:r>
          </a:p>
          <a:p>
            <a:pPr lvl="1"/>
            <a:r>
              <a:rPr lang="en-US" sz="3200" dirty="0"/>
              <a:t>Verify whether the server properly rejects unauthorized access.</a:t>
            </a:r>
          </a:p>
          <a:p>
            <a:endParaRPr lang="en-US" dirty="0"/>
          </a:p>
        </p:txBody>
      </p:sp>
      <p:sp>
        <p:nvSpPr>
          <p:cNvPr id="3" name="Title 2">
            <a:extLst>
              <a:ext uri="{FF2B5EF4-FFF2-40B4-BE49-F238E27FC236}">
                <a16:creationId xmlns:a16="http://schemas.microsoft.com/office/drawing/2014/main" id="{CD876F34-9F82-11BE-F79B-0BCFFF93E229}"/>
              </a:ext>
            </a:extLst>
          </p:cNvPr>
          <p:cNvSpPr>
            <a:spLocks noGrp="1"/>
          </p:cNvSpPr>
          <p:nvPr>
            <p:ph type="title"/>
          </p:nvPr>
        </p:nvSpPr>
        <p:spPr/>
        <p:txBody>
          <a:bodyPr>
            <a:normAutofit/>
          </a:bodyPr>
          <a:lstStyle/>
          <a:p>
            <a:r>
              <a:rPr lang="en-US" b="1" dirty="0"/>
              <a:t>How Security Testers Find IDOR</a:t>
            </a:r>
            <a:endParaRPr lang="en-US" dirty="0"/>
          </a:p>
        </p:txBody>
      </p:sp>
      <p:sp>
        <p:nvSpPr>
          <p:cNvPr id="4" name="Slide Number Placeholder 3">
            <a:extLst>
              <a:ext uri="{FF2B5EF4-FFF2-40B4-BE49-F238E27FC236}">
                <a16:creationId xmlns:a16="http://schemas.microsoft.com/office/drawing/2014/main" id="{2C7939D9-C5A8-5515-A20C-DBCAB6411075}"/>
              </a:ext>
            </a:extLst>
          </p:cNvPr>
          <p:cNvSpPr>
            <a:spLocks noGrp="1"/>
          </p:cNvSpPr>
          <p:nvPr>
            <p:ph type="sldNum" sz="quarter" idx="12"/>
          </p:nvPr>
        </p:nvSpPr>
        <p:spPr/>
        <p:txBody>
          <a:bodyPr/>
          <a:lstStyle/>
          <a:p>
            <a:fld id="{02C84146-E65B-4948-A521-8AE14AC02658}" type="slidenum">
              <a:rPr lang="en-US" smtClean="0"/>
              <a:t>10</a:t>
            </a:fld>
            <a:endParaRPr lang="en-US"/>
          </a:p>
        </p:txBody>
      </p:sp>
    </p:spTree>
    <p:extLst>
      <p:ext uri="{BB962C8B-B14F-4D97-AF65-F5344CB8AC3E}">
        <p14:creationId xmlns:p14="http://schemas.microsoft.com/office/powerpoint/2010/main" val="4031892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BBA4814-C1C8-23BD-4437-0DD59E99D6A0}"/>
              </a:ext>
            </a:extLst>
          </p:cNvPr>
          <p:cNvSpPr>
            <a:spLocks noGrp="1"/>
          </p:cNvSpPr>
          <p:nvPr>
            <p:ph idx="1"/>
          </p:nvPr>
        </p:nvSpPr>
        <p:spPr>
          <a:xfrm>
            <a:off x="838201" y="1243013"/>
            <a:ext cx="5257800" cy="4933950"/>
          </a:xfrm>
        </p:spPr>
        <p:txBody>
          <a:bodyPr/>
          <a:lstStyle/>
          <a:p>
            <a:r>
              <a:rPr lang="en-US" dirty="0"/>
              <a:t>Broken Access Control can expose:</a:t>
            </a:r>
          </a:p>
          <a:p>
            <a:pPr lvl="1"/>
            <a:r>
              <a:rPr lang="en-US" sz="2800" dirty="0"/>
              <a:t>Personal information </a:t>
            </a:r>
          </a:p>
          <a:p>
            <a:pPr lvl="1"/>
            <a:r>
              <a:rPr lang="en-US" sz="2800" dirty="0"/>
              <a:t>Financial records </a:t>
            </a:r>
          </a:p>
          <a:p>
            <a:pPr lvl="1"/>
            <a:r>
              <a:rPr lang="en-US" sz="2800" dirty="0"/>
              <a:t>HR information </a:t>
            </a:r>
          </a:p>
          <a:p>
            <a:pPr lvl="1"/>
            <a:r>
              <a:rPr lang="en-US" sz="2800" dirty="0"/>
              <a:t>Customer information </a:t>
            </a:r>
          </a:p>
          <a:p>
            <a:pPr lvl="1"/>
            <a:r>
              <a:rPr lang="en-US" sz="2800" dirty="0"/>
              <a:t>Administrator functions </a:t>
            </a:r>
          </a:p>
          <a:p>
            <a:pPr lvl="1"/>
            <a:r>
              <a:rPr lang="en-US" sz="2800" dirty="0"/>
              <a:t>Confidential documents</a:t>
            </a:r>
          </a:p>
          <a:p>
            <a:endParaRPr lang="en-US" dirty="0"/>
          </a:p>
        </p:txBody>
      </p:sp>
      <p:sp>
        <p:nvSpPr>
          <p:cNvPr id="3" name="Title 2">
            <a:extLst>
              <a:ext uri="{FF2B5EF4-FFF2-40B4-BE49-F238E27FC236}">
                <a16:creationId xmlns:a16="http://schemas.microsoft.com/office/drawing/2014/main" id="{9DA0EC7E-D970-C646-696D-162EA86F8577}"/>
              </a:ext>
            </a:extLst>
          </p:cNvPr>
          <p:cNvSpPr>
            <a:spLocks noGrp="1"/>
          </p:cNvSpPr>
          <p:nvPr>
            <p:ph type="title"/>
          </p:nvPr>
        </p:nvSpPr>
        <p:spPr/>
        <p:txBody>
          <a:bodyPr/>
          <a:lstStyle/>
          <a:p>
            <a:r>
              <a:rPr lang="en-US" dirty="0"/>
              <a:t>Impact 					Defense </a:t>
            </a:r>
          </a:p>
        </p:txBody>
      </p:sp>
      <p:sp>
        <p:nvSpPr>
          <p:cNvPr id="4" name="Slide Number Placeholder 3">
            <a:extLst>
              <a:ext uri="{FF2B5EF4-FFF2-40B4-BE49-F238E27FC236}">
                <a16:creationId xmlns:a16="http://schemas.microsoft.com/office/drawing/2014/main" id="{1AA21154-BC52-0F6E-1BA7-8ACE08D7B354}"/>
              </a:ext>
            </a:extLst>
          </p:cNvPr>
          <p:cNvSpPr>
            <a:spLocks noGrp="1"/>
          </p:cNvSpPr>
          <p:nvPr>
            <p:ph type="sldNum" sz="quarter" idx="12"/>
          </p:nvPr>
        </p:nvSpPr>
        <p:spPr/>
        <p:txBody>
          <a:bodyPr/>
          <a:lstStyle/>
          <a:p>
            <a:fld id="{02C84146-E65B-4948-A521-8AE14AC02658}" type="slidenum">
              <a:rPr lang="en-US" smtClean="0"/>
              <a:t>11</a:t>
            </a:fld>
            <a:endParaRPr lang="en-US"/>
          </a:p>
        </p:txBody>
      </p:sp>
      <p:sp>
        <p:nvSpPr>
          <p:cNvPr id="5" name="Content Placeholder 1">
            <a:extLst>
              <a:ext uri="{FF2B5EF4-FFF2-40B4-BE49-F238E27FC236}">
                <a16:creationId xmlns:a16="http://schemas.microsoft.com/office/drawing/2014/main" id="{730A3CB1-2888-4624-AA8A-97E6C54E511C}"/>
              </a:ext>
            </a:extLst>
          </p:cNvPr>
          <p:cNvSpPr txBox="1">
            <a:spLocks/>
          </p:cNvSpPr>
          <p:nvPr/>
        </p:nvSpPr>
        <p:spPr>
          <a:xfrm>
            <a:off x="6096000" y="1254132"/>
            <a:ext cx="5663184" cy="49339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52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application should:</a:t>
            </a:r>
          </a:p>
          <a:p>
            <a:pPr lvl="1"/>
            <a:r>
              <a:rPr lang="en-US" sz="2800" dirty="0"/>
              <a:t>Deny access by default </a:t>
            </a:r>
          </a:p>
          <a:p>
            <a:pPr lvl="1"/>
            <a:r>
              <a:rPr lang="en-US" sz="2800" dirty="0"/>
              <a:t>Enforce authorization on the server </a:t>
            </a:r>
          </a:p>
          <a:p>
            <a:pPr lvl="1"/>
            <a:r>
              <a:rPr lang="en-US" sz="2800" dirty="0"/>
              <a:t>Apply least privilege </a:t>
            </a:r>
          </a:p>
          <a:p>
            <a:pPr lvl="1"/>
            <a:r>
              <a:rPr lang="en-US" sz="2800" dirty="0"/>
              <a:t>Use centralized authorization controls </a:t>
            </a:r>
          </a:p>
          <a:p>
            <a:pPr lvl="1"/>
            <a:r>
              <a:rPr lang="en-US" sz="2800" dirty="0"/>
              <a:t>Validate ownership of requested objects </a:t>
            </a:r>
          </a:p>
          <a:p>
            <a:pPr lvl="1"/>
            <a:r>
              <a:rPr lang="en-US" sz="2800" dirty="0"/>
              <a:t>Test permissions for every sensitive function</a:t>
            </a:r>
          </a:p>
          <a:p>
            <a:endParaRPr lang="en-US" dirty="0"/>
          </a:p>
        </p:txBody>
      </p:sp>
    </p:spTree>
    <p:extLst>
      <p:ext uri="{BB962C8B-B14F-4D97-AF65-F5344CB8AC3E}">
        <p14:creationId xmlns:p14="http://schemas.microsoft.com/office/powerpoint/2010/main" val="296896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27A819C-D21A-5D42-B775-CD2B0DD9C3EE}"/>
              </a:ext>
            </a:extLst>
          </p:cNvPr>
          <p:cNvSpPr>
            <a:spLocks noGrp="1"/>
          </p:cNvSpPr>
          <p:nvPr>
            <p:ph idx="1"/>
          </p:nvPr>
        </p:nvSpPr>
        <p:spPr/>
        <p:txBody>
          <a:bodyPr>
            <a:normAutofit/>
          </a:bodyPr>
          <a:lstStyle/>
          <a:p>
            <a:r>
              <a:rPr lang="en-US" dirty="0"/>
              <a:t>Cryptography protects sensitive information through encryption, hashing, signatures, and secure key management.</a:t>
            </a:r>
          </a:p>
          <a:p>
            <a:r>
              <a:rPr lang="en-US" dirty="0"/>
              <a:t>A cryptographic failure occurs when sensitive information is inadequately protected.</a:t>
            </a:r>
          </a:p>
          <a:p>
            <a:r>
              <a:rPr lang="en-US" dirty="0"/>
              <a:t>Examples: </a:t>
            </a:r>
          </a:p>
          <a:p>
            <a:pPr lvl="1"/>
            <a:r>
              <a:rPr lang="en-US" dirty="0"/>
              <a:t>HTTP instead of HTTPS</a:t>
            </a:r>
          </a:p>
          <a:p>
            <a:pPr lvl="1"/>
            <a:r>
              <a:rPr lang="en-US" dirty="0"/>
              <a:t>Weak password hashing</a:t>
            </a:r>
          </a:p>
          <a:p>
            <a:pPr lvl="1"/>
            <a:r>
              <a:rPr lang="en-US" dirty="0"/>
              <a:t>Hard-coded encryption keys</a:t>
            </a:r>
          </a:p>
          <a:p>
            <a:pPr lvl="1"/>
            <a:r>
              <a:rPr lang="en-US" dirty="0"/>
              <a:t>Weak cryptographic algorithms</a:t>
            </a:r>
          </a:p>
          <a:p>
            <a:pPr lvl="1"/>
            <a:r>
              <a:rPr lang="en-US" dirty="0"/>
              <a:t>Poor key management</a:t>
            </a:r>
          </a:p>
          <a:p>
            <a:pPr lvl="1"/>
            <a:r>
              <a:rPr lang="en-US" dirty="0"/>
              <a:t>Sensitive information exposed in logs</a:t>
            </a:r>
          </a:p>
        </p:txBody>
      </p:sp>
      <p:sp>
        <p:nvSpPr>
          <p:cNvPr id="3" name="Title 2">
            <a:extLst>
              <a:ext uri="{FF2B5EF4-FFF2-40B4-BE49-F238E27FC236}">
                <a16:creationId xmlns:a16="http://schemas.microsoft.com/office/drawing/2014/main" id="{6DE10A34-8114-8324-E9C5-2946A4F692D8}"/>
              </a:ext>
            </a:extLst>
          </p:cNvPr>
          <p:cNvSpPr>
            <a:spLocks noGrp="1"/>
          </p:cNvSpPr>
          <p:nvPr>
            <p:ph type="title"/>
          </p:nvPr>
        </p:nvSpPr>
        <p:spPr/>
        <p:txBody>
          <a:bodyPr/>
          <a:lstStyle/>
          <a:p>
            <a:r>
              <a:rPr lang="en-US" dirty="0"/>
              <a:t>A02 - Cryptographic Failures</a:t>
            </a:r>
          </a:p>
        </p:txBody>
      </p:sp>
      <p:sp>
        <p:nvSpPr>
          <p:cNvPr id="4" name="Slide Number Placeholder 3">
            <a:extLst>
              <a:ext uri="{FF2B5EF4-FFF2-40B4-BE49-F238E27FC236}">
                <a16:creationId xmlns:a16="http://schemas.microsoft.com/office/drawing/2014/main" id="{4E57225F-423D-F512-7854-86FB48FB7AA0}"/>
              </a:ext>
            </a:extLst>
          </p:cNvPr>
          <p:cNvSpPr>
            <a:spLocks noGrp="1"/>
          </p:cNvSpPr>
          <p:nvPr>
            <p:ph type="sldNum" sz="quarter" idx="12"/>
          </p:nvPr>
        </p:nvSpPr>
        <p:spPr/>
        <p:txBody>
          <a:bodyPr/>
          <a:lstStyle/>
          <a:p>
            <a:fld id="{02C84146-E65B-4948-A521-8AE14AC02658}" type="slidenum">
              <a:rPr lang="en-US" smtClean="0"/>
              <a:t>12</a:t>
            </a:fld>
            <a:endParaRPr lang="en-US"/>
          </a:p>
        </p:txBody>
      </p:sp>
    </p:spTree>
    <p:extLst>
      <p:ext uri="{BB962C8B-B14F-4D97-AF65-F5344CB8AC3E}">
        <p14:creationId xmlns:p14="http://schemas.microsoft.com/office/powerpoint/2010/main" val="3127585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B6C3259-1B0A-E04E-19D7-A303F30A771D}"/>
              </a:ext>
            </a:extLst>
          </p:cNvPr>
          <p:cNvSpPr>
            <a:spLocks noGrp="1"/>
          </p:cNvSpPr>
          <p:nvPr>
            <p:ph idx="1"/>
          </p:nvPr>
        </p:nvSpPr>
        <p:spPr/>
        <p:txBody>
          <a:bodyPr>
            <a:normAutofit fontScale="92500" lnSpcReduction="10000"/>
          </a:bodyPr>
          <a:lstStyle/>
          <a:p>
            <a:r>
              <a:rPr lang="en-US" dirty="0"/>
              <a:t>Suppose a company's login page uses:</a:t>
            </a:r>
          </a:p>
          <a:p>
            <a:pPr marL="0" indent="0">
              <a:buNone/>
            </a:pPr>
            <a:r>
              <a:rPr lang="en-US" dirty="0"/>
              <a:t>					http://portal.example.com/login</a:t>
            </a:r>
          </a:p>
          <a:p>
            <a:pPr marL="0" indent="0">
              <a:buNone/>
            </a:pPr>
            <a:r>
              <a:rPr lang="en-US" dirty="0"/>
              <a:t>					instead of HTTPS.</a:t>
            </a:r>
          </a:p>
          <a:p>
            <a:r>
              <a:rPr lang="en-US" dirty="0"/>
              <a:t>A user enters:</a:t>
            </a:r>
          </a:p>
          <a:p>
            <a:pPr marL="0" indent="0">
              <a:buNone/>
            </a:pPr>
            <a:r>
              <a:rPr lang="en-US" dirty="0"/>
              <a:t>			</a:t>
            </a:r>
            <a:r>
              <a:rPr lang="en-US" b="1" dirty="0"/>
              <a:t>Username: employee01</a:t>
            </a:r>
          </a:p>
          <a:p>
            <a:pPr marL="0" indent="0">
              <a:buNone/>
            </a:pPr>
            <a:r>
              <a:rPr lang="en-US" dirty="0"/>
              <a:t>			</a:t>
            </a:r>
            <a:r>
              <a:rPr lang="en-US" b="1" dirty="0"/>
              <a:t>Password: ********</a:t>
            </a:r>
          </a:p>
          <a:p>
            <a:r>
              <a:rPr lang="en-US" dirty="0"/>
              <a:t>If traffic is transmitted without proper TLS protection, someone capable of observing that network traffic could potentially capture sensitive information.</a:t>
            </a:r>
          </a:p>
          <a:p>
            <a:r>
              <a:rPr lang="en-US" dirty="0"/>
              <a:t>A penetration tester performing an authorized assessment would report this as a transport-security problem.</a:t>
            </a:r>
          </a:p>
          <a:p>
            <a:endParaRPr lang="en-US" dirty="0"/>
          </a:p>
        </p:txBody>
      </p:sp>
      <p:sp>
        <p:nvSpPr>
          <p:cNvPr id="3" name="Title 2">
            <a:extLst>
              <a:ext uri="{FF2B5EF4-FFF2-40B4-BE49-F238E27FC236}">
                <a16:creationId xmlns:a16="http://schemas.microsoft.com/office/drawing/2014/main" id="{8B944936-85D1-43AA-020A-FF2EB86733D9}"/>
              </a:ext>
            </a:extLst>
          </p:cNvPr>
          <p:cNvSpPr>
            <a:spLocks noGrp="1"/>
          </p:cNvSpPr>
          <p:nvPr>
            <p:ph type="title"/>
          </p:nvPr>
        </p:nvSpPr>
        <p:spPr/>
        <p:txBody>
          <a:bodyPr/>
          <a:lstStyle/>
          <a:p>
            <a:r>
              <a:rPr lang="en-US" dirty="0"/>
              <a:t>Scenario</a:t>
            </a:r>
          </a:p>
        </p:txBody>
      </p:sp>
      <p:sp>
        <p:nvSpPr>
          <p:cNvPr id="4" name="Slide Number Placeholder 3">
            <a:extLst>
              <a:ext uri="{FF2B5EF4-FFF2-40B4-BE49-F238E27FC236}">
                <a16:creationId xmlns:a16="http://schemas.microsoft.com/office/drawing/2014/main" id="{89C4440A-2E09-96B4-1E3A-FC8C34232A3D}"/>
              </a:ext>
            </a:extLst>
          </p:cNvPr>
          <p:cNvSpPr>
            <a:spLocks noGrp="1"/>
          </p:cNvSpPr>
          <p:nvPr>
            <p:ph type="sldNum" sz="quarter" idx="12"/>
          </p:nvPr>
        </p:nvSpPr>
        <p:spPr/>
        <p:txBody>
          <a:bodyPr/>
          <a:lstStyle/>
          <a:p>
            <a:fld id="{02C84146-E65B-4948-A521-8AE14AC02658}" type="slidenum">
              <a:rPr lang="en-US" smtClean="0"/>
              <a:t>13</a:t>
            </a:fld>
            <a:endParaRPr lang="en-US"/>
          </a:p>
        </p:txBody>
      </p:sp>
    </p:spTree>
    <p:extLst>
      <p:ext uri="{BB962C8B-B14F-4D97-AF65-F5344CB8AC3E}">
        <p14:creationId xmlns:p14="http://schemas.microsoft.com/office/powerpoint/2010/main" val="3440004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5F82E5-5867-77F7-9748-9FA3FA238F74}"/>
              </a:ext>
            </a:extLst>
          </p:cNvPr>
          <p:cNvSpPr>
            <a:spLocks noGrp="1"/>
          </p:cNvSpPr>
          <p:nvPr>
            <p:ph idx="1"/>
          </p:nvPr>
        </p:nvSpPr>
        <p:spPr/>
        <p:txBody>
          <a:bodyPr>
            <a:normAutofit/>
          </a:bodyPr>
          <a:lstStyle/>
          <a:p>
            <a:r>
              <a:rPr lang="en-US" dirty="0"/>
              <a:t>HTTP/HTTPS</a:t>
            </a:r>
          </a:p>
          <a:p>
            <a:r>
              <a:rPr lang="en-US" dirty="0"/>
              <a:t>TLS configuration</a:t>
            </a:r>
          </a:p>
          <a:p>
            <a:r>
              <a:rPr lang="en-US" dirty="0"/>
              <a:t>Password storage</a:t>
            </a:r>
          </a:p>
          <a:p>
            <a:r>
              <a:rPr lang="en-US" dirty="0"/>
              <a:t>Cookies</a:t>
            </a:r>
          </a:p>
          <a:p>
            <a:r>
              <a:rPr lang="en-US" dirty="0"/>
              <a:t>Sensitive parameters</a:t>
            </a:r>
          </a:p>
          <a:p>
            <a:r>
              <a:rPr lang="en-US" dirty="0"/>
              <a:t>API communication</a:t>
            </a:r>
          </a:p>
          <a:p>
            <a:r>
              <a:rPr lang="en-US" dirty="0"/>
              <a:t>Encryption implementation</a:t>
            </a:r>
          </a:p>
          <a:p>
            <a:r>
              <a:rPr lang="en-US" dirty="0"/>
              <a:t>Key exposure</a:t>
            </a:r>
          </a:p>
          <a:p>
            <a:r>
              <a:rPr lang="en-US" dirty="0"/>
              <a:t>Certificate configuration</a:t>
            </a:r>
          </a:p>
        </p:txBody>
      </p:sp>
      <p:sp>
        <p:nvSpPr>
          <p:cNvPr id="3" name="Title 2">
            <a:extLst>
              <a:ext uri="{FF2B5EF4-FFF2-40B4-BE49-F238E27FC236}">
                <a16:creationId xmlns:a16="http://schemas.microsoft.com/office/drawing/2014/main" id="{2FF3F87D-1420-AAD0-2469-435A56A3F8AF}"/>
              </a:ext>
            </a:extLst>
          </p:cNvPr>
          <p:cNvSpPr>
            <a:spLocks noGrp="1"/>
          </p:cNvSpPr>
          <p:nvPr>
            <p:ph type="title"/>
          </p:nvPr>
        </p:nvSpPr>
        <p:spPr/>
        <p:txBody>
          <a:bodyPr/>
          <a:lstStyle/>
          <a:p>
            <a:r>
              <a:rPr lang="en-US" dirty="0"/>
              <a:t>What a </a:t>
            </a:r>
            <a:r>
              <a:rPr lang="en-US" dirty="0" err="1"/>
              <a:t>Pentester</a:t>
            </a:r>
            <a:r>
              <a:rPr lang="en-US" dirty="0"/>
              <a:t> Checks</a:t>
            </a:r>
          </a:p>
        </p:txBody>
      </p:sp>
      <p:sp>
        <p:nvSpPr>
          <p:cNvPr id="4" name="Slide Number Placeholder 3">
            <a:extLst>
              <a:ext uri="{FF2B5EF4-FFF2-40B4-BE49-F238E27FC236}">
                <a16:creationId xmlns:a16="http://schemas.microsoft.com/office/drawing/2014/main" id="{D9437DA3-AC4C-2C1F-D515-6D096C5B08AE}"/>
              </a:ext>
            </a:extLst>
          </p:cNvPr>
          <p:cNvSpPr>
            <a:spLocks noGrp="1"/>
          </p:cNvSpPr>
          <p:nvPr>
            <p:ph type="sldNum" sz="quarter" idx="12"/>
          </p:nvPr>
        </p:nvSpPr>
        <p:spPr/>
        <p:txBody>
          <a:bodyPr/>
          <a:lstStyle/>
          <a:p>
            <a:fld id="{02C84146-E65B-4948-A521-8AE14AC02658}" type="slidenum">
              <a:rPr lang="en-US" smtClean="0"/>
              <a:t>14</a:t>
            </a:fld>
            <a:endParaRPr lang="en-US"/>
          </a:p>
        </p:txBody>
      </p:sp>
    </p:spTree>
    <p:extLst>
      <p:ext uri="{BB962C8B-B14F-4D97-AF65-F5344CB8AC3E}">
        <p14:creationId xmlns:p14="http://schemas.microsoft.com/office/powerpoint/2010/main" val="22013388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09D536-DFF2-02B0-4F05-E0CE929A8128}"/>
              </a:ext>
            </a:extLst>
          </p:cNvPr>
          <p:cNvSpPr>
            <a:spLocks noGrp="1"/>
          </p:cNvSpPr>
          <p:nvPr>
            <p:ph idx="1"/>
          </p:nvPr>
        </p:nvSpPr>
        <p:spPr/>
        <p:txBody>
          <a:bodyPr/>
          <a:lstStyle/>
          <a:p>
            <a:r>
              <a:rPr lang="en-US" dirty="0"/>
              <a:t>Organizations should implement:</a:t>
            </a:r>
          </a:p>
          <a:p>
            <a:pPr lvl="1"/>
            <a:r>
              <a:rPr lang="en-US" sz="2800" dirty="0"/>
              <a:t>HTTPS/TLS </a:t>
            </a:r>
          </a:p>
          <a:p>
            <a:pPr lvl="1"/>
            <a:r>
              <a:rPr lang="en-US" sz="2800" dirty="0"/>
              <a:t>Strong password hashing </a:t>
            </a:r>
          </a:p>
          <a:p>
            <a:pPr lvl="1"/>
            <a:r>
              <a:rPr lang="en-US" sz="2800" dirty="0"/>
              <a:t>Secure key management </a:t>
            </a:r>
          </a:p>
          <a:p>
            <a:pPr lvl="1"/>
            <a:r>
              <a:rPr lang="en-US" sz="2800" dirty="0"/>
              <a:t>Appropriate encryption at rest </a:t>
            </a:r>
          </a:p>
          <a:p>
            <a:pPr lvl="1"/>
            <a:r>
              <a:rPr lang="en-US" sz="2800" dirty="0"/>
              <a:t>Secure cookie settings </a:t>
            </a:r>
          </a:p>
          <a:p>
            <a:pPr lvl="1"/>
            <a:r>
              <a:rPr lang="en-US" sz="2800" dirty="0"/>
              <a:t>Data minimization </a:t>
            </a:r>
          </a:p>
          <a:p>
            <a:pPr lvl="1"/>
            <a:r>
              <a:rPr lang="en-US" sz="2800" dirty="0"/>
              <a:t>Protection of secrets and cryptographic keys</a:t>
            </a:r>
          </a:p>
          <a:p>
            <a:endParaRPr lang="en-US" dirty="0"/>
          </a:p>
        </p:txBody>
      </p:sp>
      <p:sp>
        <p:nvSpPr>
          <p:cNvPr id="3" name="Title 2">
            <a:extLst>
              <a:ext uri="{FF2B5EF4-FFF2-40B4-BE49-F238E27FC236}">
                <a16:creationId xmlns:a16="http://schemas.microsoft.com/office/drawing/2014/main" id="{3188E18A-A832-B0EA-6AAA-381480E9E5F1}"/>
              </a:ext>
            </a:extLst>
          </p:cNvPr>
          <p:cNvSpPr>
            <a:spLocks noGrp="1"/>
          </p:cNvSpPr>
          <p:nvPr>
            <p:ph type="title"/>
          </p:nvPr>
        </p:nvSpPr>
        <p:spPr/>
        <p:txBody>
          <a:bodyPr>
            <a:normAutofit/>
          </a:bodyPr>
          <a:lstStyle/>
          <a:p>
            <a:r>
              <a:rPr lang="en-US" dirty="0"/>
              <a:t>Defense</a:t>
            </a:r>
          </a:p>
        </p:txBody>
      </p:sp>
      <p:sp>
        <p:nvSpPr>
          <p:cNvPr id="4" name="Slide Number Placeholder 3">
            <a:extLst>
              <a:ext uri="{FF2B5EF4-FFF2-40B4-BE49-F238E27FC236}">
                <a16:creationId xmlns:a16="http://schemas.microsoft.com/office/drawing/2014/main" id="{37BEFDDA-B9FD-821E-E70F-A55EE8C6080D}"/>
              </a:ext>
            </a:extLst>
          </p:cNvPr>
          <p:cNvSpPr>
            <a:spLocks noGrp="1"/>
          </p:cNvSpPr>
          <p:nvPr>
            <p:ph type="sldNum" sz="quarter" idx="12"/>
          </p:nvPr>
        </p:nvSpPr>
        <p:spPr/>
        <p:txBody>
          <a:bodyPr/>
          <a:lstStyle/>
          <a:p>
            <a:fld id="{02C84146-E65B-4948-A521-8AE14AC02658}" type="slidenum">
              <a:rPr lang="en-US" smtClean="0"/>
              <a:t>15</a:t>
            </a:fld>
            <a:endParaRPr lang="en-US"/>
          </a:p>
        </p:txBody>
      </p:sp>
    </p:spTree>
    <p:extLst>
      <p:ext uri="{BB962C8B-B14F-4D97-AF65-F5344CB8AC3E}">
        <p14:creationId xmlns:p14="http://schemas.microsoft.com/office/powerpoint/2010/main" val="558415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31E596-7080-8ABF-C32E-85D1FFB6DF2D}"/>
              </a:ext>
            </a:extLst>
          </p:cNvPr>
          <p:cNvSpPr>
            <a:spLocks noGrp="1"/>
          </p:cNvSpPr>
          <p:nvPr>
            <p:ph idx="1"/>
          </p:nvPr>
        </p:nvSpPr>
        <p:spPr/>
        <p:txBody>
          <a:bodyPr/>
          <a:lstStyle/>
          <a:p>
            <a:r>
              <a:rPr lang="en-US" dirty="0"/>
              <a:t>Injection happens when user-controlled input is interpreted as part of an instruction rather than merely as data.</a:t>
            </a:r>
          </a:p>
          <a:p>
            <a:r>
              <a:rPr lang="en-US" dirty="0"/>
              <a:t>Common types include:</a:t>
            </a:r>
          </a:p>
          <a:p>
            <a:pPr lvl="1"/>
            <a:r>
              <a:rPr lang="en-US" sz="2800" dirty="0"/>
              <a:t>SQL Injection</a:t>
            </a:r>
          </a:p>
          <a:p>
            <a:pPr lvl="1"/>
            <a:r>
              <a:rPr lang="en-US" sz="2800" dirty="0"/>
              <a:t>Command Injection</a:t>
            </a:r>
          </a:p>
          <a:p>
            <a:pPr lvl="1"/>
            <a:r>
              <a:rPr lang="en-US" sz="2800" dirty="0"/>
              <a:t>LDAP Injection</a:t>
            </a:r>
          </a:p>
          <a:p>
            <a:pPr lvl="1"/>
            <a:r>
              <a:rPr lang="en-US" sz="2800" dirty="0"/>
              <a:t>NoSQL Injection</a:t>
            </a:r>
          </a:p>
          <a:p>
            <a:pPr lvl="1"/>
            <a:r>
              <a:rPr lang="en-US" sz="2800" dirty="0"/>
              <a:t>Template Injection</a:t>
            </a:r>
          </a:p>
        </p:txBody>
      </p:sp>
      <p:sp>
        <p:nvSpPr>
          <p:cNvPr id="3" name="Title 2">
            <a:extLst>
              <a:ext uri="{FF2B5EF4-FFF2-40B4-BE49-F238E27FC236}">
                <a16:creationId xmlns:a16="http://schemas.microsoft.com/office/drawing/2014/main" id="{83EE8E7C-CC86-92C7-0CE2-A7903A98CF14}"/>
              </a:ext>
            </a:extLst>
          </p:cNvPr>
          <p:cNvSpPr>
            <a:spLocks noGrp="1"/>
          </p:cNvSpPr>
          <p:nvPr>
            <p:ph type="title"/>
          </p:nvPr>
        </p:nvSpPr>
        <p:spPr/>
        <p:txBody>
          <a:bodyPr/>
          <a:lstStyle/>
          <a:p>
            <a:r>
              <a:rPr lang="en-US" dirty="0"/>
              <a:t>A03 - Injection</a:t>
            </a:r>
          </a:p>
        </p:txBody>
      </p:sp>
      <p:sp>
        <p:nvSpPr>
          <p:cNvPr id="4" name="Slide Number Placeholder 3">
            <a:extLst>
              <a:ext uri="{FF2B5EF4-FFF2-40B4-BE49-F238E27FC236}">
                <a16:creationId xmlns:a16="http://schemas.microsoft.com/office/drawing/2014/main" id="{F4F45A9F-41E1-47DB-F3D2-DFBDBABF41FD}"/>
              </a:ext>
            </a:extLst>
          </p:cNvPr>
          <p:cNvSpPr>
            <a:spLocks noGrp="1"/>
          </p:cNvSpPr>
          <p:nvPr>
            <p:ph type="sldNum" sz="quarter" idx="12"/>
          </p:nvPr>
        </p:nvSpPr>
        <p:spPr/>
        <p:txBody>
          <a:bodyPr/>
          <a:lstStyle/>
          <a:p>
            <a:fld id="{02C84146-E65B-4948-A521-8AE14AC02658}" type="slidenum">
              <a:rPr lang="en-US" smtClean="0"/>
              <a:t>16</a:t>
            </a:fld>
            <a:endParaRPr lang="en-US"/>
          </a:p>
        </p:txBody>
      </p:sp>
    </p:spTree>
    <p:extLst>
      <p:ext uri="{BB962C8B-B14F-4D97-AF65-F5344CB8AC3E}">
        <p14:creationId xmlns:p14="http://schemas.microsoft.com/office/powerpoint/2010/main" val="727816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F6F60C-5F70-B034-BF3C-B3CA88A2D0B1}"/>
              </a:ext>
            </a:extLst>
          </p:cNvPr>
          <p:cNvSpPr>
            <a:spLocks noGrp="1"/>
          </p:cNvSpPr>
          <p:nvPr>
            <p:ph idx="1"/>
          </p:nvPr>
        </p:nvSpPr>
        <p:spPr>
          <a:xfrm>
            <a:off x="838200" y="1243013"/>
            <a:ext cx="10515601" cy="3703891"/>
          </a:xfrm>
        </p:spPr>
        <p:txBody>
          <a:bodyPr>
            <a:normAutofit fontScale="77500" lnSpcReduction="20000"/>
          </a:bodyPr>
          <a:lstStyle/>
          <a:p>
            <a:r>
              <a:rPr lang="en-US" dirty="0"/>
              <a:t>It focuses on vulnerabilities resulting from </a:t>
            </a:r>
            <a:r>
              <a:rPr lang="en-US" b="1" dirty="0"/>
              <a:t>fundamental design and architecture weaknesses</a:t>
            </a:r>
            <a:r>
              <a:rPr lang="en-US" dirty="0"/>
              <a:t>, rather than simply coding mistakes. </a:t>
            </a:r>
          </a:p>
          <a:p>
            <a:r>
              <a:rPr lang="en-US" dirty="0"/>
              <a:t>OWASP specifically emphasizes that an insecure design cannot necessarily be fixed by having perfectly written code because the required security controls may never have been included in the original design. </a:t>
            </a:r>
          </a:p>
          <a:p>
            <a:r>
              <a:rPr lang="en-US" b="1" dirty="0"/>
              <a:t>Consider a password-reset system.</a:t>
            </a:r>
            <a:r>
              <a:rPr lang="en-US" dirty="0"/>
              <a:t> Suppose the application generates a reset token but the token:</a:t>
            </a:r>
          </a:p>
          <a:p>
            <a:pPr lvl="1"/>
            <a:r>
              <a:rPr lang="en-US" b="1" dirty="0"/>
              <a:t>never expires, </a:t>
            </a:r>
          </a:p>
          <a:p>
            <a:pPr lvl="1"/>
            <a:r>
              <a:rPr lang="en-US" b="1" dirty="0"/>
              <a:t>can be reused, </a:t>
            </a:r>
          </a:p>
          <a:p>
            <a:pPr lvl="1"/>
            <a:r>
              <a:rPr lang="en-US" b="1" dirty="0"/>
              <a:t>is not properly associated with the account, </a:t>
            </a:r>
          </a:p>
          <a:p>
            <a:pPr lvl="1"/>
            <a:r>
              <a:rPr lang="en-US" dirty="0"/>
              <a:t>and </a:t>
            </a:r>
            <a:r>
              <a:rPr lang="en-US" b="1" dirty="0"/>
              <a:t>does not require additional verification. </a:t>
            </a:r>
          </a:p>
          <a:p>
            <a:r>
              <a:rPr lang="en-US" dirty="0"/>
              <a:t>Even if the code implementing these requirements is syntactically correct, the </a:t>
            </a:r>
            <a:r>
              <a:rPr lang="en-US" b="1" dirty="0"/>
              <a:t>security design is fundamentally weak</a:t>
            </a:r>
            <a:r>
              <a:rPr lang="en-US" dirty="0"/>
              <a:t>.</a:t>
            </a:r>
          </a:p>
          <a:p>
            <a:endParaRPr lang="en-US" dirty="0"/>
          </a:p>
        </p:txBody>
      </p:sp>
      <p:sp>
        <p:nvSpPr>
          <p:cNvPr id="3" name="Title 2">
            <a:extLst>
              <a:ext uri="{FF2B5EF4-FFF2-40B4-BE49-F238E27FC236}">
                <a16:creationId xmlns:a16="http://schemas.microsoft.com/office/drawing/2014/main" id="{8B0F5BC3-8D5C-4F9D-E3A9-74E36D0EC4EE}"/>
              </a:ext>
            </a:extLst>
          </p:cNvPr>
          <p:cNvSpPr>
            <a:spLocks noGrp="1"/>
          </p:cNvSpPr>
          <p:nvPr>
            <p:ph type="title"/>
          </p:nvPr>
        </p:nvSpPr>
        <p:spPr/>
        <p:txBody>
          <a:bodyPr/>
          <a:lstStyle/>
          <a:p>
            <a:r>
              <a:rPr lang="en-US" dirty="0"/>
              <a:t>A04:2021 - Insecure Design</a:t>
            </a:r>
          </a:p>
        </p:txBody>
      </p:sp>
      <p:sp>
        <p:nvSpPr>
          <p:cNvPr id="4" name="Slide Number Placeholder 3">
            <a:extLst>
              <a:ext uri="{FF2B5EF4-FFF2-40B4-BE49-F238E27FC236}">
                <a16:creationId xmlns:a16="http://schemas.microsoft.com/office/drawing/2014/main" id="{546CF753-684B-9EF7-F7EC-A621B9586AE1}"/>
              </a:ext>
            </a:extLst>
          </p:cNvPr>
          <p:cNvSpPr>
            <a:spLocks noGrp="1"/>
          </p:cNvSpPr>
          <p:nvPr>
            <p:ph type="sldNum" sz="quarter" idx="12"/>
          </p:nvPr>
        </p:nvSpPr>
        <p:spPr/>
        <p:txBody>
          <a:bodyPr/>
          <a:lstStyle/>
          <a:p>
            <a:fld id="{02C84146-E65B-4948-A521-8AE14AC02658}" type="slidenum">
              <a:rPr lang="en-US" smtClean="0"/>
              <a:t>17</a:t>
            </a:fld>
            <a:endParaRPr lang="en-US"/>
          </a:p>
        </p:txBody>
      </p:sp>
      <p:sp>
        <p:nvSpPr>
          <p:cNvPr id="5" name="TextBox 4">
            <a:extLst>
              <a:ext uri="{FF2B5EF4-FFF2-40B4-BE49-F238E27FC236}">
                <a16:creationId xmlns:a16="http://schemas.microsoft.com/office/drawing/2014/main" id="{9B02AC84-30CA-13B9-23A1-307D32B3BBFE}"/>
              </a:ext>
            </a:extLst>
          </p:cNvPr>
          <p:cNvSpPr txBox="1"/>
          <p:nvPr/>
        </p:nvSpPr>
        <p:spPr>
          <a:xfrm>
            <a:off x="1239297" y="4946904"/>
            <a:ext cx="9641967" cy="1477328"/>
          </a:xfrm>
          <a:prstGeom prst="rect">
            <a:avLst/>
          </a:prstGeom>
          <a:noFill/>
          <a:ln w="57150">
            <a:solidFill>
              <a:srgbClr val="FF5050"/>
            </a:solidFill>
          </a:ln>
        </p:spPr>
        <p:txBody>
          <a:bodyPr wrap="square" rtlCol="0">
            <a:spAutoFit/>
          </a:bodyPr>
          <a:lstStyle/>
          <a:p>
            <a:r>
              <a:rPr lang="en-US" dirty="0"/>
              <a:t>Another example is an e-commerce application that allows a user to purchase unlimited quantities of a highly limited product. An automated attacker could reserve every available item, preventing legitimate customers from purchasing them. This is primarily a </a:t>
            </a:r>
            <a:r>
              <a:rPr lang="en-US" b="1" dirty="0"/>
              <a:t>business-logic/design problem</a:t>
            </a:r>
            <a:r>
              <a:rPr lang="en-US" dirty="0"/>
              <a:t>, not necessarily a traditional coding vulnerability.</a:t>
            </a:r>
          </a:p>
          <a:p>
            <a:endParaRPr lang="en-US" dirty="0"/>
          </a:p>
        </p:txBody>
      </p:sp>
    </p:spTree>
    <p:extLst>
      <p:ext uri="{BB962C8B-B14F-4D97-AF65-F5344CB8AC3E}">
        <p14:creationId xmlns:p14="http://schemas.microsoft.com/office/powerpoint/2010/main" val="11957872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92DF35-B16E-D455-AD2D-89870688E3E2}"/>
              </a:ext>
            </a:extLst>
          </p:cNvPr>
          <p:cNvSpPr>
            <a:spLocks noGrp="1"/>
          </p:cNvSpPr>
          <p:nvPr>
            <p:ph idx="1"/>
          </p:nvPr>
        </p:nvSpPr>
        <p:spPr/>
        <p:txBody>
          <a:bodyPr/>
          <a:lstStyle/>
          <a:p>
            <a:r>
              <a:rPr lang="en-US" dirty="0"/>
              <a:t>Business logic</a:t>
            </a:r>
          </a:p>
          <a:p>
            <a:r>
              <a:rPr lang="en-US" dirty="0"/>
              <a:t>Transaction workflows</a:t>
            </a:r>
          </a:p>
          <a:p>
            <a:r>
              <a:rPr lang="en-US" dirty="0"/>
              <a:t>Password reset</a:t>
            </a:r>
          </a:p>
          <a:p>
            <a:r>
              <a:rPr lang="en-US" dirty="0"/>
              <a:t>Account recovery</a:t>
            </a:r>
          </a:p>
          <a:p>
            <a:r>
              <a:rPr lang="en-US" dirty="0"/>
              <a:t>Approval workflows</a:t>
            </a:r>
          </a:p>
          <a:p>
            <a:r>
              <a:rPr lang="en-US" dirty="0"/>
              <a:t>Rate limits</a:t>
            </a:r>
          </a:p>
          <a:p>
            <a:r>
              <a:rPr lang="en-US" dirty="0"/>
              <a:t>Privilege workflows</a:t>
            </a:r>
          </a:p>
          <a:p>
            <a:r>
              <a:rPr lang="en-US" dirty="0"/>
              <a:t>Multi-step processes</a:t>
            </a:r>
          </a:p>
        </p:txBody>
      </p:sp>
      <p:sp>
        <p:nvSpPr>
          <p:cNvPr id="3" name="Title 2">
            <a:extLst>
              <a:ext uri="{FF2B5EF4-FFF2-40B4-BE49-F238E27FC236}">
                <a16:creationId xmlns:a16="http://schemas.microsoft.com/office/drawing/2014/main" id="{F2022439-D875-E43D-E30B-78DD0C6272F4}"/>
              </a:ext>
            </a:extLst>
          </p:cNvPr>
          <p:cNvSpPr>
            <a:spLocks noGrp="1"/>
          </p:cNvSpPr>
          <p:nvPr>
            <p:ph type="title"/>
          </p:nvPr>
        </p:nvSpPr>
        <p:spPr/>
        <p:txBody>
          <a:bodyPr/>
          <a:lstStyle/>
          <a:p>
            <a:r>
              <a:rPr lang="en-US" dirty="0"/>
              <a:t>What a Pen tester Checks and it’s defense</a:t>
            </a:r>
          </a:p>
        </p:txBody>
      </p:sp>
      <p:sp>
        <p:nvSpPr>
          <p:cNvPr id="4" name="Slide Number Placeholder 3">
            <a:extLst>
              <a:ext uri="{FF2B5EF4-FFF2-40B4-BE49-F238E27FC236}">
                <a16:creationId xmlns:a16="http://schemas.microsoft.com/office/drawing/2014/main" id="{A7676EDA-6C48-DB0F-A6ED-7C9D60F5C37D}"/>
              </a:ext>
            </a:extLst>
          </p:cNvPr>
          <p:cNvSpPr>
            <a:spLocks noGrp="1"/>
          </p:cNvSpPr>
          <p:nvPr>
            <p:ph type="sldNum" sz="quarter" idx="12"/>
          </p:nvPr>
        </p:nvSpPr>
        <p:spPr/>
        <p:txBody>
          <a:bodyPr/>
          <a:lstStyle/>
          <a:p>
            <a:fld id="{02C84146-E65B-4948-A521-8AE14AC02658}" type="slidenum">
              <a:rPr lang="en-US" smtClean="0"/>
              <a:t>18</a:t>
            </a:fld>
            <a:endParaRPr lang="en-US"/>
          </a:p>
        </p:txBody>
      </p:sp>
      <p:sp>
        <p:nvSpPr>
          <p:cNvPr id="5" name="TextBox 4">
            <a:extLst>
              <a:ext uri="{FF2B5EF4-FFF2-40B4-BE49-F238E27FC236}">
                <a16:creationId xmlns:a16="http://schemas.microsoft.com/office/drawing/2014/main" id="{14FCD9BE-B210-EE82-549C-6B856E000CD6}"/>
              </a:ext>
            </a:extLst>
          </p:cNvPr>
          <p:cNvSpPr txBox="1"/>
          <p:nvPr/>
        </p:nvSpPr>
        <p:spPr>
          <a:xfrm>
            <a:off x="6628067" y="1078992"/>
            <a:ext cx="4654296" cy="4832092"/>
          </a:xfrm>
          <a:prstGeom prst="rect">
            <a:avLst/>
          </a:prstGeom>
          <a:noFill/>
        </p:spPr>
        <p:txBody>
          <a:bodyPr wrap="square" rtlCol="0">
            <a:spAutoFit/>
          </a:bodyPr>
          <a:lstStyle/>
          <a:p>
            <a:r>
              <a:rPr lang="en-US" sz="2800" b="1" dirty="0"/>
              <a:t>Defense</a:t>
            </a:r>
          </a:p>
          <a:p>
            <a:pPr marL="285750" indent="-285750">
              <a:buFont typeface="Arial" panose="020B0604020202020204" pitchFamily="34" charset="0"/>
              <a:buChar char="•"/>
            </a:pPr>
            <a:r>
              <a:rPr lang="en-US" sz="2800" dirty="0"/>
              <a:t>Organizations should use:</a:t>
            </a:r>
          </a:p>
          <a:p>
            <a:pPr marL="285750" lvl="0" indent="-285750">
              <a:buFont typeface="Arial" panose="020B0604020202020204" pitchFamily="34" charset="0"/>
              <a:buChar char="•"/>
            </a:pPr>
            <a:r>
              <a:rPr lang="en-US" sz="2800" dirty="0"/>
              <a:t>Threat modeling </a:t>
            </a:r>
          </a:p>
          <a:p>
            <a:pPr marL="285750" lvl="0" indent="-285750">
              <a:buFont typeface="Arial" panose="020B0604020202020204" pitchFamily="34" charset="0"/>
              <a:buChar char="•"/>
            </a:pPr>
            <a:r>
              <a:rPr lang="en-US" sz="2800" dirty="0"/>
              <a:t>Abuse-case analysis </a:t>
            </a:r>
          </a:p>
          <a:p>
            <a:pPr marL="285750" lvl="0" indent="-285750">
              <a:buFont typeface="Arial" panose="020B0604020202020204" pitchFamily="34" charset="0"/>
              <a:buChar char="•"/>
            </a:pPr>
            <a:r>
              <a:rPr lang="en-US" sz="2800" dirty="0"/>
              <a:t>Security requirements </a:t>
            </a:r>
          </a:p>
          <a:p>
            <a:pPr marL="285750" lvl="0" indent="-285750">
              <a:buFont typeface="Arial" panose="020B0604020202020204" pitchFamily="34" charset="0"/>
              <a:buChar char="•"/>
            </a:pPr>
            <a:r>
              <a:rPr lang="en-US" sz="2800" dirty="0"/>
              <a:t>Rate limiting </a:t>
            </a:r>
          </a:p>
          <a:p>
            <a:pPr marL="285750" lvl="0" indent="-285750">
              <a:buFont typeface="Arial" panose="020B0604020202020204" pitchFamily="34" charset="0"/>
              <a:buChar char="•"/>
            </a:pPr>
            <a:r>
              <a:rPr lang="en-US" sz="2800" dirty="0"/>
              <a:t>Transaction controls </a:t>
            </a:r>
          </a:p>
          <a:p>
            <a:pPr marL="285750" lvl="0" indent="-285750">
              <a:buFont typeface="Arial" panose="020B0604020202020204" pitchFamily="34" charset="0"/>
              <a:buChar char="•"/>
            </a:pPr>
            <a:r>
              <a:rPr lang="en-US" sz="2800" dirty="0"/>
              <a:t>Fraud detection </a:t>
            </a:r>
          </a:p>
          <a:p>
            <a:pPr marL="285750" lvl="0" indent="-285750">
              <a:buFont typeface="Arial" panose="020B0604020202020204" pitchFamily="34" charset="0"/>
              <a:buChar char="•"/>
            </a:pPr>
            <a:r>
              <a:rPr lang="en-US" sz="2800" dirty="0"/>
              <a:t>Least privilege </a:t>
            </a:r>
          </a:p>
          <a:p>
            <a:pPr marL="285750" lvl="0" indent="-285750">
              <a:buFont typeface="Arial" panose="020B0604020202020204" pitchFamily="34" charset="0"/>
              <a:buChar char="•"/>
            </a:pPr>
            <a:r>
              <a:rPr lang="en-US" sz="2800" dirty="0"/>
              <a:t>Secure architecture reviews </a:t>
            </a:r>
          </a:p>
        </p:txBody>
      </p:sp>
    </p:spTree>
    <p:extLst>
      <p:ext uri="{BB962C8B-B14F-4D97-AF65-F5344CB8AC3E}">
        <p14:creationId xmlns:p14="http://schemas.microsoft.com/office/powerpoint/2010/main" val="18231683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32DAB1-2131-138D-6D6E-6385B7722743}"/>
              </a:ext>
            </a:extLst>
          </p:cNvPr>
          <p:cNvSpPr>
            <a:spLocks noGrp="1"/>
          </p:cNvSpPr>
          <p:nvPr>
            <p:ph idx="1"/>
          </p:nvPr>
        </p:nvSpPr>
        <p:spPr/>
        <p:txBody>
          <a:bodyPr>
            <a:normAutofit/>
          </a:bodyPr>
          <a:lstStyle/>
          <a:p>
            <a:r>
              <a:rPr lang="en-US" b="1" dirty="0"/>
              <a:t>Security Misconfiguration</a:t>
            </a:r>
            <a:r>
              <a:rPr lang="en-US" dirty="0"/>
              <a:t> occurs when an application, server, database, cloud environment, framework, or other component is configured insecurely.</a:t>
            </a:r>
          </a:p>
          <a:p>
            <a:r>
              <a:rPr lang="en-US" b="1" dirty="0"/>
              <a:t>Defense</a:t>
            </a:r>
            <a:endParaRPr lang="en-US" dirty="0"/>
          </a:p>
          <a:p>
            <a:pPr lvl="1"/>
            <a:r>
              <a:rPr lang="en-US" dirty="0"/>
              <a:t>Disable unnecessary functionality </a:t>
            </a:r>
          </a:p>
          <a:p>
            <a:pPr lvl="1"/>
            <a:r>
              <a:rPr lang="en-US" dirty="0"/>
              <a:t>Remove default credentials </a:t>
            </a:r>
          </a:p>
          <a:p>
            <a:pPr lvl="1"/>
            <a:r>
              <a:rPr lang="en-US" dirty="0"/>
              <a:t>Disable debug mode </a:t>
            </a:r>
          </a:p>
          <a:p>
            <a:pPr lvl="1"/>
            <a:r>
              <a:rPr lang="en-US" dirty="0"/>
              <a:t>Disable directory listing </a:t>
            </a:r>
          </a:p>
          <a:p>
            <a:pPr lvl="1"/>
            <a:r>
              <a:rPr lang="en-US" dirty="0"/>
              <a:t>Restrict administrative interfaces </a:t>
            </a:r>
          </a:p>
          <a:p>
            <a:pPr lvl="1"/>
            <a:r>
              <a:rPr lang="en-US" dirty="0"/>
              <a:t>Use secure configuration baselines </a:t>
            </a:r>
          </a:p>
          <a:p>
            <a:pPr lvl="1"/>
            <a:r>
              <a:rPr lang="en-US" dirty="0"/>
              <a:t>Regularly review configurations</a:t>
            </a:r>
          </a:p>
          <a:p>
            <a:endParaRPr lang="en-US" dirty="0"/>
          </a:p>
        </p:txBody>
      </p:sp>
      <p:sp>
        <p:nvSpPr>
          <p:cNvPr id="3" name="Title 2">
            <a:extLst>
              <a:ext uri="{FF2B5EF4-FFF2-40B4-BE49-F238E27FC236}">
                <a16:creationId xmlns:a16="http://schemas.microsoft.com/office/drawing/2014/main" id="{8F8C8F68-5531-27CC-0D7C-5484DEDE2754}"/>
              </a:ext>
            </a:extLst>
          </p:cNvPr>
          <p:cNvSpPr>
            <a:spLocks noGrp="1"/>
          </p:cNvSpPr>
          <p:nvPr>
            <p:ph type="title"/>
          </p:nvPr>
        </p:nvSpPr>
        <p:spPr/>
        <p:txBody>
          <a:bodyPr/>
          <a:lstStyle/>
          <a:p>
            <a:r>
              <a:rPr lang="en-US" dirty="0"/>
              <a:t>A05:2021 - Security Misconfiguration</a:t>
            </a:r>
          </a:p>
        </p:txBody>
      </p:sp>
      <p:sp>
        <p:nvSpPr>
          <p:cNvPr id="4" name="Slide Number Placeholder 3">
            <a:extLst>
              <a:ext uri="{FF2B5EF4-FFF2-40B4-BE49-F238E27FC236}">
                <a16:creationId xmlns:a16="http://schemas.microsoft.com/office/drawing/2014/main" id="{FFF155B1-C794-75AE-F659-32EEB54565DB}"/>
              </a:ext>
            </a:extLst>
          </p:cNvPr>
          <p:cNvSpPr>
            <a:spLocks noGrp="1"/>
          </p:cNvSpPr>
          <p:nvPr>
            <p:ph type="sldNum" sz="quarter" idx="12"/>
          </p:nvPr>
        </p:nvSpPr>
        <p:spPr/>
        <p:txBody>
          <a:bodyPr/>
          <a:lstStyle/>
          <a:p>
            <a:fld id="{02C84146-E65B-4948-A521-8AE14AC02658}" type="slidenum">
              <a:rPr lang="en-US" smtClean="0"/>
              <a:t>19</a:t>
            </a:fld>
            <a:endParaRPr lang="en-US"/>
          </a:p>
        </p:txBody>
      </p:sp>
    </p:spTree>
    <p:extLst>
      <p:ext uri="{BB962C8B-B14F-4D97-AF65-F5344CB8AC3E}">
        <p14:creationId xmlns:p14="http://schemas.microsoft.com/office/powerpoint/2010/main" val="3237962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D24AB3-C254-14A9-D03D-5F7ABC7E05E7}"/>
              </a:ext>
            </a:extLst>
          </p:cNvPr>
          <p:cNvSpPr>
            <a:spLocks noGrp="1"/>
          </p:cNvSpPr>
          <p:nvPr>
            <p:ph idx="1"/>
          </p:nvPr>
        </p:nvSpPr>
        <p:spPr/>
        <p:txBody>
          <a:bodyPr>
            <a:normAutofit fontScale="85000" lnSpcReduction="20000"/>
          </a:bodyPr>
          <a:lstStyle/>
          <a:p>
            <a:pPr lvl="0"/>
            <a:r>
              <a:rPr lang="en-US" dirty="0"/>
              <a:t>Default administrator credentials </a:t>
            </a:r>
          </a:p>
          <a:p>
            <a:pPr lvl="0"/>
            <a:r>
              <a:rPr lang="en-US" dirty="0"/>
              <a:t>Unnecessary services </a:t>
            </a:r>
          </a:p>
          <a:p>
            <a:pPr lvl="0"/>
            <a:r>
              <a:rPr lang="en-US" dirty="0"/>
              <a:t>Debug mode enabled in production </a:t>
            </a:r>
          </a:p>
          <a:p>
            <a:pPr lvl="0"/>
            <a:r>
              <a:rPr lang="en-US" dirty="0"/>
              <a:t>Directory listing enabled </a:t>
            </a:r>
          </a:p>
          <a:p>
            <a:pPr lvl="0"/>
            <a:r>
              <a:rPr lang="en-US" dirty="0"/>
              <a:t>Detailed error messages </a:t>
            </a:r>
          </a:p>
          <a:p>
            <a:pPr lvl="0"/>
            <a:r>
              <a:rPr lang="en-US" dirty="0"/>
              <a:t>Unnecessary open ports </a:t>
            </a:r>
          </a:p>
          <a:p>
            <a:pPr lvl="0"/>
            <a:r>
              <a:rPr lang="en-US" dirty="0"/>
              <a:t>Missing security headers </a:t>
            </a:r>
          </a:p>
          <a:p>
            <a:pPr lvl="0"/>
            <a:r>
              <a:rPr lang="en-US" dirty="0"/>
              <a:t>Incorrect cloud permissions </a:t>
            </a:r>
          </a:p>
          <a:p>
            <a:pPr lvl="0"/>
            <a:r>
              <a:rPr lang="en-US" dirty="0"/>
              <a:t>Exposed configuration files </a:t>
            </a:r>
          </a:p>
          <a:p>
            <a:pPr lvl="0"/>
            <a:r>
              <a:rPr lang="en-US" dirty="0"/>
              <a:t>Incorrect TLS configuration </a:t>
            </a:r>
          </a:p>
          <a:p>
            <a:pPr lvl="0"/>
            <a:r>
              <a:rPr lang="en-US" dirty="0"/>
              <a:t>Excessive privileges </a:t>
            </a:r>
          </a:p>
          <a:p>
            <a:pPr lvl="0"/>
            <a:r>
              <a:rPr lang="en-US" dirty="0"/>
              <a:t>Unnecessary application features</a:t>
            </a:r>
          </a:p>
          <a:p>
            <a:endParaRPr lang="en-US" dirty="0"/>
          </a:p>
        </p:txBody>
      </p:sp>
      <p:sp>
        <p:nvSpPr>
          <p:cNvPr id="3" name="Title 2">
            <a:extLst>
              <a:ext uri="{FF2B5EF4-FFF2-40B4-BE49-F238E27FC236}">
                <a16:creationId xmlns:a16="http://schemas.microsoft.com/office/drawing/2014/main" id="{A2C036A7-F0EF-9D79-99D8-E86123288E64}"/>
              </a:ext>
            </a:extLst>
          </p:cNvPr>
          <p:cNvSpPr>
            <a:spLocks noGrp="1"/>
          </p:cNvSpPr>
          <p:nvPr>
            <p:ph type="title"/>
          </p:nvPr>
        </p:nvSpPr>
        <p:spPr/>
        <p:txBody>
          <a:bodyPr>
            <a:normAutofit/>
          </a:bodyPr>
          <a:lstStyle/>
          <a:p>
            <a:r>
              <a:rPr lang="en-US" dirty="0"/>
              <a:t>Examples include:</a:t>
            </a:r>
          </a:p>
        </p:txBody>
      </p:sp>
      <p:sp>
        <p:nvSpPr>
          <p:cNvPr id="4" name="Slide Number Placeholder 3">
            <a:extLst>
              <a:ext uri="{FF2B5EF4-FFF2-40B4-BE49-F238E27FC236}">
                <a16:creationId xmlns:a16="http://schemas.microsoft.com/office/drawing/2014/main" id="{62E036B9-6157-7DAB-466D-6A3674677462}"/>
              </a:ext>
            </a:extLst>
          </p:cNvPr>
          <p:cNvSpPr>
            <a:spLocks noGrp="1"/>
          </p:cNvSpPr>
          <p:nvPr>
            <p:ph type="sldNum" sz="quarter" idx="12"/>
          </p:nvPr>
        </p:nvSpPr>
        <p:spPr/>
        <p:txBody>
          <a:bodyPr/>
          <a:lstStyle/>
          <a:p>
            <a:fld id="{02C84146-E65B-4948-A521-8AE14AC02658}" type="slidenum">
              <a:rPr lang="en-US" smtClean="0"/>
              <a:t>20</a:t>
            </a:fld>
            <a:endParaRPr lang="en-US"/>
          </a:p>
        </p:txBody>
      </p:sp>
      <p:sp>
        <p:nvSpPr>
          <p:cNvPr id="5" name="TextBox 4">
            <a:extLst>
              <a:ext uri="{FF2B5EF4-FFF2-40B4-BE49-F238E27FC236}">
                <a16:creationId xmlns:a16="http://schemas.microsoft.com/office/drawing/2014/main" id="{FA7AD9CF-37A5-4E21-D37D-3620999D3327}"/>
              </a:ext>
            </a:extLst>
          </p:cNvPr>
          <p:cNvSpPr txBox="1"/>
          <p:nvPr/>
        </p:nvSpPr>
        <p:spPr>
          <a:xfrm>
            <a:off x="7303010" y="2232660"/>
            <a:ext cx="3895723" cy="2215991"/>
          </a:xfrm>
          <a:prstGeom prst="rect">
            <a:avLst/>
          </a:prstGeom>
          <a:noFill/>
          <a:ln w="28575">
            <a:solidFill>
              <a:srgbClr val="FF5050"/>
            </a:solidFill>
          </a:ln>
        </p:spPr>
        <p:txBody>
          <a:bodyPr wrap="square" rtlCol="0">
            <a:spAutoFit/>
          </a:bodyPr>
          <a:lstStyle/>
          <a:p>
            <a:r>
              <a:rPr lang="en-US" sz="2400" dirty="0"/>
              <a:t>In OWASP Top 10:2021, </a:t>
            </a:r>
            <a:r>
              <a:rPr lang="en-US" sz="2400" b="1" dirty="0"/>
              <a:t>XXE was consolidated into Security Misconfiguration</a:t>
            </a:r>
            <a:r>
              <a:rPr lang="en-US" sz="2400" dirty="0"/>
              <a:t> rather than remaining a separate category. </a:t>
            </a:r>
          </a:p>
          <a:p>
            <a:endParaRPr lang="en-US" dirty="0"/>
          </a:p>
        </p:txBody>
      </p:sp>
    </p:spTree>
    <p:extLst>
      <p:ext uri="{BB962C8B-B14F-4D97-AF65-F5344CB8AC3E}">
        <p14:creationId xmlns:p14="http://schemas.microsoft.com/office/powerpoint/2010/main" val="40767100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E17879-ADD7-1E33-3B67-7DBA7F334BDB}"/>
              </a:ext>
            </a:extLst>
          </p:cNvPr>
          <p:cNvSpPr>
            <a:spLocks noGrp="1"/>
          </p:cNvSpPr>
          <p:nvPr>
            <p:ph idx="1"/>
          </p:nvPr>
        </p:nvSpPr>
        <p:spPr/>
        <p:txBody>
          <a:bodyPr>
            <a:normAutofit/>
          </a:bodyPr>
          <a:lstStyle/>
          <a:p>
            <a:r>
              <a:rPr lang="en-US" dirty="0"/>
              <a:t>Modern applications depend heavily on third-party libraries, frameworks, packages, operating-system components, plugins, and APIs. </a:t>
            </a:r>
          </a:p>
          <a:p>
            <a:r>
              <a:rPr lang="en-US" b="1" dirty="0"/>
              <a:t>Vulnerable and Outdated Components</a:t>
            </a:r>
            <a:r>
              <a:rPr lang="en-US" dirty="0"/>
              <a:t> refers to the security risk created when an application uses components containing known vulnerabilities or components that are no longer maintained.</a:t>
            </a:r>
          </a:p>
          <a:p>
            <a:r>
              <a:rPr lang="en-US" dirty="0"/>
              <a:t>For example, suppose a web application uses an old version of a framework containing a publicly known remote-code-execution vulnerability. Even if the organization's own application code is secure, the vulnerable framework can provide an attacker with an entry point.</a:t>
            </a:r>
          </a:p>
          <a:p>
            <a:endParaRPr lang="en-US" dirty="0"/>
          </a:p>
        </p:txBody>
      </p:sp>
      <p:sp>
        <p:nvSpPr>
          <p:cNvPr id="3" name="Title 2">
            <a:extLst>
              <a:ext uri="{FF2B5EF4-FFF2-40B4-BE49-F238E27FC236}">
                <a16:creationId xmlns:a16="http://schemas.microsoft.com/office/drawing/2014/main" id="{1DEBB3D9-8206-1D4D-3DBC-9B19421C985C}"/>
              </a:ext>
            </a:extLst>
          </p:cNvPr>
          <p:cNvSpPr>
            <a:spLocks noGrp="1"/>
          </p:cNvSpPr>
          <p:nvPr>
            <p:ph type="title"/>
          </p:nvPr>
        </p:nvSpPr>
        <p:spPr/>
        <p:txBody>
          <a:bodyPr/>
          <a:lstStyle/>
          <a:p>
            <a:r>
              <a:rPr lang="en-US" dirty="0"/>
              <a:t>A06:2021 - Vulnerable and Outdated Components</a:t>
            </a:r>
          </a:p>
        </p:txBody>
      </p:sp>
      <p:sp>
        <p:nvSpPr>
          <p:cNvPr id="4" name="Slide Number Placeholder 3">
            <a:extLst>
              <a:ext uri="{FF2B5EF4-FFF2-40B4-BE49-F238E27FC236}">
                <a16:creationId xmlns:a16="http://schemas.microsoft.com/office/drawing/2014/main" id="{5C0EC227-54F9-555A-92CE-510CEF02D40B}"/>
              </a:ext>
            </a:extLst>
          </p:cNvPr>
          <p:cNvSpPr>
            <a:spLocks noGrp="1"/>
          </p:cNvSpPr>
          <p:nvPr>
            <p:ph type="sldNum" sz="quarter" idx="12"/>
          </p:nvPr>
        </p:nvSpPr>
        <p:spPr/>
        <p:txBody>
          <a:bodyPr/>
          <a:lstStyle/>
          <a:p>
            <a:fld id="{02C84146-E65B-4948-A521-8AE14AC02658}" type="slidenum">
              <a:rPr lang="en-US" smtClean="0"/>
              <a:t>21</a:t>
            </a:fld>
            <a:endParaRPr lang="en-US"/>
          </a:p>
        </p:txBody>
      </p:sp>
    </p:spTree>
    <p:extLst>
      <p:ext uri="{BB962C8B-B14F-4D97-AF65-F5344CB8AC3E}">
        <p14:creationId xmlns:p14="http://schemas.microsoft.com/office/powerpoint/2010/main" val="28020816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AE01C7-F124-6295-B8B0-23781944CA73}"/>
              </a:ext>
            </a:extLst>
          </p:cNvPr>
          <p:cNvSpPr>
            <a:spLocks noGrp="1"/>
          </p:cNvSpPr>
          <p:nvPr>
            <p:ph idx="1"/>
          </p:nvPr>
        </p:nvSpPr>
        <p:spPr/>
        <p:txBody>
          <a:bodyPr>
            <a:normAutofit fontScale="92500" lnSpcReduction="10000"/>
          </a:bodyPr>
          <a:lstStyle/>
          <a:p>
            <a:pPr lvl="0"/>
            <a:r>
              <a:rPr lang="en-US" dirty="0"/>
              <a:t>JavaScript libraries </a:t>
            </a:r>
          </a:p>
          <a:p>
            <a:pPr lvl="0"/>
            <a:r>
              <a:rPr lang="en-US" dirty="0"/>
              <a:t>Python packages </a:t>
            </a:r>
          </a:p>
          <a:p>
            <a:pPr lvl="0"/>
            <a:r>
              <a:rPr lang="en-US" dirty="0"/>
              <a:t>Java dependencies </a:t>
            </a:r>
          </a:p>
          <a:p>
            <a:pPr lvl="0"/>
            <a:r>
              <a:rPr lang="en-US" dirty="0"/>
              <a:t>PHP libraries </a:t>
            </a:r>
          </a:p>
          <a:p>
            <a:pPr lvl="0"/>
            <a:r>
              <a:rPr lang="en-US" dirty="0"/>
              <a:t>Operating-system packages </a:t>
            </a:r>
          </a:p>
          <a:p>
            <a:pPr lvl="0"/>
            <a:r>
              <a:rPr lang="en-US" dirty="0"/>
              <a:t>Web servers </a:t>
            </a:r>
          </a:p>
          <a:p>
            <a:pPr lvl="0"/>
            <a:r>
              <a:rPr lang="en-US" dirty="0"/>
              <a:t>Database systems </a:t>
            </a:r>
          </a:p>
          <a:p>
            <a:pPr lvl="0"/>
            <a:r>
              <a:rPr lang="en-US" dirty="0"/>
              <a:t>CMS plugins </a:t>
            </a:r>
          </a:p>
          <a:p>
            <a:pPr lvl="0"/>
            <a:r>
              <a:rPr lang="en-US" dirty="0"/>
              <a:t>Container images </a:t>
            </a:r>
          </a:p>
          <a:p>
            <a:pPr lvl="0"/>
            <a:r>
              <a:rPr lang="en-US" dirty="0"/>
              <a:t>Third-party APIs</a:t>
            </a:r>
          </a:p>
          <a:p>
            <a:endParaRPr lang="en-US" dirty="0"/>
          </a:p>
        </p:txBody>
      </p:sp>
      <p:sp>
        <p:nvSpPr>
          <p:cNvPr id="3" name="Title 2">
            <a:extLst>
              <a:ext uri="{FF2B5EF4-FFF2-40B4-BE49-F238E27FC236}">
                <a16:creationId xmlns:a16="http://schemas.microsoft.com/office/drawing/2014/main" id="{DDD15DF3-00F2-166C-F0E1-40CD411BC6AC}"/>
              </a:ext>
            </a:extLst>
          </p:cNvPr>
          <p:cNvSpPr>
            <a:spLocks noGrp="1"/>
          </p:cNvSpPr>
          <p:nvPr>
            <p:ph type="title"/>
          </p:nvPr>
        </p:nvSpPr>
        <p:spPr/>
        <p:txBody>
          <a:bodyPr>
            <a:normAutofit/>
          </a:bodyPr>
          <a:lstStyle/>
          <a:p>
            <a:r>
              <a:rPr lang="en-US" dirty="0"/>
              <a:t>Components may include:</a:t>
            </a:r>
          </a:p>
        </p:txBody>
      </p:sp>
      <p:sp>
        <p:nvSpPr>
          <p:cNvPr id="4" name="Slide Number Placeholder 3">
            <a:extLst>
              <a:ext uri="{FF2B5EF4-FFF2-40B4-BE49-F238E27FC236}">
                <a16:creationId xmlns:a16="http://schemas.microsoft.com/office/drawing/2014/main" id="{82D11A05-D197-6638-9CBA-27A25002CCF3}"/>
              </a:ext>
            </a:extLst>
          </p:cNvPr>
          <p:cNvSpPr>
            <a:spLocks noGrp="1"/>
          </p:cNvSpPr>
          <p:nvPr>
            <p:ph type="sldNum" sz="quarter" idx="12"/>
          </p:nvPr>
        </p:nvSpPr>
        <p:spPr/>
        <p:txBody>
          <a:bodyPr/>
          <a:lstStyle/>
          <a:p>
            <a:fld id="{02C84146-E65B-4948-A521-8AE14AC02658}" type="slidenum">
              <a:rPr lang="en-US" smtClean="0"/>
              <a:t>22</a:t>
            </a:fld>
            <a:endParaRPr lang="en-US"/>
          </a:p>
        </p:txBody>
      </p:sp>
    </p:spTree>
    <p:extLst>
      <p:ext uri="{BB962C8B-B14F-4D97-AF65-F5344CB8AC3E}">
        <p14:creationId xmlns:p14="http://schemas.microsoft.com/office/powerpoint/2010/main" val="40875656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CD92E6-1129-FAB3-DB4F-632EC168F284}"/>
              </a:ext>
            </a:extLst>
          </p:cNvPr>
          <p:cNvSpPr>
            <a:spLocks noGrp="1"/>
          </p:cNvSpPr>
          <p:nvPr>
            <p:ph idx="1"/>
          </p:nvPr>
        </p:nvSpPr>
        <p:spPr/>
        <p:txBody>
          <a:bodyPr>
            <a:normAutofit fontScale="85000" lnSpcReduction="20000"/>
          </a:bodyPr>
          <a:lstStyle/>
          <a:p>
            <a:r>
              <a:rPr lang="en-US" dirty="0"/>
              <a:t>A major problem is that organizations sometimes do not even know exactly which components their applications use. Modern applications may contain direct dependencies as well as </a:t>
            </a:r>
            <a:r>
              <a:rPr lang="en-US" b="1" dirty="0"/>
              <a:t>transitive dependencies</a:t>
            </a:r>
            <a:r>
              <a:rPr lang="en-US" dirty="0"/>
              <a:t>, where one package depends on another package.</a:t>
            </a:r>
          </a:p>
          <a:p>
            <a:r>
              <a:rPr lang="en-US" dirty="0"/>
              <a:t>Security teams should maintain an inventory of components, monitor vulnerability databases, perform dependency scanning, remove unnecessary dependencies, update vulnerable components, and establish a patch-management process.</a:t>
            </a:r>
          </a:p>
          <a:p>
            <a:r>
              <a:rPr lang="en-US" dirty="0"/>
              <a:t>An </a:t>
            </a:r>
            <a:r>
              <a:rPr lang="en-US" b="1" dirty="0"/>
              <a:t>SBOM (Software Bill of Materials)</a:t>
            </a:r>
            <a:r>
              <a:rPr lang="en-US" dirty="0"/>
              <a:t> can help organizations understand the components contained within their software.</a:t>
            </a:r>
          </a:p>
          <a:p>
            <a:r>
              <a:rPr lang="en-US" b="1" dirty="0"/>
              <a:t>Example:</a:t>
            </a:r>
            <a:r>
              <a:rPr lang="en-US" dirty="0"/>
              <a:t> A company runs an outdated version of a JavaScript framework with a known security vulnerability. The application may therefore be exploitable even though the company's own source code does not contain the vulnerable function.</a:t>
            </a:r>
          </a:p>
          <a:p>
            <a:r>
              <a:rPr lang="en-US" dirty="0"/>
              <a:t>OWASP notes that this category moved from </a:t>
            </a:r>
            <a:r>
              <a:rPr lang="en-US" b="1" dirty="0"/>
              <a:t>#9 in 2017 to #6 in 2021</a:t>
            </a:r>
            <a:r>
              <a:rPr lang="en-US" dirty="0"/>
              <a:t>, reflecting its importance.</a:t>
            </a:r>
          </a:p>
          <a:p>
            <a:endParaRPr lang="en-US" dirty="0"/>
          </a:p>
        </p:txBody>
      </p:sp>
      <p:sp>
        <p:nvSpPr>
          <p:cNvPr id="3" name="Title 2">
            <a:extLst>
              <a:ext uri="{FF2B5EF4-FFF2-40B4-BE49-F238E27FC236}">
                <a16:creationId xmlns:a16="http://schemas.microsoft.com/office/drawing/2014/main" id="{4B9E18AD-9987-7EF5-17BE-952A190D2926}"/>
              </a:ext>
            </a:extLst>
          </p:cNvPr>
          <p:cNvSpPr>
            <a:spLocks noGrp="1"/>
          </p:cNvSpPr>
          <p:nvPr>
            <p:ph type="title"/>
          </p:nvPr>
        </p:nvSpPr>
        <p:spPr/>
        <p:txBody>
          <a:bodyPr/>
          <a:lstStyle/>
          <a:p>
            <a:endParaRPr lang="en-US" dirty="0"/>
          </a:p>
        </p:txBody>
      </p:sp>
      <p:sp>
        <p:nvSpPr>
          <p:cNvPr id="4" name="Slide Number Placeholder 3">
            <a:extLst>
              <a:ext uri="{FF2B5EF4-FFF2-40B4-BE49-F238E27FC236}">
                <a16:creationId xmlns:a16="http://schemas.microsoft.com/office/drawing/2014/main" id="{5A317ED8-8B35-E270-2171-41FE6BE67FD6}"/>
              </a:ext>
            </a:extLst>
          </p:cNvPr>
          <p:cNvSpPr>
            <a:spLocks noGrp="1"/>
          </p:cNvSpPr>
          <p:nvPr>
            <p:ph type="sldNum" sz="quarter" idx="12"/>
          </p:nvPr>
        </p:nvSpPr>
        <p:spPr/>
        <p:txBody>
          <a:bodyPr/>
          <a:lstStyle/>
          <a:p>
            <a:fld id="{02C84146-E65B-4948-A521-8AE14AC02658}" type="slidenum">
              <a:rPr lang="en-US" smtClean="0"/>
              <a:t>23</a:t>
            </a:fld>
            <a:endParaRPr lang="en-US"/>
          </a:p>
        </p:txBody>
      </p:sp>
    </p:spTree>
    <p:extLst>
      <p:ext uri="{BB962C8B-B14F-4D97-AF65-F5344CB8AC3E}">
        <p14:creationId xmlns:p14="http://schemas.microsoft.com/office/powerpoint/2010/main" val="7901463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EB1D41-D9A9-6DAF-AFA0-B09CC97DF5DE}"/>
              </a:ext>
            </a:extLst>
          </p:cNvPr>
          <p:cNvSpPr>
            <a:spLocks noGrp="1"/>
          </p:cNvSpPr>
          <p:nvPr>
            <p:ph idx="1"/>
          </p:nvPr>
        </p:nvSpPr>
        <p:spPr/>
        <p:txBody>
          <a:bodyPr/>
          <a:lstStyle/>
          <a:p>
            <a:r>
              <a:rPr lang="en-US" b="1" dirty="0"/>
              <a:t>Identification and Authentication Failures</a:t>
            </a:r>
            <a:r>
              <a:rPr lang="en-US" dirty="0"/>
              <a:t> involve weaknesses in verifying user identity and managing authentication sessions. This category was previously known as </a:t>
            </a:r>
            <a:r>
              <a:rPr lang="en-US" b="1" dirty="0"/>
              <a:t>Broken Authentication</a:t>
            </a:r>
            <a:r>
              <a:rPr lang="en-US" dirty="0"/>
              <a:t>. The 2021 version broadened it to include identification-related weaknesses.</a:t>
            </a:r>
          </a:p>
        </p:txBody>
      </p:sp>
      <p:sp>
        <p:nvSpPr>
          <p:cNvPr id="3" name="Title 2">
            <a:extLst>
              <a:ext uri="{FF2B5EF4-FFF2-40B4-BE49-F238E27FC236}">
                <a16:creationId xmlns:a16="http://schemas.microsoft.com/office/drawing/2014/main" id="{93767DA6-BA68-7587-4F00-51CFFD18BA75}"/>
              </a:ext>
            </a:extLst>
          </p:cNvPr>
          <p:cNvSpPr>
            <a:spLocks noGrp="1"/>
          </p:cNvSpPr>
          <p:nvPr>
            <p:ph type="title"/>
          </p:nvPr>
        </p:nvSpPr>
        <p:spPr/>
        <p:txBody>
          <a:bodyPr/>
          <a:lstStyle/>
          <a:p>
            <a:r>
              <a:rPr lang="en-US" dirty="0"/>
              <a:t>A07:2021 - Identification and Authentication Failures</a:t>
            </a:r>
          </a:p>
        </p:txBody>
      </p:sp>
      <p:sp>
        <p:nvSpPr>
          <p:cNvPr id="4" name="Slide Number Placeholder 3">
            <a:extLst>
              <a:ext uri="{FF2B5EF4-FFF2-40B4-BE49-F238E27FC236}">
                <a16:creationId xmlns:a16="http://schemas.microsoft.com/office/drawing/2014/main" id="{C7CD833C-705D-C0CF-54BF-DF03D853B54E}"/>
              </a:ext>
            </a:extLst>
          </p:cNvPr>
          <p:cNvSpPr>
            <a:spLocks noGrp="1"/>
          </p:cNvSpPr>
          <p:nvPr>
            <p:ph type="sldNum" sz="quarter" idx="12"/>
          </p:nvPr>
        </p:nvSpPr>
        <p:spPr/>
        <p:txBody>
          <a:bodyPr/>
          <a:lstStyle/>
          <a:p>
            <a:fld id="{02C84146-E65B-4948-A521-8AE14AC02658}" type="slidenum">
              <a:rPr lang="en-US" smtClean="0"/>
              <a:t>24</a:t>
            </a:fld>
            <a:endParaRPr lang="en-US"/>
          </a:p>
        </p:txBody>
      </p:sp>
    </p:spTree>
    <p:extLst>
      <p:ext uri="{BB962C8B-B14F-4D97-AF65-F5344CB8AC3E}">
        <p14:creationId xmlns:p14="http://schemas.microsoft.com/office/powerpoint/2010/main" val="3326709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20B8A2-6D33-B1E3-38F4-DB11EFDCC32A}"/>
              </a:ext>
            </a:extLst>
          </p:cNvPr>
          <p:cNvSpPr>
            <a:spLocks noGrp="1"/>
          </p:cNvSpPr>
          <p:nvPr>
            <p:ph idx="1"/>
          </p:nvPr>
        </p:nvSpPr>
        <p:spPr/>
        <p:txBody>
          <a:bodyPr>
            <a:normAutofit fontScale="92500" lnSpcReduction="20000"/>
          </a:bodyPr>
          <a:lstStyle/>
          <a:p>
            <a:r>
              <a:rPr lang="en-US" dirty="0"/>
              <a:t>If an application allows unlimited login attempts, an attacker could repeatedly attempt credentials against an account. If the application also permits weak passwords, the risk becomes greater.</a:t>
            </a:r>
          </a:p>
          <a:p>
            <a:r>
              <a:rPr lang="en-US" dirty="0"/>
              <a:t>Another example is an insecure password-reset process. Suppose the application uses a predictable reset token such as:</a:t>
            </a:r>
          </a:p>
          <a:p>
            <a:pPr lvl="1"/>
            <a:r>
              <a:rPr lang="en-US" dirty="0"/>
              <a:t>/</a:t>
            </a:r>
            <a:r>
              <a:rPr lang="en-US" dirty="0" err="1"/>
              <a:t>reset?token</a:t>
            </a:r>
            <a:r>
              <a:rPr lang="en-US" dirty="0"/>
              <a:t>=10001</a:t>
            </a:r>
          </a:p>
          <a:p>
            <a:r>
              <a:rPr lang="en-US" dirty="0"/>
              <a:t>If attackers can predict another user's token, they may potentially take over the account.</a:t>
            </a:r>
          </a:p>
          <a:p>
            <a:r>
              <a:rPr lang="en-US" dirty="0"/>
              <a:t>Authentication systems should use secure session management, strong password handling, appropriate multi-factor authentication, rate limiting, secure password recovery, and secure session-token generation.</a:t>
            </a:r>
          </a:p>
          <a:p>
            <a:r>
              <a:rPr lang="en-US" dirty="0"/>
              <a:t>OWASP specifically identifies </a:t>
            </a:r>
            <a:r>
              <a:rPr lang="en-US" b="1" dirty="0"/>
              <a:t>credential stuffing, brute force, weak passwords, and insecure recovery mechanisms</a:t>
            </a:r>
            <a:r>
              <a:rPr lang="en-US" dirty="0"/>
              <a:t> among authentication-related weaknesses.</a:t>
            </a:r>
          </a:p>
          <a:p>
            <a:endParaRPr lang="en-US" dirty="0"/>
          </a:p>
        </p:txBody>
      </p:sp>
      <p:sp>
        <p:nvSpPr>
          <p:cNvPr id="3" name="Title 2">
            <a:extLst>
              <a:ext uri="{FF2B5EF4-FFF2-40B4-BE49-F238E27FC236}">
                <a16:creationId xmlns:a16="http://schemas.microsoft.com/office/drawing/2014/main" id="{ED305A56-6F43-DF7B-96C5-511E509CB8C0}"/>
              </a:ext>
            </a:extLst>
          </p:cNvPr>
          <p:cNvSpPr>
            <a:spLocks noGrp="1"/>
          </p:cNvSpPr>
          <p:nvPr>
            <p:ph type="title"/>
          </p:nvPr>
        </p:nvSpPr>
        <p:spPr/>
        <p:txBody>
          <a:bodyPr/>
          <a:lstStyle/>
          <a:p>
            <a:r>
              <a:rPr lang="en-US" dirty="0"/>
              <a:t>For example:</a:t>
            </a:r>
          </a:p>
        </p:txBody>
      </p:sp>
      <p:sp>
        <p:nvSpPr>
          <p:cNvPr id="4" name="Slide Number Placeholder 3">
            <a:extLst>
              <a:ext uri="{FF2B5EF4-FFF2-40B4-BE49-F238E27FC236}">
                <a16:creationId xmlns:a16="http://schemas.microsoft.com/office/drawing/2014/main" id="{019EF338-2DB3-7B44-F805-9BC18FBD0124}"/>
              </a:ext>
            </a:extLst>
          </p:cNvPr>
          <p:cNvSpPr>
            <a:spLocks noGrp="1"/>
          </p:cNvSpPr>
          <p:nvPr>
            <p:ph type="sldNum" sz="quarter" idx="12"/>
          </p:nvPr>
        </p:nvSpPr>
        <p:spPr/>
        <p:txBody>
          <a:bodyPr/>
          <a:lstStyle/>
          <a:p>
            <a:fld id="{02C84146-E65B-4948-A521-8AE14AC02658}" type="slidenum">
              <a:rPr lang="en-US" smtClean="0"/>
              <a:t>25</a:t>
            </a:fld>
            <a:endParaRPr lang="en-US"/>
          </a:p>
        </p:txBody>
      </p:sp>
    </p:spTree>
    <p:extLst>
      <p:ext uri="{BB962C8B-B14F-4D97-AF65-F5344CB8AC3E}">
        <p14:creationId xmlns:p14="http://schemas.microsoft.com/office/powerpoint/2010/main" val="279622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535AFB8-A0CE-F970-2BC4-F27443440F2C}"/>
              </a:ext>
            </a:extLst>
          </p:cNvPr>
          <p:cNvSpPr>
            <a:spLocks noGrp="1"/>
          </p:cNvSpPr>
          <p:nvPr>
            <p:ph idx="1"/>
          </p:nvPr>
        </p:nvSpPr>
        <p:spPr/>
        <p:txBody>
          <a:bodyPr>
            <a:normAutofit fontScale="85000" lnSpcReduction="20000"/>
          </a:bodyPr>
          <a:lstStyle/>
          <a:p>
            <a:r>
              <a:rPr lang="en-US" b="1" dirty="0"/>
              <a:t>Software and Data Integrity Failures</a:t>
            </a:r>
            <a:r>
              <a:rPr lang="en-US" dirty="0"/>
              <a:t> was introduced as a new category in 2021. It focuses on situations where applications or organizations trust software, updates, critical data, serialized objects, or CI/CD processes without properly verifying their integrity.</a:t>
            </a:r>
          </a:p>
          <a:p>
            <a:r>
              <a:rPr lang="en-US" dirty="0"/>
              <a:t>One important area is the </a:t>
            </a:r>
            <a:r>
              <a:rPr lang="en-US" b="1" dirty="0"/>
              <a:t>software supply chain</a:t>
            </a:r>
            <a:r>
              <a:rPr lang="en-US" dirty="0"/>
              <a:t>. Suppose an organization's CI/CD pipeline automatically downloads a dependency from an external repository and deploys it to production without verifying its authenticity or integrity. If that dependency has been compromised, malicious code could enter the production environment.</a:t>
            </a:r>
          </a:p>
          <a:p>
            <a:r>
              <a:rPr lang="en-US" dirty="0"/>
              <a:t>Another example is insecure deserialization. An application may receive serialized data from an untrusted source and process it without adequate security controls. Depending on the technology, unsafe deserialization can lead to serious security consequences.</a:t>
            </a:r>
          </a:p>
          <a:p>
            <a:r>
              <a:rPr lang="en-US" dirty="0"/>
              <a:t>This category also includes problems with </a:t>
            </a:r>
            <a:r>
              <a:rPr lang="en-US" b="1" dirty="0"/>
              <a:t>software updates, trusted dependencies, CI/CD pipelines, and critical data</a:t>
            </a:r>
            <a:r>
              <a:rPr lang="en-US" dirty="0"/>
              <a:t>. OWASP specifically states that the 2021 category incorporates the earlier insecure-deserialization concept. </a:t>
            </a:r>
          </a:p>
          <a:p>
            <a:endParaRPr lang="en-US" dirty="0"/>
          </a:p>
        </p:txBody>
      </p:sp>
      <p:sp>
        <p:nvSpPr>
          <p:cNvPr id="3" name="Title 2">
            <a:extLst>
              <a:ext uri="{FF2B5EF4-FFF2-40B4-BE49-F238E27FC236}">
                <a16:creationId xmlns:a16="http://schemas.microsoft.com/office/drawing/2014/main" id="{C468D9F9-4DBB-DB69-B514-EFDB33A86AA2}"/>
              </a:ext>
            </a:extLst>
          </p:cNvPr>
          <p:cNvSpPr>
            <a:spLocks noGrp="1"/>
          </p:cNvSpPr>
          <p:nvPr>
            <p:ph type="title"/>
          </p:nvPr>
        </p:nvSpPr>
        <p:spPr/>
        <p:txBody>
          <a:bodyPr/>
          <a:lstStyle/>
          <a:p>
            <a:r>
              <a:rPr lang="en-US" dirty="0"/>
              <a:t>A08:2021 - Software and Data Integrity Failures</a:t>
            </a:r>
          </a:p>
        </p:txBody>
      </p:sp>
      <p:sp>
        <p:nvSpPr>
          <p:cNvPr id="4" name="Slide Number Placeholder 3">
            <a:extLst>
              <a:ext uri="{FF2B5EF4-FFF2-40B4-BE49-F238E27FC236}">
                <a16:creationId xmlns:a16="http://schemas.microsoft.com/office/drawing/2014/main" id="{82B61646-04E9-8EC8-0924-467B0B5C0AFC}"/>
              </a:ext>
            </a:extLst>
          </p:cNvPr>
          <p:cNvSpPr>
            <a:spLocks noGrp="1"/>
          </p:cNvSpPr>
          <p:nvPr>
            <p:ph type="sldNum" sz="quarter" idx="12"/>
          </p:nvPr>
        </p:nvSpPr>
        <p:spPr/>
        <p:txBody>
          <a:bodyPr/>
          <a:lstStyle/>
          <a:p>
            <a:fld id="{02C84146-E65B-4948-A521-8AE14AC02658}" type="slidenum">
              <a:rPr lang="en-US" smtClean="0"/>
              <a:t>26</a:t>
            </a:fld>
            <a:endParaRPr lang="en-US"/>
          </a:p>
        </p:txBody>
      </p:sp>
    </p:spTree>
    <p:extLst>
      <p:ext uri="{BB962C8B-B14F-4D97-AF65-F5344CB8AC3E}">
        <p14:creationId xmlns:p14="http://schemas.microsoft.com/office/powerpoint/2010/main" val="2369765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265502-8CF4-8C31-6374-B9EE951077F8}"/>
              </a:ext>
            </a:extLst>
          </p:cNvPr>
          <p:cNvSpPr>
            <a:spLocks noGrp="1"/>
          </p:cNvSpPr>
          <p:nvPr>
            <p:ph idx="1"/>
          </p:nvPr>
        </p:nvSpPr>
        <p:spPr/>
        <p:txBody>
          <a:bodyPr>
            <a:normAutofit fontScale="92500" lnSpcReduction="20000"/>
          </a:bodyPr>
          <a:lstStyle/>
          <a:p>
            <a:r>
              <a:rPr lang="en-US" dirty="0"/>
              <a:t>Defense:</a:t>
            </a:r>
          </a:p>
          <a:p>
            <a:pPr lvl="1"/>
            <a:r>
              <a:rPr lang="en-US" dirty="0"/>
              <a:t>Trusted software repositories </a:t>
            </a:r>
          </a:p>
          <a:p>
            <a:pPr lvl="1"/>
            <a:r>
              <a:rPr lang="en-US" dirty="0"/>
              <a:t>Dependency verification </a:t>
            </a:r>
          </a:p>
          <a:p>
            <a:pPr lvl="1"/>
            <a:r>
              <a:rPr lang="en-US" dirty="0"/>
              <a:t>Digital signatures where appropriate </a:t>
            </a:r>
          </a:p>
          <a:p>
            <a:pPr lvl="1"/>
            <a:r>
              <a:rPr lang="en-US" dirty="0"/>
              <a:t>Integrity checks </a:t>
            </a:r>
          </a:p>
          <a:p>
            <a:pPr lvl="1"/>
            <a:r>
              <a:rPr lang="en-US" dirty="0"/>
              <a:t>Secure CI/CD pipelines </a:t>
            </a:r>
          </a:p>
          <a:p>
            <a:pPr lvl="1"/>
            <a:r>
              <a:rPr lang="en-US" dirty="0"/>
              <a:t>Strong access controls </a:t>
            </a:r>
          </a:p>
          <a:p>
            <a:pPr lvl="1"/>
            <a:r>
              <a:rPr lang="en-US" dirty="0"/>
              <a:t>Protected source repositories </a:t>
            </a:r>
          </a:p>
          <a:p>
            <a:pPr lvl="1"/>
            <a:r>
              <a:rPr lang="en-US" dirty="0"/>
              <a:t>Secure build environments </a:t>
            </a:r>
          </a:p>
          <a:p>
            <a:pPr lvl="1"/>
            <a:r>
              <a:rPr lang="en-US" dirty="0"/>
              <a:t>Software provenance controls </a:t>
            </a:r>
            <a:endParaRPr lang="en-US" b="1" dirty="0"/>
          </a:p>
          <a:p>
            <a:r>
              <a:rPr lang="en-US" b="1" dirty="0"/>
              <a:t>Example:</a:t>
            </a:r>
            <a:r>
              <a:rPr lang="en-US" dirty="0"/>
              <a:t> A deployment pipeline automatically downloads a package and deploys it to production without verifying its integrity. If an attacker compromises the package repository, the attacker may be able to introduce malicious software into the organization's environment.</a:t>
            </a:r>
          </a:p>
          <a:p>
            <a:endParaRPr lang="en-US" dirty="0"/>
          </a:p>
        </p:txBody>
      </p:sp>
      <p:sp>
        <p:nvSpPr>
          <p:cNvPr id="3" name="Title 2">
            <a:extLst>
              <a:ext uri="{FF2B5EF4-FFF2-40B4-BE49-F238E27FC236}">
                <a16:creationId xmlns:a16="http://schemas.microsoft.com/office/drawing/2014/main" id="{F0383000-17EE-6C45-B2D6-974E40F31FDA}"/>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D1C2F9AC-3C62-DCDC-A93D-BD269F62E3EB}"/>
              </a:ext>
            </a:extLst>
          </p:cNvPr>
          <p:cNvSpPr>
            <a:spLocks noGrp="1"/>
          </p:cNvSpPr>
          <p:nvPr>
            <p:ph type="sldNum" sz="quarter" idx="12"/>
          </p:nvPr>
        </p:nvSpPr>
        <p:spPr/>
        <p:txBody>
          <a:bodyPr/>
          <a:lstStyle/>
          <a:p>
            <a:fld id="{02C84146-E65B-4948-A521-8AE14AC02658}" type="slidenum">
              <a:rPr lang="en-US" smtClean="0"/>
              <a:t>27</a:t>
            </a:fld>
            <a:endParaRPr lang="en-US"/>
          </a:p>
        </p:txBody>
      </p:sp>
    </p:spTree>
    <p:extLst>
      <p:ext uri="{BB962C8B-B14F-4D97-AF65-F5344CB8AC3E}">
        <p14:creationId xmlns:p14="http://schemas.microsoft.com/office/powerpoint/2010/main" val="15499858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C1401-5448-C8A1-1B86-61BEF4F88B0F}"/>
              </a:ext>
            </a:extLst>
          </p:cNvPr>
          <p:cNvSpPr>
            <a:spLocks noGrp="1"/>
          </p:cNvSpPr>
          <p:nvPr>
            <p:ph type="title"/>
          </p:nvPr>
        </p:nvSpPr>
        <p:spPr/>
        <p:txBody>
          <a:bodyPr>
            <a:normAutofit/>
          </a:bodyPr>
          <a:lstStyle/>
          <a:p>
            <a:r>
              <a:rPr lang="en-US" dirty="0"/>
              <a:t>A09:2021 Security Logging &amp; Monitoring Failures</a:t>
            </a:r>
          </a:p>
        </p:txBody>
      </p:sp>
      <p:sp>
        <p:nvSpPr>
          <p:cNvPr id="3" name="Content Placeholder 2">
            <a:extLst>
              <a:ext uri="{FF2B5EF4-FFF2-40B4-BE49-F238E27FC236}">
                <a16:creationId xmlns:a16="http://schemas.microsoft.com/office/drawing/2014/main" id="{BEE13688-4881-2CB4-4FB8-6BA64CDC94B1}"/>
              </a:ext>
            </a:extLst>
          </p:cNvPr>
          <p:cNvSpPr>
            <a:spLocks noGrp="1"/>
          </p:cNvSpPr>
          <p:nvPr>
            <p:ph idx="1"/>
          </p:nvPr>
        </p:nvSpPr>
        <p:spPr/>
        <p:txBody>
          <a:bodyPr/>
          <a:lstStyle/>
          <a:p>
            <a:r>
              <a:rPr lang="en-US" dirty="0"/>
              <a:t>Security logging and monitoring failures occur </a:t>
            </a:r>
            <a:r>
              <a:rPr lang="en-US" b="1" dirty="0"/>
              <a:t>when an application or its supporting infrastructure does not adequately record security-relevant activities, detect suspicious patterns, generate useful alerts, or support an effective incident response.</a:t>
            </a:r>
          </a:p>
          <a:p>
            <a:r>
              <a:rPr lang="en-US" b="1" dirty="0"/>
              <a:t>For Example: </a:t>
            </a:r>
            <a:r>
              <a:rPr lang="en-US" dirty="0"/>
              <a:t>Imagine an online banking application where an attacker repeatedly attempts to log in to customer accounts. The application blocks some attempts but does not record failed logins, does not detect repeated attempts from one source, and does not notify the security team. The authentication mechanism may still work, but the organization has lost visibility into the attack.</a:t>
            </a:r>
          </a:p>
          <a:p>
            <a:endParaRPr lang="en-US" dirty="0"/>
          </a:p>
        </p:txBody>
      </p:sp>
    </p:spTree>
    <p:extLst>
      <p:ext uri="{BB962C8B-B14F-4D97-AF65-F5344CB8AC3E}">
        <p14:creationId xmlns:p14="http://schemas.microsoft.com/office/powerpoint/2010/main" val="32400900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DA03D-3DF9-9A99-77FF-D70B22DA5C8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7C5B55D-59E7-9FC9-5403-8AD9BE787E52}"/>
              </a:ext>
            </a:extLst>
          </p:cNvPr>
          <p:cNvSpPr>
            <a:spLocks noGrp="1"/>
          </p:cNvSpPr>
          <p:nvPr>
            <p:ph idx="1"/>
          </p:nvPr>
        </p:nvSpPr>
        <p:spPr/>
        <p:txBody>
          <a:bodyPr/>
          <a:lstStyle/>
          <a:p>
            <a:r>
              <a:rPr lang="en-US" dirty="0"/>
              <a:t>The failure becomes even more serious if an attacker successfully accesses an account, exports confidential information, or changes payment details without generating an audit event. </a:t>
            </a:r>
          </a:p>
          <a:p>
            <a:r>
              <a:rPr lang="en-US" dirty="0"/>
              <a:t>Investigators may then be unable to determine which account was affected, what data was accessed, when the action occurred, or how the attacker gained access.</a:t>
            </a:r>
          </a:p>
          <a:p>
            <a:r>
              <a:rPr lang="en-US" dirty="0"/>
              <a:t>It also includes inadequate monitoring, unclear event messages, ineffective alerts, insufficient retention, missing escalation procedures, and sensitive information exposed through logs.</a:t>
            </a:r>
          </a:p>
        </p:txBody>
      </p:sp>
    </p:spTree>
    <p:extLst>
      <p:ext uri="{BB962C8B-B14F-4D97-AF65-F5344CB8AC3E}">
        <p14:creationId xmlns:p14="http://schemas.microsoft.com/office/powerpoint/2010/main" val="41987544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F96A1-FE1C-4097-1388-46AF3893907E}"/>
              </a:ext>
            </a:extLst>
          </p:cNvPr>
          <p:cNvSpPr>
            <a:spLocks noGrp="1"/>
          </p:cNvSpPr>
          <p:nvPr>
            <p:ph type="title"/>
          </p:nvPr>
        </p:nvSpPr>
        <p:spPr/>
        <p:txBody>
          <a:bodyPr/>
          <a:lstStyle/>
          <a:p>
            <a:r>
              <a:rPr lang="en-US" dirty="0"/>
              <a:t>Common causes and examples</a:t>
            </a:r>
          </a:p>
        </p:txBody>
      </p:sp>
      <p:graphicFrame>
        <p:nvGraphicFramePr>
          <p:cNvPr id="4" name="Content Placeholder 3">
            <a:extLst>
              <a:ext uri="{FF2B5EF4-FFF2-40B4-BE49-F238E27FC236}">
                <a16:creationId xmlns:a16="http://schemas.microsoft.com/office/drawing/2014/main" id="{77E45406-6422-3DB4-5540-974FA902C37A}"/>
              </a:ext>
            </a:extLst>
          </p:cNvPr>
          <p:cNvGraphicFramePr>
            <a:graphicFrameLocks noGrp="1"/>
          </p:cNvGraphicFramePr>
          <p:nvPr>
            <p:ph idx="1"/>
            <p:extLst>
              <p:ext uri="{D42A27DB-BD31-4B8C-83A1-F6EECF244321}">
                <p14:modId xmlns:p14="http://schemas.microsoft.com/office/powerpoint/2010/main" val="1613046219"/>
              </p:ext>
            </p:extLst>
          </p:nvPr>
        </p:nvGraphicFramePr>
        <p:xfrm>
          <a:off x="363795" y="1462088"/>
          <a:ext cx="11444748" cy="5017136"/>
        </p:xfrm>
        <a:graphic>
          <a:graphicData uri="http://schemas.openxmlformats.org/drawingml/2006/table">
            <a:tbl>
              <a:tblPr>
                <a:tableStyleId>{5C22544A-7EE6-4342-B048-85BDC9FD1C3A}</a:tableStyleId>
              </a:tblPr>
              <a:tblGrid>
                <a:gridCol w="3814916">
                  <a:extLst>
                    <a:ext uri="{9D8B030D-6E8A-4147-A177-3AD203B41FA5}">
                      <a16:colId xmlns:a16="http://schemas.microsoft.com/office/drawing/2014/main" val="1355491791"/>
                    </a:ext>
                  </a:extLst>
                </a:gridCol>
                <a:gridCol w="3814916">
                  <a:extLst>
                    <a:ext uri="{9D8B030D-6E8A-4147-A177-3AD203B41FA5}">
                      <a16:colId xmlns:a16="http://schemas.microsoft.com/office/drawing/2014/main" val="820584068"/>
                    </a:ext>
                  </a:extLst>
                </a:gridCol>
                <a:gridCol w="3814916">
                  <a:extLst>
                    <a:ext uri="{9D8B030D-6E8A-4147-A177-3AD203B41FA5}">
                      <a16:colId xmlns:a16="http://schemas.microsoft.com/office/drawing/2014/main" val="830015314"/>
                    </a:ext>
                  </a:extLst>
                </a:gridCol>
              </a:tblGrid>
              <a:tr h="549513">
                <a:tc>
                  <a:txBody>
                    <a:bodyPr/>
                    <a:lstStyle/>
                    <a:p>
                      <a:pPr>
                        <a:buNone/>
                      </a:pPr>
                      <a:r>
                        <a:rPr lang="en-US" sz="1800" b="1" dirty="0"/>
                        <a:t>Missing audit events</a:t>
                      </a:r>
                    </a:p>
                  </a:txBody>
                  <a:tcPr marL="78502" marR="78502" marT="39251" marB="39251" anchor="ctr"/>
                </a:tc>
                <a:tc>
                  <a:txBody>
                    <a:bodyPr/>
                    <a:lstStyle/>
                    <a:p>
                      <a:pPr>
                        <a:buNone/>
                      </a:pPr>
                      <a:r>
                        <a:rPr lang="en-US" sz="1800" dirty="0"/>
                        <a:t>Changes to user roles are not recorded</a:t>
                      </a:r>
                    </a:p>
                  </a:txBody>
                  <a:tcPr marL="78502" marR="78502" marT="39251" marB="39251" anchor="ctr"/>
                </a:tc>
                <a:tc>
                  <a:txBody>
                    <a:bodyPr/>
                    <a:lstStyle/>
                    <a:p>
                      <a:pPr>
                        <a:buNone/>
                      </a:pPr>
                      <a:r>
                        <a:rPr lang="en-US" sz="1800" dirty="0"/>
                        <a:t>Unauthorized privilege changes may go unnoticed</a:t>
                      </a:r>
                    </a:p>
                  </a:txBody>
                  <a:tcPr marL="78502" marR="78502" marT="39251" marB="39251" anchor="ctr"/>
                </a:tc>
                <a:extLst>
                  <a:ext uri="{0D108BD9-81ED-4DB2-BD59-A6C34878D82A}">
                    <a16:rowId xmlns:a16="http://schemas.microsoft.com/office/drawing/2014/main" val="562326994"/>
                  </a:ext>
                </a:extLst>
              </a:tr>
              <a:tr h="549513">
                <a:tc>
                  <a:txBody>
                    <a:bodyPr/>
                    <a:lstStyle/>
                    <a:p>
                      <a:pPr>
                        <a:buNone/>
                      </a:pPr>
                      <a:r>
                        <a:rPr lang="en-US" sz="1800" b="1"/>
                        <a:t>Inadequate monitoring</a:t>
                      </a:r>
                    </a:p>
                  </a:txBody>
                  <a:tcPr marL="78502" marR="78502" marT="39251" marB="39251" anchor="ctr"/>
                </a:tc>
                <a:tc>
                  <a:txBody>
                    <a:bodyPr/>
                    <a:lstStyle/>
                    <a:p>
                      <a:pPr>
                        <a:buNone/>
                      </a:pPr>
                      <a:r>
                        <a:rPr lang="en-US" sz="1800" dirty="0"/>
                        <a:t>Hundreds of failed logins create no alert</a:t>
                      </a:r>
                    </a:p>
                  </a:txBody>
                  <a:tcPr marL="78502" marR="78502" marT="39251" marB="39251" anchor="ctr"/>
                </a:tc>
                <a:tc>
                  <a:txBody>
                    <a:bodyPr/>
                    <a:lstStyle/>
                    <a:p>
                      <a:pPr>
                        <a:buNone/>
                      </a:pPr>
                      <a:r>
                        <a:rPr lang="en-US" sz="1800" dirty="0"/>
                        <a:t>Credential attacks can continue undetected</a:t>
                      </a:r>
                    </a:p>
                  </a:txBody>
                  <a:tcPr marL="78502" marR="78502" marT="39251" marB="39251" anchor="ctr"/>
                </a:tc>
                <a:extLst>
                  <a:ext uri="{0D108BD9-81ED-4DB2-BD59-A6C34878D82A}">
                    <a16:rowId xmlns:a16="http://schemas.microsoft.com/office/drawing/2014/main" val="498892740"/>
                  </a:ext>
                </a:extLst>
              </a:tr>
              <a:tr h="549513">
                <a:tc>
                  <a:txBody>
                    <a:bodyPr/>
                    <a:lstStyle/>
                    <a:p>
                      <a:pPr>
                        <a:buNone/>
                      </a:pPr>
                      <a:r>
                        <a:rPr lang="en-US" sz="1800" b="1"/>
                        <a:t>Poor alert configuration</a:t>
                      </a:r>
                    </a:p>
                  </a:txBody>
                  <a:tcPr marL="78502" marR="78502" marT="39251" marB="39251" anchor="ctr"/>
                </a:tc>
                <a:tc>
                  <a:txBody>
                    <a:bodyPr/>
                    <a:lstStyle/>
                    <a:p>
                      <a:pPr>
                        <a:buNone/>
                      </a:pPr>
                      <a:r>
                        <a:rPr lang="en-US" sz="1800"/>
                        <a:t>Critical alerts are generated but routed to an unmonitored inbox</a:t>
                      </a:r>
                    </a:p>
                  </a:txBody>
                  <a:tcPr marL="78502" marR="78502" marT="39251" marB="39251" anchor="ctr"/>
                </a:tc>
                <a:tc>
                  <a:txBody>
                    <a:bodyPr/>
                    <a:lstStyle/>
                    <a:p>
                      <a:pPr>
                        <a:buNone/>
                      </a:pPr>
                      <a:r>
                        <a:rPr lang="en-US" sz="1800"/>
                        <a:t>Response is delayed</a:t>
                      </a:r>
                    </a:p>
                  </a:txBody>
                  <a:tcPr marL="78502" marR="78502" marT="39251" marB="39251" anchor="ctr"/>
                </a:tc>
                <a:extLst>
                  <a:ext uri="{0D108BD9-81ED-4DB2-BD59-A6C34878D82A}">
                    <a16:rowId xmlns:a16="http://schemas.microsoft.com/office/drawing/2014/main" val="622856970"/>
                  </a:ext>
                </a:extLst>
              </a:tr>
              <a:tr h="549513">
                <a:tc>
                  <a:txBody>
                    <a:bodyPr/>
                    <a:lstStyle/>
                    <a:p>
                      <a:pPr>
                        <a:buNone/>
                      </a:pPr>
                      <a:r>
                        <a:rPr lang="en-US" sz="1800" b="1" dirty="0"/>
                        <a:t>Locally stored logs only</a:t>
                      </a:r>
                    </a:p>
                  </a:txBody>
                  <a:tcPr marL="78502" marR="78502" marT="39251" marB="39251" anchor="ctr"/>
                </a:tc>
                <a:tc>
                  <a:txBody>
                    <a:bodyPr/>
                    <a:lstStyle/>
                    <a:p>
                      <a:pPr>
                        <a:buNone/>
                      </a:pPr>
                      <a:r>
                        <a:rPr lang="en-US" sz="1800"/>
                        <a:t>An attacker with server access deletes the local log files</a:t>
                      </a:r>
                    </a:p>
                  </a:txBody>
                  <a:tcPr marL="78502" marR="78502" marT="39251" marB="39251" anchor="ctr"/>
                </a:tc>
                <a:tc>
                  <a:txBody>
                    <a:bodyPr/>
                    <a:lstStyle/>
                    <a:p>
                      <a:pPr>
                        <a:buNone/>
                      </a:pPr>
                      <a:r>
                        <a:rPr lang="en-US" sz="1800"/>
                        <a:t>Evidence may be destroyed</a:t>
                      </a:r>
                    </a:p>
                  </a:txBody>
                  <a:tcPr marL="78502" marR="78502" marT="39251" marB="39251" anchor="ctr"/>
                </a:tc>
                <a:extLst>
                  <a:ext uri="{0D108BD9-81ED-4DB2-BD59-A6C34878D82A}">
                    <a16:rowId xmlns:a16="http://schemas.microsoft.com/office/drawing/2014/main" val="1168473434"/>
                  </a:ext>
                </a:extLst>
              </a:tr>
              <a:tr h="549513">
                <a:tc>
                  <a:txBody>
                    <a:bodyPr/>
                    <a:lstStyle/>
                    <a:p>
                      <a:pPr>
                        <a:buNone/>
                      </a:pPr>
                      <a:r>
                        <a:rPr lang="en-US" sz="1800" b="1"/>
                        <a:t>Incomplete event context</a:t>
                      </a:r>
                    </a:p>
                  </a:txBody>
                  <a:tcPr marL="78502" marR="78502" marT="39251" marB="39251" anchor="ctr"/>
                </a:tc>
                <a:tc>
                  <a:txBody>
                    <a:bodyPr/>
                    <a:lstStyle/>
                    <a:p>
                      <a:pPr>
                        <a:buNone/>
                      </a:pPr>
                      <a:r>
                        <a:rPr lang="en-US" sz="1800"/>
                        <a:t>A log records an action but not the user, outcome, or affected object</a:t>
                      </a:r>
                    </a:p>
                  </a:txBody>
                  <a:tcPr marL="78502" marR="78502" marT="39251" marB="39251" anchor="ctr"/>
                </a:tc>
                <a:tc>
                  <a:txBody>
                    <a:bodyPr/>
                    <a:lstStyle/>
                    <a:p>
                      <a:pPr>
                        <a:buNone/>
                      </a:pPr>
                      <a:r>
                        <a:rPr lang="en-US" sz="1800"/>
                        <a:t>Investigation becomes difficult</a:t>
                      </a:r>
                    </a:p>
                  </a:txBody>
                  <a:tcPr marL="78502" marR="78502" marT="39251" marB="39251" anchor="ctr"/>
                </a:tc>
                <a:extLst>
                  <a:ext uri="{0D108BD9-81ED-4DB2-BD59-A6C34878D82A}">
                    <a16:rowId xmlns:a16="http://schemas.microsoft.com/office/drawing/2014/main" val="2082596699"/>
                  </a:ext>
                </a:extLst>
              </a:tr>
              <a:tr h="549513">
                <a:tc>
                  <a:txBody>
                    <a:bodyPr/>
                    <a:lstStyle/>
                    <a:p>
                      <a:pPr>
                        <a:buNone/>
                      </a:pPr>
                      <a:r>
                        <a:rPr lang="en-US" sz="1800" b="1"/>
                        <a:t>Sensitive information in logs</a:t>
                      </a:r>
                    </a:p>
                  </a:txBody>
                  <a:tcPr marL="78502" marR="78502" marT="39251" marB="39251" anchor="ctr"/>
                </a:tc>
                <a:tc>
                  <a:txBody>
                    <a:bodyPr/>
                    <a:lstStyle/>
                    <a:p>
                      <a:pPr>
                        <a:buNone/>
                      </a:pPr>
                      <a:r>
                        <a:rPr lang="en-US" sz="1800"/>
                        <a:t>Session tokens or passwords appear in diagnostic records</a:t>
                      </a:r>
                    </a:p>
                  </a:txBody>
                  <a:tcPr marL="78502" marR="78502" marT="39251" marB="39251" anchor="ctr"/>
                </a:tc>
                <a:tc>
                  <a:txBody>
                    <a:bodyPr/>
                    <a:lstStyle/>
                    <a:p>
                      <a:pPr>
                        <a:buNone/>
                      </a:pPr>
                      <a:r>
                        <a:rPr lang="en-US" sz="1800"/>
                        <a:t>Logs become a secondary source of sensitive data</a:t>
                      </a:r>
                    </a:p>
                  </a:txBody>
                  <a:tcPr marL="78502" marR="78502" marT="39251" marB="39251" anchor="ctr"/>
                </a:tc>
                <a:extLst>
                  <a:ext uri="{0D108BD9-81ED-4DB2-BD59-A6C34878D82A}">
                    <a16:rowId xmlns:a16="http://schemas.microsoft.com/office/drawing/2014/main" val="2781449324"/>
                  </a:ext>
                </a:extLst>
              </a:tr>
              <a:tr h="549513">
                <a:tc>
                  <a:txBody>
                    <a:bodyPr/>
                    <a:lstStyle/>
                    <a:p>
                      <a:pPr>
                        <a:buNone/>
                      </a:pPr>
                      <a:r>
                        <a:rPr lang="en-US" sz="1800" b="1"/>
                        <a:t>Log injection</a:t>
                      </a:r>
                    </a:p>
                  </a:txBody>
                  <a:tcPr marL="78502" marR="78502" marT="39251" marB="39251" anchor="ctr"/>
                </a:tc>
                <a:tc>
                  <a:txBody>
                    <a:bodyPr/>
                    <a:lstStyle/>
                    <a:p>
                      <a:pPr>
                        <a:buNone/>
                      </a:pPr>
                      <a:r>
                        <a:rPr lang="en-US" sz="1800"/>
                        <a:t>Untrusted input creates misleading log entries</a:t>
                      </a:r>
                    </a:p>
                  </a:txBody>
                  <a:tcPr marL="78502" marR="78502" marT="39251" marB="39251" anchor="ctr"/>
                </a:tc>
                <a:tc>
                  <a:txBody>
                    <a:bodyPr/>
                    <a:lstStyle/>
                    <a:p>
                      <a:pPr>
                        <a:buNone/>
                      </a:pPr>
                      <a:r>
                        <a:rPr lang="en-US" sz="1800"/>
                        <a:t>Analysts may be deceived or searches corrupted</a:t>
                      </a:r>
                    </a:p>
                  </a:txBody>
                  <a:tcPr marL="78502" marR="78502" marT="39251" marB="39251" anchor="ctr"/>
                </a:tc>
                <a:extLst>
                  <a:ext uri="{0D108BD9-81ED-4DB2-BD59-A6C34878D82A}">
                    <a16:rowId xmlns:a16="http://schemas.microsoft.com/office/drawing/2014/main" val="2347425408"/>
                  </a:ext>
                </a:extLst>
              </a:tr>
              <a:tr h="549513">
                <a:tc>
                  <a:txBody>
                    <a:bodyPr/>
                    <a:lstStyle/>
                    <a:p>
                      <a:pPr>
                        <a:buNone/>
                      </a:pPr>
                      <a:r>
                        <a:rPr lang="en-US" sz="1800" b="1" dirty="0"/>
                        <a:t>Poor retention or time synchronization</a:t>
                      </a:r>
                    </a:p>
                  </a:txBody>
                  <a:tcPr marL="78502" marR="78502" marT="39251" marB="39251" anchor="ctr"/>
                </a:tc>
                <a:tc>
                  <a:txBody>
                    <a:bodyPr/>
                    <a:lstStyle/>
                    <a:p>
                      <a:pPr>
                        <a:buNone/>
                      </a:pPr>
                      <a:r>
                        <a:rPr lang="en-US" sz="1800"/>
                        <a:t>Relevant events expire too early or timestamps cannot be correlated</a:t>
                      </a:r>
                    </a:p>
                  </a:txBody>
                  <a:tcPr marL="78502" marR="78502" marT="39251" marB="39251" anchor="ctr"/>
                </a:tc>
                <a:tc>
                  <a:txBody>
                    <a:bodyPr/>
                    <a:lstStyle/>
                    <a:p>
                      <a:pPr>
                        <a:buNone/>
                      </a:pPr>
                      <a:r>
                        <a:rPr lang="en-US" sz="1800" dirty="0"/>
                        <a:t>Incident reconstruction is unreliable</a:t>
                      </a:r>
                    </a:p>
                  </a:txBody>
                  <a:tcPr marL="78502" marR="78502" marT="39251" marB="39251" anchor="ctr"/>
                </a:tc>
                <a:extLst>
                  <a:ext uri="{0D108BD9-81ED-4DB2-BD59-A6C34878D82A}">
                    <a16:rowId xmlns:a16="http://schemas.microsoft.com/office/drawing/2014/main" val="1179345983"/>
                  </a:ext>
                </a:extLst>
              </a:tr>
            </a:tbl>
          </a:graphicData>
        </a:graphic>
      </p:graphicFrame>
    </p:spTree>
    <p:extLst>
      <p:ext uri="{BB962C8B-B14F-4D97-AF65-F5344CB8AC3E}">
        <p14:creationId xmlns:p14="http://schemas.microsoft.com/office/powerpoint/2010/main" val="37242412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7E1CF-0A82-B4A5-6CAF-16ED417E60B6}"/>
              </a:ext>
            </a:extLst>
          </p:cNvPr>
          <p:cNvSpPr>
            <a:spLocks noGrp="1"/>
          </p:cNvSpPr>
          <p:nvPr>
            <p:ph type="title"/>
          </p:nvPr>
        </p:nvSpPr>
        <p:spPr/>
        <p:txBody>
          <a:bodyPr/>
          <a:lstStyle/>
          <a:p>
            <a:r>
              <a:rPr lang="en-US" dirty="0"/>
              <a:t>What will a penetration tester check?</a:t>
            </a:r>
          </a:p>
        </p:txBody>
      </p:sp>
      <p:sp>
        <p:nvSpPr>
          <p:cNvPr id="3" name="Content Placeholder 2">
            <a:extLst>
              <a:ext uri="{FF2B5EF4-FFF2-40B4-BE49-F238E27FC236}">
                <a16:creationId xmlns:a16="http://schemas.microsoft.com/office/drawing/2014/main" id="{5FCB52DE-2DDF-7CE4-BE9F-E46ACF190036}"/>
              </a:ext>
            </a:extLst>
          </p:cNvPr>
          <p:cNvSpPr>
            <a:spLocks noGrp="1"/>
          </p:cNvSpPr>
          <p:nvPr>
            <p:ph idx="1"/>
          </p:nvPr>
        </p:nvSpPr>
        <p:spPr/>
        <p:txBody>
          <a:bodyPr>
            <a:normAutofit/>
          </a:bodyPr>
          <a:lstStyle/>
          <a:p>
            <a:r>
              <a:rPr lang="en-US" dirty="0"/>
              <a:t>A09 is not normally established through a single exploit. </a:t>
            </a:r>
            <a:r>
              <a:rPr lang="en-US" b="1" dirty="0"/>
              <a:t>Testing combines controlled security actions, application-log review, monitoring validation, and interviews or evidence from the teams responsible for security operations.</a:t>
            </a:r>
          </a:p>
          <a:p>
            <a:endParaRPr lang="en-US" b="1" dirty="0"/>
          </a:p>
          <a:p>
            <a:r>
              <a:rPr lang="en-US" b="1" dirty="0"/>
              <a:t>Verify authentication logging</a:t>
            </a:r>
          </a:p>
          <a:p>
            <a:pPr lvl="1"/>
            <a:r>
              <a:rPr lang="en-US" dirty="0"/>
              <a:t>Log in with valid test credentials.</a:t>
            </a:r>
          </a:p>
          <a:p>
            <a:pPr lvl="1"/>
            <a:r>
              <a:rPr lang="en-US" dirty="0"/>
              <a:t>Attempt to log in with an intentionally incorrect password.</a:t>
            </a:r>
          </a:p>
          <a:p>
            <a:pPr lvl="1"/>
            <a:r>
              <a:rPr lang="en-US" dirty="0"/>
              <a:t>Test a nonexistent username, if permitted by the test scope.</a:t>
            </a:r>
          </a:p>
          <a:p>
            <a:pPr lvl="1"/>
            <a:r>
              <a:rPr lang="en-US" dirty="0"/>
              <a:t>Review the application logs, authentication logs, and SIEM events.</a:t>
            </a:r>
          </a:p>
          <a:p>
            <a:pPr lvl="1"/>
            <a:r>
              <a:rPr lang="en-US" dirty="0"/>
              <a:t>Verify that the event contains enough information to investigate the activity.</a:t>
            </a:r>
          </a:p>
          <a:p>
            <a:endParaRPr lang="en-US" b="1" dirty="0"/>
          </a:p>
        </p:txBody>
      </p:sp>
    </p:spTree>
    <p:extLst>
      <p:ext uri="{BB962C8B-B14F-4D97-AF65-F5344CB8AC3E}">
        <p14:creationId xmlns:p14="http://schemas.microsoft.com/office/powerpoint/2010/main" val="29225528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0F4BD-DF45-2C01-1500-ED6C69BFC1A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DBDD25D-FDC9-46BC-04A5-852A91E73B82}"/>
              </a:ext>
            </a:extLst>
          </p:cNvPr>
          <p:cNvSpPr>
            <a:spLocks noGrp="1"/>
          </p:cNvSpPr>
          <p:nvPr>
            <p:ph idx="1"/>
          </p:nvPr>
        </p:nvSpPr>
        <p:spPr/>
        <p:txBody>
          <a:bodyPr/>
          <a:lstStyle/>
          <a:p>
            <a:r>
              <a:rPr lang="en-US" b="1" dirty="0"/>
              <a:t>Verify authorization and privileged-action logging</a:t>
            </a:r>
          </a:p>
          <a:p>
            <a:pPr lvl="1"/>
            <a:r>
              <a:rPr lang="en-US" dirty="0"/>
              <a:t>Use a dedicated test account with an appropriate role.</a:t>
            </a:r>
          </a:p>
          <a:p>
            <a:pPr lvl="1"/>
            <a:r>
              <a:rPr lang="en-US" dirty="0"/>
              <a:t>Perform an authorized administrative action.</a:t>
            </a:r>
          </a:p>
          <a:p>
            <a:pPr lvl="1"/>
            <a:r>
              <a:rPr lang="en-US" dirty="0"/>
              <a:t>Attempt a restricted action using a lower-privileged account.</a:t>
            </a:r>
          </a:p>
          <a:p>
            <a:pPr lvl="1"/>
            <a:r>
              <a:rPr lang="en-US" dirty="0"/>
              <a:t>Inspect the application and audit logs.</a:t>
            </a:r>
          </a:p>
          <a:p>
            <a:pPr lvl="1"/>
            <a:r>
              <a:rPr lang="en-US" dirty="0"/>
              <a:t>Verify whether both successful sensitive actions and denied attempts are recorded.</a:t>
            </a:r>
          </a:p>
          <a:p>
            <a:endParaRPr lang="en-US" dirty="0"/>
          </a:p>
        </p:txBody>
      </p:sp>
    </p:spTree>
    <p:extLst>
      <p:ext uri="{BB962C8B-B14F-4D97-AF65-F5344CB8AC3E}">
        <p14:creationId xmlns:p14="http://schemas.microsoft.com/office/powerpoint/2010/main" val="23735062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1B431-83D8-5789-DFB6-43B8F3607F3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FDD0983-C241-2AE3-1F4B-650FE5FC49C2}"/>
              </a:ext>
            </a:extLst>
          </p:cNvPr>
          <p:cNvSpPr>
            <a:spLocks noGrp="1"/>
          </p:cNvSpPr>
          <p:nvPr>
            <p:ph idx="1"/>
          </p:nvPr>
        </p:nvSpPr>
        <p:spPr/>
        <p:txBody>
          <a:bodyPr/>
          <a:lstStyle/>
          <a:p>
            <a:r>
              <a:rPr lang="en-US" b="1" dirty="0"/>
              <a:t>Verify error and suspicious-activity logging</a:t>
            </a:r>
          </a:p>
          <a:p>
            <a:pPr lvl="1"/>
            <a:r>
              <a:rPr lang="en-US" dirty="0"/>
              <a:t>Repeated invalid input and authentication failures.</a:t>
            </a:r>
          </a:p>
          <a:p>
            <a:pPr lvl="1"/>
            <a:r>
              <a:rPr lang="en-US" dirty="0"/>
              <a:t>Access-denied responses for restricted resources.</a:t>
            </a:r>
          </a:p>
          <a:p>
            <a:pPr lvl="1"/>
            <a:r>
              <a:rPr lang="en-US" dirty="0"/>
              <a:t>Unexpected HTTP methods and malformed API requests.</a:t>
            </a:r>
          </a:p>
          <a:p>
            <a:pPr lvl="1"/>
            <a:r>
              <a:rPr lang="en-US" dirty="0"/>
              <a:t>Failed file uploads or validation errors.</a:t>
            </a:r>
          </a:p>
          <a:p>
            <a:pPr lvl="1"/>
            <a:r>
              <a:rPr lang="en-US" dirty="0"/>
              <a:t>Repeated requests against sensitive endpoints.</a:t>
            </a:r>
          </a:p>
          <a:p>
            <a:pPr lvl="1"/>
            <a:r>
              <a:rPr lang="en-US" dirty="0"/>
              <a:t>Unusual sequences of business actions, such as repeatedly attempting a transfer after a limit has been reached.</a:t>
            </a:r>
          </a:p>
          <a:p>
            <a:endParaRPr lang="en-US" dirty="0"/>
          </a:p>
        </p:txBody>
      </p:sp>
    </p:spTree>
    <p:extLst>
      <p:ext uri="{BB962C8B-B14F-4D97-AF65-F5344CB8AC3E}">
        <p14:creationId xmlns:p14="http://schemas.microsoft.com/office/powerpoint/2010/main" val="23664986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A7D3F-B3AD-A66B-339A-3FC35429A08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84DF0D2-428D-C45A-64B4-35629423FB1D}"/>
              </a:ext>
            </a:extLst>
          </p:cNvPr>
          <p:cNvSpPr>
            <a:spLocks noGrp="1"/>
          </p:cNvSpPr>
          <p:nvPr>
            <p:ph idx="1"/>
          </p:nvPr>
        </p:nvSpPr>
        <p:spPr/>
        <p:txBody>
          <a:bodyPr/>
          <a:lstStyle/>
          <a:p>
            <a:r>
              <a:rPr lang="en-US" b="1" dirty="0"/>
              <a:t>Validate alert generation and incident response</a:t>
            </a:r>
          </a:p>
          <a:p>
            <a:pPr lvl="1"/>
            <a:r>
              <a:rPr lang="en-US" dirty="0"/>
              <a:t>Generate a controlled sequence of failed logins against a test account.</a:t>
            </a:r>
          </a:p>
          <a:p>
            <a:pPr lvl="1"/>
            <a:r>
              <a:rPr lang="en-US" dirty="0"/>
              <a:t>Verify that the relevant events are collected centrally.</a:t>
            </a:r>
          </a:p>
          <a:p>
            <a:pPr lvl="1"/>
            <a:r>
              <a:rPr lang="en-US" dirty="0"/>
              <a:t>Check whether the relevant SIEM or monitoring rule triggers.</a:t>
            </a:r>
          </a:p>
          <a:p>
            <a:pPr lvl="1"/>
            <a:r>
              <a:rPr lang="en-US" dirty="0"/>
              <a:t>Verify that the alert includes enough contextual information for triage.</a:t>
            </a:r>
          </a:p>
          <a:p>
            <a:pPr lvl="1"/>
            <a:r>
              <a:rPr lang="en-US" dirty="0"/>
              <a:t>Confirm that the alert reaches the intended team and is handled according to the response process.</a:t>
            </a:r>
          </a:p>
          <a:p>
            <a:endParaRPr lang="en-US" dirty="0"/>
          </a:p>
        </p:txBody>
      </p:sp>
    </p:spTree>
    <p:extLst>
      <p:ext uri="{BB962C8B-B14F-4D97-AF65-F5344CB8AC3E}">
        <p14:creationId xmlns:p14="http://schemas.microsoft.com/office/powerpoint/2010/main" val="38613485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7153D-13A7-FF8F-DE7E-668B3D37B417}"/>
              </a:ext>
            </a:extLst>
          </p:cNvPr>
          <p:cNvSpPr>
            <a:spLocks noGrp="1"/>
          </p:cNvSpPr>
          <p:nvPr>
            <p:ph type="title"/>
          </p:nvPr>
        </p:nvSpPr>
        <p:spPr/>
        <p:txBody>
          <a:bodyPr/>
          <a:lstStyle/>
          <a:p>
            <a:r>
              <a:rPr lang="en-US" dirty="0"/>
              <a:t>How to defend against A09</a:t>
            </a:r>
          </a:p>
        </p:txBody>
      </p:sp>
      <p:sp>
        <p:nvSpPr>
          <p:cNvPr id="3" name="Content Placeholder 2">
            <a:extLst>
              <a:ext uri="{FF2B5EF4-FFF2-40B4-BE49-F238E27FC236}">
                <a16:creationId xmlns:a16="http://schemas.microsoft.com/office/drawing/2014/main" id="{E298B3B1-7E0E-7022-8D4D-5A10933CDCE7}"/>
              </a:ext>
            </a:extLst>
          </p:cNvPr>
          <p:cNvSpPr>
            <a:spLocks noGrp="1"/>
          </p:cNvSpPr>
          <p:nvPr>
            <p:ph idx="1"/>
          </p:nvPr>
        </p:nvSpPr>
        <p:spPr>
          <a:xfrm>
            <a:off x="533401" y="1297858"/>
            <a:ext cx="11304638" cy="5241054"/>
          </a:xfrm>
        </p:spPr>
        <p:txBody>
          <a:bodyPr>
            <a:normAutofit fontScale="77500" lnSpcReduction="20000"/>
          </a:bodyPr>
          <a:lstStyle/>
          <a:p>
            <a:pPr marL="514350" indent="-514350">
              <a:buFont typeface="+mj-lt"/>
              <a:buAutoNum type="arabicPeriod"/>
            </a:pPr>
            <a:r>
              <a:rPr lang="en-US" b="1" dirty="0"/>
              <a:t>Define a security logging standard </a:t>
            </a:r>
            <a:r>
              <a:rPr lang="en-US" dirty="0"/>
              <a:t>- Document which events must be captured, their required fields, severity levels, owners, and retention rules. Include authentication, authorization, administrative actions, sensitive-data access, and relevant failures.</a:t>
            </a:r>
          </a:p>
          <a:p>
            <a:pPr marL="514350" indent="-514350">
              <a:buFont typeface="+mj-lt"/>
              <a:buAutoNum type="arabicPeriod"/>
            </a:pPr>
            <a:r>
              <a:rPr lang="en-US" b="1" dirty="0"/>
              <a:t>Use structured, consistent logging </a:t>
            </a:r>
            <a:r>
              <a:rPr lang="en-US" dirty="0"/>
              <a:t>- Adopt structured formats and standard field names. Add timestamps, request IDs, actor identifiers, actions, targets, and outcomes where applicable. Validate untrusted fields.</a:t>
            </a:r>
          </a:p>
          <a:p>
            <a:pPr marL="514350" indent="-514350">
              <a:buFont typeface="+mj-lt"/>
              <a:buAutoNum type="arabicPeriod"/>
            </a:pPr>
            <a:r>
              <a:rPr lang="en-US" b="1" dirty="0"/>
              <a:t>Centralize and monitor the events </a:t>
            </a:r>
            <a:r>
              <a:rPr lang="en-US" dirty="0"/>
              <a:t>- Send relevant application, operating-system, identity, and infrastructure events to a suitable central platform or SIEM. Create detection rules for suspicious sequences, privileged changes, and other high-risk behavior.</a:t>
            </a:r>
          </a:p>
          <a:p>
            <a:pPr marL="514350" indent="-514350">
              <a:buFont typeface="+mj-lt"/>
              <a:buAutoNum type="arabicPeriod"/>
            </a:pPr>
            <a:r>
              <a:rPr lang="en-US" b="1" dirty="0"/>
              <a:t>Establish an alert-response process </a:t>
            </a:r>
            <a:r>
              <a:rPr lang="en-US" dirty="0"/>
              <a:t>- Assign alert severity, routing, escalation, ownership, and response targets. Test alert delivery and investigate alerts through documented playbooks.</a:t>
            </a:r>
          </a:p>
          <a:p>
            <a:pPr marL="514350" indent="-514350">
              <a:buFont typeface="+mj-lt"/>
              <a:buAutoNum type="arabicPeriod"/>
            </a:pPr>
            <a:r>
              <a:rPr lang="en-US" b="1" dirty="0"/>
              <a:t>Protect log confidentiality and integrity </a:t>
            </a:r>
            <a:r>
              <a:rPr lang="en-US" dirty="0"/>
              <a:t>- Apply least-privilege access, protect logs in transit and at rest, detect tampering, restrict administrative deletion, and avoid recording secrets. Make access to sensitive audit records traceable.</a:t>
            </a:r>
          </a:p>
          <a:p>
            <a:pPr marL="514350" indent="-514350">
              <a:buFont typeface="+mj-lt"/>
              <a:buAutoNum type="arabicPeriod"/>
            </a:pPr>
            <a:r>
              <a:rPr lang="en-US" b="1" dirty="0"/>
              <a:t>Test and improve continuously </a:t>
            </a:r>
            <a:r>
              <a:rPr lang="en-US" dirty="0"/>
              <a:t>- Include logging and monitoring in application testing, tabletop exercises, incident simulations, and periodic reviews. Check logging failures and retention against documented requirements.</a:t>
            </a:r>
          </a:p>
          <a:p>
            <a:endParaRPr lang="en-US" dirty="0"/>
          </a:p>
        </p:txBody>
      </p:sp>
    </p:spTree>
    <p:extLst>
      <p:ext uri="{BB962C8B-B14F-4D97-AF65-F5344CB8AC3E}">
        <p14:creationId xmlns:p14="http://schemas.microsoft.com/office/powerpoint/2010/main" val="1739930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D5EBF-1EF6-A46A-FCFC-4B849FCB7F72}"/>
              </a:ext>
            </a:extLst>
          </p:cNvPr>
          <p:cNvSpPr>
            <a:spLocks noGrp="1"/>
          </p:cNvSpPr>
          <p:nvPr>
            <p:ph type="title"/>
          </p:nvPr>
        </p:nvSpPr>
        <p:spPr/>
        <p:txBody>
          <a:bodyPr/>
          <a:lstStyle/>
          <a:p>
            <a:r>
              <a:rPr lang="en-US" dirty="0"/>
              <a:t>A10:2021 Server-Side Request Forgery</a:t>
            </a:r>
          </a:p>
        </p:txBody>
      </p:sp>
      <p:sp>
        <p:nvSpPr>
          <p:cNvPr id="3" name="Content Placeholder 2">
            <a:extLst>
              <a:ext uri="{FF2B5EF4-FFF2-40B4-BE49-F238E27FC236}">
                <a16:creationId xmlns:a16="http://schemas.microsoft.com/office/drawing/2014/main" id="{A9100AB5-5B08-FC98-B755-C07F1FCA113D}"/>
              </a:ext>
            </a:extLst>
          </p:cNvPr>
          <p:cNvSpPr>
            <a:spLocks noGrp="1"/>
          </p:cNvSpPr>
          <p:nvPr>
            <p:ph idx="1"/>
          </p:nvPr>
        </p:nvSpPr>
        <p:spPr/>
        <p:txBody>
          <a:bodyPr>
            <a:normAutofit/>
          </a:bodyPr>
          <a:lstStyle/>
          <a:p>
            <a:r>
              <a:rPr lang="en-US" dirty="0"/>
              <a:t>Server-Side Request Forgery (SSRF) occurs when an attacker can influence a server-side application to make an unauthorized request to a destination which is manipulated by the attacker.</a:t>
            </a:r>
          </a:p>
          <a:p>
            <a:r>
              <a:rPr lang="en-US" dirty="0"/>
              <a:t>Modern applications routinely fetch remote resources. They may retrieve an image, preview a URL, download a document, generate a PDF from a web page, import an RSS feed, or call a webhook. If the application accepts a user-supplied destination without properly restricting where the server can connect, this functionality may become an SSRF vulnerability.</a:t>
            </a:r>
          </a:p>
          <a:p>
            <a:endParaRPr lang="en-US" dirty="0"/>
          </a:p>
        </p:txBody>
      </p:sp>
    </p:spTree>
    <p:extLst>
      <p:ext uri="{BB962C8B-B14F-4D97-AF65-F5344CB8AC3E}">
        <p14:creationId xmlns:p14="http://schemas.microsoft.com/office/powerpoint/2010/main" val="40528695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6C1F3-6DDD-BE89-B1C1-E40052FEFD5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F98FFDA-61E5-366D-8004-F00F2554C569}"/>
              </a:ext>
            </a:extLst>
          </p:cNvPr>
          <p:cNvSpPr>
            <a:spLocks noGrp="1"/>
          </p:cNvSpPr>
          <p:nvPr>
            <p:ph idx="1"/>
          </p:nvPr>
        </p:nvSpPr>
        <p:spPr/>
        <p:txBody>
          <a:bodyPr/>
          <a:lstStyle/>
          <a:p>
            <a:r>
              <a:rPr lang="en-US" b="1" dirty="0"/>
              <a:t>The key issue is that the request originates from the application server, not necessarily from the attacker's browser. </a:t>
            </a:r>
            <a:r>
              <a:rPr lang="en-US" dirty="0"/>
              <a:t>The server may have access to internal services or network locations that are unavailable from the public internet.</a:t>
            </a:r>
          </a:p>
          <a:p>
            <a:r>
              <a:rPr lang="en-US" dirty="0"/>
              <a:t>OWASP describes SSRF as a weakness that can allow requests to unexpected destinations despite network boundaries such as firewalls, VPNs, and network access control lists. </a:t>
            </a:r>
          </a:p>
          <a:p>
            <a:r>
              <a:rPr lang="en-US" dirty="0"/>
              <a:t>Cloud services and complex application architectures can increase the potential impact</a:t>
            </a:r>
          </a:p>
          <a:p>
            <a:endParaRPr lang="en-US" dirty="0"/>
          </a:p>
        </p:txBody>
      </p:sp>
    </p:spTree>
    <p:extLst>
      <p:ext uri="{BB962C8B-B14F-4D97-AF65-F5344CB8AC3E}">
        <p14:creationId xmlns:p14="http://schemas.microsoft.com/office/powerpoint/2010/main" val="6408159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C87B1-216D-BD3E-DC2A-425FA1E3613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7955C4C-3702-8BB3-704A-5EFB6739E6D7}"/>
              </a:ext>
            </a:extLst>
          </p:cNvPr>
          <p:cNvSpPr>
            <a:spLocks noGrp="1"/>
          </p:cNvSpPr>
          <p:nvPr>
            <p:ph idx="1"/>
          </p:nvPr>
        </p:nvSpPr>
        <p:spPr/>
        <p:txBody>
          <a:bodyPr/>
          <a:lstStyle/>
          <a:p>
            <a:r>
              <a:rPr lang="en-US" dirty="0"/>
              <a:t>For instance, imagine a document-management application with a “Fetch document from URL” feature. The server should fetch only authorized public documents. If a user can manipulate the destination so that the server contacts an internal administrative service, the application may expose an internal network boundary.</a:t>
            </a:r>
          </a:p>
          <a:p>
            <a:r>
              <a:rPr lang="en-US" dirty="0"/>
              <a:t>Whether the user can read a response, infer service availability, or cause an internal action depends on the implementation and the permissions of the server-side component.</a:t>
            </a:r>
          </a:p>
          <a:p>
            <a:endParaRPr lang="en-US" dirty="0"/>
          </a:p>
        </p:txBody>
      </p:sp>
    </p:spTree>
    <p:extLst>
      <p:ext uri="{BB962C8B-B14F-4D97-AF65-F5344CB8AC3E}">
        <p14:creationId xmlns:p14="http://schemas.microsoft.com/office/powerpoint/2010/main" val="23723816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BAA94-AAA5-2346-78C0-018E0E7D728C}"/>
              </a:ext>
            </a:extLst>
          </p:cNvPr>
          <p:cNvSpPr>
            <a:spLocks noGrp="1"/>
          </p:cNvSpPr>
          <p:nvPr>
            <p:ph type="title"/>
          </p:nvPr>
        </p:nvSpPr>
        <p:spPr/>
        <p:txBody>
          <a:bodyPr/>
          <a:lstStyle/>
          <a:p>
            <a:r>
              <a:rPr lang="en-US" dirty="0"/>
              <a:t>Where should a penetration tester look for SSRF?</a:t>
            </a:r>
          </a:p>
        </p:txBody>
      </p:sp>
      <p:sp>
        <p:nvSpPr>
          <p:cNvPr id="3" name="Content Placeholder 2">
            <a:extLst>
              <a:ext uri="{FF2B5EF4-FFF2-40B4-BE49-F238E27FC236}">
                <a16:creationId xmlns:a16="http://schemas.microsoft.com/office/drawing/2014/main" id="{76742336-4B9F-193B-DE8E-40CFE2E73B2B}"/>
              </a:ext>
            </a:extLst>
          </p:cNvPr>
          <p:cNvSpPr>
            <a:spLocks noGrp="1"/>
          </p:cNvSpPr>
          <p:nvPr>
            <p:ph idx="1"/>
          </p:nvPr>
        </p:nvSpPr>
        <p:spPr/>
        <p:txBody>
          <a:bodyPr/>
          <a:lstStyle/>
          <a:p>
            <a:r>
              <a:rPr lang="en-US" dirty="0"/>
              <a:t>Identify server-side URL-fetching functionality</a:t>
            </a:r>
          </a:p>
          <a:p>
            <a:pPr lvl="1"/>
            <a:r>
              <a:rPr lang="en-US" dirty="0"/>
              <a:t>Does the backend retrieve the submitted resource?</a:t>
            </a:r>
          </a:p>
          <a:p>
            <a:pPr lvl="1"/>
            <a:r>
              <a:rPr lang="en-US" dirty="0"/>
              <a:t>Is the destination controlled by the user?</a:t>
            </a:r>
          </a:p>
          <a:p>
            <a:pPr lvl="1"/>
            <a:r>
              <a:rPr lang="en-US" dirty="0"/>
              <a:t>Is the URL stored for later processing?</a:t>
            </a:r>
          </a:p>
          <a:p>
            <a:pPr lvl="1"/>
            <a:r>
              <a:rPr lang="en-US" dirty="0"/>
              <a:t>Does a background worker perform the actual fetch?</a:t>
            </a:r>
          </a:p>
          <a:p>
            <a:pPr lvl="1"/>
            <a:r>
              <a:rPr lang="en-US" dirty="0"/>
              <a:t>Can the user select the protocol, host, or port?</a:t>
            </a:r>
          </a:p>
          <a:p>
            <a:pPr lvl="1"/>
            <a:r>
              <a:rPr lang="en-US" dirty="0"/>
              <a:t>Does the application validate the input before making the request?</a:t>
            </a:r>
          </a:p>
          <a:p>
            <a:r>
              <a:rPr lang="en-US" dirty="0"/>
              <a:t>Review the API and application behavior together. A frontend validation message does not prove that the server performs equivalent checks.</a:t>
            </a:r>
          </a:p>
        </p:txBody>
      </p:sp>
    </p:spTree>
    <p:extLst>
      <p:ext uri="{BB962C8B-B14F-4D97-AF65-F5344CB8AC3E}">
        <p14:creationId xmlns:p14="http://schemas.microsoft.com/office/powerpoint/2010/main" val="17631834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76AB4-CF17-6539-DAE4-47CF6905F66C}"/>
              </a:ext>
            </a:extLst>
          </p:cNvPr>
          <p:cNvSpPr>
            <a:spLocks noGrp="1"/>
          </p:cNvSpPr>
          <p:nvPr>
            <p:ph type="title"/>
          </p:nvPr>
        </p:nvSpPr>
        <p:spPr/>
        <p:txBody>
          <a:bodyPr/>
          <a:lstStyle/>
          <a:p>
            <a:r>
              <a:rPr lang="en-US" dirty="0"/>
              <a:t>Confirm whether the request originates from the server</a:t>
            </a:r>
          </a:p>
        </p:txBody>
      </p:sp>
      <p:sp>
        <p:nvSpPr>
          <p:cNvPr id="3" name="Content Placeholder 2">
            <a:extLst>
              <a:ext uri="{FF2B5EF4-FFF2-40B4-BE49-F238E27FC236}">
                <a16:creationId xmlns:a16="http://schemas.microsoft.com/office/drawing/2014/main" id="{88939E5E-CB9D-CB15-E373-F5386661983C}"/>
              </a:ext>
            </a:extLst>
          </p:cNvPr>
          <p:cNvSpPr>
            <a:spLocks noGrp="1"/>
          </p:cNvSpPr>
          <p:nvPr>
            <p:ph idx="1"/>
          </p:nvPr>
        </p:nvSpPr>
        <p:spPr/>
        <p:txBody>
          <a:bodyPr/>
          <a:lstStyle/>
          <a:p>
            <a:pPr lvl="0"/>
            <a:r>
              <a:rPr lang="en-US" dirty="0"/>
              <a:t>Identify a feature that fetches a URL.</a:t>
            </a:r>
          </a:p>
          <a:p>
            <a:pPr lvl="1"/>
            <a:r>
              <a:rPr lang="en-US" dirty="0"/>
              <a:t>Submit the URL of a domain or endpoint you control, with unique identification for the test.</a:t>
            </a:r>
          </a:p>
          <a:p>
            <a:pPr lvl="1"/>
            <a:r>
              <a:rPr lang="en-US" dirty="0"/>
              <a:t>Monitor your endpoint for DNS or HTTP activity.</a:t>
            </a:r>
          </a:p>
          <a:p>
            <a:pPr lvl="1"/>
            <a:r>
              <a:rPr lang="en-US" dirty="0"/>
              <a:t>Correlate the observed event with the application's response and server-side logs.</a:t>
            </a:r>
          </a:p>
          <a:p>
            <a:pPr lvl="1"/>
            <a:r>
              <a:rPr lang="en-US" dirty="0"/>
              <a:t>Repeat with an authorized baseline request to understand normal behavior.</a:t>
            </a:r>
          </a:p>
          <a:p>
            <a:r>
              <a:rPr lang="en-US" dirty="0"/>
              <a:t>If a request reaches your controlled endpoint after submission, you have evidence that the application initiated an outbound lookup or request.</a:t>
            </a:r>
          </a:p>
        </p:txBody>
      </p:sp>
    </p:spTree>
    <p:extLst>
      <p:ext uri="{BB962C8B-B14F-4D97-AF65-F5344CB8AC3E}">
        <p14:creationId xmlns:p14="http://schemas.microsoft.com/office/powerpoint/2010/main" val="9538247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B31B6-E893-31A5-44B2-03EFFCD2EE02}"/>
              </a:ext>
            </a:extLst>
          </p:cNvPr>
          <p:cNvSpPr>
            <a:spLocks noGrp="1"/>
          </p:cNvSpPr>
          <p:nvPr>
            <p:ph type="title"/>
          </p:nvPr>
        </p:nvSpPr>
        <p:spPr/>
        <p:txBody>
          <a:bodyPr/>
          <a:lstStyle/>
          <a:p>
            <a:r>
              <a:rPr lang="en-US" dirty="0"/>
              <a:t>How to defend against A10</a:t>
            </a:r>
          </a:p>
        </p:txBody>
      </p:sp>
      <p:sp>
        <p:nvSpPr>
          <p:cNvPr id="3" name="Content Placeholder 2">
            <a:extLst>
              <a:ext uri="{FF2B5EF4-FFF2-40B4-BE49-F238E27FC236}">
                <a16:creationId xmlns:a16="http://schemas.microsoft.com/office/drawing/2014/main" id="{F7586A3C-0B4C-7CBE-A815-19177C59A972}"/>
              </a:ext>
            </a:extLst>
          </p:cNvPr>
          <p:cNvSpPr>
            <a:spLocks noGrp="1"/>
          </p:cNvSpPr>
          <p:nvPr>
            <p:ph idx="1"/>
          </p:nvPr>
        </p:nvSpPr>
        <p:spPr>
          <a:xfrm>
            <a:off x="838200" y="1309036"/>
            <a:ext cx="10515600" cy="5229876"/>
          </a:xfrm>
        </p:spPr>
        <p:txBody>
          <a:bodyPr>
            <a:normAutofit fontScale="92500" lnSpcReduction="10000"/>
          </a:bodyPr>
          <a:lstStyle/>
          <a:p>
            <a:pPr marL="342900" indent="-342900">
              <a:buFont typeface="+mj-lt"/>
              <a:buAutoNum type="arabicPeriod"/>
            </a:pPr>
            <a:r>
              <a:rPr lang="en-US" sz="1800" b="1" dirty="0"/>
              <a:t>Use a positive destination allowlist </a:t>
            </a:r>
            <a:r>
              <a:rPr lang="en-US" sz="1800" dirty="0"/>
              <a:t>- Permit only the specific domains, schemes, and ports required for the business function. Prefer a predefined resource identifier mapped server-side to an approved destination rather than accepting arbitrary full URLs.</a:t>
            </a:r>
          </a:p>
          <a:p>
            <a:pPr marL="342900" indent="-342900">
              <a:buFont typeface="+mj-lt"/>
              <a:buAutoNum type="arabicPeriod"/>
            </a:pPr>
            <a:r>
              <a:rPr lang="en-US" sz="1800" b="1" dirty="0"/>
              <a:t>Parse and validate destinations correctly </a:t>
            </a:r>
            <a:r>
              <a:rPr lang="en-US" sz="1800" dirty="0"/>
              <a:t>- Use a reliable URL parser and canonicalize the destination before checking it. Verify the hostname and resolved IP addresses, including IPv4 and IPv6, against the destination policy. Ensure the actual connection uses the validated destination.</a:t>
            </a:r>
          </a:p>
          <a:p>
            <a:pPr marL="342900" indent="-342900">
              <a:buFont typeface="+mj-lt"/>
              <a:buAutoNum type="arabicPeriod"/>
            </a:pPr>
            <a:r>
              <a:rPr lang="en-US" sz="1800" b="1" dirty="0"/>
              <a:t>Restrict redirects and protocols </a:t>
            </a:r>
            <a:r>
              <a:rPr lang="en-US" sz="1800" dirty="0"/>
              <a:t>- Allow only the schemes required by the application, usually HTTP or HTTPS for web-fetching functions. Disable automatic redirects or validate every redirect destination before following it.</a:t>
            </a:r>
          </a:p>
          <a:p>
            <a:pPr marL="342900" indent="-342900">
              <a:buFont typeface="+mj-lt"/>
              <a:buAutoNum type="arabicPeriod"/>
            </a:pPr>
            <a:r>
              <a:rPr lang="en-US" sz="1800" b="1" dirty="0"/>
              <a:t>Apply network egress controls </a:t>
            </a:r>
            <a:r>
              <a:rPr lang="en-US" sz="1800" dirty="0"/>
              <a:t>- Use deny-by-default outbound firewall rules. Separate URL-fetching components from sensitive internal systems, and block access to unnecessary private, loopback, link-local, and management networks.</a:t>
            </a:r>
          </a:p>
          <a:p>
            <a:pPr marL="342900" indent="-342900">
              <a:buFont typeface="+mj-lt"/>
              <a:buAutoNum type="arabicPeriod"/>
            </a:pPr>
            <a:r>
              <a:rPr lang="en-US" sz="1800" b="1" dirty="0"/>
              <a:t>Protect cloud identity and metadata </a:t>
            </a:r>
            <a:r>
              <a:rPr lang="en-US" sz="1800" dirty="0"/>
              <a:t>- Apply the cloud provider's metadata protections and workload identity controls. Use least-privilege service identities, and prevent untrusted fetch components from accessing credential-bearing endpoints.</a:t>
            </a:r>
          </a:p>
          <a:p>
            <a:pPr marL="342900" indent="-342900">
              <a:buFont typeface="+mj-lt"/>
              <a:buAutoNum type="arabicPeriod"/>
            </a:pPr>
            <a:r>
              <a:rPr lang="en-US" sz="1800" b="1" dirty="0"/>
              <a:t>Limit the fetch component's capabilities </a:t>
            </a:r>
            <a:r>
              <a:rPr lang="en-US" sz="1800" dirty="0"/>
              <a:t>- Restrict response sizes, processing time, redirects, supported methods, and content types. Run URL-fetching jobs in an isolated, minimally privileged component rather than giving them broad access to the application's environment.</a:t>
            </a:r>
          </a:p>
          <a:p>
            <a:pPr marL="342900" indent="-342900">
              <a:buFont typeface="+mj-lt"/>
              <a:buAutoNum type="arabicPeriod"/>
            </a:pPr>
            <a:r>
              <a:rPr lang="en-US" sz="1800" b="1" dirty="0"/>
              <a:t>Log and monitor outbound requests </a:t>
            </a:r>
            <a:r>
              <a:rPr lang="en-US" sz="1800" dirty="0"/>
              <a:t>- Record the destination, requesting feature, outcome, and correlation ID without unnecessarily logging sensitive response content or credentials. Alert on blocked requests, repeated validation failures, and unexpected attempts to reach restricted networks.</a:t>
            </a:r>
          </a:p>
        </p:txBody>
      </p:sp>
    </p:spTree>
    <p:extLst>
      <p:ext uri="{BB962C8B-B14F-4D97-AF65-F5344CB8AC3E}">
        <p14:creationId xmlns:p14="http://schemas.microsoft.com/office/powerpoint/2010/main" val="38277949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8C9AD-2D84-F1AD-4CF3-4C808E36151C}"/>
              </a:ext>
            </a:extLst>
          </p:cNvPr>
          <p:cNvSpPr>
            <a:spLocks noGrp="1"/>
          </p:cNvSpPr>
          <p:nvPr>
            <p:ph type="title"/>
          </p:nvPr>
        </p:nvSpPr>
        <p:spPr/>
        <p:txBody>
          <a:bodyPr/>
          <a:lstStyle/>
          <a:p>
            <a:r>
              <a:rPr lang="en-US" dirty="0"/>
              <a:t>Example of safer application design</a:t>
            </a:r>
          </a:p>
        </p:txBody>
      </p:sp>
      <p:sp>
        <p:nvSpPr>
          <p:cNvPr id="3" name="Content Placeholder 2">
            <a:extLst>
              <a:ext uri="{FF2B5EF4-FFF2-40B4-BE49-F238E27FC236}">
                <a16:creationId xmlns:a16="http://schemas.microsoft.com/office/drawing/2014/main" id="{FF357BF2-2D87-5D26-5139-50BCA6F614B6}"/>
              </a:ext>
            </a:extLst>
          </p:cNvPr>
          <p:cNvSpPr>
            <a:spLocks noGrp="1"/>
          </p:cNvSpPr>
          <p:nvPr>
            <p:ph idx="1"/>
          </p:nvPr>
        </p:nvSpPr>
        <p:spPr/>
        <p:txBody>
          <a:bodyPr>
            <a:normAutofit fontScale="92500" lnSpcReduction="10000"/>
          </a:bodyPr>
          <a:lstStyle/>
          <a:p>
            <a:r>
              <a:rPr lang="en-US" dirty="0"/>
              <a:t>Suppose an application needs to fetch corporate logos from approved vendors.</a:t>
            </a:r>
          </a:p>
          <a:p>
            <a:r>
              <a:rPr lang="en-US" dirty="0"/>
              <a:t>A risky design accepts any user-supplied URL and passes it directly to a general-purpose HTTP client.</a:t>
            </a:r>
          </a:p>
          <a:p>
            <a:r>
              <a:rPr lang="en-US" dirty="0"/>
              <a:t>A safer design would:</a:t>
            </a:r>
          </a:p>
          <a:p>
            <a:pPr lvl="1"/>
            <a:r>
              <a:rPr lang="en-US" dirty="0"/>
              <a:t>Accept a vendor identifier or approved resource ID.</a:t>
            </a:r>
          </a:p>
          <a:p>
            <a:pPr lvl="1"/>
            <a:r>
              <a:rPr lang="en-US" dirty="0"/>
              <a:t>Resolve that identifier to a destination configured by the application.</a:t>
            </a:r>
          </a:p>
          <a:p>
            <a:pPr lvl="1"/>
            <a:r>
              <a:rPr lang="en-US" dirty="0"/>
              <a:t>Use an allowlist of the expected hosts and required schemes.</a:t>
            </a:r>
          </a:p>
          <a:p>
            <a:pPr lvl="1"/>
            <a:r>
              <a:rPr lang="en-US" dirty="0"/>
              <a:t>Validate DNS resolution and the connection destination against the policy.</a:t>
            </a:r>
          </a:p>
          <a:p>
            <a:pPr lvl="1"/>
            <a:r>
              <a:rPr lang="en-US" dirty="0"/>
              <a:t>Disable redirects or revalidate every redirect.</a:t>
            </a:r>
          </a:p>
          <a:p>
            <a:pPr lvl="1"/>
            <a:r>
              <a:rPr lang="en-US" dirty="0"/>
              <a:t>Execute the request from a restricted network component.</a:t>
            </a:r>
          </a:p>
          <a:p>
            <a:pPr lvl="1"/>
            <a:r>
              <a:rPr lang="en-US" dirty="0"/>
              <a:t>Limit the size and duration of the download.</a:t>
            </a:r>
          </a:p>
          <a:p>
            <a:pPr lvl="1"/>
            <a:r>
              <a:rPr lang="en-US" dirty="0"/>
              <a:t>Log the request and outcome without exposing secrets.</a:t>
            </a:r>
          </a:p>
          <a:p>
            <a:endParaRPr lang="en-US" dirty="0"/>
          </a:p>
        </p:txBody>
      </p:sp>
    </p:spTree>
    <p:extLst>
      <p:ext uri="{BB962C8B-B14F-4D97-AF65-F5344CB8AC3E}">
        <p14:creationId xmlns:p14="http://schemas.microsoft.com/office/powerpoint/2010/main" val="27009309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768FAE1D-38E8-177C-83B4-46B60C96FA5B}"/>
              </a:ext>
            </a:extLst>
          </p:cNvPr>
          <p:cNvGraphicFramePr>
            <a:graphicFrameLocks noGrp="1"/>
          </p:cNvGraphicFramePr>
          <p:nvPr>
            <p:ph idx="1"/>
          </p:nvPr>
        </p:nvGraphicFramePr>
        <p:xfrm>
          <a:off x="0" y="7924"/>
          <a:ext cx="12192000" cy="7034940"/>
        </p:xfrm>
        <a:graphic>
          <a:graphicData uri="http://schemas.openxmlformats.org/drawingml/2006/table">
            <a:tbl>
              <a:tblPr>
                <a:tableStyleId>{5C22544A-7EE6-4342-B048-85BDC9FD1C3A}</a:tableStyleId>
              </a:tblPr>
              <a:tblGrid>
                <a:gridCol w="3048000">
                  <a:extLst>
                    <a:ext uri="{9D8B030D-6E8A-4147-A177-3AD203B41FA5}">
                      <a16:colId xmlns:a16="http://schemas.microsoft.com/office/drawing/2014/main" val="1156279174"/>
                    </a:ext>
                  </a:extLst>
                </a:gridCol>
                <a:gridCol w="3048000">
                  <a:extLst>
                    <a:ext uri="{9D8B030D-6E8A-4147-A177-3AD203B41FA5}">
                      <a16:colId xmlns:a16="http://schemas.microsoft.com/office/drawing/2014/main" val="3013989554"/>
                    </a:ext>
                  </a:extLst>
                </a:gridCol>
                <a:gridCol w="3048000">
                  <a:extLst>
                    <a:ext uri="{9D8B030D-6E8A-4147-A177-3AD203B41FA5}">
                      <a16:colId xmlns:a16="http://schemas.microsoft.com/office/drawing/2014/main" val="1598246201"/>
                    </a:ext>
                  </a:extLst>
                </a:gridCol>
                <a:gridCol w="3048000">
                  <a:extLst>
                    <a:ext uri="{9D8B030D-6E8A-4147-A177-3AD203B41FA5}">
                      <a16:colId xmlns:a16="http://schemas.microsoft.com/office/drawing/2014/main" val="3168371115"/>
                    </a:ext>
                  </a:extLst>
                </a:gridCol>
              </a:tblGrid>
              <a:tr h="342107">
                <a:tc>
                  <a:txBody>
                    <a:bodyPr/>
                    <a:lstStyle/>
                    <a:p>
                      <a:pPr algn="ctr">
                        <a:buNone/>
                      </a:pPr>
                      <a:r>
                        <a:rPr lang="en-US" sz="2800" dirty="0"/>
                        <a:t>Rank</a:t>
                      </a:r>
                    </a:p>
                  </a:txBody>
                  <a:tcPr marL="61674" marR="61674" marT="30837" marB="30837" anchor="ctr">
                    <a:solidFill>
                      <a:schemeClr val="bg1">
                        <a:lumMod val="65000"/>
                      </a:schemeClr>
                    </a:solidFill>
                  </a:tcPr>
                </a:tc>
                <a:tc>
                  <a:txBody>
                    <a:bodyPr/>
                    <a:lstStyle/>
                    <a:p>
                      <a:pPr>
                        <a:buNone/>
                      </a:pPr>
                      <a:r>
                        <a:rPr lang="en-US" sz="2400" dirty="0"/>
                        <a:t>OWASP Category</a:t>
                      </a:r>
                    </a:p>
                  </a:txBody>
                  <a:tcPr marL="61674" marR="61674" marT="30837" marB="30837" anchor="ctr">
                    <a:solidFill>
                      <a:schemeClr val="bg1">
                        <a:lumMod val="65000"/>
                      </a:schemeClr>
                    </a:solidFill>
                  </a:tcPr>
                </a:tc>
                <a:tc>
                  <a:txBody>
                    <a:bodyPr/>
                    <a:lstStyle/>
                    <a:p>
                      <a:pPr>
                        <a:buNone/>
                      </a:pPr>
                      <a:r>
                        <a:rPr lang="en-US" sz="2400" dirty="0"/>
                        <a:t>Simple Meaning</a:t>
                      </a:r>
                    </a:p>
                  </a:txBody>
                  <a:tcPr marL="61674" marR="61674" marT="30837" marB="30837" anchor="ctr">
                    <a:solidFill>
                      <a:schemeClr val="bg1">
                        <a:lumMod val="65000"/>
                      </a:schemeClr>
                    </a:solidFill>
                  </a:tcPr>
                </a:tc>
                <a:tc>
                  <a:txBody>
                    <a:bodyPr/>
                    <a:lstStyle/>
                    <a:p>
                      <a:pPr>
                        <a:buNone/>
                      </a:pPr>
                      <a:r>
                        <a:rPr lang="en-US" sz="2800" dirty="0"/>
                        <a:t>Common Example</a:t>
                      </a:r>
                    </a:p>
                  </a:txBody>
                  <a:tcPr marL="61674" marR="61674" marT="30837" marB="30837" anchor="ctr">
                    <a:solidFill>
                      <a:schemeClr val="bg1">
                        <a:lumMod val="65000"/>
                      </a:schemeClr>
                    </a:solidFill>
                  </a:tcPr>
                </a:tc>
                <a:extLst>
                  <a:ext uri="{0D108BD9-81ED-4DB2-BD59-A6C34878D82A}">
                    <a16:rowId xmlns:a16="http://schemas.microsoft.com/office/drawing/2014/main" val="1520305045"/>
                  </a:ext>
                </a:extLst>
              </a:tr>
              <a:tr h="855269">
                <a:tc>
                  <a:txBody>
                    <a:bodyPr/>
                    <a:lstStyle/>
                    <a:p>
                      <a:pPr algn="ctr">
                        <a:buNone/>
                      </a:pPr>
                      <a:r>
                        <a:rPr lang="en-US" sz="2800"/>
                        <a:t>A01</a:t>
                      </a:r>
                    </a:p>
                  </a:txBody>
                  <a:tcPr marL="61674" marR="61674" marT="30837" marB="30837" anchor="ctr">
                    <a:solidFill>
                      <a:schemeClr val="bg1">
                        <a:lumMod val="65000"/>
                      </a:schemeClr>
                    </a:solidFill>
                  </a:tcPr>
                </a:tc>
                <a:tc>
                  <a:txBody>
                    <a:bodyPr/>
                    <a:lstStyle/>
                    <a:p>
                      <a:pPr>
                        <a:buNone/>
                      </a:pPr>
                      <a:r>
                        <a:rPr lang="en-US" sz="1800"/>
                        <a:t>Broken Access Control</a:t>
                      </a:r>
                    </a:p>
                  </a:txBody>
                  <a:tcPr marL="61674" marR="61674" marT="30837" marB="30837" anchor="ctr"/>
                </a:tc>
                <a:tc>
                  <a:txBody>
                    <a:bodyPr/>
                    <a:lstStyle/>
                    <a:p>
                      <a:pPr>
                        <a:buNone/>
                      </a:pPr>
                      <a:r>
                        <a:rPr lang="en-US" sz="1600" dirty="0"/>
                        <a:t>User can access something they shouldn't</a:t>
                      </a:r>
                    </a:p>
                  </a:txBody>
                  <a:tcPr marL="61674" marR="61674" marT="30837" marB="30837" anchor="ctr"/>
                </a:tc>
                <a:tc>
                  <a:txBody>
                    <a:bodyPr/>
                    <a:lstStyle/>
                    <a:p>
                      <a:pPr>
                        <a:buNone/>
                      </a:pPr>
                      <a:r>
                        <a:rPr lang="en-US" sz="1800" dirty="0"/>
                        <a:t>IDOR</a:t>
                      </a:r>
                    </a:p>
                  </a:txBody>
                  <a:tcPr marL="61674" marR="61674" marT="30837" marB="30837" anchor="ctr"/>
                </a:tc>
                <a:extLst>
                  <a:ext uri="{0D108BD9-81ED-4DB2-BD59-A6C34878D82A}">
                    <a16:rowId xmlns:a16="http://schemas.microsoft.com/office/drawing/2014/main" val="4188201945"/>
                  </a:ext>
                </a:extLst>
              </a:tr>
              <a:tr h="598688">
                <a:tc>
                  <a:txBody>
                    <a:bodyPr/>
                    <a:lstStyle/>
                    <a:p>
                      <a:pPr algn="ctr">
                        <a:buNone/>
                      </a:pPr>
                      <a:r>
                        <a:rPr lang="en-US" sz="2800"/>
                        <a:t>A02</a:t>
                      </a:r>
                    </a:p>
                  </a:txBody>
                  <a:tcPr marL="61674" marR="61674" marT="30837" marB="30837" anchor="ctr">
                    <a:solidFill>
                      <a:schemeClr val="bg1">
                        <a:lumMod val="65000"/>
                      </a:schemeClr>
                    </a:solidFill>
                  </a:tcPr>
                </a:tc>
                <a:tc>
                  <a:txBody>
                    <a:bodyPr/>
                    <a:lstStyle/>
                    <a:p>
                      <a:pPr>
                        <a:buNone/>
                      </a:pPr>
                      <a:r>
                        <a:rPr lang="en-US" sz="1800"/>
                        <a:t>Cryptographic Failures</a:t>
                      </a:r>
                    </a:p>
                  </a:txBody>
                  <a:tcPr marL="61674" marR="61674" marT="30837" marB="30837" anchor="ctr"/>
                </a:tc>
                <a:tc>
                  <a:txBody>
                    <a:bodyPr/>
                    <a:lstStyle/>
                    <a:p>
                      <a:pPr>
                        <a:buNone/>
                      </a:pPr>
                      <a:r>
                        <a:rPr lang="en-US" sz="1600"/>
                        <a:t>Sensitive data is inadequately protected</a:t>
                      </a:r>
                    </a:p>
                  </a:txBody>
                  <a:tcPr marL="61674" marR="61674" marT="30837" marB="30837" anchor="ctr"/>
                </a:tc>
                <a:tc>
                  <a:txBody>
                    <a:bodyPr/>
                    <a:lstStyle/>
                    <a:p>
                      <a:pPr>
                        <a:buNone/>
                      </a:pPr>
                      <a:r>
                        <a:rPr lang="en-US" sz="1800"/>
                        <a:t>Weak password hashing</a:t>
                      </a:r>
                    </a:p>
                  </a:txBody>
                  <a:tcPr marL="61674" marR="61674" marT="30837" marB="30837" anchor="ctr"/>
                </a:tc>
                <a:extLst>
                  <a:ext uri="{0D108BD9-81ED-4DB2-BD59-A6C34878D82A}">
                    <a16:rowId xmlns:a16="http://schemas.microsoft.com/office/drawing/2014/main" val="2311814289"/>
                  </a:ext>
                </a:extLst>
              </a:tr>
              <a:tr h="598688">
                <a:tc>
                  <a:txBody>
                    <a:bodyPr/>
                    <a:lstStyle/>
                    <a:p>
                      <a:pPr algn="ctr">
                        <a:buNone/>
                      </a:pPr>
                      <a:r>
                        <a:rPr lang="en-US" sz="2800"/>
                        <a:t>A03</a:t>
                      </a:r>
                    </a:p>
                  </a:txBody>
                  <a:tcPr marL="61674" marR="61674" marT="30837" marB="30837" anchor="ctr">
                    <a:solidFill>
                      <a:schemeClr val="bg1">
                        <a:lumMod val="65000"/>
                      </a:schemeClr>
                    </a:solidFill>
                  </a:tcPr>
                </a:tc>
                <a:tc>
                  <a:txBody>
                    <a:bodyPr/>
                    <a:lstStyle/>
                    <a:p>
                      <a:pPr>
                        <a:buNone/>
                      </a:pPr>
                      <a:r>
                        <a:rPr lang="en-US" sz="1800" dirty="0"/>
                        <a:t>Injection</a:t>
                      </a:r>
                    </a:p>
                  </a:txBody>
                  <a:tcPr marL="61674" marR="61674" marT="30837" marB="30837" anchor="ctr"/>
                </a:tc>
                <a:tc>
                  <a:txBody>
                    <a:bodyPr/>
                    <a:lstStyle/>
                    <a:p>
                      <a:pPr>
                        <a:buNone/>
                      </a:pPr>
                      <a:r>
                        <a:rPr lang="en-US" sz="1600" dirty="0"/>
                        <a:t>Untrusted input changes a command/query</a:t>
                      </a:r>
                    </a:p>
                  </a:txBody>
                  <a:tcPr marL="61674" marR="61674" marT="30837" marB="30837" anchor="ctr"/>
                </a:tc>
                <a:tc>
                  <a:txBody>
                    <a:bodyPr/>
                    <a:lstStyle/>
                    <a:p>
                      <a:pPr>
                        <a:buNone/>
                      </a:pPr>
                      <a:r>
                        <a:rPr lang="en-US" sz="1800"/>
                        <a:t>SQL Injection</a:t>
                      </a:r>
                    </a:p>
                  </a:txBody>
                  <a:tcPr marL="61674" marR="61674" marT="30837" marB="30837" anchor="ctr"/>
                </a:tc>
                <a:extLst>
                  <a:ext uri="{0D108BD9-81ED-4DB2-BD59-A6C34878D82A}">
                    <a16:rowId xmlns:a16="http://schemas.microsoft.com/office/drawing/2014/main" val="3841902060"/>
                  </a:ext>
                </a:extLst>
              </a:tr>
              <a:tr h="598688">
                <a:tc>
                  <a:txBody>
                    <a:bodyPr/>
                    <a:lstStyle/>
                    <a:p>
                      <a:pPr algn="ctr">
                        <a:buNone/>
                      </a:pPr>
                      <a:r>
                        <a:rPr lang="en-US" sz="2800"/>
                        <a:t>A04</a:t>
                      </a:r>
                    </a:p>
                  </a:txBody>
                  <a:tcPr marL="61674" marR="61674" marT="30837" marB="30837" anchor="ctr">
                    <a:solidFill>
                      <a:schemeClr val="bg1">
                        <a:lumMod val="65000"/>
                      </a:schemeClr>
                    </a:solidFill>
                  </a:tcPr>
                </a:tc>
                <a:tc>
                  <a:txBody>
                    <a:bodyPr/>
                    <a:lstStyle/>
                    <a:p>
                      <a:pPr>
                        <a:buNone/>
                      </a:pPr>
                      <a:r>
                        <a:rPr lang="en-US" sz="1800"/>
                        <a:t>Insecure Design</a:t>
                      </a:r>
                    </a:p>
                  </a:txBody>
                  <a:tcPr marL="61674" marR="61674" marT="30837" marB="30837" anchor="ctr"/>
                </a:tc>
                <a:tc>
                  <a:txBody>
                    <a:bodyPr/>
                    <a:lstStyle/>
                    <a:p>
                      <a:pPr>
                        <a:buNone/>
                      </a:pPr>
                      <a:r>
                        <a:rPr lang="en-US" sz="1600"/>
                        <a:t>Security weakness exists in the design</a:t>
                      </a:r>
                    </a:p>
                  </a:txBody>
                  <a:tcPr marL="61674" marR="61674" marT="30837" marB="30837" anchor="ctr"/>
                </a:tc>
                <a:tc>
                  <a:txBody>
                    <a:bodyPr/>
                    <a:lstStyle/>
                    <a:p>
                      <a:pPr>
                        <a:buNone/>
                      </a:pPr>
                      <a:r>
                        <a:rPr lang="en-US" sz="1800" dirty="0"/>
                        <a:t>Weak password-reset design</a:t>
                      </a:r>
                    </a:p>
                  </a:txBody>
                  <a:tcPr marL="61674" marR="61674" marT="30837" marB="30837" anchor="ctr"/>
                </a:tc>
                <a:extLst>
                  <a:ext uri="{0D108BD9-81ED-4DB2-BD59-A6C34878D82A}">
                    <a16:rowId xmlns:a16="http://schemas.microsoft.com/office/drawing/2014/main" val="850848807"/>
                  </a:ext>
                </a:extLst>
              </a:tr>
              <a:tr h="598688">
                <a:tc>
                  <a:txBody>
                    <a:bodyPr/>
                    <a:lstStyle/>
                    <a:p>
                      <a:pPr algn="ctr">
                        <a:buNone/>
                      </a:pPr>
                      <a:r>
                        <a:rPr lang="en-US" sz="2800"/>
                        <a:t>A05</a:t>
                      </a:r>
                    </a:p>
                  </a:txBody>
                  <a:tcPr marL="61674" marR="61674" marT="30837" marB="30837" anchor="ctr">
                    <a:solidFill>
                      <a:schemeClr val="bg1">
                        <a:lumMod val="65000"/>
                      </a:schemeClr>
                    </a:solidFill>
                  </a:tcPr>
                </a:tc>
                <a:tc>
                  <a:txBody>
                    <a:bodyPr/>
                    <a:lstStyle/>
                    <a:p>
                      <a:pPr>
                        <a:buNone/>
                      </a:pPr>
                      <a:r>
                        <a:rPr lang="en-US" sz="1800"/>
                        <a:t>Security Misconfiguration</a:t>
                      </a:r>
                    </a:p>
                  </a:txBody>
                  <a:tcPr marL="61674" marR="61674" marT="30837" marB="30837" anchor="ctr"/>
                </a:tc>
                <a:tc>
                  <a:txBody>
                    <a:bodyPr/>
                    <a:lstStyle/>
                    <a:p>
                      <a:pPr>
                        <a:buNone/>
                      </a:pPr>
                      <a:r>
                        <a:rPr lang="en-US" sz="1600"/>
                        <a:t>Security settings are incorrectly configured</a:t>
                      </a:r>
                    </a:p>
                  </a:txBody>
                  <a:tcPr marL="61674" marR="61674" marT="30837" marB="30837" anchor="ctr"/>
                </a:tc>
                <a:tc>
                  <a:txBody>
                    <a:bodyPr/>
                    <a:lstStyle/>
                    <a:p>
                      <a:pPr>
                        <a:buNone/>
                      </a:pPr>
                      <a:r>
                        <a:rPr lang="en-US" sz="1800"/>
                        <a:t>Debug mode enabled</a:t>
                      </a:r>
                    </a:p>
                  </a:txBody>
                  <a:tcPr marL="61674" marR="61674" marT="30837" marB="30837" anchor="ctr"/>
                </a:tc>
                <a:extLst>
                  <a:ext uri="{0D108BD9-81ED-4DB2-BD59-A6C34878D82A}">
                    <a16:rowId xmlns:a16="http://schemas.microsoft.com/office/drawing/2014/main" val="1449253905"/>
                  </a:ext>
                </a:extLst>
              </a:tr>
              <a:tr h="598688">
                <a:tc>
                  <a:txBody>
                    <a:bodyPr/>
                    <a:lstStyle/>
                    <a:p>
                      <a:pPr algn="ctr">
                        <a:buNone/>
                      </a:pPr>
                      <a:r>
                        <a:rPr lang="en-US" sz="2800"/>
                        <a:t>A06</a:t>
                      </a:r>
                    </a:p>
                  </a:txBody>
                  <a:tcPr marL="61674" marR="61674" marT="30837" marB="30837" anchor="ctr">
                    <a:solidFill>
                      <a:schemeClr val="bg1">
                        <a:lumMod val="65000"/>
                      </a:schemeClr>
                    </a:solidFill>
                  </a:tcPr>
                </a:tc>
                <a:tc>
                  <a:txBody>
                    <a:bodyPr/>
                    <a:lstStyle/>
                    <a:p>
                      <a:pPr>
                        <a:buNone/>
                      </a:pPr>
                      <a:r>
                        <a:rPr lang="en-US" sz="1800"/>
                        <a:t>Vulnerable and Outdated Components</a:t>
                      </a:r>
                    </a:p>
                  </a:txBody>
                  <a:tcPr marL="61674" marR="61674" marT="30837" marB="30837" anchor="ctr"/>
                </a:tc>
                <a:tc>
                  <a:txBody>
                    <a:bodyPr/>
                    <a:lstStyle/>
                    <a:p>
                      <a:pPr>
                        <a:buNone/>
                      </a:pPr>
                      <a:r>
                        <a:rPr lang="en-US" sz="1600"/>
                        <a:t>Old/vulnerable software is used</a:t>
                      </a:r>
                    </a:p>
                  </a:txBody>
                  <a:tcPr marL="61674" marR="61674" marT="30837" marB="30837" anchor="ctr"/>
                </a:tc>
                <a:tc>
                  <a:txBody>
                    <a:bodyPr/>
                    <a:lstStyle/>
                    <a:p>
                      <a:pPr>
                        <a:buNone/>
                      </a:pPr>
                      <a:r>
                        <a:rPr lang="en-US" sz="1800"/>
                        <a:t>Vulnerable library</a:t>
                      </a:r>
                    </a:p>
                  </a:txBody>
                  <a:tcPr marL="61674" marR="61674" marT="30837" marB="30837" anchor="ctr"/>
                </a:tc>
                <a:extLst>
                  <a:ext uri="{0D108BD9-81ED-4DB2-BD59-A6C34878D82A}">
                    <a16:rowId xmlns:a16="http://schemas.microsoft.com/office/drawing/2014/main" val="1198406418"/>
                  </a:ext>
                </a:extLst>
              </a:tr>
              <a:tr h="598688">
                <a:tc>
                  <a:txBody>
                    <a:bodyPr/>
                    <a:lstStyle/>
                    <a:p>
                      <a:pPr algn="ctr">
                        <a:buNone/>
                      </a:pPr>
                      <a:r>
                        <a:rPr lang="en-US" sz="2800"/>
                        <a:t>A07</a:t>
                      </a:r>
                    </a:p>
                  </a:txBody>
                  <a:tcPr marL="61674" marR="61674" marT="30837" marB="30837" anchor="ctr">
                    <a:solidFill>
                      <a:schemeClr val="bg1">
                        <a:lumMod val="65000"/>
                      </a:schemeClr>
                    </a:solidFill>
                  </a:tcPr>
                </a:tc>
                <a:tc>
                  <a:txBody>
                    <a:bodyPr/>
                    <a:lstStyle/>
                    <a:p>
                      <a:pPr>
                        <a:buNone/>
                      </a:pPr>
                      <a:r>
                        <a:rPr lang="en-US" sz="1800"/>
                        <a:t>Identification &amp; Authentication Failures</a:t>
                      </a:r>
                    </a:p>
                  </a:txBody>
                  <a:tcPr marL="61674" marR="61674" marT="30837" marB="30837" anchor="ctr"/>
                </a:tc>
                <a:tc>
                  <a:txBody>
                    <a:bodyPr/>
                    <a:lstStyle/>
                    <a:p>
                      <a:pPr>
                        <a:buNone/>
                      </a:pPr>
                      <a:r>
                        <a:rPr lang="en-US" sz="1600"/>
                        <a:t>Identity/session controls are weak</a:t>
                      </a:r>
                    </a:p>
                  </a:txBody>
                  <a:tcPr marL="61674" marR="61674" marT="30837" marB="30837" anchor="ctr"/>
                </a:tc>
                <a:tc>
                  <a:txBody>
                    <a:bodyPr/>
                    <a:lstStyle/>
                    <a:p>
                      <a:pPr>
                        <a:buNone/>
                      </a:pPr>
                      <a:r>
                        <a:rPr lang="en-US" sz="1800"/>
                        <a:t>Credential stuffing</a:t>
                      </a:r>
                    </a:p>
                  </a:txBody>
                  <a:tcPr marL="61674" marR="61674" marT="30837" marB="30837" anchor="ctr"/>
                </a:tc>
                <a:extLst>
                  <a:ext uri="{0D108BD9-81ED-4DB2-BD59-A6C34878D82A}">
                    <a16:rowId xmlns:a16="http://schemas.microsoft.com/office/drawing/2014/main" val="1815718546"/>
                  </a:ext>
                </a:extLst>
              </a:tr>
              <a:tr h="598688">
                <a:tc>
                  <a:txBody>
                    <a:bodyPr/>
                    <a:lstStyle/>
                    <a:p>
                      <a:pPr algn="ctr">
                        <a:buNone/>
                      </a:pPr>
                      <a:r>
                        <a:rPr lang="en-US" sz="2800"/>
                        <a:t>A08</a:t>
                      </a:r>
                    </a:p>
                  </a:txBody>
                  <a:tcPr marL="61674" marR="61674" marT="30837" marB="30837" anchor="ctr">
                    <a:solidFill>
                      <a:schemeClr val="bg1">
                        <a:lumMod val="65000"/>
                      </a:schemeClr>
                    </a:solidFill>
                  </a:tcPr>
                </a:tc>
                <a:tc>
                  <a:txBody>
                    <a:bodyPr/>
                    <a:lstStyle/>
                    <a:p>
                      <a:pPr>
                        <a:buNone/>
                      </a:pPr>
                      <a:r>
                        <a:rPr lang="en-US" sz="1800"/>
                        <a:t>Software &amp; Data Integrity Failures</a:t>
                      </a:r>
                    </a:p>
                  </a:txBody>
                  <a:tcPr marL="61674" marR="61674" marT="30837" marB="30837" anchor="ctr"/>
                </a:tc>
                <a:tc>
                  <a:txBody>
                    <a:bodyPr/>
                    <a:lstStyle/>
                    <a:p>
                      <a:pPr>
                        <a:buNone/>
                      </a:pPr>
                      <a:r>
                        <a:rPr lang="en-US" sz="1600"/>
                        <a:t>Integrity/authenticity isn't verified</a:t>
                      </a:r>
                    </a:p>
                  </a:txBody>
                  <a:tcPr marL="61674" marR="61674" marT="30837" marB="30837" anchor="ctr"/>
                </a:tc>
                <a:tc>
                  <a:txBody>
                    <a:bodyPr/>
                    <a:lstStyle/>
                    <a:p>
                      <a:pPr>
                        <a:buNone/>
                      </a:pPr>
                      <a:r>
                        <a:rPr lang="en-US" sz="1800"/>
                        <a:t>Compromised dependency</a:t>
                      </a:r>
                    </a:p>
                  </a:txBody>
                  <a:tcPr marL="61674" marR="61674" marT="30837" marB="30837" anchor="ctr"/>
                </a:tc>
                <a:extLst>
                  <a:ext uri="{0D108BD9-81ED-4DB2-BD59-A6C34878D82A}">
                    <a16:rowId xmlns:a16="http://schemas.microsoft.com/office/drawing/2014/main" val="3292403821"/>
                  </a:ext>
                </a:extLst>
              </a:tr>
              <a:tr h="598688">
                <a:tc>
                  <a:txBody>
                    <a:bodyPr/>
                    <a:lstStyle/>
                    <a:p>
                      <a:pPr algn="ctr">
                        <a:buNone/>
                      </a:pPr>
                      <a:r>
                        <a:rPr lang="en-US" sz="2800"/>
                        <a:t>A09</a:t>
                      </a:r>
                    </a:p>
                  </a:txBody>
                  <a:tcPr marL="61674" marR="61674" marT="30837" marB="30837" anchor="ctr">
                    <a:solidFill>
                      <a:schemeClr val="bg1">
                        <a:lumMod val="65000"/>
                      </a:schemeClr>
                    </a:solidFill>
                  </a:tcPr>
                </a:tc>
                <a:tc>
                  <a:txBody>
                    <a:bodyPr/>
                    <a:lstStyle/>
                    <a:p>
                      <a:pPr>
                        <a:buNone/>
                      </a:pPr>
                      <a:r>
                        <a:rPr lang="en-US" sz="1800" dirty="0"/>
                        <a:t>Security Logging &amp; Monitoring Failures</a:t>
                      </a:r>
                    </a:p>
                  </a:txBody>
                  <a:tcPr marL="61674" marR="61674" marT="30837" marB="30837" anchor="ctr"/>
                </a:tc>
                <a:tc>
                  <a:txBody>
                    <a:bodyPr/>
                    <a:lstStyle/>
                    <a:p>
                      <a:pPr>
                        <a:buNone/>
                      </a:pPr>
                      <a:r>
                        <a:rPr lang="en-US" sz="1600"/>
                        <a:t>Security events aren't adequately detected</a:t>
                      </a:r>
                    </a:p>
                  </a:txBody>
                  <a:tcPr marL="61674" marR="61674" marT="30837" marB="30837" anchor="ctr"/>
                </a:tc>
                <a:tc>
                  <a:txBody>
                    <a:bodyPr/>
                    <a:lstStyle/>
                    <a:p>
                      <a:pPr>
                        <a:buNone/>
                      </a:pPr>
                      <a:r>
                        <a:rPr lang="en-US" sz="1800"/>
                        <a:t>No login/privilege logs</a:t>
                      </a:r>
                    </a:p>
                  </a:txBody>
                  <a:tcPr marL="61674" marR="61674" marT="30837" marB="30837" anchor="ctr"/>
                </a:tc>
                <a:extLst>
                  <a:ext uri="{0D108BD9-81ED-4DB2-BD59-A6C34878D82A}">
                    <a16:rowId xmlns:a16="http://schemas.microsoft.com/office/drawing/2014/main" val="537255179"/>
                  </a:ext>
                </a:extLst>
              </a:tr>
              <a:tr h="855269">
                <a:tc>
                  <a:txBody>
                    <a:bodyPr/>
                    <a:lstStyle/>
                    <a:p>
                      <a:pPr algn="ctr">
                        <a:buNone/>
                      </a:pPr>
                      <a:r>
                        <a:rPr lang="en-US" sz="2800" dirty="0"/>
                        <a:t>A10</a:t>
                      </a:r>
                    </a:p>
                  </a:txBody>
                  <a:tcPr marL="61674" marR="61674" marT="30837" marB="30837" anchor="ctr">
                    <a:solidFill>
                      <a:schemeClr val="bg1">
                        <a:lumMod val="65000"/>
                      </a:schemeClr>
                    </a:solidFill>
                  </a:tcPr>
                </a:tc>
                <a:tc>
                  <a:txBody>
                    <a:bodyPr/>
                    <a:lstStyle/>
                    <a:p>
                      <a:pPr>
                        <a:buNone/>
                      </a:pPr>
                      <a:r>
                        <a:rPr lang="en-US" sz="1800" dirty="0"/>
                        <a:t>Server-Side Request Forgery</a:t>
                      </a:r>
                    </a:p>
                  </a:txBody>
                  <a:tcPr marL="61674" marR="61674" marT="30837" marB="30837" anchor="ctr"/>
                </a:tc>
                <a:tc>
                  <a:txBody>
                    <a:bodyPr/>
                    <a:lstStyle/>
                    <a:p>
                      <a:pPr>
                        <a:buNone/>
                      </a:pPr>
                      <a:r>
                        <a:rPr lang="en-US" sz="1600" dirty="0"/>
                        <a:t>Server is tricked into making unintended requests</a:t>
                      </a:r>
                    </a:p>
                  </a:txBody>
                  <a:tcPr marL="61674" marR="61674" marT="30837" marB="30837" anchor="ctr"/>
                </a:tc>
                <a:tc>
                  <a:txBody>
                    <a:bodyPr/>
                    <a:lstStyle/>
                    <a:p>
                      <a:pPr>
                        <a:buNone/>
                      </a:pPr>
                      <a:r>
                        <a:rPr lang="en-US" sz="1800" dirty="0"/>
                        <a:t>Internal-service access</a:t>
                      </a:r>
                    </a:p>
                  </a:txBody>
                  <a:tcPr marL="61674" marR="61674" marT="30837" marB="30837" anchor="ctr"/>
                </a:tc>
                <a:extLst>
                  <a:ext uri="{0D108BD9-81ED-4DB2-BD59-A6C34878D82A}">
                    <a16:rowId xmlns:a16="http://schemas.microsoft.com/office/drawing/2014/main" val="489302796"/>
                  </a:ext>
                </a:extLst>
              </a:tr>
            </a:tbl>
          </a:graphicData>
        </a:graphic>
      </p:graphicFrame>
      <p:sp>
        <p:nvSpPr>
          <p:cNvPr id="4" name="Slide Number Placeholder 3">
            <a:extLst>
              <a:ext uri="{FF2B5EF4-FFF2-40B4-BE49-F238E27FC236}">
                <a16:creationId xmlns:a16="http://schemas.microsoft.com/office/drawing/2014/main" id="{AE64C7A1-9952-EB04-AFEA-7A3C7BCC6A5E}"/>
              </a:ext>
            </a:extLst>
          </p:cNvPr>
          <p:cNvSpPr>
            <a:spLocks noGrp="1"/>
          </p:cNvSpPr>
          <p:nvPr>
            <p:ph type="sldNum" sz="quarter" idx="12"/>
          </p:nvPr>
        </p:nvSpPr>
        <p:spPr/>
        <p:txBody>
          <a:bodyPr/>
          <a:lstStyle/>
          <a:p>
            <a:fld id="{02C84146-E65B-4948-A521-8AE14AC02658}" type="slidenum">
              <a:rPr lang="en-US" smtClean="0"/>
              <a:t>43</a:t>
            </a:fld>
            <a:endParaRPr lang="en-US"/>
          </a:p>
        </p:txBody>
      </p:sp>
    </p:spTree>
    <p:extLst>
      <p:ext uri="{BB962C8B-B14F-4D97-AF65-F5344CB8AC3E}">
        <p14:creationId xmlns:p14="http://schemas.microsoft.com/office/powerpoint/2010/main" val="37818496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7FA10A-B933-D353-337E-98A188F00838}"/>
              </a:ext>
            </a:extLst>
          </p:cNvPr>
          <p:cNvSpPr>
            <a:spLocks noGrp="1"/>
          </p:cNvSpPr>
          <p:nvPr>
            <p:ph idx="1"/>
          </p:nvPr>
        </p:nvSpPr>
        <p:spPr/>
        <p:txBody>
          <a:bodyPr>
            <a:normAutofit fontScale="85000" lnSpcReduction="20000"/>
          </a:bodyPr>
          <a:lstStyle/>
          <a:p>
            <a:r>
              <a:rPr lang="en-US" dirty="0"/>
              <a:t>These OWASP categories should not be treated as isolated problems. A real-world attack may involve multiple weaknesses. </a:t>
            </a:r>
          </a:p>
          <a:p>
            <a:r>
              <a:rPr lang="en-US" dirty="0"/>
              <a:t>For example, an attacker could discover an application through reconnaissance, exploit a vulnerable authentication mechanism, obtain a low-privileged account, exploit </a:t>
            </a:r>
            <a:r>
              <a:rPr lang="en-US" b="1" dirty="0"/>
              <a:t>Broken Access Control</a:t>
            </a:r>
            <a:r>
              <a:rPr lang="en-US" dirty="0"/>
              <a:t> to access another user's information, use an application weakness to interact with an internal service through </a:t>
            </a:r>
            <a:r>
              <a:rPr lang="en-US" b="1" dirty="0"/>
              <a:t>SSRF</a:t>
            </a:r>
            <a:r>
              <a:rPr lang="en-US" dirty="0"/>
              <a:t>, and then exploit insufficient logging to remain undetected.</a:t>
            </a:r>
          </a:p>
          <a:p>
            <a:r>
              <a:rPr lang="en-US" dirty="0"/>
              <a:t>Therefore, Web Application Security should follow a </a:t>
            </a:r>
            <a:r>
              <a:rPr lang="en-US" b="1" dirty="0"/>
              <a:t>defense-in-depth approach</a:t>
            </a:r>
            <a:r>
              <a:rPr lang="en-US" dirty="0"/>
              <a:t>:</a:t>
            </a:r>
          </a:p>
          <a:p>
            <a:pPr lvl="1"/>
            <a:r>
              <a:rPr lang="en-US" b="1" dirty="0"/>
              <a:t>Secure Design → Secure Coding → Authentication → Authorization → Input Validation → Encryption → Secure Configuration → Dependency Management → Security Testing → Logging &amp; Monitoring → Incident Response</a:t>
            </a:r>
            <a:endParaRPr lang="en-US" dirty="0"/>
          </a:p>
          <a:p>
            <a:r>
              <a:rPr lang="en-US" dirty="0"/>
              <a:t>For VAPT analyst, the most important lesson is that finding a vulnerability is only one part of security testing. The analyst should understand </a:t>
            </a:r>
            <a:r>
              <a:rPr lang="en-US" b="1" dirty="0"/>
              <a:t>the root cause, attack path, affected asset, exploitability, business impact, evidence, severity, and remediation</a:t>
            </a:r>
            <a:r>
              <a:rPr lang="en-US" dirty="0"/>
              <a:t>. This allows the organization to move from simply identifying vulnerabilities to actually reducing cyber risk.</a:t>
            </a:r>
          </a:p>
          <a:p>
            <a:endParaRPr lang="en-US" dirty="0"/>
          </a:p>
        </p:txBody>
      </p:sp>
      <p:sp>
        <p:nvSpPr>
          <p:cNvPr id="3" name="Title 2">
            <a:extLst>
              <a:ext uri="{FF2B5EF4-FFF2-40B4-BE49-F238E27FC236}">
                <a16:creationId xmlns:a16="http://schemas.microsoft.com/office/drawing/2014/main" id="{62D08B81-8B34-CE4E-A397-34A7AFEA27E5}"/>
              </a:ext>
            </a:extLst>
          </p:cNvPr>
          <p:cNvSpPr>
            <a:spLocks noGrp="1"/>
          </p:cNvSpPr>
          <p:nvPr>
            <p:ph type="title"/>
          </p:nvPr>
        </p:nvSpPr>
        <p:spPr/>
        <p:txBody>
          <a:bodyPr>
            <a:normAutofit/>
          </a:bodyPr>
          <a:lstStyle/>
          <a:p>
            <a:r>
              <a:rPr lang="en-US" b="1" dirty="0"/>
              <a:t>Overall Web Application Security Perspective</a:t>
            </a:r>
            <a:endParaRPr lang="en-US" dirty="0"/>
          </a:p>
        </p:txBody>
      </p:sp>
      <p:sp>
        <p:nvSpPr>
          <p:cNvPr id="4" name="Slide Number Placeholder 3">
            <a:extLst>
              <a:ext uri="{FF2B5EF4-FFF2-40B4-BE49-F238E27FC236}">
                <a16:creationId xmlns:a16="http://schemas.microsoft.com/office/drawing/2014/main" id="{DB38267A-B20E-AE3C-446A-EE7FA14A83B7}"/>
              </a:ext>
            </a:extLst>
          </p:cNvPr>
          <p:cNvSpPr>
            <a:spLocks noGrp="1"/>
          </p:cNvSpPr>
          <p:nvPr>
            <p:ph type="sldNum" sz="quarter" idx="12"/>
          </p:nvPr>
        </p:nvSpPr>
        <p:spPr/>
        <p:txBody>
          <a:bodyPr/>
          <a:lstStyle/>
          <a:p>
            <a:fld id="{02C84146-E65B-4948-A521-8AE14AC02658}" type="slidenum">
              <a:rPr lang="en-US" smtClean="0"/>
              <a:t>44</a:t>
            </a:fld>
            <a:endParaRPr lang="en-US"/>
          </a:p>
        </p:txBody>
      </p:sp>
    </p:spTree>
    <p:extLst>
      <p:ext uri="{BB962C8B-B14F-4D97-AF65-F5344CB8AC3E}">
        <p14:creationId xmlns:p14="http://schemas.microsoft.com/office/powerpoint/2010/main" val="4204911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14006</TotalTime>
  <Words>4064</Words>
  <Application>Microsoft Office PowerPoint</Application>
  <PresentationFormat>Widescreen</PresentationFormat>
  <Paragraphs>444</Paragraphs>
  <Slides>44</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44</vt:i4>
      </vt:variant>
    </vt:vector>
  </HeadingPairs>
  <TitlesOfParts>
    <vt:vector size="52" baseType="lpstr">
      <vt:lpstr>Aptos</vt:lpstr>
      <vt:lpstr>Aptos Display</vt:lpstr>
      <vt:lpstr>Arial</vt:lpstr>
      <vt:lpstr>Bell Gothic Std Black</vt:lpstr>
      <vt:lpstr>Calibri</vt:lpstr>
      <vt:lpstr>Calibri Light</vt:lpstr>
      <vt:lpstr>Office Theme</vt:lpstr>
      <vt:lpstr>Custom Design</vt:lpstr>
      <vt:lpstr>PowerPoint Presentation</vt:lpstr>
      <vt:lpstr>Common Web Application Vulnerabilities and CVEs</vt:lpstr>
      <vt:lpstr>Web Application Penetration Testing</vt:lpstr>
      <vt:lpstr>Web VAPT cycle </vt:lpstr>
      <vt:lpstr>OWASP Top 10 (2021)</vt:lpstr>
      <vt:lpstr>A01 - Broken Access Control</vt:lpstr>
      <vt:lpstr>PowerPoint Presentation</vt:lpstr>
      <vt:lpstr>IDOR </vt:lpstr>
      <vt:lpstr>How does IDOR happen ? </vt:lpstr>
      <vt:lpstr>How Security Testers Find IDOR</vt:lpstr>
      <vt:lpstr>Impact      Defense </vt:lpstr>
      <vt:lpstr>A02 - Cryptographic Failures</vt:lpstr>
      <vt:lpstr>Scenario</vt:lpstr>
      <vt:lpstr>What a Pentester Checks</vt:lpstr>
      <vt:lpstr>Defense</vt:lpstr>
      <vt:lpstr>A03 - Injection</vt:lpstr>
      <vt:lpstr>A04:2021 - Insecure Design</vt:lpstr>
      <vt:lpstr>What a Pen tester Checks and it’s defense</vt:lpstr>
      <vt:lpstr>A05:2021 - Security Misconfiguration</vt:lpstr>
      <vt:lpstr>Examples include:</vt:lpstr>
      <vt:lpstr>A06:2021 - Vulnerable and Outdated Components</vt:lpstr>
      <vt:lpstr>Components may include:</vt:lpstr>
      <vt:lpstr>PowerPoint Presentation</vt:lpstr>
      <vt:lpstr>A07:2021 - Identification and Authentication Failures</vt:lpstr>
      <vt:lpstr>For example:</vt:lpstr>
      <vt:lpstr>A08:2021 - Software and Data Integrity Failures</vt:lpstr>
      <vt:lpstr>PowerPoint Presentation</vt:lpstr>
      <vt:lpstr>A09:2021 Security Logging &amp; Monitoring Failures</vt:lpstr>
      <vt:lpstr>PowerPoint Presentation</vt:lpstr>
      <vt:lpstr>Common causes and examples</vt:lpstr>
      <vt:lpstr>What will a penetration tester check?</vt:lpstr>
      <vt:lpstr>PowerPoint Presentation</vt:lpstr>
      <vt:lpstr>PowerPoint Presentation</vt:lpstr>
      <vt:lpstr>PowerPoint Presentation</vt:lpstr>
      <vt:lpstr>How to defend against A09</vt:lpstr>
      <vt:lpstr>A10:2021 Server-Side Request Forgery</vt:lpstr>
      <vt:lpstr>PowerPoint Presentation</vt:lpstr>
      <vt:lpstr>PowerPoint Presentation</vt:lpstr>
      <vt:lpstr>Where should a penetration tester look for SSRF?</vt:lpstr>
      <vt:lpstr>Confirm whether the request originates from the server</vt:lpstr>
      <vt:lpstr>How to defend against A10</vt:lpstr>
      <vt:lpstr>Example of safer application design</vt:lpstr>
      <vt:lpstr>PowerPoint Presentation</vt:lpstr>
      <vt:lpstr>Overall Web Application Security Perspective</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Training Common</cp:lastModifiedBy>
  <cp:revision>415</cp:revision>
  <dcterms:created xsi:type="dcterms:W3CDTF">2023-09-16T07:20:30Z</dcterms:created>
  <dcterms:modified xsi:type="dcterms:W3CDTF">2026-10-26T06:53:23Z</dcterms:modified>
</cp:coreProperties>
</file>