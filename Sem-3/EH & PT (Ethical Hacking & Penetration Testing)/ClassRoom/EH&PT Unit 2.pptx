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1874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Framework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Cybersecurity &amp; Data Protection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2960" y="41148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 2000 · DPDP Act 2023 · CERT-In · NCIIPC · RBI · SEBI · GDPR Comparison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A6D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4754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TechDefence Labs  |  Diploma in Cyber Security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37160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 2000 — Sections 43, 66, 66B, 66C, 66F, 67, 72A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— Fiduciary Duties &amp; Consent Framework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56616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Principal Rights &amp; the Data Protection 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66344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466344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Data Fiduciaries &amp; Cross-Border Transfers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76072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76072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576072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Penalties — up to ₹250 Crore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137160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37160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137160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 Directions 2022 — Breach Notification &amp; Retention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246888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46888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246888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NCIIPC — Critical Information Infrastructure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55080" y="356616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56616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356616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Framework &amp; SEBI CSCRF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663440"/>
            <a:ext cx="5349240" cy="932688"/>
          </a:xfrm>
          <a:prstGeom prst="roundRect">
            <a:avLst>
              <a:gd name="adj" fmla="val 784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663440"/>
            <a:ext cx="6858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6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32320" y="4663440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vs. GDPR — A Comparative View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 2000 — Sections 43 &amp; 66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offences: damage and dishonest/fraudulent acts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92808"/>
            <a:ext cx="2468880" cy="292608"/>
          </a:xfrm>
          <a:prstGeom prst="rect">
            <a:avLst/>
          </a:prstGeom>
          <a:solidFill>
            <a:srgbClr val="D4AF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for damage to computer, computer system, etc.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892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unauthorised access, downloading/copying data, introducing viruses, damaging or disrupting systems, denying access to an authorised user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in nature — compensation payable to the affected person regardless of criminal intent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any person who, without permission of the owner, commits these acts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92808"/>
            <a:ext cx="2468880" cy="292608"/>
          </a:xfrm>
          <a:prstGeom prst="rect">
            <a:avLst/>
          </a:prstGeom>
          <a:solidFill>
            <a:srgbClr val="D4AF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Computer-related offences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4892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Criminalises acts under Section 43 when done "dishonestly or fraudulently"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Punishment: imprisonment up to 3 years, and/or fine up to ₹5,00,000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converts a civil wrong into a criminal offence based on intent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 2000 — Sections 66B &amp; 66C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resources and identity-based offences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92808"/>
            <a:ext cx="2468880" cy="292608"/>
          </a:xfrm>
          <a:prstGeom prst="rect">
            <a:avLst/>
          </a:prstGeom>
          <a:solidFill>
            <a:srgbClr val="5FBF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66B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 stolen computer resource or communication device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4892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a person who dishonestly receives or retains a stolen computer resource or communication device, knowing it to be stolen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Punishment: imprisonment up to 3 years, and/or fine up to ₹1,00,000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possession/receipt is enough — no need to have committed the original theft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92808"/>
            <a:ext cx="2468880" cy="292608"/>
          </a:xfrm>
          <a:prstGeom prst="rect">
            <a:avLst/>
          </a:prstGeom>
          <a:solidFill>
            <a:srgbClr val="5FBF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66C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theft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880360"/>
            <a:ext cx="4892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Criminalises fraudulent or dishonest use of another person's electronic signature, password, or any other unique identification feature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Punishment: imprisonment up to 3 years, and fine up to ₹1,00,000</a:t>
            </a:r>
            <a:endParaRPr lang="en-US" sz="1200" dirty="0"/>
          </a:p>
          <a:p>
            <a:pPr marL="342900" indent="-342900">
              <a:lnSpc>
                <a:spcPts val="155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Applicability: covers credential theft, impersonation, and misuse of biometric/digital identifiers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 2000 — Section 66F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terrorism — the most severe offence in the Act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F150E"/>
          </a:solidFill>
          <a:ln w="12700">
            <a:solidFill>
              <a:srgbClr val="E0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offence in the IT Act carrying a punishment of imprisonment for life.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9352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Threshold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committed with intent to threaten the unity, integrity, security, or sovereignty of India, or to strike terror in the people.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27889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9352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Acts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32918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Denying access to critical systems, introducing computer contaminant, or unauthorised access to restricted information likely to cause injury to India's interests.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7640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Information Access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1206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Knowingly or intentionally penetrating a computer resource and accessing information restricted for security reasons or the sovereignty/integrity of India.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46177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7640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512064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Imprisonment which may extend to life imprisonment — reflecting the gravity of cyber-terror acts against national infrastructure.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 2000 — Sections 67 &amp; 72A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Obscenity and breach of confidentiality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92808"/>
            <a:ext cx="2468880" cy="292608"/>
          </a:xfrm>
          <a:prstGeom prst="rect">
            <a:avLst/>
          </a:prstGeom>
          <a:solidFill>
            <a:srgbClr val="D4AF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67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or transmitting obscene material in electronic form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publishing, transmitting, or causing to be published/transmitted material that is lascivious or appeals to prurient interest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conviction: imprisonment up to 3 years, fine up to ₹5,00,000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conviction: imprisonment up to 5 years, fine up to ₹10,00,000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sections 67A/67B enhance penalties for sexually explicit material and material depicting children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92808"/>
            <a:ext cx="2468880" cy="292608"/>
          </a:xfrm>
          <a:prstGeom prst="rect">
            <a:avLst/>
          </a:prstGeom>
          <a:solidFill>
            <a:srgbClr val="D4AF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72A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Punishment for disclosure of information in breach of lawful contract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301752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 person providing services under a lawful contract who discloses personal information without consent, with intent to cause wrongful loss/gain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Punishment: imprisonment up to 3 years, and/or fine up to ₹5,00,000</a:t>
            </a:r>
            <a:endParaRPr lang="en-US" sz="1100" dirty="0"/>
          </a:p>
          <a:p>
            <a:pPr marL="342900" indent="-342900">
              <a:lnSpc>
                <a:spcPts val="1400"/>
              </a:lnSpc>
              <a:spcAft>
                <a:spcPts val="900"/>
              </a:spcAft>
              <a:buSzPct val="100000"/>
              <a:buChar char="▸"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service providers, outsourcing vendors, and IT/BPO staff handling client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Act 2000 — Penalties at a Glance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937760"/>
        </p:xfrm>
        <a:graphic>
          <a:graphicData uri="http://schemas.openxmlformats.org/drawingml/2006/table">
            <a:tbl>
              <a:tblPr/>
              <a:tblGrid>
                <a:gridCol w="1188720"/>
                <a:gridCol w="4206240"/>
                <a:gridCol w="3017520"/>
                <a:gridCol w="265176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Imprisonment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to computer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liability (compensation)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determined by adjudicating officer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Computer-related offences (dishonest/fraudulent)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Receiving stolen computer resource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₹1,00,000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theft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₹1,00,000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terrorism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life imprisonment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Publishing obscene material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 years (first) / 5 years (subsequent)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₹5L (first) / ₹10L (subsequent)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of lawful contract confidentiality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3 years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₹5,00,000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Personal Data Protection Act, India's first dedicated data privacy law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92240" cy="4160520"/>
          </a:xfrm>
          <a:prstGeom prst="roundRect">
            <a:avLst>
              <a:gd name="adj" fmla="val 175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GOVERNS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5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processing of digital personal data within India, and processing outside India if it relates to offering goods/services to individuals in India</a:t>
            </a:r>
            <a:endParaRPr lang="en-US" sz="1300" dirty="0"/>
          </a:p>
          <a:p>
            <a:pPr marL="342900" indent="-342900">
              <a:lnSpc>
                <a:spcPts val="165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two key roles: Data Fiduciary (who decides purpose/means of processing) and Data Principal (the individual to whom the data relates)</a:t>
            </a:r>
            <a:endParaRPr lang="en-US" sz="1300" dirty="0"/>
          </a:p>
          <a:p>
            <a:pPr marL="342900" indent="-342900">
              <a:lnSpc>
                <a:spcPts val="165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framework with limited 'legitimate uses' exceptions (e.g. employment, medical emergency, government functions)</a:t>
            </a:r>
            <a:endParaRPr lang="en-US" sz="1300" dirty="0"/>
          </a:p>
          <a:p>
            <a:pPr marL="342900" indent="-342900">
              <a:lnSpc>
                <a:spcPts val="165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Data Protection Board of India as the enforcement and adjudication authority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737360"/>
            <a:ext cx="4389120" cy="4160520"/>
          </a:xfrm>
          <a:prstGeom prst="roundRect">
            <a:avLst>
              <a:gd name="adj" fmla="val 1758"/>
            </a:avLst>
          </a:prstGeom>
          <a:solidFill>
            <a:srgbClr val="1A2438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0" y="2331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Fiduciary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26243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entity that determines the purpose and means of processing personal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3246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35387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whose personal data is being processed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160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44531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person who processes data on behalf of a Data Fiduciary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0" y="5074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536752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 about an individual who is identifiable by or in relation to such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Fiduciary Obligations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81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7568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personal data only for the purpose for which consent was given or a legitimate use applies.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81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5361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&amp; Completeness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07568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personal data used for decision-making is accurate, complete, and consistent.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154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108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Safeguards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64845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reasonable security safeguards to prevent personal data breach, including detection and reporting.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9900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3154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31089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Intimation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64845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Data Protection Board and affected Data Principals in the event of a breach.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5628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7274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681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 Limits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22122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 personal data once the purpose is no longer served, unless retention is required by law.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5628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7274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A6D3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727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32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681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522122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accessible mechanism for Data Principals to raise and resolve grievances.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Consent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must be free, specific, informed, unconditional, and unambiguous — given through a clear affirmative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70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72968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Principal must receive a clear notice describing the data to be collected and the purpose of processing, in itemized detail.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06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770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3172968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Principals may give, manage, review, or withdraw consent through a registered Consent Manager, interoperable across fiduciaries.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651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Rights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367528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can be withdrawn at any time, as easily as it was given — withdrawal does not affect prior lawful processing.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800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9651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Uses (exceptions)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46520" y="5367528"/>
            <a:ext cx="4892040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permitted without consent for specified purposes: employment, medical emergency, government subsidies, judicial functions, etc.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Principal Rights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642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FB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321"/>
                </a:solidFill>
              </a:rPr>
              <a:t>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Access Information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a summary of personal data being processed and the processing activities undertaken.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6420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FB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321"/>
                </a:solidFill>
              </a:rPr>
              <a:t>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64592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Correction &amp; Erasure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correction of inaccurate data, completion of incomplete data, or erasure once purpose is fulfilled.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05993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FB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321"/>
                </a:solidFill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0416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Grievance Redressal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472744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grievances with the Data Fiduciary or Consent Manager and expect a readily available response mechanism.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858768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405993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BFB3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1321"/>
                </a:solidFill>
              </a:rPr>
              <a:t>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40416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Nominate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46520" y="472744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another individual to exercise these rights on their behalf in the event of death or incapacity.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 Board of India (DPBI)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digital-first body created under the DPDP Act to enforce compliance and adjudicate breaches.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980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Investigation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163824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Investigates personal data breaches referred by Data Fiduciaries or complaints from Data Principals.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7980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Imposing Penalties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3163824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non-compliance and imposes monetary penalties as prescribed under the Act's schedule.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268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Remedial 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992624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direct urgent remedial or mitigation measures during an ongoing data breach.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48056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6268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Digital-Only Proceedings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4992624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as an online dispute resolution body — filings, hearings, and orders are conducted digitally.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 Data Fiduciary (SDF)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Government may classify certain fiduciaries as 'Significant' based on risk factors, triggering enhanced obligations.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FACTORS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and sensitivity of personal data processed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electoral democracy, security of the state, or public order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to the rights of Data Principals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sovereignty and integrity of India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1A2438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OBLIGATIONS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892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 Data Protection Officer based in India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an Independent Data Auditor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periodic Data Protection Impact Assessments (DPIA)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▸"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Undertake periodic compliance audits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Cross-Border Data Transfer Restrictions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DPDP Act takes a 'blacklist' approach — transfers are allowed by default unless the destination country is restricted by the Central Government.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9352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Position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30098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may be transferred outside India to any country, except those notified as restricted.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78892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93522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Notification Power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330098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Government can restrict transfer to specific countries via official notification — a blacklist, not a whitelist.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81728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280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 Overrides Continue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19379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Sector-specific data localisation rules (e.g. RBI payment data storage in India) continue to apply independently.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4681728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8280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GDPR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5193792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GDPR's adequacy-decision (whitelist) model, India's approach is comparatively more permissive by default.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— Penalties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penalties, not imprisonment — enforced by the Data Protection Board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206240"/>
        </p:xfrm>
        <a:graphic>
          <a:graphicData uri="http://schemas.openxmlformats.org/drawingml/2006/table">
            <a:tbl>
              <a:tblPr/>
              <a:tblGrid>
                <a:gridCol w="7863840"/>
                <a:gridCol w="320040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Penalty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to take reasonable security safeguards (leading to breach)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₹250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to notify the Board / affected Data Principals of a breach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₹200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Non-fulfilment of additional obligations for children's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₹200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Non-fulfilment of Significant Data Fiduciary obligations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₹150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of any other provision of the Act or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₹50 crore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of duties by a Data Principal (false info, frivolous complaints)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CERT-In Directions 2022 —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under Section 70B of the IT Act, these directions impose mandatory cybersecurity practices on all service providers, intermediaries, and body corporates operating in India.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432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Synchronised Time 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79806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ICT systems must connect to NTP servers of NIC/NPL, or ones traceable to them, for accurate time-stamping.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43230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Incident Reporting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79806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cyber incidents must be reported to CERT-In — see the reportable categories list.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525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of Contact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71830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must designate a point of contact to interface with CERT-In for incident coordination.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420624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35254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4718304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broadly: service providers, intermediaries, data centres, body corporates, and government organisations.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6-Hour Breach Notification Mandate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F150E"/>
          </a:solidFill>
          <a:ln w="12700">
            <a:solidFill>
              <a:srgbClr val="E066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9202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5C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3749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Reportable incidents must be notified to CERT-In within 6 hours of noticing or being brought to notice — among the strictest windows globally.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74920" y="1463040"/>
            <a:ext cx="6537960" cy="4206240"/>
          </a:xfrm>
          <a:prstGeom prst="roundRect">
            <a:avLst>
              <a:gd name="adj" fmla="val 1739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6276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REPORTABLE INCIDENT CATEGORIES (sample)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0" y="2011680"/>
            <a:ext cx="6035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scanning/probing of critical networks/systems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 of critical systems/information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access to IT systems/data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Defacement of a website or unauthorised changes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code attacks (ransomware, worms, trojans)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servers (DNS, mail, database) and network devices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theft, phishing, and spoofing attacks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 (DoS) / Distributed DoS attacks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breaches and data leaks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IoT devices and associated systems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180-Day Log Retention &amp; VPN Data Retention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BF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180-Day Log Retention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 providers, intermediaries, data centres, and body corporates must enable logs of all ICT systems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must be securely maintained for a rolling period of 180 days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must be maintained within Indian jurisdiction and produced to CERT-In on request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regardless of whether an incident has occurred — this is a continuous obligation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459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Mandatory VPN / Data Centre / Cloud Provider Retention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0" y="2377440"/>
            <a:ext cx="48920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service providers must register and retain subscriber records for at least 5 years (or longer if legally required)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include: validated names, contact numbers, addresses, ownership pattern, period of hire, and IP addresses used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centres, VPS, and cloud service providers must maintain accurate customer registration information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must be produced to CERT-In or law enforcement upon lawful request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NCIIPC — Critical Sectors &amp; Incident Reporting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Critical Information Infrastructure Protection Centre protects India's Critical Information Infrastructure (CII) under Section 70 of the IT Act.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943600" cy="4023360"/>
          </a:xfrm>
          <a:prstGeom prst="roundRect">
            <a:avLst>
              <a:gd name="adj" fmla="val 1818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84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CRITICAL SECTORS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523744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1401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Energy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163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Financial Services &amp; Insurance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21868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30752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2102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133088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35424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2569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&amp; Public Enterprises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82803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5340096"/>
            <a:ext cx="109728" cy="109728"/>
          </a:xfrm>
          <a:prstGeom prst="ellipse">
            <a:avLst/>
          </a:prstGeom>
          <a:solidFill>
            <a:srgbClr val="5FBFB3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2303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&amp; Security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1920240"/>
            <a:ext cx="4983480" cy="4023360"/>
          </a:xfrm>
          <a:prstGeom prst="roundRect">
            <a:avLst>
              <a:gd name="adj" fmla="val 1818"/>
            </a:avLst>
          </a:prstGeom>
          <a:solidFill>
            <a:srgbClr val="1A2438"/>
          </a:solidFill>
          <a:ln w="12700">
            <a:solidFill>
              <a:srgbClr val="8A6D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848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PROVISIONS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0" y="2468880"/>
            <a:ext cx="4526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systems are 'protected systems' — unauthorised access is a criminal offence under Section 70(3), punishable up to 10 years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CII entities must report cybersecurity incidents to NCIIPC in coordination with CERT-In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information sharing, vulnerability assessment, and audits for CII operators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200"/>
              </a:spcAft>
              <a:buSzPct val="100000"/>
              <a:buChar char="▸"/>
            </a:pPr>
            <a:r>
              <a:rPr lang="en-US" sz="11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alongside sectoral CERTs (e.g. CERT-Fin, Power sector CERT) for coordinated defence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Cybersecurity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Banks and Non-Banking Financial Companies (NBFCs)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Board-Approved Cybersecurity Policy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2996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bank/NBFC must have a distinct policy, separate from the broader IT policy, approved by its Board.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7335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Crisis Management Plan (CCMP)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202996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detection, response, recovery, and containment for the four categories: identify, protect, detect, respond.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&amp; Continuous Monitoring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60273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a Security Operations Centre for real-time monitoring of network and system events.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12724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to RBI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60273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cybersecurity incidents must be reported to RBI within strict, specified timelines.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188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Cyber Security Controls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17550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Prescribes controls: network segmentation, patch management, access controls, vendor risk management.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70001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8188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Localisation (Payments Data)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517550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system data must be stored only in India, per RBI's payment data storage directive.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 CSCRF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and Cyber Resilience Framework for Market Infrastructure Institutions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Framework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1671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earlier separate circulars for stock exchanges, depositories, clearing corporations, and other regulated entities into one framework.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051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Five-Pillar NIST-Aligned Structure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0" y="2167128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around Identify, Protect, Detect, Respond, and Recover — mirroring the NIST Cybersecurity Framework.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Applicability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7398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are classified (e.g. Market Infrastructure Institutions, Qualified REs, Mid-size/Small REs) with proportionate obligations.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26440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832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&amp; VAPT Mandates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739896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Security Operations Centre and periodic Vulnerability Assessment &amp; Penetration Testing for covered entities.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560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Resilience &amp; Recovery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31266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Recovery Time Objectives (RTO) and Recovery Point Objectives (RPO) for critical systems.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83717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5604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to SEBI/CERT-In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5312664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must be reported to SEBI and CERT-In within prescribed timelines.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 2023 vs. GDPR — A Comparison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92840" cy="50292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61772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2023 (India)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0D1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(EU)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F6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Lawfulness 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Primarily consent + narrow 'legitimate uses'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lawful bases: consent, contract, legal obligation, vital interest, public task, legitimate interest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Notification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fixed hour-window in the Act itself (CERT-In separately mandates 6 hrs for incidents)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hours to the supervisory authority after becoming aware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 Obligation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only for Significant Data Fiduciaries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for public authorities &amp; large-scale/sensitive processing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Cross-Border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Blacklist model — allowed by default except restricted countries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 model — requires adequacy decision or safeguards (SCCs, BCRs)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₹250 crore per instance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€20 million or 4% of global annual turnover, whichever is higher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Principal/Subject Rights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Access, correction, erasure, grievance redressal, nomination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Access, rectification, erasure, portability, objection, restriction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Enforcement Body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Board of India (digital-only)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2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Supervisory Authorities + European Data Protection 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37360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55448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 Act 2000 punishes specific cyber offences — from civil damage (S.43) to cyber terrorism (S.66F)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23744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23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340864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DPDP Act 2023 shifts India to a consent-first, fiduciary-obligation model with penalties up to ₹250 crore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310128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10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CERT-In's 6-hour reporting and 180-day log retention are operational musts, not aspirational guidelines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96512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96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913632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NCIIPC protects designated critical sectors; unauthorised CII access can mean up to 10 years imprisonment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0001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41C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82896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828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4700016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and SEBI layer sector-specific cybersecurity obligations atop the general framework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A2438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669280"/>
            <a:ext cx="329184" cy="329184"/>
          </a:xfrm>
          <a:prstGeom prst="ellipse">
            <a:avLst/>
          </a:prstGeom>
          <a:solidFill>
            <a:srgbClr val="8A6D3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69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5486400"/>
            <a:ext cx="10058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cross-border transfer rule (blacklist) is structurally more permissive than GDPR's adequacy (whitelist)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13716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0" y="20574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0" y="27432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0" y="41148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0" y="48006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0" y="54864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0" y="6172200"/>
            <a:ext cx="12188952" cy="0"/>
          </a:xfrm>
          <a:prstGeom prst="line">
            <a:avLst/>
          </a:prstGeom>
          <a:noFill/>
          <a:ln w="6350">
            <a:solidFill>
              <a:srgbClr val="2A355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compliance_verified()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Building a DPDP-compliant data breach response playbook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Regulatory Framework — Cybersecurity &amp; Data Protection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2026-07-18T16:22:57Z</dcterms:created>
  <dcterms:modified xsi:type="dcterms:W3CDTF">2026-07-18T16:22:58Z</dcterms:modified>
</cp:coreProperties>
</file>