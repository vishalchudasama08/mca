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0574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0" y="61722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Hacking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mindset, legal boundaries, and the five phases every penetration test follows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8A4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663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TechDefence Labs  |  Diploma in Cyber 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54533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8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42976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Overview &amp; Hacker Archetypes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91693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8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788920"/>
            <a:ext cx="42976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vs Malicious Hacking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28853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8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63040" y="4160520"/>
            <a:ext cx="42976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— IT Act 2000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55321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566013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8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040" y="5532120"/>
            <a:ext cx="42976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Phases of Ethical Hacking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54533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8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269480" y="1417320"/>
            <a:ext cx="42976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Kill Chain &amp; the Defender's View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55080" y="27889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291693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8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269480" y="2788920"/>
            <a:ext cx="42976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Blue / Purple Teams · VAPT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55080" y="41605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28853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8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69480" y="4160520"/>
            <a:ext cx="42976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PTES &amp; OWASP Testing Standards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55080" y="55321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566013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8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269480" y="5532120"/>
            <a:ext cx="42976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Lab Setup Verification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Hacking?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act of identifying and exploiting weaknesses in a computer system, network, application, or human process to gain unauthorised access, control, or information.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6400800" cy="2651760"/>
          </a:xfrm>
          <a:prstGeom prst="roundRect">
            <a:avLst>
              <a:gd name="adj" fmla="val 2759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 itself is neutral — intent decides whether it is a crime or a service.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tools: Nmap, Metasploit, Burp Suite, social engineering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skills: networking, programming, OS internals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outcome: authorised report vs. data breach / ransom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23760" y="1417320"/>
            <a:ext cx="4434840" cy="4663440"/>
          </a:xfrm>
          <a:prstGeom prst="roundRect">
            <a:avLst>
              <a:gd name="adj" fmla="val 1649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HACKING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52360" y="2103120"/>
            <a:ext cx="109728" cy="109728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984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Hacking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2240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routers, firewalls, protocols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52360" y="2724912"/>
            <a:ext cx="109728" cy="109728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Hacking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2862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SQLi, XSS, auth bypass on web apps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52360" y="3346704"/>
            <a:ext cx="109728" cy="109728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32278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Hacking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80960" y="34838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handshake capture, rogue APs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52360" y="3968496"/>
            <a:ext cx="109728" cy="109728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38496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80960" y="41056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pretexting, manipulating people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52360" y="4590288"/>
            <a:ext cx="109728" cy="109728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4471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OS Hacking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80960" y="4727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escalation, malware, exploits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5212080"/>
            <a:ext cx="109728" cy="109728"/>
          </a:xfrm>
          <a:prstGeom prst="ellipse">
            <a:avLst/>
          </a:prstGeom>
          <a:solidFill>
            <a:srgbClr val="39FF6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5093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Hacking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80960" y="53492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Cracking, brute-force, credential stuffing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Hackers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9FF6A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Hat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291840" cy="0"/>
          </a:xfrm>
          <a:prstGeom prst="line">
            <a:avLst/>
          </a:prstGeom>
          <a:noFill/>
          <a:ln w="12700">
            <a:solidFill>
              <a:srgbClr val="243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security professionals who test systems with permission and report findings responsibly.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5C5C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Hat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2194560"/>
            <a:ext cx="3291840" cy="0"/>
          </a:xfrm>
          <a:prstGeom prst="line">
            <a:avLst/>
          </a:prstGeom>
          <a:noFill/>
          <a:ln w="12700">
            <a:solidFill>
              <a:srgbClr val="2430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33172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actors who breach systems illegally for profit, data theft, or damage.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41732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Grey Hat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0" y="2194560"/>
            <a:ext cx="3291840" cy="0"/>
          </a:xfrm>
          <a:prstGeom prst="line">
            <a:avLst/>
          </a:prstGeom>
          <a:noFill/>
          <a:ln w="12700">
            <a:solidFill>
              <a:srgbClr val="24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33172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systems without authorisation but without malicious intent — often disclose flaws unsolicited.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FD4E3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Hacktivists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4800600"/>
            <a:ext cx="3291840" cy="0"/>
          </a:xfrm>
          <a:prstGeom prst="line">
            <a:avLst/>
          </a:prstGeom>
          <a:noFill/>
          <a:ln w="12700">
            <a:solidFill>
              <a:srgbClr val="243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93776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political or social causes; deface sites, leak data to make a statement.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40233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FA3A8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Kiddies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09160" y="4800600"/>
            <a:ext cx="3291840" cy="0"/>
          </a:xfrm>
          <a:prstGeom prst="line">
            <a:avLst/>
          </a:prstGeom>
          <a:noFill/>
          <a:ln w="12700">
            <a:solidFill>
              <a:srgbClr val="2430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93776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Inexperienced attackers using pre-built tools/scripts without deep technical understanding.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0233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77DFF"/>
          </a:solidFill>
          <a:ln/>
        </p:spPr>
      </p:sp>
      <p:sp>
        <p:nvSpPr>
          <p:cNvPr id="30" name="Text 28"/>
          <p:cNvSpPr/>
          <p:nvPr/>
        </p:nvSpPr>
        <p:spPr>
          <a:xfrm>
            <a:off x="928116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Nation-State Actors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86800" y="4800600"/>
            <a:ext cx="3291840" cy="0"/>
          </a:xfrm>
          <a:prstGeom prst="line">
            <a:avLst/>
          </a:prstGeom>
          <a:noFill/>
          <a:ln w="12700">
            <a:solidFill>
              <a:srgbClr val="2430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493776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State-sponsored, highly resourced groups conducting espionage, sabotage, or cyber warfare.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Hacking vs. Malicious Hacking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0161D"/>
          </a:solidFill>
          <a:ln w="12700">
            <a:solidFill>
              <a:srgbClr val="1F8A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2377440" cy="292608"/>
          </a:xfrm>
          <a:prstGeom prst="rect">
            <a:avLst/>
          </a:prstGeom>
          <a:solidFill>
            <a:srgbClr val="39FF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800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authorisation obtained before any testing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timeline, and rules of engagement agreed upfront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reported confidentially to the client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strengthen defences, not exploit for gain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NDA and legal contracts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0161D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2377440" cy="292608"/>
          </a:xfrm>
          <a:prstGeom prst="rect">
            <a:avLst/>
          </a:prstGeom>
          <a:solidFill>
            <a:srgbClr val="FF5C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HACKING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37960" y="2286000"/>
            <a:ext cx="4800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authorisation — access is illegal from the outset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scope; systems attacked indiscriminately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used for theft, ransom, or sabotage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personal, financial, or political gain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Punishable under IT Act 2000 and IPC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Ethical Hacking Strengthens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9344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F8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9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3619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 Attacks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46320" y="153619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TTPs as real adversaries to reveal genuine exposure, not theoretical risk.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05456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F8A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05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43230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Gaps Before Attackers 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46320" y="2432304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Uncovers misconfigurations, weak credentials, and unpatched systems proactively.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0156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F8A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32841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Existing Controls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3328416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whether firewalls, EDR, and monitoring actually detect and stop intrusions.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5137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976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F8A4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2245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Prioritised Remediation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46320" y="422452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risk-ranked report so teams fix the most exploitable issues first.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4748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193792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F8A4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120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Compliance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46320" y="51206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requirements under ISO 27001, PCI-DSS, RBI/SEBI, and the IT Act 2000.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Companies Pay for Penetration Tests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8A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7099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a Breach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data breach cost far exceeds the price of a proactive pentest engagement.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737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8A45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3760" y="17099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Mandate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PCI-DSS, RBI, SEBI, and client contracts often require periodic third-party testing.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60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8A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⚑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1330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 Protection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breach erodes customer trust; a clean audit trail reassures stakeholders.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160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F8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◎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41330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Assurance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892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testers have no internal bias — they find what in-house teams overlook.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Framework — IT Act 2000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primary cyber-law statute defines both digital crimes and their penalties. Every ethical hacker must operate within its boundaries.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30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43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4963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for damage to computer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unauthorised access, downloading, introducing viruses, or damaging data — compensation liability applies even without criminal intent.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30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66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4963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Computer-related offences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8803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Section 43 acts done "dishonestly or fraudulently" — punishable with imprisonment up to 3 years and/or fine up to ₹5 lakh.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87952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525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66B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7183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stolen computer resource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10235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Punishes knowingly receiving or retaining stolen computer resources or communication devices.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4187952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3525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66C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7183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510235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Criminalises fraudulent or dishonest use of another person's electronic signature, password, or unique identifier.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Ever Touch a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9FF6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Authorisation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document explicitly permitting testing — the single legal line between ethical hacking and a crime under Section 43/66.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45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9FF6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5160" y="1600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Engagement (RoE)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testing windows, allowed techniques, emergency contacts, and escalation procedures during the engagement.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69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9FF6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0233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Non-Disclosure Agreement (NDA)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binds the tester to confidentiality over any data, vulnerabilities, or credentials encountered.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069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9FF6A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40233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Definition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7091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 lists in-scope IPs, domains, applications — and explicitly excludes anything off-limits.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Without Permission: The Consequences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A0E0E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"harmless" scan of a system you don't own or lack written authorisation for is a criminal offence in India — intent or good will does not matter.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706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Liability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Prosecution under Sections 43/66/66B/66C — imprisonment up to 3 years and fines.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060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7706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Compensation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31546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organisation can claim damages for downtime, data loss, or remediation costs.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62272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2686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&amp; Reputation Loss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01091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conviction bars future employment in security, government, or regulated industries.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462272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62686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'Good Intent' Defence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501091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Grey-hat justifications ("I was just helping") carry no legal weight without authorisation.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Phases of Ethical Hacking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51C24"/>
          </a:solidFill>
          <a:ln w="19050">
            <a:solidFill>
              <a:srgbClr val="5FD4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14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D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31546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33472" y="292608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3A8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98064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51C24"/>
          </a:solidFill>
          <a:ln w="19050">
            <a:solidFill>
              <a:srgbClr val="39F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8064" y="2514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07792" y="31546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&amp; Enumeration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82896" y="292608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3A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47488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51C24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2514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57216" y="31546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Access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292608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3A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96912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51C24"/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2" y="2514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7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06640" y="31546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Access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81744" y="292608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3A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46336" y="237744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51C24"/>
          </a:solidFill>
          <a:ln w="19050">
            <a:solidFill>
              <a:srgbClr val="FF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46336" y="2514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56064" y="31546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Tracks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and ethical hackers follow the same sequence — the difference is authorisation and intent at every step.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Reconnaissance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&amp; active information gathering before any contact is exploited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recon: OSINT — WHOIS, DNS records, LinkedIn, job postings, GitHub leaks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recon: ping sweeps, traceroutes, banner grabbing (with authorisation)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recon: identifying employees, org structure, email formats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Google dorking, Shodan, theHarvester, Maltego, Recon-ng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965960"/>
            <a:ext cx="4343400" cy="3931920"/>
          </a:xfrm>
          <a:prstGeom prst="roundRect">
            <a:avLst>
              <a:gd name="adj" fmla="val 1860"/>
            </a:avLst>
          </a:prstGeom>
          <a:solidFill>
            <a:srgbClr val="151C24"/>
          </a:solidFill>
          <a:ln w="12700">
            <a:solidFill>
              <a:srgbClr val="5FD4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FD4E3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F14"/>
                </a:solidFill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0" y="22128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288036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2013 Target breach, attackers first harvested credentials from a third-party HVAC vendor via OSINT and phishing — reconnaissance that made the later breach possible.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Scanning &amp; Enumeration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probing live systems to map attack surface and extract details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 to identify open services (Nmap, Masscan)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against known CVEs (Nessus, OpenVAS)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Enumeration: usernames, shares, SNMP strings, DNS zone transfers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and service fingerprinting to plan the exploit path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965960"/>
            <a:ext cx="4343400" cy="3931920"/>
          </a:xfrm>
          <a:prstGeom prst="roundRect">
            <a:avLst>
              <a:gd name="adj" fmla="val 1860"/>
            </a:avLst>
          </a:prstGeom>
          <a:solidFill>
            <a:srgbClr val="151C24"/>
          </a:solidFill>
          <a:ln w="12700">
            <a:solidFill>
              <a:srgbClr val="39FF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9FF6A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F14"/>
                </a:solidFill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0" y="22128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288036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WannaCry outbreak, attackers scanned the internet for hosts with SMBv1 (port 445) exposed — enumeration at internet scale identified hundreds of thousands of vulnerable machines.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Gaining Access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identified weaknesses to obtain a foothold on the target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unpatched vulnerabilities (Metasploit, custom exploits)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attacks: brute-force, credential stuffing, phishing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attacks: SQL injection, XSS, file upload bypass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from initial low-level access to admin/root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965960"/>
            <a:ext cx="4343400" cy="3931920"/>
          </a:xfrm>
          <a:prstGeom prst="roundRect">
            <a:avLst>
              <a:gd name="adj" fmla="val 1860"/>
            </a:avLst>
          </a:prstGeom>
          <a:solidFill>
            <a:srgbClr val="151C24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F14"/>
                </a:solidFill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0" y="22128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288036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Equifax breach (2017) began when attackers exploited an unpatched Apache Struts vulnerability (CVE-2017-5638) in a public-facing web application to gain initial access.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4: Maintaining Access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persistence to retain control after the initial compromise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backdoors, web shells, or rootkits for repeat access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new privileged accounts or scheduled tasks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across the network to widen footholds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testers document persistence methods but remove them post-test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965960"/>
            <a:ext cx="4343400" cy="3931920"/>
          </a:xfrm>
          <a:prstGeom prst="roundRect">
            <a:avLst>
              <a:gd name="adj" fmla="val 1860"/>
            </a:avLst>
          </a:prstGeom>
          <a:solidFill>
            <a:srgbClr val="151C24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77DFF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F14"/>
                </a:solidFill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0" y="22128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288036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groups like APT29 ("Cozy Bear") deploy custom malware with multiple persistence mechanisms, allowing them to remain undetected inside networks for months or years.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5: Covering Tracks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Erasing evidence of activity to avoid detection and attribution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or modifying system, application, and security logs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auditing/monitoring temporarily during actions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steganography or encryption to hide exfiltrated data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hackers report this phase in findings — never actually destroy client 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965960"/>
            <a:ext cx="4343400" cy="3931920"/>
          </a:xfrm>
          <a:prstGeom prst="roundRect">
            <a:avLst>
              <a:gd name="adj" fmla="val 1860"/>
            </a:avLst>
          </a:prstGeom>
          <a:solidFill>
            <a:srgbClr val="151C24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5C5C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F14"/>
                </a:solidFill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0" y="22128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288036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Sony Pictures hack (2014) attackers used wiping malware to destroy logs and disk data after exfiltration, deliberately hampering forensic investigation and attribution.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Cyber Kill Chain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Lockheed Martin — models an intrusion as a chain of 7 stages. Breaking any single link stops the attack.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0161D"/>
          </a:solidFill>
          <a:ln w="12700">
            <a:solidFill>
              <a:srgbClr val="1F8A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2140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2514600"/>
            <a:ext cx="13898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84832" y="2560320"/>
            <a:ext cx="105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A8"/>
                </a:solidFill>
              </a:rPr>
              <a:t>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89988" y="201168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51C24"/>
          </a:solidFill>
          <a:ln w="12700">
            <a:solidFill>
              <a:srgbClr val="1F8A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89988" y="212140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63140" y="2514600"/>
            <a:ext cx="13898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26180" y="2560320"/>
            <a:ext cx="105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A8"/>
                </a:solidFill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31336" y="201168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0161D"/>
          </a:solidFill>
          <a:ln w="12700">
            <a:solidFill>
              <a:srgbClr val="1F8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212140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04488" y="2514600"/>
            <a:ext cx="13898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67528" y="2560320"/>
            <a:ext cx="105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A8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72684" y="201168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51C24"/>
          </a:solidFill>
          <a:ln w="12700">
            <a:solidFill>
              <a:srgbClr val="1F8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2684" y="212140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45836" y="2514600"/>
            <a:ext cx="13898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08876" y="2560320"/>
            <a:ext cx="105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A8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14032" y="201168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0161D"/>
          </a:solidFill>
          <a:ln w="12700">
            <a:solidFill>
              <a:srgbClr val="1F8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212140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87184" y="2514600"/>
            <a:ext cx="13898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50224" y="2560320"/>
            <a:ext cx="105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A8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55380" y="201168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51C24"/>
          </a:solidFill>
          <a:ln w="12700">
            <a:solidFill>
              <a:srgbClr val="1F8A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5380" y="212140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28532" y="2514600"/>
            <a:ext cx="13898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291572" y="2560320"/>
            <a:ext cx="105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A8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396728" y="201168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0161D"/>
          </a:solidFill>
          <a:ln w="12700">
            <a:solidFill>
              <a:srgbClr val="1F8A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96728" y="212140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469880" y="2514600"/>
            <a:ext cx="13898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on Objectives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041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Mindset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2960" y="43891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is sequential and cumulative — each completed stage unlocks the next. Attackers invest heavily in early stages (recon, weaponization) because success there compounds through the rest of the chain.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63640" y="4041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Mindset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63640" y="43891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Defenders don't need to stop every stage — interrupting any single link collapses the entire chain. This reframes security from "prevent everything" to "detect and disrupt early."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 Chain Mapped to Pentest Phases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2062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Chain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Pentest Phase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6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OSINT exposure, limit public data leakage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Scanning &amp; Enumeration (prep)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intel on exploit kits, patch known CVEs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Gaining Access (initial vector)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filtering, web application firewalls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Gaining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IPS/IDS, endpoint detection, virtual patching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Maintaining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EDR/antivirus, application allow-listing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Maintaining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egress filtering, DNS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on Objectives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Covering Tracks (post-objective)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loss prevention, log integrity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Defenders Use the Kill Chain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09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8A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0F14"/>
                </a:solidFill>
              </a:rPr>
              <a:t>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Detection Priority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detection budget at Recon/Delivery stages stops attacks before damage — far cheaper than post-breach cleanup.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709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8A45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0F14"/>
                </a:solidFill>
              </a:rPr>
              <a:t>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69164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 Tool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map existing controls against each stage to visually identify undefended links in the chain.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330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8A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0F14"/>
                </a:solidFill>
              </a:rPr>
              <a:t>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11480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Structure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playbooks are often built stage-by-stage, so responders know exactly which stage an alert corresponds to.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1330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8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0F14"/>
                </a:solidFill>
              </a:rPr>
              <a:t>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411480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Purple Team Exercises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46520" y="480060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and defenders jointly walk the chain — red team executes a stage, blue team validates detection in real time.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 vs. Blue Team vs. Purple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10161D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3538728" cy="822960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538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947672"/>
            <a:ext cx="3538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9900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 adversaries — stealthy, objective-driven attacks to test detection and response, often without defenders' foreknowledge.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10161D"/>
          </a:solidFill>
          <a:ln w="12700">
            <a:solidFill>
              <a:srgbClr val="5FD4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63040"/>
            <a:ext cx="3538728" cy="822960"/>
          </a:xfrm>
          <a:prstGeom prst="rect">
            <a:avLst/>
          </a:prstGeom>
          <a:solidFill>
            <a:srgbClr val="5FD4E3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463040"/>
            <a:ext cx="3538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TEAM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43400" y="1947672"/>
            <a:ext cx="3538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29900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Monitors, detects, and responds to intrusions — owns SOC operations, incident response, and hardening.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10161D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63040"/>
            <a:ext cx="3538728" cy="822960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463040"/>
            <a:ext cx="3538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PURPLE TEAM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1947672"/>
            <a:ext cx="3538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29900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red and blue — shares attack techniques in real time so detection gaps are closed immediately, not just reported.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VAPT vs. Penetration Test vs. Vulnerability Assessment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84632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3017520"/>
                <a:gridCol w="2926080"/>
              </a:tblGrid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Assessment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Penetration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VAPT (Combined)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6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&amp; list weaknesses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 weaknesses to prove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— identify AND exploit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scanning, breadth-first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targeted, depth-first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Breadth + depth combined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no exploitation attempted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exploitation of 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 of prioritised 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CVEs / risk scores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Proof-of-concept + business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risk + exploit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Duration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to 1 day (scan-based)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 weeks (manual + scoped)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4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2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(most comprehensive)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Testing Execution Standard (PTES)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industry-recognised methodology defining what a professional penetration test should include, end to 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75688"/>
            <a:ext cx="347472" cy="347472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75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Pre-engagement Interactions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34056"/>
            <a:ext cx="347472" cy="347472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34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624328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Gathering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392424"/>
            <a:ext cx="347472" cy="347472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92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28269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50792"/>
            <a:ext cx="347472" cy="347472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50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941064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Analysis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709160"/>
            <a:ext cx="347472" cy="347472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09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599432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67528"/>
            <a:ext cx="347472" cy="347472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67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25780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Exploitation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91616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6025896"/>
            <a:ext cx="347472" cy="347472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025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5916168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Testing Guide v4.2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OWASP Web Security Testing Guide (WSTG) is the de-facto standard for structured web application security testing.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Fingerprinting, spidering, entry-point mapping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01168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Deployment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80560" y="2377440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config, HTTP methods, admin interfaces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01168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75320" y="2377440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Role/user provisioning, account enumeration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4728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Testing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813048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handling, weak lockout, bypass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3355848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44728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Testing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3813048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traversal, privilege escalation, IDOR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3355848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44728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75320" y="3813048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attributes, session fixation, CSRF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91456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882896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Testing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5248656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SQLi, XSS, command injection, XXE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4791456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882896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Crypto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0560" y="5248656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traces, weak TLS, padding oracle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4791456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4882896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Testing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75320" y="5248656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bypass, abuse of legitimate features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6227064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6318504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Testing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6684264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XSS, clickjacking, WebSocket flaws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Lab Setup Verification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hands-on modules begin, confirm your lab environment is correctly configured and isolated.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9FF6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installed (VirtualBox / VMware Workstation) and virtualization enabled in BIOS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1635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9FF6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16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679192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(attacker VM) imported and boots successfully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52958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9FF6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9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392424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target VM (e.g. Metasploitable, DVWA, OWASP Juice Shop) imported and running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4281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9FF6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105656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 set to Host-Only or Internal Network — never Bridged, to prevent leakage onto real networks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1888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9560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9FF6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56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818888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and target VMs can ping each other; internet access disabled/restricted on target VM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6692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9FF6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669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553212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taken of a clean state before beginning any exercise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329184" cy="329184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is a neutral skill set — authorisation and intent define its legality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23744"/>
            <a:ext cx="329184" cy="329184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23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340864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 Act 2000 (Sections 43, 66, 66B, 66C) governs cyber offences in India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10128"/>
            <a:ext cx="329184" cy="329184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10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12724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authorisation, RoE, NDA, and scope are non-negotiable before testing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96512"/>
            <a:ext cx="329184" cy="329184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96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913632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intrusion — real or simulated — follows the same 5 phases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70001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0161D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82896"/>
            <a:ext cx="329184" cy="329184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82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700016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 Kill Chain gives defenders a map to detect and disrupt attacks early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51C24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669280"/>
            <a:ext cx="329184" cy="329184"/>
          </a:xfrm>
          <a:prstGeom prst="ellipse">
            <a:avLst/>
          </a:prstGeom>
          <a:solidFill>
            <a:srgbClr val="1F8A4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669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5486400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PTES and OWASP WSTG provide the structured methodology behind a professional test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0574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0" y="6172200"/>
            <a:ext cx="12188952" cy="0"/>
          </a:xfrm>
          <a:prstGeom prst="line">
            <a:avLst/>
          </a:prstGeom>
          <a:noFill/>
          <a:ln w="6350">
            <a:solidFill>
              <a:srgbClr val="24303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session_complete()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Hands-on lab — Reconnaissance techniques with OSINT tools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Ethical Hacking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2026-07-18T16:16:22Z</dcterms:created>
  <dcterms:modified xsi:type="dcterms:W3CDTF">2026-07-18T16:16:22Z</dcterms:modified>
</cp:coreProperties>
</file>