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scenario: an upload form built for photos and PDFs, but it quietly accepts executable files too because it never validates properly. Explain that this one gap can lead to full server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vulnerability with the mailroom analogy. It happens when an app accepts files without checking what they are or where they land, letting an attacker upload code the server later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four-step attack: upload a disguised shell, it gets stored with its real extension, the attacker requests its URL, and the server executes it — giving a web shell. Name this as Remote Code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stakes concrete: once code runs on the server, an attacker can take it over, steal data, deface the site, host malware, pivot into the internal network, and leave a backdoor for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defense in depth. One check is never enough. We stack four independent layers — type, content, storage, execution — so if an attacker slips past one, the next still stops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one: validate the type. Use an allowlist of permitted types, check the extension and MIME together, reject double or disguised extensions, and rename the file to a safe server-chosen name instead of trusting the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two: validate the content, not just the name. Check the magic bytes to confirm the real type, re-encode images to strip hidden code, enforce a size limit, and run an anti-malware scan as a backstop.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three: store safely. Keep uploads outside the web root so they can't be served as pages, give them random filenames so URLs can't be guessed, block user-controlled paths, and ideally use a separate storage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four: even if a bad file lands, make sure it can never run. Remove execute permissions, disable script engines in the upload folder, serve files as downloads, and host them on a separate static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do-and-don't checklist the audience can photograph: allowlist types, verify content, store outside web root, block execution, limit size — and never trust the extension, the filename, or a single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734425" y="6356350"/>
            <a:ext cx="2843213" cy="365125"/>
          </a:xfrm>
        </p:spPr>
        <p:txBody>
          <a:bodyPr/>
          <a:lstStyle/>
          <a:p>
            <a:fld id="{657B3580-1400-497E-A019-9190D5AB9838}"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901" Type="http://schemas.openxmlformats.org/officeDocument/2006/relationships/image" Target="../media/ltuimg1.png"/><Relationship Id="rId902" Type="http://schemas.openxmlformats.org/officeDocument/2006/relationships/image" Target="../media/ltuimg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 name="LJ University Logo"/>
          <p:cNvPicPr>
            <a:picLocks noChangeAspect="1"/>
          </p:cNvPicPr>
          <p:nvPr userDrawn="1"/>
        </p:nvPicPr>
        <p:blipFill>
          <a:blip r:embed="rId901"/>
          <a:stretch>
            <a:fillRect/>
          </a:stretch>
        </p:blipFill>
        <p:spPr>
          <a:xfrm>
            <a:off x="182880" y="45720"/>
            <a:ext cx="1233054" cy="365760"/>
          </a:xfrm>
          <a:prstGeom prst="rect">
            <a:avLst/>
          </a:prstGeom>
        </p:spPr>
      </p:pic>
      <p:pic>
        <p:nvPicPr>
          <p:cNvPr id="902" name="TechDefenceLabs Logo"/>
          <p:cNvPicPr>
            <a:picLocks noChangeAspect="1"/>
          </p:cNvPicPr>
          <p:nvPr userDrawn="1"/>
        </p:nvPicPr>
        <p:blipFill>
          <a:blip r:embed="rId902"/>
          <a:stretch>
            <a:fillRect/>
          </a:stretch>
        </p:blipFill>
        <p:spPr>
          <a:xfrm>
            <a:off x="10323880" y="45720"/>
            <a:ext cx="1488120" cy="365760"/>
          </a:xfrm>
          <a:prstGeom prst="rect">
            <a:avLst/>
          </a:prstGeom>
        </p:spPr>
      </p:pic>
      <p:sp>
        <p:nvSpPr>
          <p:cNvPr id="903" name="Slide Number Placeholder 903"/>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0ED23-4570-478F-8E10-B8447DF96B4E}"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901" Type="http://schemas.openxmlformats.org/officeDocument/2006/relationships/image" Target="../media/ltuimg1.png"/><Relationship Id="rId902" Type="http://schemas.openxmlformats.org/officeDocument/2006/relationships/image" Target="../media/ltuimg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901" Type="http://schemas.openxmlformats.org/officeDocument/2006/relationships/image" Target="../media/ltuimg1.png"/><Relationship Id="rId902" Type="http://schemas.openxmlformats.org/officeDocument/2006/relationships/image" Target="../media/ltuimg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0A12"/>
        </a:solidFill>
      </p:bgPr>
    </p:bg>
    <p:spTree>
      <p:nvGrpSpPr>
        <p:cNvPr id="1" name=""/>
        <p:cNvGrpSpPr/>
        <p:nvPr/>
      </p:nvGrpSpPr>
      <p:grpSpPr>
        <a:xfrm>
          <a:off x="0" y="0"/>
          <a:ext cx="0" cy="0"/>
          <a:chOff x="0" y="0"/>
          <a:chExt cx="0" cy="0"/>
        </a:xfrm>
      </p:grpSpPr>
      <p:sp>
        <p:nvSpPr>
          <p:cNvPr id="2" name="Shape 0"/>
          <p:cNvSpPr/>
          <p:nvPr/>
        </p:nvSpPr>
        <p:spPr>
          <a:xfrm>
            <a:off x="9509760" y="-1188720"/>
            <a:ext cx="3840480" cy="3840480"/>
          </a:xfrm>
          <a:prstGeom prst="ellipse">
            <a:avLst/>
          </a:prstGeom>
          <a:solidFill>
            <a:srgbClr val="9E1B2C"/>
          </a:solidFill>
          <a:ln/>
        </p:spPr>
      </p:sp>
      <p:sp>
        <p:nvSpPr>
          <p:cNvPr id="3" name="Shape 1"/>
          <p:cNvSpPr/>
          <p:nvPr/>
        </p:nvSpPr>
        <p:spPr>
          <a:xfrm>
            <a:off x="10607040" y="4480560"/>
            <a:ext cx="2743200" cy="2743200"/>
          </a:xfrm>
          <a:prstGeom prst="ellipse">
            <a:avLst/>
          </a:prstGeom>
          <a:solidFill>
            <a:srgbClr val="E8574A"/>
          </a:solidFill>
          <a:ln/>
        </p:spPr>
      </p:sp>
      <p:sp>
        <p:nvSpPr>
          <p:cNvPr id="4" name="Text 2"/>
          <p:cNvSpPr txBox="1"/>
          <p:nvPr/>
        </p:nvSpPr>
        <p:spPr>
          <a:xfrm>
            <a:off x="731520" y="1417320"/>
            <a:ext cx="8229600" cy="365760"/>
          </a:xfrm>
          <a:prstGeom prst="rect">
            <a:avLst/>
          </a:prstGeom>
          <a:noFill/>
          <a:ln/>
        </p:spPr>
        <p:txBody>
          <a:bodyPr wrap="square" lIns="0" tIns="0" rIns="0" bIns="0" rtlCol="0" anchor="ctr"/>
          <a:lstStyle/>
          <a:p>
            <a:pPr indent="0" marL="0">
              <a:buNone/>
            </a:pPr>
            <a:r>
              <a:rPr lang="en-US" sz="1300" b="1" spc="300" kern="0" dirty="0">
                <a:solidFill>
                  <a:srgbClr val="E8574A"/>
                </a:solidFill>
                <a:latin typeface="Calibri" pitchFamily="34" charset="0"/>
                <a:ea typeface="Calibri" pitchFamily="34" charset="-122"/>
                <a:cs typeface="Calibri" pitchFamily="34" charset="-120"/>
              </a:rPr>
              <a:t>WEB APPLICATION SECURITY</a:t>
            </a:r>
            <a:endParaRPr lang="en-US" sz="1300" dirty="0"/>
          </a:p>
        </p:txBody>
      </p:sp>
      <p:sp>
        <p:nvSpPr>
          <p:cNvPr id="5" name="Text 3"/>
          <p:cNvSpPr txBox="1"/>
          <p:nvPr/>
        </p:nvSpPr>
        <p:spPr>
          <a:xfrm>
            <a:off x="731520" y="1828800"/>
            <a:ext cx="8778240" cy="192024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When a File Upload Form Accepts Executables</a:t>
            </a:r>
            <a:endParaRPr lang="en-US" sz="4000" dirty="0"/>
          </a:p>
        </p:txBody>
      </p:sp>
      <p:sp>
        <p:nvSpPr>
          <p:cNvPr id="6" name="Text 4"/>
          <p:cNvSpPr txBox="1"/>
          <p:nvPr/>
        </p:nvSpPr>
        <p:spPr>
          <a:xfrm>
            <a:off x="749808" y="3794760"/>
            <a:ext cx="8503920" cy="914400"/>
          </a:xfrm>
          <a:prstGeom prst="rect">
            <a:avLst/>
          </a:prstGeom>
          <a:noFill/>
          <a:ln/>
        </p:spPr>
        <p:txBody>
          <a:bodyPr wrap="square" lIns="0" tIns="0" rIns="0" bIns="0" rtlCol="0" anchor="ctr"/>
          <a:lstStyle/>
          <a:p>
            <a:pPr indent="0" marL="0">
              <a:lnSpc>
                <a:spcPct val="110000"/>
              </a:lnSpc>
              <a:buNone/>
            </a:pPr>
            <a:r>
              <a:rPr lang="en-US" sz="1600" dirty="0">
                <a:solidFill>
                  <a:srgbClr val="E6B6B6"/>
                </a:solidFill>
                <a:latin typeface="Calibri" pitchFamily="34" charset="0"/>
                <a:ea typeface="Calibri" pitchFamily="34" charset="-122"/>
                <a:cs typeface="Calibri" pitchFamily="34" charset="-120"/>
              </a:rPr>
              <a:t>How weak upload validation compromises a web app — and the layered controls that shut it down.</a:t>
            </a:r>
            <a:endParaRPr lang="en-US" sz="1600" dirty="0"/>
          </a:p>
        </p:txBody>
      </p:sp>
      <p:sp>
        <p:nvSpPr>
          <p:cNvPr id="7" name="Shape 5"/>
          <p:cNvSpPr/>
          <p:nvPr/>
        </p:nvSpPr>
        <p:spPr>
          <a:xfrm>
            <a:off x="731520" y="5074920"/>
            <a:ext cx="5120640" cy="1005840"/>
          </a:xfrm>
          <a:prstGeom prst="roundRect">
            <a:avLst>
              <a:gd name="adj" fmla="val 7273"/>
            </a:avLst>
          </a:prstGeom>
          <a:solidFill>
            <a:srgbClr val="5A1721"/>
          </a:solidFill>
          <a:ln w="12700">
            <a:solidFill>
              <a:srgbClr val="9E1B2C"/>
            </a:solidFill>
            <a:prstDash val="solid"/>
          </a:ln>
        </p:spPr>
      </p:sp>
      <p:sp>
        <p:nvSpPr>
          <p:cNvPr id="8" name="Text 6"/>
          <p:cNvSpPr txBox="1"/>
          <p:nvPr/>
        </p:nvSpPr>
        <p:spPr>
          <a:xfrm>
            <a:off x="960120" y="5074920"/>
            <a:ext cx="466344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CHUDASAMA VISHAL BHIMASHIBHAI</a:t>
            </a:r>
            <a:endParaRPr lang="en-US" sz="1500" dirty="0"/>
          </a:p>
          <a:p>
            <a:pPr indent="0" marL="0">
              <a:buNone/>
            </a:pPr>
            <a:r>
              <a:rPr lang="en-US" sz="1200" dirty="0">
                <a:solidFill>
                  <a:srgbClr val="E6B6B6"/>
                </a:solidFill>
                <a:latin typeface="Calibri" pitchFamily="34" charset="0"/>
                <a:ea typeface="Calibri" pitchFamily="34" charset="-122"/>
                <a:cs typeface="Calibri" pitchFamily="34" charset="-120"/>
              </a:rPr>
              <a:t>Roll No: 25004401110069</a:t>
            </a:r>
            <a:endParaRPr lang="en-US" sz="1500" dirty="0"/>
          </a:p>
        </p:txBody>
      </p:sp>
      <p:sp>
        <p:nvSpPr>
          <p:cNvPr id="940" name="Header Band"/>
          <p:cNvSpPr/>
          <p:nvPr/>
        </p:nvSpPr>
        <p:spPr>
          <a:xfrm>
            <a:off x="0" y="0"/>
            <a:ext cx="12192000" cy="457200"/>
          </a:xfrm>
          <a:prstGeom prst="rect">
            <a:avLst/>
          </a:prstGeom>
          <a:solidFill>
            <a:srgbClr val="FFFFFF"/>
          </a:solidFill>
          <a:ln>
            <a:noFill/>
          </a:ln>
        </p:spPr>
        <p:txBody>
          <a:bodyPr/>
          <a:lstStyle/>
          <a:p>
            <a:endParaRPr lang="en-US"/>
          </a:p>
        </p:txBody>
      </p:sp>
      <p:pic>
        <p:nvPicPr>
          <p:cNvPr id="941" name="LJ University Logo"/>
          <p:cNvPicPr>
            <a:picLocks noChangeAspect="1"/>
          </p:cNvPicPr>
          <p:nvPr userDrawn="1"/>
        </p:nvPicPr>
        <p:blipFill>
          <a:blip r:embed="rId901"/>
          <a:stretch>
            <a:fillRect/>
          </a:stretch>
        </p:blipFill>
        <p:spPr>
          <a:xfrm>
            <a:off x="182880" y="45720"/>
            <a:ext cx="1233054" cy="365760"/>
          </a:xfrm>
          <a:prstGeom prst="rect">
            <a:avLst/>
          </a:prstGeom>
        </p:spPr>
      </p:pic>
      <p:pic>
        <p:nvPicPr>
          <p:cNvPr id="942" name="TechDefenceLabs Logo"/>
          <p:cNvPicPr>
            <a:picLocks noChangeAspect="1"/>
          </p:cNvPicPr>
          <p:nvPr userDrawn="1"/>
        </p:nvPicPr>
        <p:blipFill>
          <a:blip r:embed="rId902"/>
          <a:stretch>
            <a:fillRect/>
          </a:stretch>
        </p:blipFill>
        <p:spPr>
          <a:xfrm>
            <a:off x="10323880" y="45720"/>
            <a:ext cx="1488120" cy="365760"/>
          </a:xfrm>
          <a:prstGeom prst="rect">
            <a:avLst/>
          </a:prstGeom>
        </p:spPr>
      </p:pic>
      <p:sp>
        <p:nvSpPr>
          <p:cNvPr id="950" name="Slide Number Placeholder 950"/>
          <p:cNvSpPr>
            <a:spLocks noGrp="1"/>
          </p:cNvSpPr>
          <p:nvPr>
            <p:ph type="sldNum" sz="quarter" idx="12"/>
          </p:nvPr>
        </p:nvSpPr>
        <p:spPr/>
        <p:txBody>
          <a:bodyPr/>
          <a:lstStyle/>
          <a:p>
            <a:fld id="{657B3580-1400-497E-A019-9190D5AB9838}" type="slidenum">
              <a:rPr lang="en-IN">
                <a:solidFill>
                  <a:srgbClr val="FFFFFF"/>
                </a:solidFill>
              </a:rPr>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THE SCENARIO</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An upload form that trusts anything</a:t>
            </a:r>
            <a:endParaRPr lang="en-US" sz="3000" dirty="0"/>
          </a:p>
        </p:txBody>
      </p:sp>
      <p:sp>
        <p:nvSpPr>
          <p:cNvPr id="4" name="Shape 2"/>
          <p:cNvSpPr/>
          <p:nvPr/>
        </p:nvSpPr>
        <p:spPr>
          <a:xfrm>
            <a:off x="548640" y="1645920"/>
            <a:ext cx="5760720" cy="4206240"/>
          </a:xfrm>
          <a:prstGeom prst="roundRect">
            <a:avLst>
              <a:gd name="adj" fmla="val 1739"/>
            </a:avLst>
          </a:prstGeom>
          <a:solidFill>
            <a:srgbClr val="FBEDED"/>
          </a:solidFill>
          <a:ln w="12700">
            <a:solidFill>
              <a:srgbClr val="F0D6D6"/>
            </a:solidFill>
            <a:prstDash val="solid"/>
          </a:ln>
        </p:spPr>
      </p:sp>
      <p:sp>
        <p:nvSpPr>
          <p:cNvPr id="5" name="Text 3"/>
          <p:cNvSpPr txBox="1"/>
          <p:nvPr/>
        </p:nvSpPr>
        <p:spPr>
          <a:xfrm>
            <a:off x="868680" y="1965960"/>
            <a:ext cx="5120640" cy="3566160"/>
          </a:xfrm>
          <a:prstGeom prst="rect">
            <a:avLst/>
          </a:prstGeom>
          <a:noFill/>
          <a:ln/>
        </p:spPr>
        <p:txBody>
          <a:bodyPr wrap="square" lIns="0" tIns="0" rIns="0" bIns="0" rtlCol="0" anchor="t"/>
          <a:lstStyle/>
          <a:p>
            <a:pPr indent="0" marL="0">
              <a:lnSpc>
                <a:spcPct val="115000"/>
              </a:lnSpc>
              <a:buNone/>
            </a:pPr>
            <a:r>
              <a:rPr lang="en-US" sz="1600" dirty="0">
                <a:solidFill>
                  <a:srgbClr val="2B1A1D"/>
                </a:solidFill>
                <a:latin typeface="Calibri" pitchFamily="34" charset="0"/>
                <a:ea typeface="Calibri" pitchFamily="34" charset="-122"/>
                <a:cs typeface="Calibri" pitchFamily="34" charset="-120"/>
              </a:rPr>
              <a:t>A website lets users upload a </a:t>
            </a:r>
            <a:pPr indent="0" marL="0">
              <a:lnSpc>
                <a:spcPct val="115000"/>
              </a:lnSpc>
              <a:buNone/>
            </a:pPr>
            <a:r>
              <a:rPr lang="en-US" sz="1600" b="1" dirty="0">
                <a:solidFill>
                  <a:srgbClr val="2B1A1D"/>
                </a:solidFill>
                <a:latin typeface="Calibri" pitchFamily="34" charset="0"/>
                <a:ea typeface="Calibri" pitchFamily="34" charset="-122"/>
                <a:cs typeface="Calibri" pitchFamily="34" charset="-120"/>
              </a:rPr>
              <a:t>profile photo or a PDF.</a:t>
            </a:r>
            <a:endParaRPr lang="en-US" sz="1600" dirty="0"/>
          </a:p>
          <a:p>
            <a:pPr indent="0" marL="0">
              <a:lnSpc>
                <a:spcPct val="115000"/>
              </a:lnSpc>
              <a:buNone/>
            </a:pPr>
            <a:endParaRPr lang="en-US" sz="1600" dirty="0"/>
          </a:p>
          <a:p>
            <a:pPr indent="0" marL="0">
              <a:lnSpc>
                <a:spcPct val="115000"/>
              </a:lnSpc>
              <a:buNone/>
            </a:pPr>
            <a:r>
              <a:rPr lang="en-US" sz="1600" dirty="0">
                <a:solidFill>
                  <a:srgbClr val="2B1A1D"/>
                </a:solidFill>
                <a:latin typeface="Calibri" pitchFamily="34" charset="0"/>
                <a:ea typeface="Calibri" pitchFamily="34" charset="-122"/>
                <a:cs typeface="Calibri" pitchFamily="34" charset="-120"/>
              </a:rPr>
              <a:t>But the form also accepts </a:t>
            </a:r>
            <a:pPr indent="0" marL="0">
              <a:lnSpc>
                <a:spcPct val="115000"/>
              </a:lnSpc>
              <a:buNone/>
            </a:pPr>
            <a:r>
              <a:rPr lang="en-US" sz="1600" b="1" dirty="0">
                <a:solidFill>
                  <a:srgbClr val="9E1B2C"/>
                </a:solidFill>
                <a:latin typeface="Calibri" pitchFamily="34" charset="0"/>
                <a:ea typeface="Calibri" pitchFamily="34" charset="-122"/>
                <a:cs typeface="Calibri" pitchFamily="34" charset="-120"/>
              </a:rPr>
              <a:t>.exe, .php, .jsp</a:t>
            </a:r>
            <a:pPr indent="0" marL="0">
              <a:lnSpc>
                <a:spcPct val="115000"/>
              </a:lnSpc>
              <a:buNone/>
            </a:pPr>
            <a:r>
              <a:rPr lang="en-US" sz="1600" dirty="0">
                <a:solidFill>
                  <a:srgbClr val="2B1A1D"/>
                </a:solidFill>
                <a:latin typeface="Calibri" pitchFamily="34" charset="0"/>
                <a:ea typeface="Calibri" pitchFamily="34" charset="-122"/>
                <a:cs typeface="Calibri" pitchFamily="34" charset="-120"/>
              </a:rPr>
              <a:t> and other executable files — it never really checks.</a:t>
            </a:r>
            <a:endParaRPr lang="en-US" sz="1600" dirty="0"/>
          </a:p>
          <a:p>
            <a:pPr indent="0" marL="0">
              <a:lnSpc>
                <a:spcPct val="115000"/>
              </a:lnSpc>
              <a:buNone/>
            </a:pPr>
            <a:endParaRPr lang="en-US" sz="1600" dirty="0"/>
          </a:p>
          <a:p>
            <a:pPr indent="0" marL="0">
              <a:lnSpc>
                <a:spcPct val="115000"/>
              </a:lnSpc>
              <a:buNone/>
            </a:pPr>
            <a:r>
              <a:rPr lang="en-US" sz="1600" b="1" dirty="0">
                <a:solidFill>
                  <a:srgbClr val="9E1B2C"/>
                </a:solidFill>
                <a:latin typeface="Calibri" pitchFamily="34" charset="0"/>
                <a:ea typeface="Calibri" pitchFamily="34" charset="-122"/>
                <a:cs typeface="Calibri" pitchFamily="34" charset="-120"/>
              </a:rPr>
              <a:t>That single missing check can hand an attacker control of the whole server.</a:t>
            </a:r>
            <a:endParaRPr lang="en-US" sz="1600" dirty="0"/>
          </a:p>
        </p:txBody>
      </p:sp>
      <p:sp>
        <p:nvSpPr>
          <p:cNvPr id="6" name="Text 4"/>
          <p:cNvSpPr txBox="1"/>
          <p:nvPr/>
        </p:nvSpPr>
        <p:spPr>
          <a:xfrm>
            <a:off x="6583680" y="1783080"/>
            <a:ext cx="4754880" cy="320040"/>
          </a:xfrm>
          <a:prstGeom prst="rect">
            <a:avLst/>
          </a:prstGeom>
          <a:noFill/>
          <a:ln/>
        </p:spPr>
        <p:txBody>
          <a:bodyPr wrap="square" lIns="0" tIns="0" rIns="0" bIns="0" rtlCol="0" anchor="ctr"/>
          <a:lstStyle/>
          <a:p>
            <a:pPr indent="0" marL="0">
              <a:buNone/>
            </a:pPr>
            <a:r>
              <a:rPr lang="en-US" sz="1300" b="1" dirty="0">
                <a:solidFill>
                  <a:srgbClr val="2E7D53"/>
                </a:solidFill>
                <a:latin typeface="Calibri" pitchFamily="34" charset="0"/>
                <a:ea typeface="Calibri" pitchFamily="34" charset="-122"/>
                <a:cs typeface="Calibri" pitchFamily="34" charset="-120"/>
              </a:rPr>
              <a:t>Expected</a:t>
            </a:r>
            <a:endParaRPr lang="en-US" sz="1300" dirty="0"/>
          </a:p>
        </p:txBody>
      </p:sp>
      <p:sp>
        <p:nvSpPr>
          <p:cNvPr id="7" name="Shape 5"/>
          <p:cNvSpPr/>
          <p:nvPr/>
        </p:nvSpPr>
        <p:spPr>
          <a:xfrm>
            <a:off x="6583680" y="2148840"/>
            <a:ext cx="4754880" cy="457200"/>
          </a:xfrm>
          <a:prstGeom prst="roundRect">
            <a:avLst>
              <a:gd name="adj" fmla="val 16000"/>
            </a:avLst>
          </a:prstGeom>
          <a:solidFill>
            <a:srgbClr val="FFFFFF"/>
          </a:solidFill>
          <a:ln w="12700">
            <a:solidFill>
              <a:srgbClr val="2E7D53"/>
            </a:solidFill>
            <a:prstDash val="solid"/>
          </a:ln>
        </p:spPr>
      </p:sp>
      <p:sp>
        <p:nvSpPr>
          <p:cNvPr id="8" name="Shape 6"/>
          <p:cNvSpPr/>
          <p:nvPr/>
        </p:nvSpPr>
        <p:spPr>
          <a:xfrm>
            <a:off x="6693408" y="2212848"/>
            <a:ext cx="329184" cy="329184"/>
          </a:xfrm>
          <a:prstGeom prst="ellipse">
            <a:avLst/>
          </a:prstGeom>
          <a:solidFill>
            <a:srgbClr val="2E7D53"/>
          </a:solidFill>
          <a:ln/>
        </p:spPr>
      </p:sp>
      <p:sp>
        <p:nvSpPr>
          <p:cNvPr id="9" name="Text 7"/>
          <p:cNvSpPr txBox="1"/>
          <p:nvPr/>
        </p:nvSpPr>
        <p:spPr>
          <a:xfrm>
            <a:off x="6693408" y="22128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0" name="Text 8"/>
          <p:cNvSpPr txBox="1"/>
          <p:nvPr/>
        </p:nvSpPr>
        <p:spPr>
          <a:xfrm>
            <a:off x="7178040" y="2148840"/>
            <a:ext cx="4023360" cy="457200"/>
          </a:xfrm>
          <a:prstGeom prst="rect">
            <a:avLst/>
          </a:prstGeom>
          <a:noFill/>
          <a:ln/>
        </p:spPr>
        <p:txBody>
          <a:bodyPr wrap="square" lIns="0" tIns="0" rIns="0" bIns="0" rtlCol="0" anchor="ctr"/>
          <a:lstStyle/>
          <a:p>
            <a:pPr indent="0" marL="0">
              <a:buNone/>
            </a:pPr>
            <a:r>
              <a:rPr lang="en-US" sz="1300" dirty="0">
                <a:solidFill>
                  <a:srgbClr val="2B1A1D"/>
                </a:solidFill>
                <a:latin typeface="Calibri" pitchFamily="34" charset="0"/>
                <a:ea typeface="Calibri" pitchFamily="34" charset="-122"/>
                <a:cs typeface="Calibri" pitchFamily="34" charset="-120"/>
              </a:rPr>
              <a:t>photo.jpg</a:t>
            </a:r>
            <a:endParaRPr lang="en-US" sz="1300" dirty="0"/>
          </a:p>
        </p:txBody>
      </p:sp>
      <p:sp>
        <p:nvSpPr>
          <p:cNvPr id="11" name="Shape 9"/>
          <p:cNvSpPr/>
          <p:nvPr/>
        </p:nvSpPr>
        <p:spPr>
          <a:xfrm>
            <a:off x="6583680" y="2697480"/>
            <a:ext cx="4754880" cy="457200"/>
          </a:xfrm>
          <a:prstGeom prst="roundRect">
            <a:avLst>
              <a:gd name="adj" fmla="val 16000"/>
            </a:avLst>
          </a:prstGeom>
          <a:solidFill>
            <a:srgbClr val="FFFFFF"/>
          </a:solidFill>
          <a:ln w="12700">
            <a:solidFill>
              <a:srgbClr val="2E7D53"/>
            </a:solidFill>
            <a:prstDash val="solid"/>
          </a:ln>
        </p:spPr>
      </p:sp>
      <p:sp>
        <p:nvSpPr>
          <p:cNvPr id="12" name="Shape 10"/>
          <p:cNvSpPr/>
          <p:nvPr/>
        </p:nvSpPr>
        <p:spPr>
          <a:xfrm>
            <a:off x="6693408" y="2761488"/>
            <a:ext cx="329184" cy="329184"/>
          </a:xfrm>
          <a:prstGeom prst="ellipse">
            <a:avLst/>
          </a:prstGeom>
          <a:solidFill>
            <a:srgbClr val="2E7D53"/>
          </a:solidFill>
          <a:ln/>
        </p:spPr>
      </p:sp>
      <p:sp>
        <p:nvSpPr>
          <p:cNvPr id="13" name="Text 11"/>
          <p:cNvSpPr txBox="1"/>
          <p:nvPr/>
        </p:nvSpPr>
        <p:spPr>
          <a:xfrm>
            <a:off x="6693408"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4" name="Text 12"/>
          <p:cNvSpPr txBox="1"/>
          <p:nvPr/>
        </p:nvSpPr>
        <p:spPr>
          <a:xfrm>
            <a:off x="7178040" y="2697480"/>
            <a:ext cx="4023360" cy="457200"/>
          </a:xfrm>
          <a:prstGeom prst="rect">
            <a:avLst/>
          </a:prstGeom>
          <a:noFill/>
          <a:ln/>
        </p:spPr>
        <p:txBody>
          <a:bodyPr wrap="square" lIns="0" tIns="0" rIns="0" bIns="0" rtlCol="0" anchor="ctr"/>
          <a:lstStyle/>
          <a:p>
            <a:pPr indent="0" marL="0">
              <a:buNone/>
            </a:pPr>
            <a:r>
              <a:rPr lang="en-US" sz="1300" dirty="0">
                <a:solidFill>
                  <a:srgbClr val="2B1A1D"/>
                </a:solidFill>
                <a:latin typeface="Calibri" pitchFamily="34" charset="0"/>
                <a:ea typeface="Calibri" pitchFamily="34" charset="-122"/>
                <a:cs typeface="Calibri" pitchFamily="34" charset="-120"/>
              </a:rPr>
              <a:t>resume.pdf</a:t>
            </a:r>
            <a:endParaRPr lang="en-US" sz="1300" dirty="0"/>
          </a:p>
        </p:txBody>
      </p:sp>
      <p:sp>
        <p:nvSpPr>
          <p:cNvPr id="15" name="Text 13"/>
          <p:cNvSpPr txBox="1"/>
          <p:nvPr/>
        </p:nvSpPr>
        <p:spPr>
          <a:xfrm>
            <a:off x="6583680" y="3429000"/>
            <a:ext cx="4754880" cy="320040"/>
          </a:xfrm>
          <a:prstGeom prst="rect">
            <a:avLst/>
          </a:prstGeom>
          <a:noFill/>
          <a:ln/>
        </p:spPr>
        <p:txBody>
          <a:bodyPr wrap="square" lIns="0" tIns="0" rIns="0" bIns="0" rtlCol="0" anchor="ctr"/>
          <a:lstStyle/>
          <a:p>
            <a:pPr indent="0" marL="0">
              <a:buNone/>
            </a:pPr>
            <a:r>
              <a:rPr lang="en-US" sz="1300" b="1" dirty="0">
                <a:solidFill>
                  <a:srgbClr val="9E1B2C"/>
                </a:solidFill>
                <a:latin typeface="Calibri" pitchFamily="34" charset="0"/>
                <a:ea typeface="Calibri" pitchFamily="34" charset="-122"/>
                <a:cs typeface="Calibri" pitchFamily="34" charset="-120"/>
              </a:rPr>
              <a:t>Also sneaks through</a:t>
            </a:r>
            <a:endParaRPr lang="en-US" sz="1300" dirty="0"/>
          </a:p>
        </p:txBody>
      </p:sp>
      <p:sp>
        <p:nvSpPr>
          <p:cNvPr id="16" name="Shape 14"/>
          <p:cNvSpPr/>
          <p:nvPr/>
        </p:nvSpPr>
        <p:spPr>
          <a:xfrm>
            <a:off x="6583680" y="3794760"/>
            <a:ext cx="4754880" cy="457200"/>
          </a:xfrm>
          <a:prstGeom prst="roundRect">
            <a:avLst>
              <a:gd name="adj" fmla="val 16000"/>
            </a:avLst>
          </a:prstGeom>
          <a:solidFill>
            <a:srgbClr val="FFFFFF"/>
          </a:solidFill>
          <a:ln w="12700">
            <a:solidFill>
              <a:srgbClr val="9E1B2C"/>
            </a:solidFill>
            <a:prstDash val="solid"/>
          </a:ln>
        </p:spPr>
      </p:sp>
      <p:sp>
        <p:nvSpPr>
          <p:cNvPr id="17" name="Shape 15"/>
          <p:cNvSpPr/>
          <p:nvPr/>
        </p:nvSpPr>
        <p:spPr>
          <a:xfrm>
            <a:off x="6693408" y="3858768"/>
            <a:ext cx="329184" cy="329184"/>
          </a:xfrm>
          <a:prstGeom prst="ellipse">
            <a:avLst/>
          </a:prstGeom>
          <a:solidFill>
            <a:srgbClr val="9E1B2C"/>
          </a:solidFill>
          <a:ln/>
        </p:spPr>
      </p:sp>
      <p:sp>
        <p:nvSpPr>
          <p:cNvPr id="18" name="Text 16"/>
          <p:cNvSpPr txBox="1"/>
          <p:nvPr/>
        </p:nvSpPr>
        <p:spPr>
          <a:xfrm>
            <a:off x="6693408" y="3858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9" name="Text 17"/>
          <p:cNvSpPr txBox="1"/>
          <p:nvPr/>
        </p:nvSpPr>
        <p:spPr>
          <a:xfrm>
            <a:off x="7178040" y="3794760"/>
            <a:ext cx="4023360" cy="457200"/>
          </a:xfrm>
          <a:prstGeom prst="rect">
            <a:avLst/>
          </a:prstGeom>
          <a:noFill/>
          <a:ln/>
        </p:spPr>
        <p:txBody>
          <a:bodyPr wrap="square" lIns="0" tIns="0" rIns="0" bIns="0" rtlCol="0" anchor="ctr"/>
          <a:lstStyle/>
          <a:p>
            <a:pPr indent="0" marL="0">
              <a:buNone/>
            </a:pPr>
            <a:r>
              <a:rPr lang="en-US" sz="1300" dirty="0">
                <a:solidFill>
                  <a:srgbClr val="2B1A1D"/>
                </a:solidFill>
                <a:latin typeface="Calibri" pitchFamily="34" charset="0"/>
                <a:ea typeface="Calibri" pitchFamily="34" charset="-122"/>
                <a:cs typeface="Calibri" pitchFamily="34" charset="-120"/>
              </a:rPr>
              <a:t>shell.php</a:t>
            </a:r>
            <a:endParaRPr lang="en-US" sz="1300" dirty="0"/>
          </a:p>
        </p:txBody>
      </p:sp>
      <p:sp>
        <p:nvSpPr>
          <p:cNvPr id="20" name="Shape 18"/>
          <p:cNvSpPr/>
          <p:nvPr/>
        </p:nvSpPr>
        <p:spPr>
          <a:xfrm>
            <a:off x="6583680" y="4343400"/>
            <a:ext cx="4754880" cy="457200"/>
          </a:xfrm>
          <a:prstGeom prst="roundRect">
            <a:avLst>
              <a:gd name="adj" fmla="val 16000"/>
            </a:avLst>
          </a:prstGeom>
          <a:solidFill>
            <a:srgbClr val="FFFFFF"/>
          </a:solidFill>
          <a:ln w="12700">
            <a:solidFill>
              <a:srgbClr val="9E1B2C"/>
            </a:solidFill>
            <a:prstDash val="solid"/>
          </a:ln>
        </p:spPr>
      </p:sp>
      <p:sp>
        <p:nvSpPr>
          <p:cNvPr id="21" name="Shape 19"/>
          <p:cNvSpPr/>
          <p:nvPr/>
        </p:nvSpPr>
        <p:spPr>
          <a:xfrm>
            <a:off x="6693408" y="4407408"/>
            <a:ext cx="329184" cy="329184"/>
          </a:xfrm>
          <a:prstGeom prst="ellipse">
            <a:avLst/>
          </a:prstGeom>
          <a:solidFill>
            <a:srgbClr val="9E1B2C"/>
          </a:solidFill>
          <a:ln/>
        </p:spPr>
      </p:sp>
      <p:sp>
        <p:nvSpPr>
          <p:cNvPr id="22" name="Text 20"/>
          <p:cNvSpPr txBox="1"/>
          <p:nvPr/>
        </p:nvSpPr>
        <p:spPr>
          <a:xfrm>
            <a:off x="6693408" y="4407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3" name="Text 21"/>
          <p:cNvSpPr txBox="1"/>
          <p:nvPr/>
        </p:nvSpPr>
        <p:spPr>
          <a:xfrm>
            <a:off x="7178040" y="4343400"/>
            <a:ext cx="4023360" cy="457200"/>
          </a:xfrm>
          <a:prstGeom prst="rect">
            <a:avLst/>
          </a:prstGeom>
          <a:noFill/>
          <a:ln/>
        </p:spPr>
        <p:txBody>
          <a:bodyPr wrap="square" lIns="0" tIns="0" rIns="0" bIns="0" rtlCol="0" anchor="ctr"/>
          <a:lstStyle/>
          <a:p>
            <a:pPr indent="0" marL="0">
              <a:buNone/>
            </a:pPr>
            <a:r>
              <a:rPr lang="en-US" sz="1300" dirty="0">
                <a:solidFill>
                  <a:srgbClr val="2B1A1D"/>
                </a:solidFill>
                <a:latin typeface="Calibri" pitchFamily="34" charset="0"/>
                <a:ea typeface="Calibri" pitchFamily="34" charset="-122"/>
                <a:cs typeface="Calibri" pitchFamily="34" charset="-120"/>
              </a:rPr>
              <a:t>malware.exe</a:t>
            </a:r>
            <a:endParaRPr lang="en-US" sz="1300" dirty="0"/>
          </a:p>
        </p:txBody>
      </p:sp>
      <p:sp>
        <p:nvSpPr>
          <p:cNvPr id="24" name="Shape 22"/>
          <p:cNvSpPr/>
          <p:nvPr/>
        </p:nvSpPr>
        <p:spPr>
          <a:xfrm>
            <a:off x="6583680" y="4892040"/>
            <a:ext cx="4754880" cy="457200"/>
          </a:xfrm>
          <a:prstGeom prst="roundRect">
            <a:avLst>
              <a:gd name="adj" fmla="val 16000"/>
            </a:avLst>
          </a:prstGeom>
          <a:solidFill>
            <a:srgbClr val="FFFFFF"/>
          </a:solidFill>
          <a:ln w="12700">
            <a:solidFill>
              <a:srgbClr val="9E1B2C"/>
            </a:solidFill>
            <a:prstDash val="solid"/>
          </a:ln>
        </p:spPr>
      </p:sp>
      <p:sp>
        <p:nvSpPr>
          <p:cNvPr id="25" name="Shape 23"/>
          <p:cNvSpPr/>
          <p:nvPr/>
        </p:nvSpPr>
        <p:spPr>
          <a:xfrm>
            <a:off x="6693408" y="4956048"/>
            <a:ext cx="329184" cy="329184"/>
          </a:xfrm>
          <a:prstGeom prst="ellipse">
            <a:avLst/>
          </a:prstGeom>
          <a:solidFill>
            <a:srgbClr val="9E1B2C"/>
          </a:solidFill>
          <a:ln/>
        </p:spPr>
      </p:sp>
      <p:sp>
        <p:nvSpPr>
          <p:cNvPr id="26" name="Text 24"/>
          <p:cNvSpPr txBox="1"/>
          <p:nvPr/>
        </p:nvSpPr>
        <p:spPr>
          <a:xfrm>
            <a:off x="6693408" y="49560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7" name="Text 25"/>
          <p:cNvSpPr txBox="1"/>
          <p:nvPr/>
        </p:nvSpPr>
        <p:spPr>
          <a:xfrm>
            <a:off x="7178040" y="4892040"/>
            <a:ext cx="4023360" cy="457200"/>
          </a:xfrm>
          <a:prstGeom prst="rect">
            <a:avLst/>
          </a:prstGeom>
          <a:noFill/>
          <a:ln/>
        </p:spPr>
        <p:txBody>
          <a:bodyPr wrap="square" lIns="0" tIns="0" rIns="0" bIns="0" rtlCol="0" anchor="ctr"/>
          <a:lstStyle/>
          <a:p>
            <a:pPr indent="0" marL="0">
              <a:buNone/>
            </a:pPr>
            <a:r>
              <a:rPr lang="en-US" sz="1300" dirty="0">
                <a:solidFill>
                  <a:srgbClr val="2B1A1D"/>
                </a:solidFill>
                <a:latin typeface="Calibri" pitchFamily="34" charset="0"/>
                <a:ea typeface="Calibri" pitchFamily="34" charset="-122"/>
                <a:cs typeface="Calibri" pitchFamily="34" charset="-120"/>
              </a:rPr>
              <a:t>backdoor.jsp</a:t>
            </a:r>
            <a:endParaRPr lang="en-US" sz="1300" dirty="0"/>
          </a:p>
        </p:txBody>
      </p:sp>
      <p:sp>
        <p:nvSpPr>
          <p:cNvPr id="28" name="Text 26"/>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THE CONCEPT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What is a file-upload vulnerability</a:t>
            </a:r>
            <a:endParaRPr lang="en-US" sz="3000" dirty="0"/>
          </a:p>
        </p:txBody>
      </p:sp>
      <p:sp>
        <p:nvSpPr>
          <p:cNvPr id="4" name="Shape 2"/>
          <p:cNvSpPr/>
          <p:nvPr/>
        </p:nvSpPr>
        <p:spPr>
          <a:xfrm>
            <a:off x="548640" y="1645920"/>
            <a:ext cx="6492240" cy="2743200"/>
          </a:xfrm>
          <a:prstGeom prst="roundRect">
            <a:avLst>
              <a:gd name="adj" fmla="val 2667"/>
            </a:avLst>
          </a:prstGeom>
          <a:solidFill>
            <a:srgbClr val="FBEDED"/>
          </a:solidFill>
          <a:ln w="12700">
            <a:solidFill>
              <a:srgbClr val="F0D6D6"/>
            </a:solidFill>
            <a:prstDash val="solid"/>
          </a:ln>
        </p:spPr>
      </p:sp>
      <p:sp>
        <p:nvSpPr>
          <p:cNvPr id="5" name="Text 3"/>
          <p:cNvSpPr txBox="1"/>
          <p:nvPr/>
        </p:nvSpPr>
        <p:spPr>
          <a:xfrm>
            <a:off x="868680" y="1965960"/>
            <a:ext cx="5852160" cy="2194560"/>
          </a:xfrm>
          <a:prstGeom prst="rect">
            <a:avLst/>
          </a:prstGeom>
          <a:noFill/>
          <a:ln/>
        </p:spPr>
        <p:txBody>
          <a:bodyPr wrap="square" lIns="0" tIns="0" rIns="0" bIns="0" rtlCol="0" anchor="t"/>
          <a:lstStyle/>
          <a:p>
            <a:pPr indent="0" marL="0">
              <a:lnSpc>
                <a:spcPct val="115000"/>
              </a:lnSpc>
              <a:buNone/>
            </a:pPr>
            <a:r>
              <a:rPr lang="en-US" sz="1500" b="1" dirty="0">
                <a:solidFill>
                  <a:srgbClr val="9E1B2C"/>
                </a:solidFill>
                <a:latin typeface="Calibri" pitchFamily="34" charset="0"/>
                <a:ea typeface="Calibri" pitchFamily="34" charset="-122"/>
                <a:cs typeface="Calibri" pitchFamily="34" charset="-120"/>
              </a:rPr>
              <a:t>Analogy:  </a:t>
            </a:r>
            <a:pPr indent="0" marL="0">
              <a:lnSpc>
                <a:spcPct val="115000"/>
              </a:lnSpc>
              <a:buNone/>
            </a:pPr>
            <a:r>
              <a:rPr lang="en-US" sz="1500" dirty="0">
                <a:solidFill>
                  <a:srgbClr val="2B1A1D"/>
                </a:solidFill>
                <a:latin typeface="Calibri" pitchFamily="34" charset="0"/>
                <a:ea typeface="Calibri" pitchFamily="34" charset="-122"/>
                <a:cs typeface="Calibri" pitchFamily="34" charset="-120"/>
              </a:rPr>
              <a:t>a mailroom that accepts every package and then </a:t>
            </a:r>
            <a:pPr indent="0" marL="0">
              <a:lnSpc>
                <a:spcPct val="115000"/>
              </a:lnSpc>
              <a:buNone/>
            </a:pPr>
            <a:r>
              <a:rPr lang="en-US" sz="1500" b="1" dirty="0">
                <a:solidFill>
                  <a:srgbClr val="2B1A1D"/>
                </a:solidFill>
                <a:latin typeface="Calibri" pitchFamily="34" charset="0"/>
                <a:ea typeface="Calibri" pitchFamily="34" charset="-122"/>
                <a:cs typeface="Calibri" pitchFamily="34" charset="-120"/>
              </a:rPr>
              <a:t>runs whatever is inside.</a:t>
            </a:r>
            <a:endParaRPr lang="en-US" sz="1500" dirty="0"/>
          </a:p>
          <a:p>
            <a:pPr indent="0" marL="0">
              <a:lnSpc>
                <a:spcPct val="115000"/>
              </a:lnSpc>
              <a:buNone/>
            </a:pPr>
            <a:endParaRPr lang="en-US" sz="1500" dirty="0"/>
          </a:p>
          <a:p>
            <a:pPr indent="0" marL="0">
              <a:lnSpc>
                <a:spcPct val="115000"/>
              </a:lnSpc>
              <a:buNone/>
            </a:pPr>
            <a:r>
              <a:rPr lang="en-US" sz="1500" dirty="0">
                <a:solidFill>
                  <a:srgbClr val="2B1A1D"/>
                </a:solidFill>
                <a:latin typeface="Calibri" pitchFamily="34" charset="0"/>
                <a:ea typeface="Calibri" pitchFamily="34" charset="-122"/>
                <a:cs typeface="Calibri" pitchFamily="34" charset="-120"/>
              </a:rPr>
              <a:t>A file-upload vulnerability exists when a web app lets users upload files </a:t>
            </a:r>
            <a:pPr indent="0" marL="0">
              <a:lnSpc>
                <a:spcPct val="115000"/>
              </a:lnSpc>
              <a:buNone/>
            </a:pPr>
            <a:r>
              <a:rPr lang="en-US" sz="1500" b="1" dirty="0">
                <a:solidFill>
                  <a:srgbClr val="2B1A1D"/>
                </a:solidFill>
                <a:latin typeface="Calibri" pitchFamily="34" charset="0"/>
                <a:ea typeface="Calibri" pitchFamily="34" charset="-122"/>
                <a:cs typeface="Calibri" pitchFamily="34" charset="-120"/>
              </a:rPr>
              <a:t>without properly checking what they are or where they go</a:t>
            </a:r>
            <a:pPr indent="0" marL="0">
              <a:lnSpc>
                <a:spcPct val="115000"/>
              </a:lnSpc>
              <a:buNone/>
            </a:pPr>
            <a:r>
              <a:rPr lang="en-US" sz="1500" dirty="0">
                <a:solidFill>
                  <a:srgbClr val="2B1A1D"/>
                </a:solidFill>
                <a:latin typeface="Calibri" pitchFamily="34" charset="0"/>
                <a:ea typeface="Calibri" pitchFamily="34" charset="-122"/>
                <a:cs typeface="Calibri" pitchFamily="34" charset="-120"/>
              </a:rPr>
              <a:t> — so an attacker can upload code the server will later execute.</a:t>
            </a:r>
            <a:endParaRPr lang="en-US" sz="1500" dirty="0"/>
          </a:p>
        </p:txBody>
      </p:sp>
      <p:sp>
        <p:nvSpPr>
          <p:cNvPr id="6" name="Text 4"/>
          <p:cNvSpPr txBox="1"/>
          <p:nvPr/>
        </p:nvSpPr>
        <p:spPr>
          <a:xfrm>
            <a:off x="548640" y="4572000"/>
            <a:ext cx="10972800" cy="365760"/>
          </a:xfrm>
          <a:prstGeom prst="rect">
            <a:avLst/>
          </a:prstGeom>
          <a:noFill/>
          <a:ln/>
        </p:spPr>
        <p:txBody>
          <a:bodyPr wrap="square" lIns="0" tIns="0" rIns="0" bIns="0" rtlCol="0" anchor="ctr"/>
          <a:lstStyle/>
          <a:p>
            <a:pPr indent="0" marL="0">
              <a:buNone/>
            </a:pPr>
            <a:r>
              <a:rPr lang="en-US" sz="1400" b="1" dirty="0">
                <a:solidFill>
                  <a:srgbClr val="2B1A1D"/>
                </a:solidFill>
                <a:latin typeface="Calibri" pitchFamily="34" charset="0"/>
                <a:ea typeface="Calibri" pitchFamily="34" charset="-122"/>
                <a:cs typeface="Calibri" pitchFamily="34" charset="-120"/>
              </a:rPr>
              <a:t>Why it is so dangerous</a:t>
            </a:r>
            <a:endParaRPr lang="en-US" sz="1400" dirty="0"/>
          </a:p>
        </p:txBody>
      </p:sp>
      <p:sp>
        <p:nvSpPr>
          <p:cNvPr id="7" name="Shape 5"/>
          <p:cNvSpPr/>
          <p:nvPr/>
        </p:nvSpPr>
        <p:spPr>
          <a:xfrm>
            <a:off x="777240" y="4983480"/>
            <a:ext cx="502920" cy="502920"/>
          </a:xfrm>
          <a:prstGeom prst="ellipse">
            <a:avLst/>
          </a:prstGeom>
          <a:solidFill>
            <a:srgbClr val="9E1B2C"/>
          </a:solidFill>
          <a:ln/>
        </p:spPr>
      </p:sp>
      <p:sp>
        <p:nvSpPr>
          <p:cNvPr id="8" name="Text 6"/>
          <p:cNvSpPr txBox="1"/>
          <p:nvPr/>
        </p:nvSpPr>
        <p:spPr>
          <a:xfrm>
            <a:off x="777240" y="4983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490472" y="4910328"/>
            <a:ext cx="9966960" cy="566928"/>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The attacker chooses the file contents</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They can upload a program, not just data</a:t>
            </a:r>
            <a:endParaRPr lang="en-US" sz="1450" dirty="0"/>
          </a:p>
        </p:txBody>
      </p:sp>
      <p:sp>
        <p:nvSpPr>
          <p:cNvPr id="10" name="Shape 8"/>
          <p:cNvSpPr/>
          <p:nvPr/>
        </p:nvSpPr>
        <p:spPr>
          <a:xfrm>
            <a:off x="777240" y="5641848"/>
            <a:ext cx="502920" cy="502920"/>
          </a:xfrm>
          <a:prstGeom prst="ellipse">
            <a:avLst/>
          </a:prstGeom>
          <a:solidFill>
            <a:srgbClr val="D98A1E"/>
          </a:solidFill>
          <a:ln/>
        </p:spPr>
      </p:sp>
      <p:sp>
        <p:nvSpPr>
          <p:cNvPr id="11" name="Text 9"/>
          <p:cNvSpPr txBox="1"/>
          <p:nvPr/>
        </p:nvSpPr>
        <p:spPr>
          <a:xfrm>
            <a:off x="777240" y="564184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490472" y="5568696"/>
            <a:ext cx="9966960" cy="566928"/>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The server may run it</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If stored in a web-executable folder, one visit triggers it</a:t>
            </a:r>
            <a:endParaRPr lang="en-US" sz="1450" dirty="0"/>
          </a:p>
        </p:txBody>
      </p:sp>
      <p:sp>
        <p:nvSpPr>
          <p:cNvPr id="13" name="Shape 11"/>
          <p:cNvSpPr/>
          <p:nvPr/>
        </p:nvSpPr>
        <p:spPr>
          <a:xfrm>
            <a:off x="7315200" y="2011680"/>
            <a:ext cx="4206240" cy="2194560"/>
          </a:xfrm>
          <a:prstGeom prst="roundRect">
            <a:avLst>
              <a:gd name="adj" fmla="val 3333"/>
            </a:avLst>
          </a:prstGeom>
          <a:solidFill>
            <a:srgbClr val="FFFFFF"/>
          </a:solidFill>
          <a:ln w="12700">
            <a:solidFill>
              <a:srgbClr val="9E1B2C"/>
            </a:solidFill>
            <a:prstDash val="solid"/>
          </a:ln>
          <a:effectLst>
            <a:outerShdw sx="100000" sy="100000" kx="0" ky="0" algn="bl" rotWithShape="0" blurRad="50800" dist="25400" dir="5400000">
              <a:srgbClr val="9AA5B1">
                <a:alpha val="35000"/>
              </a:srgbClr>
            </a:outerShdw>
          </a:effectLst>
        </p:spPr>
      </p:sp>
      <p:sp>
        <p:nvSpPr>
          <p:cNvPr id="14" name="Text 12"/>
          <p:cNvSpPr txBox="1"/>
          <p:nvPr/>
        </p:nvSpPr>
        <p:spPr>
          <a:xfrm>
            <a:off x="7315200" y="2011680"/>
            <a:ext cx="4206240" cy="2194560"/>
          </a:xfrm>
          <a:prstGeom prst="rect">
            <a:avLst/>
          </a:prstGeom>
          <a:noFill/>
          <a:ln/>
        </p:spPr>
        <p:txBody>
          <a:bodyPr wrap="square" lIns="0" tIns="0" rIns="0" bIns="0" rtlCol="0" anchor="ctr"/>
          <a:lstStyle/>
          <a:p>
            <a:pPr algn="ctr" indent="0" marL="0">
              <a:buNone/>
            </a:pPr>
            <a:endParaRPr lang="en-US" sz="1400" dirty="0"/>
          </a:p>
        </p:txBody>
      </p:sp>
      <p:sp>
        <p:nvSpPr>
          <p:cNvPr id="15" name="Shape 13"/>
          <p:cNvSpPr/>
          <p:nvPr/>
        </p:nvSpPr>
        <p:spPr>
          <a:xfrm>
            <a:off x="9006840" y="2286000"/>
            <a:ext cx="822960" cy="822960"/>
          </a:xfrm>
          <a:prstGeom prst="ellipse">
            <a:avLst/>
          </a:prstGeom>
          <a:solidFill>
            <a:srgbClr val="9E1B2C"/>
          </a:solidFill>
          <a:ln/>
        </p:spPr>
      </p:sp>
      <p:sp>
        <p:nvSpPr>
          <p:cNvPr id="16" name="Text 14"/>
          <p:cNvSpPr txBox="1"/>
          <p:nvPr/>
        </p:nvSpPr>
        <p:spPr>
          <a:xfrm>
            <a:off x="9006840" y="2286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a:t>
            </a:r>
            <a:endParaRPr lang="en-US" sz="2600" dirty="0"/>
          </a:p>
        </p:txBody>
      </p:sp>
      <p:sp>
        <p:nvSpPr>
          <p:cNvPr id="17" name="Text 15"/>
          <p:cNvSpPr txBox="1"/>
          <p:nvPr/>
        </p:nvSpPr>
        <p:spPr>
          <a:xfrm>
            <a:off x="7315200" y="3246120"/>
            <a:ext cx="4206240" cy="822960"/>
          </a:xfrm>
          <a:prstGeom prst="rect">
            <a:avLst/>
          </a:prstGeom>
          <a:noFill/>
          <a:ln/>
        </p:spPr>
        <p:txBody>
          <a:bodyPr wrap="square" lIns="0" tIns="0" rIns="0" bIns="0" rtlCol="0" anchor="t"/>
          <a:lstStyle/>
          <a:p>
            <a:pPr algn="ctr" indent="0" marL="0">
              <a:lnSpc>
                <a:spcPct val="100000"/>
              </a:lnSpc>
              <a:buNone/>
            </a:pPr>
            <a:r>
              <a:rPr lang="en-US" sz="1350" b="1" dirty="0">
                <a:solidFill>
                  <a:srgbClr val="2B1A1D"/>
                </a:solidFill>
                <a:latin typeface="Calibri" pitchFamily="34" charset="0"/>
                <a:ea typeface="Calibri" pitchFamily="34" charset="-122"/>
                <a:cs typeface="Calibri" pitchFamily="34" charset="-120"/>
              </a:rPr>
              <a:t>Upload accepted</a:t>
            </a:r>
            <a:endParaRPr lang="en-US" sz="1350" dirty="0"/>
          </a:p>
          <a:p>
            <a:pPr algn="ctr" indent="0" marL="0">
              <a:lnSpc>
                <a:spcPct val="100000"/>
              </a:lnSpc>
              <a:buNone/>
            </a:pPr>
            <a:r>
              <a:rPr lang="en-US" sz="1350" b="1" dirty="0">
                <a:solidFill>
                  <a:srgbClr val="2B1A1D"/>
                </a:solidFill>
                <a:latin typeface="Calibri" pitchFamily="34" charset="0"/>
                <a:ea typeface="Calibri" pitchFamily="34" charset="-122"/>
                <a:cs typeface="Calibri" pitchFamily="34" charset="-120"/>
              </a:rPr>
              <a:t>→ then executed</a:t>
            </a:r>
            <a:endParaRPr lang="en-US" sz="1350" dirty="0"/>
          </a:p>
        </p:txBody>
      </p:sp>
      <p:sp>
        <p:nvSpPr>
          <p:cNvPr id="18" name="Text 16"/>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THE ATTACK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How weak validation gets exploited</a:t>
            </a:r>
            <a:endParaRPr lang="en-US" sz="3000" dirty="0"/>
          </a:p>
        </p:txBody>
      </p:sp>
      <p:sp>
        <p:nvSpPr>
          <p:cNvPr id="4" name="Shape 2"/>
          <p:cNvSpPr/>
          <p:nvPr/>
        </p:nvSpPr>
        <p:spPr>
          <a:xfrm>
            <a:off x="548640" y="1920240"/>
            <a:ext cx="2542032" cy="1828800"/>
          </a:xfrm>
          <a:prstGeom prst="roundRect">
            <a:avLst>
              <a:gd name="adj" fmla="val 4000"/>
            </a:avLst>
          </a:prstGeom>
          <a:solidFill>
            <a:srgbClr val="FBEDED"/>
          </a:solidFill>
          <a:ln w="15875">
            <a:solidFill>
              <a:srgbClr val="9E1B2C"/>
            </a:solidFill>
            <a:prstDash val="solid"/>
          </a:ln>
        </p:spPr>
      </p:sp>
      <p:sp>
        <p:nvSpPr>
          <p:cNvPr id="5" name="Shape 3"/>
          <p:cNvSpPr/>
          <p:nvPr/>
        </p:nvSpPr>
        <p:spPr>
          <a:xfrm>
            <a:off x="1545336" y="2148840"/>
            <a:ext cx="548640" cy="548640"/>
          </a:xfrm>
          <a:prstGeom prst="ellipse">
            <a:avLst/>
          </a:prstGeom>
          <a:solidFill>
            <a:srgbClr val="9E1B2C"/>
          </a:solidFill>
          <a:ln/>
        </p:spPr>
      </p:sp>
      <p:sp>
        <p:nvSpPr>
          <p:cNvPr id="6" name="Text 4"/>
          <p:cNvSpPr txBox="1"/>
          <p:nvPr/>
        </p:nvSpPr>
        <p:spPr>
          <a:xfrm>
            <a:off x="1545336" y="2148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640080" y="2788920"/>
            <a:ext cx="2359152" cy="365760"/>
          </a:xfrm>
          <a:prstGeom prst="rect">
            <a:avLst/>
          </a:prstGeom>
          <a:noFill/>
          <a:ln/>
        </p:spPr>
        <p:txBody>
          <a:bodyPr wrap="square" lIns="0" tIns="0" rIns="0" bIns="0" rtlCol="0" anchor="ctr"/>
          <a:lstStyle/>
          <a:p>
            <a:pPr algn="ctr" indent="0" marL="0">
              <a:buNone/>
            </a:pPr>
            <a:r>
              <a:rPr lang="en-US" sz="1500" b="1" dirty="0">
                <a:solidFill>
                  <a:srgbClr val="9E1B2C"/>
                </a:solidFill>
                <a:latin typeface="Calibri" pitchFamily="34" charset="0"/>
                <a:ea typeface="Calibri" pitchFamily="34" charset="-122"/>
                <a:cs typeface="Calibri" pitchFamily="34" charset="-120"/>
              </a:rPr>
              <a:t>Upload</a:t>
            </a:r>
            <a:endParaRPr lang="en-US" sz="1500" dirty="0"/>
          </a:p>
        </p:txBody>
      </p:sp>
      <p:sp>
        <p:nvSpPr>
          <p:cNvPr id="8" name="Text 6"/>
          <p:cNvSpPr txBox="1"/>
          <p:nvPr/>
        </p:nvSpPr>
        <p:spPr>
          <a:xfrm>
            <a:off x="713232" y="3127248"/>
            <a:ext cx="2212848" cy="548640"/>
          </a:xfrm>
          <a:prstGeom prst="rect">
            <a:avLst/>
          </a:prstGeom>
          <a:noFill/>
          <a:ln/>
        </p:spPr>
        <p:txBody>
          <a:bodyPr wrap="square" lIns="0" tIns="0" rIns="0" bIns="0" rtlCol="0" anchor="t"/>
          <a:lstStyle/>
          <a:p>
            <a:pPr algn="ctr" indent="0" marL="0">
              <a:lnSpc>
                <a:spcPct val="95000"/>
              </a:lnSpc>
              <a:buNone/>
            </a:pPr>
            <a:r>
              <a:rPr lang="en-US" sz="1150" dirty="0">
                <a:solidFill>
                  <a:srgbClr val="6B5458"/>
                </a:solidFill>
                <a:latin typeface="Calibri" pitchFamily="34" charset="0"/>
                <a:ea typeface="Calibri" pitchFamily="34" charset="-122"/>
                <a:cs typeface="Calibri" pitchFamily="34" charset="-120"/>
              </a:rPr>
              <a:t>Attacker uploads shell.php disguised as an image</a:t>
            </a:r>
            <a:endParaRPr lang="en-US" sz="1150" dirty="0"/>
          </a:p>
        </p:txBody>
      </p:sp>
      <p:sp>
        <p:nvSpPr>
          <p:cNvPr id="9" name="Shape 7"/>
          <p:cNvSpPr/>
          <p:nvPr/>
        </p:nvSpPr>
        <p:spPr>
          <a:xfrm>
            <a:off x="3118104" y="2834640"/>
            <a:ext cx="283464" cy="0"/>
          </a:xfrm>
          <a:prstGeom prst="line">
            <a:avLst/>
          </a:prstGeom>
          <a:noFill/>
          <a:ln w="31750">
            <a:solidFill>
              <a:srgbClr val="2B1A1D"/>
            </a:solidFill>
            <a:prstDash val="solid"/>
            <a:tailEnd type="triangle"/>
          </a:ln>
        </p:spPr>
      </p:sp>
      <p:sp>
        <p:nvSpPr>
          <p:cNvPr id="10" name="Shape 8"/>
          <p:cNvSpPr/>
          <p:nvPr/>
        </p:nvSpPr>
        <p:spPr>
          <a:xfrm>
            <a:off x="3429000" y="1920240"/>
            <a:ext cx="2542032" cy="1828800"/>
          </a:xfrm>
          <a:prstGeom prst="roundRect">
            <a:avLst>
              <a:gd name="adj" fmla="val 4000"/>
            </a:avLst>
          </a:prstGeom>
          <a:solidFill>
            <a:srgbClr val="FBEDED"/>
          </a:solidFill>
          <a:ln w="15875">
            <a:solidFill>
              <a:srgbClr val="9E1B2C"/>
            </a:solidFill>
            <a:prstDash val="solid"/>
          </a:ln>
        </p:spPr>
      </p:sp>
      <p:sp>
        <p:nvSpPr>
          <p:cNvPr id="11" name="Shape 9"/>
          <p:cNvSpPr/>
          <p:nvPr/>
        </p:nvSpPr>
        <p:spPr>
          <a:xfrm>
            <a:off x="4425696" y="2148840"/>
            <a:ext cx="548640" cy="548640"/>
          </a:xfrm>
          <a:prstGeom prst="ellipse">
            <a:avLst/>
          </a:prstGeom>
          <a:solidFill>
            <a:srgbClr val="9E1B2C"/>
          </a:solidFill>
          <a:ln/>
        </p:spPr>
      </p:sp>
      <p:sp>
        <p:nvSpPr>
          <p:cNvPr id="12" name="Text 10"/>
          <p:cNvSpPr txBox="1"/>
          <p:nvPr/>
        </p:nvSpPr>
        <p:spPr>
          <a:xfrm>
            <a:off x="4425696" y="2148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3520440" y="2788920"/>
            <a:ext cx="2359152" cy="365760"/>
          </a:xfrm>
          <a:prstGeom prst="rect">
            <a:avLst/>
          </a:prstGeom>
          <a:noFill/>
          <a:ln/>
        </p:spPr>
        <p:txBody>
          <a:bodyPr wrap="square" lIns="0" tIns="0" rIns="0" bIns="0" rtlCol="0" anchor="ctr"/>
          <a:lstStyle/>
          <a:p>
            <a:pPr algn="ctr" indent="0" marL="0">
              <a:buNone/>
            </a:pPr>
            <a:r>
              <a:rPr lang="en-US" sz="1500" b="1" dirty="0">
                <a:solidFill>
                  <a:srgbClr val="9E1B2C"/>
                </a:solidFill>
                <a:latin typeface="Calibri" pitchFamily="34" charset="0"/>
                <a:ea typeface="Calibri" pitchFamily="34" charset="-122"/>
                <a:cs typeface="Calibri" pitchFamily="34" charset="-120"/>
              </a:rPr>
              <a:t>Stored</a:t>
            </a:r>
            <a:endParaRPr lang="en-US" sz="1500" dirty="0"/>
          </a:p>
        </p:txBody>
      </p:sp>
      <p:sp>
        <p:nvSpPr>
          <p:cNvPr id="14" name="Text 12"/>
          <p:cNvSpPr txBox="1"/>
          <p:nvPr/>
        </p:nvSpPr>
        <p:spPr>
          <a:xfrm>
            <a:off x="3593592" y="3127248"/>
            <a:ext cx="2212848" cy="548640"/>
          </a:xfrm>
          <a:prstGeom prst="rect">
            <a:avLst/>
          </a:prstGeom>
          <a:noFill/>
          <a:ln/>
        </p:spPr>
        <p:txBody>
          <a:bodyPr wrap="square" lIns="0" tIns="0" rIns="0" bIns="0" rtlCol="0" anchor="t"/>
          <a:lstStyle/>
          <a:p>
            <a:pPr algn="ctr" indent="0" marL="0">
              <a:lnSpc>
                <a:spcPct val="95000"/>
              </a:lnSpc>
              <a:buNone/>
            </a:pPr>
            <a:r>
              <a:rPr lang="en-US" sz="1150" dirty="0">
                <a:solidFill>
                  <a:srgbClr val="6B5458"/>
                </a:solidFill>
                <a:latin typeface="Calibri" pitchFamily="34" charset="0"/>
                <a:ea typeface="Calibri" pitchFamily="34" charset="-122"/>
                <a:cs typeface="Calibri" pitchFamily="34" charset="-120"/>
              </a:rPr>
              <a:t>Saved in /uploads with its real .php extension</a:t>
            </a:r>
            <a:endParaRPr lang="en-US" sz="1150" dirty="0"/>
          </a:p>
        </p:txBody>
      </p:sp>
      <p:sp>
        <p:nvSpPr>
          <p:cNvPr id="15" name="Shape 13"/>
          <p:cNvSpPr/>
          <p:nvPr/>
        </p:nvSpPr>
        <p:spPr>
          <a:xfrm>
            <a:off x="5998464" y="2834640"/>
            <a:ext cx="283464" cy="0"/>
          </a:xfrm>
          <a:prstGeom prst="line">
            <a:avLst/>
          </a:prstGeom>
          <a:noFill/>
          <a:ln w="31750">
            <a:solidFill>
              <a:srgbClr val="2B1A1D"/>
            </a:solidFill>
            <a:prstDash val="solid"/>
            <a:tailEnd type="triangle"/>
          </a:ln>
        </p:spPr>
      </p:sp>
      <p:sp>
        <p:nvSpPr>
          <p:cNvPr id="16" name="Shape 14"/>
          <p:cNvSpPr/>
          <p:nvPr/>
        </p:nvSpPr>
        <p:spPr>
          <a:xfrm>
            <a:off x="6309360" y="1920240"/>
            <a:ext cx="2542032" cy="1828800"/>
          </a:xfrm>
          <a:prstGeom prst="roundRect">
            <a:avLst>
              <a:gd name="adj" fmla="val 4000"/>
            </a:avLst>
          </a:prstGeom>
          <a:solidFill>
            <a:srgbClr val="FBEDED"/>
          </a:solidFill>
          <a:ln w="15875">
            <a:solidFill>
              <a:srgbClr val="D98A1E"/>
            </a:solidFill>
            <a:prstDash val="solid"/>
          </a:ln>
        </p:spPr>
      </p:sp>
      <p:sp>
        <p:nvSpPr>
          <p:cNvPr id="17" name="Shape 15"/>
          <p:cNvSpPr/>
          <p:nvPr/>
        </p:nvSpPr>
        <p:spPr>
          <a:xfrm>
            <a:off x="7306056" y="2148840"/>
            <a:ext cx="548640" cy="548640"/>
          </a:xfrm>
          <a:prstGeom prst="ellipse">
            <a:avLst/>
          </a:prstGeom>
          <a:solidFill>
            <a:srgbClr val="D98A1E"/>
          </a:solidFill>
          <a:ln/>
        </p:spPr>
      </p:sp>
      <p:sp>
        <p:nvSpPr>
          <p:cNvPr id="18" name="Text 16"/>
          <p:cNvSpPr txBox="1"/>
          <p:nvPr/>
        </p:nvSpPr>
        <p:spPr>
          <a:xfrm>
            <a:off x="7306056" y="2148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6400800" y="2788920"/>
            <a:ext cx="2359152" cy="365760"/>
          </a:xfrm>
          <a:prstGeom prst="rect">
            <a:avLst/>
          </a:prstGeom>
          <a:noFill/>
          <a:ln/>
        </p:spPr>
        <p:txBody>
          <a:bodyPr wrap="square" lIns="0" tIns="0" rIns="0" bIns="0" rtlCol="0" anchor="ctr"/>
          <a:lstStyle/>
          <a:p>
            <a:pPr algn="ctr" indent="0" marL="0">
              <a:buNone/>
            </a:pPr>
            <a:r>
              <a:rPr lang="en-US" sz="1500" b="1" dirty="0">
                <a:solidFill>
                  <a:srgbClr val="D98A1E"/>
                </a:solidFill>
                <a:latin typeface="Calibri" pitchFamily="34" charset="0"/>
                <a:ea typeface="Calibri" pitchFamily="34" charset="-122"/>
                <a:cs typeface="Calibri" pitchFamily="34" charset="-120"/>
              </a:rPr>
              <a:t>Request</a:t>
            </a:r>
            <a:endParaRPr lang="en-US" sz="1500" dirty="0"/>
          </a:p>
        </p:txBody>
      </p:sp>
      <p:sp>
        <p:nvSpPr>
          <p:cNvPr id="20" name="Text 18"/>
          <p:cNvSpPr txBox="1"/>
          <p:nvPr/>
        </p:nvSpPr>
        <p:spPr>
          <a:xfrm>
            <a:off x="6473952" y="3127248"/>
            <a:ext cx="2212848" cy="548640"/>
          </a:xfrm>
          <a:prstGeom prst="rect">
            <a:avLst/>
          </a:prstGeom>
          <a:noFill/>
          <a:ln/>
        </p:spPr>
        <p:txBody>
          <a:bodyPr wrap="square" lIns="0" tIns="0" rIns="0" bIns="0" rtlCol="0" anchor="t"/>
          <a:lstStyle/>
          <a:p>
            <a:pPr algn="ctr" indent="0" marL="0">
              <a:lnSpc>
                <a:spcPct val="95000"/>
              </a:lnSpc>
              <a:buNone/>
            </a:pPr>
            <a:r>
              <a:rPr lang="en-US" sz="1150" dirty="0">
                <a:solidFill>
                  <a:srgbClr val="6B5458"/>
                </a:solidFill>
                <a:latin typeface="Calibri" pitchFamily="34" charset="0"/>
                <a:ea typeface="Calibri" pitchFamily="34" charset="-122"/>
                <a:cs typeface="Calibri" pitchFamily="34" charset="-120"/>
              </a:rPr>
              <a:t>Attacker opens site.com/uploads/shell.php</a:t>
            </a:r>
            <a:endParaRPr lang="en-US" sz="1150" dirty="0"/>
          </a:p>
        </p:txBody>
      </p:sp>
      <p:sp>
        <p:nvSpPr>
          <p:cNvPr id="21" name="Shape 19"/>
          <p:cNvSpPr/>
          <p:nvPr/>
        </p:nvSpPr>
        <p:spPr>
          <a:xfrm>
            <a:off x="8878824" y="2834640"/>
            <a:ext cx="283464" cy="0"/>
          </a:xfrm>
          <a:prstGeom prst="line">
            <a:avLst/>
          </a:prstGeom>
          <a:noFill/>
          <a:ln w="31750">
            <a:solidFill>
              <a:srgbClr val="2B1A1D"/>
            </a:solidFill>
            <a:prstDash val="solid"/>
            <a:tailEnd type="triangle"/>
          </a:ln>
        </p:spPr>
      </p:sp>
      <p:sp>
        <p:nvSpPr>
          <p:cNvPr id="22" name="Shape 20"/>
          <p:cNvSpPr/>
          <p:nvPr/>
        </p:nvSpPr>
        <p:spPr>
          <a:xfrm>
            <a:off x="9189720" y="1920240"/>
            <a:ext cx="2542032" cy="1828800"/>
          </a:xfrm>
          <a:prstGeom prst="roundRect">
            <a:avLst>
              <a:gd name="adj" fmla="val 4000"/>
            </a:avLst>
          </a:prstGeom>
          <a:solidFill>
            <a:srgbClr val="FBEDED"/>
          </a:solidFill>
          <a:ln w="15875">
            <a:solidFill>
              <a:srgbClr val="B5121B"/>
            </a:solidFill>
            <a:prstDash val="solid"/>
          </a:ln>
        </p:spPr>
      </p:sp>
      <p:sp>
        <p:nvSpPr>
          <p:cNvPr id="23" name="Shape 21"/>
          <p:cNvSpPr/>
          <p:nvPr/>
        </p:nvSpPr>
        <p:spPr>
          <a:xfrm>
            <a:off x="10186416" y="2148840"/>
            <a:ext cx="548640" cy="548640"/>
          </a:xfrm>
          <a:prstGeom prst="ellipse">
            <a:avLst/>
          </a:prstGeom>
          <a:solidFill>
            <a:srgbClr val="B5121B"/>
          </a:solidFill>
          <a:ln/>
        </p:spPr>
      </p:sp>
      <p:sp>
        <p:nvSpPr>
          <p:cNvPr id="24" name="Text 22"/>
          <p:cNvSpPr txBox="1"/>
          <p:nvPr/>
        </p:nvSpPr>
        <p:spPr>
          <a:xfrm>
            <a:off x="10186416" y="2148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3"/>
          <p:cNvSpPr txBox="1"/>
          <p:nvPr/>
        </p:nvSpPr>
        <p:spPr>
          <a:xfrm>
            <a:off x="9281160" y="2788920"/>
            <a:ext cx="2359152" cy="365760"/>
          </a:xfrm>
          <a:prstGeom prst="rect">
            <a:avLst/>
          </a:prstGeom>
          <a:noFill/>
          <a:ln/>
        </p:spPr>
        <p:txBody>
          <a:bodyPr wrap="square" lIns="0" tIns="0" rIns="0" bIns="0" rtlCol="0" anchor="ctr"/>
          <a:lstStyle/>
          <a:p>
            <a:pPr algn="ctr" indent="0" marL="0">
              <a:buNone/>
            </a:pPr>
            <a:r>
              <a:rPr lang="en-US" sz="1500" b="1" dirty="0">
                <a:solidFill>
                  <a:srgbClr val="B5121B"/>
                </a:solidFill>
                <a:latin typeface="Calibri" pitchFamily="34" charset="0"/>
                <a:ea typeface="Calibri" pitchFamily="34" charset="-122"/>
                <a:cs typeface="Calibri" pitchFamily="34" charset="-120"/>
              </a:rPr>
              <a:t>Execute</a:t>
            </a:r>
            <a:endParaRPr lang="en-US" sz="1500" dirty="0"/>
          </a:p>
        </p:txBody>
      </p:sp>
      <p:sp>
        <p:nvSpPr>
          <p:cNvPr id="26" name="Text 24"/>
          <p:cNvSpPr txBox="1"/>
          <p:nvPr/>
        </p:nvSpPr>
        <p:spPr>
          <a:xfrm>
            <a:off x="9354312" y="3127248"/>
            <a:ext cx="2212848" cy="548640"/>
          </a:xfrm>
          <a:prstGeom prst="rect">
            <a:avLst/>
          </a:prstGeom>
          <a:noFill/>
          <a:ln/>
        </p:spPr>
        <p:txBody>
          <a:bodyPr wrap="square" lIns="0" tIns="0" rIns="0" bIns="0" rtlCol="0" anchor="t"/>
          <a:lstStyle/>
          <a:p>
            <a:pPr algn="ctr" indent="0" marL="0">
              <a:lnSpc>
                <a:spcPct val="95000"/>
              </a:lnSpc>
              <a:buNone/>
            </a:pPr>
            <a:r>
              <a:rPr lang="en-US" sz="1150" dirty="0">
                <a:solidFill>
                  <a:srgbClr val="6B5458"/>
                </a:solidFill>
                <a:latin typeface="Calibri" pitchFamily="34" charset="0"/>
                <a:ea typeface="Calibri" pitchFamily="34" charset="-122"/>
                <a:cs typeface="Calibri" pitchFamily="34" charset="-120"/>
              </a:rPr>
              <a:t>Server runs the code → attacker gets a web shell</a:t>
            </a:r>
            <a:endParaRPr lang="en-US" sz="1150" dirty="0"/>
          </a:p>
        </p:txBody>
      </p:sp>
      <p:sp>
        <p:nvSpPr>
          <p:cNvPr id="27" name="Shape 25"/>
          <p:cNvSpPr/>
          <p:nvPr/>
        </p:nvSpPr>
        <p:spPr>
          <a:xfrm>
            <a:off x="548640" y="4343400"/>
            <a:ext cx="11064240" cy="1371600"/>
          </a:xfrm>
          <a:prstGeom prst="roundRect">
            <a:avLst>
              <a:gd name="adj" fmla="val 5333"/>
            </a:avLst>
          </a:prstGeom>
          <a:solidFill>
            <a:srgbClr val="3A0A12"/>
          </a:solidFill>
          <a:ln/>
        </p:spPr>
      </p:sp>
      <p:sp>
        <p:nvSpPr>
          <p:cNvPr id="28" name="Shape 26"/>
          <p:cNvSpPr/>
          <p:nvPr/>
        </p:nvSpPr>
        <p:spPr>
          <a:xfrm>
            <a:off x="868680" y="4709160"/>
            <a:ext cx="640080" cy="640080"/>
          </a:xfrm>
          <a:prstGeom prst="ellipse">
            <a:avLst/>
          </a:prstGeom>
          <a:solidFill>
            <a:srgbClr val="E8574A"/>
          </a:solidFill>
          <a:ln/>
        </p:spPr>
      </p:sp>
      <p:sp>
        <p:nvSpPr>
          <p:cNvPr id="29" name="Text 27"/>
          <p:cNvSpPr txBox="1"/>
          <p:nvPr/>
        </p:nvSpPr>
        <p:spPr>
          <a:xfrm>
            <a:off x="868680" y="4709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30" name="Text 28"/>
          <p:cNvSpPr txBox="1"/>
          <p:nvPr/>
        </p:nvSpPr>
        <p:spPr>
          <a:xfrm>
            <a:off x="1691640" y="4480560"/>
            <a:ext cx="9692640" cy="109728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This is Remote Code Execution (RCE)</a:t>
            </a:r>
            <a:endParaRPr lang="en-US" sz="1500" dirty="0"/>
          </a:p>
          <a:p>
            <a:pPr indent="0" marL="0">
              <a:lnSpc>
                <a:spcPct val="105000"/>
              </a:lnSpc>
              <a:buNone/>
            </a:pPr>
            <a:r>
              <a:rPr lang="en-US" sz="1250" dirty="0">
                <a:solidFill>
                  <a:srgbClr val="E6B6B6"/>
                </a:solidFill>
                <a:latin typeface="Calibri" pitchFamily="34" charset="0"/>
                <a:ea typeface="Calibri" pitchFamily="34" charset="-122"/>
                <a:cs typeface="Calibri" pitchFamily="34" charset="-120"/>
              </a:rPr>
              <a:t>The disguised file runs with the server's privileges — the attacker can now read data, plant malware, or pivot deeper.</a:t>
            </a:r>
            <a:endParaRPr lang="en-US" sz="1500" dirty="0"/>
          </a:p>
        </p:txBody>
      </p:sp>
      <p:sp>
        <p:nvSpPr>
          <p:cNvPr id="31" name="Text 29"/>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THE IMPACT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What an attacker can do next</a:t>
            </a:r>
            <a:endParaRPr lang="en-US" sz="3000" dirty="0"/>
          </a:p>
        </p:txBody>
      </p:sp>
      <p:sp>
        <p:nvSpPr>
          <p:cNvPr id="4" name="Shape 2"/>
          <p:cNvSpPr/>
          <p:nvPr/>
        </p:nvSpPr>
        <p:spPr>
          <a:xfrm>
            <a:off x="548640" y="1828800"/>
            <a:ext cx="3520440" cy="1874520"/>
          </a:xfrm>
          <a:prstGeom prst="roundRect">
            <a:avLst>
              <a:gd name="adj" fmla="val 3902"/>
            </a:avLst>
          </a:prstGeom>
          <a:solidFill>
            <a:srgbClr val="FBEDED"/>
          </a:solidFill>
          <a:ln w="12700">
            <a:solidFill>
              <a:srgbClr val="F0D6D6"/>
            </a:solidFill>
            <a:prstDash val="solid"/>
          </a:ln>
        </p:spPr>
      </p:sp>
      <p:sp>
        <p:nvSpPr>
          <p:cNvPr id="5" name="Shape 3"/>
          <p:cNvSpPr/>
          <p:nvPr/>
        </p:nvSpPr>
        <p:spPr>
          <a:xfrm>
            <a:off x="822960" y="2084832"/>
            <a:ext cx="640080" cy="640080"/>
          </a:xfrm>
          <a:prstGeom prst="ellipse">
            <a:avLst/>
          </a:prstGeom>
          <a:solidFill>
            <a:srgbClr val="9E1B2C"/>
          </a:solidFill>
          <a:ln/>
        </p:spPr>
      </p:sp>
      <p:sp>
        <p:nvSpPr>
          <p:cNvPr id="6" name="Text 4"/>
          <p:cNvSpPr txBox="1"/>
          <p:nvPr/>
        </p:nvSpPr>
        <p:spPr>
          <a:xfrm>
            <a:off x="822960" y="208483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7" name="Text 5"/>
          <p:cNvSpPr txBox="1"/>
          <p:nvPr/>
        </p:nvSpPr>
        <p:spPr>
          <a:xfrm>
            <a:off x="804672" y="278892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Full server takeover</a:t>
            </a:r>
            <a:endParaRPr lang="en-US" sz="1450" dirty="0"/>
          </a:p>
        </p:txBody>
      </p:sp>
      <p:sp>
        <p:nvSpPr>
          <p:cNvPr id="8" name="Text 6"/>
          <p:cNvSpPr txBox="1"/>
          <p:nvPr/>
        </p:nvSpPr>
        <p:spPr>
          <a:xfrm>
            <a:off x="804672" y="312724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Run commands as the web server user</a:t>
            </a:r>
            <a:endParaRPr lang="en-US" sz="1200" dirty="0"/>
          </a:p>
        </p:txBody>
      </p:sp>
      <p:sp>
        <p:nvSpPr>
          <p:cNvPr id="9" name="Shape 7"/>
          <p:cNvSpPr/>
          <p:nvPr/>
        </p:nvSpPr>
        <p:spPr>
          <a:xfrm>
            <a:off x="4270248" y="1828800"/>
            <a:ext cx="3520440" cy="1874520"/>
          </a:xfrm>
          <a:prstGeom prst="roundRect">
            <a:avLst>
              <a:gd name="adj" fmla="val 3902"/>
            </a:avLst>
          </a:prstGeom>
          <a:solidFill>
            <a:srgbClr val="FBEDED"/>
          </a:solidFill>
          <a:ln w="12700">
            <a:solidFill>
              <a:srgbClr val="F0D6D6"/>
            </a:solidFill>
            <a:prstDash val="solid"/>
          </a:ln>
        </p:spPr>
      </p:sp>
      <p:sp>
        <p:nvSpPr>
          <p:cNvPr id="10" name="Shape 8"/>
          <p:cNvSpPr/>
          <p:nvPr/>
        </p:nvSpPr>
        <p:spPr>
          <a:xfrm>
            <a:off x="4544568" y="2084832"/>
            <a:ext cx="640080" cy="640080"/>
          </a:xfrm>
          <a:prstGeom prst="ellipse">
            <a:avLst/>
          </a:prstGeom>
          <a:solidFill>
            <a:srgbClr val="9E1B2C"/>
          </a:solidFill>
          <a:ln/>
        </p:spPr>
      </p:sp>
      <p:sp>
        <p:nvSpPr>
          <p:cNvPr id="11" name="Text 9"/>
          <p:cNvSpPr txBox="1"/>
          <p:nvPr/>
        </p:nvSpPr>
        <p:spPr>
          <a:xfrm>
            <a:off x="4544568" y="208483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4526280" y="278892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Data theft</a:t>
            </a:r>
            <a:endParaRPr lang="en-US" sz="1450" dirty="0"/>
          </a:p>
        </p:txBody>
      </p:sp>
      <p:sp>
        <p:nvSpPr>
          <p:cNvPr id="13" name="Text 11"/>
          <p:cNvSpPr txBox="1"/>
          <p:nvPr/>
        </p:nvSpPr>
        <p:spPr>
          <a:xfrm>
            <a:off x="4526280" y="312724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Read databases, user records, secrets</a:t>
            </a:r>
            <a:endParaRPr lang="en-US" sz="1200" dirty="0"/>
          </a:p>
        </p:txBody>
      </p:sp>
      <p:sp>
        <p:nvSpPr>
          <p:cNvPr id="14" name="Shape 12"/>
          <p:cNvSpPr/>
          <p:nvPr/>
        </p:nvSpPr>
        <p:spPr>
          <a:xfrm>
            <a:off x="7991856" y="1828800"/>
            <a:ext cx="3520440" cy="1874520"/>
          </a:xfrm>
          <a:prstGeom prst="roundRect">
            <a:avLst>
              <a:gd name="adj" fmla="val 3902"/>
            </a:avLst>
          </a:prstGeom>
          <a:solidFill>
            <a:srgbClr val="FBEDED"/>
          </a:solidFill>
          <a:ln w="12700">
            <a:solidFill>
              <a:srgbClr val="F0D6D6"/>
            </a:solidFill>
            <a:prstDash val="solid"/>
          </a:ln>
        </p:spPr>
      </p:sp>
      <p:sp>
        <p:nvSpPr>
          <p:cNvPr id="15" name="Shape 13"/>
          <p:cNvSpPr/>
          <p:nvPr/>
        </p:nvSpPr>
        <p:spPr>
          <a:xfrm>
            <a:off x="8266176" y="2084832"/>
            <a:ext cx="640080" cy="640080"/>
          </a:xfrm>
          <a:prstGeom prst="ellipse">
            <a:avLst/>
          </a:prstGeom>
          <a:solidFill>
            <a:srgbClr val="9E1B2C"/>
          </a:solidFill>
          <a:ln/>
        </p:spPr>
      </p:sp>
      <p:sp>
        <p:nvSpPr>
          <p:cNvPr id="16" name="Text 14"/>
          <p:cNvSpPr txBox="1"/>
          <p:nvPr/>
        </p:nvSpPr>
        <p:spPr>
          <a:xfrm>
            <a:off x="8266176" y="208483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17" name="Text 15"/>
          <p:cNvSpPr txBox="1"/>
          <p:nvPr/>
        </p:nvSpPr>
        <p:spPr>
          <a:xfrm>
            <a:off x="8247888" y="278892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Website defacement</a:t>
            </a:r>
            <a:endParaRPr lang="en-US" sz="1450" dirty="0"/>
          </a:p>
        </p:txBody>
      </p:sp>
      <p:sp>
        <p:nvSpPr>
          <p:cNvPr id="18" name="Text 16"/>
          <p:cNvSpPr txBox="1"/>
          <p:nvPr/>
        </p:nvSpPr>
        <p:spPr>
          <a:xfrm>
            <a:off x="8247888" y="312724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Alter or replace site content</a:t>
            </a:r>
            <a:endParaRPr lang="en-US" sz="1200" dirty="0"/>
          </a:p>
        </p:txBody>
      </p:sp>
      <p:sp>
        <p:nvSpPr>
          <p:cNvPr id="19" name="Shape 17"/>
          <p:cNvSpPr/>
          <p:nvPr/>
        </p:nvSpPr>
        <p:spPr>
          <a:xfrm>
            <a:off x="548640" y="3931920"/>
            <a:ext cx="3520440" cy="1874520"/>
          </a:xfrm>
          <a:prstGeom prst="roundRect">
            <a:avLst>
              <a:gd name="adj" fmla="val 3902"/>
            </a:avLst>
          </a:prstGeom>
          <a:solidFill>
            <a:srgbClr val="FBEDED"/>
          </a:solidFill>
          <a:ln w="12700">
            <a:solidFill>
              <a:srgbClr val="F0D6D6"/>
            </a:solidFill>
            <a:prstDash val="solid"/>
          </a:ln>
        </p:spPr>
      </p:sp>
      <p:sp>
        <p:nvSpPr>
          <p:cNvPr id="20" name="Shape 18"/>
          <p:cNvSpPr/>
          <p:nvPr/>
        </p:nvSpPr>
        <p:spPr>
          <a:xfrm>
            <a:off x="822960" y="4187952"/>
            <a:ext cx="640080" cy="640080"/>
          </a:xfrm>
          <a:prstGeom prst="ellipse">
            <a:avLst/>
          </a:prstGeom>
          <a:solidFill>
            <a:srgbClr val="9E1B2C"/>
          </a:solidFill>
          <a:ln/>
        </p:spPr>
      </p:sp>
      <p:sp>
        <p:nvSpPr>
          <p:cNvPr id="21" name="Text 19"/>
          <p:cNvSpPr txBox="1"/>
          <p:nvPr/>
        </p:nvSpPr>
        <p:spPr>
          <a:xfrm>
            <a:off x="822960" y="418795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22" name="Text 20"/>
          <p:cNvSpPr txBox="1"/>
          <p:nvPr/>
        </p:nvSpPr>
        <p:spPr>
          <a:xfrm>
            <a:off x="804672" y="489204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Malware hosting</a:t>
            </a:r>
            <a:endParaRPr lang="en-US" sz="1450" dirty="0"/>
          </a:p>
        </p:txBody>
      </p:sp>
      <p:sp>
        <p:nvSpPr>
          <p:cNvPr id="23" name="Text 21"/>
          <p:cNvSpPr txBox="1"/>
          <p:nvPr/>
        </p:nvSpPr>
        <p:spPr>
          <a:xfrm>
            <a:off x="804672" y="523036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Serve malware to your visitors</a:t>
            </a:r>
            <a:endParaRPr lang="en-US" sz="1200" dirty="0"/>
          </a:p>
        </p:txBody>
      </p:sp>
      <p:sp>
        <p:nvSpPr>
          <p:cNvPr id="24" name="Shape 22"/>
          <p:cNvSpPr/>
          <p:nvPr/>
        </p:nvSpPr>
        <p:spPr>
          <a:xfrm>
            <a:off x="4270248" y="3931920"/>
            <a:ext cx="3520440" cy="1874520"/>
          </a:xfrm>
          <a:prstGeom prst="roundRect">
            <a:avLst>
              <a:gd name="adj" fmla="val 3902"/>
            </a:avLst>
          </a:prstGeom>
          <a:solidFill>
            <a:srgbClr val="FBEDED"/>
          </a:solidFill>
          <a:ln w="12700">
            <a:solidFill>
              <a:srgbClr val="F0D6D6"/>
            </a:solidFill>
            <a:prstDash val="solid"/>
          </a:ln>
        </p:spPr>
      </p:sp>
      <p:sp>
        <p:nvSpPr>
          <p:cNvPr id="25" name="Shape 23"/>
          <p:cNvSpPr/>
          <p:nvPr/>
        </p:nvSpPr>
        <p:spPr>
          <a:xfrm>
            <a:off x="4544568" y="4187952"/>
            <a:ext cx="640080" cy="640080"/>
          </a:xfrm>
          <a:prstGeom prst="ellipse">
            <a:avLst/>
          </a:prstGeom>
          <a:solidFill>
            <a:srgbClr val="9E1B2C"/>
          </a:solidFill>
          <a:ln/>
        </p:spPr>
      </p:sp>
      <p:sp>
        <p:nvSpPr>
          <p:cNvPr id="26" name="Text 24"/>
          <p:cNvSpPr txBox="1"/>
          <p:nvPr/>
        </p:nvSpPr>
        <p:spPr>
          <a:xfrm>
            <a:off x="4544568" y="418795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27" name="Text 25"/>
          <p:cNvSpPr txBox="1"/>
          <p:nvPr/>
        </p:nvSpPr>
        <p:spPr>
          <a:xfrm>
            <a:off x="4526280" y="489204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Pivot inward</a:t>
            </a:r>
            <a:endParaRPr lang="en-US" sz="1450" dirty="0"/>
          </a:p>
        </p:txBody>
      </p:sp>
      <p:sp>
        <p:nvSpPr>
          <p:cNvPr id="28" name="Text 26"/>
          <p:cNvSpPr txBox="1"/>
          <p:nvPr/>
        </p:nvSpPr>
        <p:spPr>
          <a:xfrm>
            <a:off x="4526280" y="523036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Use the server to attack the internal network</a:t>
            </a:r>
            <a:endParaRPr lang="en-US" sz="1200" dirty="0"/>
          </a:p>
        </p:txBody>
      </p:sp>
      <p:sp>
        <p:nvSpPr>
          <p:cNvPr id="29" name="Shape 27"/>
          <p:cNvSpPr/>
          <p:nvPr/>
        </p:nvSpPr>
        <p:spPr>
          <a:xfrm>
            <a:off x="7991856" y="3931920"/>
            <a:ext cx="3520440" cy="1874520"/>
          </a:xfrm>
          <a:prstGeom prst="roundRect">
            <a:avLst>
              <a:gd name="adj" fmla="val 3902"/>
            </a:avLst>
          </a:prstGeom>
          <a:solidFill>
            <a:srgbClr val="FBEDED"/>
          </a:solidFill>
          <a:ln w="12700">
            <a:solidFill>
              <a:srgbClr val="F0D6D6"/>
            </a:solidFill>
            <a:prstDash val="solid"/>
          </a:ln>
        </p:spPr>
      </p:sp>
      <p:sp>
        <p:nvSpPr>
          <p:cNvPr id="30" name="Shape 28"/>
          <p:cNvSpPr/>
          <p:nvPr/>
        </p:nvSpPr>
        <p:spPr>
          <a:xfrm>
            <a:off x="8266176" y="4187952"/>
            <a:ext cx="640080" cy="640080"/>
          </a:xfrm>
          <a:prstGeom prst="ellipse">
            <a:avLst/>
          </a:prstGeom>
          <a:solidFill>
            <a:srgbClr val="9E1B2C"/>
          </a:solidFill>
          <a:ln/>
        </p:spPr>
      </p:sp>
      <p:sp>
        <p:nvSpPr>
          <p:cNvPr id="31" name="Text 29"/>
          <p:cNvSpPr txBox="1"/>
          <p:nvPr/>
        </p:nvSpPr>
        <p:spPr>
          <a:xfrm>
            <a:off x="8266176" y="418795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32" name="Text 30"/>
          <p:cNvSpPr txBox="1"/>
          <p:nvPr/>
        </p:nvSpPr>
        <p:spPr>
          <a:xfrm>
            <a:off x="8247888" y="4892040"/>
            <a:ext cx="3017520" cy="365760"/>
          </a:xfrm>
          <a:prstGeom prst="rect">
            <a:avLst/>
          </a:prstGeom>
          <a:noFill/>
          <a:ln/>
        </p:spPr>
        <p:txBody>
          <a:bodyPr wrap="square" lIns="0" tIns="0" rIns="0" bIns="0" rtlCol="0" anchor="ctr"/>
          <a:lstStyle/>
          <a:p>
            <a:pPr indent="0" marL="0">
              <a:buNone/>
            </a:pPr>
            <a:r>
              <a:rPr lang="en-US" sz="1450" b="1" dirty="0">
                <a:solidFill>
                  <a:srgbClr val="2B1A1D"/>
                </a:solidFill>
                <a:latin typeface="Calibri" pitchFamily="34" charset="0"/>
                <a:ea typeface="Calibri" pitchFamily="34" charset="-122"/>
                <a:cs typeface="Calibri" pitchFamily="34" charset="-120"/>
              </a:rPr>
              <a:t>Persistence</a:t>
            </a:r>
            <a:endParaRPr lang="en-US" sz="1450" dirty="0"/>
          </a:p>
        </p:txBody>
      </p:sp>
      <p:sp>
        <p:nvSpPr>
          <p:cNvPr id="33" name="Text 31"/>
          <p:cNvSpPr txBox="1"/>
          <p:nvPr/>
        </p:nvSpPr>
        <p:spPr>
          <a:xfrm>
            <a:off x="8247888" y="5230368"/>
            <a:ext cx="3063240" cy="502920"/>
          </a:xfrm>
          <a:prstGeom prst="rect">
            <a:avLst/>
          </a:prstGeom>
          <a:noFill/>
          <a:ln/>
        </p:spPr>
        <p:txBody>
          <a:bodyPr wrap="square" lIns="0" tIns="0" rIns="0" bIns="0" rtlCol="0" anchor="t"/>
          <a:lstStyle/>
          <a:p>
            <a:pPr indent="0" marL="0">
              <a:lnSpc>
                <a:spcPct val="95000"/>
              </a:lnSpc>
              <a:buNone/>
            </a:pPr>
            <a:r>
              <a:rPr lang="en-US" sz="1200" dirty="0">
                <a:solidFill>
                  <a:srgbClr val="6B5458"/>
                </a:solidFill>
                <a:latin typeface="Calibri" pitchFamily="34" charset="0"/>
                <a:ea typeface="Calibri" pitchFamily="34" charset="-122"/>
                <a:cs typeface="Calibri" pitchFamily="34" charset="-120"/>
              </a:rPr>
              <a:t>Leave a hidden backdoor for later</a:t>
            </a:r>
            <a:endParaRPr lang="en-US" sz="1200" dirty="0"/>
          </a:p>
        </p:txBody>
      </p:sp>
      <p:sp>
        <p:nvSpPr>
          <p:cNvPr id="34" name="Text 32"/>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THE DEFENSE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No single check is enough — use layers</a:t>
            </a:r>
            <a:endParaRPr lang="en-US" sz="3000" dirty="0"/>
          </a:p>
        </p:txBody>
      </p:sp>
      <p:sp>
        <p:nvSpPr>
          <p:cNvPr id="4" name="Text 2"/>
          <p:cNvSpPr txBox="1"/>
          <p:nvPr/>
        </p:nvSpPr>
        <p:spPr>
          <a:xfrm>
            <a:off x="548640" y="1508760"/>
            <a:ext cx="11064240" cy="548640"/>
          </a:xfrm>
          <a:prstGeom prst="rect">
            <a:avLst/>
          </a:prstGeom>
          <a:noFill/>
          <a:ln/>
        </p:spPr>
        <p:txBody>
          <a:bodyPr wrap="square" lIns="0" tIns="0" rIns="0" bIns="0" rtlCol="0" anchor="ctr"/>
          <a:lstStyle/>
          <a:p>
            <a:pPr indent="0" marL="0">
              <a:buNone/>
            </a:pPr>
            <a:r>
              <a:rPr lang="en-US" sz="1500" i="1" dirty="0">
                <a:solidFill>
                  <a:srgbClr val="6B5458"/>
                </a:solidFill>
                <a:latin typeface="Calibri" pitchFamily="34" charset="0"/>
                <a:ea typeface="Calibri" pitchFamily="34" charset="-122"/>
                <a:cs typeface="Calibri" pitchFamily="34" charset="-120"/>
              </a:rPr>
              <a:t>A malicious file must be stopped by defense in depth: four independent layers, so if one is bypassed the next still blocks it.</a:t>
            </a:r>
            <a:endParaRPr lang="en-US" sz="1500" dirty="0"/>
          </a:p>
        </p:txBody>
      </p:sp>
      <p:sp>
        <p:nvSpPr>
          <p:cNvPr id="5" name="Shape 3"/>
          <p:cNvSpPr/>
          <p:nvPr/>
        </p:nvSpPr>
        <p:spPr>
          <a:xfrm>
            <a:off x="548640" y="2240280"/>
            <a:ext cx="11064240" cy="841248"/>
          </a:xfrm>
          <a:prstGeom prst="roundRect">
            <a:avLst>
              <a:gd name="adj" fmla="val 8696"/>
            </a:avLst>
          </a:prstGeom>
          <a:solidFill>
            <a:srgbClr val="9E1B2C"/>
          </a:solidFill>
          <a:ln/>
        </p:spPr>
      </p:sp>
      <p:sp>
        <p:nvSpPr>
          <p:cNvPr id="6" name="Shape 4"/>
          <p:cNvSpPr/>
          <p:nvPr/>
        </p:nvSpPr>
        <p:spPr>
          <a:xfrm>
            <a:off x="777240" y="2404872"/>
            <a:ext cx="512064" cy="512064"/>
          </a:xfrm>
          <a:prstGeom prst="ellipse">
            <a:avLst/>
          </a:prstGeom>
          <a:solidFill>
            <a:srgbClr val="FFFFFF"/>
          </a:solidFill>
          <a:ln/>
        </p:spPr>
      </p:sp>
      <p:sp>
        <p:nvSpPr>
          <p:cNvPr id="7" name="Text 5"/>
          <p:cNvSpPr txBox="1"/>
          <p:nvPr/>
        </p:nvSpPr>
        <p:spPr>
          <a:xfrm>
            <a:off x="777240" y="2404872"/>
            <a:ext cx="512064" cy="512064"/>
          </a:xfrm>
          <a:prstGeom prst="rect">
            <a:avLst/>
          </a:prstGeom>
          <a:noFill/>
          <a:ln/>
        </p:spPr>
        <p:txBody>
          <a:bodyPr wrap="square" lIns="0" tIns="0" rIns="0" bIns="0" rtlCol="0" anchor="ctr"/>
          <a:lstStyle/>
          <a:p>
            <a:pPr algn="ctr" indent="0" marL="0">
              <a:buNone/>
            </a:pPr>
            <a:r>
              <a:rPr lang="en-US" sz="1600" b="1" dirty="0">
                <a:solidFill>
                  <a:srgbClr val="9E1B2C"/>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508760" y="2240280"/>
            <a:ext cx="98755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File type validation    </a:t>
            </a:r>
            <a:pPr indent="0" marL="0">
              <a:buNone/>
            </a:pPr>
            <a:r>
              <a:rPr lang="en-US" sz="1250" i="1" dirty="0">
                <a:solidFill>
                  <a:srgbClr val="FFE9E9"/>
                </a:solidFill>
                <a:latin typeface="Calibri" pitchFamily="34" charset="0"/>
                <a:ea typeface="Calibri" pitchFamily="34" charset="-122"/>
                <a:cs typeface="Calibri" pitchFamily="34" charset="-120"/>
              </a:rPr>
              <a:t>Is the extension &amp; MIME allowed?</a:t>
            </a:r>
            <a:endParaRPr lang="en-US" sz="1500" dirty="0"/>
          </a:p>
        </p:txBody>
      </p:sp>
      <p:sp>
        <p:nvSpPr>
          <p:cNvPr id="9" name="Shape 7"/>
          <p:cNvSpPr/>
          <p:nvPr/>
        </p:nvSpPr>
        <p:spPr>
          <a:xfrm>
            <a:off x="548640" y="3227832"/>
            <a:ext cx="11064240" cy="841248"/>
          </a:xfrm>
          <a:prstGeom prst="roundRect">
            <a:avLst>
              <a:gd name="adj" fmla="val 8696"/>
            </a:avLst>
          </a:prstGeom>
          <a:solidFill>
            <a:srgbClr val="9E1B2C"/>
          </a:solidFill>
          <a:ln/>
        </p:spPr>
      </p:sp>
      <p:sp>
        <p:nvSpPr>
          <p:cNvPr id="10" name="Shape 8"/>
          <p:cNvSpPr/>
          <p:nvPr/>
        </p:nvSpPr>
        <p:spPr>
          <a:xfrm>
            <a:off x="777240" y="3392424"/>
            <a:ext cx="512064" cy="512064"/>
          </a:xfrm>
          <a:prstGeom prst="ellipse">
            <a:avLst/>
          </a:prstGeom>
          <a:solidFill>
            <a:srgbClr val="FFFFFF"/>
          </a:solidFill>
          <a:ln/>
        </p:spPr>
      </p:sp>
      <p:sp>
        <p:nvSpPr>
          <p:cNvPr id="11" name="Text 9"/>
          <p:cNvSpPr txBox="1"/>
          <p:nvPr/>
        </p:nvSpPr>
        <p:spPr>
          <a:xfrm>
            <a:off x="777240" y="3392424"/>
            <a:ext cx="512064" cy="512064"/>
          </a:xfrm>
          <a:prstGeom prst="rect">
            <a:avLst/>
          </a:prstGeom>
          <a:noFill/>
          <a:ln/>
        </p:spPr>
        <p:txBody>
          <a:bodyPr wrap="square" lIns="0" tIns="0" rIns="0" bIns="0" rtlCol="0" anchor="ctr"/>
          <a:lstStyle/>
          <a:p>
            <a:pPr algn="ctr" indent="0" marL="0">
              <a:buNone/>
            </a:pPr>
            <a:r>
              <a:rPr lang="en-US" sz="1600" b="1" dirty="0">
                <a:solidFill>
                  <a:srgbClr val="9E1B2C"/>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1508760" y="3227832"/>
            <a:ext cx="98755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Content validation    </a:t>
            </a:r>
            <a:pPr indent="0" marL="0">
              <a:buNone/>
            </a:pPr>
            <a:r>
              <a:rPr lang="en-US" sz="1250" i="1" dirty="0">
                <a:solidFill>
                  <a:srgbClr val="FFE9E9"/>
                </a:solidFill>
                <a:latin typeface="Calibri" pitchFamily="34" charset="0"/>
                <a:ea typeface="Calibri" pitchFamily="34" charset="-122"/>
                <a:cs typeface="Calibri" pitchFamily="34" charset="-120"/>
              </a:rPr>
              <a:t>Is the file really what it claims?</a:t>
            </a:r>
            <a:endParaRPr lang="en-US" sz="1500" dirty="0"/>
          </a:p>
        </p:txBody>
      </p:sp>
      <p:sp>
        <p:nvSpPr>
          <p:cNvPr id="13" name="Shape 11"/>
          <p:cNvSpPr/>
          <p:nvPr/>
        </p:nvSpPr>
        <p:spPr>
          <a:xfrm>
            <a:off x="548640" y="4215384"/>
            <a:ext cx="11064240" cy="841248"/>
          </a:xfrm>
          <a:prstGeom prst="roundRect">
            <a:avLst>
              <a:gd name="adj" fmla="val 8696"/>
            </a:avLst>
          </a:prstGeom>
          <a:solidFill>
            <a:srgbClr val="9E1B2C"/>
          </a:solidFill>
          <a:ln/>
        </p:spPr>
      </p:sp>
      <p:sp>
        <p:nvSpPr>
          <p:cNvPr id="14" name="Shape 12"/>
          <p:cNvSpPr/>
          <p:nvPr/>
        </p:nvSpPr>
        <p:spPr>
          <a:xfrm>
            <a:off x="777240" y="4379976"/>
            <a:ext cx="512064" cy="512064"/>
          </a:xfrm>
          <a:prstGeom prst="ellipse">
            <a:avLst/>
          </a:prstGeom>
          <a:solidFill>
            <a:srgbClr val="FFFFFF"/>
          </a:solidFill>
          <a:ln/>
        </p:spPr>
      </p:sp>
      <p:sp>
        <p:nvSpPr>
          <p:cNvPr id="15" name="Text 13"/>
          <p:cNvSpPr txBox="1"/>
          <p:nvPr/>
        </p:nvSpPr>
        <p:spPr>
          <a:xfrm>
            <a:off x="777240" y="4379976"/>
            <a:ext cx="512064" cy="512064"/>
          </a:xfrm>
          <a:prstGeom prst="rect">
            <a:avLst/>
          </a:prstGeom>
          <a:noFill/>
          <a:ln/>
        </p:spPr>
        <p:txBody>
          <a:bodyPr wrap="square" lIns="0" tIns="0" rIns="0" bIns="0" rtlCol="0" anchor="ctr"/>
          <a:lstStyle/>
          <a:p>
            <a:pPr algn="ctr" indent="0" marL="0">
              <a:buNone/>
            </a:pPr>
            <a:r>
              <a:rPr lang="en-US" sz="1600" b="1" dirty="0">
                <a:solidFill>
                  <a:srgbClr val="9E1B2C"/>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1508760" y="4215384"/>
            <a:ext cx="98755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Secure storage    </a:t>
            </a:r>
            <a:pPr indent="0" marL="0">
              <a:buNone/>
            </a:pPr>
            <a:r>
              <a:rPr lang="en-US" sz="1250" i="1" dirty="0">
                <a:solidFill>
                  <a:srgbClr val="FFE9E9"/>
                </a:solidFill>
                <a:latin typeface="Calibri" pitchFamily="34" charset="0"/>
                <a:ea typeface="Calibri" pitchFamily="34" charset="-122"/>
                <a:cs typeface="Calibri" pitchFamily="34" charset="-120"/>
              </a:rPr>
              <a:t>Where &amp; how is it saved?</a:t>
            </a:r>
            <a:endParaRPr lang="en-US" sz="1500" dirty="0"/>
          </a:p>
        </p:txBody>
      </p:sp>
      <p:sp>
        <p:nvSpPr>
          <p:cNvPr id="17" name="Shape 15"/>
          <p:cNvSpPr/>
          <p:nvPr/>
        </p:nvSpPr>
        <p:spPr>
          <a:xfrm>
            <a:off x="548640" y="5202936"/>
            <a:ext cx="11064240" cy="841248"/>
          </a:xfrm>
          <a:prstGeom prst="roundRect">
            <a:avLst>
              <a:gd name="adj" fmla="val 8696"/>
            </a:avLst>
          </a:prstGeom>
          <a:solidFill>
            <a:srgbClr val="2E7D53"/>
          </a:solidFill>
          <a:ln/>
        </p:spPr>
      </p:sp>
      <p:sp>
        <p:nvSpPr>
          <p:cNvPr id="18" name="Shape 16"/>
          <p:cNvSpPr/>
          <p:nvPr/>
        </p:nvSpPr>
        <p:spPr>
          <a:xfrm>
            <a:off x="777240" y="5367528"/>
            <a:ext cx="512064" cy="512064"/>
          </a:xfrm>
          <a:prstGeom prst="ellipse">
            <a:avLst/>
          </a:prstGeom>
          <a:solidFill>
            <a:srgbClr val="FFFFFF"/>
          </a:solidFill>
          <a:ln/>
        </p:spPr>
      </p:sp>
      <p:sp>
        <p:nvSpPr>
          <p:cNvPr id="19" name="Text 17"/>
          <p:cNvSpPr txBox="1"/>
          <p:nvPr/>
        </p:nvSpPr>
        <p:spPr>
          <a:xfrm>
            <a:off x="777240" y="5367528"/>
            <a:ext cx="512064" cy="512064"/>
          </a:xfrm>
          <a:prstGeom prst="rect">
            <a:avLst/>
          </a:prstGeom>
          <a:noFill/>
          <a:ln/>
        </p:spPr>
        <p:txBody>
          <a:bodyPr wrap="square" lIns="0" tIns="0" rIns="0" bIns="0" rtlCol="0" anchor="ctr"/>
          <a:lstStyle/>
          <a:p>
            <a:pPr algn="ctr" indent="0" marL="0">
              <a:buNone/>
            </a:pPr>
            <a:r>
              <a:rPr lang="en-US" sz="1600" b="1" dirty="0">
                <a:solidFill>
                  <a:srgbClr val="2E7D53"/>
                </a:solidFill>
                <a:latin typeface="Arial" pitchFamily="34" charset="0"/>
                <a:ea typeface="Arial" pitchFamily="34" charset="-122"/>
                <a:cs typeface="Arial" pitchFamily="34" charset="-120"/>
              </a:rPr>
              <a:t>4</a:t>
            </a:r>
            <a:endParaRPr lang="en-US" sz="1600" dirty="0"/>
          </a:p>
        </p:txBody>
      </p:sp>
      <p:sp>
        <p:nvSpPr>
          <p:cNvPr id="20" name="Text 18"/>
          <p:cNvSpPr txBox="1"/>
          <p:nvPr/>
        </p:nvSpPr>
        <p:spPr>
          <a:xfrm>
            <a:off x="1508760" y="5202936"/>
            <a:ext cx="9875520" cy="8412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Execution prevention    </a:t>
            </a:r>
            <a:pPr indent="0" marL="0">
              <a:buNone/>
            </a:pPr>
            <a:r>
              <a:rPr lang="en-US" sz="1250" i="1" dirty="0">
                <a:solidFill>
                  <a:srgbClr val="FFE9E9"/>
                </a:solidFill>
                <a:latin typeface="Calibri" pitchFamily="34" charset="0"/>
                <a:ea typeface="Calibri" pitchFamily="34" charset="-122"/>
                <a:cs typeface="Calibri" pitchFamily="34" charset="-120"/>
              </a:rPr>
              <a:t>Can it ever run as code?</a:t>
            </a:r>
            <a:endParaRPr lang="en-US" sz="1500" dirty="0"/>
          </a:p>
        </p:txBody>
      </p:sp>
      <p:sp>
        <p:nvSpPr>
          <p:cNvPr id="21" name="Text 19"/>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LAYER 1</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File type validation</a:t>
            </a:r>
            <a:endParaRPr lang="en-US" sz="3000" dirty="0"/>
          </a:p>
        </p:txBody>
      </p:sp>
      <p:sp>
        <p:nvSpPr>
          <p:cNvPr id="4" name="Shape 2"/>
          <p:cNvSpPr/>
          <p:nvPr/>
        </p:nvSpPr>
        <p:spPr>
          <a:xfrm>
            <a:off x="777240" y="1920240"/>
            <a:ext cx="502920" cy="502920"/>
          </a:xfrm>
          <a:prstGeom prst="ellipse">
            <a:avLst/>
          </a:prstGeom>
          <a:solidFill>
            <a:srgbClr val="2E7D53"/>
          </a:solidFill>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txBox="1"/>
          <p:nvPr/>
        </p:nvSpPr>
        <p:spPr>
          <a:xfrm>
            <a:off x="1490472" y="184708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Use an allowlist, not a blocklist</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Permit only known-good types (jpg, png, pdf).</a:t>
            </a:r>
            <a:endParaRPr lang="en-US" sz="1450" dirty="0"/>
          </a:p>
        </p:txBody>
      </p:sp>
      <p:sp>
        <p:nvSpPr>
          <p:cNvPr id="7" name="Shape 5"/>
          <p:cNvSpPr/>
          <p:nvPr/>
        </p:nvSpPr>
        <p:spPr>
          <a:xfrm>
            <a:off x="777240" y="2971800"/>
            <a:ext cx="502920" cy="502920"/>
          </a:xfrm>
          <a:prstGeom prst="ellipse">
            <a:avLst/>
          </a:prstGeom>
          <a:solidFill>
            <a:srgbClr val="2E7D53"/>
          </a:solidFill>
          <a:ln/>
        </p:spPr>
      </p:sp>
      <p:sp>
        <p:nvSpPr>
          <p:cNvPr id="8" name="Text 6"/>
          <p:cNvSpPr txBox="1"/>
          <p:nvPr/>
        </p:nvSpPr>
        <p:spPr>
          <a:xfrm>
            <a:off x="777240" y="2971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490472" y="289864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Check extension AND MIME together</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Both must match an allowed type.</a:t>
            </a:r>
            <a:endParaRPr lang="en-US" sz="1450" dirty="0"/>
          </a:p>
        </p:txBody>
      </p:sp>
      <p:sp>
        <p:nvSpPr>
          <p:cNvPr id="10" name="Shape 8"/>
          <p:cNvSpPr/>
          <p:nvPr/>
        </p:nvSpPr>
        <p:spPr>
          <a:xfrm>
            <a:off x="777240" y="4023360"/>
            <a:ext cx="502920" cy="502920"/>
          </a:xfrm>
          <a:prstGeom prst="ellipse">
            <a:avLst/>
          </a:prstGeom>
          <a:solidFill>
            <a:srgbClr val="9E1B2C"/>
          </a:solidFill>
          <a:ln/>
        </p:spPr>
      </p:sp>
      <p:sp>
        <p:nvSpPr>
          <p:cNvPr id="11" name="Text 9"/>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490472" y="395020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Reject double / tricky extensions</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shell.php.jpg, shell.pHp, trailing dots.</a:t>
            </a:r>
            <a:endParaRPr lang="en-US" sz="1450" dirty="0"/>
          </a:p>
        </p:txBody>
      </p:sp>
      <p:sp>
        <p:nvSpPr>
          <p:cNvPr id="13" name="Shape 11"/>
          <p:cNvSpPr/>
          <p:nvPr/>
        </p:nvSpPr>
        <p:spPr>
          <a:xfrm>
            <a:off x="777240" y="5074920"/>
            <a:ext cx="502920" cy="502920"/>
          </a:xfrm>
          <a:prstGeom prst="ellipse">
            <a:avLst/>
          </a:prstGeom>
          <a:solidFill>
            <a:srgbClr val="9E1B2C"/>
          </a:solidFill>
          <a:ln/>
        </p:spPr>
      </p:sp>
      <p:sp>
        <p:nvSpPr>
          <p:cNvPr id="14" name="Text 12"/>
          <p:cNvSpPr txBox="1"/>
          <p:nvPr/>
        </p:nvSpPr>
        <p:spPr>
          <a:xfrm>
            <a:off x="7772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490472" y="500176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Rename to a safe, server-chosen name</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Never reuse the user's original filename.</a:t>
            </a:r>
            <a:endParaRPr lang="en-US" sz="1450" dirty="0"/>
          </a:p>
        </p:txBody>
      </p:sp>
      <p:sp>
        <p:nvSpPr>
          <p:cNvPr id="16" name="Shape 14"/>
          <p:cNvSpPr/>
          <p:nvPr/>
        </p:nvSpPr>
        <p:spPr>
          <a:xfrm>
            <a:off x="7406640" y="1783080"/>
            <a:ext cx="4206240" cy="4005072"/>
          </a:xfrm>
          <a:prstGeom prst="roundRect">
            <a:avLst>
              <a:gd name="adj" fmla="val 1826"/>
            </a:avLst>
          </a:prstGeom>
          <a:solidFill>
            <a:srgbClr val="FBEDED"/>
          </a:solidFill>
          <a:ln w="12700">
            <a:solidFill>
              <a:srgbClr val="DDE3E8"/>
            </a:solidFill>
            <a:prstDash val="solid"/>
          </a:ln>
        </p:spPr>
      </p:sp>
      <p:sp>
        <p:nvSpPr>
          <p:cNvPr id="17" name="Text 15"/>
          <p:cNvSpPr txBox="1"/>
          <p:nvPr/>
        </p:nvSpPr>
        <p:spPr>
          <a:xfrm>
            <a:off x="7699248" y="2011680"/>
            <a:ext cx="3621024" cy="320040"/>
          </a:xfrm>
          <a:prstGeom prst="rect">
            <a:avLst/>
          </a:prstGeom>
          <a:noFill/>
          <a:ln/>
        </p:spPr>
        <p:txBody>
          <a:bodyPr wrap="square" lIns="0" tIns="0" rIns="0" bIns="0" rtlCol="0" anchor="ctr"/>
          <a:lstStyle/>
          <a:p>
            <a:pPr indent="0" marL="0">
              <a:buNone/>
            </a:pPr>
            <a:r>
              <a:rPr lang="en-US" sz="1300" b="1" dirty="0">
                <a:solidFill>
                  <a:srgbClr val="2B1A1D"/>
                </a:solidFill>
                <a:latin typeface="Calibri" pitchFamily="34" charset="0"/>
                <a:ea typeface="Calibri" pitchFamily="34" charset="-122"/>
                <a:cs typeface="Calibri" pitchFamily="34" charset="-120"/>
              </a:rPr>
              <a:t>What the check should do</a:t>
            </a:r>
            <a:endParaRPr lang="en-US" sz="1300" dirty="0"/>
          </a:p>
        </p:txBody>
      </p:sp>
      <p:sp>
        <p:nvSpPr>
          <p:cNvPr id="18" name="Shape 16"/>
          <p:cNvSpPr/>
          <p:nvPr/>
        </p:nvSpPr>
        <p:spPr>
          <a:xfrm>
            <a:off x="7699248" y="2441448"/>
            <a:ext cx="3621024" cy="420624"/>
          </a:xfrm>
          <a:prstGeom prst="roundRect">
            <a:avLst>
              <a:gd name="adj" fmla="val 17391"/>
            </a:avLst>
          </a:prstGeom>
          <a:solidFill>
            <a:srgbClr val="FFFFFF"/>
          </a:solidFill>
          <a:ln w="12700">
            <a:solidFill>
              <a:srgbClr val="2E7D53"/>
            </a:solidFill>
            <a:prstDash val="solid"/>
          </a:ln>
        </p:spPr>
      </p:sp>
      <p:sp>
        <p:nvSpPr>
          <p:cNvPr id="19" name="Shape 17"/>
          <p:cNvSpPr/>
          <p:nvPr/>
        </p:nvSpPr>
        <p:spPr>
          <a:xfrm>
            <a:off x="7790688" y="2514600"/>
            <a:ext cx="274320" cy="274320"/>
          </a:xfrm>
          <a:prstGeom prst="ellipse">
            <a:avLst/>
          </a:prstGeom>
          <a:solidFill>
            <a:srgbClr val="2E7D53"/>
          </a:solidFill>
          <a:ln/>
        </p:spPr>
      </p:sp>
      <p:sp>
        <p:nvSpPr>
          <p:cNvPr id="20" name="Text 18"/>
          <p:cNvSpPr txBox="1"/>
          <p:nvPr/>
        </p:nvSpPr>
        <p:spPr>
          <a:xfrm>
            <a:off x="7790688" y="25146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1" name="Text 19"/>
          <p:cNvSpPr txBox="1"/>
          <p:nvPr/>
        </p:nvSpPr>
        <p:spPr>
          <a:xfrm>
            <a:off x="8156448" y="2441448"/>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photo.jpg</a:t>
            </a:r>
            <a:endParaRPr lang="en-US" sz="1100" dirty="0"/>
          </a:p>
        </p:txBody>
      </p:sp>
      <p:sp>
        <p:nvSpPr>
          <p:cNvPr id="22" name="Shape 20"/>
          <p:cNvSpPr/>
          <p:nvPr/>
        </p:nvSpPr>
        <p:spPr>
          <a:xfrm>
            <a:off x="7699248" y="2953512"/>
            <a:ext cx="3621024" cy="420624"/>
          </a:xfrm>
          <a:prstGeom prst="roundRect">
            <a:avLst>
              <a:gd name="adj" fmla="val 17391"/>
            </a:avLst>
          </a:prstGeom>
          <a:solidFill>
            <a:srgbClr val="FFFFFF"/>
          </a:solidFill>
          <a:ln w="12700">
            <a:solidFill>
              <a:srgbClr val="2E7D53"/>
            </a:solidFill>
            <a:prstDash val="solid"/>
          </a:ln>
        </p:spPr>
      </p:sp>
      <p:sp>
        <p:nvSpPr>
          <p:cNvPr id="23" name="Shape 21"/>
          <p:cNvSpPr/>
          <p:nvPr/>
        </p:nvSpPr>
        <p:spPr>
          <a:xfrm>
            <a:off x="7790688" y="3026664"/>
            <a:ext cx="274320" cy="274320"/>
          </a:xfrm>
          <a:prstGeom prst="ellipse">
            <a:avLst/>
          </a:prstGeom>
          <a:solidFill>
            <a:srgbClr val="2E7D53"/>
          </a:solidFill>
          <a:ln/>
        </p:spPr>
      </p:sp>
      <p:sp>
        <p:nvSpPr>
          <p:cNvPr id="24" name="Text 22"/>
          <p:cNvSpPr txBox="1"/>
          <p:nvPr/>
        </p:nvSpPr>
        <p:spPr>
          <a:xfrm>
            <a:off x="7790688" y="3026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5" name="Text 23"/>
          <p:cNvSpPr txBox="1"/>
          <p:nvPr/>
        </p:nvSpPr>
        <p:spPr>
          <a:xfrm>
            <a:off x="8156448" y="2953512"/>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report.pdf</a:t>
            </a:r>
            <a:endParaRPr lang="en-US" sz="1100" dirty="0"/>
          </a:p>
        </p:txBody>
      </p:sp>
      <p:sp>
        <p:nvSpPr>
          <p:cNvPr id="26" name="Shape 24"/>
          <p:cNvSpPr/>
          <p:nvPr/>
        </p:nvSpPr>
        <p:spPr>
          <a:xfrm>
            <a:off x="7699248" y="3465576"/>
            <a:ext cx="3621024" cy="420624"/>
          </a:xfrm>
          <a:prstGeom prst="roundRect">
            <a:avLst>
              <a:gd name="adj" fmla="val 17391"/>
            </a:avLst>
          </a:prstGeom>
          <a:solidFill>
            <a:srgbClr val="FFFFFF"/>
          </a:solidFill>
          <a:ln w="12700">
            <a:solidFill>
              <a:srgbClr val="B23B3B"/>
            </a:solidFill>
            <a:prstDash val="solid"/>
          </a:ln>
        </p:spPr>
      </p:sp>
      <p:sp>
        <p:nvSpPr>
          <p:cNvPr id="27" name="Shape 25"/>
          <p:cNvSpPr/>
          <p:nvPr/>
        </p:nvSpPr>
        <p:spPr>
          <a:xfrm>
            <a:off x="7790688" y="3538728"/>
            <a:ext cx="274320" cy="274320"/>
          </a:xfrm>
          <a:prstGeom prst="ellipse">
            <a:avLst/>
          </a:prstGeom>
          <a:solidFill>
            <a:srgbClr val="B23B3B"/>
          </a:solidFill>
          <a:ln/>
        </p:spPr>
      </p:sp>
      <p:sp>
        <p:nvSpPr>
          <p:cNvPr id="28" name="Text 26"/>
          <p:cNvSpPr txBox="1"/>
          <p:nvPr/>
        </p:nvSpPr>
        <p:spPr>
          <a:xfrm>
            <a:off x="7790688" y="35387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9" name="Text 27"/>
          <p:cNvSpPr txBox="1"/>
          <p:nvPr/>
        </p:nvSpPr>
        <p:spPr>
          <a:xfrm>
            <a:off x="8156448" y="3465576"/>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shell.php</a:t>
            </a:r>
            <a:endParaRPr lang="en-US" sz="1100" dirty="0"/>
          </a:p>
        </p:txBody>
      </p:sp>
      <p:sp>
        <p:nvSpPr>
          <p:cNvPr id="30" name="Shape 28"/>
          <p:cNvSpPr/>
          <p:nvPr/>
        </p:nvSpPr>
        <p:spPr>
          <a:xfrm>
            <a:off x="7699248" y="3977640"/>
            <a:ext cx="3621024" cy="420624"/>
          </a:xfrm>
          <a:prstGeom prst="roundRect">
            <a:avLst>
              <a:gd name="adj" fmla="val 17391"/>
            </a:avLst>
          </a:prstGeom>
          <a:solidFill>
            <a:srgbClr val="FFFFFF"/>
          </a:solidFill>
          <a:ln w="12700">
            <a:solidFill>
              <a:srgbClr val="B23B3B"/>
            </a:solidFill>
            <a:prstDash val="solid"/>
          </a:ln>
        </p:spPr>
      </p:sp>
      <p:sp>
        <p:nvSpPr>
          <p:cNvPr id="31" name="Shape 29"/>
          <p:cNvSpPr/>
          <p:nvPr/>
        </p:nvSpPr>
        <p:spPr>
          <a:xfrm>
            <a:off x="7790688" y="4050792"/>
            <a:ext cx="274320" cy="274320"/>
          </a:xfrm>
          <a:prstGeom prst="ellipse">
            <a:avLst/>
          </a:prstGeom>
          <a:solidFill>
            <a:srgbClr val="B23B3B"/>
          </a:solidFill>
          <a:ln/>
        </p:spPr>
      </p:sp>
      <p:sp>
        <p:nvSpPr>
          <p:cNvPr id="32" name="Text 30"/>
          <p:cNvSpPr txBox="1"/>
          <p:nvPr/>
        </p:nvSpPr>
        <p:spPr>
          <a:xfrm>
            <a:off x="7790688" y="4050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3" name="Text 31"/>
          <p:cNvSpPr txBox="1"/>
          <p:nvPr/>
        </p:nvSpPr>
        <p:spPr>
          <a:xfrm>
            <a:off x="8156448" y="3977640"/>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shell.php.jpg</a:t>
            </a:r>
            <a:endParaRPr lang="en-US" sz="1100" dirty="0"/>
          </a:p>
        </p:txBody>
      </p:sp>
      <p:sp>
        <p:nvSpPr>
          <p:cNvPr id="34" name="Shape 32"/>
          <p:cNvSpPr/>
          <p:nvPr/>
        </p:nvSpPr>
        <p:spPr>
          <a:xfrm>
            <a:off x="7699248" y="4489704"/>
            <a:ext cx="3621024" cy="420624"/>
          </a:xfrm>
          <a:prstGeom prst="roundRect">
            <a:avLst>
              <a:gd name="adj" fmla="val 17391"/>
            </a:avLst>
          </a:prstGeom>
          <a:solidFill>
            <a:srgbClr val="FFFFFF"/>
          </a:solidFill>
          <a:ln w="12700">
            <a:solidFill>
              <a:srgbClr val="B23B3B"/>
            </a:solidFill>
            <a:prstDash val="solid"/>
          </a:ln>
        </p:spPr>
      </p:sp>
      <p:sp>
        <p:nvSpPr>
          <p:cNvPr id="35" name="Shape 33"/>
          <p:cNvSpPr/>
          <p:nvPr/>
        </p:nvSpPr>
        <p:spPr>
          <a:xfrm>
            <a:off x="7790688" y="4562856"/>
            <a:ext cx="274320" cy="274320"/>
          </a:xfrm>
          <a:prstGeom prst="ellipse">
            <a:avLst/>
          </a:prstGeom>
          <a:solidFill>
            <a:srgbClr val="B23B3B"/>
          </a:solidFill>
          <a:ln/>
        </p:spPr>
      </p:sp>
      <p:sp>
        <p:nvSpPr>
          <p:cNvPr id="36" name="Text 34"/>
          <p:cNvSpPr txBox="1"/>
          <p:nvPr/>
        </p:nvSpPr>
        <p:spPr>
          <a:xfrm>
            <a:off x="7790688" y="45628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7" name="Text 35"/>
          <p:cNvSpPr txBox="1"/>
          <p:nvPr/>
        </p:nvSpPr>
        <p:spPr>
          <a:xfrm>
            <a:off x="8156448" y="4489704"/>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shell.pHp</a:t>
            </a:r>
            <a:endParaRPr lang="en-US" sz="1100" dirty="0"/>
          </a:p>
        </p:txBody>
      </p:sp>
      <p:sp>
        <p:nvSpPr>
          <p:cNvPr id="38" name="Shape 36"/>
          <p:cNvSpPr/>
          <p:nvPr/>
        </p:nvSpPr>
        <p:spPr>
          <a:xfrm>
            <a:off x="7699248" y="5001768"/>
            <a:ext cx="3621024" cy="420624"/>
          </a:xfrm>
          <a:prstGeom prst="roundRect">
            <a:avLst>
              <a:gd name="adj" fmla="val 17391"/>
            </a:avLst>
          </a:prstGeom>
          <a:solidFill>
            <a:srgbClr val="FFFFFF"/>
          </a:solidFill>
          <a:ln w="12700">
            <a:solidFill>
              <a:srgbClr val="B23B3B"/>
            </a:solidFill>
            <a:prstDash val="solid"/>
          </a:ln>
        </p:spPr>
      </p:sp>
      <p:sp>
        <p:nvSpPr>
          <p:cNvPr id="39" name="Shape 37"/>
          <p:cNvSpPr/>
          <p:nvPr/>
        </p:nvSpPr>
        <p:spPr>
          <a:xfrm>
            <a:off x="7790688" y="5074920"/>
            <a:ext cx="274320" cy="274320"/>
          </a:xfrm>
          <a:prstGeom prst="ellipse">
            <a:avLst/>
          </a:prstGeom>
          <a:solidFill>
            <a:srgbClr val="B23B3B"/>
          </a:solidFill>
          <a:ln/>
        </p:spPr>
      </p:sp>
      <p:sp>
        <p:nvSpPr>
          <p:cNvPr id="40" name="Text 38"/>
          <p:cNvSpPr txBox="1"/>
          <p:nvPr/>
        </p:nvSpPr>
        <p:spPr>
          <a:xfrm>
            <a:off x="7790688" y="50749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41" name="Text 39"/>
          <p:cNvSpPr txBox="1"/>
          <p:nvPr/>
        </p:nvSpPr>
        <p:spPr>
          <a:xfrm>
            <a:off x="8156448" y="5001768"/>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setup.exe</a:t>
            </a:r>
            <a:endParaRPr lang="en-US" sz="1100" dirty="0"/>
          </a:p>
        </p:txBody>
      </p:sp>
      <p:sp>
        <p:nvSpPr>
          <p:cNvPr id="42" name="Text 40"/>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LAYER 2</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Content validation</a:t>
            </a:r>
            <a:endParaRPr lang="en-US" sz="3000" dirty="0"/>
          </a:p>
        </p:txBody>
      </p:sp>
      <p:sp>
        <p:nvSpPr>
          <p:cNvPr id="4" name="Shape 2"/>
          <p:cNvSpPr/>
          <p:nvPr/>
        </p:nvSpPr>
        <p:spPr>
          <a:xfrm>
            <a:off x="777240" y="1920240"/>
            <a:ext cx="502920" cy="502920"/>
          </a:xfrm>
          <a:prstGeom prst="ellipse">
            <a:avLst/>
          </a:prstGeom>
          <a:solidFill>
            <a:srgbClr val="9E1B2C"/>
          </a:solidFill>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txBox="1"/>
          <p:nvPr/>
        </p:nvSpPr>
        <p:spPr>
          <a:xfrm>
            <a:off x="1490472" y="184708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Check the magic bytes (signature)</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The first bytes reveal the file's true type.</a:t>
            </a:r>
            <a:endParaRPr lang="en-US" sz="1450" dirty="0"/>
          </a:p>
        </p:txBody>
      </p:sp>
      <p:sp>
        <p:nvSpPr>
          <p:cNvPr id="7" name="Shape 5"/>
          <p:cNvSpPr/>
          <p:nvPr/>
        </p:nvSpPr>
        <p:spPr>
          <a:xfrm>
            <a:off x="777240" y="2971800"/>
            <a:ext cx="502920" cy="502920"/>
          </a:xfrm>
          <a:prstGeom prst="ellipse">
            <a:avLst/>
          </a:prstGeom>
          <a:solidFill>
            <a:srgbClr val="2E7D53"/>
          </a:solidFill>
          <a:ln/>
        </p:spPr>
      </p:sp>
      <p:sp>
        <p:nvSpPr>
          <p:cNvPr id="8" name="Text 6"/>
          <p:cNvSpPr txBox="1"/>
          <p:nvPr/>
        </p:nvSpPr>
        <p:spPr>
          <a:xfrm>
            <a:off x="777240" y="2971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490472" y="289864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Re-encode images on the server</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Re-saving strips any hidden embedded code.</a:t>
            </a:r>
            <a:endParaRPr lang="en-US" sz="1450" dirty="0"/>
          </a:p>
        </p:txBody>
      </p:sp>
      <p:sp>
        <p:nvSpPr>
          <p:cNvPr id="10" name="Shape 8"/>
          <p:cNvSpPr/>
          <p:nvPr/>
        </p:nvSpPr>
        <p:spPr>
          <a:xfrm>
            <a:off x="777240" y="4023360"/>
            <a:ext cx="502920" cy="502920"/>
          </a:xfrm>
          <a:prstGeom prst="ellipse">
            <a:avLst/>
          </a:prstGeom>
          <a:solidFill>
            <a:srgbClr val="9E1B2C"/>
          </a:solidFill>
          <a:ln/>
        </p:spPr>
      </p:sp>
      <p:sp>
        <p:nvSpPr>
          <p:cNvPr id="11" name="Text 9"/>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490472" y="395020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Enforce a size limit</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Blocks huge files used for denial-of-service.</a:t>
            </a:r>
            <a:endParaRPr lang="en-US" sz="1450" dirty="0"/>
          </a:p>
        </p:txBody>
      </p:sp>
      <p:sp>
        <p:nvSpPr>
          <p:cNvPr id="13" name="Shape 11"/>
          <p:cNvSpPr/>
          <p:nvPr/>
        </p:nvSpPr>
        <p:spPr>
          <a:xfrm>
            <a:off x="777240" y="5074920"/>
            <a:ext cx="502920" cy="502920"/>
          </a:xfrm>
          <a:prstGeom prst="ellipse">
            <a:avLst/>
          </a:prstGeom>
          <a:solidFill>
            <a:srgbClr val="2E7D53"/>
          </a:solidFill>
          <a:ln/>
        </p:spPr>
      </p:sp>
      <p:sp>
        <p:nvSpPr>
          <p:cNvPr id="14" name="Text 12"/>
          <p:cNvSpPr txBox="1"/>
          <p:nvPr/>
        </p:nvSpPr>
        <p:spPr>
          <a:xfrm>
            <a:off x="7772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490472" y="500176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Scan with anti-malware</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An extra net for known-bad payloads.</a:t>
            </a:r>
            <a:endParaRPr lang="en-US" sz="1450" dirty="0"/>
          </a:p>
        </p:txBody>
      </p:sp>
      <p:sp>
        <p:nvSpPr>
          <p:cNvPr id="16" name="Shape 14"/>
          <p:cNvSpPr/>
          <p:nvPr/>
        </p:nvSpPr>
        <p:spPr>
          <a:xfrm>
            <a:off x="7406640" y="1783080"/>
            <a:ext cx="4206240" cy="3575304"/>
          </a:xfrm>
          <a:prstGeom prst="roundRect">
            <a:avLst>
              <a:gd name="adj" fmla="val 2046"/>
            </a:avLst>
          </a:prstGeom>
          <a:solidFill>
            <a:srgbClr val="FBEDED"/>
          </a:solidFill>
          <a:ln w="12700">
            <a:solidFill>
              <a:srgbClr val="DDE3E8"/>
            </a:solidFill>
            <a:prstDash val="solid"/>
          </a:ln>
        </p:spPr>
      </p:sp>
      <p:sp>
        <p:nvSpPr>
          <p:cNvPr id="17" name="Text 15"/>
          <p:cNvSpPr txBox="1"/>
          <p:nvPr/>
        </p:nvSpPr>
        <p:spPr>
          <a:xfrm>
            <a:off x="7699248" y="2011680"/>
            <a:ext cx="3621024" cy="320040"/>
          </a:xfrm>
          <a:prstGeom prst="rect">
            <a:avLst/>
          </a:prstGeom>
          <a:noFill/>
          <a:ln/>
        </p:spPr>
        <p:txBody>
          <a:bodyPr wrap="square" lIns="0" tIns="0" rIns="0" bIns="0" rtlCol="0" anchor="ctr"/>
          <a:lstStyle/>
          <a:p>
            <a:pPr indent="0" marL="0">
              <a:buNone/>
            </a:pPr>
            <a:r>
              <a:rPr lang="en-US" sz="1300" b="1" dirty="0">
                <a:solidFill>
                  <a:srgbClr val="2B1A1D"/>
                </a:solidFill>
                <a:latin typeface="Calibri" pitchFamily="34" charset="0"/>
                <a:ea typeface="Calibri" pitchFamily="34" charset="-122"/>
                <a:cs typeface="Calibri" pitchFamily="34" charset="-120"/>
              </a:rPr>
              <a:t>The name lies — the bytes don't</a:t>
            </a:r>
            <a:endParaRPr lang="en-US" sz="1300" dirty="0"/>
          </a:p>
        </p:txBody>
      </p:sp>
      <p:sp>
        <p:nvSpPr>
          <p:cNvPr id="18" name="Shape 16"/>
          <p:cNvSpPr/>
          <p:nvPr/>
        </p:nvSpPr>
        <p:spPr>
          <a:xfrm>
            <a:off x="7699248" y="2441448"/>
            <a:ext cx="3621024" cy="420624"/>
          </a:xfrm>
          <a:prstGeom prst="roundRect">
            <a:avLst>
              <a:gd name="adj" fmla="val 17391"/>
            </a:avLst>
          </a:prstGeom>
          <a:solidFill>
            <a:srgbClr val="FFFFFF"/>
          </a:solidFill>
          <a:ln w="12700">
            <a:solidFill>
              <a:srgbClr val="6B5458"/>
            </a:solidFill>
            <a:prstDash val="solid"/>
          </a:ln>
        </p:spPr>
      </p:sp>
      <p:sp>
        <p:nvSpPr>
          <p:cNvPr id="19" name="Text 17"/>
          <p:cNvSpPr txBox="1"/>
          <p:nvPr/>
        </p:nvSpPr>
        <p:spPr>
          <a:xfrm>
            <a:off x="7818120" y="2441448"/>
            <a:ext cx="338328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Named:  avatar.jpg</a:t>
            </a:r>
            <a:endParaRPr lang="en-US" sz="1100" dirty="0"/>
          </a:p>
        </p:txBody>
      </p:sp>
      <p:sp>
        <p:nvSpPr>
          <p:cNvPr id="20" name="Shape 18"/>
          <p:cNvSpPr/>
          <p:nvPr/>
        </p:nvSpPr>
        <p:spPr>
          <a:xfrm>
            <a:off x="7699248" y="2953512"/>
            <a:ext cx="3621024" cy="420624"/>
          </a:xfrm>
          <a:prstGeom prst="roundRect">
            <a:avLst>
              <a:gd name="adj" fmla="val 17391"/>
            </a:avLst>
          </a:prstGeom>
          <a:solidFill>
            <a:srgbClr val="FFFFFF"/>
          </a:solidFill>
          <a:ln w="12700">
            <a:solidFill>
              <a:srgbClr val="2E7D53"/>
            </a:solidFill>
            <a:prstDash val="solid"/>
          </a:ln>
        </p:spPr>
      </p:sp>
      <p:sp>
        <p:nvSpPr>
          <p:cNvPr id="21" name="Shape 19"/>
          <p:cNvSpPr/>
          <p:nvPr/>
        </p:nvSpPr>
        <p:spPr>
          <a:xfrm>
            <a:off x="7790688" y="3026664"/>
            <a:ext cx="274320" cy="274320"/>
          </a:xfrm>
          <a:prstGeom prst="ellipse">
            <a:avLst/>
          </a:prstGeom>
          <a:solidFill>
            <a:srgbClr val="2E7D53"/>
          </a:solidFill>
          <a:ln/>
        </p:spPr>
      </p:sp>
      <p:sp>
        <p:nvSpPr>
          <p:cNvPr id="22" name="Text 20"/>
          <p:cNvSpPr txBox="1"/>
          <p:nvPr/>
        </p:nvSpPr>
        <p:spPr>
          <a:xfrm>
            <a:off x="7790688" y="3026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3" name="Text 21"/>
          <p:cNvSpPr txBox="1"/>
          <p:nvPr/>
        </p:nvSpPr>
        <p:spPr>
          <a:xfrm>
            <a:off x="8156448" y="2953512"/>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Real JPEG starts  FF D8 FF</a:t>
            </a:r>
            <a:endParaRPr lang="en-US" sz="1100" dirty="0"/>
          </a:p>
        </p:txBody>
      </p:sp>
      <p:sp>
        <p:nvSpPr>
          <p:cNvPr id="24" name="Shape 22"/>
          <p:cNvSpPr/>
          <p:nvPr/>
        </p:nvSpPr>
        <p:spPr>
          <a:xfrm>
            <a:off x="7699248" y="3465576"/>
            <a:ext cx="3621024" cy="420624"/>
          </a:xfrm>
          <a:prstGeom prst="roundRect">
            <a:avLst>
              <a:gd name="adj" fmla="val 17391"/>
            </a:avLst>
          </a:prstGeom>
          <a:solidFill>
            <a:srgbClr val="FFFFFF"/>
          </a:solidFill>
          <a:ln w="12700">
            <a:solidFill>
              <a:srgbClr val="B23B3B"/>
            </a:solidFill>
            <a:prstDash val="solid"/>
          </a:ln>
        </p:spPr>
      </p:sp>
      <p:sp>
        <p:nvSpPr>
          <p:cNvPr id="25" name="Shape 23"/>
          <p:cNvSpPr/>
          <p:nvPr/>
        </p:nvSpPr>
        <p:spPr>
          <a:xfrm>
            <a:off x="7790688" y="3538728"/>
            <a:ext cx="274320" cy="274320"/>
          </a:xfrm>
          <a:prstGeom prst="ellipse">
            <a:avLst/>
          </a:prstGeom>
          <a:solidFill>
            <a:srgbClr val="B23B3B"/>
          </a:solidFill>
          <a:ln/>
        </p:spPr>
      </p:sp>
      <p:sp>
        <p:nvSpPr>
          <p:cNvPr id="26" name="Text 24"/>
          <p:cNvSpPr txBox="1"/>
          <p:nvPr/>
        </p:nvSpPr>
        <p:spPr>
          <a:xfrm>
            <a:off x="7790688" y="35387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7" name="Text 25"/>
          <p:cNvSpPr txBox="1"/>
          <p:nvPr/>
        </p:nvSpPr>
        <p:spPr>
          <a:xfrm>
            <a:off x="8156448" y="3465576"/>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This file starts  3C 3F 70</a:t>
            </a:r>
            <a:endParaRPr lang="en-US" sz="1100" dirty="0"/>
          </a:p>
        </p:txBody>
      </p:sp>
      <p:sp>
        <p:nvSpPr>
          <p:cNvPr id="28" name="Shape 26"/>
          <p:cNvSpPr/>
          <p:nvPr/>
        </p:nvSpPr>
        <p:spPr>
          <a:xfrm>
            <a:off x="7699248" y="3977640"/>
            <a:ext cx="3621024" cy="420624"/>
          </a:xfrm>
          <a:prstGeom prst="roundRect">
            <a:avLst>
              <a:gd name="adj" fmla="val 17391"/>
            </a:avLst>
          </a:prstGeom>
          <a:solidFill>
            <a:srgbClr val="FFFFFF"/>
          </a:solidFill>
          <a:ln w="12700">
            <a:solidFill>
              <a:srgbClr val="B23B3B"/>
            </a:solidFill>
            <a:prstDash val="solid"/>
          </a:ln>
        </p:spPr>
      </p:sp>
      <p:sp>
        <p:nvSpPr>
          <p:cNvPr id="29" name="Shape 27"/>
          <p:cNvSpPr/>
          <p:nvPr/>
        </p:nvSpPr>
        <p:spPr>
          <a:xfrm>
            <a:off x="7790688" y="4050792"/>
            <a:ext cx="274320" cy="274320"/>
          </a:xfrm>
          <a:prstGeom prst="ellipse">
            <a:avLst/>
          </a:prstGeom>
          <a:solidFill>
            <a:srgbClr val="B23B3B"/>
          </a:solidFill>
          <a:ln/>
        </p:spPr>
      </p:sp>
      <p:sp>
        <p:nvSpPr>
          <p:cNvPr id="30" name="Text 28"/>
          <p:cNvSpPr txBox="1"/>
          <p:nvPr/>
        </p:nvSpPr>
        <p:spPr>
          <a:xfrm>
            <a:off x="7790688" y="4050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1" name="Text 29"/>
          <p:cNvSpPr txBox="1"/>
          <p:nvPr/>
        </p:nvSpPr>
        <p:spPr>
          <a:xfrm>
            <a:off x="8156448" y="3977640"/>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 "&lt;?p"  →  it is PHP code</a:t>
            </a:r>
            <a:endParaRPr lang="en-US" sz="1100" dirty="0"/>
          </a:p>
        </p:txBody>
      </p:sp>
      <p:sp>
        <p:nvSpPr>
          <p:cNvPr id="32" name="Text 30"/>
          <p:cNvSpPr txBox="1"/>
          <p:nvPr/>
        </p:nvSpPr>
        <p:spPr>
          <a:xfrm>
            <a:off x="7699248" y="4581144"/>
            <a:ext cx="3621024" cy="685800"/>
          </a:xfrm>
          <a:prstGeom prst="rect">
            <a:avLst/>
          </a:prstGeom>
          <a:noFill/>
          <a:ln/>
        </p:spPr>
        <p:txBody>
          <a:bodyPr wrap="square" lIns="0" tIns="0" rIns="0" bIns="0" rtlCol="0" anchor="t"/>
          <a:lstStyle/>
          <a:p>
            <a:pPr indent="0" marL="0">
              <a:lnSpc>
                <a:spcPct val="100000"/>
              </a:lnSpc>
              <a:buNone/>
            </a:pPr>
            <a:r>
              <a:rPr lang="en-US" sz="1250" i="1" dirty="0">
                <a:solidFill>
                  <a:srgbClr val="9E1B2C"/>
                </a:solidFill>
                <a:latin typeface="Calibri" pitchFamily="34" charset="0"/>
                <a:ea typeface="Calibri" pitchFamily="34" charset="-122"/>
                <a:cs typeface="Calibri" pitchFamily="34" charset="-120"/>
              </a:rPr>
              <a:t>So we reject it, whatever the name says.</a:t>
            </a:r>
            <a:endParaRPr lang="en-US" sz="1250" dirty="0"/>
          </a:p>
        </p:txBody>
      </p:sp>
      <p:sp>
        <p:nvSpPr>
          <p:cNvPr id="33" name="Text 31"/>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LAYER 3</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Secure storage</a:t>
            </a:r>
            <a:endParaRPr lang="en-US" sz="3000" dirty="0"/>
          </a:p>
        </p:txBody>
      </p:sp>
      <p:sp>
        <p:nvSpPr>
          <p:cNvPr id="4" name="Shape 2"/>
          <p:cNvSpPr/>
          <p:nvPr/>
        </p:nvSpPr>
        <p:spPr>
          <a:xfrm>
            <a:off x="777240" y="1920240"/>
            <a:ext cx="502920" cy="502920"/>
          </a:xfrm>
          <a:prstGeom prst="ellipse">
            <a:avLst/>
          </a:prstGeom>
          <a:solidFill>
            <a:srgbClr val="2E7D53"/>
          </a:solidFill>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txBox="1"/>
          <p:nvPr/>
        </p:nvSpPr>
        <p:spPr>
          <a:xfrm>
            <a:off x="1490472" y="184708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Store files outside the web root</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If it can't be served as a page, it can't be run.</a:t>
            </a:r>
            <a:endParaRPr lang="en-US" sz="1450" dirty="0"/>
          </a:p>
        </p:txBody>
      </p:sp>
      <p:sp>
        <p:nvSpPr>
          <p:cNvPr id="7" name="Shape 5"/>
          <p:cNvSpPr/>
          <p:nvPr/>
        </p:nvSpPr>
        <p:spPr>
          <a:xfrm>
            <a:off x="777240" y="2971800"/>
            <a:ext cx="502920" cy="502920"/>
          </a:xfrm>
          <a:prstGeom prst="ellipse">
            <a:avLst/>
          </a:prstGeom>
          <a:solidFill>
            <a:srgbClr val="2E7D53"/>
          </a:solidFill>
          <a:ln/>
        </p:spPr>
      </p:sp>
      <p:sp>
        <p:nvSpPr>
          <p:cNvPr id="8" name="Text 6"/>
          <p:cNvSpPr txBox="1"/>
          <p:nvPr/>
        </p:nvSpPr>
        <p:spPr>
          <a:xfrm>
            <a:off x="777240" y="2971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490472" y="289864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Use random, generated filenames</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Attackers can't guess the URL to trigger it.</a:t>
            </a:r>
            <a:endParaRPr lang="en-US" sz="1450" dirty="0"/>
          </a:p>
        </p:txBody>
      </p:sp>
      <p:sp>
        <p:nvSpPr>
          <p:cNvPr id="10" name="Shape 8"/>
          <p:cNvSpPr/>
          <p:nvPr/>
        </p:nvSpPr>
        <p:spPr>
          <a:xfrm>
            <a:off x="777240" y="4023360"/>
            <a:ext cx="502920" cy="502920"/>
          </a:xfrm>
          <a:prstGeom prst="ellipse">
            <a:avLst/>
          </a:prstGeom>
          <a:solidFill>
            <a:srgbClr val="9E1B2C"/>
          </a:solidFill>
          <a:ln/>
        </p:spPr>
      </p:sp>
      <p:sp>
        <p:nvSpPr>
          <p:cNvPr id="11" name="Text 9"/>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490472" y="395020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No user-controlled file paths</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Blocks path-traversal like ../../ escaping out.</a:t>
            </a:r>
            <a:endParaRPr lang="en-US" sz="1450" dirty="0"/>
          </a:p>
        </p:txBody>
      </p:sp>
      <p:sp>
        <p:nvSpPr>
          <p:cNvPr id="13" name="Shape 11"/>
          <p:cNvSpPr/>
          <p:nvPr/>
        </p:nvSpPr>
        <p:spPr>
          <a:xfrm>
            <a:off x="777240" y="5074920"/>
            <a:ext cx="502920" cy="502920"/>
          </a:xfrm>
          <a:prstGeom prst="ellipse">
            <a:avLst/>
          </a:prstGeom>
          <a:solidFill>
            <a:srgbClr val="9E1B2C"/>
          </a:solidFill>
          <a:ln/>
        </p:spPr>
      </p:sp>
      <p:sp>
        <p:nvSpPr>
          <p:cNvPr id="14" name="Text 12"/>
          <p:cNvSpPr txBox="1"/>
          <p:nvPr/>
        </p:nvSpPr>
        <p:spPr>
          <a:xfrm>
            <a:off x="7772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490472" y="500176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Prefer a separate storage bucket</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Isolates uploads from the application server.</a:t>
            </a:r>
            <a:endParaRPr lang="en-US" sz="1450" dirty="0"/>
          </a:p>
        </p:txBody>
      </p:sp>
      <p:sp>
        <p:nvSpPr>
          <p:cNvPr id="16" name="Shape 14"/>
          <p:cNvSpPr/>
          <p:nvPr/>
        </p:nvSpPr>
        <p:spPr>
          <a:xfrm>
            <a:off x="7406640" y="1783080"/>
            <a:ext cx="4206240" cy="3575304"/>
          </a:xfrm>
          <a:prstGeom prst="roundRect">
            <a:avLst>
              <a:gd name="adj" fmla="val 2046"/>
            </a:avLst>
          </a:prstGeom>
          <a:solidFill>
            <a:srgbClr val="FBEDED"/>
          </a:solidFill>
          <a:ln w="12700">
            <a:solidFill>
              <a:srgbClr val="DDE3E8"/>
            </a:solidFill>
            <a:prstDash val="solid"/>
          </a:ln>
        </p:spPr>
      </p:sp>
      <p:sp>
        <p:nvSpPr>
          <p:cNvPr id="17" name="Text 15"/>
          <p:cNvSpPr txBox="1"/>
          <p:nvPr/>
        </p:nvSpPr>
        <p:spPr>
          <a:xfrm>
            <a:off x="7699248" y="2011680"/>
            <a:ext cx="3621024" cy="320040"/>
          </a:xfrm>
          <a:prstGeom prst="rect">
            <a:avLst/>
          </a:prstGeom>
          <a:noFill/>
          <a:ln/>
        </p:spPr>
        <p:txBody>
          <a:bodyPr wrap="square" lIns="0" tIns="0" rIns="0" bIns="0" rtlCol="0" anchor="ctr"/>
          <a:lstStyle/>
          <a:p>
            <a:pPr indent="0" marL="0">
              <a:buNone/>
            </a:pPr>
            <a:r>
              <a:rPr lang="en-US" sz="1300" b="1" dirty="0">
                <a:solidFill>
                  <a:srgbClr val="2B1A1D"/>
                </a:solidFill>
                <a:latin typeface="Calibri" pitchFamily="34" charset="0"/>
                <a:ea typeface="Calibri" pitchFamily="34" charset="-122"/>
                <a:cs typeface="Calibri" pitchFamily="34" charset="-120"/>
              </a:rPr>
              <a:t>Where the file lands</a:t>
            </a:r>
            <a:endParaRPr lang="en-US" sz="1300" dirty="0"/>
          </a:p>
        </p:txBody>
      </p:sp>
      <p:sp>
        <p:nvSpPr>
          <p:cNvPr id="18" name="Shape 16"/>
          <p:cNvSpPr/>
          <p:nvPr/>
        </p:nvSpPr>
        <p:spPr>
          <a:xfrm>
            <a:off x="7699248" y="2441448"/>
            <a:ext cx="3621024" cy="420624"/>
          </a:xfrm>
          <a:prstGeom prst="roundRect">
            <a:avLst>
              <a:gd name="adj" fmla="val 17391"/>
            </a:avLst>
          </a:prstGeom>
          <a:solidFill>
            <a:srgbClr val="FFFFFF"/>
          </a:solidFill>
          <a:ln w="12700">
            <a:solidFill>
              <a:srgbClr val="B23B3B"/>
            </a:solidFill>
            <a:prstDash val="solid"/>
          </a:ln>
        </p:spPr>
      </p:sp>
      <p:sp>
        <p:nvSpPr>
          <p:cNvPr id="19" name="Shape 17"/>
          <p:cNvSpPr/>
          <p:nvPr/>
        </p:nvSpPr>
        <p:spPr>
          <a:xfrm>
            <a:off x="7790688" y="2514600"/>
            <a:ext cx="274320" cy="274320"/>
          </a:xfrm>
          <a:prstGeom prst="ellipse">
            <a:avLst/>
          </a:prstGeom>
          <a:solidFill>
            <a:srgbClr val="B23B3B"/>
          </a:solidFill>
          <a:ln/>
        </p:spPr>
      </p:sp>
      <p:sp>
        <p:nvSpPr>
          <p:cNvPr id="20" name="Text 18"/>
          <p:cNvSpPr txBox="1"/>
          <p:nvPr/>
        </p:nvSpPr>
        <p:spPr>
          <a:xfrm>
            <a:off x="7790688" y="25146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1" name="Text 19"/>
          <p:cNvSpPr txBox="1"/>
          <p:nvPr/>
        </p:nvSpPr>
        <p:spPr>
          <a:xfrm>
            <a:off x="8156448" y="2441448"/>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/var/www/html/uploads/</a:t>
            </a:r>
            <a:endParaRPr lang="en-US" sz="1100" dirty="0"/>
          </a:p>
        </p:txBody>
      </p:sp>
      <p:sp>
        <p:nvSpPr>
          <p:cNvPr id="22" name="Shape 20"/>
          <p:cNvSpPr/>
          <p:nvPr/>
        </p:nvSpPr>
        <p:spPr>
          <a:xfrm>
            <a:off x="7699248" y="2953512"/>
            <a:ext cx="3621024" cy="420624"/>
          </a:xfrm>
          <a:prstGeom prst="roundRect">
            <a:avLst>
              <a:gd name="adj" fmla="val 17391"/>
            </a:avLst>
          </a:prstGeom>
          <a:solidFill>
            <a:srgbClr val="FFFFFF"/>
          </a:solidFill>
          <a:ln w="12700">
            <a:solidFill>
              <a:srgbClr val="6B5458"/>
            </a:solidFill>
            <a:prstDash val="solid"/>
          </a:ln>
        </p:spPr>
      </p:sp>
      <p:sp>
        <p:nvSpPr>
          <p:cNvPr id="23" name="Text 21"/>
          <p:cNvSpPr txBox="1"/>
          <p:nvPr/>
        </p:nvSpPr>
        <p:spPr>
          <a:xfrm>
            <a:off x="7818120" y="2953512"/>
            <a:ext cx="338328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reachable as a web page</a:t>
            </a:r>
            <a:endParaRPr lang="en-US" sz="1200" dirty="0"/>
          </a:p>
        </p:txBody>
      </p:sp>
      <p:sp>
        <p:nvSpPr>
          <p:cNvPr id="24" name="Shape 22"/>
          <p:cNvSpPr/>
          <p:nvPr/>
        </p:nvSpPr>
        <p:spPr>
          <a:xfrm>
            <a:off x="7699248" y="3465576"/>
            <a:ext cx="3621024" cy="420624"/>
          </a:xfrm>
          <a:prstGeom prst="roundRect">
            <a:avLst>
              <a:gd name="adj" fmla="val 17391"/>
            </a:avLst>
          </a:prstGeom>
          <a:solidFill>
            <a:srgbClr val="FFFFFF"/>
          </a:solidFill>
          <a:ln w="12700">
            <a:solidFill>
              <a:srgbClr val="2E7D53"/>
            </a:solidFill>
            <a:prstDash val="solid"/>
          </a:ln>
        </p:spPr>
      </p:sp>
      <p:sp>
        <p:nvSpPr>
          <p:cNvPr id="25" name="Shape 23"/>
          <p:cNvSpPr/>
          <p:nvPr/>
        </p:nvSpPr>
        <p:spPr>
          <a:xfrm>
            <a:off x="7790688" y="3538728"/>
            <a:ext cx="274320" cy="274320"/>
          </a:xfrm>
          <a:prstGeom prst="ellipse">
            <a:avLst/>
          </a:prstGeom>
          <a:solidFill>
            <a:srgbClr val="2E7D53"/>
          </a:solidFill>
          <a:ln/>
        </p:spPr>
      </p:sp>
      <p:sp>
        <p:nvSpPr>
          <p:cNvPr id="26" name="Text 24"/>
          <p:cNvSpPr txBox="1"/>
          <p:nvPr/>
        </p:nvSpPr>
        <p:spPr>
          <a:xfrm>
            <a:off x="7790688" y="35387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7" name="Text 25"/>
          <p:cNvSpPr txBox="1"/>
          <p:nvPr/>
        </p:nvSpPr>
        <p:spPr>
          <a:xfrm>
            <a:off x="8156448" y="3465576"/>
            <a:ext cx="3063240" cy="420624"/>
          </a:xfrm>
          <a:prstGeom prst="rect">
            <a:avLst/>
          </a:prstGeom>
          <a:noFill/>
          <a:ln/>
        </p:spPr>
        <p:txBody>
          <a:bodyPr wrap="square" lIns="0" tIns="0" rIns="0" bIns="0" rtlCol="0" anchor="ctr"/>
          <a:lstStyle/>
          <a:p>
            <a:pPr indent="0" marL="0">
              <a:buNone/>
            </a:pPr>
            <a:r>
              <a:rPr lang="en-US" sz="1100" dirty="0">
                <a:solidFill>
                  <a:srgbClr val="2B1A1D"/>
                </a:solidFill>
                <a:latin typeface="Courier New" pitchFamily="34" charset="0"/>
                <a:ea typeface="Courier New" pitchFamily="34" charset="-122"/>
                <a:cs typeface="Courier New" pitchFamily="34" charset="-120"/>
              </a:rPr>
              <a:t>/srv/uploads/ (outside)</a:t>
            </a:r>
            <a:endParaRPr lang="en-US" sz="1100" dirty="0"/>
          </a:p>
        </p:txBody>
      </p:sp>
      <p:sp>
        <p:nvSpPr>
          <p:cNvPr id="28" name="Shape 26"/>
          <p:cNvSpPr/>
          <p:nvPr/>
        </p:nvSpPr>
        <p:spPr>
          <a:xfrm>
            <a:off x="7699248" y="3977640"/>
            <a:ext cx="3621024" cy="420624"/>
          </a:xfrm>
          <a:prstGeom prst="roundRect">
            <a:avLst>
              <a:gd name="adj" fmla="val 17391"/>
            </a:avLst>
          </a:prstGeom>
          <a:solidFill>
            <a:srgbClr val="FFFFFF"/>
          </a:solidFill>
          <a:ln w="12700">
            <a:solidFill>
              <a:srgbClr val="6B5458"/>
            </a:solidFill>
            <a:prstDash val="solid"/>
          </a:ln>
        </p:spPr>
      </p:sp>
      <p:sp>
        <p:nvSpPr>
          <p:cNvPr id="29" name="Text 27"/>
          <p:cNvSpPr txBox="1"/>
          <p:nvPr/>
        </p:nvSpPr>
        <p:spPr>
          <a:xfrm>
            <a:off x="7818120" y="3977640"/>
            <a:ext cx="338328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served only through code</a:t>
            </a:r>
            <a:endParaRPr lang="en-US" sz="1200" dirty="0"/>
          </a:p>
        </p:txBody>
      </p:sp>
      <p:sp>
        <p:nvSpPr>
          <p:cNvPr id="30" name="Text 28"/>
          <p:cNvSpPr txBox="1"/>
          <p:nvPr/>
        </p:nvSpPr>
        <p:spPr>
          <a:xfrm>
            <a:off x="7699248" y="4581144"/>
            <a:ext cx="3621024" cy="685800"/>
          </a:xfrm>
          <a:prstGeom prst="rect">
            <a:avLst/>
          </a:prstGeom>
          <a:noFill/>
          <a:ln/>
        </p:spPr>
        <p:txBody>
          <a:bodyPr wrap="square" lIns="0" tIns="0" rIns="0" bIns="0" rtlCol="0" anchor="t"/>
          <a:lstStyle/>
          <a:p>
            <a:pPr indent="0" marL="0">
              <a:lnSpc>
                <a:spcPct val="100000"/>
              </a:lnSpc>
              <a:buNone/>
            </a:pPr>
            <a:r>
              <a:rPr lang="en-US" sz="1250" i="1" dirty="0">
                <a:solidFill>
                  <a:srgbClr val="9E1B2C"/>
                </a:solidFill>
                <a:latin typeface="Calibri" pitchFamily="34" charset="0"/>
                <a:ea typeface="Calibri" pitchFamily="34" charset="-122"/>
                <a:cs typeface="Calibri" pitchFamily="34" charset="-120"/>
              </a:rPr>
              <a:t>Saved as a random name like a7f3c9b2.jpg — never the user's.</a:t>
            </a:r>
            <a:endParaRPr lang="en-US" sz="1250" dirty="0"/>
          </a:p>
        </p:txBody>
      </p:sp>
      <p:sp>
        <p:nvSpPr>
          <p:cNvPr id="31" name="Text 29"/>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LAYER 4</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Prevent execution</a:t>
            </a:r>
            <a:endParaRPr lang="en-US" sz="3000" dirty="0"/>
          </a:p>
        </p:txBody>
      </p:sp>
      <p:sp>
        <p:nvSpPr>
          <p:cNvPr id="4" name="Shape 2"/>
          <p:cNvSpPr/>
          <p:nvPr/>
        </p:nvSpPr>
        <p:spPr>
          <a:xfrm>
            <a:off x="777240" y="1920240"/>
            <a:ext cx="502920" cy="502920"/>
          </a:xfrm>
          <a:prstGeom prst="ellipse">
            <a:avLst/>
          </a:prstGeom>
          <a:solidFill>
            <a:srgbClr val="2E7D53"/>
          </a:solidFill>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txBox="1"/>
          <p:nvPr/>
        </p:nvSpPr>
        <p:spPr>
          <a:xfrm>
            <a:off x="1490472" y="184708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Remove execute permission on the folder</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The OS simply refuses to run anything there.</a:t>
            </a:r>
            <a:endParaRPr lang="en-US" sz="1450" dirty="0"/>
          </a:p>
        </p:txBody>
      </p:sp>
      <p:sp>
        <p:nvSpPr>
          <p:cNvPr id="7" name="Shape 5"/>
          <p:cNvSpPr/>
          <p:nvPr/>
        </p:nvSpPr>
        <p:spPr>
          <a:xfrm>
            <a:off x="777240" y="2971800"/>
            <a:ext cx="502920" cy="502920"/>
          </a:xfrm>
          <a:prstGeom prst="ellipse">
            <a:avLst/>
          </a:prstGeom>
          <a:solidFill>
            <a:srgbClr val="2E7D53"/>
          </a:solidFill>
          <a:ln/>
        </p:spPr>
      </p:sp>
      <p:sp>
        <p:nvSpPr>
          <p:cNvPr id="8" name="Text 6"/>
          <p:cNvSpPr txBox="1"/>
          <p:nvPr/>
        </p:nvSpPr>
        <p:spPr>
          <a:xfrm>
            <a:off x="777240" y="2971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490472" y="289864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Disable script engines in that directory</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Turn off PHP/CGI handling for the uploads path.</a:t>
            </a:r>
            <a:endParaRPr lang="en-US" sz="1450" dirty="0"/>
          </a:p>
        </p:txBody>
      </p:sp>
      <p:sp>
        <p:nvSpPr>
          <p:cNvPr id="10" name="Shape 8"/>
          <p:cNvSpPr/>
          <p:nvPr/>
        </p:nvSpPr>
        <p:spPr>
          <a:xfrm>
            <a:off x="777240" y="4023360"/>
            <a:ext cx="502920" cy="502920"/>
          </a:xfrm>
          <a:prstGeom prst="ellipse">
            <a:avLst/>
          </a:prstGeom>
          <a:solidFill>
            <a:srgbClr val="9E1B2C"/>
          </a:solidFill>
          <a:ln/>
        </p:spPr>
      </p:sp>
      <p:sp>
        <p:nvSpPr>
          <p:cNvPr id="11" name="Text 9"/>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490472" y="395020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Serve files as downloads, not pages</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Content-Disposition: attachment → browser saves it.</a:t>
            </a:r>
            <a:endParaRPr lang="en-US" sz="1450" dirty="0"/>
          </a:p>
        </p:txBody>
      </p:sp>
      <p:sp>
        <p:nvSpPr>
          <p:cNvPr id="13" name="Shape 11"/>
          <p:cNvSpPr/>
          <p:nvPr/>
        </p:nvSpPr>
        <p:spPr>
          <a:xfrm>
            <a:off x="777240" y="5074920"/>
            <a:ext cx="502920" cy="502920"/>
          </a:xfrm>
          <a:prstGeom prst="ellipse">
            <a:avLst/>
          </a:prstGeom>
          <a:solidFill>
            <a:srgbClr val="9E1B2C"/>
          </a:solidFill>
          <a:ln/>
        </p:spPr>
      </p:sp>
      <p:sp>
        <p:nvSpPr>
          <p:cNvPr id="14" name="Text 12"/>
          <p:cNvSpPr txBox="1"/>
          <p:nvPr/>
        </p:nvSpPr>
        <p:spPr>
          <a:xfrm>
            <a:off x="7772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490472" y="5001768"/>
            <a:ext cx="5577840" cy="960120"/>
          </a:xfrm>
          <a:prstGeom prst="rect">
            <a:avLst/>
          </a:prstGeom>
          <a:noFill/>
          <a:ln/>
        </p:spPr>
        <p:txBody>
          <a:bodyPr wrap="square" lIns="0" tIns="0" rIns="0" bIns="0" rtlCol="0" anchor="ctr"/>
          <a:lstStyle/>
          <a:p>
            <a:pPr indent="0" marL="0">
              <a:lnSpc>
                <a:spcPct val="95000"/>
              </a:lnSpc>
              <a:buNone/>
            </a:pPr>
            <a:r>
              <a:rPr lang="en-US" sz="1450" b="1" dirty="0">
                <a:solidFill>
                  <a:srgbClr val="2B1A1D"/>
                </a:solidFill>
                <a:latin typeface="Calibri" pitchFamily="34" charset="0"/>
                <a:ea typeface="Calibri" pitchFamily="34" charset="-122"/>
                <a:cs typeface="Calibri" pitchFamily="34" charset="-120"/>
              </a:rPr>
              <a:t>Serve from a separate, no-code domain</a:t>
            </a:r>
            <a:endParaRPr lang="en-US" sz="1450" dirty="0"/>
          </a:p>
          <a:p>
            <a:pPr indent="0" marL="0">
              <a:lnSpc>
                <a:spcPct val="95000"/>
              </a:lnSpc>
              <a:buNone/>
            </a:pPr>
            <a:r>
              <a:rPr lang="en-US" sz="1250" dirty="0">
                <a:solidFill>
                  <a:srgbClr val="6B5458"/>
                </a:solidFill>
                <a:latin typeface="Calibri" pitchFamily="34" charset="0"/>
                <a:ea typeface="Calibri" pitchFamily="34" charset="-122"/>
                <a:cs typeface="Calibri" pitchFamily="34" charset="-120"/>
              </a:rPr>
              <a:t>A static domain can't run server-side code at all.</a:t>
            </a:r>
            <a:endParaRPr lang="en-US" sz="1450" dirty="0"/>
          </a:p>
        </p:txBody>
      </p:sp>
      <p:sp>
        <p:nvSpPr>
          <p:cNvPr id="16" name="Shape 14"/>
          <p:cNvSpPr/>
          <p:nvPr/>
        </p:nvSpPr>
        <p:spPr>
          <a:xfrm>
            <a:off x="7406640" y="1783080"/>
            <a:ext cx="4206240" cy="3575304"/>
          </a:xfrm>
          <a:prstGeom prst="roundRect">
            <a:avLst>
              <a:gd name="adj" fmla="val 2046"/>
            </a:avLst>
          </a:prstGeom>
          <a:solidFill>
            <a:srgbClr val="FBEDED"/>
          </a:solidFill>
          <a:ln w="12700">
            <a:solidFill>
              <a:srgbClr val="DDE3E8"/>
            </a:solidFill>
            <a:prstDash val="solid"/>
          </a:ln>
        </p:spPr>
      </p:sp>
      <p:sp>
        <p:nvSpPr>
          <p:cNvPr id="17" name="Text 15"/>
          <p:cNvSpPr txBox="1"/>
          <p:nvPr/>
        </p:nvSpPr>
        <p:spPr>
          <a:xfrm>
            <a:off x="7699248" y="2011680"/>
            <a:ext cx="3621024" cy="320040"/>
          </a:xfrm>
          <a:prstGeom prst="rect">
            <a:avLst/>
          </a:prstGeom>
          <a:noFill/>
          <a:ln/>
        </p:spPr>
        <p:txBody>
          <a:bodyPr wrap="square" lIns="0" tIns="0" rIns="0" bIns="0" rtlCol="0" anchor="ctr"/>
          <a:lstStyle/>
          <a:p>
            <a:pPr indent="0" marL="0">
              <a:buNone/>
            </a:pPr>
            <a:r>
              <a:rPr lang="en-US" sz="1300" b="1" dirty="0">
                <a:solidFill>
                  <a:srgbClr val="2B1A1D"/>
                </a:solidFill>
                <a:latin typeface="Calibri" pitchFamily="34" charset="0"/>
                <a:ea typeface="Calibri" pitchFamily="34" charset="-122"/>
                <a:cs typeface="Calibri" pitchFamily="34" charset="-120"/>
              </a:rPr>
              <a:t>The last line of defense</a:t>
            </a:r>
            <a:endParaRPr lang="en-US" sz="1300" dirty="0"/>
          </a:p>
        </p:txBody>
      </p:sp>
      <p:sp>
        <p:nvSpPr>
          <p:cNvPr id="18" name="Shape 16"/>
          <p:cNvSpPr/>
          <p:nvPr/>
        </p:nvSpPr>
        <p:spPr>
          <a:xfrm>
            <a:off x="7699248" y="2441448"/>
            <a:ext cx="3621024" cy="420624"/>
          </a:xfrm>
          <a:prstGeom prst="roundRect">
            <a:avLst>
              <a:gd name="adj" fmla="val 17391"/>
            </a:avLst>
          </a:prstGeom>
          <a:solidFill>
            <a:srgbClr val="FFFFFF"/>
          </a:solidFill>
          <a:ln w="12700">
            <a:solidFill>
              <a:srgbClr val="6B5458"/>
            </a:solidFill>
            <a:prstDash val="solid"/>
          </a:ln>
        </p:spPr>
      </p:sp>
      <p:sp>
        <p:nvSpPr>
          <p:cNvPr id="19" name="Text 17"/>
          <p:cNvSpPr txBox="1"/>
          <p:nvPr/>
        </p:nvSpPr>
        <p:spPr>
          <a:xfrm>
            <a:off x="7818120" y="2441448"/>
            <a:ext cx="338328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Attacker opens shell.php</a:t>
            </a:r>
            <a:endParaRPr lang="en-US" sz="1200" dirty="0"/>
          </a:p>
        </p:txBody>
      </p:sp>
      <p:sp>
        <p:nvSpPr>
          <p:cNvPr id="20" name="Shape 18"/>
          <p:cNvSpPr/>
          <p:nvPr/>
        </p:nvSpPr>
        <p:spPr>
          <a:xfrm>
            <a:off x="7699248" y="2953512"/>
            <a:ext cx="3621024" cy="420624"/>
          </a:xfrm>
          <a:prstGeom prst="roundRect">
            <a:avLst>
              <a:gd name="adj" fmla="val 17391"/>
            </a:avLst>
          </a:prstGeom>
          <a:solidFill>
            <a:srgbClr val="FFFFFF"/>
          </a:solidFill>
          <a:ln w="12700">
            <a:solidFill>
              <a:srgbClr val="2E7D53"/>
            </a:solidFill>
            <a:prstDash val="solid"/>
          </a:ln>
        </p:spPr>
      </p:sp>
      <p:sp>
        <p:nvSpPr>
          <p:cNvPr id="21" name="Shape 19"/>
          <p:cNvSpPr/>
          <p:nvPr/>
        </p:nvSpPr>
        <p:spPr>
          <a:xfrm>
            <a:off x="7790688" y="3026664"/>
            <a:ext cx="274320" cy="274320"/>
          </a:xfrm>
          <a:prstGeom prst="ellipse">
            <a:avLst/>
          </a:prstGeom>
          <a:solidFill>
            <a:srgbClr val="2E7D53"/>
          </a:solidFill>
          <a:ln/>
        </p:spPr>
      </p:sp>
      <p:sp>
        <p:nvSpPr>
          <p:cNvPr id="22" name="Text 20"/>
          <p:cNvSpPr txBox="1"/>
          <p:nvPr/>
        </p:nvSpPr>
        <p:spPr>
          <a:xfrm>
            <a:off x="7790688" y="3026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3" name="Text 21"/>
          <p:cNvSpPr txBox="1"/>
          <p:nvPr/>
        </p:nvSpPr>
        <p:spPr>
          <a:xfrm>
            <a:off x="8156448" y="2953512"/>
            <a:ext cx="306324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Server will not execute it</a:t>
            </a:r>
            <a:endParaRPr lang="en-US" sz="1200" dirty="0"/>
          </a:p>
        </p:txBody>
      </p:sp>
      <p:sp>
        <p:nvSpPr>
          <p:cNvPr id="24" name="Shape 22"/>
          <p:cNvSpPr/>
          <p:nvPr/>
        </p:nvSpPr>
        <p:spPr>
          <a:xfrm>
            <a:off x="7699248" y="3465576"/>
            <a:ext cx="3621024" cy="420624"/>
          </a:xfrm>
          <a:prstGeom prst="roundRect">
            <a:avLst>
              <a:gd name="adj" fmla="val 17391"/>
            </a:avLst>
          </a:prstGeom>
          <a:solidFill>
            <a:srgbClr val="FFFFFF"/>
          </a:solidFill>
          <a:ln w="12700">
            <a:solidFill>
              <a:srgbClr val="2E7D53"/>
            </a:solidFill>
            <a:prstDash val="solid"/>
          </a:ln>
        </p:spPr>
      </p:sp>
      <p:sp>
        <p:nvSpPr>
          <p:cNvPr id="25" name="Shape 23"/>
          <p:cNvSpPr/>
          <p:nvPr/>
        </p:nvSpPr>
        <p:spPr>
          <a:xfrm>
            <a:off x="7790688" y="3538728"/>
            <a:ext cx="274320" cy="274320"/>
          </a:xfrm>
          <a:prstGeom prst="ellipse">
            <a:avLst/>
          </a:prstGeom>
          <a:solidFill>
            <a:srgbClr val="2E7D53"/>
          </a:solidFill>
          <a:ln/>
        </p:spPr>
      </p:sp>
      <p:sp>
        <p:nvSpPr>
          <p:cNvPr id="26" name="Text 24"/>
          <p:cNvSpPr txBox="1"/>
          <p:nvPr/>
        </p:nvSpPr>
        <p:spPr>
          <a:xfrm>
            <a:off x="7790688" y="35387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7" name="Text 25"/>
          <p:cNvSpPr txBox="1"/>
          <p:nvPr/>
        </p:nvSpPr>
        <p:spPr>
          <a:xfrm>
            <a:off x="8156448" y="3465576"/>
            <a:ext cx="306324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Browser downloads the text</a:t>
            </a:r>
            <a:endParaRPr lang="en-US" sz="1200" dirty="0"/>
          </a:p>
        </p:txBody>
      </p:sp>
      <p:sp>
        <p:nvSpPr>
          <p:cNvPr id="28" name="Shape 26"/>
          <p:cNvSpPr/>
          <p:nvPr/>
        </p:nvSpPr>
        <p:spPr>
          <a:xfrm>
            <a:off x="7699248" y="3977640"/>
            <a:ext cx="3621024" cy="420624"/>
          </a:xfrm>
          <a:prstGeom prst="roundRect">
            <a:avLst>
              <a:gd name="adj" fmla="val 17391"/>
            </a:avLst>
          </a:prstGeom>
          <a:solidFill>
            <a:srgbClr val="FFFFFF"/>
          </a:solidFill>
          <a:ln w="12700">
            <a:solidFill>
              <a:srgbClr val="2E7D53"/>
            </a:solidFill>
            <a:prstDash val="solid"/>
          </a:ln>
        </p:spPr>
      </p:sp>
      <p:sp>
        <p:nvSpPr>
          <p:cNvPr id="29" name="Shape 27"/>
          <p:cNvSpPr/>
          <p:nvPr/>
        </p:nvSpPr>
        <p:spPr>
          <a:xfrm>
            <a:off x="7790688" y="4050792"/>
            <a:ext cx="274320" cy="274320"/>
          </a:xfrm>
          <a:prstGeom prst="ellipse">
            <a:avLst/>
          </a:prstGeom>
          <a:solidFill>
            <a:srgbClr val="2E7D53"/>
          </a:solidFill>
          <a:ln/>
        </p:spPr>
      </p:sp>
      <p:sp>
        <p:nvSpPr>
          <p:cNvPr id="30" name="Text 28"/>
          <p:cNvSpPr txBox="1"/>
          <p:nvPr/>
        </p:nvSpPr>
        <p:spPr>
          <a:xfrm>
            <a:off x="7790688" y="4050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1" name="Text 29"/>
          <p:cNvSpPr txBox="1"/>
          <p:nvPr/>
        </p:nvSpPr>
        <p:spPr>
          <a:xfrm>
            <a:off x="8156448" y="3977640"/>
            <a:ext cx="3063240" cy="420624"/>
          </a:xfrm>
          <a:prstGeom prst="rect">
            <a:avLst/>
          </a:prstGeom>
          <a:noFill/>
          <a:ln/>
        </p:spPr>
        <p:txBody>
          <a:bodyPr wrap="square" lIns="0" tIns="0" rIns="0" bIns="0" rtlCol="0" anchor="ctr"/>
          <a:lstStyle/>
          <a:p>
            <a:pPr indent="0" marL="0">
              <a:buNone/>
            </a:pPr>
            <a:r>
              <a:rPr lang="en-US" sz="1200" dirty="0">
                <a:solidFill>
                  <a:srgbClr val="2B1A1D"/>
                </a:solidFill>
                <a:latin typeface="Calibri" pitchFamily="34" charset="0"/>
                <a:ea typeface="Calibri" pitchFamily="34" charset="-122"/>
                <a:cs typeface="Calibri" pitchFamily="34" charset="-120"/>
              </a:rPr>
              <a:t>Attack fails</a:t>
            </a:r>
            <a:endParaRPr lang="en-US" sz="1200" dirty="0"/>
          </a:p>
        </p:txBody>
      </p:sp>
      <p:sp>
        <p:nvSpPr>
          <p:cNvPr id="32" name="Text 30"/>
          <p:cNvSpPr txBox="1"/>
          <p:nvPr/>
        </p:nvSpPr>
        <p:spPr>
          <a:xfrm>
            <a:off x="7699248" y="4581144"/>
            <a:ext cx="3621024" cy="685800"/>
          </a:xfrm>
          <a:prstGeom prst="rect">
            <a:avLst/>
          </a:prstGeom>
          <a:noFill/>
          <a:ln/>
        </p:spPr>
        <p:txBody>
          <a:bodyPr wrap="square" lIns="0" tIns="0" rIns="0" bIns="0" rtlCol="0" anchor="t"/>
          <a:lstStyle/>
          <a:p>
            <a:pPr indent="0" marL="0">
              <a:lnSpc>
                <a:spcPct val="100000"/>
              </a:lnSpc>
              <a:buNone/>
            </a:pPr>
            <a:r>
              <a:rPr lang="en-US" sz="1250" i="1" dirty="0">
                <a:solidFill>
                  <a:srgbClr val="2E7D53"/>
                </a:solidFill>
                <a:latin typeface="Calibri" pitchFamily="34" charset="0"/>
                <a:ea typeface="Calibri" pitchFamily="34" charset="-122"/>
                <a:cs typeface="Calibri" pitchFamily="34" charset="-120"/>
              </a:rPr>
              <a:t>Even a bad file that slips through does nothing.</a:t>
            </a:r>
            <a:endParaRPr lang="en-US" sz="1250" dirty="0"/>
          </a:p>
        </p:txBody>
      </p:sp>
      <p:sp>
        <p:nvSpPr>
          <p:cNvPr id="33" name="Text 31"/>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9E1B2C"/>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B1A1D"/>
                </a:solidFill>
                <a:latin typeface="Cambria" pitchFamily="34" charset="0"/>
                <a:ea typeface="Cambria" pitchFamily="34" charset="-122"/>
                <a:cs typeface="Cambria" pitchFamily="34" charset="-120"/>
              </a:rPr>
              <a:t>Secure upload checklist</a:t>
            </a:r>
            <a:endParaRPr lang="en-US" sz="3000" dirty="0"/>
          </a:p>
        </p:txBody>
      </p:sp>
      <p:sp>
        <p:nvSpPr>
          <p:cNvPr id="4" name="Shape 2"/>
          <p:cNvSpPr/>
          <p:nvPr/>
        </p:nvSpPr>
        <p:spPr>
          <a:xfrm>
            <a:off x="548640" y="1737360"/>
            <a:ext cx="5440680" cy="4206240"/>
          </a:xfrm>
          <a:prstGeom prst="roundRect">
            <a:avLst>
              <a:gd name="adj" fmla="val 1739"/>
            </a:avLst>
          </a:prstGeom>
          <a:solidFill>
            <a:srgbClr val="FFFFFF"/>
          </a:solidFill>
          <a:ln w="15875">
            <a:solidFill>
              <a:srgbClr val="2E7D53"/>
            </a:solidFill>
            <a:prstDash val="solid"/>
          </a:ln>
        </p:spPr>
      </p:sp>
      <p:sp>
        <p:nvSpPr>
          <p:cNvPr id="5" name="Text 3"/>
          <p:cNvSpPr txBox="1"/>
          <p:nvPr/>
        </p:nvSpPr>
        <p:spPr>
          <a:xfrm>
            <a:off x="822960" y="1920240"/>
            <a:ext cx="4572000" cy="457200"/>
          </a:xfrm>
          <a:prstGeom prst="rect">
            <a:avLst/>
          </a:prstGeom>
          <a:noFill/>
          <a:ln/>
        </p:spPr>
        <p:txBody>
          <a:bodyPr wrap="square" lIns="0" tIns="0" rIns="0" bIns="0" rtlCol="0" anchor="ctr"/>
          <a:lstStyle/>
          <a:p>
            <a:pPr indent="0" marL="0">
              <a:buNone/>
            </a:pPr>
            <a:r>
              <a:rPr lang="en-US" sz="2000" b="1" dirty="0">
                <a:solidFill>
                  <a:srgbClr val="2E7D53"/>
                </a:solidFill>
                <a:latin typeface="Cambria" pitchFamily="34" charset="0"/>
                <a:ea typeface="Cambria" pitchFamily="34" charset="-122"/>
                <a:cs typeface="Cambria" pitchFamily="34" charset="-120"/>
              </a:rPr>
              <a:t>DO</a:t>
            </a:r>
            <a:endParaRPr lang="en-US" sz="2000" dirty="0"/>
          </a:p>
        </p:txBody>
      </p:sp>
      <p:sp>
        <p:nvSpPr>
          <p:cNvPr id="6" name="Shape 4"/>
          <p:cNvSpPr/>
          <p:nvPr/>
        </p:nvSpPr>
        <p:spPr>
          <a:xfrm>
            <a:off x="822960" y="2514600"/>
            <a:ext cx="384048" cy="384048"/>
          </a:xfrm>
          <a:prstGeom prst="ellipse">
            <a:avLst/>
          </a:prstGeom>
          <a:solidFill>
            <a:srgbClr val="2E7D53"/>
          </a:solidFill>
          <a:ln/>
        </p:spPr>
      </p:sp>
      <p:sp>
        <p:nvSpPr>
          <p:cNvPr id="7" name="Text 5"/>
          <p:cNvSpPr txBox="1"/>
          <p:nvPr/>
        </p:nvSpPr>
        <p:spPr>
          <a:xfrm>
            <a:off x="822960" y="25146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8" name="Text 6"/>
          <p:cNvSpPr txBox="1"/>
          <p:nvPr/>
        </p:nvSpPr>
        <p:spPr>
          <a:xfrm>
            <a:off x="1325880" y="2487168"/>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Allowlist of file types</a:t>
            </a:r>
            <a:endParaRPr lang="en-US" sz="1350" dirty="0"/>
          </a:p>
        </p:txBody>
      </p:sp>
      <p:sp>
        <p:nvSpPr>
          <p:cNvPr id="9" name="Shape 7"/>
          <p:cNvSpPr/>
          <p:nvPr/>
        </p:nvSpPr>
        <p:spPr>
          <a:xfrm>
            <a:off x="822960" y="3172968"/>
            <a:ext cx="384048" cy="384048"/>
          </a:xfrm>
          <a:prstGeom prst="ellipse">
            <a:avLst/>
          </a:prstGeom>
          <a:solidFill>
            <a:srgbClr val="2E7D53"/>
          </a:solidFill>
          <a:ln/>
        </p:spPr>
      </p:sp>
      <p:sp>
        <p:nvSpPr>
          <p:cNvPr id="10" name="Text 8"/>
          <p:cNvSpPr txBox="1"/>
          <p:nvPr/>
        </p:nvSpPr>
        <p:spPr>
          <a:xfrm>
            <a:off x="822960" y="31729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1" name="Text 9"/>
          <p:cNvSpPr txBox="1"/>
          <p:nvPr/>
        </p:nvSpPr>
        <p:spPr>
          <a:xfrm>
            <a:off x="1325880" y="3145536"/>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Verify magic bytes + re-encode images</a:t>
            </a:r>
            <a:endParaRPr lang="en-US" sz="1350" dirty="0"/>
          </a:p>
        </p:txBody>
      </p:sp>
      <p:sp>
        <p:nvSpPr>
          <p:cNvPr id="12" name="Shape 10"/>
          <p:cNvSpPr/>
          <p:nvPr/>
        </p:nvSpPr>
        <p:spPr>
          <a:xfrm>
            <a:off x="822960" y="3831336"/>
            <a:ext cx="384048" cy="384048"/>
          </a:xfrm>
          <a:prstGeom prst="ellipse">
            <a:avLst/>
          </a:prstGeom>
          <a:solidFill>
            <a:srgbClr val="2E7D53"/>
          </a:solidFill>
          <a:ln/>
        </p:spPr>
      </p:sp>
      <p:sp>
        <p:nvSpPr>
          <p:cNvPr id="13" name="Text 11"/>
          <p:cNvSpPr txBox="1"/>
          <p:nvPr/>
        </p:nvSpPr>
        <p:spPr>
          <a:xfrm>
            <a:off x="82296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4" name="Text 12"/>
          <p:cNvSpPr txBox="1"/>
          <p:nvPr/>
        </p:nvSpPr>
        <p:spPr>
          <a:xfrm>
            <a:off x="1325880" y="3803904"/>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Store outside web root, random names</a:t>
            </a:r>
            <a:endParaRPr lang="en-US" sz="1350" dirty="0"/>
          </a:p>
        </p:txBody>
      </p:sp>
      <p:sp>
        <p:nvSpPr>
          <p:cNvPr id="15" name="Shape 13"/>
          <p:cNvSpPr/>
          <p:nvPr/>
        </p:nvSpPr>
        <p:spPr>
          <a:xfrm>
            <a:off x="822960" y="4489704"/>
            <a:ext cx="384048" cy="384048"/>
          </a:xfrm>
          <a:prstGeom prst="ellipse">
            <a:avLst/>
          </a:prstGeom>
          <a:solidFill>
            <a:srgbClr val="2E7D53"/>
          </a:solidFill>
          <a:ln/>
        </p:spPr>
      </p:sp>
      <p:sp>
        <p:nvSpPr>
          <p:cNvPr id="16" name="Text 14"/>
          <p:cNvSpPr txBox="1"/>
          <p:nvPr/>
        </p:nvSpPr>
        <p:spPr>
          <a:xfrm>
            <a:off x="822960" y="44897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7" name="Text 15"/>
          <p:cNvSpPr txBox="1"/>
          <p:nvPr/>
        </p:nvSpPr>
        <p:spPr>
          <a:xfrm>
            <a:off x="1325880" y="4462272"/>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Block execution in upload folder</a:t>
            </a:r>
            <a:endParaRPr lang="en-US" sz="1350" dirty="0"/>
          </a:p>
        </p:txBody>
      </p:sp>
      <p:sp>
        <p:nvSpPr>
          <p:cNvPr id="18" name="Shape 16"/>
          <p:cNvSpPr/>
          <p:nvPr/>
        </p:nvSpPr>
        <p:spPr>
          <a:xfrm>
            <a:off x="822960" y="5148072"/>
            <a:ext cx="384048" cy="384048"/>
          </a:xfrm>
          <a:prstGeom prst="ellipse">
            <a:avLst/>
          </a:prstGeom>
          <a:solidFill>
            <a:srgbClr val="2E7D53"/>
          </a:solidFill>
          <a:ln/>
        </p:spPr>
      </p:sp>
      <p:sp>
        <p:nvSpPr>
          <p:cNvPr id="19" name="Text 17"/>
          <p:cNvSpPr txBox="1"/>
          <p:nvPr/>
        </p:nvSpPr>
        <p:spPr>
          <a:xfrm>
            <a:off x="822960" y="51480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0" name="Text 18"/>
          <p:cNvSpPr txBox="1"/>
          <p:nvPr/>
        </p:nvSpPr>
        <p:spPr>
          <a:xfrm>
            <a:off x="1325880" y="5120640"/>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Enforce size limits &amp; scan files</a:t>
            </a:r>
            <a:endParaRPr lang="en-US" sz="1350" dirty="0"/>
          </a:p>
        </p:txBody>
      </p:sp>
      <p:sp>
        <p:nvSpPr>
          <p:cNvPr id="21" name="Shape 19"/>
          <p:cNvSpPr/>
          <p:nvPr/>
        </p:nvSpPr>
        <p:spPr>
          <a:xfrm>
            <a:off x="6172200" y="1737360"/>
            <a:ext cx="5440680" cy="4206240"/>
          </a:xfrm>
          <a:prstGeom prst="roundRect">
            <a:avLst>
              <a:gd name="adj" fmla="val 1739"/>
            </a:avLst>
          </a:prstGeom>
          <a:solidFill>
            <a:srgbClr val="FFFFFF"/>
          </a:solidFill>
          <a:ln w="15875">
            <a:solidFill>
              <a:srgbClr val="9E1B2C"/>
            </a:solidFill>
            <a:prstDash val="solid"/>
          </a:ln>
        </p:spPr>
      </p:sp>
      <p:sp>
        <p:nvSpPr>
          <p:cNvPr id="22" name="Text 20"/>
          <p:cNvSpPr txBox="1"/>
          <p:nvPr/>
        </p:nvSpPr>
        <p:spPr>
          <a:xfrm>
            <a:off x="6446520" y="1920240"/>
            <a:ext cx="4572000" cy="457200"/>
          </a:xfrm>
          <a:prstGeom prst="rect">
            <a:avLst/>
          </a:prstGeom>
          <a:noFill/>
          <a:ln/>
        </p:spPr>
        <p:txBody>
          <a:bodyPr wrap="square" lIns="0" tIns="0" rIns="0" bIns="0" rtlCol="0" anchor="ctr"/>
          <a:lstStyle/>
          <a:p>
            <a:pPr indent="0" marL="0">
              <a:buNone/>
            </a:pPr>
            <a:r>
              <a:rPr lang="en-US" sz="2000" b="1" dirty="0">
                <a:solidFill>
                  <a:srgbClr val="9E1B2C"/>
                </a:solidFill>
                <a:latin typeface="Cambria" pitchFamily="34" charset="0"/>
                <a:ea typeface="Cambria" pitchFamily="34" charset="-122"/>
                <a:cs typeface="Cambria" pitchFamily="34" charset="-120"/>
              </a:rPr>
              <a:t>DON'T</a:t>
            </a:r>
            <a:endParaRPr lang="en-US" sz="2000" dirty="0"/>
          </a:p>
        </p:txBody>
      </p:sp>
      <p:sp>
        <p:nvSpPr>
          <p:cNvPr id="23" name="Shape 21"/>
          <p:cNvSpPr/>
          <p:nvPr/>
        </p:nvSpPr>
        <p:spPr>
          <a:xfrm>
            <a:off x="6446520" y="2514600"/>
            <a:ext cx="384048" cy="384048"/>
          </a:xfrm>
          <a:prstGeom prst="ellipse">
            <a:avLst/>
          </a:prstGeom>
          <a:solidFill>
            <a:srgbClr val="9E1B2C"/>
          </a:solidFill>
          <a:ln/>
        </p:spPr>
      </p:sp>
      <p:sp>
        <p:nvSpPr>
          <p:cNvPr id="24" name="Text 22"/>
          <p:cNvSpPr txBox="1"/>
          <p:nvPr/>
        </p:nvSpPr>
        <p:spPr>
          <a:xfrm>
            <a:off x="6446520" y="25146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5" name="Text 23"/>
          <p:cNvSpPr txBox="1"/>
          <p:nvPr/>
        </p:nvSpPr>
        <p:spPr>
          <a:xfrm>
            <a:off x="6949440" y="2487168"/>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Trust the file extension alone</a:t>
            </a:r>
            <a:endParaRPr lang="en-US" sz="1350" dirty="0"/>
          </a:p>
        </p:txBody>
      </p:sp>
      <p:sp>
        <p:nvSpPr>
          <p:cNvPr id="26" name="Shape 24"/>
          <p:cNvSpPr/>
          <p:nvPr/>
        </p:nvSpPr>
        <p:spPr>
          <a:xfrm>
            <a:off x="6446520" y="3172968"/>
            <a:ext cx="384048" cy="384048"/>
          </a:xfrm>
          <a:prstGeom prst="ellipse">
            <a:avLst/>
          </a:prstGeom>
          <a:solidFill>
            <a:srgbClr val="9E1B2C"/>
          </a:solidFill>
          <a:ln/>
        </p:spPr>
      </p:sp>
      <p:sp>
        <p:nvSpPr>
          <p:cNvPr id="27" name="Text 25"/>
          <p:cNvSpPr txBox="1"/>
          <p:nvPr/>
        </p:nvSpPr>
        <p:spPr>
          <a:xfrm>
            <a:off x="6446520" y="31729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8" name="Text 26"/>
          <p:cNvSpPr txBox="1"/>
          <p:nvPr/>
        </p:nvSpPr>
        <p:spPr>
          <a:xfrm>
            <a:off x="6949440" y="3145536"/>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Trust the user's filename</a:t>
            </a:r>
            <a:endParaRPr lang="en-US" sz="1350" dirty="0"/>
          </a:p>
        </p:txBody>
      </p:sp>
      <p:sp>
        <p:nvSpPr>
          <p:cNvPr id="29" name="Shape 27"/>
          <p:cNvSpPr/>
          <p:nvPr/>
        </p:nvSpPr>
        <p:spPr>
          <a:xfrm>
            <a:off x="6446520" y="3831336"/>
            <a:ext cx="384048" cy="384048"/>
          </a:xfrm>
          <a:prstGeom prst="ellipse">
            <a:avLst/>
          </a:prstGeom>
          <a:solidFill>
            <a:srgbClr val="9E1B2C"/>
          </a:solidFill>
          <a:ln/>
        </p:spPr>
      </p:sp>
      <p:sp>
        <p:nvSpPr>
          <p:cNvPr id="30" name="Text 28"/>
          <p:cNvSpPr txBox="1"/>
          <p:nvPr/>
        </p:nvSpPr>
        <p:spPr>
          <a:xfrm>
            <a:off x="644652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1" name="Text 29"/>
          <p:cNvSpPr txBox="1"/>
          <p:nvPr/>
        </p:nvSpPr>
        <p:spPr>
          <a:xfrm>
            <a:off x="6949440" y="3803904"/>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Save files inside the web root</a:t>
            </a:r>
            <a:endParaRPr lang="en-US" sz="1350" dirty="0"/>
          </a:p>
        </p:txBody>
      </p:sp>
      <p:sp>
        <p:nvSpPr>
          <p:cNvPr id="32" name="Shape 30"/>
          <p:cNvSpPr/>
          <p:nvPr/>
        </p:nvSpPr>
        <p:spPr>
          <a:xfrm>
            <a:off x="6446520" y="4489704"/>
            <a:ext cx="384048" cy="384048"/>
          </a:xfrm>
          <a:prstGeom prst="ellipse">
            <a:avLst/>
          </a:prstGeom>
          <a:solidFill>
            <a:srgbClr val="9E1B2C"/>
          </a:solidFill>
          <a:ln/>
        </p:spPr>
      </p:sp>
      <p:sp>
        <p:nvSpPr>
          <p:cNvPr id="33" name="Text 31"/>
          <p:cNvSpPr txBox="1"/>
          <p:nvPr/>
        </p:nvSpPr>
        <p:spPr>
          <a:xfrm>
            <a:off x="6446520" y="44897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4" name="Text 32"/>
          <p:cNvSpPr txBox="1"/>
          <p:nvPr/>
        </p:nvSpPr>
        <p:spPr>
          <a:xfrm>
            <a:off x="6949440" y="4462272"/>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Allow script execution on uploads</a:t>
            </a:r>
            <a:endParaRPr lang="en-US" sz="1350" dirty="0"/>
          </a:p>
        </p:txBody>
      </p:sp>
      <p:sp>
        <p:nvSpPr>
          <p:cNvPr id="35" name="Shape 33"/>
          <p:cNvSpPr/>
          <p:nvPr/>
        </p:nvSpPr>
        <p:spPr>
          <a:xfrm>
            <a:off x="6446520" y="5148072"/>
            <a:ext cx="384048" cy="384048"/>
          </a:xfrm>
          <a:prstGeom prst="ellipse">
            <a:avLst/>
          </a:prstGeom>
          <a:solidFill>
            <a:srgbClr val="9E1B2C"/>
          </a:solidFill>
          <a:ln/>
        </p:spPr>
      </p:sp>
      <p:sp>
        <p:nvSpPr>
          <p:cNvPr id="36" name="Text 34"/>
          <p:cNvSpPr txBox="1"/>
          <p:nvPr/>
        </p:nvSpPr>
        <p:spPr>
          <a:xfrm>
            <a:off x="6446520" y="51480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7" name="Text 35"/>
          <p:cNvSpPr txBox="1"/>
          <p:nvPr/>
        </p:nvSpPr>
        <p:spPr>
          <a:xfrm>
            <a:off x="6949440" y="5120640"/>
            <a:ext cx="4526280" cy="457200"/>
          </a:xfrm>
          <a:prstGeom prst="rect">
            <a:avLst/>
          </a:prstGeom>
          <a:noFill/>
          <a:ln/>
        </p:spPr>
        <p:txBody>
          <a:bodyPr wrap="square" lIns="0" tIns="0" rIns="0" bIns="0" rtlCol="0" anchor="ctr"/>
          <a:lstStyle/>
          <a:p>
            <a:pPr indent="0" marL="0">
              <a:buNone/>
            </a:pPr>
            <a:r>
              <a:rPr lang="en-US" sz="1350" dirty="0">
                <a:solidFill>
                  <a:srgbClr val="2B1A1D"/>
                </a:solidFill>
                <a:latin typeface="Calibri" pitchFamily="34" charset="0"/>
                <a:ea typeface="Calibri" pitchFamily="34" charset="-122"/>
                <a:cs typeface="Calibri" pitchFamily="34" charset="-120"/>
              </a:rPr>
              <a:t>Rely on one check only</a:t>
            </a:r>
            <a:endParaRPr lang="en-US" sz="1350" dirty="0"/>
          </a:p>
        </p:txBody>
      </p:sp>
      <p:sp>
        <p:nvSpPr>
          <p:cNvPr id="38" name="Text 36"/>
          <p:cNvSpPr txBox="1"/>
          <p:nvPr/>
        </p:nvSpPr>
        <p:spPr>
          <a:xfrm>
            <a:off x="548640" y="6446520"/>
            <a:ext cx="11064240" cy="274320"/>
          </a:xfrm>
          <a:prstGeom prst="rect">
            <a:avLst/>
          </a:prstGeom>
          <a:noFill/>
          <a:ln/>
        </p:spPr>
        <p:txBody>
          <a:bodyPr wrap="square" lIns="0" tIns="0" rIns="0" bIns="0" rtlCol="0" anchor="ctr"/>
          <a:lstStyle/>
          <a:p>
            <a:pPr algn="l" indent="0" marL="0">
              <a:buNone/>
            </a:pPr>
            <a:r>
              <a:rPr lang="en-US" sz="900" dirty="0">
                <a:solidFill>
                  <a:srgbClr val="6B5458"/>
                </a:solidFill>
                <a:latin typeface="Calibri" pitchFamily="34" charset="0"/>
                <a:ea typeface="Calibri" pitchFamily="34" charset="-122"/>
                <a:cs typeface="Calibri" pitchFamily="34" charset="-120"/>
              </a:rPr>
              <a:t>Vishal Chudasama  ·  Roll No 25004401110069</a:t>
            </a:r>
            <a:endParaRPr lang="en-US" sz="900" dirty="0"/>
          </a:p>
        </p:txBody>
      </p:sp>
      <p:sp>
        <p:nvSpPr>
          <p:cNvPr id="950" name="Slide Number Placeholder 950"/>
          <p:cNvSpPr>
            <a:spLocks noGrp="1"/>
          </p:cNvSpPr>
          <p:nvPr>
            <p:ph type="sldNum" sz="quarter" idx="12"/>
          </p:nvPr>
        </p:nvSpPr>
        <p:spPr/>
        <p:txBody>
          <a:bodyPr/>
          <a:lstStyle/>
          <a:p>
            <a:fld id="{657B3580-1400-497E-A019-9190D5AB9838}" type="slidenum">
              <a:rPr lang="en-IN"/>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0A12"/>
        </a:solidFill>
      </p:bgPr>
    </p:bg>
    <p:spTree>
      <p:nvGrpSpPr>
        <p:cNvPr id="1" name=""/>
        <p:cNvGrpSpPr/>
        <p:nvPr/>
      </p:nvGrpSpPr>
      <p:grpSpPr>
        <a:xfrm>
          <a:off x="0" y="0"/>
          <a:ext cx="0" cy="0"/>
          <a:chOff x="0" y="0"/>
          <a:chExt cx="0" cy="0"/>
        </a:xfrm>
      </p:grpSpPr>
      <p:sp>
        <p:nvSpPr>
          <p:cNvPr id="2" name="Shape 0"/>
          <p:cNvSpPr/>
          <p:nvPr/>
        </p:nvSpPr>
        <p:spPr>
          <a:xfrm>
            <a:off x="-1737360" y="5577840"/>
            <a:ext cx="3657600" cy="3657600"/>
          </a:xfrm>
          <a:prstGeom prst="ellipse">
            <a:avLst/>
          </a:prstGeom>
          <a:solidFill>
            <a:srgbClr val="9E1B2C"/>
          </a:solidFill>
          <a:ln/>
        </p:spPr>
      </p:sp>
      <p:sp>
        <p:nvSpPr>
          <p:cNvPr id="3" name="Text 1"/>
          <p:cNvSpPr txBox="1"/>
          <p:nvPr/>
        </p:nvSpPr>
        <p:spPr>
          <a:xfrm>
            <a:off x="731520" y="731520"/>
            <a:ext cx="10058400" cy="411480"/>
          </a:xfrm>
          <a:prstGeom prst="rect">
            <a:avLst/>
          </a:prstGeom>
          <a:noFill/>
          <a:ln/>
        </p:spPr>
        <p:txBody>
          <a:bodyPr wrap="square" lIns="0" tIns="0" rIns="0" bIns="0" rtlCol="0" anchor="ctr"/>
          <a:lstStyle/>
          <a:p>
            <a:pPr indent="0" marL="0">
              <a:buNone/>
            </a:pPr>
            <a:r>
              <a:rPr lang="en-US" sz="1400" b="1" spc="300" kern="0" dirty="0">
                <a:solidFill>
                  <a:srgbClr val="E8574A"/>
                </a:solidFill>
                <a:latin typeface="Calibri" pitchFamily="34" charset="0"/>
                <a:ea typeface="Calibri" pitchFamily="34" charset="-122"/>
                <a:cs typeface="Calibri" pitchFamily="34" charset="-120"/>
              </a:rPr>
              <a:t>KEY TAKEAWAYS</a:t>
            </a:r>
            <a:endParaRPr lang="en-US" sz="1400" dirty="0"/>
          </a:p>
        </p:txBody>
      </p:sp>
      <p:sp>
        <p:nvSpPr>
          <p:cNvPr id="4" name="Text 2"/>
          <p:cNvSpPr txBox="1"/>
          <p:nvPr/>
        </p:nvSpPr>
        <p:spPr>
          <a:xfrm>
            <a:off x="731520" y="109728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Remember</a:t>
            </a:r>
            <a:endParaRPr lang="en-US" sz="3400" dirty="0"/>
          </a:p>
        </p:txBody>
      </p:sp>
      <p:sp>
        <p:nvSpPr>
          <p:cNvPr id="5" name="Shape 3"/>
          <p:cNvSpPr/>
          <p:nvPr/>
        </p:nvSpPr>
        <p:spPr>
          <a:xfrm>
            <a:off x="777240" y="2148840"/>
            <a:ext cx="457200" cy="457200"/>
          </a:xfrm>
          <a:prstGeom prst="ellipse">
            <a:avLst/>
          </a:prstGeom>
          <a:solidFill>
            <a:srgbClr val="E8574A"/>
          </a:solidFill>
          <a:ln/>
        </p:spPr>
      </p:sp>
      <p:sp>
        <p:nvSpPr>
          <p:cNvPr id="6" name="Text 4"/>
          <p:cNvSpPr txBox="1"/>
          <p:nvPr/>
        </p:nvSpPr>
        <p:spPr>
          <a:xfrm>
            <a:off x="777240" y="2148840"/>
            <a:ext cx="457200" cy="457200"/>
          </a:xfrm>
          <a:prstGeom prst="rect">
            <a:avLst/>
          </a:prstGeom>
          <a:noFill/>
          <a:ln/>
        </p:spPr>
        <p:txBody>
          <a:bodyPr wrap="square" lIns="0" tIns="0" rIns="0" bIns="0" rtlCol="0" anchor="ctr"/>
          <a:lstStyle/>
          <a:p>
            <a:pPr algn="ctr" indent="0" marL="0">
              <a:buNone/>
            </a:pPr>
            <a:r>
              <a:rPr lang="en-US" sz="1600" b="1" dirty="0">
                <a:solidFill>
                  <a:srgbClr val="3A0A12"/>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417320" y="2103120"/>
            <a:ext cx="9875520" cy="685800"/>
          </a:xfrm>
          <a:prstGeom prst="rect">
            <a:avLst/>
          </a:prstGeom>
          <a:noFill/>
          <a:ln/>
        </p:spPr>
        <p:txBody>
          <a:bodyPr wrap="square" lIns="0" tIns="0" rIns="0" bIns="0" rtlCol="0" anchor="ctr"/>
          <a:lstStyle/>
          <a:p>
            <a:pPr indent="0" marL="0">
              <a:lnSpc>
                <a:spcPct val="100000"/>
              </a:lnSpc>
              <a:buNone/>
            </a:pPr>
            <a:r>
              <a:rPr lang="en-US" sz="1500" dirty="0">
                <a:solidFill>
                  <a:srgbClr val="EAEFF2"/>
                </a:solidFill>
                <a:latin typeface="Calibri" pitchFamily="34" charset="0"/>
                <a:ea typeface="Calibri" pitchFamily="34" charset="-122"/>
                <a:cs typeface="Calibri" pitchFamily="34" charset="-120"/>
              </a:rPr>
              <a:t>Accepting unchecked uploads can lead to Remote Code Execution and full server takeover.</a:t>
            </a:r>
            <a:endParaRPr lang="en-US" sz="1500" dirty="0"/>
          </a:p>
        </p:txBody>
      </p:sp>
      <p:sp>
        <p:nvSpPr>
          <p:cNvPr id="8" name="Shape 6"/>
          <p:cNvSpPr/>
          <p:nvPr/>
        </p:nvSpPr>
        <p:spPr>
          <a:xfrm>
            <a:off x="777240" y="2926080"/>
            <a:ext cx="457200" cy="457200"/>
          </a:xfrm>
          <a:prstGeom prst="ellipse">
            <a:avLst/>
          </a:prstGeom>
          <a:solidFill>
            <a:srgbClr val="E8574A"/>
          </a:solidFill>
          <a:ln/>
        </p:spPr>
      </p:sp>
      <p:sp>
        <p:nvSpPr>
          <p:cNvPr id="9" name="Text 7"/>
          <p:cNvSpPr txBox="1"/>
          <p:nvPr/>
        </p:nvSpPr>
        <p:spPr>
          <a:xfrm>
            <a:off x="777240" y="2926080"/>
            <a:ext cx="457200" cy="457200"/>
          </a:xfrm>
          <a:prstGeom prst="rect">
            <a:avLst/>
          </a:prstGeom>
          <a:noFill/>
          <a:ln/>
        </p:spPr>
        <p:txBody>
          <a:bodyPr wrap="square" lIns="0" tIns="0" rIns="0" bIns="0" rtlCol="0" anchor="ctr"/>
          <a:lstStyle/>
          <a:p>
            <a:pPr algn="ctr" indent="0" marL="0">
              <a:buNone/>
            </a:pPr>
            <a:r>
              <a:rPr lang="en-US" sz="1600" b="1" dirty="0">
                <a:solidFill>
                  <a:srgbClr val="3A0A12"/>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417320" y="2880360"/>
            <a:ext cx="9875520" cy="685800"/>
          </a:xfrm>
          <a:prstGeom prst="rect">
            <a:avLst/>
          </a:prstGeom>
          <a:noFill/>
          <a:ln/>
        </p:spPr>
        <p:txBody>
          <a:bodyPr wrap="square" lIns="0" tIns="0" rIns="0" bIns="0" rtlCol="0" anchor="ctr"/>
          <a:lstStyle/>
          <a:p>
            <a:pPr indent="0" marL="0">
              <a:lnSpc>
                <a:spcPct val="100000"/>
              </a:lnSpc>
              <a:buNone/>
            </a:pPr>
            <a:r>
              <a:rPr lang="en-US" sz="1500" dirty="0">
                <a:solidFill>
                  <a:srgbClr val="EAEFF2"/>
                </a:solidFill>
                <a:latin typeface="Calibri" pitchFamily="34" charset="0"/>
                <a:ea typeface="Calibri" pitchFamily="34" charset="-122"/>
                <a:cs typeface="Calibri" pitchFamily="34" charset="-120"/>
              </a:rPr>
              <a:t>Never trust the file extension, MIME, or filename alone — validate the real content.</a:t>
            </a:r>
            <a:endParaRPr lang="en-US" sz="1500" dirty="0"/>
          </a:p>
        </p:txBody>
      </p:sp>
      <p:sp>
        <p:nvSpPr>
          <p:cNvPr id="11" name="Shape 9"/>
          <p:cNvSpPr/>
          <p:nvPr/>
        </p:nvSpPr>
        <p:spPr>
          <a:xfrm>
            <a:off x="777240" y="3703320"/>
            <a:ext cx="457200" cy="457200"/>
          </a:xfrm>
          <a:prstGeom prst="ellipse">
            <a:avLst/>
          </a:prstGeom>
          <a:solidFill>
            <a:srgbClr val="E8574A"/>
          </a:solidFill>
          <a:ln/>
        </p:spPr>
      </p:sp>
      <p:sp>
        <p:nvSpPr>
          <p:cNvPr id="12" name="Text 10"/>
          <p:cNvSpPr txBox="1"/>
          <p:nvPr/>
        </p:nvSpPr>
        <p:spPr>
          <a:xfrm>
            <a:off x="777240" y="3703320"/>
            <a:ext cx="457200" cy="457200"/>
          </a:xfrm>
          <a:prstGeom prst="rect">
            <a:avLst/>
          </a:prstGeom>
          <a:noFill/>
          <a:ln/>
        </p:spPr>
        <p:txBody>
          <a:bodyPr wrap="square" lIns="0" tIns="0" rIns="0" bIns="0" rtlCol="0" anchor="ctr"/>
          <a:lstStyle/>
          <a:p>
            <a:pPr algn="ctr" indent="0" marL="0">
              <a:buNone/>
            </a:pPr>
            <a:r>
              <a:rPr lang="en-US" sz="1600" b="1" dirty="0">
                <a:solidFill>
                  <a:srgbClr val="3A0A1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17320" y="3657600"/>
            <a:ext cx="9875520" cy="685800"/>
          </a:xfrm>
          <a:prstGeom prst="rect">
            <a:avLst/>
          </a:prstGeom>
          <a:noFill/>
          <a:ln/>
        </p:spPr>
        <p:txBody>
          <a:bodyPr wrap="square" lIns="0" tIns="0" rIns="0" bIns="0" rtlCol="0" anchor="ctr"/>
          <a:lstStyle/>
          <a:p>
            <a:pPr indent="0" marL="0">
              <a:lnSpc>
                <a:spcPct val="100000"/>
              </a:lnSpc>
              <a:buNone/>
            </a:pPr>
            <a:r>
              <a:rPr lang="en-US" sz="1500" dirty="0">
                <a:solidFill>
                  <a:srgbClr val="EAEFF2"/>
                </a:solidFill>
                <a:latin typeface="Calibri" pitchFamily="34" charset="0"/>
                <a:ea typeface="Calibri" pitchFamily="34" charset="-122"/>
                <a:cs typeface="Calibri" pitchFamily="34" charset="-120"/>
              </a:rPr>
              <a:t>Use defense in depth: type → content → storage → execution.</a:t>
            </a:r>
            <a:endParaRPr lang="en-US" sz="1500" dirty="0"/>
          </a:p>
        </p:txBody>
      </p:sp>
      <p:sp>
        <p:nvSpPr>
          <p:cNvPr id="14" name="Shape 12"/>
          <p:cNvSpPr/>
          <p:nvPr/>
        </p:nvSpPr>
        <p:spPr>
          <a:xfrm>
            <a:off x="777240" y="4480560"/>
            <a:ext cx="457200" cy="457200"/>
          </a:xfrm>
          <a:prstGeom prst="ellipse">
            <a:avLst/>
          </a:prstGeom>
          <a:solidFill>
            <a:srgbClr val="E8574A"/>
          </a:solidFill>
          <a:ln/>
        </p:spPr>
      </p:sp>
      <p:sp>
        <p:nvSpPr>
          <p:cNvPr id="15" name="Text 13"/>
          <p:cNvSpPr txBox="1"/>
          <p:nvPr/>
        </p:nvSpPr>
        <p:spPr>
          <a:xfrm>
            <a:off x="777240" y="4480560"/>
            <a:ext cx="457200" cy="457200"/>
          </a:xfrm>
          <a:prstGeom prst="rect">
            <a:avLst/>
          </a:prstGeom>
          <a:noFill/>
          <a:ln/>
        </p:spPr>
        <p:txBody>
          <a:bodyPr wrap="square" lIns="0" tIns="0" rIns="0" bIns="0" rtlCol="0" anchor="ctr"/>
          <a:lstStyle/>
          <a:p>
            <a:pPr algn="ctr" indent="0" marL="0">
              <a:buNone/>
            </a:pPr>
            <a:r>
              <a:rPr lang="en-US" sz="1600" b="1" dirty="0">
                <a:solidFill>
                  <a:srgbClr val="3A0A12"/>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417320" y="4434840"/>
            <a:ext cx="9875520" cy="685800"/>
          </a:xfrm>
          <a:prstGeom prst="rect">
            <a:avLst/>
          </a:prstGeom>
          <a:noFill/>
          <a:ln/>
        </p:spPr>
        <p:txBody>
          <a:bodyPr wrap="square" lIns="0" tIns="0" rIns="0" bIns="0" rtlCol="0" anchor="ctr"/>
          <a:lstStyle/>
          <a:p>
            <a:pPr indent="0" marL="0">
              <a:lnSpc>
                <a:spcPct val="100000"/>
              </a:lnSpc>
              <a:buNone/>
            </a:pPr>
            <a:r>
              <a:rPr lang="en-US" sz="1500" dirty="0">
                <a:solidFill>
                  <a:srgbClr val="EAEFF2"/>
                </a:solidFill>
                <a:latin typeface="Calibri" pitchFamily="34" charset="0"/>
                <a:ea typeface="Calibri" pitchFamily="34" charset="-122"/>
                <a:cs typeface="Calibri" pitchFamily="34" charset="-120"/>
              </a:rPr>
              <a:t>The strongest control is making uploads impossible to execute in the first place.</a:t>
            </a:r>
            <a:endParaRPr lang="en-US" sz="1500" dirty="0"/>
          </a:p>
        </p:txBody>
      </p:sp>
      <p:sp>
        <p:nvSpPr>
          <p:cNvPr id="17" name="Text 15"/>
          <p:cNvSpPr txBox="1"/>
          <p:nvPr/>
        </p:nvSpPr>
        <p:spPr>
          <a:xfrm>
            <a:off x="2286000" y="6172200"/>
            <a:ext cx="9144000" cy="365760"/>
          </a:xfrm>
          <a:prstGeom prst="rect">
            <a:avLst/>
          </a:prstGeom>
          <a:noFill/>
          <a:ln/>
        </p:spPr>
        <p:txBody>
          <a:bodyPr wrap="square" lIns="0" tIns="0" rIns="0" bIns="0" rtlCol="0" anchor="ctr"/>
          <a:lstStyle/>
          <a:p>
            <a:pPr indent="0" marL="0">
              <a:buNone/>
            </a:pPr>
            <a:r>
              <a:rPr lang="en-US" sz="1200" i="1" dirty="0">
                <a:solidFill>
                  <a:srgbClr val="E6B6B6"/>
                </a:solidFill>
                <a:latin typeface="Calibri" pitchFamily="34" charset="0"/>
                <a:ea typeface="Calibri" pitchFamily="34" charset="-122"/>
                <a:cs typeface="Calibri" pitchFamily="34" charset="-120"/>
              </a:rPr>
              <a:t>Thank you  —  Vishal Chudasama</a:t>
            </a:r>
            <a:endParaRPr lang="en-US" sz="1200" dirty="0"/>
          </a:p>
        </p:txBody>
      </p:sp>
      <p:sp>
        <p:nvSpPr>
          <p:cNvPr id="940" name="Header Band"/>
          <p:cNvSpPr/>
          <p:nvPr/>
        </p:nvSpPr>
        <p:spPr>
          <a:xfrm>
            <a:off x="0" y="0"/>
            <a:ext cx="12192000" cy="457200"/>
          </a:xfrm>
          <a:prstGeom prst="rect">
            <a:avLst/>
          </a:prstGeom>
          <a:solidFill>
            <a:srgbClr val="FFFFFF"/>
          </a:solidFill>
          <a:ln>
            <a:noFill/>
          </a:ln>
        </p:spPr>
        <p:txBody>
          <a:bodyPr/>
          <a:lstStyle/>
          <a:p>
            <a:endParaRPr lang="en-US"/>
          </a:p>
        </p:txBody>
      </p:sp>
      <p:pic>
        <p:nvPicPr>
          <p:cNvPr id="941" name="LJ University Logo"/>
          <p:cNvPicPr>
            <a:picLocks noChangeAspect="1"/>
          </p:cNvPicPr>
          <p:nvPr userDrawn="1"/>
        </p:nvPicPr>
        <p:blipFill>
          <a:blip r:embed="rId901"/>
          <a:stretch>
            <a:fillRect/>
          </a:stretch>
        </p:blipFill>
        <p:spPr>
          <a:xfrm>
            <a:off x="182880" y="45720"/>
            <a:ext cx="1233054" cy="365760"/>
          </a:xfrm>
          <a:prstGeom prst="rect">
            <a:avLst/>
          </a:prstGeom>
        </p:spPr>
      </p:pic>
      <p:pic>
        <p:nvPicPr>
          <p:cNvPr id="942" name="TechDefenceLabs Logo"/>
          <p:cNvPicPr>
            <a:picLocks noChangeAspect="1"/>
          </p:cNvPicPr>
          <p:nvPr userDrawn="1"/>
        </p:nvPicPr>
        <p:blipFill>
          <a:blip r:embed="rId902"/>
          <a:stretch>
            <a:fillRect/>
          </a:stretch>
        </p:blipFill>
        <p:spPr>
          <a:xfrm>
            <a:off x="10323880" y="45720"/>
            <a:ext cx="1488120" cy="365760"/>
          </a:xfrm>
          <a:prstGeom prst="rect">
            <a:avLst/>
          </a:prstGeom>
        </p:spPr>
      </p:pic>
      <p:sp>
        <p:nvSpPr>
          <p:cNvPr id="950" name="Slide Number Placeholder 950"/>
          <p:cNvSpPr>
            <a:spLocks noGrp="1"/>
          </p:cNvSpPr>
          <p:nvPr>
            <p:ph type="sldNum" sz="quarter" idx="12"/>
          </p:nvPr>
        </p:nvSpPr>
        <p:spPr/>
        <p:txBody>
          <a:bodyPr/>
          <a:lstStyle/>
          <a:p>
            <a:fld id="{657B3580-1400-497E-A019-9190D5AB9838}" type="slidenum">
              <a:rPr lang="en-IN">
                <a:solidFill>
                  <a:srgbClr val="FFFFFF"/>
                </a:solidFill>
              </a:rPr>
              <a:t>12</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2026-10-14T03:28:26Z</dcterms:created>
  <dcterms:modified xsi:type="dcterms:W3CDTF">2026-10-14T03:28:26Z</dcterms:modified>
</cp:coreProperties>
</file>