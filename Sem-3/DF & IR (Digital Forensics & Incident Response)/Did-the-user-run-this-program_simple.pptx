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Alumni Sans Bold" panose="020B0604020202020204" charset="0"/>
      <p:regular r:id="rId13"/>
    </p:embeddedFont>
    <p:embeddedFont>
      <p:font typeface="Golos Text" panose="020B0604020202020204" charset="0"/>
      <p:regular r:id="rId14"/>
    </p:embeddedFont>
    <p:embeddedFont>
      <p:font typeface="Golos Text Bold" panose="020B0604020202020204" charset="0"/>
      <p:regular r:id="rId15"/>
    </p:embeddedFont>
    <p:embeddedFont>
      <p:font typeface="Golos Text ExtraBold" panose="020B0604020202020204" charset="0"/>
      <p:regular r:id="rId16"/>
    </p:embeddedFont>
    <p:embeddedFont>
      <p:font typeface="Golos Text SemiBold" panose="020B0604020202020204" charset="0"/>
      <p:regular r:id="rId17"/>
    </p:embeddedFont>
    <p:embeddedFont>
      <p:font typeface="PT Mono" panose="02060509020205020204" pitchFamily="49"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4965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decision question. The task is not to find a file and stop. It is to distinguish presence, execution, timing, and user attribution, then state only what the artifacts support.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incident as a distinction between a file existing and a program executing. The folder matters because a user-writable Downloads path gives context, not proof.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three questions as the deck’s reading key: execution, cataloguing, and compatibility context. The strongest answer comes from correlation, not from treating every record as equivalent.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Prefetch carries the decisive signal in this sample: a run count of three and three clustered run times tied to the executable path. Treat the values as synthetic training data, but preserve the reasoning pattern.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Amcache helps establish that the system catalogued this binary and gives identity context through the path and hash. Keep the evidentiary boundary explicit: catalogue is not the same as launch.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Shimcache aligns the path, size, and binary context, but its timestamp is not a run time. This is the slide to stop a common overclaim before it enters the case narrative.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in order. Normalization prevents false disagreement, Prefetch tests execution, Amcache confirms identity, Shimcache adds context, and separate user-attribution sources are needed before naming an operator.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is deliberately qualified. The sample supports execution on the workstation, but a profile path alone does not establish who operated the program.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do not erase the evidence. They define how far the conclusion can travel. State what is missing, what may be altered, and what an artifact cannot establish on its 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reporting standard, not a dramatic claim. A defensible conclusion names the finding, the artifacts that support it, the strongest signal, and the uncertainty that remains.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Header Band">
            <a:extLst>
              <a:ext uri="{FF2B5EF4-FFF2-40B4-BE49-F238E27FC236}">
                <a16:creationId xmlns:a16="http://schemas.microsoft.com/office/drawing/2014/main" id="{A3FC7BA7-A434-1ACC-9630-595DEE9E7AC9}"/>
              </a:ext>
            </a:extLst>
          </p:cNvPr>
          <p:cNvSpPr/>
          <p:nvPr userDrawn="1"/>
        </p:nvSpPr>
        <p:spPr>
          <a:xfrm>
            <a:off x="0" y="-1"/>
            <a:ext cx="12191695" cy="638355"/>
          </a:xfrm>
          <a:prstGeom prst="rect">
            <a:avLst/>
          </a:prstGeom>
          <a:solidFill>
            <a:srgbClr val="FFFFFF"/>
          </a:solidFill>
          <a:ln>
            <a:noFill/>
          </a:ln>
        </p:spPr>
        <p:txBody>
          <a:bodyPr/>
          <a:lstStyle/>
          <a:p>
            <a:endParaRPr lang="en-US"/>
          </a:p>
        </p:txBody>
      </p:sp>
      <p:pic>
        <p:nvPicPr>
          <p:cNvPr id="5" name="LJ University Logo">
            <a:extLst>
              <a:ext uri="{FF2B5EF4-FFF2-40B4-BE49-F238E27FC236}">
                <a16:creationId xmlns:a16="http://schemas.microsoft.com/office/drawing/2014/main" id="{D75D1348-1218-5585-1A1D-A2599717435B}"/>
              </a:ext>
            </a:extLst>
          </p:cNvPr>
          <p:cNvPicPr>
            <a:picLocks noChangeAspect="1"/>
          </p:cNvPicPr>
          <p:nvPr userDrawn="1"/>
        </p:nvPicPr>
        <p:blipFill>
          <a:blip r:embed="rId5"/>
          <a:stretch>
            <a:fillRect/>
          </a:stretch>
        </p:blipFill>
        <p:spPr>
          <a:xfrm>
            <a:off x="182880" y="27431"/>
            <a:ext cx="2059550" cy="610923"/>
          </a:xfrm>
          <a:prstGeom prst="rect">
            <a:avLst/>
          </a:prstGeom>
        </p:spPr>
      </p:pic>
      <p:pic>
        <p:nvPicPr>
          <p:cNvPr id="7" name="TechDefenceLabs Logo">
            <a:extLst>
              <a:ext uri="{FF2B5EF4-FFF2-40B4-BE49-F238E27FC236}">
                <a16:creationId xmlns:a16="http://schemas.microsoft.com/office/drawing/2014/main" id="{0C42137C-CC0F-0AD1-C647-C17BF544B509}"/>
              </a:ext>
            </a:extLst>
          </p:cNvPr>
          <p:cNvPicPr>
            <a:picLocks noChangeAspect="1"/>
          </p:cNvPicPr>
          <p:nvPr userDrawn="1"/>
        </p:nvPicPr>
        <p:blipFill>
          <a:blip r:embed="rId6"/>
          <a:stretch>
            <a:fillRect/>
          </a:stretch>
        </p:blipFill>
        <p:spPr>
          <a:xfrm>
            <a:off x="9814898" y="27432"/>
            <a:ext cx="1996797" cy="49078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663558" y="1184778"/>
            <a:ext cx="7613460"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itchFamily="34" charset="0"/>
                <a:ea typeface="PT Mono" pitchFamily="34" charset="-122"/>
                <a:cs typeface="PT Mono" pitchFamily="34" charset="-120"/>
              </a:rPr>
              <a:t>WINDOWS EXECUTION FORENSICS</a:t>
            </a:r>
            <a:endParaRPr lang="en-US" sz="1150" dirty="0"/>
          </a:p>
        </p:txBody>
      </p:sp>
      <p:sp>
        <p:nvSpPr>
          <p:cNvPr id="4" name="Text 2"/>
          <p:cNvSpPr/>
          <p:nvPr/>
        </p:nvSpPr>
        <p:spPr>
          <a:xfrm>
            <a:off x="609585" y="4314052"/>
            <a:ext cx="4029212" cy="441738"/>
          </a:xfrm>
          <a:prstGeom prst="rect">
            <a:avLst/>
          </a:prstGeom>
          <a:noFill/>
          <a:ln/>
        </p:spPr>
        <p:txBody>
          <a:bodyPr wrap="square" lIns="0" tIns="0" rIns="0" bIns="0" rtlCol="0" anchor="t">
            <a:normAutofit/>
          </a:bodyPr>
          <a:lstStyle/>
          <a:p>
            <a:pPr marL="0" indent="0" algn="l">
              <a:lnSpc>
                <a:spcPct val="77000"/>
              </a:lnSpc>
              <a:buNone/>
            </a:pPr>
            <a:r>
              <a:rPr lang="en-US" sz="2400" dirty="0">
                <a:solidFill>
                  <a:srgbClr val="111314"/>
                </a:solidFill>
                <a:latin typeface="Alumni Sans Bold" panose="020B0604020202020204" charset="0"/>
                <a:ea typeface="Alumni Sans ExtraBold" pitchFamily="34" charset="-122"/>
                <a:cs typeface="Alumni Sans ExtraBold" pitchFamily="34" charset="-120"/>
              </a:rPr>
              <a:t>DID THE USER RUN THIS PROGRAM?</a:t>
            </a:r>
            <a:endParaRPr lang="en-US" sz="2400" dirty="0">
              <a:latin typeface="Alumni Sans Bold" panose="020B0604020202020204" charset="0"/>
            </a:endParaRPr>
          </a:p>
        </p:txBody>
      </p:sp>
      <p:sp>
        <p:nvSpPr>
          <p:cNvPr id="950" name="Slide Number"/>
          <p:cNvSpPr txBox="1"/>
          <p:nvPr/>
        </p:nvSpPr>
        <p:spPr>
          <a:xfrm>
            <a:off x="10012680" y="6464807"/>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rPr>
              <a:t>1</a:t>
            </a:fld>
            <a:endParaRPr lang="en-IN" sz="1000" dirty="0"/>
          </a:p>
        </p:txBody>
      </p:sp>
      <p:sp>
        <p:nvSpPr>
          <p:cNvPr id="9" name="TextBox 8">
            <a:extLst>
              <a:ext uri="{FF2B5EF4-FFF2-40B4-BE49-F238E27FC236}">
                <a16:creationId xmlns:a16="http://schemas.microsoft.com/office/drawing/2014/main" id="{AF0284A1-36EE-CE1C-35E6-11E9AE8E77FF}"/>
              </a:ext>
            </a:extLst>
          </p:cNvPr>
          <p:cNvSpPr txBox="1"/>
          <p:nvPr/>
        </p:nvSpPr>
        <p:spPr>
          <a:xfrm>
            <a:off x="549200" y="1501769"/>
            <a:ext cx="5894732" cy="2308324"/>
          </a:xfrm>
          <a:prstGeom prst="rect">
            <a:avLst/>
          </a:prstGeom>
          <a:noFill/>
        </p:spPr>
        <p:txBody>
          <a:bodyPr wrap="square" rtlCol="0">
            <a:spAutoFit/>
          </a:bodyPr>
          <a:lstStyle/>
          <a:p>
            <a:r>
              <a:rPr lang="en-IN" sz="3600" b="1" dirty="0">
                <a:latin typeface="Golos Text" panose="020B0604020202020204" charset="0"/>
                <a:cs typeface="Golos Text" panose="020B0604020202020204" charset="0"/>
              </a:rPr>
              <a:t>Windows Prefetch, </a:t>
            </a:r>
            <a:r>
              <a:rPr lang="en-IN" sz="3600" b="1" dirty="0" err="1">
                <a:latin typeface="Golos Text" panose="020B0604020202020204" charset="0"/>
                <a:cs typeface="Golos Text" panose="020B0604020202020204" charset="0"/>
              </a:rPr>
              <a:t>Amcache</a:t>
            </a:r>
            <a:r>
              <a:rPr lang="en-IN" sz="3600" b="1" dirty="0">
                <a:latin typeface="Golos Text" panose="020B0604020202020204" charset="0"/>
                <a:cs typeface="Golos Text" panose="020B0604020202020204" charset="0"/>
              </a:rPr>
              <a:t> and </a:t>
            </a:r>
            <a:r>
              <a:rPr lang="en-IN" sz="3600" b="1" dirty="0" err="1">
                <a:latin typeface="Golos Text" panose="020B0604020202020204" charset="0"/>
                <a:cs typeface="Golos Text" panose="020B0604020202020204" charset="0"/>
              </a:rPr>
              <a:t>Shimcache</a:t>
            </a:r>
            <a:r>
              <a:rPr lang="en-IN" sz="3600" b="1" dirty="0">
                <a:latin typeface="Golos Text" panose="020B0604020202020204" charset="0"/>
                <a:cs typeface="Golos Text" panose="020B0604020202020204" charset="0"/>
              </a:rPr>
              <a:t> Analysis</a:t>
            </a:r>
            <a:endParaRPr lang="en-IN" sz="3600" b="1" dirty="0">
              <a:solidFill>
                <a:srgbClr val="000000"/>
              </a:solidFill>
              <a:latin typeface="Golos Text" panose="020B0604020202020204" charset="0"/>
              <a:cs typeface="Golos Text" panose="020B0604020202020204" charset="0"/>
            </a:endParaRPr>
          </a:p>
          <a:p>
            <a:endParaRPr lang="en-IN" sz="3600" dirty="0">
              <a:latin typeface="Golos Text" panose="020B0604020202020204" charset="0"/>
              <a:cs typeface="Golos Text" panose="020B0604020202020204" charset="0"/>
            </a:endParaRPr>
          </a:p>
        </p:txBody>
      </p:sp>
      <p:graphicFrame>
        <p:nvGraphicFramePr>
          <p:cNvPr id="12" name="Table 11">
            <a:extLst>
              <a:ext uri="{FF2B5EF4-FFF2-40B4-BE49-F238E27FC236}">
                <a16:creationId xmlns:a16="http://schemas.microsoft.com/office/drawing/2014/main" id="{D56732D9-6680-B4FE-84D4-A02764820492}"/>
              </a:ext>
            </a:extLst>
          </p:cNvPr>
          <p:cNvGraphicFramePr>
            <a:graphicFrameLocks noGrp="1"/>
          </p:cNvGraphicFramePr>
          <p:nvPr>
            <p:extLst>
              <p:ext uri="{D42A27DB-BD31-4B8C-83A1-F6EECF244321}">
                <p14:modId xmlns:p14="http://schemas.microsoft.com/office/powerpoint/2010/main" val="584610612"/>
              </p:ext>
            </p:extLst>
          </p:nvPr>
        </p:nvGraphicFramePr>
        <p:xfrm>
          <a:off x="6096000" y="3949082"/>
          <a:ext cx="5478291" cy="2308323"/>
        </p:xfrm>
        <a:graphic>
          <a:graphicData uri="http://schemas.openxmlformats.org/drawingml/2006/table">
            <a:tbl>
              <a:tblPr>
                <a:tableStyleId>{5C22544A-7EE6-4342-B048-85BDC9FD1C3A}</a:tableStyleId>
              </a:tblPr>
              <a:tblGrid>
                <a:gridCol w="552609">
                  <a:extLst>
                    <a:ext uri="{9D8B030D-6E8A-4147-A177-3AD203B41FA5}">
                      <a16:colId xmlns:a16="http://schemas.microsoft.com/office/drawing/2014/main" val="3680719258"/>
                    </a:ext>
                  </a:extLst>
                </a:gridCol>
                <a:gridCol w="2122098">
                  <a:extLst>
                    <a:ext uri="{9D8B030D-6E8A-4147-A177-3AD203B41FA5}">
                      <a16:colId xmlns:a16="http://schemas.microsoft.com/office/drawing/2014/main" val="2582051913"/>
                    </a:ext>
                  </a:extLst>
                </a:gridCol>
                <a:gridCol w="2803584">
                  <a:extLst>
                    <a:ext uri="{9D8B030D-6E8A-4147-A177-3AD203B41FA5}">
                      <a16:colId xmlns:a16="http://schemas.microsoft.com/office/drawing/2014/main" val="1105919377"/>
                    </a:ext>
                  </a:extLst>
                </a:gridCol>
              </a:tblGrid>
              <a:tr h="769441">
                <a:tc>
                  <a:txBody>
                    <a:bodyPr/>
                    <a:lstStyle/>
                    <a:p>
                      <a:pPr algn="l" fontAlgn="b">
                        <a:buNone/>
                      </a:pPr>
                      <a:r>
                        <a:rPr lang="en-IN" sz="2000" u="none" strike="noStrike" dirty="0">
                          <a:effectLst/>
                        </a:rPr>
                        <a:t>  E1</a:t>
                      </a:r>
                      <a:endParaRPr lang="en-IN" sz="2000" b="0" i="0" u="none" strike="noStrike" dirty="0">
                        <a:solidFill>
                          <a:srgbClr val="000000"/>
                        </a:solidFill>
                        <a:effectLst/>
                        <a:latin typeface="Times New Roman" panose="02020603050405020304" pitchFamily="18" charset="0"/>
                      </a:endParaRPr>
                    </a:p>
                  </a:txBody>
                  <a:tcPr marL="7620" marR="7620" marT="7620" marB="0" anchor="ctr"/>
                </a:tc>
                <a:tc>
                  <a:txBody>
                    <a:bodyPr/>
                    <a:lstStyle/>
                    <a:p>
                      <a:pPr algn="l" fontAlgn="b">
                        <a:buNone/>
                      </a:pPr>
                      <a:r>
                        <a:rPr lang="en-IN" sz="2000" u="none" strike="noStrike" dirty="0">
                          <a:effectLst/>
                        </a:rPr>
                        <a:t>  25004401110004</a:t>
                      </a:r>
                      <a:endParaRPr lang="en-IN" sz="2000" b="0" i="0" u="none" strike="noStrike" dirty="0">
                        <a:solidFill>
                          <a:srgbClr val="000000"/>
                        </a:solidFill>
                        <a:effectLst/>
                        <a:latin typeface="Times New Roman" panose="02020603050405020304" pitchFamily="18" charset="0"/>
                      </a:endParaRPr>
                    </a:p>
                  </a:txBody>
                  <a:tcPr marL="7620" marR="7620" marT="7620" marB="0" anchor="ctr"/>
                </a:tc>
                <a:tc>
                  <a:txBody>
                    <a:bodyPr/>
                    <a:lstStyle/>
                    <a:p>
                      <a:pPr algn="l" fontAlgn="b">
                        <a:buNone/>
                      </a:pPr>
                      <a:r>
                        <a:rPr lang="en-IN" sz="2000" u="none" strike="noStrike" dirty="0">
                          <a:effectLst/>
                        </a:rPr>
                        <a:t>  AAYUSH BOGHARA</a:t>
                      </a:r>
                      <a:endParaRPr lang="en-IN" sz="2000" b="0" i="0" u="none" strike="noStrike" dirty="0">
                        <a:solidFill>
                          <a:srgbClr val="000000"/>
                        </a:solidFill>
                        <a:effectLst/>
                        <a:latin typeface="Times New Roman" panose="02020603050405020304" pitchFamily="18" charset="0"/>
                      </a:endParaRPr>
                    </a:p>
                  </a:txBody>
                  <a:tcPr marL="7620" marR="7620" marT="7620" marB="0" anchor="ctr"/>
                </a:tc>
                <a:extLst>
                  <a:ext uri="{0D108BD9-81ED-4DB2-BD59-A6C34878D82A}">
                    <a16:rowId xmlns:a16="http://schemas.microsoft.com/office/drawing/2014/main" val="1142989883"/>
                  </a:ext>
                </a:extLst>
              </a:tr>
              <a:tr h="769441">
                <a:tc>
                  <a:txBody>
                    <a:bodyPr/>
                    <a:lstStyle/>
                    <a:p>
                      <a:pPr algn="l" fontAlgn="b">
                        <a:buNone/>
                      </a:pPr>
                      <a:r>
                        <a:rPr lang="en-IN" sz="2000" u="none" strike="noStrike" dirty="0">
                          <a:effectLst/>
                        </a:rPr>
                        <a:t>  E2</a:t>
                      </a:r>
                      <a:endParaRPr lang="en-IN" sz="2000" b="0" i="0" u="none" strike="noStrike" dirty="0">
                        <a:solidFill>
                          <a:srgbClr val="000000"/>
                        </a:solidFill>
                        <a:effectLst/>
                        <a:latin typeface="Times New Roman" panose="02020603050405020304" pitchFamily="18" charset="0"/>
                      </a:endParaRPr>
                    </a:p>
                  </a:txBody>
                  <a:tcPr marL="7620" marR="7620" marT="7620" marB="0" anchor="ctr"/>
                </a:tc>
                <a:tc>
                  <a:txBody>
                    <a:bodyPr/>
                    <a:lstStyle/>
                    <a:p>
                      <a:pPr algn="l" fontAlgn="b">
                        <a:buNone/>
                      </a:pPr>
                      <a:r>
                        <a:rPr lang="en-IN" sz="2000" u="none" strike="noStrike" dirty="0">
                          <a:effectLst/>
                        </a:rPr>
                        <a:t>  25004401110069</a:t>
                      </a:r>
                      <a:endParaRPr lang="en-IN" sz="2000" b="0" i="0" u="none" strike="noStrike" dirty="0">
                        <a:solidFill>
                          <a:srgbClr val="000000"/>
                        </a:solidFill>
                        <a:effectLst/>
                        <a:latin typeface="Times New Roman" panose="02020603050405020304" pitchFamily="18" charset="0"/>
                      </a:endParaRPr>
                    </a:p>
                  </a:txBody>
                  <a:tcPr marL="7620" marR="7620" marT="7620" marB="0" anchor="ctr"/>
                </a:tc>
                <a:tc>
                  <a:txBody>
                    <a:bodyPr/>
                    <a:lstStyle/>
                    <a:p>
                      <a:pPr algn="l" fontAlgn="b">
                        <a:buNone/>
                      </a:pPr>
                      <a:r>
                        <a:rPr lang="en-IN" sz="2000" u="none" strike="noStrike" dirty="0">
                          <a:effectLst/>
                        </a:rPr>
                        <a:t>  VISHAL CHUDASAMA</a:t>
                      </a:r>
                      <a:endParaRPr lang="en-IN" sz="2000" b="0" i="0" u="none" strike="noStrike" dirty="0">
                        <a:solidFill>
                          <a:srgbClr val="000000"/>
                        </a:solidFill>
                        <a:effectLst/>
                        <a:latin typeface="Times New Roman" panose="02020603050405020304" pitchFamily="18" charset="0"/>
                      </a:endParaRPr>
                    </a:p>
                  </a:txBody>
                  <a:tcPr marL="7620" marR="7620" marT="7620" marB="0" anchor="ctr"/>
                </a:tc>
                <a:extLst>
                  <a:ext uri="{0D108BD9-81ED-4DB2-BD59-A6C34878D82A}">
                    <a16:rowId xmlns:a16="http://schemas.microsoft.com/office/drawing/2014/main" val="1607019203"/>
                  </a:ext>
                </a:extLst>
              </a:tr>
              <a:tr h="769441">
                <a:tc>
                  <a:txBody>
                    <a:bodyPr/>
                    <a:lstStyle/>
                    <a:p>
                      <a:pPr algn="l" fontAlgn="b">
                        <a:buNone/>
                      </a:pPr>
                      <a:r>
                        <a:rPr lang="en-IN" sz="2000" u="none" strike="noStrike">
                          <a:effectLst/>
                        </a:rPr>
                        <a:t>  E6</a:t>
                      </a:r>
                      <a:endParaRPr lang="en-IN" sz="2000" b="0" i="0" u="none" strike="noStrike" dirty="0">
                        <a:solidFill>
                          <a:srgbClr val="000000"/>
                        </a:solidFill>
                        <a:effectLst/>
                        <a:latin typeface="Times New Roman" panose="02020603050405020304" pitchFamily="18" charset="0"/>
                      </a:endParaRPr>
                    </a:p>
                  </a:txBody>
                  <a:tcPr marL="7620" marR="7620" marT="7620" marB="0" anchor="ctr"/>
                </a:tc>
                <a:tc>
                  <a:txBody>
                    <a:bodyPr/>
                    <a:lstStyle/>
                    <a:p>
                      <a:pPr algn="l" fontAlgn="b">
                        <a:buNone/>
                      </a:pPr>
                      <a:r>
                        <a:rPr lang="en-IN" sz="2000" u="none" strike="noStrike" dirty="0">
                          <a:effectLst/>
                        </a:rPr>
                        <a:t>  25004401110067</a:t>
                      </a:r>
                      <a:endParaRPr lang="en-IN" sz="2000" b="0" i="0" u="none" strike="noStrike" dirty="0">
                        <a:solidFill>
                          <a:srgbClr val="000000"/>
                        </a:solidFill>
                        <a:effectLst/>
                        <a:latin typeface="Times New Roman" panose="02020603050405020304" pitchFamily="18" charset="0"/>
                      </a:endParaRPr>
                    </a:p>
                  </a:txBody>
                  <a:tcPr marL="7620" marR="7620" marT="7620" marB="0" anchor="ctr"/>
                </a:tc>
                <a:tc>
                  <a:txBody>
                    <a:bodyPr/>
                    <a:lstStyle/>
                    <a:p>
                      <a:pPr algn="l" fontAlgn="b">
                        <a:buNone/>
                      </a:pPr>
                      <a:r>
                        <a:rPr lang="en-IN" sz="2000" u="none" strike="noStrike" dirty="0">
                          <a:effectLst/>
                        </a:rPr>
                        <a:t>  PINAK SAKARIYA</a:t>
                      </a:r>
                      <a:endParaRPr lang="en-IN" sz="2000" b="0" i="0" u="none" strike="noStrike" dirty="0">
                        <a:solidFill>
                          <a:srgbClr val="000000"/>
                        </a:solidFill>
                        <a:effectLst/>
                        <a:latin typeface="Times New Roman" panose="02020603050405020304" pitchFamily="18" charset="0"/>
                      </a:endParaRPr>
                    </a:p>
                  </a:txBody>
                  <a:tcPr marL="7620" marR="7620" marT="7620" marB="0" anchor="ctr"/>
                </a:tc>
                <a:extLst>
                  <a:ext uri="{0D108BD9-81ED-4DB2-BD59-A6C34878D82A}">
                    <a16:rowId xmlns:a16="http://schemas.microsoft.com/office/drawing/2014/main" val="317640027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715010"/>
            <a:ext cx="7111822"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itchFamily="34" charset="0"/>
                <a:ea typeface="PT Mono" pitchFamily="34" charset="-122"/>
                <a:cs typeface="PT Mono" pitchFamily="34" charset="-120"/>
              </a:rPr>
              <a:t>SCENARIO · 01</a:t>
            </a:r>
            <a:endParaRPr lang="en-US" sz="1150" dirty="0"/>
          </a:p>
        </p:txBody>
      </p:sp>
      <p:sp>
        <p:nvSpPr>
          <p:cNvPr id="3" name="Text 1"/>
          <p:cNvSpPr/>
          <p:nvPr/>
        </p:nvSpPr>
        <p:spPr>
          <a:xfrm>
            <a:off x="609585" y="991830"/>
            <a:ext cx="6578435" cy="820341"/>
          </a:xfrm>
          <a:prstGeom prst="rect">
            <a:avLst/>
          </a:prstGeom>
          <a:noFill/>
          <a:ln/>
        </p:spPr>
        <p:txBody>
          <a:bodyPr wrap="square" lIns="0" tIns="0" rIns="0" bIns="0" rtlCol="0" anchor="t">
            <a:normAutofit lnSpcReduction="10000"/>
          </a:bodyPr>
          <a:lstStyle/>
          <a:p>
            <a:pPr marL="0" indent="0" algn="l">
              <a:lnSpc>
                <a:spcPct val="79000"/>
              </a:lnSpc>
              <a:buNone/>
            </a:pPr>
            <a:r>
              <a:rPr lang="en-US" sz="3400" b="1" kern="100" spc="17" dirty="0">
                <a:solidFill>
                  <a:srgbClr val="111314"/>
                </a:solidFill>
                <a:latin typeface="Alumni Sans Bold" pitchFamily="34" charset="0"/>
                <a:ea typeface="Alumni Sans Bold" pitchFamily="34" charset="-122"/>
                <a:cs typeface="Alumni Sans Bold" pitchFamily="34" charset="-120"/>
              </a:rPr>
              <a:t>THE INCIDENT STARTS WITH AN UNAUTHORIZED UTILITY</a:t>
            </a:r>
            <a:endParaRPr lang="en-US" sz="3400" dirty="0"/>
          </a:p>
        </p:txBody>
      </p:sp>
      <p:sp>
        <p:nvSpPr>
          <p:cNvPr id="4" name="Text 2"/>
          <p:cNvSpPr/>
          <p:nvPr/>
        </p:nvSpPr>
        <p:spPr>
          <a:xfrm>
            <a:off x="609585" y="1982986"/>
            <a:ext cx="6578435" cy="2065338"/>
          </a:xfrm>
          <a:prstGeom prst="rect">
            <a:avLst/>
          </a:prstGeom>
          <a:noFill/>
          <a:ln/>
        </p:spPr>
        <p:txBody>
          <a:bodyPr wrap="square" lIns="0" tIns="0" rIns="0" bIns="0" rtlCol="0" anchor="t">
            <a:normAutofit/>
          </a:bodyPr>
          <a:lstStyle/>
          <a:p>
            <a:pPr marL="0" indent="0" algn="l">
              <a:lnSpc>
                <a:spcPct val="110000"/>
              </a:lnSpc>
              <a:spcAft>
                <a:spcPts val="1350"/>
              </a:spcAft>
              <a:buNone/>
            </a:pPr>
            <a:r>
              <a:rPr lang="en-US" sz="1700" dirty="0">
                <a:solidFill>
                  <a:srgbClr val="111314"/>
                </a:solidFill>
                <a:latin typeface="Golos Text" pitchFamily="34" charset="0"/>
                <a:ea typeface="Golos Text" pitchFamily="34" charset="-122"/>
                <a:cs typeface="Golos Text" pitchFamily="34" charset="-120"/>
              </a:rPr>
              <a:t>A suspicious executable, </a:t>
            </a:r>
            <a:r>
              <a:rPr lang="en-US" sz="1700" b="1" dirty="0">
                <a:solidFill>
                  <a:srgbClr val="111314"/>
                </a:solidFill>
                <a:latin typeface="Golos Text Bold" pitchFamily="34" charset="0"/>
                <a:ea typeface="Golos Text Bold" pitchFamily="34" charset="-122"/>
                <a:cs typeface="Golos Text Bold" pitchFamily="34" charset="-120"/>
              </a:rPr>
              <a:t>netprobe.exe</a:t>
            </a:r>
            <a:r>
              <a:rPr lang="en-US" sz="1700" dirty="0">
                <a:solidFill>
                  <a:srgbClr val="111314"/>
                </a:solidFill>
                <a:latin typeface="Golos Text" pitchFamily="34" charset="0"/>
                <a:ea typeface="Golos Text" pitchFamily="34" charset="-122"/>
                <a:cs typeface="Golos Text" pitchFamily="34" charset="-120"/>
              </a:rPr>
              <a:t>, appears in a user-writable folder.</a:t>
            </a:r>
            <a:endParaRPr lang="en-US" sz="1700" dirty="0"/>
          </a:p>
          <a:p>
            <a:pPr marL="0" indent="0" algn="l">
              <a:lnSpc>
                <a:spcPct val="110000"/>
              </a:lnSpc>
              <a:spcAft>
                <a:spcPts val="1350"/>
              </a:spcAft>
              <a:buNone/>
            </a:pPr>
            <a:r>
              <a:rPr lang="en-US" sz="1700" dirty="0">
                <a:solidFill>
                  <a:srgbClr val="111314"/>
                </a:solidFill>
                <a:latin typeface="Golos Text" pitchFamily="34" charset="0"/>
                <a:ea typeface="Golos Text" pitchFamily="34" charset="-122"/>
                <a:cs typeface="Golos Text" pitchFamily="34" charset="-120"/>
              </a:rPr>
              <a:t>The first question is deliberately narrow: was it merely present, or did the user actually run it?</a:t>
            </a:r>
            <a:endParaRPr lang="en-US" sz="1700" dirty="0"/>
          </a:p>
          <a:p>
            <a:pPr marL="0" indent="0" algn="l">
              <a:lnSpc>
                <a:spcPct val="110000"/>
              </a:lnSpc>
              <a:buNone/>
            </a:pPr>
            <a:r>
              <a:rPr lang="en-US" sz="1700" dirty="0">
                <a:solidFill>
                  <a:srgbClr val="111314"/>
                </a:solidFill>
                <a:latin typeface="Golos Text" pitchFamily="34" charset="0"/>
                <a:ea typeface="Golos Text" pitchFamily="34" charset="-122"/>
                <a:cs typeface="Golos Text" pitchFamily="34" charset="-120"/>
              </a:rPr>
              <a:t>Answering that requires separate findings for presence, execution, timing, and user attribution.</a:t>
            </a:r>
            <a:endParaRPr lang="en-US" sz="1700" dirty="0"/>
          </a:p>
        </p:txBody>
      </p:sp>
      <p:sp>
        <p:nvSpPr>
          <p:cNvPr id="5" name="Shape 3"/>
          <p:cNvSpPr/>
          <p:nvPr/>
        </p:nvSpPr>
        <p:spPr>
          <a:xfrm>
            <a:off x="609585" y="4226123"/>
            <a:ext cx="1854253" cy="336649"/>
          </a:xfrm>
          <a:prstGeom prst="roundRect">
            <a:avLst>
              <a:gd name="adj" fmla="val 7696"/>
            </a:avLst>
          </a:prstGeom>
          <a:solidFill>
            <a:srgbClr val="FCD9CF"/>
          </a:solidFill>
          <a:ln/>
        </p:spPr>
        <p:txBody>
          <a:bodyPr/>
          <a:lstStyle/>
          <a:p>
            <a:endParaRPr/>
          </a:p>
        </p:txBody>
      </p:sp>
      <p:sp>
        <p:nvSpPr>
          <p:cNvPr id="6" name="Text 4"/>
          <p:cNvSpPr/>
          <p:nvPr/>
        </p:nvSpPr>
        <p:spPr>
          <a:xfrm>
            <a:off x="739062" y="4296148"/>
            <a:ext cx="2204883" cy="207268"/>
          </a:xfrm>
          <a:prstGeom prst="rect">
            <a:avLst/>
          </a:prstGeom>
          <a:noFill/>
          <a:ln/>
        </p:spPr>
        <p:txBody>
          <a:bodyPr wrap="none" lIns="0" tIns="0" rIns="0" bIns="0" rtlCol="0" anchor="t"/>
          <a:lstStyle/>
          <a:p>
            <a:pPr marL="0" indent="0" algn="l">
              <a:lnSpc>
                <a:spcPct val="100000"/>
              </a:lnSpc>
              <a:buNone/>
            </a:pPr>
            <a:r>
              <a:rPr lang="en-US" sz="1350" kern="100" spc="82" dirty="0">
                <a:solidFill>
                  <a:srgbClr val="111314"/>
                </a:solidFill>
                <a:latin typeface="PT Mono" pitchFamily="34" charset="0"/>
                <a:ea typeface="PT Mono" pitchFamily="34" charset="-122"/>
                <a:cs typeface="PT Mono" pitchFamily="34" charset="-120"/>
              </a:rPr>
              <a:t>DECISION POINT</a:t>
            </a:r>
            <a:endParaRPr lang="en-US" sz="1350" dirty="0"/>
          </a:p>
        </p:txBody>
      </p:sp>
      <p:sp>
        <p:nvSpPr>
          <p:cNvPr id="8" name="Shape 5"/>
          <p:cNvSpPr/>
          <p:nvPr/>
        </p:nvSpPr>
        <p:spPr>
          <a:xfrm>
            <a:off x="0" y="6366867"/>
            <a:ext cx="12191695" cy="440035"/>
          </a:xfrm>
          <a:prstGeom prst="rect">
            <a:avLst/>
          </a:prstGeom>
          <a:solidFill>
            <a:srgbClr val="F2F2F2"/>
          </a:solidFill>
          <a:ln/>
        </p:spPr>
        <p:txBody>
          <a:bodyPr/>
          <a:lstStyle/>
          <a:p>
            <a:endParaRPr/>
          </a:p>
        </p:txBody>
      </p:sp>
      <p:sp>
        <p:nvSpPr>
          <p:cNvPr id="950" name="Slide Number"/>
          <p:cNvSpPr txBox="1"/>
          <p:nvPr/>
        </p:nvSpPr>
        <p:spPr>
          <a:xfrm>
            <a:off x="10012680" y="6217920"/>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rPr>
              <a:t>2</a:t>
            </a:fld>
            <a:endParaRPr lang="en-IN"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713994"/>
            <a:ext cx="11582110"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itchFamily="34" charset="0"/>
                <a:ea typeface="PT Mono" pitchFamily="34" charset="-122"/>
                <a:cs typeface="PT Mono" pitchFamily="34" charset="-120"/>
              </a:rPr>
              <a:t>ARTIFACT ROLES</a:t>
            </a:r>
            <a:endParaRPr lang="en-US" sz="1150" dirty="0"/>
          </a:p>
        </p:txBody>
      </p:sp>
      <p:sp>
        <p:nvSpPr>
          <p:cNvPr id="3" name="Text 1"/>
          <p:cNvSpPr/>
          <p:nvPr/>
        </p:nvSpPr>
        <p:spPr>
          <a:xfrm>
            <a:off x="609585" y="990814"/>
            <a:ext cx="10972526" cy="410170"/>
          </a:xfrm>
          <a:prstGeom prst="rect">
            <a:avLst/>
          </a:prstGeom>
          <a:noFill/>
          <a:ln/>
        </p:spPr>
        <p:txBody>
          <a:bodyPr wrap="none" lIns="0" tIns="0" rIns="0" bIns="0" rtlCol="0" anchor="t"/>
          <a:lstStyle/>
          <a:p>
            <a:pPr marL="0" indent="0" algn="l">
              <a:lnSpc>
                <a:spcPct val="79000"/>
              </a:lnSpc>
              <a:buNone/>
            </a:pPr>
            <a:r>
              <a:rPr lang="en-US" sz="3400" b="1" kern="100" spc="17" dirty="0">
                <a:solidFill>
                  <a:srgbClr val="111314"/>
                </a:solidFill>
                <a:latin typeface="Alumni Sans Bold" pitchFamily="34" charset="0"/>
                <a:ea typeface="Alumni Sans Bold" pitchFamily="34" charset="-122"/>
                <a:cs typeface="Alumni Sans Bold" pitchFamily="34" charset="-120"/>
              </a:rPr>
              <a:t>EACH ARTIFACT ANSWERS A DIFFERENT QUESTION</a:t>
            </a:r>
            <a:endParaRPr lang="en-US" sz="3400" dirty="0"/>
          </a:p>
        </p:txBody>
      </p:sp>
      <p:sp>
        <p:nvSpPr>
          <p:cNvPr id="4" name="Text 2"/>
          <p:cNvSpPr/>
          <p:nvPr/>
        </p:nvSpPr>
        <p:spPr>
          <a:xfrm>
            <a:off x="609585" y="1581515"/>
            <a:ext cx="11582110" cy="284956"/>
          </a:xfrm>
          <a:prstGeom prst="rect">
            <a:avLst/>
          </a:prstGeom>
          <a:noFill/>
          <a:ln/>
        </p:spPr>
        <p:txBody>
          <a:bodyPr wrap="none" lIns="0" tIns="0" rIns="0" bIns="0" rtlCol="0" anchor="t"/>
          <a:lstStyle/>
          <a:p>
            <a:pPr marL="0" indent="0" algn="l">
              <a:lnSpc>
                <a:spcPct val="110000"/>
              </a:lnSpc>
              <a:buNone/>
            </a:pPr>
            <a:r>
              <a:rPr lang="en-US" sz="1700" dirty="0">
                <a:solidFill>
                  <a:srgbClr val="111314"/>
                </a:solidFill>
                <a:latin typeface="Golos Text" pitchFamily="34" charset="0"/>
                <a:ea typeface="Golos Text" pitchFamily="34" charset="-122"/>
                <a:cs typeface="Golos Text" pitchFamily="34" charset="-120"/>
              </a:rPr>
              <a:t>Read the records together, but do not make one artifact answer another artifact’s question.</a:t>
            </a:r>
            <a:endParaRPr lang="en-US" sz="1700" dirty="0"/>
          </a:p>
        </p:txBody>
      </p:sp>
      <p:sp>
        <p:nvSpPr>
          <p:cNvPr id="5" name="Shape 3"/>
          <p:cNvSpPr/>
          <p:nvPr/>
        </p:nvSpPr>
        <p:spPr>
          <a:xfrm>
            <a:off x="609585" y="2034556"/>
            <a:ext cx="3454314" cy="3206353"/>
          </a:xfrm>
          <a:prstGeom prst="roundRect">
            <a:avLst>
              <a:gd name="adj" fmla="val 1010"/>
            </a:avLst>
          </a:prstGeom>
          <a:solidFill>
            <a:srgbClr val="FFFFFF"/>
          </a:solidFill>
          <a:ln w="12700">
            <a:solidFill>
              <a:srgbClr val="E2BFB5"/>
            </a:solidFill>
          </a:ln>
        </p:spPr>
        <p:txBody>
          <a:bodyPr/>
          <a:lstStyle/>
          <a:p>
            <a:endParaRPr/>
          </a:p>
        </p:txBody>
      </p:sp>
      <p:pic>
        <p:nvPicPr>
          <p:cNvPr id="6" name="Image 0" descr="preencoded.png"/>
          <p:cNvPicPr>
            <a:picLocks noChangeAspect="1"/>
          </p:cNvPicPr>
          <p:nvPr/>
        </p:nvPicPr>
        <p:blipFill>
          <a:blip r:embed="rId3"/>
          <a:stretch>
            <a:fillRect/>
          </a:stretch>
        </p:blipFill>
        <p:spPr>
          <a:xfrm>
            <a:off x="838179" y="2263156"/>
            <a:ext cx="431789" cy="431800"/>
          </a:xfrm>
          <a:prstGeom prst="rect">
            <a:avLst/>
          </a:prstGeom>
        </p:spPr>
      </p:pic>
      <p:sp>
        <p:nvSpPr>
          <p:cNvPr id="7" name="Text 4"/>
          <p:cNvSpPr/>
          <p:nvPr/>
        </p:nvSpPr>
        <p:spPr>
          <a:xfrm>
            <a:off x="838179" y="2809848"/>
            <a:ext cx="2997125" cy="350441"/>
          </a:xfrm>
          <a:prstGeom prst="rect">
            <a:avLst/>
          </a:prstGeom>
          <a:noFill/>
          <a:ln/>
        </p:spPr>
        <p:txBody>
          <a:bodyPr wrap="none" lIns="0" tIns="0" rIns="0" bIns="0" rtlCol="0" anchor="t"/>
          <a:lstStyle/>
          <a:p>
            <a:pPr marL="0" indent="0" algn="l">
              <a:lnSpc>
                <a:spcPct val="100000"/>
              </a:lnSpc>
              <a:buNone/>
            </a:pPr>
            <a:r>
              <a:rPr lang="en-US" sz="2300" dirty="0">
                <a:solidFill>
                  <a:srgbClr val="000000"/>
                </a:solidFill>
                <a:latin typeface="Golos Text SemiBold" pitchFamily="34" charset="0"/>
                <a:ea typeface="Golos Text SemiBold" pitchFamily="34" charset="-122"/>
                <a:cs typeface="Golos Text SemiBold" pitchFamily="34" charset="-120"/>
              </a:rPr>
              <a:t>Prefetch</a:t>
            </a:r>
            <a:endParaRPr lang="en-US" sz="2300" dirty="0"/>
          </a:p>
        </p:txBody>
      </p:sp>
      <p:sp>
        <p:nvSpPr>
          <p:cNvPr id="8" name="Text 5"/>
          <p:cNvSpPr/>
          <p:nvPr/>
        </p:nvSpPr>
        <p:spPr>
          <a:xfrm>
            <a:off x="838179" y="3312287"/>
            <a:ext cx="2997125" cy="1424781"/>
          </a:xfrm>
          <a:prstGeom prst="rect">
            <a:avLst/>
          </a:prstGeom>
          <a:noFill/>
          <a:ln/>
        </p:spPr>
        <p:txBody>
          <a:bodyPr wrap="square" lIns="0" tIns="0" rIns="0" bIns="0" rtlCol="0" anchor="t">
            <a:normAutofit/>
          </a:bodyPr>
          <a:lstStyle/>
          <a:p>
            <a:pPr marL="0" indent="0" algn="l">
              <a:lnSpc>
                <a:spcPct val="110000"/>
              </a:lnSpc>
              <a:buNone/>
            </a:pPr>
            <a:r>
              <a:rPr lang="en-US" sz="1700" b="1" dirty="0">
                <a:solidFill>
                  <a:srgbClr val="000000"/>
                </a:solidFill>
                <a:latin typeface="Golos Text Bold" pitchFamily="34" charset="0"/>
                <a:ea typeface="Golos Text Bold" pitchFamily="34" charset="-122"/>
                <a:cs typeface="Golos Text Bold" pitchFamily="34" charset="-120"/>
              </a:rPr>
              <a:t>Did it execute?</a:t>
            </a:r>
            <a:r>
              <a:rPr lang="en-US" sz="1700" dirty="0">
                <a:solidFill>
                  <a:srgbClr val="000000"/>
                </a:solidFill>
                <a:latin typeface="Golos Text" pitchFamily="34" charset="0"/>
                <a:ea typeface="Golos Text" pitchFamily="34" charset="-122"/>
                <a:cs typeface="Golos Text" pitchFamily="34" charset="-120"/>
              </a:rPr>
              <a:t> The strongest direct execution signal when available; stores run history and referenced files.</a:t>
            </a:r>
            <a:endParaRPr lang="en-US" sz="1700" dirty="0"/>
          </a:p>
        </p:txBody>
      </p:sp>
      <p:sp>
        <p:nvSpPr>
          <p:cNvPr id="9" name="Shape 6"/>
          <p:cNvSpPr/>
          <p:nvPr/>
        </p:nvSpPr>
        <p:spPr>
          <a:xfrm>
            <a:off x="4368691" y="2034556"/>
            <a:ext cx="3454314" cy="3206353"/>
          </a:xfrm>
          <a:prstGeom prst="roundRect">
            <a:avLst>
              <a:gd name="adj" fmla="val 1010"/>
            </a:avLst>
          </a:prstGeom>
          <a:solidFill>
            <a:srgbClr val="FFFFFF"/>
          </a:solidFill>
          <a:ln w="12700">
            <a:solidFill>
              <a:srgbClr val="E2BFB5"/>
            </a:solidFill>
          </a:ln>
        </p:spPr>
        <p:txBody>
          <a:bodyPr/>
          <a:lstStyle/>
          <a:p>
            <a:endParaRPr/>
          </a:p>
        </p:txBody>
      </p:sp>
      <p:pic>
        <p:nvPicPr>
          <p:cNvPr id="10" name="Image 1" descr="preencoded.png"/>
          <p:cNvPicPr>
            <a:picLocks noChangeAspect="1"/>
          </p:cNvPicPr>
          <p:nvPr/>
        </p:nvPicPr>
        <p:blipFill>
          <a:blip r:embed="rId4"/>
          <a:stretch>
            <a:fillRect/>
          </a:stretch>
        </p:blipFill>
        <p:spPr>
          <a:xfrm>
            <a:off x="4597285" y="2263156"/>
            <a:ext cx="431789" cy="431800"/>
          </a:xfrm>
          <a:prstGeom prst="rect">
            <a:avLst/>
          </a:prstGeom>
        </p:spPr>
      </p:pic>
      <p:sp>
        <p:nvSpPr>
          <p:cNvPr id="11" name="Text 7"/>
          <p:cNvSpPr/>
          <p:nvPr/>
        </p:nvSpPr>
        <p:spPr>
          <a:xfrm>
            <a:off x="4597285" y="2809848"/>
            <a:ext cx="2997125" cy="350441"/>
          </a:xfrm>
          <a:prstGeom prst="rect">
            <a:avLst/>
          </a:prstGeom>
          <a:noFill/>
          <a:ln/>
        </p:spPr>
        <p:txBody>
          <a:bodyPr wrap="none" lIns="0" tIns="0" rIns="0" bIns="0" rtlCol="0" anchor="t"/>
          <a:lstStyle/>
          <a:p>
            <a:pPr marL="0" indent="0" algn="l">
              <a:lnSpc>
                <a:spcPct val="100000"/>
              </a:lnSpc>
              <a:buNone/>
            </a:pPr>
            <a:r>
              <a:rPr lang="en-US" sz="2300" dirty="0">
                <a:solidFill>
                  <a:srgbClr val="000000"/>
                </a:solidFill>
                <a:latin typeface="Golos Text SemiBold" pitchFamily="34" charset="0"/>
                <a:ea typeface="Golos Text SemiBold" pitchFamily="34" charset="-122"/>
                <a:cs typeface="Golos Text SemiBold" pitchFamily="34" charset="-120"/>
              </a:rPr>
              <a:t>Amcache</a:t>
            </a:r>
            <a:endParaRPr lang="en-US" sz="2300" dirty="0"/>
          </a:p>
        </p:txBody>
      </p:sp>
      <p:sp>
        <p:nvSpPr>
          <p:cNvPr id="12" name="Text 8"/>
          <p:cNvSpPr/>
          <p:nvPr/>
        </p:nvSpPr>
        <p:spPr>
          <a:xfrm>
            <a:off x="4597285" y="3312287"/>
            <a:ext cx="2997125" cy="1709738"/>
          </a:xfrm>
          <a:prstGeom prst="rect">
            <a:avLst/>
          </a:prstGeom>
          <a:noFill/>
          <a:ln/>
        </p:spPr>
        <p:txBody>
          <a:bodyPr wrap="square" lIns="0" tIns="0" rIns="0" bIns="0" rtlCol="0" anchor="t">
            <a:normAutofit/>
          </a:bodyPr>
          <a:lstStyle/>
          <a:p>
            <a:pPr marL="0" indent="0" algn="l">
              <a:lnSpc>
                <a:spcPct val="110000"/>
              </a:lnSpc>
              <a:buNone/>
            </a:pPr>
            <a:r>
              <a:rPr lang="en-US" sz="1700" b="1" dirty="0">
                <a:solidFill>
                  <a:srgbClr val="000000"/>
                </a:solidFill>
                <a:latin typeface="Golos Text Bold" pitchFamily="34" charset="0"/>
                <a:ea typeface="Golos Text Bold" pitchFamily="34" charset="-122"/>
                <a:cs typeface="Golos Text Bold" pitchFamily="34" charset="-120"/>
              </a:rPr>
              <a:t>Was it catalogued?</a:t>
            </a:r>
            <a:r>
              <a:rPr lang="en-US" sz="1700" dirty="0">
                <a:solidFill>
                  <a:srgbClr val="000000"/>
                </a:solidFill>
                <a:latin typeface="Golos Text" pitchFamily="34" charset="0"/>
                <a:ea typeface="Golos Text" pitchFamily="34" charset="-122"/>
                <a:cs typeface="Golos Text" pitchFamily="34" charset="-120"/>
              </a:rPr>
              <a:t> Inventory and first-execution context, including external-storage programs. An entry alone is not conclusive.</a:t>
            </a:r>
            <a:endParaRPr lang="en-US" sz="1700" dirty="0"/>
          </a:p>
        </p:txBody>
      </p:sp>
      <p:sp>
        <p:nvSpPr>
          <p:cNvPr id="13" name="Shape 9"/>
          <p:cNvSpPr/>
          <p:nvPr/>
        </p:nvSpPr>
        <p:spPr>
          <a:xfrm>
            <a:off x="8127797" y="2034556"/>
            <a:ext cx="3454314" cy="3206353"/>
          </a:xfrm>
          <a:prstGeom prst="roundRect">
            <a:avLst>
              <a:gd name="adj" fmla="val 1010"/>
            </a:avLst>
          </a:prstGeom>
          <a:solidFill>
            <a:srgbClr val="FFFFFF"/>
          </a:solidFill>
          <a:ln w="12700">
            <a:solidFill>
              <a:srgbClr val="E2BFB5"/>
            </a:solidFill>
          </a:ln>
        </p:spPr>
        <p:txBody>
          <a:bodyPr/>
          <a:lstStyle/>
          <a:p>
            <a:endParaRPr/>
          </a:p>
        </p:txBody>
      </p:sp>
      <p:pic>
        <p:nvPicPr>
          <p:cNvPr id="14" name="Image 2" descr="preencoded.png"/>
          <p:cNvPicPr>
            <a:picLocks noChangeAspect="1"/>
          </p:cNvPicPr>
          <p:nvPr/>
        </p:nvPicPr>
        <p:blipFill>
          <a:blip r:embed="rId5"/>
          <a:stretch>
            <a:fillRect/>
          </a:stretch>
        </p:blipFill>
        <p:spPr>
          <a:xfrm>
            <a:off x="8356391" y="2263156"/>
            <a:ext cx="431789" cy="431800"/>
          </a:xfrm>
          <a:prstGeom prst="rect">
            <a:avLst/>
          </a:prstGeom>
        </p:spPr>
      </p:pic>
      <p:sp>
        <p:nvSpPr>
          <p:cNvPr id="15" name="Text 10"/>
          <p:cNvSpPr/>
          <p:nvPr/>
        </p:nvSpPr>
        <p:spPr>
          <a:xfrm>
            <a:off x="8356391" y="2809848"/>
            <a:ext cx="2997125" cy="350441"/>
          </a:xfrm>
          <a:prstGeom prst="rect">
            <a:avLst/>
          </a:prstGeom>
          <a:noFill/>
          <a:ln/>
        </p:spPr>
        <p:txBody>
          <a:bodyPr wrap="none" lIns="0" tIns="0" rIns="0" bIns="0" rtlCol="0" anchor="t"/>
          <a:lstStyle/>
          <a:p>
            <a:pPr marL="0" indent="0" algn="l">
              <a:lnSpc>
                <a:spcPct val="100000"/>
              </a:lnSpc>
              <a:buNone/>
            </a:pPr>
            <a:r>
              <a:rPr lang="en-US" sz="2300" dirty="0">
                <a:solidFill>
                  <a:srgbClr val="000000"/>
                </a:solidFill>
                <a:latin typeface="Golos Text SemiBold" pitchFamily="34" charset="0"/>
                <a:ea typeface="Golos Text SemiBold" pitchFamily="34" charset="-122"/>
                <a:cs typeface="Golos Text SemiBold" pitchFamily="34" charset="-120"/>
              </a:rPr>
              <a:t>Shimcache</a:t>
            </a:r>
            <a:endParaRPr lang="en-US" sz="2300" dirty="0"/>
          </a:p>
        </p:txBody>
      </p:sp>
      <p:sp>
        <p:nvSpPr>
          <p:cNvPr id="16" name="Text 11"/>
          <p:cNvSpPr/>
          <p:nvPr/>
        </p:nvSpPr>
        <p:spPr>
          <a:xfrm>
            <a:off x="8356391" y="3312287"/>
            <a:ext cx="2997125" cy="1424781"/>
          </a:xfrm>
          <a:prstGeom prst="rect">
            <a:avLst/>
          </a:prstGeom>
          <a:noFill/>
          <a:ln/>
        </p:spPr>
        <p:txBody>
          <a:bodyPr wrap="square" lIns="0" tIns="0" rIns="0" bIns="0" rtlCol="0" anchor="t">
            <a:normAutofit/>
          </a:bodyPr>
          <a:lstStyle/>
          <a:p>
            <a:pPr marL="0" indent="0" algn="l">
              <a:lnSpc>
                <a:spcPct val="110000"/>
              </a:lnSpc>
              <a:buNone/>
            </a:pPr>
            <a:r>
              <a:rPr lang="en-US" sz="1700" b="1" dirty="0">
                <a:solidFill>
                  <a:srgbClr val="000000"/>
                </a:solidFill>
                <a:latin typeface="Golos Text Bold" pitchFamily="34" charset="0"/>
                <a:ea typeface="Golos Text Bold" pitchFamily="34" charset="-122"/>
                <a:cs typeface="Golos Text Bold" pitchFamily="34" charset="-120"/>
              </a:rPr>
              <a:t>What context aligns?</a:t>
            </a:r>
            <a:r>
              <a:rPr lang="en-US" sz="1700" dirty="0">
                <a:solidFill>
                  <a:srgbClr val="000000"/>
                </a:solidFill>
                <a:latin typeface="Golos Text" pitchFamily="34" charset="0"/>
                <a:ea typeface="Golos Text" pitchFamily="34" charset="-122"/>
                <a:cs typeface="Golos Text" pitchFamily="34" charset="-120"/>
              </a:rPr>
              <a:t> Compatibility-cache metadata adds useful context, not standalone proof of execution.</a:t>
            </a:r>
            <a:endParaRPr lang="en-US" sz="1700" dirty="0"/>
          </a:p>
        </p:txBody>
      </p:sp>
      <p:sp>
        <p:nvSpPr>
          <p:cNvPr id="950" name="Slide Number"/>
          <p:cNvSpPr txBox="1"/>
          <p:nvPr/>
        </p:nvSpPr>
        <p:spPr>
          <a:xfrm>
            <a:off x="10012680" y="6510528"/>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rPr>
              <a:t>3</a:t>
            </a:fld>
            <a:endParaRPr lang="en-IN"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713994"/>
            <a:ext cx="11582110"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itchFamily="34" charset="0"/>
                <a:ea typeface="PT Mono" pitchFamily="34" charset="-122"/>
                <a:cs typeface="PT Mono" pitchFamily="34" charset="-120"/>
              </a:rPr>
              <a:t>SAMPLE ARTIFACT · PREFETCH</a:t>
            </a:r>
            <a:endParaRPr lang="en-US" sz="1150" dirty="0"/>
          </a:p>
        </p:txBody>
      </p:sp>
      <p:sp>
        <p:nvSpPr>
          <p:cNvPr id="3" name="Text 1"/>
          <p:cNvSpPr/>
          <p:nvPr/>
        </p:nvSpPr>
        <p:spPr>
          <a:xfrm>
            <a:off x="609585" y="990814"/>
            <a:ext cx="10972526" cy="410170"/>
          </a:xfrm>
          <a:prstGeom prst="rect">
            <a:avLst/>
          </a:prstGeom>
          <a:noFill/>
          <a:ln/>
        </p:spPr>
        <p:txBody>
          <a:bodyPr wrap="none" lIns="0" tIns="0" rIns="0" bIns="0" rtlCol="0" anchor="t"/>
          <a:lstStyle/>
          <a:p>
            <a:pPr marL="0" indent="0" algn="l">
              <a:lnSpc>
                <a:spcPct val="79000"/>
              </a:lnSpc>
              <a:buNone/>
            </a:pPr>
            <a:r>
              <a:rPr lang="en-US" sz="3400" b="1" kern="100" spc="17" dirty="0">
                <a:solidFill>
                  <a:srgbClr val="111314"/>
                </a:solidFill>
                <a:latin typeface="Alumni Sans Bold" pitchFamily="34" charset="0"/>
                <a:ea typeface="Alumni Sans Bold" pitchFamily="34" charset="-122"/>
                <a:cs typeface="Alumni Sans Bold" pitchFamily="34" charset="-120"/>
              </a:rPr>
              <a:t>SAMPLE PREFETCH: EXECUTION IS VISIBLE</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1571800"/>
          <a:ext cx="10972525" cy="2364521"/>
        </p:xfrm>
        <a:graphic>
          <a:graphicData uri="http://schemas.openxmlformats.org/drawingml/2006/table">
            <a:tbl>
              <a:tblPr/>
              <a:tblGrid>
                <a:gridCol w="2743131">
                  <a:extLst>
                    <a:ext uri="{9D8B030D-6E8A-4147-A177-3AD203B41FA5}">
                      <a16:colId xmlns:a16="http://schemas.microsoft.com/office/drawing/2014/main" val="20000"/>
                    </a:ext>
                  </a:extLst>
                </a:gridCol>
                <a:gridCol w="8229394">
                  <a:extLst>
                    <a:ext uri="{9D8B030D-6E8A-4147-A177-3AD203B41FA5}">
                      <a16:colId xmlns:a16="http://schemas.microsoft.com/office/drawing/2014/main" val="20001"/>
                    </a:ext>
                  </a:extLst>
                </a:gridCol>
              </a:tblGrid>
              <a:tr h="475444">
                <a:tc>
                  <a:txBody>
                    <a:bodyPr/>
                    <a:lstStyle/>
                    <a:p>
                      <a:pPr marL="0" indent="0" algn="l">
                        <a:buNone/>
                      </a:pPr>
                      <a:r>
                        <a:rPr lang="en-US" sz="1700" dirty="0">
                          <a:solidFill>
                            <a:srgbClr val="B6BFC1"/>
                          </a:solidFill>
                          <a:latin typeface="Golos Text" pitchFamily="34" charset="0"/>
                          <a:ea typeface="Golos Text" pitchFamily="34" charset="-122"/>
                          <a:cs typeface="Golos Text" pitchFamily="34" charset="-120"/>
                        </a:rPr>
                        <a:t>Field</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solidFill>
                      <a:srgbClr val="111314"/>
                    </a:solidFill>
                  </a:tcPr>
                </a:tc>
                <a:tc>
                  <a:txBody>
                    <a:bodyPr/>
                    <a:lstStyle/>
                    <a:p>
                      <a:pPr marL="0" indent="0" algn="l">
                        <a:buNone/>
                      </a:pPr>
                      <a:r>
                        <a:rPr lang="en-US" sz="1700" dirty="0">
                          <a:solidFill>
                            <a:srgbClr val="B6BFC1"/>
                          </a:solidFill>
                          <a:latin typeface="Golos Text" pitchFamily="34" charset="0"/>
                          <a:ea typeface="Golos Text" pitchFamily="34" charset="-122"/>
                          <a:cs typeface="Golos Text" pitchFamily="34" charset="-120"/>
                        </a:rPr>
                        <a:t>Observed value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solidFill>
                      <a:srgbClr val="111314"/>
                    </a:solidFill>
                  </a:tcPr>
                </a:tc>
                <a:extLst>
                  <a:ext uri="{0D108BD9-81ED-4DB2-BD59-A6C34878D82A}">
                    <a16:rowId xmlns:a16="http://schemas.microsoft.com/office/drawing/2014/main" val="10000"/>
                  </a:ext>
                </a:extLst>
              </a:tr>
              <a:tr h="475444">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File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NETPROBE.EXE-7C1F2A9B.pf</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1"/>
                  </a:ext>
                </a:extLst>
              </a:tr>
              <a:tr h="475444">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Run count</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3</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2"/>
                  </a:ext>
                </a:extLst>
              </a:tr>
              <a:tr h="475444">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Last run times</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2026-10-12 09:14, 09:17, 09:21 UTC</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3"/>
                  </a:ext>
                </a:extLst>
              </a:tr>
              <a:tr h="462745">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Referenced path</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B6BFC1"/>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C:\Users\jlee\Downloads\netprobe.exe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B6BF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Shape 2"/>
          <p:cNvSpPr/>
          <p:nvPr/>
        </p:nvSpPr>
        <p:spPr>
          <a:xfrm>
            <a:off x="609585" y="4114181"/>
            <a:ext cx="8046439" cy="925513"/>
          </a:xfrm>
          <a:prstGeom prst="rect">
            <a:avLst/>
          </a:prstGeom>
          <a:solidFill>
            <a:srgbClr val="FDE8E0"/>
          </a:solidFill>
          <a:ln/>
        </p:spPr>
        <p:txBody>
          <a:bodyPr/>
          <a:lstStyle/>
          <a:p>
            <a:endParaRPr/>
          </a:p>
        </p:txBody>
      </p:sp>
      <p:sp>
        <p:nvSpPr>
          <p:cNvPr id="6" name="Text 3"/>
          <p:cNvSpPr/>
          <p:nvPr/>
        </p:nvSpPr>
        <p:spPr>
          <a:xfrm>
            <a:off x="838179" y="4301696"/>
            <a:ext cx="7589251" cy="569913"/>
          </a:xfrm>
          <a:prstGeom prst="rect">
            <a:avLst/>
          </a:prstGeom>
          <a:noFill/>
          <a:ln/>
        </p:spPr>
        <p:txBody>
          <a:bodyPr wrap="square" lIns="0" tIns="0" rIns="0" bIns="0" rtlCol="0" anchor="t">
            <a:normAutofit/>
          </a:bodyPr>
          <a:lstStyle/>
          <a:p>
            <a:pPr marL="0" indent="0" algn="l">
              <a:lnSpc>
                <a:spcPct val="110000"/>
              </a:lnSpc>
              <a:buNone/>
            </a:pPr>
            <a:r>
              <a:rPr lang="en-US" sz="1700" b="1" dirty="0">
                <a:solidFill>
                  <a:srgbClr val="111314"/>
                </a:solidFill>
                <a:latin typeface="Golos Text Bold" pitchFamily="34" charset="0"/>
                <a:ea typeface="Golos Text Bold" pitchFamily="34" charset="-122"/>
                <a:cs typeface="Golos Text Bold" pitchFamily="34" charset="-120"/>
              </a:rPr>
              <a:t>READ</a:t>
            </a:r>
            <a:r>
              <a:rPr lang="en-US" sz="1700" dirty="0">
                <a:solidFill>
                  <a:srgbClr val="111314"/>
                </a:solidFill>
                <a:latin typeface="Golos Text" pitchFamily="34" charset="0"/>
                <a:ea typeface="Golos Text" pitchFamily="34" charset="-122"/>
                <a:cs typeface="Golos Text" pitchFamily="34" charset="-120"/>
              </a:rPr>
              <a:t> · Repeated execution from the user’s Downloads folder, not simple file presence.</a:t>
            </a:r>
            <a:endParaRPr lang="en-US" sz="1700" dirty="0"/>
          </a:p>
        </p:txBody>
      </p:sp>
      <p:sp>
        <p:nvSpPr>
          <p:cNvPr id="7" name="Shape 4"/>
          <p:cNvSpPr/>
          <p:nvPr/>
        </p:nvSpPr>
        <p:spPr>
          <a:xfrm>
            <a:off x="0" y="6417965"/>
            <a:ext cx="12191695" cy="440035"/>
          </a:xfrm>
          <a:prstGeom prst="rect">
            <a:avLst/>
          </a:prstGeom>
          <a:solidFill>
            <a:srgbClr val="F2F2F2"/>
          </a:solidFill>
          <a:ln/>
        </p:spPr>
        <p:txBody>
          <a:bodyPr/>
          <a:lstStyle/>
          <a:p>
            <a:endParaRPr/>
          </a:p>
        </p:txBody>
      </p:sp>
      <p:sp>
        <p:nvSpPr>
          <p:cNvPr id="8" name="Text 5"/>
          <p:cNvSpPr/>
          <p:nvPr/>
        </p:nvSpPr>
        <p:spPr>
          <a:xfrm>
            <a:off x="609585" y="6532265"/>
            <a:ext cx="11582110" cy="173335"/>
          </a:xfrm>
          <a:prstGeom prst="rect">
            <a:avLst/>
          </a:prstGeom>
          <a:noFill/>
          <a:ln/>
        </p:spPr>
        <p:txBody>
          <a:bodyPr wrap="none" lIns="0" tIns="0" rIns="0" bIns="0" rtlCol="0" anchor="t"/>
          <a:lstStyle/>
          <a:p>
            <a:pPr marL="0" indent="0" algn="l">
              <a:lnSpc>
                <a:spcPct val="108000"/>
              </a:lnSpc>
              <a:buNone/>
            </a:pPr>
            <a:r>
              <a:rPr lang="en-US" sz="1050" kern="100" spc="21" dirty="0">
                <a:solidFill>
                  <a:srgbClr val="595959"/>
                </a:solidFill>
                <a:latin typeface="PT Mono" pitchFamily="34" charset="0"/>
                <a:ea typeface="PT Mono" pitchFamily="34" charset="-122"/>
                <a:cs typeface="PT Mono" pitchFamily="34" charset="-120"/>
              </a:rPr>
              <a:t>RECONSTRUCTION · synthetic training data, not a real endpoint export</a:t>
            </a:r>
            <a:endParaRPr lang="en-US" sz="1050" dirty="0"/>
          </a:p>
        </p:txBody>
      </p:sp>
      <p:sp>
        <p:nvSpPr>
          <p:cNvPr id="950" name="Slide Number"/>
          <p:cNvSpPr txBox="1"/>
          <p:nvPr/>
        </p:nvSpPr>
        <p:spPr>
          <a:xfrm>
            <a:off x="10012680" y="6501383"/>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rPr>
              <a:t>4</a:t>
            </a:fld>
            <a:endParaRPr lang="en-IN"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1131647"/>
            <a:ext cx="11582110"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itchFamily="34" charset="0"/>
                <a:ea typeface="PT Mono" pitchFamily="34" charset="-122"/>
                <a:cs typeface="PT Mono" pitchFamily="34" charset="-120"/>
              </a:rPr>
              <a:t>SAMPLE ARTIFACT · AMCACHE</a:t>
            </a:r>
            <a:endParaRPr lang="en-US" sz="1150" dirty="0"/>
          </a:p>
        </p:txBody>
      </p:sp>
      <p:sp>
        <p:nvSpPr>
          <p:cNvPr id="3" name="Text 1"/>
          <p:cNvSpPr/>
          <p:nvPr/>
        </p:nvSpPr>
        <p:spPr>
          <a:xfrm>
            <a:off x="609585" y="1408467"/>
            <a:ext cx="10972526" cy="410170"/>
          </a:xfrm>
          <a:prstGeom prst="rect">
            <a:avLst/>
          </a:prstGeom>
          <a:noFill/>
          <a:ln/>
        </p:spPr>
        <p:txBody>
          <a:bodyPr wrap="none" lIns="0" tIns="0" rIns="0" bIns="0" rtlCol="0" anchor="t"/>
          <a:lstStyle/>
          <a:p>
            <a:pPr marL="0" indent="0" algn="l">
              <a:lnSpc>
                <a:spcPct val="79000"/>
              </a:lnSpc>
              <a:buNone/>
            </a:pPr>
            <a:r>
              <a:rPr lang="en-US" sz="3400" b="1" kern="100" spc="17" dirty="0">
                <a:solidFill>
                  <a:srgbClr val="111314"/>
                </a:solidFill>
                <a:latin typeface="Alumni Sans Bold" pitchFamily="34" charset="0"/>
                <a:ea typeface="Alumni Sans Bold" pitchFamily="34" charset="-122"/>
                <a:cs typeface="Alumni Sans Bold" pitchFamily="34" charset="-120"/>
              </a:rPr>
              <a:t>SAMPLE AMCACHE: THE UTILITY IS CATALOGUED</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3116922072"/>
              </p:ext>
            </p:extLst>
          </p:nvPr>
        </p:nvGraphicFramePr>
        <p:xfrm>
          <a:off x="609585" y="1989453"/>
          <a:ext cx="10972526" cy="2364521"/>
        </p:xfrm>
        <a:graphic>
          <a:graphicData uri="http://schemas.openxmlformats.org/drawingml/2006/table">
            <a:tbl>
              <a:tblPr/>
              <a:tblGrid>
                <a:gridCol w="3072232">
                  <a:extLst>
                    <a:ext uri="{9D8B030D-6E8A-4147-A177-3AD203B41FA5}">
                      <a16:colId xmlns:a16="http://schemas.microsoft.com/office/drawing/2014/main" val="20000"/>
                    </a:ext>
                  </a:extLst>
                </a:gridCol>
                <a:gridCol w="7900294">
                  <a:extLst>
                    <a:ext uri="{9D8B030D-6E8A-4147-A177-3AD203B41FA5}">
                      <a16:colId xmlns:a16="http://schemas.microsoft.com/office/drawing/2014/main" val="20001"/>
                    </a:ext>
                  </a:extLst>
                </a:gridCol>
              </a:tblGrid>
              <a:tr h="475444">
                <a:tc>
                  <a:txBody>
                    <a:bodyPr/>
                    <a:lstStyle/>
                    <a:p>
                      <a:pPr marL="0" indent="0" algn="l">
                        <a:buNone/>
                      </a:pPr>
                      <a:r>
                        <a:rPr lang="en-US" sz="1700" dirty="0">
                          <a:solidFill>
                            <a:srgbClr val="B6BFC1"/>
                          </a:solidFill>
                          <a:latin typeface="Golos Text" pitchFamily="34" charset="0"/>
                          <a:ea typeface="Golos Text" pitchFamily="34" charset="-122"/>
                          <a:cs typeface="Golos Text" pitchFamily="34" charset="-120"/>
                        </a:rPr>
                        <a:t>Field</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solidFill>
                      <a:srgbClr val="111314"/>
                    </a:solidFill>
                  </a:tcPr>
                </a:tc>
                <a:tc>
                  <a:txBody>
                    <a:bodyPr/>
                    <a:lstStyle/>
                    <a:p>
                      <a:pPr marL="0" indent="0" algn="l">
                        <a:buNone/>
                      </a:pPr>
                      <a:r>
                        <a:rPr lang="en-US" sz="1700" dirty="0">
                          <a:solidFill>
                            <a:srgbClr val="B6BFC1"/>
                          </a:solidFill>
                          <a:latin typeface="Golos Text" pitchFamily="34" charset="0"/>
                          <a:ea typeface="Golos Text" pitchFamily="34" charset="-122"/>
                          <a:cs typeface="Golos Text" pitchFamily="34" charset="-120"/>
                        </a:rPr>
                        <a:t>Observed value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solidFill>
                      <a:srgbClr val="111314"/>
                    </a:solidFill>
                  </a:tcPr>
                </a:tc>
                <a:extLst>
                  <a:ext uri="{0D108BD9-81ED-4DB2-BD59-A6C34878D82A}">
                    <a16:rowId xmlns:a16="http://schemas.microsoft.com/office/drawing/2014/main" val="10000"/>
                  </a:ext>
                </a:extLst>
              </a:tr>
              <a:tr h="475444">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Path</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C:\Users\jlee\Downloads\netprobe.exe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1"/>
                  </a:ext>
                </a:extLst>
              </a:tr>
              <a:tr h="475444">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Publisher</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unsigned / not identified</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2"/>
                  </a:ext>
                </a:extLst>
              </a:tr>
              <a:tr h="475444">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SHA-1</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9f2b…7a41</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3"/>
                  </a:ext>
                </a:extLst>
              </a:tr>
              <a:tr h="462745">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First-seen context</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B6BFC1"/>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present in Amcache.hve after the incident window</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B6BF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609585" y="4531834"/>
            <a:ext cx="8046439" cy="925513"/>
          </a:xfrm>
          <a:prstGeom prst="rect">
            <a:avLst/>
          </a:prstGeom>
          <a:solidFill>
            <a:srgbClr val="FDE8E0"/>
          </a:solidFill>
          <a:ln/>
        </p:spPr>
        <p:txBody>
          <a:bodyPr/>
          <a:lstStyle/>
          <a:p>
            <a:endParaRPr/>
          </a:p>
        </p:txBody>
      </p:sp>
      <p:sp>
        <p:nvSpPr>
          <p:cNvPr id="4" name="Text 3"/>
          <p:cNvSpPr/>
          <p:nvPr/>
        </p:nvSpPr>
        <p:spPr>
          <a:xfrm>
            <a:off x="838179" y="4719349"/>
            <a:ext cx="7589251" cy="569913"/>
          </a:xfrm>
          <a:prstGeom prst="rect">
            <a:avLst/>
          </a:prstGeom>
          <a:noFill/>
          <a:ln/>
        </p:spPr>
        <p:txBody>
          <a:bodyPr wrap="square" lIns="0" tIns="0" rIns="0" bIns="0" rtlCol="0" anchor="t">
            <a:normAutofit/>
          </a:bodyPr>
          <a:lstStyle/>
          <a:p>
            <a:pPr marL="0" indent="0" algn="l">
              <a:lnSpc>
                <a:spcPct val="110000"/>
              </a:lnSpc>
              <a:buNone/>
            </a:pPr>
            <a:r>
              <a:rPr lang="en-US" sz="1700" b="1" dirty="0">
                <a:solidFill>
                  <a:srgbClr val="111314"/>
                </a:solidFill>
                <a:latin typeface="Golos Text Bold" pitchFamily="34" charset="0"/>
                <a:ea typeface="Golos Text Bold" pitchFamily="34" charset="-122"/>
                <a:cs typeface="Golos Text Bold" pitchFamily="34" charset="-120"/>
              </a:rPr>
              <a:t>READ</a:t>
            </a:r>
            <a:r>
              <a:rPr lang="en-US" sz="1700" dirty="0">
                <a:solidFill>
                  <a:srgbClr val="111314"/>
                </a:solidFill>
                <a:latin typeface="Golos Text" pitchFamily="34" charset="0"/>
                <a:ea typeface="Golos Text" pitchFamily="34" charset="-122"/>
                <a:cs typeface="Golos Text" pitchFamily="34" charset="-120"/>
              </a:rPr>
              <a:t> · The binary was known to the system. That supports timeline and identity, but does not prove the user launched it.</a:t>
            </a:r>
            <a:endParaRPr lang="en-US" sz="1700" dirty="0"/>
          </a:p>
        </p:txBody>
      </p:sp>
      <p:sp>
        <p:nvSpPr>
          <p:cNvPr id="8" name="Shape 5"/>
          <p:cNvSpPr/>
          <p:nvPr/>
        </p:nvSpPr>
        <p:spPr>
          <a:xfrm>
            <a:off x="0" y="6417965"/>
            <a:ext cx="12191695" cy="440035"/>
          </a:xfrm>
          <a:prstGeom prst="rect">
            <a:avLst/>
          </a:prstGeom>
          <a:solidFill>
            <a:srgbClr val="F2F2F2"/>
          </a:solidFill>
          <a:ln/>
        </p:spPr>
        <p:txBody>
          <a:bodyPr/>
          <a:lstStyle/>
          <a:p>
            <a:endParaRPr/>
          </a:p>
        </p:txBody>
      </p:sp>
      <p:sp>
        <p:nvSpPr>
          <p:cNvPr id="9" name="Text 6"/>
          <p:cNvSpPr/>
          <p:nvPr/>
        </p:nvSpPr>
        <p:spPr>
          <a:xfrm>
            <a:off x="609585" y="6532265"/>
            <a:ext cx="11582110" cy="173335"/>
          </a:xfrm>
          <a:prstGeom prst="rect">
            <a:avLst/>
          </a:prstGeom>
          <a:noFill/>
          <a:ln/>
        </p:spPr>
        <p:txBody>
          <a:bodyPr wrap="none" lIns="0" tIns="0" rIns="0" bIns="0" rtlCol="0" anchor="t"/>
          <a:lstStyle/>
          <a:p>
            <a:pPr marL="0" indent="0" algn="l">
              <a:lnSpc>
                <a:spcPct val="108000"/>
              </a:lnSpc>
              <a:buNone/>
            </a:pPr>
            <a:r>
              <a:rPr lang="en-US" sz="1050" kern="100" spc="21" dirty="0">
                <a:solidFill>
                  <a:srgbClr val="595959"/>
                </a:solidFill>
                <a:latin typeface="PT Mono" pitchFamily="34" charset="0"/>
                <a:ea typeface="PT Mono" pitchFamily="34" charset="-122"/>
                <a:cs typeface="PT Mono" pitchFamily="34" charset="-120"/>
              </a:rPr>
              <a:t>RECONSTRUCTION · synthetic training data, not a real endpoint export</a:t>
            </a:r>
            <a:endParaRPr lang="en-US" sz="1050" dirty="0"/>
          </a:p>
        </p:txBody>
      </p:sp>
      <p:sp>
        <p:nvSpPr>
          <p:cNvPr id="950" name="Slide Number"/>
          <p:cNvSpPr txBox="1"/>
          <p:nvPr/>
        </p:nvSpPr>
        <p:spPr>
          <a:xfrm>
            <a:off x="10012680" y="6501383"/>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rPr>
              <a:t>5</a:t>
            </a:fld>
            <a:endParaRPr lang="en-IN"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1199098"/>
            <a:ext cx="11582110"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itchFamily="34" charset="0"/>
                <a:ea typeface="PT Mono" pitchFamily="34" charset="-122"/>
                <a:cs typeface="PT Mono" pitchFamily="34" charset="-120"/>
              </a:rPr>
              <a:t>SAMPLE ARTIFACT · SHIMCACHE</a:t>
            </a:r>
            <a:endParaRPr lang="en-US" sz="1150" dirty="0"/>
          </a:p>
        </p:txBody>
      </p:sp>
      <p:sp>
        <p:nvSpPr>
          <p:cNvPr id="3" name="Text 1"/>
          <p:cNvSpPr/>
          <p:nvPr/>
        </p:nvSpPr>
        <p:spPr>
          <a:xfrm>
            <a:off x="609585" y="1475919"/>
            <a:ext cx="10972526" cy="410170"/>
          </a:xfrm>
          <a:prstGeom prst="rect">
            <a:avLst/>
          </a:prstGeom>
          <a:noFill/>
          <a:ln/>
        </p:spPr>
        <p:txBody>
          <a:bodyPr wrap="none" lIns="0" tIns="0" rIns="0" bIns="0" rtlCol="0" anchor="t"/>
          <a:lstStyle/>
          <a:p>
            <a:pPr marL="0" indent="0" algn="l">
              <a:lnSpc>
                <a:spcPct val="79000"/>
              </a:lnSpc>
              <a:buNone/>
            </a:pPr>
            <a:r>
              <a:rPr lang="en-US" sz="3400" b="1" kern="100" spc="17" dirty="0">
                <a:solidFill>
                  <a:srgbClr val="111314"/>
                </a:solidFill>
                <a:latin typeface="Alumni Sans Bold" pitchFamily="34" charset="0"/>
                <a:ea typeface="Alumni Sans Bold" pitchFamily="34" charset="-122"/>
                <a:cs typeface="Alumni Sans Bold" pitchFamily="34" charset="-120"/>
              </a:rPr>
              <a:t>SAMPLE SHIMCACHE: COMPATIBILITY CONTEXT</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9585" y="2056904"/>
          <a:ext cx="10972526" cy="1889077"/>
        </p:xfrm>
        <a:graphic>
          <a:graphicData uri="http://schemas.openxmlformats.org/drawingml/2006/table">
            <a:tbl>
              <a:tblPr/>
              <a:tblGrid>
                <a:gridCol w="3291698">
                  <a:extLst>
                    <a:ext uri="{9D8B030D-6E8A-4147-A177-3AD203B41FA5}">
                      <a16:colId xmlns:a16="http://schemas.microsoft.com/office/drawing/2014/main" val="20000"/>
                    </a:ext>
                  </a:extLst>
                </a:gridCol>
                <a:gridCol w="7680828">
                  <a:extLst>
                    <a:ext uri="{9D8B030D-6E8A-4147-A177-3AD203B41FA5}">
                      <a16:colId xmlns:a16="http://schemas.microsoft.com/office/drawing/2014/main" val="20001"/>
                    </a:ext>
                  </a:extLst>
                </a:gridCol>
              </a:tblGrid>
              <a:tr h="475444">
                <a:tc>
                  <a:txBody>
                    <a:bodyPr/>
                    <a:lstStyle/>
                    <a:p>
                      <a:pPr marL="0" indent="0" algn="l">
                        <a:buNone/>
                      </a:pPr>
                      <a:r>
                        <a:rPr lang="en-US" sz="1700" dirty="0">
                          <a:solidFill>
                            <a:srgbClr val="B6BFC1"/>
                          </a:solidFill>
                          <a:latin typeface="Golos Text" pitchFamily="34" charset="0"/>
                          <a:ea typeface="Golos Text" pitchFamily="34" charset="-122"/>
                          <a:cs typeface="Golos Text" pitchFamily="34" charset="-120"/>
                        </a:rPr>
                        <a:t>Field</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solidFill>
                      <a:srgbClr val="111314"/>
                    </a:solidFill>
                  </a:tcPr>
                </a:tc>
                <a:tc>
                  <a:txBody>
                    <a:bodyPr/>
                    <a:lstStyle/>
                    <a:p>
                      <a:pPr marL="0" indent="0" algn="l">
                        <a:buNone/>
                      </a:pPr>
                      <a:r>
                        <a:rPr lang="en-US" sz="1700" dirty="0">
                          <a:solidFill>
                            <a:srgbClr val="B6BFC1"/>
                          </a:solidFill>
                          <a:latin typeface="Golos Text" pitchFamily="34" charset="0"/>
                          <a:ea typeface="Golos Text" pitchFamily="34" charset="-122"/>
                          <a:cs typeface="Golos Text" pitchFamily="34" charset="-120"/>
                        </a:rPr>
                        <a:t>Observed value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solidFill>
                      <a:srgbClr val="111314"/>
                    </a:solidFill>
                  </a:tcPr>
                </a:tc>
                <a:extLst>
                  <a:ext uri="{0D108BD9-81ED-4DB2-BD59-A6C34878D82A}">
                    <a16:rowId xmlns:a16="http://schemas.microsoft.com/office/drawing/2014/main" val="10000"/>
                  </a:ext>
                </a:extLst>
              </a:tr>
              <a:tr h="475444">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Entry</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C:\Users\jlee\Downloads\netprobe.exe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1"/>
                  </a:ext>
                </a:extLst>
              </a:tr>
              <a:tr h="475444">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File size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184,320 bytes</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2"/>
                  </a:ext>
                </a:extLst>
              </a:tr>
              <a:tr h="462745">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Recorded timestamp</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B6BFC1"/>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2026-10-10 16:02 UTC</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B6BFC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609585" y="4123829"/>
            <a:ext cx="10972526" cy="925513"/>
          </a:xfrm>
          <a:prstGeom prst="rect">
            <a:avLst/>
          </a:prstGeom>
          <a:solidFill>
            <a:srgbClr val="FDE8E0"/>
          </a:solidFill>
          <a:ln/>
        </p:spPr>
        <p:txBody>
          <a:bodyPr/>
          <a:lstStyle/>
          <a:p>
            <a:endParaRPr/>
          </a:p>
        </p:txBody>
      </p:sp>
      <p:sp>
        <p:nvSpPr>
          <p:cNvPr id="6" name="Text 3"/>
          <p:cNvSpPr/>
          <p:nvPr/>
        </p:nvSpPr>
        <p:spPr>
          <a:xfrm>
            <a:off x="838179" y="4311344"/>
            <a:ext cx="10515337" cy="569913"/>
          </a:xfrm>
          <a:prstGeom prst="rect">
            <a:avLst/>
          </a:prstGeom>
          <a:noFill/>
          <a:ln/>
        </p:spPr>
        <p:txBody>
          <a:bodyPr wrap="square" lIns="0" tIns="0" rIns="0" bIns="0" rtlCol="0" anchor="t">
            <a:normAutofit/>
          </a:bodyPr>
          <a:lstStyle/>
          <a:p>
            <a:pPr marL="0" indent="0" algn="l">
              <a:lnSpc>
                <a:spcPct val="110000"/>
              </a:lnSpc>
              <a:buNone/>
            </a:pPr>
            <a:r>
              <a:rPr lang="en-US" sz="1700" b="1" dirty="0">
                <a:solidFill>
                  <a:srgbClr val="111314"/>
                </a:solidFill>
                <a:latin typeface="Golos Text Bold" pitchFamily="34" charset="0"/>
                <a:ea typeface="Golos Text Bold" pitchFamily="34" charset="-122"/>
                <a:cs typeface="Golos Text Bold" pitchFamily="34" charset="-120"/>
              </a:rPr>
              <a:t>READ</a:t>
            </a:r>
            <a:r>
              <a:rPr lang="en-US" sz="1700" dirty="0">
                <a:solidFill>
                  <a:srgbClr val="111314"/>
                </a:solidFill>
                <a:latin typeface="Golos Text" pitchFamily="34" charset="0"/>
                <a:ea typeface="Golos Text" pitchFamily="34" charset="-122"/>
                <a:cs typeface="Golos Text" pitchFamily="34" charset="-120"/>
              </a:rPr>
              <a:t> · The path and metadata align with the same binary, but the timestamp may reflect the file’s own metadata rather than execution.</a:t>
            </a:r>
            <a:endParaRPr lang="en-US" sz="1700" dirty="0"/>
          </a:p>
        </p:txBody>
      </p:sp>
      <p:sp>
        <p:nvSpPr>
          <p:cNvPr id="4" name="Text 4"/>
          <p:cNvSpPr/>
          <p:nvPr/>
        </p:nvSpPr>
        <p:spPr>
          <a:xfrm>
            <a:off x="609585" y="5227141"/>
            <a:ext cx="11582110" cy="173335"/>
          </a:xfrm>
          <a:prstGeom prst="rect">
            <a:avLst/>
          </a:prstGeom>
          <a:noFill/>
          <a:ln/>
        </p:spPr>
        <p:txBody>
          <a:bodyPr wrap="none" lIns="0" tIns="0" rIns="0" bIns="0" rtlCol="0" anchor="t"/>
          <a:lstStyle/>
          <a:p>
            <a:pPr marL="0" indent="0" algn="l">
              <a:lnSpc>
                <a:spcPct val="108000"/>
              </a:lnSpc>
              <a:buNone/>
            </a:pPr>
            <a:r>
              <a:rPr lang="en-US" sz="1050" kern="100" spc="21" dirty="0">
                <a:solidFill>
                  <a:srgbClr val="2E3437"/>
                </a:solidFill>
                <a:latin typeface="PT Mono" pitchFamily="34" charset="0"/>
                <a:ea typeface="PT Mono" pitchFamily="34" charset="-122"/>
                <a:cs typeface="PT Mono" pitchFamily="34" charset="-120"/>
              </a:rPr>
              <a:t>Shimcache timestamps can predate installation and should not be read as run times.</a:t>
            </a:r>
            <a:endParaRPr lang="en-US" sz="1050" dirty="0"/>
          </a:p>
        </p:txBody>
      </p:sp>
      <p:sp>
        <p:nvSpPr>
          <p:cNvPr id="8" name="Shape 5"/>
          <p:cNvSpPr/>
          <p:nvPr/>
        </p:nvSpPr>
        <p:spPr>
          <a:xfrm>
            <a:off x="0" y="6417965"/>
            <a:ext cx="12191695" cy="440035"/>
          </a:xfrm>
          <a:prstGeom prst="rect">
            <a:avLst/>
          </a:prstGeom>
          <a:solidFill>
            <a:srgbClr val="F2F2F2"/>
          </a:solidFill>
          <a:ln/>
        </p:spPr>
        <p:txBody>
          <a:bodyPr/>
          <a:lstStyle/>
          <a:p>
            <a:endParaRPr/>
          </a:p>
        </p:txBody>
      </p:sp>
      <p:sp>
        <p:nvSpPr>
          <p:cNvPr id="9" name="Text 6"/>
          <p:cNvSpPr/>
          <p:nvPr/>
        </p:nvSpPr>
        <p:spPr>
          <a:xfrm>
            <a:off x="609585" y="6532265"/>
            <a:ext cx="11582110" cy="173335"/>
          </a:xfrm>
          <a:prstGeom prst="rect">
            <a:avLst/>
          </a:prstGeom>
          <a:noFill/>
          <a:ln/>
        </p:spPr>
        <p:txBody>
          <a:bodyPr wrap="none" lIns="0" tIns="0" rIns="0" bIns="0" rtlCol="0" anchor="t"/>
          <a:lstStyle/>
          <a:p>
            <a:pPr marL="0" indent="0" algn="l">
              <a:lnSpc>
                <a:spcPct val="108000"/>
              </a:lnSpc>
              <a:buNone/>
            </a:pPr>
            <a:r>
              <a:rPr lang="en-US" sz="1050" kern="100" spc="21" dirty="0">
                <a:solidFill>
                  <a:srgbClr val="595959"/>
                </a:solidFill>
                <a:latin typeface="PT Mono" pitchFamily="34" charset="0"/>
                <a:ea typeface="PT Mono" pitchFamily="34" charset="-122"/>
                <a:cs typeface="PT Mono" pitchFamily="34" charset="-120"/>
              </a:rPr>
              <a:t>RECONSTRUCTION · synthetic training data, not a real endpoint export</a:t>
            </a:r>
            <a:endParaRPr lang="en-US" sz="1050" dirty="0"/>
          </a:p>
        </p:txBody>
      </p:sp>
      <p:sp>
        <p:nvSpPr>
          <p:cNvPr id="950" name="Slide Number"/>
          <p:cNvSpPr txBox="1"/>
          <p:nvPr/>
        </p:nvSpPr>
        <p:spPr>
          <a:xfrm>
            <a:off x="10012680" y="6501383"/>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rPr>
              <a:t>6</a:t>
            </a:fld>
            <a:endParaRPr lang="en-IN"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851514"/>
            <a:ext cx="11582110"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itchFamily="34" charset="0"/>
                <a:ea typeface="PT Mono" pitchFamily="34" charset="-122"/>
                <a:cs typeface="PT Mono" pitchFamily="34" charset="-120"/>
              </a:rPr>
              <a:t>METHOD · CORRELATION</a:t>
            </a:r>
            <a:endParaRPr lang="en-US" sz="1150" dirty="0"/>
          </a:p>
        </p:txBody>
      </p:sp>
      <p:sp>
        <p:nvSpPr>
          <p:cNvPr id="3" name="Text 1"/>
          <p:cNvSpPr/>
          <p:nvPr/>
        </p:nvSpPr>
        <p:spPr>
          <a:xfrm>
            <a:off x="609585" y="1136120"/>
            <a:ext cx="10972526" cy="410170"/>
          </a:xfrm>
          <a:prstGeom prst="rect">
            <a:avLst/>
          </a:prstGeom>
          <a:noFill/>
          <a:ln/>
        </p:spPr>
        <p:txBody>
          <a:bodyPr wrap="none" lIns="0" tIns="0" rIns="0" bIns="0" rtlCol="0" anchor="t"/>
          <a:lstStyle/>
          <a:p>
            <a:pPr marL="0" indent="0" algn="l">
              <a:lnSpc>
                <a:spcPct val="79000"/>
              </a:lnSpc>
              <a:buNone/>
            </a:pPr>
            <a:r>
              <a:rPr lang="en-US" sz="3400" b="1" kern="100" spc="17" dirty="0">
                <a:solidFill>
                  <a:srgbClr val="111314"/>
                </a:solidFill>
                <a:latin typeface="Alumni Sans Bold" pitchFamily="34" charset="0"/>
                <a:ea typeface="Alumni Sans Bold" pitchFamily="34" charset="-122"/>
                <a:cs typeface="Alumni Sans Bold" pitchFamily="34" charset="-120"/>
              </a:rPr>
              <a:t>CORRELATION TURNS ARTIFACTS INTO AN EVIDENCE CHAIN</a:t>
            </a:r>
            <a:endParaRPr lang="en-US" sz="3400" dirty="0"/>
          </a:p>
        </p:txBody>
      </p:sp>
      <p:sp>
        <p:nvSpPr>
          <p:cNvPr id="4" name="Shape 2"/>
          <p:cNvSpPr/>
          <p:nvPr/>
        </p:nvSpPr>
        <p:spPr>
          <a:xfrm>
            <a:off x="609585" y="1660699"/>
            <a:ext cx="609585" cy="609600"/>
          </a:xfrm>
          <a:prstGeom prst="ellipse">
            <a:avLst/>
          </a:prstGeom>
          <a:solidFill>
            <a:srgbClr val="F15A30"/>
          </a:solidFill>
          <a:ln/>
        </p:spPr>
        <p:txBody>
          <a:bodyPr/>
          <a:lstStyle/>
          <a:p>
            <a:endParaRPr/>
          </a:p>
        </p:txBody>
      </p:sp>
      <p:sp>
        <p:nvSpPr>
          <p:cNvPr id="5" name="Text 3"/>
          <p:cNvSpPr/>
          <p:nvPr/>
        </p:nvSpPr>
        <p:spPr>
          <a:xfrm>
            <a:off x="718227" y="1832711"/>
            <a:ext cx="1001886" cy="330200"/>
          </a:xfrm>
          <a:prstGeom prst="rect">
            <a:avLst/>
          </a:prstGeom>
          <a:noFill/>
          <a:ln/>
        </p:spPr>
        <p:txBody>
          <a:bodyPr wrap="none" lIns="0" tIns="0" rIns="0" bIns="0" rtlCol="0" anchor="t"/>
          <a:lstStyle/>
          <a:p>
            <a:pPr marL="0" indent="0" algn="l">
              <a:lnSpc>
                <a:spcPct val="83000"/>
              </a:lnSpc>
              <a:buNone/>
            </a:pPr>
            <a:r>
              <a:rPr lang="en-US" sz="2600" dirty="0">
                <a:solidFill>
                  <a:srgbClr val="111314"/>
                </a:solidFill>
                <a:latin typeface="Golos Text ExtraBold" pitchFamily="34" charset="0"/>
                <a:ea typeface="Golos Text ExtraBold" pitchFamily="34" charset="-122"/>
                <a:cs typeface="Golos Text ExtraBold" pitchFamily="34" charset="-120"/>
              </a:rPr>
              <a:t>01</a:t>
            </a:r>
            <a:endParaRPr lang="en-US" sz="2600" dirty="0"/>
          </a:p>
        </p:txBody>
      </p:sp>
      <p:sp>
        <p:nvSpPr>
          <p:cNvPr id="6" name="Text 4"/>
          <p:cNvSpPr/>
          <p:nvPr/>
        </p:nvSpPr>
        <p:spPr>
          <a:xfrm>
            <a:off x="1422362" y="1848274"/>
            <a:ext cx="4444889" cy="289520"/>
          </a:xfrm>
          <a:prstGeom prst="rect">
            <a:avLst/>
          </a:prstGeom>
          <a:noFill/>
          <a:ln/>
        </p:spPr>
        <p:txBody>
          <a:bodyPr wrap="none" lIns="0" tIns="0" rIns="0" bIns="0" rtlCol="0" anchor="t"/>
          <a:lstStyle/>
          <a:p>
            <a:pPr marL="0" indent="0" algn="l">
              <a:lnSpc>
                <a:spcPct val="100000"/>
              </a:lnSpc>
              <a:buNone/>
            </a:pPr>
            <a:r>
              <a:rPr lang="en-US" sz="1900" dirty="0">
                <a:solidFill>
                  <a:srgbClr val="111314"/>
                </a:solidFill>
                <a:latin typeface="Golos Text SemiBold" pitchFamily="34" charset="0"/>
                <a:ea typeface="Golos Text SemiBold" pitchFamily="34" charset="-122"/>
                <a:cs typeface="Golos Text SemiBold" pitchFamily="34" charset="-120"/>
              </a:rPr>
              <a:t>Normalize identifiers</a:t>
            </a:r>
            <a:endParaRPr lang="en-US" sz="1900" dirty="0"/>
          </a:p>
        </p:txBody>
      </p:sp>
      <p:sp>
        <p:nvSpPr>
          <p:cNvPr id="7" name="Text 5"/>
          <p:cNvSpPr/>
          <p:nvPr/>
        </p:nvSpPr>
        <p:spPr>
          <a:xfrm>
            <a:off x="1422364" y="2331971"/>
            <a:ext cx="4444889" cy="569913"/>
          </a:xfrm>
          <a:prstGeom prst="rect">
            <a:avLst/>
          </a:prstGeom>
          <a:noFill/>
          <a:ln/>
        </p:spPr>
        <p:txBody>
          <a:bodyPr wrap="square" lIns="0" tIns="0" rIns="0" bIns="0" rtlCol="0" anchor="t">
            <a:normAutofit/>
          </a:bodyPr>
          <a:lstStyle/>
          <a:p>
            <a:pPr marL="0" indent="0" algn="l">
              <a:lnSpc>
                <a:spcPct val="110000"/>
              </a:lnSpc>
              <a:buNone/>
            </a:pPr>
            <a:r>
              <a:rPr lang="en-US" sz="1700" dirty="0">
                <a:solidFill>
                  <a:srgbClr val="111314"/>
                </a:solidFill>
                <a:latin typeface="Golos Text" pitchFamily="34" charset="0"/>
                <a:ea typeface="Golos Text" pitchFamily="34" charset="-122"/>
                <a:cs typeface="Golos Text" pitchFamily="34" charset="-120"/>
              </a:rPr>
              <a:t>Normalize paths, filenames, hashes, and time zones.</a:t>
            </a:r>
            <a:endParaRPr lang="en-US" sz="1700" dirty="0"/>
          </a:p>
        </p:txBody>
      </p:sp>
      <p:sp>
        <p:nvSpPr>
          <p:cNvPr id="8" name="Shape 6"/>
          <p:cNvSpPr/>
          <p:nvPr/>
        </p:nvSpPr>
        <p:spPr>
          <a:xfrm>
            <a:off x="6324442" y="1667069"/>
            <a:ext cx="609585" cy="609600"/>
          </a:xfrm>
          <a:prstGeom prst="ellipse">
            <a:avLst/>
          </a:prstGeom>
          <a:solidFill>
            <a:srgbClr val="F15A30"/>
          </a:solidFill>
          <a:ln/>
        </p:spPr>
        <p:txBody>
          <a:bodyPr/>
          <a:lstStyle/>
          <a:p>
            <a:endParaRPr/>
          </a:p>
        </p:txBody>
      </p:sp>
      <p:sp>
        <p:nvSpPr>
          <p:cNvPr id="9" name="Text 7"/>
          <p:cNvSpPr/>
          <p:nvPr/>
        </p:nvSpPr>
        <p:spPr>
          <a:xfrm>
            <a:off x="6417904" y="1832711"/>
            <a:ext cx="1032246" cy="330200"/>
          </a:xfrm>
          <a:prstGeom prst="rect">
            <a:avLst/>
          </a:prstGeom>
          <a:noFill/>
          <a:ln/>
        </p:spPr>
        <p:txBody>
          <a:bodyPr wrap="none" lIns="0" tIns="0" rIns="0" bIns="0" rtlCol="0" anchor="t"/>
          <a:lstStyle/>
          <a:p>
            <a:pPr marL="0" indent="0" algn="l">
              <a:lnSpc>
                <a:spcPct val="83000"/>
              </a:lnSpc>
              <a:buNone/>
            </a:pPr>
            <a:r>
              <a:rPr lang="en-US" sz="2600" dirty="0">
                <a:solidFill>
                  <a:srgbClr val="111314"/>
                </a:solidFill>
                <a:latin typeface="Golos Text ExtraBold" pitchFamily="34" charset="0"/>
                <a:ea typeface="Golos Text ExtraBold" pitchFamily="34" charset="-122"/>
                <a:cs typeface="Golos Text ExtraBold" pitchFamily="34" charset="-120"/>
              </a:rPr>
              <a:t>02</a:t>
            </a:r>
            <a:endParaRPr lang="en-US" sz="2600" dirty="0"/>
          </a:p>
        </p:txBody>
      </p:sp>
      <p:sp>
        <p:nvSpPr>
          <p:cNvPr id="10" name="Text 8"/>
          <p:cNvSpPr/>
          <p:nvPr/>
        </p:nvSpPr>
        <p:spPr>
          <a:xfrm>
            <a:off x="7137219" y="1846815"/>
            <a:ext cx="4444889" cy="289520"/>
          </a:xfrm>
          <a:prstGeom prst="rect">
            <a:avLst/>
          </a:prstGeom>
          <a:noFill/>
          <a:ln/>
        </p:spPr>
        <p:txBody>
          <a:bodyPr wrap="none" lIns="0" tIns="0" rIns="0" bIns="0" rtlCol="0" anchor="t"/>
          <a:lstStyle/>
          <a:p>
            <a:pPr marL="0" indent="0" algn="l">
              <a:lnSpc>
                <a:spcPct val="100000"/>
              </a:lnSpc>
              <a:buNone/>
            </a:pPr>
            <a:r>
              <a:rPr lang="en-US" sz="1900" dirty="0">
                <a:solidFill>
                  <a:srgbClr val="111314"/>
                </a:solidFill>
                <a:latin typeface="Golos Text SemiBold" pitchFamily="34" charset="0"/>
                <a:ea typeface="Golos Text SemiBold" pitchFamily="34" charset="-122"/>
                <a:cs typeface="Golos Text SemiBold" pitchFamily="34" charset="-120"/>
              </a:rPr>
              <a:t>Test execution</a:t>
            </a:r>
            <a:endParaRPr lang="en-US" sz="1900" dirty="0"/>
          </a:p>
        </p:txBody>
      </p:sp>
      <p:sp>
        <p:nvSpPr>
          <p:cNvPr id="11" name="Text 9"/>
          <p:cNvSpPr/>
          <p:nvPr/>
        </p:nvSpPr>
        <p:spPr>
          <a:xfrm>
            <a:off x="7137221" y="2331971"/>
            <a:ext cx="4444889" cy="569913"/>
          </a:xfrm>
          <a:prstGeom prst="rect">
            <a:avLst/>
          </a:prstGeom>
          <a:noFill/>
          <a:ln/>
        </p:spPr>
        <p:txBody>
          <a:bodyPr wrap="square" lIns="0" tIns="0" rIns="0" bIns="0" rtlCol="0" anchor="t">
            <a:normAutofit/>
          </a:bodyPr>
          <a:lstStyle/>
          <a:p>
            <a:pPr marL="0" indent="0" algn="l">
              <a:lnSpc>
                <a:spcPct val="110000"/>
              </a:lnSpc>
              <a:buNone/>
            </a:pPr>
            <a:r>
              <a:rPr lang="en-US" sz="1700" dirty="0">
                <a:solidFill>
                  <a:srgbClr val="111314"/>
                </a:solidFill>
                <a:latin typeface="Golos Text" pitchFamily="34" charset="0"/>
                <a:ea typeface="Golos Text" pitchFamily="34" charset="-122"/>
                <a:cs typeface="Golos Text" pitchFamily="34" charset="-120"/>
              </a:rPr>
              <a:t>Use Prefetch to test execution and count the observed runs.</a:t>
            </a:r>
            <a:endParaRPr lang="en-US" sz="1700" dirty="0"/>
          </a:p>
        </p:txBody>
      </p:sp>
      <p:sp>
        <p:nvSpPr>
          <p:cNvPr id="12" name="Shape 10"/>
          <p:cNvSpPr/>
          <p:nvPr/>
        </p:nvSpPr>
        <p:spPr>
          <a:xfrm>
            <a:off x="609585" y="3456757"/>
            <a:ext cx="609585" cy="609600"/>
          </a:xfrm>
          <a:prstGeom prst="ellipse">
            <a:avLst/>
          </a:prstGeom>
          <a:solidFill>
            <a:srgbClr val="F15A30"/>
          </a:solidFill>
          <a:ln/>
        </p:spPr>
        <p:txBody>
          <a:bodyPr/>
          <a:lstStyle/>
          <a:p>
            <a:endParaRPr/>
          </a:p>
        </p:txBody>
      </p:sp>
      <p:sp>
        <p:nvSpPr>
          <p:cNvPr id="13" name="Text 11"/>
          <p:cNvSpPr/>
          <p:nvPr/>
        </p:nvSpPr>
        <p:spPr>
          <a:xfrm>
            <a:off x="701360" y="3596457"/>
            <a:ext cx="1035619" cy="330200"/>
          </a:xfrm>
          <a:prstGeom prst="rect">
            <a:avLst/>
          </a:prstGeom>
          <a:noFill/>
          <a:ln/>
        </p:spPr>
        <p:txBody>
          <a:bodyPr wrap="none" lIns="0" tIns="0" rIns="0" bIns="0" rtlCol="0" anchor="t"/>
          <a:lstStyle/>
          <a:p>
            <a:pPr marL="0" indent="0" algn="l">
              <a:lnSpc>
                <a:spcPct val="83000"/>
              </a:lnSpc>
              <a:buNone/>
            </a:pPr>
            <a:r>
              <a:rPr lang="en-US" sz="2600" dirty="0">
                <a:solidFill>
                  <a:srgbClr val="111314"/>
                </a:solidFill>
                <a:latin typeface="Golos Text ExtraBold" pitchFamily="34" charset="0"/>
                <a:ea typeface="Golos Text ExtraBold" pitchFamily="34" charset="-122"/>
                <a:cs typeface="Golos Text ExtraBold" pitchFamily="34" charset="-120"/>
              </a:rPr>
              <a:t>03</a:t>
            </a:r>
            <a:endParaRPr lang="en-US" sz="2600" dirty="0"/>
          </a:p>
        </p:txBody>
      </p:sp>
      <p:sp>
        <p:nvSpPr>
          <p:cNvPr id="14" name="Text 12"/>
          <p:cNvSpPr/>
          <p:nvPr/>
        </p:nvSpPr>
        <p:spPr>
          <a:xfrm>
            <a:off x="1422363" y="3622056"/>
            <a:ext cx="4444889" cy="289520"/>
          </a:xfrm>
          <a:prstGeom prst="rect">
            <a:avLst/>
          </a:prstGeom>
          <a:noFill/>
          <a:ln/>
        </p:spPr>
        <p:txBody>
          <a:bodyPr wrap="none" lIns="0" tIns="0" rIns="0" bIns="0" rtlCol="0" anchor="t"/>
          <a:lstStyle/>
          <a:p>
            <a:pPr marL="0" indent="0" algn="l">
              <a:lnSpc>
                <a:spcPct val="100000"/>
              </a:lnSpc>
              <a:buNone/>
            </a:pPr>
            <a:r>
              <a:rPr lang="en-US" sz="1900" dirty="0">
                <a:solidFill>
                  <a:srgbClr val="111314"/>
                </a:solidFill>
                <a:latin typeface="Golos Text SemiBold" pitchFamily="34" charset="0"/>
                <a:ea typeface="Golos Text SemiBold" pitchFamily="34" charset="-122"/>
                <a:cs typeface="Golos Text SemiBold" pitchFamily="34" charset="-120"/>
              </a:rPr>
              <a:t>Confirm identity</a:t>
            </a:r>
            <a:endParaRPr lang="en-US" sz="1900" dirty="0"/>
          </a:p>
        </p:txBody>
      </p:sp>
      <p:sp>
        <p:nvSpPr>
          <p:cNvPr id="15" name="Text 13"/>
          <p:cNvSpPr/>
          <p:nvPr/>
        </p:nvSpPr>
        <p:spPr>
          <a:xfrm>
            <a:off x="1422364" y="4095718"/>
            <a:ext cx="4444889" cy="569913"/>
          </a:xfrm>
          <a:prstGeom prst="rect">
            <a:avLst/>
          </a:prstGeom>
          <a:noFill/>
          <a:ln/>
        </p:spPr>
        <p:txBody>
          <a:bodyPr wrap="square" lIns="0" tIns="0" rIns="0" bIns="0" rtlCol="0" anchor="t">
            <a:normAutofit/>
          </a:bodyPr>
          <a:lstStyle/>
          <a:p>
            <a:pPr marL="0" indent="0" algn="l">
              <a:lnSpc>
                <a:spcPct val="110000"/>
              </a:lnSpc>
              <a:buNone/>
            </a:pPr>
            <a:r>
              <a:rPr lang="en-US" sz="1700" dirty="0">
                <a:solidFill>
                  <a:srgbClr val="111314"/>
                </a:solidFill>
                <a:latin typeface="Golos Text" pitchFamily="34" charset="0"/>
                <a:ea typeface="Golos Text" pitchFamily="34" charset="-122"/>
                <a:cs typeface="Golos Text" pitchFamily="34" charset="-120"/>
              </a:rPr>
              <a:t>Use Amcache to confirm binary identity and system presence.</a:t>
            </a:r>
            <a:endParaRPr lang="en-US" sz="1700" dirty="0"/>
          </a:p>
        </p:txBody>
      </p:sp>
      <p:sp>
        <p:nvSpPr>
          <p:cNvPr id="16" name="Shape 14"/>
          <p:cNvSpPr/>
          <p:nvPr/>
        </p:nvSpPr>
        <p:spPr>
          <a:xfrm>
            <a:off x="6324442" y="3456757"/>
            <a:ext cx="609585" cy="609600"/>
          </a:xfrm>
          <a:prstGeom prst="ellipse">
            <a:avLst/>
          </a:prstGeom>
          <a:solidFill>
            <a:srgbClr val="F15A30"/>
          </a:solidFill>
          <a:ln/>
        </p:spPr>
        <p:txBody>
          <a:bodyPr/>
          <a:lstStyle/>
          <a:p>
            <a:endParaRPr/>
          </a:p>
        </p:txBody>
      </p:sp>
      <p:sp>
        <p:nvSpPr>
          <p:cNvPr id="17" name="Text 15"/>
          <p:cNvSpPr/>
          <p:nvPr/>
        </p:nvSpPr>
        <p:spPr>
          <a:xfrm>
            <a:off x="6415423" y="3596457"/>
            <a:ext cx="1037207" cy="330200"/>
          </a:xfrm>
          <a:prstGeom prst="rect">
            <a:avLst/>
          </a:prstGeom>
          <a:noFill/>
          <a:ln/>
        </p:spPr>
        <p:txBody>
          <a:bodyPr wrap="none" lIns="0" tIns="0" rIns="0" bIns="0" rtlCol="0" anchor="t"/>
          <a:lstStyle/>
          <a:p>
            <a:pPr marL="0" indent="0" algn="l">
              <a:lnSpc>
                <a:spcPct val="83000"/>
              </a:lnSpc>
              <a:buNone/>
            </a:pPr>
            <a:r>
              <a:rPr lang="en-US" sz="2600" dirty="0">
                <a:solidFill>
                  <a:srgbClr val="111314"/>
                </a:solidFill>
                <a:latin typeface="Golos Text ExtraBold" pitchFamily="34" charset="0"/>
                <a:ea typeface="Golos Text ExtraBold" pitchFamily="34" charset="-122"/>
                <a:cs typeface="Golos Text ExtraBold" pitchFamily="34" charset="-120"/>
              </a:rPr>
              <a:t>04</a:t>
            </a:r>
            <a:endParaRPr lang="en-US" sz="2600" dirty="0"/>
          </a:p>
        </p:txBody>
      </p:sp>
      <p:sp>
        <p:nvSpPr>
          <p:cNvPr id="18" name="Text 16"/>
          <p:cNvSpPr/>
          <p:nvPr/>
        </p:nvSpPr>
        <p:spPr>
          <a:xfrm>
            <a:off x="7137220" y="3610562"/>
            <a:ext cx="4444889" cy="289520"/>
          </a:xfrm>
          <a:prstGeom prst="rect">
            <a:avLst/>
          </a:prstGeom>
          <a:noFill/>
          <a:ln/>
        </p:spPr>
        <p:txBody>
          <a:bodyPr wrap="none" lIns="0" tIns="0" rIns="0" bIns="0" rtlCol="0" anchor="t"/>
          <a:lstStyle/>
          <a:p>
            <a:pPr marL="0" indent="0" algn="l">
              <a:lnSpc>
                <a:spcPct val="100000"/>
              </a:lnSpc>
              <a:buNone/>
            </a:pPr>
            <a:r>
              <a:rPr lang="en-US" sz="1900" dirty="0">
                <a:solidFill>
                  <a:srgbClr val="111314"/>
                </a:solidFill>
                <a:latin typeface="Golos Text SemiBold" pitchFamily="34" charset="0"/>
                <a:ea typeface="Golos Text SemiBold" pitchFamily="34" charset="-122"/>
                <a:cs typeface="Golos Text SemiBold" pitchFamily="34" charset="-120"/>
              </a:rPr>
              <a:t>Corroborate context</a:t>
            </a:r>
            <a:endParaRPr lang="en-US" sz="1900" dirty="0"/>
          </a:p>
        </p:txBody>
      </p:sp>
      <p:sp>
        <p:nvSpPr>
          <p:cNvPr id="19" name="Text 17"/>
          <p:cNvSpPr/>
          <p:nvPr/>
        </p:nvSpPr>
        <p:spPr>
          <a:xfrm>
            <a:off x="7137221" y="4095718"/>
            <a:ext cx="4444889" cy="569913"/>
          </a:xfrm>
          <a:prstGeom prst="rect">
            <a:avLst/>
          </a:prstGeom>
          <a:noFill/>
          <a:ln/>
        </p:spPr>
        <p:txBody>
          <a:bodyPr wrap="square" lIns="0" tIns="0" rIns="0" bIns="0" rtlCol="0" anchor="t">
            <a:normAutofit/>
          </a:bodyPr>
          <a:lstStyle/>
          <a:p>
            <a:pPr marL="0" indent="0" algn="l">
              <a:lnSpc>
                <a:spcPct val="110000"/>
              </a:lnSpc>
              <a:buNone/>
            </a:pPr>
            <a:r>
              <a:rPr lang="en-US" sz="1700" dirty="0">
                <a:solidFill>
                  <a:srgbClr val="111314"/>
                </a:solidFill>
                <a:latin typeface="Golos Text" pitchFamily="34" charset="0"/>
                <a:ea typeface="Golos Text" pitchFamily="34" charset="-122"/>
                <a:cs typeface="Golos Text" pitchFamily="34" charset="-120"/>
              </a:rPr>
              <a:t>Use Shimcache as corroborating context, never as the verdict alone.</a:t>
            </a:r>
            <a:endParaRPr lang="en-US" sz="1700" dirty="0"/>
          </a:p>
        </p:txBody>
      </p:sp>
      <p:sp>
        <p:nvSpPr>
          <p:cNvPr id="20" name="Shape 18"/>
          <p:cNvSpPr/>
          <p:nvPr/>
        </p:nvSpPr>
        <p:spPr>
          <a:xfrm>
            <a:off x="609585" y="5113115"/>
            <a:ext cx="609585" cy="609600"/>
          </a:xfrm>
          <a:prstGeom prst="ellipse">
            <a:avLst/>
          </a:prstGeom>
          <a:solidFill>
            <a:srgbClr val="F15A30"/>
          </a:solidFill>
          <a:ln/>
        </p:spPr>
        <p:txBody>
          <a:bodyPr/>
          <a:lstStyle/>
          <a:p>
            <a:endParaRPr/>
          </a:p>
        </p:txBody>
      </p:sp>
      <p:sp>
        <p:nvSpPr>
          <p:cNvPr id="21" name="Text 19"/>
          <p:cNvSpPr/>
          <p:nvPr/>
        </p:nvSpPr>
        <p:spPr>
          <a:xfrm>
            <a:off x="701360" y="5252815"/>
            <a:ext cx="1035619" cy="330200"/>
          </a:xfrm>
          <a:prstGeom prst="rect">
            <a:avLst/>
          </a:prstGeom>
          <a:noFill/>
          <a:ln/>
        </p:spPr>
        <p:txBody>
          <a:bodyPr wrap="none" lIns="0" tIns="0" rIns="0" bIns="0" rtlCol="0" anchor="t"/>
          <a:lstStyle/>
          <a:p>
            <a:pPr marL="0" indent="0" algn="l">
              <a:lnSpc>
                <a:spcPct val="83000"/>
              </a:lnSpc>
              <a:buNone/>
            </a:pPr>
            <a:r>
              <a:rPr lang="en-US" sz="2600" dirty="0">
                <a:solidFill>
                  <a:srgbClr val="111314"/>
                </a:solidFill>
                <a:latin typeface="Golos Text ExtraBold" pitchFamily="34" charset="0"/>
                <a:ea typeface="Golos Text ExtraBold" pitchFamily="34" charset="-122"/>
                <a:cs typeface="Golos Text ExtraBold" pitchFamily="34" charset="-120"/>
              </a:rPr>
              <a:t>05</a:t>
            </a:r>
            <a:endParaRPr lang="en-US" sz="2600" dirty="0"/>
          </a:p>
        </p:txBody>
      </p:sp>
      <p:sp>
        <p:nvSpPr>
          <p:cNvPr id="22" name="Text 20"/>
          <p:cNvSpPr/>
          <p:nvPr/>
        </p:nvSpPr>
        <p:spPr>
          <a:xfrm>
            <a:off x="1422365" y="5274017"/>
            <a:ext cx="10159746" cy="289520"/>
          </a:xfrm>
          <a:prstGeom prst="rect">
            <a:avLst/>
          </a:prstGeom>
          <a:noFill/>
          <a:ln/>
        </p:spPr>
        <p:txBody>
          <a:bodyPr wrap="none" lIns="0" tIns="0" rIns="0" bIns="0" rtlCol="0" anchor="t"/>
          <a:lstStyle/>
          <a:p>
            <a:pPr marL="0" indent="0" algn="l">
              <a:lnSpc>
                <a:spcPct val="100000"/>
              </a:lnSpc>
              <a:buNone/>
            </a:pPr>
            <a:r>
              <a:rPr lang="en-US" sz="1900" dirty="0">
                <a:solidFill>
                  <a:srgbClr val="111314"/>
                </a:solidFill>
                <a:latin typeface="Golos Text SemiBold" pitchFamily="34" charset="0"/>
                <a:ea typeface="Golos Text SemiBold" pitchFamily="34" charset="-122"/>
                <a:cs typeface="Golos Text SemiBold" pitchFamily="34" charset="-120"/>
              </a:rPr>
              <a:t>Cross-check user attribution</a:t>
            </a:r>
            <a:endParaRPr lang="en-US" sz="1900" dirty="0"/>
          </a:p>
        </p:txBody>
      </p:sp>
      <p:sp>
        <p:nvSpPr>
          <p:cNvPr id="23" name="Text 21"/>
          <p:cNvSpPr/>
          <p:nvPr/>
        </p:nvSpPr>
        <p:spPr>
          <a:xfrm>
            <a:off x="1422365" y="5660008"/>
            <a:ext cx="10159746" cy="569913"/>
          </a:xfrm>
          <a:prstGeom prst="rect">
            <a:avLst/>
          </a:prstGeom>
          <a:noFill/>
          <a:ln/>
        </p:spPr>
        <p:txBody>
          <a:bodyPr wrap="square" lIns="0" tIns="0" rIns="0" bIns="0" rtlCol="0" anchor="t">
            <a:normAutofit/>
          </a:bodyPr>
          <a:lstStyle/>
          <a:p>
            <a:pPr marL="0" indent="0" algn="l">
              <a:lnSpc>
                <a:spcPct val="110000"/>
              </a:lnSpc>
              <a:buNone/>
            </a:pPr>
            <a:r>
              <a:rPr lang="en-US" sz="1700" dirty="0">
                <a:solidFill>
                  <a:srgbClr val="111314"/>
                </a:solidFill>
                <a:latin typeface="Golos Text" pitchFamily="34" charset="0"/>
                <a:ea typeface="Golos Text" pitchFamily="34" charset="-122"/>
                <a:cs typeface="Golos Text" pitchFamily="34" charset="-120"/>
              </a:rPr>
              <a:t>Cross-check user attribution with LNKs, Recent Files, Security 4688, or EDR telemetry when available.</a:t>
            </a:r>
            <a:endParaRPr lang="en-US" sz="1700" dirty="0"/>
          </a:p>
        </p:txBody>
      </p:sp>
      <p:sp>
        <p:nvSpPr>
          <p:cNvPr id="24" name="Shape 22"/>
          <p:cNvSpPr/>
          <p:nvPr/>
        </p:nvSpPr>
        <p:spPr>
          <a:xfrm>
            <a:off x="6089498" y="1571800"/>
            <a:ext cx="12700" cy="1656358"/>
          </a:xfrm>
          <a:prstGeom prst="rect">
            <a:avLst/>
          </a:prstGeom>
          <a:solidFill>
            <a:srgbClr val="F15A30"/>
          </a:solidFill>
          <a:ln/>
        </p:spPr>
        <p:txBody>
          <a:bodyPr/>
          <a:lstStyle/>
          <a:p>
            <a:endParaRPr/>
          </a:p>
        </p:txBody>
      </p:sp>
      <p:sp>
        <p:nvSpPr>
          <p:cNvPr id="25" name="Shape 23"/>
          <p:cNvSpPr/>
          <p:nvPr/>
        </p:nvSpPr>
        <p:spPr>
          <a:xfrm>
            <a:off x="609585" y="3221807"/>
            <a:ext cx="5486263" cy="12700"/>
          </a:xfrm>
          <a:prstGeom prst="rect">
            <a:avLst/>
          </a:prstGeom>
          <a:solidFill>
            <a:srgbClr val="F15A30"/>
          </a:solidFill>
          <a:ln/>
        </p:spPr>
        <p:txBody>
          <a:bodyPr/>
          <a:lstStyle/>
          <a:p>
            <a:endParaRPr/>
          </a:p>
        </p:txBody>
      </p:sp>
      <p:sp>
        <p:nvSpPr>
          <p:cNvPr id="26" name="Shape 24"/>
          <p:cNvSpPr/>
          <p:nvPr/>
        </p:nvSpPr>
        <p:spPr>
          <a:xfrm>
            <a:off x="6089498" y="3228157"/>
            <a:ext cx="12700" cy="1656358"/>
          </a:xfrm>
          <a:prstGeom prst="rect">
            <a:avLst/>
          </a:prstGeom>
          <a:solidFill>
            <a:srgbClr val="F15A30"/>
          </a:solidFill>
          <a:ln/>
        </p:spPr>
        <p:txBody>
          <a:bodyPr/>
          <a:lstStyle/>
          <a:p>
            <a:endParaRPr/>
          </a:p>
        </p:txBody>
      </p:sp>
      <p:sp>
        <p:nvSpPr>
          <p:cNvPr id="27" name="Shape 25"/>
          <p:cNvSpPr/>
          <p:nvPr/>
        </p:nvSpPr>
        <p:spPr>
          <a:xfrm>
            <a:off x="6095848" y="3221807"/>
            <a:ext cx="5486263" cy="12700"/>
          </a:xfrm>
          <a:prstGeom prst="rect">
            <a:avLst/>
          </a:prstGeom>
          <a:solidFill>
            <a:srgbClr val="F15A30"/>
          </a:solidFill>
          <a:ln/>
        </p:spPr>
        <p:txBody>
          <a:bodyPr/>
          <a:lstStyle/>
          <a:p>
            <a:endParaRPr/>
          </a:p>
        </p:txBody>
      </p:sp>
      <p:sp>
        <p:nvSpPr>
          <p:cNvPr id="28" name="Shape 26"/>
          <p:cNvSpPr/>
          <p:nvPr/>
        </p:nvSpPr>
        <p:spPr>
          <a:xfrm>
            <a:off x="609585" y="4878165"/>
            <a:ext cx="10972526" cy="12700"/>
          </a:xfrm>
          <a:prstGeom prst="rect">
            <a:avLst/>
          </a:prstGeom>
          <a:solidFill>
            <a:srgbClr val="F15A30"/>
          </a:solidFill>
          <a:ln/>
        </p:spPr>
        <p:txBody>
          <a:bodyPr/>
          <a:lstStyle/>
          <a:p>
            <a:endParaRPr/>
          </a:p>
        </p:txBody>
      </p:sp>
      <p:sp>
        <p:nvSpPr>
          <p:cNvPr id="950" name="Slide Number"/>
          <p:cNvSpPr txBox="1"/>
          <p:nvPr/>
        </p:nvSpPr>
        <p:spPr>
          <a:xfrm>
            <a:off x="10012680" y="6510528"/>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rPr>
              <a:t>7</a:t>
            </a:fld>
            <a:endParaRPr lang="en-IN"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713994"/>
            <a:ext cx="11582110"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itchFamily="34" charset="0"/>
                <a:ea typeface="PT Mono" pitchFamily="34" charset="-122"/>
                <a:cs typeface="PT Mono" pitchFamily="34" charset="-120"/>
              </a:rPr>
              <a:t>SYNTHESIS · SAMPLE CASE</a:t>
            </a:r>
            <a:endParaRPr lang="en-US" sz="1150" dirty="0"/>
          </a:p>
        </p:txBody>
      </p:sp>
      <p:sp>
        <p:nvSpPr>
          <p:cNvPr id="3" name="Text 1"/>
          <p:cNvSpPr/>
          <p:nvPr/>
        </p:nvSpPr>
        <p:spPr>
          <a:xfrm>
            <a:off x="609585" y="990814"/>
            <a:ext cx="10972526" cy="410170"/>
          </a:xfrm>
          <a:prstGeom prst="rect">
            <a:avLst/>
          </a:prstGeom>
          <a:noFill/>
          <a:ln/>
        </p:spPr>
        <p:txBody>
          <a:bodyPr wrap="none" lIns="0" tIns="0" rIns="0" bIns="0" rtlCol="0" anchor="t"/>
          <a:lstStyle/>
          <a:p>
            <a:pPr marL="0" indent="0" algn="l">
              <a:lnSpc>
                <a:spcPct val="79000"/>
              </a:lnSpc>
              <a:buNone/>
            </a:pPr>
            <a:r>
              <a:rPr lang="en-US" sz="3400" b="1" kern="100" spc="17" dirty="0">
                <a:solidFill>
                  <a:srgbClr val="111314"/>
                </a:solidFill>
                <a:latin typeface="Alumni Sans Bold" pitchFamily="34" charset="0"/>
                <a:ea typeface="Alumni Sans Bold" pitchFamily="34" charset="-122"/>
                <a:cs typeface="Alumni Sans Bold" pitchFamily="34" charset="-120"/>
              </a:rPr>
              <a:t>THE SAMPLE EVIDENCE SUPPORTS EXECUTION</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1571800"/>
          <a:ext cx="10972526" cy="3504317"/>
        </p:xfrm>
        <a:graphic>
          <a:graphicData uri="http://schemas.openxmlformats.org/drawingml/2006/table">
            <a:tbl>
              <a:tblPr/>
              <a:tblGrid>
                <a:gridCol w="2413932">
                  <a:extLst>
                    <a:ext uri="{9D8B030D-6E8A-4147-A177-3AD203B41FA5}">
                      <a16:colId xmlns:a16="http://schemas.microsoft.com/office/drawing/2014/main" val="20000"/>
                    </a:ext>
                  </a:extLst>
                </a:gridCol>
                <a:gridCol w="3291698">
                  <a:extLst>
                    <a:ext uri="{9D8B030D-6E8A-4147-A177-3AD203B41FA5}">
                      <a16:colId xmlns:a16="http://schemas.microsoft.com/office/drawing/2014/main" val="20001"/>
                    </a:ext>
                  </a:extLst>
                </a:gridCol>
                <a:gridCol w="5266896">
                  <a:extLst>
                    <a:ext uri="{9D8B030D-6E8A-4147-A177-3AD203B41FA5}">
                      <a16:colId xmlns:a16="http://schemas.microsoft.com/office/drawing/2014/main" val="20002"/>
                    </a:ext>
                  </a:extLst>
                </a:gridCol>
              </a:tblGrid>
              <a:tr h="475444">
                <a:tc>
                  <a:txBody>
                    <a:bodyPr/>
                    <a:lstStyle/>
                    <a:p>
                      <a:pPr marL="0" indent="0" algn="l">
                        <a:buNone/>
                      </a:pPr>
                      <a:r>
                        <a:rPr lang="en-US" sz="1700" dirty="0">
                          <a:solidFill>
                            <a:srgbClr val="B6BFC1"/>
                          </a:solidFill>
                          <a:latin typeface="Golos Text" pitchFamily="34" charset="0"/>
                          <a:ea typeface="Golos Text" pitchFamily="34" charset="-122"/>
                          <a:cs typeface="Golos Text" pitchFamily="34" charset="-120"/>
                        </a:rPr>
                        <a:t>Question</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solidFill>
                      <a:srgbClr val="111314"/>
                    </a:solidFill>
                  </a:tcPr>
                </a:tc>
                <a:tc>
                  <a:txBody>
                    <a:bodyPr/>
                    <a:lstStyle/>
                    <a:p>
                      <a:pPr marL="0" indent="0" algn="l">
                        <a:buNone/>
                      </a:pPr>
                      <a:r>
                        <a:rPr lang="en-US" sz="1700" dirty="0">
                          <a:solidFill>
                            <a:srgbClr val="B6BFC1"/>
                          </a:solidFill>
                          <a:latin typeface="Golos Text" pitchFamily="34" charset="0"/>
                          <a:ea typeface="Golos Text" pitchFamily="34" charset="-122"/>
                          <a:cs typeface="Golos Text" pitchFamily="34" charset="-120"/>
                        </a:rPr>
                        <a:t>Evidence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solidFill>
                      <a:srgbClr val="111314"/>
                    </a:solidFill>
                  </a:tcPr>
                </a:tc>
                <a:tc>
                  <a:txBody>
                    <a:bodyPr/>
                    <a:lstStyle/>
                    <a:p>
                      <a:pPr marL="0" indent="0" algn="l">
                        <a:buNone/>
                      </a:pPr>
                      <a:r>
                        <a:rPr lang="en-US" sz="1700" dirty="0">
                          <a:solidFill>
                            <a:srgbClr val="B6BFC1"/>
                          </a:solidFill>
                          <a:latin typeface="Golos Text" pitchFamily="34" charset="0"/>
                          <a:ea typeface="Golos Text" pitchFamily="34" charset="-122"/>
                          <a:cs typeface="Golos Text" pitchFamily="34" charset="-120"/>
                        </a:rPr>
                        <a:t>What it supports</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111314"/>
                      </a:solidFill>
                      <a:prstDash val="solid"/>
                      <a:round/>
                      <a:headEnd type="none" w="med" len="med"/>
                      <a:tailEnd type="none" w="med" len="med"/>
                    </a:lnL>
                    <a:lnR w="12700" cap="flat" cmpd="sng" algn="ctr">
                      <a:solidFill>
                        <a:srgbClr val="111314"/>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solidFill>
                      <a:srgbClr val="111314"/>
                    </a:solidFill>
                  </a:tcPr>
                </a:tc>
                <a:extLst>
                  <a:ext uri="{0D108BD9-81ED-4DB2-BD59-A6C34878D82A}">
                    <a16:rowId xmlns:a16="http://schemas.microsoft.com/office/drawing/2014/main" val="10000"/>
                  </a:ext>
                </a:extLst>
              </a:tr>
              <a:tr h="760393">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Presence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Amcache and Shimcache reference the same path.</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The binary was known to the system.</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1"/>
                  </a:ext>
                </a:extLst>
              </a:tr>
              <a:tr h="760393">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Execution</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Prefetch records three runs tied to netprobe.exe.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Execution is supported by the strongest signal in this sample.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2"/>
                  </a:ext>
                </a:extLst>
              </a:tr>
              <a:tr h="760393">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Timing</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The run cluster falls inside the incident window.</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The observed execution aligns with the investigation period.</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111314"/>
                      </a:solidFill>
                      <a:prstDash val="solid"/>
                      <a:round/>
                      <a:headEnd type="none" w="med" len="med"/>
                      <a:tailEnd type="none" w="med" len="med"/>
                    </a:lnB>
                  </a:tcPr>
                </a:tc>
                <a:extLst>
                  <a:ext uri="{0D108BD9-81ED-4DB2-BD59-A6C34878D82A}">
                    <a16:rowId xmlns:a16="http://schemas.microsoft.com/office/drawing/2014/main" val="10003"/>
                  </a:ext>
                </a:extLst>
              </a:tr>
              <a:tr h="747694">
                <a:tc>
                  <a:txBody>
                    <a:bodyPr/>
                    <a:lstStyle/>
                    <a:p>
                      <a:pPr marL="0" indent="0" algn="l">
                        <a:buNone/>
                      </a:pPr>
                      <a:r>
                        <a:rPr lang="en-US" sz="1700" b="1" dirty="0">
                          <a:solidFill>
                            <a:srgbClr val="111314"/>
                          </a:solidFill>
                          <a:latin typeface="Golos Text" pitchFamily="34" charset="0"/>
                          <a:ea typeface="Golos Text" pitchFamily="34" charset="-122"/>
                          <a:cs typeface="Golos Text" pitchFamily="34" charset="-120"/>
                        </a:rPr>
                        <a:t>Attribution</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B6BFC1"/>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The path points to J. Lee’s profile.</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B6BFC1"/>
                      </a:solidFill>
                      <a:prstDash val="solid"/>
                      <a:round/>
                      <a:headEnd type="none" w="med" len="med"/>
                      <a:tailEnd type="none" w="med" len="med"/>
                    </a:lnB>
                  </a:tcPr>
                </a:tc>
                <a:tc>
                  <a:txBody>
                    <a:bodyPr/>
                    <a:lstStyle/>
                    <a:p>
                      <a:pPr marL="0" indent="0" algn="l">
                        <a:buNone/>
                      </a:pPr>
                      <a:r>
                        <a:rPr lang="en-US" sz="1700" dirty="0">
                          <a:solidFill>
                            <a:srgbClr val="111314"/>
                          </a:solidFill>
                          <a:latin typeface="Golos Text" pitchFamily="34" charset="0"/>
                          <a:ea typeface="Golos Text" pitchFamily="34" charset="-122"/>
                          <a:cs typeface="Golos Text" pitchFamily="34" charset="-120"/>
                        </a:rPr>
                        <a:t>User-level attribution still needs corroboration.</a:t>
                      </a:r>
                      <a:endParaRPr lang="en-US" sz="1700" dirty="0">
                        <a:latin typeface="Golos Text" charset="0"/>
                        <a:ea typeface="Golos Text" charset="0"/>
                        <a:cs typeface="Golos Text" charset="0"/>
                      </a:endParaRPr>
                    </a:p>
                  </a:txBody>
                  <a:tcPr marL="152396" marR="152396" marT="88898" marB="88898" anchor="ctr">
                    <a:lnL w="12700" cap="flat" cmpd="sng" algn="ctr">
                      <a:solidFill>
                        <a:srgbClr val="B6BFC1"/>
                      </a:solidFill>
                      <a:prstDash val="solid"/>
                      <a:round/>
                      <a:headEnd type="none" w="med" len="med"/>
                      <a:tailEnd type="none" w="med" len="med"/>
                    </a:lnL>
                    <a:lnR w="12700" cap="flat" cmpd="sng" algn="ctr">
                      <a:solidFill>
                        <a:srgbClr val="B6BFC1"/>
                      </a:solidFill>
                      <a:prstDash val="solid"/>
                      <a:round/>
                      <a:headEnd type="none" w="med" len="med"/>
                      <a:tailEnd type="none" w="med" len="med"/>
                    </a:lnR>
                    <a:lnT w="12700" cap="flat" cmpd="sng" algn="ctr">
                      <a:solidFill>
                        <a:srgbClr val="111314"/>
                      </a:solidFill>
                      <a:prstDash val="solid"/>
                      <a:round/>
                      <a:headEnd type="none" w="med" len="med"/>
                      <a:tailEnd type="none" w="med" len="med"/>
                    </a:lnT>
                    <a:lnB w="12700" cap="flat" cmpd="sng" algn="ctr">
                      <a:solidFill>
                        <a:srgbClr val="B6BF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609585" y="5254006"/>
            <a:ext cx="10972526" cy="925513"/>
          </a:xfrm>
          <a:prstGeom prst="rect">
            <a:avLst/>
          </a:prstGeom>
          <a:solidFill>
            <a:srgbClr val="FDE8E0"/>
          </a:solidFill>
          <a:ln/>
        </p:spPr>
        <p:txBody>
          <a:bodyPr/>
          <a:lstStyle/>
          <a:p>
            <a:endParaRPr/>
          </a:p>
        </p:txBody>
      </p:sp>
      <p:sp>
        <p:nvSpPr>
          <p:cNvPr id="6" name="Text 3"/>
          <p:cNvSpPr/>
          <p:nvPr/>
        </p:nvSpPr>
        <p:spPr>
          <a:xfrm>
            <a:off x="838179" y="5441521"/>
            <a:ext cx="10515337" cy="569913"/>
          </a:xfrm>
          <a:prstGeom prst="rect">
            <a:avLst/>
          </a:prstGeom>
          <a:noFill/>
          <a:ln/>
        </p:spPr>
        <p:txBody>
          <a:bodyPr wrap="square" lIns="0" tIns="0" rIns="0" bIns="0" rtlCol="0" anchor="t">
            <a:normAutofit/>
          </a:bodyPr>
          <a:lstStyle/>
          <a:p>
            <a:pPr marL="0" indent="0" algn="l">
              <a:lnSpc>
                <a:spcPct val="110000"/>
              </a:lnSpc>
              <a:buNone/>
            </a:pPr>
            <a:r>
              <a:rPr lang="en-US" sz="1700" b="1" dirty="0">
                <a:solidFill>
                  <a:srgbClr val="111314"/>
                </a:solidFill>
                <a:latin typeface="Golos Text Bold" pitchFamily="34" charset="0"/>
                <a:ea typeface="Golos Text Bold" pitchFamily="34" charset="-122"/>
                <a:cs typeface="Golos Text Bold" pitchFamily="34" charset="-120"/>
              </a:rPr>
              <a:t>VERDICT</a:t>
            </a:r>
            <a:r>
              <a:rPr lang="en-US" sz="1700" dirty="0">
                <a:solidFill>
                  <a:srgbClr val="111314"/>
                </a:solidFill>
                <a:latin typeface="Golos Text" pitchFamily="34" charset="0"/>
                <a:ea typeface="Golos Text" pitchFamily="34" charset="-122"/>
                <a:cs typeface="Golos Text" pitchFamily="34" charset="-120"/>
              </a:rPr>
              <a:t> · Likely executed on the workstation; identify the operator with additional user-attribution evidence.</a:t>
            </a:r>
            <a:endParaRPr lang="en-US" sz="1700" dirty="0"/>
          </a:p>
        </p:txBody>
      </p:sp>
      <p:sp>
        <p:nvSpPr>
          <p:cNvPr id="7" name="Shape 4"/>
          <p:cNvSpPr/>
          <p:nvPr/>
        </p:nvSpPr>
        <p:spPr>
          <a:xfrm>
            <a:off x="0" y="6417965"/>
            <a:ext cx="12191695" cy="440035"/>
          </a:xfrm>
          <a:prstGeom prst="rect">
            <a:avLst/>
          </a:prstGeom>
          <a:solidFill>
            <a:srgbClr val="F2F2F2"/>
          </a:solidFill>
          <a:ln/>
        </p:spPr>
        <p:txBody>
          <a:bodyPr/>
          <a:lstStyle/>
          <a:p>
            <a:endParaRPr/>
          </a:p>
        </p:txBody>
      </p:sp>
      <p:sp>
        <p:nvSpPr>
          <p:cNvPr id="8" name="Text 5"/>
          <p:cNvSpPr/>
          <p:nvPr/>
        </p:nvSpPr>
        <p:spPr>
          <a:xfrm>
            <a:off x="609585" y="6532265"/>
            <a:ext cx="11582110" cy="173335"/>
          </a:xfrm>
          <a:prstGeom prst="rect">
            <a:avLst/>
          </a:prstGeom>
          <a:noFill/>
          <a:ln/>
        </p:spPr>
        <p:txBody>
          <a:bodyPr wrap="none" lIns="0" tIns="0" rIns="0" bIns="0" rtlCol="0" anchor="t"/>
          <a:lstStyle/>
          <a:p>
            <a:pPr marL="0" indent="0" algn="l">
              <a:lnSpc>
                <a:spcPct val="108000"/>
              </a:lnSpc>
              <a:buNone/>
            </a:pPr>
            <a:r>
              <a:rPr lang="en-US" sz="1050" kern="100" spc="21" dirty="0">
                <a:solidFill>
                  <a:srgbClr val="595959"/>
                </a:solidFill>
                <a:latin typeface="PT Mono" pitchFamily="34" charset="0"/>
                <a:ea typeface="PT Mono" pitchFamily="34" charset="-122"/>
                <a:cs typeface="PT Mono" pitchFamily="34" charset="-120"/>
              </a:rPr>
              <a:t>RECONSTRUCTION · synthesis from synthetic training artifacts in this deck</a:t>
            </a:r>
            <a:endParaRPr lang="en-US" sz="1050" dirty="0"/>
          </a:p>
        </p:txBody>
      </p:sp>
      <p:sp>
        <p:nvSpPr>
          <p:cNvPr id="950" name="Slide Number"/>
          <p:cNvSpPr txBox="1"/>
          <p:nvPr/>
        </p:nvSpPr>
        <p:spPr>
          <a:xfrm>
            <a:off x="10012680" y="6501383"/>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rPr>
              <a:t>8</a:t>
            </a:fld>
            <a:endParaRPr lang="en-IN"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712076"/>
            <a:ext cx="11582110"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itchFamily="34" charset="0"/>
                <a:ea typeface="PT Mono" pitchFamily="34" charset="-122"/>
                <a:cs typeface="PT Mono" pitchFamily="34" charset="-120"/>
              </a:rPr>
              <a:t>LIMITS · AVOID OVERCLAIMING</a:t>
            </a:r>
            <a:endParaRPr lang="en-US" sz="1150" dirty="0"/>
          </a:p>
        </p:txBody>
      </p:sp>
      <p:sp>
        <p:nvSpPr>
          <p:cNvPr id="3" name="Text 1"/>
          <p:cNvSpPr/>
          <p:nvPr/>
        </p:nvSpPr>
        <p:spPr>
          <a:xfrm>
            <a:off x="609585" y="963994"/>
            <a:ext cx="10972526" cy="410170"/>
          </a:xfrm>
          <a:prstGeom prst="rect">
            <a:avLst/>
          </a:prstGeom>
          <a:noFill/>
          <a:ln/>
        </p:spPr>
        <p:txBody>
          <a:bodyPr wrap="none" lIns="0" tIns="0" rIns="0" bIns="0" rtlCol="0" anchor="t"/>
          <a:lstStyle/>
          <a:p>
            <a:pPr marL="0" indent="0" algn="l">
              <a:lnSpc>
                <a:spcPct val="79000"/>
              </a:lnSpc>
              <a:buNone/>
            </a:pPr>
            <a:r>
              <a:rPr lang="en-US" sz="3400" b="1" kern="100" spc="17" dirty="0">
                <a:solidFill>
                  <a:srgbClr val="111314"/>
                </a:solidFill>
                <a:latin typeface="Alumni Sans Bold" pitchFamily="34" charset="0"/>
                <a:ea typeface="Alumni Sans Bold" pitchFamily="34" charset="-122"/>
                <a:cs typeface="Alumni Sans Bold" pitchFamily="34" charset="-120"/>
              </a:rPr>
              <a:t>KNOW WHAT THE ARTIFACTS CANNOT PROVE</a:t>
            </a:r>
            <a:endParaRPr lang="en-US" sz="3400" dirty="0"/>
          </a:p>
        </p:txBody>
      </p:sp>
      <p:sp>
        <p:nvSpPr>
          <p:cNvPr id="4" name="Shape 2"/>
          <p:cNvSpPr/>
          <p:nvPr/>
        </p:nvSpPr>
        <p:spPr>
          <a:xfrm>
            <a:off x="609585" y="1492718"/>
            <a:ext cx="5333867" cy="2243071"/>
          </a:xfrm>
          <a:prstGeom prst="roundRect">
            <a:avLst>
              <a:gd name="adj" fmla="val 1314"/>
            </a:avLst>
          </a:prstGeom>
          <a:solidFill>
            <a:srgbClr val="FFFFFF"/>
          </a:solidFill>
          <a:ln w="25399">
            <a:solidFill>
              <a:srgbClr val="E2BFB5"/>
            </a:solidFill>
            <a:prstDash val="solid"/>
          </a:ln>
        </p:spPr>
        <p:txBody>
          <a:bodyPr/>
          <a:lstStyle/>
          <a:p>
            <a:endParaRPr/>
          </a:p>
        </p:txBody>
      </p:sp>
      <p:pic>
        <p:nvPicPr>
          <p:cNvPr id="5" name="Image 0" descr="preencoded.png"/>
          <p:cNvPicPr>
            <a:picLocks noChangeAspect="1"/>
          </p:cNvPicPr>
          <p:nvPr/>
        </p:nvPicPr>
        <p:blipFill>
          <a:blip r:embed="rId3"/>
          <a:stretch>
            <a:fillRect/>
          </a:stretch>
        </p:blipFill>
        <p:spPr>
          <a:xfrm>
            <a:off x="863578" y="1723869"/>
            <a:ext cx="431789" cy="431800"/>
          </a:xfrm>
          <a:prstGeom prst="rect">
            <a:avLst/>
          </a:prstGeom>
        </p:spPr>
      </p:pic>
      <p:sp>
        <p:nvSpPr>
          <p:cNvPr id="6" name="Text 3"/>
          <p:cNvSpPr/>
          <p:nvPr/>
        </p:nvSpPr>
        <p:spPr>
          <a:xfrm>
            <a:off x="863578" y="2221384"/>
            <a:ext cx="4825879" cy="350441"/>
          </a:xfrm>
          <a:prstGeom prst="rect">
            <a:avLst/>
          </a:prstGeom>
          <a:noFill/>
          <a:ln/>
        </p:spPr>
        <p:txBody>
          <a:bodyPr wrap="none" lIns="0" tIns="0" rIns="0" bIns="0" rtlCol="0" anchor="t"/>
          <a:lstStyle/>
          <a:p>
            <a:pPr marL="0" indent="0" algn="l">
              <a:lnSpc>
                <a:spcPct val="100000"/>
              </a:lnSpc>
              <a:buNone/>
            </a:pPr>
            <a:r>
              <a:rPr lang="en-US" sz="2300" dirty="0">
                <a:solidFill>
                  <a:srgbClr val="000000"/>
                </a:solidFill>
                <a:latin typeface="Golos Text SemiBold" pitchFamily="34" charset="0"/>
                <a:ea typeface="Golos Text SemiBold" pitchFamily="34" charset="-122"/>
                <a:cs typeface="Golos Text SemiBold" pitchFamily="34" charset="-120"/>
              </a:rPr>
              <a:t>Prefetch is bounded</a:t>
            </a:r>
            <a:endParaRPr lang="en-US" sz="2300" dirty="0"/>
          </a:p>
        </p:txBody>
      </p:sp>
      <p:sp>
        <p:nvSpPr>
          <p:cNvPr id="7" name="Text 4"/>
          <p:cNvSpPr/>
          <p:nvPr/>
        </p:nvSpPr>
        <p:spPr>
          <a:xfrm>
            <a:off x="863578" y="2678626"/>
            <a:ext cx="4825879" cy="569913"/>
          </a:xfrm>
          <a:prstGeom prst="rect">
            <a:avLst/>
          </a:prstGeom>
          <a:noFill/>
          <a:ln/>
        </p:spPr>
        <p:txBody>
          <a:bodyPr wrap="square" lIns="0" tIns="0" rIns="0" bIns="0" rtlCol="0" anchor="t">
            <a:normAutofit/>
          </a:bodyPr>
          <a:lstStyle/>
          <a:p>
            <a:pPr marL="0" indent="0" algn="l">
              <a:lnSpc>
                <a:spcPct val="110000"/>
              </a:lnSpc>
              <a:buNone/>
            </a:pPr>
            <a:r>
              <a:rPr lang="en-US" sz="1700" dirty="0">
                <a:solidFill>
                  <a:srgbClr val="000000"/>
                </a:solidFill>
                <a:latin typeface="Golos Text" pitchFamily="34" charset="0"/>
                <a:ea typeface="Golos Text" pitchFamily="34" charset="-122"/>
                <a:cs typeface="Golos Text" pitchFamily="34" charset="-120"/>
              </a:rPr>
              <a:t>It retains only the last eight run times and can be deleted or disabled.</a:t>
            </a:r>
            <a:endParaRPr lang="en-US" sz="1700" dirty="0"/>
          </a:p>
        </p:txBody>
      </p:sp>
      <p:sp>
        <p:nvSpPr>
          <p:cNvPr id="8" name="Shape 5"/>
          <p:cNvSpPr/>
          <p:nvPr/>
        </p:nvSpPr>
        <p:spPr>
          <a:xfrm>
            <a:off x="6248244" y="1492718"/>
            <a:ext cx="5333867" cy="2243071"/>
          </a:xfrm>
          <a:prstGeom prst="roundRect">
            <a:avLst>
              <a:gd name="adj" fmla="val 1314"/>
            </a:avLst>
          </a:prstGeom>
          <a:solidFill>
            <a:srgbClr val="FFFFFF"/>
          </a:solidFill>
          <a:ln w="25399">
            <a:solidFill>
              <a:srgbClr val="E2BFB5"/>
            </a:solidFill>
            <a:prstDash val="solid"/>
          </a:ln>
        </p:spPr>
        <p:txBody>
          <a:bodyPr/>
          <a:lstStyle/>
          <a:p>
            <a:endParaRPr/>
          </a:p>
        </p:txBody>
      </p:sp>
      <p:pic>
        <p:nvPicPr>
          <p:cNvPr id="9" name="Image 1" descr="preencoded.png"/>
          <p:cNvPicPr>
            <a:picLocks noChangeAspect="1"/>
          </p:cNvPicPr>
          <p:nvPr/>
        </p:nvPicPr>
        <p:blipFill>
          <a:blip r:embed="rId4"/>
          <a:stretch>
            <a:fillRect/>
          </a:stretch>
        </p:blipFill>
        <p:spPr>
          <a:xfrm>
            <a:off x="6502237" y="1723869"/>
            <a:ext cx="431789" cy="431800"/>
          </a:xfrm>
          <a:prstGeom prst="rect">
            <a:avLst/>
          </a:prstGeom>
        </p:spPr>
      </p:pic>
      <p:sp>
        <p:nvSpPr>
          <p:cNvPr id="10" name="Text 6"/>
          <p:cNvSpPr/>
          <p:nvPr/>
        </p:nvSpPr>
        <p:spPr>
          <a:xfrm>
            <a:off x="6502237" y="2221384"/>
            <a:ext cx="4825879" cy="350441"/>
          </a:xfrm>
          <a:prstGeom prst="rect">
            <a:avLst/>
          </a:prstGeom>
          <a:noFill/>
          <a:ln/>
        </p:spPr>
        <p:txBody>
          <a:bodyPr wrap="none" lIns="0" tIns="0" rIns="0" bIns="0" rtlCol="0" anchor="t"/>
          <a:lstStyle/>
          <a:p>
            <a:pPr marL="0" indent="0" algn="l">
              <a:lnSpc>
                <a:spcPct val="100000"/>
              </a:lnSpc>
              <a:buNone/>
            </a:pPr>
            <a:r>
              <a:rPr lang="en-US" sz="2300" dirty="0">
                <a:solidFill>
                  <a:srgbClr val="000000"/>
                </a:solidFill>
                <a:latin typeface="Golos Text SemiBold" pitchFamily="34" charset="0"/>
                <a:ea typeface="Golos Text SemiBold" pitchFamily="34" charset="-122"/>
                <a:cs typeface="Golos Text SemiBold" pitchFamily="34" charset="-120"/>
              </a:rPr>
              <a:t>Amcache is not a launch record</a:t>
            </a:r>
            <a:endParaRPr lang="en-US" sz="2300" dirty="0"/>
          </a:p>
        </p:txBody>
      </p:sp>
      <p:sp>
        <p:nvSpPr>
          <p:cNvPr id="11" name="Text 7"/>
          <p:cNvSpPr/>
          <p:nvPr/>
        </p:nvSpPr>
        <p:spPr>
          <a:xfrm>
            <a:off x="6502237" y="2678626"/>
            <a:ext cx="4825879" cy="569913"/>
          </a:xfrm>
          <a:prstGeom prst="rect">
            <a:avLst/>
          </a:prstGeom>
          <a:noFill/>
          <a:ln/>
        </p:spPr>
        <p:txBody>
          <a:bodyPr wrap="square" lIns="0" tIns="0" rIns="0" bIns="0" rtlCol="0" anchor="t">
            <a:normAutofit/>
          </a:bodyPr>
          <a:lstStyle/>
          <a:p>
            <a:pPr marL="0" indent="0" algn="l">
              <a:lnSpc>
                <a:spcPct val="110000"/>
              </a:lnSpc>
              <a:buNone/>
            </a:pPr>
            <a:r>
              <a:rPr lang="en-US" sz="1700" dirty="0">
                <a:solidFill>
                  <a:srgbClr val="000000"/>
                </a:solidFill>
                <a:latin typeface="Golos Text" pitchFamily="34" charset="0"/>
                <a:ea typeface="Golos Text" pitchFamily="34" charset="-122"/>
                <a:cs typeface="Golos Text" pitchFamily="34" charset="-120"/>
              </a:rPr>
              <a:t>It can show first-execution context, but an entry is not proof that a program ran.</a:t>
            </a:r>
            <a:endParaRPr lang="en-US" sz="1700" dirty="0"/>
          </a:p>
        </p:txBody>
      </p:sp>
      <p:sp>
        <p:nvSpPr>
          <p:cNvPr id="12" name="Shape 8"/>
          <p:cNvSpPr/>
          <p:nvPr/>
        </p:nvSpPr>
        <p:spPr>
          <a:xfrm>
            <a:off x="609585" y="4013171"/>
            <a:ext cx="5333867" cy="2243071"/>
          </a:xfrm>
          <a:prstGeom prst="roundRect">
            <a:avLst>
              <a:gd name="adj" fmla="val 1314"/>
            </a:avLst>
          </a:prstGeom>
          <a:solidFill>
            <a:srgbClr val="FFFFFF"/>
          </a:solidFill>
          <a:ln w="25399">
            <a:solidFill>
              <a:srgbClr val="E2BFB5"/>
            </a:solidFill>
            <a:prstDash val="solid"/>
          </a:ln>
        </p:spPr>
        <p:txBody>
          <a:bodyPr/>
          <a:lstStyle/>
          <a:p>
            <a:endParaRPr/>
          </a:p>
        </p:txBody>
      </p:sp>
      <p:pic>
        <p:nvPicPr>
          <p:cNvPr id="13" name="Image 2" descr="preencoded.png"/>
          <p:cNvPicPr>
            <a:picLocks noChangeAspect="1"/>
          </p:cNvPicPr>
          <p:nvPr/>
        </p:nvPicPr>
        <p:blipFill>
          <a:blip r:embed="rId4"/>
          <a:stretch>
            <a:fillRect/>
          </a:stretch>
        </p:blipFill>
        <p:spPr>
          <a:xfrm>
            <a:off x="863578" y="4244322"/>
            <a:ext cx="431789" cy="431800"/>
          </a:xfrm>
          <a:prstGeom prst="rect">
            <a:avLst/>
          </a:prstGeom>
        </p:spPr>
      </p:pic>
      <p:sp>
        <p:nvSpPr>
          <p:cNvPr id="14" name="Text 9"/>
          <p:cNvSpPr/>
          <p:nvPr/>
        </p:nvSpPr>
        <p:spPr>
          <a:xfrm>
            <a:off x="863578" y="4741837"/>
            <a:ext cx="4825879" cy="350441"/>
          </a:xfrm>
          <a:prstGeom prst="rect">
            <a:avLst/>
          </a:prstGeom>
          <a:noFill/>
          <a:ln/>
        </p:spPr>
        <p:txBody>
          <a:bodyPr wrap="none" lIns="0" tIns="0" rIns="0" bIns="0" rtlCol="0" anchor="t"/>
          <a:lstStyle/>
          <a:p>
            <a:pPr marL="0" indent="0" algn="l">
              <a:lnSpc>
                <a:spcPct val="100000"/>
              </a:lnSpc>
              <a:buNone/>
            </a:pPr>
            <a:r>
              <a:rPr lang="en-US" sz="2300" dirty="0">
                <a:solidFill>
                  <a:srgbClr val="000000"/>
                </a:solidFill>
                <a:latin typeface="Golos Text SemiBold" pitchFamily="34" charset="0"/>
                <a:ea typeface="Golos Text SemiBold" pitchFamily="34" charset="-122"/>
                <a:cs typeface="Golos Text SemiBold" pitchFamily="34" charset="-120"/>
              </a:rPr>
              <a:t>Shimcache time is ambiguous</a:t>
            </a:r>
            <a:endParaRPr lang="en-US" sz="2300" dirty="0"/>
          </a:p>
        </p:txBody>
      </p:sp>
      <p:sp>
        <p:nvSpPr>
          <p:cNvPr id="15" name="Text 10"/>
          <p:cNvSpPr/>
          <p:nvPr/>
        </p:nvSpPr>
        <p:spPr>
          <a:xfrm>
            <a:off x="863578" y="5199079"/>
            <a:ext cx="4825879" cy="569913"/>
          </a:xfrm>
          <a:prstGeom prst="rect">
            <a:avLst/>
          </a:prstGeom>
          <a:noFill/>
          <a:ln/>
        </p:spPr>
        <p:txBody>
          <a:bodyPr wrap="square" lIns="0" tIns="0" rIns="0" bIns="0" rtlCol="0" anchor="t">
            <a:normAutofit/>
          </a:bodyPr>
          <a:lstStyle/>
          <a:p>
            <a:pPr marL="0" indent="0" algn="l">
              <a:lnSpc>
                <a:spcPct val="110000"/>
              </a:lnSpc>
              <a:buNone/>
            </a:pPr>
            <a:r>
              <a:rPr lang="en-US" sz="1700" dirty="0">
                <a:solidFill>
                  <a:srgbClr val="000000"/>
                </a:solidFill>
                <a:latin typeface="Golos Text" pitchFamily="34" charset="0"/>
                <a:ea typeface="Golos Text" pitchFamily="34" charset="-122"/>
                <a:cs typeface="Golos Text" pitchFamily="34" charset="-120"/>
              </a:rPr>
              <a:t>It is not a reliable execution timestamp and may reflect binary metadata.</a:t>
            </a:r>
            <a:endParaRPr lang="en-US" sz="1700" dirty="0"/>
          </a:p>
        </p:txBody>
      </p:sp>
      <p:sp>
        <p:nvSpPr>
          <p:cNvPr id="16" name="Shape 11"/>
          <p:cNvSpPr/>
          <p:nvPr/>
        </p:nvSpPr>
        <p:spPr>
          <a:xfrm>
            <a:off x="6248244" y="4013171"/>
            <a:ext cx="5333867" cy="2243071"/>
          </a:xfrm>
          <a:prstGeom prst="roundRect">
            <a:avLst>
              <a:gd name="adj" fmla="val 1314"/>
            </a:avLst>
          </a:prstGeom>
          <a:solidFill>
            <a:srgbClr val="FFFFFF"/>
          </a:solidFill>
          <a:ln w="25399">
            <a:solidFill>
              <a:srgbClr val="E2BFB5"/>
            </a:solidFill>
            <a:prstDash val="solid"/>
          </a:ln>
        </p:spPr>
        <p:txBody>
          <a:bodyPr/>
          <a:lstStyle/>
          <a:p>
            <a:endParaRPr/>
          </a:p>
        </p:txBody>
      </p:sp>
      <p:pic>
        <p:nvPicPr>
          <p:cNvPr id="17" name="Image 3" descr="preencoded.png"/>
          <p:cNvPicPr>
            <a:picLocks noChangeAspect="1"/>
          </p:cNvPicPr>
          <p:nvPr/>
        </p:nvPicPr>
        <p:blipFill>
          <a:blip r:embed="rId5"/>
          <a:stretch>
            <a:fillRect/>
          </a:stretch>
        </p:blipFill>
        <p:spPr>
          <a:xfrm>
            <a:off x="6502237" y="4244322"/>
            <a:ext cx="431789" cy="431800"/>
          </a:xfrm>
          <a:prstGeom prst="rect">
            <a:avLst/>
          </a:prstGeom>
        </p:spPr>
      </p:pic>
      <p:sp>
        <p:nvSpPr>
          <p:cNvPr id="18" name="Text 12"/>
          <p:cNvSpPr/>
          <p:nvPr/>
        </p:nvSpPr>
        <p:spPr>
          <a:xfrm>
            <a:off x="6502237" y="4741837"/>
            <a:ext cx="4825879" cy="350441"/>
          </a:xfrm>
          <a:prstGeom prst="rect">
            <a:avLst/>
          </a:prstGeom>
          <a:noFill/>
          <a:ln/>
        </p:spPr>
        <p:txBody>
          <a:bodyPr wrap="none" lIns="0" tIns="0" rIns="0" bIns="0" rtlCol="0" anchor="t"/>
          <a:lstStyle/>
          <a:p>
            <a:pPr marL="0" indent="0" algn="l">
              <a:lnSpc>
                <a:spcPct val="100000"/>
              </a:lnSpc>
              <a:buNone/>
            </a:pPr>
            <a:r>
              <a:rPr lang="en-US" sz="2300" dirty="0">
                <a:solidFill>
                  <a:srgbClr val="000000"/>
                </a:solidFill>
                <a:latin typeface="Golos Text SemiBold" pitchFamily="34" charset="0"/>
                <a:ea typeface="Golos Text SemiBold" pitchFamily="34" charset="-122"/>
                <a:cs typeface="Golos Text SemiBold" pitchFamily="34" charset="-120"/>
              </a:rPr>
              <a:t>Absence is not innocence</a:t>
            </a:r>
            <a:endParaRPr lang="en-US" sz="2300" dirty="0"/>
          </a:p>
        </p:txBody>
      </p:sp>
      <p:sp>
        <p:nvSpPr>
          <p:cNvPr id="19" name="Text 13"/>
          <p:cNvSpPr/>
          <p:nvPr/>
        </p:nvSpPr>
        <p:spPr>
          <a:xfrm>
            <a:off x="6502237" y="5199079"/>
            <a:ext cx="4825879" cy="569913"/>
          </a:xfrm>
          <a:prstGeom prst="rect">
            <a:avLst/>
          </a:prstGeom>
          <a:noFill/>
          <a:ln/>
        </p:spPr>
        <p:txBody>
          <a:bodyPr wrap="square" lIns="0" tIns="0" rIns="0" bIns="0" rtlCol="0" anchor="t">
            <a:normAutofit fontScale="92500"/>
          </a:bodyPr>
          <a:lstStyle/>
          <a:p>
            <a:pPr marL="0" indent="0" algn="l">
              <a:lnSpc>
                <a:spcPct val="110000"/>
              </a:lnSpc>
              <a:buNone/>
            </a:pPr>
            <a:r>
              <a:rPr lang="en-US" sz="1700" dirty="0">
                <a:solidFill>
                  <a:srgbClr val="000000"/>
                </a:solidFill>
                <a:latin typeface="Golos Text" pitchFamily="34" charset="0"/>
                <a:ea typeface="Golos Text" pitchFamily="34" charset="-122"/>
                <a:cs typeface="Golos Text" pitchFamily="34" charset="-120"/>
              </a:rPr>
              <a:t>Missing one artifact is not proof of non-execution. Collection and system state matter.</a:t>
            </a:r>
            <a:endParaRPr lang="en-US" sz="1700" dirty="0"/>
          </a:p>
        </p:txBody>
      </p:sp>
      <p:sp>
        <p:nvSpPr>
          <p:cNvPr id="950" name="Slide Number"/>
          <p:cNvSpPr txBox="1"/>
          <p:nvPr/>
        </p:nvSpPr>
        <p:spPr>
          <a:xfrm>
            <a:off x="10012680" y="6510528"/>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rPr>
              <a:t>9</a:t>
            </a:fld>
            <a:endParaRPr lang="en-IN"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nvSpPr>
        <p:spPr>
          <a:xfrm>
            <a:off x="609584" y="1335196"/>
            <a:ext cx="6908627" cy="175220"/>
          </a:xfrm>
          <a:prstGeom prst="rect">
            <a:avLst/>
          </a:prstGeom>
          <a:noFill/>
          <a:ln/>
        </p:spPr>
        <p:txBody>
          <a:bodyPr wrap="none" lIns="0" tIns="0" rIns="0" bIns="0" rtlCol="0" anchor="t"/>
          <a:lstStyle/>
          <a:p>
            <a:pPr marL="0" indent="0" algn="l">
              <a:lnSpc>
                <a:spcPct val="100000"/>
              </a:lnSpc>
              <a:buNone/>
            </a:pPr>
            <a:r>
              <a:rPr lang="en-US" sz="1150" kern="100" spc="69" dirty="0">
                <a:solidFill>
                  <a:srgbClr val="111314"/>
                </a:solidFill>
                <a:latin typeface="PT Mono" panose="02020603050405020304" pitchFamily="18" charset="0"/>
                <a:ea typeface="PT Mono" pitchFamily="34" charset="-122"/>
                <a:cs typeface="PT Mono" panose="02020603050405020304" pitchFamily="18" charset="0"/>
              </a:rPr>
              <a:t>CLOSING STANDARD</a:t>
            </a:r>
            <a:endParaRPr lang="en-US" sz="1150" dirty="0">
              <a:latin typeface="Times New Roman" panose="02020603050405020304" pitchFamily="18" charset="0"/>
              <a:cs typeface="Times New Roman" panose="02020603050405020304" pitchFamily="18" charset="0"/>
            </a:endParaRPr>
          </a:p>
        </p:txBody>
      </p:sp>
      <p:sp>
        <p:nvSpPr>
          <p:cNvPr id="4" name="Text 2"/>
          <p:cNvSpPr/>
          <p:nvPr/>
        </p:nvSpPr>
        <p:spPr>
          <a:xfrm>
            <a:off x="609584" y="1626307"/>
            <a:ext cx="6426039" cy="410170"/>
          </a:xfrm>
          <a:prstGeom prst="rect">
            <a:avLst/>
          </a:prstGeom>
          <a:noFill/>
          <a:ln/>
        </p:spPr>
        <p:txBody>
          <a:bodyPr wrap="none" lIns="0" tIns="0" rIns="0" bIns="0" rtlCol="0" anchor="t"/>
          <a:lstStyle/>
          <a:p>
            <a:pPr marL="0" indent="0" algn="l">
              <a:lnSpc>
                <a:spcPct val="79000"/>
              </a:lnSpc>
              <a:buNone/>
            </a:pPr>
            <a:r>
              <a:rPr lang="en-US" sz="3400" b="1" kern="100" spc="17" dirty="0">
                <a:solidFill>
                  <a:srgbClr val="111314"/>
                </a:solidFill>
                <a:latin typeface="Alumni Sans Bold" panose="02020603050405020304" pitchFamily="18" charset="0"/>
                <a:ea typeface="Alumni Sans Bold" pitchFamily="34" charset="-122"/>
                <a:cs typeface="Alumni Sans Bold" panose="02020603050405020304" pitchFamily="18" charset="0"/>
              </a:rPr>
              <a:t>CLOSE THE CASE WITH A DEFENSIBLE CONCLUSION</a:t>
            </a:r>
            <a:endParaRPr lang="en-US" sz="3400" dirty="0">
              <a:latin typeface="Times New Roman" panose="02020603050405020304" pitchFamily="18" charset="0"/>
              <a:cs typeface="Times New Roman" panose="02020603050405020304" pitchFamily="18" charset="0"/>
            </a:endParaRPr>
          </a:p>
        </p:txBody>
      </p:sp>
      <p:sp>
        <p:nvSpPr>
          <p:cNvPr id="5" name="Text 3"/>
          <p:cNvSpPr/>
          <p:nvPr/>
        </p:nvSpPr>
        <p:spPr>
          <a:xfrm>
            <a:off x="609584" y="2480875"/>
            <a:ext cx="10906679" cy="1360780"/>
          </a:xfrm>
          <a:prstGeom prst="rect">
            <a:avLst/>
          </a:prstGeom>
          <a:noFill/>
          <a:ln/>
        </p:spPr>
        <p:txBody>
          <a:bodyPr wrap="square" lIns="0" tIns="0" rIns="0" bIns="0" rtlCol="0" anchor="t">
            <a:normAutofit/>
          </a:bodyPr>
          <a:lstStyle/>
          <a:p>
            <a:pPr marL="0" indent="0" algn="l">
              <a:lnSpc>
                <a:spcPct val="110000"/>
              </a:lnSpc>
              <a:spcAft>
                <a:spcPts val="1350"/>
              </a:spcAft>
              <a:buNone/>
            </a:pPr>
            <a:r>
              <a:rPr lang="en-US" sz="1700" dirty="0">
                <a:solidFill>
                  <a:srgbClr val="111314"/>
                </a:solidFill>
                <a:latin typeface="Golos Text" panose="02020603050405020304" pitchFamily="18" charset="0"/>
                <a:ea typeface="Golos Text" pitchFamily="34" charset="-122"/>
                <a:cs typeface="Golos Text" panose="02020603050405020304" pitchFamily="18" charset="0"/>
              </a:rPr>
              <a:t>State the finding: executed, likely executed, presence only, or inconclusive.</a:t>
            </a:r>
            <a:endParaRPr lang="en-US" sz="1700" dirty="0">
              <a:latin typeface="Times New Roman" panose="02020603050405020304" pitchFamily="18" charset="0"/>
              <a:cs typeface="Times New Roman" panose="02020603050405020304" pitchFamily="18" charset="0"/>
            </a:endParaRPr>
          </a:p>
          <a:p>
            <a:pPr marL="0" indent="0" algn="l">
              <a:lnSpc>
                <a:spcPct val="110000"/>
              </a:lnSpc>
              <a:spcAft>
                <a:spcPts val="1350"/>
              </a:spcAft>
              <a:buNone/>
            </a:pPr>
            <a:r>
              <a:rPr lang="en-US" sz="1700" dirty="0">
                <a:solidFill>
                  <a:srgbClr val="111314"/>
                </a:solidFill>
                <a:latin typeface="Golos Text" panose="02020603050405020304" pitchFamily="18" charset="0"/>
                <a:ea typeface="Golos Text" pitchFamily="34" charset="-122"/>
                <a:cs typeface="Golos Text" panose="02020603050405020304" pitchFamily="18" charset="0"/>
              </a:rPr>
              <a:t>State the basis: which artifacts agree, which carries the strongest weight, and what remains unverified.</a:t>
            </a:r>
            <a:endParaRPr lang="en-US" sz="1700" dirty="0">
              <a:latin typeface="Times New Roman" panose="02020603050405020304" pitchFamily="18" charset="0"/>
              <a:cs typeface="Times New Roman" panose="02020603050405020304" pitchFamily="18" charset="0"/>
            </a:endParaRPr>
          </a:p>
          <a:p>
            <a:pPr marL="0" indent="0" algn="l">
              <a:lnSpc>
                <a:spcPct val="110000"/>
              </a:lnSpc>
              <a:buNone/>
            </a:pPr>
            <a:r>
              <a:rPr lang="en-US" sz="1700" dirty="0">
                <a:solidFill>
                  <a:srgbClr val="111314"/>
                </a:solidFill>
                <a:latin typeface="Golos Text" panose="02020603050405020304" pitchFamily="18" charset="0"/>
                <a:ea typeface="Golos Text" pitchFamily="34" charset="-122"/>
                <a:cs typeface="Golos Text" panose="02020603050405020304" pitchFamily="18" charset="0"/>
              </a:rPr>
              <a:t>Preserve raw artifacts, parser versions, hashes, and a normalized timeline.</a:t>
            </a:r>
            <a:endParaRPr lang="en-US" sz="1700" dirty="0">
              <a:latin typeface="Times New Roman" panose="02020603050405020304" pitchFamily="18" charset="0"/>
              <a:cs typeface="Times New Roman" panose="02020603050405020304" pitchFamily="18" charset="0"/>
            </a:endParaRPr>
          </a:p>
        </p:txBody>
      </p:sp>
      <p:sp>
        <p:nvSpPr>
          <p:cNvPr id="6" name="Shape 4"/>
          <p:cNvSpPr/>
          <p:nvPr/>
        </p:nvSpPr>
        <p:spPr>
          <a:xfrm>
            <a:off x="609585" y="4019454"/>
            <a:ext cx="6426039" cy="925513"/>
          </a:xfrm>
          <a:prstGeom prst="rect">
            <a:avLst/>
          </a:prstGeom>
          <a:solidFill>
            <a:srgbClr val="FDE8E0"/>
          </a:solidFill>
          <a:ln/>
        </p:spPr>
        <p:txBody>
          <a:bodyPr/>
          <a:lstStyle/>
          <a:p>
            <a:endParaRPr/>
          </a:p>
        </p:txBody>
      </p:sp>
      <p:sp>
        <p:nvSpPr>
          <p:cNvPr id="7" name="Text 5"/>
          <p:cNvSpPr/>
          <p:nvPr/>
        </p:nvSpPr>
        <p:spPr>
          <a:xfrm>
            <a:off x="838179" y="4206970"/>
            <a:ext cx="5968851" cy="569913"/>
          </a:xfrm>
          <a:prstGeom prst="rect">
            <a:avLst/>
          </a:prstGeom>
          <a:noFill/>
          <a:ln/>
        </p:spPr>
        <p:txBody>
          <a:bodyPr wrap="square" lIns="0" tIns="0" rIns="0" bIns="0" rtlCol="0" anchor="t">
            <a:normAutofit/>
          </a:bodyPr>
          <a:lstStyle/>
          <a:p>
            <a:pPr marL="0" indent="0" algn="l">
              <a:lnSpc>
                <a:spcPct val="110000"/>
              </a:lnSpc>
              <a:buNone/>
            </a:pPr>
            <a:r>
              <a:rPr lang="en-US" sz="1700" b="1" dirty="0">
                <a:solidFill>
                  <a:srgbClr val="111314"/>
                </a:solidFill>
                <a:latin typeface="Golos Text Bold" panose="02020603050405020304" pitchFamily="18" charset="0"/>
                <a:ea typeface="Golos Text Bold" pitchFamily="34" charset="-122"/>
                <a:cs typeface="Golos Text Bold" panose="02020603050405020304" pitchFamily="18" charset="0"/>
              </a:rPr>
              <a:t>THIS SAMPLE</a:t>
            </a:r>
            <a:r>
              <a:rPr lang="en-US" sz="1700" dirty="0">
                <a:solidFill>
                  <a:srgbClr val="111314"/>
                </a:solidFill>
                <a:latin typeface="Golos Text" panose="02020603050405020304" pitchFamily="18" charset="0"/>
                <a:ea typeface="Golos Text" pitchFamily="34" charset="-122"/>
                <a:cs typeface="Golos Text" panose="02020603050405020304" pitchFamily="18" charset="0"/>
              </a:rPr>
              <a:t> · Prefetch elevates the case from “file existed” to “program execution is supported.”</a:t>
            </a:r>
            <a:endParaRPr lang="en-US" sz="1700" dirty="0">
              <a:latin typeface="Times New Roman" panose="02020603050405020304" pitchFamily="18" charset="0"/>
              <a:cs typeface="Times New Roman" panose="02020603050405020304" pitchFamily="18" charset="0"/>
            </a:endParaRPr>
          </a:p>
        </p:txBody>
      </p:sp>
      <p:sp>
        <p:nvSpPr>
          <p:cNvPr id="9" name="Shape 6"/>
          <p:cNvSpPr/>
          <p:nvPr/>
        </p:nvSpPr>
        <p:spPr>
          <a:xfrm>
            <a:off x="0" y="6409234"/>
            <a:ext cx="12191695" cy="440035"/>
          </a:xfrm>
          <a:prstGeom prst="rect">
            <a:avLst/>
          </a:prstGeom>
          <a:solidFill>
            <a:srgbClr val="F2F2F2"/>
          </a:solidFill>
          <a:ln/>
        </p:spPr>
        <p:txBody>
          <a:bodyPr/>
          <a:lstStyle/>
          <a:p>
            <a:endParaRPr/>
          </a:p>
        </p:txBody>
      </p:sp>
      <p:sp>
        <p:nvSpPr>
          <p:cNvPr id="10" name="Text 7"/>
          <p:cNvSpPr/>
          <p:nvPr/>
        </p:nvSpPr>
        <p:spPr>
          <a:xfrm>
            <a:off x="609585" y="6523534"/>
            <a:ext cx="11582110" cy="173335"/>
          </a:xfrm>
          <a:prstGeom prst="rect">
            <a:avLst/>
          </a:prstGeom>
          <a:noFill/>
          <a:ln/>
        </p:spPr>
        <p:txBody>
          <a:bodyPr wrap="none" lIns="0" tIns="0" rIns="0" bIns="0" rtlCol="0" anchor="t"/>
          <a:lstStyle/>
          <a:p>
            <a:pPr marL="0" indent="0" algn="l">
              <a:lnSpc>
                <a:spcPct val="108000"/>
              </a:lnSpc>
              <a:buNone/>
            </a:pPr>
            <a:r>
              <a:rPr lang="en-US" sz="1050" kern="100" spc="21" dirty="0">
                <a:solidFill>
                  <a:srgbClr val="595959"/>
                </a:solidFill>
                <a:latin typeface="PT Mono" panose="02020603050405020304" pitchFamily="18" charset="0"/>
                <a:ea typeface="PT Mono" pitchFamily="34" charset="-122"/>
                <a:cs typeface="PT Mono" panose="02020603050405020304" pitchFamily="18" charset="0"/>
              </a:rPr>
              <a:t>ILLUSTRATIVE · evidence-room reconstruction · preserve the artifacts, the method, and the limits</a:t>
            </a:r>
            <a:endParaRPr lang="en-US" sz="1050" dirty="0">
              <a:latin typeface="Times New Roman" panose="02020603050405020304" pitchFamily="18" charset="0"/>
              <a:cs typeface="Times New Roman" panose="02020603050405020304" pitchFamily="18" charset="0"/>
            </a:endParaRPr>
          </a:p>
        </p:txBody>
      </p:sp>
      <p:sp>
        <p:nvSpPr>
          <p:cNvPr id="950" name="Slide Number"/>
          <p:cNvSpPr txBox="1"/>
          <p:nvPr/>
        </p:nvSpPr>
        <p:spPr>
          <a:xfrm>
            <a:off x="10012680" y="6492240"/>
            <a:ext cx="914400" cy="274320"/>
          </a:xfrm>
          <a:prstGeom prst="rect">
            <a:avLst/>
          </a:prstGeom>
          <a:noFill/>
        </p:spPr>
        <p:txBody>
          <a:bodyPr wrap="square" lIns="0" tIns="0" rIns="0" bIns="0" anchor="ctr"/>
          <a:lstStyle/>
          <a:p>
            <a:pPr algn="r"/>
            <a:fld id="{657B3580-1400-497E-A019-9190D5AB9838}" type="slidenum">
              <a:rPr lang="en-IN" sz="1000" b="1">
                <a:solidFill>
                  <a:srgbClr val="595959"/>
                </a:solidFill>
                <a:latin typeface="Times New Roman" panose="02020603050405020304" pitchFamily="18" charset="0"/>
                <a:cs typeface="Times New Roman" panose="02020603050405020304" pitchFamily="18" charset="0"/>
              </a:rPr>
              <a:t>10</a:t>
            </a:fld>
            <a:endParaRPr lang="en-IN" sz="100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1158</Words>
  <Application>Microsoft Office PowerPoint</Application>
  <PresentationFormat>Widescreen</PresentationFormat>
  <Paragraphs>151</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Times New Roman</vt:lpstr>
      <vt:lpstr>Alumni Sans Bold</vt:lpstr>
      <vt:lpstr>Golos Text SemiBold</vt:lpstr>
      <vt:lpstr>Golos Text</vt:lpstr>
      <vt:lpstr>Golos Text ExtraBold</vt:lpstr>
      <vt:lpstr>PT Mono</vt:lpstr>
      <vt:lpstr>Arial</vt:lpstr>
      <vt:lpstr>Golos Text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Chudasama Vishal</cp:lastModifiedBy>
  <cp:revision>6</cp:revision>
  <dcterms:created xsi:type="dcterms:W3CDTF">2026-10-15T16:19:49Z</dcterms:created>
  <dcterms:modified xsi:type="dcterms:W3CDTF">2026-10-15T19:37:50Z</dcterms:modified>
</cp:coreProperties>
</file>