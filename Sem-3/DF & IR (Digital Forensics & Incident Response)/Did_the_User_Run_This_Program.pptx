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120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(Aayush) Good morning. Our case is called 'Did the User Run This Program?'. A company workstation is suspected of running an unauthorised utility, and our job as investigators is to prove — or disprove — that it actually ran, using three Windows execution artifacts: Prefetch, Amcache and Shimcache. I will cover the core question and Prefetch, Vishal will cover Amcache and Shimcache, and Pinak will correlate everything and give our verdict.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brief. A workstation may have run an unauthorised network scanner, netscan.exe. We have sample Prefetch, Amcache and Shimcache data from it. The question is simple to ask but hard to prove: was the program actually executed, and when? Notice the scope on the right. We focus only on execution artifacts. We are deliberately not building a big timeline from event logs, browser history and dozens of other sources — that is a different exercise. Staying in scope keeps our conclusions precise.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talk has three parts of about five minutes each. I will set up the key idea — the difference between a file being present and a file being executed — and explain Prefetch. Vishal then covers Amcache and Shimcache, including the traps that catch investigators. Finally, Pinak puts the evidence together, builds the timeline and gives our verdict.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most important idea in this whole case.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Think of the evidence as a staircase. Step one: the file existed on the disk. Step two: Windows identified it — it recorded its hash and publisher. Step three: the program was actually executed. Shimcache and Amcache mostly reach steps one and two. Only Prefetch, on its own, reaches step three. A common mistake is to see a file in Shimcache and say 'it ran'. That is not proven. So throughout this talk, for every artifact, we ask: which step does this really prove?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exists to make Windows faster. When a program starts, the Cache Manager watches which files it loads in roughly the first ten seconds, then writes that list into a .pf file in C:\Windows\Prefetch. Next time, Windows pre-loads those files so the program opens faster. For us the important point is the highlighted one: a .pf file is only created because a program was executed. It is a side-effect of running, so it is our strongest execution artifact. We parse these files with Eric Zimmerman's free tool PECmd.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can read from a Prefetch file. The file name itself gives the executable name and an eight-character hash of its full path. Inside, we get a run count, the last run times — up to eight of them on Windows 8, 10 and 11, but only one on Windows 7 — a list of files and DLLs the program loaded, and the volume serial number, which tells us whether it ran from the local disk or a USB stick. On the right is our sample: netscan.exe, run three times, from jdoe's Downloads folder on the C drive. Pinak will come back to these exact times in the correlation.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is powerful, but it has limits. It can be switched off with a registry setting, and it is often off on servers — so having no .pf files doesn't mean nothing ran. Old entries roll off once Windows reaches 1,024 files, or 128 on Windows 7. Files can be deleted by an attacker. And because the hash comes from the path, renaming or moving the program creates a different .pf file. Finally, and very importantly: Prefetch has no user name. It tells us the program ran, not who ran it. That limit will shape our verdict. Now I'll hand over to Vishal for Amcache and Shimcache.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(Vishal) Thank you, Aayush. Prefetch is our strongest witness. Now let's meet two more — they are very useful, but they are also easy to over-trust.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Amcache is a registry hive at C:\Windows\AppCompat\Programs\Amcache.hve. Windows uses it to inventory programs for compatibility checks. Its most valuable field is the SHA-1 hash. A hash identifies the exact file by its content, so even if the attacker renames netscan.exe to something innocent, the hash still matches. We also get the full path, size, publisher and version, and the PE link date — which is when the program was compiled, not when it ran. In our sample, the file is unsigned, sits in jdoe's Downloads folder, and we have its hash to check against threat intelligence. We parse it with AmcacheParser.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trap. Older training material often said 'Amcache equals execution'. Research has since shown that is not reliable. Amcache is filled by a scheduled task called the Microsoft Compatibility Appraiser, which inventories programs it finds on disk — including programs that were copied or installed but never launched. So the timestamp on the Amcache key means 'when Windows inventoried this file', not 'when it ran'. On the right: two files, both in Amcache, but only netscan.exe has a Prefetch file. Amcache tells us what the file is; Prefetch tells us it ran. We use Amcache to identify and back up — never as proof on its 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Shimcache, also called AppCompatCache, lives in the SYSTEM registry hive. Windows uses it to remember which programs it has already checked for compatibility. Each entry gives the full path, a timestamp, and its position in the list — newest at the top — so the order itself tells a story. It holds up to 1,024 entries. In our sample, netscan.exe is at position 7, with a timestamp of 15:58:44 on the 12th of March. Notice the execution column says 'not available' on Windows 10. That leads to the three traps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traps. One: the Shimcache timestamp is the file's last-modified time, not the time it ran. In our case, 15:58 is when netscan.exe was written to disk — probably when it was downloaded. Two: on Windows 10 and 11 there is no execution flag. An entry can be created just by Explorer showing the folder, without the program ever running. Three: Shimcache is only written to the registry at shutdown or reboot. If you collect from a live machine, the newest entries may still be in memory. So the bottom line: Shimcache proves the file existed at that path and helps us put events in order. It does not prove execution.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three side by side. Prefetch reaches the 'executed' step and gives real run times — but can be disabled or deleted, and has no user name. Amcache reaches 'identified' and gives the hash — but lists files that never ran. Shimcache reaches 'existed' and its timestamp is the file's modified time — not the run time. Individually, each has a weakness. Together they fit: Prefetch says it ran and when, Amcache says what it is, and Shimcache says where it was and in what order. That is why we correlate. Over to Pinak.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(Pinak) Thank you, Vishal. We now have three witnesses. My part is to put them in one room and see whether their stories agree.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has four steps. Collect: work on a hashed forensic copy and keep chain of custody, never the original. Parse: we use Eric Zimmerman's free tools — PECmd, AmcacheParser and AppCompatCacheParser. Normalise: convert every timestamp to UTC, otherwise you compare times from different time zones and draw false conclusions. Correlate: we look for three links — the same path in all three artifacts, the same file confirmed by the Amcache hash, and timestamps that follow a logical order.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everything we recovered, all in UTC. Prefetch: netscan.exe was executed three times, first at 16:04 on the 12th of March and last at 09:42 on the 14th, from the local C drive. Amcache: the same path, an unsigned binary, with its SHA-1 hash, inventoried at 16:41 on the 12th. Shimcache: the same path, at position 7, with a file-modified time of 15:58 on the 12th. The first link is already there: the same path appears in all three. Now let's put these times on one 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timeline. At 15:58 on the 12th, Shimcache shows netscan.exe was written to the Downloads folder — remember, that is the file-modified time, so this is when it arrived. About six minutes later, at 16:04, Prefetch shows the first run. At 16:41 Amcache inventories the file and records its hash. Then Prefetch shows two more runs: on the 13th at 11:20 and on the 14th at 09:42. The order is logical: the file arrives, then runs, then runs again. Nothing contradicts anything else. That agreement between independent artifacts is what makes our conclusion strong.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verdict, two kinds of caution. Timestamp pitfalls: always convert to UTC; remember Prefetch writes its file about ten seconds after launch; attackers can timestomp — fake a file's modified time — which directly affects Shimcache; and a changed system clock shifts everything. Anti-forensics signals: an empty Prefetch folder on a workstation is suspicious in itself; EnablePrefetcher set to zero means someone switched it off; a renamed binary is caught because the Amcache SHA-1 stays the same; and running from USB shows up in the Prefetch volume serial. In our case, none of these warning signs appeared.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verdict, with a confidence level for each claim. High confidence that netscan.exe existed in jdoe's Downloads, that it is this exact unsigned binary, that it ran three times, and the first and last run times. But only moderate confidence that jdoe personally ran it. Why? Because, as Aayush said, Prefetch has no user name — the only link to jdoe is that the file was in jdoe's profile. To prove who was at the keyboard we would need logon evidence, which is outside our scope. So our answer is: yes, the program was executed, three times, between the 12th and 14th of March — and we report the user link honestly, as likely but not proven.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four things to remember. First, presence is not execution — always ask which step an artifact really proves. Second, Prefetch proves execution and gives run times, while Amcache identifies the exact file through its SHA-1 hash. Third, Shimcache's timestamp is the file's modified time, not its run time, and on Windows 10 and 11 it has no execution flag. Fourth, convert everything to UTC and correlate on path, hash and order — it's the agreement between independent artifacts that makes a forensic finding strong. Thank you.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E"/>
        </a:solidFill>
        <a:effectLst/>
      </p:bgPr>
    </p:bg>
    <p:spTree>
      <p:nvGrpSpPr>
        <p:cNvPr id="1" name=""/>
        <p:cNvGrpSpPr/>
        <p:nvPr/>
      </p:nvGrpSpPr>
      <p:grpSpPr>
        <a:xfrm>
          <a:off x="0" y="0"/>
          <a:ext cx="0" cy="0"/>
          <a:chOff x="0" y="0"/>
          <a:chExt cx="0" cy="0"/>
        </a:xfrm>
      </p:grpSpPr>
      <p:sp>
        <p:nvSpPr>
          <p:cNvPr id="2" name="Shape 0"/>
          <p:cNvSpPr/>
          <p:nvPr/>
        </p:nvSpPr>
        <p:spPr>
          <a:xfrm>
            <a:off x="9326880" y="-1280160"/>
            <a:ext cx="4206240" cy="4206240"/>
          </a:xfrm>
          <a:prstGeom prst="ellipse">
            <a:avLst/>
          </a:prstGeom>
          <a:solidFill>
            <a:srgbClr val="2E4374"/>
          </a:solidFill>
          <a:ln/>
        </p:spPr>
      </p:sp>
      <p:sp>
        <p:nvSpPr>
          <p:cNvPr id="3" name="Shape 1"/>
          <p:cNvSpPr/>
          <p:nvPr/>
        </p:nvSpPr>
        <p:spPr>
          <a:xfrm>
            <a:off x="10515600" y="4572000"/>
            <a:ext cx="2926080" cy="2926080"/>
          </a:xfrm>
          <a:prstGeom prst="ellipse">
            <a:avLst/>
          </a:prstGeom>
          <a:solidFill>
            <a:srgbClr val="1F2A44"/>
          </a:solidFill>
          <a:ln/>
        </p:spPr>
      </p:sp>
      <p:sp>
        <p:nvSpPr>
          <p:cNvPr id="4" name="Text 2"/>
          <p:cNvSpPr txBox="1"/>
          <p:nvPr/>
        </p:nvSpPr>
        <p:spPr>
          <a:xfrm>
            <a:off x="731520" y="1097280"/>
            <a:ext cx="8686800" cy="365760"/>
          </a:xfrm>
          <a:prstGeom prst="rect">
            <a:avLst/>
          </a:prstGeom>
          <a:noFill/>
          <a:ln/>
        </p:spPr>
        <p:txBody>
          <a:bodyPr wrap="square" lIns="0" tIns="0" rIns="0" bIns="0" rtlCol="0" anchor="ctr"/>
          <a:lstStyle/>
          <a:p>
            <a:pPr marL="0" indent="0">
              <a:buNone/>
            </a:pPr>
            <a:r>
              <a:rPr lang="en-US" sz="1300" b="1" kern="0" spc="300" dirty="0">
                <a:solidFill>
                  <a:srgbClr val="E3A008"/>
                </a:solidFill>
                <a:latin typeface="Calibri" pitchFamily="34" charset="0"/>
                <a:ea typeface="Calibri" pitchFamily="34" charset="-122"/>
                <a:cs typeface="Calibri" pitchFamily="34" charset="-120"/>
              </a:rPr>
              <a:t>DIGITAL FORENSICS  ·  SCENARIO-BASED CASE</a:t>
            </a:r>
            <a:endParaRPr lang="en-US" sz="1300" dirty="0"/>
          </a:p>
        </p:txBody>
      </p:sp>
      <p:sp>
        <p:nvSpPr>
          <p:cNvPr id="5" name="Text 3"/>
          <p:cNvSpPr txBox="1"/>
          <p:nvPr/>
        </p:nvSpPr>
        <p:spPr>
          <a:xfrm>
            <a:off x="731520" y="1508760"/>
            <a:ext cx="877824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Did the User Run This Program?</a:t>
            </a:r>
            <a:endParaRPr lang="en-US" sz="4200" dirty="0"/>
          </a:p>
        </p:txBody>
      </p:sp>
      <p:sp>
        <p:nvSpPr>
          <p:cNvPr id="6" name="Text 4"/>
          <p:cNvSpPr txBox="1"/>
          <p:nvPr/>
        </p:nvSpPr>
        <p:spPr>
          <a:xfrm>
            <a:off x="749808" y="2606040"/>
            <a:ext cx="8229600" cy="822960"/>
          </a:xfrm>
          <a:prstGeom prst="rect">
            <a:avLst/>
          </a:prstGeom>
          <a:noFill/>
          <a:ln/>
        </p:spPr>
        <p:txBody>
          <a:bodyPr wrap="square" lIns="0" tIns="0" rIns="0" bIns="0" rtlCol="0" anchor="ctr"/>
          <a:lstStyle/>
          <a:p>
            <a:pPr marL="0" indent="0">
              <a:lnSpc>
                <a:spcPct val="110000"/>
              </a:lnSpc>
              <a:buNone/>
            </a:pPr>
            <a:r>
              <a:rPr lang="en-US" sz="1700" dirty="0">
                <a:solidFill>
                  <a:srgbClr val="AEB8D0"/>
                </a:solidFill>
                <a:latin typeface="Calibri" pitchFamily="34" charset="0"/>
                <a:ea typeface="Calibri" pitchFamily="34" charset="-122"/>
                <a:cs typeface="Calibri" pitchFamily="34" charset="-120"/>
              </a:rPr>
              <a:t>Proving program execution with Prefetch, Amcache and Shimcache — and correlating their timestamps.</a:t>
            </a:r>
            <a:endParaRPr lang="en-US" sz="1700" dirty="0"/>
          </a:p>
        </p:txBody>
      </p:sp>
      <p:sp>
        <p:nvSpPr>
          <p:cNvPr id="7" name="Shape 5"/>
          <p:cNvSpPr/>
          <p:nvPr/>
        </p:nvSpPr>
        <p:spPr>
          <a:xfrm>
            <a:off x="731520" y="3840480"/>
            <a:ext cx="6400800" cy="2148840"/>
          </a:xfrm>
          <a:prstGeom prst="roundRect">
            <a:avLst>
              <a:gd name="adj" fmla="val 3404"/>
            </a:avLst>
          </a:prstGeom>
          <a:solidFill>
            <a:srgbClr val="1F2A44"/>
          </a:solidFill>
          <a:ln w="12700">
            <a:solidFill>
              <a:srgbClr val="2E4374"/>
            </a:solidFill>
            <a:prstDash val="solid"/>
          </a:ln>
        </p:spPr>
      </p:sp>
      <p:sp>
        <p:nvSpPr>
          <p:cNvPr id="8" name="Text 6"/>
          <p:cNvSpPr txBox="1"/>
          <p:nvPr/>
        </p:nvSpPr>
        <p:spPr>
          <a:xfrm>
            <a:off x="1005840" y="4005072"/>
            <a:ext cx="6400800" cy="274320"/>
          </a:xfrm>
          <a:prstGeom prst="rect">
            <a:avLst/>
          </a:prstGeom>
          <a:noFill/>
          <a:ln/>
        </p:spPr>
        <p:txBody>
          <a:bodyPr wrap="square" lIns="0" tIns="0" rIns="0" bIns="0" rtlCol="0" anchor="ctr"/>
          <a:lstStyle/>
          <a:p>
            <a:pPr marL="0" indent="0">
              <a:buNone/>
            </a:pPr>
            <a:r>
              <a:rPr lang="en-US" sz="1050" b="1" kern="0" spc="200" dirty="0">
                <a:solidFill>
                  <a:srgbClr val="E3A008"/>
                </a:solidFill>
                <a:latin typeface="Calibri" pitchFamily="34" charset="0"/>
                <a:ea typeface="Calibri" pitchFamily="34" charset="-122"/>
                <a:cs typeface="Calibri" pitchFamily="34" charset="-120"/>
              </a:rPr>
              <a:t>PRESENTED BY</a:t>
            </a:r>
            <a:endParaRPr lang="en-US" sz="1050" dirty="0"/>
          </a:p>
        </p:txBody>
      </p:sp>
      <p:sp>
        <p:nvSpPr>
          <p:cNvPr id="9" name="Shape 7"/>
          <p:cNvSpPr/>
          <p:nvPr/>
        </p:nvSpPr>
        <p:spPr>
          <a:xfrm>
            <a:off x="1005840" y="4425696"/>
            <a:ext cx="329184" cy="329184"/>
          </a:xfrm>
          <a:prstGeom prst="ellipse">
            <a:avLst/>
          </a:prstGeom>
          <a:solidFill>
            <a:srgbClr val="2E4374"/>
          </a:solidFill>
          <a:ln/>
        </p:spPr>
      </p:sp>
      <p:sp>
        <p:nvSpPr>
          <p:cNvPr id="10" name="Text 8"/>
          <p:cNvSpPr txBox="1"/>
          <p:nvPr/>
        </p:nvSpPr>
        <p:spPr>
          <a:xfrm>
            <a:off x="1005840" y="44256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1481328" y="4389120"/>
            <a:ext cx="4206240" cy="402336"/>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E01	AAYUSH BOGHARA </a:t>
            </a:r>
            <a:endParaRPr lang="en-US" sz="1400" dirty="0"/>
          </a:p>
        </p:txBody>
      </p:sp>
      <p:sp>
        <p:nvSpPr>
          <p:cNvPr id="12" name="Text 10"/>
          <p:cNvSpPr txBox="1"/>
          <p:nvPr/>
        </p:nvSpPr>
        <p:spPr>
          <a:xfrm>
            <a:off x="4636008" y="4443294"/>
            <a:ext cx="2103120" cy="402336"/>
          </a:xfrm>
          <a:prstGeom prst="rect">
            <a:avLst/>
          </a:prstGeom>
          <a:noFill/>
          <a:ln/>
        </p:spPr>
        <p:txBody>
          <a:bodyPr wrap="square" lIns="0" tIns="0" rIns="0" bIns="0" rtlCol="0" anchor="ctr"/>
          <a:lstStyle/>
          <a:p>
            <a:pPr marL="0" indent="0" algn="r">
              <a:buNone/>
            </a:pPr>
            <a:r>
              <a:rPr lang="en-US" sz="1200" dirty="0">
                <a:solidFill>
                  <a:srgbClr val="AEB8D0"/>
                </a:solidFill>
                <a:latin typeface="Calibri" pitchFamily="34" charset="0"/>
                <a:ea typeface="Calibri" pitchFamily="34" charset="-122"/>
                <a:cs typeface="Calibri" pitchFamily="34" charset="-120"/>
              </a:rPr>
              <a:t>25004401110004</a:t>
            </a:r>
            <a:endParaRPr lang="en-US" sz="1200" dirty="0"/>
          </a:p>
        </p:txBody>
      </p:sp>
      <p:sp>
        <p:nvSpPr>
          <p:cNvPr id="13" name="Shape 11"/>
          <p:cNvSpPr/>
          <p:nvPr/>
        </p:nvSpPr>
        <p:spPr>
          <a:xfrm>
            <a:off x="1005840" y="4928616"/>
            <a:ext cx="329184" cy="329184"/>
          </a:xfrm>
          <a:prstGeom prst="ellipse">
            <a:avLst/>
          </a:prstGeom>
          <a:solidFill>
            <a:srgbClr val="2E4374"/>
          </a:solidFill>
          <a:ln/>
        </p:spPr>
      </p:sp>
      <p:sp>
        <p:nvSpPr>
          <p:cNvPr id="14" name="Text 12"/>
          <p:cNvSpPr txBox="1"/>
          <p:nvPr/>
        </p:nvSpPr>
        <p:spPr>
          <a:xfrm>
            <a:off x="1005840" y="492861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3"/>
          <p:cNvSpPr txBox="1"/>
          <p:nvPr/>
        </p:nvSpPr>
        <p:spPr>
          <a:xfrm>
            <a:off x="1481328" y="4892040"/>
            <a:ext cx="4206240" cy="402336"/>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E02	VISHAL CHUDASAMA</a:t>
            </a:r>
            <a:endParaRPr lang="en-US" sz="1400" dirty="0"/>
          </a:p>
        </p:txBody>
      </p:sp>
      <p:sp>
        <p:nvSpPr>
          <p:cNvPr id="16" name="Text 14"/>
          <p:cNvSpPr txBox="1"/>
          <p:nvPr/>
        </p:nvSpPr>
        <p:spPr>
          <a:xfrm>
            <a:off x="4636008" y="4914900"/>
            <a:ext cx="2103120" cy="402336"/>
          </a:xfrm>
          <a:prstGeom prst="rect">
            <a:avLst/>
          </a:prstGeom>
          <a:noFill/>
          <a:ln/>
        </p:spPr>
        <p:txBody>
          <a:bodyPr wrap="square" lIns="0" tIns="0" rIns="0" bIns="0" rtlCol="0" anchor="ctr"/>
          <a:lstStyle/>
          <a:p>
            <a:pPr marL="0" indent="0" algn="r">
              <a:buNone/>
            </a:pPr>
            <a:r>
              <a:rPr lang="en-US" sz="1200" dirty="0">
                <a:solidFill>
                  <a:srgbClr val="AEB8D0"/>
                </a:solidFill>
                <a:latin typeface="Calibri" pitchFamily="34" charset="0"/>
                <a:ea typeface="Calibri" pitchFamily="34" charset="-122"/>
                <a:cs typeface="Calibri" pitchFamily="34" charset="-120"/>
              </a:rPr>
              <a:t>25004401110069</a:t>
            </a:r>
            <a:endParaRPr lang="en-US" sz="1200" dirty="0"/>
          </a:p>
        </p:txBody>
      </p:sp>
      <p:sp>
        <p:nvSpPr>
          <p:cNvPr id="17" name="Shape 15"/>
          <p:cNvSpPr/>
          <p:nvPr/>
        </p:nvSpPr>
        <p:spPr>
          <a:xfrm>
            <a:off x="1005840" y="5431536"/>
            <a:ext cx="329184" cy="329184"/>
          </a:xfrm>
          <a:prstGeom prst="ellipse">
            <a:avLst/>
          </a:prstGeom>
          <a:solidFill>
            <a:srgbClr val="2E4374"/>
          </a:solidFill>
          <a:ln/>
        </p:spPr>
      </p:sp>
      <p:sp>
        <p:nvSpPr>
          <p:cNvPr id="18" name="Text 16"/>
          <p:cNvSpPr txBox="1"/>
          <p:nvPr/>
        </p:nvSpPr>
        <p:spPr>
          <a:xfrm>
            <a:off x="1005840" y="543153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9" name="Text 17"/>
          <p:cNvSpPr txBox="1"/>
          <p:nvPr/>
        </p:nvSpPr>
        <p:spPr>
          <a:xfrm>
            <a:off x="1481328" y="5394960"/>
            <a:ext cx="4206240" cy="402336"/>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E06	PINAK SAKARIYA</a:t>
            </a:r>
            <a:endParaRPr lang="en-US" sz="1400" dirty="0"/>
          </a:p>
        </p:txBody>
      </p:sp>
      <p:sp>
        <p:nvSpPr>
          <p:cNvPr id="20" name="Text 18"/>
          <p:cNvSpPr txBox="1"/>
          <p:nvPr/>
        </p:nvSpPr>
        <p:spPr>
          <a:xfrm>
            <a:off x="4636008" y="5387369"/>
            <a:ext cx="2103120" cy="402336"/>
          </a:xfrm>
          <a:prstGeom prst="rect">
            <a:avLst/>
          </a:prstGeom>
          <a:noFill/>
          <a:ln/>
        </p:spPr>
        <p:txBody>
          <a:bodyPr wrap="square" lIns="0" tIns="0" rIns="0" bIns="0" rtlCol="0" anchor="ctr"/>
          <a:lstStyle/>
          <a:p>
            <a:pPr marL="0" indent="0" algn="r">
              <a:buNone/>
            </a:pPr>
            <a:r>
              <a:rPr lang="en-US" sz="1200" dirty="0">
                <a:solidFill>
                  <a:srgbClr val="AEB8D0"/>
                </a:solidFill>
                <a:latin typeface="Calibri" pitchFamily="34" charset="0"/>
                <a:ea typeface="Calibri" pitchFamily="34" charset="-122"/>
                <a:cs typeface="Calibri" pitchFamily="34" charset="-120"/>
              </a:rPr>
              <a:t>25004401110067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THE CASE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A workstation, a suspect utility, one question</a:t>
            </a:r>
            <a:endParaRPr lang="en-US" sz="3000" dirty="0"/>
          </a:p>
        </p:txBody>
      </p:sp>
      <p:sp>
        <p:nvSpPr>
          <p:cNvPr id="6" name="Shape 4"/>
          <p:cNvSpPr/>
          <p:nvPr/>
        </p:nvSpPr>
        <p:spPr>
          <a:xfrm>
            <a:off x="548640" y="1691640"/>
            <a:ext cx="6400800" cy="4343400"/>
          </a:xfrm>
          <a:prstGeom prst="roundRect">
            <a:avLst>
              <a:gd name="adj" fmla="val 1684"/>
            </a:avLst>
          </a:prstGeom>
          <a:solidFill>
            <a:srgbClr val="EEF1F7"/>
          </a:solidFill>
          <a:ln w="12700">
            <a:solidFill>
              <a:srgbClr val="DCE1EC"/>
            </a:solidFill>
            <a:prstDash val="solid"/>
          </a:ln>
        </p:spPr>
      </p:sp>
      <p:sp>
        <p:nvSpPr>
          <p:cNvPr id="7" name="Text 5"/>
          <p:cNvSpPr txBox="1"/>
          <p:nvPr/>
        </p:nvSpPr>
        <p:spPr>
          <a:xfrm>
            <a:off x="868680" y="1920240"/>
            <a:ext cx="5486400" cy="274320"/>
          </a:xfrm>
          <a:prstGeom prst="rect">
            <a:avLst/>
          </a:prstGeom>
          <a:noFill/>
          <a:ln/>
        </p:spPr>
        <p:txBody>
          <a:bodyPr wrap="square" lIns="0" tIns="0" rIns="0" bIns="0" rtlCol="0" anchor="ctr"/>
          <a:lstStyle/>
          <a:p>
            <a:pPr marL="0" indent="0">
              <a:buNone/>
            </a:pPr>
            <a:r>
              <a:rPr lang="en-US" sz="1100" b="1" kern="0" spc="200" dirty="0">
                <a:solidFill>
                  <a:srgbClr val="2E4374"/>
                </a:solidFill>
                <a:latin typeface="Calibri" pitchFamily="34" charset="0"/>
                <a:ea typeface="Calibri" pitchFamily="34" charset="-122"/>
                <a:cs typeface="Calibri" pitchFamily="34" charset="-120"/>
              </a:rPr>
              <a:t>SCENARIO BRIEF</a:t>
            </a:r>
            <a:endParaRPr lang="en-US" sz="1100" dirty="0"/>
          </a:p>
        </p:txBody>
      </p:sp>
      <p:sp>
        <p:nvSpPr>
          <p:cNvPr id="8" name="Text 6"/>
          <p:cNvSpPr txBox="1"/>
          <p:nvPr/>
        </p:nvSpPr>
        <p:spPr>
          <a:xfrm>
            <a:off x="868680" y="2286000"/>
            <a:ext cx="5760720" cy="2468880"/>
          </a:xfrm>
          <a:prstGeom prst="rect">
            <a:avLst/>
          </a:prstGeom>
          <a:noFill/>
          <a:ln/>
        </p:spPr>
        <p:txBody>
          <a:bodyPr wrap="square" lIns="0" tIns="0" rIns="0" bIns="0" rtlCol="0" anchor="t"/>
          <a:lstStyle/>
          <a:p>
            <a:pPr marL="0" indent="0">
              <a:lnSpc>
                <a:spcPct val="112000"/>
              </a:lnSpc>
              <a:buNone/>
            </a:pPr>
            <a:r>
              <a:rPr lang="en-US" sz="1550" dirty="0">
                <a:solidFill>
                  <a:srgbClr val="1A2232"/>
                </a:solidFill>
                <a:latin typeface="Calibri" pitchFamily="34" charset="0"/>
                <a:ea typeface="Calibri" pitchFamily="34" charset="-122"/>
                <a:cs typeface="Calibri" pitchFamily="34" charset="-120"/>
              </a:rPr>
              <a:t>A workstation is suspected of running an </a:t>
            </a:r>
            <a:r>
              <a:rPr lang="en-US" sz="1550" b="1" dirty="0">
                <a:solidFill>
                  <a:srgbClr val="1A2232"/>
                </a:solidFill>
                <a:latin typeface="Calibri" pitchFamily="34" charset="0"/>
                <a:ea typeface="Calibri" pitchFamily="34" charset="-122"/>
                <a:cs typeface="Calibri" pitchFamily="34" charset="-120"/>
              </a:rPr>
              <a:t>unauthorised utility</a:t>
            </a:r>
            <a:r>
              <a:rPr lang="en-US" sz="1550" dirty="0">
                <a:solidFill>
                  <a:srgbClr val="1A2232"/>
                </a:solidFill>
                <a:latin typeface="Calibri" pitchFamily="34" charset="0"/>
                <a:ea typeface="Calibri" pitchFamily="34" charset="-122"/>
                <a:cs typeface="Calibri" pitchFamily="34" charset="-120"/>
              </a:rPr>
              <a:t> — a network scanner called </a:t>
            </a:r>
            <a:r>
              <a:rPr lang="en-US" sz="1550" b="1" dirty="0">
                <a:solidFill>
                  <a:srgbClr val="2E4374"/>
                </a:solidFill>
                <a:latin typeface="Courier New" pitchFamily="34" charset="0"/>
                <a:ea typeface="Courier New" pitchFamily="34" charset="-122"/>
                <a:cs typeface="Courier New" pitchFamily="34" charset="-120"/>
              </a:rPr>
              <a:t>netscan.exe</a:t>
            </a:r>
            <a:r>
              <a:rPr lang="en-US" sz="1550" dirty="0">
                <a:solidFill>
                  <a:srgbClr val="1A2232"/>
                </a:solidFill>
                <a:latin typeface="Calibri" pitchFamily="34" charset="0"/>
                <a:ea typeface="Calibri" pitchFamily="34" charset="-122"/>
                <a:cs typeface="Calibri" pitchFamily="34" charset="-120"/>
              </a:rPr>
              <a:t>.</a:t>
            </a:r>
            <a:endParaRPr lang="en-US" sz="1550" dirty="0"/>
          </a:p>
          <a:p>
            <a:pPr marL="0" indent="0">
              <a:lnSpc>
                <a:spcPct val="112000"/>
              </a:lnSpc>
              <a:buNone/>
            </a:pPr>
            <a:endParaRPr lang="en-US" sz="1550" dirty="0"/>
          </a:p>
          <a:p>
            <a:pPr marL="0" indent="0">
              <a:lnSpc>
                <a:spcPct val="112000"/>
              </a:lnSpc>
              <a:buNone/>
            </a:pPr>
            <a:r>
              <a:rPr lang="en-US" sz="1550" dirty="0">
                <a:solidFill>
                  <a:srgbClr val="1A2232"/>
                </a:solidFill>
                <a:latin typeface="Calibri" pitchFamily="34" charset="0"/>
                <a:ea typeface="Calibri" pitchFamily="34" charset="-122"/>
                <a:cs typeface="Calibri" pitchFamily="34" charset="-120"/>
              </a:rPr>
              <a:t>We are given sample </a:t>
            </a:r>
            <a:r>
              <a:rPr lang="en-US" sz="1550" b="1" dirty="0">
                <a:solidFill>
                  <a:srgbClr val="1A2232"/>
                </a:solidFill>
                <a:latin typeface="Calibri" pitchFamily="34" charset="0"/>
                <a:ea typeface="Calibri" pitchFamily="34" charset="-122"/>
                <a:cs typeface="Calibri" pitchFamily="34" charset="-120"/>
              </a:rPr>
              <a:t>Prefetch, Amcache and Shimcache</a:t>
            </a:r>
            <a:r>
              <a:rPr lang="en-US" sz="1550" dirty="0">
                <a:solidFill>
                  <a:srgbClr val="1A2232"/>
                </a:solidFill>
                <a:latin typeface="Calibri" pitchFamily="34" charset="0"/>
                <a:ea typeface="Calibri" pitchFamily="34" charset="-122"/>
                <a:cs typeface="Calibri" pitchFamily="34" charset="-120"/>
              </a:rPr>
              <a:t> artifacts from the machine.</a:t>
            </a:r>
            <a:endParaRPr lang="en-US" sz="1550" dirty="0"/>
          </a:p>
          <a:p>
            <a:pPr marL="0" indent="0">
              <a:lnSpc>
                <a:spcPct val="112000"/>
              </a:lnSpc>
              <a:buNone/>
            </a:pPr>
            <a:endParaRPr lang="en-US" sz="1550" dirty="0"/>
          </a:p>
          <a:p>
            <a:pPr marL="0" indent="0">
              <a:lnSpc>
                <a:spcPct val="112000"/>
              </a:lnSpc>
              <a:buNone/>
            </a:pPr>
            <a:r>
              <a:rPr lang="en-US" sz="1550" dirty="0">
                <a:solidFill>
                  <a:srgbClr val="1A2232"/>
                </a:solidFill>
                <a:latin typeface="Calibri" pitchFamily="34" charset="0"/>
                <a:ea typeface="Calibri" pitchFamily="34" charset="-122"/>
                <a:cs typeface="Calibri" pitchFamily="34" charset="-120"/>
              </a:rPr>
              <a:t>Our task: assess the execution evidence and </a:t>
            </a:r>
            <a:r>
              <a:rPr lang="en-US" sz="1550" b="1" dirty="0">
                <a:solidFill>
                  <a:srgbClr val="1A2232"/>
                </a:solidFill>
                <a:latin typeface="Calibri" pitchFamily="34" charset="0"/>
                <a:ea typeface="Calibri" pitchFamily="34" charset="-122"/>
                <a:cs typeface="Calibri" pitchFamily="34" charset="-120"/>
              </a:rPr>
              <a:t>correlate the timestamps</a:t>
            </a:r>
            <a:r>
              <a:rPr lang="en-US" sz="1550" dirty="0">
                <a:solidFill>
                  <a:srgbClr val="1A2232"/>
                </a:solidFill>
                <a:latin typeface="Calibri" pitchFamily="34" charset="0"/>
                <a:ea typeface="Calibri" pitchFamily="34" charset="-122"/>
                <a:cs typeface="Calibri" pitchFamily="34" charset="-120"/>
              </a:rPr>
              <a:t> to answer one question:</a:t>
            </a:r>
            <a:endParaRPr lang="en-US" sz="1550" dirty="0"/>
          </a:p>
        </p:txBody>
      </p:sp>
      <p:sp>
        <p:nvSpPr>
          <p:cNvPr id="9" name="Shape 7"/>
          <p:cNvSpPr/>
          <p:nvPr/>
        </p:nvSpPr>
        <p:spPr>
          <a:xfrm>
            <a:off x="868680" y="4892040"/>
            <a:ext cx="5760720" cy="868680"/>
          </a:xfrm>
          <a:prstGeom prst="roundRect">
            <a:avLst>
              <a:gd name="adj" fmla="val 8421"/>
            </a:avLst>
          </a:prstGeom>
          <a:solidFill>
            <a:srgbClr val="141B2E"/>
          </a:solidFill>
          <a:ln/>
        </p:spPr>
      </p:sp>
      <p:sp>
        <p:nvSpPr>
          <p:cNvPr id="10" name="Text 8"/>
          <p:cNvSpPr txBox="1"/>
          <p:nvPr/>
        </p:nvSpPr>
        <p:spPr>
          <a:xfrm>
            <a:off x="1097280" y="4892040"/>
            <a:ext cx="5394960" cy="868680"/>
          </a:xfrm>
          <a:prstGeom prst="rect">
            <a:avLst/>
          </a:prstGeom>
          <a:noFill/>
          <a:ln/>
        </p:spPr>
        <p:txBody>
          <a:bodyPr wrap="square" lIns="0" tIns="0" rIns="0" bIns="0" rtlCol="0" anchor="ctr"/>
          <a:lstStyle/>
          <a:p>
            <a:pPr marL="0" indent="0">
              <a:buNone/>
            </a:pPr>
            <a:r>
              <a:rPr lang="en-US" sz="1700" b="1" i="1" dirty="0">
                <a:solidFill>
                  <a:srgbClr val="E3A008"/>
                </a:solidFill>
                <a:latin typeface="Cambria" pitchFamily="34" charset="0"/>
                <a:ea typeface="Cambria" pitchFamily="34" charset="-122"/>
                <a:cs typeface="Cambria" pitchFamily="34" charset="-120"/>
              </a:rPr>
              <a:t>Was this program actually executed — and when?</a:t>
            </a:r>
            <a:endParaRPr lang="en-US" sz="1700" dirty="0"/>
          </a:p>
        </p:txBody>
      </p:sp>
      <p:sp>
        <p:nvSpPr>
          <p:cNvPr id="11" name="Shape 9"/>
          <p:cNvSpPr/>
          <p:nvPr/>
        </p:nvSpPr>
        <p:spPr>
          <a:xfrm>
            <a:off x="7223760" y="1691640"/>
            <a:ext cx="4389120" cy="2057400"/>
          </a:xfrm>
          <a:prstGeom prst="roundRect">
            <a:avLst>
              <a:gd name="adj" fmla="val 3556"/>
            </a:avLst>
          </a:prstGeom>
          <a:solidFill>
            <a:srgbClr val="FFFFFF"/>
          </a:solidFill>
          <a:ln w="15875">
            <a:solidFill>
              <a:srgbClr val="2E7D53"/>
            </a:solidFill>
            <a:prstDash val="solid"/>
          </a:ln>
        </p:spPr>
      </p:sp>
      <p:sp>
        <p:nvSpPr>
          <p:cNvPr id="12" name="Text 10"/>
          <p:cNvSpPr txBox="1"/>
          <p:nvPr/>
        </p:nvSpPr>
        <p:spPr>
          <a:xfrm>
            <a:off x="7498080" y="1874520"/>
            <a:ext cx="3840480" cy="274320"/>
          </a:xfrm>
          <a:prstGeom prst="rect">
            <a:avLst/>
          </a:prstGeom>
          <a:noFill/>
          <a:ln/>
        </p:spPr>
        <p:txBody>
          <a:bodyPr wrap="square" lIns="0" tIns="0" rIns="0" bIns="0" rtlCol="0" anchor="ctr"/>
          <a:lstStyle/>
          <a:p>
            <a:pPr marL="0" indent="0">
              <a:buNone/>
            </a:pPr>
            <a:r>
              <a:rPr lang="en-US" sz="1150" b="1" kern="0" spc="200" dirty="0">
                <a:solidFill>
                  <a:srgbClr val="2E7D53"/>
                </a:solidFill>
                <a:latin typeface="Calibri" pitchFamily="34" charset="0"/>
                <a:ea typeface="Calibri" pitchFamily="34" charset="-122"/>
                <a:cs typeface="Calibri" pitchFamily="34" charset="-120"/>
              </a:rPr>
              <a:t>IN SCOPE</a:t>
            </a:r>
            <a:endParaRPr lang="en-US" sz="1150" dirty="0"/>
          </a:p>
        </p:txBody>
      </p:sp>
      <p:sp>
        <p:nvSpPr>
          <p:cNvPr id="13" name="Shape 11"/>
          <p:cNvSpPr/>
          <p:nvPr/>
        </p:nvSpPr>
        <p:spPr>
          <a:xfrm>
            <a:off x="7498080" y="2286000"/>
            <a:ext cx="292608" cy="292608"/>
          </a:xfrm>
          <a:prstGeom prst="ellipse">
            <a:avLst/>
          </a:prstGeom>
          <a:solidFill>
            <a:srgbClr val="2E7D53"/>
          </a:solidFill>
          <a:ln/>
        </p:spPr>
      </p:sp>
      <p:sp>
        <p:nvSpPr>
          <p:cNvPr id="14" name="Text 12"/>
          <p:cNvSpPr txBox="1"/>
          <p:nvPr/>
        </p:nvSpPr>
        <p:spPr>
          <a:xfrm>
            <a:off x="7498080" y="22860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15" name="Text 13"/>
          <p:cNvSpPr txBox="1"/>
          <p:nvPr/>
        </p:nvSpPr>
        <p:spPr>
          <a:xfrm>
            <a:off x="7909560" y="2249424"/>
            <a:ext cx="3566160" cy="365760"/>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Prefetch, Amcache, Shimcache</a:t>
            </a:r>
            <a:endParaRPr lang="en-US" sz="1300" dirty="0"/>
          </a:p>
        </p:txBody>
      </p:sp>
      <p:sp>
        <p:nvSpPr>
          <p:cNvPr id="16" name="Shape 14"/>
          <p:cNvSpPr/>
          <p:nvPr/>
        </p:nvSpPr>
        <p:spPr>
          <a:xfrm>
            <a:off x="7498080" y="2743200"/>
            <a:ext cx="292608" cy="292608"/>
          </a:xfrm>
          <a:prstGeom prst="ellipse">
            <a:avLst/>
          </a:prstGeom>
          <a:solidFill>
            <a:srgbClr val="2E7D53"/>
          </a:solidFill>
          <a:ln/>
        </p:spPr>
      </p:sp>
      <p:sp>
        <p:nvSpPr>
          <p:cNvPr id="17" name="Text 15"/>
          <p:cNvSpPr txBox="1"/>
          <p:nvPr/>
        </p:nvSpPr>
        <p:spPr>
          <a:xfrm>
            <a:off x="7498080" y="27432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18" name="Text 16"/>
          <p:cNvSpPr txBox="1"/>
          <p:nvPr/>
        </p:nvSpPr>
        <p:spPr>
          <a:xfrm>
            <a:off x="7909560" y="2706624"/>
            <a:ext cx="3566160" cy="365760"/>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What each one proves (and doesn't)</a:t>
            </a:r>
            <a:endParaRPr lang="en-US" sz="1300" dirty="0"/>
          </a:p>
        </p:txBody>
      </p:sp>
      <p:sp>
        <p:nvSpPr>
          <p:cNvPr id="19" name="Shape 17"/>
          <p:cNvSpPr/>
          <p:nvPr/>
        </p:nvSpPr>
        <p:spPr>
          <a:xfrm>
            <a:off x="7498080" y="3200400"/>
            <a:ext cx="292608" cy="292608"/>
          </a:xfrm>
          <a:prstGeom prst="ellipse">
            <a:avLst/>
          </a:prstGeom>
          <a:solidFill>
            <a:srgbClr val="2E7D53"/>
          </a:solidFill>
          <a:ln/>
        </p:spPr>
      </p:sp>
      <p:sp>
        <p:nvSpPr>
          <p:cNvPr id="20" name="Text 18"/>
          <p:cNvSpPr txBox="1"/>
          <p:nvPr/>
        </p:nvSpPr>
        <p:spPr>
          <a:xfrm>
            <a:off x="7498080" y="3200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1" name="Text 19"/>
          <p:cNvSpPr txBox="1"/>
          <p:nvPr/>
        </p:nvSpPr>
        <p:spPr>
          <a:xfrm>
            <a:off x="7909560" y="3163824"/>
            <a:ext cx="3566160" cy="365760"/>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Correlating their timestamps</a:t>
            </a:r>
            <a:endParaRPr lang="en-US" sz="1300" dirty="0"/>
          </a:p>
        </p:txBody>
      </p:sp>
      <p:sp>
        <p:nvSpPr>
          <p:cNvPr id="22" name="Shape 20"/>
          <p:cNvSpPr/>
          <p:nvPr/>
        </p:nvSpPr>
        <p:spPr>
          <a:xfrm>
            <a:off x="7223760" y="3977640"/>
            <a:ext cx="4389120" cy="2057400"/>
          </a:xfrm>
          <a:prstGeom prst="roundRect">
            <a:avLst>
              <a:gd name="adj" fmla="val 3556"/>
            </a:avLst>
          </a:prstGeom>
          <a:solidFill>
            <a:srgbClr val="FFFFFF"/>
          </a:solidFill>
          <a:ln w="15875">
            <a:solidFill>
              <a:srgbClr val="B23B3B"/>
            </a:solidFill>
            <a:prstDash val="solid"/>
          </a:ln>
        </p:spPr>
      </p:sp>
      <p:sp>
        <p:nvSpPr>
          <p:cNvPr id="23" name="Text 21"/>
          <p:cNvSpPr txBox="1"/>
          <p:nvPr/>
        </p:nvSpPr>
        <p:spPr>
          <a:xfrm>
            <a:off x="7498080" y="4160520"/>
            <a:ext cx="3840480" cy="274320"/>
          </a:xfrm>
          <a:prstGeom prst="rect">
            <a:avLst/>
          </a:prstGeom>
          <a:noFill/>
          <a:ln/>
        </p:spPr>
        <p:txBody>
          <a:bodyPr wrap="square" lIns="0" tIns="0" rIns="0" bIns="0" rtlCol="0" anchor="ctr"/>
          <a:lstStyle/>
          <a:p>
            <a:pPr marL="0" indent="0">
              <a:buNone/>
            </a:pPr>
            <a:r>
              <a:rPr lang="en-US" sz="1150" b="1" kern="0" spc="200" dirty="0">
                <a:solidFill>
                  <a:srgbClr val="B23B3B"/>
                </a:solidFill>
                <a:latin typeface="Calibri" pitchFamily="34" charset="0"/>
                <a:ea typeface="Calibri" pitchFamily="34" charset="-122"/>
                <a:cs typeface="Calibri" pitchFamily="34" charset="-120"/>
              </a:rPr>
              <a:t>OUT OF SCOPE</a:t>
            </a:r>
            <a:endParaRPr lang="en-US" sz="1150" dirty="0"/>
          </a:p>
        </p:txBody>
      </p:sp>
      <p:sp>
        <p:nvSpPr>
          <p:cNvPr id="24" name="Shape 22"/>
          <p:cNvSpPr/>
          <p:nvPr/>
        </p:nvSpPr>
        <p:spPr>
          <a:xfrm>
            <a:off x="7498080" y="4572000"/>
            <a:ext cx="292608" cy="292608"/>
          </a:xfrm>
          <a:prstGeom prst="ellipse">
            <a:avLst/>
          </a:prstGeom>
          <a:solidFill>
            <a:srgbClr val="B23B3B"/>
          </a:solidFill>
          <a:ln/>
        </p:spPr>
      </p:sp>
      <p:sp>
        <p:nvSpPr>
          <p:cNvPr id="25" name="Text 23"/>
          <p:cNvSpPr txBox="1"/>
          <p:nvPr/>
        </p:nvSpPr>
        <p:spPr>
          <a:xfrm>
            <a:off x="7498080" y="45720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6" name="Text 24"/>
          <p:cNvSpPr txBox="1"/>
          <p:nvPr/>
        </p:nvSpPr>
        <p:spPr>
          <a:xfrm>
            <a:off x="7909560" y="4535424"/>
            <a:ext cx="3566160" cy="365760"/>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Event logs, browser history, LNK files</a:t>
            </a:r>
            <a:endParaRPr lang="en-US" sz="1300" dirty="0"/>
          </a:p>
        </p:txBody>
      </p:sp>
      <p:sp>
        <p:nvSpPr>
          <p:cNvPr id="27" name="Shape 25"/>
          <p:cNvSpPr/>
          <p:nvPr/>
        </p:nvSpPr>
        <p:spPr>
          <a:xfrm>
            <a:off x="7498080" y="5029200"/>
            <a:ext cx="292608" cy="292608"/>
          </a:xfrm>
          <a:prstGeom prst="ellipse">
            <a:avLst/>
          </a:prstGeom>
          <a:solidFill>
            <a:srgbClr val="B23B3B"/>
          </a:solidFill>
          <a:ln/>
        </p:spPr>
      </p:sp>
      <p:sp>
        <p:nvSpPr>
          <p:cNvPr id="28" name="Text 26"/>
          <p:cNvSpPr txBox="1"/>
          <p:nvPr/>
        </p:nvSpPr>
        <p:spPr>
          <a:xfrm>
            <a:off x="7498080" y="50292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9" name="Text 27"/>
          <p:cNvSpPr txBox="1"/>
          <p:nvPr/>
        </p:nvSpPr>
        <p:spPr>
          <a:xfrm>
            <a:off x="7909560" y="4992624"/>
            <a:ext cx="3566160" cy="365760"/>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Super-timelines across many artifacts</a:t>
            </a:r>
            <a:endParaRPr lang="en-US" sz="1300" dirty="0"/>
          </a:p>
        </p:txBody>
      </p:sp>
      <p:sp>
        <p:nvSpPr>
          <p:cNvPr id="30" name="Shape 28"/>
          <p:cNvSpPr/>
          <p:nvPr/>
        </p:nvSpPr>
        <p:spPr>
          <a:xfrm>
            <a:off x="7498080" y="5486400"/>
            <a:ext cx="292608" cy="292608"/>
          </a:xfrm>
          <a:prstGeom prst="ellipse">
            <a:avLst/>
          </a:prstGeom>
          <a:solidFill>
            <a:srgbClr val="B23B3B"/>
          </a:solidFill>
          <a:ln/>
        </p:spPr>
      </p:sp>
      <p:sp>
        <p:nvSpPr>
          <p:cNvPr id="31" name="Text 29"/>
          <p:cNvSpPr txBox="1"/>
          <p:nvPr/>
        </p:nvSpPr>
        <p:spPr>
          <a:xfrm>
            <a:off x="7498080" y="5486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2" name="Text 30"/>
          <p:cNvSpPr txBox="1"/>
          <p:nvPr/>
        </p:nvSpPr>
        <p:spPr>
          <a:xfrm>
            <a:off x="7909560" y="5449824"/>
            <a:ext cx="3566160" cy="365760"/>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Malware reverse-engineering</a:t>
            </a:r>
            <a:endParaRPr lang="en-US" sz="1300" dirty="0"/>
          </a:p>
        </p:txBody>
      </p:sp>
      <p:sp>
        <p:nvSpPr>
          <p:cNvPr id="33" name="Text 3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4" name="Text 32"/>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1  ·  Aayush Boghara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How we will answer the question</a:t>
            </a:r>
            <a:endParaRPr lang="en-US" sz="3000" dirty="0"/>
          </a:p>
        </p:txBody>
      </p:sp>
      <p:sp>
        <p:nvSpPr>
          <p:cNvPr id="6" name="Shape 4"/>
          <p:cNvSpPr/>
          <p:nvPr/>
        </p:nvSpPr>
        <p:spPr>
          <a:xfrm>
            <a:off x="548640" y="1783080"/>
            <a:ext cx="3520440" cy="4114800"/>
          </a:xfrm>
          <a:prstGeom prst="roundRect">
            <a:avLst>
              <a:gd name="adj" fmla="val 2078"/>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7" name="Text 5"/>
          <p:cNvSpPr txBox="1"/>
          <p:nvPr/>
        </p:nvSpPr>
        <p:spPr>
          <a:xfrm>
            <a:off x="868680" y="2011680"/>
            <a:ext cx="1371600" cy="731520"/>
          </a:xfrm>
          <a:prstGeom prst="rect">
            <a:avLst/>
          </a:prstGeom>
          <a:noFill/>
          <a:ln/>
        </p:spPr>
        <p:txBody>
          <a:bodyPr wrap="square" lIns="0" tIns="0" rIns="0" bIns="0" rtlCol="0" anchor="ctr"/>
          <a:lstStyle/>
          <a:p>
            <a:pPr marL="0" indent="0">
              <a:buNone/>
            </a:pPr>
            <a:r>
              <a:rPr lang="en-US" sz="4000" b="1" dirty="0">
                <a:solidFill>
                  <a:srgbClr val="E3A008"/>
                </a:solidFill>
                <a:latin typeface="Cambria" pitchFamily="34" charset="0"/>
                <a:ea typeface="Cambria" pitchFamily="34" charset="-122"/>
                <a:cs typeface="Cambria" pitchFamily="34" charset="-120"/>
              </a:rPr>
              <a:t>01</a:t>
            </a:r>
            <a:endParaRPr lang="en-US" sz="4000" dirty="0"/>
          </a:p>
        </p:txBody>
      </p:sp>
      <p:sp>
        <p:nvSpPr>
          <p:cNvPr id="8" name="Text 6"/>
          <p:cNvSpPr txBox="1"/>
          <p:nvPr/>
        </p:nvSpPr>
        <p:spPr>
          <a:xfrm>
            <a:off x="868680" y="2788920"/>
            <a:ext cx="2926080" cy="457200"/>
          </a:xfrm>
          <a:prstGeom prst="rect">
            <a:avLst/>
          </a:prstGeom>
          <a:noFill/>
          <a:ln/>
        </p:spPr>
        <p:txBody>
          <a:bodyPr wrap="square" lIns="0" tIns="0" rIns="0" bIns="0" rtlCol="0" anchor="ctr"/>
          <a:lstStyle/>
          <a:p>
            <a:pPr marL="0" indent="0">
              <a:buNone/>
            </a:pPr>
            <a:r>
              <a:rPr lang="en-US" sz="1700" b="1" dirty="0">
                <a:solidFill>
                  <a:srgbClr val="1A2232"/>
                </a:solidFill>
                <a:latin typeface="Calibri" pitchFamily="34" charset="0"/>
                <a:ea typeface="Calibri" pitchFamily="34" charset="-122"/>
                <a:cs typeface="Calibri" pitchFamily="34" charset="-120"/>
              </a:rPr>
              <a:t>The question &amp; Prefetch</a:t>
            </a:r>
            <a:endParaRPr lang="en-US" sz="1700" dirty="0"/>
          </a:p>
        </p:txBody>
      </p:sp>
      <p:sp>
        <p:nvSpPr>
          <p:cNvPr id="9" name="Text 7"/>
          <p:cNvSpPr txBox="1"/>
          <p:nvPr/>
        </p:nvSpPr>
        <p:spPr>
          <a:xfrm>
            <a:off x="868680" y="3200400"/>
            <a:ext cx="2926080" cy="320040"/>
          </a:xfrm>
          <a:prstGeom prst="rect">
            <a:avLst/>
          </a:prstGeom>
          <a:noFill/>
          <a:ln/>
        </p:spPr>
        <p:txBody>
          <a:bodyPr wrap="square" lIns="0" tIns="0" rIns="0" bIns="0" rtlCol="0" anchor="ctr"/>
          <a:lstStyle/>
          <a:p>
            <a:pPr marL="0" indent="0">
              <a:buNone/>
            </a:pPr>
            <a:r>
              <a:rPr lang="en-US" sz="1250" i="1" dirty="0">
                <a:solidFill>
                  <a:srgbClr val="2E4374"/>
                </a:solidFill>
                <a:latin typeface="Calibri" pitchFamily="34" charset="0"/>
                <a:ea typeface="Calibri" pitchFamily="34" charset="-122"/>
                <a:cs typeface="Calibri" pitchFamily="34" charset="-120"/>
              </a:rPr>
              <a:t>Aayush Boghara</a:t>
            </a:r>
            <a:endParaRPr lang="en-US" sz="1250" dirty="0"/>
          </a:p>
        </p:txBody>
      </p:sp>
      <p:sp>
        <p:nvSpPr>
          <p:cNvPr id="10" name="Text 8"/>
          <p:cNvSpPr txBox="1"/>
          <p:nvPr/>
        </p:nvSpPr>
        <p:spPr>
          <a:xfrm>
            <a:off x="868680" y="3703320"/>
            <a:ext cx="29718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Presence vs execution</a:t>
            </a:r>
            <a:endParaRPr lang="en-US" sz="1300" dirty="0"/>
          </a:p>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How Prefetch works</a:t>
            </a:r>
            <a:endParaRPr lang="en-US" sz="1300" dirty="0"/>
          </a:p>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What it proves, its limits</a:t>
            </a:r>
            <a:endParaRPr lang="en-US" sz="1300" dirty="0"/>
          </a:p>
        </p:txBody>
      </p:sp>
      <p:sp>
        <p:nvSpPr>
          <p:cNvPr id="12" name="Shape 10"/>
          <p:cNvSpPr/>
          <p:nvPr/>
        </p:nvSpPr>
        <p:spPr>
          <a:xfrm>
            <a:off x="4270248" y="1783080"/>
            <a:ext cx="3520440" cy="4114800"/>
          </a:xfrm>
          <a:prstGeom prst="roundRect">
            <a:avLst>
              <a:gd name="adj" fmla="val 2078"/>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3" name="Text 11"/>
          <p:cNvSpPr txBox="1"/>
          <p:nvPr/>
        </p:nvSpPr>
        <p:spPr>
          <a:xfrm>
            <a:off x="4590288" y="2011680"/>
            <a:ext cx="1371600" cy="731520"/>
          </a:xfrm>
          <a:prstGeom prst="rect">
            <a:avLst/>
          </a:prstGeom>
          <a:noFill/>
          <a:ln/>
        </p:spPr>
        <p:txBody>
          <a:bodyPr wrap="square" lIns="0" tIns="0" rIns="0" bIns="0" rtlCol="0" anchor="ctr"/>
          <a:lstStyle/>
          <a:p>
            <a:pPr marL="0" indent="0">
              <a:buNone/>
            </a:pPr>
            <a:r>
              <a:rPr lang="en-US" sz="4000" b="1" dirty="0">
                <a:solidFill>
                  <a:srgbClr val="E3A008"/>
                </a:solidFill>
                <a:latin typeface="Cambria" pitchFamily="34" charset="0"/>
                <a:ea typeface="Cambria" pitchFamily="34" charset="-122"/>
                <a:cs typeface="Cambria" pitchFamily="34" charset="-120"/>
              </a:rPr>
              <a:t>02</a:t>
            </a:r>
            <a:endParaRPr lang="en-US" sz="4000" dirty="0"/>
          </a:p>
        </p:txBody>
      </p:sp>
      <p:sp>
        <p:nvSpPr>
          <p:cNvPr id="14" name="Text 12"/>
          <p:cNvSpPr txBox="1"/>
          <p:nvPr/>
        </p:nvSpPr>
        <p:spPr>
          <a:xfrm>
            <a:off x="4590288" y="2788920"/>
            <a:ext cx="2926080" cy="457200"/>
          </a:xfrm>
          <a:prstGeom prst="rect">
            <a:avLst/>
          </a:prstGeom>
          <a:noFill/>
          <a:ln/>
        </p:spPr>
        <p:txBody>
          <a:bodyPr wrap="square" lIns="0" tIns="0" rIns="0" bIns="0" rtlCol="0" anchor="ctr"/>
          <a:lstStyle/>
          <a:p>
            <a:pPr marL="0" indent="0">
              <a:buNone/>
            </a:pPr>
            <a:r>
              <a:rPr lang="en-US" sz="1700" b="1" dirty="0">
                <a:solidFill>
                  <a:srgbClr val="1A2232"/>
                </a:solidFill>
                <a:latin typeface="Calibri" pitchFamily="34" charset="0"/>
                <a:ea typeface="Calibri" pitchFamily="34" charset="-122"/>
                <a:cs typeface="Calibri" pitchFamily="34" charset="-120"/>
              </a:rPr>
              <a:t>Amcache &amp; Shimcache</a:t>
            </a:r>
            <a:endParaRPr lang="en-US" sz="1700" dirty="0"/>
          </a:p>
        </p:txBody>
      </p:sp>
      <p:sp>
        <p:nvSpPr>
          <p:cNvPr id="15" name="Text 13"/>
          <p:cNvSpPr txBox="1"/>
          <p:nvPr/>
        </p:nvSpPr>
        <p:spPr>
          <a:xfrm>
            <a:off x="4590288" y="3200400"/>
            <a:ext cx="2926080" cy="320040"/>
          </a:xfrm>
          <a:prstGeom prst="rect">
            <a:avLst/>
          </a:prstGeom>
          <a:noFill/>
          <a:ln/>
        </p:spPr>
        <p:txBody>
          <a:bodyPr wrap="square" lIns="0" tIns="0" rIns="0" bIns="0" rtlCol="0" anchor="ctr"/>
          <a:lstStyle/>
          <a:p>
            <a:pPr marL="0" indent="0">
              <a:buNone/>
            </a:pPr>
            <a:r>
              <a:rPr lang="en-US" sz="1250" i="1" dirty="0">
                <a:solidFill>
                  <a:srgbClr val="2E4374"/>
                </a:solidFill>
                <a:latin typeface="Calibri" pitchFamily="34" charset="0"/>
                <a:ea typeface="Calibri" pitchFamily="34" charset="-122"/>
                <a:cs typeface="Calibri" pitchFamily="34" charset="-120"/>
              </a:rPr>
              <a:t>Vishal Chudasama</a:t>
            </a:r>
            <a:endParaRPr lang="en-US" sz="1250" dirty="0"/>
          </a:p>
        </p:txBody>
      </p:sp>
      <p:sp>
        <p:nvSpPr>
          <p:cNvPr id="16" name="Text 14"/>
          <p:cNvSpPr txBox="1"/>
          <p:nvPr/>
        </p:nvSpPr>
        <p:spPr>
          <a:xfrm>
            <a:off x="4590288" y="3703320"/>
            <a:ext cx="29718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What each artifact stores</a:t>
            </a:r>
            <a:endParaRPr lang="en-US" sz="1300" dirty="0"/>
          </a:p>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The traps investigators fall into</a:t>
            </a:r>
            <a:endParaRPr lang="en-US" sz="1300" dirty="0"/>
          </a:p>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All three side by side</a:t>
            </a:r>
            <a:endParaRPr lang="en-US" sz="1300" dirty="0"/>
          </a:p>
        </p:txBody>
      </p:sp>
      <p:sp>
        <p:nvSpPr>
          <p:cNvPr id="18" name="Shape 16"/>
          <p:cNvSpPr/>
          <p:nvPr/>
        </p:nvSpPr>
        <p:spPr>
          <a:xfrm>
            <a:off x="7991856" y="1783080"/>
            <a:ext cx="3520440" cy="4114800"/>
          </a:xfrm>
          <a:prstGeom prst="roundRect">
            <a:avLst>
              <a:gd name="adj" fmla="val 2078"/>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9" name="Text 17"/>
          <p:cNvSpPr txBox="1"/>
          <p:nvPr/>
        </p:nvSpPr>
        <p:spPr>
          <a:xfrm>
            <a:off x="8311896" y="2011680"/>
            <a:ext cx="1371600" cy="731520"/>
          </a:xfrm>
          <a:prstGeom prst="rect">
            <a:avLst/>
          </a:prstGeom>
          <a:noFill/>
          <a:ln/>
        </p:spPr>
        <p:txBody>
          <a:bodyPr wrap="square" lIns="0" tIns="0" rIns="0" bIns="0" rtlCol="0" anchor="ctr"/>
          <a:lstStyle/>
          <a:p>
            <a:pPr marL="0" indent="0">
              <a:buNone/>
            </a:pPr>
            <a:r>
              <a:rPr lang="en-US" sz="4000" b="1" dirty="0">
                <a:solidFill>
                  <a:srgbClr val="E3A008"/>
                </a:solidFill>
                <a:latin typeface="Cambria" pitchFamily="34" charset="0"/>
                <a:ea typeface="Cambria" pitchFamily="34" charset="-122"/>
                <a:cs typeface="Cambria" pitchFamily="34" charset="-120"/>
              </a:rPr>
              <a:t>03</a:t>
            </a:r>
            <a:endParaRPr lang="en-US" sz="4000" dirty="0"/>
          </a:p>
        </p:txBody>
      </p:sp>
      <p:sp>
        <p:nvSpPr>
          <p:cNvPr id="20" name="Text 18"/>
          <p:cNvSpPr txBox="1"/>
          <p:nvPr/>
        </p:nvSpPr>
        <p:spPr>
          <a:xfrm>
            <a:off x="8311896" y="2788920"/>
            <a:ext cx="2926080" cy="457200"/>
          </a:xfrm>
          <a:prstGeom prst="rect">
            <a:avLst/>
          </a:prstGeom>
          <a:noFill/>
          <a:ln/>
        </p:spPr>
        <p:txBody>
          <a:bodyPr wrap="square" lIns="0" tIns="0" rIns="0" bIns="0" rtlCol="0" anchor="ctr"/>
          <a:lstStyle/>
          <a:p>
            <a:pPr marL="0" indent="0">
              <a:buNone/>
            </a:pPr>
            <a:r>
              <a:rPr lang="en-US" sz="1700" b="1" dirty="0">
                <a:solidFill>
                  <a:srgbClr val="1A2232"/>
                </a:solidFill>
                <a:latin typeface="Calibri" pitchFamily="34" charset="0"/>
                <a:ea typeface="Calibri" pitchFamily="34" charset="-122"/>
                <a:cs typeface="Calibri" pitchFamily="34" charset="-120"/>
              </a:rPr>
              <a:t>Correlation &amp; verdict</a:t>
            </a:r>
            <a:endParaRPr lang="en-US" sz="1700" dirty="0"/>
          </a:p>
        </p:txBody>
      </p:sp>
      <p:sp>
        <p:nvSpPr>
          <p:cNvPr id="21" name="Text 19"/>
          <p:cNvSpPr txBox="1"/>
          <p:nvPr/>
        </p:nvSpPr>
        <p:spPr>
          <a:xfrm>
            <a:off x="8311896" y="3200400"/>
            <a:ext cx="2926080" cy="320040"/>
          </a:xfrm>
          <a:prstGeom prst="rect">
            <a:avLst/>
          </a:prstGeom>
          <a:noFill/>
          <a:ln/>
        </p:spPr>
        <p:txBody>
          <a:bodyPr wrap="square" lIns="0" tIns="0" rIns="0" bIns="0" rtlCol="0" anchor="ctr"/>
          <a:lstStyle/>
          <a:p>
            <a:pPr marL="0" indent="0">
              <a:buNone/>
            </a:pPr>
            <a:r>
              <a:rPr lang="en-US" sz="1250" i="1" dirty="0">
                <a:solidFill>
                  <a:srgbClr val="2E4374"/>
                </a:solidFill>
                <a:latin typeface="Calibri" pitchFamily="34" charset="0"/>
                <a:ea typeface="Calibri" pitchFamily="34" charset="-122"/>
                <a:cs typeface="Calibri" pitchFamily="34" charset="-120"/>
              </a:rPr>
              <a:t>Pinak Sakariya</a:t>
            </a:r>
            <a:endParaRPr lang="en-US" sz="1250" dirty="0"/>
          </a:p>
        </p:txBody>
      </p:sp>
      <p:sp>
        <p:nvSpPr>
          <p:cNvPr id="22" name="Text 20"/>
          <p:cNvSpPr txBox="1"/>
          <p:nvPr/>
        </p:nvSpPr>
        <p:spPr>
          <a:xfrm>
            <a:off x="8311896" y="3703320"/>
            <a:ext cx="29718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Our correlation method</a:t>
            </a:r>
            <a:endParaRPr lang="en-US" sz="1300" dirty="0"/>
          </a:p>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The sample evidence and timeline</a:t>
            </a:r>
            <a:endParaRPr lang="en-US" sz="1300" dirty="0"/>
          </a:p>
          <a:p>
            <a:pPr marL="342900" indent="-342900">
              <a:spcAft>
                <a:spcPts val="600"/>
              </a:spcAft>
              <a:buSzPct val="100000"/>
              <a:buChar char="•"/>
            </a:pPr>
            <a:r>
              <a:rPr lang="en-US" sz="1300" dirty="0">
                <a:solidFill>
                  <a:srgbClr val="5C6880"/>
                </a:solidFill>
                <a:latin typeface="Calibri" pitchFamily="34" charset="0"/>
                <a:ea typeface="Calibri" pitchFamily="34" charset="-122"/>
                <a:cs typeface="Calibri" pitchFamily="34" charset="-120"/>
              </a:rPr>
              <a:t>Pitfalls and final verdict</a:t>
            </a:r>
            <a:endParaRPr lang="en-US" sz="1300" dirty="0"/>
          </a:p>
        </p:txBody>
      </p:sp>
      <p:sp>
        <p:nvSpPr>
          <p:cNvPr id="24" name="Text 2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25" name="Text 23"/>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1  ·  Aayush Boghara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B2E"/>
        </a:solidFill>
        <a:effectLst/>
      </p:bgPr>
    </p:bg>
    <p:spTree>
      <p:nvGrpSpPr>
        <p:cNvPr id="1" name=""/>
        <p:cNvGrpSpPr/>
        <p:nvPr/>
      </p:nvGrpSpPr>
      <p:grpSpPr>
        <a:xfrm>
          <a:off x="0" y="0"/>
          <a:ext cx="0" cy="0"/>
          <a:chOff x="0" y="0"/>
          <a:chExt cx="0" cy="0"/>
        </a:xfrm>
      </p:grpSpPr>
      <p:sp>
        <p:nvSpPr>
          <p:cNvPr id="2" name="Shape 0"/>
          <p:cNvSpPr/>
          <p:nvPr/>
        </p:nvSpPr>
        <p:spPr>
          <a:xfrm>
            <a:off x="8321040" y="-1463040"/>
            <a:ext cx="5120640" cy="5120640"/>
          </a:xfrm>
          <a:prstGeom prst="ellipse">
            <a:avLst/>
          </a:prstGeom>
          <a:solidFill>
            <a:srgbClr val="1F2A44"/>
          </a:solidFill>
          <a:ln/>
        </p:spPr>
      </p:sp>
      <p:sp>
        <p:nvSpPr>
          <p:cNvPr id="3" name="Text 1"/>
          <p:cNvSpPr txBox="1"/>
          <p:nvPr/>
        </p:nvSpPr>
        <p:spPr>
          <a:xfrm>
            <a:off x="731520" y="1188720"/>
            <a:ext cx="3657600" cy="1463040"/>
          </a:xfrm>
          <a:prstGeom prst="rect">
            <a:avLst/>
          </a:prstGeom>
          <a:noFill/>
          <a:ln/>
        </p:spPr>
        <p:txBody>
          <a:bodyPr wrap="square" lIns="0" tIns="0" rIns="0" bIns="0" rtlCol="0" anchor="ctr"/>
          <a:lstStyle/>
          <a:p>
            <a:pPr marL="0" indent="0">
              <a:buNone/>
            </a:pPr>
            <a:r>
              <a:rPr lang="en-US" sz="9600" b="1" dirty="0">
                <a:solidFill>
                  <a:srgbClr val="E3A008"/>
                </a:solidFill>
                <a:latin typeface="Cambria" pitchFamily="34" charset="0"/>
                <a:ea typeface="Cambria" pitchFamily="34" charset="-122"/>
                <a:cs typeface="Cambria" pitchFamily="34" charset="-120"/>
              </a:rPr>
              <a:t>01</a:t>
            </a:r>
            <a:endParaRPr lang="en-US" sz="9600" dirty="0"/>
          </a:p>
        </p:txBody>
      </p:sp>
      <p:sp>
        <p:nvSpPr>
          <p:cNvPr id="4" name="Text 2"/>
          <p:cNvSpPr txBox="1"/>
          <p:nvPr/>
        </p:nvSpPr>
        <p:spPr>
          <a:xfrm>
            <a:off x="731520" y="2743200"/>
            <a:ext cx="96012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question &amp; Prefetch</a:t>
            </a:r>
            <a:endParaRPr lang="en-US" sz="3800" dirty="0"/>
          </a:p>
        </p:txBody>
      </p:sp>
      <p:sp>
        <p:nvSpPr>
          <p:cNvPr id="5" name="Text 3"/>
          <p:cNvSpPr txBox="1"/>
          <p:nvPr/>
        </p:nvSpPr>
        <p:spPr>
          <a:xfrm>
            <a:off x="749808" y="3657600"/>
            <a:ext cx="9601200" cy="548640"/>
          </a:xfrm>
          <a:prstGeom prst="rect">
            <a:avLst/>
          </a:prstGeom>
          <a:noFill/>
          <a:ln/>
        </p:spPr>
        <p:txBody>
          <a:bodyPr wrap="square" lIns="0" tIns="0" rIns="0" bIns="0" rtlCol="0" anchor="ctr"/>
          <a:lstStyle/>
          <a:p>
            <a:pPr marL="0" indent="0">
              <a:buNone/>
            </a:pPr>
            <a:r>
              <a:rPr lang="en-US" sz="1600" dirty="0">
                <a:solidFill>
                  <a:srgbClr val="AEB8D0"/>
                </a:solidFill>
                <a:latin typeface="Calibri" pitchFamily="34" charset="0"/>
                <a:ea typeface="Calibri" pitchFamily="34" charset="-122"/>
                <a:cs typeface="Calibri" pitchFamily="34" charset="-120"/>
              </a:rPr>
              <a:t>Why ‘it was on the disk’ is not the same as ‘it ran’</a:t>
            </a:r>
            <a:endParaRPr lang="en-US" sz="1600" dirty="0"/>
          </a:p>
        </p:txBody>
      </p:sp>
      <p:sp>
        <p:nvSpPr>
          <p:cNvPr id="6" name="Shape 4"/>
          <p:cNvSpPr/>
          <p:nvPr/>
        </p:nvSpPr>
        <p:spPr>
          <a:xfrm>
            <a:off x="731520" y="4800600"/>
            <a:ext cx="5852160" cy="868680"/>
          </a:xfrm>
          <a:prstGeom prst="roundRect">
            <a:avLst>
              <a:gd name="adj" fmla="val 8421"/>
            </a:avLst>
          </a:prstGeom>
          <a:solidFill>
            <a:srgbClr val="1F2A44"/>
          </a:solidFill>
          <a:ln w="12700">
            <a:solidFill>
              <a:srgbClr val="2E4374"/>
            </a:solidFill>
            <a:prstDash val="solid"/>
          </a:ln>
        </p:spPr>
      </p:sp>
      <p:sp>
        <p:nvSpPr>
          <p:cNvPr id="7" name="Text 5"/>
          <p:cNvSpPr txBox="1"/>
          <p:nvPr/>
        </p:nvSpPr>
        <p:spPr>
          <a:xfrm>
            <a:off x="960120" y="4800600"/>
            <a:ext cx="5486400" cy="868680"/>
          </a:xfrm>
          <a:prstGeom prst="rect">
            <a:avLst/>
          </a:prstGeom>
          <a:noFill/>
          <a:ln/>
        </p:spPr>
        <p:txBody>
          <a:bodyPr wrap="square" lIns="0" tIns="0" rIns="0" bIns="0" rtlCol="0" anchor="ctr"/>
          <a:lstStyle/>
          <a:p>
            <a:r>
              <a:rPr lang="en-US" sz="1200" dirty="0">
                <a:solidFill>
                  <a:srgbClr val="AEB8D0"/>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AAYUSH BOGHARA</a:t>
            </a:r>
            <a:endParaRPr lang="en-US" sz="1200" dirty="0"/>
          </a:p>
          <a:p>
            <a:pPr marL="0" indent="0">
              <a:buNone/>
            </a:pPr>
            <a:r>
              <a:rPr lang="en-US" sz="1150" dirty="0">
                <a:solidFill>
                  <a:srgbClr val="AEB8D0"/>
                </a:solidFill>
                <a:latin typeface="Calibri" pitchFamily="34" charset="0"/>
                <a:ea typeface="Calibri" pitchFamily="34" charset="-122"/>
                <a:cs typeface="Calibri" pitchFamily="34" charset="-120"/>
              </a:rPr>
              <a:t>Roll No 	  </a:t>
            </a:r>
            <a:r>
              <a:rPr lang="en-US" sz="1150" b="1" dirty="0">
                <a:solidFill>
                  <a:srgbClr val="AEB8D0"/>
                </a:solidFill>
                <a:latin typeface="Calibri" pitchFamily="34" charset="0"/>
                <a:ea typeface="Calibri" pitchFamily="34" charset="-122"/>
                <a:cs typeface="Calibri" pitchFamily="34" charset="-120"/>
              </a:rPr>
              <a:t>E01	</a:t>
            </a:r>
          </a:p>
          <a:p>
            <a:pPr marL="0" indent="0">
              <a:buNone/>
            </a:pPr>
            <a:r>
              <a:rPr lang="en-US" sz="1150" dirty="0">
                <a:solidFill>
                  <a:srgbClr val="AEB8D0"/>
                </a:solidFill>
                <a:latin typeface="Calibri" pitchFamily="34" charset="0"/>
                <a:ea typeface="Calibri" pitchFamily="34" charset="-122"/>
                <a:cs typeface="Calibri" pitchFamily="34" charset="-120"/>
              </a:rPr>
              <a:t>Enrollment No.   25004401110004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CORE IDEA</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Presence is not execution</a:t>
            </a:r>
            <a:endParaRPr lang="en-US" sz="3000" dirty="0"/>
          </a:p>
        </p:txBody>
      </p:sp>
      <p:sp>
        <p:nvSpPr>
          <p:cNvPr id="6" name="Text 4"/>
          <p:cNvSpPr txBox="1"/>
          <p:nvPr/>
        </p:nvSpPr>
        <p:spPr>
          <a:xfrm>
            <a:off x="548640" y="1463040"/>
            <a:ext cx="11064240" cy="457200"/>
          </a:xfrm>
          <a:prstGeom prst="rect">
            <a:avLst/>
          </a:prstGeom>
          <a:noFill/>
          <a:ln/>
        </p:spPr>
        <p:txBody>
          <a:bodyPr wrap="square" lIns="0" tIns="0" rIns="0" bIns="0" rtlCol="0" anchor="ctr"/>
          <a:lstStyle/>
          <a:p>
            <a:pPr marL="0" indent="0">
              <a:buNone/>
            </a:pPr>
            <a:r>
              <a:rPr lang="en-US" sz="1500" i="1" dirty="0">
                <a:solidFill>
                  <a:srgbClr val="5C6880"/>
                </a:solidFill>
                <a:latin typeface="Calibri" pitchFamily="34" charset="0"/>
                <a:ea typeface="Calibri" pitchFamily="34" charset="-122"/>
                <a:cs typeface="Calibri" pitchFamily="34" charset="-120"/>
              </a:rPr>
              <a:t>Each artifact climbs to a different step. Our case needs the top step — proof that a process actually ran.</a:t>
            </a:r>
            <a:endParaRPr lang="en-US" sz="1500" dirty="0"/>
          </a:p>
        </p:txBody>
      </p:sp>
      <p:sp>
        <p:nvSpPr>
          <p:cNvPr id="7" name="Shape 5"/>
          <p:cNvSpPr/>
          <p:nvPr/>
        </p:nvSpPr>
        <p:spPr>
          <a:xfrm>
            <a:off x="822960" y="4572000"/>
            <a:ext cx="3383280" cy="1417320"/>
          </a:xfrm>
          <a:prstGeom prst="roundRect">
            <a:avLst>
              <a:gd name="adj" fmla="val 5161"/>
            </a:avLst>
          </a:prstGeom>
          <a:solidFill>
            <a:srgbClr val="B8C2D8"/>
          </a:solidFill>
          <a:ln/>
        </p:spPr>
      </p:sp>
      <p:sp>
        <p:nvSpPr>
          <p:cNvPr id="8" name="Text 6"/>
          <p:cNvSpPr txBox="1"/>
          <p:nvPr/>
        </p:nvSpPr>
        <p:spPr>
          <a:xfrm>
            <a:off x="1097280" y="4773168"/>
            <a:ext cx="2743200" cy="274320"/>
          </a:xfrm>
          <a:prstGeom prst="rect">
            <a:avLst/>
          </a:prstGeom>
          <a:noFill/>
          <a:ln/>
        </p:spPr>
        <p:txBody>
          <a:bodyPr wrap="square" lIns="0" tIns="0" rIns="0" bIns="0" rtlCol="0" anchor="ctr"/>
          <a:lstStyle/>
          <a:p>
            <a:pPr marL="0" indent="0">
              <a:buNone/>
            </a:pPr>
            <a:r>
              <a:rPr lang="en-US" sz="1050" b="1" kern="0" spc="200" dirty="0">
                <a:solidFill>
                  <a:srgbClr val="1A2232"/>
                </a:solidFill>
                <a:latin typeface="Calibri" pitchFamily="34" charset="0"/>
                <a:ea typeface="Calibri" pitchFamily="34" charset="-122"/>
                <a:cs typeface="Calibri" pitchFamily="34" charset="-120"/>
              </a:rPr>
              <a:t>STEP 1</a:t>
            </a:r>
            <a:endParaRPr lang="en-US" sz="1050" dirty="0"/>
          </a:p>
        </p:txBody>
      </p:sp>
      <p:sp>
        <p:nvSpPr>
          <p:cNvPr id="9" name="Text 7"/>
          <p:cNvSpPr txBox="1"/>
          <p:nvPr/>
        </p:nvSpPr>
        <p:spPr>
          <a:xfrm>
            <a:off x="1097280" y="5029200"/>
            <a:ext cx="2926080" cy="457200"/>
          </a:xfrm>
          <a:prstGeom prst="rect">
            <a:avLst/>
          </a:prstGeom>
          <a:noFill/>
          <a:ln/>
        </p:spPr>
        <p:txBody>
          <a:bodyPr wrap="square" lIns="0" tIns="0" rIns="0" bIns="0" rtlCol="0" anchor="ctr"/>
          <a:lstStyle/>
          <a:p>
            <a:pPr marL="0" indent="0">
              <a:buNone/>
            </a:pPr>
            <a:r>
              <a:rPr lang="en-US" sz="2200" b="1" dirty="0">
                <a:solidFill>
                  <a:srgbClr val="1A2232"/>
                </a:solidFill>
                <a:latin typeface="Cambria" pitchFamily="34" charset="0"/>
                <a:ea typeface="Cambria" pitchFamily="34" charset="-122"/>
                <a:cs typeface="Cambria" pitchFamily="34" charset="-120"/>
              </a:rPr>
              <a:t>EXISTED</a:t>
            </a:r>
            <a:endParaRPr lang="en-US" sz="2200" dirty="0"/>
          </a:p>
        </p:txBody>
      </p:sp>
      <p:sp>
        <p:nvSpPr>
          <p:cNvPr id="10" name="Text 8"/>
          <p:cNvSpPr txBox="1"/>
          <p:nvPr/>
        </p:nvSpPr>
        <p:spPr>
          <a:xfrm>
            <a:off x="1097280" y="5486400"/>
            <a:ext cx="2926080" cy="457200"/>
          </a:xfrm>
          <a:prstGeom prst="rect">
            <a:avLst/>
          </a:prstGeom>
          <a:noFill/>
          <a:ln/>
        </p:spPr>
        <p:txBody>
          <a:bodyPr wrap="square" lIns="0" tIns="0" rIns="0" bIns="0" rtlCol="0" anchor="ctr"/>
          <a:lstStyle/>
          <a:p>
            <a:pPr marL="0" indent="0">
              <a:buNone/>
            </a:pPr>
            <a:r>
              <a:rPr lang="en-US" sz="1250" dirty="0">
                <a:solidFill>
                  <a:srgbClr val="1A2232"/>
                </a:solidFill>
                <a:latin typeface="Calibri" pitchFamily="34" charset="0"/>
                <a:ea typeface="Calibri" pitchFamily="34" charset="-122"/>
                <a:cs typeface="Calibri" pitchFamily="34" charset="-120"/>
              </a:rPr>
              <a:t>The file was on disk at that path</a:t>
            </a:r>
            <a:endParaRPr lang="en-US" sz="1250" dirty="0"/>
          </a:p>
        </p:txBody>
      </p:sp>
      <p:sp>
        <p:nvSpPr>
          <p:cNvPr id="11" name="Shape 9"/>
          <p:cNvSpPr/>
          <p:nvPr/>
        </p:nvSpPr>
        <p:spPr>
          <a:xfrm>
            <a:off x="4434840" y="3566160"/>
            <a:ext cx="3383280" cy="2423160"/>
          </a:xfrm>
          <a:prstGeom prst="roundRect">
            <a:avLst>
              <a:gd name="adj" fmla="val 3019"/>
            </a:avLst>
          </a:prstGeom>
          <a:solidFill>
            <a:srgbClr val="6B7FA8"/>
          </a:solidFill>
          <a:ln/>
        </p:spPr>
      </p:sp>
      <p:sp>
        <p:nvSpPr>
          <p:cNvPr id="12" name="Text 10"/>
          <p:cNvSpPr txBox="1"/>
          <p:nvPr/>
        </p:nvSpPr>
        <p:spPr>
          <a:xfrm>
            <a:off x="4709160" y="3767328"/>
            <a:ext cx="2743200" cy="274320"/>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STEP 2</a:t>
            </a:r>
            <a:endParaRPr lang="en-US" sz="1050" dirty="0"/>
          </a:p>
        </p:txBody>
      </p:sp>
      <p:sp>
        <p:nvSpPr>
          <p:cNvPr id="13" name="Text 11"/>
          <p:cNvSpPr txBox="1"/>
          <p:nvPr/>
        </p:nvSpPr>
        <p:spPr>
          <a:xfrm>
            <a:off x="4709160" y="4023360"/>
            <a:ext cx="292608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IDENTIFIED</a:t>
            </a:r>
            <a:endParaRPr lang="en-US" sz="2200" dirty="0"/>
          </a:p>
        </p:txBody>
      </p:sp>
      <p:sp>
        <p:nvSpPr>
          <p:cNvPr id="14" name="Text 12"/>
          <p:cNvSpPr txBox="1"/>
          <p:nvPr/>
        </p:nvSpPr>
        <p:spPr>
          <a:xfrm>
            <a:off x="4709160" y="4480560"/>
            <a:ext cx="29260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Windows recorded its hash, size and publisher</a:t>
            </a:r>
            <a:endParaRPr lang="en-US" sz="1250" dirty="0"/>
          </a:p>
        </p:txBody>
      </p:sp>
      <p:sp>
        <p:nvSpPr>
          <p:cNvPr id="15" name="Shape 13"/>
          <p:cNvSpPr/>
          <p:nvPr/>
        </p:nvSpPr>
        <p:spPr>
          <a:xfrm>
            <a:off x="8046720" y="2560320"/>
            <a:ext cx="3383280" cy="3429000"/>
          </a:xfrm>
          <a:prstGeom prst="roundRect">
            <a:avLst>
              <a:gd name="adj" fmla="val 2162"/>
            </a:avLst>
          </a:prstGeom>
          <a:solidFill>
            <a:srgbClr val="2E4374"/>
          </a:solidFill>
          <a:ln/>
        </p:spPr>
      </p:sp>
      <p:sp>
        <p:nvSpPr>
          <p:cNvPr id="16" name="Text 14"/>
          <p:cNvSpPr txBox="1"/>
          <p:nvPr/>
        </p:nvSpPr>
        <p:spPr>
          <a:xfrm>
            <a:off x="8321040" y="2761488"/>
            <a:ext cx="2743200" cy="274320"/>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STEP 3</a:t>
            </a:r>
            <a:endParaRPr lang="en-US" sz="1050" dirty="0"/>
          </a:p>
        </p:txBody>
      </p:sp>
      <p:sp>
        <p:nvSpPr>
          <p:cNvPr id="17" name="Text 15"/>
          <p:cNvSpPr txBox="1"/>
          <p:nvPr/>
        </p:nvSpPr>
        <p:spPr>
          <a:xfrm>
            <a:off x="8321040" y="3017520"/>
            <a:ext cx="292608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EXECUTED</a:t>
            </a:r>
            <a:endParaRPr lang="en-US" sz="2200" dirty="0"/>
          </a:p>
        </p:txBody>
      </p:sp>
      <p:sp>
        <p:nvSpPr>
          <p:cNvPr id="18" name="Text 16"/>
          <p:cNvSpPr txBox="1"/>
          <p:nvPr/>
        </p:nvSpPr>
        <p:spPr>
          <a:xfrm>
            <a:off x="8321040" y="3474720"/>
            <a:ext cx="29260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 process was launched and ran</a:t>
            </a:r>
            <a:endParaRPr lang="en-US" sz="1250" dirty="0"/>
          </a:p>
        </p:txBody>
      </p:sp>
      <p:sp>
        <p:nvSpPr>
          <p:cNvPr id="19" name="Shape 17"/>
          <p:cNvSpPr/>
          <p:nvPr/>
        </p:nvSpPr>
        <p:spPr>
          <a:xfrm>
            <a:off x="822960" y="4114800"/>
            <a:ext cx="3383280" cy="347472"/>
          </a:xfrm>
          <a:prstGeom prst="roundRect">
            <a:avLst>
              <a:gd name="adj" fmla="val 21053"/>
            </a:avLst>
          </a:prstGeom>
          <a:solidFill>
            <a:srgbClr val="EEF1F7"/>
          </a:solidFill>
          <a:ln w="12700">
            <a:solidFill>
              <a:srgbClr val="DCE1EC"/>
            </a:solidFill>
            <a:prstDash val="solid"/>
          </a:ln>
        </p:spPr>
      </p:sp>
      <p:sp>
        <p:nvSpPr>
          <p:cNvPr id="20" name="Text 18"/>
          <p:cNvSpPr txBox="1"/>
          <p:nvPr/>
        </p:nvSpPr>
        <p:spPr>
          <a:xfrm>
            <a:off x="960120" y="4114800"/>
            <a:ext cx="3108960" cy="347472"/>
          </a:xfrm>
          <a:prstGeom prst="rect">
            <a:avLst/>
          </a:prstGeom>
          <a:noFill/>
          <a:ln/>
        </p:spPr>
        <p:txBody>
          <a:bodyPr wrap="square" lIns="0" tIns="0" rIns="0" bIns="0" rtlCol="0" anchor="ctr"/>
          <a:lstStyle/>
          <a:p>
            <a:pPr marL="0" indent="0">
              <a:buNone/>
            </a:pPr>
            <a:r>
              <a:rPr lang="en-US" sz="1150" b="1" dirty="0">
                <a:solidFill>
                  <a:srgbClr val="2E4374"/>
                </a:solidFill>
                <a:latin typeface="Calibri" pitchFamily="34" charset="0"/>
                <a:ea typeface="Calibri" pitchFamily="34" charset="-122"/>
                <a:cs typeface="Calibri" pitchFamily="34" charset="-120"/>
              </a:rPr>
              <a:t>Shown by:  Shimcache · Amcache</a:t>
            </a:r>
            <a:endParaRPr lang="en-US" sz="1150" dirty="0"/>
          </a:p>
        </p:txBody>
      </p:sp>
      <p:sp>
        <p:nvSpPr>
          <p:cNvPr id="21" name="Shape 19"/>
          <p:cNvSpPr/>
          <p:nvPr/>
        </p:nvSpPr>
        <p:spPr>
          <a:xfrm>
            <a:off x="4434840" y="3108960"/>
            <a:ext cx="3383280" cy="347472"/>
          </a:xfrm>
          <a:prstGeom prst="roundRect">
            <a:avLst>
              <a:gd name="adj" fmla="val 21053"/>
            </a:avLst>
          </a:prstGeom>
          <a:solidFill>
            <a:srgbClr val="EEF1F7"/>
          </a:solidFill>
          <a:ln w="12700">
            <a:solidFill>
              <a:srgbClr val="DCE1EC"/>
            </a:solidFill>
            <a:prstDash val="solid"/>
          </a:ln>
        </p:spPr>
      </p:sp>
      <p:sp>
        <p:nvSpPr>
          <p:cNvPr id="22" name="Text 20"/>
          <p:cNvSpPr txBox="1"/>
          <p:nvPr/>
        </p:nvSpPr>
        <p:spPr>
          <a:xfrm>
            <a:off x="4572000" y="3108960"/>
            <a:ext cx="3108960" cy="347472"/>
          </a:xfrm>
          <a:prstGeom prst="rect">
            <a:avLst/>
          </a:prstGeom>
          <a:noFill/>
          <a:ln/>
        </p:spPr>
        <p:txBody>
          <a:bodyPr wrap="square" lIns="0" tIns="0" rIns="0" bIns="0" rtlCol="0" anchor="ctr"/>
          <a:lstStyle/>
          <a:p>
            <a:pPr marL="0" indent="0">
              <a:buNone/>
            </a:pPr>
            <a:r>
              <a:rPr lang="en-US" sz="1150" b="1" dirty="0">
                <a:solidFill>
                  <a:srgbClr val="2E4374"/>
                </a:solidFill>
                <a:latin typeface="Calibri" pitchFamily="34" charset="0"/>
                <a:ea typeface="Calibri" pitchFamily="34" charset="-122"/>
                <a:cs typeface="Calibri" pitchFamily="34" charset="-120"/>
              </a:rPr>
              <a:t>Shown by:  Amcache</a:t>
            </a:r>
            <a:endParaRPr lang="en-US" sz="1150" dirty="0"/>
          </a:p>
        </p:txBody>
      </p:sp>
      <p:sp>
        <p:nvSpPr>
          <p:cNvPr id="23" name="Shape 21"/>
          <p:cNvSpPr/>
          <p:nvPr/>
        </p:nvSpPr>
        <p:spPr>
          <a:xfrm>
            <a:off x="8046720" y="2103120"/>
            <a:ext cx="3383280" cy="347472"/>
          </a:xfrm>
          <a:prstGeom prst="roundRect">
            <a:avLst>
              <a:gd name="adj" fmla="val 21053"/>
            </a:avLst>
          </a:prstGeom>
          <a:solidFill>
            <a:srgbClr val="E3A008"/>
          </a:solidFill>
          <a:ln w="12700">
            <a:solidFill>
              <a:srgbClr val="E3A008"/>
            </a:solidFill>
            <a:prstDash val="solid"/>
          </a:ln>
        </p:spPr>
      </p:sp>
      <p:sp>
        <p:nvSpPr>
          <p:cNvPr id="24" name="Text 22"/>
          <p:cNvSpPr txBox="1"/>
          <p:nvPr/>
        </p:nvSpPr>
        <p:spPr>
          <a:xfrm>
            <a:off x="8183880" y="2103120"/>
            <a:ext cx="3108960" cy="347472"/>
          </a:xfrm>
          <a:prstGeom prst="rect">
            <a:avLst/>
          </a:prstGeom>
          <a:noFill/>
          <a:ln/>
        </p:spPr>
        <p:txBody>
          <a:bodyPr wrap="square" lIns="0" tIns="0" rIns="0" bIns="0" rtlCol="0" anchor="ctr"/>
          <a:lstStyle/>
          <a:p>
            <a:pPr marL="0" indent="0">
              <a:buNone/>
            </a:pPr>
            <a:r>
              <a:rPr lang="en-US" sz="1150" b="1" dirty="0">
                <a:solidFill>
                  <a:srgbClr val="141B2E"/>
                </a:solidFill>
                <a:latin typeface="Calibri" pitchFamily="34" charset="0"/>
                <a:ea typeface="Calibri" pitchFamily="34" charset="-122"/>
                <a:cs typeface="Calibri" pitchFamily="34" charset="-120"/>
              </a:rPr>
              <a:t>Shown by:  Prefetch</a:t>
            </a:r>
            <a:endParaRPr lang="en-US" sz="115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26" name="Text 24"/>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1  ·  Aayush Boghara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1 · PREFETCH</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How Prefetch is created</a:t>
            </a:r>
            <a:endParaRPr lang="en-US" sz="3000" dirty="0"/>
          </a:p>
        </p:txBody>
      </p:sp>
      <p:sp>
        <p:nvSpPr>
          <p:cNvPr id="6" name="Shape 4"/>
          <p:cNvSpPr/>
          <p:nvPr/>
        </p:nvSpPr>
        <p:spPr>
          <a:xfrm>
            <a:off x="548640" y="1737360"/>
            <a:ext cx="2514600" cy="2148840"/>
          </a:xfrm>
          <a:prstGeom prst="roundRect">
            <a:avLst>
              <a:gd name="adj" fmla="val 3404"/>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7" name="Shape 5"/>
          <p:cNvSpPr/>
          <p:nvPr/>
        </p:nvSpPr>
        <p:spPr>
          <a:xfrm>
            <a:off x="822960" y="1965960"/>
            <a:ext cx="502920" cy="502920"/>
          </a:xfrm>
          <a:prstGeom prst="ellipse">
            <a:avLst/>
          </a:prstGeom>
          <a:solidFill>
            <a:srgbClr val="2E4374"/>
          </a:solidFill>
          <a:ln/>
        </p:spPr>
      </p:sp>
      <p:sp>
        <p:nvSpPr>
          <p:cNvPr id="8" name="Text 6"/>
          <p:cNvSpPr txBox="1"/>
          <p:nvPr/>
        </p:nvSpPr>
        <p:spPr>
          <a:xfrm>
            <a:off x="82296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txBox="1"/>
          <p:nvPr/>
        </p:nvSpPr>
        <p:spPr>
          <a:xfrm>
            <a:off x="822960" y="2606040"/>
            <a:ext cx="205740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Program launches</a:t>
            </a:r>
            <a:endParaRPr lang="en-US" sz="1500" dirty="0"/>
          </a:p>
        </p:txBody>
      </p:sp>
      <p:sp>
        <p:nvSpPr>
          <p:cNvPr id="10" name="Text 8"/>
          <p:cNvSpPr txBox="1"/>
          <p:nvPr/>
        </p:nvSpPr>
        <p:spPr>
          <a:xfrm>
            <a:off x="822960" y="3017520"/>
            <a:ext cx="2011680" cy="777240"/>
          </a:xfrm>
          <a:prstGeom prst="rect">
            <a:avLst/>
          </a:prstGeom>
          <a:noFill/>
          <a:ln/>
        </p:spPr>
        <p:txBody>
          <a:bodyPr wrap="square" lIns="0" tIns="0" rIns="0" bIns="0" rtlCol="0" anchor="t"/>
          <a:lstStyle/>
          <a:p>
            <a:pPr marL="0" indent="0">
              <a:buNone/>
            </a:pPr>
            <a:r>
              <a:rPr lang="en-US" sz="1200" dirty="0">
                <a:solidFill>
                  <a:srgbClr val="5C6880"/>
                </a:solidFill>
                <a:latin typeface="Calibri" pitchFamily="34" charset="0"/>
                <a:ea typeface="Calibri" pitchFamily="34" charset="-122"/>
                <a:cs typeface="Calibri" pitchFamily="34" charset="-120"/>
              </a:rPr>
              <a:t>User or process starts netscan.exe</a:t>
            </a:r>
            <a:endParaRPr lang="en-US" sz="1200" dirty="0"/>
          </a:p>
        </p:txBody>
      </p:sp>
      <p:sp>
        <p:nvSpPr>
          <p:cNvPr id="11" name="Shape 9"/>
          <p:cNvSpPr/>
          <p:nvPr/>
        </p:nvSpPr>
        <p:spPr>
          <a:xfrm>
            <a:off x="3099816" y="2807208"/>
            <a:ext cx="246888" cy="0"/>
          </a:xfrm>
          <a:prstGeom prst="line">
            <a:avLst/>
          </a:prstGeom>
          <a:noFill/>
          <a:ln w="28575">
            <a:solidFill>
              <a:srgbClr val="1A2232"/>
            </a:solidFill>
            <a:prstDash val="solid"/>
            <a:tailEnd type="triangle"/>
          </a:ln>
        </p:spPr>
      </p:sp>
      <p:sp>
        <p:nvSpPr>
          <p:cNvPr id="12" name="Shape 10"/>
          <p:cNvSpPr/>
          <p:nvPr/>
        </p:nvSpPr>
        <p:spPr>
          <a:xfrm>
            <a:off x="3383280" y="1737360"/>
            <a:ext cx="2514600" cy="2148840"/>
          </a:xfrm>
          <a:prstGeom prst="roundRect">
            <a:avLst>
              <a:gd name="adj" fmla="val 3404"/>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3" name="Shape 11"/>
          <p:cNvSpPr/>
          <p:nvPr/>
        </p:nvSpPr>
        <p:spPr>
          <a:xfrm>
            <a:off x="3657600" y="1965960"/>
            <a:ext cx="502920" cy="502920"/>
          </a:xfrm>
          <a:prstGeom prst="ellipse">
            <a:avLst/>
          </a:prstGeom>
          <a:solidFill>
            <a:srgbClr val="2E4374"/>
          </a:solidFill>
          <a:ln/>
        </p:spPr>
      </p:sp>
      <p:sp>
        <p:nvSpPr>
          <p:cNvPr id="14" name="Text 12"/>
          <p:cNvSpPr txBox="1"/>
          <p:nvPr/>
        </p:nvSpPr>
        <p:spPr>
          <a:xfrm>
            <a:off x="365760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txBox="1"/>
          <p:nvPr/>
        </p:nvSpPr>
        <p:spPr>
          <a:xfrm>
            <a:off x="3657600" y="2606040"/>
            <a:ext cx="205740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Windows watches</a:t>
            </a:r>
            <a:endParaRPr lang="en-US" sz="1500" dirty="0"/>
          </a:p>
        </p:txBody>
      </p:sp>
      <p:sp>
        <p:nvSpPr>
          <p:cNvPr id="16" name="Text 14"/>
          <p:cNvSpPr txBox="1"/>
          <p:nvPr/>
        </p:nvSpPr>
        <p:spPr>
          <a:xfrm>
            <a:off x="3657600" y="3017520"/>
            <a:ext cx="2011680" cy="777240"/>
          </a:xfrm>
          <a:prstGeom prst="rect">
            <a:avLst/>
          </a:prstGeom>
          <a:noFill/>
          <a:ln/>
        </p:spPr>
        <p:txBody>
          <a:bodyPr wrap="square" lIns="0" tIns="0" rIns="0" bIns="0" rtlCol="0" anchor="t"/>
          <a:lstStyle/>
          <a:p>
            <a:pPr marL="0" indent="0">
              <a:buNone/>
            </a:pPr>
            <a:r>
              <a:rPr lang="en-US" sz="1200" dirty="0">
                <a:solidFill>
                  <a:srgbClr val="5C6880"/>
                </a:solidFill>
                <a:latin typeface="Calibri" pitchFamily="34" charset="0"/>
                <a:ea typeface="Calibri" pitchFamily="34" charset="-122"/>
                <a:cs typeface="Calibri" pitchFamily="34" charset="-120"/>
              </a:rPr>
              <a:t>Cache Manager logs files loaded in the first ~10 seconds</a:t>
            </a:r>
            <a:endParaRPr lang="en-US" sz="1200" dirty="0"/>
          </a:p>
        </p:txBody>
      </p:sp>
      <p:sp>
        <p:nvSpPr>
          <p:cNvPr id="17" name="Shape 15"/>
          <p:cNvSpPr/>
          <p:nvPr/>
        </p:nvSpPr>
        <p:spPr>
          <a:xfrm>
            <a:off x="5934456" y="2807208"/>
            <a:ext cx="246888" cy="0"/>
          </a:xfrm>
          <a:prstGeom prst="line">
            <a:avLst/>
          </a:prstGeom>
          <a:noFill/>
          <a:ln w="28575">
            <a:solidFill>
              <a:srgbClr val="1A2232"/>
            </a:solidFill>
            <a:prstDash val="solid"/>
            <a:tailEnd type="triangle"/>
          </a:ln>
        </p:spPr>
      </p:sp>
      <p:sp>
        <p:nvSpPr>
          <p:cNvPr id="18" name="Shape 16"/>
          <p:cNvSpPr/>
          <p:nvPr/>
        </p:nvSpPr>
        <p:spPr>
          <a:xfrm>
            <a:off x="6217920" y="1737360"/>
            <a:ext cx="2514600" cy="2148840"/>
          </a:xfrm>
          <a:prstGeom prst="roundRect">
            <a:avLst>
              <a:gd name="adj" fmla="val 3404"/>
            </a:avLst>
          </a:prstGeom>
          <a:solidFill>
            <a:srgbClr val="141B2E"/>
          </a:solidFill>
          <a:ln w="12700">
            <a:solidFill>
              <a:srgbClr val="141B2E"/>
            </a:solidFill>
            <a:prstDash val="solid"/>
          </a:ln>
          <a:effectLst>
            <a:outerShdw blurRad="63500" dist="25400" dir="5400000" algn="bl" rotWithShape="0">
              <a:srgbClr val="A9B3C7">
                <a:alpha val="30000"/>
              </a:srgbClr>
            </a:outerShdw>
          </a:effectLst>
        </p:spPr>
      </p:sp>
      <p:sp>
        <p:nvSpPr>
          <p:cNvPr id="19" name="Shape 17"/>
          <p:cNvSpPr/>
          <p:nvPr/>
        </p:nvSpPr>
        <p:spPr>
          <a:xfrm>
            <a:off x="6492240" y="1965960"/>
            <a:ext cx="502920" cy="502920"/>
          </a:xfrm>
          <a:prstGeom prst="ellipse">
            <a:avLst/>
          </a:prstGeom>
          <a:solidFill>
            <a:srgbClr val="E3A008"/>
          </a:solidFill>
          <a:ln/>
        </p:spPr>
      </p:sp>
      <p:sp>
        <p:nvSpPr>
          <p:cNvPr id="20" name="Text 18"/>
          <p:cNvSpPr txBox="1"/>
          <p:nvPr/>
        </p:nvSpPr>
        <p:spPr>
          <a:xfrm>
            <a:off x="6492240" y="1965960"/>
            <a:ext cx="502920" cy="502920"/>
          </a:xfrm>
          <a:prstGeom prst="rect">
            <a:avLst/>
          </a:prstGeom>
          <a:noFill/>
          <a:ln/>
        </p:spPr>
        <p:txBody>
          <a:bodyPr wrap="square" lIns="0" tIns="0" rIns="0" bIns="0" rtlCol="0" anchor="ctr"/>
          <a:lstStyle/>
          <a:p>
            <a:pPr marL="0" indent="0" algn="ctr">
              <a:buNone/>
            </a:pPr>
            <a:r>
              <a:rPr lang="en-US" sz="1600" b="1" dirty="0">
                <a:solidFill>
                  <a:srgbClr val="141B2E"/>
                </a:solidFill>
                <a:latin typeface="Arial" pitchFamily="34" charset="0"/>
                <a:ea typeface="Arial" pitchFamily="34" charset="-122"/>
                <a:cs typeface="Arial" pitchFamily="34" charset="-120"/>
              </a:rPr>
              <a:t>3</a:t>
            </a:r>
            <a:endParaRPr lang="en-US" sz="1600" dirty="0"/>
          </a:p>
        </p:txBody>
      </p:sp>
      <p:sp>
        <p:nvSpPr>
          <p:cNvPr id="21" name="Text 19"/>
          <p:cNvSpPr txBox="1"/>
          <p:nvPr/>
        </p:nvSpPr>
        <p:spPr>
          <a:xfrm>
            <a:off x="6492240" y="2606040"/>
            <a:ext cx="205740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.pf file written</a:t>
            </a:r>
            <a:endParaRPr lang="en-US" sz="1500" dirty="0"/>
          </a:p>
        </p:txBody>
      </p:sp>
      <p:sp>
        <p:nvSpPr>
          <p:cNvPr id="22" name="Text 20"/>
          <p:cNvSpPr txBox="1"/>
          <p:nvPr/>
        </p:nvSpPr>
        <p:spPr>
          <a:xfrm>
            <a:off x="6492240" y="3017520"/>
            <a:ext cx="2011680" cy="777240"/>
          </a:xfrm>
          <a:prstGeom prst="rect">
            <a:avLst/>
          </a:prstGeom>
          <a:noFill/>
          <a:ln/>
        </p:spPr>
        <p:txBody>
          <a:bodyPr wrap="square" lIns="0" tIns="0" rIns="0" bIns="0" rtlCol="0" anchor="t"/>
          <a:lstStyle/>
          <a:p>
            <a:pPr marL="0" indent="0">
              <a:buNone/>
            </a:pPr>
            <a:r>
              <a:rPr lang="en-US" sz="1200" dirty="0">
                <a:solidFill>
                  <a:srgbClr val="AEB8D0"/>
                </a:solidFill>
                <a:latin typeface="Calibri" pitchFamily="34" charset="0"/>
                <a:ea typeface="Calibri" pitchFamily="34" charset="-122"/>
                <a:cs typeface="Calibri" pitchFamily="34" charset="-120"/>
              </a:rPr>
              <a:t>NETSCAN.EXE-8B2E41C7.pf saved in the Prefetch folder</a:t>
            </a:r>
            <a:endParaRPr lang="en-US" sz="1200" dirty="0"/>
          </a:p>
        </p:txBody>
      </p:sp>
      <p:sp>
        <p:nvSpPr>
          <p:cNvPr id="23" name="Shape 21"/>
          <p:cNvSpPr/>
          <p:nvPr/>
        </p:nvSpPr>
        <p:spPr>
          <a:xfrm>
            <a:off x="8769096" y="2807208"/>
            <a:ext cx="246888" cy="0"/>
          </a:xfrm>
          <a:prstGeom prst="line">
            <a:avLst/>
          </a:prstGeom>
          <a:noFill/>
          <a:ln w="28575">
            <a:solidFill>
              <a:srgbClr val="1A2232"/>
            </a:solidFill>
            <a:prstDash val="solid"/>
            <a:tailEnd type="triangle"/>
          </a:ln>
        </p:spPr>
      </p:sp>
      <p:sp>
        <p:nvSpPr>
          <p:cNvPr id="24" name="Shape 22"/>
          <p:cNvSpPr/>
          <p:nvPr/>
        </p:nvSpPr>
        <p:spPr>
          <a:xfrm>
            <a:off x="9052560" y="1737360"/>
            <a:ext cx="2514600" cy="2148840"/>
          </a:xfrm>
          <a:prstGeom prst="roundRect">
            <a:avLst>
              <a:gd name="adj" fmla="val 3404"/>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25" name="Shape 23"/>
          <p:cNvSpPr/>
          <p:nvPr/>
        </p:nvSpPr>
        <p:spPr>
          <a:xfrm>
            <a:off x="9326880" y="1965960"/>
            <a:ext cx="502920" cy="502920"/>
          </a:xfrm>
          <a:prstGeom prst="ellipse">
            <a:avLst/>
          </a:prstGeom>
          <a:solidFill>
            <a:srgbClr val="2E4374"/>
          </a:solidFill>
          <a:ln/>
        </p:spPr>
      </p:sp>
      <p:sp>
        <p:nvSpPr>
          <p:cNvPr id="26" name="Text 24"/>
          <p:cNvSpPr txBox="1"/>
          <p:nvPr/>
        </p:nvSpPr>
        <p:spPr>
          <a:xfrm>
            <a:off x="932688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7" name="Text 25"/>
          <p:cNvSpPr txBox="1"/>
          <p:nvPr/>
        </p:nvSpPr>
        <p:spPr>
          <a:xfrm>
            <a:off x="9326880" y="2606040"/>
            <a:ext cx="205740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Next launch is faster</a:t>
            </a:r>
            <a:endParaRPr lang="en-US" sz="1500" dirty="0"/>
          </a:p>
        </p:txBody>
      </p:sp>
      <p:sp>
        <p:nvSpPr>
          <p:cNvPr id="28" name="Text 26"/>
          <p:cNvSpPr txBox="1"/>
          <p:nvPr/>
        </p:nvSpPr>
        <p:spPr>
          <a:xfrm>
            <a:off x="9326880" y="3017520"/>
            <a:ext cx="2011680" cy="777240"/>
          </a:xfrm>
          <a:prstGeom prst="rect">
            <a:avLst/>
          </a:prstGeom>
          <a:noFill/>
          <a:ln/>
        </p:spPr>
        <p:txBody>
          <a:bodyPr wrap="square" lIns="0" tIns="0" rIns="0" bIns="0" rtlCol="0" anchor="t"/>
          <a:lstStyle/>
          <a:p>
            <a:pPr marL="0" indent="0">
              <a:buNone/>
            </a:pPr>
            <a:r>
              <a:rPr lang="en-US" sz="1200" dirty="0">
                <a:solidFill>
                  <a:srgbClr val="5C6880"/>
                </a:solidFill>
                <a:latin typeface="Calibri" pitchFamily="34" charset="0"/>
                <a:ea typeface="Calibri" pitchFamily="34" charset="-122"/>
                <a:cs typeface="Calibri" pitchFamily="34" charset="-120"/>
              </a:rPr>
              <a:t>Windows pre-loads those files — its real purpose</a:t>
            </a:r>
            <a:endParaRPr lang="en-US" sz="1200" dirty="0"/>
          </a:p>
        </p:txBody>
      </p:sp>
      <p:sp>
        <p:nvSpPr>
          <p:cNvPr id="29" name="Shape 27"/>
          <p:cNvSpPr/>
          <p:nvPr/>
        </p:nvSpPr>
        <p:spPr>
          <a:xfrm>
            <a:off x="548640" y="4206240"/>
            <a:ext cx="11064240" cy="914400"/>
          </a:xfrm>
          <a:prstGeom prst="roundRect">
            <a:avLst>
              <a:gd name="adj" fmla="val 8000"/>
            </a:avLst>
          </a:prstGeom>
          <a:solidFill>
            <a:srgbClr val="FFF7E0"/>
          </a:solidFill>
          <a:ln w="15875">
            <a:solidFill>
              <a:srgbClr val="E3A008"/>
            </a:solidFill>
            <a:prstDash val="solid"/>
          </a:ln>
        </p:spPr>
      </p:sp>
      <p:sp>
        <p:nvSpPr>
          <p:cNvPr id="30" name="Shape 28"/>
          <p:cNvSpPr/>
          <p:nvPr/>
        </p:nvSpPr>
        <p:spPr>
          <a:xfrm>
            <a:off x="804672" y="4407408"/>
            <a:ext cx="512064" cy="512064"/>
          </a:xfrm>
          <a:prstGeom prst="ellipse">
            <a:avLst/>
          </a:prstGeom>
          <a:solidFill>
            <a:srgbClr val="E3A008"/>
          </a:solidFill>
          <a:ln/>
        </p:spPr>
      </p:sp>
      <p:sp>
        <p:nvSpPr>
          <p:cNvPr id="31" name="Text 29"/>
          <p:cNvSpPr txBox="1"/>
          <p:nvPr/>
        </p:nvSpPr>
        <p:spPr>
          <a:xfrm>
            <a:off x="804672" y="4407408"/>
            <a:ext cx="512064" cy="512064"/>
          </a:xfrm>
          <a:prstGeom prst="rect">
            <a:avLst/>
          </a:prstGeom>
          <a:noFill/>
          <a:ln/>
        </p:spPr>
        <p:txBody>
          <a:bodyPr wrap="square" lIns="0" tIns="0" rIns="0" bIns="0" rtlCol="0" anchor="ctr"/>
          <a:lstStyle/>
          <a:p>
            <a:pPr marL="0" indent="0" algn="ctr">
              <a:buNone/>
            </a:pPr>
            <a:r>
              <a:rPr lang="en-US" sz="1800" b="1" dirty="0">
                <a:solidFill>
                  <a:srgbClr val="141B2E"/>
                </a:solidFill>
                <a:latin typeface="Arial" pitchFamily="34" charset="0"/>
                <a:ea typeface="Arial" pitchFamily="34" charset="-122"/>
                <a:cs typeface="Arial" pitchFamily="34" charset="-120"/>
              </a:rPr>
              <a:t>!</a:t>
            </a:r>
            <a:endParaRPr lang="en-US" sz="1800" dirty="0"/>
          </a:p>
        </p:txBody>
      </p:sp>
      <p:sp>
        <p:nvSpPr>
          <p:cNvPr id="32" name="Text 30"/>
          <p:cNvSpPr txBox="1"/>
          <p:nvPr/>
        </p:nvSpPr>
        <p:spPr>
          <a:xfrm>
            <a:off x="1508760" y="4206240"/>
            <a:ext cx="9921240" cy="914400"/>
          </a:xfrm>
          <a:prstGeom prst="rect">
            <a:avLst/>
          </a:prstGeom>
          <a:noFill/>
          <a:ln/>
        </p:spPr>
        <p:txBody>
          <a:bodyPr wrap="square" lIns="0" tIns="0" rIns="0" bIns="0" rtlCol="0" anchor="ctr"/>
          <a:lstStyle/>
          <a:p>
            <a:pPr marL="0" indent="0">
              <a:buNone/>
            </a:pPr>
            <a:r>
              <a:rPr lang="en-US" sz="1400" b="1" dirty="0">
                <a:solidFill>
                  <a:srgbClr val="1A2232"/>
                </a:solidFill>
                <a:latin typeface="Calibri" pitchFamily="34" charset="0"/>
                <a:ea typeface="Calibri" pitchFamily="34" charset="-122"/>
                <a:cs typeface="Calibri" pitchFamily="34" charset="-120"/>
              </a:rPr>
              <a:t>Why this matters to us:  </a:t>
            </a:r>
            <a:r>
              <a:rPr lang="en-US" sz="1400" dirty="0">
                <a:solidFill>
                  <a:srgbClr val="1A2232"/>
                </a:solidFill>
                <a:latin typeface="Calibri" pitchFamily="34" charset="0"/>
                <a:ea typeface="Calibri" pitchFamily="34" charset="-122"/>
                <a:cs typeface="Calibri" pitchFamily="34" charset="-120"/>
              </a:rPr>
              <a:t>a .pf file is only created when a program is </a:t>
            </a:r>
            <a:r>
              <a:rPr lang="en-US" sz="1400" b="1" dirty="0">
                <a:solidFill>
                  <a:srgbClr val="1A2232"/>
                </a:solidFill>
                <a:latin typeface="Calibri" pitchFamily="34" charset="0"/>
                <a:ea typeface="Calibri" pitchFamily="34" charset="-122"/>
                <a:cs typeface="Calibri" pitchFamily="34" charset="-120"/>
              </a:rPr>
              <a:t>executed</a:t>
            </a:r>
            <a:r>
              <a:rPr lang="en-US" sz="1400" dirty="0">
                <a:solidFill>
                  <a:srgbClr val="1A2232"/>
                </a:solidFill>
                <a:latin typeface="Calibri" pitchFamily="34" charset="0"/>
                <a:ea typeface="Calibri" pitchFamily="34" charset="-122"/>
                <a:cs typeface="Calibri" pitchFamily="34" charset="-120"/>
              </a:rPr>
              <a:t>. It is a side-effect of running — which makes it strong execution evidence.</a:t>
            </a:r>
            <a:endParaRPr lang="en-US" sz="1400" dirty="0"/>
          </a:p>
        </p:txBody>
      </p:sp>
      <p:sp>
        <p:nvSpPr>
          <p:cNvPr id="33" name="Shape 31"/>
          <p:cNvSpPr/>
          <p:nvPr/>
        </p:nvSpPr>
        <p:spPr>
          <a:xfrm>
            <a:off x="548640" y="5394960"/>
            <a:ext cx="5852160" cy="457200"/>
          </a:xfrm>
          <a:prstGeom prst="roundRect">
            <a:avLst>
              <a:gd name="adj" fmla="val 16000"/>
            </a:avLst>
          </a:prstGeom>
          <a:solidFill>
            <a:srgbClr val="FFFFFF"/>
          </a:solidFill>
          <a:ln w="12700">
            <a:solidFill>
              <a:srgbClr val="DCE1EC"/>
            </a:solidFill>
            <a:prstDash val="solid"/>
          </a:ln>
        </p:spPr>
      </p:sp>
      <p:sp>
        <p:nvSpPr>
          <p:cNvPr id="34" name="Text 32"/>
          <p:cNvSpPr txBox="1"/>
          <p:nvPr/>
        </p:nvSpPr>
        <p:spPr>
          <a:xfrm>
            <a:off x="713232" y="5394960"/>
            <a:ext cx="5577840" cy="457200"/>
          </a:xfrm>
          <a:prstGeom prst="rect">
            <a:avLst/>
          </a:prstGeom>
          <a:noFill/>
          <a:ln/>
        </p:spPr>
        <p:txBody>
          <a:bodyPr wrap="square" lIns="0" tIns="0" rIns="0" bIns="0" rtlCol="0" anchor="ctr"/>
          <a:lstStyle/>
          <a:p>
            <a:pPr marL="0" indent="0">
              <a:buNone/>
            </a:pPr>
            <a:r>
              <a:rPr lang="en-US" sz="1100" b="1" dirty="0">
                <a:solidFill>
                  <a:srgbClr val="2E4374"/>
                </a:solidFill>
                <a:latin typeface="Calibri" pitchFamily="34" charset="0"/>
                <a:ea typeface="Calibri" pitchFamily="34" charset="-122"/>
                <a:cs typeface="Calibri" pitchFamily="34" charset="-120"/>
              </a:rPr>
              <a:t>Location  </a:t>
            </a:r>
            <a:r>
              <a:rPr lang="en-US" sz="1100" dirty="0">
                <a:solidFill>
                  <a:srgbClr val="1A2232"/>
                </a:solidFill>
                <a:latin typeface="Courier New" pitchFamily="34" charset="0"/>
                <a:ea typeface="Courier New" pitchFamily="34" charset="-122"/>
                <a:cs typeface="Courier New" pitchFamily="34" charset="-120"/>
              </a:rPr>
              <a:t>C:\Windows\Prefetch\*.pf</a:t>
            </a:r>
            <a:endParaRPr lang="en-US" sz="1100" dirty="0"/>
          </a:p>
        </p:txBody>
      </p:sp>
      <p:sp>
        <p:nvSpPr>
          <p:cNvPr id="35" name="Shape 33"/>
          <p:cNvSpPr/>
          <p:nvPr/>
        </p:nvSpPr>
        <p:spPr>
          <a:xfrm>
            <a:off x="6583680" y="5394960"/>
            <a:ext cx="5029200" cy="457200"/>
          </a:xfrm>
          <a:prstGeom prst="roundRect">
            <a:avLst>
              <a:gd name="adj" fmla="val 16000"/>
            </a:avLst>
          </a:prstGeom>
          <a:solidFill>
            <a:srgbClr val="FFFFFF"/>
          </a:solidFill>
          <a:ln w="12700">
            <a:solidFill>
              <a:srgbClr val="DCE1EC"/>
            </a:solidFill>
            <a:prstDash val="solid"/>
          </a:ln>
        </p:spPr>
      </p:sp>
      <p:sp>
        <p:nvSpPr>
          <p:cNvPr id="36" name="Text 34"/>
          <p:cNvSpPr txBox="1"/>
          <p:nvPr/>
        </p:nvSpPr>
        <p:spPr>
          <a:xfrm>
            <a:off x="6748272" y="5394960"/>
            <a:ext cx="4754880" cy="457200"/>
          </a:xfrm>
          <a:prstGeom prst="rect">
            <a:avLst/>
          </a:prstGeom>
          <a:noFill/>
          <a:ln/>
        </p:spPr>
        <p:txBody>
          <a:bodyPr wrap="square" lIns="0" tIns="0" rIns="0" bIns="0" rtlCol="0" anchor="ctr"/>
          <a:lstStyle/>
          <a:p>
            <a:pPr marL="0" indent="0">
              <a:buNone/>
            </a:pPr>
            <a:r>
              <a:rPr lang="en-US" sz="1100" b="1" dirty="0">
                <a:solidFill>
                  <a:srgbClr val="2E4374"/>
                </a:solidFill>
                <a:latin typeface="Calibri" pitchFamily="34" charset="0"/>
                <a:ea typeface="Calibri" pitchFamily="34" charset="-122"/>
                <a:cs typeface="Calibri" pitchFamily="34" charset="-120"/>
              </a:rPr>
              <a:t>Parse with  </a:t>
            </a:r>
            <a:r>
              <a:rPr lang="en-US" sz="1100" dirty="0">
                <a:solidFill>
                  <a:srgbClr val="1A2232"/>
                </a:solidFill>
                <a:latin typeface="Courier New" pitchFamily="34" charset="0"/>
                <a:ea typeface="Courier New" pitchFamily="34" charset="-122"/>
                <a:cs typeface="Courier New" pitchFamily="34" charset="-120"/>
              </a:rPr>
              <a:t>PECmd (Eric Zimmerman)</a:t>
            </a:r>
            <a:endParaRPr lang="en-US" sz="1100" dirty="0"/>
          </a:p>
        </p:txBody>
      </p:sp>
      <p:sp>
        <p:nvSpPr>
          <p:cNvPr id="37" name="Text 3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8" name="Text 36"/>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1  ·  Aayush Boghara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1 · PREFETCH</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What a Prefetch file tells us</a:t>
            </a:r>
            <a:endParaRPr lang="en-US" sz="3000" dirty="0"/>
          </a:p>
        </p:txBody>
      </p:sp>
      <p:sp>
        <p:nvSpPr>
          <p:cNvPr id="6" name="Shape 4"/>
          <p:cNvSpPr/>
          <p:nvPr/>
        </p:nvSpPr>
        <p:spPr>
          <a:xfrm>
            <a:off x="777240" y="1783080"/>
            <a:ext cx="475488" cy="475488"/>
          </a:xfrm>
          <a:prstGeom prst="ellipse">
            <a:avLst/>
          </a:prstGeom>
          <a:solidFill>
            <a:srgbClr val="2E4374"/>
          </a:solidFill>
          <a:ln/>
        </p:spPr>
      </p:sp>
      <p:sp>
        <p:nvSpPr>
          <p:cNvPr id="7" name="Text 5"/>
          <p:cNvSpPr txBox="1"/>
          <p:nvPr/>
        </p:nvSpPr>
        <p:spPr>
          <a:xfrm>
            <a:off x="777240" y="178308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6"/>
          <p:cNvSpPr txBox="1"/>
          <p:nvPr/>
        </p:nvSpPr>
        <p:spPr>
          <a:xfrm>
            <a:off x="1463040" y="1691640"/>
            <a:ext cx="5394960" cy="82296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Executable name + path hash</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NAME.EXE-HASH.pf — the hash comes from the file's full path</a:t>
            </a:r>
            <a:endParaRPr lang="en-US" sz="1450" dirty="0"/>
          </a:p>
        </p:txBody>
      </p:sp>
      <p:sp>
        <p:nvSpPr>
          <p:cNvPr id="9" name="Shape 7"/>
          <p:cNvSpPr/>
          <p:nvPr/>
        </p:nvSpPr>
        <p:spPr>
          <a:xfrm>
            <a:off x="777240" y="2651760"/>
            <a:ext cx="475488" cy="475488"/>
          </a:xfrm>
          <a:prstGeom prst="ellipse">
            <a:avLst/>
          </a:prstGeom>
          <a:solidFill>
            <a:srgbClr val="2E4374"/>
          </a:solidFill>
          <a:ln/>
        </p:spPr>
      </p:sp>
      <p:sp>
        <p:nvSpPr>
          <p:cNvPr id="10" name="Text 8"/>
          <p:cNvSpPr txBox="1"/>
          <p:nvPr/>
        </p:nvSpPr>
        <p:spPr>
          <a:xfrm>
            <a:off x="777240" y="26517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1" name="Text 9"/>
          <p:cNvSpPr txBox="1"/>
          <p:nvPr/>
        </p:nvSpPr>
        <p:spPr>
          <a:xfrm>
            <a:off x="1463040" y="2560320"/>
            <a:ext cx="5394960" cy="82296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Run count</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How many times the program was executed</a:t>
            </a:r>
            <a:endParaRPr lang="en-US" sz="1450" dirty="0"/>
          </a:p>
        </p:txBody>
      </p:sp>
      <p:sp>
        <p:nvSpPr>
          <p:cNvPr id="12" name="Shape 10"/>
          <p:cNvSpPr/>
          <p:nvPr/>
        </p:nvSpPr>
        <p:spPr>
          <a:xfrm>
            <a:off x="777240" y="3520440"/>
            <a:ext cx="475488" cy="475488"/>
          </a:xfrm>
          <a:prstGeom prst="ellipse">
            <a:avLst/>
          </a:prstGeom>
          <a:solidFill>
            <a:srgbClr val="2E4374"/>
          </a:solidFill>
          <a:ln/>
        </p:spPr>
      </p:sp>
      <p:sp>
        <p:nvSpPr>
          <p:cNvPr id="13" name="Text 11"/>
          <p:cNvSpPr txBox="1"/>
          <p:nvPr/>
        </p:nvSpPr>
        <p:spPr>
          <a:xfrm>
            <a:off x="777240" y="35204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 name="Text 12"/>
          <p:cNvSpPr txBox="1"/>
          <p:nvPr/>
        </p:nvSpPr>
        <p:spPr>
          <a:xfrm>
            <a:off x="1463040" y="3429000"/>
            <a:ext cx="5394960" cy="82296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Last run times</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Up to 8 on Windows 8/10/11 · only 1 on Windows 7</a:t>
            </a:r>
            <a:endParaRPr lang="en-US" sz="1450" dirty="0"/>
          </a:p>
        </p:txBody>
      </p:sp>
      <p:sp>
        <p:nvSpPr>
          <p:cNvPr id="15" name="Shape 13"/>
          <p:cNvSpPr/>
          <p:nvPr/>
        </p:nvSpPr>
        <p:spPr>
          <a:xfrm>
            <a:off x="777240" y="4389120"/>
            <a:ext cx="475488" cy="475488"/>
          </a:xfrm>
          <a:prstGeom prst="ellipse">
            <a:avLst/>
          </a:prstGeom>
          <a:solidFill>
            <a:srgbClr val="2E4374"/>
          </a:solidFill>
          <a:ln/>
        </p:spPr>
      </p:sp>
      <p:sp>
        <p:nvSpPr>
          <p:cNvPr id="16" name="Text 14"/>
          <p:cNvSpPr txBox="1"/>
          <p:nvPr/>
        </p:nvSpPr>
        <p:spPr>
          <a:xfrm>
            <a:off x="777240" y="438912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7" name="Text 15"/>
          <p:cNvSpPr txBox="1"/>
          <p:nvPr/>
        </p:nvSpPr>
        <p:spPr>
          <a:xfrm>
            <a:off x="1463040" y="4297680"/>
            <a:ext cx="5394960" cy="82296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Files and DLLs it loaded</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Shows what the program touched in its first seconds</a:t>
            </a:r>
            <a:endParaRPr lang="en-US" sz="1450" dirty="0"/>
          </a:p>
        </p:txBody>
      </p:sp>
      <p:sp>
        <p:nvSpPr>
          <p:cNvPr id="18" name="Shape 16"/>
          <p:cNvSpPr/>
          <p:nvPr/>
        </p:nvSpPr>
        <p:spPr>
          <a:xfrm>
            <a:off x="777240" y="5257800"/>
            <a:ext cx="475488" cy="475488"/>
          </a:xfrm>
          <a:prstGeom prst="ellipse">
            <a:avLst/>
          </a:prstGeom>
          <a:solidFill>
            <a:srgbClr val="2E4374"/>
          </a:solidFill>
          <a:ln/>
        </p:spPr>
      </p:sp>
      <p:sp>
        <p:nvSpPr>
          <p:cNvPr id="19" name="Text 17"/>
          <p:cNvSpPr txBox="1"/>
          <p:nvPr/>
        </p:nvSpPr>
        <p:spPr>
          <a:xfrm>
            <a:off x="777240" y="525780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0" name="Text 18"/>
          <p:cNvSpPr txBox="1"/>
          <p:nvPr/>
        </p:nvSpPr>
        <p:spPr>
          <a:xfrm>
            <a:off x="1463040" y="5166360"/>
            <a:ext cx="5394960" cy="82296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Volume information</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Serial number of the drive — shows if it ran from USB</a:t>
            </a:r>
            <a:endParaRPr lang="en-US" sz="1450" dirty="0"/>
          </a:p>
        </p:txBody>
      </p:sp>
      <p:sp>
        <p:nvSpPr>
          <p:cNvPr id="21" name="Shape 19"/>
          <p:cNvSpPr/>
          <p:nvPr/>
        </p:nvSpPr>
        <p:spPr>
          <a:xfrm>
            <a:off x="7223760" y="1691640"/>
            <a:ext cx="4389120" cy="3931920"/>
          </a:xfrm>
          <a:prstGeom prst="roundRect">
            <a:avLst>
              <a:gd name="adj" fmla="val 1860"/>
            </a:avLst>
          </a:prstGeom>
          <a:solidFill>
            <a:srgbClr val="141B2E"/>
          </a:solidFill>
          <a:ln/>
          <a:effectLst>
            <a:outerShdw blurRad="63500" dist="25400" dir="5400000" algn="bl" rotWithShape="0">
              <a:srgbClr val="A9B3C7">
                <a:alpha val="30000"/>
              </a:srgbClr>
            </a:outerShdw>
          </a:effectLst>
        </p:spPr>
      </p:sp>
      <p:sp>
        <p:nvSpPr>
          <p:cNvPr id="22" name="Text 20"/>
          <p:cNvSpPr txBox="1"/>
          <p:nvPr/>
        </p:nvSpPr>
        <p:spPr>
          <a:xfrm>
            <a:off x="7498080" y="1874520"/>
            <a:ext cx="3840480" cy="365760"/>
          </a:xfrm>
          <a:prstGeom prst="rect">
            <a:avLst/>
          </a:prstGeom>
          <a:noFill/>
          <a:ln/>
        </p:spPr>
        <p:txBody>
          <a:bodyPr wrap="square" lIns="0" tIns="0" rIns="0" bIns="0" rtlCol="0" anchor="ctr"/>
          <a:lstStyle/>
          <a:p>
            <a:pPr marL="0" indent="0">
              <a:buNone/>
            </a:pPr>
            <a:r>
              <a:rPr lang="en-US" sz="1250" b="1" dirty="0">
                <a:solidFill>
                  <a:srgbClr val="E3A008"/>
                </a:solidFill>
                <a:latin typeface="Calibri" pitchFamily="34" charset="0"/>
                <a:ea typeface="Calibri" pitchFamily="34" charset="-122"/>
                <a:cs typeface="Calibri" pitchFamily="34" charset="-120"/>
              </a:rPr>
              <a:t>Sample — PECmd output</a:t>
            </a:r>
            <a:endParaRPr lang="en-US" sz="1250" dirty="0"/>
          </a:p>
        </p:txBody>
      </p:sp>
      <p:sp>
        <p:nvSpPr>
          <p:cNvPr id="23" name="Text 21"/>
          <p:cNvSpPr txBox="1"/>
          <p:nvPr/>
        </p:nvSpPr>
        <p:spPr>
          <a:xfrm>
            <a:off x="7498080" y="231343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File  </a:t>
            </a:r>
            <a:r>
              <a:rPr lang="en-US" sz="1100" dirty="0">
                <a:solidFill>
                  <a:srgbClr val="FFFFFF"/>
                </a:solidFill>
                <a:latin typeface="Courier New" pitchFamily="34" charset="0"/>
                <a:ea typeface="Courier New" pitchFamily="34" charset="-122"/>
                <a:cs typeface="Courier New" pitchFamily="34" charset="-120"/>
              </a:rPr>
              <a:t>NETSCAN.EXE-8B2E41C7.pf</a:t>
            </a:r>
            <a:endParaRPr lang="en-US" sz="1100" dirty="0"/>
          </a:p>
        </p:txBody>
      </p:sp>
      <p:sp>
        <p:nvSpPr>
          <p:cNvPr id="24" name="Text 22"/>
          <p:cNvSpPr txBox="1"/>
          <p:nvPr/>
        </p:nvSpPr>
        <p:spPr>
          <a:xfrm>
            <a:off x="7498080" y="267919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Run   </a:t>
            </a:r>
            <a:r>
              <a:rPr lang="en-US" sz="1100" b="1" dirty="0">
                <a:solidFill>
                  <a:srgbClr val="E3A008"/>
                </a:solidFill>
                <a:latin typeface="Courier New" pitchFamily="34" charset="0"/>
                <a:ea typeface="Courier New" pitchFamily="34" charset="-122"/>
                <a:cs typeface="Courier New" pitchFamily="34" charset="-120"/>
              </a:rPr>
              <a:t>count: 3</a:t>
            </a:r>
            <a:endParaRPr lang="en-US" sz="1100" dirty="0"/>
          </a:p>
        </p:txBody>
      </p:sp>
      <p:sp>
        <p:nvSpPr>
          <p:cNvPr id="25" name="Text 23"/>
          <p:cNvSpPr txBox="1"/>
          <p:nvPr/>
        </p:nvSpPr>
        <p:spPr>
          <a:xfrm>
            <a:off x="7498080" y="304495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Run 1 </a:t>
            </a:r>
            <a:r>
              <a:rPr lang="en-US" sz="1100" dirty="0">
                <a:solidFill>
                  <a:srgbClr val="FFFFFF"/>
                </a:solidFill>
                <a:latin typeface="Courier New" pitchFamily="34" charset="0"/>
                <a:ea typeface="Courier New" pitchFamily="34" charset="-122"/>
                <a:cs typeface="Courier New" pitchFamily="34" charset="-120"/>
              </a:rPr>
              <a:t>2026-03-12 16:04:53</a:t>
            </a:r>
            <a:endParaRPr lang="en-US" sz="1100" dirty="0"/>
          </a:p>
        </p:txBody>
      </p:sp>
      <p:sp>
        <p:nvSpPr>
          <p:cNvPr id="26" name="Text 24"/>
          <p:cNvSpPr txBox="1"/>
          <p:nvPr/>
        </p:nvSpPr>
        <p:spPr>
          <a:xfrm>
            <a:off x="7498080" y="341071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Run 2 </a:t>
            </a:r>
            <a:r>
              <a:rPr lang="en-US" sz="1100" dirty="0">
                <a:solidFill>
                  <a:srgbClr val="FFFFFF"/>
                </a:solidFill>
                <a:latin typeface="Courier New" pitchFamily="34" charset="0"/>
                <a:ea typeface="Courier New" pitchFamily="34" charset="-122"/>
                <a:cs typeface="Courier New" pitchFamily="34" charset="-120"/>
              </a:rPr>
              <a:t>2026-03-13 11:20:06</a:t>
            </a:r>
            <a:endParaRPr lang="en-US" sz="1100" dirty="0"/>
          </a:p>
        </p:txBody>
      </p:sp>
      <p:sp>
        <p:nvSpPr>
          <p:cNvPr id="27" name="Text 25"/>
          <p:cNvSpPr txBox="1"/>
          <p:nvPr/>
        </p:nvSpPr>
        <p:spPr>
          <a:xfrm>
            <a:off x="7498080" y="377647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Run 3 </a:t>
            </a:r>
            <a:r>
              <a:rPr lang="en-US" sz="1100" b="1" dirty="0">
                <a:solidFill>
                  <a:srgbClr val="E3A008"/>
                </a:solidFill>
                <a:latin typeface="Courier New" pitchFamily="34" charset="0"/>
                <a:ea typeface="Courier New" pitchFamily="34" charset="-122"/>
                <a:cs typeface="Courier New" pitchFamily="34" charset="-120"/>
              </a:rPr>
              <a:t>2026-03-14 09:42:17</a:t>
            </a:r>
            <a:endParaRPr lang="en-US" sz="1100" dirty="0"/>
          </a:p>
        </p:txBody>
      </p:sp>
      <p:sp>
        <p:nvSpPr>
          <p:cNvPr id="28" name="Text 26"/>
          <p:cNvSpPr txBox="1"/>
          <p:nvPr/>
        </p:nvSpPr>
        <p:spPr>
          <a:xfrm>
            <a:off x="7498080" y="414223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Path  </a:t>
            </a:r>
            <a:r>
              <a:rPr lang="en-US" sz="1100" dirty="0">
                <a:solidFill>
                  <a:srgbClr val="FFFFFF"/>
                </a:solidFill>
                <a:latin typeface="Courier New" pitchFamily="34" charset="0"/>
                <a:ea typeface="Courier New" pitchFamily="34" charset="-122"/>
                <a:cs typeface="Courier New" pitchFamily="34" charset="-120"/>
              </a:rPr>
              <a:t>\USERS\JDOE\DOWNLOADS\</a:t>
            </a:r>
            <a:endParaRPr lang="en-US" sz="1100" dirty="0"/>
          </a:p>
        </p:txBody>
      </p:sp>
      <p:sp>
        <p:nvSpPr>
          <p:cNvPr id="29" name="Text 27"/>
          <p:cNvSpPr txBox="1"/>
          <p:nvPr/>
        </p:nvSpPr>
        <p:spPr>
          <a:xfrm>
            <a:off x="7498080" y="450799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Vol.  </a:t>
            </a:r>
            <a:r>
              <a:rPr lang="en-US" sz="1100" dirty="0">
                <a:solidFill>
                  <a:srgbClr val="FFFFFF"/>
                </a:solidFill>
                <a:latin typeface="Courier New" pitchFamily="34" charset="0"/>
                <a:ea typeface="Courier New" pitchFamily="34" charset="-122"/>
                <a:cs typeface="Courier New" pitchFamily="34" charset="-120"/>
              </a:rPr>
              <a:t>C:  serial 6A3F-1B22</a:t>
            </a:r>
            <a:endParaRPr lang="en-US" sz="1100" dirty="0"/>
          </a:p>
        </p:txBody>
      </p:sp>
      <p:sp>
        <p:nvSpPr>
          <p:cNvPr id="30" name="Text 28"/>
          <p:cNvSpPr txBox="1"/>
          <p:nvPr/>
        </p:nvSpPr>
        <p:spPr>
          <a:xfrm>
            <a:off x="7498080" y="4937760"/>
            <a:ext cx="3840480" cy="566928"/>
          </a:xfrm>
          <a:prstGeom prst="rect">
            <a:avLst/>
          </a:prstGeom>
          <a:noFill/>
          <a:ln/>
        </p:spPr>
        <p:txBody>
          <a:bodyPr wrap="square" lIns="0" tIns="0" rIns="0" bIns="0" rtlCol="0" anchor="ctr"/>
          <a:lstStyle/>
          <a:p>
            <a:pPr marL="0" indent="0">
              <a:buNone/>
            </a:pPr>
            <a:r>
              <a:rPr lang="en-US" sz="1150" i="1" dirty="0">
                <a:solidFill>
                  <a:srgbClr val="AEB8D0"/>
                </a:solidFill>
                <a:latin typeface="Calibri" pitchFamily="34" charset="0"/>
                <a:ea typeface="Calibri" pitchFamily="34" charset="-122"/>
                <a:cs typeface="Calibri" pitchFamily="34" charset="-120"/>
              </a:rPr>
              <a:t>All times UTC. Three separate runs, one volume.</a:t>
            </a:r>
            <a:endParaRPr lang="en-US" sz="1150" dirty="0"/>
          </a:p>
        </p:txBody>
      </p:sp>
      <p:sp>
        <p:nvSpPr>
          <p:cNvPr id="31" name="Text 29"/>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2" name="Text 30"/>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1  ·  Aayush Boghara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1 · PREFETCH</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Limits: what Prefetch cannot tell us</a:t>
            </a:r>
            <a:endParaRPr lang="en-US" sz="3000" dirty="0"/>
          </a:p>
        </p:txBody>
      </p:sp>
      <p:sp>
        <p:nvSpPr>
          <p:cNvPr id="6" name="Shape 4"/>
          <p:cNvSpPr/>
          <p:nvPr/>
        </p:nvSpPr>
        <p:spPr>
          <a:xfrm>
            <a:off x="548640" y="1691640"/>
            <a:ext cx="5440680" cy="1508760"/>
          </a:xfrm>
          <a:prstGeom prst="roundRect">
            <a:avLst>
              <a:gd name="adj" fmla="val 4848"/>
            </a:avLst>
          </a:prstGeom>
          <a:solidFill>
            <a:srgbClr val="EEF1F7"/>
          </a:solidFill>
          <a:ln w="12700">
            <a:solidFill>
              <a:srgbClr val="DCE1EC"/>
            </a:solidFill>
            <a:prstDash val="solid"/>
          </a:ln>
        </p:spPr>
      </p:sp>
      <p:sp>
        <p:nvSpPr>
          <p:cNvPr id="7" name="Shape 5"/>
          <p:cNvSpPr/>
          <p:nvPr/>
        </p:nvSpPr>
        <p:spPr>
          <a:xfrm>
            <a:off x="822960" y="1965960"/>
            <a:ext cx="548640" cy="548640"/>
          </a:xfrm>
          <a:prstGeom prst="ellipse">
            <a:avLst/>
          </a:prstGeom>
          <a:solidFill>
            <a:srgbClr val="C77D1A"/>
          </a:solidFill>
          <a:ln/>
        </p:spPr>
      </p:sp>
      <p:sp>
        <p:nvSpPr>
          <p:cNvPr id="8" name="Text 6"/>
          <p:cNvSpPr txBox="1"/>
          <p:nvPr/>
        </p:nvSpPr>
        <p:spPr>
          <a:xfrm>
            <a:off x="822960" y="1965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9" name="Text 7"/>
          <p:cNvSpPr txBox="1"/>
          <p:nvPr/>
        </p:nvSpPr>
        <p:spPr>
          <a:xfrm>
            <a:off x="1554480" y="1892808"/>
            <a:ext cx="425196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It can be switched off</a:t>
            </a:r>
            <a:endParaRPr lang="en-US" sz="1500" dirty="0"/>
          </a:p>
        </p:txBody>
      </p:sp>
      <p:sp>
        <p:nvSpPr>
          <p:cNvPr id="10" name="Text 8"/>
          <p:cNvSpPr txBox="1"/>
          <p:nvPr/>
        </p:nvSpPr>
        <p:spPr>
          <a:xfrm>
            <a:off x="1554480" y="2295144"/>
            <a:ext cx="4251960" cy="82296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Disabled through the EnablePrefetcher registry value, and often off on servers. No .pf files does not mean nothing ran.</a:t>
            </a:r>
            <a:endParaRPr lang="en-US" sz="1250" dirty="0"/>
          </a:p>
        </p:txBody>
      </p:sp>
      <p:sp>
        <p:nvSpPr>
          <p:cNvPr id="11" name="Shape 9"/>
          <p:cNvSpPr/>
          <p:nvPr/>
        </p:nvSpPr>
        <p:spPr>
          <a:xfrm>
            <a:off x="6172200" y="1691640"/>
            <a:ext cx="5440680" cy="1508760"/>
          </a:xfrm>
          <a:prstGeom prst="roundRect">
            <a:avLst>
              <a:gd name="adj" fmla="val 4848"/>
            </a:avLst>
          </a:prstGeom>
          <a:solidFill>
            <a:srgbClr val="EEF1F7"/>
          </a:solidFill>
          <a:ln w="12700">
            <a:solidFill>
              <a:srgbClr val="DCE1EC"/>
            </a:solidFill>
            <a:prstDash val="solid"/>
          </a:ln>
        </p:spPr>
      </p:sp>
      <p:sp>
        <p:nvSpPr>
          <p:cNvPr id="12" name="Shape 10"/>
          <p:cNvSpPr/>
          <p:nvPr/>
        </p:nvSpPr>
        <p:spPr>
          <a:xfrm>
            <a:off x="6446520" y="1965960"/>
            <a:ext cx="548640" cy="548640"/>
          </a:xfrm>
          <a:prstGeom prst="ellipse">
            <a:avLst/>
          </a:prstGeom>
          <a:solidFill>
            <a:srgbClr val="C77D1A"/>
          </a:solidFill>
          <a:ln/>
        </p:spPr>
      </p:sp>
      <p:sp>
        <p:nvSpPr>
          <p:cNvPr id="13" name="Text 11"/>
          <p:cNvSpPr txBox="1"/>
          <p:nvPr/>
        </p:nvSpPr>
        <p:spPr>
          <a:xfrm>
            <a:off x="6446520" y="1965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4" name="Text 12"/>
          <p:cNvSpPr txBox="1"/>
          <p:nvPr/>
        </p:nvSpPr>
        <p:spPr>
          <a:xfrm>
            <a:off x="7178040" y="1892808"/>
            <a:ext cx="425196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Old entries roll off</a:t>
            </a:r>
            <a:endParaRPr lang="en-US" sz="1500" dirty="0"/>
          </a:p>
        </p:txBody>
      </p:sp>
      <p:sp>
        <p:nvSpPr>
          <p:cNvPr id="15" name="Text 13"/>
          <p:cNvSpPr txBox="1"/>
          <p:nvPr/>
        </p:nvSpPr>
        <p:spPr>
          <a:xfrm>
            <a:off x="7178040" y="2295144"/>
            <a:ext cx="4251960" cy="82296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Windows keeps at most 1,024 files (128 on Windows 7). The oldest are overwritten.</a:t>
            </a:r>
            <a:endParaRPr lang="en-US" sz="1250" dirty="0"/>
          </a:p>
        </p:txBody>
      </p:sp>
      <p:sp>
        <p:nvSpPr>
          <p:cNvPr id="16" name="Shape 14"/>
          <p:cNvSpPr/>
          <p:nvPr/>
        </p:nvSpPr>
        <p:spPr>
          <a:xfrm>
            <a:off x="548640" y="3383280"/>
            <a:ext cx="5440680" cy="1508760"/>
          </a:xfrm>
          <a:prstGeom prst="roundRect">
            <a:avLst>
              <a:gd name="adj" fmla="val 4848"/>
            </a:avLst>
          </a:prstGeom>
          <a:solidFill>
            <a:srgbClr val="EEF1F7"/>
          </a:solidFill>
          <a:ln w="12700">
            <a:solidFill>
              <a:srgbClr val="DCE1EC"/>
            </a:solidFill>
            <a:prstDash val="solid"/>
          </a:ln>
        </p:spPr>
      </p:sp>
      <p:sp>
        <p:nvSpPr>
          <p:cNvPr id="17" name="Shape 15"/>
          <p:cNvSpPr/>
          <p:nvPr/>
        </p:nvSpPr>
        <p:spPr>
          <a:xfrm>
            <a:off x="822960" y="3657600"/>
            <a:ext cx="548640" cy="548640"/>
          </a:xfrm>
          <a:prstGeom prst="ellipse">
            <a:avLst/>
          </a:prstGeom>
          <a:solidFill>
            <a:srgbClr val="C77D1A"/>
          </a:solidFill>
          <a:ln/>
        </p:spPr>
      </p:sp>
      <p:sp>
        <p:nvSpPr>
          <p:cNvPr id="18" name="Text 16"/>
          <p:cNvSpPr txBox="1"/>
          <p:nvPr/>
        </p:nvSpPr>
        <p:spPr>
          <a:xfrm>
            <a:off x="822960" y="365760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9" name="Text 17"/>
          <p:cNvSpPr txBox="1"/>
          <p:nvPr/>
        </p:nvSpPr>
        <p:spPr>
          <a:xfrm>
            <a:off x="1554480" y="3584448"/>
            <a:ext cx="425196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It can be deleted</a:t>
            </a:r>
            <a:endParaRPr lang="en-US" sz="1500" dirty="0"/>
          </a:p>
        </p:txBody>
      </p:sp>
      <p:sp>
        <p:nvSpPr>
          <p:cNvPr id="20" name="Text 18"/>
          <p:cNvSpPr txBox="1"/>
          <p:nvPr/>
        </p:nvSpPr>
        <p:spPr>
          <a:xfrm>
            <a:off x="1554480" y="3986784"/>
            <a:ext cx="4251960" cy="82296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An attacker can empty the Prefetch folder. Absence of evidence is not evidence of absence.</a:t>
            </a:r>
            <a:endParaRPr lang="en-US" sz="1250" dirty="0"/>
          </a:p>
        </p:txBody>
      </p:sp>
      <p:sp>
        <p:nvSpPr>
          <p:cNvPr id="21" name="Shape 19"/>
          <p:cNvSpPr/>
          <p:nvPr/>
        </p:nvSpPr>
        <p:spPr>
          <a:xfrm>
            <a:off x="6172200" y="3383280"/>
            <a:ext cx="5440680" cy="1508760"/>
          </a:xfrm>
          <a:prstGeom prst="roundRect">
            <a:avLst>
              <a:gd name="adj" fmla="val 4848"/>
            </a:avLst>
          </a:prstGeom>
          <a:solidFill>
            <a:srgbClr val="EEF1F7"/>
          </a:solidFill>
          <a:ln w="12700">
            <a:solidFill>
              <a:srgbClr val="DCE1EC"/>
            </a:solidFill>
            <a:prstDash val="solid"/>
          </a:ln>
        </p:spPr>
      </p:sp>
      <p:sp>
        <p:nvSpPr>
          <p:cNvPr id="22" name="Shape 20"/>
          <p:cNvSpPr/>
          <p:nvPr/>
        </p:nvSpPr>
        <p:spPr>
          <a:xfrm>
            <a:off x="6446520" y="3657600"/>
            <a:ext cx="548640" cy="548640"/>
          </a:xfrm>
          <a:prstGeom prst="ellipse">
            <a:avLst/>
          </a:prstGeom>
          <a:solidFill>
            <a:srgbClr val="C77D1A"/>
          </a:solidFill>
          <a:ln/>
        </p:spPr>
      </p:sp>
      <p:sp>
        <p:nvSpPr>
          <p:cNvPr id="23" name="Text 21"/>
          <p:cNvSpPr txBox="1"/>
          <p:nvPr/>
        </p:nvSpPr>
        <p:spPr>
          <a:xfrm>
            <a:off x="6446520" y="365760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24" name="Text 22"/>
          <p:cNvSpPr txBox="1"/>
          <p:nvPr/>
        </p:nvSpPr>
        <p:spPr>
          <a:xfrm>
            <a:off x="7178040" y="3584448"/>
            <a:ext cx="4251960" cy="41148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Rename or move = new file</a:t>
            </a:r>
            <a:endParaRPr lang="en-US" sz="1500" dirty="0"/>
          </a:p>
        </p:txBody>
      </p:sp>
      <p:sp>
        <p:nvSpPr>
          <p:cNvPr id="25" name="Text 23"/>
          <p:cNvSpPr txBox="1"/>
          <p:nvPr/>
        </p:nvSpPr>
        <p:spPr>
          <a:xfrm>
            <a:off x="7178040" y="3986784"/>
            <a:ext cx="4251960" cy="82296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The hash comes from the path, so a moved copy gets a different .pf name.</a:t>
            </a:r>
            <a:endParaRPr lang="en-US" sz="1250" dirty="0"/>
          </a:p>
        </p:txBody>
      </p:sp>
      <p:sp>
        <p:nvSpPr>
          <p:cNvPr id="26" name="Shape 24"/>
          <p:cNvSpPr/>
          <p:nvPr/>
        </p:nvSpPr>
        <p:spPr>
          <a:xfrm>
            <a:off x="548640" y="5166360"/>
            <a:ext cx="11064240" cy="868680"/>
          </a:xfrm>
          <a:prstGeom prst="roundRect">
            <a:avLst>
              <a:gd name="adj" fmla="val 8421"/>
            </a:avLst>
          </a:prstGeom>
          <a:solidFill>
            <a:srgbClr val="141B2E"/>
          </a:solidFill>
          <a:ln/>
        </p:spPr>
      </p:sp>
      <p:sp>
        <p:nvSpPr>
          <p:cNvPr id="27" name="Shape 25"/>
          <p:cNvSpPr/>
          <p:nvPr/>
        </p:nvSpPr>
        <p:spPr>
          <a:xfrm>
            <a:off x="804672" y="5340096"/>
            <a:ext cx="512064" cy="512064"/>
          </a:xfrm>
          <a:prstGeom prst="ellipse">
            <a:avLst/>
          </a:prstGeom>
          <a:solidFill>
            <a:srgbClr val="E3A008"/>
          </a:solidFill>
          <a:ln/>
        </p:spPr>
      </p:sp>
      <p:sp>
        <p:nvSpPr>
          <p:cNvPr id="28" name="Text 26"/>
          <p:cNvSpPr txBox="1"/>
          <p:nvPr/>
        </p:nvSpPr>
        <p:spPr>
          <a:xfrm>
            <a:off x="804672" y="5340096"/>
            <a:ext cx="512064" cy="512064"/>
          </a:xfrm>
          <a:prstGeom prst="rect">
            <a:avLst/>
          </a:prstGeom>
          <a:noFill/>
          <a:ln/>
        </p:spPr>
        <p:txBody>
          <a:bodyPr wrap="square" lIns="0" tIns="0" rIns="0" bIns="0" rtlCol="0" anchor="ctr"/>
          <a:lstStyle/>
          <a:p>
            <a:pPr marL="0" indent="0" algn="ctr">
              <a:buNone/>
            </a:pPr>
            <a:r>
              <a:rPr lang="en-US" sz="1800" b="1" dirty="0">
                <a:solidFill>
                  <a:srgbClr val="141B2E"/>
                </a:solidFill>
                <a:latin typeface="Arial" pitchFamily="34" charset="0"/>
                <a:ea typeface="Arial" pitchFamily="34" charset="-122"/>
                <a:cs typeface="Arial" pitchFamily="34" charset="-120"/>
              </a:rPr>
              <a:t>?</a:t>
            </a:r>
            <a:endParaRPr lang="en-US" sz="1800" dirty="0"/>
          </a:p>
        </p:txBody>
      </p:sp>
      <p:sp>
        <p:nvSpPr>
          <p:cNvPr id="29" name="Text 27"/>
          <p:cNvSpPr txBox="1"/>
          <p:nvPr/>
        </p:nvSpPr>
        <p:spPr>
          <a:xfrm>
            <a:off x="1508760" y="5166360"/>
            <a:ext cx="9921240"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Prefetch has no user name.  </a:t>
            </a:r>
            <a:r>
              <a:rPr lang="en-US" sz="1400" dirty="0">
                <a:solidFill>
                  <a:srgbClr val="AEB8D0"/>
                </a:solidFill>
                <a:latin typeface="Calibri" pitchFamily="34" charset="0"/>
                <a:ea typeface="Calibri" pitchFamily="34" charset="-122"/>
                <a:cs typeface="Calibri" pitchFamily="34" charset="-120"/>
              </a:rPr>
              <a:t>It proves that the program ran — not who ran it. Keep this in mind for the verdict.</a:t>
            </a:r>
            <a:endParaRPr lang="en-US" sz="1400" dirty="0"/>
          </a:p>
        </p:txBody>
      </p:sp>
      <p:sp>
        <p:nvSpPr>
          <p:cNvPr id="30" name="Text 2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1" name="Text 29"/>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1  ·  Aayush Boghara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E"/>
        </a:solidFill>
        <a:effectLst/>
      </p:bgPr>
    </p:bg>
    <p:spTree>
      <p:nvGrpSpPr>
        <p:cNvPr id="1" name=""/>
        <p:cNvGrpSpPr/>
        <p:nvPr/>
      </p:nvGrpSpPr>
      <p:grpSpPr>
        <a:xfrm>
          <a:off x="0" y="0"/>
          <a:ext cx="0" cy="0"/>
          <a:chOff x="0" y="0"/>
          <a:chExt cx="0" cy="0"/>
        </a:xfrm>
      </p:grpSpPr>
      <p:sp>
        <p:nvSpPr>
          <p:cNvPr id="2" name="Shape 0"/>
          <p:cNvSpPr/>
          <p:nvPr/>
        </p:nvSpPr>
        <p:spPr>
          <a:xfrm>
            <a:off x="8321040" y="-1463040"/>
            <a:ext cx="5120640" cy="5120640"/>
          </a:xfrm>
          <a:prstGeom prst="ellipse">
            <a:avLst/>
          </a:prstGeom>
          <a:solidFill>
            <a:srgbClr val="1F2A44"/>
          </a:solidFill>
          <a:ln/>
        </p:spPr>
      </p:sp>
      <p:sp>
        <p:nvSpPr>
          <p:cNvPr id="3" name="Text 1"/>
          <p:cNvSpPr txBox="1"/>
          <p:nvPr/>
        </p:nvSpPr>
        <p:spPr>
          <a:xfrm>
            <a:off x="731520" y="1188720"/>
            <a:ext cx="3657600" cy="1463040"/>
          </a:xfrm>
          <a:prstGeom prst="rect">
            <a:avLst/>
          </a:prstGeom>
          <a:noFill/>
          <a:ln/>
        </p:spPr>
        <p:txBody>
          <a:bodyPr wrap="square" lIns="0" tIns="0" rIns="0" bIns="0" rtlCol="0" anchor="ctr"/>
          <a:lstStyle/>
          <a:p>
            <a:pPr marL="0" indent="0">
              <a:buNone/>
            </a:pPr>
            <a:r>
              <a:rPr lang="en-US" sz="9600" b="1" dirty="0">
                <a:solidFill>
                  <a:srgbClr val="E3A008"/>
                </a:solidFill>
                <a:latin typeface="Cambria" pitchFamily="34" charset="0"/>
                <a:ea typeface="Cambria" pitchFamily="34" charset="-122"/>
                <a:cs typeface="Cambria" pitchFamily="34" charset="-120"/>
              </a:rPr>
              <a:t>02</a:t>
            </a:r>
            <a:endParaRPr lang="en-US" sz="9600" dirty="0"/>
          </a:p>
        </p:txBody>
      </p:sp>
      <p:sp>
        <p:nvSpPr>
          <p:cNvPr id="4" name="Text 2"/>
          <p:cNvSpPr txBox="1"/>
          <p:nvPr/>
        </p:nvSpPr>
        <p:spPr>
          <a:xfrm>
            <a:off x="731520" y="2743200"/>
            <a:ext cx="96012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Amcache &amp; Shimcache</a:t>
            </a:r>
            <a:endParaRPr lang="en-US" sz="3800" dirty="0"/>
          </a:p>
        </p:txBody>
      </p:sp>
      <p:sp>
        <p:nvSpPr>
          <p:cNvPr id="5" name="Text 3"/>
          <p:cNvSpPr txBox="1"/>
          <p:nvPr/>
        </p:nvSpPr>
        <p:spPr>
          <a:xfrm>
            <a:off x="749808" y="3657600"/>
            <a:ext cx="9601200" cy="548640"/>
          </a:xfrm>
          <a:prstGeom prst="rect">
            <a:avLst/>
          </a:prstGeom>
          <a:noFill/>
          <a:ln/>
        </p:spPr>
        <p:txBody>
          <a:bodyPr wrap="square" lIns="0" tIns="0" rIns="0" bIns="0" rtlCol="0" anchor="ctr"/>
          <a:lstStyle/>
          <a:p>
            <a:pPr marL="0" indent="0">
              <a:buNone/>
            </a:pPr>
            <a:r>
              <a:rPr lang="en-US" sz="1600" dirty="0">
                <a:solidFill>
                  <a:srgbClr val="AEB8D0"/>
                </a:solidFill>
                <a:latin typeface="Calibri" pitchFamily="34" charset="0"/>
                <a:ea typeface="Calibri" pitchFamily="34" charset="-122"/>
                <a:cs typeface="Calibri" pitchFamily="34" charset="-120"/>
              </a:rPr>
              <a:t>Two more witnesses — useful, but easy to over-trust</a:t>
            </a:r>
            <a:endParaRPr lang="en-US" sz="1600" dirty="0"/>
          </a:p>
        </p:txBody>
      </p:sp>
      <p:sp>
        <p:nvSpPr>
          <p:cNvPr id="6" name="Shape 4"/>
          <p:cNvSpPr/>
          <p:nvPr/>
        </p:nvSpPr>
        <p:spPr>
          <a:xfrm>
            <a:off x="731520" y="4800600"/>
            <a:ext cx="5852160" cy="868680"/>
          </a:xfrm>
          <a:prstGeom prst="roundRect">
            <a:avLst>
              <a:gd name="adj" fmla="val 8421"/>
            </a:avLst>
          </a:prstGeom>
          <a:solidFill>
            <a:srgbClr val="1F2A44"/>
          </a:solidFill>
          <a:ln w="12700">
            <a:solidFill>
              <a:srgbClr val="2E4374"/>
            </a:solidFill>
            <a:prstDash val="solid"/>
          </a:ln>
        </p:spPr>
      </p:sp>
      <p:sp>
        <p:nvSpPr>
          <p:cNvPr id="7" name="Text 5"/>
          <p:cNvSpPr txBox="1"/>
          <p:nvPr/>
        </p:nvSpPr>
        <p:spPr>
          <a:xfrm>
            <a:off x="960120" y="4800600"/>
            <a:ext cx="5486400" cy="868680"/>
          </a:xfrm>
          <a:prstGeom prst="rect">
            <a:avLst/>
          </a:prstGeom>
          <a:noFill/>
          <a:ln/>
        </p:spPr>
        <p:txBody>
          <a:bodyPr wrap="square" lIns="0" tIns="0" rIns="0" bIns="0" rtlCol="0" anchor="ctr"/>
          <a:lstStyle/>
          <a:p>
            <a:r>
              <a:rPr lang="en-US" sz="1200" dirty="0">
                <a:solidFill>
                  <a:srgbClr val="AEB8D0"/>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VISHAL</a:t>
            </a:r>
            <a:r>
              <a:rPr lang="en-US" sz="1400" b="1" dirty="0">
                <a:solidFill>
                  <a:srgbClr val="FFFFFF"/>
                </a:solidFill>
                <a:latin typeface="Calibri" pitchFamily="34" charset="0"/>
                <a:ea typeface="Calibri" pitchFamily="34" charset="-122"/>
                <a:cs typeface="Calibri" pitchFamily="34" charset="-120"/>
              </a:rPr>
              <a:t> </a:t>
            </a:r>
            <a:r>
              <a:rPr lang="en-US" sz="1500" b="1" dirty="0">
                <a:solidFill>
                  <a:srgbClr val="FFFFFF"/>
                </a:solidFill>
                <a:latin typeface="Calibri" pitchFamily="34" charset="0"/>
                <a:ea typeface="Calibri" pitchFamily="34" charset="-122"/>
                <a:cs typeface="Calibri" pitchFamily="34" charset="-120"/>
              </a:rPr>
              <a:t>CHUDASAMA</a:t>
            </a:r>
            <a:endParaRPr lang="en-US" sz="1200" dirty="0"/>
          </a:p>
          <a:p>
            <a:pPr marL="0" indent="0">
              <a:buNone/>
            </a:pPr>
            <a:r>
              <a:rPr lang="en-US" sz="1150" dirty="0">
                <a:solidFill>
                  <a:srgbClr val="AEB8D0"/>
                </a:solidFill>
                <a:latin typeface="Calibri" pitchFamily="34" charset="0"/>
                <a:ea typeface="Calibri" pitchFamily="34" charset="-122"/>
                <a:cs typeface="Calibri" pitchFamily="34" charset="-120"/>
              </a:rPr>
              <a:t>Roll No. 	   </a:t>
            </a:r>
            <a:r>
              <a:rPr lang="en-US" sz="1150" b="1" dirty="0">
                <a:solidFill>
                  <a:srgbClr val="AEB8D0"/>
                </a:solidFill>
                <a:latin typeface="Calibri" pitchFamily="34" charset="0"/>
                <a:ea typeface="Calibri" pitchFamily="34" charset="-122"/>
                <a:cs typeface="Calibri" pitchFamily="34" charset="-120"/>
              </a:rPr>
              <a:t>E02</a:t>
            </a:r>
          </a:p>
          <a:p>
            <a:pPr marL="0" indent="0">
              <a:buNone/>
            </a:pPr>
            <a:r>
              <a:rPr lang="en-US" sz="1150" dirty="0">
                <a:solidFill>
                  <a:srgbClr val="AEB8D0"/>
                </a:solidFill>
                <a:latin typeface="Calibri" pitchFamily="34" charset="0"/>
                <a:ea typeface="Calibri" pitchFamily="34" charset="-122"/>
                <a:cs typeface="Calibri" pitchFamily="34" charset="-120"/>
              </a:rPr>
              <a:t>Enrollment No.	   25004401110069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2 · AMCACHE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Amcache: the file's identity card</a:t>
            </a:r>
            <a:endParaRPr lang="en-US" sz="3000" dirty="0"/>
          </a:p>
        </p:txBody>
      </p:sp>
      <p:sp>
        <p:nvSpPr>
          <p:cNvPr id="6" name="Text 4"/>
          <p:cNvSpPr txBox="1"/>
          <p:nvPr/>
        </p:nvSpPr>
        <p:spPr>
          <a:xfrm>
            <a:off x="548640" y="1463040"/>
            <a:ext cx="11064240" cy="457200"/>
          </a:xfrm>
          <a:prstGeom prst="rect">
            <a:avLst/>
          </a:prstGeom>
          <a:noFill/>
          <a:ln/>
        </p:spPr>
        <p:txBody>
          <a:bodyPr wrap="square" lIns="0" tIns="0" rIns="0" bIns="0" rtlCol="0" anchor="ctr"/>
          <a:lstStyle/>
          <a:p>
            <a:pPr marL="0" indent="0">
              <a:buNone/>
            </a:pPr>
            <a:r>
              <a:rPr lang="en-US" sz="1500" i="1" dirty="0">
                <a:solidFill>
                  <a:srgbClr val="5C6880"/>
                </a:solidFill>
                <a:latin typeface="Calibri" pitchFamily="34" charset="0"/>
                <a:ea typeface="Calibri" pitchFamily="34" charset="-122"/>
                <a:cs typeface="Calibri" pitchFamily="34" charset="-120"/>
              </a:rPr>
              <a:t>A registry hive where Windows inventories programs for compatibility checks. Its key InventoryApplicationFile holds:</a:t>
            </a:r>
            <a:endParaRPr lang="en-US" sz="1500" dirty="0"/>
          </a:p>
        </p:txBody>
      </p:sp>
      <p:sp>
        <p:nvSpPr>
          <p:cNvPr id="7" name="Shape 5"/>
          <p:cNvSpPr/>
          <p:nvPr/>
        </p:nvSpPr>
        <p:spPr>
          <a:xfrm>
            <a:off x="777240" y="2194560"/>
            <a:ext cx="475488" cy="475488"/>
          </a:xfrm>
          <a:prstGeom prst="ellipse">
            <a:avLst/>
          </a:prstGeom>
          <a:solidFill>
            <a:srgbClr val="E3A008"/>
          </a:solidFill>
          <a:ln/>
        </p:spPr>
      </p:sp>
      <p:sp>
        <p:nvSpPr>
          <p:cNvPr id="8" name="Text 6"/>
          <p:cNvSpPr txBox="1"/>
          <p:nvPr/>
        </p:nvSpPr>
        <p:spPr>
          <a:xfrm>
            <a:off x="777240" y="2194560"/>
            <a:ext cx="475488" cy="475488"/>
          </a:xfrm>
          <a:prstGeom prst="rect">
            <a:avLst/>
          </a:prstGeom>
          <a:noFill/>
          <a:ln/>
        </p:spPr>
        <p:txBody>
          <a:bodyPr wrap="square" lIns="0" tIns="0" rIns="0" bIns="0" rtlCol="0" anchor="ctr"/>
          <a:lstStyle/>
          <a:p>
            <a:pPr marL="0" indent="0" algn="ctr">
              <a:buNone/>
            </a:pPr>
            <a:r>
              <a:rPr lang="en-US" sz="1400" b="1" dirty="0">
                <a:solidFill>
                  <a:srgbClr val="141B2E"/>
                </a:solidFill>
                <a:latin typeface="Arial" pitchFamily="34" charset="0"/>
                <a:ea typeface="Arial" pitchFamily="34" charset="-122"/>
                <a:cs typeface="Arial" pitchFamily="34" charset="-120"/>
              </a:rPr>
              <a:t>◆</a:t>
            </a:r>
            <a:endParaRPr lang="en-US" sz="1400" dirty="0"/>
          </a:p>
        </p:txBody>
      </p:sp>
      <p:sp>
        <p:nvSpPr>
          <p:cNvPr id="9" name="Text 7"/>
          <p:cNvSpPr txBox="1"/>
          <p:nvPr/>
        </p:nvSpPr>
        <p:spPr>
          <a:xfrm>
            <a:off x="1463040" y="21031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SHA-1 hash of the file</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Identifies the exact binary — even if it was renamed</a:t>
            </a:r>
            <a:endParaRPr lang="en-US" sz="1450" dirty="0"/>
          </a:p>
        </p:txBody>
      </p:sp>
      <p:sp>
        <p:nvSpPr>
          <p:cNvPr id="10" name="Shape 8"/>
          <p:cNvSpPr/>
          <p:nvPr/>
        </p:nvSpPr>
        <p:spPr>
          <a:xfrm>
            <a:off x="777240" y="3108960"/>
            <a:ext cx="475488" cy="475488"/>
          </a:xfrm>
          <a:prstGeom prst="ellipse">
            <a:avLst/>
          </a:prstGeom>
          <a:solidFill>
            <a:srgbClr val="2E4374"/>
          </a:solidFill>
          <a:ln/>
        </p:spPr>
      </p:sp>
      <p:sp>
        <p:nvSpPr>
          <p:cNvPr id="11" name="Text 9"/>
          <p:cNvSpPr txBox="1"/>
          <p:nvPr/>
        </p:nvSpPr>
        <p:spPr>
          <a:xfrm>
            <a:off x="777240" y="31089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10"/>
          <p:cNvSpPr txBox="1"/>
          <p:nvPr/>
        </p:nvSpPr>
        <p:spPr>
          <a:xfrm>
            <a:off x="1463040" y="30175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Full path and file name</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Where it lived on disk</a:t>
            </a:r>
            <a:endParaRPr lang="en-US" sz="1450" dirty="0"/>
          </a:p>
        </p:txBody>
      </p:sp>
      <p:sp>
        <p:nvSpPr>
          <p:cNvPr id="13" name="Shape 11"/>
          <p:cNvSpPr/>
          <p:nvPr/>
        </p:nvSpPr>
        <p:spPr>
          <a:xfrm>
            <a:off x="777240" y="4023360"/>
            <a:ext cx="475488" cy="475488"/>
          </a:xfrm>
          <a:prstGeom prst="ellipse">
            <a:avLst/>
          </a:prstGeom>
          <a:solidFill>
            <a:srgbClr val="2E4374"/>
          </a:solidFill>
          <a:ln/>
        </p:spPr>
      </p:sp>
      <p:sp>
        <p:nvSpPr>
          <p:cNvPr id="14" name="Text 12"/>
          <p:cNvSpPr txBox="1"/>
          <p:nvPr/>
        </p:nvSpPr>
        <p:spPr>
          <a:xfrm>
            <a:off x="777240" y="40233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5" name="Text 13"/>
          <p:cNvSpPr txBox="1"/>
          <p:nvPr/>
        </p:nvSpPr>
        <p:spPr>
          <a:xfrm>
            <a:off x="1463040" y="39319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Size, publisher, product version</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Is it signed? Is it a known tool?</a:t>
            </a:r>
            <a:endParaRPr lang="en-US" sz="1450" dirty="0"/>
          </a:p>
        </p:txBody>
      </p:sp>
      <p:sp>
        <p:nvSpPr>
          <p:cNvPr id="16" name="Shape 14"/>
          <p:cNvSpPr/>
          <p:nvPr/>
        </p:nvSpPr>
        <p:spPr>
          <a:xfrm>
            <a:off x="777240" y="4937760"/>
            <a:ext cx="475488" cy="475488"/>
          </a:xfrm>
          <a:prstGeom prst="ellipse">
            <a:avLst/>
          </a:prstGeom>
          <a:solidFill>
            <a:srgbClr val="2E4374"/>
          </a:solidFill>
          <a:ln/>
        </p:spPr>
      </p:sp>
      <p:sp>
        <p:nvSpPr>
          <p:cNvPr id="17" name="Text 15"/>
          <p:cNvSpPr txBox="1"/>
          <p:nvPr/>
        </p:nvSpPr>
        <p:spPr>
          <a:xfrm>
            <a:off x="777240" y="49377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8" name="Text 16"/>
          <p:cNvSpPr txBox="1"/>
          <p:nvPr/>
        </p:nvSpPr>
        <p:spPr>
          <a:xfrm>
            <a:off x="1463040" y="48463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PE link date</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When the program was compiled — not when it ran</a:t>
            </a:r>
            <a:endParaRPr lang="en-US" sz="1450" dirty="0"/>
          </a:p>
        </p:txBody>
      </p:sp>
      <p:sp>
        <p:nvSpPr>
          <p:cNvPr id="19" name="Shape 17"/>
          <p:cNvSpPr/>
          <p:nvPr/>
        </p:nvSpPr>
        <p:spPr>
          <a:xfrm>
            <a:off x="7223760" y="2011680"/>
            <a:ext cx="4389120" cy="3566160"/>
          </a:xfrm>
          <a:prstGeom prst="roundRect">
            <a:avLst>
              <a:gd name="adj" fmla="val 2051"/>
            </a:avLst>
          </a:prstGeom>
          <a:solidFill>
            <a:srgbClr val="141B2E"/>
          </a:solidFill>
          <a:ln/>
          <a:effectLst>
            <a:outerShdw blurRad="63500" dist="25400" dir="5400000" algn="bl" rotWithShape="0">
              <a:srgbClr val="A9B3C7">
                <a:alpha val="30000"/>
              </a:srgbClr>
            </a:outerShdw>
          </a:effectLst>
        </p:spPr>
      </p:sp>
      <p:sp>
        <p:nvSpPr>
          <p:cNvPr id="20" name="Text 18"/>
          <p:cNvSpPr txBox="1"/>
          <p:nvPr/>
        </p:nvSpPr>
        <p:spPr>
          <a:xfrm>
            <a:off x="7498080" y="2194560"/>
            <a:ext cx="3840480" cy="365760"/>
          </a:xfrm>
          <a:prstGeom prst="rect">
            <a:avLst/>
          </a:prstGeom>
          <a:noFill/>
          <a:ln/>
        </p:spPr>
        <p:txBody>
          <a:bodyPr wrap="square" lIns="0" tIns="0" rIns="0" bIns="0" rtlCol="0" anchor="ctr"/>
          <a:lstStyle/>
          <a:p>
            <a:pPr marL="0" indent="0">
              <a:buNone/>
            </a:pPr>
            <a:r>
              <a:rPr lang="en-US" sz="1250" b="1" dirty="0">
                <a:solidFill>
                  <a:srgbClr val="E3A008"/>
                </a:solidFill>
                <a:latin typeface="Calibri" pitchFamily="34" charset="0"/>
                <a:ea typeface="Calibri" pitchFamily="34" charset="-122"/>
                <a:cs typeface="Calibri" pitchFamily="34" charset="-120"/>
              </a:rPr>
              <a:t>Sample — AmcacheParser output</a:t>
            </a:r>
            <a:endParaRPr lang="en-US" sz="1250" dirty="0"/>
          </a:p>
        </p:txBody>
      </p:sp>
      <p:sp>
        <p:nvSpPr>
          <p:cNvPr id="21" name="Text 19"/>
          <p:cNvSpPr txBox="1"/>
          <p:nvPr/>
        </p:nvSpPr>
        <p:spPr>
          <a:xfrm>
            <a:off x="7498080" y="263347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Path  </a:t>
            </a:r>
            <a:r>
              <a:rPr lang="en-US" sz="1100" dirty="0">
                <a:solidFill>
                  <a:srgbClr val="FFFFFF"/>
                </a:solidFill>
                <a:latin typeface="Courier New" pitchFamily="34" charset="0"/>
                <a:ea typeface="Courier New" pitchFamily="34" charset="-122"/>
                <a:cs typeface="Courier New" pitchFamily="34" charset="-120"/>
              </a:rPr>
              <a:t>C:\Users\jdoe\Downloads\</a:t>
            </a:r>
            <a:endParaRPr lang="en-US" sz="1100" dirty="0"/>
          </a:p>
        </p:txBody>
      </p:sp>
      <p:sp>
        <p:nvSpPr>
          <p:cNvPr id="22" name="Text 20"/>
          <p:cNvSpPr txBox="1"/>
          <p:nvPr/>
        </p:nvSpPr>
        <p:spPr>
          <a:xfrm>
            <a:off x="7498080" y="299923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netscan.exe</a:t>
            </a:r>
            <a:endParaRPr lang="en-US" sz="1100" dirty="0"/>
          </a:p>
        </p:txBody>
      </p:sp>
      <p:sp>
        <p:nvSpPr>
          <p:cNvPr id="23" name="Text 21"/>
          <p:cNvSpPr txBox="1"/>
          <p:nvPr/>
        </p:nvSpPr>
        <p:spPr>
          <a:xfrm>
            <a:off x="7498080" y="336499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SHA-1 </a:t>
            </a:r>
            <a:r>
              <a:rPr lang="en-US" sz="1100" b="1" dirty="0">
                <a:solidFill>
                  <a:srgbClr val="E3A008"/>
                </a:solidFill>
                <a:latin typeface="Courier New" pitchFamily="34" charset="0"/>
                <a:ea typeface="Courier New" pitchFamily="34" charset="-122"/>
                <a:cs typeface="Courier New" pitchFamily="34" charset="-120"/>
              </a:rPr>
              <a:t>3f1c9a7e52d04b8e6a1f</a:t>
            </a:r>
            <a:endParaRPr lang="en-US" sz="1100" dirty="0"/>
          </a:p>
        </p:txBody>
      </p:sp>
      <p:sp>
        <p:nvSpPr>
          <p:cNvPr id="24" name="Text 22"/>
          <p:cNvSpPr txBox="1"/>
          <p:nvPr/>
        </p:nvSpPr>
        <p:spPr>
          <a:xfrm>
            <a:off x="7498080" y="373075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      </a:t>
            </a:r>
            <a:r>
              <a:rPr lang="en-US" sz="1100" b="1" dirty="0">
                <a:solidFill>
                  <a:srgbClr val="E3A008"/>
                </a:solidFill>
                <a:latin typeface="Courier New" pitchFamily="34" charset="0"/>
                <a:ea typeface="Courier New" pitchFamily="34" charset="-122"/>
                <a:cs typeface="Courier New" pitchFamily="34" charset="-120"/>
              </a:rPr>
              <a:t>0c2d9b7e4a5c18f6d203</a:t>
            </a:r>
            <a:endParaRPr lang="en-US" sz="1100" dirty="0"/>
          </a:p>
        </p:txBody>
      </p:sp>
      <p:sp>
        <p:nvSpPr>
          <p:cNvPr id="25" name="Text 23"/>
          <p:cNvSpPr txBox="1"/>
          <p:nvPr/>
        </p:nvSpPr>
        <p:spPr>
          <a:xfrm>
            <a:off x="7498080" y="409651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Pub.  </a:t>
            </a:r>
            <a:r>
              <a:rPr lang="en-US" sz="1100" dirty="0">
                <a:solidFill>
                  <a:srgbClr val="FFFFFF"/>
                </a:solidFill>
                <a:latin typeface="Courier New" pitchFamily="34" charset="0"/>
                <a:ea typeface="Courier New" pitchFamily="34" charset="-122"/>
                <a:cs typeface="Courier New" pitchFamily="34" charset="-120"/>
              </a:rPr>
              <a:t>(not signed)</a:t>
            </a:r>
            <a:endParaRPr lang="en-US" sz="1100" dirty="0"/>
          </a:p>
        </p:txBody>
      </p:sp>
      <p:sp>
        <p:nvSpPr>
          <p:cNvPr id="26" name="Text 24"/>
          <p:cNvSpPr txBox="1"/>
          <p:nvPr/>
        </p:nvSpPr>
        <p:spPr>
          <a:xfrm>
            <a:off x="7498080" y="446227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Key   </a:t>
            </a:r>
            <a:r>
              <a:rPr lang="en-US" sz="1100" dirty="0">
                <a:solidFill>
                  <a:srgbClr val="FFFFFF"/>
                </a:solidFill>
                <a:latin typeface="Courier New" pitchFamily="34" charset="0"/>
                <a:ea typeface="Courier New" pitchFamily="34" charset="-122"/>
                <a:cs typeface="Courier New" pitchFamily="34" charset="-120"/>
              </a:rPr>
              <a:t>2026-03-12 16:41:20</a:t>
            </a:r>
            <a:endParaRPr lang="en-US" sz="1100" dirty="0"/>
          </a:p>
        </p:txBody>
      </p:sp>
      <p:sp>
        <p:nvSpPr>
          <p:cNvPr id="27" name="Text 25"/>
          <p:cNvSpPr txBox="1"/>
          <p:nvPr/>
        </p:nvSpPr>
        <p:spPr>
          <a:xfrm>
            <a:off x="7498080" y="4892040"/>
            <a:ext cx="3840480" cy="566928"/>
          </a:xfrm>
          <a:prstGeom prst="rect">
            <a:avLst/>
          </a:prstGeom>
          <a:noFill/>
          <a:ln/>
        </p:spPr>
        <p:txBody>
          <a:bodyPr wrap="square" lIns="0" tIns="0" rIns="0" bIns="0" rtlCol="0" anchor="ctr"/>
          <a:lstStyle/>
          <a:p>
            <a:pPr marL="0" indent="0">
              <a:buNone/>
            </a:pPr>
            <a:r>
              <a:rPr lang="en-US" sz="1150" i="1" dirty="0">
                <a:solidFill>
                  <a:srgbClr val="AEB8D0"/>
                </a:solidFill>
                <a:latin typeface="Calibri" pitchFamily="34" charset="0"/>
                <a:ea typeface="Calibri" pitchFamily="34" charset="-122"/>
                <a:cs typeface="Calibri" pitchFamily="34" charset="-120"/>
              </a:rPr>
              <a:t>The SHA-1 can be checked against threat intel such as VirusTotal.</a:t>
            </a:r>
            <a:endParaRPr lang="en-US" sz="1150" dirty="0"/>
          </a:p>
        </p:txBody>
      </p:sp>
      <p:sp>
        <p:nvSpPr>
          <p:cNvPr id="28" name="Shape 26"/>
          <p:cNvSpPr/>
          <p:nvPr/>
        </p:nvSpPr>
        <p:spPr>
          <a:xfrm>
            <a:off x="548640" y="5852160"/>
            <a:ext cx="6400800" cy="457200"/>
          </a:xfrm>
          <a:prstGeom prst="roundRect">
            <a:avLst>
              <a:gd name="adj" fmla="val 16000"/>
            </a:avLst>
          </a:prstGeom>
          <a:solidFill>
            <a:srgbClr val="FFFFFF"/>
          </a:solidFill>
          <a:ln w="12700">
            <a:solidFill>
              <a:srgbClr val="DCE1EC"/>
            </a:solidFill>
            <a:prstDash val="solid"/>
          </a:ln>
        </p:spPr>
      </p:sp>
      <p:sp>
        <p:nvSpPr>
          <p:cNvPr id="29" name="Text 27"/>
          <p:cNvSpPr txBox="1"/>
          <p:nvPr/>
        </p:nvSpPr>
        <p:spPr>
          <a:xfrm>
            <a:off x="713232" y="5852160"/>
            <a:ext cx="6126480" cy="457200"/>
          </a:xfrm>
          <a:prstGeom prst="rect">
            <a:avLst/>
          </a:prstGeom>
          <a:noFill/>
          <a:ln/>
        </p:spPr>
        <p:txBody>
          <a:bodyPr wrap="square" lIns="0" tIns="0" rIns="0" bIns="0" rtlCol="0" anchor="ctr"/>
          <a:lstStyle/>
          <a:p>
            <a:pPr marL="0" indent="0">
              <a:buNone/>
            </a:pPr>
            <a:r>
              <a:rPr lang="en-US" sz="1100" b="1" dirty="0">
                <a:solidFill>
                  <a:srgbClr val="2E4374"/>
                </a:solidFill>
                <a:latin typeface="Calibri" pitchFamily="34" charset="0"/>
                <a:ea typeface="Calibri" pitchFamily="34" charset="-122"/>
                <a:cs typeface="Calibri" pitchFamily="34" charset="-120"/>
              </a:rPr>
              <a:t>Location  </a:t>
            </a:r>
            <a:r>
              <a:rPr lang="en-US" sz="1100" dirty="0">
                <a:solidFill>
                  <a:srgbClr val="1A2232"/>
                </a:solidFill>
                <a:latin typeface="Courier New" pitchFamily="34" charset="0"/>
                <a:ea typeface="Courier New" pitchFamily="34" charset="-122"/>
                <a:cs typeface="Courier New" pitchFamily="34" charset="-120"/>
              </a:rPr>
              <a:t>C:\Windows\AppCompat\Programs\Amcache.hve</a:t>
            </a:r>
            <a:endParaRPr lang="en-US" sz="1100" dirty="0"/>
          </a:p>
        </p:txBody>
      </p:sp>
      <p:sp>
        <p:nvSpPr>
          <p:cNvPr id="30" name="Text 2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1" name="Text 29"/>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2  ·  Vishal Chudasama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2 · AMCACHE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The catch: an entry does not prove execution</a:t>
            </a:r>
            <a:endParaRPr lang="en-US" sz="3000" dirty="0"/>
          </a:p>
        </p:txBody>
      </p:sp>
      <p:sp>
        <p:nvSpPr>
          <p:cNvPr id="6" name="Shape 4"/>
          <p:cNvSpPr/>
          <p:nvPr/>
        </p:nvSpPr>
        <p:spPr>
          <a:xfrm>
            <a:off x="548640" y="1691640"/>
            <a:ext cx="5486400" cy="4389120"/>
          </a:xfrm>
          <a:prstGeom prst="roundRect">
            <a:avLst>
              <a:gd name="adj" fmla="val 1667"/>
            </a:avLst>
          </a:prstGeom>
          <a:solidFill>
            <a:srgbClr val="EEF1F7"/>
          </a:solidFill>
          <a:ln w="12700">
            <a:solidFill>
              <a:srgbClr val="DCE1EC"/>
            </a:solidFill>
            <a:prstDash val="solid"/>
          </a:ln>
        </p:spPr>
      </p:sp>
      <p:sp>
        <p:nvSpPr>
          <p:cNvPr id="7" name="Text 5"/>
          <p:cNvSpPr txBox="1"/>
          <p:nvPr/>
        </p:nvSpPr>
        <p:spPr>
          <a:xfrm>
            <a:off x="868680" y="2011680"/>
            <a:ext cx="4892040" cy="3931920"/>
          </a:xfrm>
          <a:prstGeom prst="rect">
            <a:avLst/>
          </a:prstGeom>
          <a:noFill/>
          <a:ln/>
        </p:spPr>
        <p:txBody>
          <a:bodyPr wrap="square" lIns="0" tIns="0" rIns="0" bIns="0" rtlCol="0" anchor="t"/>
          <a:lstStyle/>
          <a:p>
            <a:pPr marL="0" indent="0">
              <a:lnSpc>
                <a:spcPct val="112000"/>
              </a:lnSpc>
              <a:buNone/>
            </a:pPr>
            <a:r>
              <a:rPr lang="en-US" sz="1800" dirty="0">
                <a:solidFill>
                  <a:srgbClr val="1A2232"/>
                </a:solidFill>
                <a:latin typeface="Calibri" pitchFamily="34" charset="0"/>
                <a:ea typeface="Calibri" pitchFamily="34" charset="-122"/>
                <a:cs typeface="Calibri" pitchFamily="34" charset="-120"/>
              </a:rPr>
              <a:t>Amcache is filled by a </a:t>
            </a:r>
            <a:r>
              <a:rPr lang="en-US" sz="1800" b="1" dirty="0">
                <a:solidFill>
                  <a:srgbClr val="1A2232"/>
                </a:solidFill>
                <a:latin typeface="Calibri" pitchFamily="34" charset="0"/>
                <a:ea typeface="Calibri" pitchFamily="34" charset="-122"/>
                <a:cs typeface="Calibri" pitchFamily="34" charset="-120"/>
              </a:rPr>
              <a:t>scheduled inventory task</a:t>
            </a:r>
            <a:r>
              <a:rPr lang="en-US" sz="1800" dirty="0">
                <a:solidFill>
                  <a:srgbClr val="1A2232"/>
                </a:solidFill>
                <a:latin typeface="Calibri" pitchFamily="34" charset="0"/>
                <a:ea typeface="Calibri" pitchFamily="34" charset="-122"/>
                <a:cs typeface="Calibri" pitchFamily="34" charset="-120"/>
              </a:rPr>
              <a:t> (the Microsoft Compatibility Appraiser).</a:t>
            </a:r>
            <a:endParaRPr lang="en-US" sz="1800" dirty="0"/>
          </a:p>
          <a:p>
            <a:pPr marL="0" indent="0">
              <a:lnSpc>
                <a:spcPct val="112000"/>
              </a:lnSpc>
              <a:buNone/>
            </a:pPr>
            <a:endParaRPr lang="en-US" sz="1800" dirty="0"/>
          </a:p>
          <a:p>
            <a:pPr marL="0" indent="0">
              <a:lnSpc>
                <a:spcPct val="112000"/>
              </a:lnSpc>
              <a:buNone/>
            </a:pPr>
            <a:r>
              <a:rPr lang="en-US" sz="1800" dirty="0">
                <a:solidFill>
                  <a:srgbClr val="1A2232"/>
                </a:solidFill>
                <a:latin typeface="Calibri" pitchFamily="34" charset="0"/>
                <a:ea typeface="Calibri" pitchFamily="34" charset="-122"/>
                <a:cs typeface="Calibri" pitchFamily="34" charset="-120"/>
              </a:rPr>
              <a:t>That task records programs it </a:t>
            </a:r>
            <a:r>
              <a:rPr lang="en-US" sz="1800" b="1" dirty="0">
                <a:solidFill>
                  <a:srgbClr val="1A2232"/>
                </a:solidFill>
                <a:latin typeface="Calibri" pitchFamily="34" charset="0"/>
                <a:ea typeface="Calibri" pitchFamily="34" charset="-122"/>
                <a:cs typeface="Calibri" pitchFamily="34" charset="-120"/>
              </a:rPr>
              <a:t>finds on disk</a:t>
            </a:r>
            <a:r>
              <a:rPr lang="en-US" sz="1800" dirty="0">
                <a:solidFill>
                  <a:srgbClr val="1A2232"/>
                </a:solidFill>
                <a:latin typeface="Calibri" pitchFamily="34" charset="0"/>
                <a:ea typeface="Calibri" pitchFamily="34" charset="-122"/>
                <a:cs typeface="Calibri" pitchFamily="34" charset="-120"/>
              </a:rPr>
              <a:t> — including ones that were installed or copied but </a:t>
            </a:r>
            <a:r>
              <a:rPr lang="en-US" sz="1800" b="1" dirty="0">
                <a:solidFill>
                  <a:srgbClr val="B23B3B"/>
                </a:solidFill>
                <a:latin typeface="Calibri" pitchFamily="34" charset="0"/>
                <a:ea typeface="Calibri" pitchFamily="34" charset="-122"/>
                <a:cs typeface="Calibri" pitchFamily="34" charset="-120"/>
              </a:rPr>
              <a:t>never run.</a:t>
            </a:r>
            <a:endParaRPr lang="en-US" sz="1800" dirty="0"/>
          </a:p>
          <a:p>
            <a:pPr marL="0" indent="0">
              <a:lnSpc>
                <a:spcPct val="112000"/>
              </a:lnSpc>
              <a:buNone/>
            </a:pPr>
            <a:endParaRPr lang="en-US" sz="1800" dirty="0"/>
          </a:p>
          <a:p>
            <a:pPr marL="0" indent="0">
              <a:lnSpc>
                <a:spcPct val="112000"/>
              </a:lnSpc>
              <a:buNone/>
            </a:pPr>
            <a:r>
              <a:rPr lang="en-US" sz="1800" dirty="0">
                <a:solidFill>
                  <a:srgbClr val="1A2232"/>
                </a:solidFill>
                <a:latin typeface="Calibri" pitchFamily="34" charset="0"/>
                <a:ea typeface="Calibri" pitchFamily="34" charset="-122"/>
                <a:cs typeface="Calibri" pitchFamily="34" charset="-120"/>
              </a:rPr>
              <a:t>So the key's timestamp means </a:t>
            </a:r>
            <a:r>
              <a:rPr lang="en-US" sz="1800" b="1" dirty="0">
                <a:solidFill>
                  <a:srgbClr val="1A2232"/>
                </a:solidFill>
                <a:latin typeface="Calibri" pitchFamily="34" charset="0"/>
                <a:ea typeface="Calibri" pitchFamily="34" charset="-122"/>
                <a:cs typeface="Calibri" pitchFamily="34" charset="-120"/>
              </a:rPr>
              <a:t>“when Windows inventoried it”</a:t>
            </a:r>
            <a:r>
              <a:rPr lang="en-US" sz="1800" dirty="0">
                <a:solidFill>
                  <a:srgbClr val="1A2232"/>
                </a:solidFill>
                <a:latin typeface="Calibri" pitchFamily="34" charset="0"/>
                <a:ea typeface="Calibri" pitchFamily="34" charset="-122"/>
                <a:cs typeface="Calibri" pitchFamily="34" charset="-120"/>
              </a:rPr>
              <a:t>, not “when it ran”.</a:t>
            </a:r>
            <a:endParaRPr lang="en-US" sz="1800" dirty="0"/>
          </a:p>
        </p:txBody>
      </p:sp>
      <p:sp>
        <p:nvSpPr>
          <p:cNvPr id="8" name="Text 6"/>
          <p:cNvSpPr txBox="1"/>
          <p:nvPr/>
        </p:nvSpPr>
        <p:spPr>
          <a:xfrm>
            <a:off x="6400800" y="1737360"/>
            <a:ext cx="5120640" cy="320040"/>
          </a:xfrm>
          <a:prstGeom prst="rect">
            <a:avLst/>
          </a:prstGeom>
          <a:noFill/>
          <a:ln/>
        </p:spPr>
        <p:txBody>
          <a:bodyPr wrap="square" lIns="0" tIns="0" rIns="0" bIns="0" rtlCol="0" anchor="ctr"/>
          <a:lstStyle/>
          <a:p>
            <a:pPr marL="0" indent="0">
              <a:buNone/>
            </a:pPr>
            <a:r>
              <a:rPr lang="en-US" sz="1300" b="1" dirty="0">
                <a:solidFill>
                  <a:srgbClr val="1A2232"/>
                </a:solidFill>
                <a:latin typeface="Calibri" pitchFamily="34" charset="0"/>
                <a:ea typeface="Calibri" pitchFamily="34" charset="-122"/>
                <a:cs typeface="Calibri" pitchFamily="34" charset="-120"/>
              </a:rPr>
              <a:t>Two files on the same disk</a:t>
            </a:r>
            <a:endParaRPr lang="en-US" sz="1300" dirty="0"/>
          </a:p>
        </p:txBody>
      </p:sp>
      <p:sp>
        <p:nvSpPr>
          <p:cNvPr id="9" name="Shape 7"/>
          <p:cNvSpPr/>
          <p:nvPr/>
        </p:nvSpPr>
        <p:spPr>
          <a:xfrm>
            <a:off x="6400800" y="2194560"/>
            <a:ext cx="5212080" cy="1280160"/>
          </a:xfrm>
          <a:prstGeom prst="roundRect">
            <a:avLst>
              <a:gd name="adj" fmla="val 5714"/>
            </a:avLst>
          </a:prstGeom>
          <a:solidFill>
            <a:srgbClr val="FFFFFF"/>
          </a:solidFill>
          <a:ln w="12700">
            <a:solidFill>
              <a:srgbClr val="DCE1EC"/>
            </a:solidFill>
            <a:prstDash val="solid"/>
          </a:ln>
          <a:effectLst>
            <a:outerShdw blurRad="63500" dist="25400" dir="5400000" algn="bl" rotWithShape="0">
              <a:srgbClr val="A9B3C7">
                <a:alpha val="30000"/>
              </a:srgbClr>
            </a:outerShdw>
          </a:effectLst>
        </p:spPr>
      </p:sp>
      <p:sp>
        <p:nvSpPr>
          <p:cNvPr id="10" name="Text 8"/>
          <p:cNvSpPr txBox="1"/>
          <p:nvPr/>
        </p:nvSpPr>
        <p:spPr>
          <a:xfrm>
            <a:off x="6675120" y="2331720"/>
            <a:ext cx="4754880" cy="365760"/>
          </a:xfrm>
          <a:prstGeom prst="rect">
            <a:avLst/>
          </a:prstGeom>
          <a:noFill/>
          <a:ln/>
        </p:spPr>
        <p:txBody>
          <a:bodyPr wrap="square" lIns="0" tIns="0" rIns="0" bIns="0" rtlCol="0" anchor="ctr"/>
          <a:lstStyle/>
          <a:p>
            <a:pPr marL="0" indent="0">
              <a:buNone/>
            </a:pPr>
            <a:r>
              <a:rPr lang="en-US" sz="1300" b="1" dirty="0">
                <a:solidFill>
                  <a:srgbClr val="1A2232"/>
                </a:solidFill>
                <a:latin typeface="Courier New" pitchFamily="34" charset="0"/>
                <a:ea typeface="Courier New" pitchFamily="34" charset="-122"/>
                <a:cs typeface="Courier New" pitchFamily="34" charset="-120"/>
              </a:rPr>
              <a:t>netscan.exe</a:t>
            </a:r>
            <a:endParaRPr lang="en-US" sz="1300" dirty="0"/>
          </a:p>
        </p:txBody>
      </p:sp>
      <p:sp>
        <p:nvSpPr>
          <p:cNvPr id="11" name="Shape 9"/>
          <p:cNvSpPr/>
          <p:nvPr/>
        </p:nvSpPr>
        <p:spPr>
          <a:xfrm>
            <a:off x="6675120" y="2834640"/>
            <a:ext cx="365760" cy="365760"/>
          </a:xfrm>
          <a:prstGeom prst="ellipse">
            <a:avLst/>
          </a:prstGeom>
          <a:solidFill>
            <a:srgbClr val="2E7D53"/>
          </a:solidFill>
          <a:ln/>
        </p:spPr>
      </p:sp>
      <p:sp>
        <p:nvSpPr>
          <p:cNvPr id="12" name="Text 10"/>
          <p:cNvSpPr txBox="1"/>
          <p:nvPr/>
        </p:nvSpPr>
        <p:spPr>
          <a:xfrm>
            <a:off x="6675120" y="28346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3" name="Text 11"/>
          <p:cNvSpPr txBox="1"/>
          <p:nvPr/>
        </p:nvSpPr>
        <p:spPr>
          <a:xfrm>
            <a:off x="7132320" y="2798064"/>
            <a:ext cx="1920240" cy="438912"/>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In Amcache</a:t>
            </a:r>
            <a:endParaRPr lang="en-US" sz="1300" dirty="0"/>
          </a:p>
        </p:txBody>
      </p:sp>
      <p:sp>
        <p:nvSpPr>
          <p:cNvPr id="14" name="Shape 12"/>
          <p:cNvSpPr/>
          <p:nvPr/>
        </p:nvSpPr>
        <p:spPr>
          <a:xfrm>
            <a:off x="9144000" y="2834640"/>
            <a:ext cx="365760" cy="365760"/>
          </a:xfrm>
          <a:prstGeom prst="ellipse">
            <a:avLst/>
          </a:prstGeom>
          <a:solidFill>
            <a:srgbClr val="2E7D53"/>
          </a:solidFill>
          <a:ln/>
        </p:spPr>
      </p:sp>
      <p:sp>
        <p:nvSpPr>
          <p:cNvPr id="15" name="Text 13"/>
          <p:cNvSpPr txBox="1"/>
          <p:nvPr/>
        </p:nvSpPr>
        <p:spPr>
          <a:xfrm>
            <a:off x="9144000" y="28346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6" name="Text 14"/>
          <p:cNvSpPr txBox="1"/>
          <p:nvPr/>
        </p:nvSpPr>
        <p:spPr>
          <a:xfrm>
            <a:off x="9601200" y="2798064"/>
            <a:ext cx="1920240" cy="438912"/>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In Prefetch</a:t>
            </a:r>
            <a:endParaRPr lang="en-US" sz="1300" dirty="0"/>
          </a:p>
        </p:txBody>
      </p:sp>
      <p:sp>
        <p:nvSpPr>
          <p:cNvPr id="17" name="Shape 15"/>
          <p:cNvSpPr/>
          <p:nvPr/>
        </p:nvSpPr>
        <p:spPr>
          <a:xfrm>
            <a:off x="6400800" y="3657600"/>
            <a:ext cx="5212080" cy="1280160"/>
          </a:xfrm>
          <a:prstGeom prst="roundRect">
            <a:avLst>
              <a:gd name="adj" fmla="val 5714"/>
            </a:avLst>
          </a:prstGeom>
          <a:solidFill>
            <a:srgbClr val="FFFFFF"/>
          </a:solidFill>
          <a:ln w="12700">
            <a:solidFill>
              <a:srgbClr val="DCE1EC"/>
            </a:solidFill>
            <a:prstDash val="solid"/>
          </a:ln>
          <a:effectLst>
            <a:outerShdw blurRad="63500" dist="25400" dir="5400000" algn="bl" rotWithShape="0">
              <a:srgbClr val="A9B3C7">
                <a:alpha val="30000"/>
              </a:srgbClr>
            </a:outerShdw>
          </a:effectLst>
        </p:spPr>
      </p:sp>
      <p:sp>
        <p:nvSpPr>
          <p:cNvPr id="18" name="Text 16"/>
          <p:cNvSpPr txBox="1"/>
          <p:nvPr/>
        </p:nvSpPr>
        <p:spPr>
          <a:xfrm>
            <a:off x="6675120" y="3794760"/>
            <a:ext cx="4754880" cy="365760"/>
          </a:xfrm>
          <a:prstGeom prst="rect">
            <a:avLst/>
          </a:prstGeom>
          <a:noFill/>
          <a:ln/>
        </p:spPr>
        <p:txBody>
          <a:bodyPr wrap="square" lIns="0" tIns="0" rIns="0" bIns="0" rtlCol="0" anchor="ctr"/>
          <a:lstStyle/>
          <a:p>
            <a:pPr marL="0" indent="0">
              <a:buNone/>
            </a:pPr>
            <a:r>
              <a:rPr lang="en-US" sz="1300" b="1" dirty="0">
                <a:solidFill>
                  <a:srgbClr val="1A2232"/>
                </a:solidFill>
                <a:latin typeface="Courier New" pitchFamily="34" charset="0"/>
                <a:ea typeface="Courier New" pitchFamily="34" charset="-122"/>
                <a:cs typeface="Courier New" pitchFamily="34" charset="-120"/>
              </a:rPr>
              <a:t>installer_old.exe</a:t>
            </a:r>
            <a:endParaRPr lang="en-US" sz="1300" dirty="0"/>
          </a:p>
        </p:txBody>
      </p:sp>
      <p:sp>
        <p:nvSpPr>
          <p:cNvPr id="19" name="Shape 17"/>
          <p:cNvSpPr/>
          <p:nvPr/>
        </p:nvSpPr>
        <p:spPr>
          <a:xfrm>
            <a:off x="6675120" y="4297680"/>
            <a:ext cx="365760" cy="365760"/>
          </a:xfrm>
          <a:prstGeom prst="ellipse">
            <a:avLst/>
          </a:prstGeom>
          <a:solidFill>
            <a:srgbClr val="2E7D53"/>
          </a:solidFill>
          <a:ln/>
        </p:spPr>
      </p:sp>
      <p:sp>
        <p:nvSpPr>
          <p:cNvPr id="20" name="Text 18"/>
          <p:cNvSpPr txBox="1"/>
          <p:nvPr/>
        </p:nvSpPr>
        <p:spPr>
          <a:xfrm>
            <a:off x="667512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1" name="Text 19"/>
          <p:cNvSpPr txBox="1"/>
          <p:nvPr/>
        </p:nvSpPr>
        <p:spPr>
          <a:xfrm>
            <a:off x="7132320" y="4261104"/>
            <a:ext cx="1920240" cy="438912"/>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In Amcache</a:t>
            </a:r>
            <a:endParaRPr lang="en-US" sz="1300" dirty="0"/>
          </a:p>
        </p:txBody>
      </p:sp>
      <p:sp>
        <p:nvSpPr>
          <p:cNvPr id="22" name="Shape 20"/>
          <p:cNvSpPr/>
          <p:nvPr/>
        </p:nvSpPr>
        <p:spPr>
          <a:xfrm>
            <a:off x="9144000" y="4297680"/>
            <a:ext cx="365760" cy="365760"/>
          </a:xfrm>
          <a:prstGeom prst="ellipse">
            <a:avLst/>
          </a:prstGeom>
          <a:solidFill>
            <a:srgbClr val="B23B3B"/>
          </a:solidFill>
          <a:ln/>
        </p:spPr>
      </p:sp>
      <p:sp>
        <p:nvSpPr>
          <p:cNvPr id="23" name="Text 21"/>
          <p:cNvSpPr txBox="1"/>
          <p:nvPr/>
        </p:nvSpPr>
        <p:spPr>
          <a:xfrm>
            <a:off x="914400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4" name="Text 22"/>
          <p:cNvSpPr txBox="1"/>
          <p:nvPr/>
        </p:nvSpPr>
        <p:spPr>
          <a:xfrm>
            <a:off x="9601200" y="4261104"/>
            <a:ext cx="1920240" cy="438912"/>
          </a:xfrm>
          <a:prstGeom prst="rect">
            <a:avLst/>
          </a:prstGeom>
          <a:noFill/>
          <a:ln/>
        </p:spPr>
        <p:txBody>
          <a:bodyPr wrap="square" lIns="0" tIns="0" rIns="0" bIns="0" rtlCol="0" anchor="ctr"/>
          <a:lstStyle/>
          <a:p>
            <a:pPr marL="0" indent="0">
              <a:buNone/>
            </a:pPr>
            <a:r>
              <a:rPr lang="en-US" sz="1300" dirty="0">
                <a:solidFill>
                  <a:srgbClr val="1A2232"/>
                </a:solidFill>
                <a:latin typeface="Calibri" pitchFamily="34" charset="0"/>
                <a:ea typeface="Calibri" pitchFamily="34" charset="-122"/>
                <a:cs typeface="Calibri" pitchFamily="34" charset="-120"/>
              </a:rPr>
              <a:t>In Prefetch</a:t>
            </a:r>
            <a:endParaRPr lang="en-US" sz="1300" dirty="0"/>
          </a:p>
        </p:txBody>
      </p:sp>
      <p:sp>
        <p:nvSpPr>
          <p:cNvPr id="25" name="Shape 23"/>
          <p:cNvSpPr/>
          <p:nvPr/>
        </p:nvSpPr>
        <p:spPr>
          <a:xfrm>
            <a:off x="6400800" y="5166360"/>
            <a:ext cx="5212080" cy="914400"/>
          </a:xfrm>
          <a:prstGeom prst="roundRect">
            <a:avLst>
              <a:gd name="adj" fmla="val 8000"/>
            </a:avLst>
          </a:prstGeom>
          <a:solidFill>
            <a:srgbClr val="141B2E"/>
          </a:solidFill>
          <a:ln/>
        </p:spPr>
      </p:sp>
      <p:sp>
        <p:nvSpPr>
          <p:cNvPr id="26" name="Text 24"/>
          <p:cNvSpPr txBox="1"/>
          <p:nvPr/>
        </p:nvSpPr>
        <p:spPr>
          <a:xfrm>
            <a:off x="6629400" y="5166360"/>
            <a:ext cx="4846320" cy="91440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Both appear in Amcache. </a:t>
            </a:r>
            <a:r>
              <a:rPr lang="en-US" sz="1350" b="1" dirty="0">
                <a:solidFill>
                  <a:srgbClr val="E3A008"/>
                </a:solidFill>
                <a:latin typeface="Calibri" pitchFamily="34" charset="0"/>
                <a:ea typeface="Calibri" pitchFamily="34" charset="-122"/>
                <a:cs typeface="Calibri" pitchFamily="34" charset="-120"/>
              </a:rPr>
              <a:t>Only Prefetch shows which one actually ran.</a:t>
            </a:r>
            <a:endParaRPr lang="en-US" sz="1350" dirty="0"/>
          </a:p>
        </p:txBody>
      </p:sp>
      <p:sp>
        <p:nvSpPr>
          <p:cNvPr id="27" name="Text 2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28" name="Text 26"/>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2  ·  Vishal Chudasama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3 · SHIMCACHE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Shimcache (AppCompatCache)</a:t>
            </a:r>
            <a:endParaRPr lang="en-US" sz="3000" dirty="0"/>
          </a:p>
        </p:txBody>
      </p:sp>
      <p:sp>
        <p:nvSpPr>
          <p:cNvPr id="6" name="Text 4"/>
          <p:cNvSpPr txBox="1"/>
          <p:nvPr/>
        </p:nvSpPr>
        <p:spPr>
          <a:xfrm>
            <a:off x="548640" y="1463040"/>
            <a:ext cx="11064240" cy="457200"/>
          </a:xfrm>
          <a:prstGeom prst="rect">
            <a:avLst/>
          </a:prstGeom>
          <a:noFill/>
          <a:ln/>
        </p:spPr>
        <p:txBody>
          <a:bodyPr wrap="square" lIns="0" tIns="0" rIns="0" bIns="0" rtlCol="0" anchor="ctr"/>
          <a:lstStyle/>
          <a:p>
            <a:pPr marL="0" indent="0">
              <a:buNone/>
            </a:pPr>
            <a:r>
              <a:rPr lang="en-US" sz="1500" i="1" dirty="0">
                <a:solidFill>
                  <a:srgbClr val="5C6880"/>
                </a:solidFill>
                <a:latin typeface="Calibri" pitchFamily="34" charset="0"/>
                <a:ea typeface="Calibri" pitchFamily="34" charset="-122"/>
                <a:cs typeface="Calibri" pitchFamily="34" charset="-120"/>
              </a:rPr>
              <a:t>Windows checks programs for compatibility problems and caches what it has seen. That cache is Shimcache.</a:t>
            </a:r>
            <a:endParaRPr lang="en-US" sz="1500" dirty="0"/>
          </a:p>
        </p:txBody>
      </p:sp>
      <p:sp>
        <p:nvSpPr>
          <p:cNvPr id="7" name="Shape 5"/>
          <p:cNvSpPr/>
          <p:nvPr/>
        </p:nvSpPr>
        <p:spPr>
          <a:xfrm>
            <a:off x="777240" y="2194560"/>
            <a:ext cx="475488" cy="475488"/>
          </a:xfrm>
          <a:prstGeom prst="ellipse">
            <a:avLst/>
          </a:prstGeom>
          <a:solidFill>
            <a:srgbClr val="2E4374"/>
          </a:solidFill>
          <a:ln/>
        </p:spPr>
      </p:sp>
      <p:sp>
        <p:nvSpPr>
          <p:cNvPr id="8" name="Text 6"/>
          <p:cNvSpPr txBox="1"/>
          <p:nvPr/>
        </p:nvSpPr>
        <p:spPr>
          <a:xfrm>
            <a:off x="777240" y="21945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 name="Text 7"/>
          <p:cNvSpPr txBox="1"/>
          <p:nvPr/>
        </p:nvSpPr>
        <p:spPr>
          <a:xfrm>
            <a:off x="1463040" y="21031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Full file path</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Exactly where the file was seen</a:t>
            </a:r>
            <a:endParaRPr lang="en-US" sz="1450" dirty="0"/>
          </a:p>
        </p:txBody>
      </p:sp>
      <p:sp>
        <p:nvSpPr>
          <p:cNvPr id="10" name="Shape 8"/>
          <p:cNvSpPr/>
          <p:nvPr/>
        </p:nvSpPr>
        <p:spPr>
          <a:xfrm>
            <a:off x="777240" y="3108960"/>
            <a:ext cx="475488" cy="475488"/>
          </a:xfrm>
          <a:prstGeom prst="ellipse">
            <a:avLst/>
          </a:prstGeom>
          <a:solidFill>
            <a:srgbClr val="2E4374"/>
          </a:solidFill>
          <a:ln/>
        </p:spPr>
      </p:sp>
      <p:sp>
        <p:nvSpPr>
          <p:cNvPr id="11" name="Text 9"/>
          <p:cNvSpPr txBox="1"/>
          <p:nvPr/>
        </p:nvSpPr>
        <p:spPr>
          <a:xfrm>
            <a:off x="777240" y="31089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10"/>
          <p:cNvSpPr txBox="1"/>
          <p:nvPr/>
        </p:nvSpPr>
        <p:spPr>
          <a:xfrm>
            <a:off x="1463040" y="30175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File's last-modified time</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Taken from the file system — read the next slide carefully</a:t>
            </a:r>
            <a:endParaRPr lang="en-US" sz="1450" dirty="0"/>
          </a:p>
        </p:txBody>
      </p:sp>
      <p:sp>
        <p:nvSpPr>
          <p:cNvPr id="13" name="Shape 11"/>
          <p:cNvSpPr/>
          <p:nvPr/>
        </p:nvSpPr>
        <p:spPr>
          <a:xfrm>
            <a:off x="777240" y="4023360"/>
            <a:ext cx="475488" cy="475488"/>
          </a:xfrm>
          <a:prstGeom prst="ellipse">
            <a:avLst/>
          </a:prstGeom>
          <a:solidFill>
            <a:srgbClr val="2E4374"/>
          </a:solidFill>
          <a:ln/>
        </p:spPr>
      </p:sp>
      <p:sp>
        <p:nvSpPr>
          <p:cNvPr id="14" name="Text 12"/>
          <p:cNvSpPr txBox="1"/>
          <p:nvPr/>
        </p:nvSpPr>
        <p:spPr>
          <a:xfrm>
            <a:off x="777240" y="40233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5" name="Text 13"/>
          <p:cNvSpPr txBox="1"/>
          <p:nvPr/>
        </p:nvSpPr>
        <p:spPr>
          <a:xfrm>
            <a:off x="1463040" y="39319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Position in the list</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Newest entries are at the top — gives the order of events</a:t>
            </a:r>
            <a:endParaRPr lang="en-US" sz="1450" dirty="0"/>
          </a:p>
        </p:txBody>
      </p:sp>
      <p:sp>
        <p:nvSpPr>
          <p:cNvPr id="16" name="Shape 14"/>
          <p:cNvSpPr/>
          <p:nvPr/>
        </p:nvSpPr>
        <p:spPr>
          <a:xfrm>
            <a:off x="777240" y="4937760"/>
            <a:ext cx="475488" cy="475488"/>
          </a:xfrm>
          <a:prstGeom prst="ellipse">
            <a:avLst/>
          </a:prstGeom>
          <a:solidFill>
            <a:srgbClr val="2E4374"/>
          </a:solidFill>
          <a:ln/>
        </p:spPr>
      </p:sp>
      <p:sp>
        <p:nvSpPr>
          <p:cNvPr id="17" name="Text 15"/>
          <p:cNvSpPr txBox="1"/>
          <p:nvPr/>
        </p:nvSpPr>
        <p:spPr>
          <a:xfrm>
            <a:off x="777240" y="49377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8" name="Text 16"/>
          <p:cNvSpPr txBox="1"/>
          <p:nvPr/>
        </p:nvSpPr>
        <p:spPr>
          <a:xfrm>
            <a:off x="1463040" y="4846320"/>
            <a:ext cx="539496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Up to 1,024 entries</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Older entries are pushed out as new ones arrive</a:t>
            </a:r>
            <a:endParaRPr lang="en-US" sz="1450" dirty="0"/>
          </a:p>
        </p:txBody>
      </p:sp>
      <p:sp>
        <p:nvSpPr>
          <p:cNvPr id="19" name="Shape 17"/>
          <p:cNvSpPr/>
          <p:nvPr/>
        </p:nvSpPr>
        <p:spPr>
          <a:xfrm>
            <a:off x="7223760" y="2011680"/>
            <a:ext cx="4389120" cy="3200400"/>
          </a:xfrm>
          <a:prstGeom prst="roundRect">
            <a:avLst>
              <a:gd name="adj" fmla="val 2286"/>
            </a:avLst>
          </a:prstGeom>
          <a:solidFill>
            <a:srgbClr val="141B2E"/>
          </a:solidFill>
          <a:ln/>
          <a:effectLst>
            <a:outerShdw blurRad="63500" dist="25400" dir="5400000" algn="bl" rotWithShape="0">
              <a:srgbClr val="A9B3C7">
                <a:alpha val="30000"/>
              </a:srgbClr>
            </a:outerShdw>
          </a:effectLst>
        </p:spPr>
      </p:sp>
      <p:sp>
        <p:nvSpPr>
          <p:cNvPr id="20" name="Text 18"/>
          <p:cNvSpPr txBox="1"/>
          <p:nvPr/>
        </p:nvSpPr>
        <p:spPr>
          <a:xfrm>
            <a:off x="7498080" y="2194560"/>
            <a:ext cx="3840480" cy="365760"/>
          </a:xfrm>
          <a:prstGeom prst="rect">
            <a:avLst/>
          </a:prstGeom>
          <a:noFill/>
          <a:ln/>
        </p:spPr>
        <p:txBody>
          <a:bodyPr wrap="square" lIns="0" tIns="0" rIns="0" bIns="0" rtlCol="0" anchor="ctr"/>
          <a:lstStyle/>
          <a:p>
            <a:pPr marL="0" indent="0">
              <a:buNone/>
            </a:pPr>
            <a:r>
              <a:rPr lang="en-US" sz="1250" b="1" dirty="0">
                <a:solidFill>
                  <a:srgbClr val="E3A008"/>
                </a:solidFill>
                <a:latin typeface="Calibri" pitchFamily="34" charset="0"/>
                <a:ea typeface="Calibri" pitchFamily="34" charset="-122"/>
                <a:cs typeface="Calibri" pitchFamily="34" charset="-120"/>
              </a:rPr>
              <a:t>Sample — AppCompatCacheParser</a:t>
            </a:r>
            <a:endParaRPr lang="en-US" sz="1250" dirty="0"/>
          </a:p>
        </p:txBody>
      </p:sp>
      <p:sp>
        <p:nvSpPr>
          <p:cNvPr id="21" name="Text 19"/>
          <p:cNvSpPr txBox="1"/>
          <p:nvPr/>
        </p:nvSpPr>
        <p:spPr>
          <a:xfrm>
            <a:off x="7498080" y="263347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Pos.  </a:t>
            </a:r>
            <a:r>
              <a:rPr lang="en-US" sz="1100" dirty="0">
                <a:solidFill>
                  <a:srgbClr val="FFFFFF"/>
                </a:solidFill>
                <a:latin typeface="Courier New" pitchFamily="34" charset="0"/>
                <a:ea typeface="Courier New" pitchFamily="34" charset="-122"/>
                <a:cs typeface="Courier New" pitchFamily="34" charset="-120"/>
              </a:rPr>
              <a:t>7  (of 512)</a:t>
            </a:r>
            <a:endParaRPr lang="en-US" sz="1100" dirty="0"/>
          </a:p>
        </p:txBody>
      </p:sp>
      <p:sp>
        <p:nvSpPr>
          <p:cNvPr id="22" name="Text 20"/>
          <p:cNvSpPr txBox="1"/>
          <p:nvPr/>
        </p:nvSpPr>
        <p:spPr>
          <a:xfrm>
            <a:off x="7498080" y="299923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Path  </a:t>
            </a:r>
            <a:r>
              <a:rPr lang="en-US" sz="1100" dirty="0">
                <a:solidFill>
                  <a:srgbClr val="FFFFFF"/>
                </a:solidFill>
                <a:latin typeface="Courier New" pitchFamily="34" charset="0"/>
                <a:ea typeface="Courier New" pitchFamily="34" charset="-122"/>
                <a:cs typeface="Courier New" pitchFamily="34" charset="-120"/>
              </a:rPr>
              <a:t>C:\Users\jdoe\Downloads\</a:t>
            </a:r>
            <a:endParaRPr lang="en-US" sz="1100" dirty="0"/>
          </a:p>
        </p:txBody>
      </p:sp>
      <p:sp>
        <p:nvSpPr>
          <p:cNvPr id="23" name="Text 21"/>
          <p:cNvSpPr txBox="1"/>
          <p:nvPr/>
        </p:nvSpPr>
        <p:spPr>
          <a:xfrm>
            <a:off x="7498080" y="336499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netscan.exe</a:t>
            </a:r>
            <a:endParaRPr lang="en-US" sz="1100" dirty="0"/>
          </a:p>
        </p:txBody>
      </p:sp>
      <p:sp>
        <p:nvSpPr>
          <p:cNvPr id="24" name="Text 22"/>
          <p:cNvSpPr txBox="1"/>
          <p:nvPr/>
        </p:nvSpPr>
        <p:spPr>
          <a:xfrm>
            <a:off x="7498080" y="373075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Mod.  </a:t>
            </a:r>
            <a:r>
              <a:rPr lang="en-US" sz="1100" b="1" dirty="0">
                <a:solidFill>
                  <a:srgbClr val="E3A008"/>
                </a:solidFill>
                <a:latin typeface="Courier New" pitchFamily="34" charset="0"/>
                <a:ea typeface="Courier New" pitchFamily="34" charset="-122"/>
                <a:cs typeface="Courier New" pitchFamily="34" charset="-120"/>
              </a:rPr>
              <a:t>2026-03-12 15:58:44</a:t>
            </a:r>
            <a:endParaRPr lang="en-US" sz="1100" dirty="0"/>
          </a:p>
        </p:txBody>
      </p:sp>
      <p:sp>
        <p:nvSpPr>
          <p:cNvPr id="25" name="Text 23"/>
          <p:cNvSpPr txBox="1"/>
          <p:nvPr/>
        </p:nvSpPr>
        <p:spPr>
          <a:xfrm>
            <a:off x="7498080" y="4096512"/>
            <a:ext cx="3840480" cy="347472"/>
          </a:xfrm>
          <a:prstGeom prst="rect">
            <a:avLst/>
          </a:prstGeom>
          <a:noFill/>
          <a:ln/>
        </p:spPr>
        <p:txBody>
          <a:bodyPr wrap="square" lIns="0" tIns="0" rIns="0" bIns="0" rtlCol="0" anchor="ctr"/>
          <a:lstStyle/>
          <a:p>
            <a:pPr marL="0" indent="0">
              <a:buNone/>
            </a:pPr>
            <a:r>
              <a:rPr lang="en-US" sz="1100" dirty="0">
                <a:solidFill>
                  <a:srgbClr val="AEB8D0"/>
                </a:solidFill>
                <a:latin typeface="Courier New" pitchFamily="34" charset="0"/>
                <a:ea typeface="Courier New" pitchFamily="34" charset="-122"/>
                <a:cs typeface="Courier New" pitchFamily="34" charset="-120"/>
              </a:rPr>
              <a:t>Exec  </a:t>
            </a:r>
            <a:r>
              <a:rPr lang="en-US" sz="1100" dirty="0">
                <a:solidFill>
                  <a:srgbClr val="FFFFFF"/>
                </a:solidFill>
                <a:latin typeface="Courier New" pitchFamily="34" charset="0"/>
                <a:ea typeface="Courier New" pitchFamily="34" charset="-122"/>
                <a:cs typeface="Courier New" pitchFamily="34" charset="-120"/>
              </a:rPr>
              <a:t>n/a  (Windows 10)</a:t>
            </a:r>
            <a:endParaRPr lang="en-US" sz="1100" dirty="0"/>
          </a:p>
        </p:txBody>
      </p:sp>
      <p:sp>
        <p:nvSpPr>
          <p:cNvPr id="26" name="Text 24"/>
          <p:cNvSpPr txBox="1"/>
          <p:nvPr/>
        </p:nvSpPr>
        <p:spPr>
          <a:xfrm>
            <a:off x="7498080" y="4526280"/>
            <a:ext cx="3840480" cy="566928"/>
          </a:xfrm>
          <a:prstGeom prst="rect">
            <a:avLst/>
          </a:prstGeom>
          <a:noFill/>
          <a:ln/>
        </p:spPr>
        <p:txBody>
          <a:bodyPr wrap="square" lIns="0" tIns="0" rIns="0" bIns="0" rtlCol="0" anchor="ctr"/>
          <a:lstStyle/>
          <a:p>
            <a:pPr marL="0" indent="0">
              <a:buNone/>
            </a:pPr>
            <a:r>
              <a:rPr lang="en-US" sz="1150" i="1" dirty="0">
                <a:solidFill>
                  <a:srgbClr val="AEB8D0"/>
                </a:solidFill>
                <a:latin typeface="Calibri" pitchFamily="34" charset="0"/>
                <a:ea typeface="Calibri" pitchFamily="34" charset="-122"/>
                <a:cs typeface="Calibri" pitchFamily="34" charset="-120"/>
              </a:rPr>
              <a:t>Position 7 = seen fairly recently, relative to other entries.</a:t>
            </a:r>
            <a:endParaRPr lang="en-US" sz="1150" dirty="0"/>
          </a:p>
        </p:txBody>
      </p:sp>
      <p:sp>
        <p:nvSpPr>
          <p:cNvPr id="27" name="Shape 25"/>
          <p:cNvSpPr/>
          <p:nvPr/>
        </p:nvSpPr>
        <p:spPr>
          <a:xfrm>
            <a:off x="548640" y="5852160"/>
            <a:ext cx="11064240" cy="457200"/>
          </a:xfrm>
          <a:prstGeom prst="roundRect">
            <a:avLst>
              <a:gd name="adj" fmla="val 16000"/>
            </a:avLst>
          </a:prstGeom>
          <a:solidFill>
            <a:srgbClr val="FFFFFF"/>
          </a:solidFill>
          <a:ln w="12700">
            <a:solidFill>
              <a:srgbClr val="DCE1EC"/>
            </a:solidFill>
            <a:prstDash val="solid"/>
          </a:ln>
        </p:spPr>
      </p:sp>
      <p:sp>
        <p:nvSpPr>
          <p:cNvPr id="28" name="Text 26"/>
          <p:cNvSpPr txBox="1"/>
          <p:nvPr/>
        </p:nvSpPr>
        <p:spPr>
          <a:xfrm>
            <a:off x="713232" y="5852160"/>
            <a:ext cx="10789920" cy="457200"/>
          </a:xfrm>
          <a:prstGeom prst="rect">
            <a:avLst/>
          </a:prstGeom>
          <a:noFill/>
          <a:ln/>
        </p:spPr>
        <p:txBody>
          <a:bodyPr wrap="square" lIns="0" tIns="0" rIns="0" bIns="0" rtlCol="0" anchor="ctr"/>
          <a:lstStyle/>
          <a:p>
            <a:pPr marL="0" indent="0">
              <a:buNone/>
            </a:pPr>
            <a:r>
              <a:rPr lang="en-US" sz="1100" b="1" dirty="0">
                <a:solidFill>
                  <a:srgbClr val="2E4374"/>
                </a:solidFill>
                <a:latin typeface="Calibri" pitchFamily="34" charset="0"/>
                <a:ea typeface="Calibri" pitchFamily="34" charset="-122"/>
                <a:cs typeface="Calibri" pitchFamily="34" charset="-120"/>
              </a:rPr>
              <a:t>Location  </a:t>
            </a:r>
            <a:r>
              <a:rPr lang="en-US" sz="1100" dirty="0">
                <a:solidFill>
                  <a:srgbClr val="1A2232"/>
                </a:solidFill>
                <a:latin typeface="Courier New" pitchFamily="34" charset="0"/>
                <a:ea typeface="Courier New" pitchFamily="34" charset="-122"/>
                <a:cs typeface="Courier New" pitchFamily="34" charset="-120"/>
              </a:rPr>
              <a:t>SYSTEM hive \ ControlSet001\Control\Session Manager\AppCompatCache</a:t>
            </a:r>
            <a:endParaRPr lang="en-US" sz="1100" dirty="0"/>
          </a:p>
        </p:txBody>
      </p:sp>
      <p:sp>
        <p:nvSpPr>
          <p:cNvPr id="29" name="Text 27"/>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0" name="Text 28"/>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2  ·  Vishal Chudasama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ARTIFACT 3 · SHIMCACHE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Three traps that catch investigators</a:t>
            </a:r>
            <a:endParaRPr lang="en-US" sz="3000" dirty="0"/>
          </a:p>
        </p:txBody>
      </p:sp>
      <p:sp>
        <p:nvSpPr>
          <p:cNvPr id="6" name="Shape 4"/>
          <p:cNvSpPr/>
          <p:nvPr/>
        </p:nvSpPr>
        <p:spPr>
          <a:xfrm>
            <a:off x="548640" y="1691640"/>
            <a:ext cx="3520440" cy="3429000"/>
          </a:xfrm>
          <a:prstGeom prst="roundRect">
            <a:avLst>
              <a:gd name="adj" fmla="val 2133"/>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7" name="Shape 5"/>
          <p:cNvSpPr/>
          <p:nvPr/>
        </p:nvSpPr>
        <p:spPr>
          <a:xfrm>
            <a:off x="822960" y="1920240"/>
            <a:ext cx="640080" cy="640080"/>
          </a:xfrm>
          <a:prstGeom prst="ellipse">
            <a:avLst/>
          </a:prstGeom>
          <a:solidFill>
            <a:srgbClr val="B23B3B"/>
          </a:solidFill>
          <a:ln/>
        </p:spPr>
      </p:sp>
      <p:sp>
        <p:nvSpPr>
          <p:cNvPr id="8" name="Text 6"/>
          <p:cNvSpPr txBox="1"/>
          <p:nvPr/>
        </p:nvSpPr>
        <p:spPr>
          <a:xfrm>
            <a:off x="82296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7"/>
          <p:cNvSpPr txBox="1"/>
          <p:nvPr/>
        </p:nvSpPr>
        <p:spPr>
          <a:xfrm>
            <a:off x="822960" y="2697480"/>
            <a:ext cx="3017520" cy="731520"/>
          </a:xfrm>
          <a:prstGeom prst="rect">
            <a:avLst/>
          </a:prstGeom>
          <a:noFill/>
          <a:ln/>
        </p:spPr>
        <p:txBody>
          <a:bodyPr wrap="square" lIns="0" tIns="0" rIns="0" bIns="0" rtlCol="0" anchor="t"/>
          <a:lstStyle/>
          <a:p>
            <a:pPr marL="0" indent="0">
              <a:buNone/>
            </a:pPr>
            <a:r>
              <a:rPr lang="en-US" sz="1700" b="1" dirty="0">
                <a:solidFill>
                  <a:srgbClr val="1A2232"/>
                </a:solidFill>
                <a:latin typeface="Calibri" pitchFamily="34" charset="0"/>
                <a:ea typeface="Calibri" pitchFamily="34" charset="-122"/>
                <a:cs typeface="Calibri" pitchFamily="34" charset="-120"/>
              </a:rPr>
              <a:t>The time is not the run time</a:t>
            </a:r>
            <a:endParaRPr lang="en-US" sz="1700" dirty="0"/>
          </a:p>
        </p:txBody>
      </p:sp>
      <p:sp>
        <p:nvSpPr>
          <p:cNvPr id="10" name="Text 8"/>
          <p:cNvSpPr txBox="1"/>
          <p:nvPr/>
        </p:nvSpPr>
        <p:spPr>
          <a:xfrm>
            <a:off x="822960" y="3429000"/>
            <a:ext cx="3017520" cy="1600200"/>
          </a:xfrm>
          <a:prstGeom prst="rect">
            <a:avLst/>
          </a:prstGeom>
          <a:noFill/>
          <a:ln/>
        </p:spPr>
        <p:txBody>
          <a:bodyPr wrap="square" lIns="0" tIns="0" rIns="0" bIns="0" rtlCol="0" anchor="t"/>
          <a:lstStyle/>
          <a:p>
            <a:pPr marL="0" indent="0">
              <a:lnSpc>
                <a:spcPct val="105000"/>
              </a:lnSpc>
              <a:buNone/>
            </a:pPr>
            <a:r>
              <a:rPr lang="en-US" sz="1400" dirty="0">
                <a:solidFill>
                  <a:srgbClr val="5C6880"/>
                </a:solidFill>
                <a:latin typeface="Calibri" pitchFamily="34" charset="0"/>
                <a:ea typeface="Calibri" pitchFamily="34" charset="-122"/>
                <a:cs typeface="Calibri" pitchFamily="34" charset="-120"/>
              </a:rPr>
              <a:t>The timestamp is the file's last-modified time from the file system. It tells you when the file was written or changed — not when it was executed.</a:t>
            </a:r>
            <a:endParaRPr lang="en-US" sz="1400" dirty="0"/>
          </a:p>
        </p:txBody>
      </p:sp>
      <p:sp>
        <p:nvSpPr>
          <p:cNvPr id="11" name="Shape 9"/>
          <p:cNvSpPr/>
          <p:nvPr/>
        </p:nvSpPr>
        <p:spPr>
          <a:xfrm>
            <a:off x="4270248" y="1691640"/>
            <a:ext cx="3520440" cy="3429000"/>
          </a:xfrm>
          <a:prstGeom prst="roundRect">
            <a:avLst>
              <a:gd name="adj" fmla="val 2133"/>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2" name="Shape 10"/>
          <p:cNvSpPr/>
          <p:nvPr/>
        </p:nvSpPr>
        <p:spPr>
          <a:xfrm>
            <a:off x="4544568" y="1920240"/>
            <a:ext cx="640080" cy="640080"/>
          </a:xfrm>
          <a:prstGeom prst="ellipse">
            <a:avLst/>
          </a:prstGeom>
          <a:solidFill>
            <a:srgbClr val="B23B3B"/>
          </a:solidFill>
          <a:ln/>
        </p:spPr>
      </p:sp>
      <p:sp>
        <p:nvSpPr>
          <p:cNvPr id="13" name="Text 11"/>
          <p:cNvSpPr txBox="1"/>
          <p:nvPr/>
        </p:nvSpPr>
        <p:spPr>
          <a:xfrm>
            <a:off x="4544568"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4" name="Text 12"/>
          <p:cNvSpPr txBox="1"/>
          <p:nvPr/>
        </p:nvSpPr>
        <p:spPr>
          <a:xfrm>
            <a:off x="4544568" y="2697480"/>
            <a:ext cx="3017520" cy="731520"/>
          </a:xfrm>
          <a:prstGeom prst="rect">
            <a:avLst/>
          </a:prstGeom>
          <a:noFill/>
          <a:ln/>
        </p:spPr>
        <p:txBody>
          <a:bodyPr wrap="square" lIns="0" tIns="0" rIns="0" bIns="0" rtlCol="0" anchor="t"/>
          <a:lstStyle/>
          <a:p>
            <a:pPr marL="0" indent="0">
              <a:buNone/>
            </a:pPr>
            <a:r>
              <a:rPr lang="en-US" sz="1700" b="1" dirty="0">
                <a:solidFill>
                  <a:srgbClr val="1A2232"/>
                </a:solidFill>
                <a:latin typeface="Calibri" pitchFamily="34" charset="0"/>
                <a:ea typeface="Calibri" pitchFamily="34" charset="-122"/>
                <a:cs typeface="Calibri" pitchFamily="34" charset="-120"/>
              </a:rPr>
              <a:t>No execution flag on Windows 10/11</a:t>
            </a:r>
            <a:endParaRPr lang="en-US" sz="1700" dirty="0"/>
          </a:p>
        </p:txBody>
      </p:sp>
      <p:sp>
        <p:nvSpPr>
          <p:cNvPr id="15" name="Text 13"/>
          <p:cNvSpPr txBox="1"/>
          <p:nvPr/>
        </p:nvSpPr>
        <p:spPr>
          <a:xfrm>
            <a:off x="4544568" y="3429000"/>
            <a:ext cx="3017520" cy="1600200"/>
          </a:xfrm>
          <a:prstGeom prst="rect">
            <a:avLst/>
          </a:prstGeom>
          <a:noFill/>
          <a:ln/>
        </p:spPr>
        <p:txBody>
          <a:bodyPr wrap="square" lIns="0" tIns="0" rIns="0" bIns="0" rtlCol="0" anchor="t"/>
          <a:lstStyle/>
          <a:p>
            <a:pPr marL="0" indent="0">
              <a:lnSpc>
                <a:spcPct val="105000"/>
              </a:lnSpc>
              <a:buNone/>
            </a:pPr>
            <a:r>
              <a:rPr lang="en-US" sz="1400" dirty="0">
                <a:solidFill>
                  <a:srgbClr val="5C6880"/>
                </a:solidFill>
                <a:latin typeface="Calibri" pitchFamily="34" charset="0"/>
                <a:ea typeface="Calibri" pitchFamily="34" charset="-122"/>
                <a:cs typeface="Calibri" pitchFamily="34" charset="-120"/>
              </a:rPr>
              <a:t>Older Windows had a flag hinting at execution. Modern versions don't — an entry can appear just because Explorer listed the folder.</a:t>
            </a:r>
            <a:endParaRPr lang="en-US" sz="1400" dirty="0"/>
          </a:p>
        </p:txBody>
      </p:sp>
      <p:sp>
        <p:nvSpPr>
          <p:cNvPr id="16" name="Shape 14"/>
          <p:cNvSpPr/>
          <p:nvPr/>
        </p:nvSpPr>
        <p:spPr>
          <a:xfrm>
            <a:off x="7991856" y="1691640"/>
            <a:ext cx="3520440" cy="3429000"/>
          </a:xfrm>
          <a:prstGeom prst="roundRect">
            <a:avLst>
              <a:gd name="adj" fmla="val 2133"/>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7" name="Shape 15"/>
          <p:cNvSpPr/>
          <p:nvPr/>
        </p:nvSpPr>
        <p:spPr>
          <a:xfrm>
            <a:off x="8266176" y="1920240"/>
            <a:ext cx="640080" cy="640080"/>
          </a:xfrm>
          <a:prstGeom prst="ellipse">
            <a:avLst/>
          </a:prstGeom>
          <a:solidFill>
            <a:srgbClr val="B23B3B"/>
          </a:solidFill>
          <a:ln/>
        </p:spPr>
      </p:sp>
      <p:sp>
        <p:nvSpPr>
          <p:cNvPr id="18" name="Text 16"/>
          <p:cNvSpPr txBox="1"/>
          <p:nvPr/>
        </p:nvSpPr>
        <p:spPr>
          <a:xfrm>
            <a:off x="8266176"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9" name="Text 17"/>
          <p:cNvSpPr txBox="1"/>
          <p:nvPr/>
        </p:nvSpPr>
        <p:spPr>
          <a:xfrm>
            <a:off x="8266176" y="2697480"/>
            <a:ext cx="3017520" cy="731520"/>
          </a:xfrm>
          <a:prstGeom prst="rect">
            <a:avLst/>
          </a:prstGeom>
          <a:noFill/>
          <a:ln/>
        </p:spPr>
        <p:txBody>
          <a:bodyPr wrap="square" lIns="0" tIns="0" rIns="0" bIns="0" rtlCol="0" anchor="t"/>
          <a:lstStyle/>
          <a:p>
            <a:pPr marL="0" indent="0">
              <a:buNone/>
            </a:pPr>
            <a:r>
              <a:rPr lang="en-US" sz="1700" b="1" dirty="0">
                <a:solidFill>
                  <a:srgbClr val="1A2232"/>
                </a:solidFill>
                <a:latin typeface="Calibri" pitchFamily="34" charset="0"/>
                <a:ea typeface="Calibri" pitchFamily="34" charset="-122"/>
                <a:cs typeface="Calibri" pitchFamily="34" charset="-120"/>
              </a:rPr>
              <a:t>Saved only at shutdown</a:t>
            </a:r>
            <a:endParaRPr lang="en-US" sz="1700" dirty="0"/>
          </a:p>
        </p:txBody>
      </p:sp>
      <p:sp>
        <p:nvSpPr>
          <p:cNvPr id="20" name="Text 18"/>
          <p:cNvSpPr txBox="1"/>
          <p:nvPr/>
        </p:nvSpPr>
        <p:spPr>
          <a:xfrm>
            <a:off x="8266176" y="3429000"/>
            <a:ext cx="3017520" cy="1600200"/>
          </a:xfrm>
          <a:prstGeom prst="rect">
            <a:avLst/>
          </a:prstGeom>
          <a:noFill/>
          <a:ln/>
        </p:spPr>
        <p:txBody>
          <a:bodyPr wrap="square" lIns="0" tIns="0" rIns="0" bIns="0" rtlCol="0" anchor="t"/>
          <a:lstStyle/>
          <a:p>
            <a:pPr marL="0" indent="0">
              <a:lnSpc>
                <a:spcPct val="105000"/>
              </a:lnSpc>
              <a:buNone/>
            </a:pPr>
            <a:r>
              <a:rPr lang="en-US" sz="1400" dirty="0">
                <a:solidFill>
                  <a:srgbClr val="5C6880"/>
                </a:solidFill>
                <a:latin typeface="Calibri" pitchFamily="34" charset="0"/>
                <a:ea typeface="Calibri" pitchFamily="34" charset="-122"/>
                <a:cs typeface="Calibri" pitchFamily="34" charset="-120"/>
              </a:rPr>
              <a:t>New entries live in memory and are written to the registry at shutdown or reboot. A live machine's registry may be missing the newest entries.</a:t>
            </a:r>
            <a:endParaRPr lang="en-US" sz="1400" dirty="0"/>
          </a:p>
        </p:txBody>
      </p:sp>
      <p:sp>
        <p:nvSpPr>
          <p:cNvPr id="21" name="Shape 19"/>
          <p:cNvSpPr/>
          <p:nvPr/>
        </p:nvSpPr>
        <p:spPr>
          <a:xfrm>
            <a:off x="548640" y="5349240"/>
            <a:ext cx="11064240" cy="685800"/>
          </a:xfrm>
          <a:prstGeom prst="roundRect">
            <a:avLst>
              <a:gd name="adj" fmla="val 10667"/>
            </a:avLst>
          </a:prstGeom>
          <a:solidFill>
            <a:srgbClr val="FFF7E0"/>
          </a:solidFill>
          <a:ln w="15875">
            <a:solidFill>
              <a:srgbClr val="E3A008"/>
            </a:solidFill>
            <a:prstDash val="solid"/>
          </a:ln>
        </p:spPr>
      </p:sp>
      <p:sp>
        <p:nvSpPr>
          <p:cNvPr id="22" name="Text 20"/>
          <p:cNvSpPr txBox="1"/>
          <p:nvPr/>
        </p:nvSpPr>
        <p:spPr>
          <a:xfrm>
            <a:off x="777240" y="5349240"/>
            <a:ext cx="10698480" cy="685800"/>
          </a:xfrm>
          <a:prstGeom prst="rect">
            <a:avLst/>
          </a:prstGeom>
          <a:noFill/>
          <a:ln/>
        </p:spPr>
        <p:txBody>
          <a:bodyPr wrap="square" lIns="0" tIns="0" rIns="0" bIns="0" rtlCol="0" anchor="ctr"/>
          <a:lstStyle/>
          <a:p>
            <a:pPr marL="0" indent="0">
              <a:buNone/>
            </a:pPr>
            <a:r>
              <a:rPr lang="en-US" sz="1450" b="1" dirty="0">
                <a:solidFill>
                  <a:srgbClr val="1A2232"/>
                </a:solidFill>
                <a:latin typeface="Calibri" pitchFamily="34" charset="0"/>
                <a:ea typeface="Calibri" pitchFamily="34" charset="-122"/>
                <a:cs typeface="Calibri" pitchFamily="34" charset="-120"/>
              </a:rPr>
              <a:t>Bottom line:  </a:t>
            </a:r>
            <a:r>
              <a:rPr lang="en-US" sz="1450" dirty="0">
                <a:solidFill>
                  <a:srgbClr val="1A2232"/>
                </a:solidFill>
                <a:latin typeface="Calibri" pitchFamily="34" charset="0"/>
                <a:ea typeface="Calibri" pitchFamily="34" charset="-122"/>
                <a:cs typeface="Calibri" pitchFamily="34" charset="-120"/>
              </a:rPr>
              <a:t>Shimcache proves the file existed at that path, and helps with ordering. It does not prove execution.</a:t>
            </a:r>
            <a:endParaRPr lang="en-US" sz="1450" dirty="0"/>
          </a:p>
        </p:txBody>
      </p:sp>
      <p:sp>
        <p:nvSpPr>
          <p:cNvPr id="23" name="Text 2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24" name="Text 22"/>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2  ·  Vishal Chudasama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SIDE BY SIDE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The three artifacts compared</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1828800"/>
        </p:xfrm>
        <a:graphic>
          <a:graphicData uri="http://schemas.openxmlformats.org/drawingml/2006/table">
            <a:tbl>
              <a:tblPr/>
              <a:tblGrid>
                <a:gridCol w="16002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lives</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Highest step</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Its timestamp means</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Watch out for</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1A2232"/>
                          </a:solidFill>
                          <a:latin typeface="Calibri" pitchFamily="34" charset="0"/>
                          <a:ea typeface="Calibri" pitchFamily="34" charset="-122"/>
                          <a:cs typeface="Calibri" pitchFamily="34" charset="-120"/>
                        </a:rPr>
                        <a:t>Prefetch</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C:\Windows\Prefetch\*.pf</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b="1" dirty="0">
                          <a:solidFill>
                            <a:srgbClr val="2E7D53"/>
                          </a:solidFill>
                          <a:latin typeface="Calibri" pitchFamily="34" charset="0"/>
                          <a:ea typeface="Calibri" pitchFamily="34" charset="-122"/>
                          <a:cs typeface="Calibri" pitchFamily="34" charset="-120"/>
                        </a:rPr>
                        <a:t>EXECUTED</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Real run times (up to 8)</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Disabled, deleted, rolled off; no user name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1A2232"/>
                          </a:solidFill>
                          <a:latin typeface="Calibri" pitchFamily="34" charset="0"/>
                          <a:ea typeface="Calibri" pitchFamily="34" charset="-122"/>
                          <a:cs typeface="Calibri" pitchFamily="34" charset="-120"/>
                        </a:rPr>
                        <a:t>Amcache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Amcache.hve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00" b="1" dirty="0">
                          <a:solidFill>
                            <a:srgbClr val="2E4374"/>
                          </a:solidFill>
                          <a:latin typeface="Calibri" pitchFamily="34" charset="0"/>
                          <a:ea typeface="Calibri" pitchFamily="34" charset="-122"/>
                          <a:cs typeface="Calibri" pitchFamily="34" charset="-120"/>
                        </a:rPr>
                        <a:t>IDENTIFIED</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When Windows inventoried the file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Lists files that never ran</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1A2232"/>
                          </a:solidFill>
                          <a:latin typeface="Calibri" pitchFamily="34" charset="0"/>
                          <a:ea typeface="Calibri" pitchFamily="34" charset="-122"/>
                          <a:cs typeface="Calibri" pitchFamily="34" charset="-120"/>
                        </a:rPr>
                        <a:t>Shimcache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SYSTEM hive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b="1" dirty="0">
                          <a:solidFill>
                            <a:srgbClr val="C77D1A"/>
                          </a:solidFill>
                          <a:latin typeface="Calibri" pitchFamily="34" charset="0"/>
                          <a:ea typeface="Calibri" pitchFamily="34" charset="-122"/>
                          <a:cs typeface="Calibri" pitchFamily="34" charset="-120"/>
                        </a:rPr>
                        <a:t>EXISTED</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File's last-modified time</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00" dirty="0">
                          <a:solidFill>
                            <a:srgbClr val="5C6880"/>
                          </a:solidFill>
                          <a:latin typeface="Calibri" pitchFamily="34" charset="0"/>
                          <a:ea typeface="Calibri" pitchFamily="34" charset="-122"/>
                          <a:cs typeface="Calibri" pitchFamily="34" charset="-120"/>
                        </a:rPr>
                        <a:t>Not run time; no exec flag; written at shutdown</a:t>
                      </a:r>
                      <a:endParaRPr lang="en-US" sz="14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548640" y="4206240"/>
            <a:ext cx="10972800" cy="365760"/>
          </a:xfrm>
          <a:prstGeom prst="rect">
            <a:avLst/>
          </a:prstGeom>
          <a:noFill/>
          <a:ln/>
        </p:spPr>
        <p:txBody>
          <a:bodyPr wrap="square" lIns="0" tIns="0" rIns="0" bIns="0" rtlCol="0" anchor="ctr"/>
          <a:lstStyle/>
          <a:p>
            <a:pPr marL="0" indent="0">
              <a:buNone/>
            </a:pPr>
            <a:r>
              <a:rPr lang="en-US" sz="1400" b="1" dirty="0">
                <a:solidFill>
                  <a:srgbClr val="1A2232"/>
                </a:solidFill>
                <a:latin typeface="Calibri" pitchFamily="34" charset="0"/>
                <a:ea typeface="Calibri" pitchFamily="34" charset="-122"/>
                <a:cs typeface="Calibri" pitchFamily="34" charset="-120"/>
              </a:rPr>
              <a:t>Their strengths fit together</a:t>
            </a:r>
            <a:endParaRPr lang="en-US" sz="1400" dirty="0"/>
          </a:p>
        </p:txBody>
      </p:sp>
      <p:sp>
        <p:nvSpPr>
          <p:cNvPr id="8" name="Shape 5"/>
          <p:cNvSpPr/>
          <p:nvPr/>
        </p:nvSpPr>
        <p:spPr>
          <a:xfrm>
            <a:off x="548640" y="4663440"/>
            <a:ext cx="3520440" cy="1188720"/>
          </a:xfrm>
          <a:prstGeom prst="roundRect">
            <a:avLst>
              <a:gd name="adj" fmla="val 6154"/>
            </a:avLst>
          </a:prstGeom>
          <a:solidFill>
            <a:srgbClr val="141B2E"/>
          </a:solidFill>
          <a:ln/>
        </p:spPr>
      </p:sp>
      <p:sp>
        <p:nvSpPr>
          <p:cNvPr id="9" name="Text 6"/>
          <p:cNvSpPr txBox="1"/>
          <p:nvPr/>
        </p:nvSpPr>
        <p:spPr>
          <a:xfrm>
            <a:off x="822960" y="4663440"/>
            <a:ext cx="3063240" cy="1188720"/>
          </a:xfrm>
          <a:prstGeom prst="rect">
            <a:avLst/>
          </a:prstGeom>
          <a:noFill/>
          <a:ln/>
        </p:spPr>
        <p:txBody>
          <a:bodyPr wrap="square" lIns="0" tIns="0" rIns="0" bIns="0" rtlCol="0" anchor="ctr"/>
          <a:lstStyle/>
          <a:p>
            <a:pPr marL="0" indent="0">
              <a:buNone/>
            </a:pPr>
            <a:r>
              <a:rPr lang="en-US" sz="1600" b="1" dirty="0">
                <a:solidFill>
                  <a:srgbClr val="E3A008"/>
                </a:solidFill>
                <a:latin typeface="Calibri" pitchFamily="34" charset="0"/>
                <a:ea typeface="Calibri" pitchFamily="34" charset="-122"/>
                <a:cs typeface="Calibri" pitchFamily="34" charset="-120"/>
              </a:rPr>
              <a:t>Prefetch</a:t>
            </a:r>
            <a:endParaRPr lang="en-US" sz="1600" dirty="0"/>
          </a:p>
          <a:p>
            <a:pPr marL="0" indent="0">
              <a:buNone/>
            </a:pPr>
            <a:r>
              <a:rPr lang="en-US" sz="1350" dirty="0">
                <a:solidFill>
                  <a:srgbClr val="FFFFFF"/>
                </a:solidFill>
                <a:latin typeface="Calibri" pitchFamily="34" charset="0"/>
                <a:ea typeface="Calibri" pitchFamily="34" charset="-122"/>
                <a:cs typeface="Calibri" pitchFamily="34" charset="-120"/>
              </a:rPr>
              <a:t>says it RAN, and when</a:t>
            </a:r>
            <a:endParaRPr lang="en-US" sz="1600" dirty="0"/>
          </a:p>
        </p:txBody>
      </p:sp>
      <p:sp>
        <p:nvSpPr>
          <p:cNvPr id="10" name="Shape 7"/>
          <p:cNvSpPr/>
          <p:nvPr/>
        </p:nvSpPr>
        <p:spPr>
          <a:xfrm>
            <a:off x="4270248" y="4663440"/>
            <a:ext cx="3520440" cy="1188720"/>
          </a:xfrm>
          <a:prstGeom prst="roundRect">
            <a:avLst>
              <a:gd name="adj" fmla="val 6154"/>
            </a:avLst>
          </a:prstGeom>
          <a:solidFill>
            <a:srgbClr val="141B2E"/>
          </a:solidFill>
          <a:ln/>
        </p:spPr>
      </p:sp>
      <p:sp>
        <p:nvSpPr>
          <p:cNvPr id="11" name="Text 8"/>
          <p:cNvSpPr txBox="1"/>
          <p:nvPr/>
        </p:nvSpPr>
        <p:spPr>
          <a:xfrm>
            <a:off x="4544568" y="4663440"/>
            <a:ext cx="3063240" cy="1188720"/>
          </a:xfrm>
          <a:prstGeom prst="rect">
            <a:avLst/>
          </a:prstGeom>
          <a:noFill/>
          <a:ln/>
        </p:spPr>
        <p:txBody>
          <a:bodyPr wrap="square" lIns="0" tIns="0" rIns="0" bIns="0" rtlCol="0" anchor="ctr"/>
          <a:lstStyle/>
          <a:p>
            <a:pPr marL="0" indent="0">
              <a:buNone/>
            </a:pPr>
            <a:r>
              <a:rPr lang="en-US" sz="1600" b="1" dirty="0">
                <a:solidFill>
                  <a:srgbClr val="E3A008"/>
                </a:solidFill>
                <a:latin typeface="Calibri" pitchFamily="34" charset="0"/>
                <a:ea typeface="Calibri" pitchFamily="34" charset="-122"/>
                <a:cs typeface="Calibri" pitchFamily="34" charset="-120"/>
              </a:rPr>
              <a:t>Amcache</a:t>
            </a:r>
            <a:endParaRPr lang="en-US" sz="1600" dirty="0"/>
          </a:p>
          <a:p>
            <a:pPr marL="0" indent="0">
              <a:buNone/>
            </a:pPr>
            <a:r>
              <a:rPr lang="en-US" sz="1350" dirty="0">
                <a:solidFill>
                  <a:srgbClr val="FFFFFF"/>
                </a:solidFill>
                <a:latin typeface="Calibri" pitchFamily="34" charset="0"/>
                <a:ea typeface="Calibri" pitchFamily="34" charset="-122"/>
                <a:cs typeface="Calibri" pitchFamily="34" charset="-120"/>
              </a:rPr>
              <a:t>says WHAT it is (SHA-1)</a:t>
            </a:r>
            <a:endParaRPr lang="en-US" sz="1600" dirty="0"/>
          </a:p>
        </p:txBody>
      </p:sp>
      <p:sp>
        <p:nvSpPr>
          <p:cNvPr id="12" name="Shape 9"/>
          <p:cNvSpPr/>
          <p:nvPr/>
        </p:nvSpPr>
        <p:spPr>
          <a:xfrm>
            <a:off x="7991856" y="4663440"/>
            <a:ext cx="3520440" cy="1188720"/>
          </a:xfrm>
          <a:prstGeom prst="roundRect">
            <a:avLst>
              <a:gd name="adj" fmla="val 6154"/>
            </a:avLst>
          </a:prstGeom>
          <a:solidFill>
            <a:srgbClr val="141B2E"/>
          </a:solidFill>
          <a:ln/>
        </p:spPr>
      </p:sp>
      <p:sp>
        <p:nvSpPr>
          <p:cNvPr id="13" name="Text 10"/>
          <p:cNvSpPr txBox="1"/>
          <p:nvPr/>
        </p:nvSpPr>
        <p:spPr>
          <a:xfrm>
            <a:off x="8266176" y="4663440"/>
            <a:ext cx="3063240" cy="1188720"/>
          </a:xfrm>
          <a:prstGeom prst="rect">
            <a:avLst/>
          </a:prstGeom>
          <a:noFill/>
          <a:ln/>
        </p:spPr>
        <p:txBody>
          <a:bodyPr wrap="square" lIns="0" tIns="0" rIns="0" bIns="0" rtlCol="0" anchor="ctr"/>
          <a:lstStyle/>
          <a:p>
            <a:pPr marL="0" indent="0">
              <a:buNone/>
            </a:pPr>
            <a:r>
              <a:rPr lang="en-US" sz="1600" b="1" dirty="0">
                <a:solidFill>
                  <a:srgbClr val="E3A008"/>
                </a:solidFill>
                <a:latin typeface="Calibri" pitchFamily="34" charset="0"/>
                <a:ea typeface="Calibri" pitchFamily="34" charset="-122"/>
                <a:cs typeface="Calibri" pitchFamily="34" charset="-120"/>
              </a:rPr>
              <a:t>Shimcache</a:t>
            </a:r>
            <a:endParaRPr lang="en-US" sz="1600" dirty="0"/>
          </a:p>
          <a:p>
            <a:pPr marL="0" indent="0">
              <a:buNone/>
            </a:pPr>
            <a:r>
              <a:rPr lang="en-US" sz="1350" dirty="0">
                <a:solidFill>
                  <a:srgbClr val="FFFFFF"/>
                </a:solidFill>
                <a:latin typeface="Calibri" pitchFamily="34" charset="0"/>
                <a:ea typeface="Calibri" pitchFamily="34" charset="-122"/>
                <a:cs typeface="Calibri" pitchFamily="34" charset="-120"/>
              </a:rPr>
              <a:t>says WHERE it was, and the order</a:t>
            </a:r>
            <a:endParaRPr lang="en-US" sz="1600" dirty="0"/>
          </a:p>
        </p:txBody>
      </p:sp>
      <p:sp>
        <p:nvSpPr>
          <p:cNvPr id="14" name="Text 1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6" name="Text 12"/>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2  ·  Vishal Chudasama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2E"/>
        </a:solidFill>
        <a:effectLst/>
      </p:bgPr>
    </p:bg>
    <p:spTree>
      <p:nvGrpSpPr>
        <p:cNvPr id="1" name=""/>
        <p:cNvGrpSpPr/>
        <p:nvPr/>
      </p:nvGrpSpPr>
      <p:grpSpPr>
        <a:xfrm>
          <a:off x="0" y="0"/>
          <a:ext cx="0" cy="0"/>
          <a:chOff x="0" y="0"/>
          <a:chExt cx="0" cy="0"/>
        </a:xfrm>
      </p:grpSpPr>
      <p:sp>
        <p:nvSpPr>
          <p:cNvPr id="2" name="Shape 0"/>
          <p:cNvSpPr/>
          <p:nvPr/>
        </p:nvSpPr>
        <p:spPr>
          <a:xfrm>
            <a:off x="8321040" y="-1463040"/>
            <a:ext cx="5120640" cy="5120640"/>
          </a:xfrm>
          <a:prstGeom prst="ellipse">
            <a:avLst/>
          </a:prstGeom>
          <a:solidFill>
            <a:srgbClr val="1F2A44"/>
          </a:solidFill>
          <a:ln/>
        </p:spPr>
      </p:sp>
      <p:sp>
        <p:nvSpPr>
          <p:cNvPr id="3" name="Text 1"/>
          <p:cNvSpPr txBox="1"/>
          <p:nvPr/>
        </p:nvSpPr>
        <p:spPr>
          <a:xfrm>
            <a:off x="731520" y="1188720"/>
            <a:ext cx="3657600" cy="1463040"/>
          </a:xfrm>
          <a:prstGeom prst="rect">
            <a:avLst/>
          </a:prstGeom>
          <a:noFill/>
          <a:ln/>
        </p:spPr>
        <p:txBody>
          <a:bodyPr wrap="square" lIns="0" tIns="0" rIns="0" bIns="0" rtlCol="0" anchor="ctr"/>
          <a:lstStyle/>
          <a:p>
            <a:pPr marL="0" indent="0">
              <a:buNone/>
            </a:pPr>
            <a:r>
              <a:rPr lang="en-US" sz="9600" b="1" dirty="0">
                <a:solidFill>
                  <a:srgbClr val="E3A008"/>
                </a:solidFill>
                <a:latin typeface="Cambria" pitchFamily="34" charset="0"/>
                <a:ea typeface="Cambria" pitchFamily="34" charset="-122"/>
                <a:cs typeface="Cambria" pitchFamily="34" charset="-120"/>
              </a:rPr>
              <a:t>03</a:t>
            </a:r>
            <a:endParaRPr lang="en-US" sz="9600" dirty="0"/>
          </a:p>
        </p:txBody>
      </p:sp>
      <p:sp>
        <p:nvSpPr>
          <p:cNvPr id="4" name="Text 2"/>
          <p:cNvSpPr txBox="1"/>
          <p:nvPr/>
        </p:nvSpPr>
        <p:spPr>
          <a:xfrm>
            <a:off x="731520" y="2743200"/>
            <a:ext cx="96012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Correlation &amp; verdict</a:t>
            </a:r>
            <a:endParaRPr lang="en-US" sz="3800" dirty="0"/>
          </a:p>
        </p:txBody>
      </p:sp>
      <p:sp>
        <p:nvSpPr>
          <p:cNvPr id="5" name="Text 3"/>
          <p:cNvSpPr txBox="1"/>
          <p:nvPr/>
        </p:nvSpPr>
        <p:spPr>
          <a:xfrm>
            <a:off x="749808" y="3657600"/>
            <a:ext cx="9601200" cy="548640"/>
          </a:xfrm>
          <a:prstGeom prst="rect">
            <a:avLst/>
          </a:prstGeom>
          <a:noFill/>
          <a:ln/>
        </p:spPr>
        <p:txBody>
          <a:bodyPr wrap="square" lIns="0" tIns="0" rIns="0" bIns="0" rtlCol="0" anchor="ctr"/>
          <a:lstStyle/>
          <a:p>
            <a:pPr marL="0" indent="0">
              <a:buNone/>
            </a:pPr>
            <a:r>
              <a:rPr lang="en-US" sz="1600" dirty="0">
                <a:solidFill>
                  <a:srgbClr val="AEB8D0"/>
                </a:solidFill>
                <a:latin typeface="Calibri" pitchFamily="34" charset="0"/>
                <a:ea typeface="Calibri" pitchFamily="34" charset="-122"/>
                <a:cs typeface="Calibri" pitchFamily="34" charset="-120"/>
              </a:rPr>
              <a:t>Putting the three witnesses in one room</a:t>
            </a:r>
            <a:endParaRPr lang="en-US" sz="1600" dirty="0"/>
          </a:p>
        </p:txBody>
      </p:sp>
      <p:sp>
        <p:nvSpPr>
          <p:cNvPr id="6" name="Shape 4"/>
          <p:cNvSpPr/>
          <p:nvPr/>
        </p:nvSpPr>
        <p:spPr>
          <a:xfrm>
            <a:off x="731520" y="4800600"/>
            <a:ext cx="5852160" cy="868680"/>
          </a:xfrm>
          <a:prstGeom prst="roundRect">
            <a:avLst>
              <a:gd name="adj" fmla="val 8421"/>
            </a:avLst>
          </a:prstGeom>
          <a:solidFill>
            <a:srgbClr val="1F2A44"/>
          </a:solidFill>
          <a:ln w="12700">
            <a:solidFill>
              <a:srgbClr val="2E4374"/>
            </a:solidFill>
            <a:prstDash val="solid"/>
          </a:ln>
        </p:spPr>
      </p:sp>
      <p:sp>
        <p:nvSpPr>
          <p:cNvPr id="7" name="Text 5"/>
          <p:cNvSpPr txBox="1"/>
          <p:nvPr/>
        </p:nvSpPr>
        <p:spPr>
          <a:xfrm>
            <a:off x="960120" y="4800600"/>
            <a:ext cx="5486400" cy="868680"/>
          </a:xfrm>
          <a:prstGeom prst="rect">
            <a:avLst/>
          </a:prstGeom>
          <a:noFill/>
          <a:ln/>
        </p:spPr>
        <p:txBody>
          <a:bodyPr wrap="square" lIns="0" tIns="0" rIns="0" bIns="0" rtlCol="0" anchor="ctr"/>
          <a:lstStyle/>
          <a:p>
            <a:r>
              <a:rPr lang="en-US" sz="1200" dirty="0">
                <a:solidFill>
                  <a:srgbClr val="AEB8D0"/>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PINAK SAKARIYA </a:t>
            </a:r>
            <a:endParaRPr lang="en-US" sz="1200" dirty="0"/>
          </a:p>
          <a:p>
            <a:pPr marL="0" indent="0">
              <a:buNone/>
            </a:pPr>
            <a:r>
              <a:rPr lang="en-US" sz="1150" dirty="0">
                <a:solidFill>
                  <a:srgbClr val="AEB8D0"/>
                </a:solidFill>
                <a:latin typeface="Calibri" pitchFamily="34" charset="0"/>
                <a:ea typeface="Calibri" pitchFamily="34" charset="-122"/>
                <a:cs typeface="Calibri" pitchFamily="34" charset="-120"/>
              </a:rPr>
              <a:t>Roll No. 	  </a:t>
            </a:r>
            <a:r>
              <a:rPr lang="en-US" sz="1150" b="1" dirty="0">
                <a:solidFill>
                  <a:srgbClr val="AEB8D0"/>
                </a:solidFill>
                <a:latin typeface="Calibri" pitchFamily="34" charset="0"/>
                <a:ea typeface="Calibri" pitchFamily="34" charset="-122"/>
                <a:cs typeface="Calibri" pitchFamily="34" charset="-120"/>
              </a:rPr>
              <a:t>E06</a:t>
            </a:r>
          </a:p>
          <a:p>
            <a:pPr marL="0" indent="0">
              <a:buNone/>
            </a:pPr>
            <a:r>
              <a:rPr lang="en-US" sz="1150" dirty="0">
                <a:solidFill>
                  <a:srgbClr val="AEB8D0"/>
                </a:solidFill>
                <a:latin typeface="Calibri" pitchFamily="34" charset="0"/>
                <a:ea typeface="Calibri" pitchFamily="34" charset="-122"/>
                <a:cs typeface="Calibri" pitchFamily="34" charset="-120"/>
              </a:rPr>
              <a:t>Enrollment No.	  25004401110067  </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METHOD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How we correlate the artifacts</a:t>
            </a:r>
            <a:endParaRPr lang="en-US" sz="3000" dirty="0"/>
          </a:p>
        </p:txBody>
      </p:sp>
      <p:sp>
        <p:nvSpPr>
          <p:cNvPr id="6" name="Shape 4"/>
          <p:cNvSpPr/>
          <p:nvPr/>
        </p:nvSpPr>
        <p:spPr>
          <a:xfrm>
            <a:off x="548640" y="1737360"/>
            <a:ext cx="2514600" cy="2743200"/>
          </a:xfrm>
          <a:prstGeom prst="roundRect">
            <a:avLst>
              <a:gd name="adj" fmla="val 2909"/>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7" name="Shape 5"/>
          <p:cNvSpPr/>
          <p:nvPr/>
        </p:nvSpPr>
        <p:spPr>
          <a:xfrm>
            <a:off x="822960" y="1965960"/>
            <a:ext cx="566928" cy="566928"/>
          </a:xfrm>
          <a:prstGeom prst="ellipse">
            <a:avLst/>
          </a:prstGeom>
          <a:solidFill>
            <a:srgbClr val="2E4374"/>
          </a:solidFill>
          <a:ln/>
        </p:spPr>
      </p:sp>
      <p:sp>
        <p:nvSpPr>
          <p:cNvPr id="8" name="Text 6"/>
          <p:cNvSpPr txBox="1"/>
          <p:nvPr/>
        </p:nvSpPr>
        <p:spPr>
          <a:xfrm>
            <a:off x="822960" y="19659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txBox="1"/>
          <p:nvPr/>
        </p:nvSpPr>
        <p:spPr>
          <a:xfrm>
            <a:off x="822960" y="2697480"/>
            <a:ext cx="2057400" cy="457200"/>
          </a:xfrm>
          <a:prstGeom prst="rect">
            <a:avLst/>
          </a:prstGeom>
          <a:noFill/>
          <a:ln/>
        </p:spPr>
        <p:txBody>
          <a:bodyPr wrap="square" lIns="0" tIns="0" rIns="0" bIns="0" rtlCol="0" anchor="ctr"/>
          <a:lstStyle/>
          <a:p>
            <a:pPr marL="0" indent="0">
              <a:buNone/>
            </a:pPr>
            <a:r>
              <a:rPr lang="en-US" sz="1900" b="1" dirty="0">
                <a:solidFill>
                  <a:srgbClr val="1A2232"/>
                </a:solidFill>
                <a:latin typeface="Cambria" pitchFamily="34" charset="0"/>
                <a:ea typeface="Cambria" pitchFamily="34" charset="-122"/>
                <a:cs typeface="Cambria" pitchFamily="34" charset="-120"/>
              </a:rPr>
              <a:t>Collect</a:t>
            </a:r>
            <a:endParaRPr lang="en-US" sz="1900" dirty="0"/>
          </a:p>
        </p:txBody>
      </p:sp>
      <p:sp>
        <p:nvSpPr>
          <p:cNvPr id="10" name="Text 8"/>
          <p:cNvSpPr txBox="1"/>
          <p:nvPr/>
        </p:nvSpPr>
        <p:spPr>
          <a:xfrm>
            <a:off x="822960" y="3200400"/>
            <a:ext cx="2011680" cy="118872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Take a forensic copy. Hash it. Keep chain of custody. Never work on the original.</a:t>
            </a:r>
            <a:endParaRPr lang="en-US" sz="1250" dirty="0"/>
          </a:p>
        </p:txBody>
      </p:sp>
      <p:sp>
        <p:nvSpPr>
          <p:cNvPr id="11" name="Shape 9"/>
          <p:cNvSpPr/>
          <p:nvPr/>
        </p:nvSpPr>
        <p:spPr>
          <a:xfrm>
            <a:off x="3099816" y="3108960"/>
            <a:ext cx="246888" cy="0"/>
          </a:xfrm>
          <a:prstGeom prst="line">
            <a:avLst/>
          </a:prstGeom>
          <a:noFill/>
          <a:ln w="28575">
            <a:solidFill>
              <a:srgbClr val="1A2232"/>
            </a:solidFill>
            <a:prstDash val="solid"/>
            <a:tailEnd type="triangle"/>
          </a:ln>
        </p:spPr>
      </p:sp>
      <p:sp>
        <p:nvSpPr>
          <p:cNvPr id="12" name="Shape 10"/>
          <p:cNvSpPr/>
          <p:nvPr/>
        </p:nvSpPr>
        <p:spPr>
          <a:xfrm>
            <a:off x="3383280" y="1737360"/>
            <a:ext cx="2514600" cy="2743200"/>
          </a:xfrm>
          <a:prstGeom prst="roundRect">
            <a:avLst>
              <a:gd name="adj" fmla="val 2909"/>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3" name="Shape 11"/>
          <p:cNvSpPr/>
          <p:nvPr/>
        </p:nvSpPr>
        <p:spPr>
          <a:xfrm>
            <a:off x="3657600" y="1965960"/>
            <a:ext cx="566928" cy="566928"/>
          </a:xfrm>
          <a:prstGeom prst="ellipse">
            <a:avLst/>
          </a:prstGeom>
          <a:solidFill>
            <a:srgbClr val="2E4374"/>
          </a:solidFill>
          <a:ln/>
        </p:spPr>
      </p:sp>
      <p:sp>
        <p:nvSpPr>
          <p:cNvPr id="14" name="Text 12"/>
          <p:cNvSpPr txBox="1"/>
          <p:nvPr/>
        </p:nvSpPr>
        <p:spPr>
          <a:xfrm>
            <a:off x="3657600" y="19659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3657600" y="2697480"/>
            <a:ext cx="2057400" cy="457200"/>
          </a:xfrm>
          <a:prstGeom prst="rect">
            <a:avLst/>
          </a:prstGeom>
          <a:noFill/>
          <a:ln/>
        </p:spPr>
        <p:txBody>
          <a:bodyPr wrap="square" lIns="0" tIns="0" rIns="0" bIns="0" rtlCol="0" anchor="ctr"/>
          <a:lstStyle/>
          <a:p>
            <a:pPr marL="0" indent="0">
              <a:buNone/>
            </a:pPr>
            <a:r>
              <a:rPr lang="en-US" sz="1900" b="1" dirty="0">
                <a:solidFill>
                  <a:srgbClr val="1A2232"/>
                </a:solidFill>
                <a:latin typeface="Cambria" pitchFamily="34" charset="0"/>
                <a:ea typeface="Cambria" pitchFamily="34" charset="-122"/>
                <a:cs typeface="Cambria" pitchFamily="34" charset="-120"/>
              </a:rPr>
              <a:t>Parse</a:t>
            </a:r>
            <a:endParaRPr lang="en-US" sz="1900" dirty="0"/>
          </a:p>
        </p:txBody>
      </p:sp>
      <p:sp>
        <p:nvSpPr>
          <p:cNvPr id="16" name="Text 14"/>
          <p:cNvSpPr txBox="1"/>
          <p:nvPr/>
        </p:nvSpPr>
        <p:spPr>
          <a:xfrm>
            <a:off x="3657600" y="3200400"/>
            <a:ext cx="2011680" cy="118872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PECmd for Prefetch, AmcacheParser, AppCompatCacheParser.</a:t>
            </a:r>
            <a:endParaRPr lang="en-US" sz="1250" dirty="0"/>
          </a:p>
        </p:txBody>
      </p:sp>
      <p:sp>
        <p:nvSpPr>
          <p:cNvPr id="17" name="Shape 15"/>
          <p:cNvSpPr/>
          <p:nvPr/>
        </p:nvSpPr>
        <p:spPr>
          <a:xfrm>
            <a:off x="5934456" y="3108960"/>
            <a:ext cx="246888" cy="0"/>
          </a:xfrm>
          <a:prstGeom prst="line">
            <a:avLst/>
          </a:prstGeom>
          <a:noFill/>
          <a:ln w="28575">
            <a:solidFill>
              <a:srgbClr val="1A2232"/>
            </a:solidFill>
            <a:prstDash val="solid"/>
            <a:tailEnd type="triangle"/>
          </a:ln>
        </p:spPr>
      </p:sp>
      <p:sp>
        <p:nvSpPr>
          <p:cNvPr id="18" name="Shape 16"/>
          <p:cNvSpPr/>
          <p:nvPr/>
        </p:nvSpPr>
        <p:spPr>
          <a:xfrm>
            <a:off x="6217920" y="1737360"/>
            <a:ext cx="2514600" cy="2743200"/>
          </a:xfrm>
          <a:prstGeom prst="roundRect">
            <a:avLst>
              <a:gd name="adj" fmla="val 2909"/>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19" name="Shape 17"/>
          <p:cNvSpPr/>
          <p:nvPr/>
        </p:nvSpPr>
        <p:spPr>
          <a:xfrm>
            <a:off x="6492240" y="1965960"/>
            <a:ext cx="566928" cy="566928"/>
          </a:xfrm>
          <a:prstGeom prst="ellipse">
            <a:avLst/>
          </a:prstGeom>
          <a:solidFill>
            <a:srgbClr val="2E4374"/>
          </a:solidFill>
          <a:ln/>
        </p:spPr>
      </p:sp>
      <p:sp>
        <p:nvSpPr>
          <p:cNvPr id="20" name="Text 18"/>
          <p:cNvSpPr txBox="1"/>
          <p:nvPr/>
        </p:nvSpPr>
        <p:spPr>
          <a:xfrm>
            <a:off x="6492240" y="19659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txBox="1"/>
          <p:nvPr/>
        </p:nvSpPr>
        <p:spPr>
          <a:xfrm>
            <a:off x="6492240" y="2697480"/>
            <a:ext cx="2057400" cy="457200"/>
          </a:xfrm>
          <a:prstGeom prst="rect">
            <a:avLst/>
          </a:prstGeom>
          <a:noFill/>
          <a:ln/>
        </p:spPr>
        <p:txBody>
          <a:bodyPr wrap="square" lIns="0" tIns="0" rIns="0" bIns="0" rtlCol="0" anchor="ctr"/>
          <a:lstStyle/>
          <a:p>
            <a:pPr marL="0" indent="0">
              <a:buNone/>
            </a:pPr>
            <a:r>
              <a:rPr lang="en-US" sz="1900" b="1" dirty="0">
                <a:solidFill>
                  <a:srgbClr val="1A2232"/>
                </a:solidFill>
                <a:latin typeface="Cambria" pitchFamily="34" charset="0"/>
                <a:ea typeface="Cambria" pitchFamily="34" charset="-122"/>
                <a:cs typeface="Cambria" pitchFamily="34" charset="-120"/>
              </a:rPr>
              <a:t>Normalise</a:t>
            </a:r>
            <a:endParaRPr lang="en-US" sz="1900" dirty="0"/>
          </a:p>
        </p:txBody>
      </p:sp>
      <p:sp>
        <p:nvSpPr>
          <p:cNvPr id="22" name="Text 20"/>
          <p:cNvSpPr txBox="1"/>
          <p:nvPr/>
        </p:nvSpPr>
        <p:spPr>
          <a:xfrm>
            <a:off x="6492240" y="3200400"/>
            <a:ext cx="2011680" cy="118872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Convert every timestamp to UTC so times can be compared.</a:t>
            </a:r>
            <a:endParaRPr lang="en-US" sz="1250" dirty="0"/>
          </a:p>
        </p:txBody>
      </p:sp>
      <p:sp>
        <p:nvSpPr>
          <p:cNvPr id="23" name="Shape 21"/>
          <p:cNvSpPr/>
          <p:nvPr/>
        </p:nvSpPr>
        <p:spPr>
          <a:xfrm>
            <a:off x="8769096" y="3108960"/>
            <a:ext cx="246888" cy="0"/>
          </a:xfrm>
          <a:prstGeom prst="line">
            <a:avLst/>
          </a:prstGeom>
          <a:noFill/>
          <a:ln w="28575">
            <a:solidFill>
              <a:srgbClr val="1A2232"/>
            </a:solidFill>
            <a:prstDash val="solid"/>
            <a:tailEnd type="triangle"/>
          </a:ln>
        </p:spPr>
      </p:sp>
      <p:sp>
        <p:nvSpPr>
          <p:cNvPr id="24" name="Shape 22"/>
          <p:cNvSpPr/>
          <p:nvPr/>
        </p:nvSpPr>
        <p:spPr>
          <a:xfrm>
            <a:off x="9052560" y="1737360"/>
            <a:ext cx="2514600" cy="2743200"/>
          </a:xfrm>
          <a:prstGeom prst="roundRect">
            <a:avLst>
              <a:gd name="adj" fmla="val 2909"/>
            </a:avLst>
          </a:prstGeom>
          <a:solidFill>
            <a:srgbClr val="EEF1F7"/>
          </a:solidFill>
          <a:ln w="12700">
            <a:solidFill>
              <a:srgbClr val="DCE1EC"/>
            </a:solidFill>
            <a:prstDash val="solid"/>
          </a:ln>
          <a:effectLst>
            <a:outerShdw blurRad="63500" dist="25400" dir="5400000" algn="bl" rotWithShape="0">
              <a:srgbClr val="A9B3C7">
                <a:alpha val="30000"/>
              </a:srgbClr>
            </a:outerShdw>
          </a:effectLst>
        </p:spPr>
      </p:sp>
      <p:sp>
        <p:nvSpPr>
          <p:cNvPr id="25" name="Shape 23"/>
          <p:cNvSpPr/>
          <p:nvPr/>
        </p:nvSpPr>
        <p:spPr>
          <a:xfrm>
            <a:off x="9326880" y="1965960"/>
            <a:ext cx="566928" cy="566928"/>
          </a:xfrm>
          <a:prstGeom prst="ellipse">
            <a:avLst/>
          </a:prstGeom>
          <a:solidFill>
            <a:srgbClr val="E3A008"/>
          </a:solidFill>
          <a:ln/>
        </p:spPr>
      </p:sp>
      <p:sp>
        <p:nvSpPr>
          <p:cNvPr id="26" name="Text 24"/>
          <p:cNvSpPr txBox="1"/>
          <p:nvPr/>
        </p:nvSpPr>
        <p:spPr>
          <a:xfrm>
            <a:off x="9326880" y="1965960"/>
            <a:ext cx="566928" cy="566928"/>
          </a:xfrm>
          <a:prstGeom prst="rect">
            <a:avLst/>
          </a:prstGeom>
          <a:noFill/>
          <a:ln/>
        </p:spPr>
        <p:txBody>
          <a:bodyPr wrap="square" lIns="0" tIns="0" rIns="0" bIns="0" rtlCol="0" anchor="ctr"/>
          <a:lstStyle/>
          <a:p>
            <a:pPr marL="0" indent="0" algn="ctr">
              <a:buNone/>
            </a:pPr>
            <a:r>
              <a:rPr lang="en-US" sz="1800" b="1" dirty="0">
                <a:solidFill>
                  <a:srgbClr val="141B2E"/>
                </a:solidFill>
                <a:latin typeface="Arial" pitchFamily="34" charset="0"/>
                <a:ea typeface="Arial" pitchFamily="34" charset="-122"/>
                <a:cs typeface="Arial" pitchFamily="34" charset="-120"/>
              </a:rPr>
              <a:t>4</a:t>
            </a:r>
            <a:endParaRPr lang="en-US" sz="1800" dirty="0"/>
          </a:p>
        </p:txBody>
      </p:sp>
      <p:sp>
        <p:nvSpPr>
          <p:cNvPr id="27" name="Text 25"/>
          <p:cNvSpPr txBox="1"/>
          <p:nvPr/>
        </p:nvSpPr>
        <p:spPr>
          <a:xfrm>
            <a:off x="9326880" y="2697480"/>
            <a:ext cx="2057400" cy="457200"/>
          </a:xfrm>
          <a:prstGeom prst="rect">
            <a:avLst/>
          </a:prstGeom>
          <a:noFill/>
          <a:ln/>
        </p:spPr>
        <p:txBody>
          <a:bodyPr wrap="square" lIns="0" tIns="0" rIns="0" bIns="0" rtlCol="0" anchor="ctr"/>
          <a:lstStyle/>
          <a:p>
            <a:pPr marL="0" indent="0">
              <a:buNone/>
            </a:pPr>
            <a:r>
              <a:rPr lang="en-US" sz="1900" b="1" dirty="0">
                <a:solidFill>
                  <a:srgbClr val="1A2232"/>
                </a:solidFill>
                <a:latin typeface="Cambria" pitchFamily="34" charset="0"/>
                <a:ea typeface="Cambria" pitchFamily="34" charset="-122"/>
                <a:cs typeface="Cambria" pitchFamily="34" charset="-120"/>
              </a:rPr>
              <a:t>Correlate</a:t>
            </a:r>
            <a:endParaRPr lang="en-US" sz="1900" dirty="0"/>
          </a:p>
        </p:txBody>
      </p:sp>
      <p:sp>
        <p:nvSpPr>
          <p:cNvPr id="28" name="Text 26"/>
          <p:cNvSpPr txBox="1"/>
          <p:nvPr/>
        </p:nvSpPr>
        <p:spPr>
          <a:xfrm>
            <a:off x="9326880" y="3200400"/>
            <a:ext cx="2011680" cy="1188720"/>
          </a:xfrm>
          <a:prstGeom prst="rect">
            <a:avLst/>
          </a:prstGeom>
          <a:noFill/>
          <a:ln/>
        </p:spPr>
        <p:txBody>
          <a:bodyPr wrap="square" lIns="0" tIns="0" rIns="0" bIns="0" rtlCol="0" anchor="t"/>
          <a:lstStyle/>
          <a:p>
            <a:pPr marL="0" indent="0">
              <a:buNone/>
            </a:pPr>
            <a:r>
              <a:rPr lang="en-US" sz="1250" dirty="0">
                <a:solidFill>
                  <a:srgbClr val="5C6880"/>
                </a:solidFill>
                <a:latin typeface="Calibri" pitchFamily="34" charset="0"/>
                <a:ea typeface="Calibri" pitchFamily="34" charset="-122"/>
                <a:cs typeface="Calibri" pitchFamily="34" charset="-120"/>
              </a:rPr>
              <a:t>Match on path and SHA-1. Line up times. Note agreements and conflicts.</a:t>
            </a:r>
            <a:endParaRPr lang="en-US" sz="1250" dirty="0"/>
          </a:p>
        </p:txBody>
      </p:sp>
      <p:sp>
        <p:nvSpPr>
          <p:cNvPr id="29" name="Text 27"/>
          <p:cNvSpPr txBox="1"/>
          <p:nvPr/>
        </p:nvSpPr>
        <p:spPr>
          <a:xfrm>
            <a:off x="548640" y="4754880"/>
            <a:ext cx="10972800" cy="365760"/>
          </a:xfrm>
          <a:prstGeom prst="rect">
            <a:avLst/>
          </a:prstGeom>
          <a:noFill/>
          <a:ln/>
        </p:spPr>
        <p:txBody>
          <a:bodyPr wrap="square" lIns="0" tIns="0" rIns="0" bIns="0" rtlCol="0" anchor="ctr"/>
          <a:lstStyle/>
          <a:p>
            <a:pPr marL="0" indent="0">
              <a:buNone/>
            </a:pPr>
            <a:r>
              <a:rPr lang="en-US" sz="1400" b="1" dirty="0">
                <a:solidFill>
                  <a:srgbClr val="1A2232"/>
                </a:solidFill>
                <a:latin typeface="Calibri" pitchFamily="34" charset="0"/>
                <a:ea typeface="Calibri" pitchFamily="34" charset="-122"/>
                <a:cs typeface="Calibri" pitchFamily="34" charset="-120"/>
              </a:rPr>
              <a:t>The three links we look for</a:t>
            </a:r>
            <a:endParaRPr lang="en-US" sz="1400" dirty="0"/>
          </a:p>
        </p:txBody>
      </p:sp>
      <p:sp>
        <p:nvSpPr>
          <p:cNvPr id="30" name="Shape 28"/>
          <p:cNvSpPr/>
          <p:nvPr/>
        </p:nvSpPr>
        <p:spPr>
          <a:xfrm>
            <a:off x="548640" y="5230368"/>
            <a:ext cx="411480" cy="411480"/>
          </a:xfrm>
          <a:prstGeom prst="ellipse">
            <a:avLst/>
          </a:prstGeom>
          <a:solidFill>
            <a:srgbClr val="2E7D53"/>
          </a:solidFill>
          <a:ln/>
        </p:spPr>
      </p:sp>
      <p:sp>
        <p:nvSpPr>
          <p:cNvPr id="31" name="Text 29"/>
          <p:cNvSpPr txBox="1"/>
          <p:nvPr/>
        </p:nvSpPr>
        <p:spPr>
          <a:xfrm>
            <a:off x="548640" y="523036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2" name="Text 30"/>
          <p:cNvSpPr txBox="1"/>
          <p:nvPr/>
        </p:nvSpPr>
        <p:spPr>
          <a:xfrm>
            <a:off x="1097280" y="5138928"/>
            <a:ext cx="3063240" cy="685800"/>
          </a:xfrm>
          <a:prstGeom prst="rect">
            <a:avLst/>
          </a:prstGeom>
          <a:noFill/>
          <a:ln/>
        </p:spPr>
        <p:txBody>
          <a:bodyPr wrap="square" lIns="0" tIns="0" rIns="0" bIns="0" rtlCol="0" anchor="ctr"/>
          <a:lstStyle/>
          <a:p>
            <a:pPr marL="0" indent="0">
              <a:buNone/>
            </a:pPr>
            <a:r>
              <a:rPr lang="en-US" sz="1350" b="1" dirty="0">
                <a:solidFill>
                  <a:srgbClr val="1A2232"/>
                </a:solidFill>
                <a:latin typeface="Calibri" pitchFamily="34" charset="0"/>
                <a:ea typeface="Calibri" pitchFamily="34" charset="-122"/>
                <a:cs typeface="Calibri" pitchFamily="34" charset="-120"/>
              </a:rPr>
              <a:t>Same path</a:t>
            </a:r>
            <a:endParaRPr lang="en-US" sz="1350" dirty="0"/>
          </a:p>
          <a:p>
            <a:pPr marL="0" indent="0">
              <a:buNone/>
            </a:pPr>
            <a:r>
              <a:rPr lang="en-US" sz="1200" dirty="0">
                <a:solidFill>
                  <a:srgbClr val="5C6880"/>
                </a:solidFill>
                <a:latin typeface="Calibri" pitchFamily="34" charset="0"/>
                <a:ea typeface="Calibri" pitchFamily="34" charset="-122"/>
                <a:cs typeface="Calibri" pitchFamily="34" charset="-120"/>
              </a:rPr>
              <a:t>in all three artifacts</a:t>
            </a:r>
            <a:endParaRPr lang="en-US" sz="1350" dirty="0"/>
          </a:p>
        </p:txBody>
      </p:sp>
      <p:sp>
        <p:nvSpPr>
          <p:cNvPr id="33" name="Shape 31"/>
          <p:cNvSpPr/>
          <p:nvPr/>
        </p:nvSpPr>
        <p:spPr>
          <a:xfrm>
            <a:off x="4270248" y="5230368"/>
            <a:ext cx="411480" cy="411480"/>
          </a:xfrm>
          <a:prstGeom prst="ellipse">
            <a:avLst/>
          </a:prstGeom>
          <a:solidFill>
            <a:srgbClr val="2E7D53"/>
          </a:solidFill>
          <a:ln/>
        </p:spPr>
      </p:sp>
      <p:sp>
        <p:nvSpPr>
          <p:cNvPr id="34" name="Text 32"/>
          <p:cNvSpPr txBox="1"/>
          <p:nvPr/>
        </p:nvSpPr>
        <p:spPr>
          <a:xfrm>
            <a:off x="4270248" y="523036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5" name="Text 33"/>
          <p:cNvSpPr txBox="1"/>
          <p:nvPr/>
        </p:nvSpPr>
        <p:spPr>
          <a:xfrm>
            <a:off x="4818888" y="5138928"/>
            <a:ext cx="3063240" cy="685800"/>
          </a:xfrm>
          <a:prstGeom prst="rect">
            <a:avLst/>
          </a:prstGeom>
          <a:noFill/>
          <a:ln/>
        </p:spPr>
        <p:txBody>
          <a:bodyPr wrap="square" lIns="0" tIns="0" rIns="0" bIns="0" rtlCol="0" anchor="ctr"/>
          <a:lstStyle/>
          <a:p>
            <a:pPr marL="0" indent="0">
              <a:buNone/>
            </a:pPr>
            <a:r>
              <a:rPr lang="en-US" sz="1350" b="1" dirty="0">
                <a:solidFill>
                  <a:srgbClr val="1A2232"/>
                </a:solidFill>
                <a:latin typeface="Calibri" pitchFamily="34" charset="0"/>
                <a:ea typeface="Calibri" pitchFamily="34" charset="-122"/>
                <a:cs typeface="Calibri" pitchFamily="34" charset="-120"/>
              </a:rPr>
              <a:t>Same file</a:t>
            </a:r>
            <a:endParaRPr lang="en-US" sz="1350" dirty="0"/>
          </a:p>
          <a:p>
            <a:pPr marL="0" indent="0">
              <a:buNone/>
            </a:pPr>
            <a:r>
              <a:rPr lang="en-US" sz="1200" dirty="0">
                <a:solidFill>
                  <a:srgbClr val="5C6880"/>
                </a:solidFill>
                <a:latin typeface="Calibri" pitchFamily="34" charset="0"/>
                <a:ea typeface="Calibri" pitchFamily="34" charset="-122"/>
                <a:cs typeface="Calibri" pitchFamily="34" charset="-120"/>
              </a:rPr>
              <a:t>confirmed by Amcache SHA-1</a:t>
            </a:r>
            <a:endParaRPr lang="en-US" sz="1350" dirty="0"/>
          </a:p>
        </p:txBody>
      </p:sp>
      <p:sp>
        <p:nvSpPr>
          <p:cNvPr id="36" name="Shape 34"/>
          <p:cNvSpPr/>
          <p:nvPr/>
        </p:nvSpPr>
        <p:spPr>
          <a:xfrm>
            <a:off x="7991856" y="5230368"/>
            <a:ext cx="411480" cy="411480"/>
          </a:xfrm>
          <a:prstGeom prst="ellipse">
            <a:avLst/>
          </a:prstGeom>
          <a:solidFill>
            <a:srgbClr val="2E7D53"/>
          </a:solidFill>
          <a:ln/>
        </p:spPr>
      </p:sp>
      <p:sp>
        <p:nvSpPr>
          <p:cNvPr id="37" name="Text 35"/>
          <p:cNvSpPr txBox="1"/>
          <p:nvPr/>
        </p:nvSpPr>
        <p:spPr>
          <a:xfrm>
            <a:off x="7991856" y="523036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8" name="Text 36"/>
          <p:cNvSpPr txBox="1"/>
          <p:nvPr/>
        </p:nvSpPr>
        <p:spPr>
          <a:xfrm>
            <a:off x="8540496" y="5138928"/>
            <a:ext cx="3063240" cy="685800"/>
          </a:xfrm>
          <a:prstGeom prst="rect">
            <a:avLst/>
          </a:prstGeom>
          <a:noFill/>
          <a:ln/>
        </p:spPr>
        <p:txBody>
          <a:bodyPr wrap="square" lIns="0" tIns="0" rIns="0" bIns="0" rtlCol="0" anchor="ctr"/>
          <a:lstStyle/>
          <a:p>
            <a:pPr marL="0" indent="0">
              <a:buNone/>
            </a:pPr>
            <a:r>
              <a:rPr lang="en-US" sz="1350" b="1" dirty="0">
                <a:solidFill>
                  <a:srgbClr val="1A2232"/>
                </a:solidFill>
                <a:latin typeface="Calibri" pitchFamily="34" charset="0"/>
                <a:ea typeface="Calibri" pitchFamily="34" charset="-122"/>
                <a:cs typeface="Calibri" pitchFamily="34" charset="-120"/>
              </a:rPr>
              <a:t>Times in a logical order</a:t>
            </a:r>
            <a:endParaRPr lang="en-US" sz="1350" dirty="0"/>
          </a:p>
          <a:p>
            <a:pPr marL="0" indent="0">
              <a:buNone/>
            </a:pPr>
            <a:r>
              <a:rPr lang="en-US" sz="1200" dirty="0">
                <a:solidFill>
                  <a:srgbClr val="5C6880"/>
                </a:solidFill>
                <a:latin typeface="Calibri" pitchFamily="34" charset="0"/>
                <a:ea typeface="Calibri" pitchFamily="34" charset="-122"/>
                <a:cs typeface="Calibri" pitchFamily="34" charset="-120"/>
              </a:rPr>
              <a:t>file arrives → runs → runs again</a:t>
            </a:r>
            <a:endParaRPr lang="en-US" sz="1350" dirty="0"/>
          </a:p>
        </p:txBody>
      </p:sp>
      <p:sp>
        <p:nvSpPr>
          <p:cNvPr id="39" name="Text 37"/>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40" name="Text 38"/>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3  ·  Pinak Sakariya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THE EVIDENCE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What we recovered from the workstation</a:t>
            </a:r>
            <a:endParaRPr lang="en-US" sz="3000" dirty="0"/>
          </a:p>
        </p:txBody>
      </p:sp>
      <p:sp>
        <p:nvSpPr>
          <p:cNvPr id="6" name="Shape 4"/>
          <p:cNvSpPr/>
          <p:nvPr/>
        </p:nvSpPr>
        <p:spPr>
          <a:xfrm>
            <a:off x="548640" y="1691640"/>
            <a:ext cx="3520440" cy="3931920"/>
          </a:xfrm>
          <a:prstGeom prst="roundRect">
            <a:avLst>
              <a:gd name="adj" fmla="val 2078"/>
            </a:avLst>
          </a:prstGeom>
          <a:solidFill>
            <a:srgbClr val="141B2E"/>
          </a:solidFill>
          <a:ln/>
          <a:effectLst>
            <a:outerShdw blurRad="63500" dist="25400" dir="5400000" algn="bl" rotWithShape="0">
              <a:srgbClr val="A9B3C7">
                <a:alpha val="30000"/>
              </a:srgbClr>
            </a:outerShdw>
          </a:effectLst>
        </p:spPr>
      </p:sp>
      <p:sp>
        <p:nvSpPr>
          <p:cNvPr id="7" name="Text 5"/>
          <p:cNvSpPr txBox="1"/>
          <p:nvPr/>
        </p:nvSpPr>
        <p:spPr>
          <a:xfrm>
            <a:off x="822960" y="1874520"/>
            <a:ext cx="2926080" cy="365760"/>
          </a:xfrm>
          <a:prstGeom prst="rect">
            <a:avLst/>
          </a:prstGeom>
          <a:noFill/>
          <a:ln/>
        </p:spPr>
        <p:txBody>
          <a:bodyPr wrap="square" lIns="0" tIns="0" rIns="0" bIns="0" rtlCol="0" anchor="ctr"/>
          <a:lstStyle/>
          <a:p>
            <a:pPr marL="0" indent="0">
              <a:buNone/>
            </a:pPr>
            <a:r>
              <a:rPr lang="en-US" sz="1400" b="1" kern="0" spc="200" dirty="0">
                <a:solidFill>
                  <a:srgbClr val="E3A008"/>
                </a:solidFill>
                <a:latin typeface="Calibri" pitchFamily="34" charset="0"/>
                <a:ea typeface="Calibri" pitchFamily="34" charset="-122"/>
                <a:cs typeface="Calibri" pitchFamily="34" charset="-120"/>
              </a:rPr>
              <a:t>PREFETCH</a:t>
            </a:r>
            <a:endParaRPr lang="en-US" sz="1400" dirty="0"/>
          </a:p>
        </p:txBody>
      </p:sp>
      <p:sp>
        <p:nvSpPr>
          <p:cNvPr id="8" name="Text 6"/>
          <p:cNvSpPr txBox="1"/>
          <p:nvPr/>
        </p:nvSpPr>
        <p:spPr>
          <a:xfrm>
            <a:off x="822960" y="23774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File</a:t>
            </a:r>
            <a:endParaRPr lang="en-US" sz="1100" dirty="0"/>
          </a:p>
        </p:txBody>
      </p:sp>
      <p:sp>
        <p:nvSpPr>
          <p:cNvPr id="9" name="Text 7"/>
          <p:cNvSpPr txBox="1"/>
          <p:nvPr/>
        </p:nvSpPr>
        <p:spPr>
          <a:xfrm>
            <a:off x="1508760" y="23774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NETSCAN.EXE-8B2E41C7.pf</a:t>
            </a:r>
            <a:endParaRPr lang="en-US" sz="1050" dirty="0"/>
          </a:p>
        </p:txBody>
      </p:sp>
      <p:sp>
        <p:nvSpPr>
          <p:cNvPr id="10" name="Text 8"/>
          <p:cNvSpPr txBox="1"/>
          <p:nvPr/>
        </p:nvSpPr>
        <p:spPr>
          <a:xfrm>
            <a:off x="822960" y="28346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Runs</a:t>
            </a:r>
            <a:endParaRPr lang="en-US" sz="1100" dirty="0"/>
          </a:p>
        </p:txBody>
      </p:sp>
      <p:sp>
        <p:nvSpPr>
          <p:cNvPr id="11" name="Text 9"/>
          <p:cNvSpPr txBox="1"/>
          <p:nvPr/>
        </p:nvSpPr>
        <p:spPr>
          <a:xfrm>
            <a:off x="1508760" y="28346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3</a:t>
            </a:r>
            <a:endParaRPr lang="en-US" sz="1050" dirty="0"/>
          </a:p>
        </p:txBody>
      </p:sp>
      <p:sp>
        <p:nvSpPr>
          <p:cNvPr id="12" name="Text 10"/>
          <p:cNvSpPr txBox="1"/>
          <p:nvPr/>
        </p:nvSpPr>
        <p:spPr>
          <a:xfrm>
            <a:off x="822960" y="32918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First</a:t>
            </a:r>
            <a:endParaRPr lang="en-US" sz="1100" dirty="0"/>
          </a:p>
        </p:txBody>
      </p:sp>
      <p:sp>
        <p:nvSpPr>
          <p:cNvPr id="13" name="Text 11"/>
          <p:cNvSpPr txBox="1"/>
          <p:nvPr/>
        </p:nvSpPr>
        <p:spPr>
          <a:xfrm>
            <a:off x="1508760" y="32918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03-12 16:04:53</a:t>
            </a:r>
            <a:endParaRPr lang="en-US" sz="1050" dirty="0"/>
          </a:p>
        </p:txBody>
      </p:sp>
      <p:sp>
        <p:nvSpPr>
          <p:cNvPr id="14" name="Text 12"/>
          <p:cNvSpPr txBox="1"/>
          <p:nvPr/>
        </p:nvSpPr>
        <p:spPr>
          <a:xfrm>
            <a:off x="822960" y="37490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Last</a:t>
            </a:r>
            <a:endParaRPr lang="en-US" sz="1100" dirty="0"/>
          </a:p>
        </p:txBody>
      </p:sp>
      <p:sp>
        <p:nvSpPr>
          <p:cNvPr id="15" name="Text 13"/>
          <p:cNvSpPr txBox="1"/>
          <p:nvPr/>
        </p:nvSpPr>
        <p:spPr>
          <a:xfrm>
            <a:off x="1508760" y="37490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03-14 09:42:17</a:t>
            </a:r>
            <a:endParaRPr lang="en-US" sz="1050" dirty="0"/>
          </a:p>
        </p:txBody>
      </p:sp>
      <p:sp>
        <p:nvSpPr>
          <p:cNvPr id="16" name="Text 14"/>
          <p:cNvSpPr txBox="1"/>
          <p:nvPr/>
        </p:nvSpPr>
        <p:spPr>
          <a:xfrm>
            <a:off x="822960" y="42062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Vol.</a:t>
            </a:r>
            <a:endParaRPr lang="en-US" sz="1100" dirty="0"/>
          </a:p>
        </p:txBody>
      </p:sp>
      <p:sp>
        <p:nvSpPr>
          <p:cNvPr id="17" name="Text 15"/>
          <p:cNvSpPr txBox="1"/>
          <p:nvPr/>
        </p:nvSpPr>
        <p:spPr>
          <a:xfrm>
            <a:off x="1508760" y="42062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C: (local disk)</a:t>
            </a:r>
            <a:endParaRPr lang="en-US" sz="1050" dirty="0"/>
          </a:p>
        </p:txBody>
      </p:sp>
      <p:sp>
        <p:nvSpPr>
          <p:cNvPr id="18" name="Shape 16"/>
          <p:cNvSpPr/>
          <p:nvPr/>
        </p:nvSpPr>
        <p:spPr>
          <a:xfrm>
            <a:off x="777240" y="4800600"/>
            <a:ext cx="3063240" cy="594360"/>
          </a:xfrm>
          <a:prstGeom prst="roundRect">
            <a:avLst>
              <a:gd name="adj" fmla="val 12308"/>
            </a:avLst>
          </a:prstGeom>
          <a:solidFill>
            <a:srgbClr val="2E7D53"/>
          </a:solidFill>
          <a:ln/>
        </p:spPr>
      </p:sp>
      <p:sp>
        <p:nvSpPr>
          <p:cNvPr id="19" name="Text 17"/>
          <p:cNvSpPr txBox="1"/>
          <p:nvPr/>
        </p:nvSpPr>
        <p:spPr>
          <a:xfrm>
            <a:off x="777240" y="4800600"/>
            <a:ext cx="30632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Executed — 3 times</a:t>
            </a:r>
            <a:endParaRPr lang="en-US" sz="1300" dirty="0"/>
          </a:p>
        </p:txBody>
      </p:sp>
      <p:sp>
        <p:nvSpPr>
          <p:cNvPr id="20" name="Shape 18"/>
          <p:cNvSpPr/>
          <p:nvPr/>
        </p:nvSpPr>
        <p:spPr>
          <a:xfrm>
            <a:off x="4270248" y="1691640"/>
            <a:ext cx="3520440" cy="3931920"/>
          </a:xfrm>
          <a:prstGeom prst="roundRect">
            <a:avLst>
              <a:gd name="adj" fmla="val 2078"/>
            </a:avLst>
          </a:prstGeom>
          <a:solidFill>
            <a:srgbClr val="141B2E"/>
          </a:solidFill>
          <a:ln/>
          <a:effectLst>
            <a:outerShdw blurRad="63500" dist="25400" dir="5400000" algn="bl" rotWithShape="0">
              <a:srgbClr val="A9B3C7">
                <a:alpha val="30000"/>
              </a:srgbClr>
            </a:outerShdw>
          </a:effectLst>
        </p:spPr>
      </p:sp>
      <p:sp>
        <p:nvSpPr>
          <p:cNvPr id="21" name="Text 19"/>
          <p:cNvSpPr txBox="1"/>
          <p:nvPr/>
        </p:nvSpPr>
        <p:spPr>
          <a:xfrm>
            <a:off x="4544568" y="1874520"/>
            <a:ext cx="2926080" cy="365760"/>
          </a:xfrm>
          <a:prstGeom prst="rect">
            <a:avLst/>
          </a:prstGeom>
          <a:noFill/>
          <a:ln/>
        </p:spPr>
        <p:txBody>
          <a:bodyPr wrap="square" lIns="0" tIns="0" rIns="0" bIns="0" rtlCol="0" anchor="ctr"/>
          <a:lstStyle/>
          <a:p>
            <a:pPr marL="0" indent="0">
              <a:buNone/>
            </a:pPr>
            <a:r>
              <a:rPr lang="en-US" sz="1400" b="1" kern="0" spc="200" dirty="0">
                <a:solidFill>
                  <a:srgbClr val="E3A008"/>
                </a:solidFill>
                <a:latin typeface="Calibri" pitchFamily="34" charset="0"/>
                <a:ea typeface="Calibri" pitchFamily="34" charset="-122"/>
                <a:cs typeface="Calibri" pitchFamily="34" charset="-120"/>
              </a:rPr>
              <a:t>AMCACHE</a:t>
            </a:r>
            <a:endParaRPr lang="en-US" sz="1400" dirty="0"/>
          </a:p>
        </p:txBody>
      </p:sp>
      <p:sp>
        <p:nvSpPr>
          <p:cNvPr id="22" name="Text 20"/>
          <p:cNvSpPr txBox="1"/>
          <p:nvPr/>
        </p:nvSpPr>
        <p:spPr>
          <a:xfrm>
            <a:off x="4544568" y="23774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Path</a:t>
            </a:r>
            <a:endParaRPr lang="en-US" sz="1100" dirty="0"/>
          </a:p>
        </p:txBody>
      </p:sp>
      <p:sp>
        <p:nvSpPr>
          <p:cNvPr id="23" name="Text 21"/>
          <p:cNvSpPr txBox="1"/>
          <p:nvPr/>
        </p:nvSpPr>
        <p:spPr>
          <a:xfrm>
            <a:off x="5230368" y="23774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…\jdoe\Downloads\netscan.exe</a:t>
            </a:r>
            <a:endParaRPr lang="en-US" sz="1050" dirty="0"/>
          </a:p>
        </p:txBody>
      </p:sp>
      <p:sp>
        <p:nvSpPr>
          <p:cNvPr id="24" name="Text 22"/>
          <p:cNvSpPr txBox="1"/>
          <p:nvPr/>
        </p:nvSpPr>
        <p:spPr>
          <a:xfrm>
            <a:off x="4544568" y="28346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SHA-1</a:t>
            </a:r>
            <a:endParaRPr lang="en-US" sz="1100" dirty="0"/>
          </a:p>
        </p:txBody>
      </p:sp>
      <p:sp>
        <p:nvSpPr>
          <p:cNvPr id="25" name="Text 23"/>
          <p:cNvSpPr txBox="1"/>
          <p:nvPr/>
        </p:nvSpPr>
        <p:spPr>
          <a:xfrm>
            <a:off x="5230368" y="28346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3f1c9a7e…18f6d203</a:t>
            </a:r>
            <a:endParaRPr lang="en-US" sz="1050" dirty="0"/>
          </a:p>
        </p:txBody>
      </p:sp>
      <p:sp>
        <p:nvSpPr>
          <p:cNvPr id="26" name="Text 24"/>
          <p:cNvSpPr txBox="1"/>
          <p:nvPr/>
        </p:nvSpPr>
        <p:spPr>
          <a:xfrm>
            <a:off x="4544568" y="32918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Pub.</a:t>
            </a:r>
            <a:endParaRPr lang="en-US" sz="1100" dirty="0"/>
          </a:p>
        </p:txBody>
      </p:sp>
      <p:sp>
        <p:nvSpPr>
          <p:cNvPr id="27" name="Text 25"/>
          <p:cNvSpPr txBox="1"/>
          <p:nvPr/>
        </p:nvSpPr>
        <p:spPr>
          <a:xfrm>
            <a:off x="5230368" y="32918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not signed</a:t>
            </a:r>
            <a:endParaRPr lang="en-US" sz="1050" dirty="0"/>
          </a:p>
        </p:txBody>
      </p:sp>
      <p:sp>
        <p:nvSpPr>
          <p:cNvPr id="28" name="Text 26"/>
          <p:cNvSpPr txBox="1"/>
          <p:nvPr/>
        </p:nvSpPr>
        <p:spPr>
          <a:xfrm>
            <a:off x="4544568" y="37490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Key</a:t>
            </a:r>
            <a:endParaRPr lang="en-US" sz="1100" dirty="0"/>
          </a:p>
        </p:txBody>
      </p:sp>
      <p:sp>
        <p:nvSpPr>
          <p:cNvPr id="29" name="Text 27"/>
          <p:cNvSpPr txBox="1"/>
          <p:nvPr/>
        </p:nvSpPr>
        <p:spPr>
          <a:xfrm>
            <a:off x="5230368" y="37490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03-12 16:41:20</a:t>
            </a:r>
            <a:endParaRPr lang="en-US" sz="1050" dirty="0"/>
          </a:p>
        </p:txBody>
      </p:sp>
      <p:sp>
        <p:nvSpPr>
          <p:cNvPr id="30" name="Shape 28"/>
          <p:cNvSpPr/>
          <p:nvPr/>
        </p:nvSpPr>
        <p:spPr>
          <a:xfrm>
            <a:off x="4498848" y="4800600"/>
            <a:ext cx="3063240" cy="594360"/>
          </a:xfrm>
          <a:prstGeom prst="roundRect">
            <a:avLst>
              <a:gd name="adj" fmla="val 12308"/>
            </a:avLst>
          </a:prstGeom>
          <a:solidFill>
            <a:srgbClr val="2E4374"/>
          </a:solidFill>
          <a:ln/>
        </p:spPr>
      </p:sp>
      <p:sp>
        <p:nvSpPr>
          <p:cNvPr id="31" name="Text 29"/>
          <p:cNvSpPr txBox="1"/>
          <p:nvPr/>
        </p:nvSpPr>
        <p:spPr>
          <a:xfrm>
            <a:off x="4498848" y="4800600"/>
            <a:ext cx="30632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Identified — unsigned binary</a:t>
            </a:r>
            <a:endParaRPr lang="en-US" sz="1300" dirty="0"/>
          </a:p>
        </p:txBody>
      </p:sp>
      <p:sp>
        <p:nvSpPr>
          <p:cNvPr id="32" name="Shape 30"/>
          <p:cNvSpPr/>
          <p:nvPr/>
        </p:nvSpPr>
        <p:spPr>
          <a:xfrm>
            <a:off x="7991856" y="1691640"/>
            <a:ext cx="3520440" cy="3931920"/>
          </a:xfrm>
          <a:prstGeom prst="roundRect">
            <a:avLst>
              <a:gd name="adj" fmla="val 2078"/>
            </a:avLst>
          </a:prstGeom>
          <a:solidFill>
            <a:srgbClr val="141B2E"/>
          </a:solidFill>
          <a:ln/>
          <a:effectLst>
            <a:outerShdw blurRad="63500" dist="25400" dir="5400000" algn="bl" rotWithShape="0">
              <a:srgbClr val="A9B3C7">
                <a:alpha val="30000"/>
              </a:srgbClr>
            </a:outerShdw>
          </a:effectLst>
        </p:spPr>
      </p:sp>
      <p:sp>
        <p:nvSpPr>
          <p:cNvPr id="33" name="Text 31"/>
          <p:cNvSpPr txBox="1"/>
          <p:nvPr/>
        </p:nvSpPr>
        <p:spPr>
          <a:xfrm>
            <a:off x="8266176" y="1874520"/>
            <a:ext cx="2926080" cy="365760"/>
          </a:xfrm>
          <a:prstGeom prst="rect">
            <a:avLst/>
          </a:prstGeom>
          <a:noFill/>
          <a:ln/>
        </p:spPr>
        <p:txBody>
          <a:bodyPr wrap="square" lIns="0" tIns="0" rIns="0" bIns="0" rtlCol="0" anchor="ctr"/>
          <a:lstStyle/>
          <a:p>
            <a:pPr marL="0" indent="0">
              <a:buNone/>
            </a:pPr>
            <a:r>
              <a:rPr lang="en-US" sz="1400" b="1" kern="0" spc="200" dirty="0">
                <a:solidFill>
                  <a:srgbClr val="E3A008"/>
                </a:solidFill>
                <a:latin typeface="Calibri" pitchFamily="34" charset="0"/>
                <a:ea typeface="Calibri" pitchFamily="34" charset="-122"/>
                <a:cs typeface="Calibri" pitchFamily="34" charset="-120"/>
              </a:rPr>
              <a:t>SHIMCACHE</a:t>
            </a:r>
            <a:endParaRPr lang="en-US" sz="1400" dirty="0"/>
          </a:p>
        </p:txBody>
      </p:sp>
      <p:sp>
        <p:nvSpPr>
          <p:cNvPr id="34" name="Text 32"/>
          <p:cNvSpPr txBox="1"/>
          <p:nvPr/>
        </p:nvSpPr>
        <p:spPr>
          <a:xfrm>
            <a:off x="8266176" y="23774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Path</a:t>
            </a:r>
            <a:endParaRPr lang="en-US" sz="1100" dirty="0"/>
          </a:p>
        </p:txBody>
      </p:sp>
      <p:sp>
        <p:nvSpPr>
          <p:cNvPr id="35" name="Text 33"/>
          <p:cNvSpPr txBox="1"/>
          <p:nvPr/>
        </p:nvSpPr>
        <p:spPr>
          <a:xfrm>
            <a:off x="8951976" y="23774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…\jdoe\Downloads\netscan.exe</a:t>
            </a:r>
            <a:endParaRPr lang="en-US" sz="1050" dirty="0"/>
          </a:p>
        </p:txBody>
      </p:sp>
      <p:sp>
        <p:nvSpPr>
          <p:cNvPr id="36" name="Text 34"/>
          <p:cNvSpPr txBox="1"/>
          <p:nvPr/>
        </p:nvSpPr>
        <p:spPr>
          <a:xfrm>
            <a:off x="8266176" y="28346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Pos.</a:t>
            </a:r>
            <a:endParaRPr lang="en-US" sz="1100" dirty="0"/>
          </a:p>
        </p:txBody>
      </p:sp>
      <p:sp>
        <p:nvSpPr>
          <p:cNvPr id="37" name="Text 35"/>
          <p:cNvSpPr txBox="1"/>
          <p:nvPr/>
        </p:nvSpPr>
        <p:spPr>
          <a:xfrm>
            <a:off x="8951976" y="28346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7 of 512</a:t>
            </a:r>
            <a:endParaRPr lang="en-US" sz="1050" dirty="0"/>
          </a:p>
        </p:txBody>
      </p:sp>
      <p:sp>
        <p:nvSpPr>
          <p:cNvPr id="38" name="Text 36"/>
          <p:cNvSpPr txBox="1"/>
          <p:nvPr/>
        </p:nvSpPr>
        <p:spPr>
          <a:xfrm>
            <a:off x="8266176" y="32918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Mod.</a:t>
            </a:r>
            <a:endParaRPr lang="en-US" sz="1100" dirty="0"/>
          </a:p>
        </p:txBody>
      </p:sp>
      <p:sp>
        <p:nvSpPr>
          <p:cNvPr id="39" name="Text 37"/>
          <p:cNvSpPr txBox="1"/>
          <p:nvPr/>
        </p:nvSpPr>
        <p:spPr>
          <a:xfrm>
            <a:off x="8951976" y="32918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03-12 15:58:44</a:t>
            </a:r>
            <a:endParaRPr lang="en-US" sz="1050" dirty="0"/>
          </a:p>
        </p:txBody>
      </p:sp>
      <p:sp>
        <p:nvSpPr>
          <p:cNvPr id="40" name="Text 38"/>
          <p:cNvSpPr txBox="1"/>
          <p:nvPr/>
        </p:nvSpPr>
        <p:spPr>
          <a:xfrm>
            <a:off x="8266176" y="3749040"/>
            <a:ext cx="685800" cy="365760"/>
          </a:xfrm>
          <a:prstGeom prst="rect">
            <a:avLst/>
          </a:prstGeom>
          <a:noFill/>
          <a:ln/>
        </p:spPr>
        <p:txBody>
          <a:bodyPr wrap="square" lIns="0" tIns="0" rIns="0" bIns="0" rtlCol="0" anchor="ctr"/>
          <a:lstStyle/>
          <a:p>
            <a:pPr marL="0" indent="0">
              <a:buNone/>
            </a:pPr>
            <a:r>
              <a:rPr lang="en-US" sz="1100" b="1" dirty="0">
                <a:solidFill>
                  <a:srgbClr val="AEB8D0"/>
                </a:solidFill>
                <a:latin typeface="Calibri" pitchFamily="34" charset="0"/>
                <a:ea typeface="Calibri" pitchFamily="34" charset="-122"/>
                <a:cs typeface="Calibri" pitchFamily="34" charset="-120"/>
              </a:rPr>
              <a:t>Exec</a:t>
            </a:r>
            <a:endParaRPr lang="en-US" sz="1100" dirty="0"/>
          </a:p>
        </p:txBody>
      </p:sp>
      <p:sp>
        <p:nvSpPr>
          <p:cNvPr id="41" name="Text 39"/>
          <p:cNvSpPr txBox="1"/>
          <p:nvPr/>
        </p:nvSpPr>
        <p:spPr>
          <a:xfrm>
            <a:off x="8951976" y="3749040"/>
            <a:ext cx="2423160" cy="365760"/>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n/a (Win 10)</a:t>
            </a:r>
            <a:endParaRPr lang="en-US" sz="1050" dirty="0"/>
          </a:p>
        </p:txBody>
      </p:sp>
      <p:sp>
        <p:nvSpPr>
          <p:cNvPr id="42" name="Shape 40"/>
          <p:cNvSpPr/>
          <p:nvPr/>
        </p:nvSpPr>
        <p:spPr>
          <a:xfrm>
            <a:off x="8220456" y="4800600"/>
            <a:ext cx="3063240" cy="594360"/>
          </a:xfrm>
          <a:prstGeom prst="roundRect">
            <a:avLst>
              <a:gd name="adj" fmla="val 12308"/>
            </a:avLst>
          </a:prstGeom>
          <a:solidFill>
            <a:srgbClr val="C77D1A"/>
          </a:solidFill>
          <a:ln/>
        </p:spPr>
      </p:sp>
      <p:sp>
        <p:nvSpPr>
          <p:cNvPr id="43" name="Text 41"/>
          <p:cNvSpPr txBox="1"/>
          <p:nvPr/>
        </p:nvSpPr>
        <p:spPr>
          <a:xfrm>
            <a:off x="8220456" y="4800600"/>
            <a:ext cx="30632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Existed at this path</a:t>
            </a:r>
            <a:endParaRPr lang="en-US" sz="1300" dirty="0"/>
          </a:p>
        </p:txBody>
      </p:sp>
      <p:sp>
        <p:nvSpPr>
          <p:cNvPr id="44" name="Text 42"/>
          <p:cNvSpPr txBox="1"/>
          <p:nvPr/>
        </p:nvSpPr>
        <p:spPr>
          <a:xfrm>
            <a:off x="548640" y="5806440"/>
            <a:ext cx="11064240" cy="365760"/>
          </a:xfrm>
          <a:prstGeom prst="rect">
            <a:avLst/>
          </a:prstGeom>
          <a:noFill/>
          <a:ln/>
        </p:spPr>
        <p:txBody>
          <a:bodyPr wrap="square" lIns="0" tIns="0" rIns="0" bIns="0" rtlCol="0" anchor="ctr"/>
          <a:lstStyle/>
          <a:p>
            <a:pPr marL="0" indent="0">
              <a:buNone/>
            </a:pPr>
            <a:r>
              <a:rPr lang="en-US" sz="1250" i="1" dirty="0">
                <a:solidFill>
                  <a:srgbClr val="5C6880"/>
                </a:solidFill>
                <a:latin typeface="Calibri" pitchFamily="34" charset="0"/>
                <a:ea typeface="Calibri" pitchFamily="34" charset="-122"/>
                <a:cs typeface="Calibri" pitchFamily="34" charset="-120"/>
              </a:rPr>
              <a:t>All times UTC, year 2026. Same path appears in all three artifacts.</a:t>
            </a:r>
            <a:endParaRPr lang="en-US" sz="1250" dirty="0"/>
          </a:p>
        </p:txBody>
      </p:sp>
      <p:sp>
        <p:nvSpPr>
          <p:cNvPr id="45" name="Text 4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46" name="Text 44"/>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3  ·  Pinak Sakariya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CORRELATION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One timeline from three artifacts</a:t>
            </a:r>
            <a:endParaRPr lang="en-US" sz="3000" dirty="0"/>
          </a:p>
        </p:txBody>
      </p:sp>
      <p:sp>
        <p:nvSpPr>
          <p:cNvPr id="6" name="Shape 4"/>
          <p:cNvSpPr/>
          <p:nvPr/>
        </p:nvSpPr>
        <p:spPr>
          <a:xfrm>
            <a:off x="731520" y="3703320"/>
            <a:ext cx="10789920" cy="0"/>
          </a:xfrm>
          <a:prstGeom prst="line">
            <a:avLst/>
          </a:prstGeom>
          <a:noFill/>
          <a:ln w="31750">
            <a:solidFill>
              <a:srgbClr val="1A2232"/>
            </a:solidFill>
            <a:prstDash val="solid"/>
            <a:tailEnd type="triangle"/>
          </a:ln>
        </p:spPr>
      </p:sp>
      <p:sp>
        <p:nvSpPr>
          <p:cNvPr id="7" name="Text 5"/>
          <p:cNvSpPr txBox="1"/>
          <p:nvPr/>
        </p:nvSpPr>
        <p:spPr>
          <a:xfrm>
            <a:off x="6720840" y="3474720"/>
            <a:ext cx="365760" cy="457200"/>
          </a:xfrm>
          <a:prstGeom prst="rect">
            <a:avLst/>
          </a:prstGeom>
          <a:solidFill>
            <a:srgbClr val="FFFFFF"/>
          </a:solidFill>
          <a:ln/>
        </p:spPr>
        <p:txBody>
          <a:bodyPr wrap="square" lIns="0" tIns="0" rIns="0" bIns="0" rtlCol="0" anchor="ctr"/>
          <a:lstStyle/>
          <a:p>
            <a:pPr marL="0" indent="0" algn="ctr">
              <a:buNone/>
            </a:pPr>
            <a:r>
              <a:rPr lang="en-US" sz="1800" b="1" dirty="0">
                <a:solidFill>
                  <a:srgbClr val="1A2232"/>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1051560" y="3566160"/>
            <a:ext cx="274320" cy="274320"/>
          </a:xfrm>
          <a:prstGeom prst="ellipse">
            <a:avLst/>
          </a:prstGeom>
          <a:solidFill>
            <a:srgbClr val="C77D1A"/>
          </a:solidFill>
          <a:ln w="25400">
            <a:solidFill>
              <a:srgbClr val="FFFFFF"/>
            </a:solidFill>
            <a:prstDash val="solid"/>
          </a:ln>
        </p:spPr>
      </p:sp>
      <p:sp>
        <p:nvSpPr>
          <p:cNvPr id="9" name="Shape 7"/>
          <p:cNvSpPr/>
          <p:nvPr/>
        </p:nvSpPr>
        <p:spPr>
          <a:xfrm>
            <a:off x="1188720" y="3017520"/>
            <a:ext cx="0" cy="548640"/>
          </a:xfrm>
          <a:prstGeom prst="line">
            <a:avLst/>
          </a:prstGeom>
          <a:noFill/>
          <a:ln w="15875">
            <a:solidFill>
              <a:srgbClr val="C77D1A"/>
            </a:solidFill>
            <a:prstDash val="dash"/>
          </a:ln>
        </p:spPr>
      </p:sp>
      <p:sp>
        <p:nvSpPr>
          <p:cNvPr id="10" name="Shape 8"/>
          <p:cNvSpPr/>
          <p:nvPr/>
        </p:nvSpPr>
        <p:spPr>
          <a:xfrm>
            <a:off x="228600" y="1828800"/>
            <a:ext cx="1920240" cy="1188720"/>
          </a:xfrm>
          <a:prstGeom prst="roundRect">
            <a:avLst>
              <a:gd name="adj" fmla="val 6154"/>
            </a:avLst>
          </a:prstGeom>
          <a:solidFill>
            <a:srgbClr val="FFFFFF"/>
          </a:solidFill>
          <a:ln w="15875">
            <a:solidFill>
              <a:srgbClr val="C77D1A"/>
            </a:solidFill>
            <a:prstDash val="solid"/>
          </a:ln>
          <a:effectLst>
            <a:outerShdw blurRad="63500" dist="25400" dir="5400000" algn="bl" rotWithShape="0">
              <a:srgbClr val="A9B3C7">
                <a:alpha val="30000"/>
              </a:srgbClr>
            </a:outerShdw>
          </a:effectLst>
        </p:spPr>
      </p:sp>
      <p:sp>
        <p:nvSpPr>
          <p:cNvPr id="11" name="Text 9"/>
          <p:cNvSpPr txBox="1"/>
          <p:nvPr/>
        </p:nvSpPr>
        <p:spPr>
          <a:xfrm>
            <a:off x="320040" y="1920240"/>
            <a:ext cx="1737360" cy="274320"/>
          </a:xfrm>
          <a:prstGeom prst="rect">
            <a:avLst/>
          </a:prstGeom>
          <a:noFill/>
          <a:ln/>
        </p:spPr>
        <p:txBody>
          <a:bodyPr wrap="square" lIns="0" tIns="0" rIns="0" bIns="0" rtlCol="0" anchor="ctr"/>
          <a:lstStyle/>
          <a:p>
            <a:pPr marL="0" indent="0" algn="ctr">
              <a:buNone/>
            </a:pPr>
            <a:r>
              <a:rPr lang="en-US" sz="1000" b="1" kern="0" spc="100" dirty="0">
                <a:solidFill>
                  <a:srgbClr val="C77D1A"/>
                </a:solidFill>
                <a:latin typeface="Calibri" pitchFamily="34" charset="0"/>
                <a:ea typeface="Calibri" pitchFamily="34" charset="-122"/>
                <a:cs typeface="Calibri" pitchFamily="34" charset="-120"/>
              </a:rPr>
              <a:t>SHIMCACHE</a:t>
            </a:r>
            <a:endParaRPr lang="en-US" sz="1000" dirty="0"/>
          </a:p>
        </p:txBody>
      </p:sp>
      <p:sp>
        <p:nvSpPr>
          <p:cNvPr id="12" name="Text 10"/>
          <p:cNvSpPr txBox="1"/>
          <p:nvPr/>
        </p:nvSpPr>
        <p:spPr>
          <a:xfrm>
            <a:off x="320040" y="2194560"/>
            <a:ext cx="1737360" cy="274320"/>
          </a:xfrm>
          <a:prstGeom prst="rect">
            <a:avLst/>
          </a:prstGeom>
          <a:noFill/>
          <a:ln/>
        </p:spPr>
        <p:txBody>
          <a:bodyPr wrap="square" lIns="0" tIns="0" rIns="0" bIns="0" rtlCol="0" anchor="ctr"/>
          <a:lstStyle/>
          <a:p>
            <a:pPr marL="0" indent="0" algn="ctr">
              <a:buNone/>
            </a:pPr>
            <a:r>
              <a:rPr lang="en-US" sz="1050" b="1" dirty="0">
                <a:solidFill>
                  <a:srgbClr val="1A2232"/>
                </a:solidFill>
                <a:latin typeface="Courier New" pitchFamily="34" charset="0"/>
                <a:ea typeface="Courier New" pitchFamily="34" charset="-122"/>
                <a:cs typeface="Courier New" pitchFamily="34" charset="-120"/>
              </a:rPr>
              <a:t>03-12  15:58:44</a:t>
            </a:r>
            <a:endParaRPr lang="en-US" sz="1050" dirty="0"/>
          </a:p>
        </p:txBody>
      </p:sp>
      <p:sp>
        <p:nvSpPr>
          <p:cNvPr id="13" name="Text 11"/>
          <p:cNvSpPr txBox="1"/>
          <p:nvPr/>
        </p:nvSpPr>
        <p:spPr>
          <a:xfrm>
            <a:off x="320040" y="2487168"/>
            <a:ext cx="1737360" cy="685800"/>
          </a:xfrm>
          <a:prstGeom prst="rect">
            <a:avLst/>
          </a:prstGeom>
          <a:noFill/>
          <a:ln/>
        </p:spPr>
        <p:txBody>
          <a:bodyPr wrap="square" lIns="0" tIns="0" rIns="0" bIns="0" rtlCol="0" anchor="t"/>
          <a:lstStyle/>
          <a:p>
            <a:pPr marL="0" indent="0" algn="ctr">
              <a:buNone/>
            </a:pPr>
            <a:r>
              <a:rPr lang="en-US" sz="1100" dirty="0">
                <a:solidFill>
                  <a:srgbClr val="5C6880"/>
                </a:solidFill>
                <a:latin typeface="Calibri" pitchFamily="34" charset="0"/>
                <a:ea typeface="Calibri" pitchFamily="34" charset="-122"/>
                <a:cs typeface="Calibri" pitchFamily="34" charset="-120"/>
              </a:rPr>
              <a:t>File written to Downloads (last-modified time)</a:t>
            </a:r>
            <a:endParaRPr lang="en-US" sz="1100" dirty="0"/>
          </a:p>
        </p:txBody>
      </p:sp>
      <p:sp>
        <p:nvSpPr>
          <p:cNvPr id="14" name="Shape 12"/>
          <p:cNvSpPr/>
          <p:nvPr/>
        </p:nvSpPr>
        <p:spPr>
          <a:xfrm>
            <a:off x="2880360" y="3566160"/>
            <a:ext cx="274320" cy="274320"/>
          </a:xfrm>
          <a:prstGeom prst="ellipse">
            <a:avLst/>
          </a:prstGeom>
          <a:solidFill>
            <a:srgbClr val="2E7D53"/>
          </a:solidFill>
          <a:ln w="25400">
            <a:solidFill>
              <a:srgbClr val="FFFFFF"/>
            </a:solidFill>
            <a:prstDash val="solid"/>
          </a:ln>
        </p:spPr>
      </p:sp>
      <p:sp>
        <p:nvSpPr>
          <p:cNvPr id="15" name="Shape 13"/>
          <p:cNvSpPr/>
          <p:nvPr/>
        </p:nvSpPr>
        <p:spPr>
          <a:xfrm>
            <a:off x="3017520" y="3840480"/>
            <a:ext cx="0" cy="411480"/>
          </a:xfrm>
          <a:prstGeom prst="line">
            <a:avLst/>
          </a:prstGeom>
          <a:noFill/>
          <a:ln w="15875">
            <a:solidFill>
              <a:srgbClr val="2E7D53"/>
            </a:solidFill>
            <a:prstDash val="dash"/>
          </a:ln>
        </p:spPr>
      </p:sp>
      <p:sp>
        <p:nvSpPr>
          <p:cNvPr id="16" name="Shape 14"/>
          <p:cNvSpPr/>
          <p:nvPr/>
        </p:nvSpPr>
        <p:spPr>
          <a:xfrm>
            <a:off x="2057400" y="4251960"/>
            <a:ext cx="1920240" cy="1188720"/>
          </a:xfrm>
          <a:prstGeom prst="roundRect">
            <a:avLst>
              <a:gd name="adj" fmla="val 6154"/>
            </a:avLst>
          </a:prstGeom>
          <a:solidFill>
            <a:srgbClr val="FFFFFF"/>
          </a:solidFill>
          <a:ln w="15875">
            <a:solidFill>
              <a:srgbClr val="2E7D53"/>
            </a:solidFill>
            <a:prstDash val="solid"/>
          </a:ln>
          <a:effectLst>
            <a:outerShdw blurRad="63500" dist="25400" dir="5400000" algn="bl" rotWithShape="0">
              <a:srgbClr val="A9B3C7">
                <a:alpha val="30000"/>
              </a:srgbClr>
            </a:outerShdw>
          </a:effectLst>
        </p:spPr>
      </p:sp>
      <p:sp>
        <p:nvSpPr>
          <p:cNvPr id="17" name="Text 15"/>
          <p:cNvSpPr txBox="1"/>
          <p:nvPr/>
        </p:nvSpPr>
        <p:spPr>
          <a:xfrm>
            <a:off x="2148840" y="4343400"/>
            <a:ext cx="1737360" cy="274320"/>
          </a:xfrm>
          <a:prstGeom prst="rect">
            <a:avLst/>
          </a:prstGeom>
          <a:noFill/>
          <a:ln/>
        </p:spPr>
        <p:txBody>
          <a:bodyPr wrap="square" lIns="0" tIns="0" rIns="0" bIns="0" rtlCol="0" anchor="ctr"/>
          <a:lstStyle/>
          <a:p>
            <a:pPr marL="0" indent="0" algn="ctr">
              <a:buNone/>
            </a:pPr>
            <a:r>
              <a:rPr lang="en-US" sz="1000" b="1" kern="0" spc="100" dirty="0">
                <a:solidFill>
                  <a:srgbClr val="2E7D53"/>
                </a:solidFill>
                <a:latin typeface="Calibri" pitchFamily="34" charset="0"/>
                <a:ea typeface="Calibri" pitchFamily="34" charset="-122"/>
                <a:cs typeface="Calibri" pitchFamily="34" charset="-120"/>
              </a:rPr>
              <a:t>PREFETCH</a:t>
            </a:r>
            <a:endParaRPr lang="en-US" sz="1000" dirty="0"/>
          </a:p>
        </p:txBody>
      </p:sp>
      <p:sp>
        <p:nvSpPr>
          <p:cNvPr id="18" name="Text 16"/>
          <p:cNvSpPr txBox="1"/>
          <p:nvPr/>
        </p:nvSpPr>
        <p:spPr>
          <a:xfrm>
            <a:off x="2148840" y="4617720"/>
            <a:ext cx="1737360" cy="274320"/>
          </a:xfrm>
          <a:prstGeom prst="rect">
            <a:avLst/>
          </a:prstGeom>
          <a:noFill/>
          <a:ln/>
        </p:spPr>
        <p:txBody>
          <a:bodyPr wrap="square" lIns="0" tIns="0" rIns="0" bIns="0" rtlCol="0" anchor="ctr"/>
          <a:lstStyle/>
          <a:p>
            <a:pPr marL="0" indent="0" algn="ctr">
              <a:buNone/>
            </a:pPr>
            <a:r>
              <a:rPr lang="en-US" sz="1050" b="1" dirty="0">
                <a:solidFill>
                  <a:srgbClr val="1A2232"/>
                </a:solidFill>
                <a:latin typeface="Courier New" pitchFamily="34" charset="0"/>
                <a:ea typeface="Courier New" pitchFamily="34" charset="-122"/>
                <a:cs typeface="Courier New" pitchFamily="34" charset="-120"/>
              </a:rPr>
              <a:t>03-12  16:04:53</a:t>
            </a:r>
            <a:endParaRPr lang="en-US" sz="1050" dirty="0"/>
          </a:p>
        </p:txBody>
      </p:sp>
      <p:sp>
        <p:nvSpPr>
          <p:cNvPr id="19" name="Text 17"/>
          <p:cNvSpPr txBox="1"/>
          <p:nvPr/>
        </p:nvSpPr>
        <p:spPr>
          <a:xfrm>
            <a:off x="2148840" y="4910328"/>
            <a:ext cx="1737360" cy="685800"/>
          </a:xfrm>
          <a:prstGeom prst="rect">
            <a:avLst/>
          </a:prstGeom>
          <a:noFill/>
          <a:ln/>
        </p:spPr>
        <p:txBody>
          <a:bodyPr wrap="square" lIns="0" tIns="0" rIns="0" bIns="0" rtlCol="0" anchor="t"/>
          <a:lstStyle/>
          <a:p>
            <a:pPr marL="0" indent="0" algn="ctr">
              <a:buNone/>
            </a:pPr>
            <a:r>
              <a:rPr lang="en-US" sz="1100" dirty="0">
                <a:solidFill>
                  <a:srgbClr val="5C6880"/>
                </a:solidFill>
                <a:latin typeface="Calibri" pitchFamily="34" charset="0"/>
                <a:ea typeface="Calibri" pitchFamily="34" charset="-122"/>
                <a:cs typeface="Calibri" pitchFamily="34" charset="-120"/>
              </a:rPr>
              <a:t>Run 1 — first execution</a:t>
            </a:r>
            <a:endParaRPr lang="en-US" sz="1100" dirty="0"/>
          </a:p>
        </p:txBody>
      </p:sp>
      <p:sp>
        <p:nvSpPr>
          <p:cNvPr id="20" name="Shape 18"/>
          <p:cNvSpPr/>
          <p:nvPr/>
        </p:nvSpPr>
        <p:spPr>
          <a:xfrm>
            <a:off x="4892040" y="3566160"/>
            <a:ext cx="274320" cy="274320"/>
          </a:xfrm>
          <a:prstGeom prst="ellipse">
            <a:avLst/>
          </a:prstGeom>
          <a:solidFill>
            <a:srgbClr val="2E4374"/>
          </a:solidFill>
          <a:ln w="25400">
            <a:solidFill>
              <a:srgbClr val="FFFFFF"/>
            </a:solidFill>
            <a:prstDash val="solid"/>
          </a:ln>
        </p:spPr>
      </p:sp>
      <p:sp>
        <p:nvSpPr>
          <p:cNvPr id="21" name="Shape 19"/>
          <p:cNvSpPr/>
          <p:nvPr/>
        </p:nvSpPr>
        <p:spPr>
          <a:xfrm>
            <a:off x="5029200" y="3017520"/>
            <a:ext cx="0" cy="548640"/>
          </a:xfrm>
          <a:prstGeom prst="line">
            <a:avLst/>
          </a:prstGeom>
          <a:noFill/>
          <a:ln w="15875">
            <a:solidFill>
              <a:srgbClr val="2E4374"/>
            </a:solidFill>
            <a:prstDash val="dash"/>
          </a:ln>
        </p:spPr>
      </p:sp>
      <p:sp>
        <p:nvSpPr>
          <p:cNvPr id="22" name="Shape 20"/>
          <p:cNvSpPr/>
          <p:nvPr/>
        </p:nvSpPr>
        <p:spPr>
          <a:xfrm>
            <a:off x="4069080" y="1828800"/>
            <a:ext cx="1920240" cy="1188720"/>
          </a:xfrm>
          <a:prstGeom prst="roundRect">
            <a:avLst>
              <a:gd name="adj" fmla="val 6154"/>
            </a:avLst>
          </a:prstGeom>
          <a:solidFill>
            <a:srgbClr val="FFFFFF"/>
          </a:solidFill>
          <a:ln w="15875">
            <a:solidFill>
              <a:srgbClr val="2E4374"/>
            </a:solidFill>
            <a:prstDash val="solid"/>
          </a:ln>
          <a:effectLst>
            <a:outerShdw blurRad="63500" dist="25400" dir="5400000" algn="bl" rotWithShape="0">
              <a:srgbClr val="A9B3C7">
                <a:alpha val="30000"/>
              </a:srgbClr>
            </a:outerShdw>
          </a:effectLst>
        </p:spPr>
      </p:sp>
      <p:sp>
        <p:nvSpPr>
          <p:cNvPr id="23" name="Text 21"/>
          <p:cNvSpPr txBox="1"/>
          <p:nvPr/>
        </p:nvSpPr>
        <p:spPr>
          <a:xfrm>
            <a:off x="4160520" y="1920240"/>
            <a:ext cx="1737360" cy="274320"/>
          </a:xfrm>
          <a:prstGeom prst="rect">
            <a:avLst/>
          </a:prstGeom>
          <a:noFill/>
          <a:ln/>
        </p:spPr>
        <p:txBody>
          <a:bodyPr wrap="square" lIns="0" tIns="0" rIns="0" bIns="0" rtlCol="0" anchor="ctr"/>
          <a:lstStyle/>
          <a:p>
            <a:pPr marL="0" indent="0" algn="ctr">
              <a:buNone/>
            </a:pPr>
            <a:r>
              <a:rPr lang="en-US" sz="1000" b="1" kern="0" spc="100" dirty="0">
                <a:solidFill>
                  <a:srgbClr val="2E4374"/>
                </a:solidFill>
                <a:latin typeface="Calibri" pitchFamily="34" charset="0"/>
                <a:ea typeface="Calibri" pitchFamily="34" charset="-122"/>
                <a:cs typeface="Calibri" pitchFamily="34" charset="-120"/>
              </a:rPr>
              <a:t>AMCACHE</a:t>
            </a:r>
            <a:endParaRPr lang="en-US" sz="1000" dirty="0"/>
          </a:p>
        </p:txBody>
      </p:sp>
      <p:sp>
        <p:nvSpPr>
          <p:cNvPr id="24" name="Text 22"/>
          <p:cNvSpPr txBox="1"/>
          <p:nvPr/>
        </p:nvSpPr>
        <p:spPr>
          <a:xfrm>
            <a:off x="4160520" y="2194560"/>
            <a:ext cx="1737360" cy="274320"/>
          </a:xfrm>
          <a:prstGeom prst="rect">
            <a:avLst/>
          </a:prstGeom>
          <a:noFill/>
          <a:ln/>
        </p:spPr>
        <p:txBody>
          <a:bodyPr wrap="square" lIns="0" tIns="0" rIns="0" bIns="0" rtlCol="0" anchor="ctr"/>
          <a:lstStyle/>
          <a:p>
            <a:pPr marL="0" indent="0" algn="ctr">
              <a:buNone/>
            </a:pPr>
            <a:r>
              <a:rPr lang="en-US" sz="1050" b="1" dirty="0">
                <a:solidFill>
                  <a:srgbClr val="1A2232"/>
                </a:solidFill>
                <a:latin typeface="Courier New" pitchFamily="34" charset="0"/>
                <a:ea typeface="Courier New" pitchFamily="34" charset="-122"/>
                <a:cs typeface="Courier New" pitchFamily="34" charset="-120"/>
              </a:rPr>
              <a:t>03-12  16:41:20</a:t>
            </a:r>
            <a:endParaRPr lang="en-US" sz="1050" dirty="0"/>
          </a:p>
        </p:txBody>
      </p:sp>
      <p:sp>
        <p:nvSpPr>
          <p:cNvPr id="25" name="Text 23"/>
          <p:cNvSpPr txBox="1"/>
          <p:nvPr/>
        </p:nvSpPr>
        <p:spPr>
          <a:xfrm>
            <a:off x="4160520" y="2487168"/>
            <a:ext cx="1737360" cy="685800"/>
          </a:xfrm>
          <a:prstGeom prst="rect">
            <a:avLst/>
          </a:prstGeom>
          <a:noFill/>
          <a:ln/>
        </p:spPr>
        <p:txBody>
          <a:bodyPr wrap="square" lIns="0" tIns="0" rIns="0" bIns="0" rtlCol="0" anchor="t"/>
          <a:lstStyle/>
          <a:p>
            <a:pPr marL="0" indent="0" algn="ctr">
              <a:buNone/>
            </a:pPr>
            <a:r>
              <a:rPr lang="en-US" sz="1100" dirty="0">
                <a:solidFill>
                  <a:srgbClr val="5C6880"/>
                </a:solidFill>
                <a:latin typeface="Calibri" pitchFamily="34" charset="0"/>
                <a:ea typeface="Calibri" pitchFamily="34" charset="-122"/>
                <a:cs typeface="Calibri" pitchFamily="34" charset="-120"/>
              </a:rPr>
              <a:t>Inventoried; SHA-1 recorded</a:t>
            </a:r>
            <a:endParaRPr lang="en-US" sz="1100" dirty="0"/>
          </a:p>
        </p:txBody>
      </p:sp>
      <p:sp>
        <p:nvSpPr>
          <p:cNvPr id="26" name="Shape 24"/>
          <p:cNvSpPr/>
          <p:nvPr/>
        </p:nvSpPr>
        <p:spPr>
          <a:xfrm>
            <a:off x="7726680" y="3566160"/>
            <a:ext cx="274320" cy="274320"/>
          </a:xfrm>
          <a:prstGeom prst="ellipse">
            <a:avLst/>
          </a:prstGeom>
          <a:solidFill>
            <a:srgbClr val="2E7D53"/>
          </a:solidFill>
          <a:ln w="25400">
            <a:solidFill>
              <a:srgbClr val="FFFFFF"/>
            </a:solidFill>
            <a:prstDash val="solid"/>
          </a:ln>
        </p:spPr>
      </p:sp>
      <p:sp>
        <p:nvSpPr>
          <p:cNvPr id="27" name="Shape 25"/>
          <p:cNvSpPr/>
          <p:nvPr/>
        </p:nvSpPr>
        <p:spPr>
          <a:xfrm>
            <a:off x="7863840" y="3840480"/>
            <a:ext cx="0" cy="411480"/>
          </a:xfrm>
          <a:prstGeom prst="line">
            <a:avLst/>
          </a:prstGeom>
          <a:noFill/>
          <a:ln w="15875">
            <a:solidFill>
              <a:srgbClr val="2E7D53"/>
            </a:solidFill>
            <a:prstDash val="dash"/>
          </a:ln>
        </p:spPr>
      </p:sp>
      <p:sp>
        <p:nvSpPr>
          <p:cNvPr id="28" name="Shape 26"/>
          <p:cNvSpPr/>
          <p:nvPr/>
        </p:nvSpPr>
        <p:spPr>
          <a:xfrm>
            <a:off x="6903720" y="4251960"/>
            <a:ext cx="1920240" cy="1188720"/>
          </a:xfrm>
          <a:prstGeom prst="roundRect">
            <a:avLst>
              <a:gd name="adj" fmla="val 6154"/>
            </a:avLst>
          </a:prstGeom>
          <a:solidFill>
            <a:srgbClr val="FFFFFF"/>
          </a:solidFill>
          <a:ln w="15875">
            <a:solidFill>
              <a:srgbClr val="2E7D53"/>
            </a:solidFill>
            <a:prstDash val="solid"/>
          </a:ln>
          <a:effectLst>
            <a:outerShdw blurRad="63500" dist="25400" dir="5400000" algn="bl" rotWithShape="0">
              <a:srgbClr val="A9B3C7">
                <a:alpha val="30000"/>
              </a:srgbClr>
            </a:outerShdw>
          </a:effectLst>
        </p:spPr>
      </p:sp>
      <p:sp>
        <p:nvSpPr>
          <p:cNvPr id="29" name="Text 27"/>
          <p:cNvSpPr txBox="1"/>
          <p:nvPr/>
        </p:nvSpPr>
        <p:spPr>
          <a:xfrm>
            <a:off x="6995160" y="4343400"/>
            <a:ext cx="1737360" cy="274320"/>
          </a:xfrm>
          <a:prstGeom prst="rect">
            <a:avLst/>
          </a:prstGeom>
          <a:noFill/>
          <a:ln/>
        </p:spPr>
        <p:txBody>
          <a:bodyPr wrap="square" lIns="0" tIns="0" rIns="0" bIns="0" rtlCol="0" anchor="ctr"/>
          <a:lstStyle/>
          <a:p>
            <a:pPr marL="0" indent="0" algn="ctr">
              <a:buNone/>
            </a:pPr>
            <a:r>
              <a:rPr lang="en-US" sz="1000" b="1" kern="0" spc="100" dirty="0">
                <a:solidFill>
                  <a:srgbClr val="2E7D53"/>
                </a:solidFill>
                <a:latin typeface="Calibri" pitchFamily="34" charset="0"/>
                <a:ea typeface="Calibri" pitchFamily="34" charset="-122"/>
                <a:cs typeface="Calibri" pitchFamily="34" charset="-120"/>
              </a:rPr>
              <a:t>PREFETCH</a:t>
            </a:r>
            <a:endParaRPr lang="en-US" sz="1000" dirty="0"/>
          </a:p>
        </p:txBody>
      </p:sp>
      <p:sp>
        <p:nvSpPr>
          <p:cNvPr id="30" name="Text 28"/>
          <p:cNvSpPr txBox="1"/>
          <p:nvPr/>
        </p:nvSpPr>
        <p:spPr>
          <a:xfrm>
            <a:off x="6995160" y="4617720"/>
            <a:ext cx="1737360" cy="274320"/>
          </a:xfrm>
          <a:prstGeom prst="rect">
            <a:avLst/>
          </a:prstGeom>
          <a:noFill/>
          <a:ln/>
        </p:spPr>
        <p:txBody>
          <a:bodyPr wrap="square" lIns="0" tIns="0" rIns="0" bIns="0" rtlCol="0" anchor="ctr"/>
          <a:lstStyle/>
          <a:p>
            <a:pPr marL="0" indent="0" algn="ctr">
              <a:buNone/>
            </a:pPr>
            <a:r>
              <a:rPr lang="en-US" sz="1050" b="1" dirty="0">
                <a:solidFill>
                  <a:srgbClr val="1A2232"/>
                </a:solidFill>
                <a:latin typeface="Courier New" pitchFamily="34" charset="0"/>
                <a:ea typeface="Courier New" pitchFamily="34" charset="-122"/>
                <a:cs typeface="Courier New" pitchFamily="34" charset="-120"/>
              </a:rPr>
              <a:t>03-13  11:20:06</a:t>
            </a:r>
            <a:endParaRPr lang="en-US" sz="1050" dirty="0"/>
          </a:p>
        </p:txBody>
      </p:sp>
      <p:sp>
        <p:nvSpPr>
          <p:cNvPr id="31" name="Text 29"/>
          <p:cNvSpPr txBox="1"/>
          <p:nvPr/>
        </p:nvSpPr>
        <p:spPr>
          <a:xfrm>
            <a:off x="6995160" y="4910328"/>
            <a:ext cx="1737360" cy="685800"/>
          </a:xfrm>
          <a:prstGeom prst="rect">
            <a:avLst/>
          </a:prstGeom>
          <a:noFill/>
          <a:ln/>
        </p:spPr>
        <p:txBody>
          <a:bodyPr wrap="square" lIns="0" tIns="0" rIns="0" bIns="0" rtlCol="0" anchor="t"/>
          <a:lstStyle/>
          <a:p>
            <a:pPr marL="0" indent="0" algn="ctr">
              <a:buNone/>
            </a:pPr>
            <a:r>
              <a:rPr lang="en-US" sz="1100" dirty="0">
                <a:solidFill>
                  <a:srgbClr val="5C6880"/>
                </a:solidFill>
                <a:latin typeface="Calibri" pitchFamily="34" charset="0"/>
                <a:ea typeface="Calibri" pitchFamily="34" charset="-122"/>
                <a:cs typeface="Calibri" pitchFamily="34" charset="-120"/>
              </a:rPr>
              <a:t>Run 2</a:t>
            </a:r>
            <a:endParaRPr lang="en-US" sz="1100" dirty="0"/>
          </a:p>
        </p:txBody>
      </p:sp>
      <p:sp>
        <p:nvSpPr>
          <p:cNvPr id="32" name="Shape 30"/>
          <p:cNvSpPr/>
          <p:nvPr/>
        </p:nvSpPr>
        <p:spPr>
          <a:xfrm>
            <a:off x="9829800" y="3566160"/>
            <a:ext cx="274320" cy="274320"/>
          </a:xfrm>
          <a:prstGeom prst="ellipse">
            <a:avLst/>
          </a:prstGeom>
          <a:solidFill>
            <a:srgbClr val="2E7D53"/>
          </a:solidFill>
          <a:ln w="25400">
            <a:solidFill>
              <a:srgbClr val="FFFFFF"/>
            </a:solidFill>
            <a:prstDash val="solid"/>
          </a:ln>
        </p:spPr>
      </p:sp>
      <p:sp>
        <p:nvSpPr>
          <p:cNvPr id="33" name="Shape 31"/>
          <p:cNvSpPr/>
          <p:nvPr/>
        </p:nvSpPr>
        <p:spPr>
          <a:xfrm>
            <a:off x="9966960" y="3017520"/>
            <a:ext cx="0" cy="548640"/>
          </a:xfrm>
          <a:prstGeom prst="line">
            <a:avLst/>
          </a:prstGeom>
          <a:noFill/>
          <a:ln w="15875">
            <a:solidFill>
              <a:srgbClr val="2E7D53"/>
            </a:solidFill>
            <a:prstDash val="dash"/>
          </a:ln>
        </p:spPr>
      </p:sp>
      <p:sp>
        <p:nvSpPr>
          <p:cNvPr id="34" name="Shape 32"/>
          <p:cNvSpPr/>
          <p:nvPr/>
        </p:nvSpPr>
        <p:spPr>
          <a:xfrm>
            <a:off x="9006840" y="1828800"/>
            <a:ext cx="1920240" cy="1188720"/>
          </a:xfrm>
          <a:prstGeom prst="roundRect">
            <a:avLst>
              <a:gd name="adj" fmla="val 6154"/>
            </a:avLst>
          </a:prstGeom>
          <a:solidFill>
            <a:srgbClr val="FFFFFF"/>
          </a:solidFill>
          <a:ln w="15875">
            <a:solidFill>
              <a:srgbClr val="2E7D53"/>
            </a:solidFill>
            <a:prstDash val="solid"/>
          </a:ln>
          <a:effectLst>
            <a:outerShdw blurRad="63500" dist="25400" dir="5400000" algn="bl" rotWithShape="0">
              <a:srgbClr val="A9B3C7">
                <a:alpha val="30000"/>
              </a:srgbClr>
            </a:outerShdw>
          </a:effectLst>
        </p:spPr>
      </p:sp>
      <p:sp>
        <p:nvSpPr>
          <p:cNvPr id="35" name="Text 33"/>
          <p:cNvSpPr txBox="1"/>
          <p:nvPr/>
        </p:nvSpPr>
        <p:spPr>
          <a:xfrm>
            <a:off x="9098280" y="1920240"/>
            <a:ext cx="1737360" cy="274320"/>
          </a:xfrm>
          <a:prstGeom prst="rect">
            <a:avLst/>
          </a:prstGeom>
          <a:noFill/>
          <a:ln/>
        </p:spPr>
        <p:txBody>
          <a:bodyPr wrap="square" lIns="0" tIns="0" rIns="0" bIns="0" rtlCol="0" anchor="ctr"/>
          <a:lstStyle/>
          <a:p>
            <a:pPr marL="0" indent="0" algn="ctr">
              <a:buNone/>
            </a:pPr>
            <a:r>
              <a:rPr lang="en-US" sz="1000" b="1" kern="0" spc="100" dirty="0">
                <a:solidFill>
                  <a:srgbClr val="2E7D53"/>
                </a:solidFill>
                <a:latin typeface="Calibri" pitchFamily="34" charset="0"/>
                <a:ea typeface="Calibri" pitchFamily="34" charset="-122"/>
                <a:cs typeface="Calibri" pitchFamily="34" charset="-120"/>
              </a:rPr>
              <a:t>PREFETCH</a:t>
            </a:r>
            <a:endParaRPr lang="en-US" sz="1000" dirty="0"/>
          </a:p>
        </p:txBody>
      </p:sp>
      <p:sp>
        <p:nvSpPr>
          <p:cNvPr id="36" name="Text 34"/>
          <p:cNvSpPr txBox="1"/>
          <p:nvPr/>
        </p:nvSpPr>
        <p:spPr>
          <a:xfrm>
            <a:off x="9098280" y="2194560"/>
            <a:ext cx="1737360" cy="274320"/>
          </a:xfrm>
          <a:prstGeom prst="rect">
            <a:avLst/>
          </a:prstGeom>
          <a:noFill/>
          <a:ln/>
        </p:spPr>
        <p:txBody>
          <a:bodyPr wrap="square" lIns="0" tIns="0" rIns="0" bIns="0" rtlCol="0" anchor="ctr"/>
          <a:lstStyle/>
          <a:p>
            <a:pPr marL="0" indent="0" algn="ctr">
              <a:buNone/>
            </a:pPr>
            <a:r>
              <a:rPr lang="en-US" sz="1050" b="1" dirty="0">
                <a:solidFill>
                  <a:srgbClr val="1A2232"/>
                </a:solidFill>
                <a:latin typeface="Courier New" pitchFamily="34" charset="0"/>
                <a:ea typeface="Courier New" pitchFamily="34" charset="-122"/>
                <a:cs typeface="Courier New" pitchFamily="34" charset="-120"/>
              </a:rPr>
              <a:t>03-14  09:42:17</a:t>
            </a:r>
            <a:endParaRPr lang="en-US" sz="1050" dirty="0"/>
          </a:p>
        </p:txBody>
      </p:sp>
      <p:sp>
        <p:nvSpPr>
          <p:cNvPr id="37" name="Text 35"/>
          <p:cNvSpPr txBox="1"/>
          <p:nvPr/>
        </p:nvSpPr>
        <p:spPr>
          <a:xfrm>
            <a:off x="9098280" y="2487168"/>
            <a:ext cx="1737360" cy="685800"/>
          </a:xfrm>
          <a:prstGeom prst="rect">
            <a:avLst/>
          </a:prstGeom>
          <a:noFill/>
          <a:ln/>
        </p:spPr>
        <p:txBody>
          <a:bodyPr wrap="square" lIns="0" tIns="0" rIns="0" bIns="0" rtlCol="0" anchor="t"/>
          <a:lstStyle/>
          <a:p>
            <a:pPr marL="0" indent="0" algn="ctr">
              <a:buNone/>
            </a:pPr>
            <a:r>
              <a:rPr lang="en-US" sz="1100" dirty="0">
                <a:solidFill>
                  <a:srgbClr val="5C6880"/>
                </a:solidFill>
                <a:latin typeface="Calibri" pitchFamily="34" charset="0"/>
                <a:ea typeface="Calibri" pitchFamily="34" charset="-122"/>
                <a:cs typeface="Calibri" pitchFamily="34" charset="-120"/>
              </a:rPr>
              <a:t>Run 3 — last execution</a:t>
            </a:r>
            <a:endParaRPr lang="en-US" sz="1100" dirty="0"/>
          </a:p>
        </p:txBody>
      </p:sp>
      <p:sp>
        <p:nvSpPr>
          <p:cNvPr id="38" name="Shape 36"/>
          <p:cNvSpPr/>
          <p:nvPr/>
        </p:nvSpPr>
        <p:spPr>
          <a:xfrm>
            <a:off x="548640" y="5760720"/>
            <a:ext cx="11064240" cy="548640"/>
          </a:xfrm>
          <a:prstGeom prst="roundRect">
            <a:avLst>
              <a:gd name="adj" fmla="val 13333"/>
            </a:avLst>
          </a:prstGeom>
          <a:solidFill>
            <a:srgbClr val="EEF1F7"/>
          </a:solidFill>
          <a:ln w="12700">
            <a:solidFill>
              <a:srgbClr val="DCE1EC"/>
            </a:solidFill>
            <a:prstDash val="solid"/>
          </a:ln>
        </p:spPr>
      </p:sp>
      <p:sp>
        <p:nvSpPr>
          <p:cNvPr id="39" name="Text 37"/>
          <p:cNvSpPr txBox="1"/>
          <p:nvPr/>
        </p:nvSpPr>
        <p:spPr>
          <a:xfrm>
            <a:off x="777240" y="5760720"/>
            <a:ext cx="10698480" cy="548640"/>
          </a:xfrm>
          <a:prstGeom prst="rect">
            <a:avLst/>
          </a:prstGeom>
          <a:noFill/>
          <a:ln/>
        </p:spPr>
        <p:txBody>
          <a:bodyPr wrap="square" lIns="0" tIns="0" rIns="0" bIns="0" rtlCol="0" anchor="ctr"/>
          <a:lstStyle/>
          <a:p>
            <a:pPr marL="0" indent="0">
              <a:buNone/>
            </a:pPr>
            <a:r>
              <a:rPr lang="en-US" sz="1250" b="1" dirty="0">
                <a:solidFill>
                  <a:srgbClr val="1A2232"/>
                </a:solidFill>
                <a:latin typeface="Calibri" pitchFamily="34" charset="0"/>
                <a:ea typeface="Calibri" pitchFamily="34" charset="-122"/>
                <a:cs typeface="Calibri" pitchFamily="34" charset="-120"/>
              </a:rPr>
              <a:t>Reading it:  </a:t>
            </a:r>
            <a:r>
              <a:rPr lang="en-US" sz="1250" dirty="0">
                <a:solidFill>
                  <a:srgbClr val="5C6880"/>
                </a:solidFill>
                <a:latin typeface="Calibri" pitchFamily="34" charset="0"/>
                <a:ea typeface="Calibri" pitchFamily="34" charset="-122"/>
                <a:cs typeface="Calibri" pitchFamily="34" charset="-120"/>
              </a:rPr>
              <a:t>file arrives at 15:58  →  runs ~6 minutes later  →  is inventoried  →  runs twice more over two days.  Spacing not to scale.</a:t>
            </a:r>
            <a:endParaRPr lang="en-US" sz="1250" dirty="0"/>
          </a:p>
        </p:txBody>
      </p:sp>
      <p:sp>
        <p:nvSpPr>
          <p:cNvPr id="40" name="Text 3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41" name="Text 39"/>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3  ·  Pinak Sakariya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BE CAREFUL</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Timestamp pitfalls and anti-forensics</a:t>
            </a:r>
            <a:endParaRPr lang="en-US" sz="3000" dirty="0"/>
          </a:p>
        </p:txBody>
      </p:sp>
      <p:sp>
        <p:nvSpPr>
          <p:cNvPr id="6" name="Text 4"/>
          <p:cNvSpPr txBox="1"/>
          <p:nvPr/>
        </p:nvSpPr>
        <p:spPr>
          <a:xfrm>
            <a:off x="548640" y="1600200"/>
            <a:ext cx="5303520" cy="36576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Timestamp pitfalls</a:t>
            </a:r>
            <a:endParaRPr lang="en-US" sz="1500" dirty="0"/>
          </a:p>
        </p:txBody>
      </p:sp>
      <p:sp>
        <p:nvSpPr>
          <p:cNvPr id="7" name="Shape 5"/>
          <p:cNvSpPr/>
          <p:nvPr/>
        </p:nvSpPr>
        <p:spPr>
          <a:xfrm>
            <a:off x="777240" y="2148840"/>
            <a:ext cx="475488" cy="475488"/>
          </a:xfrm>
          <a:prstGeom prst="ellipse">
            <a:avLst/>
          </a:prstGeom>
          <a:solidFill>
            <a:srgbClr val="C77D1A"/>
          </a:solidFill>
          <a:ln/>
        </p:spPr>
      </p:sp>
      <p:sp>
        <p:nvSpPr>
          <p:cNvPr id="8" name="Text 6"/>
          <p:cNvSpPr txBox="1"/>
          <p:nvPr/>
        </p:nvSpPr>
        <p:spPr>
          <a:xfrm>
            <a:off x="777240" y="21488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 name="Text 7"/>
          <p:cNvSpPr txBox="1"/>
          <p:nvPr/>
        </p:nvSpPr>
        <p:spPr>
          <a:xfrm>
            <a:off x="1463040" y="20574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Time zones</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Always convert to UTC before comparing</a:t>
            </a:r>
            <a:endParaRPr lang="en-US" sz="1450" dirty="0"/>
          </a:p>
        </p:txBody>
      </p:sp>
      <p:sp>
        <p:nvSpPr>
          <p:cNvPr id="10" name="Shape 8"/>
          <p:cNvSpPr/>
          <p:nvPr/>
        </p:nvSpPr>
        <p:spPr>
          <a:xfrm>
            <a:off x="777240" y="3063240"/>
            <a:ext cx="475488" cy="475488"/>
          </a:xfrm>
          <a:prstGeom prst="ellipse">
            <a:avLst/>
          </a:prstGeom>
          <a:solidFill>
            <a:srgbClr val="C77D1A"/>
          </a:solidFill>
          <a:ln/>
        </p:spPr>
      </p:sp>
      <p:sp>
        <p:nvSpPr>
          <p:cNvPr id="11" name="Text 9"/>
          <p:cNvSpPr txBox="1"/>
          <p:nvPr/>
        </p:nvSpPr>
        <p:spPr>
          <a:xfrm>
            <a:off x="777240" y="30632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10"/>
          <p:cNvSpPr txBox="1"/>
          <p:nvPr/>
        </p:nvSpPr>
        <p:spPr>
          <a:xfrm>
            <a:off x="1463040" y="29718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Prefetch writes ~10 s late</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The .pf file time trails the real launch slightly</a:t>
            </a:r>
            <a:endParaRPr lang="en-US" sz="1450" dirty="0"/>
          </a:p>
        </p:txBody>
      </p:sp>
      <p:sp>
        <p:nvSpPr>
          <p:cNvPr id="13" name="Shape 11"/>
          <p:cNvSpPr/>
          <p:nvPr/>
        </p:nvSpPr>
        <p:spPr>
          <a:xfrm>
            <a:off x="777240" y="3977640"/>
            <a:ext cx="475488" cy="475488"/>
          </a:xfrm>
          <a:prstGeom prst="ellipse">
            <a:avLst/>
          </a:prstGeom>
          <a:solidFill>
            <a:srgbClr val="C77D1A"/>
          </a:solidFill>
          <a:ln/>
        </p:spPr>
      </p:sp>
      <p:sp>
        <p:nvSpPr>
          <p:cNvPr id="14" name="Text 12"/>
          <p:cNvSpPr txBox="1"/>
          <p:nvPr/>
        </p:nvSpPr>
        <p:spPr>
          <a:xfrm>
            <a:off x="777240" y="39776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5" name="Text 13"/>
          <p:cNvSpPr txBox="1"/>
          <p:nvPr/>
        </p:nvSpPr>
        <p:spPr>
          <a:xfrm>
            <a:off x="1463040" y="38862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Timestomping</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Attackers can fake a file's modified time — this affects Shimcache</a:t>
            </a:r>
            <a:endParaRPr lang="en-US" sz="1450" dirty="0"/>
          </a:p>
        </p:txBody>
      </p:sp>
      <p:sp>
        <p:nvSpPr>
          <p:cNvPr id="16" name="Shape 14"/>
          <p:cNvSpPr/>
          <p:nvPr/>
        </p:nvSpPr>
        <p:spPr>
          <a:xfrm>
            <a:off x="777240" y="4892040"/>
            <a:ext cx="475488" cy="475488"/>
          </a:xfrm>
          <a:prstGeom prst="ellipse">
            <a:avLst/>
          </a:prstGeom>
          <a:solidFill>
            <a:srgbClr val="C77D1A"/>
          </a:solidFill>
          <a:ln/>
        </p:spPr>
      </p:sp>
      <p:sp>
        <p:nvSpPr>
          <p:cNvPr id="17" name="Text 15"/>
          <p:cNvSpPr txBox="1"/>
          <p:nvPr/>
        </p:nvSpPr>
        <p:spPr>
          <a:xfrm>
            <a:off x="777240" y="48920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8" name="Text 16"/>
          <p:cNvSpPr txBox="1"/>
          <p:nvPr/>
        </p:nvSpPr>
        <p:spPr>
          <a:xfrm>
            <a:off x="1463040" y="48006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Clock changes</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A changed system clock shifts everything</a:t>
            </a:r>
            <a:endParaRPr lang="en-US" sz="1450" dirty="0"/>
          </a:p>
        </p:txBody>
      </p:sp>
      <p:sp>
        <p:nvSpPr>
          <p:cNvPr id="19" name="Text 17"/>
          <p:cNvSpPr txBox="1"/>
          <p:nvPr/>
        </p:nvSpPr>
        <p:spPr>
          <a:xfrm>
            <a:off x="6309360" y="1600200"/>
            <a:ext cx="5303520" cy="365760"/>
          </a:xfrm>
          <a:prstGeom prst="rect">
            <a:avLst/>
          </a:prstGeom>
          <a:noFill/>
          <a:ln/>
        </p:spPr>
        <p:txBody>
          <a:bodyPr wrap="square" lIns="0" tIns="0" rIns="0" bIns="0" rtlCol="0" anchor="ctr"/>
          <a:lstStyle/>
          <a:p>
            <a:pPr marL="0" indent="0">
              <a:buNone/>
            </a:pPr>
            <a:r>
              <a:rPr lang="en-US" sz="1500" b="1" dirty="0">
                <a:solidFill>
                  <a:srgbClr val="1A2232"/>
                </a:solidFill>
                <a:latin typeface="Calibri" pitchFamily="34" charset="0"/>
                <a:ea typeface="Calibri" pitchFamily="34" charset="-122"/>
                <a:cs typeface="Calibri" pitchFamily="34" charset="-120"/>
              </a:rPr>
              <a:t>Anti-forensics signals</a:t>
            </a:r>
            <a:endParaRPr lang="en-US" sz="1500" dirty="0"/>
          </a:p>
        </p:txBody>
      </p:sp>
      <p:sp>
        <p:nvSpPr>
          <p:cNvPr id="20" name="Shape 18"/>
          <p:cNvSpPr/>
          <p:nvPr/>
        </p:nvSpPr>
        <p:spPr>
          <a:xfrm>
            <a:off x="6537960" y="2148840"/>
            <a:ext cx="475488" cy="475488"/>
          </a:xfrm>
          <a:prstGeom prst="ellipse">
            <a:avLst/>
          </a:prstGeom>
          <a:solidFill>
            <a:srgbClr val="B23B3B"/>
          </a:solidFill>
          <a:ln/>
        </p:spPr>
      </p:sp>
      <p:sp>
        <p:nvSpPr>
          <p:cNvPr id="21" name="Text 19"/>
          <p:cNvSpPr txBox="1"/>
          <p:nvPr/>
        </p:nvSpPr>
        <p:spPr>
          <a:xfrm>
            <a:off x="6537960" y="21488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2" name="Text 20"/>
          <p:cNvSpPr txBox="1"/>
          <p:nvPr/>
        </p:nvSpPr>
        <p:spPr>
          <a:xfrm>
            <a:off x="7223760" y="20574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Empty Prefetch folder</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On a workstation, that itself is suspicious</a:t>
            </a:r>
            <a:endParaRPr lang="en-US" sz="1450" dirty="0"/>
          </a:p>
        </p:txBody>
      </p:sp>
      <p:sp>
        <p:nvSpPr>
          <p:cNvPr id="23" name="Shape 21"/>
          <p:cNvSpPr/>
          <p:nvPr/>
        </p:nvSpPr>
        <p:spPr>
          <a:xfrm>
            <a:off x="6537960" y="3063240"/>
            <a:ext cx="475488" cy="475488"/>
          </a:xfrm>
          <a:prstGeom prst="ellipse">
            <a:avLst/>
          </a:prstGeom>
          <a:solidFill>
            <a:srgbClr val="B23B3B"/>
          </a:solidFill>
          <a:ln/>
        </p:spPr>
      </p:sp>
      <p:sp>
        <p:nvSpPr>
          <p:cNvPr id="24" name="Text 22"/>
          <p:cNvSpPr txBox="1"/>
          <p:nvPr/>
        </p:nvSpPr>
        <p:spPr>
          <a:xfrm>
            <a:off x="6537960" y="30632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5" name="Text 23"/>
          <p:cNvSpPr txBox="1"/>
          <p:nvPr/>
        </p:nvSpPr>
        <p:spPr>
          <a:xfrm>
            <a:off x="7223760" y="29718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EnablePrefetcher set to 0</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Someone may have switched Prefetch off</a:t>
            </a:r>
            <a:endParaRPr lang="en-US" sz="1450" dirty="0"/>
          </a:p>
        </p:txBody>
      </p:sp>
      <p:sp>
        <p:nvSpPr>
          <p:cNvPr id="26" name="Shape 24"/>
          <p:cNvSpPr/>
          <p:nvPr/>
        </p:nvSpPr>
        <p:spPr>
          <a:xfrm>
            <a:off x="6537960" y="3977640"/>
            <a:ext cx="475488" cy="475488"/>
          </a:xfrm>
          <a:prstGeom prst="ellipse">
            <a:avLst/>
          </a:prstGeom>
          <a:solidFill>
            <a:srgbClr val="B23B3B"/>
          </a:solidFill>
          <a:ln/>
        </p:spPr>
      </p:sp>
      <p:sp>
        <p:nvSpPr>
          <p:cNvPr id="27" name="Text 25"/>
          <p:cNvSpPr txBox="1"/>
          <p:nvPr/>
        </p:nvSpPr>
        <p:spPr>
          <a:xfrm>
            <a:off x="6537960" y="39776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8" name="Text 26"/>
          <p:cNvSpPr txBox="1"/>
          <p:nvPr/>
        </p:nvSpPr>
        <p:spPr>
          <a:xfrm>
            <a:off x="7223760" y="38862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Renamed binary</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Different name, same SHA-1 in Amcache gives it away</a:t>
            </a:r>
            <a:endParaRPr lang="en-US" sz="1450" dirty="0"/>
          </a:p>
        </p:txBody>
      </p:sp>
      <p:sp>
        <p:nvSpPr>
          <p:cNvPr id="29" name="Shape 27"/>
          <p:cNvSpPr/>
          <p:nvPr/>
        </p:nvSpPr>
        <p:spPr>
          <a:xfrm>
            <a:off x="6537960" y="4892040"/>
            <a:ext cx="475488" cy="475488"/>
          </a:xfrm>
          <a:prstGeom prst="ellipse">
            <a:avLst/>
          </a:prstGeom>
          <a:solidFill>
            <a:srgbClr val="B23B3B"/>
          </a:solidFill>
          <a:ln/>
        </p:spPr>
      </p:sp>
      <p:sp>
        <p:nvSpPr>
          <p:cNvPr id="30" name="Text 28"/>
          <p:cNvSpPr txBox="1"/>
          <p:nvPr/>
        </p:nvSpPr>
        <p:spPr>
          <a:xfrm>
            <a:off x="6537960" y="489204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 name="Text 29"/>
          <p:cNvSpPr txBox="1"/>
          <p:nvPr/>
        </p:nvSpPr>
        <p:spPr>
          <a:xfrm>
            <a:off x="7223760" y="4800600"/>
            <a:ext cx="4389120" cy="868680"/>
          </a:xfrm>
          <a:prstGeom prst="rect">
            <a:avLst/>
          </a:prstGeom>
          <a:noFill/>
          <a:ln/>
        </p:spPr>
        <p:txBody>
          <a:bodyPr wrap="square" lIns="0" tIns="0" rIns="0" bIns="0" rtlCol="0" anchor="ctr"/>
          <a:lstStyle/>
          <a:p>
            <a:pPr marL="0" indent="0">
              <a:lnSpc>
                <a:spcPct val="98000"/>
              </a:lnSpc>
              <a:buNone/>
            </a:pPr>
            <a:r>
              <a:rPr lang="en-US" sz="1450" b="1" dirty="0">
                <a:solidFill>
                  <a:srgbClr val="1A2232"/>
                </a:solidFill>
                <a:latin typeface="Calibri" pitchFamily="34" charset="0"/>
                <a:ea typeface="Calibri" pitchFamily="34" charset="-122"/>
                <a:cs typeface="Calibri" pitchFamily="34" charset="-120"/>
              </a:rPr>
              <a:t>Run from USB</a:t>
            </a:r>
            <a:endParaRPr lang="en-US" sz="1450" dirty="0"/>
          </a:p>
          <a:p>
            <a:pPr marL="0" indent="0">
              <a:lnSpc>
                <a:spcPct val="98000"/>
              </a:lnSpc>
              <a:buNone/>
            </a:pPr>
            <a:r>
              <a:rPr lang="en-US" sz="1250" dirty="0">
                <a:solidFill>
                  <a:srgbClr val="5C6880"/>
                </a:solidFill>
                <a:latin typeface="Calibri" pitchFamily="34" charset="0"/>
                <a:ea typeface="Calibri" pitchFamily="34" charset="-122"/>
                <a:cs typeface="Calibri" pitchFamily="34" charset="-120"/>
              </a:rPr>
              <a:t>Prefetch volume serial points to the device</a:t>
            </a:r>
            <a:endParaRPr lang="en-US" sz="1450" dirty="0"/>
          </a:p>
        </p:txBody>
      </p:sp>
      <p:sp>
        <p:nvSpPr>
          <p:cNvPr id="32" name="Shape 30"/>
          <p:cNvSpPr/>
          <p:nvPr/>
        </p:nvSpPr>
        <p:spPr>
          <a:xfrm>
            <a:off x="548640" y="5760720"/>
            <a:ext cx="11064240" cy="548640"/>
          </a:xfrm>
          <a:prstGeom prst="roundRect">
            <a:avLst>
              <a:gd name="adj" fmla="val 13333"/>
            </a:avLst>
          </a:prstGeom>
          <a:solidFill>
            <a:srgbClr val="EEF1F7"/>
          </a:solidFill>
          <a:ln w="12700">
            <a:solidFill>
              <a:srgbClr val="DCE1EC"/>
            </a:solidFill>
            <a:prstDash val="solid"/>
          </a:ln>
        </p:spPr>
      </p:sp>
      <p:sp>
        <p:nvSpPr>
          <p:cNvPr id="33" name="Text 31"/>
          <p:cNvSpPr txBox="1"/>
          <p:nvPr/>
        </p:nvSpPr>
        <p:spPr>
          <a:xfrm>
            <a:off x="777240" y="5760720"/>
            <a:ext cx="10698480" cy="548640"/>
          </a:xfrm>
          <a:prstGeom prst="rect">
            <a:avLst/>
          </a:prstGeom>
          <a:noFill/>
          <a:ln/>
        </p:spPr>
        <p:txBody>
          <a:bodyPr wrap="square" lIns="0" tIns="0" rIns="0" bIns="0" rtlCol="0" anchor="ctr"/>
          <a:lstStyle/>
          <a:p>
            <a:pPr marL="0" indent="0">
              <a:buNone/>
            </a:pPr>
            <a:r>
              <a:rPr lang="en-US" sz="1250" b="1" dirty="0">
                <a:solidFill>
                  <a:srgbClr val="1A2232"/>
                </a:solidFill>
                <a:latin typeface="Calibri" pitchFamily="34" charset="0"/>
                <a:ea typeface="Calibri" pitchFamily="34" charset="-122"/>
                <a:cs typeface="Calibri" pitchFamily="34" charset="-120"/>
              </a:rPr>
              <a:t>In our case:  </a:t>
            </a:r>
            <a:r>
              <a:rPr lang="en-US" sz="1250" dirty="0">
                <a:solidFill>
                  <a:srgbClr val="5C6880"/>
                </a:solidFill>
                <a:latin typeface="Calibri" pitchFamily="34" charset="0"/>
                <a:ea typeface="Calibri" pitchFamily="34" charset="-122"/>
                <a:cs typeface="Calibri" pitchFamily="34" charset="-120"/>
              </a:rPr>
              <a:t>all times were UTC, the order was logical, Prefetch was intact — no sign of tampering.</a:t>
            </a:r>
            <a:endParaRPr lang="en-US" sz="1250" dirty="0"/>
          </a:p>
        </p:txBody>
      </p:sp>
      <p:sp>
        <p:nvSpPr>
          <p:cNvPr id="34" name="Text 3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35" name="Text 33"/>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3  ·  Pinak Sakariya</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2E4374"/>
                </a:solidFill>
                <a:latin typeface="Calibri" pitchFamily="34" charset="0"/>
                <a:ea typeface="Calibri" pitchFamily="34" charset="-122"/>
                <a:cs typeface="Calibri" pitchFamily="34" charset="-120"/>
              </a:rPr>
              <a:t>FINDINGS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A2232"/>
                </a:solidFill>
                <a:latin typeface="Cambria" pitchFamily="34" charset="0"/>
                <a:ea typeface="Cambria" pitchFamily="34" charset="-122"/>
                <a:cs typeface="Cambria" pitchFamily="34" charset="-120"/>
              </a:rPr>
              <a:t>Our verdict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2414016"/>
        </p:xfrm>
        <a:graphic>
          <a:graphicData uri="http://schemas.openxmlformats.org/drawingml/2006/table">
            <a:tbl>
              <a:tblPr/>
              <a:tblGrid>
                <a:gridCol w="37490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Claim</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Supporting evidence</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2E4374"/>
                    </a:solidFill>
                  </a:tcPr>
                </a:tc>
                <a:extLst>
                  <a:ext uri="{0D108BD9-81ED-4DB2-BD59-A6C34878D82A}">
                    <a16:rowId xmlns:a16="http://schemas.microsoft.com/office/drawing/2014/main" val="10000"/>
                  </a:ext>
                </a:extLst>
              </a:tr>
              <a:tr h="402336">
                <a:tc>
                  <a:txBody>
                    <a:bodyPr/>
                    <a:lstStyle/>
                    <a:p>
                      <a:pPr marL="0" indent="0">
                        <a:buNone/>
                      </a:pPr>
                      <a:r>
                        <a:rPr lang="en-US" sz="1450" b="1" dirty="0">
                          <a:solidFill>
                            <a:srgbClr val="1A2232"/>
                          </a:solidFill>
                          <a:latin typeface="Calibri" pitchFamily="34" charset="0"/>
                          <a:ea typeface="Calibri" pitchFamily="34" charset="-122"/>
                          <a:cs typeface="Calibri" pitchFamily="34" charset="-120"/>
                        </a:rPr>
                        <a:t>netscan.exe existed in jdoe's Downloads</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50" dirty="0">
                          <a:solidFill>
                            <a:srgbClr val="5C6880"/>
                          </a:solidFill>
                          <a:latin typeface="Calibri" pitchFamily="34" charset="0"/>
                          <a:ea typeface="Calibri" pitchFamily="34" charset="-122"/>
                          <a:cs typeface="Calibri" pitchFamily="34" charset="-120"/>
                        </a:rPr>
                        <a:t>Shimcache + Amcache, same path</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50" b="1" dirty="0">
                          <a:solidFill>
                            <a:srgbClr val="2E7D53"/>
                          </a:solidFill>
                          <a:latin typeface="Calibri" pitchFamily="34" charset="0"/>
                          <a:ea typeface="Calibri" pitchFamily="34" charset="-122"/>
                          <a:cs typeface="Calibri" pitchFamily="34" charset="-120"/>
                        </a:rPr>
                        <a:t>High</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450" b="1" dirty="0">
                          <a:solidFill>
                            <a:srgbClr val="1A2232"/>
                          </a:solidFill>
                          <a:latin typeface="Calibri" pitchFamily="34" charset="0"/>
                          <a:ea typeface="Calibri" pitchFamily="34" charset="-122"/>
                          <a:cs typeface="Calibri" pitchFamily="34" charset="-120"/>
                        </a:rPr>
                        <a:t>It is this exact, unsigned binary</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50" dirty="0">
                          <a:solidFill>
                            <a:srgbClr val="5C6880"/>
                          </a:solidFill>
                          <a:latin typeface="Calibri" pitchFamily="34" charset="0"/>
                          <a:ea typeface="Calibri" pitchFamily="34" charset="-122"/>
                          <a:cs typeface="Calibri" pitchFamily="34" charset="-120"/>
                        </a:rPr>
                        <a:t>Amcache SHA-1</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50" b="1" dirty="0">
                          <a:solidFill>
                            <a:srgbClr val="2E7D53"/>
                          </a:solidFill>
                          <a:latin typeface="Calibri" pitchFamily="34" charset="0"/>
                          <a:ea typeface="Calibri" pitchFamily="34" charset="-122"/>
                          <a:cs typeface="Calibri" pitchFamily="34" charset="-120"/>
                        </a:rPr>
                        <a:t>High</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extLst>
                  <a:ext uri="{0D108BD9-81ED-4DB2-BD59-A6C34878D82A}">
                    <a16:rowId xmlns:a16="http://schemas.microsoft.com/office/drawing/2014/main" val="10002"/>
                  </a:ext>
                </a:extLst>
              </a:tr>
              <a:tr h="402336">
                <a:tc>
                  <a:txBody>
                    <a:bodyPr/>
                    <a:lstStyle/>
                    <a:p>
                      <a:pPr marL="0" indent="0">
                        <a:buNone/>
                      </a:pPr>
                      <a:r>
                        <a:rPr lang="en-US" sz="1450" b="1" dirty="0">
                          <a:solidFill>
                            <a:srgbClr val="1A2232"/>
                          </a:solidFill>
                          <a:latin typeface="Calibri" pitchFamily="34" charset="0"/>
                          <a:ea typeface="Calibri" pitchFamily="34" charset="-122"/>
                          <a:cs typeface="Calibri" pitchFamily="34" charset="-120"/>
                        </a:rPr>
                        <a:t>It was executed 3 times</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50" dirty="0">
                          <a:solidFill>
                            <a:srgbClr val="5C6880"/>
                          </a:solidFill>
                          <a:latin typeface="Calibri" pitchFamily="34" charset="0"/>
                          <a:ea typeface="Calibri" pitchFamily="34" charset="-122"/>
                          <a:cs typeface="Calibri" pitchFamily="34" charset="-120"/>
                        </a:rPr>
                        <a:t>Prefetch run count and run times</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50" b="1" dirty="0">
                          <a:solidFill>
                            <a:srgbClr val="2E7D53"/>
                          </a:solidFill>
                          <a:latin typeface="Calibri" pitchFamily="34" charset="0"/>
                          <a:ea typeface="Calibri" pitchFamily="34" charset="-122"/>
                          <a:cs typeface="Calibri" pitchFamily="34" charset="-120"/>
                        </a:rPr>
                        <a:t>High</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450" b="1" dirty="0">
                          <a:solidFill>
                            <a:srgbClr val="1A2232"/>
                          </a:solidFill>
                          <a:latin typeface="Calibri" pitchFamily="34" charset="0"/>
                          <a:ea typeface="Calibri" pitchFamily="34" charset="-122"/>
                          <a:cs typeface="Calibri" pitchFamily="34" charset="-120"/>
                        </a:rPr>
                        <a:t>First run 03-12 16:04, last 03-14 09:42 UTC</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50" dirty="0">
                          <a:solidFill>
                            <a:srgbClr val="5C6880"/>
                          </a:solidFill>
                          <a:latin typeface="Calibri" pitchFamily="34" charset="0"/>
                          <a:ea typeface="Calibri" pitchFamily="34" charset="-122"/>
                          <a:cs typeface="Calibri" pitchFamily="34" charset="-120"/>
                        </a:rPr>
                        <a:t>Prefetch, consistent with Shimcache and Amcache</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tc>
                  <a:txBody>
                    <a:bodyPr/>
                    <a:lstStyle/>
                    <a:p>
                      <a:pPr marL="0" indent="0">
                        <a:buNone/>
                      </a:pPr>
                      <a:r>
                        <a:rPr lang="en-US" sz="1450" b="1" dirty="0">
                          <a:solidFill>
                            <a:srgbClr val="2E7D53"/>
                          </a:solidFill>
                          <a:latin typeface="Calibri" pitchFamily="34" charset="0"/>
                          <a:ea typeface="Calibri" pitchFamily="34" charset="-122"/>
                          <a:cs typeface="Calibri" pitchFamily="34" charset="-120"/>
                        </a:rPr>
                        <a:t>High</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EEF1F7"/>
                    </a:solidFill>
                  </a:tcPr>
                </a:tc>
                <a:extLst>
                  <a:ext uri="{0D108BD9-81ED-4DB2-BD59-A6C34878D82A}">
                    <a16:rowId xmlns:a16="http://schemas.microsoft.com/office/drawing/2014/main" val="10004"/>
                  </a:ext>
                </a:extLst>
              </a:tr>
              <a:tr h="402336">
                <a:tc>
                  <a:txBody>
                    <a:bodyPr/>
                    <a:lstStyle/>
                    <a:p>
                      <a:pPr marL="0" indent="0">
                        <a:buNone/>
                      </a:pPr>
                      <a:r>
                        <a:rPr lang="en-US" sz="1450" b="1" dirty="0">
                          <a:solidFill>
                            <a:srgbClr val="1A2232"/>
                          </a:solidFill>
                          <a:latin typeface="Calibri" pitchFamily="34" charset="0"/>
                          <a:ea typeface="Calibri" pitchFamily="34" charset="-122"/>
                          <a:cs typeface="Calibri" pitchFamily="34" charset="-120"/>
                        </a:rPr>
                        <a:t>User jdoe personally ran it</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50" dirty="0">
                          <a:solidFill>
                            <a:srgbClr val="5C6880"/>
                          </a:solidFill>
                          <a:latin typeface="Calibri" pitchFamily="34" charset="0"/>
                          <a:ea typeface="Calibri" pitchFamily="34" charset="-122"/>
                          <a:cs typeface="Calibri" pitchFamily="34" charset="-120"/>
                        </a:rPr>
                        <a:t>Only the path in jdoe's profile</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tc>
                  <a:txBody>
                    <a:bodyPr/>
                    <a:lstStyle/>
                    <a:p>
                      <a:pPr marL="0" indent="0">
                        <a:buNone/>
                      </a:pPr>
                      <a:r>
                        <a:rPr lang="en-US" sz="1450" b="1" dirty="0">
                          <a:solidFill>
                            <a:srgbClr val="C77D1A"/>
                          </a:solidFill>
                          <a:latin typeface="Calibri" pitchFamily="34" charset="0"/>
                          <a:ea typeface="Calibri" pitchFamily="34" charset="-122"/>
                          <a:cs typeface="Calibri" pitchFamily="34" charset="-120"/>
                        </a:rPr>
                        <a:t>Moderate</a:t>
                      </a:r>
                      <a:endParaRPr lang="en-US" sz="1450" dirty="0">
                        <a:latin typeface="Calibri" charset="0"/>
                        <a:ea typeface="Calibri" charset="0"/>
                        <a:cs typeface="Calibri" charset="0"/>
                      </a:endParaRPr>
                    </a:p>
                  </a:txBody>
                  <a:tcPr anchor="ctr">
                    <a:lnL w="12700" cap="flat" cmpd="sng" algn="ctr">
                      <a:solidFill>
                        <a:srgbClr val="DCE1EC"/>
                      </a:solidFill>
                      <a:prstDash val="solid"/>
                      <a:round/>
                      <a:headEnd type="none" w="med" len="med"/>
                      <a:tailEnd type="none" w="med" len="med"/>
                    </a:lnL>
                    <a:lnR w="12700" cap="flat" cmpd="sng" algn="ctr">
                      <a:solidFill>
                        <a:srgbClr val="DCE1EC"/>
                      </a:solidFill>
                      <a:prstDash val="solid"/>
                      <a:round/>
                      <a:headEnd type="none" w="med" len="med"/>
                      <a:tailEnd type="none" w="med" len="med"/>
                    </a:lnR>
                    <a:lnT w="12700" cap="flat" cmpd="sng" algn="ctr">
                      <a:solidFill>
                        <a:srgbClr val="DCE1EC"/>
                      </a:solidFill>
                      <a:prstDash val="solid"/>
                      <a:round/>
                      <a:headEnd type="none" w="med" len="med"/>
                      <a:tailEnd type="none" w="med" len="med"/>
                    </a:lnT>
                    <a:lnB w="12700" cap="flat" cmpd="sng" algn="ctr">
                      <a:solidFill>
                        <a:srgbClr val="DCE1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4434840"/>
            <a:ext cx="11064240" cy="1600200"/>
          </a:xfrm>
          <a:prstGeom prst="roundRect">
            <a:avLst>
              <a:gd name="adj" fmla="val 4571"/>
            </a:avLst>
          </a:prstGeom>
          <a:solidFill>
            <a:srgbClr val="141B2E"/>
          </a:solidFill>
          <a:ln/>
        </p:spPr>
      </p:sp>
      <p:sp>
        <p:nvSpPr>
          <p:cNvPr id="8" name="Text 5"/>
          <p:cNvSpPr txBox="1"/>
          <p:nvPr/>
        </p:nvSpPr>
        <p:spPr>
          <a:xfrm>
            <a:off x="868680" y="4599432"/>
            <a:ext cx="2743200" cy="274320"/>
          </a:xfrm>
          <a:prstGeom prst="rect">
            <a:avLst/>
          </a:prstGeom>
          <a:noFill/>
          <a:ln/>
        </p:spPr>
        <p:txBody>
          <a:bodyPr wrap="square" lIns="0" tIns="0" rIns="0" bIns="0" rtlCol="0" anchor="ctr"/>
          <a:lstStyle/>
          <a:p>
            <a:pPr marL="0" indent="0">
              <a:buNone/>
            </a:pPr>
            <a:r>
              <a:rPr lang="en-US" sz="1100" b="1" kern="0" spc="200" dirty="0">
                <a:solidFill>
                  <a:srgbClr val="E3A008"/>
                </a:solidFill>
                <a:latin typeface="Calibri" pitchFamily="34" charset="0"/>
                <a:ea typeface="Calibri" pitchFamily="34" charset="-122"/>
                <a:cs typeface="Calibri" pitchFamily="34" charset="-120"/>
              </a:rPr>
              <a:t>ANSWER</a:t>
            </a:r>
            <a:endParaRPr lang="en-US" sz="1100" dirty="0"/>
          </a:p>
        </p:txBody>
      </p:sp>
      <p:sp>
        <p:nvSpPr>
          <p:cNvPr id="9" name="Text 6"/>
          <p:cNvSpPr txBox="1"/>
          <p:nvPr/>
        </p:nvSpPr>
        <p:spPr>
          <a:xfrm>
            <a:off x="868680" y="4873752"/>
            <a:ext cx="10515600" cy="1097280"/>
          </a:xfrm>
          <a:prstGeom prst="rect">
            <a:avLst/>
          </a:prstGeom>
          <a:noFill/>
          <a:ln/>
        </p:spPr>
        <p:txBody>
          <a:bodyPr wrap="square" lIns="0" tIns="0" rIns="0" bIns="0" rtlCol="0" anchor="t"/>
          <a:lstStyle/>
          <a:p>
            <a:pPr marL="0" indent="0">
              <a:lnSpc>
                <a:spcPct val="108000"/>
              </a:lnSpc>
              <a:buNone/>
            </a:pPr>
            <a:r>
              <a:rPr lang="en-US" sz="1550" b="1" dirty="0">
                <a:solidFill>
                  <a:srgbClr val="FFFFFF"/>
                </a:solidFill>
                <a:latin typeface="Calibri" pitchFamily="34" charset="0"/>
                <a:ea typeface="Calibri" pitchFamily="34" charset="-122"/>
                <a:cs typeface="Calibri" pitchFamily="34" charset="-120"/>
              </a:rPr>
              <a:t>Yes — the program was executed, three times, between 12 and 14 March 2026. </a:t>
            </a:r>
            <a:r>
              <a:rPr lang="en-US" sz="1550" dirty="0">
                <a:solidFill>
                  <a:srgbClr val="AEB8D0"/>
                </a:solidFill>
                <a:latin typeface="Calibri" pitchFamily="34" charset="0"/>
                <a:ea typeface="Calibri" pitchFamily="34" charset="-122"/>
                <a:cs typeface="Calibri" pitchFamily="34" charset="-120"/>
              </a:rPr>
              <a:t>Proving which person was at the keyboard needs logon evidence, which is outside this case's scope — so we state that link as likely, not proven.</a:t>
            </a:r>
            <a:endParaRPr lang="en-US" sz="1550" dirty="0"/>
          </a:p>
        </p:txBody>
      </p:sp>
      <p:sp>
        <p:nvSpPr>
          <p:cNvPr id="10" name="Text 7"/>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5C6880"/>
                </a:solidFill>
                <a:latin typeface="Calibri" pitchFamily="34" charset="0"/>
                <a:ea typeface="Calibri" pitchFamily="34" charset="-122"/>
                <a:cs typeface="Calibri" pitchFamily="34" charset="-120"/>
              </a:rPr>
              <a:t>Case: Did the User Run This Program?</a:t>
            </a:r>
            <a:endParaRPr lang="en-US" sz="900" dirty="0"/>
          </a:p>
        </p:txBody>
      </p:sp>
      <p:sp>
        <p:nvSpPr>
          <p:cNvPr id="11" name="Text 8"/>
          <p:cNvSpPr txBox="1"/>
          <p:nvPr/>
        </p:nvSpPr>
        <p:spPr>
          <a:xfrm>
            <a:off x="6126480" y="6446520"/>
            <a:ext cx="5486400" cy="274320"/>
          </a:xfrm>
          <a:prstGeom prst="rect">
            <a:avLst/>
          </a:prstGeom>
          <a:noFill/>
          <a:ln/>
        </p:spPr>
        <p:txBody>
          <a:bodyPr wrap="square" lIns="0" tIns="0" rIns="0" bIns="0" rtlCol="0" anchor="ctr"/>
          <a:lstStyle/>
          <a:p>
            <a:pPr marL="0" indent="0" algn="r">
              <a:buNone/>
            </a:pPr>
            <a:r>
              <a:rPr lang="en-US" sz="900" dirty="0">
                <a:solidFill>
                  <a:srgbClr val="5C6880"/>
                </a:solidFill>
                <a:latin typeface="Calibri" pitchFamily="34" charset="0"/>
                <a:ea typeface="Calibri" pitchFamily="34" charset="-122"/>
                <a:cs typeface="Calibri" pitchFamily="34" charset="-120"/>
              </a:rPr>
              <a:t>Part 3  ·  Pinak Sakariya</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B2E"/>
        </a:solidFill>
        <a:effectLst/>
      </p:bgPr>
    </p:bg>
    <p:spTree>
      <p:nvGrpSpPr>
        <p:cNvPr id="1" name=""/>
        <p:cNvGrpSpPr/>
        <p:nvPr/>
      </p:nvGrpSpPr>
      <p:grpSpPr>
        <a:xfrm>
          <a:off x="0" y="0"/>
          <a:ext cx="0" cy="0"/>
          <a:chOff x="0" y="0"/>
          <a:chExt cx="0" cy="0"/>
        </a:xfrm>
      </p:grpSpPr>
      <p:sp>
        <p:nvSpPr>
          <p:cNvPr id="2" name="Shape 0"/>
          <p:cNvSpPr/>
          <p:nvPr/>
        </p:nvSpPr>
        <p:spPr>
          <a:xfrm>
            <a:off x="-1737360" y="5577840"/>
            <a:ext cx="3657600" cy="3657600"/>
          </a:xfrm>
          <a:prstGeom prst="ellipse">
            <a:avLst/>
          </a:prstGeom>
          <a:solidFill>
            <a:srgbClr val="2E4374"/>
          </a:solidFill>
          <a:ln/>
        </p:spPr>
      </p:sp>
      <p:sp>
        <p:nvSpPr>
          <p:cNvPr id="3" name="Text 1"/>
          <p:cNvSpPr txBox="1"/>
          <p:nvPr/>
        </p:nvSpPr>
        <p:spPr>
          <a:xfrm>
            <a:off x="731520" y="731520"/>
            <a:ext cx="10058400" cy="411480"/>
          </a:xfrm>
          <a:prstGeom prst="rect">
            <a:avLst/>
          </a:prstGeom>
          <a:noFill/>
          <a:ln/>
        </p:spPr>
        <p:txBody>
          <a:bodyPr wrap="square" lIns="0" tIns="0" rIns="0" bIns="0" rtlCol="0" anchor="ctr"/>
          <a:lstStyle/>
          <a:p>
            <a:pPr marL="0" indent="0">
              <a:buNone/>
            </a:pPr>
            <a:r>
              <a:rPr lang="en-US" sz="1400" b="1" kern="0" spc="300" dirty="0">
                <a:solidFill>
                  <a:srgbClr val="E3A008"/>
                </a:solidFill>
                <a:latin typeface="Calibri" pitchFamily="34" charset="0"/>
                <a:ea typeface="Calibri" pitchFamily="34" charset="-122"/>
                <a:cs typeface="Calibri" pitchFamily="34" charset="-120"/>
              </a:rPr>
              <a:t>KEY TAKEAWAYS</a:t>
            </a:r>
            <a:endParaRPr lang="en-US" sz="1400" dirty="0"/>
          </a:p>
        </p:txBody>
      </p:sp>
      <p:sp>
        <p:nvSpPr>
          <p:cNvPr id="4" name="Text 2"/>
          <p:cNvSpPr txBox="1"/>
          <p:nvPr/>
        </p:nvSpPr>
        <p:spPr>
          <a:xfrm>
            <a:off x="731520" y="1097280"/>
            <a:ext cx="100584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 to Remember</a:t>
            </a:r>
            <a:endParaRPr lang="en-US" sz="3400" dirty="0"/>
          </a:p>
        </p:txBody>
      </p:sp>
      <p:sp>
        <p:nvSpPr>
          <p:cNvPr id="5" name="Shape 3"/>
          <p:cNvSpPr/>
          <p:nvPr/>
        </p:nvSpPr>
        <p:spPr>
          <a:xfrm>
            <a:off x="777240" y="2148840"/>
            <a:ext cx="457200" cy="457200"/>
          </a:xfrm>
          <a:prstGeom prst="ellipse">
            <a:avLst/>
          </a:prstGeom>
          <a:solidFill>
            <a:srgbClr val="E3A008"/>
          </a:solidFill>
          <a:ln/>
        </p:spPr>
      </p:sp>
      <p:sp>
        <p:nvSpPr>
          <p:cNvPr id="6" name="Text 4"/>
          <p:cNvSpPr txBox="1"/>
          <p:nvPr/>
        </p:nvSpPr>
        <p:spPr>
          <a:xfrm>
            <a:off x="777240" y="2148840"/>
            <a:ext cx="457200" cy="457200"/>
          </a:xfrm>
          <a:prstGeom prst="rect">
            <a:avLst/>
          </a:prstGeom>
          <a:noFill/>
          <a:ln/>
        </p:spPr>
        <p:txBody>
          <a:bodyPr wrap="square" lIns="0" tIns="0" rIns="0" bIns="0" rtlCol="0" anchor="ctr"/>
          <a:lstStyle/>
          <a:p>
            <a:pPr marL="0" indent="0" algn="ctr">
              <a:buNone/>
            </a:pPr>
            <a:r>
              <a:rPr lang="en-US" sz="1600" b="1" dirty="0">
                <a:solidFill>
                  <a:srgbClr val="141B2E"/>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417320" y="2039112"/>
            <a:ext cx="10058400" cy="685800"/>
          </a:xfrm>
          <a:prstGeom prst="rect">
            <a:avLst/>
          </a:prstGeom>
          <a:noFill/>
          <a:ln/>
        </p:spPr>
        <p:txBody>
          <a:bodyPr wrap="square" lIns="0" tIns="0" rIns="0" bIns="0" rtlCol="0" anchor="ctr"/>
          <a:lstStyle/>
          <a:p>
            <a:pPr marL="0" indent="0">
              <a:buNone/>
            </a:pPr>
            <a:r>
              <a:rPr lang="en-US" sz="1550" dirty="0">
                <a:solidFill>
                  <a:srgbClr val="EAEEF5"/>
                </a:solidFill>
                <a:latin typeface="Calibri" pitchFamily="34" charset="0"/>
                <a:ea typeface="Calibri" pitchFamily="34" charset="-122"/>
                <a:cs typeface="Calibri" pitchFamily="34" charset="-120"/>
              </a:rPr>
              <a:t>Presence is not execution — always ask which step an artifact really proves.</a:t>
            </a:r>
            <a:endParaRPr lang="en-US" sz="1550" dirty="0"/>
          </a:p>
        </p:txBody>
      </p:sp>
      <p:sp>
        <p:nvSpPr>
          <p:cNvPr id="8" name="Shape 6"/>
          <p:cNvSpPr/>
          <p:nvPr/>
        </p:nvSpPr>
        <p:spPr>
          <a:xfrm>
            <a:off x="777240" y="3017520"/>
            <a:ext cx="457200" cy="457200"/>
          </a:xfrm>
          <a:prstGeom prst="ellipse">
            <a:avLst/>
          </a:prstGeom>
          <a:solidFill>
            <a:srgbClr val="E3A008"/>
          </a:solidFill>
          <a:ln/>
        </p:spPr>
      </p:sp>
      <p:sp>
        <p:nvSpPr>
          <p:cNvPr id="9" name="Text 7"/>
          <p:cNvSpPr txBox="1"/>
          <p:nvPr/>
        </p:nvSpPr>
        <p:spPr>
          <a:xfrm>
            <a:off x="777240" y="3017520"/>
            <a:ext cx="457200" cy="457200"/>
          </a:xfrm>
          <a:prstGeom prst="rect">
            <a:avLst/>
          </a:prstGeom>
          <a:noFill/>
          <a:ln/>
        </p:spPr>
        <p:txBody>
          <a:bodyPr wrap="square" lIns="0" tIns="0" rIns="0" bIns="0" rtlCol="0" anchor="ctr"/>
          <a:lstStyle/>
          <a:p>
            <a:pPr marL="0" indent="0" algn="ctr">
              <a:buNone/>
            </a:pPr>
            <a:r>
              <a:rPr lang="en-US" sz="1600" b="1" dirty="0">
                <a:solidFill>
                  <a:srgbClr val="141B2E"/>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417320" y="2907792"/>
            <a:ext cx="10058400" cy="685800"/>
          </a:xfrm>
          <a:prstGeom prst="rect">
            <a:avLst/>
          </a:prstGeom>
          <a:noFill/>
          <a:ln/>
        </p:spPr>
        <p:txBody>
          <a:bodyPr wrap="square" lIns="0" tIns="0" rIns="0" bIns="0" rtlCol="0" anchor="ctr"/>
          <a:lstStyle/>
          <a:p>
            <a:pPr marL="0" indent="0">
              <a:buNone/>
            </a:pPr>
            <a:r>
              <a:rPr lang="en-US" sz="1550" dirty="0">
                <a:solidFill>
                  <a:srgbClr val="EAEEF5"/>
                </a:solidFill>
                <a:latin typeface="Calibri" pitchFamily="34" charset="0"/>
                <a:ea typeface="Calibri" pitchFamily="34" charset="-122"/>
                <a:cs typeface="Calibri" pitchFamily="34" charset="-120"/>
              </a:rPr>
              <a:t>Prefetch proves execution and gives run times; Amcache identifies the exact file by SHA-1.</a:t>
            </a:r>
            <a:endParaRPr lang="en-US" sz="1550" dirty="0"/>
          </a:p>
        </p:txBody>
      </p:sp>
      <p:sp>
        <p:nvSpPr>
          <p:cNvPr id="11" name="Shape 9"/>
          <p:cNvSpPr/>
          <p:nvPr/>
        </p:nvSpPr>
        <p:spPr>
          <a:xfrm>
            <a:off x="777240" y="3886200"/>
            <a:ext cx="457200" cy="457200"/>
          </a:xfrm>
          <a:prstGeom prst="ellipse">
            <a:avLst/>
          </a:prstGeom>
          <a:solidFill>
            <a:srgbClr val="E3A008"/>
          </a:solidFill>
          <a:ln/>
        </p:spPr>
      </p:sp>
      <p:sp>
        <p:nvSpPr>
          <p:cNvPr id="12" name="Text 10"/>
          <p:cNvSpPr txBox="1"/>
          <p:nvPr/>
        </p:nvSpPr>
        <p:spPr>
          <a:xfrm>
            <a:off x="777240" y="3886200"/>
            <a:ext cx="457200" cy="457200"/>
          </a:xfrm>
          <a:prstGeom prst="rect">
            <a:avLst/>
          </a:prstGeom>
          <a:noFill/>
          <a:ln/>
        </p:spPr>
        <p:txBody>
          <a:bodyPr wrap="square" lIns="0" tIns="0" rIns="0" bIns="0" rtlCol="0" anchor="ctr"/>
          <a:lstStyle/>
          <a:p>
            <a:pPr marL="0" indent="0" algn="ctr">
              <a:buNone/>
            </a:pPr>
            <a:r>
              <a:rPr lang="en-US" sz="1600" b="1" dirty="0">
                <a:solidFill>
                  <a:srgbClr val="141B2E"/>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17320" y="3776472"/>
            <a:ext cx="10058400" cy="685800"/>
          </a:xfrm>
          <a:prstGeom prst="rect">
            <a:avLst/>
          </a:prstGeom>
          <a:noFill/>
          <a:ln/>
        </p:spPr>
        <p:txBody>
          <a:bodyPr wrap="square" lIns="0" tIns="0" rIns="0" bIns="0" rtlCol="0" anchor="ctr"/>
          <a:lstStyle/>
          <a:p>
            <a:pPr marL="0" indent="0">
              <a:buNone/>
            </a:pPr>
            <a:r>
              <a:rPr lang="en-US" sz="1550" dirty="0">
                <a:solidFill>
                  <a:srgbClr val="EAEEF5"/>
                </a:solidFill>
                <a:latin typeface="Calibri" pitchFamily="34" charset="0"/>
                <a:ea typeface="Calibri" pitchFamily="34" charset="-122"/>
                <a:cs typeface="Calibri" pitchFamily="34" charset="-120"/>
              </a:rPr>
              <a:t>Shimcache's time is the file's modified time, not its run time — and it has no execution flag on Windows 10/11.</a:t>
            </a:r>
            <a:endParaRPr lang="en-US" sz="1550" dirty="0"/>
          </a:p>
        </p:txBody>
      </p:sp>
      <p:sp>
        <p:nvSpPr>
          <p:cNvPr id="14" name="Shape 12"/>
          <p:cNvSpPr/>
          <p:nvPr/>
        </p:nvSpPr>
        <p:spPr>
          <a:xfrm>
            <a:off x="777240" y="4754880"/>
            <a:ext cx="457200" cy="457200"/>
          </a:xfrm>
          <a:prstGeom prst="ellipse">
            <a:avLst/>
          </a:prstGeom>
          <a:solidFill>
            <a:srgbClr val="E3A008"/>
          </a:solidFill>
          <a:ln/>
        </p:spPr>
      </p:sp>
      <p:sp>
        <p:nvSpPr>
          <p:cNvPr id="15" name="Text 13"/>
          <p:cNvSpPr txBox="1"/>
          <p:nvPr/>
        </p:nvSpPr>
        <p:spPr>
          <a:xfrm>
            <a:off x="777240" y="4754880"/>
            <a:ext cx="457200" cy="457200"/>
          </a:xfrm>
          <a:prstGeom prst="rect">
            <a:avLst/>
          </a:prstGeom>
          <a:noFill/>
          <a:ln/>
        </p:spPr>
        <p:txBody>
          <a:bodyPr wrap="square" lIns="0" tIns="0" rIns="0" bIns="0" rtlCol="0" anchor="ctr"/>
          <a:lstStyle/>
          <a:p>
            <a:pPr marL="0" indent="0" algn="ctr">
              <a:buNone/>
            </a:pPr>
            <a:r>
              <a:rPr lang="en-US" sz="1600" b="1" dirty="0">
                <a:solidFill>
                  <a:srgbClr val="141B2E"/>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417320" y="4645152"/>
            <a:ext cx="10058400" cy="685800"/>
          </a:xfrm>
          <a:prstGeom prst="rect">
            <a:avLst/>
          </a:prstGeom>
          <a:noFill/>
          <a:ln/>
        </p:spPr>
        <p:txBody>
          <a:bodyPr wrap="square" lIns="0" tIns="0" rIns="0" bIns="0" rtlCol="0" anchor="ctr"/>
          <a:lstStyle/>
          <a:p>
            <a:pPr marL="0" indent="0">
              <a:buNone/>
            </a:pPr>
            <a:r>
              <a:rPr lang="en-US" sz="1550" dirty="0">
                <a:solidFill>
                  <a:srgbClr val="EAEEF5"/>
                </a:solidFill>
                <a:latin typeface="Calibri" pitchFamily="34" charset="0"/>
                <a:ea typeface="Calibri" pitchFamily="34" charset="-122"/>
                <a:cs typeface="Calibri" pitchFamily="34" charset="-120"/>
              </a:rPr>
              <a:t>Convert to UTC and correlate on path, hash and order — agreement between artifacts is what makes a finding strong.</a:t>
            </a:r>
            <a:endParaRPr lang="en-US" sz="1550" dirty="0"/>
          </a:p>
        </p:txBody>
      </p:sp>
      <p:sp>
        <p:nvSpPr>
          <p:cNvPr id="17" name="Text 15"/>
          <p:cNvSpPr txBox="1"/>
          <p:nvPr/>
        </p:nvSpPr>
        <p:spPr>
          <a:xfrm>
            <a:off x="2286000" y="6172200"/>
            <a:ext cx="9326880" cy="365760"/>
          </a:xfrm>
          <a:prstGeom prst="rect">
            <a:avLst/>
          </a:prstGeom>
          <a:noFill/>
          <a:ln/>
        </p:spPr>
        <p:txBody>
          <a:bodyPr wrap="square" lIns="0" tIns="0" rIns="0" bIns="0" rtlCol="0" anchor="ctr"/>
          <a:lstStyle/>
          <a:p>
            <a:pPr marL="0" indent="0">
              <a:buNone/>
            </a:pPr>
            <a:r>
              <a:rPr lang="en-US" sz="1200" i="1" dirty="0">
                <a:solidFill>
                  <a:srgbClr val="AEB8D0"/>
                </a:solidFill>
                <a:latin typeface="Calibri" pitchFamily="34" charset="0"/>
                <a:ea typeface="Calibri" pitchFamily="34" charset="-122"/>
                <a:cs typeface="Calibri" pitchFamily="34" charset="-120"/>
              </a:rPr>
              <a:t>Thank you  —  Aayush Boghara  ·  Vishal Chudasama  ·  Pinak Sakariya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4334</Words>
  <Application>Microsoft Office PowerPoint</Application>
  <PresentationFormat>Widescreen</PresentationFormat>
  <Paragraphs>470</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Did the User Run This Program?</dc:title>
  <dc:subject>PptxGenJS Presentation</dc:subject>
  <dc:creator>PptxGenJS</dc:creator>
  <cp:lastModifiedBy>Chudasama Vishal</cp:lastModifiedBy>
  <cp:revision>7</cp:revision>
  <dcterms:created xsi:type="dcterms:W3CDTF">2026-10-14T03:50:55Z</dcterms:created>
  <dcterms:modified xsi:type="dcterms:W3CDTF">2026-10-14T15:19:15Z</dcterms:modified>
</cp:coreProperties>
</file>