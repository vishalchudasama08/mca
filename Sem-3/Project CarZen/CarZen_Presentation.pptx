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2" r:id="rId18"/>
    <p:sldId id="283" r:id="rId19"/>
    <p:sldId id="284" r:id="rId20"/>
    <p:sldId id="285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D5D84-C4A7-4D35-B436-A1C97A590224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3DC7D-4AF9-42D1-8264-30267F3EC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921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i="1" dirty="0">
                <a:solidFill>
                  <a:srgbClr val="0070C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CarZen:</a:t>
            </a:r>
            <a:r>
              <a:rPr lang="en-US" sz="3700" dirty="0">
                <a:solidFill>
                  <a:srgbClr val="0070C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Car Selling, Reselling, Service &amp; Resale Price Prediction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unified, ML-powered platform for the complete vehicle lifecycle — built for scale, designed for trust.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1. Introduction —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80751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Why the existing vehicle buying, selling and servicing process needs an integrated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9" y="6419088"/>
            <a:ext cx="25680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417320" cy="347472"/>
          </a:xfrm>
          <a:prstGeom prst="round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8"/>
            <a:ext cx="3429000" cy="16002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73152" cy="15087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841247" y="2020824"/>
            <a:ext cx="24344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Manual Searches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41448"/>
            <a:ext cx="3081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Buyers and sellers depend on scattered listings, dealers, advertisements and personal searches.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74519"/>
            <a:ext cx="3429000" cy="1655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73152" cy="15087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4572000" y="2020824"/>
            <a:ext cx="24270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Uncertain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41448"/>
            <a:ext cx="3081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Users may struggle to determine whether a used car is fairly priced or what its resale value should be.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8"/>
            <a:ext cx="3429000" cy="16441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73152" cy="1508760"/>
          </a:xfrm>
          <a:prstGeom prst="rect">
            <a:avLst/>
          </a:prstGeom>
          <a:solidFill>
            <a:srgbClr val="73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33330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Fragmented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41448"/>
            <a:ext cx="3081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Vehicle details, ownership history and service records can be maintained across disconnected 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794760"/>
            <a:ext cx="7178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2514600" y="3794760"/>
            <a:ext cx="73152" cy="15087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2715768" y="3941064"/>
            <a:ext cx="37580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Proposed Problem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4361688"/>
            <a:ext cx="6830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CarZen combines car buying, car selling, reselling, service information and machine-learning-based resale-price prediction in one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2. Objective of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87768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The system is designed to make vehicle transactions more organized, searchable and data-driven.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8" y="6419088"/>
            <a:ext cx="2568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15247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Centralize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Provide one platform for buying, selling, reselling and service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691640"/>
          </a:xfrm>
          <a:prstGeom prst="rect">
            <a:avLst/>
          </a:prstGeom>
          <a:solidFill>
            <a:srgbClr val="19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21026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Search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81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Help buyers discover vehicles using relevant criteria.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417320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8138159" y="1417320"/>
            <a:ext cx="73152" cy="16916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39327" y="1563624"/>
            <a:ext cx="22686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Manage Listings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Allow sellers to create, update, remove and manage vehicle listings.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73152" cy="1691640"/>
          </a:xfrm>
          <a:prstGeom prst="rect">
            <a:avLst/>
          </a:prstGeom>
          <a:solidFill>
            <a:srgbClr val="73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41247" y="3621024"/>
            <a:ext cx="23749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Track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41648"/>
            <a:ext cx="3081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Maintain resale and ownership information for vehicles.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74720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4389120" y="3474720"/>
            <a:ext cx="73152" cy="169164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590288" y="3621024"/>
            <a:ext cx="22438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Manage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041648"/>
            <a:ext cx="3081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Store structured service and maintenance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474720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8138159" y="3474720"/>
            <a:ext cx="73152" cy="169164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39327" y="3621024"/>
            <a:ext cx="18545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Predict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041648"/>
            <a:ext cx="3081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Estimate expected resale price using a trained ML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3. 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4667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Major functional and technical modules of CarZen.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8" y="6419088"/>
            <a:ext cx="2568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381432"/>
            <a:ext cx="3539377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73152" cy="17373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704088" y="1517904"/>
            <a:ext cx="25651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User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2212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Registration, login, authentication, profiles and role-based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2737" y="1382077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336161" y="1382077"/>
            <a:ext cx="73152" cy="1737360"/>
          </a:xfrm>
          <a:prstGeom prst="rect">
            <a:avLst/>
          </a:prstGeom>
          <a:solidFill>
            <a:srgbClr val="19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73905" y="1528381"/>
            <a:ext cx="24154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Car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3905" y="1949005"/>
            <a:ext cx="221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Vehicle attributes, listings, search and filtering.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3097" y="1382077"/>
            <a:ext cx="392811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7226921" y="1382077"/>
            <a:ext cx="73152" cy="17373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7454264" y="1528381"/>
            <a:ext cx="21178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Selling</a:t>
            </a:r>
            <a:r>
              <a:rPr lang="en-US" sz="2400" b="1" dirty="0">
                <a:solidFill>
                  <a:srgbClr val="12263F"/>
                </a:solidFill>
                <a:latin typeface="Aptos Display"/>
              </a:rPr>
              <a:t> </a:t>
            </a:r>
            <a:r>
              <a:rPr sz="2400" b="1" dirty="0">
                <a:solidFill>
                  <a:srgbClr val="12263F"/>
                </a:solidFill>
                <a:latin typeface="Aptos Display"/>
              </a:rPr>
              <a:t>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263" y="1949005"/>
            <a:ext cx="36341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Create, edit, delete and manage selling status of listings.</a:t>
            </a:r>
            <a:endParaRPr lang="en-US" sz="1600" dirty="0">
              <a:solidFill>
                <a:srgbClr val="28303C"/>
              </a:solidFill>
              <a:latin typeface="Aptos"/>
            </a:endParaRPr>
          </a:p>
          <a:p>
            <a:r>
              <a:rPr lang="en-US" sz="1600" dirty="0">
                <a:solidFill>
                  <a:srgbClr val="28303C"/>
                </a:solidFill>
                <a:latin typeface="Aptos"/>
              </a:rPr>
              <a:t>Ownership history, previous purchase information and resale listings.</a:t>
            </a:r>
          </a:p>
          <a:p>
            <a:endParaRPr sz="1600" dirty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352044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502920" y="3520440"/>
            <a:ext cx="73152" cy="173736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704088" y="3666744"/>
            <a:ext cx="22075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Service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87368"/>
            <a:ext cx="2212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Service records, maintenance history, cost and next-service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52044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3383280" y="3520440"/>
            <a:ext cx="73152" cy="17373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3584448" y="3666744"/>
            <a:ext cx="19777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ML 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087368"/>
            <a:ext cx="221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Vehicle-feature-based resale price estimation.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2044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Rectangle 32"/>
          <p:cNvSpPr/>
          <p:nvPr/>
        </p:nvSpPr>
        <p:spPr>
          <a:xfrm>
            <a:off x="6263640" y="3520440"/>
            <a:ext cx="73152" cy="1737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6464807" y="3666744"/>
            <a:ext cx="2076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Admin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4087368"/>
            <a:ext cx="221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Management of users, cars, listings, services and system data.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044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/>
          <p:cNvSpPr/>
          <p:nvPr/>
        </p:nvSpPr>
        <p:spPr>
          <a:xfrm>
            <a:off x="9144000" y="3520440"/>
            <a:ext cx="73152" cy="17373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9345168" y="3666744"/>
            <a:ext cx="14105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API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4087368"/>
            <a:ext cx="22128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REST APIs connecting Flutter frontend, business logic and database/ML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4. Project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51269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Technology and domain profile for the proposed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8" y="6419088"/>
            <a:ext cx="2568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964774"/>
              </p:ext>
            </p:extLst>
          </p:nvPr>
        </p:nvGraphicFramePr>
        <p:xfrm>
          <a:off x="731520" y="13258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94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Project Attribute</a:t>
                      </a:r>
                    </a:p>
                  </a:txBody>
                  <a:tcPr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Project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CarZen — Car Selling, Reselling, Service &amp; Resale Price Prediction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Project Type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Cross-platform application / marketplace platform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8303C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Automobile • E-Commerce •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8303C"/>
                          </a:solidFill>
                        </a:rPr>
                        <a:t>Frontend</a:t>
                      </a:r>
                      <a:endParaRPr sz="1400" dirty="0">
                        <a:solidFill>
                          <a:srgbClr val="28303C"/>
                        </a:solidFill>
                      </a:endParaRP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Flutter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Backend Framework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FastAPI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API Architecture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REST API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9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8303C"/>
                          </a:solidFill>
                        </a:rPr>
                        <a:t>Main Users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8303C"/>
                          </a:solidFill>
                        </a:rPr>
                        <a:t>Buyers, Sellers, Resellers/Dealers, Car Owners, Service Providers, Admin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5. Need of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78835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The proposed platform addresses gaps in the current manual and fragmented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8" y="6419088"/>
            <a:ext cx="2568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34245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Correct Price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Used-car users need a better reference for expected market/resale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737360"/>
          </a:xfrm>
          <a:prstGeom prst="rect">
            <a:avLst/>
          </a:prstGeom>
          <a:solidFill>
            <a:srgbClr val="19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32756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Centralized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Vehicle, listing and service information should be available through one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8138159" y="1417320"/>
            <a:ext cx="73152" cy="173736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39327" y="1563624"/>
            <a:ext cx="26439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Efficient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Search and filtering reduce the effort required to find suitable vehicles.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73152" cy="1737360"/>
          </a:xfrm>
          <a:prstGeom prst="rect">
            <a:avLst/>
          </a:prstGeom>
          <a:solidFill>
            <a:srgbClr val="73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41247" y="3712464"/>
            <a:ext cx="21634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Vehicle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Ownership and service history can improve transparency and confidence.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73152" cy="17373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590288" y="3712464"/>
            <a:ext cx="316721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Data-Driven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Historical vehicle data can support an estimated resale price.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8138159" y="3566160"/>
            <a:ext cx="73152" cy="17373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39327" y="3712464"/>
            <a:ext cx="25551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Integrated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Maintenance records should be connected to the vehicle rather than maintained separately.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6. Scope of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62394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Functional scope grouped by major user and system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8" y="6419088"/>
            <a:ext cx="2568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53311"/>
            <a:ext cx="3566160" cy="2354337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713232" y="1536192"/>
            <a:ext cx="1325880" cy="347472"/>
          </a:xfrm>
          <a:prstGeom prst="round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Buyer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3529584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Register / Login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Search &amp; filter cars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View details</a:t>
            </a:r>
            <a:r>
              <a:rPr lang="en-US" sz="1400" dirty="0">
                <a:solidFill>
                  <a:srgbClr val="28303C"/>
                </a:solidFill>
                <a:latin typeface="Aptos"/>
              </a:rPr>
              <a:t> / </a:t>
            </a:r>
            <a:r>
              <a:rPr lang="en-IN" sz="1400" dirty="0">
                <a:solidFill>
                  <a:srgbClr val="28303C"/>
                </a:solidFill>
                <a:latin typeface="Aptos"/>
              </a:rPr>
              <a:t>Compare vehicles</a:t>
            </a:r>
            <a:endParaRPr sz="1400" dirty="0">
              <a:solidFill>
                <a:srgbClr val="28303C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View service information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Check resale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9530"/>
            <a:ext cx="3523490" cy="4801004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4723103" y="1545187"/>
            <a:ext cx="1372743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Seller</a:t>
            </a:r>
            <a:r>
              <a:rPr lang="en-US" sz="12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211" y="2240919"/>
            <a:ext cx="301752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Add listings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Upload vehicle information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Set asking price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Update / remove listings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Manage selling status</a:t>
            </a:r>
            <a:endParaRPr lang="en-US" sz="1400" dirty="0">
              <a:solidFill>
                <a:srgbClr val="28303C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28303C"/>
                </a:solidFill>
                <a:latin typeface="Aptos"/>
              </a:rPr>
              <a:t>Add resale vehicle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28303C"/>
                </a:solidFill>
                <a:latin typeface="Aptos"/>
              </a:rPr>
              <a:t>Maintain ownership history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28303C"/>
                </a:solidFill>
                <a:latin typeface="Aptos"/>
              </a:rPr>
              <a:t>Maintain purchase details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28303C"/>
                </a:solidFill>
                <a:latin typeface="Aptos"/>
              </a:rPr>
              <a:t>List for resale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28303C"/>
                </a:solidFill>
                <a:latin typeface="Aptos"/>
              </a:rPr>
              <a:t>Maintain resale history</a:t>
            </a:r>
          </a:p>
          <a:p>
            <a:pPr>
              <a:spcAft>
                <a:spcPts val="800"/>
              </a:spcAft>
            </a:pPr>
            <a:endParaRPr sz="1400" dirty="0">
              <a:solidFill>
                <a:srgbClr val="28303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8056" y="4015746"/>
            <a:ext cx="3566160" cy="2296564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658368" y="4198627"/>
            <a:ext cx="1508760" cy="347472"/>
          </a:xfrm>
          <a:prstGeom prst="round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Service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655827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Add service records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View service history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Record service date/cost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Track maintenance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Next service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390895"/>
            <a:ext cx="3566160" cy="2154913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8485632" y="1573776"/>
            <a:ext cx="1508760" cy="347472"/>
          </a:xfrm>
          <a:prstGeom prst="round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Prediction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030976"/>
            <a:ext cx="30175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8303C"/>
                </a:solidFill>
                <a:latin typeface="Aptos"/>
              </a:rPr>
              <a:t>Accept vehicle attributes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8303C"/>
                </a:solidFill>
                <a:latin typeface="Aptos"/>
              </a:rPr>
              <a:t>Run ML prediction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8303C"/>
                </a:solidFill>
                <a:latin typeface="Aptos"/>
              </a:rPr>
              <a:t>Return estimated resale price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8303C"/>
                </a:solidFill>
                <a:latin typeface="Aptos"/>
              </a:rPr>
              <a:t>Store prediction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999404"/>
            <a:ext cx="3566160" cy="2312906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ed Rectangle 23"/>
          <p:cNvSpPr/>
          <p:nvPr/>
        </p:nvSpPr>
        <p:spPr>
          <a:xfrm>
            <a:off x="8485632" y="4182284"/>
            <a:ext cx="132588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Admin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639484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Manage users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Manage cars &amp; listings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Manage service data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28303C"/>
                </a:solidFill>
                <a:latin typeface="Aptos"/>
              </a:rPr>
              <a:t>Manage prediction records</a:t>
            </a:r>
            <a:endParaRPr lang="en-IN" sz="1400" dirty="0">
              <a:solidFill>
                <a:srgbClr val="28303C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lang="en-IN" sz="1400" dirty="0">
                <a:solidFill>
                  <a:srgbClr val="28303C"/>
                </a:solidFill>
                <a:latin typeface="Aptos"/>
              </a:rPr>
              <a:t>Monitor system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7. Advantages of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54657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28303C"/>
                </a:solidFill>
                <a:latin typeface="Aptos"/>
              </a:rPr>
              <a:t>Expected value from centralization, automation and structured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3931" y="6419088"/>
            <a:ext cx="250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D87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0454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4008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Centralized platform for car buying, selling and reselling.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Data-driven resale-price estimation reduces manual guesswork.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Search and filtering save time for buyers.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Vehicle and service information can be maintained together.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MySQL provides structured relational data management.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28303C"/>
                </a:solidFill>
                <a:latin typeface="Aptos"/>
              </a:rPr>
              <a:t>FastAPI</a:t>
            </a:r>
            <a:r>
              <a:rPr sz="1600" dirty="0">
                <a:solidFill>
                  <a:srgbClr val="28303C"/>
                </a:solidFill>
                <a:latin typeface="Aptos"/>
              </a:rPr>
              <a:t> provides a lightweight REST API layer.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ML prediction can support better pricing decisions.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Admin controls provide centralized system management.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8303C"/>
                </a:solidFill>
                <a:latin typeface="Aptos"/>
              </a:rPr>
              <a:t>Improves transparency between buyers and sellers.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73152" cy="123444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7927848" y="1563624"/>
            <a:ext cx="14732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63F"/>
                </a:solidFill>
                <a:latin typeface="Aptos Display"/>
              </a:rPr>
              <a:t>Buyer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1984248"/>
            <a:ext cx="3127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303C"/>
                </a:solidFill>
                <a:latin typeface="Aptos"/>
              </a:rPr>
              <a:t>Better discovery, comparison and price 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83464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7726679" y="2834640"/>
            <a:ext cx="73152" cy="12344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927848" y="2980944"/>
            <a:ext cx="14869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63F"/>
                </a:solidFill>
                <a:latin typeface="Aptos Display"/>
              </a:rPr>
              <a:t>Seller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401568"/>
            <a:ext cx="3127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303C"/>
                </a:solidFill>
                <a:latin typeface="Aptos"/>
              </a:rPr>
              <a:t>Listing management and a data-supported asking-price reference.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2519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7726679" y="4251960"/>
            <a:ext cx="73152" cy="123444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927848" y="4398264"/>
            <a:ext cx="16620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63F"/>
                </a:solidFill>
                <a:latin typeface="Aptos Display"/>
              </a:rPr>
              <a:t>System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4818888"/>
            <a:ext cx="3127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303C"/>
                </a:solidFill>
                <a:latin typeface="Aptos"/>
              </a:rPr>
              <a:t>Centralized records, service history and administration.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2263F"/>
                </a:solidFill>
                <a:latin typeface="Aptos Display"/>
              </a:rPr>
              <a:t>8. Limitations of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58270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Important constraints to communicate clearly during the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7518" y="6419088"/>
            <a:ext cx="2568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73152" cy="12801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86968" y="1517904"/>
            <a:ext cx="35827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Training Data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38528"/>
            <a:ext cx="4727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Prediction quality depends on the quality and quantity of historical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1280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19088" y="1517904"/>
            <a:ext cx="24650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Market Variability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38528"/>
            <a:ext cx="4727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Demand, location and economic changes can cause actual prices to differ from predictions.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685800" y="2971800"/>
            <a:ext cx="73152" cy="12801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86968" y="3118104"/>
            <a:ext cx="35285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Condition Representation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538728"/>
            <a:ext cx="4727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Mechanical and cosmetic condition can be difficult to fully encode numerically.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6217920" y="2971800"/>
            <a:ext cx="73152" cy="1280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19088" y="3118104"/>
            <a:ext cx="21428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Input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38728"/>
            <a:ext cx="4727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Incorrect vehicle information can affect listing quality and prediction results.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720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685800" y="4572000"/>
            <a:ext cx="73152" cy="12801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886968" y="4718304"/>
            <a:ext cx="26366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Periodic Retraining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138928"/>
            <a:ext cx="4727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The ML model may need updated data and periodic retraining.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720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6217920" y="4572000"/>
            <a:ext cx="73152" cy="12801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6419088" y="4718304"/>
            <a:ext cx="33069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Connectivity /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38928"/>
            <a:ext cx="4727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The application requires reliable connectivity and initial service-center coverage may be limited.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20525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63F"/>
                </a:solidFill>
                <a:latin typeface="Aptos Display"/>
              </a:rPr>
              <a:t>10. Targeted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4240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Primary actors and their main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5383" y="6419088"/>
            <a:ext cx="328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1508760" cy="347472"/>
          </a:xfrm>
          <a:prstGeom prst="round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8303C"/>
                </a:solidFill>
                <a:latin typeface="Aptos"/>
              </a:rPr>
              <a:t>Search, filter, compare, view details, service history and resale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417320"/>
            <a:ext cx="73426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4709160" y="1576507"/>
            <a:ext cx="1508760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Seller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8303C"/>
                </a:solidFill>
                <a:latin typeface="Aptos"/>
              </a:rPr>
              <a:t>Create and manage listings, selling status and resale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7868" y="2103039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28303C"/>
                </a:solidFill>
                <a:latin typeface="Aptos"/>
              </a:rPr>
              <a:t>Manage multiple vehicles, ownership history and resale listings.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9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822960" y="3867912"/>
            <a:ext cx="1508760" cy="347472"/>
          </a:xfrm>
          <a:prstGeom prst="roundRect">
            <a:avLst/>
          </a:prstGeom>
          <a:solidFill>
            <a:srgbClr val="19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Car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89120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8303C"/>
                </a:solidFill>
                <a:latin typeface="Aptos"/>
              </a:rPr>
              <a:t>Maintain vehicle/service information and estimate expected resale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657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8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4645152" y="3867912"/>
            <a:ext cx="1874519" cy="347472"/>
          </a:xfrm>
          <a:prstGeom prst="round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Service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2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8303C"/>
                </a:solidFill>
                <a:latin typeface="Aptos"/>
              </a:rPr>
              <a:t>Add, update and expose maintenance/service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8744" y="36576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ed Rectangle 23"/>
          <p:cNvSpPr/>
          <p:nvPr/>
        </p:nvSpPr>
        <p:spPr>
          <a:xfrm>
            <a:off x="8467344" y="3867912"/>
            <a:ext cx="150876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Administrator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389120"/>
            <a:ext cx="2926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8303C"/>
                </a:solidFill>
                <a:latin typeface="Aptos"/>
              </a:rPr>
              <a:t>Manage users, vehicles, listings, services, records and system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11. Requirement Determination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4219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Requirement determination identifies what the system must accomplish and what resources are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5383" y="6419088"/>
            <a:ext cx="328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15713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81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What the system must do: registration, listings, search, services, prediction, administration.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737360"/>
          </a:xfrm>
          <a:prstGeom prst="rect">
            <a:avLst/>
          </a:prstGeom>
          <a:solidFill>
            <a:srgbClr val="19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22254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Non-Functional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81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Quality constraints: performance, security, reliability, scalability, usability and maintainability.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8138159" y="1417320"/>
            <a:ext cx="73152" cy="17373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39327" y="1563624"/>
            <a:ext cx="14652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Development system and server resources needed to build and operate the application.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73152" cy="1737360"/>
          </a:xfrm>
          <a:prstGeom prst="rect">
            <a:avLst/>
          </a:prstGeom>
          <a:solidFill>
            <a:srgbClr val="73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41247" y="3712464"/>
            <a:ext cx="13724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Python, FastAPI, Flutter, MySQL, REST API, ML libraries, Postman, IDE and Git/GitHub.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73152" cy="173736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590288" y="3712464"/>
            <a:ext cx="14332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Relational storage for users, cars, listings, ownership, services and prediction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8138159" y="3566160"/>
            <a:ext cx="73152" cy="17373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39327" y="3712464"/>
            <a:ext cx="24790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Vehicle attributes, historical data, prediction model and prediction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12. Requirement Specification — 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34440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28303C"/>
                </a:solidFill>
                <a:latin typeface="Aptos"/>
              </a:rPr>
              <a:t>Core functions the system should provide.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7D87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4165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 err="1">
                <a:solidFill>
                  <a:srgbClr val="787D87"/>
                </a:solidFill>
              </a:rPr>
              <a:t>CarZen</a:t>
            </a:r>
            <a:r>
              <a:rPr sz="1000" dirty="0">
                <a:solidFill>
                  <a:srgbClr val="787D87"/>
                </a:solidFill>
              </a:rPr>
              <a:t> •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User registration and secure login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User profile management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Create, modify and delete car listings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Search and filter available cars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View detailed vehicle information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Buying / seller contact workflow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Reselling and ownership tracking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Service-record management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Resale-price prediction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Admin management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Database management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sz="1600" dirty="0">
                <a:solidFill>
                  <a:srgbClr val="28303C"/>
                </a:solidFill>
                <a:latin typeface="Aptos"/>
              </a:rPr>
              <a:t>REST API-based communication between Flutter and </a:t>
            </a:r>
            <a:r>
              <a:rPr sz="1600" dirty="0" err="1">
                <a:solidFill>
                  <a:srgbClr val="28303C"/>
                </a:solidFill>
                <a:latin typeface="Aptos"/>
              </a:rPr>
              <a:t>FastAPI</a:t>
            </a:r>
            <a:endParaRPr sz="1600" dirty="0">
              <a:solidFill>
                <a:srgbClr val="2830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13. Requirement Specification — 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59329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Quality attributes that make the system usable and maintainable.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5383" y="6419088"/>
            <a:ext cx="328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18771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Respond efficiently to API requests and support multiple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17373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12682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Authentication and authorization should protect accounts and sensitive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4173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8138159" y="1417320"/>
            <a:ext cx="73152" cy="173736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39327" y="1563624"/>
            <a:ext cx="14959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98424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Maintain consistent data and minimize failures during normal operation.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73152" cy="1737360"/>
          </a:xfrm>
          <a:prstGeom prst="rect">
            <a:avLst/>
          </a:prstGeom>
          <a:solidFill>
            <a:srgbClr val="73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41247" y="3712464"/>
            <a:ext cx="15622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Allow more users, vehicles, service centers and prediction records as the system grows.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73152" cy="1737360"/>
          </a:xfrm>
          <a:prstGeom prst="rect">
            <a:avLst/>
          </a:prstGeom>
          <a:solidFill>
            <a:srgbClr val="19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590288" y="3712464"/>
            <a:ext cx="134421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Flutter UI should be simple and understandable for the intended users.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5661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8138159" y="3566160"/>
            <a:ext cx="73152" cy="17373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39327" y="3712464"/>
            <a:ext cx="21206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Maintainability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33088"/>
            <a:ext cx="308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FastAPI backend should be modular so future changes can be implemented easily.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14. Requirement Determination — Hardware &amp;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67873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Development and deployment requirements from the project specification.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5383" y="6419088"/>
            <a:ext cx="328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41247" y="1517904"/>
            <a:ext cx="33683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Hardware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491032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Development system</a:t>
            </a:r>
            <a:br>
              <a:rPr sz="2800"/>
            </a:b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Intel Core i5 / AMD Ryzen 5 or higher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Minimum 8 GB RAM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Minimum 256 GB SSD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Internet connection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Standard HD display</a:t>
            </a:r>
            <a:br>
              <a:rPr sz="2800"/>
            </a:b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Production server requirements depend on expected users and API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73152" cy="4389120"/>
          </a:xfrm>
          <a:prstGeom prst="rect">
            <a:avLst/>
          </a:prstGeom>
          <a:solidFill>
            <a:srgbClr val="73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64807" y="1517904"/>
            <a:ext cx="32755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Software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38528"/>
            <a:ext cx="491032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• Python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FastAPI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Flutter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MySQL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REST API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Python ML libraries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Python database driver / ORM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Windows / Linux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Postman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VS Code / PyCharm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Git / 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15. Requirement Specification — User, Seller &amp; Reseller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50683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Role-specific requirements for marketplace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5383" y="6419088"/>
            <a:ext cx="328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9840" y="1467499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2456688" y="1604885"/>
            <a:ext cx="73152" cy="44805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2731008" y="1613803"/>
            <a:ext cx="18970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General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1008" y="2034427"/>
            <a:ext cx="32186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• Register account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Login securely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Manage profile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Search/filter cars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View car details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View service information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Enter vehicle data for prediction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View predicted resale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8608" y="1467499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13" name="Rectangle 12"/>
          <p:cNvSpPr/>
          <p:nvPr/>
        </p:nvSpPr>
        <p:spPr>
          <a:xfrm>
            <a:off x="6342888" y="1532602"/>
            <a:ext cx="73152" cy="448056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589776" y="1613803"/>
            <a:ext cx="9573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63F"/>
                </a:solidFill>
                <a:latin typeface="Aptos Display"/>
              </a:rPr>
              <a:t>Seller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9776" y="2034427"/>
            <a:ext cx="32186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• Add vehicle details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Upload vehicle information/images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Specify selling price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Update details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Change listing status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Remove listing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View listed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920" y="4096530"/>
            <a:ext cx="32186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• Add vehicles for resale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Maintain purchase information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Maintain resale information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Check predicted resale value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Manage multiple vehicle listings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F"/>
                </a:solidFill>
                <a:latin typeface="Aptos Display"/>
              </a:rPr>
              <a:t>16. Requirement Specification — Service, Prediction &amp;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33295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Specialized system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5383" y="6419088"/>
            <a:ext cx="328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D87"/>
                </a:solidFill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19088"/>
            <a:ext cx="11913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87D87"/>
                </a:solidFill>
              </a:rPr>
              <a:t>CarZen • Review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3152" cy="4480560"/>
          </a:xfrm>
          <a:prstGeom prst="rect">
            <a:avLst/>
          </a:prstGeom>
          <a:solidFill>
            <a:srgbClr val="28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795528" y="1563624"/>
            <a:ext cx="202844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Service </a:t>
            </a:r>
            <a:endParaRPr lang="en-US" sz="2400" b="1" dirty="0">
              <a:solidFill>
                <a:srgbClr val="12263F"/>
              </a:solidFill>
              <a:latin typeface="Aptos Display"/>
            </a:endParaRPr>
          </a:p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4621"/>
            <a:ext cx="32186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• Vehicle reference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Service type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Service date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Service cost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Service center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Maintenance description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Next service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4173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453128" y="1417320"/>
            <a:ext cx="73152" cy="4480560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654296" y="1563624"/>
            <a:ext cx="202844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Prediction </a:t>
            </a:r>
            <a:endParaRPr lang="en-US" sz="2400" b="1" dirty="0">
              <a:solidFill>
                <a:srgbClr val="12263F"/>
              </a:solidFill>
              <a:latin typeface="Aptos Display"/>
            </a:endParaRPr>
          </a:p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394621"/>
            <a:ext cx="32186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303C"/>
                </a:solidFill>
                <a:latin typeface="Aptos"/>
              </a:rPr>
              <a:t>• Input: brand/model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Year &amp; mileage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Fuel type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Transmission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Engine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Owner count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Condition &amp; location</a:t>
            </a:r>
            <a:br>
              <a:rPr sz="2800" dirty="0"/>
            </a:br>
            <a:r>
              <a:rPr sz="1600" dirty="0">
                <a:solidFill>
                  <a:srgbClr val="28303C"/>
                </a:solidFill>
                <a:latin typeface="Aptos"/>
              </a:rPr>
              <a:t>• Output: estimated resale 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141732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8311896" y="1417320"/>
            <a:ext cx="73152" cy="44805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513064" y="1563624"/>
            <a:ext cx="203959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Administrator </a:t>
            </a:r>
            <a:endParaRPr lang="en-US" sz="2400" b="1" dirty="0">
              <a:solidFill>
                <a:srgbClr val="12263F"/>
              </a:solidFill>
              <a:latin typeface="Aptos Display"/>
            </a:endParaRPr>
          </a:p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448240"/>
            <a:ext cx="32186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303C"/>
                </a:solidFill>
                <a:latin typeface="Aptos"/>
              </a:rPr>
              <a:t>• Manage users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Manage cars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Manage sellers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Manage listings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Manage service information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Monitor prediction records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Remove inappropriate listings</a:t>
            </a:r>
            <a:br>
              <a:rPr sz="2800"/>
            </a:br>
            <a:r>
              <a:rPr sz="1600">
                <a:solidFill>
                  <a:srgbClr val="28303C"/>
                </a:solidFill>
                <a:latin typeface="Aptos"/>
              </a:rPr>
              <a:t>• View system information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A30F0DC-F523-C068-392A-8091CC412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47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D47B684-2B6B-3816-542C-C5F1F888E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2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FB1217D-84B7-68A7-9A30-DD5BC4360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97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FB8DE45-8DCC-7743-99C4-AD5F32C4F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40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9496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rgbClr val="FFFFFF"/>
                </a:solidFill>
                <a:latin typeface="Aptos"/>
              </a:rPr>
              <a:t>Reselling</a:t>
            </a:r>
            <a:endParaRPr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100" b="1" dirty="0">
                <a:solidFill>
                  <a:srgbClr val="FFFFFF"/>
                </a:solidFill>
                <a:latin typeface="Aptos Display"/>
              </a:rPr>
              <a:t>Review 1 — Key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148840"/>
            <a:ext cx="10149840" cy="13849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1005840" y="2148840"/>
            <a:ext cx="73152" cy="1426845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207008" y="2295144"/>
            <a:ext cx="292503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63F"/>
                </a:solidFill>
                <a:latin typeface="Aptos Display"/>
              </a:rPr>
              <a:t>CarZen in One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715768"/>
            <a:ext cx="9802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8303C"/>
                </a:solidFill>
                <a:latin typeface="Aptos"/>
              </a:rPr>
              <a:t>A centralized </a:t>
            </a:r>
            <a:r>
              <a:rPr lang="en-US" sz="1400" dirty="0">
                <a:solidFill>
                  <a:srgbClr val="28303C"/>
                </a:solidFill>
                <a:latin typeface="Aptos"/>
              </a:rPr>
              <a:t>Python </a:t>
            </a:r>
            <a:r>
              <a:rPr sz="1400" dirty="0">
                <a:solidFill>
                  <a:srgbClr val="28303C"/>
                </a:solidFill>
                <a:latin typeface="Aptos"/>
              </a:rPr>
              <a:t>+ </a:t>
            </a:r>
            <a:r>
              <a:rPr sz="1400" dirty="0" err="1">
                <a:solidFill>
                  <a:srgbClr val="28303C"/>
                </a:solidFill>
                <a:latin typeface="Aptos"/>
              </a:rPr>
              <a:t>FastAPI</a:t>
            </a:r>
            <a:r>
              <a:rPr sz="1400" dirty="0">
                <a:solidFill>
                  <a:srgbClr val="28303C"/>
                </a:solidFill>
                <a:latin typeface="Aptos"/>
              </a:rPr>
              <a:t> + MySQL + ML</a:t>
            </a:r>
            <a:r>
              <a:rPr lang="en-US" sz="1400" dirty="0">
                <a:solidFill>
                  <a:srgbClr val="28303C"/>
                </a:solidFill>
                <a:latin typeface="Aptos"/>
              </a:rPr>
              <a:t> + </a:t>
            </a:r>
            <a:r>
              <a:rPr lang="en-IN" sz="1400" dirty="0">
                <a:solidFill>
                  <a:srgbClr val="28303C"/>
                </a:solidFill>
                <a:latin typeface="Aptos"/>
              </a:rPr>
              <a:t>Flutter</a:t>
            </a:r>
            <a:r>
              <a:rPr sz="1400" dirty="0">
                <a:solidFill>
                  <a:srgbClr val="28303C"/>
                </a:solidFill>
                <a:latin typeface="Aptos"/>
              </a:rPr>
              <a:t> platform that brings vehicle buying, selling, reselling, service information and resale-price prediction into one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730883"/>
            <a:ext cx="9326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E1EBFF"/>
                </a:solidFill>
                <a:latin typeface="Aptos"/>
              </a:rPr>
              <a:t>Problem: fragmented processes and uncertain vehicle pricing.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E1EBFF"/>
                </a:solidFill>
                <a:latin typeface="Aptos"/>
              </a:rPr>
              <a:t>Objective: centralize vehicle lifecycle operations and support data-driven decisions.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E1EBFF"/>
                </a:solidFill>
                <a:latin typeface="Aptos"/>
              </a:rPr>
              <a:t>Requirements: functional, non-functional, hardware, software, database and ML requirements.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E1EBFF"/>
                </a:solidFill>
                <a:latin typeface="Aptos"/>
              </a:rPr>
              <a:t>Primary users: buyers, sellers, resellers/dealers, car owners, service providers and admin.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B9ED9-97B7-DA9B-4CF2-2A1C95733EBB}"/>
              </a:ext>
            </a:extLst>
          </p:cNvPr>
          <p:cNvSpPr txBox="1"/>
          <p:nvPr/>
        </p:nvSpPr>
        <p:spPr>
          <a:xfrm>
            <a:off x="5068037" y="5740671"/>
            <a:ext cx="20254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C000"/>
                </a:solidFill>
              </a:rPr>
              <a:t>Thank You</a:t>
            </a:r>
            <a:endParaRPr lang="en-IN" b="1" i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1756</Words>
  <Application>Microsoft Office PowerPoint</Application>
  <PresentationFormat>Widescreen</PresentationFormat>
  <Paragraphs>268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Corben</vt:lpstr>
      <vt:lpstr>Courier New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Boghara</cp:lastModifiedBy>
  <cp:revision>15</cp:revision>
  <dcterms:created xsi:type="dcterms:W3CDTF">2013-01-27T09:14:16Z</dcterms:created>
  <dcterms:modified xsi:type="dcterms:W3CDTF">2026-08-21T08:07:18Z</dcterms:modified>
  <cp:category/>
</cp:coreProperties>
</file>