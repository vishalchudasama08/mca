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36153F-FFAA-4A82-99CD-EDF43EC4AAE9}" v="6" dt="2026-09-23T05:49:43.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Oval 1"/>
          <p:cNvSpPr/>
          <p:nvPr/>
        </p:nvSpPr>
        <p:spPr>
          <a:xfrm>
            <a:off x="9966960" y="320040"/>
            <a:ext cx="1463040" cy="1463040"/>
          </a:xfrm>
          <a:prstGeom prst="ellipse">
            <a:avLst/>
          </a:prstGeom>
          <a:solidFill>
            <a:srgbClr val="2A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287000" y="640080"/>
            <a:ext cx="822960" cy="822960"/>
          </a:xfrm>
          <a:prstGeom prst="ellipse">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960120"/>
            <a:ext cx="5943600" cy="640080"/>
          </a:xfrm>
          <a:prstGeom prst="rect">
            <a:avLst/>
          </a:prstGeom>
          <a:noFill/>
        </p:spPr>
        <p:txBody>
          <a:bodyPr wrap="square" anchor="t">
            <a:spAutoFit/>
          </a:bodyPr>
          <a:lstStyle/>
          <a:p>
            <a:pPr algn="l"/>
            <a:r>
              <a:rPr sz="3800" b="1">
                <a:solidFill>
                  <a:srgbClr val="F8FAFC"/>
                </a:solidFill>
                <a:latin typeface="Aptos"/>
              </a:rPr>
              <a:t>CARZEN</a:t>
            </a:r>
          </a:p>
        </p:txBody>
      </p:sp>
      <p:sp>
        <p:nvSpPr>
          <p:cNvPr id="6" name="TextBox 5"/>
          <p:cNvSpPr txBox="1"/>
          <p:nvPr/>
        </p:nvSpPr>
        <p:spPr>
          <a:xfrm>
            <a:off x="685800" y="1664208"/>
            <a:ext cx="7040880" cy="861774"/>
          </a:xfrm>
          <a:prstGeom prst="rect">
            <a:avLst/>
          </a:prstGeom>
          <a:noFill/>
        </p:spPr>
        <p:txBody>
          <a:bodyPr wrap="square" anchor="t">
            <a:spAutoFit/>
          </a:bodyPr>
          <a:lstStyle/>
          <a:p>
            <a:pPr algn="l"/>
            <a:r>
              <a:rPr sz="2500" b="0" dirty="0">
                <a:solidFill>
                  <a:srgbClr val="F8FAFC"/>
                </a:solidFill>
                <a:latin typeface="Aptos"/>
              </a:rPr>
              <a:t>Car Selling </a:t>
            </a:r>
            <a:r>
              <a:rPr lang="en-US" sz="2500" dirty="0">
                <a:solidFill>
                  <a:srgbClr val="F8FAFC"/>
                </a:solidFill>
                <a:latin typeface="Aptos"/>
              </a:rPr>
              <a:t>, </a:t>
            </a:r>
            <a:r>
              <a:rPr lang="en-US" sz="2500" b="0" dirty="0">
                <a:solidFill>
                  <a:srgbClr val="F8FAFC"/>
                </a:solidFill>
                <a:latin typeface="Aptos"/>
              </a:rPr>
              <a:t>Buying</a:t>
            </a:r>
            <a:r>
              <a:rPr sz="2500" b="0" dirty="0">
                <a:solidFill>
                  <a:srgbClr val="F8FAFC"/>
                </a:solidFill>
                <a:latin typeface="Aptos"/>
              </a:rPr>
              <a:t> </a:t>
            </a:r>
            <a:r>
              <a:rPr lang="en-US" sz="2500" dirty="0">
                <a:solidFill>
                  <a:srgbClr val="F8FAFC"/>
                </a:solidFill>
                <a:latin typeface="Aptos"/>
              </a:rPr>
              <a:t>,</a:t>
            </a:r>
            <a:r>
              <a:rPr sz="2500" b="0" dirty="0">
                <a:solidFill>
                  <a:srgbClr val="F8FAFC"/>
                </a:solidFill>
                <a:latin typeface="Aptos"/>
              </a:rPr>
              <a:t> Service
&amp;  Price Prediction System</a:t>
            </a:r>
          </a:p>
        </p:txBody>
      </p:sp>
      <p:sp>
        <p:nvSpPr>
          <p:cNvPr id="7" name="Rectangle 6"/>
          <p:cNvSpPr/>
          <p:nvPr/>
        </p:nvSpPr>
        <p:spPr>
          <a:xfrm>
            <a:off x="694944" y="3063240"/>
            <a:ext cx="11430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310128"/>
            <a:ext cx="4937760" cy="411480"/>
          </a:xfrm>
          <a:prstGeom prst="rect">
            <a:avLst/>
          </a:prstGeom>
          <a:noFill/>
        </p:spPr>
        <p:txBody>
          <a:bodyPr wrap="square" anchor="t">
            <a:spAutoFit/>
          </a:bodyPr>
          <a:lstStyle/>
          <a:p>
            <a:pPr algn="l"/>
            <a:r>
              <a:rPr sz="1500" b="1">
                <a:solidFill>
                  <a:srgbClr val="43BEDC"/>
                </a:solidFill>
                <a:latin typeface="Aptos"/>
              </a:rPr>
              <a:t>PROJECT REVIEW PRESENTATION</a:t>
            </a:r>
          </a:p>
        </p:txBody>
      </p:sp>
      <p:sp>
        <p:nvSpPr>
          <p:cNvPr id="9" name="TextBox 8"/>
          <p:cNvSpPr txBox="1"/>
          <p:nvPr/>
        </p:nvSpPr>
        <p:spPr>
          <a:xfrm>
            <a:off x="704088" y="3886200"/>
            <a:ext cx="5303520" cy="584775"/>
          </a:xfrm>
          <a:prstGeom prst="rect">
            <a:avLst/>
          </a:prstGeom>
          <a:noFill/>
        </p:spPr>
        <p:txBody>
          <a:bodyPr wrap="square" anchor="t">
            <a:spAutoFit/>
          </a:bodyPr>
          <a:lstStyle/>
          <a:p>
            <a:pPr algn="l"/>
            <a:r>
              <a:rPr sz="1600" b="0" dirty="0">
                <a:solidFill>
                  <a:srgbClr val="B1BECF"/>
                </a:solidFill>
                <a:latin typeface="Aptos"/>
              </a:rPr>
              <a:t>L. J. Institute of Computer Application
L. J. University  MCA  3rd Semester</a:t>
            </a:r>
          </a:p>
        </p:txBody>
      </p:sp>
      <p:sp>
        <p:nvSpPr>
          <p:cNvPr id="10" name="TextBox 9"/>
          <p:cNvSpPr txBox="1"/>
          <p:nvPr/>
        </p:nvSpPr>
        <p:spPr>
          <a:xfrm>
            <a:off x="658368" y="5276088"/>
            <a:ext cx="7909560" cy="1415772"/>
          </a:xfrm>
          <a:prstGeom prst="rect">
            <a:avLst/>
          </a:prstGeom>
          <a:noFill/>
        </p:spPr>
        <p:txBody>
          <a:bodyPr wrap="square" anchor="t">
            <a:spAutoFit/>
          </a:bodyPr>
          <a:lstStyle/>
          <a:p>
            <a:pPr algn="l"/>
            <a:endParaRPr lang="en-US" sz="1400" b="1" dirty="0">
              <a:solidFill>
                <a:srgbClr val="F8FAFC"/>
              </a:solidFill>
              <a:latin typeface="Aptos"/>
            </a:endParaRPr>
          </a:p>
          <a:p>
            <a:r>
              <a:rPr lang="en-US" sz="1400" b="1" dirty="0">
                <a:solidFill>
                  <a:schemeClr val="bg1"/>
                </a:solidFill>
                <a:latin typeface="Aptos"/>
              </a:rPr>
              <a:t>Submitted By:</a:t>
            </a:r>
            <a:endParaRPr lang="en-US" sz="1400" b="1" dirty="0">
              <a:solidFill>
                <a:srgbClr val="F8FAFC"/>
              </a:solidFill>
              <a:latin typeface="Aptos"/>
            </a:endParaRPr>
          </a:p>
          <a:p>
            <a:pPr algn="l"/>
            <a:endParaRPr lang="en-US" sz="1400" b="1" dirty="0">
              <a:solidFill>
                <a:srgbClr val="F8FAFC"/>
              </a:solidFill>
              <a:latin typeface="Aptos"/>
            </a:endParaRPr>
          </a:p>
          <a:p>
            <a:pPr algn="l"/>
            <a:r>
              <a:rPr lang="en-US" sz="1400" b="1" dirty="0">
                <a:solidFill>
                  <a:srgbClr val="F8FAFC"/>
                </a:solidFill>
                <a:latin typeface="Aptos"/>
              </a:rPr>
              <a:t>	</a:t>
            </a:r>
            <a:r>
              <a:rPr sz="1400" b="1" dirty="0">
                <a:solidFill>
                  <a:srgbClr val="F8FAFC"/>
                </a:solidFill>
                <a:latin typeface="Aptos"/>
              </a:rPr>
              <a:t>Aayush </a:t>
            </a:r>
            <a:r>
              <a:rPr sz="1400" b="1" dirty="0" err="1">
                <a:solidFill>
                  <a:srgbClr val="F8FAFC"/>
                </a:solidFill>
                <a:latin typeface="Aptos"/>
              </a:rPr>
              <a:t>Boghara</a:t>
            </a:r>
            <a:r>
              <a:rPr sz="1400" b="1" dirty="0">
                <a:solidFill>
                  <a:srgbClr val="F8FAFC"/>
                </a:solidFill>
                <a:latin typeface="Aptos"/>
              </a:rPr>
              <a:t> </a:t>
            </a:r>
            <a:endParaRPr lang="en-US" sz="1400" b="1" dirty="0">
              <a:solidFill>
                <a:srgbClr val="F8FAFC"/>
              </a:solidFill>
              <a:latin typeface="Aptos"/>
            </a:endParaRPr>
          </a:p>
          <a:p>
            <a:pPr algn="l"/>
            <a:r>
              <a:rPr lang="en-US" sz="1400" b="1" dirty="0">
                <a:solidFill>
                  <a:srgbClr val="F8FAFC"/>
                </a:solidFill>
                <a:latin typeface="Aptos"/>
              </a:rPr>
              <a:t>	</a:t>
            </a:r>
            <a:r>
              <a:rPr sz="1400" b="1" dirty="0">
                <a:solidFill>
                  <a:srgbClr val="F8FAFC"/>
                </a:solidFill>
                <a:latin typeface="Aptos"/>
              </a:rPr>
              <a:t>Vishal B. Chudasama  </a:t>
            </a:r>
            <a:endParaRPr lang="en-US" sz="1400" b="1" dirty="0">
              <a:solidFill>
                <a:srgbClr val="F8FAFC"/>
              </a:solidFill>
              <a:latin typeface="Aptos"/>
            </a:endParaRPr>
          </a:p>
          <a:p>
            <a:pPr lvl="1"/>
            <a:r>
              <a:rPr sz="1400" b="1" dirty="0">
                <a:solidFill>
                  <a:srgbClr val="F8FAFC"/>
                </a:solidFill>
                <a:latin typeface="Aptos"/>
              </a:rPr>
              <a:t>Pinak B. Sakariya</a:t>
            </a:r>
          </a:p>
        </p:txBody>
      </p:sp>
      <p:sp>
        <p:nvSpPr>
          <p:cNvPr id="11" name="TextBox 10"/>
          <p:cNvSpPr txBox="1"/>
          <p:nvPr/>
        </p:nvSpPr>
        <p:spPr>
          <a:xfrm>
            <a:off x="704088" y="4873752"/>
            <a:ext cx="5486400" cy="338554"/>
          </a:xfrm>
          <a:prstGeom prst="rect">
            <a:avLst/>
          </a:prstGeom>
          <a:noFill/>
        </p:spPr>
        <p:txBody>
          <a:bodyPr wrap="square" anchor="t">
            <a:spAutoFit/>
          </a:bodyPr>
          <a:lstStyle/>
          <a:p>
            <a:pPr algn="l"/>
            <a:r>
              <a:rPr sz="1600" b="1" dirty="0">
                <a:solidFill>
                  <a:schemeClr val="bg1"/>
                </a:solidFill>
                <a:latin typeface="Aptos"/>
              </a:rPr>
              <a:t>Submitted to: Mrs. Dharmi Doshi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Why CarZen?</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The problem behind the proposed system</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783080"/>
            <a:ext cx="3429000" cy="26517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94767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7" name="TextBox 6"/>
          <p:cNvSpPr txBox="1"/>
          <p:nvPr/>
        </p:nvSpPr>
        <p:spPr>
          <a:xfrm>
            <a:off x="1325880" y="1947672"/>
            <a:ext cx="2560320" cy="384048"/>
          </a:xfrm>
          <a:prstGeom prst="rect">
            <a:avLst/>
          </a:prstGeom>
          <a:noFill/>
        </p:spPr>
        <p:txBody>
          <a:bodyPr wrap="square" anchor="t">
            <a:spAutoFit/>
          </a:bodyPr>
          <a:lstStyle/>
          <a:p>
            <a:pPr algn="l"/>
            <a:r>
              <a:rPr sz="1600" b="1">
                <a:solidFill>
                  <a:srgbClr val="F8FAFC"/>
                </a:solidFill>
                <a:latin typeface="Aptos"/>
              </a:rPr>
              <a:t>Pricing uncertainty</a:t>
            </a:r>
          </a:p>
        </p:txBody>
      </p:sp>
      <p:sp>
        <p:nvSpPr>
          <p:cNvPr id="8" name="TextBox 7"/>
          <p:cNvSpPr txBox="1"/>
          <p:nvPr/>
        </p:nvSpPr>
        <p:spPr>
          <a:xfrm>
            <a:off x="868680" y="2441448"/>
            <a:ext cx="2971800" cy="954107"/>
          </a:xfrm>
          <a:prstGeom prst="rect">
            <a:avLst/>
          </a:prstGeom>
          <a:noFill/>
        </p:spPr>
        <p:txBody>
          <a:bodyPr wrap="square" anchor="t">
            <a:spAutoFit/>
          </a:bodyPr>
          <a:lstStyle/>
          <a:p>
            <a:pPr algn="l"/>
            <a:r>
              <a:rPr sz="1400" b="0" dirty="0">
                <a:solidFill>
                  <a:srgbClr val="B1BECF"/>
                </a:solidFill>
                <a:latin typeface="Aptos"/>
              </a:rPr>
              <a:t>Buyers may struggle to judge whether a used car is fairly priced, while sellers may not know an appropriate  value.</a:t>
            </a:r>
          </a:p>
        </p:txBody>
      </p:sp>
      <p:sp>
        <p:nvSpPr>
          <p:cNvPr id="9" name="Rounded Rectangle 8"/>
          <p:cNvSpPr/>
          <p:nvPr/>
        </p:nvSpPr>
        <p:spPr>
          <a:xfrm>
            <a:off x="4389120" y="1783080"/>
            <a:ext cx="3246120" cy="26517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0288" y="194767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1" name="TextBox 10"/>
          <p:cNvSpPr txBox="1"/>
          <p:nvPr/>
        </p:nvSpPr>
        <p:spPr>
          <a:xfrm>
            <a:off x="5074920" y="1947672"/>
            <a:ext cx="2560320" cy="384048"/>
          </a:xfrm>
          <a:prstGeom prst="rect">
            <a:avLst/>
          </a:prstGeom>
          <a:noFill/>
        </p:spPr>
        <p:txBody>
          <a:bodyPr wrap="square" anchor="t">
            <a:spAutoFit/>
          </a:bodyPr>
          <a:lstStyle/>
          <a:p>
            <a:pPr algn="l"/>
            <a:r>
              <a:rPr sz="1600" b="1">
                <a:solidFill>
                  <a:srgbClr val="F8FAFC"/>
                </a:solidFill>
                <a:latin typeface="Aptos"/>
              </a:rPr>
              <a:t>Scattered information</a:t>
            </a:r>
          </a:p>
        </p:txBody>
      </p:sp>
      <p:sp>
        <p:nvSpPr>
          <p:cNvPr id="12" name="TextBox 11"/>
          <p:cNvSpPr txBox="1"/>
          <p:nvPr/>
        </p:nvSpPr>
        <p:spPr>
          <a:xfrm>
            <a:off x="4617720" y="2441448"/>
            <a:ext cx="2971800" cy="738664"/>
          </a:xfrm>
          <a:prstGeom prst="rect">
            <a:avLst/>
          </a:prstGeom>
          <a:noFill/>
        </p:spPr>
        <p:txBody>
          <a:bodyPr wrap="square" anchor="t">
            <a:spAutoFit/>
          </a:bodyPr>
          <a:lstStyle/>
          <a:p>
            <a:pPr algn="l"/>
            <a:r>
              <a:rPr sz="1400" b="0" dirty="0">
                <a:solidFill>
                  <a:srgbClr val="B1BECF"/>
                </a:solidFill>
                <a:latin typeface="Aptos"/>
              </a:rPr>
              <a:t>Buying, selling, service records and vehicle history are often handled through separate sources</a:t>
            </a:r>
            <a:r>
              <a:rPr sz="1200" b="0" dirty="0">
                <a:solidFill>
                  <a:srgbClr val="B1BECF"/>
                </a:solidFill>
                <a:latin typeface="Aptos"/>
              </a:rPr>
              <a:t>.</a:t>
            </a:r>
          </a:p>
        </p:txBody>
      </p:sp>
      <p:sp>
        <p:nvSpPr>
          <p:cNvPr id="13" name="Rounded Rectangle 12"/>
          <p:cNvSpPr/>
          <p:nvPr/>
        </p:nvSpPr>
        <p:spPr>
          <a:xfrm>
            <a:off x="8138160" y="1783080"/>
            <a:ext cx="3429000" cy="26517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39328" y="194767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5" name="TextBox 14"/>
          <p:cNvSpPr txBox="1"/>
          <p:nvPr/>
        </p:nvSpPr>
        <p:spPr>
          <a:xfrm>
            <a:off x="8823960" y="1947672"/>
            <a:ext cx="2560320" cy="384048"/>
          </a:xfrm>
          <a:prstGeom prst="rect">
            <a:avLst/>
          </a:prstGeom>
          <a:noFill/>
        </p:spPr>
        <p:txBody>
          <a:bodyPr wrap="square" anchor="t">
            <a:spAutoFit/>
          </a:bodyPr>
          <a:lstStyle/>
          <a:p>
            <a:pPr algn="l"/>
            <a:r>
              <a:rPr sz="1600" b="1">
                <a:solidFill>
                  <a:srgbClr val="F8FAFC"/>
                </a:solidFill>
                <a:latin typeface="Aptos"/>
              </a:rPr>
              <a:t>Disconnected workflow</a:t>
            </a:r>
          </a:p>
        </p:txBody>
      </p:sp>
      <p:sp>
        <p:nvSpPr>
          <p:cNvPr id="16" name="TextBox 15"/>
          <p:cNvSpPr txBox="1"/>
          <p:nvPr/>
        </p:nvSpPr>
        <p:spPr>
          <a:xfrm>
            <a:off x="8366760" y="2441448"/>
            <a:ext cx="2971800" cy="738664"/>
          </a:xfrm>
          <a:prstGeom prst="rect">
            <a:avLst/>
          </a:prstGeom>
          <a:noFill/>
        </p:spPr>
        <p:txBody>
          <a:bodyPr wrap="square" anchor="t">
            <a:spAutoFit/>
          </a:bodyPr>
          <a:lstStyle/>
          <a:p>
            <a:pPr algn="l"/>
            <a:r>
              <a:rPr sz="1400" b="0" dirty="0">
                <a:solidFill>
                  <a:srgbClr val="B1BECF"/>
                </a:solidFill>
                <a:latin typeface="Aptos"/>
              </a:rPr>
              <a:t>There is a need for one platform that connects marketplace activities, servicing and -price estimation</a:t>
            </a:r>
            <a:r>
              <a:rPr sz="1200" b="0" dirty="0">
                <a:solidFill>
                  <a:srgbClr val="B1BECF"/>
                </a:solidFill>
                <a:latin typeface="Aptos"/>
              </a:rPr>
              <a:t>.</a:t>
            </a:r>
          </a:p>
        </p:txBody>
      </p:sp>
      <p:sp>
        <p:nvSpPr>
          <p:cNvPr id="17" name="TextBox 16"/>
          <p:cNvSpPr txBox="1"/>
          <p:nvPr/>
        </p:nvSpPr>
        <p:spPr>
          <a:xfrm>
            <a:off x="914400" y="5623560"/>
            <a:ext cx="10241280" cy="457200"/>
          </a:xfrm>
          <a:prstGeom prst="rect">
            <a:avLst/>
          </a:prstGeom>
          <a:noFill/>
        </p:spPr>
        <p:txBody>
          <a:bodyPr wrap="square" anchor="t">
            <a:spAutoFit/>
          </a:bodyPr>
          <a:lstStyle/>
          <a:p>
            <a:pPr algn="ctr"/>
            <a:r>
              <a:rPr sz="1800" b="1">
                <a:solidFill>
                  <a:srgbClr val="43BEDC"/>
                </a:solidFill>
                <a:latin typeface="Aptos"/>
              </a:rPr>
              <a:t>CarZen brings these activities together in one system.</a:t>
            </a:r>
          </a:p>
        </p:txBody>
      </p:sp>
      <p:sp>
        <p:nvSpPr>
          <p:cNvPr id="18" name="TextBox 17"/>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dirty="0">
                <a:solidFill>
                  <a:srgbClr val="F8FAFC"/>
                </a:solidFill>
                <a:latin typeface="Aptos"/>
              </a:rPr>
              <a:t>Project Objective</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One integrated platform for the vehicle lifecycle</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91640"/>
            <a:ext cx="10515600" cy="2462213"/>
          </a:xfrm>
          <a:prstGeom prst="rect">
            <a:avLst/>
          </a:prstGeom>
          <a:noFill/>
        </p:spPr>
        <p:txBody>
          <a:bodyPr wrap="square">
            <a:spAutoFit/>
          </a:bodyPr>
          <a:lstStyle/>
          <a:p>
            <a:pPr marL="285750" indent="-285750">
              <a:spcAft>
                <a:spcPts val="700"/>
              </a:spcAft>
              <a:buFont typeface="Arial" panose="020B0604020202020204" pitchFamily="34" charset="0"/>
              <a:buChar char="•"/>
              <a:defRPr sz="1700">
                <a:solidFill>
                  <a:srgbClr val="F8FAFC"/>
                </a:solidFill>
                <a:latin typeface="Aptos"/>
              </a:defRPr>
            </a:pPr>
            <a:r>
              <a:rPr dirty="0"/>
              <a:t> Provide a platform for buying and selling new or used cars.</a:t>
            </a:r>
          </a:p>
          <a:p>
            <a:pPr marL="285750" indent="-285750">
              <a:spcAft>
                <a:spcPts val="700"/>
              </a:spcAft>
              <a:buFont typeface="Arial" panose="020B0604020202020204" pitchFamily="34" charset="0"/>
              <a:buChar char="•"/>
              <a:defRPr sz="1700">
                <a:solidFill>
                  <a:srgbClr val="F8FAFC"/>
                </a:solidFill>
                <a:latin typeface="Aptos"/>
              </a:defRPr>
            </a:pPr>
            <a:r>
              <a:rPr dirty="0"/>
              <a:t> Allow sellers to create and manage vehicle listings.</a:t>
            </a:r>
          </a:p>
          <a:p>
            <a:pPr marL="285750" indent="-285750">
              <a:spcAft>
                <a:spcPts val="700"/>
              </a:spcAft>
              <a:buFont typeface="Arial" panose="020B0604020202020204" pitchFamily="34" charset="0"/>
              <a:buChar char="•"/>
              <a:defRPr sz="1700">
                <a:solidFill>
                  <a:srgbClr val="F8FAFC"/>
                </a:solidFill>
                <a:latin typeface="Aptos"/>
              </a:defRPr>
            </a:pPr>
            <a:r>
              <a:rPr dirty="0"/>
              <a:t> Enable search, filtering and comparison for buyers.</a:t>
            </a:r>
          </a:p>
          <a:p>
            <a:pPr marL="285750" indent="-285750">
              <a:spcAft>
                <a:spcPts val="700"/>
              </a:spcAft>
              <a:buFont typeface="Arial" panose="020B0604020202020204" pitchFamily="34" charset="0"/>
              <a:buChar char="•"/>
              <a:defRPr sz="1700">
                <a:solidFill>
                  <a:srgbClr val="F8FAFC"/>
                </a:solidFill>
                <a:latin typeface="Aptos"/>
              </a:defRPr>
            </a:pPr>
            <a:r>
              <a:rPr dirty="0"/>
              <a:t> Maintain ownership,  and service information.</a:t>
            </a:r>
          </a:p>
          <a:p>
            <a:pPr marL="285750" indent="-285750">
              <a:spcAft>
                <a:spcPts val="700"/>
              </a:spcAft>
              <a:buFont typeface="Arial" panose="020B0604020202020204" pitchFamily="34" charset="0"/>
              <a:buChar char="•"/>
              <a:defRPr sz="1700">
                <a:solidFill>
                  <a:srgbClr val="F8FAFC"/>
                </a:solidFill>
                <a:latin typeface="Aptos"/>
              </a:defRPr>
            </a:pPr>
            <a:r>
              <a:rPr dirty="0"/>
              <a:t> Estimate expected  price using machine learning.</a:t>
            </a:r>
          </a:p>
          <a:p>
            <a:pPr marL="285750" indent="-285750">
              <a:spcAft>
                <a:spcPts val="700"/>
              </a:spcAft>
              <a:buFont typeface="Arial" panose="020B0604020202020204" pitchFamily="34" charset="0"/>
              <a:buChar char="•"/>
              <a:defRPr sz="1700">
                <a:solidFill>
                  <a:srgbClr val="F8FAFC"/>
                </a:solidFill>
                <a:latin typeface="Aptos"/>
              </a:defRPr>
            </a:pPr>
            <a:r>
              <a:rPr dirty="0"/>
              <a:t> Provide REST APIs through </a:t>
            </a:r>
            <a:r>
              <a:rPr dirty="0" err="1"/>
              <a:t>FastAPI</a:t>
            </a:r>
            <a:r>
              <a:rPr dirty="0"/>
              <a:t> and structured storage using MySQL.</a:t>
            </a:r>
          </a:p>
          <a:p>
            <a:pPr marL="285750" indent="-285750">
              <a:spcAft>
                <a:spcPts val="700"/>
              </a:spcAft>
              <a:buFont typeface="Arial" panose="020B0604020202020204" pitchFamily="34" charset="0"/>
              <a:buChar char="•"/>
              <a:defRPr sz="1700">
                <a:solidFill>
                  <a:srgbClr val="F8FAFC"/>
                </a:solidFill>
                <a:latin typeface="Aptos"/>
              </a:defRPr>
            </a:pPr>
            <a:r>
              <a:rPr dirty="0"/>
              <a:t> Support administration of users, vehicles, listings, services and prediction records.</a:t>
            </a:r>
          </a:p>
        </p:txBody>
      </p:sp>
      <p:sp>
        <p:nvSpPr>
          <p:cNvPr id="6" name="TextBox 5"/>
          <p:cNvSpPr txBox="1"/>
          <p:nvPr/>
        </p:nvSpPr>
        <p:spPr>
          <a:xfrm>
            <a:off x="822960" y="5897880"/>
            <a:ext cx="1097280" cy="274320"/>
          </a:xfrm>
          <a:prstGeom prst="rect">
            <a:avLst/>
          </a:prstGeom>
          <a:noFill/>
        </p:spPr>
        <p:txBody>
          <a:bodyPr wrap="square" anchor="t">
            <a:spAutoFit/>
          </a:bodyPr>
          <a:lstStyle/>
          <a:p>
            <a:pPr algn="l"/>
            <a:r>
              <a:rPr sz="1200" b="1">
                <a:solidFill>
                  <a:srgbClr val="43BEDC"/>
                </a:solidFill>
                <a:latin typeface="Aptos"/>
              </a:rPr>
              <a:t>Core idea</a:t>
            </a:r>
          </a:p>
        </p:txBody>
      </p:sp>
      <p:sp>
        <p:nvSpPr>
          <p:cNvPr id="7" name="TextBox 6"/>
          <p:cNvSpPr txBox="1"/>
          <p:nvPr/>
        </p:nvSpPr>
        <p:spPr>
          <a:xfrm>
            <a:off x="1920240" y="5852160"/>
            <a:ext cx="8961120" cy="365760"/>
          </a:xfrm>
          <a:prstGeom prst="rect">
            <a:avLst/>
          </a:prstGeom>
          <a:noFill/>
        </p:spPr>
        <p:txBody>
          <a:bodyPr wrap="square" anchor="t">
            <a:spAutoFit/>
          </a:bodyPr>
          <a:lstStyle/>
          <a:p>
            <a:pPr algn="l"/>
            <a:r>
              <a:rPr sz="1500" b="1">
                <a:solidFill>
                  <a:srgbClr val="F8FAFC"/>
                </a:solidFill>
                <a:latin typeface="Aptos"/>
              </a:rPr>
              <a:t>Marketplace + Vehicle History + Service + ML Prediction</a:t>
            </a:r>
          </a:p>
        </p:txBody>
      </p:sp>
      <p:sp>
        <p:nvSpPr>
          <p:cNvPr id="8" name="TextBox 7"/>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What CarZen Contains</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Major system components</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600200"/>
            <a:ext cx="260604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764792"/>
            <a:ext cx="457200" cy="365760"/>
          </a:xfrm>
          <a:prstGeom prst="rect">
            <a:avLst/>
          </a:prstGeom>
          <a:noFill/>
        </p:spPr>
        <p:txBody>
          <a:bodyPr wrap="square" anchor="t">
            <a:spAutoFit/>
          </a:bodyPr>
          <a:lstStyle/>
          <a:p>
            <a:pPr algn="ctr"/>
            <a:r>
              <a:rPr sz="1800" b="1">
                <a:solidFill>
                  <a:srgbClr val="43BEDC"/>
                </a:solidFill>
                <a:latin typeface="Aptos"/>
              </a:rPr>
              <a:t>01</a:t>
            </a:r>
          </a:p>
        </p:txBody>
      </p:sp>
      <p:sp>
        <p:nvSpPr>
          <p:cNvPr id="7" name="TextBox 6"/>
          <p:cNvSpPr txBox="1"/>
          <p:nvPr/>
        </p:nvSpPr>
        <p:spPr>
          <a:xfrm>
            <a:off x="1280160" y="1764792"/>
            <a:ext cx="1737360" cy="384048"/>
          </a:xfrm>
          <a:prstGeom prst="rect">
            <a:avLst/>
          </a:prstGeom>
          <a:noFill/>
        </p:spPr>
        <p:txBody>
          <a:bodyPr wrap="square" anchor="t">
            <a:spAutoFit/>
          </a:bodyPr>
          <a:lstStyle/>
          <a:p>
            <a:pPr algn="l"/>
            <a:r>
              <a:rPr sz="1600" b="1">
                <a:solidFill>
                  <a:srgbClr val="F8FAFC"/>
                </a:solidFill>
                <a:latin typeface="Aptos"/>
              </a:rPr>
              <a:t>User Management</a:t>
            </a:r>
          </a:p>
        </p:txBody>
      </p:sp>
      <p:sp>
        <p:nvSpPr>
          <p:cNvPr id="8" name="TextBox 7"/>
          <p:cNvSpPr txBox="1"/>
          <p:nvPr/>
        </p:nvSpPr>
        <p:spPr>
          <a:xfrm>
            <a:off x="822960" y="2258568"/>
            <a:ext cx="2148840" cy="523220"/>
          </a:xfrm>
          <a:prstGeom prst="rect">
            <a:avLst/>
          </a:prstGeom>
          <a:noFill/>
        </p:spPr>
        <p:txBody>
          <a:bodyPr wrap="square" anchor="t">
            <a:spAutoFit/>
          </a:bodyPr>
          <a:lstStyle/>
          <a:p>
            <a:pPr algn="l"/>
            <a:r>
              <a:rPr sz="1400" b="0" dirty="0">
                <a:solidFill>
                  <a:srgbClr val="B1BECF"/>
                </a:solidFill>
                <a:latin typeface="Aptos"/>
              </a:rPr>
              <a:t>Registration, login, authentication &amp; profiles</a:t>
            </a:r>
          </a:p>
        </p:txBody>
      </p:sp>
      <p:sp>
        <p:nvSpPr>
          <p:cNvPr id="9" name="Rounded Rectangle 8"/>
          <p:cNvSpPr/>
          <p:nvPr/>
        </p:nvSpPr>
        <p:spPr>
          <a:xfrm>
            <a:off x="3474720" y="1600200"/>
            <a:ext cx="260604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75887" y="1764792"/>
            <a:ext cx="457200" cy="365760"/>
          </a:xfrm>
          <a:prstGeom prst="rect">
            <a:avLst/>
          </a:prstGeom>
          <a:noFill/>
        </p:spPr>
        <p:txBody>
          <a:bodyPr wrap="square" anchor="t">
            <a:spAutoFit/>
          </a:bodyPr>
          <a:lstStyle/>
          <a:p>
            <a:pPr algn="ctr"/>
            <a:r>
              <a:rPr sz="1800" b="1">
                <a:solidFill>
                  <a:srgbClr val="43BEDC"/>
                </a:solidFill>
                <a:latin typeface="Aptos"/>
              </a:rPr>
              <a:t>02</a:t>
            </a:r>
          </a:p>
        </p:txBody>
      </p:sp>
      <p:sp>
        <p:nvSpPr>
          <p:cNvPr id="11" name="TextBox 10"/>
          <p:cNvSpPr txBox="1"/>
          <p:nvPr/>
        </p:nvSpPr>
        <p:spPr>
          <a:xfrm>
            <a:off x="4160520" y="1764792"/>
            <a:ext cx="1737360" cy="384048"/>
          </a:xfrm>
          <a:prstGeom prst="rect">
            <a:avLst/>
          </a:prstGeom>
          <a:noFill/>
        </p:spPr>
        <p:txBody>
          <a:bodyPr wrap="square" anchor="t">
            <a:spAutoFit/>
          </a:bodyPr>
          <a:lstStyle/>
          <a:p>
            <a:pPr algn="l"/>
            <a:r>
              <a:rPr sz="1600" b="1">
                <a:solidFill>
                  <a:srgbClr val="F8FAFC"/>
                </a:solidFill>
                <a:latin typeface="Aptos"/>
              </a:rPr>
              <a:t>Car Management</a:t>
            </a:r>
          </a:p>
        </p:txBody>
      </p:sp>
      <p:sp>
        <p:nvSpPr>
          <p:cNvPr id="12" name="TextBox 11"/>
          <p:cNvSpPr txBox="1"/>
          <p:nvPr/>
        </p:nvSpPr>
        <p:spPr>
          <a:xfrm>
            <a:off x="3703320" y="2258568"/>
            <a:ext cx="2148840" cy="523220"/>
          </a:xfrm>
          <a:prstGeom prst="rect">
            <a:avLst/>
          </a:prstGeom>
          <a:noFill/>
        </p:spPr>
        <p:txBody>
          <a:bodyPr wrap="square" anchor="t">
            <a:spAutoFit/>
          </a:bodyPr>
          <a:lstStyle/>
          <a:p>
            <a:pPr algn="l"/>
            <a:r>
              <a:rPr lang="en-US" sz="1400" b="0" dirty="0">
                <a:solidFill>
                  <a:srgbClr val="B1BECF"/>
                </a:solidFill>
                <a:latin typeface="Aptos"/>
              </a:rPr>
              <a:t>Vehicle data, listings, search &amp; filters</a:t>
            </a:r>
            <a:endParaRPr sz="1400" b="0" dirty="0">
              <a:solidFill>
                <a:srgbClr val="B1BECF"/>
              </a:solidFill>
              <a:latin typeface="Aptos"/>
            </a:endParaRPr>
          </a:p>
        </p:txBody>
      </p:sp>
      <p:sp>
        <p:nvSpPr>
          <p:cNvPr id="13" name="Rounded Rectangle 12"/>
          <p:cNvSpPr/>
          <p:nvPr/>
        </p:nvSpPr>
        <p:spPr>
          <a:xfrm>
            <a:off x="6355080" y="1600200"/>
            <a:ext cx="260604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56248" y="1764792"/>
            <a:ext cx="457200" cy="365760"/>
          </a:xfrm>
          <a:prstGeom prst="rect">
            <a:avLst/>
          </a:prstGeom>
          <a:noFill/>
        </p:spPr>
        <p:txBody>
          <a:bodyPr wrap="square" anchor="t">
            <a:spAutoFit/>
          </a:bodyPr>
          <a:lstStyle/>
          <a:p>
            <a:pPr algn="ctr"/>
            <a:r>
              <a:rPr sz="1800" b="1">
                <a:solidFill>
                  <a:srgbClr val="43BEDC"/>
                </a:solidFill>
                <a:latin typeface="Aptos"/>
              </a:rPr>
              <a:t>03</a:t>
            </a:r>
          </a:p>
        </p:txBody>
      </p:sp>
      <p:sp>
        <p:nvSpPr>
          <p:cNvPr id="15" name="TextBox 14"/>
          <p:cNvSpPr txBox="1"/>
          <p:nvPr/>
        </p:nvSpPr>
        <p:spPr>
          <a:xfrm>
            <a:off x="7040880" y="1764792"/>
            <a:ext cx="1737360" cy="384048"/>
          </a:xfrm>
          <a:prstGeom prst="rect">
            <a:avLst/>
          </a:prstGeom>
          <a:noFill/>
        </p:spPr>
        <p:txBody>
          <a:bodyPr wrap="square" anchor="t">
            <a:spAutoFit/>
          </a:bodyPr>
          <a:lstStyle/>
          <a:p>
            <a:pPr algn="l"/>
            <a:r>
              <a:rPr sz="1600" b="1">
                <a:solidFill>
                  <a:srgbClr val="F8FAFC"/>
                </a:solidFill>
                <a:latin typeface="Aptos"/>
              </a:rPr>
              <a:t>Buying / Search</a:t>
            </a:r>
          </a:p>
        </p:txBody>
      </p:sp>
      <p:sp>
        <p:nvSpPr>
          <p:cNvPr id="16" name="TextBox 15"/>
          <p:cNvSpPr txBox="1"/>
          <p:nvPr/>
        </p:nvSpPr>
        <p:spPr>
          <a:xfrm>
            <a:off x="6583680" y="2258568"/>
            <a:ext cx="2148840" cy="523220"/>
          </a:xfrm>
          <a:prstGeom prst="rect">
            <a:avLst/>
          </a:prstGeom>
          <a:noFill/>
        </p:spPr>
        <p:txBody>
          <a:bodyPr wrap="square" anchor="t">
            <a:spAutoFit/>
          </a:bodyPr>
          <a:lstStyle/>
          <a:p>
            <a:pPr algn="l"/>
            <a:r>
              <a:rPr sz="1400" b="0" dirty="0">
                <a:solidFill>
                  <a:srgbClr val="B1BECF"/>
                </a:solidFill>
                <a:latin typeface="Aptos"/>
              </a:rPr>
              <a:t>Explore, compare &amp; view vehicle details</a:t>
            </a:r>
          </a:p>
        </p:txBody>
      </p:sp>
      <p:sp>
        <p:nvSpPr>
          <p:cNvPr id="17" name="Rounded Rectangle 16"/>
          <p:cNvSpPr/>
          <p:nvPr/>
        </p:nvSpPr>
        <p:spPr>
          <a:xfrm>
            <a:off x="9235440" y="1600200"/>
            <a:ext cx="260604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36608" y="1764792"/>
            <a:ext cx="457200" cy="365760"/>
          </a:xfrm>
          <a:prstGeom prst="rect">
            <a:avLst/>
          </a:prstGeom>
          <a:noFill/>
        </p:spPr>
        <p:txBody>
          <a:bodyPr wrap="square" anchor="t">
            <a:spAutoFit/>
          </a:bodyPr>
          <a:lstStyle/>
          <a:p>
            <a:pPr algn="ctr"/>
            <a:r>
              <a:rPr sz="1800" b="1">
                <a:solidFill>
                  <a:srgbClr val="43BEDC"/>
                </a:solidFill>
                <a:latin typeface="Aptos"/>
              </a:rPr>
              <a:t>04</a:t>
            </a:r>
          </a:p>
        </p:txBody>
      </p:sp>
      <p:sp>
        <p:nvSpPr>
          <p:cNvPr id="19" name="TextBox 18"/>
          <p:cNvSpPr txBox="1"/>
          <p:nvPr/>
        </p:nvSpPr>
        <p:spPr>
          <a:xfrm>
            <a:off x="9921240" y="1764792"/>
            <a:ext cx="1737360" cy="338554"/>
          </a:xfrm>
          <a:prstGeom prst="rect">
            <a:avLst/>
          </a:prstGeom>
          <a:noFill/>
        </p:spPr>
        <p:txBody>
          <a:bodyPr wrap="square" anchor="t">
            <a:spAutoFit/>
          </a:bodyPr>
          <a:lstStyle/>
          <a:p>
            <a:pPr algn="l"/>
            <a:r>
              <a:rPr sz="1600" b="1" dirty="0">
                <a:solidFill>
                  <a:srgbClr val="F8FAFC"/>
                </a:solidFill>
                <a:latin typeface="Aptos"/>
              </a:rPr>
              <a:t>Selling </a:t>
            </a:r>
          </a:p>
        </p:txBody>
      </p:sp>
      <p:sp>
        <p:nvSpPr>
          <p:cNvPr id="20" name="TextBox 19"/>
          <p:cNvSpPr txBox="1"/>
          <p:nvPr/>
        </p:nvSpPr>
        <p:spPr>
          <a:xfrm>
            <a:off x="9464040" y="2258568"/>
            <a:ext cx="2148840" cy="523220"/>
          </a:xfrm>
          <a:prstGeom prst="rect">
            <a:avLst/>
          </a:prstGeom>
          <a:noFill/>
        </p:spPr>
        <p:txBody>
          <a:bodyPr wrap="square" anchor="t">
            <a:spAutoFit/>
          </a:bodyPr>
          <a:lstStyle/>
          <a:p>
            <a:pPr algn="l"/>
            <a:r>
              <a:rPr sz="1400" b="0" dirty="0">
                <a:solidFill>
                  <a:srgbClr val="B1BECF"/>
                </a:solidFill>
                <a:latin typeface="Aptos"/>
              </a:rPr>
              <a:t>Listings, ownership chain &amp;  history</a:t>
            </a:r>
          </a:p>
        </p:txBody>
      </p:sp>
      <p:sp>
        <p:nvSpPr>
          <p:cNvPr id="21" name="Rounded Rectangle 20"/>
          <p:cNvSpPr/>
          <p:nvPr/>
        </p:nvSpPr>
        <p:spPr>
          <a:xfrm>
            <a:off x="594360" y="3657600"/>
            <a:ext cx="260604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8" y="3822191"/>
            <a:ext cx="457200" cy="365760"/>
          </a:xfrm>
          <a:prstGeom prst="rect">
            <a:avLst/>
          </a:prstGeom>
          <a:noFill/>
        </p:spPr>
        <p:txBody>
          <a:bodyPr wrap="square" anchor="t">
            <a:spAutoFit/>
          </a:bodyPr>
          <a:lstStyle/>
          <a:p>
            <a:pPr algn="ctr"/>
            <a:r>
              <a:rPr sz="1800" b="1">
                <a:solidFill>
                  <a:srgbClr val="43BEDC"/>
                </a:solidFill>
                <a:latin typeface="Aptos"/>
              </a:rPr>
              <a:t>05</a:t>
            </a:r>
          </a:p>
        </p:txBody>
      </p:sp>
      <p:sp>
        <p:nvSpPr>
          <p:cNvPr id="23" name="TextBox 22"/>
          <p:cNvSpPr txBox="1"/>
          <p:nvPr/>
        </p:nvSpPr>
        <p:spPr>
          <a:xfrm>
            <a:off x="1280160" y="3822191"/>
            <a:ext cx="1737360" cy="384048"/>
          </a:xfrm>
          <a:prstGeom prst="rect">
            <a:avLst/>
          </a:prstGeom>
          <a:noFill/>
        </p:spPr>
        <p:txBody>
          <a:bodyPr wrap="square" anchor="t">
            <a:spAutoFit/>
          </a:bodyPr>
          <a:lstStyle/>
          <a:p>
            <a:pPr algn="l"/>
            <a:r>
              <a:rPr sz="1600" b="1">
                <a:solidFill>
                  <a:srgbClr val="F8FAFC"/>
                </a:solidFill>
                <a:latin typeface="Aptos"/>
              </a:rPr>
              <a:t>Car Service</a:t>
            </a:r>
          </a:p>
        </p:txBody>
      </p:sp>
      <p:sp>
        <p:nvSpPr>
          <p:cNvPr id="24" name="TextBox 23"/>
          <p:cNvSpPr txBox="1"/>
          <p:nvPr/>
        </p:nvSpPr>
        <p:spPr>
          <a:xfrm>
            <a:off x="822960" y="4315968"/>
            <a:ext cx="2148840" cy="523220"/>
          </a:xfrm>
          <a:prstGeom prst="rect">
            <a:avLst/>
          </a:prstGeom>
          <a:noFill/>
        </p:spPr>
        <p:txBody>
          <a:bodyPr wrap="square" anchor="t">
            <a:spAutoFit/>
          </a:bodyPr>
          <a:lstStyle/>
          <a:p>
            <a:pPr algn="l"/>
            <a:r>
              <a:rPr sz="1400" b="0" dirty="0">
                <a:solidFill>
                  <a:srgbClr val="B1BECF"/>
                </a:solidFill>
                <a:latin typeface="Aptos"/>
              </a:rPr>
              <a:t>Service records, costs &amp; maintenance history</a:t>
            </a:r>
          </a:p>
        </p:txBody>
      </p:sp>
      <p:sp>
        <p:nvSpPr>
          <p:cNvPr id="25" name="Rounded Rectangle 24"/>
          <p:cNvSpPr/>
          <p:nvPr/>
        </p:nvSpPr>
        <p:spPr>
          <a:xfrm>
            <a:off x="3474720" y="3657600"/>
            <a:ext cx="260604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75887" y="3822191"/>
            <a:ext cx="457200" cy="365760"/>
          </a:xfrm>
          <a:prstGeom prst="rect">
            <a:avLst/>
          </a:prstGeom>
          <a:noFill/>
        </p:spPr>
        <p:txBody>
          <a:bodyPr wrap="square" anchor="t">
            <a:spAutoFit/>
          </a:bodyPr>
          <a:lstStyle/>
          <a:p>
            <a:pPr algn="ctr"/>
            <a:r>
              <a:rPr sz="1800" b="1">
                <a:solidFill>
                  <a:srgbClr val="43BEDC"/>
                </a:solidFill>
                <a:latin typeface="Aptos"/>
              </a:rPr>
              <a:t>06</a:t>
            </a:r>
          </a:p>
        </p:txBody>
      </p:sp>
      <p:sp>
        <p:nvSpPr>
          <p:cNvPr id="27" name="TextBox 26"/>
          <p:cNvSpPr txBox="1"/>
          <p:nvPr/>
        </p:nvSpPr>
        <p:spPr>
          <a:xfrm>
            <a:off x="4160520" y="3822191"/>
            <a:ext cx="1737360" cy="384048"/>
          </a:xfrm>
          <a:prstGeom prst="rect">
            <a:avLst/>
          </a:prstGeom>
          <a:noFill/>
        </p:spPr>
        <p:txBody>
          <a:bodyPr wrap="square" anchor="t">
            <a:spAutoFit/>
          </a:bodyPr>
          <a:lstStyle/>
          <a:p>
            <a:pPr algn="l"/>
            <a:r>
              <a:rPr sz="1600" b="1">
                <a:solidFill>
                  <a:srgbClr val="F8FAFC"/>
                </a:solidFill>
                <a:latin typeface="Aptos"/>
              </a:rPr>
              <a:t>Price Prediction</a:t>
            </a:r>
          </a:p>
        </p:txBody>
      </p:sp>
      <p:sp>
        <p:nvSpPr>
          <p:cNvPr id="28" name="TextBox 27"/>
          <p:cNvSpPr txBox="1"/>
          <p:nvPr/>
        </p:nvSpPr>
        <p:spPr>
          <a:xfrm>
            <a:off x="3703320" y="4315968"/>
            <a:ext cx="2148840" cy="523220"/>
          </a:xfrm>
          <a:prstGeom prst="rect">
            <a:avLst/>
          </a:prstGeom>
          <a:noFill/>
        </p:spPr>
        <p:txBody>
          <a:bodyPr wrap="square" anchor="t">
            <a:spAutoFit/>
          </a:bodyPr>
          <a:lstStyle/>
          <a:p>
            <a:pPr algn="l"/>
            <a:r>
              <a:rPr sz="1400" b="0" dirty="0">
                <a:solidFill>
                  <a:srgbClr val="B1BECF"/>
                </a:solidFill>
                <a:latin typeface="Aptos"/>
              </a:rPr>
              <a:t>Estimated  value from vehicle attributes</a:t>
            </a:r>
          </a:p>
        </p:txBody>
      </p:sp>
      <p:sp>
        <p:nvSpPr>
          <p:cNvPr id="29" name="Rounded Rectangle 28"/>
          <p:cNvSpPr/>
          <p:nvPr/>
        </p:nvSpPr>
        <p:spPr>
          <a:xfrm>
            <a:off x="6355080" y="3657600"/>
            <a:ext cx="260604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56248" y="3822191"/>
            <a:ext cx="457200" cy="365760"/>
          </a:xfrm>
          <a:prstGeom prst="rect">
            <a:avLst/>
          </a:prstGeom>
          <a:noFill/>
        </p:spPr>
        <p:txBody>
          <a:bodyPr wrap="square" anchor="t">
            <a:spAutoFit/>
          </a:bodyPr>
          <a:lstStyle/>
          <a:p>
            <a:pPr algn="ctr"/>
            <a:r>
              <a:rPr sz="1800" b="1">
                <a:solidFill>
                  <a:srgbClr val="43BEDC"/>
                </a:solidFill>
                <a:latin typeface="Aptos"/>
              </a:rPr>
              <a:t>07</a:t>
            </a:r>
          </a:p>
        </p:txBody>
      </p:sp>
      <p:sp>
        <p:nvSpPr>
          <p:cNvPr id="31" name="TextBox 30"/>
          <p:cNvSpPr txBox="1"/>
          <p:nvPr/>
        </p:nvSpPr>
        <p:spPr>
          <a:xfrm>
            <a:off x="7040880" y="3822191"/>
            <a:ext cx="1737360" cy="384048"/>
          </a:xfrm>
          <a:prstGeom prst="rect">
            <a:avLst/>
          </a:prstGeom>
          <a:noFill/>
        </p:spPr>
        <p:txBody>
          <a:bodyPr wrap="square" anchor="t">
            <a:spAutoFit/>
          </a:bodyPr>
          <a:lstStyle/>
          <a:p>
            <a:pPr algn="l"/>
            <a:r>
              <a:rPr sz="1600" b="1">
                <a:solidFill>
                  <a:srgbClr val="F8FAFC"/>
                </a:solidFill>
                <a:latin typeface="Aptos"/>
              </a:rPr>
              <a:t>Admin</a:t>
            </a:r>
          </a:p>
        </p:txBody>
      </p:sp>
      <p:sp>
        <p:nvSpPr>
          <p:cNvPr id="32" name="TextBox 31"/>
          <p:cNvSpPr txBox="1"/>
          <p:nvPr/>
        </p:nvSpPr>
        <p:spPr>
          <a:xfrm>
            <a:off x="6583680" y="4315968"/>
            <a:ext cx="2148840" cy="523220"/>
          </a:xfrm>
          <a:prstGeom prst="rect">
            <a:avLst/>
          </a:prstGeom>
          <a:noFill/>
        </p:spPr>
        <p:txBody>
          <a:bodyPr wrap="square" anchor="t">
            <a:spAutoFit/>
          </a:bodyPr>
          <a:lstStyle/>
          <a:p>
            <a:pPr algn="l"/>
            <a:r>
              <a:rPr sz="1400" b="0" dirty="0">
                <a:solidFill>
                  <a:srgbClr val="B1BECF"/>
                </a:solidFill>
                <a:latin typeface="Aptos"/>
              </a:rPr>
              <a:t>Users, cars, services, listings &amp; system data</a:t>
            </a:r>
          </a:p>
        </p:txBody>
      </p:sp>
      <p:sp>
        <p:nvSpPr>
          <p:cNvPr id="33" name="Rounded Rectangle 32"/>
          <p:cNvSpPr/>
          <p:nvPr/>
        </p:nvSpPr>
        <p:spPr>
          <a:xfrm>
            <a:off x="9235440" y="3657600"/>
            <a:ext cx="260604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436608" y="3822191"/>
            <a:ext cx="457200" cy="365760"/>
          </a:xfrm>
          <a:prstGeom prst="rect">
            <a:avLst/>
          </a:prstGeom>
          <a:noFill/>
        </p:spPr>
        <p:txBody>
          <a:bodyPr wrap="square" anchor="t">
            <a:spAutoFit/>
          </a:bodyPr>
          <a:lstStyle/>
          <a:p>
            <a:pPr algn="ctr"/>
            <a:r>
              <a:rPr sz="1800" b="1">
                <a:solidFill>
                  <a:srgbClr val="43BEDC"/>
                </a:solidFill>
                <a:latin typeface="Aptos"/>
              </a:rPr>
              <a:t>08</a:t>
            </a:r>
          </a:p>
        </p:txBody>
      </p:sp>
      <p:sp>
        <p:nvSpPr>
          <p:cNvPr id="35" name="TextBox 34"/>
          <p:cNvSpPr txBox="1"/>
          <p:nvPr/>
        </p:nvSpPr>
        <p:spPr>
          <a:xfrm>
            <a:off x="9921240" y="3822191"/>
            <a:ext cx="1737360" cy="384048"/>
          </a:xfrm>
          <a:prstGeom prst="rect">
            <a:avLst/>
          </a:prstGeom>
          <a:noFill/>
        </p:spPr>
        <p:txBody>
          <a:bodyPr wrap="square" anchor="t">
            <a:spAutoFit/>
          </a:bodyPr>
          <a:lstStyle/>
          <a:p>
            <a:pPr algn="l"/>
            <a:r>
              <a:rPr sz="1600" b="1">
                <a:solidFill>
                  <a:srgbClr val="F8FAFC"/>
                </a:solidFill>
                <a:latin typeface="Aptos"/>
              </a:rPr>
              <a:t>Backend</a:t>
            </a:r>
          </a:p>
        </p:txBody>
      </p:sp>
      <p:sp>
        <p:nvSpPr>
          <p:cNvPr id="36" name="TextBox 35"/>
          <p:cNvSpPr txBox="1"/>
          <p:nvPr/>
        </p:nvSpPr>
        <p:spPr>
          <a:xfrm>
            <a:off x="9464040" y="4315968"/>
            <a:ext cx="2148840" cy="738664"/>
          </a:xfrm>
          <a:prstGeom prst="rect">
            <a:avLst/>
          </a:prstGeom>
          <a:noFill/>
        </p:spPr>
        <p:txBody>
          <a:bodyPr wrap="square" anchor="t">
            <a:spAutoFit/>
          </a:bodyPr>
          <a:lstStyle/>
          <a:p>
            <a:pPr algn="l"/>
            <a:r>
              <a:rPr sz="1400" b="0" dirty="0" err="1">
                <a:solidFill>
                  <a:srgbClr val="B1BECF"/>
                </a:solidFill>
                <a:latin typeface="Aptos"/>
              </a:rPr>
              <a:t>FastAPI</a:t>
            </a:r>
            <a:r>
              <a:rPr sz="1400" b="0" dirty="0">
                <a:solidFill>
                  <a:srgbClr val="B1BECF"/>
                </a:solidFill>
                <a:latin typeface="Aptos"/>
              </a:rPr>
              <a:t> REST APIs + business logic + database</a:t>
            </a:r>
          </a:p>
        </p:txBody>
      </p:sp>
      <p:sp>
        <p:nvSpPr>
          <p:cNvPr id="37" name="TextBox 36"/>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Who Uses CarZen?</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Target users and their primary responsibilities</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645920"/>
            <a:ext cx="3429000" cy="17373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10512"/>
            <a:ext cx="2971800" cy="384048"/>
          </a:xfrm>
          <a:prstGeom prst="rect">
            <a:avLst/>
          </a:prstGeom>
          <a:noFill/>
        </p:spPr>
        <p:txBody>
          <a:bodyPr wrap="square" anchor="t">
            <a:spAutoFit/>
          </a:bodyPr>
          <a:lstStyle/>
          <a:p>
            <a:pPr algn="l"/>
            <a:r>
              <a:rPr sz="1600" b="1">
                <a:solidFill>
                  <a:srgbClr val="F8FAFC"/>
                </a:solidFill>
                <a:latin typeface="Aptos"/>
              </a:rPr>
              <a:t>BUYER</a:t>
            </a:r>
          </a:p>
        </p:txBody>
      </p:sp>
      <p:sp>
        <p:nvSpPr>
          <p:cNvPr id="7" name="TextBox 6"/>
          <p:cNvSpPr txBox="1"/>
          <p:nvPr/>
        </p:nvSpPr>
        <p:spPr>
          <a:xfrm>
            <a:off x="868680" y="2304288"/>
            <a:ext cx="2971800" cy="523220"/>
          </a:xfrm>
          <a:prstGeom prst="rect">
            <a:avLst/>
          </a:prstGeom>
          <a:noFill/>
        </p:spPr>
        <p:txBody>
          <a:bodyPr wrap="square" anchor="t">
            <a:spAutoFit/>
          </a:bodyPr>
          <a:lstStyle/>
          <a:p>
            <a:pPr algn="l"/>
            <a:r>
              <a:rPr sz="1400" b="0" dirty="0">
                <a:solidFill>
                  <a:srgbClr val="B1BECF"/>
                </a:solidFill>
                <a:latin typeface="Aptos"/>
              </a:rPr>
              <a:t>Search, compare and purchase vehicles</a:t>
            </a:r>
          </a:p>
        </p:txBody>
      </p:sp>
      <p:sp>
        <p:nvSpPr>
          <p:cNvPr id="8" name="Rounded Rectangle 7"/>
          <p:cNvSpPr/>
          <p:nvPr/>
        </p:nvSpPr>
        <p:spPr>
          <a:xfrm>
            <a:off x="4434840" y="1645920"/>
            <a:ext cx="3429000" cy="17373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810512"/>
            <a:ext cx="2971800" cy="384048"/>
          </a:xfrm>
          <a:prstGeom prst="rect">
            <a:avLst/>
          </a:prstGeom>
          <a:noFill/>
        </p:spPr>
        <p:txBody>
          <a:bodyPr wrap="square" anchor="t">
            <a:spAutoFit/>
          </a:bodyPr>
          <a:lstStyle/>
          <a:p>
            <a:pPr algn="l"/>
            <a:r>
              <a:rPr sz="1600" b="1">
                <a:solidFill>
                  <a:srgbClr val="F8FAFC"/>
                </a:solidFill>
                <a:latin typeface="Aptos"/>
              </a:rPr>
              <a:t>SELLER</a:t>
            </a:r>
          </a:p>
        </p:txBody>
      </p:sp>
      <p:sp>
        <p:nvSpPr>
          <p:cNvPr id="10" name="TextBox 9"/>
          <p:cNvSpPr txBox="1"/>
          <p:nvPr/>
        </p:nvSpPr>
        <p:spPr>
          <a:xfrm>
            <a:off x="4663440" y="2304288"/>
            <a:ext cx="2971800" cy="523220"/>
          </a:xfrm>
          <a:prstGeom prst="rect">
            <a:avLst/>
          </a:prstGeom>
          <a:noFill/>
        </p:spPr>
        <p:txBody>
          <a:bodyPr wrap="square" anchor="t">
            <a:spAutoFit/>
          </a:bodyPr>
          <a:lstStyle/>
          <a:p>
            <a:pPr algn="l"/>
            <a:r>
              <a:rPr sz="1400" b="0" dirty="0">
                <a:solidFill>
                  <a:srgbClr val="B1BECF"/>
                </a:solidFill>
                <a:latin typeface="Aptos"/>
              </a:rPr>
              <a:t>List vehicles, set prices and manage listings</a:t>
            </a:r>
          </a:p>
        </p:txBody>
      </p:sp>
      <p:sp>
        <p:nvSpPr>
          <p:cNvPr id="14" name="Rounded Rectangle 13"/>
          <p:cNvSpPr/>
          <p:nvPr/>
        </p:nvSpPr>
        <p:spPr>
          <a:xfrm>
            <a:off x="640080" y="3749039"/>
            <a:ext cx="3429000" cy="17373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913631"/>
            <a:ext cx="2971800" cy="384048"/>
          </a:xfrm>
          <a:prstGeom prst="rect">
            <a:avLst/>
          </a:prstGeom>
          <a:noFill/>
        </p:spPr>
        <p:txBody>
          <a:bodyPr wrap="square" anchor="t">
            <a:spAutoFit/>
          </a:bodyPr>
          <a:lstStyle/>
          <a:p>
            <a:pPr algn="l"/>
            <a:r>
              <a:rPr sz="1600" b="1">
                <a:solidFill>
                  <a:srgbClr val="F8FAFC"/>
                </a:solidFill>
                <a:latin typeface="Aptos"/>
              </a:rPr>
              <a:t>CAR OWNER</a:t>
            </a:r>
          </a:p>
        </p:txBody>
      </p:sp>
      <p:sp>
        <p:nvSpPr>
          <p:cNvPr id="16" name="TextBox 15"/>
          <p:cNvSpPr txBox="1"/>
          <p:nvPr/>
        </p:nvSpPr>
        <p:spPr>
          <a:xfrm>
            <a:off x="868680" y="4407407"/>
            <a:ext cx="2971800" cy="523220"/>
          </a:xfrm>
          <a:prstGeom prst="rect">
            <a:avLst/>
          </a:prstGeom>
          <a:noFill/>
        </p:spPr>
        <p:txBody>
          <a:bodyPr wrap="square" anchor="t">
            <a:spAutoFit/>
          </a:bodyPr>
          <a:lstStyle/>
          <a:p>
            <a:pPr algn="l"/>
            <a:r>
              <a:rPr sz="1400" b="0" dirty="0">
                <a:solidFill>
                  <a:srgbClr val="B1BECF"/>
                </a:solidFill>
                <a:latin typeface="Aptos"/>
              </a:rPr>
              <a:t>Maintain vehicle information and estimate  value</a:t>
            </a:r>
          </a:p>
        </p:txBody>
      </p:sp>
      <p:sp>
        <p:nvSpPr>
          <p:cNvPr id="17" name="Rounded Rectangle 16"/>
          <p:cNvSpPr/>
          <p:nvPr/>
        </p:nvSpPr>
        <p:spPr>
          <a:xfrm>
            <a:off x="4434840" y="3749039"/>
            <a:ext cx="3429000" cy="17373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3913631"/>
            <a:ext cx="2971800" cy="384048"/>
          </a:xfrm>
          <a:prstGeom prst="rect">
            <a:avLst/>
          </a:prstGeom>
          <a:noFill/>
        </p:spPr>
        <p:txBody>
          <a:bodyPr wrap="square" anchor="t">
            <a:spAutoFit/>
          </a:bodyPr>
          <a:lstStyle/>
          <a:p>
            <a:pPr algn="l"/>
            <a:r>
              <a:rPr sz="1600" b="1">
                <a:solidFill>
                  <a:srgbClr val="F8FAFC"/>
                </a:solidFill>
                <a:latin typeface="Aptos"/>
              </a:rPr>
              <a:t>SERVICE PROVIDER</a:t>
            </a:r>
          </a:p>
        </p:txBody>
      </p:sp>
      <p:sp>
        <p:nvSpPr>
          <p:cNvPr id="19" name="TextBox 18"/>
          <p:cNvSpPr txBox="1"/>
          <p:nvPr/>
        </p:nvSpPr>
        <p:spPr>
          <a:xfrm>
            <a:off x="4663440" y="4407407"/>
            <a:ext cx="2971800" cy="523220"/>
          </a:xfrm>
          <a:prstGeom prst="rect">
            <a:avLst/>
          </a:prstGeom>
          <a:noFill/>
        </p:spPr>
        <p:txBody>
          <a:bodyPr wrap="square" anchor="t">
            <a:spAutoFit/>
          </a:bodyPr>
          <a:lstStyle/>
          <a:p>
            <a:pPr algn="l"/>
            <a:r>
              <a:rPr sz="1400" b="0" dirty="0">
                <a:solidFill>
                  <a:srgbClr val="B1BECF"/>
                </a:solidFill>
                <a:latin typeface="Aptos"/>
              </a:rPr>
              <a:t>Maintain service records and service history</a:t>
            </a:r>
          </a:p>
        </p:txBody>
      </p:sp>
      <p:sp>
        <p:nvSpPr>
          <p:cNvPr id="20" name="Rounded Rectangle 19"/>
          <p:cNvSpPr/>
          <p:nvPr/>
        </p:nvSpPr>
        <p:spPr>
          <a:xfrm>
            <a:off x="8229600" y="1645920"/>
            <a:ext cx="3429000" cy="17373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58200" y="1810512"/>
            <a:ext cx="2971800" cy="384048"/>
          </a:xfrm>
          <a:prstGeom prst="rect">
            <a:avLst/>
          </a:prstGeom>
          <a:noFill/>
        </p:spPr>
        <p:txBody>
          <a:bodyPr wrap="square" anchor="t">
            <a:spAutoFit/>
          </a:bodyPr>
          <a:lstStyle/>
          <a:p>
            <a:pPr algn="l"/>
            <a:r>
              <a:rPr sz="1600" b="1" dirty="0">
                <a:solidFill>
                  <a:srgbClr val="F8FAFC"/>
                </a:solidFill>
                <a:latin typeface="Aptos"/>
              </a:rPr>
              <a:t>ADMINISTRATOR</a:t>
            </a:r>
          </a:p>
        </p:txBody>
      </p:sp>
      <p:sp>
        <p:nvSpPr>
          <p:cNvPr id="22" name="TextBox 21"/>
          <p:cNvSpPr txBox="1"/>
          <p:nvPr/>
        </p:nvSpPr>
        <p:spPr>
          <a:xfrm>
            <a:off x="8458200" y="2304288"/>
            <a:ext cx="2971800" cy="523220"/>
          </a:xfrm>
          <a:prstGeom prst="rect">
            <a:avLst/>
          </a:prstGeom>
          <a:noFill/>
        </p:spPr>
        <p:txBody>
          <a:bodyPr wrap="square" anchor="t">
            <a:spAutoFit/>
          </a:bodyPr>
          <a:lstStyle/>
          <a:p>
            <a:pPr algn="l"/>
            <a:r>
              <a:rPr sz="1400" b="0" dirty="0">
                <a:solidFill>
                  <a:srgbClr val="B1BECF"/>
                </a:solidFill>
                <a:latin typeface="Aptos"/>
              </a:rPr>
              <a:t>Manage users, vehicles, services and system activity</a:t>
            </a:r>
          </a:p>
        </p:txBody>
      </p:sp>
      <p:sp>
        <p:nvSpPr>
          <p:cNvPr id="23" name="TextBox 22"/>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System Architecture</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Technology stack described in the documentation</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828800"/>
            <a:ext cx="2926080" cy="182880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993392"/>
            <a:ext cx="457200" cy="365760"/>
          </a:xfrm>
          <a:prstGeom prst="rect">
            <a:avLst/>
          </a:prstGeom>
          <a:noFill/>
        </p:spPr>
        <p:txBody>
          <a:bodyPr wrap="square" anchor="t">
            <a:spAutoFit/>
          </a:bodyPr>
          <a:lstStyle/>
          <a:p>
            <a:pPr algn="ctr"/>
            <a:r>
              <a:rPr sz="1800" b="1">
                <a:solidFill>
                  <a:srgbClr val="43BEDC"/>
                </a:solidFill>
                <a:latin typeface="Aptos"/>
              </a:rPr>
              <a:t>UI</a:t>
            </a:r>
          </a:p>
        </p:txBody>
      </p:sp>
      <p:sp>
        <p:nvSpPr>
          <p:cNvPr id="7" name="TextBox 6"/>
          <p:cNvSpPr txBox="1"/>
          <p:nvPr/>
        </p:nvSpPr>
        <p:spPr>
          <a:xfrm>
            <a:off x="1371600" y="1993392"/>
            <a:ext cx="2057400" cy="384048"/>
          </a:xfrm>
          <a:prstGeom prst="rect">
            <a:avLst/>
          </a:prstGeom>
          <a:noFill/>
        </p:spPr>
        <p:txBody>
          <a:bodyPr wrap="square" anchor="t">
            <a:spAutoFit/>
          </a:bodyPr>
          <a:lstStyle/>
          <a:p>
            <a:pPr algn="l"/>
            <a:r>
              <a:rPr sz="1600" b="1" dirty="0">
                <a:solidFill>
                  <a:srgbClr val="F8FAFC"/>
                </a:solidFill>
                <a:latin typeface="Aptos"/>
              </a:rPr>
              <a:t>Flutter</a:t>
            </a:r>
          </a:p>
        </p:txBody>
      </p:sp>
      <p:sp>
        <p:nvSpPr>
          <p:cNvPr id="8" name="TextBox 7"/>
          <p:cNvSpPr txBox="1"/>
          <p:nvPr/>
        </p:nvSpPr>
        <p:spPr>
          <a:xfrm>
            <a:off x="914400" y="2487168"/>
            <a:ext cx="2468880" cy="738664"/>
          </a:xfrm>
          <a:prstGeom prst="rect">
            <a:avLst/>
          </a:prstGeom>
          <a:noFill/>
        </p:spPr>
        <p:txBody>
          <a:bodyPr wrap="square" anchor="t">
            <a:spAutoFit/>
          </a:bodyPr>
          <a:lstStyle/>
          <a:p>
            <a:pPr algn="l"/>
            <a:r>
              <a:rPr sz="1400" b="0" dirty="0">
                <a:solidFill>
                  <a:srgbClr val="B1BECF"/>
                </a:solidFill>
                <a:latin typeface="Aptos"/>
              </a:rPr>
              <a:t>Cross-platform frontend
User interface &amp; client-side flow</a:t>
            </a:r>
          </a:p>
        </p:txBody>
      </p:sp>
      <p:sp>
        <p:nvSpPr>
          <p:cNvPr id="9" name="Rounded Rectangle 8"/>
          <p:cNvSpPr/>
          <p:nvPr/>
        </p:nvSpPr>
        <p:spPr>
          <a:xfrm>
            <a:off x="4617720" y="1828800"/>
            <a:ext cx="2926080" cy="182880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18888" y="1993392"/>
            <a:ext cx="621792" cy="369332"/>
          </a:xfrm>
          <a:prstGeom prst="rect">
            <a:avLst/>
          </a:prstGeom>
          <a:noFill/>
        </p:spPr>
        <p:txBody>
          <a:bodyPr wrap="square" anchor="t">
            <a:spAutoFit/>
          </a:bodyPr>
          <a:lstStyle/>
          <a:p>
            <a:pPr algn="ctr"/>
            <a:r>
              <a:rPr lang="en-US" b="1" dirty="0">
                <a:solidFill>
                  <a:srgbClr val="43BEDC"/>
                </a:solidFill>
                <a:latin typeface="Aptos"/>
              </a:rPr>
              <a:t>A</a:t>
            </a:r>
            <a:r>
              <a:rPr sz="1800" b="1" dirty="0">
                <a:solidFill>
                  <a:srgbClr val="43BEDC"/>
                </a:solidFill>
                <a:latin typeface="Aptos"/>
              </a:rPr>
              <a:t>PI</a:t>
            </a:r>
          </a:p>
        </p:txBody>
      </p:sp>
      <p:sp>
        <p:nvSpPr>
          <p:cNvPr id="11" name="TextBox 10"/>
          <p:cNvSpPr txBox="1"/>
          <p:nvPr/>
        </p:nvSpPr>
        <p:spPr>
          <a:xfrm>
            <a:off x="5500116" y="2020824"/>
            <a:ext cx="2057400" cy="384048"/>
          </a:xfrm>
          <a:prstGeom prst="rect">
            <a:avLst/>
          </a:prstGeom>
          <a:noFill/>
        </p:spPr>
        <p:txBody>
          <a:bodyPr wrap="square" anchor="t">
            <a:spAutoFit/>
          </a:bodyPr>
          <a:lstStyle/>
          <a:p>
            <a:pPr algn="l"/>
            <a:r>
              <a:rPr sz="1600" b="1" dirty="0">
                <a:solidFill>
                  <a:srgbClr val="F8FAFC"/>
                </a:solidFill>
                <a:latin typeface="Aptos"/>
              </a:rPr>
              <a:t>Python + </a:t>
            </a:r>
            <a:r>
              <a:rPr sz="1600" b="1" dirty="0" err="1">
                <a:solidFill>
                  <a:srgbClr val="F8FAFC"/>
                </a:solidFill>
                <a:latin typeface="Aptos"/>
              </a:rPr>
              <a:t>FastAPI</a:t>
            </a:r>
            <a:endParaRPr sz="1600" b="1" dirty="0">
              <a:solidFill>
                <a:srgbClr val="F8FAFC"/>
              </a:solidFill>
              <a:latin typeface="Aptos"/>
            </a:endParaRPr>
          </a:p>
        </p:txBody>
      </p:sp>
      <p:sp>
        <p:nvSpPr>
          <p:cNvPr id="12" name="TextBox 11"/>
          <p:cNvSpPr txBox="1"/>
          <p:nvPr/>
        </p:nvSpPr>
        <p:spPr>
          <a:xfrm>
            <a:off x="4846320" y="2487168"/>
            <a:ext cx="2468880" cy="523220"/>
          </a:xfrm>
          <a:prstGeom prst="rect">
            <a:avLst/>
          </a:prstGeom>
          <a:noFill/>
        </p:spPr>
        <p:txBody>
          <a:bodyPr wrap="square" anchor="t">
            <a:spAutoFit/>
          </a:bodyPr>
          <a:lstStyle/>
          <a:p>
            <a:pPr algn="l"/>
            <a:r>
              <a:rPr sz="1400" b="0" dirty="0">
                <a:solidFill>
                  <a:srgbClr val="B1BECF"/>
                </a:solidFill>
                <a:latin typeface="Aptos"/>
              </a:rPr>
              <a:t>REST APIs, business logic
and prediction services</a:t>
            </a:r>
          </a:p>
        </p:txBody>
      </p:sp>
      <p:sp>
        <p:nvSpPr>
          <p:cNvPr id="13" name="Rounded Rectangle 12"/>
          <p:cNvSpPr/>
          <p:nvPr/>
        </p:nvSpPr>
        <p:spPr>
          <a:xfrm>
            <a:off x="8549640" y="1828800"/>
            <a:ext cx="2926080" cy="182880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50808" y="1993392"/>
            <a:ext cx="530352" cy="365760"/>
          </a:xfrm>
          <a:prstGeom prst="rect">
            <a:avLst/>
          </a:prstGeom>
          <a:noFill/>
        </p:spPr>
        <p:txBody>
          <a:bodyPr wrap="square" anchor="t">
            <a:spAutoFit/>
          </a:bodyPr>
          <a:lstStyle/>
          <a:p>
            <a:pPr algn="ctr"/>
            <a:r>
              <a:rPr sz="1800" b="1" dirty="0">
                <a:solidFill>
                  <a:srgbClr val="43BEDC"/>
                </a:solidFill>
                <a:latin typeface="Aptos"/>
              </a:rPr>
              <a:t>DB</a:t>
            </a:r>
          </a:p>
        </p:txBody>
      </p:sp>
      <p:sp>
        <p:nvSpPr>
          <p:cNvPr id="15" name="TextBox 14"/>
          <p:cNvSpPr txBox="1"/>
          <p:nvPr/>
        </p:nvSpPr>
        <p:spPr>
          <a:xfrm>
            <a:off x="9235440" y="1993392"/>
            <a:ext cx="2057400" cy="384048"/>
          </a:xfrm>
          <a:prstGeom prst="rect">
            <a:avLst/>
          </a:prstGeom>
          <a:noFill/>
        </p:spPr>
        <p:txBody>
          <a:bodyPr wrap="square" anchor="t">
            <a:spAutoFit/>
          </a:bodyPr>
          <a:lstStyle/>
          <a:p>
            <a:pPr algn="l"/>
            <a:r>
              <a:rPr sz="1600" b="1">
                <a:solidFill>
                  <a:srgbClr val="F8FAFC"/>
                </a:solidFill>
                <a:latin typeface="Aptos"/>
              </a:rPr>
              <a:t>MySQL</a:t>
            </a:r>
          </a:p>
        </p:txBody>
      </p:sp>
      <p:sp>
        <p:nvSpPr>
          <p:cNvPr id="16" name="TextBox 15"/>
          <p:cNvSpPr txBox="1"/>
          <p:nvPr/>
        </p:nvSpPr>
        <p:spPr>
          <a:xfrm>
            <a:off x="8778240" y="2487168"/>
            <a:ext cx="2468880" cy="738664"/>
          </a:xfrm>
          <a:prstGeom prst="rect">
            <a:avLst/>
          </a:prstGeom>
          <a:noFill/>
        </p:spPr>
        <p:txBody>
          <a:bodyPr wrap="square" anchor="t">
            <a:spAutoFit/>
          </a:bodyPr>
          <a:lstStyle/>
          <a:p>
            <a:pPr algn="l"/>
            <a:r>
              <a:rPr sz="1400" b="0" dirty="0">
                <a:solidFill>
                  <a:srgbClr val="B1BECF"/>
                </a:solidFill>
                <a:latin typeface="Aptos"/>
              </a:rPr>
              <a:t>Relational storage for users,
vehicles, listings, services &amp; predictions</a:t>
            </a:r>
          </a:p>
        </p:txBody>
      </p:sp>
      <p:sp>
        <p:nvSpPr>
          <p:cNvPr id="19" name="Rounded Rectangle 18"/>
          <p:cNvSpPr/>
          <p:nvPr/>
        </p:nvSpPr>
        <p:spPr>
          <a:xfrm>
            <a:off x="2926080" y="4343400"/>
            <a:ext cx="2743200" cy="132588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127248" y="4507992"/>
            <a:ext cx="557784" cy="365760"/>
          </a:xfrm>
          <a:prstGeom prst="rect">
            <a:avLst/>
          </a:prstGeom>
          <a:noFill/>
        </p:spPr>
        <p:txBody>
          <a:bodyPr wrap="square" anchor="t">
            <a:spAutoFit/>
          </a:bodyPr>
          <a:lstStyle/>
          <a:p>
            <a:pPr algn="ctr"/>
            <a:r>
              <a:rPr sz="1800" b="1" dirty="0">
                <a:solidFill>
                  <a:srgbClr val="43BEDC"/>
                </a:solidFill>
                <a:latin typeface="Aptos"/>
              </a:rPr>
              <a:t>ML</a:t>
            </a:r>
          </a:p>
        </p:txBody>
      </p:sp>
      <p:sp>
        <p:nvSpPr>
          <p:cNvPr id="21" name="TextBox 20"/>
          <p:cNvSpPr txBox="1"/>
          <p:nvPr/>
        </p:nvSpPr>
        <p:spPr>
          <a:xfrm>
            <a:off x="3611880" y="4507992"/>
            <a:ext cx="1874519" cy="384048"/>
          </a:xfrm>
          <a:prstGeom prst="rect">
            <a:avLst/>
          </a:prstGeom>
          <a:noFill/>
        </p:spPr>
        <p:txBody>
          <a:bodyPr wrap="square" anchor="t">
            <a:spAutoFit/>
          </a:bodyPr>
          <a:lstStyle/>
          <a:p>
            <a:pPr algn="l"/>
            <a:r>
              <a:rPr sz="1600" b="1">
                <a:solidFill>
                  <a:srgbClr val="49AA78"/>
                </a:solidFill>
                <a:latin typeface="Aptos"/>
              </a:rPr>
              <a:t>Machine Learning</a:t>
            </a:r>
          </a:p>
        </p:txBody>
      </p:sp>
      <p:sp>
        <p:nvSpPr>
          <p:cNvPr id="22" name="TextBox 21"/>
          <p:cNvSpPr txBox="1"/>
          <p:nvPr/>
        </p:nvSpPr>
        <p:spPr>
          <a:xfrm>
            <a:off x="3127248" y="4892040"/>
            <a:ext cx="2286000" cy="738664"/>
          </a:xfrm>
          <a:prstGeom prst="rect">
            <a:avLst/>
          </a:prstGeom>
          <a:noFill/>
        </p:spPr>
        <p:txBody>
          <a:bodyPr wrap="square" anchor="t">
            <a:spAutoFit/>
          </a:bodyPr>
          <a:lstStyle/>
          <a:p>
            <a:pPr algn="l"/>
            <a:r>
              <a:rPr sz="1400" b="0" dirty="0">
                <a:solidFill>
                  <a:srgbClr val="B1BECF"/>
                </a:solidFill>
                <a:latin typeface="Aptos"/>
              </a:rPr>
              <a:t>Vehicle attributes + historical data
→ estimated  price</a:t>
            </a:r>
          </a:p>
        </p:txBody>
      </p:sp>
      <p:sp>
        <p:nvSpPr>
          <p:cNvPr id="23" name="Rounded Rectangle 22"/>
          <p:cNvSpPr/>
          <p:nvPr/>
        </p:nvSpPr>
        <p:spPr>
          <a:xfrm>
            <a:off x="6537960" y="4343400"/>
            <a:ext cx="2743200" cy="132588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0" y="4507992"/>
            <a:ext cx="548640" cy="369332"/>
          </a:xfrm>
          <a:prstGeom prst="rect">
            <a:avLst/>
          </a:prstGeom>
          <a:noFill/>
        </p:spPr>
        <p:txBody>
          <a:bodyPr wrap="square" anchor="t">
            <a:spAutoFit/>
          </a:bodyPr>
          <a:lstStyle/>
          <a:p>
            <a:pPr algn="ctr"/>
            <a:r>
              <a:rPr sz="1800" b="1">
                <a:solidFill>
                  <a:srgbClr val="43BEDC"/>
                </a:solidFill>
                <a:latin typeface="Aptos"/>
              </a:rPr>
              <a:t>QA</a:t>
            </a:r>
          </a:p>
        </p:txBody>
      </p:sp>
      <p:sp>
        <p:nvSpPr>
          <p:cNvPr id="25" name="TextBox 24"/>
          <p:cNvSpPr txBox="1"/>
          <p:nvPr/>
        </p:nvSpPr>
        <p:spPr>
          <a:xfrm>
            <a:off x="7223760" y="4507992"/>
            <a:ext cx="1874519" cy="384048"/>
          </a:xfrm>
          <a:prstGeom prst="rect">
            <a:avLst/>
          </a:prstGeom>
          <a:noFill/>
        </p:spPr>
        <p:txBody>
          <a:bodyPr wrap="square" anchor="t">
            <a:spAutoFit/>
          </a:bodyPr>
          <a:lstStyle/>
          <a:p>
            <a:pPr algn="l"/>
            <a:r>
              <a:rPr sz="1600" b="1">
                <a:solidFill>
                  <a:srgbClr val="EB9B41"/>
                </a:solidFill>
                <a:latin typeface="Aptos"/>
              </a:rPr>
              <a:t>Testing / Tools</a:t>
            </a:r>
          </a:p>
        </p:txBody>
      </p:sp>
      <p:sp>
        <p:nvSpPr>
          <p:cNvPr id="26" name="TextBox 25"/>
          <p:cNvSpPr txBox="1"/>
          <p:nvPr/>
        </p:nvSpPr>
        <p:spPr>
          <a:xfrm>
            <a:off x="6729984" y="4926830"/>
            <a:ext cx="2286000" cy="738664"/>
          </a:xfrm>
          <a:prstGeom prst="rect">
            <a:avLst/>
          </a:prstGeom>
          <a:noFill/>
        </p:spPr>
        <p:txBody>
          <a:bodyPr wrap="square" anchor="t">
            <a:spAutoFit/>
          </a:bodyPr>
          <a:lstStyle/>
          <a:p>
            <a:pPr algn="l"/>
            <a:r>
              <a:rPr sz="1400" b="0" dirty="0">
                <a:solidFill>
                  <a:srgbClr val="B1BECF"/>
                </a:solidFill>
                <a:latin typeface="Aptos"/>
              </a:rPr>
              <a:t>Postman for API testing
Git/GitHub for version control</a:t>
            </a:r>
          </a:p>
        </p:txBody>
      </p:sp>
      <p:sp>
        <p:nvSpPr>
          <p:cNvPr id="27" name="TextBox 26"/>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Functional Requirements</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What the system is expected to do</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645920"/>
            <a:ext cx="5349240" cy="452628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810512"/>
            <a:ext cx="457200" cy="365760"/>
          </a:xfrm>
          <a:prstGeom prst="rect">
            <a:avLst/>
          </a:prstGeom>
          <a:noFill/>
        </p:spPr>
        <p:txBody>
          <a:bodyPr wrap="square" anchor="t">
            <a:spAutoFit/>
          </a:bodyPr>
          <a:lstStyle/>
          <a:p>
            <a:pPr algn="ctr"/>
            <a:r>
              <a:rPr sz="1800" b="1">
                <a:solidFill>
                  <a:srgbClr val="43BEDC"/>
                </a:solidFill>
                <a:latin typeface="Aptos"/>
              </a:rPr>
              <a:t>A</a:t>
            </a:r>
          </a:p>
        </p:txBody>
      </p:sp>
      <p:sp>
        <p:nvSpPr>
          <p:cNvPr id="7" name="TextBox 6"/>
          <p:cNvSpPr txBox="1"/>
          <p:nvPr/>
        </p:nvSpPr>
        <p:spPr>
          <a:xfrm>
            <a:off x="1325880" y="1810512"/>
            <a:ext cx="4480559" cy="384048"/>
          </a:xfrm>
          <a:prstGeom prst="rect">
            <a:avLst/>
          </a:prstGeom>
          <a:noFill/>
        </p:spPr>
        <p:txBody>
          <a:bodyPr wrap="square" anchor="t">
            <a:spAutoFit/>
          </a:bodyPr>
          <a:lstStyle/>
          <a:p>
            <a:pPr algn="l"/>
            <a:r>
              <a:rPr sz="1600" b="1">
                <a:solidFill>
                  <a:srgbClr val="F8FAFC"/>
                </a:solidFill>
                <a:latin typeface="Aptos"/>
              </a:rPr>
              <a:t>User &amp; Marketplace</a:t>
            </a:r>
          </a:p>
        </p:txBody>
      </p:sp>
      <p:sp>
        <p:nvSpPr>
          <p:cNvPr id="8" name="TextBox 7"/>
          <p:cNvSpPr txBox="1"/>
          <p:nvPr/>
        </p:nvSpPr>
        <p:spPr>
          <a:xfrm>
            <a:off x="868680" y="2304288"/>
            <a:ext cx="4892040" cy="1384995"/>
          </a:xfrm>
          <a:prstGeom prst="rect">
            <a:avLst/>
          </a:prstGeom>
          <a:noFill/>
        </p:spPr>
        <p:txBody>
          <a:bodyPr wrap="square" anchor="t">
            <a:spAutoFit/>
          </a:bodyPr>
          <a:lstStyle/>
          <a:p>
            <a:pPr marL="171450" indent="-171450" algn="l">
              <a:buFont typeface="Arial" panose="020B0604020202020204" pitchFamily="34" charset="0"/>
              <a:buChar char="•"/>
            </a:pPr>
            <a:r>
              <a:rPr sz="1400" b="0" dirty="0">
                <a:solidFill>
                  <a:srgbClr val="B1BECF"/>
                </a:solidFill>
                <a:latin typeface="Aptos"/>
              </a:rPr>
              <a:t> Register / login / profile
 Add, update, delete car information
 Create &amp; manage listings
 Search and filter cars
 View detailed vehicle information
 Manage favorites &amp; inquiries</a:t>
            </a:r>
          </a:p>
        </p:txBody>
      </p:sp>
      <p:sp>
        <p:nvSpPr>
          <p:cNvPr id="9" name="Rounded Rectangle 8"/>
          <p:cNvSpPr/>
          <p:nvPr/>
        </p:nvSpPr>
        <p:spPr>
          <a:xfrm>
            <a:off x="6199632" y="1645920"/>
            <a:ext cx="5349240" cy="452628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810512"/>
            <a:ext cx="457200" cy="365760"/>
          </a:xfrm>
          <a:prstGeom prst="rect">
            <a:avLst/>
          </a:prstGeom>
          <a:noFill/>
        </p:spPr>
        <p:txBody>
          <a:bodyPr wrap="square" anchor="t">
            <a:spAutoFit/>
          </a:bodyPr>
          <a:lstStyle/>
          <a:p>
            <a:pPr algn="ctr"/>
            <a:r>
              <a:rPr sz="1800" b="1">
                <a:solidFill>
                  <a:srgbClr val="43BEDC"/>
                </a:solidFill>
                <a:latin typeface="Aptos"/>
              </a:rPr>
              <a:t>B</a:t>
            </a:r>
          </a:p>
        </p:txBody>
      </p:sp>
      <p:sp>
        <p:nvSpPr>
          <p:cNvPr id="11" name="TextBox 10"/>
          <p:cNvSpPr txBox="1"/>
          <p:nvPr/>
        </p:nvSpPr>
        <p:spPr>
          <a:xfrm>
            <a:off x="6885432" y="1810512"/>
            <a:ext cx="4480559" cy="384048"/>
          </a:xfrm>
          <a:prstGeom prst="rect">
            <a:avLst/>
          </a:prstGeom>
          <a:noFill/>
        </p:spPr>
        <p:txBody>
          <a:bodyPr wrap="square" anchor="t">
            <a:spAutoFit/>
          </a:bodyPr>
          <a:lstStyle/>
          <a:p>
            <a:pPr algn="l"/>
            <a:r>
              <a:rPr sz="1600" b="1">
                <a:solidFill>
                  <a:srgbClr val="F8FAFC"/>
                </a:solidFill>
                <a:latin typeface="Aptos"/>
              </a:rPr>
              <a:t>Vehicle Lifecycle</a:t>
            </a:r>
          </a:p>
        </p:txBody>
      </p:sp>
      <p:sp>
        <p:nvSpPr>
          <p:cNvPr id="12" name="TextBox 11"/>
          <p:cNvSpPr txBox="1"/>
          <p:nvPr/>
        </p:nvSpPr>
        <p:spPr>
          <a:xfrm>
            <a:off x="6428232" y="2304288"/>
            <a:ext cx="4892040" cy="1384995"/>
          </a:xfrm>
          <a:prstGeom prst="rect">
            <a:avLst/>
          </a:prstGeom>
          <a:noFill/>
        </p:spPr>
        <p:txBody>
          <a:bodyPr wrap="square" anchor="t">
            <a:spAutoFit/>
          </a:bodyPr>
          <a:lstStyle/>
          <a:p>
            <a:pPr marL="171450" indent="-171450" algn="l">
              <a:buFont typeface="Arial" panose="020B0604020202020204" pitchFamily="34" charset="0"/>
              <a:buChar char="•"/>
            </a:pPr>
            <a:r>
              <a:rPr sz="1400" b="0" dirty="0">
                <a:solidFill>
                  <a:srgbClr val="B1BECF"/>
                </a:solidFill>
                <a:latin typeface="Aptos"/>
              </a:rPr>
              <a:t> Maintain ownership &amp;  information
 Maintain service records
 Predict estimated  price
 Admin management
 Store transactions &amp; payment information
 Maintain reviews, reports &amp; notifications</a:t>
            </a:r>
          </a:p>
        </p:txBody>
      </p:sp>
      <p:sp>
        <p:nvSpPr>
          <p:cNvPr id="13" name="TextBox 12"/>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dirty="0">
                <a:solidFill>
                  <a:srgbClr val="F8FAFC"/>
                </a:solidFill>
                <a:latin typeface="Aptos"/>
              </a:rPr>
              <a:t>Database Design</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Relational structure supporting the platform</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600200"/>
            <a:ext cx="3474720" cy="164592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76479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7" name="TextBox 6"/>
          <p:cNvSpPr txBox="1"/>
          <p:nvPr/>
        </p:nvSpPr>
        <p:spPr>
          <a:xfrm>
            <a:off x="1280160" y="1764792"/>
            <a:ext cx="2606039" cy="384048"/>
          </a:xfrm>
          <a:prstGeom prst="rect">
            <a:avLst/>
          </a:prstGeom>
          <a:noFill/>
        </p:spPr>
        <p:txBody>
          <a:bodyPr wrap="square" anchor="t">
            <a:spAutoFit/>
          </a:bodyPr>
          <a:lstStyle/>
          <a:p>
            <a:pPr algn="l"/>
            <a:r>
              <a:rPr sz="1600" b="1">
                <a:solidFill>
                  <a:srgbClr val="F8FAFC"/>
                </a:solidFill>
                <a:latin typeface="Aptos"/>
              </a:rPr>
              <a:t>IDENTITY</a:t>
            </a:r>
          </a:p>
        </p:txBody>
      </p:sp>
      <p:sp>
        <p:nvSpPr>
          <p:cNvPr id="8" name="TextBox 7"/>
          <p:cNvSpPr txBox="1"/>
          <p:nvPr/>
        </p:nvSpPr>
        <p:spPr>
          <a:xfrm>
            <a:off x="789432" y="2148840"/>
            <a:ext cx="3017520" cy="523220"/>
          </a:xfrm>
          <a:prstGeom prst="rect">
            <a:avLst/>
          </a:prstGeom>
          <a:noFill/>
        </p:spPr>
        <p:txBody>
          <a:bodyPr wrap="square" anchor="t">
            <a:spAutoFit/>
          </a:bodyPr>
          <a:lstStyle/>
          <a:p>
            <a:pPr algn="l"/>
            <a:r>
              <a:rPr sz="1400" b="0" dirty="0">
                <a:solidFill>
                  <a:srgbClr val="B1BECF"/>
                </a:solidFill>
                <a:latin typeface="Aptos"/>
              </a:rPr>
              <a:t>users </a:t>
            </a:r>
            <a:endParaRPr lang="en-US" sz="1400" b="0" dirty="0">
              <a:solidFill>
                <a:srgbClr val="B1BECF"/>
              </a:solidFill>
              <a:latin typeface="Aptos"/>
            </a:endParaRPr>
          </a:p>
          <a:p>
            <a:pPr algn="l"/>
            <a:r>
              <a:rPr sz="1400" b="0" dirty="0">
                <a:solidFill>
                  <a:srgbClr val="B1BECF"/>
                </a:solidFill>
                <a:latin typeface="Aptos"/>
              </a:rPr>
              <a:t>admins</a:t>
            </a:r>
          </a:p>
        </p:txBody>
      </p:sp>
      <p:sp>
        <p:nvSpPr>
          <p:cNvPr id="9" name="Rounded Rectangle 8"/>
          <p:cNvSpPr/>
          <p:nvPr/>
        </p:nvSpPr>
        <p:spPr>
          <a:xfrm>
            <a:off x="4389120" y="1600200"/>
            <a:ext cx="3474720" cy="164592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0288" y="176479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1" name="TextBox 10"/>
          <p:cNvSpPr txBox="1"/>
          <p:nvPr/>
        </p:nvSpPr>
        <p:spPr>
          <a:xfrm>
            <a:off x="5074920" y="1764792"/>
            <a:ext cx="2606039" cy="384048"/>
          </a:xfrm>
          <a:prstGeom prst="rect">
            <a:avLst/>
          </a:prstGeom>
          <a:noFill/>
        </p:spPr>
        <p:txBody>
          <a:bodyPr wrap="square" anchor="t">
            <a:spAutoFit/>
          </a:bodyPr>
          <a:lstStyle/>
          <a:p>
            <a:pPr algn="l"/>
            <a:r>
              <a:rPr sz="1600" b="1">
                <a:solidFill>
                  <a:srgbClr val="F8FAFC"/>
                </a:solidFill>
                <a:latin typeface="Aptos"/>
              </a:rPr>
              <a:t>VEHICLE</a:t>
            </a:r>
          </a:p>
        </p:txBody>
      </p:sp>
      <p:sp>
        <p:nvSpPr>
          <p:cNvPr id="12" name="TextBox 11"/>
          <p:cNvSpPr txBox="1"/>
          <p:nvPr/>
        </p:nvSpPr>
        <p:spPr>
          <a:xfrm>
            <a:off x="4617720" y="2100209"/>
            <a:ext cx="3017520" cy="1169551"/>
          </a:xfrm>
          <a:prstGeom prst="rect">
            <a:avLst/>
          </a:prstGeom>
          <a:noFill/>
        </p:spPr>
        <p:txBody>
          <a:bodyPr wrap="square" anchor="t">
            <a:spAutoFit/>
          </a:bodyPr>
          <a:lstStyle/>
          <a:p>
            <a:pPr algn="l"/>
            <a:r>
              <a:rPr sz="1400" b="0" dirty="0" err="1">
                <a:solidFill>
                  <a:srgbClr val="B1BECF"/>
                </a:solidFill>
                <a:latin typeface="Aptos"/>
              </a:rPr>
              <a:t>car_brands</a:t>
            </a:r>
            <a:r>
              <a:rPr sz="1400" b="0" dirty="0">
                <a:solidFill>
                  <a:srgbClr val="B1BECF"/>
                </a:solidFill>
                <a:latin typeface="Aptos"/>
              </a:rPr>
              <a:t>  </a:t>
            </a:r>
            <a:endParaRPr lang="en-US" sz="1400" b="0" dirty="0">
              <a:solidFill>
                <a:srgbClr val="B1BECF"/>
              </a:solidFill>
              <a:latin typeface="Aptos"/>
            </a:endParaRPr>
          </a:p>
          <a:p>
            <a:pPr algn="l"/>
            <a:r>
              <a:rPr sz="1400" b="0" dirty="0" err="1">
                <a:solidFill>
                  <a:srgbClr val="B1BECF"/>
                </a:solidFill>
                <a:latin typeface="Aptos"/>
              </a:rPr>
              <a:t>car_models</a:t>
            </a:r>
            <a:r>
              <a:rPr sz="1400" b="0" dirty="0">
                <a:solidFill>
                  <a:srgbClr val="B1BECF"/>
                </a:solidFill>
                <a:latin typeface="Aptos"/>
              </a:rPr>
              <a:t>  </a:t>
            </a:r>
            <a:endParaRPr lang="en-US" sz="1400" b="0" dirty="0">
              <a:solidFill>
                <a:srgbClr val="B1BECF"/>
              </a:solidFill>
              <a:latin typeface="Aptos"/>
            </a:endParaRPr>
          </a:p>
          <a:p>
            <a:pPr algn="l"/>
            <a:r>
              <a:rPr sz="1400" b="0" dirty="0" err="1">
                <a:solidFill>
                  <a:srgbClr val="B1BECF"/>
                </a:solidFill>
                <a:latin typeface="Aptos"/>
              </a:rPr>
              <a:t>car_variants</a:t>
            </a:r>
            <a:r>
              <a:rPr sz="1400" b="0" dirty="0">
                <a:solidFill>
                  <a:srgbClr val="B1BECF"/>
                </a:solidFill>
                <a:latin typeface="Aptos"/>
              </a:rPr>
              <a:t>  </a:t>
            </a:r>
            <a:endParaRPr lang="en-US" sz="1400" b="0" dirty="0">
              <a:solidFill>
                <a:srgbClr val="B1BECF"/>
              </a:solidFill>
              <a:latin typeface="Aptos"/>
            </a:endParaRPr>
          </a:p>
          <a:p>
            <a:pPr algn="l"/>
            <a:r>
              <a:rPr sz="1400" b="0" dirty="0" err="1">
                <a:solidFill>
                  <a:srgbClr val="B1BECF"/>
                </a:solidFill>
                <a:latin typeface="Aptos"/>
              </a:rPr>
              <a:t>car_media</a:t>
            </a:r>
            <a:endParaRPr lang="en-US" sz="1400" b="0" dirty="0">
              <a:solidFill>
                <a:srgbClr val="B1BECF"/>
              </a:solidFill>
              <a:latin typeface="Aptos"/>
            </a:endParaRPr>
          </a:p>
          <a:p>
            <a:pPr algn="l"/>
            <a:r>
              <a:rPr lang="en-US" sz="1400" dirty="0">
                <a:solidFill>
                  <a:srgbClr val="B1BECF"/>
                </a:solidFill>
                <a:latin typeface="Aptos"/>
              </a:rPr>
              <a:t>cars</a:t>
            </a:r>
            <a:endParaRPr sz="1400" b="0" dirty="0">
              <a:solidFill>
                <a:srgbClr val="B1BECF"/>
              </a:solidFill>
              <a:latin typeface="Aptos"/>
            </a:endParaRPr>
          </a:p>
        </p:txBody>
      </p:sp>
      <p:sp>
        <p:nvSpPr>
          <p:cNvPr id="13" name="Rounded Rectangle 12"/>
          <p:cNvSpPr/>
          <p:nvPr/>
        </p:nvSpPr>
        <p:spPr>
          <a:xfrm>
            <a:off x="8183880" y="1600200"/>
            <a:ext cx="3474720" cy="164592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85048" y="1696998"/>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5" name="TextBox 14"/>
          <p:cNvSpPr txBox="1"/>
          <p:nvPr/>
        </p:nvSpPr>
        <p:spPr>
          <a:xfrm>
            <a:off x="8819389" y="1700784"/>
            <a:ext cx="2606039" cy="384048"/>
          </a:xfrm>
          <a:prstGeom prst="rect">
            <a:avLst/>
          </a:prstGeom>
          <a:noFill/>
        </p:spPr>
        <p:txBody>
          <a:bodyPr wrap="square" anchor="t">
            <a:spAutoFit/>
          </a:bodyPr>
          <a:lstStyle/>
          <a:p>
            <a:pPr algn="l"/>
            <a:r>
              <a:rPr sz="1600" b="1" dirty="0">
                <a:solidFill>
                  <a:srgbClr val="F8FAFC"/>
                </a:solidFill>
                <a:latin typeface="Aptos"/>
              </a:rPr>
              <a:t>MARKETPLACE</a:t>
            </a:r>
          </a:p>
        </p:txBody>
      </p:sp>
      <p:sp>
        <p:nvSpPr>
          <p:cNvPr id="16" name="TextBox 15"/>
          <p:cNvSpPr txBox="1"/>
          <p:nvPr/>
        </p:nvSpPr>
        <p:spPr>
          <a:xfrm>
            <a:off x="8385048" y="1940529"/>
            <a:ext cx="3017520" cy="1384995"/>
          </a:xfrm>
          <a:prstGeom prst="rect">
            <a:avLst/>
          </a:prstGeom>
          <a:noFill/>
        </p:spPr>
        <p:txBody>
          <a:bodyPr wrap="square" anchor="t">
            <a:spAutoFit/>
          </a:bodyPr>
          <a:lstStyle/>
          <a:p>
            <a:pPr algn="l"/>
            <a:r>
              <a:rPr sz="1400" b="0" dirty="0">
                <a:solidFill>
                  <a:srgbClr val="B1BECF"/>
                </a:solidFill>
                <a:latin typeface="Aptos"/>
              </a:rPr>
              <a:t>listings  </a:t>
            </a:r>
            <a:endParaRPr lang="en-US" sz="1400" b="0" dirty="0">
              <a:solidFill>
                <a:srgbClr val="B1BECF"/>
              </a:solidFill>
              <a:latin typeface="Aptos"/>
            </a:endParaRPr>
          </a:p>
          <a:p>
            <a:pPr algn="l"/>
            <a:r>
              <a:rPr sz="1400" b="0" dirty="0" err="1">
                <a:solidFill>
                  <a:srgbClr val="B1BECF"/>
                </a:solidFill>
                <a:latin typeface="Aptos"/>
              </a:rPr>
              <a:t>ownership_history</a:t>
            </a:r>
            <a:r>
              <a:rPr sz="1400" b="0" dirty="0">
                <a:solidFill>
                  <a:srgbClr val="B1BECF"/>
                </a:solidFill>
                <a:latin typeface="Aptos"/>
              </a:rPr>
              <a:t>  </a:t>
            </a:r>
            <a:endParaRPr lang="en-US" sz="1400" b="0" dirty="0">
              <a:solidFill>
                <a:srgbClr val="B1BECF"/>
              </a:solidFill>
              <a:latin typeface="Aptos"/>
            </a:endParaRPr>
          </a:p>
          <a:p>
            <a:pPr algn="l"/>
            <a:r>
              <a:rPr sz="1400" b="0" dirty="0" err="1">
                <a:solidFill>
                  <a:srgbClr val="B1BECF"/>
                </a:solidFill>
                <a:latin typeface="Aptos"/>
              </a:rPr>
              <a:t>favourites</a:t>
            </a:r>
            <a:r>
              <a:rPr sz="1400" b="0" dirty="0">
                <a:solidFill>
                  <a:srgbClr val="B1BECF"/>
                </a:solidFill>
                <a:latin typeface="Aptos"/>
              </a:rPr>
              <a:t>  </a:t>
            </a:r>
            <a:endParaRPr lang="en-US" sz="1400" b="0" dirty="0">
              <a:solidFill>
                <a:srgbClr val="B1BECF"/>
              </a:solidFill>
              <a:latin typeface="Aptos"/>
            </a:endParaRPr>
          </a:p>
          <a:p>
            <a:pPr algn="l"/>
            <a:r>
              <a:rPr sz="1400" b="0" dirty="0">
                <a:solidFill>
                  <a:srgbClr val="B1BECF"/>
                </a:solidFill>
                <a:latin typeface="Aptos"/>
              </a:rPr>
              <a:t>inquiries  </a:t>
            </a:r>
            <a:endParaRPr lang="en-US" sz="1400" b="0" dirty="0">
              <a:solidFill>
                <a:srgbClr val="B1BECF"/>
              </a:solidFill>
              <a:latin typeface="Aptos"/>
            </a:endParaRPr>
          </a:p>
          <a:p>
            <a:pPr algn="l"/>
            <a:r>
              <a:rPr sz="1400" b="0" dirty="0">
                <a:solidFill>
                  <a:srgbClr val="B1BECF"/>
                </a:solidFill>
                <a:latin typeface="Aptos"/>
              </a:rPr>
              <a:t>transactions  </a:t>
            </a:r>
            <a:endParaRPr lang="en-US" sz="1400" b="0" dirty="0">
              <a:solidFill>
                <a:srgbClr val="B1BECF"/>
              </a:solidFill>
              <a:latin typeface="Aptos"/>
            </a:endParaRPr>
          </a:p>
          <a:p>
            <a:pPr algn="l"/>
            <a:r>
              <a:rPr sz="1400" b="0" dirty="0">
                <a:solidFill>
                  <a:srgbClr val="B1BECF"/>
                </a:solidFill>
                <a:latin typeface="Aptos"/>
              </a:rPr>
              <a:t>payments</a:t>
            </a:r>
          </a:p>
        </p:txBody>
      </p:sp>
      <p:sp>
        <p:nvSpPr>
          <p:cNvPr id="17" name="Rounded Rectangle 16"/>
          <p:cNvSpPr/>
          <p:nvPr/>
        </p:nvSpPr>
        <p:spPr>
          <a:xfrm>
            <a:off x="594360" y="3611880"/>
            <a:ext cx="3474720" cy="164592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5528" y="377647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9" name="TextBox 18"/>
          <p:cNvSpPr txBox="1"/>
          <p:nvPr/>
        </p:nvSpPr>
        <p:spPr>
          <a:xfrm>
            <a:off x="1280160" y="3776472"/>
            <a:ext cx="2606039" cy="384048"/>
          </a:xfrm>
          <a:prstGeom prst="rect">
            <a:avLst/>
          </a:prstGeom>
          <a:noFill/>
        </p:spPr>
        <p:txBody>
          <a:bodyPr wrap="square" anchor="t">
            <a:spAutoFit/>
          </a:bodyPr>
          <a:lstStyle/>
          <a:p>
            <a:pPr algn="l"/>
            <a:r>
              <a:rPr sz="1600" b="1">
                <a:solidFill>
                  <a:srgbClr val="F8FAFC"/>
                </a:solidFill>
                <a:latin typeface="Aptos"/>
              </a:rPr>
              <a:t>SERVICE</a:t>
            </a:r>
          </a:p>
        </p:txBody>
      </p:sp>
      <p:sp>
        <p:nvSpPr>
          <p:cNvPr id="20" name="TextBox 19"/>
          <p:cNvSpPr txBox="1"/>
          <p:nvPr/>
        </p:nvSpPr>
        <p:spPr>
          <a:xfrm>
            <a:off x="795528" y="4270248"/>
            <a:ext cx="3017520" cy="738664"/>
          </a:xfrm>
          <a:prstGeom prst="rect">
            <a:avLst/>
          </a:prstGeom>
          <a:noFill/>
        </p:spPr>
        <p:txBody>
          <a:bodyPr wrap="square" anchor="t">
            <a:spAutoFit/>
          </a:bodyPr>
          <a:lstStyle/>
          <a:p>
            <a:pPr algn="l"/>
            <a:r>
              <a:rPr sz="1400" b="0" dirty="0" err="1">
                <a:solidFill>
                  <a:srgbClr val="B1BECF"/>
                </a:solidFill>
                <a:latin typeface="Aptos"/>
              </a:rPr>
              <a:t>service_centers</a:t>
            </a:r>
            <a:r>
              <a:rPr sz="1400" b="0" dirty="0">
                <a:solidFill>
                  <a:srgbClr val="B1BECF"/>
                </a:solidFill>
                <a:latin typeface="Aptos"/>
              </a:rPr>
              <a:t>  </a:t>
            </a:r>
            <a:endParaRPr lang="en-US" sz="1400" b="0" dirty="0">
              <a:solidFill>
                <a:srgbClr val="B1BECF"/>
              </a:solidFill>
              <a:latin typeface="Aptos"/>
            </a:endParaRPr>
          </a:p>
          <a:p>
            <a:pPr algn="l"/>
            <a:r>
              <a:rPr sz="1400" b="0" dirty="0" err="1">
                <a:solidFill>
                  <a:srgbClr val="B1BECF"/>
                </a:solidFill>
                <a:latin typeface="Aptos"/>
              </a:rPr>
              <a:t>service_records</a:t>
            </a:r>
            <a:r>
              <a:rPr sz="1400" b="0" dirty="0">
                <a:solidFill>
                  <a:srgbClr val="B1BECF"/>
                </a:solidFill>
                <a:latin typeface="Aptos"/>
              </a:rPr>
              <a:t>  </a:t>
            </a:r>
            <a:endParaRPr lang="en-US" sz="1400" b="0" dirty="0">
              <a:solidFill>
                <a:srgbClr val="B1BECF"/>
              </a:solidFill>
              <a:latin typeface="Aptos"/>
            </a:endParaRPr>
          </a:p>
          <a:p>
            <a:pPr algn="l"/>
            <a:r>
              <a:rPr sz="1400" b="0" dirty="0" err="1">
                <a:solidFill>
                  <a:srgbClr val="B1BECF"/>
                </a:solidFill>
                <a:latin typeface="Aptos"/>
              </a:rPr>
              <a:t>service_items</a:t>
            </a:r>
            <a:endParaRPr sz="1400" b="0" dirty="0">
              <a:solidFill>
                <a:srgbClr val="B1BECF"/>
              </a:solidFill>
              <a:latin typeface="Aptos"/>
            </a:endParaRPr>
          </a:p>
        </p:txBody>
      </p:sp>
      <p:sp>
        <p:nvSpPr>
          <p:cNvPr id="21" name="Rounded Rectangle 20"/>
          <p:cNvSpPr/>
          <p:nvPr/>
        </p:nvSpPr>
        <p:spPr>
          <a:xfrm>
            <a:off x="4389120" y="3611880"/>
            <a:ext cx="3474720" cy="164592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90288" y="377647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23" name="TextBox 22"/>
          <p:cNvSpPr txBox="1"/>
          <p:nvPr/>
        </p:nvSpPr>
        <p:spPr>
          <a:xfrm>
            <a:off x="5074920" y="3776472"/>
            <a:ext cx="2606039" cy="384048"/>
          </a:xfrm>
          <a:prstGeom prst="rect">
            <a:avLst/>
          </a:prstGeom>
          <a:noFill/>
        </p:spPr>
        <p:txBody>
          <a:bodyPr wrap="square" anchor="t">
            <a:spAutoFit/>
          </a:bodyPr>
          <a:lstStyle/>
          <a:p>
            <a:pPr algn="l"/>
            <a:r>
              <a:rPr sz="1600" b="1" dirty="0">
                <a:solidFill>
                  <a:srgbClr val="F8FAFC"/>
                </a:solidFill>
                <a:latin typeface="Aptos"/>
              </a:rPr>
              <a:t>PREDICTION</a:t>
            </a:r>
          </a:p>
        </p:txBody>
      </p:sp>
      <p:sp>
        <p:nvSpPr>
          <p:cNvPr id="24" name="TextBox 23"/>
          <p:cNvSpPr txBox="1"/>
          <p:nvPr/>
        </p:nvSpPr>
        <p:spPr>
          <a:xfrm>
            <a:off x="4617720" y="4270248"/>
            <a:ext cx="3017520" cy="523220"/>
          </a:xfrm>
          <a:prstGeom prst="rect">
            <a:avLst/>
          </a:prstGeom>
          <a:noFill/>
        </p:spPr>
        <p:txBody>
          <a:bodyPr wrap="square" anchor="t">
            <a:spAutoFit/>
          </a:bodyPr>
          <a:lstStyle/>
          <a:p>
            <a:pPr algn="l"/>
            <a:r>
              <a:rPr sz="1400" b="0" dirty="0" err="1">
                <a:solidFill>
                  <a:srgbClr val="B1BECF"/>
                </a:solidFill>
                <a:latin typeface="Aptos"/>
              </a:rPr>
              <a:t>price_predictions</a:t>
            </a:r>
            <a:r>
              <a:rPr sz="1400" b="0" dirty="0">
                <a:solidFill>
                  <a:srgbClr val="B1BECF"/>
                </a:solidFill>
                <a:latin typeface="Aptos"/>
              </a:rPr>
              <a:t>  </a:t>
            </a:r>
            <a:endParaRPr lang="en-US" sz="1400" b="0" dirty="0">
              <a:solidFill>
                <a:srgbClr val="B1BECF"/>
              </a:solidFill>
              <a:latin typeface="Aptos"/>
            </a:endParaRPr>
          </a:p>
          <a:p>
            <a:pPr algn="l"/>
            <a:r>
              <a:rPr sz="1400" b="0" dirty="0" err="1">
                <a:solidFill>
                  <a:srgbClr val="B1BECF"/>
                </a:solidFill>
                <a:latin typeface="Aptos"/>
              </a:rPr>
              <a:t>prediction_features</a:t>
            </a:r>
            <a:endParaRPr sz="1400" b="0" dirty="0">
              <a:solidFill>
                <a:srgbClr val="B1BECF"/>
              </a:solidFill>
              <a:latin typeface="Aptos"/>
            </a:endParaRPr>
          </a:p>
        </p:txBody>
      </p:sp>
      <p:sp>
        <p:nvSpPr>
          <p:cNvPr id="25" name="Rounded Rectangle 24"/>
          <p:cNvSpPr/>
          <p:nvPr/>
        </p:nvSpPr>
        <p:spPr>
          <a:xfrm>
            <a:off x="8183880" y="3611880"/>
            <a:ext cx="3474720" cy="164592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85048" y="377647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27" name="TextBox 26"/>
          <p:cNvSpPr txBox="1"/>
          <p:nvPr/>
        </p:nvSpPr>
        <p:spPr>
          <a:xfrm>
            <a:off x="8869680" y="3776472"/>
            <a:ext cx="2606039" cy="384048"/>
          </a:xfrm>
          <a:prstGeom prst="rect">
            <a:avLst/>
          </a:prstGeom>
          <a:noFill/>
        </p:spPr>
        <p:txBody>
          <a:bodyPr wrap="square" anchor="t">
            <a:spAutoFit/>
          </a:bodyPr>
          <a:lstStyle/>
          <a:p>
            <a:pPr algn="l"/>
            <a:r>
              <a:rPr sz="1600" b="1">
                <a:solidFill>
                  <a:srgbClr val="F8FAFC"/>
                </a:solidFill>
                <a:latin typeface="Aptos"/>
              </a:rPr>
              <a:t>ENGAGEMENT</a:t>
            </a:r>
          </a:p>
        </p:txBody>
      </p:sp>
      <p:sp>
        <p:nvSpPr>
          <p:cNvPr id="28" name="TextBox 27"/>
          <p:cNvSpPr txBox="1"/>
          <p:nvPr/>
        </p:nvSpPr>
        <p:spPr>
          <a:xfrm>
            <a:off x="8412480" y="4270248"/>
            <a:ext cx="3017520" cy="738664"/>
          </a:xfrm>
          <a:prstGeom prst="rect">
            <a:avLst/>
          </a:prstGeom>
          <a:noFill/>
        </p:spPr>
        <p:txBody>
          <a:bodyPr wrap="square" anchor="t">
            <a:spAutoFit/>
          </a:bodyPr>
          <a:lstStyle/>
          <a:p>
            <a:pPr algn="l"/>
            <a:r>
              <a:rPr sz="1400" b="0" dirty="0">
                <a:solidFill>
                  <a:srgbClr val="B1BECF"/>
                </a:solidFill>
                <a:latin typeface="Aptos"/>
              </a:rPr>
              <a:t>reviews  </a:t>
            </a:r>
            <a:endParaRPr lang="en-US" sz="1400" b="0" dirty="0">
              <a:solidFill>
                <a:srgbClr val="B1BECF"/>
              </a:solidFill>
              <a:latin typeface="Aptos"/>
            </a:endParaRPr>
          </a:p>
          <a:p>
            <a:pPr algn="l"/>
            <a:r>
              <a:rPr sz="1400" b="0" dirty="0">
                <a:solidFill>
                  <a:srgbClr val="B1BECF"/>
                </a:solidFill>
                <a:latin typeface="Aptos"/>
              </a:rPr>
              <a:t>reports  </a:t>
            </a:r>
            <a:endParaRPr lang="en-US" sz="1400" b="0" dirty="0">
              <a:solidFill>
                <a:srgbClr val="B1BECF"/>
              </a:solidFill>
              <a:latin typeface="Aptos"/>
            </a:endParaRPr>
          </a:p>
          <a:p>
            <a:pPr algn="l"/>
            <a:r>
              <a:rPr sz="1400" b="0" dirty="0">
                <a:solidFill>
                  <a:srgbClr val="B1BECF"/>
                </a:solidFill>
                <a:latin typeface="Aptos"/>
              </a:rPr>
              <a:t>notifications</a:t>
            </a:r>
          </a:p>
        </p:txBody>
      </p:sp>
      <p:sp>
        <p:nvSpPr>
          <p:cNvPr id="29" name="TextBox 28"/>
          <p:cNvSpPr txBox="1"/>
          <p:nvPr/>
        </p:nvSpPr>
        <p:spPr>
          <a:xfrm>
            <a:off x="822960" y="5806440"/>
            <a:ext cx="10515600" cy="411480"/>
          </a:xfrm>
          <a:prstGeom prst="rect">
            <a:avLst/>
          </a:prstGeom>
          <a:noFill/>
        </p:spPr>
        <p:txBody>
          <a:bodyPr wrap="square" anchor="t">
            <a:spAutoFit/>
          </a:bodyPr>
          <a:lstStyle/>
          <a:p>
            <a:pPr algn="ctr"/>
            <a:r>
              <a:rPr sz="1300" b="0">
                <a:solidFill>
                  <a:srgbClr val="B1BECF"/>
                </a:solidFill>
                <a:latin typeface="Aptos"/>
              </a:rPr>
              <a:t>The documentation describes a relational MySQL database with vehicle, marketplace, service and prediction data.</a:t>
            </a:r>
          </a:p>
        </p:txBody>
      </p:sp>
      <p:sp>
        <p:nvSpPr>
          <p:cNvPr id="30" name="TextBox 29"/>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53998"/>
          </a:xfrm>
          <a:prstGeom prst="rect">
            <a:avLst/>
          </a:prstGeom>
          <a:noFill/>
        </p:spPr>
        <p:txBody>
          <a:bodyPr wrap="square" anchor="t">
            <a:spAutoFit/>
          </a:bodyPr>
          <a:lstStyle/>
          <a:p>
            <a:pPr algn="l"/>
            <a:r>
              <a:rPr sz="3000" b="1" dirty="0">
                <a:solidFill>
                  <a:srgbClr val="F8FAFC"/>
                </a:solidFill>
                <a:latin typeface="Aptos"/>
              </a:rPr>
              <a:t> Price Prediction</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Data-driven estimation as a core CarZen feature</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783080"/>
            <a:ext cx="3108960" cy="35661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1947672"/>
            <a:ext cx="457200" cy="365760"/>
          </a:xfrm>
          <a:prstGeom prst="rect">
            <a:avLst/>
          </a:prstGeom>
          <a:noFill/>
        </p:spPr>
        <p:txBody>
          <a:bodyPr wrap="square" anchor="t">
            <a:spAutoFit/>
          </a:bodyPr>
          <a:lstStyle/>
          <a:p>
            <a:pPr algn="ctr"/>
            <a:r>
              <a:rPr sz="1800" b="1">
                <a:solidFill>
                  <a:srgbClr val="43BEDC"/>
                </a:solidFill>
                <a:latin typeface="Aptos"/>
              </a:rPr>
              <a:t>01</a:t>
            </a:r>
          </a:p>
        </p:txBody>
      </p:sp>
      <p:sp>
        <p:nvSpPr>
          <p:cNvPr id="7" name="TextBox 6"/>
          <p:cNvSpPr txBox="1"/>
          <p:nvPr/>
        </p:nvSpPr>
        <p:spPr>
          <a:xfrm>
            <a:off x="1371600" y="1947672"/>
            <a:ext cx="2240280" cy="384048"/>
          </a:xfrm>
          <a:prstGeom prst="rect">
            <a:avLst/>
          </a:prstGeom>
          <a:noFill/>
        </p:spPr>
        <p:txBody>
          <a:bodyPr wrap="square" anchor="t">
            <a:spAutoFit/>
          </a:bodyPr>
          <a:lstStyle/>
          <a:p>
            <a:pPr algn="l"/>
            <a:r>
              <a:rPr sz="1600" b="1">
                <a:solidFill>
                  <a:srgbClr val="F8FAFC"/>
                </a:solidFill>
                <a:latin typeface="Aptos"/>
              </a:rPr>
              <a:t>INPUTS</a:t>
            </a:r>
          </a:p>
        </p:txBody>
      </p:sp>
      <p:sp>
        <p:nvSpPr>
          <p:cNvPr id="8" name="TextBox 7"/>
          <p:cNvSpPr txBox="1"/>
          <p:nvPr/>
        </p:nvSpPr>
        <p:spPr>
          <a:xfrm>
            <a:off x="914400" y="2441448"/>
            <a:ext cx="2651760" cy="2246769"/>
          </a:xfrm>
          <a:prstGeom prst="rect">
            <a:avLst/>
          </a:prstGeom>
          <a:noFill/>
        </p:spPr>
        <p:txBody>
          <a:bodyPr wrap="square" anchor="t">
            <a:spAutoFit/>
          </a:bodyPr>
          <a:lstStyle/>
          <a:p>
            <a:pPr marL="171450" indent="-171450" algn="l">
              <a:buFont typeface="Arial" panose="020B0604020202020204" pitchFamily="34" charset="0"/>
              <a:buChar char="•"/>
            </a:pPr>
            <a:r>
              <a:rPr sz="1400" b="0" dirty="0">
                <a:solidFill>
                  <a:srgbClr val="B1BECF"/>
                </a:solidFill>
                <a:latin typeface="Aptos"/>
              </a:rPr>
              <a:t>Brand
Model
Manufacturing year
Mileage
Fuel type
Transmission
Engine capacity
Number of owners
Condition
Location</a:t>
            </a:r>
          </a:p>
        </p:txBody>
      </p:sp>
      <p:sp>
        <p:nvSpPr>
          <p:cNvPr id="9" name="Rounded Rectangle 8"/>
          <p:cNvSpPr/>
          <p:nvPr/>
        </p:nvSpPr>
        <p:spPr>
          <a:xfrm>
            <a:off x="4526280" y="1783080"/>
            <a:ext cx="3108960" cy="35661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7448" y="1947672"/>
            <a:ext cx="457200" cy="365760"/>
          </a:xfrm>
          <a:prstGeom prst="rect">
            <a:avLst/>
          </a:prstGeom>
          <a:noFill/>
        </p:spPr>
        <p:txBody>
          <a:bodyPr wrap="square" anchor="t">
            <a:spAutoFit/>
          </a:bodyPr>
          <a:lstStyle/>
          <a:p>
            <a:pPr algn="ctr"/>
            <a:r>
              <a:rPr sz="1800" b="1">
                <a:solidFill>
                  <a:srgbClr val="43BEDC"/>
                </a:solidFill>
                <a:latin typeface="Aptos"/>
              </a:rPr>
              <a:t>02</a:t>
            </a:r>
          </a:p>
        </p:txBody>
      </p:sp>
      <p:sp>
        <p:nvSpPr>
          <p:cNvPr id="11" name="TextBox 10"/>
          <p:cNvSpPr txBox="1"/>
          <p:nvPr/>
        </p:nvSpPr>
        <p:spPr>
          <a:xfrm>
            <a:off x="5212080" y="1947672"/>
            <a:ext cx="2240280" cy="384048"/>
          </a:xfrm>
          <a:prstGeom prst="rect">
            <a:avLst/>
          </a:prstGeom>
          <a:noFill/>
        </p:spPr>
        <p:txBody>
          <a:bodyPr wrap="square" anchor="t">
            <a:spAutoFit/>
          </a:bodyPr>
          <a:lstStyle/>
          <a:p>
            <a:pPr algn="l"/>
            <a:r>
              <a:rPr sz="1600" b="1">
                <a:solidFill>
                  <a:srgbClr val="43BEDC"/>
                </a:solidFill>
                <a:latin typeface="Aptos"/>
              </a:rPr>
              <a:t>PREDICTION</a:t>
            </a:r>
          </a:p>
        </p:txBody>
      </p:sp>
      <p:sp>
        <p:nvSpPr>
          <p:cNvPr id="12" name="TextBox 11"/>
          <p:cNvSpPr txBox="1"/>
          <p:nvPr/>
        </p:nvSpPr>
        <p:spPr>
          <a:xfrm>
            <a:off x="4754880" y="2441448"/>
            <a:ext cx="2651760" cy="1384995"/>
          </a:xfrm>
          <a:prstGeom prst="rect">
            <a:avLst/>
          </a:prstGeom>
          <a:noFill/>
        </p:spPr>
        <p:txBody>
          <a:bodyPr wrap="square" anchor="t">
            <a:spAutoFit/>
          </a:bodyPr>
          <a:lstStyle/>
          <a:p>
            <a:pPr algn="l"/>
            <a:r>
              <a:rPr sz="1400" b="0" dirty="0">
                <a:solidFill>
                  <a:srgbClr val="B1BECF"/>
                </a:solidFill>
                <a:latin typeface="Aptos"/>
              </a:rPr>
              <a:t>Vehicle attributes are accepted by the prediction module.
Historical and current vehicle information is used to estimate expected  value</a:t>
            </a:r>
            <a:r>
              <a:rPr sz="1200" b="0" dirty="0">
                <a:solidFill>
                  <a:srgbClr val="B1BECF"/>
                </a:solidFill>
                <a:latin typeface="Aptos"/>
              </a:rPr>
              <a:t>.</a:t>
            </a:r>
          </a:p>
        </p:txBody>
      </p:sp>
      <p:sp>
        <p:nvSpPr>
          <p:cNvPr id="13" name="Rounded Rectangle 12"/>
          <p:cNvSpPr/>
          <p:nvPr/>
        </p:nvSpPr>
        <p:spPr>
          <a:xfrm>
            <a:off x="8366760" y="1783080"/>
            <a:ext cx="3108960" cy="35661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67928" y="1947672"/>
            <a:ext cx="457200" cy="365760"/>
          </a:xfrm>
          <a:prstGeom prst="rect">
            <a:avLst/>
          </a:prstGeom>
          <a:noFill/>
        </p:spPr>
        <p:txBody>
          <a:bodyPr wrap="square" anchor="t">
            <a:spAutoFit/>
          </a:bodyPr>
          <a:lstStyle/>
          <a:p>
            <a:pPr algn="ctr"/>
            <a:r>
              <a:rPr sz="1800" b="1">
                <a:solidFill>
                  <a:srgbClr val="43BEDC"/>
                </a:solidFill>
                <a:latin typeface="Aptos"/>
              </a:rPr>
              <a:t>03</a:t>
            </a:r>
          </a:p>
        </p:txBody>
      </p:sp>
      <p:sp>
        <p:nvSpPr>
          <p:cNvPr id="15" name="TextBox 14"/>
          <p:cNvSpPr txBox="1"/>
          <p:nvPr/>
        </p:nvSpPr>
        <p:spPr>
          <a:xfrm>
            <a:off x="9052560" y="1947672"/>
            <a:ext cx="2240280" cy="384048"/>
          </a:xfrm>
          <a:prstGeom prst="rect">
            <a:avLst/>
          </a:prstGeom>
          <a:noFill/>
        </p:spPr>
        <p:txBody>
          <a:bodyPr wrap="square" anchor="t">
            <a:spAutoFit/>
          </a:bodyPr>
          <a:lstStyle/>
          <a:p>
            <a:pPr algn="l"/>
            <a:r>
              <a:rPr sz="1600" b="1">
                <a:solidFill>
                  <a:srgbClr val="49AA78"/>
                </a:solidFill>
                <a:latin typeface="Aptos"/>
              </a:rPr>
              <a:t>OUTPUT</a:t>
            </a:r>
          </a:p>
        </p:txBody>
      </p:sp>
      <p:sp>
        <p:nvSpPr>
          <p:cNvPr id="16" name="TextBox 15"/>
          <p:cNvSpPr txBox="1"/>
          <p:nvPr/>
        </p:nvSpPr>
        <p:spPr>
          <a:xfrm>
            <a:off x="8595360" y="2441448"/>
            <a:ext cx="2651760" cy="1384995"/>
          </a:xfrm>
          <a:prstGeom prst="rect">
            <a:avLst/>
          </a:prstGeom>
          <a:noFill/>
        </p:spPr>
        <p:txBody>
          <a:bodyPr wrap="square" anchor="t">
            <a:spAutoFit/>
          </a:bodyPr>
          <a:lstStyle/>
          <a:p>
            <a:pPr algn="l"/>
            <a:r>
              <a:rPr sz="1400" b="0" dirty="0">
                <a:solidFill>
                  <a:srgbClr val="B1BECF"/>
                </a:solidFill>
                <a:latin typeface="Aptos"/>
              </a:rPr>
              <a:t>Predicted price
Minimum price
Maximum price
Confidence score
Model name / version
Prediction date</a:t>
            </a:r>
          </a:p>
        </p:txBody>
      </p:sp>
      <p:sp>
        <p:nvSpPr>
          <p:cNvPr id="17" name="TextBox 16"/>
          <p:cNvSpPr txBox="1"/>
          <p:nvPr/>
        </p:nvSpPr>
        <p:spPr>
          <a:xfrm>
            <a:off x="914400" y="5715000"/>
            <a:ext cx="10332720" cy="411480"/>
          </a:xfrm>
          <a:prstGeom prst="rect">
            <a:avLst/>
          </a:prstGeom>
          <a:noFill/>
        </p:spPr>
        <p:txBody>
          <a:bodyPr wrap="square" anchor="t">
            <a:spAutoFit/>
          </a:bodyPr>
          <a:lstStyle/>
          <a:p>
            <a:pPr algn="ctr"/>
            <a:r>
              <a:rPr sz="1300" b="0">
                <a:solidFill>
                  <a:srgbClr val="B1BECF"/>
                </a:solidFill>
                <a:latin typeface="Aptos"/>
              </a:rPr>
              <a:t>Documented limitation: prediction accuracy depends on data quality and may differ from actual market price.</a:t>
            </a:r>
          </a:p>
        </p:txBody>
      </p:sp>
      <p:sp>
        <p:nvSpPr>
          <p:cNvPr id="18" name="TextBox 17"/>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Quality &amp; System Requirements</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Beyond features: how the system should behave</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6459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81051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7" name="TextBox 6"/>
          <p:cNvSpPr txBox="1"/>
          <p:nvPr/>
        </p:nvSpPr>
        <p:spPr>
          <a:xfrm>
            <a:off x="1325880" y="1810512"/>
            <a:ext cx="2606039" cy="384048"/>
          </a:xfrm>
          <a:prstGeom prst="rect">
            <a:avLst/>
          </a:prstGeom>
          <a:noFill/>
        </p:spPr>
        <p:txBody>
          <a:bodyPr wrap="square" anchor="t">
            <a:spAutoFit/>
          </a:bodyPr>
          <a:lstStyle/>
          <a:p>
            <a:pPr algn="l"/>
            <a:r>
              <a:rPr sz="1600" b="1">
                <a:solidFill>
                  <a:srgbClr val="F8FAFC"/>
                </a:solidFill>
                <a:latin typeface="Aptos"/>
              </a:rPr>
              <a:t>SECURITY</a:t>
            </a:r>
          </a:p>
        </p:txBody>
      </p:sp>
      <p:sp>
        <p:nvSpPr>
          <p:cNvPr id="8" name="TextBox 7"/>
          <p:cNvSpPr txBox="1"/>
          <p:nvPr/>
        </p:nvSpPr>
        <p:spPr>
          <a:xfrm>
            <a:off x="868680" y="2304288"/>
            <a:ext cx="3017520" cy="523220"/>
          </a:xfrm>
          <a:prstGeom prst="rect">
            <a:avLst/>
          </a:prstGeom>
          <a:noFill/>
        </p:spPr>
        <p:txBody>
          <a:bodyPr wrap="square" anchor="t">
            <a:spAutoFit/>
          </a:bodyPr>
          <a:lstStyle/>
          <a:p>
            <a:pPr algn="l"/>
            <a:r>
              <a:rPr sz="1400" b="0" dirty="0">
                <a:solidFill>
                  <a:srgbClr val="B1BECF"/>
                </a:solidFill>
                <a:latin typeface="Aptos"/>
              </a:rPr>
              <a:t>Secure authentication and authorization</a:t>
            </a:r>
          </a:p>
        </p:txBody>
      </p:sp>
      <p:sp>
        <p:nvSpPr>
          <p:cNvPr id="9" name="Rounded Rectangle 8"/>
          <p:cNvSpPr/>
          <p:nvPr/>
        </p:nvSpPr>
        <p:spPr>
          <a:xfrm>
            <a:off x="4434840" y="16459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36008" y="181051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1" name="TextBox 10"/>
          <p:cNvSpPr txBox="1"/>
          <p:nvPr/>
        </p:nvSpPr>
        <p:spPr>
          <a:xfrm>
            <a:off x="5120640" y="1810512"/>
            <a:ext cx="2606039" cy="384048"/>
          </a:xfrm>
          <a:prstGeom prst="rect">
            <a:avLst/>
          </a:prstGeom>
          <a:noFill/>
        </p:spPr>
        <p:txBody>
          <a:bodyPr wrap="square" anchor="t">
            <a:spAutoFit/>
          </a:bodyPr>
          <a:lstStyle/>
          <a:p>
            <a:pPr algn="l"/>
            <a:r>
              <a:rPr sz="1600" b="1">
                <a:solidFill>
                  <a:srgbClr val="F8FAFC"/>
                </a:solidFill>
                <a:latin typeface="Aptos"/>
              </a:rPr>
              <a:t>PERFORMANCE</a:t>
            </a:r>
          </a:p>
        </p:txBody>
      </p:sp>
      <p:sp>
        <p:nvSpPr>
          <p:cNvPr id="12" name="TextBox 11"/>
          <p:cNvSpPr txBox="1"/>
          <p:nvPr/>
        </p:nvSpPr>
        <p:spPr>
          <a:xfrm>
            <a:off x="4663440" y="2304288"/>
            <a:ext cx="3017520" cy="307777"/>
          </a:xfrm>
          <a:prstGeom prst="rect">
            <a:avLst/>
          </a:prstGeom>
          <a:noFill/>
        </p:spPr>
        <p:txBody>
          <a:bodyPr wrap="square" anchor="t">
            <a:spAutoFit/>
          </a:bodyPr>
          <a:lstStyle/>
          <a:p>
            <a:pPr algn="l"/>
            <a:r>
              <a:rPr sz="1400" b="0" dirty="0">
                <a:solidFill>
                  <a:srgbClr val="B1BECF"/>
                </a:solidFill>
                <a:latin typeface="Aptos"/>
              </a:rPr>
              <a:t>Fast response to user requests</a:t>
            </a:r>
          </a:p>
        </p:txBody>
      </p:sp>
      <p:sp>
        <p:nvSpPr>
          <p:cNvPr id="13" name="Rounded Rectangle 12"/>
          <p:cNvSpPr/>
          <p:nvPr/>
        </p:nvSpPr>
        <p:spPr>
          <a:xfrm>
            <a:off x="8229600" y="16459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181051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5" name="TextBox 14"/>
          <p:cNvSpPr txBox="1"/>
          <p:nvPr/>
        </p:nvSpPr>
        <p:spPr>
          <a:xfrm>
            <a:off x="8915400" y="1810512"/>
            <a:ext cx="2606039" cy="384048"/>
          </a:xfrm>
          <a:prstGeom prst="rect">
            <a:avLst/>
          </a:prstGeom>
          <a:noFill/>
        </p:spPr>
        <p:txBody>
          <a:bodyPr wrap="square" anchor="t">
            <a:spAutoFit/>
          </a:bodyPr>
          <a:lstStyle/>
          <a:p>
            <a:pPr algn="l"/>
            <a:r>
              <a:rPr sz="1600" b="1">
                <a:solidFill>
                  <a:srgbClr val="F8FAFC"/>
                </a:solidFill>
                <a:latin typeface="Aptos"/>
              </a:rPr>
              <a:t>RELIABILITY</a:t>
            </a:r>
          </a:p>
        </p:txBody>
      </p:sp>
      <p:sp>
        <p:nvSpPr>
          <p:cNvPr id="16" name="TextBox 15"/>
          <p:cNvSpPr txBox="1"/>
          <p:nvPr/>
        </p:nvSpPr>
        <p:spPr>
          <a:xfrm>
            <a:off x="8458200" y="2304288"/>
            <a:ext cx="3017520" cy="307777"/>
          </a:xfrm>
          <a:prstGeom prst="rect">
            <a:avLst/>
          </a:prstGeom>
          <a:noFill/>
        </p:spPr>
        <p:txBody>
          <a:bodyPr wrap="square" anchor="t">
            <a:spAutoFit/>
          </a:bodyPr>
          <a:lstStyle/>
          <a:p>
            <a:pPr algn="l"/>
            <a:r>
              <a:rPr sz="1400" b="0" dirty="0">
                <a:solidFill>
                  <a:srgbClr val="B1BECF"/>
                </a:solidFill>
                <a:latin typeface="Aptos"/>
              </a:rPr>
              <a:t>Consistent and accurate data</a:t>
            </a:r>
          </a:p>
        </p:txBody>
      </p:sp>
      <p:sp>
        <p:nvSpPr>
          <p:cNvPr id="17" name="Rounded Rectangle 16"/>
          <p:cNvSpPr/>
          <p:nvPr/>
        </p:nvSpPr>
        <p:spPr>
          <a:xfrm>
            <a:off x="640080" y="37033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867911"/>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9" name="TextBox 18"/>
          <p:cNvSpPr txBox="1"/>
          <p:nvPr/>
        </p:nvSpPr>
        <p:spPr>
          <a:xfrm>
            <a:off x="1325880" y="3867911"/>
            <a:ext cx="2606039" cy="384048"/>
          </a:xfrm>
          <a:prstGeom prst="rect">
            <a:avLst/>
          </a:prstGeom>
          <a:noFill/>
        </p:spPr>
        <p:txBody>
          <a:bodyPr wrap="square" anchor="t">
            <a:spAutoFit/>
          </a:bodyPr>
          <a:lstStyle/>
          <a:p>
            <a:pPr algn="l"/>
            <a:r>
              <a:rPr sz="1600" b="1">
                <a:solidFill>
                  <a:srgbClr val="F8FAFC"/>
                </a:solidFill>
                <a:latin typeface="Aptos"/>
              </a:rPr>
              <a:t>SCALABILITY</a:t>
            </a:r>
          </a:p>
        </p:txBody>
      </p:sp>
      <p:sp>
        <p:nvSpPr>
          <p:cNvPr id="20" name="TextBox 19"/>
          <p:cNvSpPr txBox="1"/>
          <p:nvPr/>
        </p:nvSpPr>
        <p:spPr>
          <a:xfrm>
            <a:off x="868680" y="4361688"/>
            <a:ext cx="3017520" cy="523220"/>
          </a:xfrm>
          <a:prstGeom prst="rect">
            <a:avLst/>
          </a:prstGeom>
          <a:noFill/>
        </p:spPr>
        <p:txBody>
          <a:bodyPr wrap="square" anchor="t">
            <a:spAutoFit/>
          </a:bodyPr>
          <a:lstStyle/>
          <a:p>
            <a:pPr algn="l"/>
            <a:r>
              <a:rPr sz="1400" b="0" dirty="0">
                <a:solidFill>
                  <a:srgbClr val="B1BECF"/>
                </a:solidFill>
                <a:latin typeface="Aptos"/>
              </a:rPr>
              <a:t>Support increasing users and records</a:t>
            </a:r>
          </a:p>
        </p:txBody>
      </p:sp>
      <p:sp>
        <p:nvSpPr>
          <p:cNvPr id="21" name="Rounded Rectangle 20"/>
          <p:cNvSpPr/>
          <p:nvPr/>
        </p:nvSpPr>
        <p:spPr>
          <a:xfrm>
            <a:off x="4434840" y="37033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36008" y="3867911"/>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23" name="TextBox 22"/>
          <p:cNvSpPr txBox="1"/>
          <p:nvPr/>
        </p:nvSpPr>
        <p:spPr>
          <a:xfrm>
            <a:off x="5120640" y="3867911"/>
            <a:ext cx="2606039" cy="384048"/>
          </a:xfrm>
          <a:prstGeom prst="rect">
            <a:avLst/>
          </a:prstGeom>
          <a:noFill/>
        </p:spPr>
        <p:txBody>
          <a:bodyPr wrap="square" anchor="t">
            <a:spAutoFit/>
          </a:bodyPr>
          <a:lstStyle/>
          <a:p>
            <a:pPr algn="l"/>
            <a:r>
              <a:rPr sz="1600" b="1">
                <a:solidFill>
                  <a:srgbClr val="F8FAFC"/>
                </a:solidFill>
                <a:latin typeface="Aptos"/>
              </a:rPr>
              <a:t>USABILITY</a:t>
            </a:r>
          </a:p>
        </p:txBody>
      </p:sp>
      <p:sp>
        <p:nvSpPr>
          <p:cNvPr id="24" name="TextBox 23"/>
          <p:cNvSpPr txBox="1"/>
          <p:nvPr/>
        </p:nvSpPr>
        <p:spPr>
          <a:xfrm>
            <a:off x="4663440" y="4361688"/>
            <a:ext cx="3017520" cy="307777"/>
          </a:xfrm>
          <a:prstGeom prst="rect">
            <a:avLst/>
          </a:prstGeom>
          <a:noFill/>
        </p:spPr>
        <p:txBody>
          <a:bodyPr wrap="square" anchor="t">
            <a:spAutoFit/>
          </a:bodyPr>
          <a:lstStyle/>
          <a:p>
            <a:pPr algn="l"/>
            <a:r>
              <a:rPr sz="1400" b="0" dirty="0">
                <a:solidFill>
                  <a:srgbClr val="B1BECF"/>
                </a:solidFill>
                <a:latin typeface="Aptos"/>
              </a:rPr>
              <a:t>Simple, user-friendly interface</a:t>
            </a:r>
          </a:p>
        </p:txBody>
      </p:sp>
      <p:sp>
        <p:nvSpPr>
          <p:cNvPr id="25" name="Rounded Rectangle 24"/>
          <p:cNvSpPr/>
          <p:nvPr/>
        </p:nvSpPr>
        <p:spPr>
          <a:xfrm>
            <a:off x="8229600" y="37033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30768" y="3867911"/>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27" name="TextBox 26"/>
          <p:cNvSpPr txBox="1"/>
          <p:nvPr/>
        </p:nvSpPr>
        <p:spPr>
          <a:xfrm>
            <a:off x="8915400" y="3867911"/>
            <a:ext cx="2606039" cy="384048"/>
          </a:xfrm>
          <a:prstGeom prst="rect">
            <a:avLst/>
          </a:prstGeom>
          <a:noFill/>
        </p:spPr>
        <p:txBody>
          <a:bodyPr wrap="square" anchor="t">
            <a:spAutoFit/>
          </a:bodyPr>
          <a:lstStyle/>
          <a:p>
            <a:pPr algn="l"/>
            <a:r>
              <a:rPr sz="1600" b="1">
                <a:solidFill>
                  <a:srgbClr val="F8FAFC"/>
                </a:solidFill>
                <a:latin typeface="Aptos"/>
              </a:rPr>
              <a:t>MAINTAINABILITY</a:t>
            </a:r>
          </a:p>
        </p:txBody>
      </p:sp>
      <p:sp>
        <p:nvSpPr>
          <p:cNvPr id="28" name="TextBox 27"/>
          <p:cNvSpPr txBox="1"/>
          <p:nvPr/>
        </p:nvSpPr>
        <p:spPr>
          <a:xfrm>
            <a:off x="8458200" y="4361688"/>
            <a:ext cx="3017520" cy="307777"/>
          </a:xfrm>
          <a:prstGeom prst="rect">
            <a:avLst/>
          </a:prstGeom>
          <a:noFill/>
        </p:spPr>
        <p:txBody>
          <a:bodyPr wrap="square" anchor="t">
            <a:spAutoFit/>
          </a:bodyPr>
          <a:lstStyle/>
          <a:p>
            <a:pPr algn="l"/>
            <a:r>
              <a:rPr sz="1400" b="0" dirty="0">
                <a:solidFill>
                  <a:srgbClr val="B1BECF"/>
                </a:solidFill>
                <a:latin typeface="Aptos"/>
              </a:rPr>
              <a:t>Modular and maintainable backend</a:t>
            </a:r>
          </a:p>
        </p:txBody>
      </p:sp>
      <p:sp>
        <p:nvSpPr>
          <p:cNvPr id="29" name="TextBox 28"/>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User Interface Design</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Key screens documented for the project</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6459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810512"/>
            <a:ext cx="457200" cy="365760"/>
          </a:xfrm>
          <a:prstGeom prst="rect">
            <a:avLst/>
          </a:prstGeom>
          <a:noFill/>
        </p:spPr>
        <p:txBody>
          <a:bodyPr wrap="square" anchor="t">
            <a:spAutoFit/>
          </a:bodyPr>
          <a:lstStyle/>
          <a:p>
            <a:pPr algn="ctr"/>
            <a:r>
              <a:rPr sz="1800" b="1">
                <a:solidFill>
                  <a:srgbClr val="43BEDC"/>
                </a:solidFill>
                <a:latin typeface="Aptos"/>
              </a:rPr>
              <a:t>UI</a:t>
            </a:r>
          </a:p>
        </p:txBody>
      </p:sp>
      <p:sp>
        <p:nvSpPr>
          <p:cNvPr id="7" name="TextBox 6"/>
          <p:cNvSpPr txBox="1"/>
          <p:nvPr/>
        </p:nvSpPr>
        <p:spPr>
          <a:xfrm>
            <a:off x="1325880" y="1810512"/>
            <a:ext cx="2606039" cy="384048"/>
          </a:xfrm>
          <a:prstGeom prst="rect">
            <a:avLst/>
          </a:prstGeom>
          <a:noFill/>
        </p:spPr>
        <p:txBody>
          <a:bodyPr wrap="square" anchor="t">
            <a:spAutoFit/>
          </a:bodyPr>
          <a:lstStyle/>
          <a:p>
            <a:pPr algn="l"/>
            <a:r>
              <a:rPr sz="1600" b="1">
                <a:solidFill>
                  <a:srgbClr val="F8FAFC"/>
                </a:solidFill>
                <a:latin typeface="Aptos"/>
              </a:rPr>
              <a:t>LOGIN</a:t>
            </a:r>
          </a:p>
        </p:txBody>
      </p:sp>
      <p:sp>
        <p:nvSpPr>
          <p:cNvPr id="8" name="TextBox 7"/>
          <p:cNvSpPr txBox="1"/>
          <p:nvPr/>
        </p:nvSpPr>
        <p:spPr>
          <a:xfrm>
            <a:off x="868680" y="2304288"/>
            <a:ext cx="3017520" cy="307777"/>
          </a:xfrm>
          <a:prstGeom prst="rect">
            <a:avLst/>
          </a:prstGeom>
          <a:noFill/>
        </p:spPr>
        <p:txBody>
          <a:bodyPr wrap="square" anchor="t">
            <a:spAutoFit/>
          </a:bodyPr>
          <a:lstStyle/>
          <a:p>
            <a:pPr algn="l"/>
            <a:r>
              <a:rPr sz="1400" b="0" dirty="0">
                <a:solidFill>
                  <a:srgbClr val="B1BECF"/>
                </a:solidFill>
                <a:latin typeface="Aptos"/>
              </a:rPr>
              <a:t>Authentication entry point</a:t>
            </a:r>
          </a:p>
        </p:txBody>
      </p:sp>
      <p:sp>
        <p:nvSpPr>
          <p:cNvPr id="9" name="Rounded Rectangle 8"/>
          <p:cNvSpPr/>
          <p:nvPr/>
        </p:nvSpPr>
        <p:spPr>
          <a:xfrm>
            <a:off x="4434840" y="16459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36008" y="1810512"/>
            <a:ext cx="457200" cy="365760"/>
          </a:xfrm>
          <a:prstGeom prst="rect">
            <a:avLst/>
          </a:prstGeom>
          <a:noFill/>
        </p:spPr>
        <p:txBody>
          <a:bodyPr wrap="square" anchor="t">
            <a:spAutoFit/>
          </a:bodyPr>
          <a:lstStyle/>
          <a:p>
            <a:pPr algn="ctr"/>
            <a:r>
              <a:rPr sz="1800" b="1">
                <a:solidFill>
                  <a:srgbClr val="43BEDC"/>
                </a:solidFill>
                <a:latin typeface="Aptos"/>
              </a:rPr>
              <a:t>UI</a:t>
            </a:r>
          </a:p>
        </p:txBody>
      </p:sp>
      <p:sp>
        <p:nvSpPr>
          <p:cNvPr id="11" name="TextBox 10"/>
          <p:cNvSpPr txBox="1"/>
          <p:nvPr/>
        </p:nvSpPr>
        <p:spPr>
          <a:xfrm>
            <a:off x="5120640" y="1810512"/>
            <a:ext cx="2606039" cy="384048"/>
          </a:xfrm>
          <a:prstGeom prst="rect">
            <a:avLst/>
          </a:prstGeom>
          <a:noFill/>
        </p:spPr>
        <p:txBody>
          <a:bodyPr wrap="square" anchor="t">
            <a:spAutoFit/>
          </a:bodyPr>
          <a:lstStyle/>
          <a:p>
            <a:pPr algn="l"/>
            <a:r>
              <a:rPr sz="1600" b="1">
                <a:solidFill>
                  <a:srgbClr val="F8FAFC"/>
                </a:solidFill>
                <a:latin typeface="Aptos"/>
              </a:rPr>
              <a:t>REGISTER</a:t>
            </a:r>
          </a:p>
        </p:txBody>
      </p:sp>
      <p:sp>
        <p:nvSpPr>
          <p:cNvPr id="12" name="TextBox 11"/>
          <p:cNvSpPr txBox="1"/>
          <p:nvPr/>
        </p:nvSpPr>
        <p:spPr>
          <a:xfrm>
            <a:off x="4663440" y="2304288"/>
            <a:ext cx="3017520" cy="307777"/>
          </a:xfrm>
          <a:prstGeom prst="rect">
            <a:avLst/>
          </a:prstGeom>
          <a:noFill/>
        </p:spPr>
        <p:txBody>
          <a:bodyPr wrap="square" anchor="t">
            <a:spAutoFit/>
          </a:bodyPr>
          <a:lstStyle/>
          <a:p>
            <a:pPr algn="l"/>
            <a:r>
              <a:rPr sz="1400" b="0" dirty="0">
                <a:solidFill>
                  <a:srgbClr val="B1BECF"/>
                </a:solidFill>
                <a:latin typeface="Aptos"/>
              </a:rPr>
              <a:t>New user registration</a:t>
            </a:r>
          </a:p>
        </p:txBody>
      </p:sp>
      <p:sp>
        <p:nvSpPr>
          <p:cNvPr id="13" name="Rounded Rectangle 12"/>
          <p:cNvSpPr/>
          <p:nvPr/>
        </p:nvSpPr>
        <p:spPr>
          <a:xfrm>
            <a:off x="8229600" y="16459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1810512"/>
            <a:ext cx="457200" cy="365760"/>
          </a:xfrm>
          <a:prstGeom prst="rect">
            <a:avLst/>
          </a:prstGeom>
          <a:noFill/>
        </p:spPr>
        <p:txBody>
          <a:bodyPr wrap="square" anchor="t">
            <a:spAutoFit/>
          </a:bodyPr>
          <a:lstStyle/>
          <a:p>
            <a:pPr algn="ctr"/>
            <a:r>
              <a:rPr sz="1800" b="1">
                <a:solidFill>
                  <a:srgbClr val="43BEDC"/>
                </a:solidFill>
                <a:latin typeface="Aptos"/>
              </a:rPr>
              <a:t>UI</a:t>
            </a:r>
          </a:p>
        </p:txBody>
      </p:sp>
      <p:sp>
        <p:nvSpPr>
          <p:cNvPr id="15" name="TextBox 14"/>
          <p:cNvSpPr txBox="1"/>
          <p:nvPr/>
        </p:nvSpPr>
        <p:spPr>
          <a:xfrm>
            <a:off x="8915400" y="1810512"/>
            <a:ext cx="2606039" cy="384048"/>
          </a:xfrm>
          <a:prstGeom prst="rect">
            <a:avLst/>
          </a:prstGeom>
          <a:noFill/>
        </p:spPr>
        <p:txBody>
          <a:bodyPr wrap="square" anchor="t">
            <a:spAutoFit/>
          </a:bodyPr>
          <a:lstStyle/>
          <a:p>
            <a:pPr algn="l"/>
            <a:r>
              <a:rPr sz="1600" b="1">
                <a:solidFill>
                  <a:srgbClr val="F8FAFC"/>
                </a:solidFill>
                <a:latin typeface="Aptos"/>
              </a:rPr>
              <a:t>HOME</a:t>
            </a:r>
          </a:p>
        </p:txBody>
      </p:sp>
      <p:sp>
        <p:nvSpPr>
          <p:cNvPr id="16" name="TextBox 15"/>
          <p:cNvSpPr txBox="1"/>
          <p:nvPr/>
        </p:nvSpPr>
        <p:spPr>
          <a:xfrm>
            <a:off x="8458200" y="2304288"/>
            <a:ext cx="3017520" cy="307777"/>
          </a:xfrm>
          <a:prstGeom prst="rect">
            <a:avLst/>
          </a:prstGeom>
          <a:noFill/>
        </p:spPr>
        <p:txBody>
          <a:bodyPr wrap="square" anchor="t">
            <a:spAutoFit/>
          </a:bodyPr>
          <a:lstStyle/>
          <a:p>
            <a:pPr algn="l"/>
            <a:r>
              <a:rPr sz="1400" b="0" dirty="0">
                <a:solidFill>
                  <a:srgbClr val="B1BECF"/>
                </a:solidFill>
                <a:latin typeface="Aptos"/>
              </a:rPr>
              <a:t>Main user-facing page</a:t>
            </a:r>
          </a:p>
        </p:txBody>
      </p:sp>
      <p:sp>
        <p:nvSpPr>
          <p:cNvPr id="17" name="Rounded Rectangle 16"/>
          <p:cNvSpPr/>
          <p:nvPr/>
        </p:nvSpPr>
        <p:spPr>
          <a:xfrm>
            <a:off x="640080" y="37033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867911"/>
            <a:ext cx="457200" cy="365760"/>
          </a:xfrm>
          <a:prstGeom prst="rect">
            <a:avLst/>
          </a:prstGeom>
          <a:noFill/>
        </p:spPr>
        <p:txBody>
          <a:bodyPr wrap="square" anchor="t">
            <a:spAutoFit/>
          </a:bodyPr>
          <a:lstStyle/>
          <a:p>
            <a:pPr algn="ctr"/>
            <a:r>
              <a:rPr sz="1800" b="1">
                <a:solidFill>
                  <a:srgbClr val="43BEDC"/>
                </a:solidFill>
                <a:latin typeface="Aptos"/>
              </a:rPr>
              <a:t>UI</a:t>
            </a:r>
          </a:p>
        </p:txBody>
      </p:sp>
      <p:sp>
        <p:nvSpPr>
          <p:cNvPr id="19" name="TextBox 18"/>
          <p:cNvSpPr txBox="1"/>
          <p:nvPr/>
        </p:nvSpPr>
        <p:spPr>
          <a:xfrm>
            <a:off x="1325880" y="3867911"/>
            <a:ext cx="2606039" cy="384048"/>
          </a:xfrm>
          <a:prstGeom prst="rect">
            <a:avLst/>
          </a:prstGeom>
          <a:noFill/>
        </p:spPr>
        <p:txBody>
          <a:bodyPr wrap="square" anchor="t">
            <a:spAutoFit/>
          </a:bodyPr>
          <a:lstStyle/>
          <a:p>
            <a:pPr algn="l"/>
            <a:r>
              <a:rPr sz="1600" b="1">
                <a:solidFill>
                  <a:srgbClr val="F8FAFC"/>
                </a:solidFill>
                <a:latin typeface="Aptos"/>
              </a:rPr>
              <a:t>USER PROFILE</a:t>
            </a:r>
          </a:p>
        </p:txBody>
      </p:sp>
      <p:sp>
        <p:nvSpPr>
          <p:cNvPr id="20" name="TextBox 19"/>
          <p:cNvSpPr txBox="1"/>
          <p:nvPr/>
        </p:nvSpPr>
        <p:spPr>
          <a:xfrm>
            <a:off x="868680" y="4361688"/>
            <a:ext cx="3017520" cy="307777"/>
          </a:xfrm>
          <a:prstGeom prst="rect">
            <a:avLst/>
          </a:prstGeom>
          <a:noFill/>
        </p:spPr>
        <p:txBody>
          <a:bodyPr wrap="square" anchor="t">
            <a:spAutoFit/>
          </a:bodyPr>
          <a:lstStyle/>
          <a:p>
            <a:pPr algn="l"/>
            <a:r>
              <a:rPr sz="1400" b="0" dirty="0">
                <a:solidFill>
                  <a:srgbClr val="B1BECF"/>
                </a:solidFill>
                <a:latin typeface="Aptos"/>
              </a:rPr>
              <a:t>User account information</a:t>
            </a:r>
          </a:p>
        </p:txBody>
      </p:sp>
      <p:sp>
        <p:nvSpPr>
          <p:cNvPr id="21" name="Rounded Rectangle 20"/>
          <p:cNvSpPr/>
          <p:nvPr/>
        </p:nvSpPr>
        <p:spPr>
          <a:xfrm>
            <a:off x="4434840" y="37033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36008" y="3867911"/>
            <a:ext cx="457200" cy="365760"/>
          </a:xfrm>
          <a:prstGeom prst="rect">
            <a:avLst/>
          </a:prstGeom>
          <a:noFill/>
        </p:spPr>
        <p:txBody>
          <a:bodyPr wrap="square" anchor="t">
            <a:spAutoFit/>
          </a:bodyPr>
          <a:lstStyle/>
          <a:p>
            <a:pPr algn="ctr"/>
            <a:r>
              <a:rPr sz="1800" b="1">
                <a:solidFill>
                  <a:srgbClr val="43BEDC"/>
                </a:solidFill>
                <a:latin typeface="Aptos"/>
              </a:rPr>
              <a:t>UI</a:t>
            </a:r>
          </a:p>
        </p:txBody>
      </p:sp>
      <p:sp>
        <p:nvSpPr>
          <p:cNvPr id="23" name="TextBox 22"/>
          <p:cNvSpPr txBox="1"/>
          <p:nvPr/>
        </p:nvSpPr>
        <p:spPr>
          <a:xfrm>
            <a:off x="5120640" y="3867911"/>
            <a:ext cx="2606039" cy="384048"/>
          </a:xfrm>
          <a:prstGeom prst="rect">
            <a:avLst/>
          </a:prstGeom>
          <a:noFill/>
        </p:spPr>
        <p:txBody>
          <a:bodyPr wrap="square" anchor="t">
            <a:spAutoFit/>
          </a:bodyPr>
          <a:lstStyle/>
          <a:p>
            <a:pPr algn="l"/>
            <a:r>
              <a:rPr sz="1600" b="1">
                <a:solidFill>
                  <a:srgbClr val="F8FAFC"/>
                </a:solidFill>
                <a:latin typeface="Aptos"/>
              </a:rPr>
              <a:t>ADMIN PROFILE</a:t>
            </a:r>
          </a:p>
        </p:txBody>
      </p:sp>
      <p:sp>
        <p:nvSpPr>
          <p:cNvPr id="24" name="TextBox 23"/>
          <p:cNvSpPr txBox="1"/>
          <p:nvPr/>
        </p:nvSpPr>
        <p:spPr>
          <a:xfrm>
            <a:off x="4663440" y="4361688"/>
            <a:ext cx="3017520" cy="307777"/>
          </a:xfrm>
          <a:prstGeom prst="rect">
            <a:avLst/>
          </a:prstGeom>
          <a:noFill/>
        </p:spPr>
        <p:txBody>
          <a:bodyPr wrap="square" anchor="t">
            <a:spAutoFit/>
          </a:bodyPr>
          <a:lstStyle/>
          <a:p>
            <a:pPr algn="l"/>
            <a:r>
              <a:rPr sz="1400" b="0" dirty="0">
                <a:solidFill>
                  <a:srgbClr val="B1BECF"/>
                </a:solidFill>
                <a:latin typeface="Aptos"/>
              </a:rPr>
              <a:t>Administrative profile</a:t>
            </a:r>
          </a:p>
        </p:txBody>
      </p:sp>
      <p:sp>
        <p:nvSpPr>
          <p:cNvPr id="25" name="Rounded Rectangle 24"/>
          <p:cNvSpPr/>
          <p:nvPr/>
        </p:nvSpPr>
        <p:spPr>
          <a:xfrm>
            <a:off x="8229600" y="3703320"/>
            <a:ext cx="3474720" cy="16916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30768" y="3867911"/>
            <a:ext cx="457200" cy="365760"/>
          </a:xfrm>
          <a:prstGeom prst="rect">
            <a:avLst/>
          </a:prstGeom>
          <a:noFill/>
        </p:spPr>
        <p:txBody>
          <a:bodyPr wrap="square" anchor="t">
            <a:spAutoFit/>
          </a:bodyPr>
          <a:lstStyle/>
          <a:p>
            <a:pPr algn="ctr"/>
            <a:r>
              <a:rPr sz="1800" b="1">
                <a:solidFill>
                  <a:srgbClr val="43BEDC"/>
                </a:solidFill>
                <a:latin typeface="Aptos"/>
              </a:rPr>
              <a:t>UI</a:t>
            </a:r>
          </a:p>
        </p:txBody>
      </p:sp>
      <p:sp>
        <p:nvSpPr>
          <p:cNvPr id="27" name="TextBox 26"/>
          <p:cNvSpPr txBox="1"/>
          <p:nvPr/>
        </p:nvSpPr>
        <p:spPr>
          <a:xfrm>
            <a:off x="8915400" y="3867911"/>
            <a:ext cx="2606039" cy="384048"/>
          </a:xfrm>
          <a:prstGeom prst="rect">
            <a:avLst/>
          </a:prstGeom>
          <a:noFill/>
        </p:spPr>
        <p:txBody>
          <a:bodyPr wrap="square" anchor="t">
            <a:spAutoFit/>
          </a:bodyPr>
          <a:lstStyle/>
          <a:p>
            <a:pPr algn="l"/>
            <a:r>
              <a:rPr sz="1600" b="1">
                <a:solidFill>
                  <a:srgbClr val="F8FAFC"/>
                </a:solidFill>
                <a:latin typeface="Aptos"/>
              </a:rPr>
              <a:t>ORDER DETAILS</a:t>
            </a:r>
          </a:p>
        </p:txBody>
      </p:sp>
      <p:sp>
        <p:nvSpPr>
          <p:cNvPr id="28" name="TextBox 27"/>
          <p:cNvSpPr txBox="1"/>
          <p:nvPr/>
        </p:nvSpPr>
        <p:spPr>
          <a:xfrm>
            <a:off x="8458200" y="4361688"/>
            <a:ext cx="3017520" cy="307777"/>
          </a:xfrm>
          <a:prstGeom prst="rect">
            <a:avLst/>
          </a:prstGeom>
          <a:noFill/>
        </p:spPr>
        <p:txBody>
          <a:bodyPr wrap="square" anchor="t">
            <a:spAutoFit/>
          </a:bodyPr>
          <a:lstStyle/>
          <a:p>
            <a:pPr algn="l"/>
            <a:r>
              <a:rPr sz="1400" b="0" dirty="0">
                <a:solidFill>
                  <a:srgbClr val="B1BECF"/>
                </a:solidFill>
                <a:latin typeface="Aptos"/>
              </a:rPr>
              <a:t>Transaction / order details</a:t>
            </a:r>
          </a:p>
        </p:txBody>
      </p:sp>
      <p:sp>
        <p:nvSpPr>
          <p:cNvPr id="29" name="TextBox 28"/>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Project Timeline</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12-phase plan documented for CarZen</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572768"/>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737360"/>
            <a:ext cx="457200" cy="365760"/>
          </a:xfrm>
          <a:prstGeom prst="rect">
            <a:avLst/>
          </a:prstGeom>
          <a:noFill/>
        </p:spPr>
        <p:txBody>
          <a:bodyPr wrap="square" anchor="t">
            <a:spAutoFit/>
          </a:bodyPr>
          <a:lstStyle/>
          <a:p>
            <a:pPr algn="ctr"/>
            <a:r>
              <a:rPr sz="1800" b="1">
                <a:solidFill>
                  <a:srgbClr val="43BEDC"/>
                </a:solidFill>
                <a:latin typeface="Aptos"/>
              </a:rPr>
              <a:t>01</a:t>
            </a:r>
          </a:p>
        </p:txBody>
      </p:sp>
      <p:sp>
        <p:nvSpPr>
          <p:cNvPr id="7" name="TextBox 6"/>
          <p:cNvSpPr txBox="1"/>
          <p:nvPr/>
        </p:nvSpPr>
        <p:spPr>
          <a:xfrm>
            <a:off x="1234440" y="1737360"/>
            <a:ext cx="1737360" cy="384048"/>
          </a:xfrm>
          <a:prstGeom prst="rect">
            <a:avLst/>
          </a:prstGeom>
          <a:noFill/>
        </p:spPr>
        <p:txBody>
          <a:bodyPr wrap="square" anchor="t">
            <a:spAutoFit/>
          </a:bodyPr>
          <a:lstStyle/>
          <a:p>
            <a:pPr algn="l"/>
            <a:r>
              <a:rPr sz="1600" b="1">
                <a:solidFill>
                  <a:srgbClr val="F8FAFC"/>
                </a:solidFill>
                <a:latin typeface="Aptos"/>
              </a:rPr>
              <a:t>Requirement Analysis</a:t>
            </a:r>
          </a:p>
        </p:txBody>
      </p:sp>
      <p:sp>
        <p:nvSpPr>
          <p:cNvPr id="8" name="TextBox 7"/>
          <p:cNvSpPr txBox="1"/>
          <p:nvPr/>
        </p:nvSpPr>
        <p:spPr>
          <a:xfrm>
            <a:off x="777240" y="2231136"/>
            <a:ext cx="2148840" cy="411480"/>
          </a:xfrm>
          <a:prstGeom prst="rect">
            <a:avLst/>
          </a:prstGeom>
          <a:noFill/>
        </p:spPr>
        <p:txBody>
          <a:bodyPr wrap="square" anchor="t">
            <a:spAutoFit/>
          </a:bodyPr>
          <a:lstStyle/>
          <a:p>
            <a:pPr algn="l"/>
            <a:r>
              <a:rPr sz="1200" b="0" dirty="0">
                <a:solidFill>
                  <a:srgbClr val="B1BECF"/>
                </a:solidFill>
                <a:latin typeface="Aptos"/>
              </a:rPr>
              <a:t>W1</a:t>
            </a:r>
          </a:p>
        </p:txBody>
      </p:sp>
      <p:sp>
        <p:nvSpPr>
          <p:cNvPr id="9" name="Rounded Rectangle 8"/>
          <p:cNvSpPr/>
          <p:nvPr/>
        </p:nvSpPr>
        <p:spPr>
          <a:xfrm>
            <a:off x="3429000" y="1572768"/>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30168" y="1737360"/>
            <a:ext cx="457200" cy="365760"/>
          </a:xfrm>
          <a:prstGeom prst="rect">
            <a:avLst/>
          </a:prstGeom>
          <a:noFill/>
        </p:spPr>
        <p:txBody>
          <a:bodyPr wrap="square" anchor="t">
            <a:spAutoFit/>
          </a:bodyPr>
          <a:lstStyle/>
          <a:p>
            <a:pPr algn="ctr"/>
            <a:r>
              <a:rPr sz="1800" b="1">
                <a:solidFill>
                  <a:srgbClr val="43BEDC"/>
                </a:solidFill>
                <a:latin typeface="Aptos"/>
              </a:rPr>
              <a:t>02</a:t>
            </a:r>
          </a:p>
        </p:txBody>
      </p:sp>
      <p:sp>
        <p:nvSpPr>
          <p:cNvPr id="11" name="TextBox 10"/>
          <p:cNvSpPr txBox="1"/>
          <p:nvPr/>
        </p:nvSpPr>
        <p:spPr>
          <a:xfrm>
            <a:off x="4114800" y="1737360"/>
            <a:ext cx="1737360" cy="384048"/>
          </a:xfrm>
          <a:prstGeom prst="rect">
            <a:avLst/>
          </a:prstGeom>
          <a:noFill/>
        </p:spPr>
        <p:txBody>
          <a:bodyPr wrap="square" anchor="t">
            <a:spAutoFit/>
          </a:bodyPr>
          <a:lstStyle/>
          <a:p>
            <a:pPr algn="l"/>
            <a:r>
              <a:rPr sz="1600" b="1">
                <a:solidFill>
                  <a:srgbClr val="F8FAFC"/>
                </a:solidFill>
                <a:latin typeface="Aptos"/>
              </a:rPr>
              <a:t>System Analysis &amp; Planning</a:t>
            </a:r>
          </a:p>
        </p:txBody>
      </p:sp>
      <p:sp>
        <p:nvSpPr>
          <p:cNvPr id="12" name="TextBox 11"/>
          <p:cNvSpPr txBox="1"/>
          <p:nvPr/>
        </p:nvSpPr>
        <p:spPr>
          <a:xfrm>
            <a:off x="3657600" y="2231136"/>
            <a:ext cx="2148840" cy="411480"/>
          </a:xfrm>
          <a:prstGeom prst="rect">
            <a:avLst/>
          </a:prstGeom>
          <a:noFill/>
        </p:spPr>
        <p:txBody>
          <a:bodyPr wrap="square" anchor="t">
            <a:spAutoFit/>
          </a:bodyPr>
          <a:lstStyle/>
          <a:p>
            <a:pPr algn="l"/>
            <a:r>
              <a:rPr sz="1200" b="0" dirty="0">
                <a:solidFill>
                  <a:srgbClr val="B1BECF"/>
                </a:solidFill>
                <a:latin typeface="Aptos"/>
              </a:rPr>
              <a:t>W2</a:t>
            </a:r>
          </a:p>
        </p:txBody>
      </p:sp>
      <p:sp>
        <p:nvSpPr>
          <p:cNvPr id="13" name="Rounded Rectangle 12"/>
          <p:cNvSpPr/>
          <p:nvPr/>
        </p:nvSpPr>
        <p:spPr>
          <a:xfrm>
            <a:off x="6309359" y="1572768"/>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0527" y="1737360"/>
            <a:ext cx="457200" cy="365760"/>
          </a:xfrm>
          <a:prstGeom prst="rect">
            <a:avLst/>
          </a:prstGeom>
          <a:noFill/>
        </p:spPr>
        <p:txBody>
          <a:bodyPr wrap="square" anchor="t">
            <a:spAutoFit/>
          </a:bodyPr>
          <a:lstStyle/>
          <a:p>
            <a:pPr algn="ctr"/>
            <a:r>
              <a:rPr sz="1800" b="1">
                <a:solidFill>
                  <a:srgbClr val="43BEDC"/>
                </a:solidFill>
                <a:latin typeface="Aptos"/>
              </a:rPr>
              <a:t>03</a:t>
            </a:r>
          </a:p>
        </p:txBody>
      </p:sp>
      <p:sp>
        <p:nvSpPr>
          <p:cNvPr id="15" name="TextBox 14"/>
          <p:cNvSpPr txBox="1"/>
          <p:nvPr/>
        </p:nvSpPr>
        <p:spPr>
          <a:xfrm>
            <a:off x="6995159" y="1737360"/>
            <a:ext cx="1737360" cy="384048"/>
          </a:xfrm>
          <a:prstGeom prst="rect">
            <a:avLst/>
          </a:prstGeom>
          <a:noFill/>
        </p:spPr>
        <p:txBody>
          <a:bodyPr wrap="square" anchor="t">
            <a:spAutoFit/>
          </a:bodyPr>
          <a:lstStyle/>
          <a:p>
            <a:pPr algn="l"/>
            <a:r>
              <a:rPr sz="1600" b="1">
                <a:solidFill>
                  <a:srgbClr val="F8FAFC"/>
                </a:solidFill>
                <a:latin typeface="Aptos"/>
              </a:rPr>
              <a:t>Database Design</a:t>
            </a:r>
          </a:p>
        </p:txBody>
      </p:sp>
      <p:sp>
        <p:nvSpPr>
          <p:cNvPr id="16" name="TextBox 15"/>
          <p:cNvSpPr txBox="1"/>
          <p:nvPr/>
        </p:nvSpPr>
        <p:spPr>
          <a:xfrm>
            <a:off x="6537959" y="2231136"/>
            <a:ext cx="2148840" cy="411480"/>
          </a:xfrm>
          <a:prstGeom prst="rect">
            <a:avLst/>
          </a:prstGeom>
          <a:noFill/>
        </p:spPr>
        <p:txBody>
          <a:bodyPr wrap="square" anchor="t">
            <a:spAutoFit/>
          </a:bodyPr>
          <a:lstStyle/>
          <a:p>
            <a:pPr algn="l"/>
            <a:r>
              <a:rPr sz="1200" b="0">
                <a:solidFill>
                  <a:srgbClr val="B1BECF"/>
                </a:solidFill>
                <a:latin typeface="Aptos"/>
              </a:rPr>
              <a:t>W3</a:t>
            </a:r>
          </a:p>
        </p:txBody>
      </p:sp>
      <p:sp>
        <p:nvSpPr>
          <p:cNvPr id="17" name="Rounded Rectangle 16"/>
          <p:cNvSpPr/>
          <p:nvPr/>
        </p:nvSpPr>
        <p:spPr>
          <a:xfrm>
            <a:off x="9189719" y="1572768"/>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90888" y="1737360"/>
            <a:ext cx="457200" cy="365760"/>
          </a:xfrm>
          <a:prstGeom prst="rect">
            <a:avLst/>
          </a:prstGeom>
          <a:noFill/>
        </p:spPr>
        <p:txBody>
          <a:bodyPr wrap="square" anchor="t">
            <a:spAutoFit/>
          </a:bodyPr>
          <a:lstStyle/>
          <a:p>
            <a:pPr algn="ctr"/>
            <a:r>
              <a:rPr sz="1800" b="1">
                <a:solidFill>
                  <a:srgbClr val="43BEDC"/>
                </a:solidFill>
                <a:latin typeface="Aptos"/>
              </a:rPr>
              <a:t>04</a:t>
            </a:r>
          </a:p>
        </p:txBody>
      </p:sp>
      <p:sp>
        <p:nvSpPr>
          <p:cNvPr id="19" name="TextBox 18"/>
          <p:cNvSpPr txBox="1"/>
          <p:nvPr/>
        </p:nvSpPr>
        <p:spPr>
          <a:xfrm>
            <a:off x="9875519" y="1737360"/>
            <a:ext cx="1737360" cy="384048"/>
          </a:xfrm>
          <a:prstGeom prst="rect">
            <a:avLst/>
          </a:prstGeom>
          <a:noFill/>
        </p:spPr>
        <p:txBody>
          <a:bodyPr wrap="square" anchor="t">
            <a:spAutoFit/>
          </a:bodyPr>
          <a:lstStyle/>
          <a:p>
            <a:pPr algn="l"/>
            <a:r>
              <a:rPr sz="1600" b="1">
                <a:solidFill>
                  <a:srgbClr val="F8FAFC"/>
                </a:solidFill>
                <a:latin typeface="Aptos"/>
              </a:rPr>
              <a:t>System &amp; API Design</a:t>
            </a:r>
          </a:p>
        </p:txBody>
      </p:sp>
      <p:sp>
        <p:nvSpPr>
          <p:cNvPr id="20" name="TextBox 19"/>
          <p:cNvSpPr txBox="1"/>
          <p:nvPr/>
        </p:nvSpPr>
        <p:spPr>
          <a:xfrm>
            <a:off x="9418319" y="2231136"/>
            <a:ext cx="2148840" cy="411480"/>
          </a:xfrm>
          <a:prstGeom prst="rect">
            <a:avLst/>
          </a:prstGeom>
          <a:noFill/>
        </p:spPr>
        <p:txBody>
          <a:bodyPr wrap="square" anchor="t">
            <a:spAutoFit/>
          </a:bodyPr>
          <a:lstStyle/>
          <a:p>
            <a:pPr algn="l"/>
            <a:r>
              <a:rPr sz="1200" b="0">
                <a:solidFill>
                  <a:srgbClr val="B1BECF"/>
                </a:solidFill>
                <a:latin typeface="Aptos"/>
              </a:rPr>
              <a:t>W4</a:t>
            </a:r>
          </a:p>
        </p:txBody>
      </p:sp>
      <p:sp>
        <p:nvSpPr>
          <p:cNvPr id="21" name="Rounded Rectangle 20"/>
          <p:cNvSpPr/>
          <p:nvPr/>
        </p:nvSpPr>
        <p:spPr>
          <a:xfrm>
            <a:off x="548640" y="3145536"/>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3310128"/>
            <a:ext cx="457200" cy="365760"/>
          </a:xfrm>
          <a:prstGeom prst="rect">
            <a:avLst/>
          </a:prstGeom>
          <a:noFill/>
        </p:spPr>
        <p:txBody>
          <a:bodyPr wrap="square" anchor="t">
            <a:spAutoFit/>
          </a:bodyPr>
          <a:lstStyle/>
          <a:p>
            <a:pPr algn="ctr"/>
            <a:r>
              <a:rPr sz="1800" b="1">
                <a:solidFill>
                  <a:srgbClr val="43BEDC"/>
                </a:solidFill>
                <a:latin typeface="Aptos"/>
              </a:rPr>
              <a:t>05</a:t>
            </a:r>
          </a:p>
        </p:txBody>
      </p:sp>
      <p:sp>
        <p:nvSpPr>
          <p:cNvPr id="23" name="TextBox 22"/>
          <p:cNvSpPr txBox="1"/>
          <p:nvPr/>
        </p:nvSpPr>
        <p:spPr>
          <a:xfrm>
            <a:off x="1234440" y="3310128"/>
            <a:ext cx="1737360" cy="384048"/>
          </a:xfrm>
          <a:prstGeom prst="rect">
            <a:avLst/>
          </a:prstGeom>
          <a:noFill/>
        </p:spPr>
        <p:txBody>
          <a:bodyPr wrap="square" anchor="t">
            <a:spAutoFit/>
          </a:bodyPr>
          <a:lstStyle/>
          <a:p>
            <a:pPr algn="l"/>
            <a:r>
              <a:rPr sz="1600" b="1">
                <a:solidFill>
                  <a:srgbClr val="F8FAFC"/>
                </a:solidFill>
                <a:latin typeface="Aptos"/>
              </a:rPr>
              <a:t>User &amp; Authentication</a:t>
            </a:r>
          </a:p>
        </p:txBody>
      </p:sp>
      <p:sp>
        <p:nvSpPr>
          <p:cNvPr id="24" name="TextBox 23"/>
          <p:cNvSpPr txBox="1"/>
          <p:nvPr/>
        </p:nvSpPr>
        <p:spPr>
          <a:xfrm>
            <a:off x="777240" y="3803904"/>
            <a:ext cx="2148840" cy="411480"/>
          </a:xfrm>
          <a:prstGeom prst="rect">
            <a:avLst/>
          </a:prstGeom>
          <a:noFill/>
        </p:spPr>
        <p:txBody>
          <a:bodyPr wrap="square" anchor="t">
            <a:spAutoFit/>
          </a:bodyPr>
          <a:lstStyle/>
          <a:p>
            <a:pPr algn="l"/>
            <a:r>
              <a:rPr sz="1200" b="0">
                <a:solidFill>
                  <a:srgbClr val="B1BECF"/>
                </a:solidFill>
                <a:latin typeface="Aptos"/>
              </a:rPr>
              <a:t>W5</a:t>
            </a:r>
          </a:p>
        </p:txBody>
      </p:sp>
      <p:sp>
        <p:nvSpPr>
          <p:cNvPr id="25" name="Rounded Rectangle 24"/>
          <p:cNvSpPr/>
          <p:nvPr/>
        </p:nvSpPr>
        <p:spPr>
          <a:xfrm>
            <a:off x="3429000" y="3145536"/>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30168" y="3310128"/>
            <a:ext cx="457200" cy="365760"/>
          </a:xfrm>
          <a:prstGeom prst="rect">
            <a:avLst/>
          </a:prstGeom>
          <a:noFill/>
        </p:spPr>
        <p:txBody>
          <a:bodyPr wrap="square" anchor="t">
            <a:spAutoFit/>
          </a:bodyPr>
          <a:lstStyle/>
          <a:p>
            <a:pPr algn="ctr"/>
            <a:r>
              <a:rPr sz="1800" b="1">
                <a:solidFill>
                  <a:srgbClr val="43BEDC"/>
                </a:solidFill>
                <a:latin typeface="Aptos"/>
              </a:rPr>
              <a:t>06</a:t>
            </a:r>
          </a:p>
        </p:txBody>
      </p:sp>
      <p:sp>
        <p:nvSpPr>
          <p:cNvPr id="27" name="TextBox 26"/>
          <p:cNvSpPr txBox="1"/>
          <p:nvPr/>
        </p:nvSpPr>
        <p:spPr>
          <a:xfrm>
            <a:off x="4114800" y="3310128"/>
            <a:ext cx="1737360" cy="338554"/>
          </a:xfrm>
          <a:prstGeom prst="rect">
            <a:avLst/>
          </a:prstGeom>
          <a:noFill/>
        </p:spPr>
        <p:txBody>
          <a:bodyPr wrap="square" anchor="t">
            <a:spAutoFit/>
          </a:bodyPr>
          <a:lstStyle/>
          <a:p>
            <a:pPr algn="l"/>
            <a:r>
              <a:rPr sz="1600" b="1" dirty="0">
                <a:solidFill>
                  <a:srgbClr val="F8FAFC"/>
                </a:solidFill>
                <a:latin typeface="Aptos"/>
              </a:rPr>
              <a:t>Buying</a:t>
            </a:r>
          </a:p>
        </p:txBody>
      </p:sp>
      <p:sp>
        <p:nvSpPr>
          <p:cNvPr id="28" name="TextBox 27"/>
          <p:cNvSpPr txBox="1"/>
          <p:nvPr/>
        </p:nvSpPr>
        <p:spPr>
          <a:xfrm>
            <a:off x="3657600" y="3803904"/>
            <a:ext cx="2148840" cy="411480"/>
          </a:xfrm>
          <a:prstGeom prst="rect">
            <a:avLst/>
          </a:prstGeom>
          <a:noFill/>
        </p:spPr>
        <p:txBody>
          <a:bodyPr wrap="square" anchor="t">
            <a:spAutoFit/>
          </a:bodyPr>
          <a:lstStyle/>
          <a:p>
            <a:pPr algn="l"/>
            <a:r>
              <a:rPr sz="1200" b="0">
                <a:solidFill>
                  <a:srgbClr val="B1BECF"/>
                </a:solidFill>
                <a:latin typeface="Aptos"/>
              </a:rPr>
              <a:t>W6</a:t>
            </a:r>
          </a:p>
        </p:txBody>
      </p:sp>
      <p:sp>
        <p:nvSpPr>
          <p:cNvPr id="29" name="Rounded Rectangle 28"/>
          <p:cNvSpPr/>
          <p:nvPr/>
        </p:nvSpPr>
        <p:spPr>
          <a:xfrm>
            <a:off x="6309359" y="3145536"/>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10527" y="3310128"/>
            <a:ext cx="457200" cy="365760"/>
          </a:xfrm>
          <a:prstGeom prst="rect">
            <a:avLst/>
          </a:prstGeom>
          <a:noFill/>
        </p:spPr>
        <p:txBody>
          <a:bodyPr wrap="square" anchor="t">
            <a:spAutoFit/>
          </a:bodyPr>
          <a:lstStyle/>
          <a:p>
            <a:pPr algn="ctr"/>
            <a:r>
              <a:rPr sz="1800" b="1">
                <a:solidFill>
                  <a:srgbClr val="43BEDC"/>
                </a:solidFill>
                <a:latin typeface="Aptos"/>
              </a:rPr>
              <a:t>07</a:t>
            </a:r>
          </a:p>
        </p:txBody>
      </p:sp>
      <p:sp>
        <p:nvSpPr>
          <p:cNvPr id="31" name="TextBox 30"/>
          <p:cNvSpPr txBox="1"/>
          <p:nvPr/>
        </p:nvSpPr>
        <p:spPr>
          <a:xfrm>
            <a:off x="6995159" y="3310128"/>
            <a:ext cx="1737360" cy="338554"/>
          </a:xfrm>
          <a:prstGeom prst="rect">
            <a:avLst/>
          </a:prstGeom>
          <a:noFill/>
        </p:spPr>
        <p:txBody>
          <a:bodyPr wrap="square" anchor="t">
            <a:spAutoFit/>
          </a:bodyPr>
          <a:lstStyle/>
          <a:p>
            <a:pPr algn="l"/>
            <a:r>
              <a:rPr lang="en-US" sz="1600" b="1" dirty="0">
                <a:solidFill>
                  <a:srgbClr val="F8FAFC"/>
                </a:solidFill>
                <a:latin typeface="Aptos"/>
              </a:rPr>
              <a:t>Selling</a:t>
            </a:r>
            <a:endParaRPr sz="1600" b="1" dirty="0">
              <a:solidFill>
                <a:srgbClr val="F8FAFC"/>
              </a:solidFill>
              <a:latin typeface="Aptos"/>
            </a:endParaRPr>
          </a:p>
        </p:txBody>
      </p:sp>
      <p:sp>
        <p:nvSpPr>
          <p:cNvPr id="32" name="TextBox 31"/>
          <p:cNvSpPr txBox="1"/>
          <p:nvPr/>
        </p:nvSpPr>
        <p:spPr>
          <a:xfrm>
            <a:off x="6537959" y="3803904"/>
            <a:ext cx="2148840" cy="411480"/>
          </a:xfrm>
          <a:prstGeom prst="rect">
            <a:avLst/>
          </a:prstGeom>
          <a:noFill/>
        </p:spPr>
        <p:txBody>
          <a:bodyPr wrap="square" anchor="t">
            <a:spAutoFit/>
          </a:bodyPr>
          <a:lstStyle/>
          <a:p>
            <a:pPr algn="l"/>
            <a:r>
              <a:rPr sz="1200" b="0">
                <a:solidFill>
                  <a:srgbClr val="B1BECF"/>
                </a:solidFill>
                <a:latin typeface="Aptos"/>
              </a:rPr>
              <a:t>W7</a:t>
            </a:r>
          </a:p>
        </p:txBody>
      </p:sp>
      <p:sp>
        <p:nvSpPr>
          <p:cNvPr id="33" name="Rounded Rectangle 32"/>
          <p:cNvSpPr/>
          <p:nvPr/>
        </p:nvSpPr>
        <p:spPr>
          <a:xfrm>
            <a:off x="9189719" y="3145536"/>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390888" y="3310128"/>
            <a:ext cx="457200" cy="365760"/>
          </a:xfrm>
          <a:prstGeom prst="rect">
            <a:avLst/>
          </a:prstGeom>
          <a:noFill/>
        </p:spPr>
        <p:txBody>
          <a:bodyPr wrap="square" anchor="t">
            <a:spAutoFit/>
          </a:bodyPr>
          <a:lstStyle/>
          <a:p>
            <a:pPr algn="ctr"/>
            <a:r>
              <a:rPr sz="1800" b="1">
                <a:solidFill>
                  <a:srgbClr val="43BEDC"/>
                </a:solidFill>
                <a:latin typeface="Aptos"/>
              </a:rPr>
              <a:t>08</a:t>
            </a:r>
          </a:p>
        </p:txBody>
      </p:sp>
      <p:sp>
        <p:nvSpPr>
          <p:cNvPr id="35" name="TextBox 34"/>
          <p:cNvSpPr txBox="1"/>
          <p:nvPr/>
        </p:nvSpPr>
        <p:spPr>
          <a:xfrm>
            <a:off x="9875519" y="3310128"/>
            <a:ext cx="1737360" cy="384048"/>
          </a:xfrm>
          <a:prstGeom prst="rect">
            <a:avLst/>
          </a:prstGeom>
          <a:noFill/>
        </p:spPr>
        <p:txBody>
          <a:bodyPr wrap="square" anchor="t">
            <a:spAutoFit/>
          </a:bodyPr>
          <a:lstStyle/>
          <a:p>
            <a:pPr algn="l"/>
            <a:r>
              <a:rPr sz="1600" b="1">
                <a:solidFill>
                  <a:srgbClr val="F8FAFC"/>
                </a:solidFill>
                <a:latin typeface="Aptos"/>
              </a:rPr>
              <a:t>Car Service</a:t>
            </a:r>
          </a:p>
        </p:txBody>
      </p:sp>
      <p:sp>
        <p:nvSpPr>
          <p:cNvPr id="36" name="TextBox 35"/>
          <p:cNvSpPr txBox="1"/>
          <p:nvPr/>
        </p:nvSpPr>
        <p:spPr>
          <a:xfrm>
            <a:off x="9418319" y="3803904"/>
            <a:ext cx="2148840" cy="411480"/>
          </a:xfrm>
          <a:prstGeom prst="rect">
            <a:avLst/>
          </a:prstGeom>
          <a:noFill/>
        </p:spPr>
        <p:txBody>
          <a:bodyPr wrap="square" anchor="t">
            <a:spAutoFit/>
          </a:bodyPr>
          <a:lstStyle/>
          <a:p>
            <a:pPr algn="l"/>
            <a:r>
              <a:rPr sz="1200" b="0">
                <a:solidFill>
                  <a:srgbClr val="B1BECF"/>
                </a:solidFill>
                <a:latin typeface="Aptos"/>
              </a:rPr>
              <a:t>W8</a:t>
            </a:r>
          </a:p>
        </p:txBody>
      </p:sp>
      <p:sp>
        <p:nvSpPr>
          <p:cNvPr id="37" name="Rounded Rectangle 36"/>
          <p:cNvSpPr/>
          <p:nvPr/>
        </p:nvSpPr>
        <p:spPr>
          <a:xfrm>
            <a:off x="548640" y="4718304"/>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9808" y="4882896"/>
            <a:ext cx="457200" cy="365760"/>
          </a:xfrm>
          <a:prstGeom prst="rect">
            <a:avLst/>
          </a:prstGeom>
          <a:noFill/>
        </p:spPr>
        <p:txBody>
          <a:bodyPr wrap="square" anchor="t">
            <a:spAutoFit/>
          </a:bodyPr>
          <a:lstStyle/>
          <a:p>
            <a:pPr algn="ctr"/>
            <a:r>
              <a:rPr sz="1800" b="1">
                <a:solidFill>
                  <a:srgbClr val="43BEDC"/>
                </a:solidFill>
                <a:latin typeface="Aptos"/>
              </a:rPr>
              <a:t>09</a:t>
            </a:r>
          </a:p>
        </p:txBody>
      </p:sp>
      <p:sp>
        <p:nvSpPr>
          <p:cNvPr id="39" name="TextBox 38"/>
          <p:cNvSpPr txBox="1"/>
          <p:nvPr/>
        </p:nvSpPr>
        <p:spPr>
          <a:xfrm>
            <a:off x="1234440" y="4882896"/>
            <a:ext cx="1737360" cy="384048"/>
          </a:xfrm>
          <a:prstGeom prst="rect">
            <a:avLst/>
          </a:prstGeom>
          <a:noFill/>
        </p:spPr>
        <p:txBody>
          <a:bodyPr wrap="square" anchor="t">
            <a:spAutoFit/>
          </a:bodyPr>
          <a:lstStyle/>
          <a:p>
            <a:pPr algn="l"/>
            <a:r>
              <a:rPr sz="1600" b="1">
                <a:solidFill>
                  <a:srgbClr val="F8FAFC"/>
                </a:solidFill>
                <a:latin typeface="Aptos"/>
              </a:rPr>
              <a:t>Dataset &amp; ML Model</a:t>
            </a:r>
          </a:p>
        </p:txBody>
      </p:sp>
      <p:sp>
        <p:nvSpPr>
          <p:cNvPr id="40" name="TextBox 39"/>
          <p:cNvSpPr txBox="1"/>
          <p:nvPr/>
        </p:nvSpPr>
        <p:spPr>
          <a:xfrm>
            <a:off x="777240" y="5376672"/>
            <a:ext cx="2148840" cy="411480"/>
          </a:xfrm>
          <a:prstGeom prst="rect">
            <a:avLst/>
          </a:prstGeom>
          <a:noFill/>
        </p:spPr>
        <p:txBody>
          <a:bodyPr wrap="square" anchor="t">
            <a:spAutoFit/>
          </a:bodyPr>
          <a:lstStyle/>
          <a:p>
            <a:pPr algn="l"/>
            <a:r>
              <a:rPr sz="1200" b="0">
                <a:solidFill>
                  <a:srgbClr val="B1BECF"/>
                </a:solidFill>
                <a:latin typeface="Aptos"/>
              </a:rPr>
              <a:t>W9</a:t>
            </a:r>
          </a:p>
        </p:txBody>
      </p:sp>
      <p:sp>
        <p:nvSpPr>
          <p:cNvPr id="41" name="Rounded Rectangle 40"/>
          <p:cNvSpPr/>
          <p:nvPr/>
        </p:nvSpPr>
        <p:spPr>
          <a:xfrm>
            <a:off x="3429000" y="4718304"/>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30168" y="4882896"/>
            <a:ext cx="457200" cy="365760"/>
          </a:xfrm>
          <a:prstGeom prst="rect">
            <a:avLst/>
          </a:prstGeom>
          <a:noFill/>
        </p:spPr>
        <p:txBody>
          <a:bodyPr wrap="square" anchor="t">
            <a:spAutoFit/>
          </a:bodyPr>
          <a:lstStyle/>
          <a:p>
            <a:pPr algn="ctr"/>
            <a:r>
              <a:rPr sz="1800" b="1">
                <a:solidFill>
                  <a:srgbClr val="43BEDC"/>
                </a:solidFill>
                <a:latin typeface="Aptos"/>
              </a:rPr>
              <a:t>10</a:t>
            </a:r>
          </a:p>
        </p:txBody>
      </p:sp>
      <p:sp>
        <p:nvSpPr>
          <p:cNvPr id="43" name="TextBox 42"/>
          <p:cNvSpPr txBox="1"/>
          <p:nvPr/>
        </p:nvSpPr>
        <p:spPr>
          <a:xfrm>
            <a:off x="4114800" y="4882896"/>
            <a:ext cx="1737360" cy="384048"/>
          </a:xfrm>
          <a:prstGeom prst="rect">
            <a:avLst/>
          </a:prstGeom>
          <a:noFill/>
        </p:spPr>
        <p:txBody>
          <a:bodyPr wrap="square" anchor="t">
            <a:spAutoFit/>
          </a:bodyPr>
          <a:lstStyle/>
          <a:p>
            <a:pPr algn="l"/>
            <a:r>
              <a:rPr sz="1600" b="1">
                <a:solidFill>
                  <a:srgbClr val="F8FAFC"/>
                </a:solidFill>
                <a:latin typeface="Aptos"/>
              </a:rPr>
              <a:t>Prediction Integration</a:t>
            </a:r>
          </a:p>
        </p:txBody>
      </p:sp>
      <p:sp>
        <p:nvSpPr>
          <p:cNvPr id="44" name="TextBox 43"/>
          <p:cNvSpPr txBox="1"/>
          <p:nvPr/>
        </p:nvSpPr>
        <p:spPr>
          <a:xfrm>
            <a:off x="3657600" y="5376672"/>
            <a:ext cx="2148840" cy="411480"/>
          </a:xfrm>
          <a:prstGeom prst="rect">
            <a:avLst/>
          </a:prstGeom>
          <a:noFill/>
        </p:spPr>
        <p:txBody>
          <a:bodyPr wrap="square" anchor="t">
            <a:spAutoFit/>
          </a:bodyPr>
          <a:lstStyle/>
          <a:p>
            <a:pPr algn="l"/>
            <a:r>
              <a:rPr sz="1200" b="0">
                <a:solidFill>
                  <a:srgbClr val="B1BECF"/>
                </a:solidFill>
                <a:latin typeface="Aptos"/>
              </a:rPr>
              <a:t>W10</a:t>
            </a:r>
          </a:p>
        </p:txBody>
      </p:sp>
      <p:sp>
        <p:nvSpPr>
          <p:cNvPr id="45" name="Rounded Rectangle 44"/>
          <p:cNvSpPr/>
          <p:nvPr/>
        </p:nvSpPr>
        <p:spPr>
          <a:xfrm>
            <a:off x="6309359" y="4718304"/>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10527" y="4882896"/>
            <a:ext cx="457200" cy="365760"/>
          </a:xfrm>
          <a:prstGeom prst="rect">
            <a:avLst/>
          </a:prstGeom>
          <a:noFill/>
        </p:spPr>
        <p:txBody>
          <a:bodyPr wrap="square" anchor="t">
            <a:spAutoFit/>
          </a:bodyPr>
          <a:lstStyle/>
          <a:p>
            <a:pPr algn="ctr"/>
            <a:r>
              <a:rPr sz="1800" b="1">
                <a:solidFill>
                  <a:srgbClr val="43BEDC"/>
                </a:solidFill>
                <a:latin typeface="Aptos"/>
              </a:rPr>
              <a:t>11</a:t>
            </a:r>
          </a:p>
        </p:txBody>
      </p:sp>
      <p:sp>
        <p:nvSpPr>
          <p:cNvPr id="47" name="TextBox 46"/>
          <p:cNvSpPr txBox="1"/>
          <p:nvPr/>
        </p:nvSpPr>
        <p:spPr>
          <a:xfrm>
            <a:off x="6995159" y="4882896"/>
            <a:ext cx="1737360" cy="384048"/>
          </a:xfrm>
          <a:prstGeom prst="rect">
            <a:avLst/>
          </a:prstGeom>
          <a:noFill/>
        </p:spPr>
        <p:txBody>
          <a:bodyPr wrap="square" anchor="t">
            <a:spAutoFit/>
          </a:bodyPr>
          <a:lstStyle/>
          <a:p>
            <a:pPr algn="l"/>
            <a:r>
              <a:rPr sz="1600" b="1">
                <a:solidFill>
                  <a:srgbClr val="F8FAFC"/>
                </a:solidFill>
                <a:latin typeface="Aptos"/>
              </a:rPr>
              <a:t>Testing &amp; Bug Fixing</a:t>
            </a:r>
          </a:p>
        </p:txBody>
      </p:sp>
      <p:sp>
        <p:nvSpPr>
          <p:cNvPr id="48" name="TextBox 47"/>
          <p:cNvSpPr txBox="1"/>
          <p:nvPr/>
        </p:nvSpPr>
        <p:spPr>
          <a:xfrm>
            <a:off x="6537959" y="5376672"/>
            <a:ext cx="2148840" cy="411480"/>
          </a:xfrm>
          <a:prstGeom prst="rect">
            <a:avLst/>
          </a:prstGeom>
          <a:noFill/>
        </p:spPr>
        <p:txBody>
          <a:bodyPr wrap="square" anchor="t">
            <a:spAutoFit/>
          </a:bodyPr>
          <a:lstStyle/>
          <a:p>
            <a:pPr algn="l"/>
            <a:r>
              <a:rPr sz="1200" b="0">
                <a:solidFill>
                  <a:srgbClr val="B1BECF"/>
                </a:solidFill>
                <a:latin typeface="Aptos"/>
              </a:rPr>
              <a:t>W11</a:t>
            </a:r>
          </a:p>
        </p:txBody>
      </p:sp>
      <p:sp>
        <p:nvSpPr>
          <p:cNvPr id="49" name="Rounded Rectangle 48"/>
          <p:cNvSpPr/>
          <p:nvPr/>
        </p:nvSpPr>
        <p:spPr>
          <a:xfrm>
            <a:off x="9189719" y="4718304"/>
            <a:ext cx="2606040" cy="123444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390888" y="4882896"/>
            <a:ext cx="457200" cy="365760"/>
          </a:xfrm>
          <a:prstGeom prst="rect">
            <a:avLst/>
          </a:prstGeom>
          <a:noFill/>
        </p:spPr>
        <p:txBody>
          <a:bodyPr wrap="square" anchor="t">
            <a:spAutoFit/>
          </a:bodyPr>
          <a:lstStyle/>
          <a:p>
            <a:pPr algn="ctr"/>
            <a:r>
              <a:rPr sz="1800" b="1">
                <a:solidFill>
                  <a:srgbClr val="43BEDC"/>
                </a:solidFill>
                <a:latin typeface="Aptos"/>
              </a:rPr>
              <a:t>12</a:t>
            </a:r>
          </a:p>
        </p:txBody>
      </p:sp>
      <p:sp>
        <p:nvSpPr>
          <p:cNvPr id="51" name="TextBox 50"/>
          <p:cNvSpPr txBox="1"/>
          <p:nvPr/>
        </p:nvSpPr>
        <p:spPr>
          <a:xfrm>
            <a:off x="9875519" y="4882896"/>
            <a:ext cx="1737360" cy="384048"/>
          </a:xfrm>
          <a:prstGeom prst="rect">
            <a:avLst/>
          </a:prstGeom>
          <a:noFill/>
        </p:spPr>
        <p:txBody>
          <a:bodyPr wrap="square" anchor="t">
            <a:spAutoFit/>
          </a:bodyPr>
          <a:lstStyle/>
          <a:p>
            <a:pPr algn="l"/>
            <a:r>
              <a:rPr sz="1600" b="1">
                <a:solidFill>
                  <a:srgbClr val="F8FAFC"/>
                </a:solidFill>
                <a:latin typeface="Aptos"/>
              </a:rPr>
              <a:t>Documentation &amp; Deployment</a:t>
            </a:r>
          </a:p>
        </p:txBody>
      </p:sp>
      <p:sp>
        <p:nvSpPr>
          <p:cNvPr id="52" name="TextBox 51"/>
          <p:cNvSpPr txBox="1"/>
          <p:nvPr/>
        </p:nvSpPr>
        <p:spPr>
          <a:xfrm>
            <a:off x="9418319" y="5376672"/>
            <a:ext cx="2148840" cy="411480"/>
          </a:xfrm>
          <a:prstGeom prst="rect">
            <a:avLst/>
          </a:prstGeom>
          <a:noFill/>
        </p:spPr>
        <p:txBody>
          <a:bodyPr wrap="square" anchor="t">
            <a:spAutoFit/>
          </a:bodyPr>
          <a:lstStyle/>
          <a:p>
            <a:pPr algn="l"/>
            <a:r>
              <a:rPr sz="1200" b="0">
                <a:solidFill>
                  <a:srgbClr val="B1BECF"/>
                </a:solidFill>
                <a:latin typeface="Aptos"/>
              </a:rPr>
              <a:t>W12</a:t>
            </a:r>
          </a:p>
        </p:txBody>
      </p:sp>
      <p:sp>
        <p:nvSpPr>
          <p:cNvPr id="53" name="TextBox 52"/>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594360" y="411480"/>
            <a:ext cx="10972800" cy="594360"/>
          </a:xfrm>
          <a:prstGeom prst="rect">
            <a:avLst/>
          </a:prstGeom>
          <a:noFill/>
        </p:spPr>
        <p:txBody>
          <a:bodyPr wrap="square" anchor="t">
            <a:spAutoFit/>
          </a:bodyPr>
          <a:lstStyle/>
          <a:p>
            <a:pPr algn="l"/>
            <a:r>
              <a:rPr sz="3000" b="1">
                <a:solidFill>
                  <a:srgbClr val="F8FAFC"/>
                </a:solidFill>
                <a:latin typeface="Aptos"/>
              </a:rPr>
              <a:t>Implementation Considerations</a:t>
            </a:r>
          </a:p>
        </p:txBody>
      </p:sp>
      <p:sp>
        <p:nvSpPr>
          <p:cNvPr id="3" name="TextBox 2"/>
          <p:cNvSpPr txBox="1"/>
          <p:nvPr/>
        </p:nvSpPr>
        <p:spPr>
          <a:xfrm>
            <a:off x="621792" y="1024128"/>
            <a:ext cx="10698480" cy="411480"/>
          </a:xfrm>
          <a:prstGeom prst="rect">
            <a:avLst/>
          </a:prstGeom>
          <a:noFill/>
        </p:spPr>
        <p:txBody>
          <a:bodyPr wrap="square" anchor="t">
            <a:spAutoFit/>
          </a:bodyPr>
          <a:lstStyle/>
          <a:p>
            <a:pPr algn="l"/>
            <a:r>
              <a:rPr sz="1300" b="0">
                <a:solidFill>
                  <a:srgbClr val="B1BECF"/>
                </a:solidFill>
                <a:latin typeface="Aptos"/>
              </a:rPr>
              <a:t>Points highlighted in the project documentation</a:t>
            </a:r>
          </a:p>
        </p:txBody>
      </p:sp>
      <p:sp>
        <p:nvSpPr>
          <p:cNvPr id="4" name="Rectangle 3"/>
          <p:cNvSpPr/>
          <p:nvPr/>
        </p:nvSpPr>
        <p:spPr>
          <a:xfrm>
            <a:off x="594360" y="1554480"/>
            <a:ext cx="91440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737360"/>
            <a:ext cx="5349240" cy="35661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90195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7" name="TextBox 6"/>
          <p:cNvSpPr txBox="1"/>
          <p:nvPr/>
        </p:nvSpPr>
        <p:spPr>
          <a:xfrm>
            <a:off x="1325880" y="1901952"/>
            <a:ext cx="4480559" cy="384048"/>
          </a:xfrm>
          <a:prstGeom prst="rect">
            <a:avLst/>
          </a:prstGeom>
          <a:noFill/>
        </p:spPr>
        <p:txBody>
          <a:bodyPr wrap="square" anchor="t">
            <a:spAutoFit/>
          </a:bodyPr>
          <a:lstStyle/>
          <a:p>
            <a:pPr algn="l"/>
            <a:r>
              <a:rPr sz="1600" b="1">
                <a:solidFill>
                  <a:srgbClr val="F8FAFC"/>
                </a:solidFill>
                <a:latin typeface="Aptos"/>
              </a:rPr>
              <a:t>Known limitations</a:t>
            </a:r>
          </a:p>
        </p:txBody>
      </p:sp>
      <p:sp>
        <p:nvSpPr>
          <p:cNvPr id="8" name="TextBox 7"/>
          <p:cNvSpPr txBox="1"/>
          <p:nvPr/>
        </p:nvSpPr>
        <p:spPr>
          <a:xfrm>
            <a:off x="868680" y="2395728"/>
            <a:ext cx="4892040" cy="1384995"/>
          </a:xfrm>
          <a:prstGeom prst="rect">
            <a:avLst/>
          </a:prstGeom>
          <a:noFill/>
        </p:spPr>
        <p:txBody>
          <a:bodyPr wrap="square" anchor="t">
            <a:spAutoFit/>
          </a:bodyPr>
          <a:lstStyle/>
          <a:p>
            <a:pPr marL="171450" indent="-171450" algn="l">
              <a:buFont typeface="Arial" panose="020B0604020202020204" pitchFamily="34" charset="0"/>
              <a:buChar char="•"/>
            </a:pPr>
            <a:r>
              <a:rPr sz="1200" b="0" dirty="0">
                <a:solidFill>
                  <a:srgbClr val="B1BECF"/>
                </a:solidFill>
                <a:latin typeface="Aptos"/>
              </a:rPr>
              <a:t> </a:t>
            </a:r>
            <a:r>
              <a:rPr sz="1400" b="0" dirty="0">
                <a:solidFill>
                  <a:srgbClr val="B1BECF"/>
                </a:solidFill>
                <a:latin typeface="Aptos"/>
              </a:rPr>
              <a:t>Prediction accuracy depends on available data quality.
 Predicted price may differ from actual market price.
 Incorrect vehicle information can affect results.
 Reliable internet connectivity is required.
 Service and prediction features may have limited coverage during initial implementation.</a:t>
            </a:r>
            <a:endParaRPr sz="1200" b="0" dirty="0">
              <a:solidFill>
                <a:srgbClr val="B1BECF"/>
              </a:solidFill>
              <a:latin typeface="Aptos"/>
            </a:endParaRPr>
          </a:p>
        </p:txBody>
      </p:sp>
      <p:sp>
        <p:nvSpPr>
          <p:cNvPr id="9" name="Rounded Rectangle 8"/>
          <p:cNvSpPr/>
          <p:nvPr/>
        </p:nvSpPr>
        <p:spPr>
          <a:xfrm>
            <a:off x="6199632" y="1737360"/>
            <a:ext cx="5349240" cy="3566160"/>
          </a:xfrm>
          <a:prstGeom prst="roundRect">
            <a:avLst/>
          </a:prstGeom>
          <a:solidFill>
            <a:srgbClr val="19283D"/>
          </a:solidFill>
          <a:ln>
            <a:solidFill>
              <a:srgbClr val="304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901952"/>
            <a:ext cx="457200" cy="365760"/>
          </a:xfrm>
          <a:prstGeom prst="rect">
            <a:avLst/>
          </a:prstGeom>
          <a:noFill/>
        </p:spPr>
        <p:txBody>
          <a:bodyPr wrap="square" anchor="t">
            <a:spAutoFit/>
          </a:bodyPr>
          <a:lstStyle/>
          <a:p>
            <a:pPr algn="ctr"/>
            <a:r>
              <a:rPr sz="1800" b="1">
                <a:solidFill>
                  <a:srgbClr val="43BEDC"/>
                </a:solidFill>
                <a:latin typeface="Aptos"/>
              </a:rPr>
              <a:t>→</a:t>
            </a:r>
          </a:p>
        </p:txBody>
      </p:sp>
      <p:sp>
        <p:nvSpPr>
          <p:cNvPr id="11" name="TextBox 10"/>
          <p:cNvSpPr txBox="1"/>
          <p:nvPr/>
        </p:nvSpPr>
        <p:spPr>
          <a:xfrm>
            <a:off x="6885432" y="1901952"/>
            <a:ext cx="4480559" cy="384048"/>
          </a:xfrm>
          <a:prstGeom prst="rect">
            <a:avLst/>
          </a:prstGeom>
          <a:noFill/>
        </p:spPr>
        <p:txBody>
          <a:bodyPr wrap="square" anchor="t">
            <a:spAutoFit/>
          </a:bodyPr>
          <a:lstStyle/>
          <a:p>
            <a:pPr algn="l"/>
            <a:r>
              <a:rPr sz="1600" b="1">
                <a:solidFill>
                  <a:srgbClr val="F8FAFC"/>
                </a:solidFill>
                <a:latin typeface="Aptos"/>
              </a:rPr>
              <a:t>Design priorities</a:t>
            </a:r>
          </a:p>
        </p:txBody>
      </p:sp>
      <p:sp>
        <p:nvSpPr>
          <p:cNvPr id="12" name="TextBox 11"/>
          <p:cNvSpPr txBox="1"/>
          <p:nvPr/>
        </p:nvSpPr>
        <p:spPr>
          <a:xfrm>
            <a:off x="6428232" y="2395728"/>
            <a:ext cx="4892040" cy="1384995"/>
          </a:xfrm>
          <a:prstGeom prst="rect">
            <a:avLst/>
          </a:prstGeom>
          <a:noFill/>
        </p:spPr>
        <p:txBody>
          <a:bodyPr wrap="square" anchor="t">
            <a:spAutoFit/>
          </a:bodyPr>
          <a:lstStyle/>
          <a:p>
            <a:pPr marL="171450" indent="-171450" algn="l">
              <a:buFont typeface="Arial" panose="020B0604020202020204" pitchFamily="34" charset="0"/>
              <a:buChar char="•"/>
            </a:pPr>
            <a:r>
              <a:rPr sz="1200" b="0" dirty="0">
                <a:solidFill>
                  <a:srgbClr val="B1BECF"/>
                </a:solidFill>
                <a:latin typeface="Aptos"/>
              </a:rPr>
              <a:t> </a:t>
            </a:r>
            <a:r>
              <a:rPr sz="1400" b="0" dirty="0">
                <a:solidFill>
                  <a:srgbClr val="B1BECF"/>
                </a:solidFill>
                <a:latin typeface="Aptos"/>
              </a:rPr>
              <a:t>Centralized vehicle information
 Structured ownership &amp; service history
 Search and filtering for buyers
 Managed listings for sellers
 Data-driven  estimation
 Admin control over system data</a:t>
            </a:r>
            <a:endParaRPr sz="1200" b="0" dirty="0">
              <a:solidFill>
                <a:srgbClr val="B1BECF"/>
              </a:solidFill>
              <a:latin typeface="Aptos"/>
            </a:endParaRPr>
          </a:p>
        </p:txBody>
      </p:sp>
      <p:sp>
        <p:nvSpPr>
          <p:cNvPr id="13" name="TextBox 12"/>
          <p:cNvSpPr txBox="1"/>
          <p:nvPr/>
        </p:nvSpPr>
        <p:spPr>
          <a:xfrm>
            <a:off x="914400" y="5715000"/>
            <a:ext cx="10332720" cy="365760"/>
          </a:xfrm>
          <a:prstGeom prst="rect">
            <a:avLst/>
          </a:prstGeom>
          <a:noFill/>
        </p:spPr>
        <p:txBody>
          <a:bodyPr wrap="square" anchor="t">
            <a:spAutoFit/>
          </a:bodyPr>
          <a:lstStyle/>
          <a:p>
            <a:pPr algn="ctr"/>
            <a:r>
              <a:rPr sz="1200" b="0">
                <a:solidFill>
                  <a:srgbClr val="B1BECF"/>
                </a:solidFill>
                <a:latin typeface="Aptos"/>
              </a:rPr>
              <a:t>These are documentation-derived considerations, not claims about completed implementation.</a:t>
            </a:r>
          </a:p>
        </p:txBody>
      </p:sp>
      <p:sp>
        <p:nvSpPr>
          <p:cNvPr id="14" name="TextBox 13"/>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92B"/>
        </a:solidFill>
        <a:effectLst/>
      </p:bgPr>
    </p:bg>
    <p:spTree>
      <p:nvGrpSpPr>
        <p:cNvPr id="1" name=""/>
        <p:cNvGrpSpPr/>
        <p:nvPr/>
      </p:nvGrpSpPr>
      <p:grpSpPr>
        <a:xfrm>
          <a:off x="0" y="0"/>
          <a:ext cx="0" cy="0"/>
          <a:chOff x="0" y="0"/>
          <a:chExt cx="0" cy="0"/>
        </a:xfrm>
      </p:grpSpPr>
      <p:sp>
        <p:nvSpPr>
          <p:cNvPr id="2" name="TextBox 1"/>
          <p:cNvSpPr txBox="1"/>
          <p:nvPr/>
        </p:nvSpPr>
        <p:spPr>
          <a:xfrm>
            <a:off x="731520" y="914400"/>
            <a:ext cx="4572000" cy="548640"/>
          </a:xfrm>
          <a:prstGeom prst="rect">
            <a:avLst/>
          </a:prstGeom>
          <a:noFill/>
        </p:spPr>
        <p:txBody>
          <a:bodyPr wrap="square" anchor="t">
            <a:spAutoFit/>
          </a:bodyPr>
          <a:lstStyle/>
          <a:p>
            <a:pPr algn="l"/>
            <a:r>
              <a:rPr sz="3400" b="1">
                <a:solidFill>
                  <a:srgbClr val="F8FAFC"/>
                </a:solidFill>
                <a:latin typeface="Aptos"/>
              </a:rPr>
              <a:t>CARZEN</a:t>
            </a:r>
          </a:p>
        </p:txBody>
      </p:sp>
      <p:sp>
        <p:nvSpPr>
          <p:cNvPr id="3" name="TextBox 2"/>
          <p:cNvSpPr txBox="1"/>
          <p:nvPr/>
        </p:nvSpPr>
        <p:spPr>
          <a:xfrm>
            <a:off x="749808" y="1691640"/>
            <a:ext cx="9784080" cy="640080"/>
          </a:xfrm>
          <a:prstGeom prst="rect">
            <a:avLst/>
          </a:prstGeom>
          <a:noFill/>
        </p:spPr>
        <p:txBody>
          <a:bodyPr wrap="square" anchor="t">
            <a:spAutoFit/>
          </a:bodyPr>
          <a:lstStyle/>
          <a:p>
            <a:pPr algn="l"/>
            <a:r>
              <a:rPr sz="2800" b="1">
                <a:solidFill>
                  <a:srgbClr val="F8FAFC"/>
                </a:solidFill>
                <a:latin typeface="Aptos"/>
              </a:rPr>
              <a:t>A connected approach to the car lifecycle</a:t>
            </a:r>
          </a:p>
        </p:txBody>
      </p:sp>
      <p:sp>
        <p:nvSpPr>
          <p:cNvPr id="4" name="Rectangle 3"/>
          <p:cNvSpPr/>
          <p:nvPr/>
        </p:nvSpPr>
        <p:spPr>
          <a:xfrm>
            <a:off x="749808" y="2514600"/>
            <a:ext cx="1188720" cy="54864"/>
          </a:xfrm>
          <a:prstGeom prst="rect">
            <a:avLst/>
          </a:prstGeom>
          <a:solidFill>
            <a:srgbClr val="43B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118318"/>
            <a:ext cx="9966960" cy="615553"/>
          </a:xfrm>
          <a:prstGeom prst="rect">
            <a:avLst/>
          </a:prstGeom>
          <a:noFill/>
        </p:spPr>
        <p:txBody>
          <a:bodyPr wrap="square" anchor="t">
            <a:spAutoFit/>
          </a:bodyPr>
          <a:lstStyle/>
          <a:p>
            <a:pPr algn="l"/>
            <a:r>
              <a:rPr sz="1700" b="0" dirty="0">
                <a:solidFill>
                  <a:srgbClr val="B1BECF"/>
                </a:solidFill>
                <a:latin typeface="Aptos"/>
              </a:rPr>
              <a:t>The proposed system combines marketplace functionality, vehicle history, service management and -price prediction within a single technology stack.</a:t>
            </a:r>
          </a:p>
        </p:txBody>
      </p:sp>
      <p:sp>
        <p:nvSpPr>
          <p:cNvPr id="7" name="TextBox 6"/>
          <p:cNvSpPr txBox="1"/>
          <p:nvPr/>
        </p:nvSpPr>
        <p:spPr>
          <a:xfrm>
            <a:off x="5221224" y="5486400"/>
            <a:ext cx="2743200" cy="430887"/>
          </a:xfrm>
          <a:prstGeom prst="rect">
            <a:avLst/>
          </a:prstGeom>
          <a:noFill/>
        </p:spPr>
        <p:txBody>
          <a:bodyPr wrap="square" anchor="t">
            <a:spAutoFit/>
          </a:bodyPr>
          <a:lstStyle/>
          <a:p>
            <a:pPr algn="l"/>
            <a:r>
              <a:rPr sz="2200" b="1" i="1" dirty="0">
                <a:solidFill>
                  <a:srgbClr val="F8FAFC"/>
                </a:solidFill>
                <a:latin typeface="Aptos"/>
              </a:rPr>
              <a:t>Thank You</a:t>
            </a:r>
          </a:p>
        </p:txBody>
      </p:sp>
      <p:sp>
        <p:nvSpPr>
          <p:cNvPr id="8" name="TextBox 7"/>
          <p:cNvSpPr txBox="1"/>
          <p:nvPr/>
        </p:nvSpPr>
        <p:spPr>
          <a:xfrm>
            <a:off x="4992624" y="5943600"/>
            <a:ext cx="3657600" cy="320040"/>
          </a:xfrm>
          <a:prstGeom prst="rect">
            <a:avLst/>
          </a:prstGeom>
          <a:noFill/>
        </p:spPr>
        <p:txBody>
          <a:bodyPr wrap="square" anchor="t">
            <a:spAutoFit/>
          </a:bodyPr>
          <a:lstStyle/>
          <a:p>
            <a:pPr algn="l"/>
            <a:r>
              <a:rPr sz="1300" b="1" dirty="0">
                <a:solidFill>
                  <a:srgbClr val="43BEDC"/>
                </a:solidFill>
                <a:latin typeface="Aptos"/>
              </a:rPr>
              <a:t>Questions &amp; Discussion</a:t>
            </a:r>
          </a:p>
        </p:txBody>
      </p:sp>
      <p:sp>
        <p:nvSpPr>
          <p:cNvPr id="9" name="TextBox 8"/>
          <p:cNvSpPr txBox="1"/>
          <p:nvPr/>
        </p:nvSpPr>
        <p:spPr>
          <a:xfrm>
            <a:off x="11384280" y="6446520"/>
            <a:ext cx="411480" cy="228600"/>
          </a:xfrm>
          <a:prstGeom prst="rect">
            <a:avLst/>
          </a:prstGeom>
          <a:noFill/>
        </p:spPr>
        <p:txBody>
          <a:bodyPr wrap="square" anchor="t">
            <a:spAutoFit/>
          </a:bodyPr>
          <a:lstStyle/>
          <a:p>
            <a:pPr algn="r"/>
            <a:r>
              <a:rPr sz="900" b="1">
                <a:solidFill>
                  <a:srgbClr val="B1BECF"/>
                </a:solidFill>
                <a:latin typeface="Apto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1024</Words>
  <Application>Microsoft Office PowerPoint</Application>
  <PresentationFormat>Widescreen</PresentationFormat>
  <Paragraphs>250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Pinak Sakariya</dc:creator>
  <cp:keywords/>
  <dc:description>generated using python-pptx</dc:description>
  <cp:lastModifiedBy>Pinak Sakariya</cp:lastModifiedBy>
  <cp:revision>3</cp:revision>
  <dcterms:created xsi:type="dcterms:W3CDTF">2013-01-27T09:14:16Z</dcterms:created>
  <dcterms:modified xsi:type="dcterms:W3CDTF">2026-09-23T05:51:37Z</dcterms:modified>
  <cp:category/>
</cp:coreProperties>
</file>