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theme/theme2.xml" ContentType="application/vnd.openxmlformats-officedocument.them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autoCompressPictures="0">
  <p:sldMasterIdLst>
    <p:sldMasterId id="2147483648" r:id="rId1"/>
  </p:sldMasterIdLst>
  <p:notesMasterIdLst>
    <p:notesMasterId r:id="rId64"/>
  </p:notesMasterIdLst>
  <p:sldIdLst>
    <p:sldId id="256" r:id="rId2"/>
    <p:sldId id="258" r:id="rId3"/>
    <p:sldId id="259" r:id="rId4"/>
    <p:sldId id="260" r:id="rId5"/>
    <p:sldId id="261" r:id="rId6"/>
    <p:sldId id="263" r:id="rId7"/>
    <p:sldId id="264" r:id="rId8"/>
    <p:sldId id="265" r:id="rId9"/>
    <p:sldId id="267" r:id="rId10"/>
    <p:sldId id="268" r:id="rId11"/>
    <p:sldId id="269" r:id="rId12"/>
    <p:sldId id="257" r:id="rId13"/>
    <p:sldId id="270" r:id="rId14"/>
    <p:sldId id="271" r:id="rId15"/>
    <p:sldId id="272" r:id="rId16"/>
    <p:sldId id="273" r:id="rId17"/>
    <p:sldId id="274" r:id="rId18"/>
    <p:sldId id="275" r:id="rId19"/>
    <p:sldId id="276" r:id="rId20"/>
    <p:sldId id="266" r:id="rId21"/>
    <p:sldId id="277" r:id="rId22"/>
    <p:sldId id="278" r:id="rId23"/>
    <p:sldId id="285" r:id="rId24"/>
    <p:sldId id="286" r:id="rId25"/>
    <p:sldId id="287" r:id="rId26"/>
    <p:sldId id="288" r:id="rId27"/>
    <p:sldId id="289" r:id="rId28"/>
    <p:sldId id="262" r:id="rId29"/>
    <p:sldId id="290" r:id="rId30"/>
    <p:sldId id="291" r:id="rId31"/>
    <p:sldId id="279" r:id="rId32"/>
    <p:sldId id="280" r:id="rId33"/>
    <p:sldId id="281" r:id="rId34"/>
    <p:sldId id="282" r:id="rId35"/>
    <p:sldId id="283" r:id="rId36"/>
    <p:sldId id="284" r:id="rId37"/>
    <p:sldId id="292" r:id="rId38"/>
    <p:sldId id="293" r:id="rId39"/>
    <p:sldId id="294" r:id="rId40"/>
    <p:sldId id="295" r:id="rId41"/>
    <p:sldId id="296" r:id="rId42"/>
    <p:sldId id="297" r:id="rId43"/>
    <p:sldId id="298" r:id="rId44"/>
    <p:sldId id="299" r:id="rId45"/>
    <p:sldId id="300" r:id="rId46"/>
    <p:sldId id="301" r:id="rId47"/>
    <p:sldId id="302" r:id="rId48"/>
    <p:sldId id="303" r:id="rId49"/>
    <p:sldId id="304" r:id="rId50"/>
    <p:sldId id="305" r:id="rId51"/>
    <p:sldId id="306" r:id="rId52"/>
    <p:sldId id="307" r:id="rId53"/>
    <p:sldId id="308" r:id="rId54"/>
    <p:sldId id="309" r:id="rId55"/>
    <p:sldId id="310" r:id="rId56"/>
    <p:sldId id="311" r:id="rId57"/>
    <p:sldId id="312" r:id="rId58"/>
    <p:sldId id="313" r:id="rId59"/>
    <p:sldId id="314" r:id="rId60"/>
    <p:sldId id="315" r:id="rId61"/>
    <p:sldId id="316" r:id="rId62"/>
    <p:sldId id="317" r:id="rId63"/>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4995" autoAdjust="0"/>
    <p:restoredTop sz="94660"/>
  </p:normalViewPr>
  <p:slideViewPr>
    <p:cSldViewPr snapToGrid="0">
      <p:cViewPr varScale="1">
        <p:scale>
          <a:sx n="84" d="100"/>
          <a:sy n="84" d="100"/>
        </p:scale>
        <p:origin x="658" y="86"/>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slide" Target="slides/slide54.xml"/><Relationship Id="rId63" Type="http://schemas.openxmlformats.org/officeDocument/2006/relationships/slide" Target="slides/slide62.xml"/><Relationship Id="rId68" Type="http://schemas.openxmlformats.org/officeDocument/2006/relationships/tableStyles" Target="tableStyle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slide" Target="slides/slide57.xml"/><Relationship Id="rId66" Type="http://schemas.openxmlformats.org/officeDocument/2006/relationships/viewProps" Target="viewProps.xml"/><Relationship Id="rId5" Type="http://schemas.openxmlformats.org/officeDocument/2006/relationships/slide" Target="slides/slide4.xml"/><Relationship Id="rId61" Type="http://schemas.openxmlformats.org/officeDocument/2006/relationships/slide" Target="slides/slide60.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notesMaster" Target="notesMasters/notesMaster1.xml"/><Relationship Id="rId8" Type="http://schemas.openxmlformats.org/officeDocument/2006/relationships/slide" Target="slides/slide7.xml"/><Relationship Id="rId51" Type="http://schemas.openxmlformats.org/officeDocument/2006/relationships/slide" Target="slides/slide50.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theme" Target="theme/theme1.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4A2E5D5B-4CE0-4E6F-84BE-A53E645E58F0}" type="datetimeFigureOut">
              <a:rPr lang="en-IN" smtClean="0"/>
              <a:t>10-11-2025</a:t>
            </a:fld>
            <a:endParaRPr lang="en-IN"/>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0095DFFD-6521-4702-A42E-0D1B203886E9}" type="slidenum">
              <a:rPr lang="en-IN" smtClean="0"/>
              <a:t>‹#›</a:t>
            </a:fld>
            <a:endParaRPr lang="en-IN"/>
          </a:p>
        </p:txBody>
      </p:sp>
    </p:spTree>
    <p:extLst>
      <p:ext uri="{BB962C8B-B14F-4D97-AF65-F5344CB8AC3E}">
        <p14:creationId xmlns:p14="http://schemas.microsoft.com/office/powerpoint/2010/main" val="87098353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grpSp>
        <p:nvGrpSpPr>
          <p:cNvPr id="16" name="Group 15"/>
          <p:cNvGrpSpPr/>
          <p:nvPr/>
        </p:nvGrpSpPr>
        <p:grpSpPr>
          <a:xfrm>
            <a:off x="0" y="-8467"/>
            <a:ext cx="12192000" cy="6866467"/>
            <a:chOff x="0" y="-8467"/>
            <a:chExt cx="12192000" cy="6866467"/>
          </a:xfrm>
        </p:grpSpPr>
        <p:sp>
          <p:nvSpPr>
            <p:cNvPr id="15" name="Freeform 14"/>
            <p:cNvSpPr/>
            <p:nvPr/>
          </p:nvSpPr>
          <p:spPr>
            <a:xfrm>
              <a:off x="0" y="-7862"/>
              <a:ext cx="863600" cy="5698067"/>
            </a:xfrm>
            <a:custGeom>
              <a:avLst/>
              <a:gdLst/>
              <a:ahLst/>
              <a:cxnLst/>
              <a:rect l="l" t="t" r="r" b="b"/>
              <a:pathLst>
                <a:path w="863600" h="5698067">
                  <a:moveTo>
                    <a:pt x="0" y="8467"/>
                  </a:moveTo>
                  <a:lnTo>
                    <a:pt x="863600" y="0"/>
                  </a:lnTo>
                  <a:lnTo>
                    <a:pt x="863600" y="16934"/>
                  </a:lnTo>
                  <a:lnTo>
                    <a:pt x="0" y="5698067"/>
                  </a:lnTo>
                  <a:lnTo>
                    <a:pt x="0" y="8467"/>
                  </a:lnTo>
                  <a:close/>
                </a:path>
              </a:pathLst>
            </a:custGeom>
            <a:solidFill>
              <a:schemeClr val="accent1">
                <a:alpha val="70000"/>
              </a:schemeClr>
            </a:solidFill>
            <a:ln>
              <a:noFill/>
            </a:ln>
            <a:effectLst/>
          </p:spPr>
          <p:style>
            <a:lnRef idx="1">
              <a:schemeClr val="accent1"/>
            </a:lnRef>
            <a:fillRef idx="3">
              <a:schemeClr val="accent1"/>
            </a:fillRef>
            <a:effectRef idx="2">
              <a:schemeClr val="accent1"/>
            </a:effectRef>
            <a:fontRef idx="minor">
              <a:schemeClr val="lt1"/>
            </a:fontRef>
          </p:style>
        </p:sp>
        <p:cxnSp>
          <p:nvCxnSpPr>
            <p:cNvPr id="19" name="Straight Connector 18"/>
            <p:cNvCxnSpPr/>
            <p:nvPr/>
          </p:nvCxnSpPr>
          <p:spPr>
            <a:xfrm>
              <a:off x="9371012" y="0"/>
              <a:ext cx="1219200" cy="6858000"/>
            </a:xfrm>
            <a:prstGeom prst="line">
              <a:avLst/>
            </a:prstGeom>
            <a:ln w="9525">
              <a:solidFill>
                <a:schemeClr val="accent1">
                  <a:alpha val="70000"/>
                </a:schemeClr>
              </a:solidFill>
            </a:ln>
          </p:spPr>
          <p:style>
            <a:lnRef idx="2">
              <a:schemeClr val="accent1"/>
            </a:lnRef>
            <a:fillRef idx="0">
              <a:schemeClr val="accent1"/>
            </a:fillRef>
            <a:effectRef idx="1">
              <a:schemeClr val="accent1"/>
            </a:effectRef>
            <a:fontRef idx="minor">
              <a:schemeClr val="tx1"/>
            </a:fontRef>
          </p:style>
        </p:cxnSp>
        <p:cxnSp>
          <p:nvCxnSpPr>
            <p:cNvPr id="20" name="Straight Connector 19"/>
            <p:cNvCxnSpPr/>
            <p:nvPr/>
          </p:nvCxnSpPr>
          <p:spPr>
            <a:xfrm flipH="1">
              <a:off x="7425267" y="3681413"/>
              <a:ext cx="4763558" cy="3176587"/>
            </a:xfrm>
            <a:prstGeom prst="line">
              <a:avLst/>
            </a:prstGeom>
            <a:ln w="9525">
              <a:solidFill>
                <a:schemeClr val="accent1">
                  <a:alpha val="70000"/>
                </a:schemeClr>
              </a:solidFill>
            </a:ln>
          </p:spPr>
          <p:style>
            <a:lnRef idx="2">
              <a:schemeClr val="accent1"/>
            </a:lnRef>
            <a:fillRef idx="0">
              <a:schemeClr val="accent1"/>
            </a:fillRef>
            <a:effectRef idx="1">
              <a:schemeClr val="accent1"/>
            </a:effectRef>
            <a:fontRef idx="minor">
              <a:schemeClr val="tx1"/>
            </a:fontRef>
          </p:style>
        </p:cxnSp>
        <p:sp>
          <p:nvSpPr>
            <p:cNvPr id="21" name="Rectangle 23"/>
            <p:cNvSpPr/>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6000"/>
              </a:schemeClr>
            </a:solidFill>
            <a:ln>
              <a:noFill/>
            </a:ln>
            <a:effectLst/>
          </p:spPr>
          <p:style>
            <a:lnRef idx="1">
              <a:schemeClr val="accent1"/>
            </a:lnRef>
            <a:fillRef idx="3">
              <a:schemeClr val="accent1"/>
            </a:fillRef>
            <a:effectRef idx="2">
              <a:schemeClr val="accent1"/>
            </a:effectRef>
            <a:fontRef idx="minor">
              <a:schemeClr val="lt1"/>
            </a:fontRef>
          </p:style>
        </p:sp>
        <p:sp>
          <p:nvSpPr>
            <p:cNvPr id="22" name="Rectangle 25"/>
            <p:cNvSpPr/>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3" name="Isosceles Triangle 22"/>
            <p:cNvSpPr/>
            <p:nvPr/>
          </p:nvSpPr>
          <p:spPr>
            <a:xfrm>
              <a:off x="8932333" y="3048000"/>
              <a:ext cx="3259667" cy="3810000"/>
            </a:xfrm>
            <a:prstGeom prst="triangle">
              <a:avLst>
                <a:gd name="adj" fmla="val 100000"/>
              </a:avLst>
            </a:prstGeom>
            <a:solidFill>
              <a:schemeClr val="accent1">
                <a:lumMod val="75000"/>
                <a:alpha val="66000"/>
              </a:schemeClr>
            </a:solidFill>
            <a:ln>
              <a:noFill/>
            </a:ln>
            <a:effectLst/>
          </p:spPr>
          <p:style>
            <a:lnRef idx="1">
              <a:schemeClr val="accent1"/>
            </a:lnRef>
            <a:fillRef idx="3">
              <a:schemeClr val="accent1"/>
            </a:fillRef>
            <a:effectRef idx="2">
              <a:schemeClr val="accent1"/>
            </a:effectRef>
            <a:fontRef idx="minor">
              <a:schemeClr val="lt1"/>
            </a:fontRef>
          </p:style>
        </p:sp>
        <p:sp>
          <p:nvSpPr>
            <p:cNvPr id="24" name="Rectangle 27"/>
            <p:cNvSpPr/>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1">
                <a:lumMod val="75000"/>
                <a:alpha val="5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5" name="Rectangle 28"/>
            <p:cNvSpPr/>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2">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6" name="Rectangle 29"/>
            <p:cNvSpPr/>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2">
                <a:lumMod val="75000"/>
                <a:alpha val="8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7" name="Isosceles Triangle 26"/>
            <p:cNvSpPr/>
            <p:nvPr/>
          </p:nvSpPr>
          <p:spPr>
            <a:xfrm>
              <a:off x="10371666" y="3589867"/>
              <a:ext cx="1817159" cy="3268133"/>
            </a:xfrm>
            <a:prstGeom prst="triangle">
              <a:avLst>
                <a:gd name="adj" fmla="val 100000"/>
              </a:avLst>
            </a:prstGeom>
            <a:solidFill>
              <a:schemeClr val="accent1">
                <a:lumMod val="75000"/>
                <a:alpha val="66000"/>
              </a:schemeClr>
            </a:solidFill>
            <a:ln>
              <a:noFill/>
            </a:ln>
            <a:effectLst/>
          </p:spPr>
          <p:style>
            <a:lnRef idx="1">
              <a:schemeClr val="accent1"/>
            </a:lnRef>
            <a:fillRef idx="3">
              <a:schemeClr val="accent1"/>
            </a:fillRef>
            <a:effectRef idx="2">
              <a:schemeClr val="accent1"/>
            </a:effectRef>
            <a:fontRef idx="minor">
              <a:schemeClr val="lt1"/>
            </a:fontRef>
          </p:style>
        </p:sp>
      </p:grpSp>
      <p:sp>
        <p:nvSpPr>
          <p:cNvPr id="2" name="Title 1"/>
          <p:cNvSpPr>
            <a:spLocks noGrp="1"/>
          </p:cNvSpPr>
          <p:nvPr>
            <p:ph type="ctrTitle"/>
          </p:nvPr>
        </p:nvSpPr>
        <p:spPr>
          <a:xfrm>
            <a:off x="1507067" y="2404534"/>
            <a:ext cx="7766936" cy="1646302"/>
          </a:xfrm>
        </p:spPr>
        <p:txBody>
          <a:bodyPr anchor="b">
            <a:noAutofit/>
          </a:bodyPr>
          <a:lstStyle>
            <a:lvl1pPr algn="r">
              <a:defRPr sz="5400">
                <a:solidFill>
                  <a:schemeClr val="accent1"/>
                </a:solidFill>
              </a:defRPr>
            </a:lvl1pPr>
          </a:lstStyle>
          <a:p>
            <a:r>
              <a:rPr lang="en-US"/>
              <a:t>Click to edit Master title style</a:t>
            </a:r>
            <a:endParaRPr lang="en-US" dirty="0"/>
          </a:p>
        </p:txBody>
      </p:sp>
      <p:sp>
        <p:nvSpPr>
          <p:cNvPr id="3" name="Subtitle 2"/>
          <p:cNvSpPr>
            <a:spLocks noGrp="1"/>
          </p:cNvSpPr>
          <p:nvPr>
            <p:ph type="subTitle" idx="1"/>
          </p:nvPr>
        </p:nvSpPr>
        <p:spPr>
          <a:xfrm>
            <a:off x="1507067" y="4050833"/>
            <a:ext cx="7766936" cy="1096899"/>
          </a:xfrm>
        </p:spPr>
        <p:txBody>
          <a:bodyPr anchor="t"/>
          <a:lstStyle>
            <a:lvl1pPr marL="0" indent="0" algn="r">
              <a:buNone/>
              <a:defRPr>
                <a:solidFill>
                  <a:schemeClr val="tx1">
                    <a:lumMod val="50000"/>
                    <a:lumOff val="50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dirty="0"/>
              <a:pPr/>
              <a:t>11/10/2025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42A54C80-263E-416B-A8E0-580EDEADCBDC}" type="datetimeFigureOut">
              <a:rPr lang="en-US" dirty="0"/>
              <a:t>11/10/2025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519954A3-9DFD-4C44-94BA-B95130A3BA1C}" type="slidenum">
              <a:rPr lang="en-US" dirty="0"/>
              <a:t>‹#›</a:t>
            </a:fld>
            <a:endParaRPr lang="en-US"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677335" y="2700867"/>
            <a:ext cx="8596668" cy="1826581"/>
          </a:xfrm>
        </p:spPr>
        <p:txBody>
          <a:bodyPr anchor="b"/>
          <a:lstStyle>
            <a:lvl1pPr algn="l">
              <a:defRPr sz="4000" b="0" cap="none"/>
            </a:lvl1pPr>
          </a:lstStyle>
          <a:p>
            <a:r>
              <a:rPr lang="en-US"/>
              <a:t>Click to edit Master title style</a:t>
            </a:r>
            <a:endParaRPr lang="en-US" dirty="0"/>
          </a:p>
        </p:txBody>
      </p:sp>
      <p:sp>
        <p:nvSpPr>
          <p:cNvPr id="3" name="Text Placeholder 2"/>
          <p:cNvSpPr>
            <a:spLocks noGrp="1"/>
          </p:cNvSpPr>
          <p:nvPr>
            <p:ph type="body" idx="1"/>
          </p:nvPr>
        </p:nvSpPr>
        <p:spPr>
          <a:xfrm>
            <a:off x="677335" y="4527448"/>
            <a:ext cx="8596668" cy="860400"/>
          </a:xfrm>
        </p:spPr>
        <p:txBody>
          <a:bodyPr anchor="t"/>
          <a:lstStyle>
            <a:lvl1pPr marL="0" indent="0" algn="l">
              <a:buNone/>
              <a:defRPr sz="20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dirty="0"/>
              <a:pPr/>
              <a:t>11/10/2025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677334" y="2160589"/>
            <a:ext cx="4184035" cy="388077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5089970" y="2160589"/>
            <a:ext cx="4184034" cy="388077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42A54C80-263E-416B-A8E0-580EDEADCBDC}" type="datetimeFigureOut">
              <a:rPr lang="en-US" dirty="0"/>
              <a:t>11/10/2025</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519954A3-9DFD-4C44-94BA-B95130A3BA1C}" type="slidenum">
              <a:rPr lang="en-US" dirty="0"/>
              <a:t>‹#›</a:t>
            </a:fld>
            <a:endParaRPr lang="en-US" dirty="0"/>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endParaRPr lang="en-US" dirty="0"/>
          </a:p>
        </p:txBody>
      </p:sp>
      <p:sp>
        <p:nvSpPr>
          <p:cNvPr id="3" name="Text Placeholder 2"/>
          <p:cNvSpPr>
            <a:spLocks noGrp="1"/>
          </p:cNvSpPr>
          <p:nvPr>
            <p:ph type="body" idx="1"/>
          </p:nvPr>
        </p:nvSpPr>
        <p:spPr>
          <a:xfrm>
            <a:off x="675745" y="2160983"/>
            <a:ext cx="4185623"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675745" y="2737245"/>
            <a:ext cx="4185623" cy="330411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5088383" y="2160983"/>
            <a:ext cx="4185618"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5088384" y="2737245"/>
            <a:ext cx="4185617" cy="330411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B61BEF0D-F0BB-DE4B-95CE-6DB70DBA9567}" type="datetimeFigureOut">
              <a:rPr lang="en-US" dirty="0"/>
              <a:pPr/>
              <a:t>11/10/2025</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677334" y="609600"/>
            <a:ext cx="8596668" cy="1320800"/>
          </a:xfrm>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B61BEF0D-F0BB-DE4B-95CE-6DB70DBA9567}" type="datetimeFigureOut">
              <a:rPr lang="en-US" dirty="0"/>
              <a:pPr/>
              <a:t>11/10/2025</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B61BEF0D-F0BB-DE4B-95CE-6DB70DBA9567}" type="datetimeFigureOut">
              <a:rPr lang="en-US" dirty="0"/>
              <a:pPr/>
              <a:t>11/10/2025</a:t>
            </a:fld>
            <a:endParaRPr lang="en-US" dirty="0"/>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4" y="1498604"/>
            <a:ext cx="3854528" cy="1278466"/>
          </a:xfrm>
        </p:spPr>
        <p:txBody>
          <a:bodyPr anchor="b">
            <a:normAutofit/>
          </a:bodyPr>
          <a:lstStyle>
            <a:lvl1pPr>
              <a:defRPr sz="2000"/>
            </a:lvl1pPr>
          </a:lstStyle>
          <a:p>
            <a:r>
              <a:rPr lang="en-US"/>
              <a:t>Click to edit Master title style</a:t>
            </a:r>
            <a:endParaRPr lang="en-US" dirty="0"/>
          </a:p>
        </p:txBody>
      </p:sp>
      <p:sp>
        <p:nvSpPr>
          <p:cNvPr id="3" name="Content Placeholder 2"/>
          <p:cNvSpPr>
            <a:spLocks noGrp="1"/>
          </p:cNvSpPr>
          <p:nvPr>
            <p:ph idx="1"/>
          </p:nvPr>
        </p:nvSpPr>
        <p:spPr>
          <a:xfrm>
            <a:off x="4760461" y="514924"/>
            <a:ext cx="4513541" cy="552643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677334" y="2777069"/>
            <a:ext cx="3854528" cy="2584449"/>
          </a:xfrm>
        </p:spPr>
        <p:txBody>
          <a:bodyPr>
            <a:normAutofit/>
          </a:bodyPr>
          <a:lstStyle>
            <a:lvl1pPr marL="0" indent="0">
              <a:buNone/>
              <a:defRPr sz="1400"/>
            </a:lvl1pPr>
            <a:lvl2pPr marL="457063" indent="0">
              <a:buNone/>
              <a:defRPr sz="1400"/>
            </a:lvl2pPr>
            <a:lvl3pPr marL="914126" indent="0">
              <a:buNone/>
              <a:defRPr sz="1200"/>
            </a:lvl3pPr>
            <a:lvl4pPr marL="1371189" indent="0">
              <a:buNone/>
              <a:defRPr sz="1000"/>
            </a:lvl4pPr>
            <a:lvl5pPr marL="1828251" indent="0">
              <a:buNone/>
              <a:defRPr sz="1000"/>
            </a:lvl5pPr>
            <a:lvl6pPr marL="2285314" indent="0">
              <a:buNone/>
              <a:defRPr sz="1000"/>
            </a:lvl6pPr>
            <a:lvl7pPr marL="2742377" indent="0">
              <a:buNone/>
              <a:defRPr sz="1000"/>
            </a:lvl7pPr>
            <a:lvl8pPr marL="3199440" indent="0">
              <a:buNone/>
              <a:defRPr sz="1000"/>
            </a:lvl8pPr>
            <a:lvl9pPr marL="3656503"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42A54C80-263E-416B-A8E0-580EDEADCBDC}" type="datetimeFigureOut">
              <a:rPr lang="en-US" dirty="0"/>
              <a:t>11/10/2025</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519954A3-9DFD-4C44-94BA-B95130A3BA1C}" type="slidenum">
              <a:rPr lang="en-US" dirty="0"/>
              <a:t>‹#›</a:t>
            </a:fld>
            <a:endParaRPr lang="en-US" dirty="0"/>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4" y="4800600"/>
            <a:ext cx="8596667" cy="566738"/>
          </a:xfrm>
        </p:spPr>
        <p:txBody>
          <a:bodyPr anchor="b">
            <a:normAutofit/>
          </a:bodyPr>
          <a:lstStyle>
            <a:lvl1pPr algn="l">
              <a:defRPr sz="24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677334" y="609600"/>
            <a:ext cx="8596668" cy="3845718"/>
          </a:xfrm>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677334" y="5367338"/>
            <a:ext cx="8596667" cy="674024"/>
          </a:xfrm>
        </p:spPr>
        <p:txBody>
          <a:bodyPr>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D57F1E4F-1CFF-5643-939E-217C01CDF565}" type="slidenum">
              <a:rPr lang="en-US" dirty="0"/>
              <a:pPr/>
              <a:t>‹#›</a:t>
            </a:fld>
            <a:endParaRPr lang="en-US" dirty="0"/>
          </a:p>
        </p:txBody>
      </p:sp>
      <p:sp>
        <p:nvSpPr>
          <p:cNvPr id="5" name="Date Placeholder 4"/>
          <p:cNvSpPr>
            <a:spLocks noGrp="1"/>
          </p:cNvSpPr>
          <p:nvPr>
            <p:ph type="dt" sz="half" idx="10"/>
          </p:nvPr>
        </p:nvSpPr>
        <p:spPr/>
        <p:txBody>
          <a:bodyPr/>
          <a:lstStyle/>
          <a:p>
            <a:fld id="{B61BEF0D-F0BB-DE4B-95CE-6DB70DBA9567}" type="datetimeFigureOut">
              <a:rPr lang="en-US" dirty="0"/>
              <a:pPr/>
              <a:t>11/10/2025</a:t>
            </a:fld>
            <a:endParaRPr lang="en-US" dirty="0"/>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5" y="609600"/>
            <a:ext cx="8596668" cy="3403600"/>
          </a:xfrm>
        </p:spPr>
        <p:txBody>
          <a:bodyPr anchor="ctr">
            <a:normAutofit/>
          </a:bodyPr>
          <a:lstStyle>
            <a:lvl1pPr algn="l">
              <a:defRPr sz="4400" b="0" cap="none"/>
            </a:lvl1pPr>
          </a:lstStyle>
          <a:p>
            <a:r>
              <a:rPr lang="en-US"/>
              <a:t>Click to edit Master title style</a:t>
            </a:r>
            <a:endParaRPr lang="en-US" dirty="0"/>
          </a:p>
        </p:txBody>
      </p:sp>
      <p:sp>
        <p:nvSpPr>
          <p:cNvPr id="3" name="Text Placeholder 2"/>
          <p:cNvSpPr>
            <a:spLocks noGrp="1"/>
          </p:cNvSpPr>
          <p:nvPr>
            <p:ph type="body" idx="1"/>
          </p:nvPr>
        </p:nvSpPr>
        <p:spPr>
          <a:xfrm>
            <a:off x="677335" y="4470400"/>
            <a:ext cx="8596668" cy="1570962"/>
          </a:xfrm>
        </p:spPr>
        <p:txBody>
          <a:bodyPr anchor="ctr">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dirty="0"/>
              <a:pPr/>
              <a:t>11/10/2025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931334" y="609600"/>
            <a:ext cx="8094134"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1366139" y="3632200"/>
            <a:ext cx="7224524" cy="381000"/>
          </a:xfrm>
        </p:spPr>
        <p:txBody>
          <a:bodyPr anchor="ctr">
            <a:noAutofit/>
          </a:bodyPr>
          <a:lstStyle>
            <a:lvl1pPr marL="0" indent="0">
              <a:buFontTx/>
              <a:buNone/>
              <a:defRPr sz="1600">
                <a:solidFill>
                  <a:schemeClr val="tx1">
                    <a:lumMod val="50000"/>
                    <a:lumOff val="50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77335" y="4470400"/>
            <a:ext cx="8596668" cy="1570962"/>
          </a:xfrm>
        </p:spPr>
        <p:txBody>
          <a:bodyPr anchor="ctr">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dirty="0"/>
              <a:pPr/>
              <a:t>11/10/2025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
        <p:nvSpPr>
          <p:cNvPr id="24" name="TextBox 23"/>
          <p:cNvSpPr txBox="1"/>
          <p:nvPr/>
        </p:nvSpPr>
        <p:spPr>
          <a:xfrm>
            <a:off x="541870" y="790378"/>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
        <p:nvSpPr>
          <p:cNvPr id="25" name="TextBox 24"/>
          <p:cNvSpPr txBox="1"/>
          <p:nvPr/>
        </p:nvSpPr>
        <p:spPr>
          <a:xfrm>
            <a:off x="8893011" y="288655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677335" y="1931988"/>
            <a:ext cx="8596668" cy="2595460"/>
          </a:xfrm>
        </p:spPr>
        <p:txBody>
          <a:bodyPr anchor="b">
            <a:normAutofit/>
          </a:bodyPr>
          <a:lstStyle>
            <a:lvl1pPr algn="l">
              <a:defRPr sz="4400" b="0" cap="none"/>
            </a:lvl1pPr>
          </a:lstStyle>
          <a:p>
            <a:r>
              <a:rPr lang="en-US"/>
              <a:t>Click to edit Master title style</a:t>
            </a:r>
            <a:endParaRPr lang="en-US" dirty="0"/>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dirty="0"/>
              <a:pPr/>
              <a:t>11/10/2025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Quote Name Card">
    <p:spTree>
      <p:nvGrpSpPr>
        <p:cNvPr id="1" name=""/>
        <p:cNvGrpSpPr/>
        <p:nvPr/>
      </p:nvGrpSpPr>
      <p:grpSpPr>
        <a:xfrm>
          <a:off x="0" y="0"/>
          <a:ext cx="0" cy="0"/>
          <a:chOff x="0" y="0"/>
          <a:chExt cx="0" cy="0"/>
        </a:xfrm>
      </p:grpSpPr>
      <p:sp>
        <p:nvSpPr>
          <p:cNvPr id="2" name="Title 1"/>
          <p:cNvSpPr>
            <a:spLocks noGrp="1"/>
          </p:cNvSpPr>
          <p:nvPr>
            <p:ph type="title"/>
          </p:nvPr>
        </p:nvSpPr>
        <p:spPr>
          <a:xfrm>
            <a:off x="931334" y="609600"/>
            <a:ext cx="8094134"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677332" y="4013200"/>
            <a:ext cx="8596669" cy="514248"/>
          </a:xfrm>
        </p:spPr>
        <p:txBody>
          <a:bodyPr anchor="b">
            <a:noAutofit/>
          </a:bodyPr>
          <a:lstStyle>
            <a:lvl1pPr marL="0" indent="0">
              <a:buFontTx/>
              <a:buNone/>
              <a:defRPr sz="2400">
                <a:solidFill>
                  <a:schemeClr val="tx1">
                    <a:lumMod val="75000"/>
                    <a:lumOff val="25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dirty="0"/>
              <a:pPr/>
              <a:t>11/10/2025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
        <p:nvSpPr>
          <p:cNvPr id="24" name="TextBox 23"/>
          <p:cNvSpPr txBox="1"/>
          <p:nvPr/>
        </p:nvSpPr>
        <p:spPr>
          <a:xfrm>
            <a:off x="541870" y="790378"/>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
        <p:nvSpPr>
          <p:cNvPr id="25" name="TextBox 24"/>
          <p:cNvSpPr txBox="1"/>
          <p:nvPr/>
        </p:nvSpPr>
        <p:spPr>
          <a:xfrm>
            <a:off x="8893011" y="288655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True or False">
    <p:spTree>
      <p:nvGrpSpPr>
        <p:cNvPr id="1" name=""/>
        <p:cNvGrpSpPr/>
        <p:nvPr/>
      </p:nvGrpSpPr>
      <p:grpSpPr>
        <a:xfrm>
          <a:off x="0" y="0"/>
          <a:ext cx="0" cy="0"/>
          <a:chOff x="0" y="0"/>
          <a:chExt cx="0" cy="0"/>
        </a:xfrm>
      </p:grpSpPr>
      <p:sp>
        <p:nvSpPr>
          <p:cNvPr id="2" name="Title 1"/>
          <p:cNvSpPr>
            <a:spLocks noGrp="1"/>
          </p:cNvSpPr>
          <p:nvPr>
            <p:ph type="title"/>
          </p:nvPr>
        </p:nvSpPr>
        <p:spPr>
          <a:xfrm>
            <a:off x="685799" y="609600"/>
            <a:ext cx="8588203"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677332" y="4013200"/>
            <a:ext cx="8596669" cy="514248"/>
          </a:xfrm>
        </p:spPr>
        <p:txBody>
          <a:bodyPr anchor="b">
            <a:noAutofit/>
          </a:bodyPr>
          <a:lstStyle>
            <a:lvl1pPr marL="0" indent="0">
              <a:buFontTx/>
              <a:buNone/>
              <a:defRPr sz="2400">
                <a:solidFill>
                  <a:schemeClr val="accent1"/>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dirty="0"/>
              <a:pPr/>
              <a:t>11/10/2025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55C6B4A9-1611-4792-9094-5F34BCA07E0B}" type="datetimeFigureOut">
              <a:rPr lang="en-US" dirty="0"/>
              <a:t>11/10/2025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89333C77-0158-454C-844F-B7AB9BD7DAD4}" type="slidenum">
              <a:rPr lang="en-US" dirty="0"/>
              <a:t>‹#›</a:t>
            </a:fld>
            <a:endParaRPr lang="en-US" dirty="0"/>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7967673" y="609599"/>
            <a:ext cx="1304743" cy="5251451"/>
          </a:xfrm>
        </p:spPr>
        <p:txBody>
          <a:bodyPr vert="eaVert" anchor="ctr"/>
          <a:lstStyle/>
          <a:p>
            <a:r>
              <a:rPr lang="en-US"/>
              <a:t>Click to edit Master title style</a:t>
            </a:r>
            <a:endParaRPr lang="en-US" dirty="0"/>
          </a:p>
        </p:txBody>
      </p:sp>
      <p:sp>
        <p:nvSpPr>
          <p:cNvPr id="3" name="Vertical Text Placeholder 2"/>
          <p:cNvSpPr>
            <a:spLocks noGrp="1"/>
          </p:cNvSpPr>
          <p:nvPr>
            <p:ph type="body" orient="vert" idx="1"/>
          </p:nvPr>
        </p:nvSpPr>
        <p:spPr>
          <a:xfrm>
            <a:off x="677335" y="609600"/>
            <a:ext cx="7060150" cy="5251450"/>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dirty="0"/>
              <a:pPr/>
              <a:t>11/10/2025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theme" Target="../theme/theme1.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grpSp>
        <p:nvGrpSpPr>
          <p:cNvPr id="44" name="Group 43"/>
          <p:cNvGrpSpPr/>
          <p:nvPr/>
        </p:nvGrpSpPr>
        <p:grpSpPr>
          <a:xfrm>
            <a:off x="0" y="-8467"/>
            <a:ext cx="12192000" cy="6866467"/>
            <a:chOff x="0" y="-8467"/>
            <a:chExt cx="12192000" cy="6866467"/>
          </a:xfrm>
        </p:grpSpPr>
        <p:cxnSp>
          <p:nvCxnSpPr>
            <p:cNvPr id="20" name="Straight Connector 19"/>
            <p:cNvCxnSpPr/>
            <p:nvPr/>
          </p:nvCxnSpPr>
          <p:spPr>
            <a:xfrm>
              <a:off x="9371012" y="0"/>
              <a:ext cx="1219200" cy="6858000"/>
            </a:xfrm>
            <a:prstGeom prst="line">
              <a:avLst/>
            </a:prstGeom>
            <a:ln w="9525">
              <a:solidFill>
                <a:schemeClr val="accent1">
                  <a:alpha val="70000"/>
                </a:schemeClr>
              </a:solidFill>
            </a:ln>
          </p:spPr>
          <p:style>
            <a:lnRef idx="2">
              <a:schemeClr val="accent1"/>
            </a:lnRef>
            <a:fillRef idx="0">
              <a:schemeClr val="accent1"/>
            </a:fillRef>
            <a:effectRef idx="1">
              <a:schemeClr val="accent1"/>
            </a:effectRef>
            <a:fontRef idx="minor">
              <a:schemeClr val="tx1"/>
            </a:fontRef>
          </p:style>
        </p:cxnSp>
        <p:cxnSp>
          <p:nvCxnSpPr>
            <p:cNvPr id="21" name="Straight Connector 20"/>
            <p:cNvCxnSpPr/>
            <p:nvPr/>
          </p:nvCxnSpPr>
          <p:spPr>
            <a:xfrm flipH="1">
              <a:off x="7425267" y="3681413"/>
              <a:ext cx="4763558" cy="3176587"/>
            </a:xfrm>
            <a:prstGeom prst="line">
              <a:avLst/>
            </a:prstGeom>
            <a:ln w="9525">
              <a:solidFill>
                <a:schemeClr val="accent1">
                  <a:alpha val="70000"/>
                </a:schemeClr>
              </a:solidFill>
            </a:ln>
          </p:spPr>
          <p:style>
            <a:lnRef idx="2">
              <a:schemeClr val="accent1"/>
            </a:lnRef>
            <a:fillRef idx="0">
              <a:schemeClr val="accent1"/>
            </a:fillRef>
            <a:effectRef idx="1">
              <a:schemeClr val="accent1"/>
            </a:effectRef>
            <a:fontRef idx="minor">
              <a:schemeClr val="tx1"/>
            </a:fontRef>
          </p:style>
        </p:cxnSp>
        <p:sp>
          <p:nvSpPr>
            <p:cNvPr id="22" name="Rectangle 23"/>
            <p:cNvSpPr/>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6000"/>
              </a:schemeClr>
            </a:solidFill>
            <a:ln>
              <a:noFill/>
            </a:ln>
            <a:effectLst/>
          </p:spPr>
          <p:style>
            <a:lnRef idx="1">
              <a:schemeClr val="accent1"/>
            </a:lnRef>
            <a:fillRef idx="3">
              <a:schemeClr val="accent1"/>
            </a:fillRef>
            <a:effectRef idx="2">
              <a:schemeClr val="accent1"/>
            </a:effectRef>
            <a:fontRef idx="minor">
              <a:schemeClr val="lt1"/>
            </a:fontRef>
          </p:style>
        </p:sp>
        <p:sp>
          <p:nvSpPr>
            <p:cNvPr id="23" name="Rectangle 25"/>
            <p:cNvSpPr/>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4" name="Isosceles Triangle 23"/>
            <p:cNvSpPr/>
            <p:nvPr/>
          </p:nvSpPr>
          <p:spPr>
            <a:xfrm>
              <a:off x="8932333" y="3048000"/>
              <a:ext cx="3259667" cy="3810000"/>
            </a:xfrm>
            <a:prstGeom prst="triangle">
              <a:avLst>
                <a:gd name="adj" fmla="val 100000"/>
              </a:avLst>
            </a:prstGeom>
            <a:solidFill>
              <a:schemeClr val="accent1">
                <a:lumMod val="75000"/>
                <a:alpha val="66000"/>
              </a:schemeClr>
            </a:solidFill>
            <a:ln>
              <a:noFill/>
            </a:ln>
            <a:effectLst/>
          </p:spPr>
          <p:style>
            <a:lnRef idx="1">
              <a:schemeClr val="accent1"/>
            </a:lnRef>
            <a:fillRef idx="3">
              <a:schemeClr val="accent1"/>
            </a:fillRef>
            <a:effectRef idx="2">
              <a:schemeClr val="accent1"/>
            </a:effectRef>
            <a:fontRef idx="minor">
              <a:schemeClr val="lt1"/>
            </a:fontRef>
          </p:style>
        </p:sp>
        <p:sp>
          <p:nvSpPr>
            <p:cNvPr id="25" name="Rectangle 27"/>
            <p:cNvSpPr/>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1">
                <a:lumMod val="75000"/>
                <a:alpha val="5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6" name="Rectangle 28"/>
            <p:cNvSpPr/>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2">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7" name="Rectangle 29"/>
            <p:cNvSpPr/>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2">
                <a:lumMod val="75000"/>
                <a:alpha val="8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8" name="Isosceles Triangle 27"/>
            <p:cNvSpPr/>
            <p:nvPr/>
          </p:nvSpPr>
          <p:spPr>
            <a:xfrm>
              <a:off x="10371666" y="3589867"/>
              <a:ext cx="1817159" cy="3268133"/>
            </a:xfrm>
            <a:prstGeom prst="triangle">
              <a:avLst>
                <a:gd name="adj" fmla="val 100000"/>
              </a:avLst>
            </a:prstGeom>
            <a:solidFill>
              <a:schemeClr val="accent1">
                <a:lumMod val="75000"/>
                <a:alpha val="66000"/>
              </a:schemeClr>
            </a:solidFill>
            <a:ln>
              <a:noFill/>
            </a:ln>
            <a:effectLst/>
          </p:spPr>
          <p:style>
            <a:lnRef idx="1">
              <a:schemeClr val="accent1"/>
            </a:lnRef>
            <a:fillRef idx="3">
              <a:schemeClr val="accent1"/>
            </a:fillRef>
            <a:effectRef idx="2">
              <a:schemeClr val="accent1"/>
            </a:effectRef>
            <a:fontRef idx="minor">
              <a:schemeClr val="lt1"/>
            </a:fontRef>
          </p:style>
        </p:sp>
        <p:sp>
          <p:nvSpPr>
            <p:cNvPr id="19" name="Isosceles Triangle 18"/>
            <p:cNvSpPr/>
            <p:nvPr/>
          </p:nvSpPr>
          <p:spPr>
            <a:xfrm>
              <a:off x="0" y="4013200"/>
              <a:ext cx="448733" cy="2844800"/>
            </a:xfrm>
            <a:prstGeom prst="triangle">
              <a:avLst>
                <a:gd name="adj" fmla="val 0"/>
              </a:avLst>
            </a:prstGeom>
            <a:solidFill>
              <a:schemeClr val="accent1">
                <a:alpha val="70000"/>
              </a:schemeClr>
            </a:solidFill>
            <a:ln>
              <a:noFill/>
            </a:ln>
            <a:effectLst/>
          </p:spPr>
          <p:style>
            <a:lnRef idx="1">
              <a:schemeClr val="accent1"/>
            </a:lnRef>
            <a:fillRef idx="3">
              <a:schemeClr val="accent1"/>
            </a:fillRef>
            <a:effectRef idx="2">
              <a:schemeClr val="accent1"/>
            </a:effectRef>
            <a:fontRef idx="minor">
              <a:schemeClr val="lt1"/>
            </a:fontRef>
          </p:style>
        </p:sp>
      </p:grpSp>
      <p:sp>
        <p:nvSpPr>
          <p:cNvPr id="2" name="Title Placeholder 1"/>
          <p:cNvSpPr>
            <a:spLocks noGrp="1"/>
          </p:cNvSpPr>
          <p:nvPr>
            <p:ph type="title"/>
          </p:nvPr>
        </p:nvSpPr>
        <p:spPr>
          <a:xfrm>
            <a:off x="677334" y="609600"/>
            <a:ext cx="8596668" cy="1320800"/>
          </a:xfrm>
          <a:prstGeom prst="rect">
            <a:avLst/>
          </a:prstGeom>
        </p:spPr>
        <p:txBody>
          <a:bodyPr vert="horz" lIns="91440" tIns="45720" rIns="91440" bIns="45720" rtlCol="0" anchor="t">
            <a:normAutofit/>
          </a:bodyPr>
          <a:lstStyle/>
          <a:p>
            <a:r>
              <a:rPr lang="en-US"/>
              <a:t>Click to edit Master title style</a:t>
            </a:r>
            <a:endParaRPr lang="en-US" dirty="0"/>
          </a:p>
        </p:txBody>
      </p:sp>
      <p:sp>
        <p:nvSpPr>
          <p:cNvPr id="3" name="Text Placeholder 2"/>
          <p:cNvSpPr>
            <a:spLocks noGrp="1"/>
          </p:cNvSpPr>
          <p:nvPr>
            <p:ph type="body" idx="1"/>
          </p:nvPr>
        </p:nvSpPr>
        <p:spPr>
          <a:xfrm>
            <a:off x="677334" y="2160589"/>
            <a:ext cx="8596668" cy="388077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7205133" y="6041362"/>
            <a:ext cx="911939" cy="365125"/>
          </a:xfrm>
          <a:prstGeom prst="rect">
            <a:avLst/>
          </a:prstGeom>
        </p:spPr>
        <p:txBody>
          <a:bodyPr vert="horz" lIns="91440" tIns="45720" rIns="91440" bIns="45720" rtlCol="0" anchor="ctr"/>
          <a:lstStyle>
            <a:lvl1pPr algn="r">
              <a:defRPr sz="900">
                <a:solidFill>
                  <a:schemeClr val="tx1">
                    <a:tint val="75000"/>
                  </a:schemeClr>
                </a:solidFill>
              </a:defRPr>
            </a:lvl1pPr>
          </a:lstStyle>
          <a:p>
            <a:fld id="{B61BEF0D-F0BB-DE4B-95CE-6DB70DBA9567}" type="datetimeFigureOut">
              <a:rPr lang="en-US" dirty="0"/>
              <a:pPr/>
              <a:t>11/10/2025</a:t>
            </a:fld>
            <a:endParaRPr lang="en-US" dirty="0"/>
          </a:p>
        </p:txBody>
      </p:sp>
      <p:sp>
        <p:nvSpPr>
          <p:cNvPr id="5" name="Footer Placeholder 4"/>
          <p:cNvSpPr>
            <a:spLocks noGrp="1"/>
          </p:cNvSpPr>
          <p:nvPr>
            <p:ph type="ftr" sz="quarter" idx="3"/>
          </p:nvPr>
        </p:nvSpPr>
        <p:spPr>
          <a:xfrm>
            <a:off x="677334" y="6041362"/>
            <a:ext cx="6297612" cy="365125"/>
          </a:xfrm>
          <a:prstGeom prst="rect">
            <a:avLst/>
          </a:prstGeom>
        </p:spPr>
        <p:txBody>
          <a:bodyPr vert="horz" lIns="91440" tIns="45720" rIns="91440" bIns="45720" rtlCol="0" anchor="ctr"/>
          <a:lstStyle>
            <a:lvl1pPr algn="l">
              <a:defRPr sz="900">
                <a:solidFill>
                  <a:schemeClr val="tx1">
                    <a:tint val="75000"/>
                  </a:schemeClr>
                </a:solidFill>
              </a:defRPr>
            </a:lvl1pPr>
          </a:lstStyle>
          <a:p>
            <a:endParaRPr lang="en-US" dirty="0"/>
          </a:p>
        </p:txBody>
      </p:sp>
      <p:sp>
        <p:nvSpPr>
          <p:cNvPr id="6" name="Slide Number Placeholder 5"/>
          <p:cNvSpPr>
            <a:spLocks noGrp="1"/>
          </p:cNvSpPr>
          <p:nvPr>
            <p:ph type="sldNum" sz="quarter" idx="4"/>
          </p:nvPr>
        </p:nvSpPr>
        <p:spPr>
          <a:xfrm>
            <a:off x="8590663" y="6041362"/>
            <a:ext cx="683339" cy="365125"/>
          </a:xfrm>
          <a:prstGeom prst="rect">
            <a:avLst/>
          </a:prstGeom>
        </p:spPr>
        <p:txBody>
          <a:bodyPr vert="horz" lIns="91440" tIns="45720" rIns="91440" bIns="45720" rtlCol="0" anchor="ctr"/>
          <a:lstStyle>
            <a:lvl1pPr algn="r">
              <a:defRPr sz="900">
                <a:solidFill>
                  <a:schemeClr val="accent1"/>
                </a:solidFill>
              </a:defRPr>
            </a:lvl1pPr>
          </a:lstStyle>
          <a:p>
            <a:fld id="{D57F1E4F-1CFF-5643-939E-217C01CDF565}" type="slidenum">
              <a:rPr lang="en-US" dirty="0"/>
              <a:pPr/>
              <a:t>‹#›</a:t>
            </a:fld>
            <a:endParaRPr lang="en-US" dirty="0"/>
          </a:p>
        </p:txBody>
      </p:sp>
    </p:spTree>
  </p:cSld>
  <p:clrMap bg1="lt1" tx1="dk1" bg2="lt2" tx2="dk2" accent1="accent1" accent2="accent2" accent3="accent3" accent4="accent4" accent5="accent5" accent6="accent6" hlink="hlink" folHlink="folHlink"/>
  <p:sldLayoutIdLst>
    <p:sldLayoutId id="2147483649" r:id="rId1"/>
    <p:sldLayoutId id="2147483665" r:id="rId2"/>
    <p:sldLayoutId id="2147483651" r:id="rId3"/>
    <p:sldLayoutId id="2147483666" r:id="rId4"/>
    <p:sldLayoutId id="2147483653" r:id="rId5"/>
    <p:sldLayoutId id="2147483654" r:id="rId6"/>
    <p:sldLayoutId id="2147483655" r:id="rId7"/>
    <p:sldLayoutId id="2147483667" r:id="rId8"/>
    <p:sldLayoutId id="2147483657" r:id="rId9"/>
    <p:sldLayoutId id="2147483660" r:id="rId10"/>
    <p:sldLayoutId id="2147483661" r:id="rId11"/>
    <p:sldLayoutId id="2147483662" r:id="rId12"/>
    <p:sldLayoutId id="2147483663" r:id="rId13"/>
    <p:sldLayoutId id="2147483664" r:id="rId14"/>
    <p:sldLayoutId id="2147483668" r:id="rId15"/>
    <p:sldLayoutId id="2147483659" r:id="rId16"/>
  </p:sldLayoutIdLst>
  <p:txStyles>
    <p:titleStyle>
      <a:lvl1pPr algn="l" defTabSz="457200" rtl="0" eaLnBrk="1" latinLnBrk="0" hangingPunct="1">
        <a:spcBef>
          <a:spcPct val="0"/>
        </a:spcBef>
        <a:buNone/>
        <a:defRPr sz="3600" kern="1200">
          <a:solidFill>
            <a:schemeClr val="accent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342900" algn="l" defTabSz="457200" rtl="0" eaLnBrk="1" latinLnBrk="0" hangingPunct="1">
        <a:spcBef>
          <a:spcPts val="1000"/>
        </a:spcBef>
        <a:spcAft>
          <a:spcPts val="0"/>
        </a:spcAft>
        <a:buClr>
          <a:schemeClr val="accent1"/>
        </a:buClr>
        <a:buSzPct val="80000"/>
        <a:buFont typeface="Wingdings 3" charset="2"/>
        <a:buChar char=""/>
        <a:defRPr sz="180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image" Target="../media/image18.png"/><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image" Target="../media/image20.png"/><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2" Type="http://schemas.openxmlformats.org/officeDocument/2006/relationships/image" Target="../media/image23.png"/><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2" Type="http://schemas.openxmlformats.org/officeDocument/2006/relationships/image" Target="../media/image24.png"/><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image" Target="../media/image25.png"/><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2" Type="http://schemas.openxmlformats.org/officeDocument/2006/relationships/image" Target="../media/image27.png"/><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image" Target="../media/image28.png"/><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2" Type="http://schemas.openxmlformats.org/officeDocument/2006/relationships/image" Target="../media/image30.png"/><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2" Type="http://schemas.openxmlformats.org/officeDocument/2006/relationships/image" Target="../media/image31.png"/><Relationship Id="rId1" Type="http://schemas.openxmlformats.org/officeDocument/2006/relationships/slideLayout" Target="../slideLayouts/slideLayout2.xml"/></Relationships>
</file>

<file path=ppt/slides/_rels/slide61.xml.rels><?xml version="1.0" encoding="UTF-8" standalone="yes"?>
<Relationships xmlns="http://schemas.openxmlformats.org/package/2006/relationships"><Relationship Id="rId3" Type="http://schemas.openxmlformats.org/officeDocument/2006/relationships/image" Target="../media/image33.png"/><Relationship Id="rId2" Type="http://schemas.openxmlformats.org/officeDocument/2006/relationships/image" Target="../media/image32.png"/><Relationship Id="rId1" Type="http://schemas.openxmlformats.org/officeDocument/2006/relationships/slideLayout" Target="../slideLayouts/slideLayout2.xml"/></Relationships>
</file>

<file path=ppt/slides/_rels/slide62.xml.rels><?xml version="1.0" encoding="UTF-8" standalone="yes"?>
<Relationships xmlns="http://schemas.openxmlformats.org/package/2006/relationships"><Relationship Id="rId2" Type="http://schemas.openxmlformats.org/officeDocument/2006/relationships/image" Target="../media/image34.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showMasterSp="0">
  <p:cSld>
    <p:bg>
      <p:bgPr>
        <a:blipFill>
          <a:blip r:embed="rId2"/>
          <a:tile tx="0" ty="0" sx="100000" sy="100000" flip="none" algn="tl"/>
        </a:blipFill>
        <a:effectLst/>
      </p:bgPr>
    </p:bg>
    <p:spTree>
      <p:nvGrpSpPr>
        <p:cNvPr id="1" name=""/>
        <p:cNvGrpSpPr/>
        <p:nvPr/>
      </p:nvGrpSpPr>
      <p:grpSpPr>
        <a:xfrm>
          <a:off x="0" y="0"/>
          <a:ext cx="0" cy="0"/>
          <a:chOff x="0" y="0"/>
          <a:chExt cx="0" cy="0"/>
        </a:xfrm>
      </p:grpSpPr>
      <p:sp>
        <p:nvSpPr>
          <p:cNvPr id="4" name="Title 1">
            <a:extLst>
              <a:ext uri="{FF2B5EF4-FFF2-40B4-BE49-F238E27FC236}">
                <a16:creationId xmlns:a16="http://schemas.microsoft.com/office/drawing/2014/main" id="{50F49590-EE75-9236-6F7F-D55C3155C348}"/>
              </a:ext>
            </a:extLst>
          </p:cNvPr>
          <p:cNvSpPr>
            <a:spLocks noGrp="1"/>
          </p:cNvSpPr>
          <p:nvPr/>
        </p:nvSpPr>
        <p:spPr>
          <a:xfrm>
            <a:off x="1599884" y="391154"/>
            <a:ext cx="1533841" cy="585215"/>
          </a:xfrm>
          <a:prstGeom prst="rect">
            <a:avLst/>
          </a:prstGeom>
        </p:spPr>
        <p:txBody>
          <a:bodyPr vert="horz" lIns="91440" tIns="45720" rIns="91440" bIns="45720" rtlCol="0" anchor="b">
            <a:noAutofit/>
          </a:bodyPr>
          <a:lstStyle>
            <a:lvl1pPr algn="r" defTabSz="457200" rtl="0" eaLnBrk="1" latinLnBrk="0" hangingPunct="1">
              <a:spcBef>
                <a:spcPct val="0"/>
              </a:spcBef>
              <a:buNone/>
              <a:defRPr sz="5400" kern="1200">
                <a:solidFill>
                  <a:schemeClr val="accent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pPr algn="l"/>
            <a:r>
              <a:rPr lang="en-US" sz="3200" b="1" dirty="0">
                <a:solidFill>
                  <a:srgbClr val="C00000"/>
                </a:solidFill>
              </a:rPr>
              <a:t>RDBMS</a:t>
            </a:r>
            <a:endParaRPr lang="en-IN" sz="3200" b="1" dirty="0">
              <a:solidFill>
                <a:srgbClr val="C00000"/>
              </a:solidFill>
            </a:endParaRPr>
          </a:p>
        </p:txBody>
      </p:sp>
      <p:sp>
        <p:nvSpPr>
          <p:cNvPr id="5" name="Subtitle 2">
            <a:extLst>
              <a:ext uri="{FF2B5EF4-FFF2-40B4-BE49-F238E27FC236}">
                <a16:creationId xmlns:a16="http://schemas.microsoft.com/office/drawing/2014/main" id="{9592BC97-ADC0-1CF7-F659-A798E1C38A44}"/>
              </a:ext>
            </a:extLst>
          </p:cNvPr>
          <p:cNvSpPr>
            <a:spLocks noGrp="1"/>
          </p:cNvSpPr>
          <p:nvPr/>
        </p:nvSpPr>
        <p:spPr>
          <a:xfrm>
            <a:off x="3008376" y="503110"/>
            <a:ext cx="1310956" cy="393002"/>
          </a:xfrm>
          <a:prstGeom prst="rect">
            <a:avLst/>
          </a:prstGeom>
        </p:spPr>
        <p:txBody>
          <a:bodyPr vert="horz" lIns="91440" tIns="45720" rIns="91440" bIns="45720" rtlCol="0" anchor="t">
            <a:normAutofit/>
          </a:bodyPr>
          <a:lstStyle>
            <a:lvl1pPr marL="0" indent="0" algn="r" defTabSz="457200" rtl="0" eaLnBrk="1" latinLnBrk="0" hangingPunct="1">
              <a:spcBef>
                <a:spcPts val="1000"/>
              </a:spcBef>
              <a:spcAft>
                <a:spcPts val="0"/>
              </a:spcAft>
              <a:buClr>
                <a:schemeClr val="accent1"/>
              </a:buClr>
              <a:buSzPct val="80000"/>
              <a:buFont typeface="Wingdings 3" charset="2"/>
              <a:buNone/>
              <a:defRPr sz="1800" kern="1200">
                <a:solidFill>
                  <a:schemeClr val="tx1">
                    <a:lumMod val="50000"/>
                    <a:lumOff val="50000"/>
                  </a:schemeClr>
                </a:solidFill>
                <a:latin typeface="+mn-lt"/>
                <a:ea typeface="+mn-ea"/>
                <a:cs typeface="+mn-cs"/>
              </a:defRPr>
            </a:lvl1pPr>
            <a:lvl2pPr marL="457200" indent="0" algn="ctr" defTabSz="457200" rtl="0" eaLnBrk="1" latinLnBrk="0" hangingPunct="1">
              <a:spcBef>
                <a:spcPts val="1000"/>
              </a:spcBef>
              <a:spcAft>
                <a:spcPts val="0"/>
              </a:spcAft>
              <a:buClr>
                <a:schemeClr val="accent1"/>
              </a:buClr>
              <a:buSzPct val="80000"/>
              <a:buFont typeface="Wingdings 3" charset="2"/>
              <a:buNone/>
              <a:defRPr sz="1600" kern="1200">
                <a:solidFill>
                  <a:schemeClr val="tx1">
                    <a:tint val="75000"/>
                  </a:schemeClr>
                </a:solidFill>
                <a:latin typeface="+mn-lt"/>
                <a:ea typeface="+mn-ea"/>
                <a:cs typeface="+mn-cs"/>
              </a:defRPr>
            </a:lvl2pPr>
            <a:lvl3pPr marL="914400" indent="0" algn="ctr" defTabSz="457200" rtl="0" eaLnBrk="1" latinLnBrk="0" hangingPunct="1">
              <a:spcBef>
                <a:spcPts val="1000"/>
              </a:spcBef>
              <a:spcAft>
                <a:spcPts val="0"/>
              </a:spcAft>
              <a:buClr>
                <a:schemeClr val="accent1"/>
              </a:buClr>
              <a:buSzPct val="80000"/>
              <a:buFont typeface="Wingdings 3" charset="2"/>
              <a:buNone/>
              <a:defRPr sz="1400" kern="1200">
                <a:solidFill>
                  <a:schemeClr val="tx1">
                    <a:tint val="75000"/>
                  </a:schemeClr>
                </a:solidFill>
                <a:latin typeface="+mn-lt"/>
                <a:ea typeface="+mn-ea"/>
                <a:cs typeface="+mn-cs"/>
              </a:defRPr>
            </a:lvl3pPr>
            <a:lvl4pPr marL="1371600" indent="0" algn="ctr" defTabSz="457200" rtl="0" eaLnBrk="1" latinLnBrk="0" hangingPunct="1">
              <a:spcBef>
                <a:spcPts val="1000"/>
              </a:spcBef>
              <a:spcAft>
                <a:spcPts val="0"/>
              </a:spcAft>
              <a:buClr>
                <a:schemeClr val="accent1"/>
              </a:buClr>
              <a:buSzPct val="80000"/>
              <a:buFont typeface="Wingdings 3" charset="2"/>
              <a:buNone/>
              <a:defRPr sz="1200" kern="1200">
                <a:solidFill>
                  <a:schemeClr val="tx1">
                    <a:tint val="75000"/>
                  </a:schemeClr>
                </a:solidFill>
                <a:latin typeface="+mn-lt"/>
                <a:ea typeface="+mn-ea"/>
                <a:cs typeface="+mn-cs"/>
              </a:defRPr>
            </a:lvl4pPr>
            <a:lvl5pPr marL="1828800" indent="0" algn="ctr" defTabSz="457200" rtl="0" eaLnBrk="1" latinLnBrk="0" hangingPunct="1">
              <a:spcBef>
                <a:spcPts val="1000"/>
              </a:spcBef>
              <a:spcAft>
                <a:spcPts val="0"/>
              </a:spcAft>
              <a:buClr>
                <a:schemeClr val="accent1"/>
              </a:buClr>
              <a:buSzPct val="80000"/>
              <a:buFont typeface="Wingdings 3" charset="2"/>
              <a:buNone/>
              <a:defRPr sz="1200" kern="1200">
                <a:solidFill>
                  <a:schemeClr val="tx1">
                    <a:tint val="75000"/>
                  </a:schemeClr>
                </a:solidFill>
                <a:latin typeface="+mn-lt"/>
                <a:ea typeface="+mn-ea"/>
                <a:cs typeface="+mn-cs"/>
              </a:defRPr>
            </a:lvl5pPr>
            <a:lvl6pPr marL="2286000" indent="0" algn="ctr" defTabSz="457200" rtl="0" eaLnBrk="1" latinLnBrk="0" hangingPunct="1">
              <a:spcBef>
                <a:spcPts val="1000"/>
              </a:spcBef>
              <a:spcAft>
                <a:spcPts val="0"/>
              </a:spcAft>
              <a:buClr>
                <a:schemeClr val="accent1"/>
              </a:buClr>
              <a:buSzPct val="80000"/>
              <a:buFont typeface="Wingdings 3" charset="2"/>
              <a:buNone/>
              <a:defRPr sz="1200" kern="1200">
                <a:solidFill>
                  <a:schemeClr val="tx1">
                    <a:tint val="75000"/>
                  </a:schemeClr>
                </a:solidFill>
                <a:latin typeface="+mn-lt"/>
                <a:ea typeface="+mn-ea"/>
                <a:cs typeface="+mn-cs"/>
              </a:defRPr>
            </a:lvl6pPr>
            <a:lvl7pPr marL="2743200" indent="0" algn="ctr" defTabSz="457200" rtl="0" eaLnBrk="1" latinLnBrk="0" hangingPunct="1">
              <a:spcBef>
                <a:spcPts val="1000"/>
              </a:spcBef>
              <a:spcAft>
                <a:spcPts val="0"/>
              </a:spcAft>
              <a:buClr>
                <a:schemeClr val="accent1"/>
              </a:buClr>
              <a:buSzPct val="80000"/>
              <a:buFont typeface="Wingdings 3" charset="2"/>
              <a:buNone/>
              <a:defRPr sz="1200" kern="1200">
                <a:solidFill>
                  <a:schemeClr val="tx1">
                    <a:tint val="75000"/>
                  </a:schemeClr>
                </a:solidFill>
                <a:latin typeface="+mn-lt"/>
                <a:ea typeface="+mn-ea"/>
                <a:cs typeface="+mn-cs"/>
              </a:defRPr>
            </a:lvl7pPr>
            <a:lvl8pPr marL="3200400" indent="0" algn="ctr" defTabSz="457200" rtl="0" eaLnBrk="1" latinLnBrk="0" hangingPunct="1">
              <a:spcBef>
                <a:spcPts val="1000"/>
              </a:spcBef>
              <a:spcAft>
                <a:spcPts val="0"/>
              </a:spcAft>
              <a:buClr>
                <a:schemeClr val="accent1"/>
              </a:buClr>
              <a:buSzPct val="80000"/>
              <a:buFont typeface="Wingdings 3" charset="2"/>
              <a:buNone/>
              <a:defRPr sz="1200" kern="1200">
                <a:solidFill>
                  <a:schemeClr val="tx1">
                    <a:tint val="75000"/>
                  </a:schemeClr>
                </a:solidFill>
                <a:latin typeface="+mn-lt"/>
                <a:ea typeface="+mn-ea"/>
                <a:cs typeface="+mn-cs"/>
              </a:defRPr>
            </a:lvl8pPr>
            <a:lvl9pPr marL="3657600" indent="0" algn="ctr" defTabSz="457200" rtl="0" eaLnBrk="1" latinLnBrk="0" hangingPunct="1">
              <a:spcBef>
                <a:spcPts val="1000"/>
              </a:spcBef>
              <a:spcAft>
                <a:spcPts val="0"/>
              </a:spcAft>
              <a:buClr>
                <a:schemeClr val="accent1"/>
              </a:buClr>
              <a:buSzPct val="80000"/>
              <a:buFont typeface="Wingdings 3" charset="2"/>
              <a:buNone/>
              <a:defRPr sz="1200" kern="1200">
                <a:solidFill>
                  <a:schemeClr val="tx1">
                    <a:tint val="75000"/>
                  </a:schemeClr>
                </a:solidFill>
                <a:latin typeface="+mn-lt"/>
                <a:ea typeface="+mn-ea"/>
                <a:cs typeface="+mn-cs"/>
              </a:defRPr>
            </a:lvl9pPr>
          </a:lstStyle>
          <a:p>
            <a:r>
              <a:rPr lang="en-US" dirty="0"/>
              <a:t>240110102</a:t>
            </a:r>
            <a:endParaRPr lang="en-IN" dirty="0"/>
          </a:p>
        </p:txBody>
      </p:sp>
      <p:sp>
        <p:nvSpPr>
          <p:cNvPr id="3" name="TextBox 2">
            <a:extLst>
              <a:ext uri="{FF2B5EF4-FFF2-40B4-BE49-F238E27FC236}">
                <a16:creationId xmlns:a16="http://schemas.microsoft.com/office/drawing/2014/main" id="{F31B8DA5-9B6A-091F-AFA9-2608FB9A8EC5}"/>
              </a:ext>
            </a:extLst>
          </p:cNvPr>
          <p:cNvSpPr txBox="1"/>
          <p:nvPr/>
        </p:nvSpPr>
        <p:spPr>
          <a:xfrm>
            <a:off x="1993076" y="2449127"/>
            <a:ext cx="9336340" cy="2646878"/>
          </a:xfrm>
          <a:prstGeom prst="rect">
            <a:avLst/>
          </a:prstGeom>
          <a:noFill/>
        </p:spPr>
        <p:txBody>
          <a:bodyPr wrap="square">
            <a:spAutoFit/>
          </a:bodyPr>
          <a:lstStyle/>
          <a:p>
            <a:r>
              <a:rPr lang="en-IN" sz="2000" b="1" dirty="0"/>
              <a:t>Topics:</a:t>
            </a:r>
            <a:endParaRPr lang="en-IN" b="1" dirty="0"/>
          </a:p>
          <a:p>
            <a:endParaRPr lang="en-IN" dirty="0"/>
          </a:p>
          <a:p>
            <a:r>
              <a:rPr lang="en-US" dirty="0"/>
              <a:t>Design process steps for Relational Schema, Codd’s Rules, Database Relationships and Constraints – Primary Key, Foreign Key, Null, Not Null, Unique </a:t>
            </a:r>
          </a:p>
          <a:p>
            <a:endParaRPr lang="en-US" dirty="0"/>
          </a:p>
          <a:p>
            <a:r>
              <a:rPr lang="en-US" b="1" dirty="0"/>
              <a:t>Design Guidelines for Relational Schema:</a:t>
            </a:r>
            <a:r>
              <a:rPr lang="en-US" dirty="0"/>
              <a:t> Database design anomalies, Functional Dependencies, Normalization process – understanding Normal Forms based on Primary keys and converting database tables to 1NF, 2NF and 3NF, General Definitions with one example for Boyce-Codd Normal Forms (BCNF), Overview of 4</a:t>
            </a:r>
            <a:r>
              <a:rPr lang="en-US" baseline="30000" dirty="0"/>
              <a:t>th</a:t>
            </a:r>
            <a:r>
              <a:rPr lang="en-US" dirty="0"/>
              <a:t> and 5</a:t>
            </a:r>
            <a:r>
              <a:rPr lang="en-US" baseline="30000" dirty="0"/>
              <a:t>th</a:t>
            </a:r>
            <a:r>
              <a:rPr lang="en-US" dirty="0"/>
              <a:t> normal forms</a:t>
            </a:r>
            <a:endParaRPr lang="en-IN" dirty="0"/>
          </a:p>
        </p:txBody>
      </p:sp>
      <p:sp>
        <p:nvSpPr>
          <p:cNvPr id="7" name="TextBox 6">
            <a:extLst>
              <a:ext uri="{FF2B5EF4-FFF2-40B4-BE49-F238E27FC236}">
                <a16:creationId xmlns:a16="http://schemas.microsoft.com/office/drawing/2014/main" id="{2FA5EB79-E362-2DF0-32E5-D7618658BE9C}"/>
              </a:ext>
            </a:extLst>
          </p:cNvPr>
          <p:cNvSpPr txBox="1"/>
          <p:nvPr/>
        </p:nvSpPr>
        <p:spPr>
          <a:xfrm>
            <a:off x="1599884" y="1487953"/>
            <a:ext cx="9336340" cy="523220"/>
          </a:xfrm>
          <a:prstGeom prst="rect">
            <a:avLst/>
          </a:prstGeom>
          <a:noFill/>
        </p:spPr>
        <p:txBody>
          <a:bodyPr wrap="square">
            <a:spAutoFit/>
          </a:bodyPr>
          <a:lstStyle/>
          <a:p>
            <a:r>
              <a:rPr lang="en-US" sz="2800" b="1" dirty="0">
                <a:solidFill>
                  <a:schemeClr val="accent1"/>
                </a:solidFill>
              </a:rPr>
              <a:t>Unit 3 - </a:t>
            </a:r>
            <a:r>
              <a:rPr lang="en-IN" sz="2800" b="1" dirty="0">
                <a:solidFill>
                  <a:schemeClr val="accent1"/>
                </a:solidFill>
              </a:rPr>
              <a:t>Relational Database Design (CO3) </a:t>
            </a:r>
          </a:p>
        </p:txBody>
      </p:sp>
      <p:sp>
        <p:nvSpPr>
          <p:cNvPr id="9" name="TextBox 8">
            <a:extLst>
              <a:ext uri="{FF2B5EF4-FFF2-40B4-BE49-F238E27FC236}">
                <a16:creationId xmlns:a16="http://schemas.microsoft.com/office/drawing/2014/main" id="{EEA2F35F-2B10-477F-18F4-C5BDF6D1D596}"/>
              </a:ext>
            </a:extLst>
          </p:cNvPr>
          <p:cNvSpPr txBox="1"/>
          <p:nvPr/>
        </p:nvSpPr>
        <p:spPr>
          <a:xfrm>
            <a:off x="10819638" y="6303401"/>
            <a:ext cx="1241298" cy="276999"/>
          </a:xfrm>
          <a:prstGeom prst="rect">
            <a:avLst/>
          </a:prstGeom>
          <a:noFill/>
        </p:spPr>
        <p:txBody>
          <a:bodyPr wrap="square">
            <a:spAutoFit/>
          </a:bodyPr>
          <a:lstStyle/>
          <a:p>
            <a:r>
              <a:rPr lang="en-US" sz="1200" i="1" dirty="0"/>
              <a:t>09/11/2025</a:t>
            </a:r>
            <a:endParaRPr lang="en-IN" sz="1200" i="1" dirty="0"/>
          </a:p>
        </p:txBody>
      </p:sp>
    </p:spTree>
    <p:extLst>
      <p:ext uri="{BB962C8B-B14F-4D97-AF65-F5344CB8AC3E}">
        <p14:creationId xmlns:p14="http://schemas.microsoft.com/office/powerpoint/2010/main" val="4272429785"/>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0C06F84-1418-40AD-A2B6-340968858B5D}"/>
              </a:ext>
            </a:extLst>
          </p:cNvPr>
          <p:cNvSpPr>
            <a:spLocks noGrp="1"/>
          </p:cNvSpPr>
          <p:nvPr>
            <p:ph type="title"/>
          </p:nvPr>
        </p:nvSpPr>
        <p:spPr/>
        <p:txBody>
          <a:bodyPr>
            <a:normAutofit/>
          </a:bodyPr>
          <a:lstStyle/>
          <a:p>
            <a:r>
              <a:rPr lang="en-IN" sz="2800" dirty="0"/>
              <a:t>Informal Design guidelines for Relational Schema</a:t>
            </a:r>
          </a:p>
        </p:txBody>
      </p:sp>
      <p:sp>
        <p:nvSpPr>
          <p:cNvPr id="3" name="Content Placeholder 2">
            <a:extLst>
              <a:ext uri="{FF2B5EF4-FFF2-40B4-BE49-F238E27FC236}">
                <a16:creationId xmlns:a16="http://schemas.microsoft.com/office/drawing/2014/main" id="{D4DC7721-0302-4578-B539-6DB9FEB569B7}"/>
              </a:ext>
            </a:extLst>
          </p:cNvPr>
          <p:cNvSpPr>
            <a:spLocks noGrp="1"/>
          </p:cNvSpPr>
          <p:nvPr>
            <p:ph idx="1"/>
          </p:nvPr>
        </p:nvSpPr>
        <p:spPr/>
        <p:txBody>
          <a:bodyPr/>
          <a:lstStyle/>
          <a:p>
            <a:r>
              <a:rPr lang="en-IN" dirty="0"/>
              <a:t>Making sure that the semantics of the attributes is clear in the schema</a:t>
            </a:r>
          </a:p>
          <a:p>
            <a:r>
              <a:rPr lang="en-IN" dirty="0"/>
              <a:t>Reducing the redundant information in tuple</a:t>
            </a:r>
          </a:p>
          <a:p>
            <a:r>
              <a:rPr lang="en-IN" dirty="0"/>
              <a:t>Reducing the NULL values in the tuples</a:t>
            </a:r>
          </a:p>
          <a:p>
            <a:r>
              <a:rPr lang="en-IN" dirty="0"/>
              <a:t>Disallowing the possibility of generating spurious tuples</a:t>
            </a:r>
          </a:p>
        </p:txBody>
      </p:sp>
    </p:spTree>
    <p:extLst>
      <p:ext uri="{BB962C8B-B14F-4D97-AF65-F5344CB8AC3E}">
        <p14:creationId xmlns:p14="http://schemas.microsoft.com/office/powerpoint/2010/main" val="379122057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A638097-56E2-4103-9CD9-3A43F8CD4C0D}"/>
              </a:ext>
            </a:extLst>
          </p:cNvPr>
          <p:cNvSpPr>
            <a:spLocks noGrp="1"/>
          </p:cNvSpPr>
          <p:nvPr>
            <p:ph type="title"/>
          </p:nvPr>
        </p:nvSpPr>
        <p:spPr>
          <a:xfrm>
            <a:off x="677334" y="504825"/>
            <a:ext cx="8596668" cy="1320800"/>
          </a:xfrm>
        </p:spPr>
        <p:txBody>
          <a:bodyPr>
            <a:normAutofit/>
          </a:bodyPr>
          <a:lstStyle/>
          <a:p>
            <a:r>
              <a:rPr lang="en-IN" sz="4000" dirty="0"/>
              <a:t>Imparting clear semantics to attributes in relations </a:t>
            </a:r>
          </a:p>
        </p:txBody>
      </p:sp>
      <p:sp>
        <p:nvSpPr>
          <p:cNvPr id="3" name="Content Placeholder 2">
            <a:extLst>
              <a:ext uri="{FF2B5EF4-FFF2-40B4-BE49-F238E27FC236}">
                <a16:creationId xmlns:a16="http://schemas.microsoft.com/office/drawing/2014/main" id="{C90207FA-CA15-4CEE-A2CE-E5B82BB05CFE}"/>
              </a:ext>
            </a:extLst>
          </p:cNvPr>
          <p:cNvSpPr>
            <a:spLocks noGrp="1"/>
          </p:cNvSpPr>
          <p:nvPr>
            <p:ph idx="1"/>
          </p:nvPr>
        </p:nvSpPr>
        <p:spPr>
          <a:xfrm>
            <a:off x="838200" y="1825625"/>
            <a:ext cx="10515600" cy="2535360"/>
          </a:xfrm>
        </p:spPr>
        <p:txBody>
          <a:bodyPr/>
          <a:lstStyle/>
          <a:p>
            <a:r>
              <a:rPr lang="en-IN" dirty="0"/>
              <a:t>The semantics of a relation refers to its meaning resulting from the interpretation of attribute values in a tuple</a:t>
            </a:r>
          </a:p>
          <a:p>
            <a:r>
              <a:rPr lang="en-IN" b="1" u="sng" dirty="0"/>
              <a:t>Guideline-1</a:t>
            </a:r>
            <a:r>
              <a:rPr lang="en-IN" dirty="0"/>
              <a:t>: </a:t>
            </a:r>
            <a:r>
              <a:rPr lang="en-IN" dirty="0">
                <a:solidFill>
                  <a:schemeClr val="accent2"/>
                </a:solidFill>
              </a:rPr>
              <a:t>Do not combine attributes from multiple entity types and relationship types into a single relation</a:t>
            </a:r>
          </a:p>
          <a:p>
            <a:r>
              <a:rPr lang="en-IN" dirty="0"/>
              <a:t>Ex. Violating guideline 1</a:t>
            </a:r>
          </a:p>
          <a:p>
            <a:endParaRPr lang="en-IN" dirty="0"/>
          </a:p>
        </p:txBody>
      </p:sp>
      <p:pic>
        <p:nvPicPr>
          <p:cNvPr id="5" name="Picture 4">
            <a:extLst>
              <a:ext uri="{FF2B5EF4-FFF2-40B4-BE49-F238E27FC236}">
                <a16:creationId xmlns:a16="http://schemas.microsoft.com/office/drawing/2014/main" id="{D221E2EF-5A30-4C65-9D2E-00FEE278884C}"/>
              </a:ext>
            </a:extLst>
          </p:cNvPr>
          <p:cNvPicPr>
            <a:picLocks noChangeAspect="1"/>
          </p:cNvPicPr>
          <p:nvPr/>
        </p:nvPicPr>
        <p:blipFill>
          <a:blip r:embed="rId2"/>
          <a:stretch>
            <a:fillRect/>
          </a:stretch>
        </p:blipFill>
        <p:spPr>
          <a:xfrm>
            <a:off x="4076482" y="3264096"/>
            <a:ext cx="5197520" cy="3327009"/>
          </a:xfrm>
          <a:prstGeom prst="rect">
            <a:avLst/>
          </a:prstGeom>
        </p:spPr>
      </p:pic>
    </p:spTree>
    <p:extLst>
      <p:ext uri="{BB962C8B-B14F-4D97-AF65-F5344CB8AC3E}">
        <p14:creationId xmlns:p14="http://schemas.microsoft.com/office/powerpoint/2010/main" val="376961766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50E51A9-9C49-4F6A-A4DF-11CBB62608D3}"/>
              </a:ext>
            </a:extLst>
          </p:cNvPr>
          <p:cNvSpPr>
            <a:spLocks noGrp="1"/>
          </p:cNvSpPr>
          <p:nvPr>
            <p:ph type="title"/>
          </p:nvPr>
        </p:nvSpPr>
        <p:spPr>
          <a:xfrm>
            <a:off x="365761" y="365125"/>
            <a:ext cx="11577710" cy="1325563"/>
          </a:xfrm>
        </p:spPr>
        <p:txBody>
          <a:bodyPr>
            <a:normAutofit/>
          </a:bodyPr>
          <a:lstStyle/>
          <a:p>
            <a:r>
              <a:rPr lang="en-IN" sz="4000" dirty="0"/>
              <a:t>Redundant Information in Tuples and Update Anomalies</a:t>
            </a:r>
          </a:p>
        </p:txBody>
      </p:sp>
      <p:sp>
        <p:nvSpPr>
          <p:cNvPr id="3" name="Content Placeholder 2">
            <a:extLst>
              <a:ext uri="{FF2B5EF4-FFF2-40B4-BE49-F238E27FC236}">
                <a16:creationId xmlns:a16="http://schemas.microsoft.com/office/drawing/2014/main" id="{29FC1968-EBCE-4D6F-9329-884D3880BC2F}"/>
              </a:ext>
            </a:extLst>
          </p:cNvPr>
          <p:cNvSpPr>
            <a:spLocks noGrp="1"/>
          </p:cNvSpPr>
          <p:nvPr>
            <p:ph idx="1"/>
          </p:nvPr>
        </p:nvSpPr>
        <p:spPr>
          <a:xfrm>
            <a:off x="481583" y="1624818"/>
            <a:ext cx="10619233" cy="4574814"/>
          </a:xfrm>
        </p:spPr>
        <p:txBody>
          <a:bodyPr>
            <a:normAutofit/>
          </a:bodyPr>
          <a:lstStyle/>
          <a:p>
            <a:pPr algn="just"/>
            <a:r>
              <a:rPr lang="en-IN" b="1" dirty="0"/>
              <a:t>Insertion Anomalies</a:t>
            </a:r>
            <a:r>
              <a:rPr lang="en-IN" dirty="0"/>
              <a:t>: Considering </a:t>
            </a:r>
            <a:r>
              <a:rPr lang="en-IN" dirty="0" err="1"/>
              <a:t>Emp_Dept</a:t>
            </a:r>
            <a:r>
              <a:rPr lang="en-IN" dirty="0"/>
              <a:t> relation</a:t>
            </a:r>
          </a:p>
          <a:p>
            <a:pPr lvl="1" algn="just"/>
            <a:r>
              <a:rPr lang="en-IN" dirty="0"/>
              <a:t>Here to inert new employee tuple into the </a:t>
            </a:r>
            <a:r>
              <a:rPr lang="en-IN" dirty="0" err="1"/>
              <a:t>Emp_Dept</a:t>
            </a:r>
            <a:r>
              <a:rPr lang="en-IN" dirty="0"/>
              <a:t> relation then, we must either include the values for the department, in which the employee will work for or NULLs if not assigned any department yet</a:t>
            </a:r>
          </a:p>
          <a:p>
            <a:pPr lvl="1" algn="just"/>
            <a:r>
              <a:rPr lang="en-IN" dirty="0"/>
              <a:t>It is also difficult to inert a new department that has no employee. The possible option is to put NULL values in all attributes of employee</a:t>
            </a:r>
          </a:p>
          <a:p>
            <a:pPr algn="just"/>
            <a:r>
              <a:rPr lang="en-IN" b="1" dirty="0"/>
              <a:t>Deletion Anomalies</a:t>
            </a:r>
          </a:p>
          <a:p>
            <a:pPr algn="just"/>
            <a:r>
              <a:rPr lang="en-IN" b="1" dirty="0"/>
              <a:t>Modification Anomalies</a:t>
            </a:r>
            <a:r>
              <a:rPr lang="en-IN" dirty="0"/>
              <a:t>: </a:t>
            </a:r>
          </a:p>
          <a:p>
            <a:pPr lvl="1" algn="just"/>
            <a:r>
              <a:rPr lang="en-IN" dirty="0"/>
              <a:t>Ex. Modify the manager of a department will force to update all the employee row also  who work for that department </a:t>
            </a:r>
          </a:p>
          <a:p>
            <a:pPr algn="just"/>
            <a:endParaRPr lang="en-IN" dirty="0"/>
          </a:p>
          <a:p>
            <a:pPr algn="just"/>
            <a:r>
              <a:rPr lang="en-IN" b="1" u="sng" dirty="0"/>
              <a:t>Guideline 2: </a:t>
            </a:r>
            <a:r>
              <a:rPr lang="en-IN" dirty="0">
                <a:solidFill>
                  <a:schemeClr val="accent2"/>
                </a:solidFill>
              </a:rPr>
              <a:t>Design the base relation schema so that no anomalies are present in the relations</a:t>
            </a:r>
            <a:r>
              <a:rPr lang="en-IN" dirty="0"/>
              <a:t>.</a:t>
            </a:r>
          </a:p>
        </p:txBody>
      </p:sp>
    </p:spTree>
    <p:extLst>
      <p:ext uri="{BB962C8B-B14F-4D97-AF65-F5344CB8AC3E}">
        <p14:creationId xmlns:p14="http://schemas.microsoft.com/office/powerpoint/2010/main" val="47559924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F4A42D7-3857-4D48-8A1E-771C00F0E7F9}"/>
              </a:ext>
            </a:extLst>
          </p:cNvPr>
          <p:cNvSpPr>
            <a:spLocks noGrp="1"/>
          </p:cNvSpPr>
          <p:nvPr>
            <p:ph type="title"/>
          </p:nvPr>
        </p:nvSpPr>
        <p:spPr>
          <a:xfrm>
            <a:off x="677334" y="609600"/>
            <a:ext cx="8596668" cy="835152"/>
          </a:xfrm>
        </p:spPr>
        <p:txBody>
          <a:bodyPr>
            <a:normAutofit/>
          </a:bodyPr>
          <a:lstStyle/>
          <a:p>
            <a:r>
              <a:rPr lang="en-IN" sz="2800" dirty="0"/>
              <a:t>NULL values in Tuples</a:t>
            </a:r>
          </a:p>
        </p:txBody>
      </p:sp>
      <p:sp>
        <p:nvSpPr>
          <p:cNvPr id="3" name="Content Placeholder 2">
            <a:extLst>
              <a:ext uri="{FF2B5EF4-FFF2-40B4-BE49-F238E27FC236}">
                <a16:creationId xmlns:a16="http://schemas.microsoft.com/office/drawing/2014/main" id="{B7CB7F72-EDC0-486C-9F4C-65EF037AF8BC}"/>
              </a:ext>
            </a:extLst>
          </p:cNvPr>
          <p:cNvSpPr>
            <a:spLocks noGrp="1"/>
          </p:cNvSpPr>
          <p:nvPr>
            <p:ph idx="1"/>
          </p:nvPr>
        </p:nvSpPr>
        <p:spPr>
          <a:xfrm>
            <a:off x="677334" y="1444753"/>
            <a:ext cx="8596668" cy="1984248"/>
          </a:xfrm>
        </p:spPr>
        <p:txBody>
          <a:bodyPr/>
          <a:lstStyle/>
          <a:p>
            <a:r>
              <a:rPr lang="en-IN" b="1" u="sng" dirty="0"/>
              <a:t>Guideline 3</a:t>
            </a:r>
            <a:r>
              <a:rPr lang="en-IN" dirty="0"/>
              <a:t>: </a:t>
            </a:r>
          </a:p>
          <a:p>
            <a:r>
              <a:rPr lang="en-IN" dirty="0">
                <a:solidFill>
                  <a:schemeClr val="accent2"/>
                </a:solidFill>
              </a:rPr>
              <a:t>Avoid placing attributes in a base relation whose values may frequently be null</a:t>
            </a:r>
            <a:r>
              <a:rPr lang="en-IN" dirty="0"/>
              <a:t>.</a:t>
            </a:r>
          </a:p>
          <a:p>
            <a:r>
              <a:rPr lang="en-IN" dirty="0"/>
              <a:t>If NULLs are unavoidable, make sure that they apply in exceptional cases only  do not apply to majority of tuples in the relation </a:t>
            </a:r>
          </a:p>
        </p:txBody>
      </p:sp>
      <p:sp>
        <p:nvSpPr>
          <p:cNvPr id="4" name="Title 1">
            <a:extLst>
              <a:ext uri="{FF2B5EF4-FFF2-40B4-BE49-F238E27FC236}">
                <a16:creationId xmlns:a16="http://schemas.microsoft.com/office/drawing/2014/main" id="{EB281327-CA6A-34E1-ABA6-D7946B505115}"/>
              </a:ext>
            </a:extLst>
          </p:cNvPr>
          <p:cNvSpPr txBox="1">
            <a:spLocks/>
          </p:cNvSpPr>
          <p:nvPr/>
        </p:nvSpPr>
        <p:spPr>
          <a:xfrm>
            <a:off x="677334" y="3606801"/>
            <a:ext cx="8596668" cy="626871"/>
          </a:xfrm>
          <a:prstGeom prst="rect">
            <a:avLst/>
          </a:prstGeom>
        </p:spPr>
        <p:txBody>
          <a:bodyPr vert="horz" lIns="91440" tIns="45720" rIns="91440" bIns="45720" rtlCol="0" anchor="t">
            <a:normAutofit/>
          </a:bodyPr>
          <a:lstStyle>
            <a:lvl1pPr algn="l" defTabSz="457200" rtl="0" eaLnBrk="1" latinLnBrk="0" hangingPunct="1">
              <a:spcBef>
                <a:spcPct val="0"/>
              </a:spcBef>
              <a:buNone/>
              <a:defRPr sz="3600" kern="1200">
                <a:solidFill>
                  <a:schemeClr val="accent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r>
              <a:rPr lang="en-IN" sz="2800" dirty="0"/>
              <a:t>Generation of spurious tuples</a:t>
            </a:r>
          </a:p>
        </p:txBody>
      </p:sp>
      <p:sp>
        <p:nvSpPr>
          <p:cNvPr id="5" name="Content Placeholder 2">
            <a:extLst>
              <a:ext uri="{FF2B5EF4-FFF2-40B4-BE49-F238E27FC236}">
                <a16:creationId xmlns:a16="http://schemas.microsoft.com/office/drawing/2014/main" id="{2C4ADA6F-5A6B-A368-5061-39F437ED503B}"/>
              </a:ext>
            </a:extLst>
          </p:cNvPr>
          <p:cNvSpPr txBox="1">
            <a:spLocks/>
          </p:cNvSpPr>
          <p:nvPr/>
        </p:nvSpPr>
        <p:spPr>
          <a:xfrm>
            <a:off x="765726" y="4411472"/>
            <a:ext cx="8596668" cy="1984249"/>
          </a:xfrm>
          <a:prstGeom prst="rect">
            <a:avLst/>
          </a:prstGeom>
        </p:spPr>
        <p:txBody>
          <a:bodyPr vert="horz" lIns="91440" tIns="45720" rIns="91440" bIns="45720" rtlCol="0">
            <a:normAutofit/>
          </a:bodyPr>
          <a:lstStyle>
            <a:lvl1pPr marL="342900" indent="-342900" algn="l" defTabSz="457200" rtl="0" eaLnBrk="1" latinLnBrk="0" hangingPunct="1">
              <a:spcBef>
                <a:spcPts val="1000"/>
              </a:spcBef>
              <a:spcAft>
                <a:spcPts val="0"/>
              </a:spcAft>
              <a:buClr>
                <a:schemeClr val="accent1"/>
              </a:buClr>
              <a:buSzPct val="80000"/>
              <a:buFont typeface="Wingdings 3" charset="2"/>
              <a:buChar char=""/>
              <a:defRPr sz="180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r>
              <a:rPr lang="en-IN" b="1" u="sng" dirty="0"/>
              <a:t>Guideline 4:</a:t>
            </a:r>
          </a:p>
          <a:p>
            <a:pPr lvl="1"/>
            <a:r>
              <a:rPr lang="en-IN" dirty="0">
                <a:solidFill>
                  <a:schemeClr val="accent2"/>
                </a:solidFill>
              </a:rPr>
              <a:t>Design relational schemas so that they can be joined with equality conditions on attributes that are appropriately related pairs (PK &amp; FK) </a:t>
            </a:r>
            <a:r>
              <a:rPr lang="en-IN" dirty="0"/>
              <a:t>in a way that guarantees that no spurious tuples are generated</a:t>
            </a:r>
          </a:p>
        </p:txBody>
      </p:sp>
    </p:spTree>
    <p:extLst>
      <p:ext uri="{BB962C8B-B14F-4D97-AF65-F5344CB8AC3E}">
        <p14:creationId xmlns:p14="http://schemas.microsoft.com/office/powerpoint/2010/main" val="127363464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10E8370-3A14-494D-B62B-51C9BE20A509}"/>
              </a:ext>
            </a:extLst>
          </p:cNvPr>
          <p:cNvSpPr>
            <a:spLocks noGrp="1"/>
          </p:cNvSpPr>
          <p:nvPr>
            <p:ph type="title"/>
          </p:nvPr>
        </p:nvSpPr>
        <p:spPr/>
        <p:txBody>
          <a:bodyPr/>
          <a:lstStyle/>
          <a:p>
            <a:r>
              <a:rPr lang="en-IN" dirty="0"/>
              <a:t>Codd's Rules</a:t>
            </a:r>
          </a:p>
        </p:txBody>
      </p:sp>
      <p:sp>
        <p:nvSpPr>
          <p:cNvPr id="3" name="Content Placeholder 2">
            <a:extLst>
              <a:ext uri="{FF2B5EF4-FFF2-40B4-BE49-F238E27FC236}">
                <a16:creationId xmlns:a16="http://schemas.microsoft.com/office/drawing/2014/main" id="{BADDB335-868F-4416-9E36-21C2F373A1FD}"/>
              </a:ext>
            </a:extLst>
          </p:cNvPr>
          <p:cNvSpPr>
            <a:spLocks noGrp="1"/>
          </p:cNvSpPr>
          <p:nvPr>
            <p:ph idx="1"/>
          </p:nvPr>
        </p:nvSpPr>
        <p:spPr>
          <a:xfrm>
            <a:off x="838200" y="1825625"/>
            <a:ext cx="10515600" cy="4787210"/>
          </a:xfrm>
        </p:spPr>
        <p:txBody>
          <a:bodyPr>
            <a:normAutofit/>
          </a:bodyPr>
          <a:lstStyle/>
          <a:p>
            <a:pPr algn="just"/>
            <a:r>
              <a:rPr lang="en-IN" dirty="0"/>
              <a:t>Every database has cannot be referred to as a rational database system. </a:t>
            </a:r>
          </a:p>
          <a:p>
            <a:pPr algn="just"/>
            <a:r>
              <a:rPr lang="en-IN" dirty="0"/>
              <a:t>If any database has only relational data model, it cannot be a Relational Database System (RDBMS). </a:t>
            </a:r>
          </a:p>
          <a:p>
            <a:pPr algn="just"/>
            <a:r>
              <a:rPr lang="en-IN" dirty="0"/>
              <a:t>So, some rules define a database to be the correct RDBMS. </a:t>
            </a:r>
          </a:p>
          <a:p>
            <a:pPr algn="just"/>
            <a:r>
              <a:rPr lang="en-IN" dirty="0"/>
              <a:t>These rules were developed by </a:t>
            </a:r>
            <a:r>
              <a:rPr lang="en-IN" dirty="0" err="1"/>
              <a:t>Dr.</a:t>
            </a:r>
            <a:r>
              <a:rPr lang="en-IN" dirty="0"/>
              <a:t> Edgar F. Codd (E.F. Codd) in 1985.</a:t>
            </a:r>
          </a:p>
          <a:p>
            <a:pPr algn="just"/>
            <a:r>
              <a:rPr lang="en-IN" dirty="0"/>
              <a:t>Codd presents his 13 rules for a database to test the concept of DBMS against his relational model, and if a database follows the rule, it is called a true relational database (RDBMS). </a:t>
            </a:r>
          </a:p>
          <a:p>
            <a:pPr algn="just"/>
            <a:r>
              <a:rPr lang="en-IN" dirty="0"/>
              <a:t>These 13 rules are popular in RDBMS, known as Codd's 12 rules</a:t>
            </a:r>
          </a:p>
        </p:txBody>
      </p:sp>
    </p:spTree>
    <p:extLst>
      <p:ext uri="{BB962C8B-B14F-4D97-AF65-F5344CB8AC3E}">
        <p14:creationId xmlns:p14="http://schemas.microsoft.com/office/powerpoint/2010/main" val="389879805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DE0AE244-AC56-4F9E-8510-AF3EE3479D30}"/>
              </a:ext>
            </a:extLst>
          </p:cNvPr>
          <p:cNvSpPr>
            <a:spLocks noGrp="1"/>
          </p:cNvSpPr>
          <p:nvPr>
            <p:ph idx="1"/>
          </p:nvPr>
        </p:nvSpPr>
        <p:spPr>
          <a:xfrm>
            <a:off x="838200" y="397565"/>
            <a:ext cx="10262616" cy="6082748"/>
          </a:xfrm>
        </p:spPr>
        <p:txBody>
          <a:bodyPr>
            <a:normAutofit/>
          </a:bodyPr>
          <a:lstStyle/>
          <a:p>
            <a:pPr algn="just"/>
            <a:r>
              <a:rPr lang="en-IN" dirty="0"/>
              <a:t>Rule 0: The Foundation Rule</a:t>
            </a:r>
          </a:p>
          <a:p>
            <a:pPr algn="just"/>
            <a:r>
              <a:rPr lang="en-IN" dirty="0"/>
              <a:t>The database must be in relational form. So that the system can handle the database through its relational capabilities.</a:t>
            </a:r>
          </a:p>
          <a:p>
            <a:pPr algn="just"/>
            <a:endParaRPr lang="en-IN" dirty="0"/>
          </a:p>
          <a:p>
            <a:pPr algn="just"/>
            <a:r>
              <a:rPr lang="en-IN" dirty="0"/>
              <a:t>Rule 1: Information Rule</a:t>
            </a:r>
          </a:p>
          <a:p>
            <a:pPr algn="just"/>
            <a:r>
              <a:rPr lang="en-IN" dirty="0"/>
              <a:t>A database contains various information, and this information must be stored in each cell of a table in the form of rows and columns.</a:t>
            </a:r>
          </a:p>
          <a:p>
            <a:pPr algn="just"/>
            <a:endParaRPr lang="en-IN" dirty="0"/>
          </a:p>
          <a:p>
            <a:pPr algn="just"/>
            <a:r>
              <a:rPr lang="en-IN" dirty="0"/>
              <a:t>Rule 2: Guaranteed Access Rule</a:t>
            </a:r>
          </a:p>
          <a:p>
            <a:pPr algn="just"/>
            <a:r>
              <a:rPr lang="en-IN" dirty="0"/>
              <a:t>Every single or precise data (atomic value) may be accessed logically from a relational database using the combination of primary key value, table name, and column name.</a:t>
            </a:r>
          </a:p>
          <a:p>
            <a:pPr algn="just"/>
            <a:endParaRPr lang="en-IN" dirty="0"/>
          </a:p>
          <a:p>
            <a:pPr algn="just"/>
            <a:r>
              <a:rPr lang="en-IN" dirty="0"/>
              <a:t>Rule 3: Systematic Treatment of Null Values</a:t>
            </a:r>
          </a:p>
          <a:p>
            <a:pPr algn="just"/>
            <a:r>
              <a:rPr lang="en-IN" dirty="0"/>
              <a:t>This rule defines the systematic treatment of Null values in database records. The null value has various meanings in the database, like missing the data, no value in a cell, inappropriate information, unknown data and the primary key should not be null.</a:t>
            </a:r>
          </a:p>
          <a:p>
            <a:pPr algn="just"/>
            <a:endParaRPr lang="en-IN" dirty="0"/>
          </a:p>
          <a:p>
            <a:pPr algn="just"/>
            <a:endParaRPr lang="en-IN" dirty="0"/>
          </a:p>
          <a:p>
            <a:pPr algn="just"/>
            <a:endParaRPr lang="en-IN" dirty="0"/>
          </a:p>
        </p:txBody>
      </p:sp>
    </p:spTree>
    <p:extLst>
      <p:ext uri="{BB962C8B-B14F-4D97-AF65-F5344CB8AC3E}">
        <p14:creationId xmlns:p14="http://schemas.microsoft.com/office/powerpoint/2010/main" val="1445272241"/>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45861DAF-E364-47AB-87DB-87F2391AD20A}"/>
              </a:ext>
            </a:extLst>
          </p:cNvPr>
          <p:cNvSpPr>
            <a:spLocks noGrp="1"/>
          </p:cNvSpPr>
          <p:nvPr>
            <p:ph idx="1"/>
          </p:nvPr>
        </p:nvSpPr>
        <p:spPr>
          <a:xfrm>
            <a:off x="543339" y="344557"/>
            <a:ext cx="10191717" cy="6056243"/>
          </a:xfrm>
        </p:spPr>
        <p:txBody>
          <a:bodyPr>
            <a:normAutofit fontScale="92500" lnSpcReduction="10000"/>
          </a:bodyPr>
          <a:lstStyle/>
          <a:p>
            <a:pPr algn="just"/>
            <a:endParaRPr lang="en-IN" dirty="0"/>
          </a:p>
          <a:p>
            <a:pPr algn="just"/>
            <a:r>
              <a:rPr lang="en-IN" dirty="0"/>
              <a:t>Rule 4: Active/Dynamic Online </a:t>
            </a:r>
            <a:r>
              <a:rPr lang="en-IN" dirty="0" err="1"/>
              <a:t>Catalog</a:t>
            </a:r>
            <a:r>
              <a:rPr lang="en-IN" dirty="0"/>
              <a:t> based on the relational model</a:t>
            </a:r>
          </a:p>
          <a:p>
            <a:pPr algn="just"/>
            <a:r>
              <a:rPr lang="en-IN" dirty="0"/>
              <a:t>It represents the entire logical structure of the descriptive database that must be stored online and is known as a database dictionary. It authorizes users to access the database and implement a similar query language to access the database.</a:t>
            </a:r>
          </a:p>
          <a:p>
            <a:pPr marL="0" indent="0" algn="just">
              <a:buNone/>
            </a:pPr>
            <a:endParaRPr lang="en-IN" dirty="0"/>
          </a:p>
          <a:p>
            <a:pPr marL="0" indent="0" algn="just">
              <a:buNone/>
            </a:pPr>
            <a:endParaRPr lang="en-IN" dirty="0"/>
          </a:p>
          <a:p>
            <a:r>
              <a:rPr lang="en-IN" dirty="0"/>
              <a:t>Rule 5: The comprehensive data sublanguage rule:</a:t>
            </a:r>
          </a:p>
          <a:p>
            <a:r>
              <a:rPr lang="en-IN" dirty="0"/>
              <a:t>A relational system may support several languages and various modes of terminal use (for example, the fill-in-the-blanks mode). However, there must be at least one language whose statements are expressible, per some well-defined syntax, as character strings and that is comprehensive in supporting all of the following items:</a:t>
            </a:r>
          </a:p>
          <a:p>
            <a:r>
              <a:rPr lang="en-IN" dirty="0"/>
              <a:t>Data definition.</a:t>
            </a:r>
          </a:p>
          <a:p>
            <a:r>
              <a:rPr lang="en-IN" dirty="0"/>
              <a:t>View definition.</a:t>
            </a:r>
          </a:p>
          <a:p>
            <a:r>
              <a:rPr lang="en-IN" dirty="0"/>
              <a:t>Data manipulation (interactive and by program).</a:t>
            </a:r>
          </a:p>
          <a:p>
            <a:r>
              <a:rPr lang="en-IN" dirty="0"/>
              <a:t>Integrity constraints.</a:t>
            </a:r>
          </a:p>
          <a:p>
            <a:r>
              <a:rPr lang="en-IN" dirty="0"/>
              <a:t>Authorization.</a:t>
            </a:r>
          </a:p>
          <a:p>
            <a:r>
              <a:rPr lang="en-IN" dirty="0"/>
              <a:t>Transaction boundaries (begin, commit and rollback).</a:t>
            </a:r>
          </a:p>
          <a:p>
            <a:pPr algn="just"/>
            <a:endParaRPr lang="en-IN" dirty="0"/>
          </a:p>
          <a:p>
            <a:pPr lvl="1" algn="just"/>
            <a:endParaRPr lang="en-IN" dirty="0"/>
          </a:p>
        </p:txBody>
      </p:sp>
    </p:spTree>
    <p:extLst>
      <p:ext uri="{BB962C8B-B14F-4D97-AF65-F5344CB8AC3E}">
        <p14:creationId xmlns:p14="http://schemas.microsoft.com/office/powerpoint/2010/main" val="2087952258"/>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CF3D3042-5895-4DA9-9718-D66E786F32A0}"/>
              </a:ext>
            </a:extLst>
          </p:cNvPr>
          <p:cNvSpPr>
            <a:spLocks noGrp="1"/>
          </p:cNvSpPr>
          <p:nvPr>
            <p:ph idx="1"/>
          </p:nvPr>
        </p:nvSpPr>
        <p:spPr>
          <a:xfrm>
            <a:off x="503583" y="424070"/>
            <a:ext cx="10880697" cy="6162260"/>
          </a:xfrm>
        </p:spPr>
        <p:txBody>
          <a:bodyPr>
            <a:normAutofit/>
          </a:bodyPr>
          <a:lstStyle/>
          <a:p>
            <a:r>
              <a:rPr lang="en-IN" dirty="0"/>
              <a:t>Rule 6: View Updating Rule</a:t>
            </a:r>
          </a:p>
          <a:p>
            <a:r>
              <a:rPr lang="en-IN" dirty="0"/>
              <a:t>All views table can be theoretically updated and must be practically updated by the database systems.</a:t>
            </a:r>
          </a:p>
          <a:p>
            <a:endParaRPr lang="en-IN" dirty="0"/>
          </a:p>
          <a:p>
            <a:r>
              <a:rPr lang="en-IN" dirty="0"/>
              <a:t>Rule 7: Relational Level Operation (High-Level Insert, Update and delete) Rule</a:t>
            </a:r>
          </a:p>
          <a:p>
            <a:r>
              <a:rPr lang="en-IN" dirty="0"/>
              <a:t>A database system should follow high-level relational operations such as insert, update, and delete in each level or a single row. It also supports union, intersection and minus operation in the database system.</a:t>
            </a:r>
          </a:p>
          <a:p>
            <a:endParaRPr lang="en-IN" dirty="0"/>
          </a:p>
          <a:p>
            <a:r>
              <a:rPr lang="en-IN" dirty="0"/>
              <a:t>Rule 8: Physical Data Independence Rule</a:t>
            </a:r>
          </a:p>
          <a:p>
            <a:r>
              <a:rPr lang="en-IN" dirty="0"/>
              <a:t>All stored data in a database or an application must be physically independent to access the database. Each data should not depend on other data or an application. If data is updated or the physical structure of the database is changed, it will not show any effect on external applications that are accessing the data from the database.</a:t>
            </a:r>
          </a:p>
        </p:txBody>
      </p:sp>
    </p:spTree>
    <p:extLst>
      <p:ext uri="{BB962C8B-B14F-4D97-AF65-F5344CB8AC3E}">
        <p14:creationId xmlns:p14="http://schemas.microsoft.com/office/powerpoint/2010/main" val="3632767717"/>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7C7B98D9-8812-404B-8F08-3C5A3F3F3875}"/>
              </a:ext>
            </a:extLst>
          </p:cNvPr>
          <p:cNvSpPr>
            <a:spLocks noGrp="1"/>
          </p:cNvSpPr>
          <p:nvPr>
            <p:ph idx="1"/>
          </p:nvPr>
        </p:nvSpPr>
        <p:spPr>
          <a:xfrm>
            <a:off x="518615" y="685800"/>
            <a:ext cx="10609633" cy="5960660"/>
          </a:xfrm>
        </p:spPr>
        <p:txBody>
          <a:bodyPr/>
          <a:lstStyle/>
          <a:p>
            <a:pPr algn="just"/>
            <a:r>
              <a:rPr lang="en-IN" dirty="0"/>
              <a:t>Rule 9: Logical Data Independence Rule</a:t>
            </a:r>
          </a:p>
          <a:p>
            <a:pPr algn="just"/>
            <a:r>
              <a:rPr lang="en-IN" dirty="0"/>
              <a:t>It is similar to physical data independence. It means, if any changes occurred to the logical level (table structures), it should not affect the user's view (application). For example, suppose a table either split into two tables, or two table joins to create a single table, these changes should not be impacted on the user view application.</a:t>
            </a:r>
          </a:p>
          <a:p>
            <a:pPr algn="just"/>
            <a:endParaRPr lang="en-IN" dirty="0"/>
          </a:p>
          <a:p>
            <a:pPr algn="just"/>
            <a:r>
              <a:rPr lang="en-IN" dirty="0"/>
              <a:t>Rule 10: Integrity Independence Rule</a:t>
            </a:r>
          </a:p>
          <a:p>
            <a:pPr algn="just"/>
            <a:r>
              <a:rPr lang="en-IN" dirty="0"/>
              <a:t>A database must maintain integrity independence when inserting data into table's cells using the SQL query language. All entered values should not be changed or rely on any external factor or application to maintain integrity. It is also helpful in making the database-independent for each front-end application.</a:t>
            </a:r>
          </a:p>
        </p:txBody>
      </p:sp>
    </p:spTree>
    <p:extLst>
      <p:ext uri="{BB962C8B-B14F-4D97-AF65-F5344CB8AC3E}">
        <p14:creationId xmlns:p14="http://schemas.microsoft.com/office/powerpoint/2010/main" val="2305173071"/>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0542CA9A-6B67-4186-A2B0-7902C8316B2A}"/>
              </a:ext>
            </a:extLst>
          </p:cNvPr>
          <p:cNvSpPr>
            <a:spLocks noGrp="1"/>
          </p:cNvSpPr>
          <p:nvPr>
            <p:ph idx="1"/>
          </p:nvPr>
        </p:nvSpPr>
        <p:spPr>
          <a:xfrm>
            <a:off x="557784" y="685800"/>
            <a:ext cx="10570464" cy="5933363"/>
          </a:xfrm>
        </p:spPr>
        <p:txBody>
          <a:bodyPr/>
          <a:lstStyle/>
          <a:p>
            <a:pPr algn="just"/>
            <a:r>
              <a:rPr lang="en-IN" dirty="0"/>
              <a:t>Rule 11: Distribution Independence Rule</a:t>
            </a:r>
          </a:p>
          <a:p>
            <a:pPr algn="just"/>
            <a:r>
              <a:rPr lang="en-IN" dirty="0"/>
              <a:t>The distribution independence rule represents a database that must work properly, even if it is stored in different locations and used by different end-users. Suppose a user accesses the database through an application; in that case, they should not be aware that another user uses particular data, and the data they always get is only located on one site. The end users can access the database, and these access data should be independent for every user to perform the SQL queries.</a:t>
            </a:r>
          </a:p>
          <a:p>
            <a:pPr algn="just"/>
            <a:endParaRPr lang="en-IN" dirty="0"/>
          </a:p>
          <a:p>
            <a:pPr algn="just"/>
            <a:r>
              <a:rPr lang="en-IN" dirty="0"/>
              <a:t>Rule 12: Non Subversion Rule</a:t>
            </a:r>
          </a:p>
          <a:p>
            <a:pPr algn="just"/>
            <a:r>
              <a:rPr lang="en-IN" dirty="0"/>
              <a:t>The non-submersion rule defines RDBMS as a SQL language to store and manipulate the data in the database. If a system has a low-level or separate language other than SQL to access the database system, it should not subvert or bypass integrity to transform data.</a:t>
            </a:r>
          </a:p>
          <a:p>
            <a:pPr algn="just"/>
            <a:endParaRPr lang="en-IN" dirty="0"/>
          </a:p>
          <a:p>
            <a:pPr algn="just"/>
            <a:endParaRPr lang="en-IN" dirty="0"/>
          </a:p>
        </p:txBody>
      </p:sp>
    </p:spTree>
    <p:extLst>
      <p:ext uri="{BB962C8B-B14F-4D97-AF65-F5344CB8AC3E}">
        <p14:creationId xmlns:p14="http://schemas.microsoft.com/office/powerpoint/2010/main" val="4265735791"/>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6261884-3057-4C0B-A464-CC45715F52D3}"/>
              </a:ext>
            </a:extLst>
          </p:cNvPr>
          <p:cNvSpPr>
            <a:spLocks noGrp="1"/>
          </p:cNvSpPr>
          <p:nvPr>
            <p:ph type="title"/>
          </p:nvPr>
        </p:nvSpPr>
        <p:spPr/>
        <p:txBody>
          <a:bodyPr>
            <a:normAutofit/>
          </a:bodyPr>
          <a:lstStyle/>
          <a:p>
            <a:r>
              <a:rPr lang="en-IN" sz="4000" dirty="0"/>
              <a:t>Functional dependency</a:t>
            </a:r>
          </a:p>
        </p:txBody>
      </p:sp>
      <p:sp>
        <p:nvSpPr>
          <p:cNvPr id="3" name="Content Placeholder 2">
            <a:extLst>
              <a:ext uri="{FF2B5EF4-FFF2-40B4-BE49-F238E27FC236}">
                <a16:creationId xmlns:a16="http://schemas.microsoft.com/office/drawing/2014/main" id="{C08FD267-B2D4-43F8-82DB-60E33F99F8E3}"/>
              </a:ext>
            </a:extLst>
          </p:cNvPr>
          <p:cNvSpPr>
            <a:spLocks noGrp="1"/>
          </p:cNvSpPr>
          <p:nvPr>
            <p:ph idx="1"/>
          </p:nvPr>
        </p:nvSpPr>
        <p:spPr/>
        <p:txBody>
          <a:bodyPr>
            <a:normAutofit/>
          </a:bodyPr>
          <a:lstStyle/>
          <a:p>
            <a:pPr algn="just"/>
            <a:r>
              <a:rPr lang="en-IN" dirty="0"/>
              <a:t>A functional dependency is a constraint that specifies the relationship between two sets of attributes where one set can accurately determine the value of other sets. </a:t>
            </a:r>
          </a:p>
          <a:p>
            <a:pPr algn="just"/>
            <a:r>
              <a:rPr lang="en-IN" dirty="0"/>
              <a:t>A functional dependency is denoted by an arrow “→”. The functional dependency X → Y, where X is a set of attributes that is capable of determining the value of Y. </a:t>
            </a:r>
          </a:p>
          <a:p>
            <a:pPr algn="just"/>
            <a:r>
              <a:rPr lang="en-IN" dirty="0"/>
              <a:t>The attribute set on the left side of the arrow, X is called Determinant, while on the right side, Y is called the Dependent. </a:t>
            </a:r>
          </a:p>
          <a:p>
            <a:pPr algn="just"/>
            <a:r>
              <a:rPr lang="en-IN" dirty="0"/>
              <a:t>Functional dependencies are used to mathematically express relations among database entities and are very important to understand advanced concepts in Relational Database System </a:t>
            </a:r>
          </a:p>
        </p:txBody>
      </p:sp>
    </p:spTree>
    <p:extLst>
      <p:ext uri="{BB962C8B-B14F-4D97-AF65-F5344CB8AC3E}">
        <p14:creationId xmlns:p14="http://schemas.microsoft.com/office/powerpoint/2010/main" val="288926758"/>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4DA43DA-7410-4407-BA3B-A84DD938AF89}"/>
              </a:ext>
            </a:extLst>
          </p:cNvPr>
          <p:cNvSpPr>
            <a:spLocks noGrp="1"/>
          </p:cNvSpPr>
          <p:nvPr>
            <p:ph type="title"/>
          </p:nvPr>
        </p:nvSpPr>
        <p:spPr>
          <a:xfrm>
            <a:off x="350447" y="509735"/>
            <a:ext cx="7704478" cy="6442034"/>
          </a:xfrm>
        </p:spPr>
        <p:txBody>
          <a:bodyPr vert="horz" lIns="91440" tIns="45720" rIns="91440" bIns="45720" rtlCol="0">
            <a:noAutofit/>
          </a:bodyPr>
          <a:lstStyle/>
          <a:p>
            <a:pPr marL="457200" indent="-457200">
              <a:spcBef>
                <a:spcPts val="1000"/>
              </a:spcBef>
              <a:buFont typeface="Arial" panose="020B0604020202020204" pitchFamily="34" charset="0"/>
              <a:buChar char="•"/>
            </a:pPr>
            <a:r>
              <a:rPr lang="en-IN" sz="2000" dirty="0">
                <a:solidFill>
                  <a:schemeClr val="tx1"/>
                </a:solidFill>
                <a:latin typeface="+mn-lt"/>
                <a:ea typeface="+mn-ea"/>
                <a:cs typeface="+mn-cs"/>
              </a:rPr>
              <a:t>From the table we can conclude some valid functional dependencies:</a:t>
            </a:r>
            <a:br>
              <a:rPr lang="en-IN" sz="2000" dirty="0">
                <a:solidFill>
                  <a:schemeClr val="tx1"/>
                </a:solidFill>
                <a:latin typeface="+mn-lt"/>
                <a:ea typeface="+mn-ea"/>
                <a:cs typeface="+mn-cs"/>
              </a:rPr>
            </a:br>
            <a:br>
              <a:rPr lang="en-IN" sz="2000" dirty="0">
                <a:solidFill>
                  <a:schemeClr val="tx1"/>
                </a:solidFill>
                <a:latin typeface="+mn-lt"/>
                <a:ea typeface="+mn-ea"/>
                <a:cs typeface="+mn-cs"/>
              </a:rPr>
            </a:br>
            <a:r>
              <a:rPr lang="en-IN" sz="2000" dirty="0" err="1">
                <a:solidFill>
                  <a:schemeClr val="tx1"/>
                </a:solidFill>
                <a:latin typeface="+mn-lt"/>
                <a:ea typeface="+mn-ea"/>
                <a:cs typeface="+mn-cs"/>
              </a:rPr>
              <a:t>roll_no</a:t>
            </a:r>
            <a:r>
              <a:rPr lang="en-IN" sz="2000" dirty="0">
                <a:solidFill>
                  <a:schemeClr val="tx1"/>
                </a:solidFill>
                <a:latin typeface="+mn-lt"/>
                <a:ea typeface="+mn-ea"/>
                <a:cs typeface="+mn-cs"/>
              </a:rPr>
              <a:t> → { name, </a:t>
            </a:r>
            <a:r>
              <a:rPr lang="en-IN" sz="2000" dirty="0" err="1">
                <a:solidFill>
                  <a:schemeClr val="tx1"/>
                </a:solidFill>
                <a:latin typeface="+mn-lt"/>
                <a:ea typeface="+mn-ea"/>
                <a:cs typeface="+mn-cs"/>
              </a:rPr>
              <a:t>dept_name</a:t>
            </a:r>
            <a:r>
              <a:rPr lang="en-IN" sz="2000" dirty="0">
                <a:solidFill>
                  <a:schemeClr val="tx1"/>
                </a:solidFill>
                <a:latin typeface="+mn-lt"/>
                <a:ea typeface="+mn-ea"/>
                <a:cs typeface="+mn-cs"/>
              </a:rPr>
              <a:t>, </a:t>
            </a:r>
            <a:r>
              <a:rPr lang="en-IN" sz="2000" dirty="0" err="1">
                <a:solidFill>
                  <a:schemeClr val="tx1"/>
                </a:solidFill>
                <a:latin typeface="+mn-lt"/>
                <a:ea typeface="+mn-ea"/>
                <a:cs typeface="+mn-cs"/>
              </a:rPr>
              <a:t>dept_building</a:t>
            </a:r>
            <a:r>
              <a:rPr lang="en-IN" sz="2000" dirty="0">
                <a:solidFill>
                  <a:schemeClr val="tx1"/>
                </a:solidFill>
                <a:latin typeface="+mn-lt"/>
                <a:ea typeface="+mn-ea"/>
                <a:cs typeface="+mn-cs"/>
              </a:rPr>
              <a:t> },</a:t>
            </a:r>
            <a:br>
              <a:rPr lang="en-IN" sz="2000" dirty="0">
                <a:solidFill>
                  <a:schemeClr val="tx1"/>
                </a:solidFill>
                <a:latin typeface="+mn-lt"/>
                <a:ea typeface="+mn-ea"/>
                <a:cs typeface="+mn-cs"/>
              </a:rPr>
            </a:br>
            <a:r>
              <a:rPr lang="en-IN" sz="2000" dirty="0">
                <a:solidFill>
                  <a:schemeClr val="tx1"/>
                </a:solidFill>
                <a:latin typeface="+mn-lt"/>
                <a:ea typeface="+mn-ea"/>
                <a:cs typeface="+mn-cs"/>
              </a:rPr>
              <a:t>Here, </a:t>
            </a:r>
            <a:r>
              <a:rPr lang="en-IN" sz="2000" dirty="0" err="1">
                <a:solidFill>
                  <a:schemeClr val="tx1"/>
                </a:solidFill>
                <a:latin typeface="+mn-lt"/>
                <a:ea typeface="+mn-ea"/>
                <a:cs typeface="+mn-cs"/>
              </a:rPr>
              <a:t>roll_no</a:t>
            </a:r>
            <a:r>
              <a:rPr lang="en-IN" sz="2000" dirty="0">
                <a:solidFill>
                  <a:schemeClr val="tx1"/>
                </a:solidFill>
                <a:latin typeface="+mn-lt"/>
                <a:ea typeface="+mn-ea"/>
                <a:cs typeface="+mn-cs"/>
              </a:rPr>
              <a:t> can determine values of fields name, </a:t>
            </a:r>
            <a:r>
              <a:rPr lang="en-IN" sz="2000" dirty="0" err="1">
                <a:solidFill>
                  <a:schemeClr val="tx1"/>
                </a:solidFill>
                <a:latin typeface="+mn-lt"/>
                <a:ea typeface="+mn-ea"/>
                <a:cs typeface="+mn-cs"/>
              </a:rPr>
              <a:t>dept_name</a:t>
            </a:r>
            <a:r>
              <a:rPr lang="en-IN" sz="2000" dirty="0">
                <a:solidFill>
                  <a:schemeClr val="tx1"/>
                </a:solidFill>
                <a:latin typeface="+mn-lt"/>
                <a:ea typeface="+mn-ea"/>
                <a:cs typeface="+mn-cs"/>
              </a:rPr>
              <a:t> and </a:t>
            </a:r>
            <a:r>
              <a:rPr lang="en-IN" sz="2000" dirty="0" err="1">
                <a:solidFill>
                  <a:schemeClr val="tx1"/>
                </a:solidFill>
                <a:latin typeface="+mn-lt"/>
                <a:ea typeface="+mn-ea"/>
                <a:cs typeface="+mn-cs"/>
              </a:rPr>
              <a:t>dept_building</a:t>
            </a:r>
            <a:r>
              <a:rPr lang="en-IN" sz="2000" dirty="0">
                <a:solidFill>
                  <a:schemeClr val="tx1"/>
                </a:solidFill>
                <a:latin typeface="+mn-lt"/>
                <a:ea typeface="+mn-ea"/>
                <a:cs typeface="+mn-cs"/>
              </a:rPr>
              <a:t>, </a:t>
            </a:r>
            <a:br>
              <a:rPr lang="en-IN" sz="2000" dirty="0">
                <a:solidFill>
                  <a:schemeClr val="tx1"/>
                </a:solidFill>
                <a:latin typeface="+mn-lt"/>
                <a:ea typeface="+mn-ea"/>
                <a:cs typeface="+mn-cs"/>
              </a:rPr>
            </a:br>
            <a:br>
              <a:rPr lang="en-IN" sz="2000" dirty="0">
                <a:solidFill>
                  <a:schemeClr val="tx1"/>
                </a:solidFill>
                <a:latin typeface="+mn-lt"/>
                <a:ea typeface="+mn-ea"/>
                <a:cs typeface="+mn-cs"/>
              </a:rPr>
            </a:br>
            <a:r>
              <a:rPr lang="en-IN" sz="2000" dirty="0" err="1">
                <a:solidFill>
                  <a:schemeClr val="tx1"/>
                </a:solidFill>
                <a:latin typeface="+mn-lt"/>
                <a:ea typeface="+mn-ea"/>
                <a:cs typeface="+mn-cs"/>
              </a:rPr>
              <a:t>roll_no</a:t>
            </a:r>
            <a:r>
              <a:rPr lang="en-IN" sz="2000" dirty="0">
                <a:solidFill>
                  <a:schemeClr val="tx1"/>
                </a:solidFill>
                <a:latin typeface="+mn-lt"/>
                <a:ea typeface="+mn-ea"/>
                <a:cs typeface="+mn-cs"/>
              </a:rPr>
              <a:t> → </a:t>
            </a:r>
            <a:r>
              <a:rPr lang="en-IN" sz="2000" dirty="0" err="1">
                <a:solidFill>
                  <a:schemeClr val="tx1"/>
                </a:solidFill>
                <a:latin typeface="+mn-lt"/>
                <a:ea typeface="+mn-ea"/>
                <a:cs typeface="+mn-cs"/>
              </a:rPr>
              <a:t>dept_name</a:t>
            </a:r>
            <a:r>
              <a:rPr lang="en-IN" sz="2000" dirty="0">
                <a:solidFill>
                  <a:schemeClr val="tx1"/>
                </a:solidFill>
                <a:latin typeface="+mn-lt"/>
                <a:ea typeface="+mn-ea"/>
                <a:cs typeface="+mn-cs"/>
              </a:rPr>
              <a:t> , Since, </a:t>
            </a:r>
            <a:r>
              <a:rPr lang="en-IN" sz="2000" dirty="0" err="1">
                <a:solidFill>
                  <a:schemeClr val="tx1"/>
                </a:solidFill>
                <a:latin typeface="+mn-lt"/>
                <a:ea typeface="+mn-ea"/>
                <a:cs typeface="+mn-cs"/>
              </a:rPr>
              <a:t>roll_no</a:t>
            </a:r>
            <a:r>
              <a:rPr lang="en-IN" sz="2000" dirty="0">
                <a:solidFill>
                  <a:schemeClr val="tx1"/>
                </a:solidFill>
                <a:latin typeface="+mn-lt"/>
                <a:ea typeface="+mn-ea"/>
                <a:cs typeface="+mn-cs"/>
              </a:rPr>
              <a:t> can determine whole set of {name, </a:t>
            </a:r>
            <a:r>
              <a:rPr lang="en-IN" sz="2000" dirty="0" err="1">
                <a:solidFill>
                  <a:schemeClr val="tx1"/>
                </a:solidFill>
                <a:latin typeface="+mn-lt"/>
                <a:ea typeface="+mn-ea"/>
                <a:cs typeface="+mn-cs"/>
              </a:rPr>
              <a:t>dept_name</a:t>
            </a:r>
            <a:r>
              <a:rPr lang="en-IN" sz="2000" dirty="0">
                <a:solidFill>
                  <a:schemeClr val="tx1"/>
                </a:solidFill>
                <a:latin typeface="+mn-lt"/>
                <a:ea typeface="+mn-ea"/>
                <a:cs typeface="+mn-cs"/>
              </a:rPr>
              <a:t>, </a:t>
            </a:r>
            <a:r>
              <a:rPr lang="en-IN" sz="2000" dirty="0" err="1">
                <a:solidFill>
                  <a:schemeClr val="tx1"/>
                </a:solidFill>
                <a:latin typeface="+mn-lt"/>
                <a:ea typeface="+mn-ea"/>
                <a:cs typeface="+mn-cs"/>
              </a:rPr>
              <a:t>dept_building</a:t>
            </a:r>
            <a:r>
              <a:rPr lang="en-IN" sz="2000" dirty="0">
                <a:solidFill>
                  <a:schemeClr val="tx1"/>
                </a:solidFill>
                <a:latin typeface="+mn-lt"/>
                <a:ea typeface="+mn-ea"/>
                <a:cs typeface="+mn-cs"/>
              </a:rPr>
              <a:t>}, it can determine its subset </a:t>
            </a:r>
            <a:r>
              <a:rPr lang="en-IN" sz="2000" dirty="0" err="1">
                <a:solidFill>
                  <a:schemeClr val="tx1"/>
                </a:solidFill>
                <a:latin typeface="+mn-lt"/>
                <a:ea typeface="+mn-ea"/>
                <a:cs typeface="+mn-cs"/>
              </a:rPr>
              <a:t>dept_name</a:t>
            </a:r>
            <a:r>
              <a:rPr lang="en-IN" sz="2000" dirty="0">
                <a:solidFill>
                  <a:schemeClr val="tx1"/>
                </a:solidFill>
                <a:latin typeface="+mn-lt"/>
                <a:ea typeface="+mn-ea"/>
                <a:cs typeface="+mn-cs"/>
              </a:rPr>
              <a:t> also.</a:t>
            </a:r>
            <a:br>
              <a:rPr lang="en-IN" sz="2000" dirty="0">
                <a:solidFill>
                  <a:schemeClr val="tx1"/>
                </a:solidFill>
                <a:latin typeface="+mn-lt"/>
                <a:ea typeface="+mn-ea"/>
                <a:cs typeface="+mn-cs"/>
              </a:rPr>
            </a:br>
            <a:br>
              <a:rPr lang="en-IN" sz="2000" dirty="0">
                <a:solidFill>
                  <a:schemeClr val="tx1"/>
                </a:solidFill>
                <a:latin typeface="+mn-lt"/>
                <a:ea typeface="+mn-ea"/>
                <a:cs typeface="+mn-cs"/>
              </a:rPr>
            </a:br>
            <a:r>
              <a:rPr lang="en-IN" sz="2000" dirty="0" err="1">
                <a:solidFill>
                  <a:schemeClr val="tx1"/>
                </a:solidFill>
                <a:latin typeface="+mn-lt"/>
                <a:ea typeface="+mn-ea"/>
                <a:cs typeface="+mn-cs"/>
              </a:rPr>
              <a:t>dept_name</a:t>
            </a:r>
            <a:r>
              <a:rPr lang="en-IN" sz="2000" dirty="0">
                <a:solidFill>
                  <a:schemeClr val="tx1"/>
                </a:solidFill>
                <a:latin typeface="+mn-lt"/>
                <a:ea typeface="+mn-ea"/>
                <a:cs typeface="+mn-cs"/>
              </a:rPr>
              <a:t> → </a:t>
            </a:r>
            <a:r>
              <a:rPr lang="en-IN" sz="2000" dirty="0" err="1">
                <a:solidFill>
                  <a:schemeClr val="tx1"/>
                </a:solidFill>
                <a:latin typeface="+mn-lt"/>
                <a:ea typeface="+mn-ea"/>
                <a:cs typeface="+mn-cs"/>
              </a:rPr>
              <a:t>dept_building</a:t>
            </a:r>
            <a:r>
              <a:rPr lang="en-IN" sz="2000" dirty="0">
                <a:solidFill>
                  <a:schemeClr val="tx1"/>
                </a:solidFill>
                <a:latin typeface="+mn-lt"/>
                <a:ea typeface="+mn-ea"/>
                <a:cs typeface="+mn-cs"/>
              </a:rPr>
              <a:t> ,  </a:t>
            </a:r>
            <a:r>
              <a:rPr lang="en-IN" sz="2000" dirty="0" err="1">
                <a:solidFill>
                  <a:schemeClr val="tx1"/>
                </a:solidFill>
                <a:latin typeface="+mn-lt"/>
                <a:ea typeface="+mn-ea"/>
                <a:cs typeface="+mn-cs"/>
              </a:rPr>
              <a:t>Dept_name</a:t>
            </a:r>
            <a:r>
              <a:rPr lang="en-IN" sz="2000" dirty="0">
                <a:solidFill>
                  <a:schemeClr val="tx1"/>
                </a:solidFill>
                <a:latin typeface="+mn-lt"/>
                <a:ea typeface="+mn-ea"/>
                <a:cs typeface="+mn-cs"/>
              </a:rPr>
              <a:t> can identify the </a:t>
            </a:r>
            <a:r>
              <a:rPr lang="en-IN" sz="2000" dirty="0" err="1">
                <a:solidFill>
                  <a:schemeClr val="tx1"/>
                </a:solidFill>
                <a:latin typeface="+mn-lt"/>
                <a:ea typeface="+mn-ea"/>
                <a:cs typeface="+mn-cs"/>
              </a:rPr>
              <a:t>dept_building</a:t>
            </a:r>
            <a:r>
              <a:rPr lang="en-IN" sz="2000" dirty="0">
                <a:solidFill>
                  <a:schemeClr val="tx1"/>
                </a:solidFill>
                <a:latin typeface="+mn-lt"/>
                <a:ea typeface="+mn-ea"/>
                <a:cs typeface="+mn-cs"/>
              </a:rPr>
              <a:t> accurately, since departments with different </a:t>
            </a:r>
            <a:r>
              <a:rPr lang="en-IN" sz="2000" dirty="0" err="1">
                <a:solidFill>
                  <a:schemeClr val="tx1"/>
                </a:solidFill>
                <a:latin typeface="+mn-lt"/>
                <a:ea typeface="+mn-ea"/>
                <a:cs typeface="+mn-cs"/>
              </a:rPr>
              <a:t>dept_name</a:t>
            </a:r>
            <a:r>
              <a:rPr lang="en-IN" sz="2000" dirty="0">
                <a:solidFill>
                  <a:schemeClr val="tx1"/>
                </a:solidFill>
                <a:latin typeface="+mn-lt"/>
                <a:ea typeface="+mn-ea"/>
                <a:cs typeface="+mn-cs"/>
              </a:rPr>
              <a:t> will also have a different </a:t>
            </a:r>
            <a:r>
              <a:rPr lang="en-IN" sz="2000" dirty="0" err="1">
                <a:solidFill>
                  <a:schemeClr val="tx1"/>
                </a:solidFill>
                <a:latin typeface="+mn-lt"/>
                <a:ea typeface="+mn-ea"/>
                <a:cs typeface="+mn-cs"/>
              </a:rPr>
              <a:t>dept_building</a:t>
            </a:r>
            <a:br>
              <a:rPr lang="en-IN" sz="2000" dirty="0">
                <a:solidFill>
                  <a:schemeClr val="tx1"/>
                </a:solidFill>
                <a:latin typeface="+mn-lt"/>
                <a:ea typeface="+mn-ea"/>
                <a:cs typeface="+mn-cs"/>
              </a:rPr>
            </a:br>
            <a:br>
              <a:rPr lang="en-IN" sz="2000" dirty="0">
                <a:solidFill>
                  <a:schemeClr val="tx1"/>
                </a:solidFill>
                <a:latin typeface="+mn-lt"/>
                <a:ea typeface="+mn-ea"/>
                <a:cs typeface="+mn-cs"/>
              </a:rPr>
            </a:br>
            <a:r>
              <a:rPr lang="en-IN" sz="2000" dirty="0">
                <a:solidFill>
                  <a:schemeClr val="tx1"/>
                </a:solidFill>
                <a:latin typeface="+mn-lt"/>
                <a:ea typeface="+mn-ea"/>
                <a:cs typeface="+mn-cs"/>
              </a:rPr>
              <a:t>More valid functional dependencies: </a:t>
            </a:r>
            <a:r>
              <a:rPr lang="en-IN" sz="2000" dirty="0" err="1">
                <a:solidFill>
                  <a:schemeClr val="tx1"/>
                </a:solidFill>
                <a:latin typeface="+mn-lt"/>
                <a:ea typeface="+mn-ea"/>
                <a:cs typeface="+mn-cs"/>
              </a:rPr>
              <a:t>roll_no</a:t>
            </a:r>
            <a:r>
              <a:rPr lang="en-IN" sz="2000" dirty="0">
                <a:solidFill>
                  <a:schemeClr val="tx1"/>
                </a:solidFill>
                <a:latin typeface="+mn-lt"/>
                <a:ea typeface="+mn-ea"/>
                <a:cs typeface="+mn-cs"/>
              </a:rPr>
              <a:t> → name, {</a:t>
            </a:r>
            <a:r>
              <a:rPr lang="en-IN" sz="2000" dirty="0" err="1">
                <a:solidFill>
                  <a:schemeClr val="tx1"/>
                </a:solidFill>
                <a:latin typeface="+mn-lt"/>
                <a:ea typeface="+mn-ea"/>
                <a:cs typeface="+mn-cs"/>
              </a:rPr>
              <a:t>roll_no</a:t>
            </a:r>
            <a:r>
              <a:rPr lang="en-IN" sz="2000" dirty="0">
                <a:solidFill>
                  <a:schemeClr val="tx1"/>
                </a:solidFill>
                <a:latin typeface="+mn-lt"/>
                <a:ea typeface="+mn-ea"/>
                <a:cs typeface="+mn-cs"/>
              </a:rPr>
              <a:t>, name} ⇢ {</a:t>
            </a:r>
            <a:r>
              <a:rPr lang="en-IN" sz="2000" dirty="0" err="1">
                <a:solidFill>
                  <a:schemeClr val="tx1"/>
                </a:solidFill>
                <a:latin typeface="+mn-lt"/>
                <a:ea typeface="+mn-ea"/>
                <a:cs typeface="+mn-cs"/>
              </a:rPr>
              <a:t>dept_name</a:t>
            </a:r>
            <a:r>
              <a:rPr lang="en-IN" sz="2000" dirty="0">
                <a:solidFill>
                  <a:schemeClr val="tx1"/>
                </a:solidFill>
                <a:latin typeface="+mn-lt"/>
                <a:ea typeface="+mn-ea"/>
                <a:cs typeface="+mn-cs"/>
              </a:rPr>
              <a:t>, </a:t>
            </a:r>
            <a:r>
              <a:rPr lang="en-IN" sz="2000" dirty="0" err="1">
                <a:solidFill>
                  <a:schemeClr val="tx1"/>
                </a:solidFill>
                <a:latin typeface="+mn-lt"/>
                <a:ea typeface="+mn-ea"/>
                <a:cs typeface="+mn-cs"/>
              </a:rPr>
              <a:t>dept_building</a:t>
            </a:r>
            <a:r>
              <a:rPr lang="en-IN" sz="2000" dirty="0">
                <a:solidFill>
                  <a:schemeClr val="tx1"/>
                </a:solidFill>
                <a:latin typeface="+mn-lt"/>
                <a:ea typeface="+mn-ea"/>
                <a:cs typeface="+mn-cs"/>
              </a:rPr>
              <a:t>}, etc.</a:t>
            </a:r>
          </a:p>
        </p:txBody>
      </p:sp>
      <p:pic>
        <p:nvPicPr>
          <p:cNvPr id="7" name="Picture 6">
            <a:extLst>
              <a:ext uri="{FF2B5EF4-FFF2-40B4-BE49-F238E27FC236}">
                <a16:creationId xmlns:a16="http://schemas.microsoft.com/office/drawing/2014/main" id="{9ED7A525-09FB-486C-B268-EF5CEBCE1FB5}"/>
              </a:ext>
            </a:extLst>
          </p:cNvPr>
          <p:cNvPicPr>
            <a:picLocks noChangeAspect="1"/>
          </p:cNvPicPr>
          <p:nvPr/>
        </p:nvPicPr>
        <p:blipFill>
          <a:blip r:embed="rId2"/>
          <a:stretch>
            <a:fillRect/>
          </a:stretch>
        </p:blipFill>
        <p:spPr>
          <a:xfrm>
            <a:off x="7778804" y="711370"/>
            <a:ext cx="3800475" cy="3743325"/>
          </a:xfrm>
          <a:prstGeom prst="rect">
            <a:avLst/>
          </a:prstGeom>
        </p:spPr>
      </p:pic>
    </p:spTree>
    <p:extLst>
      <p:ext uri="{BB962C8B-B14F-4D97-AF65-F5344CB8AC3E}">
        <p14:creationId xmlns:p14="http://schemas.microsoft.com/office/powerpoint/2010/main" val="2902654644"/>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1628619-B75E-40C3-8B14-22DDB21C4E99}"/>
              </a:ext>
            </a:extLst>
          </p:cNvPr>
          <p:cNvSpPr>
            <a:spLocks noGrp="1"/>
          </p:cNvSpPr>
          <p:nvPr>
            <p:ph type="title"/>
          </p:nvPr>
        </p:nvSpPr>
        <p:spPr>
          <a:xfrm>
            <a:off x="407963" y="280719"/>
            <a:ext cx="9330397" cy="1325563"/>
          </a:xfrm>
        </p:spPr>
        <p:txBody>
          <a:bodyPr>
            <a:normAutofit/>
          </a:bodyPr>
          <a:lstStyle/>
          <a:p>
            <a:pPr algn="ctr"/>
            <a:r>
              <a:rPr lang="en-IN" sz="3600" dirty="0"/>
              <a:t>Armstrong’s axioms/properties of functional dependencies:</a:t>
            </a:r>
          </a:p>
        </p:txBody>
      </p:sp>
      <p:sp>
        <p:nvSpPr>
          <p:cNvPr id="3" name="Content Placeholder 2">
            <a:extLst>
              <a:ext uri="{FF2B5EF4-FFF2-40B4-BE49-F238E27FC236}">
                <a16:creationId xmlns:a16="http://schemas.microsoft.com/office/drawing/2014/main" id="{CD9BA85F-8F75-465D-BD4C-B8C16DC88A7A}"/>
              </a:ext>
            </a:extLst>
          </p:cNvPr>
          <p:cNvSpPr>
            <a:spLocks noGrp="1"/>
          </p:cNvSpPr>
          <p:nvPr>
            <p:ph idx="1"/>
          </p:nvPr>
        </p:nvSpPr>
        <p:spPr>
          <a:xfrm>
            <a:off x="838200" y="1825624"/>
            <a:ext cx="10515600" cy="4856529"/>
          </a:xfrm>
        </p:spPr>
        <p:txBody>
          <a:bodyPr>
            <a:normAutofit/>
          </a:bodyPr>
          <a:lstStyle/>
          <a:p>
            <a:r>
              <a:rPr lang="en-IN" sz="2400" dirty="0"/>
              <a:t>Reflexivity: If Y is a subset of X, then X→Y holds by reflexivity rule</a:t>
            </a:r>
          </a:p>
          <a:p>
            <a:pPr lvl="1"/>
            <a:r>
              <a:rPr lang="en-IN" sz="2000" dirty="0"/>
              <a:t>For example, {</a:t>
            </a:r>
            <a:r>
              <a:rPr lang="en-IN" sz="2000" dirty="0" err="1"/>
              <a:t>roll_no</a:t>
            </a:r>
            <a:r>
              <a:rPr lang="en-IN" sz="2000" dirty="0"/>
              <a:t>, name} → name is valid.</a:t>
            </a:r>
          </a:p>
          <a:p>
            <a:r>
              <a:rPr lang="en-IN" sz="2400" dirty="0"/>
              <a:t>Augmentation: If X → Y is a valid dependency, then XZ → YZ is also valid by the augmentation rule.</a:t>
            </a:r>
          </a:p>
          <a:p>
            <a:pPr lvl="1"/>
            <a:r>
              <a:rPr lang="en-IN" sz="2000" dirty="0"/>
              <a:t>For example, If {</a:t>
            </a:r>
            <a:r>
              <a:rPr lang="en-IN" sz="2000" dirty="0" err="1"/>
              <a:t>roll_no</a:t>
            </a:r>
            <a:r>
              <a:rPr lang="en-IN" sz="2000" dirty="0"/>
              <a:t>, name} → </a:t>
            </a:r>
            <a:r>
              <a:rPr lang="en-IN" sz="2000" dirty="0" err="1"/>
              <a:t>dept_building</a:t>
            </a:r>
            <a:r>
              <a:rPr lang="en-IN" sz="2000" dirty="0"/>
              <a:t> is valid, hence {</a:t>
            </a:r>
            <a:r>
              <a:rPr lang="en-IN" sz="2000" dirty="0" err="1"/>
              <a:t>roll_no</a:t>
            </a:r>
            <a:r>
              <a:rPr lang="en-IN" sz="2000" dirty="0"/>
              <a:t>, name, </a:t>
            </a:r>
            <a:r>
              <a:rPr lang="en-IN" sz="2000" dirty="0" err="1"/>
              <a:t>dept_name</a:t>
            </a:r>
            <a:r>
              <a:rPr lang="en-IN" sz="2000" dirty="0"/>
              <a:t>} → {</a:t>
            </a:r>
            <a:r>
              <a:rPr lang="en-IN" sz="2000" dirty="0" err="1"/>
              <a:t>dept_building</a:t>
            </a:r>
            <a:r>
              <a:rPr lang="en-IN" sz="2000" dirty="0"/>
              <a:t>, </a:t>
            </a:r>
            <a:r>
              <a:rPr lang="en-IN" sz="2000" dirty="0" err="1"/>
              <a:t>dept_name</a:t>
            </a:r>
            <a:r>
              <a:rPr lang="en-IN" sz="2000" dirty="0"/>
              <a:t>} is also valid.→</a:t>
            </a:r>
          </a:p>
          <a:p>
            <a:r>
              <a:rPr lang="en-IN" sz="2400" dirty="0"/>
              <a:t>Transitivity: If X → Y and Y → Z are both valid dependencies, then X→Z is also valid by the Transitivity rule.</a:t>
            </a:r>
          </a:p>
          <a:p>
            <a:pPr lvl="1"/>
            <a:r>
              <a:rPr lang="en-IN" sz="2000" dirty="0"/>
              <a:t>For example, </a:t>
            </a:r>
            <a:r>
              <a:rPr lang="en-IN" sz="2000" dirty="0" err="1"/>
              <a:t>roll_no</a:t>
            </a:r>
            <a:r>
              <a:rPr lang="en-IN" sz="2000" dirty="0"/>
              <a:t> → </a:t>
            </a:r>
            <a:r>
              <a:rPr lang="en-IN" sz="2000" dirty="0" err="1"/>
              <a:t>dept_name</a:t>
            </a:r>
            <a:r>
              <a:rPr lang="en-IN" sz="2000" dirty="0"/>
              <a:t> &amp; </a:t>
            </a:r>
            <a:r>
              <a:rPr lang="en-IN" sz="2000" dirty="0" err="1"/>
              <a:t>dept_name</a:t>
            </a:r>
            <a:r>
              <a:rPr lang="en-IN" sz="2000" dirty="0"/>
              <a:t> → </a:t>
            </a:r>
            <a:r>
              <a:rPr lang="en-IN" sz="2000" dirty="0" err="1"/>
              <a:t>dept_building</a:t>
            </a:r>
            <a:r>
              <a:rPr lang="en-IN" sz="2000" dirty="0"/>
              <a:t>, then </a:t>
            </a:r>
            <a:r>
              <a:rPr lang="en-IN" sz="2000" dirty="0" err="1"/>
              <a:t>roll_no</a:t>
            </a:r>
            <a:r>
              <a:rPr lang="en-IN" sz="2000" dirty="0"/>
              <a:t> → </a:t>
            </a:r>
            <a:r>
              <a:rPr lang="en-IN" sz="2000" dirty="0" err="1"/>
              <a:t>dept_building</a:t>
            </a:r>
            <a:r>
              <a:rPr lang="en-IN" sz="2000" dirty="0"/>
              <a:t> is also valid.</a:t>
            </a:r>
          </a:p>
        </p:txBody>
      </p:sp>
    </p:spTree>
    <p:extLst>
      <p:ext uri="{BB962C8B-B14F-4D97-AF65-F5344CB8AC3E}">
        <p14:creationId xmlns:p14="http://schemas.microsoft.com/office/powerpoint/2010/main" val="2210789001"/>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BEACF7B-22D5-4A75-A299-43EABDDDE586}"/>
              </a:ext>
            </a:extLst>
          </p:cNvPr>
          <p:cNvSpPr>
            <a:spLocks noGrp="1"/>
          </p:cNvSpPr>
          <p:nvPr>
            <p:ph type="title"/>
          </p:nvPr>
        </p:nvSpPr>
        <p:spPr/>
        <p:txBody>
          <a:bodyPr/>
          <a:lstStyle/>
          <a:p>
            <a:r>
              <a:rPr lang="en-IN" dirty="0"/>
              <a:t>Types of Functional dependencies</a:t>
            </a:r>
          </a:p>
        </p:txBody>
      </p:sp>
      <p:sp>
        <p:nvSpPr>
          <p:cNvPr id="3" name="Content Placeholder 2">
            <a:extLst>
              <a:ext uri="{FF2B5EF4-FFF2-40B4-BE49-F238E27FC236}">
                <a16:creationId xmlns:a16="http://schemas.microsoft.com/office/drawing/2014/main" id="{278B1C78-2925-42B7-9413-D7EB9E3FFA4A}"/>
              </a:ext>
            </a:extLst>
          </p:cNvPr>
          <p:cNvSpPr>
            <a:spLocks noGrp="1"/>
          </p:cNvSpPr>
          <p:nvPr>
            <p:ph idx="1"/>
          </p:nvPr>
        </p:nvSpPr>
        <p:spPr/>
        <p:txBody>
          <a:bodyPr/>
          <a:lstStyle/>
          <a:p>
            <a:r>
              <a:rPr lang="en-IN" dirty="0"/>
              <a:t>Trivial functional dependency</a:t>
            </a:r>
          </a:p>
          <a:p>
            <a:r>
              <a:rPr lang="en-IN" dirty="0"/>
              <a:t>Non-Trivial functional dependency</a:t>
            </a:r>
          </a:p>
          <a:p>
            <a:r>
              <a:rPr lang="en-IN" dirty="0"/>
              <a:t>Multivalued functional dependency</a:t>
            </a:r>
          </a:p>
          <a:p>
            <a:r>
              <a:rPr lang="en-IN" dirty="0"/>
              <a:t>Transitive functional dependency</a:t>
            </a:r>
          </a:p>
        </p:txBody>
      </p:sp>
    </p:spTree>
    <p:extLst>
      <p:ext uri="{BB962C8B-B14F-4D97-AF65-F5344CB8AC3E}">
        <p14:creationId xmlns:p14="http://schemas.microsoft.com/office/powerpoint/2010/main" val="3362328999"/>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BAEC2C9-F31C-4AD9-8727-3CBC1946CD9D}"/>
              </a:ext>
            </a:extLst>
          </p:cNvPr>
          <p:cNvSpPr>
            <a:spLocks noGrp="1"/>
          </p:cNvSpPr>
          <p:nvPr>
            <p:ph type="title"/>
          </p:nvPr>
        </p:nvSpPr>
        <p:spPr/>
        <p:txBody>
          <a:bodyPr/>
          <a:lstStyle/>
          <a:p>
            <a:r>
              <a:rPr lang="en-IN" dirty="0"/>
              <a:t>1. Trivial Functional Dependency</a:t>
            </a:r>
          </a:p>
        </p:txBody>
      </p:sp>
      <p:sp>
        <p:nvSpPr>
          <p:cNvPr id="3" name="Content Placeholder 2">
            <a:extLst>
              <a:ext uri="{FF2B5EF4-FFF2-40B4-BE49-F238E27FC236}">
                <a16:creationId xmlns:a16="http://schemas.microsoft.com/office/drawing/2014/main" id="{EAF6C15F-0757-4D4D-A225-BE5011705C78}"/>
              </a:ext>
            </a:extLst>
          </p:cNvPr>
          <p:cNvSpPr>
            <a:spLocks noGrp="1"/>
          </p:cNvSpPr>
          <p:nvPr>
            <p:ph idx="1"/>
          </p:nvPr>
        </p:nvSpPr>
        <p:spPr>
          <a:xfrm>
            <a:off x="838200" y="1491176"/>
            <a:ext cx="9177997" cy="5001700"/>
          </a:xfrm>
        </p:spPr>
        <p:txBody>
          <a:bodyPr>
            <a:normAutofit/>
          </a:bodyPr>
          <a:lstStyle/>
          <a:p>
            <a:r>
              <a:rPr lang="en-IN" dirty="0"/>
              <a:t>In Trivial Functional Dependency, a dependent is always a subset of the determinant.</a:t>
            </a:r>
          </a:p>
          <a:p>
            <a:r>
              <a:rPr lang="en-IN" dirty="0"/>
              <a:t>i.e. If X → Y and Y is the subset of X, then it is called trivial functional dependency</a:t>
            </a:r>
          </a:p>
          <a:p>
            <a:r>
              <a:rPr lang="en-IN" dirty="0"/>
              <a:t>Here, {</a:t>
            </a:r>
            <a:r>
              <a:rPr lang="en-IN" dirty="0" err="1"/>
              <a:t>roll_no</a:t>
            </a:r>
            <a:r>
              <a:rPr lang="en-IN" dirty="0"/>
              <a:t>, name} → name is a trivial functional dependency, since the dependent name is a subset of determinant set {</a:t>
            </a:r>
            <a:r>
              <a:rPr lang="en-IN" dirty="0" err="1"/>
              <a:t>roll_no</a:t>
            </a:r>
            <a:r>
              <a:rPr lang="en-IN" dirty="0"/>
              <a:t>, name}</a:t>
            </a:r>
          </a:p>
          <a:p>
            <a:r>
              <a:rPr lang="en-IN" dirty="0"/>
              <a:t>Similarly, </a:t>
            </a:r>
            <a:r>
              <a:rPr lang="en-IN" dirty="0" err="1"/>
              <a:t>roll_no</a:t>
            </a:r>
            <a:r>
              <a:rPr lang="en-IN" dirty="0"/>
              <a:t> → </a:t>
            </a:r>
            <a:r>
              <a:rPr lang="en-IN" dirty="0" err="1"/>
              <a:t>roll_no</a:t>
            </a:r>
            <a:r>
              <a:rPr lang="en-IN" dirty="0"/>
              <a:t> is also an example of trivial functional dependency. </a:t>
            </a:r>
          </a:p>
        </p:txBody>
      </p:sp>
      <p:pic>
        <p:nvPicPr>
          <p:cNvPr id="5" name="Picture 4">
            <a:extLst>
              <a:ext uri="{FF2B5EF4-FFF2-40B4-BE49-F238E27FC236}">
                <a16:creationId xmlns:a16="http://schemas.microsoft.com/office/drawing/2014/main" id="{92E94951-E848-49B1-85C2-B7815005E53F}"/>
              </a:ext>
            </a:extLst>
          </p:cNvPr>
          <p:cNvPicPr>
            <a:picLocks noChangeAspect="1"/>
          </p:cNvPicPr>
          <p:nvPr/>
        </p:nvPicPr>
        <p:blipFill>
          <a:blip r:embed="rId2"/>
          <a:stretch>
            <a:fillRect/>
          </a:stretch>
        </p:blipFill>
        <p:spPr>
          <a:xfrm>
            <a:off x="6307250" y="3842915"/>
            <a:ext cx="2458109" cy="2649961"/>
          </a:xfrm>
          <a:prstGeom prst="rect">
            <a:avLst/>
          </a:prstGeom>
        </p:spPr>
      </p:pic>
    </p:spTree>
    <p:extLst>
      <p:ext uri="{BB962C8B-B14F-4D97-AF65-F5344CB8AC3E}">
        <p14:creationId xmlns:p14="http://schemas.microsoft.com/office/powerpoint/2010/main" val="1928961979"/>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8C20EEA-CF38-4B4A-A651-6174ABBF381C}"/>
              </a:ext>
            </a:extLst>
          </p:cNvPr>
          <p:cNvSpPr>
            <a:spLocks noGrp="1"/>
          </p:cNvSpPr>
          <p:nvPr>
            <p:ph type="title"/>
          </p:nvPr>
        </p:nvSpPr>
        <p:spPr>
          <a:xfrm>
            <a:off x="677334" y="609600"/>
            <a:ext cx="8596668" cy="880872"/>
          </a:xfrm>
        </p:spPr>
        <p:txBody>
          <a:bodyPr/>
          <a:lstStyle/>
          <a:p>
            <a:r>
              <a:rPr lang="en-IN" dirty="0"/>
              <a:t>2. Non-trivial Functional Dependency</a:t>
            </a:r>
          </a:p>
        </p:txBody>
      </p:sp>
      <p:sp>
        <p:nvSpPr>
          <p:cNvPr id="3" name="Content Placeholder 2">
            <a:extLst>
              <a:ext uri="{FF2B5EF4-FFF2-40B4-BE49-F238E27FC236}">
                <a16:creationId xmlns:a16="http://schemas.microsoft.com/office/drawing/2014/main" id="{1E3878B3-C8A2-463C-B7E6-B04C24718C06}"/>
              </a:ext>
            </a:extLst>
          </p:cNvPr>
          <p:cNvSpPr>
            <a:spLocks noGrp="1"/>
          </p:cNvSpPr>
          <p:nvPr>
            <p:ph idx="1"/>
          </p:nvPr>
        </p:nvSpPr>
        <p:spPr>
          <a:xfrm>
            <a:off x="774192" y="1560449"/>
            <a:ext cx="8798170" cy="4351338"/>
          </a:xfrm>
        </p:spPr>
        <p:txBody>
          <a:bodyPr/>
          <a:lstStyle/>
          <a:p>
            <a:r>
              <a:rPr lang="en-IN" dirty="0"/>
              <a:t>In Non-trivial functional dependency, the dependent is strictly not a subset of the determinant.</a:t>
            </a:r>
          </a:p>
          <a:p>
            <a:r>
              <a:rPr lang="en-IN" dirty="0"/>
              <a:t>i.e. If X → Y and Y is not a subset of X, then it is called Non-trivial functional dependency.</a:t>
            </a:r>
          </a:p>
          <a:p>
            <a:r>
              <a:rPr lang="en-IN" dirty="0"/>
              <a:t>Here, </a:t>
            </a:r>
            <a:r>
              <a:rPr lang="en-IN" dirty="0" err="1"/>
              <a:t>roll_no</a:t>
            </a:r>
            <a:r>
              <a:rPr lang="en-IN" dirty="0"/>
              <a:t> → name is a non-trivial functional dependency, since the dependent name is not a subset of determinant </a:t>
            </a:r>
            <a:r>
              <a:rPr lang="en-IN" dirty="0" err="1"/>
              <a:t>roll_no</a:t>
            </a:r>
            <a:endParaRPr lang="en-IN" dirty="0"/>
          </a:p>
          <a:p>
            <a:r>
              <a:rPr lang="en-IN" dirty="0"/>
              <a:t>Similarly, {</a:t>
            </a:r>
            <a:r>
              <a:rPr lang="en-IN" dirty="0" err="1"/>
              <a:t>roll_no</a:t>
            </a:r>
            <a:r>
              <a:rPr lang="en-IN" dirty="0"/>
              <a:t>, name} → age is also a non-trivial functional dependency, since age is not a subset of {</a:t>
            </a:r>
            <a:r>
              <a:rPr lang="en-IN" dirty="0" err="1"/>
              <a:t>roll_no</a:t>
            </a:r>
            <a:r>
              <a:rPr lang="en-IN" dirty="0"/>
              <a:t>, name} </a:t>
            </a:r>
          </a:p>
          <a:p>
            <a:endParaRPr lang="en-IN" dirty="0"/>
          </a:p>
        </p:txBody>
      </p:sp>
      <p:pic>
        <p:nvPicPr>
          <p:cNvPr id="5" name="Picture 4">
            <a:extLst>
              <a:ext uri="{FF2B5EF4-FFF2-40B4-BE49-F238E27FC236}">
                <a16:creationId xmlns:a16="http://schemas.microsoft.com/office/drawing/2014/main" id="{4E4E9500-78D4-417A-96D8-AEAAAAD11967}"/>
              </a:ext>
            </a:extLst>
          </p:cNvPr>
          <p:cNvPicPr>
            <a:picLocks noChangeAspect="1"/>
          </p:cNvPicPr>
          <p:nvPr/>
        </p:nvPicPr>
        <p:blipFill>
          <a:blip r:embed="rId2"/>
          <a:stretch>
            <a:fillRect/>
          </a:stretch>
        </p:blipFill>
        <p:spPr>
          <a:xfrm>
            <a:off x="6585978" y="3941063"/>
            <a:ext cx="2297813" cy="2528749"/>
          </a:xfrm>
          <a:prstGeom prst="rect">
            <a:avLst/>
          </a:prstGeom>
        </p:spPr>
      </p:pic>
    </p:spTree>
    <p:extLst>
      <p:ext uri="{BB962C8B-B14F-4D97-AF65-F5344CB8AC3E}">
        <p14:creationId xmlns:p14="http://schemas.microsoft.com/office/powerpoint/2010/main" val="3492886574"/>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A097BB6-6B0B-4AA3-BF11-C30A6D43B52E}"/>
              </a:ext>
            </a:extLst>
          </p:cNvPr>
          <p:cNvSpPr>
            <a:spLocks noGrp="1"/>
          </p:cNvSpPr>
          <p:nvPr>
            <p:ph type="title"/>
          </p:nvPr>
        </p:nvSpPr>
        <p:spPr>
          <a:xfrm>
            <a:off x="677334" y="609601"/>
            <a:ext cx="8596668" cy="771144"/>
          </a:xfrm>
        </p:spPr>
        <p:txBody>
          <a:bodyPr/>
          <a:lstStyle/>
          <a:p>
            <a:r>
              <a:rPr lang="en-IN" dirty="0"/>
              <a:t>3. Multivalued Functional Dependency</a:t>
            </a:r>
          </a:p>
        </p:txBody>
      </p:sp>
      <p:sp>
        <p:nvSpPr>
          <p:cNvPr id="3" name="Content Placeholder 2">
            <a:extLst>
              <a:ext uri="{FF2B5EF4-FFF2-40B4-BE49-F238E27FC236}">
                <a16:creationId xmlns:a16="http://schemas.microsoft.com/office/drawing/2014/main" id="{584517E2-2A68-44E2-B29B-7FBD2ED555DF}"/>
              </a:ext>
            </a:extLst>
          </p:cNvPr>
          <p:cNvSpPr>
            <a:spLocks noGrp="1"/>
          </p:cNvSpPr>
          <p:nvPr>
            <p:ph idx="1"/>
          </p:nvPr>
        </p:nvSpPr>
        <p:spPr>
          <a:xfrm>
            <a:off x="469861" y="1523872"/>
            <a:ext cx="11428732" cy="4561107"/>
          </a:xfrm>
        </p:spPr>
        <p:txBody>
          <a:bodyPr>
            <a:normAutofit/>
          </a:bodyPr>
          <a:lstStyle/>
          <a:p>
            <a:r>
              <a:rPr lang="en-IN" dirty="0"/>
              <a:t>In Multivalued functional dependency, entities of the dependent set are not dependent on each other.</a:t>
            </a:r>
          </a:p>
          <a:p>
            <a:r>
              <a:rPr lang="en-IN" dirty="0"/>
              <a:t>i.e. If a → {b, c} and there exists no functional dependency between b and c, then it is called a multivalued functional dependency.</a:t>
            </a:r>
          </a:p>
          <a:p>
            <a:r>
              <a:rPr lang="en-US" dirty="0"/>
              <a:t>It is represented by -&gt;&gt; Double Arrow</a:t>
            </a:r>
            <a:endParaRPr lang="en-IN" dirty="0"/>
          </a:p>
          <a:p>
            <a:r>
              <a:rPr lang="en-IN" dirty="0"/>
              <a:t>Ex. </a:t>
            </a:r>
            <a:r>
              <a:rPr lang="en-US" dirty="0"/>
              <a:t>In the table </a:t>
            </a:r>
            <a:r>
              <a:rPr lang="en-US" dirty="0" err="1"/>
              <a:t>DNumber</a:t>
            </a:r>
            <a:r>
              <a:rPr lang="en-US" dirty="0"/>
              <a:t> -&gt; </a:t>
            </a:r>
            <a:r>
              <a:rPr lang="en-US" dirty="0" err="1"/>
              <a:t>Dname</a:t>
            </a:r>
            <a:r>
              <a:rPr lang="en-US" dirty="0"/>
              <a:t>, </a:t>
            </a:r>
            <a:r>
              <a:rPr lang="en-US" dirty="0" err="1"/>
              <a:t>Dnumber</a:t>
            </a:r>
            <a:r>
              <a:rPr lang="en-US" dirty="0"/>
              <a:t> -&gt; </a:t>
            </a:r>
            <a:r>
              <a:rPr lang="en-US" dirty="0" err="1"/>
              <a:t>Dlocation</a:t>
            </a:r>
            <a:r>
              <a:rPr lang="en-US" dirty="0"/>
              <a:t> But there is no dependency between </a:t>
            </a:r>
            <a:r>
              <a:rPr lang="en-US" dirty="0" err="1"/>
              <a:t>Dname</a:t>
            </a:r>
            <a:r>
              <a:rPr lang="en-US" dirty="0"/>
              <a:t> and </a:t>
            </a:r>
            <a:r>
              <a:rPr lang="en-US" dirty="0" err="1"/>
              <a:t>Dlocation</a:t>
            </a:r>
            <a:r>
              <a:rPr lang="en-US" dirty="0"/>
              <a:t>, So </a:t>
            </a:r>
            <a:r>
              <a:rPr lang="en-US" dirty="0" err="1"/>
              <a:t>Dnumber</a:t>
            </a:r>
            <a:r>
              <a:rPr lang="en-US" dirty="0"/>
              <a:t> -&gt;&gt; </a:t>
            </a:r>
            <a:r>
              <a:rPr lang="en-US" dirty="0" err="1"/>
              <a:t>DLocation</a:t>
            </a:r>
            <a:endParaRPr lang="en-IN" dirty="0"/>
          </a:p>
        </p:txBody>
      </p:sp>
      <p:pic>
        <p:nvPicPr>
          <p:cNvPr id="5" name="Picture 4">
            <a:extLst>
              <a:ext uri="{FF2B5EF4-FFF2-40B4-BE49-F238E27FC236}">
                <a16:creationId xmlns:a16="http://schemas.microsoft.com/office/drawing/2014/main" id="{6E34E6FD-161C-4981-8690-BB795F9A835E}"/>
              </a:ext>
            </a:extLst>
          </p:cNvPr>
          <p:cNvPicPr>
            <a:picLocks noChangeAspect="1"/>
          </p:cNvPicPr>
          <p:nvPr/>
        </p:nvPicPr>
        <p:blipFill>
          <a:blip r:embed="rId2"/>
          <a:srcRect t="3408" b="5178"/>
          <a:stretch>
            <a:fillRect/>
          </a:stretch>
        </p:blipFill>
        <p:spPr>
          <a:xfrm>
            <a:off x="2295232" y="3804425"/>
            <a:ext cx="5650904" cy="2698522"/>
          </a:xfrm>
          <a:prstGeom prst="rect">
            <a:avLst/>
          </a:prstGeom>
        </p:spPr>
      </p:pic>
    </p:spTree>
    <p:extLst>
      <p:ext uri="{BB962C8B-B14F-4D97-AF65-F5344CB8AC3E}">
        <p14:creationId xmlns:p14="http://schemas.microsoft.com/office/powerpoint/2010/main" val="3396223741"/>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3F76200-7EB3-49E7-94A4-1B99B96DC690}"/>
              </a:ext>
            </a:extLst>
          </p:cNvPr>
          <p:cNvSpPr>
            <a:spLocks noGrp="1"/>
          </p:cNvSpPr>
          <p:nvPr>
            <p:ph type="title"/>
          </p:nvPr>
        </p:nvSpPr>
        <p:spPr>
          <a:xfrm>
            <a:off x="677334" y="609600"/>
            <a:ext cx="8596668" cy="762000"/>
          </a:xfrm>
        </p:spPr>
        <p:txBody>
          <a:bodyPr/>
          <a:lstStyle/>
          <a:p>
            <a:r>
              <a:rPr lang="en-IN" dirty="0"/>
              <a:t>4. Transitive Functional Dependency</a:t>
            </a:r>
          </a:p>
        </p:txBody>
      </p:sp>
      <p:sp>
        <p:nvSpPr>
          <p:cNvPr id="3" name="Content Placeholder 2">
            <a:extLst>
              <a:ext uri="{FF2B5EF4-FFF2-40B4-BE49-F238E27FC236}">
                <a16:creationId xmlns:a16="http://schemas.microsoft.com/office/drawing/2014/main" id="{EF28F398-F769-4B58-8F5E-CC63996ADA05}"/>
              </a:ext>
            </a:extLst>
          </p:cNvPr>
          <p:cNvSpPr>
            <a:spLocks noGrp="1"/>
          </p:cNvSpPr>
          <p:nvPr>
            <p:ph idx="1"/>
          </p:nvPr>
        </p:nvSpPr>
        <p:spPr>
          <a:xfrm>
            <a:off x="677334" y="1438104"/>
            <a:ext cx="9950782" cy="4917293"/>
          </a:xfrm>
        </p:spPr>
        <p:txBody>
          <a:bodyPr>
            <a:normAutofit/>
          </a:bodyPr>
          <a:lstStyle/>
          <a:p>
            <a:r>
              <a:rPr lang="en-IN" dirty="0"/>
              <a:t>In transitive functional dependency, dependent is indirectly dependent on determinant.</a:t>
            </a:r>
          </a:p>
          <a:p>
            <a:r>
              <a:rPr lang="en-IN" dirty="0"/>
              <a:t>i.e. If a → b &amp; b → c, then according to axiom of transitivity, a → c. This is a transitive functional dependency </a:t>
            </a:r>
          </a:p>
          <a:p>
            <a:r>
              <a:rPr lang="en-IN" dirty="0"/>
              <a:t>Here, </a:t>
            </a:r>
            <a:r>
              <a:rPr lang="en-IN" dirty="0" err="1"/>
              <a:t>enrol_no</a:t>
            </a:r>
            <a:r>
              <a:rPr lang="en-IN" dirty="0"/>
              <a:t> → dept and dept → </a:t>
            </a:r>
            <a:r>
              <a:rPr lang="en-IN" dirty="0" err="1"/>
              <a:t>building_no</a:t>
            </a:r>
            <a:endParaRPr lang="en-IN" dirty="0"/>
          </a:p>
          <a:p>
            <a:r>
              <a:rPr lang="en-IN" dirty="0"/>
              <a:t>Hence, according to the axiom of transitivity, </a:t>
            </a:r>
            <a:r>
              <a:rPr lang="en-IN" dirty="0" err="1"/>
              <a:t>enrol_no</a:t>
            </a:r>
            <a:r>
              <a:rPr lang="en-IN" dirty="0"/>
              <a:t> → </a:t>
            </a:r>
            <a:r>
              <a:rPr lang="en-IN" dirty="0" err="1"/>
              <a:t>building_no</a:t>
            </a:r>
            <a:r>
              <a:rPr lang="en-IN" dirty="0"/>
              <a:t> is a valid functional dependency. </a:t>
            </a:r>
          </a:p>
          <a:p>
            <a:r>
              <a:rPr lang="en-IN" dirty="0"/>
              <a:t>This is an indirect functional dependency, hence called Transitive functional dependency.</a:t>
            </a:r>
          </a:p>
        </p:txBody>
      </p:sp>
      <p:pic>
        <p:nvPicPr>
          <p:cNvPr id="4" name="Picture 3">
            <a:extLst>
              <a:ext uri="{FF2B5EF4-FFF2-40B4-BE49-F238E27FC236}">
                <a16:creationId xmlns:a16="http://schemas.microsoft.com/office/drawing/2014/main" id="{C8D3101A-CC60-490A-A04E-1818FF3367C2}"/>
              </a:ext>
            </a:extLst>
          </p:cNvPr>
          <p:cNvPicPr>
            <a:picLocks noChangeAspect="1"/>
          </p:cNvPicPr>
          <p:nvPr/>
        </p:nvPicPr>
        <p:blipFill>
          <a:blip r:embed="rId2"/>
          <a:stretch>
            <a:fillRect/>
          </a:stretch>
        </p:blipFill>
        <p:spPr>
          <a:xfrm>
            <a:off x="6349168" y="3896750"/>
            <a:ext cx="3402891" cy="2799471"/>
          </a:xfrm>
          <a:prstGeom prst="rect">
            <a:avLst/>
          </a:prstGeom>
        </p:spPr>
      </p:pic>
    </p:spTree>
    <p:extLst>
      <p:ext uri="{BB962C8B-B14F-4D97-AF65-F5344CB8AC3E}">
        <p14:creationId xmlns:p14="http://schemas.microsoft.com/office/powerpoint/2010/main" val="1754020261"/>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2E993D5-B9DD-4A59-89DD-978C5ACB2660}"/>
              </a:ext>
            </a:extLst>
          </p:cNvPr>
          <p:cNvSpPr>
            <a:spLocks noGrp="1"/>
          </p:cNvSpPr>
          <p:nvPr>
            <p:ph type="title"/>
          </p:nvPr>
        </p:nvSpPr>
        <p:spPr/>
        <p:txBody>
          <a:bodyPr/>
          <a:lstStyle/>
          <a:p>
            <a:r>
              <a:rPr lang="en-IN" dirty="0"/>
              <a:t>Transitive FD example</a:t>
            </a:r>
          </a:p>
        </p:txBody>
      </p:sp>
      <p:pic>
        <p:nvPicPr>
          <p:cNvPr id="5" name="Picture 4">
            <a:extLst>
              <a:ext uri="{FF2B5EF4-FFF2-40B4-BE49-F238E27FC236}">
                <a16:creationId xmlns:a16="http://schemas.microsoft.com/office/drawing/2014/main" id="{29342196-08A0-425E-9876-3D68A52447B8}"/>
              </a:ext>
            </a:extLst>
          </p:cNvPr>
          <p:cNvPicPr>
            <a:picLocks noChangeAspect="1"/>
          </p:cNvPicPr>
          <p:nvPr/>
        </p:nvPicPr>
        <p:blipFill>
          <a:blip r:embed="rId2"/>
          <a:stretch>
            <a:fillRect/>
          </a:stretch>
        </p:blipFill>
        <p:spPr>
          <a:xfrm>
            <a:off x="838201" y="1690688"/>
            <a:ext cx="5626608" cy="2165391"/>
          </a:xfrm>
          <a:prstGeom prst="rect">
            <a:avLst/>
          </a:prstGeom>
        </p:spPr>
      </p:pic>
      <p:sp>
        <p:nvSpPr>
          <p:cNvPr id="7" name="TextBox 6">
            <a:extLst>
              <a:ext uri="{FF2B5EF4-FFF2-40B4-BE49-F238E27FC236}">
                <a16:creationId xmlns:a16="http://schemas.microsoft.com/office/drawing/2014/main" id="{7A5B0CEF-49DE-4703-8319-DC320E7CABCD}"/>
              </a:ext>
            </a:extLst>
          </p:cNvPr>
          <p:cNvSpPr txBox="1"/>
          <p:nvPr/>
        </p:nvSpPr>
        <p:spPr>
          <a:xfrm>
            <a:off x="677334" y="4115751"/>
            <a:ext cx="8583491" cy="1200329"/>
          </a:xfrm>
          <a:prstGeom prst="rect">
            <a:avLst/>
          </a:prstGeom>
          <a:noFill/>
        </p:spPr>
        <p:txBody>
          <a:bodyPr wrap="square">
            <a:spAutoFit/>
          </a:bodyPr>
          <a:lstStyle/>
          <a:p>
            <a:pPr algn="l"/>
            <a:r>
              <a:rPr lang="en-IN" sz="2400" b="0" i="0" dirty="0">
                <a:solidFill>
                  <a:srgbClr val="303030"/>
                </a:solidFill>
                <a:effectLst/>
                <a:latin typeface="Cabin"/>
              </a:rPr>
              <a:t>From above table,</a:t>
            </a:r>
          </a:p>
          <a:p>
            <a:pPr algn="l"/>
            <a:r>
              <a:rPr lang="en-IN" sz="2400" b="0" i="0" dirty="0" err="1">
                <a:solidFill>
                  <a:srgbClr val="303030"/>
                </a:solidFill>
                <a:effectLst/>
                <a:latin typeface="Cabin"/>
              </a:rPr>
              <a:t>Roll_Number</a:t>
            </a:r>
            <a:r>
              <a:rPr lang="en-IN" sz="2400" b="0" i="0" dirty="0">
                <a:solidFill>
                  <a:srgbClr val="303030"/>
                </a:solidFill>
                <a:effectLst/>
                <a:latin typeface="Cabin"/>
              </a:rPr>
              <a:t> --&gt; </a:t>
            </a:r>
            <a:r>
              <a:rPr lang="en-IN" sz="2400" b="0" i="0" dirty="0" err="1">
                <a:solidFill>
                  <a:srgbClr val="303030"/>
                </a:solidFill>
                <a:effectLst/>
                <a:latin typeface="Cabin"/>
              </a:rPr>
              <a:t>Pin_Code</a:t>
            </a:r>
            <a:r>
              <a:rPr lang="en-IN" sz="2400" b="0" i="0" dirty="0">
                <a:solidFill>
                  <a:srgbClr val="303030"/>
                </a:solidFill>
                <a:effectLst/>
                <a:latin typeface="Cabin"/>
              </a:rPr>
              <a:t> and </a:t>
            </a:r>
            <a:r>
              <a:rPr lang="en-IN" sz="2400" b="0" i="0" dirty="0" err="1">
                <a:solidFill>
                  <a:srgbClr val="303030"/>
                </a:solidFill>
                <a:effectLst/>
                <a:latin typeface="Cabin"/>
              </a:rPr>
              <a:t>Pin_Code</a:t>
            </a:r>
            <a:r>
              <a:rPr lang="en-IN" sz="2400" b="0" i="0" dirty="0">
                <a:solidFill>
                  <a:srgbClr val="303030"/>
                </a:solidFill>
                <a:effectLst/>
                <a:latin typeface="Cabin"/>
              </a:rPr>
              <a:t> --&gt; </a:t>
            </a:r>
            <a:r>
              <a:rPr lang="en-IN" sz="2400" b="0" i="0" dirty="0" err="1">
                <a:solidFill>
                  <a:srgbClr val="303030"/>
                </a:solidFill>
                <a:effectLst/>
                <a:latin typeface="Cabin"/>
              </a:rPr>
              <a:t>City_Name</a:t>
            </a:r>
            <a:r>
              <a:rPr lang="en-IN" sz="2400" b="0" i="0" dirty="0">
                <a:solidFill>
                  <a:srgbClr val="303030"/>
                </a:solidFill>
                <a:effectLst/>
                <a:latin typeface="Cabin"/>
              </a:rPr>
              <a:t> hold.</a:t>
            </a:r>
          </a:p>
          <a:p>
            <a:pPr algn="l"/>
            <a:r>
              <a:rPr lang="en-IN" sz="2400" b="0" i="0" dirty="0">
                <a:solidFill>
                  <a:srgbClr val="303030"/>
                </a:solidFill>
                <a:effectLst/>
                <a:latin typeface="Cabin"/>
              </a:rPr>
              <a:t>Than </a:t>
            </a:r>
            <a:r>
              <a:rPr lang="en-IN" sz="2400" b="0" i="0" dirty="0" err="1">
                <a:solidFill>
                  <a:srgbClr val="303030"/>
                </a:solidFill>
                <a:effectLst/>
                <a:latin typeface="Cabin"/>
              </a:rPr>
              <a:t>Roll_Number</a:t>
            </a:r>
            <a:r>
              <a:rPr lang="en-IN" sz="2400" b="0" i="0" dirty="0">
                <a:solidFill>
                  <a:srgbClr val="303030"/>
                </a:solidFill>
                <a:effectLst/>
                <a:latin typeface="Cabin"/>
              </a:rPr>
              <a:t> --&gt; </a:t>
            </a:r>
            <a:r>
              <a:rPr lang="en-IN" sz="2400" b="0" i="0" dirty="0" err="1">
                <a:solidFill>
                  <a:srgbClr val="303030"/>
                </a:solidFill>
                <a:effectLst/>
                <a:latin typeface="Cabin"/>
              </a:rPr>
              <a:t>City_Name</a:t>
            </a:r>
            <a:r>
              <a:rPr lang="en-IN" sz="2400" b="0" i="0" dirty="0">
                <a:solidFill>
                  <a:srgbClr val="303030"/>
                </a:solidFill>
                <a:effectLst/>
                <a:latin typeface="Cabin"/>
              </a:rPr>
              <a:t> is a transitive FD.</a:t>
            </a:r>
          </a:p>
        </p:txBody>
      </p:sp>
    </p:spTree>
    <p:extLst>
      <p:ext uri="{BB962C8B-B14F-4D97-AF65-F5344CB8AC3E}">
        <p14:creationId xmlns:p14="http://schemas.microsoft.com/office/powerpoint/2010/main" val="2472350525"/>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8C459C86-18CF-43B8-BA4C-E6C633D142B2}"/>
              </a:ext>
            </a:extLst>
          </p:cNvPr>
          <p:cNvSpPr>
            <a:spLocks noGrp="1"/>
          </p:cNvSpPr>
          <p:nvPr>
            <p:ph idx="1"/>
          </p:nvPr>
        </p:nvSpPr>
        <p:spPr>
          <a:xfrm>
            <a:off x="566927" y="1389888"/>
            <a:ext cx="11200351" cy="5040892"/>
          </a:xfrm>
        </p:spPr>
        <p:txBody>
          <a:bodyPr>
            <a:normAutofit/>
          </a:bodyPr>
          <a:lstStyle/>
          <a:p>
            <a:pPr marL="0" indent="0">
              <a:buNone/>
            </a:pPr>
            <a:endParaRPr lang="en-IN" sz="2800" dirty="0"/>
          </a:p>
          <a:p>
            <a:pPr lvl="1"/>
            <a:r>
              <a:rPr lang="en-IN" sz="2400" dirty="0"/>
              <a:t>It is the process of decomposing unsatisfactory "bad“ relations by breaking up their attributes into smaller relations</a:t>
            </a:r>
          </a:p>
          <a:p>
            <a:pPr lvl="1"/>
            <a:r>
              <a:rPr lang="en-IN" sz="2400" dirty="0"/>
              <a:t>Normalization is carried out in practice so that the resulting designs are of high quality and meet the desirable properties</a:t>
            </a:r>
          </a:p>
          <a:p>
            <a:pPr lvl="1"/>
            <a:endParaRPr lang="en-IN" sz="2400" dirty="0"/>
          </a:p>
          <a:p>
            <a:r>
              <a:rPr lang="en-IN" sz="2800" dirty="0"/>
              <a:t>Normal form:</a:t>
            </a:r>
          </a:p>
          <a:p>
            <a:pPr lvl="1"/>
            <a:r>
              <a:rPr lang="en-IN" sz="2400" dirty="0"/>
              <a:t>Condition using keys and FDs of a relation to certify whether a relation schema is in a particular normal form</a:t>
            </a:r>
          </a:p>
        </p:txBody>
      </p:sp>
      <p:sp>
        <p:nvSpPr>
          <p:cNvPr id="2" name="Title 1">
            <a:extLst>
              <a:ext uri="{FF2B5EF4-FFF2-40B4-BE49-F238E27FC236}">
                <a16:creationId xmlns:a16="http://schemas.microsoft.com/office/drawing/2014/main" id="{84F6D9F6-4F83-DF70-4F8E-3855C6061647}"/>
              </a:ext>
            </a:extLst>
          </p:cNvPr>
          <p:cNvSpPr>
            <a:spLocks noGrp="1"/>
          </p:cNvSpPr>
          <p:nvPr>
            <p:ph type="title"/>
          </p:nvPr>
        </p:nvSpPr>
        <p:spPr>
          <a:xfrm>
            <a:off x="677334" y="609600"/>
            <a:ext cx="8596668" cy="780288"/>
          </a:xfrm>
        </p:spPr>
        <p:txBody>
          <a:bodyPr>
            <a:normAutofit/>
          </a:bodyPr>
          <a:lstStyle/>
          <a:p>
            <a:r>
              <a:rPr lang="en-IN" sz="4000" dirty="0"/>
              <a:t>Normalization</a:t>
            </a:r>
          </a:p>
        </p:txBody>
      </p:sp>
    </p:spTree>
    <p:extLst>
      <p:ext uri="{BB962C8B-B14F-4D97-AF65-F5344CB8AC3E}">
        <p14:creationId xmlns:p14="http://schemas.microsoft.com/office/powerpoint/2010/main" val="3672088722"/>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DE7D6CB-16E3-4FD3-BF71-9A8B7A0105ED}"/>
              </a:ext>
            </a:extLst>
          </p:cNvPr>
          <p:cNvSpPr>
            <a:spLocks noGrp="1"/>
          </p:cNvSpPr>
          <p:nvPr>
            <p:ph type="title"/>
          </p:nvPr>
        </p:nvSpPr>
        <p:spPr>
          <a:xfrm>
            <a:off x="243840" y="252583"/>
            <a:ext cx="11704319" cy="844697"/>
          </a:xfrm>
        </p:spPr>
        <p:txBody>
          <a:bodyPr>
            <a:normAutofit fontScale="90000"/>
          </a:bodyPr>
          <a:lstStyle/>
          <a:p>
            <a:r>
              <a:rPr lang="en-IN" b="1" dirty="0"/>
              <a:t>Definitions of Keys and Attributes Participating in Keys</a:t>
            </a:r>
          </a:p>
        </p:txBody>
      </p:sp>
      <p:sp>
        <p:nvSpPr>
          <p:cNvPr id="3" name="Content Placeholder 2">
            <a:extLst>
              <a:ext uri="{FF2B5EF4-FFF2-40B4-BE49-F238E27FC236}">
                <a16:creationId xmlns:a16="http://schemas.microsoft.com/office/drawing/2014/main" id="{A4ADD284-4769-4FCB-8D43-8F795617CEDB}"/>
              </a:ext>
            </a:extLst>
          </p:cNvPr>
          <p:cNvSpPr>
            <a:spLocks noGrp="1"/>
          </p:cNvSpPr>
          <p:nvPr>
            <p:ph idx="1"/>
          </p:nvPr>
        </p:nvSpPr>
        <p:spPr>
          <a:xfrm>
            <a:off x="243839" y="1336433"/>
            <a:ext cx="10875265" cy="5401994"/>
          </a:xfrm>
        </p:spPr>
        <p:txBody>
          <a:bodyPr>
            <a:normAutofit/>
          </a:bodyPr>
          <a:lstStyle/>
          <a:p>
            <a:pPr marL="0" indent="0" algn="r">
              <a:buNone/>
            </a:pPr>
            <a:r>
              <a:rPr lang="en-IN" sz="1200" i="1" dirty="0"/>
              <a:t>Database_Keys.pptx</a:t>
            </a:r>
          </a:p>
          <a:p>
            <a:pPr algn="just"/>
            <a:r>
              <a:rPr lang="en-IN" dirty="0"/>
              <a:t>A </a:t>
            </a:r>
            <a:r>
              <a:rPr lang="en-IN" b="1" dirty="0"/>
              <a:t>super key </a:t>
            </a:r>
            <a:r>
              <a:rPr lang="en-IN" dirty="0"/>
              <a:t>of a relation schema R = {A1, A2, ...., An} is a set of attributes S subset-of R with the property that no two tuples t1 and t2 in any legal relation state r of R will have t1[S] = t2[S]</a:t>
            </a:r>
          </a:p>
          <a:p>
            <a:pPr algn="just"/>
            <a:r>
              <a:rPr lang="en-IN" dirty="0"/>
              <a:t>A </a:t>
            </a:r>
            <a:r>
              <a:rPr lang="en-IN" b="1" dirty="0"/>
              <a:t>Candidate key </a:t>
            </a:r>
            <a:r>
              <a:rPr lang="en-IN" dirty="0"/>
              <a:t>K is a super key with the additional property that removal of any attribute from K will cause K not to be a super key any more.</a:t>
            </a:r>
          </a:p>
          <a:p>
            <a:pPr marL="0" indent="0" algn="ctr">
              <a:buNone/>
            </a:pPr>
            <a:r>
              <a:rPr lang="en-IN" dirty="0"/>
              <a:t>OR</a:t>
            </a:r>
          </a:p>
          <a:p>
            <a:pPr algn="just"/>
            <a:r>
              <a:rPr lang="en-IN" dirty="0"/>
              <a:t>Minimal Super Key with unique and not null values can be a candidate key</a:t>
            </a:r>
          </a:p>
          <a:p>
            <a:pPr algn="just"/>
            <a:r>
              <a:rPr lang="en-IN" dirty="0"/>
              <a:t>One of the candidate keys is arbitrarily designated to be the </a:t>
            </a:r>
            <a:r>
              <a:rPr lang="en-IN" b="1" dirty="0"/>
              <a:t>primary key</a:t>
            </a:r>
            <a:r>
              <a:rPr lang="en-IN" dirty="0"/>
              <a:t>, and the others are called secondary Keys /  Alternate Keys</a:t>
            </a:r>
          </a:p>
          <a:p>
            <a:pPr algn="just"/>
            <a:endParaRPr lang="en-IN" dirty="0"/>
          </a:p>
          <a:p>
            <a:pPr algn="just"/>
            <a:r>
              <a:rPr lang="en-IN" dirty="0"/>
              <a:t>A </a:t>
            </a:r>
            <a:r>
              <a:rPr lang="en-IN" b="1" dirty="0"/>
              <a:t>Prime attribute </a:t>
            </a:r>
            <a:r>
              <a:rPr lang="en-IN" dirty="0"/>
              <a:t>must be a member of some candidate key</a:t>
            </a:r>
          </a:p>
          <a:p>
            <a:pPr algn="just"/>
            <a:r>
              <a:rPr lang="en-IN" dirty="0"/>
              <a:t>A </a:t>
            </a:r>
            <a:r>
              <a:rPr lang="en-IN" b="1" dirty="0"/>
              <a:t>Nonprime</a:t>
            </a:r>
            <a:r>
              <a:rPr lang="en-IN" dirty="0"/>
              <a:t> attribute is not a prime attribute— that is, it is not a member of any candidate key</a:t>
            </a:r>
          </a:p>
        </p:txBody>
      </p:sp>
    </p:spTree>
    <p:extLst>
      <p:ext uri="{BB962C8B-B14F-4D97-AF65-F5344CB8AC3E}">
        <p14:creationId xmlns:p14="http://schemas.microsoft.com/office/powerpoint/2010/main" val="1993964440"/>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77334" y="390525"/>
            <a:ext cx="8596668" cy="1320800"/>
          </a:xfrm>
        </p:spPr>
        <p:txBody>
          <a:bodyPr/>
          <a:lstStyle/>
          <a:p>
            <a:r>
              <a:rPr dirty="0"/>
              <a:t>Super Key</a:t>
            </a:r>
          </a:p>
        </p:txBody>
      </p:sp>
      <p:sp>
        <p:nvSpPr>
          <p:cNvPr id="3" name="Content Placeholder 2"/>
          <p:cNvSpPr>
            <a:spLocks noGrp="1"/>
          </p:cNvSpPr>
          <p:nvPr>
            <p:ph idx="1"/>
          </p:nvPr>
        </p:nvSpPr>
        <p:spPr>
          <a:xfrm>
            <a:off x="741342" y="1218757"/>
            <a:ext cx="8596668" cy="1689035"/>
          </a:xfrm>
        </p:spPr>
        <p:txBody>
          <a:bodyPr/>
          <a:lstStyle/>
          <a:p>
            <a:r>
              <a:rPr dirty="0"/>
              <a:t>Definition: Set of one or more attributes that can uniquely identify a tuple.</a:t>
            </a:r>
          </a:p>
          <a:p>
            <a:r>
              <a:rPr dirty="0"/>
              <a:t>Can include extra attributes not necessary for uniqueness.</a:t>
            </a:r>
          </a:p>
          <a:p>
            <a:r>
              <a:rPr dirty="0"/>
              <a:t>Example: STUD_NO, (STUD_NO, STUD_NAME)</a:t>
            </a:r>
          </a:p>
          <a:p>
            <a:r>
              <a:rPr dirty="0"/>
              <a:t>Super key example: (STUD_NO, PHONE)</a:t>
            </a:r>
          </a:p>
        </p:txBody>
      </p:sp>
      <p:pic>
        <p:nvPicPr>
          <p:cNvPr id="4" name="Content Placeholder 3">
            <a:extLst>
              <a:ext uri="{FF2B5EF4-FFF2-40B4-BE49-F238E27FC236}">
                <a16:creationId xmlns:a16="http://schemas.microsoft.com/office/drawing/2014/main" id="{4F90FC43-9BD4-6CE6-F41B-25539FBA5080}"/>
              </a:ext>
            </a:extLst>
          </p:cNvPr>
          <p:cNvPicPr>
            <a:picLocks noGrp="1" noChangeAspect="1"/>
          </p:cNvPicPr>
          <p:nvPr/>
        </p:nvPicPr>
        <p:blipFill>
          <a:blip r:embed="rId2"/>
          <a:stretch>
            <a:fillRect/>
          </a:stretch>
        </p:blipFill>
        <p:spPr>
          <a:xfrm>
            <a:off x="1101375" y="2916936"/>
            <a:ext cx="7163369" cy="3831976"/>
          </a:xfrm>
          <a:prstGeom prst="rect">
            <a:avLst/>
          </a:prstGeom>
        </p:spPr>
      </p:pic>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77334" y="225552"/>
            <a:ext cx="8596668" cy="734568"/>
          </a:xfrm>
        </p:spPr>
        <p:txBody>
          <a:bodyPr/>
          <a:lstStyle/>
          <a:p>
            <a:r>
              <a:rPr dirty="0"/>
              <a:t>Candidate Key</a:t>
            </a:r>
          </a:p>
        </p:txBody>
      </p:sp>
      <p:sp>
        <p:nvSpPr>
          <p:cNvPr id="3" name="Content Placeholder 2"/>
          <p:cNvSpPr>
            <a:spLocks noGrp="1"/>
          </p:cNvSpPr>
          <p:nvPr>
            <p:ph idx="1"/>
          </p:nvPr>
        </p:nvSpPr>
        <p:spPr>
          <a:xfrm>
            <a:off x="768774" y="960121"/>
            <a:ext cx="8596668" cy="1737360"/>
          </a:xfrm>
        </p:spPr>
        <p:txBody>
          <a:bodyPr/>
          <a:lstStyle/>
          <a:p>
            <a:r>
              <a:t>Definition: Minimal set of attributes that can uniquely identify a tuple.</a:t>
            </a:r>
          </a:p>
          <a:p>
            <a:r>
              <a:t>A minimal super key with no extra attributes.</a:t>
            </a:r>
          </a:p>
          <a:p>
            <a:r>
              <a:t>Example: STUD_NO in STUDENT table</a:t>
            </a:r>
          </a:p>
          <a:p>
            <a:r>
              <a:t>Composite key: {STUD_NO, COURSE_NO} in STUDENT_COURSE</a:t>
            </a:r>
          </a:p>
        </p:txBody>
      </p:sp>
      <p:pic>
        <p:nvPicPr>
          <p:cNvPr id="4" name="Content Placeholder 3">
            <a:extLst>
              <a:ext uri="{FF2B5EF4-FFF2-40B4-BE49-F238E27FC236}">
                <a16:creationId xmlns:a16="http://schemas.microsoft.com/office/drawing/2014/main" id="{BBE43557-AE8F-5C27-F7D3-563A5955DCAC}"/>
              </a:ext>
            </a:extLst>
          </p:cNvPr>
          <p:cNvPicPr>
            <a:picLocks noGrp="1" noChangeAspect="1"/>
          </p:cNvPicPr>
          <p:nvPr/>
        </p:nvPicPr>
        <p:blipFill>
          <a:blip r:embed="rId2"/>
          <a:stretch>
            <a:fillRect/>
          </a:stretch>
        </p:blipFill>
        <p:spPr>
          <a:xfrm>
            <a:off x="886806" y="2555668"/>
            <a:ext cx="8177724" cy="3922937"/>
          </a:xfrm>
          <a:prstGeom prst="rect">
            <a:avLst/>
          </a:prstGeom>
        </p:spPr>
      </p:pic>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77334" y="156238"/>
            <a:ext cx="8596668" cy="1320800"/>
          </a:xfrm>
        </p:spPr>
        <p:txBody>
          <a:bodyPr/>
          <a:lstStyle/>
          <a:p>
            <a:r>
              <a:rPr dirty="0"/>
              <a:t>Primary Key</a:t>
            </a:r>
          </a:p>
        </p:txBody>
      </p:sp>
      <p:sp>
        <p:nvSpPr>
          <p:cNvPr id="3" name="Content Placeholder 2"/>
          <p:cNvSpPr>
            <a:spLocks noGrp="1"/>
          </p:cNvSpPr>
          <p:nvPr>
            <p:ph idx="1"/>
          </p:nvPr>
        </p:nvSpPr>
        <p:spPr>
          <a:xfrm>
            <a:off x="677334" y="1026733"/>
            <a:ext cx="8596668" cy="3880773"/>
          </a:xfrm>
        </p:spPr>
        <p:txBody>
          <a:bodyPr/>
          <a:lstStyle/>
          <a:p>
            <a:r>
              <a:rPr dirty="0"/>
              <a:t>Chosen candidate key to uniquely identify records.</a:t>
            </a:r>
          </a:p>
          <a:p>
            <a:r>
              <a:rPr dirty="0"/>
              <a:t>Must be unique and not NULL.</a:t>
            </a:r>
          </a:p>
          <a:p>
            <a:r>
              <a:rPr dirty="0"/>
              <a:t>Can be single-column or composite.</a:t>
            </a:r>
          </a:p>
          <a:p>
            <a:r>
              <a:rPr dirty="0"/>
              <a:t>Example: STUD_NO in STUDENT table</a:t>
            </a:r>
          </a:p>
        </p:txBody>
      </p:sp>
      <p:pic>
        <p:nvPicPr>
          <p:cNvPr id="4" name="Picture 3">
            <a:extLst>
              <a:ext uri="{FF2B5EF4-FFF2-40B4-BE49-F238E27FC236}">
                <a16:creationId xmlns:a16="http://schemas.microsoft.com/office/drawing/2014/main" id="{950F538F-DA01-BAB2-8AA0-35250B3022DF}"/>
              </a:ext>
            </a:extLst>
          </p:cNvPr>
          <p:cNvPicPr>
            <a:picLocks noChangeAspect="1"/>
          </p:cNvPicPr>
          <p:nvPr/>
        </p:nvPicPr>
        <p:blipFill>
          <a:blip r:embed="rId2"/>
          <a:stretch>
            <a:fillRect/>
          </a:stretch>
        </p:blipFill>
        <p:spPr>
          <a:xfrm>
            <a:off x="677334" y="2710787"/>
            <a:ext cx="8229600" cy="3990975"/>
          </a:xfrm>
          <a:prstGeom prst="rect">
            <a:avLst/>
          </a:prstGeom>
        </p:spPr>
      </p:pic>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77334" y="156238"/>
            <a:ext cx="8596668" cy="1320800"/>
          </a:xfrm>
        </p:spPr>
        <p:txBody>
          <a:bodyPr/>
          <a:lstStyle/>
          <a:p>
            <a:r>
              <a:rPr dirty="0"/>
              <a:t>Alternate Key</a:t>
            </a:r>
          </a:p>
        </p:txBody>
      </p:sp>
      <p:sp>
        <p:nvSpPr>
          <p:cNvPr id="3" name="Content Placeholder 2"/>
          <p:cNvSpPr>
            <a:spLocks noGrp="1"/>
          </p:cNvSpPr>
          <p:nvPr>
            <p:ph idx="1"/>
          </p:nvPr>
        </p:nvSpPr>
        <p:spPr>
          <a:xfrm>
            <a:off x="677334" y="981013"/>
            <a:ext cx="8596668" cy="3880773"/>
          </a:xfrm>
        </p:spPr>
        <p:txBody>
          <a:bodyPr/>
          <a:lstStyle/>
          <a:p>
            <a:r>
              <a:rPr dirty="0"/>
              <a:t>Candidate key not chosen as the primary key.</a:t>
            </a:r>
          </a:p>
          <a:p>
            <a:r>
              <a:rPr dirty="0"/>
              <a:t>Also called secondary key.</a:t>
            </a:r>
          </a:p>
          <a:p>
            <a:r>
              <a:rPr dirty="0"/>
              <a:t>Example: If STUD_NO is primary, PHONE is alternate key</a:t>
            </a:r>
          </a:p>
        </p:txBody>
      </p:sp>
      <p:pic>
        <p:nvPicPr>
          <p:cNvPr id="4" name="Picture 3">
            <a:extLst>
              <a:ext uri="{FF2B5EF4-FFF2-40B4-BE49-F238E27FC236}">
                <a16:creationId xmlns:a16="http://schemas.microsoft.com/office/drawing/2014/main" id="{8C5B18D0-611B-2ADA-B2AC-4F06351D1B04}"/>
              </a:ext>
            </a:extLst>
          </p:cNvPr>
          <p:cNvPicPr>
            <a:picLocks noChangeAspect="1"/>
          </p:cNvPicPr>
          <p:nvPr/>
        </p:nvPicPr>
        <p:blipFill>
          <a:blip r:embed="rId2"/>
          <a:stretch>
            <a:fillRect/>
          </a:stretch>
        </p:blipFill>
        <p:spPr>
          <a:xfrm>
            <a:off x="759630" y="2301813"/>
            <a:ext cx="7895230" cy="4343400"/>
          </a:xfrm>
          <a:prstGeom prst="rect">
            <a:avLst/>
          </a:prstGeom>
        </p:spPr>
      </p:pic>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77334" y="225552"/>
            <a:ext cx="8596668" cy="1320800"/>
          </a:xfrm>
        </p:spPr>
        <p:txBody>
          <a:bodyPr/>
          <a:lstStyle/>
          <a:p>
            <a:r>
              <a:rPr dirty="0"/>
              <a:t>Foreign Key</a:t>
            </a:r>
          </a:p>
        </p:txBody>
      </p:sp>
      <p:sp>
        <p:nvSpPr>
          <p:cNvPr id="3" name="Content Placeholder 2"/>
          <p:cNvSpPr>
            <a:spLocks noGrp="1"/>
          </p:cNvSpPr>
          <p:nvPr>
            <p:ph idx="1"/>
          </p:nvPr>
        </p:nvSpPr>
        <p:spPr>
          <a:xfrm>
            <a:off x="677334" y="1145605"/>
            <a:ext cx="8596668" cy="3880773"/>
          </a:xfrm>
        </p:spPr>
        <p:txBody>
          <a:bodyPr/>
          <a:lstStyle/>
          <a:p>
            <a:r>
              <a:rPr dirty="0"/>
              <a:t>Attribute in one table that references primary key of another table.</a:t>
            </a:r>
          </a:p>
          <a:p>
            <a:r>
              <a:rPr dirty="0"/>
              <a:t>Ensures data integrity and relationship between tables.</a:t>
            </a:r>
          </a:p>
          <a:p>
            <a:r>
              <a:rPr dirty="0"/>
              <a:t>Example: STUD_NO in STUDENT_COURSE references STUDENT.STUD_NO</a:t>
            </a:r>
          </a:p>
        </p:txBody>
      </p:sp>
      <p:pic>
        <p:nvPicPr>
          <p:cNvPr id="4" name="Picture 3">
            <a:extLst>
              <a:ext uri="{FF2B5EF4-FFF2-40B4-BE49-F238E27FC236}">
                <a16:creationId xmlns:a16="http://schemas.microsoft.com/office/drawing/2014/main" id="{648E58AD-343B-716B-FF85-AC371701D9C9}"/>
              </a:ext>
            </a:extLst>
          </p:cNvPr>
          <p:cNvPicPr>
            <a:picLocks noChangeAspect="1"/>
          </p:cNvPicPr>
          <p:nvPr/>
        </p:nvPicPr>
        <p:blipFill>
          <a:blip r:embed="rId2"/>
          <a:stretch>
            <a:fillRect/>
          </a:stretch>
        </p:blipFill>
        <p:spPr>
          <a:xfrm>
            <a:off x="758952" y="2466405"/>
            <a:ext cx="7731627" cy="4153038"/>
          </a:xfrm>
          <a:prstGeom prst="rect">
            <a:avLst/>
          </a:prstGeom>
        </p:spPr>
      </p:pic>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58068" y="591312"/>
            <a:ext cx="8596668" cy="1320800"/>
          </a:xfrm>
        </p:spPr>
        <p:txBody>
          <a:bodyPr/>
          <a:lstStyle/>
          <a:p>
            <a:r>
              <a:rPr dirty="0"/>
              <a:t>Composite Key</a:t>
            </a:r>
          </a:p>
        </p:txBody>
      </p:sp>
      <p:sp>
        <p:nvSpPr>
          <p:cNvPr id="3" name="Content Placeholder 2"/>
          <p:cNvSpPr>
            <a:spLocks noGrp="1"/>
          </p:cNvSpPr>
          <p:nvPr>
            <p:ph idx="1"/>
          </p:nvPr>
        </p:nvSpPr>
        <p:spPr>
          <a:xfrm>
            <a:off x="677334" y="1646936"/>
            <a:ext cx="8596668" cy="3880773"/>
          </a:xfrm>
        </p:spPr>
        <p:txBody>
          <a:bodyPr/>
          <a:lstStyle/>
          <a:p>
            <a:r>
              <a:rPr dirty="0"/>
              <a:t>Combination of two or more attributes to uniquely identify a row.</a:t>
            </a:r>
          </a:p>
          <a:p>
            <a:r>
              <a:rPr dirty="0"/>
              <a:t>Can act as primary key if no other key exists.</a:t>
            </a:r>
          </a:p>
          <a:p>
            <a:r>
              <a:rPr dirty="0"/>
              <a:t>Example: {STUD_NO, COURSE_NO} in STUDENT_COURSE table</a:t>
            </a:r>
          </a:p>
        </p:txBody>
      </p:sp>
      <p:pic>
        <p:nvPicPr>
          <p:cNvPr id="4" name="Picture 3">
            <a:extLst>
              <a:ext uri="{FF2B5EF4-FFF2-40B4-BE49-F238E27FC236}">
                <a16:creationId xmlns:a16="http://schemas.microsoft.com/office/drawing/2014/main" id="{697F454E-3C09-7036-9E96-5F67AF5DA435}"/>
              </a:ext>
            </a:extLst>
          </p:cNvPr>
          <p:cNvPicPr>
            <a:picLocks noChangeAspect="1"/>
          </p:cNvPicPr>
          <p:nvPr/>
        </p:nvPicPr>
        <p:blipFill>
          <a:blip r:embed="rId2"/>
          <a:stretch>
            <a:fillRect/>
          </a:stretch>
        </p:blipFill>
        <p:spPr>
          <a:xfrm>
            <a:off x="2303310" y="3223151"/>
            <a:ext cx="5491020" cy="2795835"/>
          </a:xfrm>
          <a:prstGeom prst="rect">
            <a:avLst/>
          </a:prstGeom>
        </p:spPr>
      </p:pic>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77334" y="289560"/>
            <a:ext cx="8596668" cy="1320800"/>
          </a:xfrm>
        </p:spPr>
        <p:txBody>
          <a:bodyPr/>
          <a:lstStyle/>
          <a:p>
            <a:r>
              <a:rPr dirty="0"/>
              <a:t>Summary Table of Keys</a:t>
            </a:r>
          </a:p>
        </p:txBody>
      </p:sp>
      <p:sp>
        <p:nvSpPr>
          <p:cNvPr id="3" name="Content Placeholder 2"/>
          <p:cNvSpPr>
            <a:spLocks noGrp="1"/>
          </p:cNvSpPr>
          <p:nvPr>
            <p:ph idx="1"/>
          </p:nvPr>
        </p:nvSpPr>
        <p:spPr>
          <a:xfrm>
            <a:off x="677334" y="1063309"/>
            <a:ext cx="8596668" cy="3880773"/>
          </a:xfrm>
        </p:spPr>
        <p:txBody>
          <a:bodyPr>
            <a:normAutofit/>
          </a:bodyPr>
          <a:lstStyle/>
          <a:p>
            <a:r>
              <a:rPr sz="1600" dirty="0"/>
              <a:t>Super Key: (STUD_NO, PHONE)</a:t>
            </a:r>
          </a:p>
          <a:p>
            <a:r>
              <a:rPr sz="1600" dirty="0"/>
              <a:t>Candidate Key: STUD_NO</a:t>
            </a:r>
          </a:p>
          <a:p>
            <a:r>
              <a:rPr sz="1600" dirty="0"/>
              <a:t>Primary Key: STUD_NO</a:t>
            </a:r>
          </a:p>
          <a:p>
            <a:r>
              <a:rPr sz="1600" dirty="0"/>
              <a:t>Alternate Key: PHONE</a:t>
            </a:r>
          </a:p>
          <a:p>
            <a:r>
              <a:rPr sz="1600" dirty="0"/>
              <a:t>Foreign Key: STUD_NO in STUDENT_COURSE</a:t>
            </a:r>
          </a:p>
          <a:p>
            <a:r>
              <a:rPr sz="1600" dirty="0"/>
              <a:t>Composite Key: {STUD_NO, COURSE_NO}</a:t>
            </a:r>
          </a:p>
        </p:txBody>
      </p:sp>
      <p:graphicFrame>
        <p:nvGraphicFramePr>
          <p:cNvPr id="5" name="Table 4">
            <a:extLst>
              <a:ext uri="{FF2B5EF4-FFF2-40B4-BE49-F238E27FC236}">
                <a16:creationId xmlns:a16="http://schemas.microsoft.com/office/drawing/2014/main" id="{C46E50CC-242F-DDB3-841F-7B01DDDB01E9}"/>
              </a:ext>
            </a:extLst>
          </p:cNvPr>
          <p:cNvGraphicFramePr>
            <a:graphicFrameLocks noGrp="1"/>
          </p:cNvGraphicFramePr>
          <p:nvPr>
            <p:extLst>
              <p:ext uri="{D42A27DB-BD31-4B8C-83A1-F6EECF244321}">
                <p14:modId xmlns:p14="http://schemas.microsoft.com/office/powerpoint/2010/main" val="3875274946"/>
              </p:ext>
            </p:extLst>
          </p:nvPr>
        </p:nvGraphicFramePr>
        <p:xfrm>
          <a:off x="677334" y="3429000"/>
          <a:ext cx="5933778" cy="1219200"/>
        </p:xfrm>
        <a:graphic>
          <a:graphicData uri="http://schemas.openxmlformats.org/drawingml/2006/table">
            <a:tbl>
              <a:tblPr/>
              <a:tblGrid>
                <a:gridCol w="1389849">
                  <a:extLst>
                    <a:ext uri="{9D8B030D-6E8A-4147-A177-3AD203B41FA5}">
                      <a16:colId xmlns:a16="http://schemas.microsoft.com/office/drawing/2014/main" val="3889789250"/>
                    </a:ext>
                  </a:extLst>
                </a:gridCol>
                <a:gridCol w="1359376">
                  <a:extLst>
                    <a:ext uri="{9D8B030D-6E8A-4147-A177-3AD203B41FA5}">
                      <a16:colId xmlns:a16="http://schemas.microsoft.com/office/drawing/2014/main" val="2136087926"/>
                    </a:ext>
                  </a:extLst>
                </a:gridCol>
                <a:gridCol w="2214928">
                  <a:extLst>
                    <a:ext uri="{9D8B030D-6E8A-4147-A177-3AD203B41FA5}">
                      <a16:colId xmlns:a16="http://schemas.microsoft.com/office/drawing/2014/main" val="2321837287"/>
                    </a:ext>
                  </a:extLst>
                </a:gridCol>
                <a:gridCol w="969625">
                  <a:extLst>
                    <a:ext uri="{9D8B030D-6E8A-4147-A177-3AD203B41FA5}">
                      <a16:colId xmlns:a16="http://schemas.microsoft.com/office/drawing/2014/main" val="3412572207"/>
                    </a:ext>
                  </a:extLst>
                </a:gridCol>
              </a:tblGrid>
              <a:tr h="0">
                <a:tc>
                  <a:txBody>
                    <a:bodyPr/>
                    <a:lstStyle/>
                    <a:p>
                      <a:pPr>
                        <a:buNone/>
                      </a:pPr>
                      <a:r>
                        <a:rPr lang="en-IN" sz="1400" b="1"/>
                        <a:t>STUD_NO (PK)</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sz="1400" b="1" dirty="0"/>
                        <a:t>NAME</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sz="1400" b="1"/>
                        <a:t>PHONE (Alternate Key)</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sz="1400" b="1" dirty="0"/>
                        <a:t>CITY</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931945876"/>
                  </a:ext>
                </a:extLst>
              </a:tr>
              <a:tr h="0">
                <a:tc>
                  <a:txBody>
                    <a:bodyPr/>
                    <a:lstStyle/>
                    <a:p>
                      <a:pPr>
                        <a:buNone/>
                      </a:pPr>
                      <a:r>
                        <a:rPr lang="en-IN" sz="1400" b="0"/>
                        <a:t>S101</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sz="1400" b="0"/>
                        <a:t>Riya Sharma</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sz="1400" b="0"/>
                        <a:t>9876543210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sz="1400" b="0"/>
                        <a:t>Delhi</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376396416"/>
                  </a:ext>
                </a:extLst>
              </a:tr>
              <a:tr h="0">
                <a:tc>
                  <a:txBody>
                    <a:bodyPr/>
                    <a:lstStyle/>
                    <a:p>
                      <a:pPr>
                        <a:buNone/>
                      </a:pPr>
                      <a:r>
                        <a:rPr lang="en-IN" sz="1400" b="0"/>
                        <a:t>S102</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sz="1400" b="0"/>
                        <a:t>Aarav Mehta</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sz="1400" b="0"/>
                        <a:t>9123456789</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sz="1400" b="0"/>
                        <a:t>Mumbai</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660666419"/>
                  </a:ext>
                </a:extLst>
              </a:tr>
              <a:tr h="0">
                <a:tc>
                  <a:txBody>
                    <a:bodyPr/>
                    <a:lstStyle/>
                    <a:p>
                      <a:pPr>
                        <a:buNone/>
                      </a:pPr>
                      <a:r>
                        <a:rPr lang="en-IN" sz="1400" b="0"/>
                        <a:t>S103</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sz="1400" b="0"/>
                        <a:t>Neha Patel</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sz="1400" b="0"/>
                        <a:t>9988776655</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sz="1400" b="0" dirty="0"/>
                        <a:t>Pune</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234030146"/>
                  </a:ext>
                </a:extLst>
              </a:tr>
            </a:tbl>
          </a:graphicData>
        </a:graphic>
      </p:graphicFrame>
      <p:graphicFrame>
        <p:nvGraphicFramePr>
          <p:cNvPr id="6" name="Table 5">
            <a:extLst>
              <a:ext uri="{FF2B5EF4-FFF2-40B4-BE49-F238E27FC236}">
                <a16:creationId xmlns:a16="http://schemas.microsoft.com/office/drawing/2014/main" id="{45509D6B-0064-64A7-62A4-69A44DCF30E6}"/>
              </a:ext>
            </a:extLst>
          </p:cNvPr>
          <p:cNvGraphicFramePr>
            <a:graphicFrameLocks noGrp="1"/>
          </p:cNvGraphicFramePr>
          <p:nvPr>
            <p:extLst>
              <p:ext uri="{D42A27DB-BD31-4B8C-83A1-F6EECF244321}">
                <p14:modId xmlns:p14="http://schemas.microsoft.com/office/powerpoint/2010/main" val="1186971293"/>
              </p:ext>
            </p:extLst>
          </p:nvPr>
        </p:nvGraphicFramePr>
        <p:xfrm>
          <a:off x="677334" y="4944082"/>
          <a:ext cx="3166168" cy="1219200"/>
        </p:xfrm>
        <a:graphic>
          <a:graphicData uri="http://schemas.openxmlformats.org/drawingml/2006/table">
            <a:tbl>
              <a:tblPr/>
              <a:tblGrid>
                <a:gridCol w="1611688">
                  <a:extLst>
                    <a:ext uri="{9D8B030D-6E8A-4147-A177-3AD203B41FA5}">
                      <a16:colId xmlns:a16="http://schemas.microsoft.com/office/drawing/2014/main" val="1143433139"/>
                    </a:ext>
                  </a:extLst>
                </a:gridCol>
                <a:gridCol w="1554480">
                  <a:extLst>
                    <a:ext uri="{9D8B030D-6E8A-4147-A177-3AD203B41FA5}">
                      <a16:colId xmlns:a16="http://schemas.microsoft.com/office/drawing/2014/main" val="2924355835"/>
                    </a:ext>
                  </a:extLst>
                </a:gridCol>
              </a:tblGrid>
              <a:tr h="0">
                <a:tc>
                  <a:txBody>
                    <a:bodyPr/>
                    <a:lstStyle/>
                    <a:p>
                      <a:pPr>
                        <a:buNone/>
                      </a:pPr>
                      <a:r>
                        <a:rPr lang="en-IN" sz="1400" b="1" dirty="0"/>
                        <a:t>COURSE_NO (PK)</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sz="1400" b="1" dirty="0"/>
                        <a:t>COURSE_NAME</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45201420"/>
                  </a:ext>
                </a:extLst>
              </a:tr>
              <a:tr h="0">
                <a:tc>
                  <a:txBody>
                    <a:bodyPr/>
                    <a:lstStyle/>
                    <a:p>
                      <a:pPr>
                        <a:buNone/>
                      </a:pPr>
                      <a:r>
                        <a:rPr lang="en-IN" sz="1400" b="0"/>
                        <a:t>C01</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sz="1400" b="0"/>
                        <a:t>DBMS</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736748181"/>
                  </a:ext>
                </a:extLst>
              </a:tr>
              <a:tr h="0">
                <a:tc>
                  <a:txBody>
                    <a:bodyPr/>
                    <a:lstStyle/>
                    <a:p>
                      <a:pPr>
                        <a:buNone/>
                      </a:pPr>
                      <a:r>
                        <a:rPr lang="en-IN" sz="1400" b="0"/>
                        <a:t>C02</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sz="1400" b="0"/>
                        <a:t>Java</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826965808"/>
                  </a:ext>
                </a:extLst>
              </a:tr>
              <a:tr h="0">
                <a:tc>
                  <a:txBody>
                    <a:bodyPr/>
                    <a:lstStyle/>
                    <a:p>
                      <a:pPr>
                        <a:buNone/>
                      </a:pPr>
                      <a:r>
                        <a:rPr lang="en-IN" sz="1400" b="0" dirty="0"/>
                        <a:t>C03</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sz="1400" b="0" dirty="0"/>
                        <a:t>Python</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304172480"/>
                  </a:ext>
                </a:extLst>
              </a:tr>
            </a:tbl>
          </a:graphicData>
        </a:graphic>
      </p:graphicFrame>
      <p:graphicFrame>
        <p:nvGraphicFramePr>
          <p:cNvPr id="7" name="Table 6">
            <a:extLst>
              <a:ext uri="{FF2B5EF4-FFF2-40B4-BE49-F238E27FC236}">
                <a16:creationId xmlns:a16="http://schemas.microsoft.com/office/drawing/2014/main" id="{C151B352-4123-CF72-BC97-C9C4DFC91B5F}"/>
              </a:ext>
            </a:extLst>
          </p:cNvPr>
          <p:cNvGraphicFramePr>
            <a:graphicFrameLocks noGrp="1"/>
          </p:cNvGraphicFramePr>
          <p:nvPr>
            <p:extLst>
              <p:ext uri="{D42A27DB-BD31-4B8C-83A1-F6EECF244321}">
                <p14:modId xmlns:p14="http://schemas.microsoft.com/office/powerpoint/2010/main" val="714460067"/>
              </p:ext>
            </p:extLst>
          </p:nvPr>
        </p:nvGraphicFramePr>
        <p:xfrm>
          <a:off x="4214936" y="4937986"/>
          <a:ext cx="3091120" cy="1524000"/>
        </p:xfrm>
        <a:graphic>
          <a:graphicData uri="http://schemas.openxmlformats.org/drawingml/2006/table">
            <a:tbl>
              <a:tblPr/>
              <a:tblGrid>
                <a:gridCol w="1426912">
                  <a:extLst>
                    <a:ext uri="{9D8B030D-6E8A-4147-A177-3AD203B41FA5}">
                      <a16:colId xmlns:a16="http://schemas.microsoft.com/office/drawing/2014/main" val="3001317985"/>
                    </a:ext>
                  </a:extLst>
                </a:gridCol>
                <a:gridCol w="1664208">
                  <a:extLst>
                    <a:ext uri="{9D8B030D-6E8A-4147-A177-3AD203B41FA5}">
                      <a16:colId xmlns:a16="http://schemas.microsoft.com/office/drawing/2014/main" val="3680828850"/>
                    </a:ext>
                  </a:extLst>
                </a:gridCol>
              </a:tblGrid>
              <a:tr h="0">
                <a:tc>
                  <a:txBody>
                    <a:bodyPr/>
                    <a:lstStyle/>
                    <a:p>
                      <a:pPr>
                        <a:buNone/>
                      </a:pPr>
                      <a:r>
                        <a:rPr lang="en-IN" sz="1400" b="1"/>
                        <a:t>STUD_NO (FK)</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sz="1400" b="1" dirty="0"/>
                        <a:t>COURSE_NO (FK)</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95816760"/>
                  </a:ext>
                </a:extLst>
              </a:tr>
              <a:tr h="0">
                <a:tc>
                  <a:txBody>
                    <a:bodyPr/>
                    <a:lstStyle/>
                    <a:p>
                      <a:pPr>
                        <a:buNone/>
                      </a:pPr>
                      <a:r>
                        <a:rPr lang="en-IN" sz="1400" b="0"/>
                        <a:t>S101</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sz="1400" b="0"/>
                        <a:t>C01</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367857110"/>
                  </a:ext>
                </a:extLst>
              </a:tr>
              <a:tr h="0">
                <a:tc>
                  <a:txBody>
                    <a:bodyPr/>
                    <a:lstStyle/>
                    <a:p>
                      <a:pPr>
                        <a:buNone/>
                      </a:pPr>
                      <a:r>
                        <a:rPr lang="en-IN" sz="1400" b="0"/>
                        <a:t>S101</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sz="1400" b="0"/>
                        <a:t>C02</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977328782"/>
                  </a:ext>
                </a:extLst>
              </a:tr>
              <a:tr h="0">
                <a:tc>
                  <a:txBody>
                    <a:bodyPr/>
                    <a:lstStyle/>
                    <a:p>
                      <a:pPr>
                        <a:buNone/>
                      </a:pPr>
                      <a:r>
                        <a:rPr lang="en-IN" sz="1400" b="0"/>
                        <a:t>S102</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sz="1400" b="0"/>
                        <a:t>C01</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599370294"/>
                  </a:ext>
                </a:extLst>
              </a:tr>
              <a:tr h="0">
                <a:tc>
                  <a:txBody>
                    <a:bodyPr/>
                    <a:lstStyle/>
                    <a:p>
                      <a:pPr>
                        <a:buNone/>
                      </a:pPr>
                      <a:r>
                        <a:rPr lang="en-IN" sz="1400" b="0" dirty="0"/>
                        <a:t>S103</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sz="1400" b="0" dirty="0"/>
                        <a:t>C03</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38970392"/>
                  </a:ext>
                </a:extLst>
              </a:tr>
            </a:tbl>
          </a:graphicData>
        </a:graphic>
      </p:graphicFrame>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Content Placeholder 3"/>
          <p:cNvPicPr>
            <a:picLocks noGrp="1" noChangeAspect="1"/>
          </p:cNvPicPr>
          <p:nvPr>
            <p:ph idx="1"/>
          </p:nvPr>
        </p:nvPicPr>
        <p:blipFill>
          <a:blip r:embed="rId2"/>
          <a:stretch>
            <a:fillRect/>
          </a:stretch>
        </p:blipFill>
        <p:spPr>
          <a:xfrm>
            <a:off x="848297" y="1417949"/>
            <a:ext cx="8460295" cy="4155734"/>
          </a:xfrm>
          <a:prstGeom prst="rect">
            <a:avLst/>
          </a:prstGeom>
        </p:spPr>
      </p:pic>
    </p:spTree>
    <p:extLst>
      <p:ext uri="{BB962C8B-B14F-4D97-AF65-F5344CB8AC3E}">
        <p14:creationId xmlns:p14="http://schemas.microsoft.com/office/powerpoint/2010/main" val="3625030200"/>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734730" y="142852"/>
            <a:ext cx="8229600" cy="642942"/>
          </a:xfrm>
        </p:spPr>
        <p:txBody>
          <a:bodyPr>
            <a:normAutofit/>
          </a:bodyPr>
          <a:lstStyle/>
          <a:p>
            <a:r>
              <a:rPr lang="en-US" dirty="0"/>
              <a:t>Normalization</a:t>
            </a:r>
            <a:endParaRPr lang="en-IN" dirty="0"/>
          </a:p>
        </p:txBody>
      </p:sp>
      <p:sp>
        <p:nvSpPr>
          <p:cNvPr id="3" name="Content Placeholder 2"/>
          <p:cNvSpPr>
            <a:spLocks noGrp="1"/>
          </p:cNvSpPr>
          <p:nvPr>
            <p:ph idx="1"/>
          </p:nvPr>
        </p:nvSpPr>
        <p:spPr>
          <a:xfrm>
            <a:off x="623667" y="1609344"/>
            <a:ext cx="10944665" cy="4965192"/>
          </a:xfrm>
        </p:spPr>
        <p:txBody>
          <a:bodyPr>
            <a:normAutofit lnSpcReduction="10000"/>
          </a:bodyPr>
          <a:lstStyle/>
          <a:p>
            <a:r>
              <a:rPr lang="en-IN" sz="2400" dirty="0"/>
              <a:t>This rule defines that all the attributes in a relation must have atomic domains. The values in an atomic domain are indivisible units.</a:t>
            </a:r>
          </a:p>
          <a:p>
            <a:r>
              <a:rPr lang="en-US" sz="2400" dirty="0" err="1"/>
              <a:t>Eg</a:t>
            </a:r>
            <a:r>
              <a:rPr lang="en-US" sz="2400" dirty="0"/>
              <a:t>.</a:t>
            </a:r>
          </a:p>
          <a:p>
            <a:endParaRPr lang="en-US" sz="2400" dirty="0"/>
          </a:p>
          <a:p>
            <a:endParaRPr lang="en-US" sz="2400" dirty="0"/>
          </a:p>
          <a:p>
            <a:endParaRPr lang="en-US" sz="2400" dirty="0"/>
          </a:p>
          <a:p>
            <a:endParaRPr lang="en-US" sz="2400" dirty="0"/>
          </a:p>
          <a:p>
            <a:r>
              <a:rPr lang="en-US" sz="2400" dirty="0"/>
              <a:t>Convert into 1</a:t>
            </a:r>
            <a:r>
              <a:rPr lang="en-US" sz="2400" baseline="30000" dirty="0"/>
              <a:t>st</a:t>
            </a:r>
            <a:r>
              <a:rPr lang="en-US" sz="2400" dirty="0"/>
              <a:t> NF as:</a:t>
            </a:r>
          </a:p>
          <a:p>
            <a:pPr>
              <a:buNone/>
            </a:pPr>
            <a:r>
              <a:rPr lang="en-US" sz="2400" dirty="0"/>
              <a:t>	{</a:t>
            </a:r>
            <a:r>
              <a:rPr lang="en-US" sz="2400" dirty="0" err="1"/>
              <a:t>Car_Model</a:t>
            </a:r>
            <a:r>
              <a:rPr lang="en-US" sz="2400" dirty="0"/>
              <a:t>, Color, Price} with multiple records for Car Model</a:t>
            </a:r>
          </a:p>
          <a:p>
            <a:pPr>
              <a:buNone/>
            </a:pPr>
            <a:endParaRPr lang="en-US" sz="1100" dirty="0"/>
          </a:p>
          <a:p>
            <a:pPr>
              <a:buNone/>
            </a:pPr>
            <a:r>
              <a:rPr lang="en-US" sz="2400" dirty="0"/>
              <a:t>Here in 1</a:t>
            </a:r>
            <a:r>
              <a:rPr lang="en-US" sz="2400" baseline="30000" dirty="0"/>
              <a:t>st</a:t>
            </a:r>
            <a:r>
              <a:rPr lang="en-US" sz="2400" dirty="0"/>
              <a:t> NF we don’t create any Primary key.</a:t>
            </a:r>
            <a:endParaRPr lang="en-IN" sz="2400" dirty="0"/>
          </a:p>
        </p:txBody>
      </p:sp>
      <p:graphicFrame>
        <p:nvGraphicFramePr>
          <p:cNvPr id="5" name="Table 4"/>
          <p:cNvGraphicFramePr>
            <a:graphicFrameLocks noGrp="1"/>
          </p:cNvGraphicFramePr>
          <p:nvPr>
            <p:extLst>
              <p:ext uri="{D42A27DB-BD31-4B8C-83A1-F6EECF244321}">
                <p14:modId xmlns:p14="http://schemas.microsoft.com/office/powerpoint/2010/main" val="3461909446"/>
              </p:ext>
            </p:extLst>
          </p:nvPr>
        </p:nvGraphicFramePr>
        <p:xfrm>
          <a:off x="1715377" y="2390832"/>
          <a:ext cx="5828423" cy="2076336"/>
        </p:xfrm>
        <a:graphic>
          <a:graphicData uri="http://schemas.openxmlformats.org/drawingml/2006/table">
            <a:tbl>
              <a:tblPr firstRow="1" bandRow="1">
                <a:tableStyleId>{5C22544A-7EE6-4342-B048-85BDC9FD1C3A}</a:tableStyleId>
              </a:tblPr>
              <a:tblGrid>
                <a:gridCol w="1521599">
                  <a:extLst>
                    <a:ext uri="{9D8B030D-6E8A-4147-A177-3AD203B41FA5}">
                      <a16:colId xmlns:a16="http://schemas.microsoft.com/office/drawing/2014/main" val="20000"/>
                    </a:ext>
                  </a:extLst>
                </a:gridCol>
                <a:gridCol w="2240280">
                  <a:extLst>
                    <a:ext uri="{9D8B030D-6E8A-4147-A177-3AD203B41FA5}">
                      <a16:colId xmlns:a16="http://schemas.microsoft.com/office/drawing/2014/main" val="20001"/>
                    </a:ext>
                  </a:extLst>
                </a:gridCol>
                <a:gridCol w="2066544">
                  <a:extLst>
                    <a:ext uri="{9D8B030D-6E8A-4147-A177-3AD203B41FA5}">
                      <a16:colId xmlns:a16="http://schemas.microsoft.com/office/drawing/2014/main" val="20002"/>
                    </a:ext>
                  </a:extLst>
                </a:gridCol>
              </a:tblGrid>
              <a:tr h="360561">
                <a:tc>
                  <a:txBody>
                    <a:bodyPr/>
                    <a:lstStyle/>
                    <a:p>
                      <a:r>
                        <a:rPr lang="en-US" dirty="0" err="1"/>
                        <a:t>Car_model</a:t>
                      </a:r>
                      <a:endParaRPr lang="en-IN" dirty="0"/>
                    </a:p>
                  </a:txBody>
                  <a:tcPr/>
                </a:tc>
                <a:tc>
                  <a:txBody>
                    <a:bodyPr/>
                    <a:lstStyle/>
                    <a:p>
                      <a:r>
                        <a:rPr lang="en-US" dirty="0"/>
                        <a:t>Color</a:t>
                      </a:r>
                      <a:endParaRPr lang="en-IN" dirty="0"/>
                    </a:p>
                  </a:txBody>
                  <a:tcPr/>
                </a:tc>
                <a:tc>
                  <a:txBody>
                    <a:bodyPr/>
                    <a:lstStyle/>
                    <a:p>
                      <a:r>
                        <a:rPr lang="en-US" dirty="0"/>
                        <a:t>Price</a:t>
                      </a:r>
                      <a:endParaRPr lang="en-IN" dirty="0"/>
                    </a:p>
                  </a:txBody>
                  <a:tcPr/>
                </a:tc>
                <a:extLst>
                  <a:ext uri="{0D108BD9-81ED-4DB2-BD59-A6C34878D82A}">
                    <a16:rowId xmlns:a16="http://schemas.microsoft.com/office/drawing/2014/main" val="10000"/>
                  </a:ext>
                </a:extLst>
              </a:tr>
              <a:tr h="427644">
                <a:tc>
                  <a:txBody>
                    <a:bodyPr/>
                    <a:lstStyle/>
                    <a:p>
                      <a:r>
                        <a:rPr lang="en-US" dirty="0"/>
                        <a:t>1</a:t>
                      </a:r>
                      <a:endParaRPr lang="en-IN" dirty="0"/>
                    </a:p>
                  </a:txBody>
                  <a:tcPr/>
                </a:tc>
                <a:tc>
                  <a:txBody>
                    <a:bodyPr/>
                    <a:lstStyle/>
                    <a:p>
                      <a:r>
                        <a:rPr lang="en-US" dirty="0"/>
                        <a:t>Red, Grey, Black</a:t>
                      </a:r>
                      <a:endParaRPr lang="en-IN" dirty="0"/>
                    </a:p>
                  </a:txBody>
                  <a:tcPr/>
                </a:tc>
                <a:tc>
                  <a:txBody>
                    <a:bodyPr/>
                    <a:lstStyle/>
                    <a:p>
                      <a:r>
                        <a:rPr lang="en-US" dirty="0"/>
                        <a:t>5lk ,</a:t>
                      </a:r>
                      <a:r>
                        <a:rPr lang="en-US" baseline="0" dirty="0"/>
                        <a:t> 6lk , 4.5lk</a:t>
                      </a:r>
                      <a:endParaRPr lang="en-IN" dirty="0"/>
                    </a:p>
                  </a:txBody>
                  <a:tcPr/>
                </a:tc>
                <a:extLst>
                  <a:ext uri="{0D108BD9-81ED-4DB2-BD59-A6C34878D82A}">
                    <a16:rowId xmlns:a16="http://schemas.microsoft.com/office/drawing/2014/main" val="10001"/>
                  </a:ext>
                </a:extLst>
              </a:tr>
              <a:tr h="427644">
                <a:tc>
                  <a:txBody>
                    <a:bodyPr/>
                    <a:lstStyle/>
                    <a:p>
                      <a:r>
                        <a:rPr lang="en-US" dirty="0"/>
                        <a:t>2</a:t>
                      </a:r>
                      <a:endParaRPr lang="en-IN" dirty="0"/>
                    </a:p>
                  </a:txBody>
                  <a:tcPr/>
                </a:tc>
                <a:tc>
                  <a:txBody>
                    <a:bodyPr/>
                    <a:lstStyle/>
                    <a:p>
                      <a:r>
                        <a:rPr lang="en-US" dirty="0"/>
                        <a:t>Red, Yellow, White</a:t>
                      </a:r>
                      <a:endParaRPr lang="en-IN" dirty="0"/>
                    </a:p>
                  </a:txBody>
                  <a:tcPr/>
                </a:tc>
                <a:tc>
                  <a:txBody>
                    <a:bodyPr/>
                    <a:lstStyle/>
                    <a:p>
                      <a:r>
                        <a:rPr lang="en-US" dirty="0"/>
                        <a:t>5.5 </a:t>
                      </a:r>
                      <a:r>
                        <a:rPr lang="en-US" dirty="0" err="1"/>
                        <a:t>lk</a:t>
                      </a:r>
                      <a:r>
                        <a:rPr lang="en-US" dirty="0"/>
                        <a:t> , 4lk, 6lk</a:t>
                      </a:r>
                      <a:endParaRPr lang="en-IN" dirty="0"/>
                    </a:p>
                  </a:txBody>
                  <a:tcPr/>
                </a:tc>
                <a:extLst>
                  <a:ext uri="{0D108BD9-81ED-4DB2-BD59-A6C34878D82A}">
                    <a16:rowId xmlns:a16="http://schemas.microsoft.com/office/drawing/2014/main" val="10002"/>
                  </a:ext>
                </a:extLst>
              </a:tr>
              <a:tr h="427644">
                <a:tc>
                  <a:txBody>
                    <a:bodyPr/>
                    <a:lstStyle/>
                    <a:p>
                      <a:r>
                        <a:rPr lang="en-US" dirty="0"/>
                        <a:t>3</a:t>
                      </a:r>
                      <a:endParaRPr lang="en-IN" dirty="0"/>
                    </a:p>
                  </a:txBody>
                  <a:tcPr/>
                </a:tc>
                <a:tc>
                  <a:txBody>
                    <a:bodyPr/>
                    <a:lstStyle/>
                    <a:p>
                      <a:r>
                        <a:rPr lang="en-US" dirty="0"/>
                        <a:t>Black, White</a:t>
                      </a:r>
                      <a:endParaRPr lang="en-IN" dirty="0"/>
                    </a:p>
                  </a:txBody>
                  <a:tcPr/>
                </a:tc>
                <a:tc>
                  <a:txBody>
                    <a:bodyPr/>
                    <a:lstStyle/>
                    <a:p>
                      <a:r>
                        <a:rPr lang="en-US" dirty="0"/>
                        <a:t>7lk ,</a:t>
                      </a:r>
                      <a:r>
                        <a:rPr lang="en-US" baseline="0" dirty="0"/>
                        <a:t> 6lk</a:t>
                      </a:r>
                      <a:endParaRPr lang="en-IN" dirty="0"/>
                    </a:p>
                  </a:txBody>
                  <a:tcPr/>
                </a:tc>
                <a:extLst>
                  <a:ext uri="{0D108BD9-81ED-4DB2-BD59-A6C34878D82A}">
                    <a16:rowId xmlns:a16="http://schemas.microsoft.com/office/drawing/2014/main" val="10003"/>
                  </a:ext>
                </a:extLst>
              </a:tr>
              <a:tr h="427644">
                <a:tc>
                  <a:txBody>
                    <a:bodyPr/>
                    <a:lstStyle/>
                    <a:p>
                      <a:r>
                        <a:rPr lang="en-US" dirty="0"/>
                        <a:t>4</a:t>
                      </a:r>
                      <a:endParaRPr lang="en-IN" dirty="0"/>
                    </a:p>
                  </a:txBody>
                  <a:tcPr/>
                </a:tc>
                <a:tc>
                  <a:txBody>
                    <a:bodyPr/>
                    <a:lstStyle/>
                    <a:p>
                      <a:r>
                        <a:rPr lang="en-US" dirty="0"/>
                        <a:t>White, Grey</a:t>
                      </a:r>
                      <a:endParaRPr lang="en-IN" dirty="0"/>
                    </a:p>
                  </a:txBody>
                  <a:tcPr/>
                </a:tc>
                <a:tc>
                  <a:txBody>
                    <a:bodyPr/>
                    <a:lstStyle/>
                    <a:p>
                      <a:r>
                        <a:rPr lang="en-US" dirty="0"/>
                        <a:t>6lk , 7lk</a:t>
                      </a:r>
                      <a:endParaRPr lang="en-IN" dirty="0"/>
                    </a:p>
                  </a:txBody>
                  <a:tcPr/>
                </a:tc>
                <a:extLst>
                  <a:ext uri="{0D108BD9-81ED-4DB2-BD59-A6C34878D82A}">
                    <a16:rowId xmlns:a16="http://schemas.microsoft.com/office/drawing/2014/main" val="10004"/>
                  </a:ext>
                </a:extLst>
              </a:tr>
            </a:tbl>
          </a:graphicData>
        </a:graphic>
      </p:graphicFrame>
      <p:sp>
        <p:nvSpPr>
          <p:cNvPr id="4" name="Title 4">
            <a:extLst>
              <a:ext uri="{FF2B5EF4-FFF2-40B4-BE49-F238E27FC236}">
                <a16:creationId xmlns:a16="http://schemas.microsoft.com/office/drawing/2014/main" id="{7A3F089A-09F9-13A0-2C98-9AA2D571BE94}"/>
              </a:ext>
            </a:extLst>
          </p:cNvPr>
          <p:cNvSpPr txBox="1">
            <a:spLocks/>
          </p:cNvSpPr>
          <p:nvPr/>
        </p:nvSpPr>
        <p:spPr>
          <a:xfrm>
            <a:off x="734730" y="785793"/>
            <a:ext cx="8596668" cy="1235951"/>
          </a:xfrm>
          <a:prstGeom prst="rect">
            <a:avLst/>
          </a:prstGeom>
        </p:spPr>
        <p:txBody>
          <a:bodyPr vert="horz" lIns="91440" tIns="45720" rIns="91440" bIns="45720" rtlCol="0" anchor="t">
            <a:normAutofit/>
          </a:bodyPr>
          <a:lstStyle>
            <a:lvl1pPr algn="l" defTabSz="457200" rtl="0" eaLnBrk="1" latinLnBrk="0" hangingPunct="1">
              <a:spcBef>
                <a:spcPct val="0"/>
              </a:spcBef>
              <a:buNone/>
              <a:defRPr sz="3600" kern="1200">
                <a:solidFill>
                  <a:schemeClr val="accent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r>
              <a:rPr lang="en-IN" sz="2800" b="1" dirty="0"/>
              <a:t>First Normal Form(1NF):</a:t>
            </a:r>
            <a:endParaRPr lang="en-IN" sz="2800" dirty="0"/>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717451" y="1408176"/>
            <a:ext cx="10557101" cy="5175186"/>
          </a:xfrm>
        </p:spPr>
        <p:txBody>
          <a:bodyPr/>
          <a:lstStyle/>
          <a:p>
            <a:pPr algn="just"/>
            <a:r>
              <a:rPr lang="en-IN" dirty="0"/>
              <a:t>Every non-prime attribute should be fully functionally dependent on prime key attribute. </a:t>
            </a:r>
          </a:p>
          <a:p>
            <a:pPr algn="just"/>
            <a:r>
              <a:rPr lang="en-IN" dirty="0"/>
              <a:t>That is, if X → A holds, then there should not be any proper subset Y of X, for which Y → A also holds true. </a:t>
            </a:r>
          </a:p>
          <a:p>
            <a:pPr algn="just">
              <a:buNone/>
            </a:pPr>
            <a:r>
              <a:rPr lang="en-US" dirty="0" err="1"/>
              <a:t>Eg</a:t>
            </a:r>
            <a:r>
              <a:rPr lang="en-US" dirty="0"/>
              <a:t>.</a:t>
            </a:r>
          </a:p>
          <a:p>
            <a:pPr algn="just">
              <a:buNone/>
            </a:pPr>
            <a:r>
              <a:rPr lang="en-US" dirty="0"/>
              <a:t>R =&gt; </a:t>
            </a:r>
            <a:r>
              <a:rPr lang="en-US" dirty="0" err="1"/>
              <a:t>Stud_Proj</a:t>
            </a:r>
            <a:r>
              <a:rPr lang="en-US" dirty="0"/>
              <a:t> = {</a:t>
            </a:r>
            <a:r>
              <a:rPr lang="en-US" dirty="0" err="1"/>
              <a:t>stud_id</a:t>
            </a:r>
            <a:r>
              <a:rPr lang="en-US" dirty="0"/>
              <a:t>, name, </a:t>
            </a:r>
            <a:r>
              <a:rPr lang="en-US" dirty="0" err="1"/>
              <a:t>proj_id</a:t>
            </a:r>
            <a:r>
              <a:rPr lang="en-US" dirty="0"/>
              <a:t>, </a:t>
            </a:r>
            <a:r>
              <a:rPr lang="en-US" dirty="0" err="1"/>
              <a:t>proj_name</a:t>
            </a:r>
            <a:r>
              <a:rPr lang="en-US" dirty="0"/>
              <a:t>}</a:t>
            </a:r>
          </a:p>
          <a:p>
            <a:pPr algn="just">
              <a:buNone/>
            </a:pPr>
            <a:endParaRPr lang="en-US" sz="500" dirty="0"/>
          </a:p>
          <a:p>
            <a:pPr algn="just">
              <a:buNone/>
            </a:pPr>
            <a:r>
              <a:rPr lang="en-US" dirty="0"/>
              <a:t>Student:    {</a:t>
            </a:r>
            <a:r>
              <a:rPr lang="en-US" dirty="0" err="1"/>
              <a:t>stud_Id</a:t>
            </a:r>
            <a:r>
              <a:rPr lang="en-US" dirty="0"/>
              <a:t>, name, </a:t>
            </a:r>
            <a:r>
              <a:rPr lang="en-US" dirty="0" err="1"/>
              <a:t>proj_Id</a:t>
            </a:r>
            <a:r>
              <a:rPr lang="en-US" dirty="0"/>
              <a:t>,}</a:t>
            </a:r>
          </a:p>
          <a:p>
            <a:pPr algn="just">
              <a:buNone/>
            </a:pPr>
            <a:r>
              <a:rPr lang="en-US" dirty="0"/>
              <a:t>Project:     {</a:t>
            </a:r>
            <a:r>
              <a:rPr lang="en-US" dirty="0" err="1"/>
              <a:t>proj_id</a:t>
            </a:r>
            <a:r>
              <a:rPr lang="en-US" dirty="0"/>
              <a:t>, </a:t>
            </a:r>
            <a:r>
              <a:rPr lang="en-US" dirty="0" err="1"/>
              <a:t>proj_name</a:t>
            </a:r>
            <a:r>
              <a:rPr lang="en-US" dirty="0"/>
              <a:t>}</a:t>
            </a:r>
            <a:endParaRPr lang="en-IN" dirty="0"/>
          </a:p>
        </p:txBody>
      </p:sp>
      <p:sp>
        <p:nvSpPr>
          <p:cNvPr id="5" name="Title 4">
            <a:extLst>
              <a:ext uri="{FF2B5EF4-FFF2-40B4-BE49-F238E27FC236}">
                <a16:creationId xmlns:a16="http://schemas.microsoft.com/office/drawing/2014/main" id="{242519FA-1CCD-11B8-FB2D-BB00962CA623}"/>
              </a:ext>
            </a:extLst>
          </p:cNvPr>
          <p:cNvSpPr>
            <a:spLocks noGrp="1"/>
          </p:cNvSpPr>
          <p:nvPr>
            <p:ph type="title"/>
          </p:nvPr>
        </p:nvSpPr>
        <p:spPr/>
        <p:txBody>
          <a:bodyPr>
            <a:normAutofit/>
          </a:bodyPr>
          <a:lstStyle/>
          <a:p>
            <a:r>
              <a:rPr lang="en-IN" sz="2800" b="1" dirty="0"/>
              <a:t>Second Normal Form(2NF):</a:t>
            </a:r>
            <a:endParaRPr lang="en-IN" sz="2800" dirty="0"/>
          </a:p>
        </p:txBody>
      </p:sp>
      <p:graphicFrame>
        <p:nvGraphicFramePr>
          <p:cNvPr id="6" name="Table 5">
            <a:extLst>
              <a:ext uri="{FF2B5EF4-FFF2-40B4-BE49-F238E27FC236}">
                <a16:creationId xmlns:a16="http://schemas.microsoft.com/office/drawing/2014/main" id="{A8AA54B9-C513-21A7-27FC-F200357BABBD}"/>
              </a:ext>
            </a:extLst>
          </p:cNvPr>
          <p:cNvGraphicFramePr>
            <a:graphicFrameLocks noGrp="1"/>
          </p:cNvGraphicFramePr>
          <p:nvPr>
            <p:extLst>
              <p:ext uri="{D42A27DB-BD31-4B8C-83A1-F6EECF244321}">
                <p14:modId xmlns:p14="http://schemas.microsoft.com/office/powerpoint/2010/main" val="1496242636"/>
              </p:ext>
            </p:extLst>
          </p:nvPr>
        </p:nvGraphicFramePr>
        <p:xfrm>
          <a:off x="717451" y="4379817"/>
          <a:ext cx="8596312" cy="2011680"/>
        </p:xfrm>
        <a:graphic>
          <a:graphicData uri="http://schemas.openxmlformats.org/drawingml/2006/table">
            <a:tbl>
              <a:tblPr/>
              <a:tblGrid>
                <a:gridCol w="2149078">
                  <a:extLst>
                    <a:ext uri="{9D8B030D-6E8A-4147-A177-3AD203B41FA5}">
                      <a16:colId xmlns:a16="http://schemas.microsoft.com/office/drawing/2014/main" val="3877700753"/>
                    </a:ext>
                  </a:extLst>
                </a:gridCol>
                <a:gridCol w="2149078">
                  <a:extLst>
                    <a:ext uri="{9D8B030D-6E8A-4147-A177-3AD203B41FA5}">
                      <a16:colId xmlns:a16="http://schemas.microsoft.com/office/drawing/2014/main" val="3383774010"/>
                    </a:ext>
                  </a:extLst>
                </a:gridCol>
                <a:gridCol w="2149078">
                  <a:extLst>
                    <a:ext uri="{9D8B030D-6E8A-4147-A177-3AD203B41FA5}">
                      <a16:colId xmlns:a16="http://schemas.microsoft.com/office/drawing/2014/main" val="4038318844"/>
                    </a:ext>
                  </a:extLst>
                </a:gridCol>
                <a:gridCol w="2149078">
                  <a:extLst>
                    <a:ext uri="{9D8B030D-6E8A-4147-A177-3AD203B41FA5}">
                      <a16:colId xmlns:a16="http://schemas.microsoft.com/office/drawing/2014/main" val="7372290"/>
                    </a:ext>
                  </a:extLst>
                </a:gridCol>
              </a:tblGrid>
              <a:tr h="0">
                <a:tc>
                  <a:txBody>
                    <a:bodyPr/>
                    <a:lstStyle/>
                    <a:p>
                      <a:pPr>
                        <a:buNone/>
                      </a:pPr>
                      <a:r>
                        <a:rPr lang="en-IN" sz="1600" b="1" dirty="0" err="1"/>
                        <a:t>stud_id</a:t>
                      </a:r>
                      <a:endParaRPr lang="en-IN" sz="1600" b="1"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sz="1600" b="1" dirty="0"/>
                        <a:t>name</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sz="1600" b="1" dirty="0" err="1"/>
                        <a:t>proj_id</a:t>
                      </a:r>
                      <a:endParaRPr lang="en-IN" sz="1600" b="1"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sz="1600" b="1" dirty="0" err="1"/>
                        <a:t>proj_name</a:t>
                      </a:r>
                      <a:endParaRPr lang="en-IN" sz="1600" b="1"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443612283"/>
                  </a:ext>
                </a:extLst>
              </a:tr>
              <a:tr h="0">
                <a:tc>
                  <a:txBody>
                    <a:bodyPr/>
                    <a:lstStyle/>
                    <a:p>
                      <a:pPr>
                        <a:buNone/>
                      </a:pPr>
                      <a:r>
                        <a:rPr lang="en-IN" sz="1600" b="0"/>
                        <a:t>S101</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sz="1600" b="0"/>
                        <a:t>Riya Sharma</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sz="1600" b="0"/>
                        <a:t>P01</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sz="1600" b="0"/>
                        <a:t>Library System</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417072460"/>
                  </a:ext>
                </a:extLst>
              </a:tr>
              <a:tr h="0">
                <a:tc>
                  <a:txBody>
                    <a:bodyPr/>
                    <a:lstStyle/>
                    <a:p>
                      <a:pPr>
                        <a:buNone/>
                      </a:pPr>
                      <a:r>
                        <a:rPr lang="en-IN" sz="1600" b="0"/>
                        <a:t>S102</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sz="1600" b="0"/>
                        <a:t>Aarav Mehta</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sz="1600" b="0"/>
                        <a:t>P02</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sz="1600" b="0"/>
                        <a:t>Online Shopping</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230342096"/>
                  </a:ext>
                </a:extLst>
              </a:tr>
              <a:tr h="0">
                <a:tc>
                  <a:txBody>
                    <a:bodyPr/>
                    <a:lstStyle/>
                    <a:p>
                      <a:pPr>
                        <a:buNone/>
                      </a:pPr>
                      <a:r>
                        <a:rPr lang="en-IN" sz="1600" b="0"/>
                        <a:t>S103</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sz="1600" b="0"/>
                        <a:t>Neha Patel</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sz="1600" b="0"/>
                        <a:t>P03</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sz="1600" b="0"/>
                        <a:t>Weather App</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42907616"/>
                  </a:ext>
                </a:extLst>
              </a:tr>
              <a:tr h="0">
                <a:tc>
                  <a:txBody>
                    <a:bodyPr/>
                    <a:lstStyle/>
                    <a:p>
                      <a:pPr>
                        <a:buNone/>
                      </a:pPr>
                      <a:r>
                        <a:rPr lang="en-IN" sz="1600" b="0"/>
                        <a:t>S104</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sz="1600" b="0"/>
                        <a:t>Karan Verma</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sz="1600" b="0"/>
                        <a:t>P01</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sz="1600" b="0"/>
                        <a:t>Library System</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569233389"/>
                  </a:ext>
                </a:extLst>
              </a:tr>
              <a:tr h="0">
                <a:tc>
                  <a:txBody>
                    <a:bodyPr/>
                    <a:lstStyle/>
                    <a:p>
                      <a:pPr>
                        <a:buNone/>
                      </a:pPr>
                      <a:r>
                        <a:rPr lang="en-IN" sz="1600" b="0"/>
                        <a:t>S105</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sz="1600" b="0"/>
                        <a:t>Priya Desai</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sz="1600" b="0"/>
                        <a:t>P02</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sz="1600" b="0" dirty="0"/>
                        <a:t>Online Shopping</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33701162"/>
                  </a:ext>
                </a:extLst>
              </a:tr>
            </a:tbl>
          </a:graphicData>
        </a:graphic>
      </p:graphicFrame>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661181" y="1060862"/>
            <a:ext cx="10986867" cy="4937602"/>
          </a:xfrm>
        </p:spPr>
        <p:txBody>
          <a:bodyPr>
            <a:normAutofit lnSpcReduction="10000"/>
          </a:bodyPr>
          <a:lstStyle/>
          <a:p>
            <a:pPr algn="just"/>
            <a:r>
              <a:rPr lang="en-IN" dirty="0"/>
              <a:t>For a relation to be in Third Normal Form, it must be in Second Normal form and the following must satisfy </a:t>
            </a:r>
          </a:p>
          <a:p>
            <a:pPr algn="just"/>
            <a:r>
              <a:rPr lang="en-IN" dirty="0"/>
              <a:t>No non-prime attribute is transitively dependent on prime key attribute. </a:t>
            </a:r>
          </a:p>
          <a:p>
            <a:pPr algn="just"/>
            <a:r>
              <a:rPr lang="en-IN" dirty="0"/>
              <a:t>For any non-trivial functional dependency, </a:t>
            </a:r>
          </a:p>
          <a:p>
            <a:pPr algn="just">
              <a:buNone/>
            </a:pPr>
            <a:r>
              <a:rPr lang="en-IN" dirty="0"/>
              <a:t>	X → A, then either </a:t>
            </a:r>
          </a:p>
          <a:p>
            <a:pPr lvl="1" algn="just"/>
            <a:r>
              <a:rPr lang="en-IN" dirty="0"/>
              <a:t>X is a </a:t>
            </a:r>
            <a:r>
              <a:rPr lang="en-IN" dirty="0" err="1"/>
              <a:t>superkey</a:t>
            </a:r>
            <a:r>
              <a:rPr lang="en-IN" dirty="0"/>
              <a:t>          or</a:t>
            </a:r>
          </a:p>
          <a:p>
            <a:pPr lvl="1" algn="just"/>
            <a:r>
              <a:rPr lang="en-IN" dirty="0"/>
              <a:t>A is prime attribute.</a:t>
            </a:r>
          </a:p>
          <a:p>
            <a:pPr algn="just">
              <a:buNone/>
            </a:pPr>
            <a:endParaRPr lang="en-US" dirty="0"/>
          </a:p>
          <a:p>
            <a:pPr algn="just">
              <a:buNone/>
            </a:pPr>
            <a:r>
              <a:rPr lang="en-US" dirty="0"/>
              <a:t>Ex.</a:t>
            </a:r>
          </a:p>
          <a:p>
            <a:pPr algn="just">
              <a:buNone/>
            </a:pPr>
            <a:r>
              <a:rPr lang="en-US" dirty="0" err="1"/>
              <a:t>Stud_Proj</a:t>
            </a:r>
            <a:r>
              <a:rPr lang="en-US" dirty="0"/>
              <a:t> = {</a:t>
            </a:r>
            <a:r>
              <a:rPr lang="en-US" dirty="0" err="1"/>
              <a:t>stud_id</a:t>
            </a:r>
            <a:r>
              <a:rPr lang="en-US" dirty="0"/>
              <a:t>, name, </a:t>
            </a:r>
            <a:r>
              <a:rPr lang="en-US" dirty="0" err="1"/>
              <a:t>proj_id</a:t>
            </a:r>
            <a:r>
              <a:rPr lang="en-US" dirty="0"/>
              <a:t>, </a:t>
            </a:r>
            <a:r>
              <a:rPr lang="en-US" dirty="0" err="1"/>
              <a:t>proj_name</a:t>
            </a:r>
            <a:r>
              <a:rPr lang="en-US" dirty="0"/>
              <a:t>}</a:t>
            </a:r>
          </a:p>
          <a:p>
            <a:pPr algn="just">
              <a:buNone/>
            </a:pPr>
            <a:r>
              <a:rPr lang="en-US" dirty="0"/>
              <a:t>Student:    {</a:t>
            </a:r>
            <a:r>
              <a:rPr lang="en-US" dirty="0" err="1"/>
              <a:t>stud_Id</a:t>
            </a:r>
            <a:r>
              <a:rPr lang="en-US" dirty="0"/>
              <a:t>, name, </a:t>
            </a:r>
            <a:r>
              <a:rPr lang="en-US" dirty="0" err="1"/>
              <a:t>proj_Id</a:t>
            </a:r>
            <a:r>
              <a:rPr lang="en-US" dirty="0"/>
              <a:t>,}</a:t>
            </a:r>
          </a:p>
          <a:p>
            <a:pPr algn="just">
              <a:buNone/>
            </a:pPr>
            <a:r>
              <a:rPr lang="en-US" dirty="0"/>
              <a:t>Project:     {</a:t>
            </a:r>
            <a:r>
              <a:rPr lang="en-US" dirty="0" err="1"/>
              <a:t>proj_id</a:t>
            </a:r>
            <a:r>
              <a:rPr lang="en-US" dirty="0"/>
              <a:t>, </a:t>
            </a:r>
            <a:r>
              <a:rPr lang="en-US" dirty="0" err="1"/>
              <a:t>proj_name</a:t>
            </a:r>
            <a:r>
              <a:rPr lang="en-US" dirty="0"/>
              <a:t>}</a:t>
            </a:r>
            <a:endParaRPr lang="en-IN" dirty="0"/>
          </a:p>
          <a:p>
            <a:pPr algn="just"/>
            <a:r>
              <a:rPr lang="en-IN" dirty="0" err="1"/>
              <a:t>stud_Id</a:t>
            </a:r>
            <a:r>
              <a:rPr lang="en-IN" dirty="0"/>
              <a:t> →</a:t>
            </a:r>
            <a:r>
              <a:rPr lang="en-IN" dirty="0">
                <a:sym typeface="Wingdings" panose="05000000000000000000" pitchFamily="2" charset="2"/>
              </a:rPr>
              <a:t> </a:t>
            </a:r>
            <a:r>
              <a:rPr lang="en-IN" dirty="0" err="1">
                <a:sym typeface="Wingdings" panose="05000000000000000000" pitchFamily="2" charset="2"/>
              </a:rPr>
              <a:t>proje_Id</a:t>
            </a:r>
            <a:r>
              <a:rPr lang="en-IN" dirty="0">
                <a:sym typeface="Wingdings" panose="05000000000000000000" pitchFamily="2" charset="2"/>
              </a:rPr>
              <a:t> , </a:t>
            </a:r>
            <a:r>
              <a:rPr lang="en-IN" dirty="0" err="1">
                <a:sym typeface="Wingdings" panose="05000000000000000000" pitchFamily="2" charset="2"/>
              </a:rPr>
              <a:t>proje_Id</a:t>
            </a:r>
            <a:r>
              <a:rPr lang="en-IN" dirty="0">
                <a:sym typeface="Wingdings" panose="05000000000000000000" pitchFamily="2" charset="2"/>
              </a:rPr>
              <a:t> </a:t>
            </a:r>
            <a:r>
              <a:rPr lang="en-IN" dirty="0"/>
              <a:t>→</a:t>
            </a:r>
            <a:r>
              <a:rPr lang="en-IN" dirty="0">
                <a:sym typeface="Wingdings" panose="05000000000000000000" pitchFamily="2" charset="2"/>
              </a:rPr>
              <a:t> </a:t>
            </a:r>
            <a:r>
              <a:rPr lang="en-IN" dirty="0" err="1">
                <a:sym typeface="Wingdings" panose="05000000000000000000" pitchFamily="2" charset="2"/>
              </a:rPr>
              <a:t>proj_name</a:t>
            </a:r>
            <a:endParaRPr lang="en-IN" dirty="0"/>
          </a:p>
        </p:txBody>
      </p:sp>
      <p:sp>
        <p:nvSpPr>
          <p:cNvPr id="8" name="Title 7">
            <a:extLst>
              <a:ext uri="{FF2B5EF4-FFF2-40B4-BE49-F238E27FC236}">
                <a16:creationId xmlns:a16="http://schemas.microsoft.com/office/drawing/2014/main" id="{19E5F8A7-0468-4B58-B530-B93634F25F0A}"/>
              </a:ext>
            </a:extLst>
          </p:cNvPr>
          <p:cNvSpPr>
            <a:spLocks noGrp="1"/>
          </p:cNvSpPr>
          <p:nvPr>
            <p:ph type="title"/>
          </p:nvPr>
        </p:nvSpPr>
        <p:spPr>
          <a:xfrm>
            <a:off x="661181" y="289560"/>
            <a:ext cx="8596668" cy="1320800"/>
          </a:xfrm>
        </p:spPr>
        <p:txBody>
          <a:bodyPr>
            <a:normAutofit/>
          </a:bodyPr>
          <a:lstStyle/>
          <a:p>
            <a:r>
              <a:rPr lang="en-IN" sz="3200" b="1" dirty="0"/>
              <a:t>Third Normal Form(3NF):</a:t>
            </a:r>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Rectangle 7"/>
          <p:cNvSpPr/>
          <p:nvPr/>
        </p:nvSpPr>
        <p:spPr>
          <a:xfrm>
            <a:off x="392255" y="3806512"/>
            <a:ext cx="6096000" cy="646331"/>
          </a:xfrm>
          <a:prstGeom prst="rect">
            <a:avLst/>
          </a:prstGeom>
        </p:spPr>
        <p:txBody>
          <a:bodyPr>
            <a:spAutoFit/>
          </a:bodyPr>
          <a:lstStyle/>
          <a:p>
            <a:r>
              <a:rPr lang="en-US" b="1" dirty="0"/>
              <a:t>Step 1: Check 1NF</a:t>
            </a:r>
          </a:p>
          <a:p>
            <a:pPr>
              <a:buFont typeface="Arial" panose="020B0604020202020204" pitchFamily="34" charset="0"/>
              <a:buChar char="•"/>
            </a:pPr>
            <a:r>
              <a:rPr lang="en-US" dirty="0"/>
              <a:t> All attributes contain atomic values. Already in 1NF.</a:t>
            </a:r>
          </a:p>
        </p:txBody>
      </p:sp>
      <p:graphicFrame>
        <p:nvGraphicFramePr>
          <p:cNvPr id="9" name="Table 8"/>
          <p:cNvGraphicFramePr>
            <a:graphicFrameLocks noGrp="1"/>
          </p:cNvGraphicFramePr>
          <p:nvPr>
            <p:extLst>
              <p:ext uri="{D42A27DB-BD31-4B8C-83A1-F6EECF244321}">
                <p14:modId xmlns:p14="http://schemas.microsoft.com/office/powerpoint/2010/main" val="374586643"/>
              </p:ext>
            </p:extLst>
          </p:nvPr>
        </p:nvGraphicFramePr>
        <p:xfrm>
          <a:off x="392255" y="1380744"/>
          <a:ext cx="10986865" cy="1832211"/>
        </p:xfrm>
        <a:graphic>
          <a:graphicData uri="http://schemas.openxmlformats.org/drawingml/2006/table">
            <a:tbl>
              <a:tblPr>
                <a:tableStyleId>{2D5ABB26-0587-4C30-8999-92F81FD0307C}</a:tableStyleId>
              </a:tblPr>
              <a:tblGrid>
                <a:gridCol w="1265436">
                  <a:extLst>
                    <a:ext uri="{9D8B030D-6E8A-4147-A177-3AD203B41FA5}">
                      <a16:colId xmlns:a16="http://schemas.microsoft.com/office/drawing/2014/main" val="20000"/>
                    </a:ext>
                  </a:extLst>
                </a:gridCol>
                <a:gridCol w="1580561">
                  <a:extLst>
                    <a:ext uri="{9D8B030D-6E8A-4147-A177-3AD203B41FA5}">
                      <a16:colId xmlns:a16="http://schemas.microsoft.com/office/drawing/2014/main" val="20001"/>
                    </a:ext>
                  </a:extLst>
                </a:gridCol>
                <a:gridCol w="1329445">
                  <a:extLst>
                    <a:ext uri="{9D8B030D-6E8A-4147-A177-3AD203B41FA5}">
                      <a16:colId xmlns:a16="http://schemas.microsoft.com/office/drawing/2014/main" val="20002"/>
                    </a:ext>
                  </a:extLst>
                </a:gridCol>
                <a:gridCol w="1639649">
                  <a:extLst>
                    <a:ext uri="{9D8B030D-6E8A-4147-A177-3AD203B41FA5}">
                      <a16:colId xmlns:a16="http://schemas.microsoft.com/office/drawing/2014/main" val="20003"/>
                    </a:ext>
                  </a:extLst>
                </a:gridCol>
                <a:gridCol w="1350993">
                  <a:extLst>
                    <a:ext uri="{9D8B030D-6E8A-4147-A177-3AD203B41FA5}">
                      <a16:colId xmlns:a16="http://schemas.microsoft.com/office/drawing/2014/main" val="20004"/>
                    </a:ext>
                  </a:extLst>
                </a:gridCol>
                <a:gridCol w="1810512">
                  <a:extLst>
                    <a:ext uri="{9D8B030D-6E8A-4147-A177-3AD203B41FA5}">
                      <a16:colId xmlns:a16="http://schemas.microsoft.com/office/drawing/2014/main" val="20005"/>
                    </a:ext>
                  </a:extLst>
                </a:gridCol>
                <a:gridCol w="2010269">
                  <a:extLst>
                    <a:ext uri="{9D8B030D-6E8A-4147-A177-3AD203B41FA5}">
                      <a16:colId xmlns:a16="http://schemas.microsoft.com/office/drawing/2014/main" val="20006"/>
                    </a:ext>
                  </a:extLst>
                </a:gridCol>
              </a:tblGrid>
              <a:tr h="468000">
                <a:tc>
                  <a:txBody>
                    <a:bodyPr/>
                    <a:lstStyle/>
                    <a:p>
                      <a:r>
                        <a:rPr lang="en-IN" sz="1600" b="1" dirty="0" err="1"/>
                        <a:t>StudentID</a:t>
                      </a:r>
                      <a:endParaRPr lang="en-IN" sz="1600" b="1"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IN" sz="1600" b="1" dirty="0" err="1"/>
                        <a:t>StudentName</a:t>
                      </a:r>
                      <a:endParaRPr lang="en-IN" sz="1600" b="1"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IN" sz="1600" b="1"/>
                        <a:t>CourseID</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IN" sz="1600" b="1" dirty="0" err="1"/>
                        <a:t>CourseName</a:t>
                      </a:r>
                      <a:endParaRPr lang="en-IN" sz="1600" b="1"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IN" sz="1600" b="1"/>
                        <a:t>CourseFee</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IN" sz="1600" b="1"/>
                        <a:t>InstructorName</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IN" sz="1600" b="1" dirty="0" err="1"/>
                        <a:t>InstructorPhone</a:t>
                      </a:r>
                      <a:endParaRPr lang="en-IN" sz="1600" b="1"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0"/>
                  </a:ext>
                </a:extLst>
              </a:tr>
              <a:tr h="454737">
                <a:tc>
                  <a:txBody>
                    <a:bodyPr/>
                    <a:lstStyle/>
                    <a:p>
                      <a:r>
                        <a:rPr lang="en-IN" sz="1600"/>
                        <a:t>1</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IN" sz="1600" dirty="0"/>
                        <a:t>Amit</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IN" sz="1600"/>
                        <a:t>C101</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IN" sz="1600"/>
                        <a:t>DBMS</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IN" sz="1600"/>
                        <a:t>5000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IN" sz="1600"/>
                        <a:t>Prof. Mehta</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IN" sz="1600" dirty="0"/>
                        <a:t>9876543210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1"/>
                  </a:ext>
                </a:extLst>
              </a:tr>
              <a:tr h="454737">
                <a:tc>
                  <a:txBody>
                    <a:bodyPr/>
                    <a:lstStyle/>
                    <a:p>
                      <a:r>
                        <a:rPr lang="en-IN" sz="1600"/>
                        <a:t>2</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IN" sz="1600"/>
                        <a:t>Rina</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IN" sz="1600" dirty="0"/>
                        <a:t>C102</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IN" sz="1600"/>
                        <a:t>Python</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IN" sz="1600"/>
                        <a:t>6000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IN" sz="1600"/>
                        <a:t>Prof. Shah</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IN" sz="1600"/>
                        <a:t>9876543222</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2"/>
                  </a:ext>
                </a:extLst>
              </a:tr>
              <a:tr h="454737">
                <a:tc>
                  <a:txBody>
                    <a:bodyPr/>
                    <a:lstStyle/>
                    <a:p>
                      <a:r>
                        <a:rPr lang="en-IN" sz="1600"/>
                        <a:t>3</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IN" sz="1600"/>
                        <a:t>Kiran</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IN" sz="1600"/>
                        <a:t>C101</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IN" sz="1600"/>
                        <a:t>DBMS</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IN" sz="1600"/>
                        <a:t>5000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IN" sz="1600"/>
                        <a:t>Prof. Mehta</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IN" sz="1600" dirty="0"/>
                        <a:t>9876543210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3"/>
                  </a:ext>
                </a:extLst>
              </a:tr>
            </a:tbl>
          </a:graphicData>
        </a:graphic>
      </p:graphicFrame>
      <p:sp>
        <p:nvSpPr>
          <p:cNvPr id="7" name="TextBox 6">
            <a:extLst>
              <a:ext uri="{FF2B5EF4-FFF2-40B4-BE49-F238E27FC236}">
                <a16:creationId xmlns:a16="http://schemas.microsoft.com/office/drawing/2014/main" id="{F7A57003-B053-8311-5531-D857D1AA6A53}"/>
              </a:ext>
            </a:extLst>
          </p:cNvPr>
          <p:cNvSpPr txBox="1"/>
          <p:nvPr/>
        </p:nvSpPr>
        <p:spPr>
          <a:xfrm>
            <a:off x="392255" y="602521"/>
            <a:ext cx="6099048" cy="461665"/>
          </a:xfrm>
          <a:prstGeom prst="rect">
            <a:avLst/>
          </a:prstGeom>
          <a:noFill/>
        </p:spPr>
        <p:txBody>
          <a:bodyPr wrap="square">
            <a:spAutoFit/>
          </a:bodyPr>
          <a:lstStyle/>
          <a:p>
            <a:r>
              <a:rPr lang="en-US" sz="2400" dirty="0"/>
              <a:t>Example of Normalization</a:t>
            </a:r>
            <a:endParaRPr lang="en-IN" sz="2400" dirty="0"/>
          </a:p>
        </p:txBody>
      </p:sp>
    </p:spTree>
    <p:extLst>
      <p:ext uri="{BB962C8B-B14F-4D97-AF65-F5344CB8AC3E}">
        <p14:creationId xmlns:p14="http://schemas.microsoft.com/office/powerpoint/2010/main" val="2709006704"/>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p:nvPr/>
        </p:nvSpPr>
        <p:spPr>
          <a:xfrm>
            <a:off x="334779" y="641475"/>
            <a:ext cx="9083541" cy="1980479"/>
          </a:xfrm>
          <a:prstGeom prst="rect">
            <a:avLst/>
          </a:prstGeom>
        </p:spPr>
        <p:txBody>
          <a:bodyPr wrap="square">
            <a:spAutoFit/>
          </a:bodyPr>
          <a:lstStyle/>
          <a:p>
            <a:r>
              <a:rPr lang="en-US" b="1" dirty="0"/>
              <a:t>Step 2: Check 2NF</a:t>
            </a:r>
          </a:p>
          <a:p>
            <a:pPr marL="285750" indent="-285750">
              <a:lnSpc>
                <a:spcPct val="150000"/>
              </a:lnSpc>
              <a:buFont typeface="Wingdings" panose="05000000000000000000" pitchFamily="2" charset="2"/>
              <a:buChar char="§"/>
            </a:pPr>
            <a:r>
              <a:rPr lang="en-US" dirty="0"/>
              <a:t> Primary Key could be (</a:t>
            </a:r>
            <a:r>
              <a:rPr lang="en-US" dirty="0" err="1"/>
              <a:t>StudentID</a:t>
            </a:r>
            <a:r>
              <a:rPr lang="en-US" dirty="0"/>
              <a:t>, </a:t>
            </a:r>
            <a:r>
              <a:rPr lang="en-US" dirty="0" err="1"/>
              <a:t>CourseID</a:t>
            </a:r>
            <a:r>
              <a:rPr lang="en-US" dirty="0"/>
              <a:t>).</a:t>
            </a:r>
          </a:p>
          <a:p>
            <a:pPr marL="285750" indent="-285750">
              <a:lnSpc>
                <a:spcPct val="150000"/>
              </a:lnSpc>
              <a:buFont typeface="Wingdings" panose="05000000000000000000" pitchFamily="2" charset="2"/>
              <a:buChar char="§"/>
            </a:pPr>
            <a:r>
              <a:rPr lang="en-US" dirty="0"/>
              <a:t> </a:t>
            </a:r>
            <a:r>
              <a:rPr lang="en-US" dirty="0" err="1"/>
              <a:t>CourseName</a:t>
            </a:r>
            <a:r>
              <a:rPr lang="en-US" dirty="0"/>
              <a:t>, </a:t>
            </a:r>
            <a:r>
              <a:rPr lang="en-US" dirty="0" err="1"/>
              <a:t>CourseFee</a:t>
            </a:r>
            <a:r>
              <a:rPr lang="en-US" dirty="0"/>
              <a:t>, </a:t>
            </a:r>
            <a:r>
              <a:rPr lang="en-US" dirty="0" err="1"/>
              <a:t>InstructorName</a:t>
            </a:r>
            <a:r>
              <a:rPr lang="en-US" dirty="0"/>
              <a:t>, </a:t>
            </a:r>
            <a:r>
              <a:rPr lang="en-US" dirty="0" err="1"/>
              <a:t>InstructorPhone</a:t>
            </a:r>
            <a:r>
              <a:rPr lang="en-US" dirty="0"/>
              <a:t> depend only on </a:t>
            </a:r>
            <a:r>
              <a:rPr lang="en-US" dirty="0" err="1"/>
              <a:t>CourseID</a:t>
            </a:r>
            <a:r>
              <a:rPr lang="en-US" dirty="0"/>
              <a:t>, not on </a:t>
            </a:r>
            <a:r>
              <a:rPr lang="en-US" dirty="0" err="1"/>
              <a:t>StudentID</a:t>
            </a:r>
            <a:r>
              <a:rPr lang="en-US" dirty="0"/>
              <a:t> → </a:t>
            </a:r>
            <a:r>
              <a:rPr lang="en-US" b="1" dirty="0"/>
              <a:t>partial dependency</a:t>
            </a:r>
            <a:r>
              <a:rPr lang="en-US" dirty="0"/>
              <a:t>.</a:t>
            </a:r>
          </a:p>
          <a:p>
            <a:pPr marL="285750" indent="-285750">
              <a:lnSpc>
                <a:spcPct val="150000"/>
              </a:lnSpc>
              <a:buFont typeface="Wingdings" panose="05000000000000000000" pitchFamily="2" charset="2"/>
              <a:buChar char="§"/>
            </a:pPr>
            <a:r>
              <a:rPr lang="en-US" dirty="0"/>
              <a:t> So, split into two tables:</a:t>
            </a:r>
          </a:p>
        </p:txBody>
      </p:sp>
      <p:graphicFrame>
        <p:nvGraphicFramePr>
          <p:cNvPr id="5" name="Table 4"/>
          <p:cNvGraphicFramePr>
            <a:graphicFrameLocks noGrp="1"/>
          </p:cNvGraphicFramePr>
          <p:nvPr>
            <p:extLst>
              <p:ext uri="{D42A27DB-BD31-4B8C-83A1-F6EECF244321}">
                <p14:modId xmlns:p14="http://schemas.microsoft.com/office/powerpoint/2010/main" val="2158415775"/>
              </p:ext>
            </p:extLst>
          </p:nvPr>
        </p:nvGraphicFramePr>
        <p:xfrm>
          <a:off x="479684" y="2766932"/>
          <a:ext cx="5006715" cy="1463040"/>
        </p:xfrm>
        <a:graphic>
          <a:graphicData uri="http://schemas.openxmlformats.org/drawingml/2006/table">
            <a:tbl>
              <a:tblPr/>
              <a:tblGrid>
                <a:gridCol w="1668905">
                  <a:extLst>
                    <a:ext uri="{9D8B030D-6E8A-4147-A177-3AD203B41FA5}">
                      <a16:colId xmlns:a16="http://schemas.microsoft.com/office/drawing/2014/main" val="20000"/>
                    </a:ext>
                  </a:extLst>
                </a:gridCol>
                <a:gridCol w="1668905">
                  <a:extLst>
                    <a:ext uri="{9D8B030D-6E8A-4147-A177-3AD203B41FA5}">
                      <a16:colId xmlns:a16="http://schemas.microsoft.com/office/drawing/2014/main" val="20001"/>
                    </a:ext>
                  </a:extLst>
                </a:gridCol>
                <a:gridCol w="1668905">
                  <a:extLst>
                    <a:ext uri="{9D8B030D-6E8A-4147-A177-3AD203B41FA5}">
                      <a16:colId xmlns:a16="http://schemas.microsoft.com/office/drawing/2014/main" val="20002"/>
                    </a:ext>
                  </a:extLst>
                </a:gridCol>
              </a:tblGrid>
              <a:tr h="0">
                <a:tc>
                  <a:txBody>
                    <a:bodyPr/>
                    <a:lstStyle/>
                    <a:p>
                      <a:r>
                        <a:rPr lang="en-IN" dirty="0" err="1"/>
                        <a:t>StudentID</a:t>
                      </a:r>
                      <a:endParaRPr lang="en-IN" dirty="0"/>
                    </a:p>
                  </a:txBody>
                  <a:tcPr anchor="ctr">
                    <a:lnL>
                      <a:noFill/>
                    </a:lnL>
                    <a:lnR>
                      <a:noFill/>
                    </a:lnR>
                    <a:lnT>
                      <a:noFill/>
                    </a:lnT>
                    <a:lnB>
                      <a:noFill/>
                    </a:lnB>
                    <a:solidFill>
                      <a:schemeClr val="accent5">
                        <a:lumMod val="60000"/>
                        <a:lumOff val="40000"/>
                      </a:schemeClr>
                    </a:solidFill>
                  </a:tcPr>
                </a:tc>
                <a:tc>
                  <a:txBody>
                    <a:bodyPr/>
                    <a:lstStyle/>
                    <a:p>
                      <a:r>
                        <a:rPr lang="en-IN" dirty="0" err="1"/>
                        <a:t>StudentName</a:t>
                      </a:r>
                      <a:endParaRPr lang="en-IN" dirty="0"/>
                    </a:p>
                  </a:txBody>
                  <a:tcPr anchor="ctr">
                    <a:lnL>
                      <a:noFill/>
                    </a:lnL>
                    <a:lnR>
                      <a:noFill/>
                    </a:lnR>
                    <a:lnT>
                      <a:noFill/>
                    </a:lnT>
                    <a:lnB>
                      <a:noFill/>
                    </a:lnB>
                    <a:solidFill>
                      <a:schemeClr val="accent5">
                        <a:lumMod val="60000"/>
                        <a:lumOff val="40000"/>
                      </a:schemeClr>
                    </a:solidFill>
                  </a:tcPr>
                </a:tc>
                <a:tc>
                  <a:txBody>
                    <a:bodyPr/>
                    <a:lstStyle/>
                    <a:p>
                      <a:r>
                        <a:rPr lang="en-IN"/>
                        <a:t>CourseID</a:t>
                      </a:r>
                    </a:p>
                  </a:txBody>
                  <a:tcPr anchor="ctr">
                    <a:lnL>
                      <a:noFill/>
                    </a:lnL>
                    <a:lnR>
                      <a:noFill/>
                    </a:lnR>
                    <a:lnT>
                      <a:noFill/>
                    </a:lnT>
                    <a:lnB>
                      <a:noFill/>
                    </a:lnB>
                    <a:solidFill>
                      <a:schemeClr val="accent5">
                        <a:lumMod val="60000"/>
                        <a:lumOff val="40000"/>
                      </a:schemeClr>
                    </a:solidFill>
                  </a:tcPr>
                </a:tc>
                <a:extLst>
                  <a:ext uri="{0D108BD9-81ED-4DB2-BD59-A6C34878D82A}">
                    <a16:rowId xmlns:a16="http://schemas.microsoft.com/office/drawing/2014/main" val="10000"/>
                  </a:ext>
                </a:extLst>
              </a:tr>
              <a:tr h="0">
                <a:tc>
                  <a:txBody>
                    <a:bodyPr/>
                    <a:lstStyle/>
                    <a:p>
                      <a:r>
                        <a:rPr lang="en-IN" dirty="0"/>
                        <a:t>1</a:t>
                      </a:r>
                    </a:p>
                  </a:txBody>
                  <a:tcPr anchor="ctr">
                    <a:lnL>
                      <a:noFill/>
                    </a:lnL>
                    <a:lnR>
                      <a:noFill/>
                    </a:lnR>
                    <a:lnT>
                      <a:noFill/>
                    </a:lnT>
                    <a:lnB>
                      <a:noFill/>
                    </a:lnB>
                    <a:solidFill>
                      <a:schemeClr val="accent5">
                        <a:lumMod val="60000"/>
                        <a:lumOff val="40000"/>
                      </a:schemeClr>
                    </a:solidFill>
                  </a:tcPr>
                </a:tc>
                <a:tc>
                  <a:txBody>
                    <a:bodyPr/>
                    <a:lstStyle/>
                    <a:p>
                      <a:r>
                        <a:rPr lang="en-IN" dirty="0"/>
                        <a:t>Amit</a:t>
                      </a:r>
                    </a:p>
                  </a:txBody>
                  <a:tcPr anchor="ctr">
                    <a:lnL>
                      <a:noFill/>
                    </a:lnL>
                    <a:lnR>
                      <a:noFill/>
                    </a:lnR>
                    <a:lnT>
                      <a:noFill/>
                    </a:lnT>
                    <a:lnB>
                      <a:noFill/>
                    </a:lnB>
                    <a:solidFill>
                      <a:schemeClr val="accent5">
                        <a:lumMod val="60000"/>
                        <a:lumOff val="40000"/>
                      </a:schemeClr>
                    </a:solidFill>
                  </a:tcPr>
                </a:tc>
                <a:tc>
                  <a:txBody>
                    <a:bodyPr/>
                    <a:lstStyle/>
                    <a:p>
                      <a:r>
                        <a:rPr lang="en-IN"/>
                        <a:t>C101</a:t>
                      </a:r>
                    </a:p>
                  </a:txBody>
                  <a:tcPr anchor="ctr">
                    <a:lnL>
                      <a:noFill/>
                    </a:lnL>
                    <a:lnR>
                      <a:noFill/>
                    </a:lnR>
                    <a:lnT>
                      <a:noFill/>
                    </a:lnT>
                    <a:lnB>
                      <a:noFill/>
                    </a:lnB>
                    <a:solidFill>
                      <a:schemeClr val="accent5">
                        <a:lumMod val="60000"/>
                        <a:lumOff val="40000"/>
                      </a:schemeClr>
                    </a:solidFill>
                  </a:tcPr>
                </a:tc>
                <a:extLst>
                  <a:ext uri="{0D108BD9-81ED-4DB2-BD59-A6C34878D82A}">
                    <a16:rowId xmlns:a16="http://schemas.microsoft.com/office/drawing/2014/main" val="10001"/>
                  </a:ext>
                </a:extLst>
              </a:tr>
              <a:tr h="0">
                <a:tc>
                  <a:txBody>
                    <a:bodyPr/>
                    <a:lstStyle/>
                    <a:p>
                      <a:r>
                        <a:rPr lang="en-IN"/>
                        <a:t>2</a:t>
                      </a:r>
                    </a:p>
                  </a:txBody>
                  <a:tcPr anchor="ctr">
                    <a:lnL>
                      <a:noFill/>
                    </a:lnL>
                    <a:lnR>
                      <a:noFill/>
                    </a:lnR>
                    <a:lnT>
                      <a:noFill/>
                    </a:lnT>
                    <a:lnB>
                      <a:noFill/>
                    </a:lnB>
                    <a:solidFill>
                      <a:schemeClr val="accent5">
                        <a:lumMod val="60000"/>
                        <a:lumOff val="40000"/>
                      </a:schemeClr>
                    </a:solidFill>
                  </a:tcPr>
                </a:tc>
                <a:tc>
                  <a:txBody>
                    <a:bodyPr/>
                    <a:lstStyle/>
                    <a:p>
                      <a:r>
                        <a:rPr lang="en-IN" dirty="0" err="1"/>
                        <a:t>Rina</a:t>
                      </a:r>
                      <a:endParaRPr lang="en-IN" dirty="0"/>
                    </a:p>
                  </a:txBody>
                  <a:tcPr anchor="ctr">
                    <a:lnL>
                      <a:noFill/>
                    </a:lnL>
                    <a:lnR>
                      <a:noFill/>
                    </a:lnR>
                    <a:lnT>
                      <a:noFill/>
                    </a:lnT>
                    <a:lnB>
                      <a:noFill/>
                    </a:lnB>
                    <a:solidFill>
                      <a:schemeClr val="accent5">
                        <a:lumMod val="60000"/>
                        <a:lumOff val="40000"/>
                      </a:schemeClr>
                    </a:solidFill>
                  </a:tcPr>
                </a:tc>
                <a:tc>
                  <a:txBody>
                    <a:bodyPr/>
                    <a:lstStyle/>
                    <a:p>
                      <a:r>
                        <a:rPr lang="en-IN" dirty="0"/>
                        <a:t>C102</a:t>
                      </a:r>
                    </a:p>
                  </a:txBody>
                  <a:tcPr anchor="ctr">
                    <a:lnL>
                      <a:noFill/>
                    </a:lnL>
                    <a:lnR>
                      <a:noFill/>
                    </a:lnR>
                    <a:lnT>
                      <a:noFill/>
                    </a:lnT>
                    <a:lnB>
                      <a:noFill/>
                    </a:lnB>
                    <a:solidFill>
                      <a:schemeClr val="accent5">
                        <a:lumMod val="60000"/>
                        <a:lumOff val="40000"/>
                      </a:schemeClr>
                    </a:solidFill>
                  </a:tcPr>
                </a:tc>
                <a:extLst>
                  <a:ext uri="{0D108BD9-81ED-4DB2-BD59-A6C34878D82A}">
                    <a16:rowId xmlns:a16="http://schemas.microsoft.com/office/drawing/2014/main" val="10002"/>
                  </a:ext>
                </a:extLst>
              </a:tr>
              <a:tr h="0">
                <a:tc>
                  <a:txBody>
                    <a:bodyPr/>
                    <a:lstStyle/>
                    <a:p>
                      <a:r>
                        <a:rPr lang="en-IN"/>
                        <a:t>3</a:t>
                      </a:r>
                    </a:p>
                  </a:txBody>
                  <a:tcPr anchor="ctr">
                    <a:lnL>
                      <a:noFill/>
                    </a:lnL>
                    <a:lnR>
                      <a:noFill/>
                    </a:lnR>
                    <a:lnT>
                      <a:noFill/>
                    </a:lnT>
                    <a:lnB>
                      <a:noFill/>
                    </a:lnB>
                    <a:solidFill>
                      <a:schemeClr val="accent5">
                        <a:lumMod val="60000"/>
                        <a:lumOff val="40000"/>
                      </a:schemeClr>
                    </a:solidFill>
                  </a:tcPr>
                </a:tc>
                <a:tc>
                  <a:txBody>
                    <a:bodyPr/>
                    <a:lstStyle/>
                    <a:p>
                      <a:r>
                        <a:rPr lang="en-IN"/>
                        <a:t>Kiran</a:t>
                      </a:r>
                    </a:p>
                  </a:txBody>
                  <a:tcPr anchor="ctr">
                    <a:lnL>
                      <a:noFill/>
                    </a:lnL>
                    <a:lnR>
                      <a:noFill/>
                    </a:lnR>
                    <a:lnT>
                      <a:noFill/>
                    </a:lnT>
                    <a:lnB>
                      <a:noFill/>
                    </a:lnB>
                    <a:solidFill>
                      <a:schemeClr val="accent5">
                        <a:lumMod val="60000"/>
                        <a:lumOff val="40000"/>
                      </a:schemeClr>
                    </a:solidFill>
                  </a:tcPr>
                </a:tc>
                <a:tc>
                  <a:txBody>
                    <a:bodyPr/>
                    <a:lstStyle/>
                    <a:p>
                      <a:r>
                        <a:rPr lang="en-IN" dirty="0"/>
                        <a:t>C101</a:t>
                      </a:r>
                    </a:p>
                  </a:txBody>
                  <a:tcPr anchor="ctr">
                    <a:lnL>
                      <a:noFill/>
                    </a:lnL>
                    <a:lnR>
                      <a:noFill/>
                    </a:lnR>
                    <a:lnT>
                      <a:noFill/>
                    </a:lnT>
                    <a:lnB>
                      <a:noFill/>
                    </a:lnB>
                    <a:solidFill>
                      <a:schemeClr val="accent5">
                        <a:lumMod val="60000"/>
                        <a:lumOff val="40000"/>
                      </a:schemeClr>
                    </a:solidFill>
                  </a:tcPr>
                </a:tc>
                <a:extLst>
                  <a:ext uri="{0D108BD9-81ED-4DB2-BD59-A6C34878D82A}">
                    <a16:rowId xmlns:a16="http://schemas.microsoft.com/office/drawing/2014/main" val="10003"/>
                  </a:ext>
                </a:extLst>
              </a:tr>
            </a:tbl>
          </a:graphicData>
        </a:graphic>
      </p:graphicFrame>
      <p:graphicFrame>
        <p:nvGraphicFramePr>
          <p:cNvPr id="6" name="Table 5"/>
          <p:cNvGraphicFramePr>
            <a:graphicFrameLocks noGrp="1"/>
          </p:cNvGraphicFramePr>
          <p:nvPr>
            <p:extLst>
              <p:ext uri="{D42A27DB-BD31-4B8C-83A1-F6EECF244321}">
                <p14:modId xmlns:p14="http://schemas.microsoft.com/office/powerpoint/2010/main" val="1600875110"/>
              </p:ext>
            </p:extLst>
          </p:nvPr>
        </p:nvGraphicFramePr>
        <p:xfrm>
          <a:off x="479685" y="4509663"/>
          <a:ext cx="9350113" cy="1867776"/>
        </p:xfrm>
        <a:graphic>
          <a:graphicData uri="http://schemas.openxmlformats.org/drawingml/2006/table">
            <a:tbl>
              <a:tblPr/>
              <a:tblGrid>
                <a:gridCol w="1866271">
                  <a:extLst>
                    <a:ext uri="{9D8B030D-6E8A-4147-A177-3AD203B41FA5}">
                      <a16:colId xmlns:a16="http://schemas.microsoft.com/office/drawing/2014/main" val="20000"/>
                    </a:ext>
                  </a:extLst>
                </a:gridCol>
                <a:gridCol w="1866271">
                  <a:extLst>
                    <a:ext uri="{9D8B030D-6E8A-4147-A177-3AD203B41FA5}">
                      <a16:colId xmlns:a16="http://schemas.microsoft.com/office/drawing/2014/main" val="20001"/>
                    </a:ext>
                  </a:extLst>
                </a:gridCol>
                <a:gridCol w="1603357">
                  <a:extLst>
                    <a:ext uri="{9D8B030D-6E8A-4147-A177-3AD203B41FA5}">
                      <a16:colId xmlns:a16="http://schemas.microsoft.com/office/drawing/2014/main" val="20002"/>
                    </a:ext>
                  </a:extLst>
                </a:gridCol>
                <a:gridCol w="2129185">
                  <a:extLst>
                    <a:ext uri="{9D8B030D-6E8A-4147-A177-3AD203B41FA5}">
                      <a16:colId xmlns:a16="http://schemas.microsoft.com/office/drawing/2014/main" val="20003"/>
                    </a:ext>
                  </a:extLst>
                </a:gridCol>
                <a:gridCol w="1885029">
                  <a:extLst>
                    <a:ext uri="{9D8B030D-6E8A-4147-A177-3AD203B41FA5}">
                      <a16:colId xmlns:a16="http://schemas.microsoft.com/office/drawing/2014/main" val="20004"/>
                    </a:ext>
                  </a:extLst>
                </a:gridCol>
              </a:tblGrid>
              <a:tr h="622592">
                <a:tc>
                  <a:txBody>
                    <a:bodyPr/>
                    <a:lstStyle/>
                    <a:p>
                      <a:r>
                        <a:rPr lang="en-IN" dirty="0" err="1"/>
                        <a:t>CourseID</a:t>
                      </a:r>
                      <a:endParaRPr lang="en-IN" dirty="0"/>
                    </a:p>
                  </a:txBody>
                  <a:tcPr anchor="ctr">
                    <a:lnL>
                      <a:noFill/>
                    </a:lnL>
                    <a:lnR>
                      <a:noFill/>
                    </a:lnR>
                    <a:lnT>
                      <a:noFill/>
                    </a:lnT>
                    <a:lnB>
                      <a:noFill/>
                    </a:lnB>
                    <a:solidFill>
                      <a:schemeClr val="accent1">
                        <a:lumMod val="60000"/>
                        <a:lumOff val="40000"/>
                      </a:schemeClr>
                    </a:solidFill>
                  </a:tcPr>
                </a:tc>
                <a:tc>
                  <a:txBody>
                    <a:bodyPr/>
                    <a:lstStyle/>
                    <a:p>
                      <a:r>
                        <a:rPr lang="en-IN" dirty="0" err="1"/>
                        <a:t>CourseName</a:t>
                      </a:r>
                      <a:endParaRPr lang="en-IN" dirty="0"/>
                    </a:p>
                  </a:txBody>
                  <a:tcPr anchor="ctr">
                    <a:lnL>
                      <a:noFill/>
                    </a:lnL>
                    <a:lnR>
                      <a:noFill/>
                    </a:lnR>
                    <a:lnT>
                      <a:noFill/>
                    </a:lnT>
                    <a:lnB>
                      <a:noFill/>
                    </a:lnB>
                    <a:solidFill>
                      <a:schemeClr val="accent1">
                        <a:lumMod val="60000"/>
                        <a:lumOff val="40000"/>
                      </a:schemeClr>
                    </a:solidFill>
                  </a:tcPr>
                </a:tc>
                <a:tc>
                  <a:txBody>
                    <a:bodyPr/>
                    <a:lstStyle/>
                    <a:p>
                      <a:r>
                        <a:rPr lang="en-IN"/>
                        <a:t>CourseFee</a:t>
                      </a:r>
                    </a:p>
                  </a:txBody>
                  <a:tcPr anchor="ctr">
                    <a:lnL>
                      <a:noFill/>
                    </a:lnL>
                    <a:lnR>
                      <a:noFill/>
                    </a:lnR>
                    <a:lnT>
                      <a:noFill/>
                    </a:lnT>
                    <a:lnB>
                      <a:noFill/>
                    </a:lnB>
                    <a:solidFill>
                      <a:schemeClr val="accent1">
                        <a:lumMod val="60000"/>
                        <a:lumOff val="40000"/>
                      </a:schemeClr>
                    </a:solidFill>
                  </a:tcPr>
                </a:tc>
                <a:tc>
                  <a:txBody>
                    <a:bodyPr/>
                    <a:lstStyle/>
                    <a:p>
                      <a:r>
                        <a:rPr lang="en-IN" dirty="0" err="1"/>
                        <a:t>InstructorName</a:t>
                      </a:r>
                      <a:endParaRPr lang="en-IN" dirty="0"/>
                    </a:p>
                  </a:txBody>
                  <a:tcPr anchor="ctr">
                    <a:lnL>
                      <a:noFill/>
                    </a:lnL>
                    <a:lnR>
                      <a:noFill/>
                    </a:lnR>
                    <a:lnT>
                      <a:noFill/>
                    </a:lnT>
                    <a:lnB>
                      <a:noFill/>
                    </a:lnB>
                    <a:solidFill>
                      <a:schemeClr val="accent1">
                        <a:lumMod val="60000"/>
                        <a:lumOff val="40000"/>
                      </a:schemeClr>
                    </a:solidFill>
                  </a:tcPr>
                </a:tc>
                <a:tc>
                  <a:txBody>
                    <a:bodyPr/>
                    <a:lstStyle/>
                    <a:p>
                      <a:r>
                        <a:rPr lang="en-IN" dirty="0" err="1"/>
                        <a:t>InstructorPhone</a:t>
                      </a:r>
                      <a:endParaRPr lang="en-IN" dirty="0"/>
                    </a:p>
                  </a:txBody>
                  <a:tcPr anchor="ctr">
                    <a:lnL>
                      <a:noFill/>
                    </a:lnL>
                    <a:lnR>
                      <a:noFill/>
                    </a:lnR>
                    <a:lnT>
                      <a:noFill/>
                    </a:lnT>
                    <a:lnB>
                      <a:noFill/>
                    </a:lnB>
                    <a:solidFill>
                      <a:schemeClr val="accent1">
                        <a:lumMod val="60000"/>
                        <a:lumOff val="40000"/>
                      </a:schemeClr>
                    </a:solidFill>
                  </a:tcPr>
                </a:tc>
                <a:extLst>
                  <a:ext uri="{0D108BD9-81ED-4DB2-BD59-A6C34878D82A}">
                    <a16:rowId xmlns:a16="http://schemas.microsoft.com/office/drawing/2014/main" val="10000"/>
                  </a:ext>
                </a:extLst>
              </a:tr>
              <a:tr h="622592">
                <a:tc>
                  <a:txBody>
                    <a:bodyPr/>
                    <a:lstStyle/>
                    <a:p>
                      <a:r>
                        <a:rPr lang="en-IN"/>
                        <a:t>C101</a:t>
                      </a:r>
                    </a:p>
                  </a:txBody>
                  <a:tcPr anchor="ctr">
                    <a:lnL>
                      <a:noFill/>
                    </a:lnL>
                    <a:lnR>
                      <a:noFill/>
                    </a:lnR>
                    <a:lnT>
                      <a:noFill/>
                    </a:lnT>
                    <a:lnB>
                      <a:noFill/>
                    </a:lnB>
                    <a:solidFill>
                      <a:schemeClr val="accent1">
                        <a:lumMod val="60000"/>
                        <a:lumOff val="40000"/>
                      </a:schemeClr>
                    </a:solidFill>
                  </a:tcPr>
                </a:tc>
                <a:tc>
                  <a:txBody>
                    <a:bodyPr/>
                    <a:lstStyle/>
                    <a:p>
                      <a:r>
                        <a:rPr lang="en-IN" dirty="0"/>
                        <a:t>DBMS</a:t>
                      </a:r>
                    </a:p>
                  </a:txBody>
                  <a:tcPr anchor="ctr">
                    <a:lnL>
                      <a:noFill/>
                    </a:lnL>
                    <a:lnR>
                      <a:noFill/>
                    </a:lnR>
                    <a:lnT>
                      <a:noFill/>
                    </a:lnT>
                    <a:lnB>
                      <a:noFill/>
                    </a:lnB>
                    <a:solidFill>
                      <a:schemeClr val="accent1">
                        <a:lumMod val="60000"/>
                        <a:lumOff val="40000"/>
                      </a:schemeClr>
                    </a:solidFill>
                  </a:tcPr>
                </a:tc>
                <a:tc>
                  <a:txBody>
                    <a:bodyPr/>
                    <a:lstStyle/>
                    <a:p>
                      <a:r>
                        <a:rPr lang="en-IN"/>
                        <a:t>5000</a:t>
                      </a:r>
                    </a:p>
                  </a:txBody>
                  <a:tcPr anchor="ctr">
                    <a:lnL>
                      <a:noFill/>
                    </a:lnL>
                    <a:lnR>
                      <a:noFill/>
                    </a:lnR>
                    <a:lnT>
                      <a:noFill/>
                    </a:lnT>
                    <a:lnB>
                      <a:noFill/>
                    </a:lnB>
                    <a:solidFill>
                      <a:schemeClr val="accent1">
                        <a:lumMod val="60000"/>
                        <a:lumOff val="40000"/>
                      </a:schemeClr>
                    </a:solidFill>
                  </a:tcPr>
                </a:tc>
                <a:tc>
                  <a:txBody>
                    <a:bodyPr/>
                    <a:lstStyle/>
                    <a:p>
                      <a:r>
                        <a:rPr lang="en-IN"/>
                        <a:t>Prof. Mehta</a:t>
                      </a:r>
                    </a:p>
                  </a:txBody>
                  <a:tcPr anchor="ctr">
                    <a:lnL>
                      <a:noFill/>
                    </a:lnL>
                    <a:lnR>
                      <a:noFill/>
                    </a:lnR>
                    <a:lnT>
                      <a:noFill/>
                    </a:lnT>
                    <a:lnB>
                      <a:noFill/>
                    </a:lnB>
                    <a:solidFill>
                      <a:schemeClr val="accent1">
                        <a:lumMod val="60000"/>
                        <a:lumOff val="40000"/>
                      </a:schemeClr>
                    </a:solidFill>
                  </a:tcPr>
                </a:tc>
                <a:tc>
                  <a:txBody>
                    <a:bodyPr/>
                    <a:lstStyle/>
                    <a:p>
                      <a:r>
                        <a:rPr lang="en-IN"/>
                        <a:t>9876543210</a:t>
                      </a:r>
                    </a:p>
                  </a:txBody>
                  <a:tcPr anchor="ctr">
                    <a:lnL>
                      <a:noFill/>
                    </a:lnL>
                    <a:lnR>
                      <a:noFill/>
                    </a:lnR>
                    <a:lnT>
                      <a:noFill/>
                    </a:lnT>
                    <a:lnB>
                      <a:noFill/>
                    </a:lnB>
                    <a:solidFill>
                      <a:schemeClr val="accent1">
                        <a:lumMod val="60000"/>
                        <a:lumOff val="40000"/>
                      </a:schemeClr>
                    </a:solidFill>
                  </a:tcPr>
                </a:tc>
                <a:extLst>
                  <a:ext uri="{0D108BD9-81ED-4DB2-BD59-A6C34878D82A}">
                    <a16:rowId xmlns:a16="http://schemas.microsoft.com/office/drawing/2014/main" val="10001"/>
                  </a:ext>
                </a:extLst>
              </a:tr>
              <a:tr h="622592">
                <a:tc>
                  <a:txBody>
                    <a:bodyPr/>
                    <a:lstStyle/>
                    <a:p>
                      <a:r>
                        <a:rPr lang="en-IN"/>
                        <a:t>C102</a:t>
                      </a:r>
                    </a:p>
                  </a:txBody>
                  <a:tcPr anchor="ctr">
                    <a:lnL>
                      <a:noFill/>
                    </a:lnL>
                    <a:lnR>
                      <a:noFill/>
                    </a:lnR>
                    <a:lnT>
                      <a:noFill/>
                    </a:lnT>
                    <a:lnB>
                      <a:noFill/>
                    </a:lnB>
                    <a:solidFill>
                      <a:schemeClr val="accent1">
                        <a:lumMod val="60000"/>
                        <a:lumOff val="40000"/>
                      </a:schemeClr>
                    </a:solidFill>
                  </a:tcPr>
                </a:tc>
                <a:tc>
                  <a:txBody>
                    <a:bodyPr/>
                    <a:lstStyle/>
                    <a:p>
                      <a:r>
                        <a:rPr lang="en-IN"/>
                        <a:t>Python</a:t>
                      </a:r>
                    </a:p>
                  </a:txBody>
                  <a:tcPr anchor="ctr">
                    <a:lnL>
                      <a:noFill/>
                    </a:lnL>
                    <a:lnR>
                      <a:noFill/>
                    </a:lnR>
                    <a:lnT>
                      <a:noFill/>
                    </a:lnT>
                    <a:lnB>
                      <a:noFill/>
                    </a:lnB>
                    <a:solidFill>
                      <a:schemeClr val="accent1">
                        <a:lumMod val="60000"/>
                        <a:lumOff val="40000"/>
                      </a:schemeClr>
                    </a:solidFill>
                  </a:tcPr>
                </a:tc>
                <a:tc>
                  <a:txBody>
                    <a:bodyPr/>
                    <a:lstStyle/>
                    <a:p>
                      <a:r>
                        <a:rPr lang="en-IN"/>
                        <a:t>6000</a:t>
                      </a:r>
                    </a:p>
                  </a:txBody>
                  <a:tcPr anchor="ctr">
                    <a:lnL>
                      <a:noFill/>
                    </a:lnL>
                    <a:lnR>
                      <a:noFill/>
                    </a:lnR>
                    <a:lnT>
                      <a:noFill/>
                    </a:lnT>
                    <a:lnB>
                      <a:noFill/>
                    </a:lnB>
                    <a:solidFill>
                      <a:schemeClr val="accent1">
                        <a:lumMod val="60000"/>
                        <a:lumOff val="40000"/>
                      </a:schemeClr>
                    </a:solidFill>
                  </a:tcPr>
                </a:tc>
                <a:tc>
                  <a:txBody>
                    <a:bodyPr/>
                    <a:lstStyle/>
                    <a:p>
                      <a:r>
                        <a:rPr lang="en-IN"/>
                        <a:t>Prof. Shah</a:t>
                      </a:r>
                    </a:p>
                  </a:txBody>
                  <a:tcPr anchor="ctr">
                    <a:lnL>
                      <a:noFill/>
                    </a:lnL>
                    <a:lnR>
                      <a:noFill/>
                    </a:lnR>
                    <a:lnT>
                      <a:noFill/>
                    </a:lnT>
                    <a:lnB>
                      <a:noFill/>
                    </a:lnB>
                    <a:solidFill>
                      <a:schemeClr val="accent1">
                        <a:lumMod val="60000"/>
                        <a:lumOff val="40000"/>
                      </a:schemeClr>
                    </a:solidFill>
                  </a:tcPr>
                </a:tc>
                <a:tc>
                  <a:txBody>
                    <a:bodyPr/>
                    <a:lstStyle/>
                    <a:p>
                      <a:r>
                        <a:rPr lang="en-IN" dirty="0"/>
                        <a:t>9876543222</a:t>
                      </a:r>
                    </a:p>
                  </a:txBody>
                  <a:tcPr anchor="ctr">
                    <a:lnL>
                      <a:noFill/>
                    </a:lnL>
                    <a:lnR>
                      <a:noFill/>
                    </a:lnR>
                    <a:lnT>
                      <a:noFill/>
                    </a:lnT>
                    <a:lnB>
                      <a:noFill/>
                    </a:lnB>
                    <a:solidFill>
                      <a:schemeClr val="accent1">
                        <a:lumMod val="60000"/>
                        <a:lumOff val="40000"/>
                      </a:schemeClr>
                    </a:solidFill>
                  </a:tcPr>
                </a:tc>
                <a:extLst>
                  <a:ext uri="{0D108BD9-81ED-4DB2-BD59-A6C34878D82A}">
                    <a16:rowId xmlns:a16="http://schemas.microsoft.com/office/drawing/2014/main" val="10002"/>
                  </a:ext>
                </a:extLst>
              </a:tr>
            </a:tbl>
          </a:graphicData>
        </a:graphic>
      </p:graphicFrame>
    </p:spTree>
    <p:extLst>
      <p:ext uri="{BB962C8B-B14F-4D97-AF65-F5344CB8AC3E}">
        <p14:creationId xmlns:p14="http://schemas.microsoft.com/office/powerpoint/2010/main" val="2273476687"/>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p:nvPr/>
        </p:nvSpPr>
        <p:spPr>
          <a:xfrm>
            <a:off x="329784" y="329784"/>
            <a:ext cx="11602386" cy="1200329"/>
          </a:xfrm>
          <a:prstGeom prst="rect">
            <a:avLst/>
          </a:prstGeom>
        </p:spPr>
        <p:txBody>
          <a:bodyPr wrap="square">
            <a:spAutoFit/>
          </a:bodyPr>
          <a:lstStyle/>
          <a:p>
            <a:r>
              <a:rPr lang="en-US" b="1" dirty="0"/>
              <a:t>Step 3: Check 3NF</a:t>
            </a:r>
          </a:p>
          <a:p>
            <a:endParaRPr lang="en-US" b="1" dirty="0"/>
          </a:p>
          <a:p>
            <a:pPr>
              <a:buFont typeface="Arial" panose="020B0604020202020204" pitchFamily="34" charset="0"/>
              <a:buChar char="•"/>
            </a:pPr>
            <a:r>
              <a:rPr lang="en-US" dirty="0"/>
              <a:t> In COURSE table, </a:t>
            </a:r>
            <a:r>
              <a:rPr lang="en-US" b="1" dirty="0" err="1"/>
              <a:t>InstructorPhone</a:t>
            </a:r>
            <a:r>
              <a:rPr lang="en-US" b="1" dirty="0"/>
              <a:t> depends on </a:t>
            </a:r>
            <a:r>
              <a:rPr lang="en-US" b="1" dirty="0" err="1"/>
              <a:t>InstructorName</a:t>
            </a:r>
            <a:r>
              <a:rPr lang="en-US" dirty="0"/>
              <a:t>, not directly on </a:t>
            </a:r>
            <a:r>
              <a:rPr lang="en-US" dirty="0" err="1"/>
              <a:t>CourseID</a:t>
            </a:r>
            <a:r>
              <a:rPr lang="en-US" dirty="0"/>
              <a:t>.</a:t>
            </a:r>
          </a:p>
          <a:p>
            <a:pPr>
              <a:buFont typeface="Arial" panose="020B0604020202020204" pitchFamily="34" charset="0"/>
              <a:buChar char="•"/>
            </a:pPr>
            <a:r>
              <a:rPr lang="en-US" dirty="0"/>
              <a:t> This is a </a:t>
            </a:r>
            <a:r>
              <a:rPr lang="en-US" b="1" dirty="0"/>
              <a:t>transitive dependency</a:t>
            </a:r>
            <a:r>
              <a:rPr lang="en-US" dirty="0"/>
              <a:t>.</a:t>
            </a:r>
          </a:p>
        </p:txBody>
      </p:sp>
      <p:sp>
        <p:nvSpPr>
          <p:cNvPr id="5" name="Rectangle 4"/>
          <p:cNvSpPr/>
          <p:nvPr/>
        </p:nvSpPr>
        <p:spPr>
          <a:xfrm>
            <a:off x="329784" y="1666779"/>
            <a:ext cx="6096000" cy="646331"/>
          </a:xfrm>
          <a:prstGeom prst="rect">
            <a:avLst/>
          </a:prstGeom>
        </p:spPr>
        <p:txBody>
          <a:bodyPr>
            <a:spAutoFit/>
          </a:bodyPr>
          <a:lstStyle/>
          <a:p>
            <a:r>
              <a:rPr lang="en-US" b="1" dirty="0"/>
              <a:t>Decompose to 3NF</a:t>
            </a:r>
          </a:p>
          <a:p>
            <a:r>
              <a:rPr lang="en-US" dirty="0"/>
              <a:t>We create a separate </a:t>
            </a:r>
            <a:r>
              <a:rPr lang="en-US" b="1" dirty="0"/>
              <a:t>INSTRUCTOR Table</a:t>
            </a:r>
            <a:r>
              <a:rPr lang="en-US" dirty="0"/>
              <a:t>.</a:t>
            </a:r>
          </a:p>
        </p:txBody>
      </p:sp>
      <p:graphicFrame>
        <p:nvGraphicFramePr>
          <p:cNvPr id="6" name="Table 5"/>
          <p:cNvGraphicFramePr>
            <a:graphicFrameLocks noGrp="1"/>
          </p:cNvGraphicFramePr>
          <p:nvPr>
            <p:extLst>
              <p:ext uri="{D42A27DB-BD31-4B8C-83A1-F6EECF244321}">
                <p14:modId xmlns:p14="http://schemas.microsoft.com/office/powerpoint/2010/main" val="1597895563"/>
              </p:ext>
            </p:extLst>
          </p:nvPr>
        </p:nvGraphicFramePr>
        <p:xfrm>
          <a:off x="402336" y="4049482"/>
          <a:ext cx="7335188" cy="1097280"/>
        </p:xfrm>
        <a:graphic>
          <a:graphicData uri="http://schemas.openxmlformats.org/drawingml/2006/table">
            <a:tbl>
              <a:tblPr/>
              <a:tblGrid>
                <a:gridCol w="1833797">
                  <a:extLst>
                    <a:ext uri="{9D8B030D-6E8A-4147-A177-3AD203B41FA5}">
                      <a16:colId xmlns:a16="http://schemas.microsoft.com/office/drawing/2014/main" val="20000"/>
                    </a:ext>
                  </a:extLst>
                </a:gridCol>
                <a:gridCol w="1833797">
                  <a:extLst>
                    <a:ext uri="{9D8B030D-6E8A-4147-A177-3AD203B41FA5}">
                      <a16:colId xmlns:a16="http://schemas.microsoft.com/office/drawing/2014/main" val="20001"/>
                    </a:ext>
                  </a:extLst>
                </a:gridCol>
                <a:gridCol w="1833797">
                  <a:extLst>
                    <a:ext uri="{9D8B030D-6E8A-4147-A177-3AD203B41FA5}">
                      <a16:colId xmlns:a16="http://schemas.microsoft.com/office/drawing/2014/main" val="20002"/>
                    </a:ext>
                  </a:extLst>
                </a:gridCol>
                <a:gridCol w="1833797">
                  <a:extLst>
                    <a:ext uri="{9D8B030D-6E8A-4147-A177-3AD203B41FA5}">
                      <a16:colId xmlns:a16="http://schemas.microsoft.com/office/drawing/2014/main" val="20003"/>
                    </a:ext>
                  </a:extLst>
                </a:gridCol>
              </a:tblGrid>
              <a:tr h="0">
                <a:tc>
                  <a:txBody>
                    <a:bodyPr/>
                    <a:lstStyle/>
                    <a:p>
                      <a:r>
                        <a:rPr lang="en-IN" dirty="0" err="1"/>
                        <a:t>CourseID</a:t>
                      </a:r>
                      <a:endParaRPr lang="en-IN" dirty="0"/>
                    </a:p>
                  </a:txBody>
                  <a:tcPr anchor="ctr">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solidFill>
                      <a:schemeClr val="accent1">
                        <a:lumMod val="60000"/>
                        <a:lumOff val="40000"/>
                      </a:schemeClr>
                    </a:solidFill>
                  </a:tcPr>
                </a:tc>
                <a:tc>
                  <a:txBody>
                    <a:bodyPr/>
                    <a:lstStyle/>
                    <a:p>
                      <a:r>
                        <a:rPr lang="en-IN" dirty="0" err="1"/>
                        <a:t>CourseName</a:t>
                      </a:r>
                      <a:endParaRPr lang="en-IN" dirty="0"/>
                    </a:p>
                  </a:txBody>
                  <a:tcPr anchor="ctr">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solidFill>
                      <a:schemeClr val="accent1">
                        <a:lumMod val="60000"/>
                        <a:lumOff val="40000"/>
                      </a:schemeClr>
                    </a:solidFill>
                  </a:tcPr>
                </a:tc>
                <a:tc>
                  <a:txBody>
                    <a:bodyPr/>
                    <a:lstStyle/>
                    <a:p>
                      <a:r>
                        <a:rPr lang="en-IN" dirty="0" err="1"/>
                        <a:t>CourseFee</a:t>
                      </a:r>
                      <a:endParaRPr lang="en-IN" dirty="0"/>
                    </a:p>
                  </a:txBody>
                  <a:tcPr anchor="ctr">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solidFill>
                      <a:schemeClr val="accent1">
                        <a:lumMod val="60000"/>
                        <a:lumOff val="40000"/>
                      </a:schemeClr>
                    </a:solidFill>
                  </a:tcPr>
                </a:tc>
                <a:tc>
                  <a:txBody>
                    <a:bodyPr/>
                    <a:lstStyle/>
                    <a:p>
                      <a:r>
                        <a:rPr lang="en-IN"/>
                        <a:t>InstructorName</a:t>
                      </a:r>
                    </a:p>
                  </a:txBody>
                  <a:tcPr anchor="ctr">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solidFill>
                      <a:schemeClr val="accent1">
                        <a:lumMod val="60000"/>
                        <a:lumOff val="40000"/>
                      </a:schemeClr>
                    </a:solidFill>
                  </a:tcPr>
                </a:tc>
                <a:extLst>
                  <a:ext uri="{0D108BD9-81ED-4DB2-BD59-A6C34878D82A}">
                    <a16:rowId xmlns:a16="http://schemas.microsoft.com/office/drawing/2014/main" val="10000"/>
                  </a:ext>
                </a:extLst>
              </a:tr>
              <a:tr h="0">
                <a:tc>
                  <a:txBody>
                    <a:bodyPr/>
                    <a:lstStyle/>
                    <a:p>
                      <a:r>
                        <a:rPr lang="en-IN" dirty="0"/>
                        <a:t>C101</a:t>
                      </a:r>
                    </a:p>
                  </a:txBody>
                  <a:tcPr anchor="ctr">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solidFill>
                      <a:schemeClr val="accent1">
                        <a:lumMod val="60000"/>
                        <a:lumOff val="40000"/>
                      </a:schemeClr>
                    </a:solidFill>
                  </a:tcPr>
                </a:tc>
                <a:tc>
                  <a:txBody>
                    <a:bodyPr/>
                    <a:lstStyle/>
                    <a:p>
                      <a:r>
                        <a:rPr lang="en-IN" dirty="0"/>
                        <a:t>DBMS</a:t>
                      </a:r>
                    </a:p>
                  </a:txBody>
                  <a:tcPr anchor="ctr">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solidFill>
                      <a:schemeClr val="accent1">
                        <a:lumMod val="60000"/>
                        <a:lumOff val="40000"/>
                      </a:schemeClr>
                    </a:solidFill>
                  </a:tcPr>
                </a:tc>
                <a:tc>
                  <a:txBody>
                    <a:bodyPr/>
                    <a:lstStyle/>
                    <a:p>
                      <a:r>
                        <a:rPr lang="en-IN" dirty="0"/>
                        <a:t>5000</a:t>
                      </a:r>
                    </a:p>
                  </a:txBody>
                  <a:tcPr anchor="ctr">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solidFill>
                      <a:schemeClr val="accent1">
                        <a:lumMod val="60000"/>
                        <a:lumOff val="40000"/>
                      </a:schemeClr>
                    </a:solidFill>
                  </a:tcPr>
                </a:tc>
                <a:tc>
                  <a:txBody>
                    <a:bodyPr/>
                    <a:lstStyle/>
                    <a:p>
                      <a:r>
                        <a:rPr lang="en-IN"/>
                        <a:t>Prof. Mehta</a:t>
                      </a:r>
                    </a:p>
                  </a:txBody>
                  <a:tcPr anchor="ctr">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solidFill>
                      <a:schemeClr val="accent1">
                        <a:lumMod val="60000"/>
                        <a:lumOff val="40000"/>
                      </a:schemeClr>
                    </a:solidFill>
                  </a:tcPr>
                </a:tc>
                <a:extLst>
                  <a:ext uri="{0D108BD9-81ED-4DB2-BD59-A6C34878D82A}">
                    <a16:rowId xmlns:a16="http://schemas.microsoft.com/office/drawing/2014/main" val="10001"/>
                  </a:ext>
                </a:extLst>
              </a:tr>
              <a:tr h="0">
                <a:tc>
                  <a:txBody>
                    <a:bodyPr/>
                    <a:lstStyle/>
                    <a:p>
                      <a:r>
                        <a:rPr lang="en-IN"/>
                        <a:t>C102</a:t>
                      </a:r>
                    </a:p>
                  </a:txBody>
                  <a:tcPr anchor="ctr">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solidFill>
                      <a:schemeClr val="accent1">
                        <a:lumMod val="60000"/>
                        <a:lumOff val="40000"/>
                      </a:schemeClr>
                    </a:solidFill>
                  </a:tcPr>
                </a:tc>
                <a:tc>
                  <a:txBody>
                    <a:bodyPr/>
                    <a:lstStyle/>
                    <a:p>
                      <a:r>
                        <a:rPr lang="en-IN" dirty="0"/>
                        <a:t>Python</a:t>
                      </a:r>
                    </a:p>
                  </a:txBody>
                  <a:tcPr anchor="ctr">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solidFill>
                      <a:schemeClr val="accent1">
                        <a:lumMod val="60000"/>
                        <a:lumOff val="40000"/>
                      </a:schemeClr>
                    </a:solidFill>
                  </a:tcPr>
                </a:tc>
                <a:tc>
                  <a:txBody>
                    <a:bodyPr/>
                    <a:lstStyle/>
                    <a:p>
                      <a:r>
                        <a:rPr lang="en-IN"/>
                        <a:t>6000</a:t>
                      </a:r>
                    </a:p>
                  </a:txBody>
                  <a:tcPr anchor="ctr">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solidFill>
                      <a:schemeClr val="accent1">
                        <a:lumMod val="60000"/>
                        <a:lumOff val="40000"/>
                      </a:schemeClr>
                    </a:solidFill>
                  </a:tcPr>
                </a:tc>
                <a:tc>
                  <a:txBody>
                    <a:bodyPr/>
                    <a:lstStyle/>
                    <a:p>
                      <a:r>
                        <a:rPr lang="en-IN" dirty="0" err="1"/>
                        <a:t>Prof.</a:t>
                      </a:r>
                      <a:r>
                        <a:rPr lang="en-IN" dirty="0"/>
                        <a:t> Shah</a:t>
                      </a:r>
                    </a:p>
                  </a:txBody>
                  <a:tcPr anchor="ctr">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solidFill>
                      <a:schemeClr val="accent1">
                        <a:lumMod val="60000"/>
                        <a:lumOff val="40000"/>
                      </a:schemeClr>
                    </a:solidFill>
                  </a:tcPr>
                </a:tc>
                <a:extLst>
                  <a:ext uri="{0D108BD9-81ED-4DB2-BD59-A6C34878D82A}">
                    <a16:rowId xmlns:a16="http://schemas.microsoft.com/office/drawing/2014/main" val="10002"/>
                  </a:ext>
                </a:extLst>
              </a:tr>
            </a:tbl>
          </a:graphicData>
        </a:graphic>
      </p:graphicFrame>
      <p:graphicFrame>
        <p:nvGraphicFramePr>
          <p:cNvPr id="7" name="Table 6"/>
          <p:cNvGraphicFramePr>
            <a:graphicFrameLocks noGrp="1"/>
          </p:cNvGraphicFramePr>
          <p:nvPr>
            <p:extLst>
              <p:ext uri="{D42A27DB-BD31-4B8C-83A1-F6EECF244321}">
                <p14:modId xmlns:p14="http://schemas.microsoft.com/office/powerpoint/2010/main" val="378399226"/>
              </p:ext>
            </p:extLst>
          </p:nvPr>
        </p:nvGraphicFramePr>
        <p:xfrm>
          <a:off x="402336" y="5283428"/>
          <a:ext cx="5546361" cy="1097280"/>
        </p:xfrm>
        <a:graphic>
          <a:graphicData uri="http://schemas.openxmlformats.org/drawingml/2006/table">
            <a:tbl>
              <a:tblPr/>
              <a:tblGrid>
                <a:gridCol w="2758191">
                  <a:extLst>
                    <a:ext uri="{9D8B030D-6E8A-4147-A177-3AD203B41FA5}">
                      <a16:colId xmlns:a16="http://schemas.microsoft.com/office/drawing/2014/main" val="20000"/>
                    </a:ext>
                  </a:extLst>
                </a:gridCol>
                <a:gridCol w="2788170">
                  <a:extLst>
                    <a:ext uri="{9D8B030D-6E8A-4147-A177-3AD203B41FA5}">
                      <a16:colId xmlns:a16="http://schemas.microsoft.com/office/drawing/2014/main" val="20001"/>
                    </a:ext>
                  </a:extLst>
                </a:gridCol>
              </a:tblGrid>
              <a:tr h="0">
                <a:tc>
                  <a:txBody>
                    <a:bodyPr/>
                    <a:lstStyle/>
                    <a:p>
                      <a:r>
                        <a:rPr lang="en-IN" dirty="0" err="1"/>
                        <a:t>InstructorName</a:t>
                      </a:r>
                      <a:endParaRPr lang="en-IN" dirty="0"/>
                    </a:p>
                  </a:txBody>
                  <a:tcPr anchor="ctr">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solidFill>
                      <a:schemeClr val="accent2">
                        <a:lumMod val="60000"/>
                        <a:lumOff val="40000"/>
                      </a:schemeClr>
                    </a:solidFill>
                  </a:tcPr>
                </a:tc>
                <a:tc>
                  <a:txBody>
                    <a:bodyPr/>
                    <a:lstStyle/>
                    <a:p>
                      <a:r>
                        <a:rPr lang="en-IN" dirty="0" err="1"/>
                        <a:t>InstructorPhone</a:t>
                      </a:r>
                      <a:endParaRPr lang="en-IN" dirty="0"/>
                    </a:p>
                  </a:txBody>
                  <a:tcPr anchor="ctr">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solidFill>
                      <a:schemeClr val="accent2">
                        <a:lumMod val="60000"/>
                        <a:lumOff val="40000"/>
                      </a:schemeClr>
                    </a:solidFill>
                  </a:tcPr>
                </a:tc>
                <a:extLst>
                  <a:ext uri="{0D108BD9-81ED-4DB2-BD59-A6C34878D82A}">
                    <a16:rowId xmlns:a16="http://schemas.microsoft.com/office/drawing/2014/main" val="10000"/>
                  </a:ext>
                </a:extLst>
              </a:tr>
              <a:tr h="0">
                <a:tc>
                  <a:txBody>
                    <a:bodyPr/>
                    <a:lstStyle/>
                    <a:p>
                      <a:r>
                        <a:rPr lang="en-IN"/>
                        <a:t>Prof. Mehta</a:t>
                      </a:r>
                    </a:p>
                  </a:txBody>
                  <a:tcPr anchor="ctr">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solidFill>
                      <a:schemeClr val="accent2">
                        <a:lumMod val="60000"/>
                        <a:lumOff val="40000"/>
                      </a:schemeClr>
                    </a:solidFill>
                  </a:tcPr>
                </a:tc>
                <a:tc>
                  <a:txBody>
                    <a:bodyPr/>
                    <a:lstStyle/>
                    <a:p>
                      <a:r>
                        <a:rPr lang="en-IN" dirty="0"/>
                        <a:t>9876543210</a:t>
                      </a:r>
                    </a:p>
                  </a:txBody>
                  <a:tcPr anchor="ctr">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solidFill>
                      <a:schemeClr val="accent2">
                        <a:lumMod val="60000"/>
                        <a:lumOff val="40000"/>
                      </a:schemeClr>
                    </a:solidFill>
                  </a:tcPr>
                </a:tc>
                <a:extLst>
                  <a:ext uri="{0D108BD9-81ED-4DB2-BD59-A6C34878D82A}">
                    <a16:rowId xmlns:a16="http://schemas.microsoft.com/office/drawing/2014/main" val="10001"/>
                  </a:ext>
                </a:extLst>
              </a:tr>
              <a:tr h="0">
                <a:tc>
                  <a:txBody>
                    <a:bodyPr/>
                    <a:lstStyle/>
                    <a:p>
                      <a:r>
                        <a:rPr lang="en-IN"/>
                        <a:t>Prof. Shah</a:t>
                      </a:r>
                    </a:p>
                  </a:txBody>
                  <a:tcPr anchor="ctr">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solidFill>
                      <a:schemeClr val="accent2">
                        <a:lumMod val="60000"/>
                        <a:lumOff val="40000"/>
                      </a:schemeClr>
                    </a:solidFill>
                  </a:tcPr>
                </a:tc>
                <a:tc>
                  <a:txBody>
                    <a:bodyPr/>
                    <a:lstStyle/>
                    <a:p>
                      <a:r>
                        <a:rPr lang="en-IN" dirty="0"/>
                        <a:t>9876543222</a:t>
                      </a:r>
                    </a:p>
                  </a:txBody>
                  <a:tcPr anchor="ctr">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solidFill>
                      <a:schemeClr val="accent2">
                        <a:lumMod val="60000"/>
                        <a:lumOff val="40000"/>
                      </a:schemeClr>
                    </a:solidFill>
                  </a:tcPr>
                </a:tc>
                <a:extLst>
                  <a:ext uri="{0D108BD9-81ED-4DB2-BD59-A6C34878D82A}">
                    <a16:rowId xmlns:a16="http://schemas.microsoft.com/office/drawing/2014/main" val="10002"/>
                  </a:ext>
                </a:extLst>
              </a:tr>
            </a:tbl>
          </a:graphicData>
        </a:graphic>
      </p:graphicFrame>
      <p:graphicFrame>
        <p:nvGraphicFramePr>
          <p:cNvPr id="8" name="Table 7"/>
          <p:cNvGraphicFramePr>
            <a:graphicFrameLocks noGrp="1"/>
          </p:cNvGraphicFramePr>
          <p:nvPr>
            <p:extLst>
              <p:ext uri="{D42A27DB-BD31-4B8C-83A1-F6EECF244321}">
                <p14:modId xmlns:p14="http://schemas.microsoft.com/office/powerpoint/2010/main" val="3629180470"/>
              </p:ext>
            </p:extLst>
          </p:nvPr>
        </p:nvGraphicFramePr>
        <p:xfrm>
          <a:off x="402336" y="2449776"/>
          <a:ext cx="4891290" cy="1463040"/>
        </p:xfrm>
        <a:graphic>
          <a:graphicData uri="http://schemas.openxmlformats.org/drawingml/2006/table">
            <a:tbl>
              <a:tblPr/>
              <a:tblGrid>
                <a:gridCol w="1630430">
                  <a:extLst>
                    <a:ext uri="{9D8B030D-6E8A-4147-A177-3AD203B41FA5}">
                      <a16:colId xmlns:a16="http://schemas.microsoft.com/office/drawing/2014/main" val="20000"/>
                    </a:ext>
                  </a:extLst>
                </a:gridCol>
                <a:gridCol w="1630430">
                  <a:extLst>
                    <a:ext uri="{9D8B030D-6E8A-4147-A177-3AD203B41FA5}">
                      <a16:colId xmlns:a16="http://schemas.microsoft.com/office/drawing/2014/main" val="20001"/>
                    </a:ext>
                  </a:extLst>
                </a:gridCol>
                <a:gridCol w="1630430">
                  <a:extLst>
                    <a:ext uri="{9D8B030D-6E8A-4147-A177-3AD203B41FA5}">
                      <a16:colId xmlns:a16="http://schemas.microsoft.com/office/drawing/2014/main" val="20002"/>
                    </a:ext>
                  </a:extLst>
                </a:gridCol>
              </a:tblGrid>
              <a:tr h="0">
                <a:tc>
                  <a:txBody>
                    <a:bodyPr/>
                    <a:lstStyle/>
                    <a:p>
                      <a:r>
                        <a:rPr lang="en-IN" dirty="0" err="1"/>
                        <a:t>StudentID</a:t>
                      </a:r>
                      <a:endParaRPr lang="en-IN" dirty="0"/>
                    </a:p>
                  </a:txBody>
                  <a:tcPr anchor="ctr">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solidFill>
                      <a:schemeClr val="accent5">
                        <a:lumMod val="60000"/>
                        <a:lumOff val="40000"/>
                      </a:schemeClr>
                    </a:solidFill>
                  </a:tcPr>
                </a:tc>
                <a:tc>
                  <a:txBody>
                    <a:bodyPr/>
                    <a:lstStyle/>
                    <a:p>
                      <a:r>
                        <a:rPr lang="en-IN" dirty="0" err="1"/>
                        <a:t>StudentName</a:t>
                      </a:r>
                      <a:endParaRPr lang="en-IN" dirty="0"/>
                    </a:p>
                  </a:txBody>
                  <a:tcPr anchor="ctr">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solidFill>
                      <a:schemeClr val="accent5">
                        <a:lumMod val="60000"/>
                        <a:lumOff val="40000"/>
                      </a:schemeClr>
                    </a:solidFill>
                  </a:tcPr>
                </a:tc>
                <a:tc>
                  <a:txBody>
                    <a:bodyPr/>
                    <a:lstStyle/>
                    <a:p>
                      <a:r>
                        <a:rPr lang="en-IN"/>
                        <a:t>CourseID</a:t>
                      </a:r>
                    </a:p>
                  </a:txBody>
                  <a:tcPr anchor="ctr">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solidFill>
                      <a:schemeClr val="accent5">
                        <a:lumMod val="60000"/>
                        <a:lumOff val="40000"/>
                      </a:schemeClr>
                    </a:solidFill>
                  </a:tcPr>
                </a:tc>
                <a:extLst>
                  <a:ext uri="{0D108BD9-81ED-4DB2-BD59-A6C34878D82A}">
                    <a16:rowId xmlns:a16="http://schemas.microsoft.com/office/drawing/2014/main" val="10000"/>
                  </a:ext>
                </a:extLst>
              </a:tr>
              <a:tr h="0">
                <a:tc>
                  <a:txBody>
                    <a:bodyPr/>
                    <a:lstStyle/>
                    <a:p>
                      <a:r>
                        <a:rPr lang="en-IN" dirty="0"/>
                        <a:t>1</a:t>
                      </a:r>
                    </a:p>
                  </a:txBody>
                  <a:tcPr anchor="ctr">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solidFill>
                      <a:schemeClr val="accent5">
                        <a:lumMod val="60000"/>
                        <a:lumOff val="40000"/>
                      </a:schemeClr>
                    </a:solidFill>
                  </a:tcPr>
                </a:tc>
                <a:tc>
                  <a:txBody>
                    <a:bodyPr/>
                    <a:lstStyle/>
                    <a:p>
                      <a:r>
                        <a:rPr lang="en-IN" dirty="0"/>
                        <a:t>Amit</a:t>
                      </a:r>
                    </a:p>
                  </a:txBody>
                  <a:tcPr anchor="ctr">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solidFill>
                      <a:schemeClr val="accent5">
                        <a:lumMod val="60000"/>
                        <a:lumOff val="40000"/>
                      </a:schemeClr>
                    </a:solidFill>
                  </a:tcPr>
                </a:tc>
                <a:tc>
                  <a:txBody>
                    <a:bodyPr/>
                    <a:lstStyle/>
                    <a:p>
                      <a:r>
                        <a:rPr lang="en-IN"/>
                        <a:t>C101</a:t>
                      </a:r>
                    </a:p>
                  </a:txBody>
                  <a:tcPr anchor="ctr">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solidFill>
                      <a:schemeClr val="accent5">
                        <a:lumMod val="60000"/>
                        <a:lumOff val="40000"/>
                      </a:schemeClr>
                    </a:solidFill>
                  </a:tcPr>
                </a:tc>
                <a:extLst>
                  <a:ext uri="{0D108BD9-81ED-4DB2-BD59-A6C34878D82A}">
                    <a16:rowId xmlns:a16="http://schemas.microsoft.com/office/drawing/2014/main" val="10001"/>
                  </a:ext>
                </a:extLst>
              </a:tr>
              <a:tr h="0">
                <a:tc>
                  <a:txBody>
                    <a:bodyPr/>
                    <a:lstStyle/>
                    <a:p>
                      <a:r>
                        <a:rPr lang="en-IN"/>
                        <a:t>2</a:t>
                      </a:r>
                    </a:p>
                  </a:txBody>
                  <a:tcPr anchor="ctr">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solidFill>
                      <a:schemeClr val="accent5">
                        <a:lumMod val="60000"/>
                        <a:lumOff val="40000"/>
                      </a:schemeClr>
                    </a:solidFill>
                  </a:tcPr>
                </a:tc>
                <a:tc>
                  <a:txBody>
                    <a:bodyPr/>
                    <a:lstStyle/>
                    <a:p>
                      <a:r>
                        <a:rPr lang="en-IN" dirty="0" err="1"/>
                        <a:t>Rina</a:t>
                      </a:r>
                      <a:endParaRPr lang="en-IN" dirty="0"/>
                    </a:p>
                  </a:txBody>
                  <a:tcPr anchor="ctr">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solidFill>
                      <a:schemeClr val="accent5">
                        <a:lumMod val="60000"/>
                        <a:lumOff val="40000"/>
                      </a:schemeClr>
                    </a:solidFill>
                  </a:tcPr>
                </a:tc>
                <a:tc>
                  <a:txBody>
                    <a:bodyPr/>
                    <a:lstStyle/>
                    <a:p>
                      <a:r>
                        <a:rPr lang="en-IN" dirty="0"/>
                        <a:t>C102</a:t>
                      </a:r>
                    </a:p>
                  </a:txBody>
                  <a:tcPr anchor="ctr">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solidFill>
                      <a:schemeClr val="accent5">
                        <a:lumMod val="60000"/>
                        <a:lumOff val="40000"/>
                      </a:schemeClr>
                    </a:solidFill>
                  </a:tcPr>
                </a:tc>
                <a:extLst>
                  <a:ext uri="{0D108BD9-81ED-4DB2-BD59-A6C34878D82A}">
                    <a16:rowId xmlns:a16="http://schemas.microsoft.com/office/drawing/2014/main" val="10002"/>
                  </a:ext>
                </a:extLst>
              </a:tr>
              <a:tr h="0">
                <a:tc>
                  <a:txBody>
                    <a:bodyPr/>
                    <a:lstStyle/>
                    <a:p>
                      <a:r>
                        <a:rPr lang="en-IN"/>
                        <a:t>3</a:t>
                      </a:r>
                    </a:p>
                  </a:txBody>
                  <a:tcPr anchor="ctr">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solidFill>
                      <a:schemeClr val="accent5">
                        <a:lumMod val="60000"/>
                        <a:lumOff val="40000"/>
                      </a:schemeClr>
                    </a:solidFill>
                  </a:tcPr>
                </a:tc>
                <a:tc>
                  <a:txBody>
                    <a:bodyPr/>
                    <a:lstStyle/>
                    <a:p>
                      <a:r>
                        <a:rPr lang="en-IN"/>
                        <a:t>Kiran</a:t>
                      </a:r>
                    </a:p>
                  </a:txBody>
                  <a:tcPr anchor="ctr">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solidFill>
                      <a:schemeClr val="accent5">
                        <a:lumMod val="60000"/>
                        <a:lumOff val="40000"/>
                      </a:schemeClr>
                    </a:solidFill>
                  </a:tcPr>
                </a:tc>
                <a:tc>
                  <a:txBody>
                    <a:bodyPr/>
                    <a:lstStyle/>
                    <a:p>
                      <a:r>
                        <a:rPr lang="en-IN" dirty="0"/>
                        <a:t>C101</a:t>
                      </a:r>
                    </a:p>
                  </a:txBody>
                  <a:tcPr anchor="ctr">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solidFill>
                      <a:schemeClr val="accent5">
                        <a:lumMod val="60000"/>
                        <a:lumOff val="40000"/>
                      </a:schemeClr>
                    </a:solidFill>
                  </a:tcPr>
                </a:tc>
                <a:extLst>
                  <a:ext uri="{0D108BD9-81ED-4DB2-BD59-A6C34878D82A}">
                    <a16:rowId xmlns:a16="http://schemas.microsoft.com/office/drawing/2014/main" val="10003"/>
                  </a:ext>
                </a:extLst>
              </a:tr>
            </a:tbl>
          </a:graphicData>
        </a:graphic>
      </p:graphicFrame>
    </p:spTree>
    <p:extLst>
      <p:ext uri="{BB962C8B-B14F-4D97-AF65-F5344CB8AC3E}">
        <p14:creationId xmlns:p14="http://schemas.microsoft.com/office/powerpoint/2010/main" val="4235552191"/>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51651E3-4A55-4B47-97DD-685822368F24}"/>
              </a:ext>
            </a:extLst>
          </p:cNvPr>
          <p:cNvSpPr>
            <a:spLocks noGrp="1"/>
          </p:cNvSpPr>
          <p:nvPr>
            <p:ph type="title"/>
          </p:nvPr>
        </p:nvSpPr>
        <p:spPr/>
        <p:txBody>
          <a:bodyPr/>
          <a:lstStyle/>
          <a:p>
            <a:r>
              <a:rPr lang="en-IN" dirty="0"/>
              <a:t>Example for Normalization</a:t>
            </a:r>
          </a:p>
        </p:txBody>
      </p:sp>
      <p:pic>
        <p:nvPicPr>
          <p:cNvPr id="5" name="Picture 4">
            <a:extLst>
              <a:ext uri="{FF2B5EF4-FFF2-40B4-BE49-F238E27FC236}">
                <a16:creationId xmlns:a16="http://schemas.microsoft.com/office/drawing/2014/main" id="{20908DA7-A153-40CB-AE13-7D5A986AF855}"/>
              </a:ext>
            </a:extLst>
          </p:cNvPr>
          <p:cNvPicPr>
            <a:picLocks noChangeAspect="1"/>
          </p:cNvPicPr>
          <p:nvPr/>
        </p:nvPicPr>
        <p:blipFill>
          <a:blip r:embed="rId2"/>
          <a:stretch>
            <a:fillRect/>
          </a:stretch>
        </p:blipFill>
        <p:spPr>
          <a:xfrm>
            <a:off x="677334" y="1554427"/>
            <a:ext cx="8402499" cy="3749146"/>
          </a:xfrm>
          <a:prstGeom prst="rect">
            <a:avLst/>
          </a:prstGeom>
        </p:spPr>
      </p:pic>
      <p:sp>
        <p:nvSpPr>
          <p:cNvPr id="8" name="TextBox 7">
            <a:extLst>
              <a:ext uri="{FF2B5EF4-FFF2-40B4-BE49-F238E27FC236}">
                <a16:creationId xmlns:a16="http://schemas.microsoft.com/office/drawing/2014/main" id="{D82E4437-9385-102C-BB25-C3DC11E7BA35}"/>
              </a:ext>
            </a:extLst>
          </p:cNvPr>
          <p:cNvSpPr txBox="1"/>
          <p:nvPr/>
        </p:nvSpPr>
        <p:spPr>
          <a:xfrm>
            <a:off x="745236" y="5182076"/>
            <a:ext cx="8528766" cy="1200329"/>
          </a:xfrm>
          <a:prstGeom prst="rect">
            <a:avLst/>
          </a:prstGeom>
          <a:noFill/>
        </p:spPr>
        <p:txBody>
          <a:bodyPr wrap="square">
            <a:spAutoFit/>
          </a:bodyPr>
          <a:lstStyle/>
          <a:p>
            <a:r>
              <a:rPr lang="en-IN" dirty="0"/>
              <a:t>The above relation describes parcels of land for sale in various county of a state. Suppose there are 2 candidate keys as:</a:t>
            </a:r>
          </a:p>
          <a:p>
            <a:r>
              <a:rPr lang="en-IN" dirty="0"/>
              <a:t>1. </a:t>
            </a:r>
            <a:r>
              <a:rPr lang="en-IN" dirty="0" err="1"/>
              <a:t>Property_ID</a:t>
            </a:r>
            <a:endParaRPr lang="en-IN" dirty="0"/>
          </a:p>
          <a:p>
            <a:r>
              <a:rPr lang="en-IN" dirty="0"/>
              <a:t>2. </a:t>
            </a:r>
            <a:r>
              <a:rPr lang="en-IN" dirty="0" err="1"/>
              <a:t>County_Name</a:t>
            </a:r>
            <a:r>
              <a:rPr lang="en-IN" dirty="0"/>
              <a:t> and </a:t>
            </a:r>
            <a:r>
              <a:rPr lang="en-IN" dirty="0" err="1"/>
              <a:t>Lot_No</a:t>
            </a:r>
            <a:endParaRPr lang="en-IN" dirty="0"/>
          </a:p>
        </p:txBody>
      </p:sp>
    </p:spTree>
    <p:extLst>
      <p:ext uri="{BB962C8B-B14F-4D97-AF65-F5344CB8AC3E}">
        <p14:creationId xmlns:p14="http://schemas.microsoft.com/office/powerpoint/2010/main" val="2813682583"/>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E71518B-35B5-42DB-B45B-281A81CAC871}"/>
              </a:ext>
            </a:extLst>
          </p:cNvPr>
          <p:cNvSpPr>
            <a:spLocks noGrp="1"/>
          </p:cNvSpPr>
          <p:nvPr>
            <p:ph type="title"/>
          </p:nvPr>
        </p:nvSpPr>
        <p:spPr/>
        <p:txBody>
          <a:bodyPr/>
          <a:lstStyle/>
          <a:p>
            <a:r>
              <a:rPr lang="en-IN" dirty="0"/>
              <a:t>2 NF Conversion</a:t>
            </a:r>
          </a:p>
        </p:txBody>
      </p:sp>
      <p:pic>
        <p:nvPicPr>
          <p:cNvPr id="5" name="Picture 4">
            <a:extLst>
              <a:ext uri="{FF2B5EF4-FFF2-40B4-BE49-F238E27FC236}">
                <a16:creationId xmlns:a16="http://schemas.microsoft.com/office/drawing/2014/main" id="{98EE04E8-A9B6-4702-8D73-358B31346A5F}"/>
              </a:ext>
            </a:extLst>
          </p:cNvPr>
          <p:cNvPicPr>
            <a:picLocks noChangeAspect="1"/>
          </p:cNvPicPr>
          <p:nvPr/>
        </p:nvPicPr>
        <p:blipFill>
          <a:blip r:embed="rId2"/>
          <a:srcRect l="701" t="6524" r="2235" b="9094"/>
          <a:stretch>
            <a:fillRect/>
          </a:stretch>
        </p:blipFill>
        <p:spPr>
          <a:xfrm>
            <a:off x="677006" y="3219331"/>
            <a:ext cx="11012074" cy="2587752"/>
          </a:xfrm>
          <a:prstGeom prst="rect">
            <a:avLst/>
          </a:prstGeom>
        </p:spPr>
      </p:pic>
      <p:sp>
        <p:nvSpPr>
          <p:cNvPr id="4" name="Content Placeholder 2">
            <a:extLst>
              <a:ext uri="{FF2B5EF4-FFF2-40B4-BE49-F238E27FC236}">
                <a16:creationId xmlns:a16="http://schemas.microsoft.com/office/drawing/2014/main" id="{54A720D1-4F5B-4B54-A060-BBF5D4A723D3}"/>
              </a:ext>
            </a:extLst>
          </p:cNvPr>
          <p:cNvSpPr txBox="1">
            <a:spLocks/>
          </p:cNvSpPr>
          <p:nvPr/>
        </p:nvSpPr>
        <p:spPr>
          <a:xfrm>
            <a:off x="677006" y="1446476"/>
            <a:ext cx="10515600" cy="3066731"/>
          </a:xfrm>
          <a:prstGeom prst="rect">
            <a:avLst/>
          </a:prstGeom>
        </p:spPr>
        <p:txBody>
          <a:bodyPr vert="horz" lIns="91440" tIns="45720" rIns="91440" bIns="45720" rtlCol="0">
            <a:normAutofit/>
          </a:bodyPr>
          <a:lstStyle>
            <a:lvl1pPr marL="342900" indent="-342900" algn="l" defTabSz="457200" rtl="0" eaLnBrk="1" latinLnBrk="0" hangingPunct="1">
              <a:spcBef>
                <a:spcPts val="1000"/>
              </a:spcBef>
              <a:spcAft>
                <a:spcPts val="0"/>
              </a:spcAft>
              <a:buClr>
                <a:schemeClr val="accent1"/>
              </a:buClr>
              <a:buSzPct val="80000"/>
              <a:buFont typeface="Wingdings 3" charset="2"/>
              <a:buChar char=""/>
              <a:defRPr sz="180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IN" sz="1100" dirty="0"/>
          </a:p>
          <a:p>
            <a:r>
              <a:rPr lang="en-IN" dirty="0"/>
              <a:t>Remove partial functional dependency</a:t>
            </a:r>
          </a:p>
          <a:p>
            <a:r>
              <a:rPr lang="en-IN" dirty="0" err="1"/>
              <a:t>County_Name</a:t>
            </a:r>
            <a:r>
              <a:rPr lang="en-IN" dirty="0"/>
              <a:t> -&gt; </a:t>
            </a:r>
            <a:r>
              <a:rPr lang="en-IN" dirty="0" err="1"/>
              <a:t>Tax_Rate</a:t>
            </a:r>
            <a:endParaRPr lang="en-IN" dirty="0"/>
          </a:p>
          <a:p>
            <a:endParaRPr lang="en-IN" dirty="0"/>
          </a:p>
        </p:txBody>
      </p:sp>
    </p:spTree>
    <p:extLst>
      <p:ext uri="{BB962C8B-B14F-4D97-AF65-F5344CB8AC3E}">
        <p14:creationId xmlns:p14="http://schemas.microsoft.com/office/powerpoint/2010/main" val="4166300919"/>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2F4F7E6-4CF4-44B7-9B37-83AD89F7640E}"/>
              </a:ext>
            </a:extLst>
          </p:cNvPr>
          <p:cNvSpPr>
            <a:spLocks noGrp="1"/>
          </p:cNvSpPr>
          <p:nvPr>
            <p:ph type="title"/>
          </p:nvPr>
        </p:nvSpPr>
        <p:spPr/>
        <p:txBody>
          <a:bodyPr/>
          <a:lstStyle/>
          <a:p>
            <a:r>
              <a:rPr lang="en-IN" dirty="0"/>
              <a:t>3 NF Conversion of relation LOT1</a:t>
            </a:r>
          </a:p>
        </p:txBody>
      </p:sp>
      <p:sp>
        <p:nvSpPr>
          <p:cNvPr id="3" name="Content Placeholder 2">
            <a:extLst>
              <a:ext uri="{FF2B5EF4-FFF2-40B4-BE49-F238E27FC236}">
                <a16:creationId xmlns:a16="http://schemas.microsoft.com/office/drawing/2014/main" id="{34824930-F39A-4049-8752-A89EE73764E3}"/>
              </a:ext>
            </a:extLst>
          </p:cNvPr>
          <p:cNvSpPr>
            <a:spLocks noGrp="1"/>
          </p:cNvSpPr>
          <p:nvPr>
            <p:ph idx="1"/>
          </p:nvPr>
        </p:nvSpPr>
        <p:spPr>
          <a:xfrm>
            <a:off x="838200" y="1825625"/>
            <a:ext cx="10515600" cy="1603375"/>
          </a:xfrm>
        </p:spPr>
        <p:txBody>
          <a:bodyPr/>
          <a:lstStyle/>
          <a:p>
            <a:r>
              <a:rPr lang="en-IN" dirty="0"/>
              <a:t>Here remove transitive dependency</a:t>
            </a:r>
          </a:p>
          <a:p>
            <a:r>
              <a:rPr lang="en-IN" dirty="0"/>
              <a:t>Area -&gt; Price 		and </a:t>
            </a:r>
          </a:p>
          <a:p>
            <a:r>
              <a:rPr lang="en-IN" dirty="0" err="1"/>
              <a:t>Property_Id</a:t>
            </a:r>
            <a:r>
              <a:rPr lang="en-IN" dirty="0"/>
              <a:t> -&gt; Area</a:t>
            </a:r>
          </a:p>
        </p:txBody>
      </p:sp>
      <p:pic>
        <p:nvPicPr>
          <p:cNvPr id="5" name="Picture 4">
            <a:extLst>
              <a:ext uri="{FF2B5EF4-FFF2-40B4-BE49-F238E27FC236}">
                <a16:creationId xmlns:a16="http://schemas.microsoft.com/office/drawing/2014/main" id="{CE265411-8A1A-41AF-B0B7-C3200D126842}"/>
              </a:ext>
            </a:extLst>
          </p:cNvPr>
          <p:cNvPicPr>
            <a:picLocks noChangeAspect="1"/>
          </p:cNvPicPr>
          <p:nvPr/>
        </p:nvPicPr>
        <p:blipFill>
          <a:blip r:embed="rId2"/>
          <a:stretch>
            <a:fillRect/>
          </a:stretch>
        </p:blipFill>
        <p:spPr>
          <a:xfrm>
            <a:off x="838201" y="3717253"/>
            <a:ext cx="9448799" cy="2334982"/>
          </a:xfrm>
          <a:prstGeom prst="rect">
            <a:avLst/>
          </a:prstGeom>
        </p:spPr>
      </p:pic>
      <p:pic>
        <p:nvPicPr>
          <p:cNvPr id="4" name="Picture 3">
            <a:extLst>
              <a:ext uri="{FF2B5EF4-FFF2-40B4-BE49-F238E27FC236}">
                <a16:creationId xmlns:a16="http://schemas.microsoft.com/office/drawing/2014/main" id="{B7970071-8187-A8EC-1DA7-1F6340F5C554}"/>
              </a:ext>
            </a:extLst>
          </p:cNvPr>
          <p:cNvPicPr>
            <a:picLocks noChangeAspect="1"/>
          </p:cNvPicPr>
          <p:nvPr/>
        </p:nvPicPr>
        <p:blipFill>
          <a:blip r:embed="rId3"/>
          <a:srcRect l="65257" t="6524" r="2235" b="9094"/>
          <a:stretch>
            <a:fillRect/>
          </a:stretch>
        </p:blipFill>
        <p:spPr>
          <a:xfrm>
            <a:off x="6096000" y="1270000"/>
            <a:ext cx="3688080" cy="2587752"/>
          </a:xfrm>
          <a:prstGeom prst="rect">
            <a:avLst/>
          </a:prstGeom>
        </p:spPr>
      </p:pic>
    </p:spTree>
    <p:extLst>
      <p:ext uri="{BB962C8B-B14F-4D97-AF65-F5344CB8AC3E}">
        <p14:creationId xmlns:p14="http://schemas.microsoft.com/office/powerpoint/2010/main" val="3649604895"/>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4F0EF08-6118-4B5A-B94D-580EAB2AC4C3}"/>
              </a:ext>
            </a:extLst>
          </p:cNvPr>
          <p:cNvSpPr>
            <a:spLocks noGrp="1"/>
          </p:cNvSpPr>
          <p:nvPr>
            <p:ph type="title"/>
          </p:nvPr>
        </p:nvSpPr>
        <p:spPr/>
        <p:txBody>
          <a:bodyPr/>
          <a:lstStyle/>
          <a:p>
            <a:r>
              <a:rPr lang="en-IN" dirty="0"/>
              <a:t>BCNF – Boyce Codd Normal Form</a:t>
            </a:r>
          </a:p>
        </p:txBody>
      </p:sp>
      <p:sp>
        <p:nvSpPr>
          <p:cNvPr id="3" name="Content Placeholder 2">
            <a:extLst>
              <a:ext uri="{FF2B5EF4-FFF2-40B4-BE49-F238E27FC236}">
                <a16:creationId xmlns:a16="http://schemas.microsoft.com/office/drawing/2014/main" id="{B08ECD00-8231-4923-9A1C-30531231566F}"/>
              </a:ext>
            </a:extLst>
          </p:cNvPr>
          <p:cNvSpPr>
            <a:spLocks noGrp="1"/>
          </p:cNvSpPr>
          <p:nvPr>
            <p:ph idx="1"/>
          </p:nvPr>
        </p:nvSpPr>
        <p:spPr>
          <a:xfrm>
            <a:off x="838200" y="1561514"/>
            <a:ext cx="10515600" cy="5148775"/>
          </a:xfrm>
        </p:spPr>
        <p:txBody>
          <a:bodyPr>
            <a:normAutofit/>
          </a:bodyPr>
          <a:lstStyle/>
          <a:p>
            <a:r>
              <a:rPr lang="en-IN" dirty="0"/>
              <a:t>BCNF is the advance version of 3NF. It is stricter than 3NF.</a:t>
            </a:r>
          </a:p>
          <a:p>
            <a:r>
              <a:rPr lang="en-IN" dirty="0"/>
              <a:t>A table is in BCNF if every functional dependency X → Y, </a:t>
            </a:r>
          </a:p>
          <a:p>
            <a:pPr lvl="1"/>
            <a:r>
              <a:rPr lang="en-IN" b="1" dirty="0"/>
              <a:t>X is the super key of the table</a:t>
            </a:r>
            <a:r>
              <a:rPr lang="en-IN" dirty="0"/>
              <a:t>.</a:t>
            </a:r>
          </a:p>
          <a:p>
            <a:r>
              <a:rPr lang="en-IN" dirty="0"/>
              <a:t>For BCNF, the table should be in 3NF, and for every FD, LHS is super key.</a:t>
            </a:r>
          </a:p>
          <a:p>
            <a:endParaRPr lang="en-IN" dirty="0"/>
          </a:p>
          <a:p>
            <a:r>
              <a:rPr lang="en-IN" dirty="0"/>
              <a:t>General definition of 3NF is:</a:t>
            </a:r>
          </a:p>
          <a:p>
            <a:pPr lvl="1"/>
            <a:r>
              <a:rPr lang="en-IN" dirty="0"/>
              <a:t>For any FD X-&gt;Y:</a:t>
            </a:r>
          </a:p>
          <a:p>
            <a:pPr marL="1428750" lvl="2" indent="-514350">
              <a:buFont typeface="+mj-lt"/>
              <a:buAutoNum type="romanUcPeriod"/>
            </a:pPr>
            <a:r>
              <a:rPr lang="en-IN" dirty="0"/>
              <a:t>X is a super Key of R    	OR</a:t>
            </a:r>
          </a:p>
          <a:p>
            <a:pPr marL="1428750" lvl="2" indent="-514350">
              <a:buFont typeface="+mj-lt"/>
              <a:buAutoNum type="romanUcPeriod"/>
            </a:pPr>
            <a:r>
              <a:rPr lang="en-IN" dirty="0"/>
              <a:t>Y is a Prime Attribute of R</a:t>
            </a:r>
          </a:p>
          <a:p>
            <a:endParaRPr lang="en-IN" dirty="0"/>
          </a:p>
        </p:txBody>
      </p:sp>
    </p:spTree>
    <p:extLst>
      <p:ext uri="{BB962C8B-B14F-4D97-AF65-F5344CB8AC3E}">
        <p14:creationId xmlns:p14="http://schemas.microsoft.com/office/powerpoint/2010/main" val="4286417801"/>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6C4447F-0A94-4030-98A1-C3AAA3065D31}"/>
              </a:ext>
            </a:extLst>
          </p:cNvPr>
          <p:cNvSpPr>
            <a:spLocks noGrp="1"/>
          </p:cNvSpPr>
          <p:nvPr>
            <p:ph type="title"/>
          </p:nvPr>
        </p:nvSpPr>
        <p:spPr>
          <a:xfrm>
            <a:off x="838200" y="182246"/>
            <a:ext cx="10515600" cy="681672"/>
          </a:xfrm>
        </p:spPr>
        <p:txBody>
          <a:bodyPr>
            <a:normAutofit/>
          </a:bodyPr>
          <a:lstStyle/>
          <a:p>
            <a:r>
              <a:rPr lang="en-IN" dirty="0"/>
              <a:t>BCNF</a:t>
            </a:r>
          </a:p>
        </p:txBody>
      </p:sp>
      <p:sp>
        <p:nvSpPr>
          <p:cNvPr id="3" name="Content Placeholder 2">
            <a:extLst>
              <a:ext uri="{FF2B5EF4-FFF2-40B4-BE49-F238E27FC236}">
                <a16:creationId xmlns:a16="http://schemas.microsoft.com/office/drawing/2014/main" id="{7F3A8E2A-05EE-4D0A-B8BA-5FEAAFADDA08}"/>
              </a:ext>
            </a:extLst>
          </p:cNvPr>
          <p:cNvSpPr>
            <a:spLocks noGrp="1"/>
          </p:cNvSpPr>
          <p:nvPr>
            <p:ph idx="1"/>
          </p:nvPr>
        </p:nvSpPr>
        <p:spPr>
          <a:xfrm>
            <a:off x="838200" y="955358"/>
            <a:ext cx="10515600" cy="3370456"/>
          </a:xfrm>
        </p:spPr>
        <p:txBody>
          <a:bodyPr>
            <a:normAutofit/>
          </a:bodyPr>
          <a:lstStyle/>
          <a:p>
            <a:r>
              <a:rPr lang="en-IN" sz="2000" dirty="0"/>
              <a:t>In the above relation LOTs1A if we assume that the Lot size/ area is fix per county and they are from 2 county only</a:t>
            </a:r>
          </a:p>
          <a:p>
            <a:r>
              <a:rPr lang="en-IN" sz="2000" dirty="0"/>
              <a:t>So in that case we can add one more FD i.e. Area -&gt; </a:t>
            </a:r>
            <a:r>
              <a:rPr lang="en-IN" sz="2000" dirty="0" err="1"/>
              <a:t>County_Name</a:t>
            </a:r>
            <a:endParaRPr lang="en-IN" sz="2000" dirty="0"/>
          </a:p>
          <a:p>
            <a:r>
              <a:rPr lang="en-IN" sz="2000" dirty="0"/>
              <a:t>So, according to 3NF this is allowed FD as: Area is not a super key according to rule (</a:t>
            </a:r>
            <a:r>
              <a:rPr lang="en-IN" sz="2000" dirty="0" err="1"/>
              <a:t>i</a:t>
            </a:r>
            <a:r>
              <a:rPr lang="en-IN" sz="2000" dirty="0"/>
              <a:t>) but as rule (ii) says </a:t>
            </a:r>
            <a:r>
              <a:rPr lang="en-IN" sz="2000" dirty="0" err="1"/>
              <a:t>County_Name</a:t>
            </a:r>
            <a:r>
              <a:rPr lang="en-IN" sz="2000" dirty="0"/>
              <a:t> is a prime attribute.</a:t>
            </a:r>
          </a:p>
          <a:p>
            <a:r>
              <a:rPr lang="en-IN" sz="2000" dirty="0"/>
              <a:t>But according to BCNF only one condition is allowed for FD is that the </a:t>
            </a:r>
            <a:r>
              <a:rPr lang="en-IN" sz="2000" b="1" dirty="0"/>
              <a:t>determinant must be a super key.</a:t>
            </a:r>
            <a:r>
              <a:rPr lang="en-IN" sz="2000" dirty="0"/>
              <a:t> So, Need to convert the relation LOTs1A into BCNF as shown below:</a:t>
            </a:r>
          </a:p>
        </p:txBody>
      </p:sp>
      <p:pic>
        <p:nvPicPr>
          <p:cNvPr id="5" name="Picture 4">
            <a:extLst>
              <a:ext uri="{FF2B5EF4-FFF2-40B4-BE49-F238E27FC236}">
                <a16:creationId xmlns:a16="http://schemas.microsoft.com/office/drawing/2014/main" id="{A5332916-B896-4182-8321-494A81B653D8}"/>
              </a:ext>
            </a:extLst>
          </p:cNvPr>
          <p:cNvPicPr>
            <a:picLocks noChangeAspect="1"/>
          </p:cNvPicPr>
          <p:nvPr/>
        </p:nvPicPr>
        <p:blipFill>
          <a:blip r:embed="rId2"/>
          <a:stretch>
            <a:fillRect/>
          </a:stretch>
        </p:blipFill>
        <p:spPr>
          <a:xfrm>
            <a:off x="2681550" y="3611245"/>
            <a:ext cx="6603279" cy="3246755"/>
          </a:xfrm>
          <a:prstGeom prst="rect">
            <a:avLst/>
          </a:prstGeom>
        </p:spPr>
      </p:pic>
    </p:spTree>
    <p:extLst>
      <p:ext uri="{BB962C8B-B14F-4D97-AF65-F5344CB8AC3E}">
        <p14:creationId xmlns:p14="http://schemas.microsoft.com/office/powerpoint/2010/main" val="695948342"/>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C1665F2-6454-47F1-B52C-BF96809114A3}"/>
              </a:ext>
            </a:extLst>
          </p:cNvPr>
          <p:cNvSpPr>
            <a:spLocks noGrp="1"/>
          </p:cNvSpPr>
          <p:nvPr>
            <p:ph type="title"/>
          </p:nvPr>
        </p:nvSpPr>
        <p:spPr/>
        <p:txBody>
          <a:bodyPr/>
          <a:lstStyle/>
          <a:p>
            <a:r>
              <a:rPr lang="en-IN" dirty="0"/>
              <a:t>BCNF Example</a:t>
            </a:r>
          </a:p>
        </p:txBody>
      </p:sp>
      <p:sp>
        <p:nvSpPr>
          <p:cNvPr id="3" name="Content Placeholder 2">
            <a:extLst>
              <a:ext uri="{FF2B5EF4-FFF2-40B4-BE49-F238E27FC236}">
                <a16:creationId xmlns:a16="http://schemas.microsoft.com/office/drawing/2014/main" id="{2BF3C07A-2F11-484F-8DFC-0CA5C8C24D34}"/>
              </a:ext>
            </a:extLst>
          </p:cNvPr>
          <p:cNvSpPr>
            <a:spLocks noGrp="1"/>
          </p:cNvSpPr>
          <p:nvPr>
            <p:ph idx="1"/>
          </p:nvPr>
        </p:nvSpPr>
        <p:spPr>
          <a:xfrm>
            <a:off x="337625" y="1516134"/>
            <a:ext cx="5758375" cy="5341866"/>
          </a:xfrm>
        </p:spPr>
        <p:txBody>
          <a:bodyPr>
            <a:normAutofit/>
          </a:bodyPr>
          <a:lstStyle/>
          <a:p>
            <a:r>
              <a:rPr lang="en-IN" dirty="0"/>
              <a:t>Candidate Key:</a:t>
            </a:r>
          </a:p>
          <a:p>
            <a:r>
              <a:rPr lang="en-IN" dirty="0"/>
              <a:t>{Student, Course}</a:t>
            </a:r>
          </a:p>
          <a:p>
            <a:endParaRPr lang="en-IN" dirty="0"/>
          </a:p>
          <a:p>
            <a:r>
              <a:rPr lang="en-IN" dirty="0"/>
              <a:t>FDs:</a:t>
            </a:r>
          </a:p>
          <a:p>
            <a:r>
              <a:rPr lang="en-IN" dirty="0"/>
              <a:t>{Student, Course} -&gt; Instructor</a:t>
            </a:r>
          </a:p>
          <a:p>
            <a:r>
              <a:rPr lang="en-IN" dirty="0"/>
              <a:t>Instructor -&gt; Course</a:t>
            </a:r>
          </a:p>
          <a:p>
            <a:endParaRPr lang="en-IN" dirty="0"/>
          </a:p>
          <a:p>
            <a:r>
              <a:rPr lang="en-IN" dirty="0"/>
              <a:t>Decomposition Rule:</a:t>
            </a:r>
          </a:p>
          <a:p>
            <a:endParaRPr lang="en-IN" dirty="0"/>
          </a:p>
          <a:p>
            <a:endParaRPr lang="en-IN" dirty="0"/>
          </a:p>
        </p:txBody>
      </p:sp>
      <p:pic>
        <p:nvPicPr>
          <p:cNvPr id="5" name="Picture 4">
            <a:extLst>
              <a:ext uri="{FF2B5EF4-FFF2-40B4-BE49-F238E27FC236}">
                <a16:creationId xmlns:a16="http://schemas.microsoft.com/office/drawing/2014/main" id="{2C8152EB-7B3F-4884-86D6-515E2FF13DD8}"/>
              </a:ext>
            </a:extLst>
          </p:cNvPr>
          <p:cNvPicPr>
            <a:picLocks noChangeAspect="1"/>
          </p:cNvPicPr>
          <p:nvPr/>
        </p:nvPicPr>
        <p:blipFill>
          <a:blip r:embed="rId2"/>
          <a:stretch>
            <a:fillRect/>
          </a:stretch>
        </p:blipFill>
        <p:spPr>
          <a:xfrm>
            <a:off x="4975668" y="1270000"/>
            <a:ext cx="4582701" cy="3757180"/>
          </a:xfrm>
          <a:prstGeom prst="rect">
            <a:avLst/>
          </a:prstGeom>
        </p:spPr>
      </p:pic>
      <p:pic>
        <p:nvPicPr>
          <p:cNvPr id="9" name="Picture 8">
            <a:extLst>
              <a:ext uri="{FF2B5EF4-FFF2-40B4-BE49-F238E27FC236}">
                <a16:creationId xmlns:a16="http://schemas.microsoft.com/office/drawing/2014/main" id="{66229371-A8B3-47FA-9BEC-0CAABA84F357}"/>
              </a:ext>
            </a:extLst>
          </p:cNvPr>
          <p:cNvPicPr>
            <a:picLocks noChangeAspect="1"/>
          </p:cNvPicPr>
          <p:nvPr/>
        </p:nvPicPr>
        <p:blipFill>
          <a:blip r:embed="rId3"/>
          <a:stretch>
            <a:fillRect/>
          </a:stretch>
        </p:blipFill>
        <p:spPr>
          <a:xfrm>
            <a:off x="592754" y="5152840"/>
            <a:ext cx="4662936" cy="870319"/>
          </a:xfrm>
          <a:prstGeom prst="rect">
            <a:avLst/>
          </a:prstGeom>
        </p:spPr>
      </p:pic>
    </p:spTree>
    <p:extLst>
      <p:ext uri="{BB962C8B-B14F-4D97-AF65-F5344CB8AC3E}">
        <p14:creationId xmlns:p14="http://schemas.microsoft.com/office/powerpoint/2010/main" val="1541919235"/>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191ED4B-89D1-4511-B1C3-5F8921AC7D38}"/>
              </a:ext>
            </a:extLst>
          </p:cNvPr>
          <p:cNvSpPr>
            <a:spLocks noGrp="1"/>
          </p:cNvSpPr>
          <p:nvPr>
            <p:ph type="title"/>
          </p:nvPr>
        </p:nvSpPr>
        <p:spPr/>
        <p:txBody>
          <a:bodyPr/>
          <a:lstStyle/>
          <a:p>
            <a:r>
              <a:rPr lang="en-IN" dirty="0"/>
              <a:t>Conversion into BCNF</a:t>
            </a:r>
          </a:p>
        </p:txBody>
      </p:sp>
      <p:pic>
        <p:nvPicPr>
          <p:cNvPr id="5" name="Picture 4">
            <a:extLst>
              <a:ext uri="{FF2B5EF4-FFF2-40B4-BE49-F238E27FC236}">
                <a16:creationId xmlns:a16="http://schemas.microsoft.com/office/drawing/2014/main" id="{19B7F5FD-BB4F-487C-98F6-C3A1EB032656}"/>
              </a:ext>
            </a:extLst>
          </p:cNvPr>
          <p:cNvPicPr>
            <a:picLocks noChangeAspect="1"/>
          </p:cNvPicPr>
          <p:nvPr/>
        </p:nvPicPr>
        <p:blipFill>
          <a:blip r:embed="rId2"/>
          <a:stretch>
            <a:fillRect/>
          </a:stretch>
        </p:blipFill>
        <p:spPr>
          <a:xfrm>
            <a:off x="838200" y="1710514"/>
            <a:ext cx="7866888" cy="1531234"/>
          </a:xfrm>
          <a:prstGeom prst="rect">
            <a:avLst/>
          </a:prstGeom>
        </p:spPr>
      </p:pic>
      <p:sp>
        <p:nvSpPr>
          <p:cNvPr id="8" name="Content Placeholder 2">
            <a:extLst>
              <a:ext uri="{FF2B5EF4-FFF2-40B4-BE49-F238E27FC236}">
                <a16:creationId xmlns:a16="http://schemas.microsoft.com/office/drawing/2014/main" id="{5959663C-4437-452D-BDA7-943E736901F1}"/>
              </a:ext>
            </a:extLst>
          </p:cNvPr>
          <p:cNvSpPr>
            <a:spLocks noGrp="1"/>
          </p:cNvSpPr>
          <p:nvPr>
            <p:ph idx="1"/>
          </p:nvPr>
        </p:nvSpPr>
        <p:spPr>
          <a:xfrm>
            <a:off x="838200" y="3885585"/>
            <a:ext cx="10515599" cy="1510079"/>
          </a:xfrm>
        </p:spPr>
        <p:txBody>
          <a:bodyPr>
            <a:normAutofit/>
          </a:bodyPr>
          <a:lstStyle/>
          <a:p>
            <a:r>
              <a:rPr lang="en-IN" dirty="0"/>
              <a:t>Out of all above 3 decomposition</a:t>
            </a:r>
          </a:p>
          <a:p>
            <a:r>
              <a:rPr lang="en-IN" dirty="0"/>
              <a:t>Only D3 follows the decomposition rule for BCNF</a:t>
            </a:r>
          </a:p>
          <a:p>
            <a:r>
              <a:rPr lang="en-IN" dirty="0"/>
              <a:t>So D3 is the only valid decomposition </a:t>
            </a:r>
          </a:p>
          <a:p>
            <a:endParaRPr lang="en-IN" dirty="0"/>
          </a:p>
        </p:txBody>
      </p:sp>
    </p:spTree>
    <p:extLst>
      <p:ext uri="{BB962C8B-B14F-4D97-AF65-F5344CB8AC3E}">
        <p14:creationId xmlns:p14="http://schemas.microsoft.com/office/powerpoint/2010/main" val="3953875560"/>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48456" y="1444417"/>
            <a:ext cx="9171032" cy="1325563"/>
          </a:xfrm>
        </p:spPr>
        <p:txBody>
          <a:bodyPr>
            <a:normAutofit/>
          </a:bodyPr>
          <a:lstStyle/>
          <a:p>
            <a:r>
              <a:rPr lang="en-IN" sz="2400" dirty="0"/>
              <a:t>R(</a:t>
            </a:r>
            <a:r>
              <a:rPr lang="en-IN" sz="2400" dirty="0" err="1"/>
              <a:t>StudentID</a:t>
            </a:r>
            <a:r>
              <a:rPr lang="en-IN" sz="2400" dirty="0"/>
              <a:t>, </a:t>
            </a:r>
            <a:r>
              <a:rPr lang="en-IN" sz="2400" dirty="0" err="1"/>
              <a:t>StudentName</a:t>
            </a:r>
            <a:r>
              <a:rPr lang="en-IN" sz="2400" dirty="0"/>
              <a:t>, </a:t>
            </a:r>
            <a:r>
              <a:rPr lang="en-IN" sz="2400" dirty="0" err="1"/>
              <a:t>CourseID</a:t>
            </a:r>
            <a:r>
              <a:rPr lang="en-IN" sz="2400" dirty="0"/>
              <a:t>, </a:t>
            </a:r>
            <a:r>
              <a:rPr lang="en-IN" sz="2400" dirty="0" err="1"/>
              <a:t>CourseName</a:t>
            </a:r>
            <a:r>
              <a:rPr lang="en-IN" sz="2400" dirty="0"/>
              <a:t>, </a:t>
            </a:r>
            <a:r>
              <a:rPr lang="en-IN" sz="2400" dirty="0" err="1"/>
              <a:t>InstructorID</a:t>
            </a:r>
            <a:r>
              <a:rPr lang="en-IN" sz="2400" dirty="0"/>
              <a:t>, </a:t>
            </a:r>
            <a:r>
              <a:rPr lang="en-IN" sz="2400" dirty="0" err="1"/>
              <a:t>InstructorName</a:t>
            </a:r>
            <a:r>
              <a:rPr lang="en-IN" sz="2400" dirty="0"/>
              <a:t>, </a:t>
            </a:r>
            <a:r>
              <a:rPr lang="en-IN" sz="2400" dirty="0" err="1"/>
              <a:t>Dept</a:t>
            </a:r>
            <a:r>
              <a:rPr lang="en-IN" sz="2400" dirty="0"/>
              <a:t>, Grade)</a:t>
            </a:r>
          </a:p>
        </p:txBody>
      </p:sp>
      <p:sp>
        <p:nvSpPr>
          <p:cNvPr id="3" name="Content Placeholder 2"/>
          <p:cNvSpPr>
            <a:spLocks noGrp="1"/>
          </p:cNvSpPr>
          <p:nvPr>
            <p:ph idx="1"/>
          </p:nvPr>
        </p:nvSpPr>
        <p:spPr>
          <a:xfrm>
            <a:off x="448456" y="2929950"/>
            <a:ext cx="10515600" cy="2821326"/>
          </a:xfrm>
        </p:spPr>
        <p:txBody>
          <a:bodyPr>
            <a:normAutofit lnSpcReduction="10000"/>
          </a:bodyPr>
          <a:lstStyle/>
          <a:p>
            <a:pPr marL="0" indent="0">
              <a:buNone/>
            </a:pPr>
            <a:r>
              <a:rPr lang="en-IN" sz="2400" dirty="0"/>
              <a:t>Given functional dependencies (FDs)</a:t>
            </a:r>
          </a:p>
          <a:p>
            <a:pPr marL="0" indent="0">
              <a:buNone/>
            </a:pPr>
            <a:endParaRPr lang="en-IN" sz="2400" dirty="0"/>
          </a:p>
          <a:p>
            <a:pPr marL="0" indent="0">
              <a:buNone/>
            </a:pPr>
            <a:r>
              <a:rPr lang="en-IN" sz="2400" dirty="0"/>
              <a:t>FD1 : </a:t>
            </a:r>
            <a:r>
              <a:rPr lang="en-IN" sz="2400" dirty="0" err="1"/>
              <a:t>StudentID</a:t>
            </a:r>
            <a:r>
              <a:rPr lang="en-IN" sz="2400" dirty="0"/>
              <a:t> → </a:t>
            </a:r>
            <a:r>
              <a:rPr lang="en-IN" sz="2400" dirty="0" err="1"/>
              <a:t>StudentName</a:t>
            </a:r>
            <a:endParaRPr lang="en-IN" sz="2400" dirty="0"/>
          </a:p>
          <a:p>
            <a:pPr marL="0" indent="0">
              <a:buNone/>
            </a:pPr>
            <a:r>
              <a:rPr lang="en-IN" sz="2400" dirty="0"/>
              <a:t>FD2 : </a:t>
            </a:r>
            <a:r>
              <a:rPr lang="en-IN" sz="2400" dirty="0" err="1"/>
              <a:t>CourseID</a:t>
            </a:r>
            <a:r>
              <a:rPr lang="en-IN" sz="2400" dirty="0"/>
              <a:t> → </a:t>
            </a:r>
            <a:r>
              <a:rPr lang="en-IN" sz="2400" dirty="0" err="1"/>
              <a:t>CourseName</a:t>
            </a:r>
            <a:r>
              <a:rPr lang="en-IN" sz="2400" dirty="0"/>
              <a:t>, </a:t>
            </a:r>
            <a:r>
              <a:rPr lang="en-IN" sz="2400" dirty="0" err="1"/>
              <a:t>InstructorID</a:t>
            </a:r>
            <a:endParaRPr lang="en-IN" sz="2400" dirty="0"/>
          </a:p>
          <a:p>
            <a:pPr marL="0" indent="0">
              <a:buNone/>
            </a:pPr>
            <a:r>
              <a:rPr lang="en-IN" sz="2400" dirty="0"/>
              <a:t>FD3 : </a:t>
            </a:r>
            <a:r>
              <a:rPr lang="en-IN" sz="2400" dirty="0" err="1"/>
              <a:t>InstructorID</a:t>
            </a:r>
            <a:r>
              <a:rPr lang="en-IN" sz="2400" dirty="0"/>
              <a:t> → </a:t>
            </a:r>
            <a:r>
              <a:rPr lang="en-IN" sz="2400" dirty="0" err="1"/>
              <a:t>InstructorName</a:t>
            </a:r>
            <a:r>
              <a:rPr lang="en-IN" sz="2400" dirty="0"/>
              <a:t>, </a:t>
            </a:r>
            <a:r>
              <a:rPr lang="en-IN" sz="2400" dirty="0" err="1"/>
              <a:t>Dept</a:t>
            </a:r>
            <a:endParaRPr lang="en-IN" sz="2400" dirty="0"/>
          </a:p>
          <a:p>
            <a:pPr marL="0" indent="0">
              <a:buNone/>
            </a:pPr>
            <a:r>
              <a:rPr lang="en-IN" sz="2400" dirty="0"/>
              <a:t>FD4 : {</a:t>
            </a:r>
            <a:r>
              <a:rPr lang="en-IN" sz="2400" dirty="0" err="1"/>
              <a:t>StudentID</a:t>
            </a:r>
            <a:r>
              <a:rPr lang="en-IN" sz="2400" dirty="0"/>
              <a:t>, </a:t>
            </a:r>
            <a:r>
              <a:rPr lang="en-IN" sz="2400" dirty="0" err="1"/>
              <a:t>CourseID</a:t>
            </a:r>
            <a:r>
              <a:rPr lang="en-IN" sz="2400" dirty="0"/>
              <a:t>} → Grade</a:t>
            </a:r>
          </a:p>
        </p:txBody>
      </p:sp>
      <p:sp>
        <p:nvSpPr>
          <p:cNvPr id="4" name="Title 1">
            <a:extLst>
              <a:ext uri="{FF2B5EF4-FFF2-40B4-BE49-F238E27FC236}">
                <a16:creationId xmlns:a16="http://schemas.microsoft.com/office/drawing/2014/main" id="{09286E48-BE59-4900-9536-6B05678FBF28}"/>
              </a:ext>
            </a:extLst>
          </p:cNvPr>
          <p:cNvSpPr txBox="1">
            <a:spLocks/>
          </p:cNvSpPr>
          <p:nvPr/>
        </p:nvSpPr>
        <p:spPr>
          <a:xfrm>
            <a:off x="448456" y="260194"/>
            <a:ext cx="10515600" cy="1325563"/>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IN"/>
              <a:t>Examples for Normalization</a:t>
            </a:r>
            <a:endParaRPr lang="en-IN" dirty="0"/>
          </a:p>
        </p:txBody>
      </p:sp>
    </p:spTree>
    <p:extLst>
      <p:ext uri="{BB962C8B-B14F-4D97-AF65-F5344CB8AC3E}">
        <p14:creationId xmlns:p14="http://schemas.microsoft.com/office/powerpoint/2010/main" val="1129797835"/>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Explanation</a:t>
            </a:r>
            <a:endParaRPr lang="en-IN" dirty="0"/>
          </a:p>
        </p:txBody>
      </p:sp>
      <p:sp>
        <p:nvSpPr>
          <p:cNvPr id="3" name="Content Placeholder 2"/>
          <p:cNvSpPr>
            <a:spLocks noGrp="1"/>
          </p:cNvSpPr>
          <p:nvPr>
            <p:ph idx="1"/>
          </p:nvPr>
        </p:nvSpPr>
        <p:spPr/>
        <p:txBody>
          <a:bodyPr/>
          <a:lstStyle/>
          <a:p>
            <a:r>
              <a:rPr lang="en-IN" b="1" dirty="0"/>
              <a:t>Key:</a:t>
            </a:r>
            <a:r>
              <a:rPr lang="en-IN" dirty="0"/>
              <a:t> {</a:t>
            </a:r>
            <a:r>
              <a:rPr lang="en-IN" dirty="0" err="1"/>
              <a:t>StudentID</a:t>
            </a:r>
            <a:r>
              <a:rPr lang="en-IN" dirty="0"/>
              <a:t>, </a:t>
            </a:r>
            <a:r>
              <a:rPr lang="en-IN" dirty="0" err="1"/>
              <a:t>CourseID</a:t>
            </a:r>
            <a:r>
              <a:rPr lang="en-IN" dirty="0"/>
              <a:t>}</a:t>
            </a:r>
          </a:p>
          <a:p>
            <a:r>
              <a:rPr lang="en-US" dirty="0"/>
              <a:t>After 2NF:</a:t>
            </a:r>
          </a:p>
          <a:p>
            <a:pPr marL="457200" lvl="1" indent="0">
              <a:buNone/>
            </a:pPr>
            <a:r>
              <a:rPr lang="en-IN" dirty="0"/>
              <a:t>R1: Student (</a:t>
            </a:r>
            <a:r>
              <a:rPr lang="en-IN" u="sng" dirty="0" err="1"/>
              <a:t>StudentID</a:t>
            </a:r>
            <a:r>
              <a:rPr lang="en-IN" dirty="0"/>
              <a:t> , </a:t>
            </a:r>
            <a:r>
              <a:rPr lang="en-IN" dirty="0" err="1"/>
              <a:t>StudentName</a:t>
            </a:r>
            <a:r>
              <a:rPr lang="en-IN" dirty="0"/>
              <a:t>)</a:t>
            </a:r>
          </a:p>
          <a:p>
            <a:pPr marL="457200" lvl="1" indent="0">
              <a:buNone/>
            </a:pPr>
            <a:r>
              <a:rPr lang="en-US" dirty="0"/>
              <a:t>R2: Course (</a:t>
            </a:r>
            <a:r>
              <a:rPr lang="en-IN" u="sng" dirty="0" err="1"/>
              <a:t>CourseID</a:t>
            </a:r>
            <a:r>
              <a:rPr lang="en-IN" dirty="0"/>
              <a:t>, </a:t>
            </a:r>
            <a:r>
              <a:rPr lang="en-IN" dirty="0" err="1"/>
              <a:t>CourseName</a:t>
            </a:r>
            <a:r>
              <a:rPr lang="en-IN" dirty="0"/>
              <a:t>, </a:t>
            </a:r>
            <a:r>
              <a:rPr lang="en-IN" dirty="0" err="1"/>
              <a:t>InstructorID</a:t>
            </a:r>
            <a:r>
              <a:rPr lang="en-IN" dirty="0"/>
              <a:t>, </a:t>
            </a:r>
            <a:r>
              <a:rPr lang="en-IN" dirty="0" err="1"/>
              <a:t>InstructorName</a:t>
            </a:r>
            <a:r>
              <a:rPr lang="en-IN" dirty="0"/>
              <a:t>, </a:t>
            </a:r>
            <a:r>
              <a:rPr lang="en-IN" dirty="0" err="1"/>
              <a:t>Dept</a:t>
            </a:r>
            <a:r>
              <a:rPr lang="en-IN" dirty="0"/>
              <a:t>)</a:t>
            </a:r>
          </a:p>
          <a:p>
            <a:pPr marL="457200" lvl="1" indent="0">
              <a:buNone/>
            </a:pPr>
            <a:r>
              <a:rPr lang="en-US" dirty="0"/>
              <a:t>R3: </a:t>
            </a:r>
            <a:r>
              <a:rPr lang="en-IN" dirty="0" err="1"/>
              <a:t>Enrollment</a:t>
            </a:r>
            <a:r>
              <a:rPr lang="en-IN" dirty="0"/>
              <a:t> (</a:t>
            </a:r>
            <a:r>
              <a:rPr lang="en-IN" dirty="0" err="1"/>
              <a:t>StudentID</a:t>
            </a:r>
            <a:r>
              <a:rPr lang="en-IN" dirty="0"/>
              <a:t>, </a:t>
            </a:r>
            <a:r>
              <a:rPr lang="en-IN" dirty="0" err="1"/>
              <a:t>CourseID</a:t>
            </a:r>
            <a:r>
              <a:rPr lang="en-IN" dirty="0"/>
              <a:t>, Grade)</a:t>
            </a:r>
          </a:p>
          <a:p>
            <a:r>
              <a:rPr lang="en-US" dirty="0"/>
              <a:t>After 3NF:</a:t>
            </a:r>
          </a:p>
          <a:p>
            <a:pPr marL="457200" lvl="1" indent="0">
              <a:buNone/>
            </a:pPr>
            <a:r>
              <a:rPr lang="en-US" dirty="0"/>
              <a:t>R1 and R3 will remain as it is and remove </a:t>
            </a:r>
            <a:r>
              <a:rPr lang="en-US" dirty="0" err="1"/>
              <a:t>transiti</a:t>
            </a:r>
            <a:r>
              <a:rPr lang="en-US" dirty="0"/>
              <a:t> FD from R2</a:t>
            </a:r>
          </a:p>
          <a:p>
            <a:pPr marL="457200" lvl="1" indent="0">
              <a:buNone/>
            </a:pPr>
            <a:r>
              <a:rPr lang="en-US" dirty="0"/>
              <a:t>R2a : Instructor(</a:t>
            </a:r>
            <a:r>
              <a:rPr lang="en-US" dirty="0" err="1"/>
              <a:t>InstructorID</a:t>
            </a:r>
            <a:r>
              <a:rPr lang="en-US" dirty="0"/>
              <a:t> PK, </a:t>
            </a:r>
            <a:r>
              <a:rPr lang="en-US" dirty="0" err="1"/>
              <a:t>InstructorName</a:t>
            </a:r>
            <a:r>
              <a:rPr lang="en-US" dirty="0"/>
              <a:t>, </a:t>
            </a:r>
            <a:r>
              <a:rPr lang="en-US" dirty="0" err="1"/>
              <a:t>Dept</a:t>
            </a:r>
            <a:r>
              <a:rPr lang="en-US" dirty="0"/>
              <a:t>)</a:t>
            </a:r>
          </a:p>
          <a:p>
            <a:pPr marL="457200" lvl="1" indent="0">
              <a:buNone/>
            </a:pPr>
            <a:r>
              <a:rPr lang="en-US" dirty="0"/>
              <a:t>R2b : </a:t>
            </a:r>
            <a:r>
              <a:rPr lang="en-IN" dirty="0"/>
              <a:t>Course(</a:t>
            </a:r>
            <a:r>
              <a:rPr lang="en-IN" dirty="0" err="1"/>
              <a:t>CourseID</a:t>
            </a:r>
            <a:r>
              <a:rPr lang="en-IN" dirty="0"/>
              <a:t> PK, </a:t>
            </a:r>
            <a:r>
              <a:rPr lang="en-IN" dirty="0" err="1"/>
              <a:t>CourseName</a:t>
            </a:r>
            <a:r>
              <a:rPr lang="en-IN" dirty="0"/>
              <a:t>, </a:t>
            </a:r>
            <a:r>
              <a:rPr lang="en-IN" dirty="0" err="1"/>
              <a:t>InstructorID</a:t>
            </a:r>
            <a:r>
              <a:rPr lang="en-IN" dirty="0"/>
              <a:t>)</a:t>
            </a:r>
          </a:p>
        </p:txBody>
      </p:sp>
    </p:spTree>
    <p:extLst>
      <p:ext uri="{BB962C8B-B14F-4D97-AF65-F5344CB8AC3E}">
        <p14:creationId xmlns:p14="http://schemas.microsoft.com/office/powerpoint/2010/main" val="486367758"/>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9286E48-BE59-4900-9536-6B05678FBF28}"/>
              </a:ext>
            </a:extLst>
          </p:cNvPr>
          <p:cNvSpPr>
            <a:spLocks noGrp="1"/>
          </p:cNvSpPr>
          <p:nvPr>
            <p:ph type="title"/>
          </p:nvPr>
        </p:nvSpPr>
        <p:spPr>
          <a:xfrm>
            <a:off x="379829" y="335145"/>
            <a:ext cx="10515600" cy="1325563"/>
          </a:xfrm>
        </p:spPr>
        <p:txBody>
          <a:bodyPr/>
          <a:lstStyle/>
          <a:p>
            <a:r>
              <a:rPr lang="en-IN" dirty="0"/>
              <a:t>Examples for Normalization</a:t>
            </a:r>
          </a:p>
        </p:txBody>
      </p:sp>
      <p:sp>
        <p:nvSpPr>
          <p:cNvPr id="3" name="Content Placeholder 2">
            <a:extLst>
              <a:ext uri="{FF2B5EF4-FFF2-40B4-BE49-F238E27FC236}">
                <a16:creationId xmlns:a16="http://schemas.microsoft.com/office/drawing/2014/main" id="{50CF24CA-161F-422D-9E6A-E4F4B19EEFB0}"/>
              </a:ext>
            </a:extLst>
          </p:cNvPr>
          <p:cNvSpPr>
            <a:spLocks noGrp="1"/>
          </p:cNvSpPr>
          <p:nvPr>
            <p:ph idx="1"/>
          </p:nvPr>
        </p:nvSpPr>
        <p:spPr>
          <a:xfrm>
            <a:off x="379829" y="1825625"/>
            <a:ext cx="11535506" cy="4351338"/>
          </a:xfrm>
        </p:spPr>
        <p:txBody>
          <a:bodyPr>
            <a:normAutofit/>
          </a:bodyPr>
          <a:lstStyle/>
          <a:p>
            <a:pPr marL="0" indent="0">
              <a:buNone/>
            </a:pPr>
            <a:r>
              <a:rPr lang="en-US" sz="2400" dirty="0"/>
              <a:t>R(</a:t>
            </a:r>
            <a:r>
              <a:rPr lang="en-US" sz="2400" dirty="0" err="1"/>
              <a:t>StuID</a:t>
            </a:r>
            <a:r>
              <a:rPr lang="en-US" sz="2400" dirty="0"/>
              <a:t>, </a:t>
            </a:r>
            <a:r>
              <a:rPr lang="en-US" sz="2400" dirty="0" err="1"/>
              <a:t>StuName</a:t>
            </a:r>
            <a:r>
              <a:rPr lang="en-US" sz="2400" dirty="0"/>
              <a:t>, </a:t>
            </a:r>
            <a:r>
              <a:rPr lang="en-US" sz="2400" dirty="0" err="1"/>
              <a:t>Dept</a:t>
            </a:r>
            <a:r>
              <a:rPr lang="en-US" sz="2400" dirty="0"/>
              <a:t>, </a:t>
            </a:r>
            <a:r>
              <a:rPr lang="en-US" sz="2400" dirty="0" err="1"/>
              <a:t>CourseID</a:t>
            </a:r>
            <a:r>
              <a:rPr lang="en-US" sz="2400" dirty="0"/>
              <a:t>, </a:t>
            </a:r>
            <a:r>
              <a:rPr lang="en-US" sz="2400" dirty="0" err="1"/>
              <a:t>CourseName</a:t>
            </a:r>
            <a:r>
              <a:rPr lang="en-US" sz="2400" dirty="0"/>
              <a:t>, Instructor, </a:t>
            </a:r>
            <a:r>
              <a:rPr lang="en-US" sz="2400" dirty="0" err="1"/>
              <a:t>RoomNo</a:t>
            </a:r>
            <a:r>
              <a:rPr lang="en-US" sz="2400" dirty="0"/>
              <a:t>)</a:t>
            </a:r>
          </a:p>
          <a:p>
            <a:pPr marL="0" indent="0">
              <a:buNone/>
            </a:pPr>
            <a:endParaRPr lang="en-US" sz="2000" dirty="0"/>
          </a:p>
          <a:p>
            <a:pPr marL="0" indent="0">
              <a:buNone/>
            </a:pPr>
            <a:r>
              <a:rPr lang="en-IN" sz="2000" dirty="0" err="1"/>
              <a:t>StuID</a:t>
            </a:r>
            <a:r>
              <a:rPr lang="en-IN" sz="2000" dirty="0"/>
              <a:t> → </a:t>
            </a:r>
            <a:r>
              <a:rPr lang="en-IN" sz="2000" dirty="0" err="1"/>
              <a:t>StuName</a:t>
            </a:r>
            <a:r>
              <a:rPr lang="en-IN" sz="2000" dirty="0"/>
              <a:t>, </a:t>
            </a:r>
            <a:r>
              <a:rPr lang="en-IN" sz="2000" dirty="0" err="1"/>
              <a:t>Dept</a:t>
            </a:r>
            <a:r>
              <a:rPr lang="en-IN" sz="2000" dirty="0"/>
              <a:t>(Student ID uniquely identifies student info)</a:t>
            </a:r>
          </a:p>
          <a:p>
            <a:pPr marL="0" indent="0">
              <a:buNone/>
            </a:pPr>
            <a:r>
              <a:rPr lang="en-IN" sz="2000" dirty="0" err="1"/>
              <a:t>CourseID</a:t>
            </a:r>
            <a:r>
              <a:rPr lang="en-IN" sz="2000" dirty="0"/>
              <a:t> → </a:t>
            </a:r>
            <a:r>
              <a:rPr lang="en-IN" sz="2000" dirty="0" err="1"/>
              <a:t>CourseName</a:t>
            </a:r>
            <a:r>
              <a:rPr lang="en-IN" sz="2000" dirty="0"/>
              <a:t>, Instructor(Each course has a fixed name and instructor)</a:t>
            </a:r>
          </a:p>
          <a:p>
            <a:pPr marL="0" indent="0">
              <a:buNone/>
            </a:pPr>
            <a:r>
              <a:rPr lang="en-IN" sz="2000" dirty="0"/>
              <a:t>Instructor → </a:t>
            </a:r>
            <a:r>
              <a:rPr lang="en-IN" sz="2000" dirty="0" err="1"/>
              <a:t>RoomNo</a:t>
            </a:r>
            <a:r>
              <a:rPr lang="en-IN" sz="2000" dirty="0"/>
              <a:t>(An instructor is assigned a specific room for lectures)</a:t>
            </a:r>
          </a:p>
          <a:p>
            <a:pPr marL="0" indent="0">
              <a:buNone/>
            </a:pPr>
            <a:r>
              <a:rPr lang="en-IN" sz="2000" dirty="0"/>
              <a:t>(</a:t>
            </a:r>
            <a:r>
              <a:rPr lang="en-IN" sz="2000" dirty="0" err="1"/>
              <a:t>StuID</a:t>
            </a:r>
            <a:r>
              <a:rPr lang="en-IN" sz="2000" dirty="0"/>
              <a:t>, </a:t>
            </a:r>
            <a:r>
              <a:rPr lang="en-IN" sz="2000" dirty="0" err="1"/>
              <a:t>CourseID</a:t>
            </a:r>
            <a:r>
              <a:rPr lang="en-IN" sz="2000" dirty="0"/>
              <a:t>) → (all other attributes)</a:t>
            </a:r>
          </a:p>
          <a:p>
            <a:pPr marL="0" indent="0">
              <a:buNone/>
            </a:pPr>
            <a:endParaRPr lang="en-IN" sz="2000" dirty="0"/>
          </a:p>
          <a:p>
            <a:pPr marL="0" indent="0">
              <a:buNone/>
            </a:pPr>
            <a:r>
              <a:rPr lang="en-IN" sz="2000" dirty="0"/>
              <a:t>(Student </a:t>
            </a:r>
            <a:r>
              <a:rPr lang="en-IN" sz="2000" dirty="0" err="1"/>
              <a:t>enrollment</a:t>
            </a:r>
            <a:r>
              <a:rPr lang="en-IN" sz="2000" dirty="0"/>
              <a:t> in a course is uniquely identified by </a:t>
            </a:r>
            <a:r>
              <a:rPr lang="en-IN" sz="2000" dirty="0" err="1"/>
              <a:t>StuID+CourseID</a:t>
            </a:r>
            <a:r>
              <a:rPr lang="en-IN" sz="2000" dirty="0"/>
              <a:t>)</a:t>
            </a:r>
          </a:p>
        </p:txBody>
      </p:sp>
    </p:spTree>
    <p:extLst>
      <p:ext uri="{BB962C8B-B14F-4D97-AF65-F5344CB8AC3E}">
        <p14:creationId xmlns:p14="http://schemas.microsoft.com/office/powerpoint/2010/main" val="3520410048"/>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04734" y="185243"/>
            <a:ext cx="10515600" cy="744147"/>
          </a:xfrm>
        </p:spPr>
        <p:txBody>
          <a:bodyPr/>
          <a:lstStyle/>
          <a:p>
            <a:r>
              <a:rPr lang="en-US" dirty="0"/>
              <a:t>Decomposition</a:t>
            </a:r>
            <a:endParaRPr lang="en-IN" dirty="0"/>
          </a:p>
        </p:txBody>
      </p:sp>
      <p:sp>
        <p:nvSpPr>
          <p:cNvPr id="3" name="Content Placeholder 2"/>
          <p:cNvSpPr>
            <a:spLocks noGrp="1"/>
          </p:cNvSpPr>
          <p:nvPr>
            <p:ph idx="1"/>
          </p:nvPr>
        </p:nvSpPr>
        <p:spPr>
          <a:xfrm>
            <a:off x="404734" y="1079292"/>
            <a:ext cx="11647358" cy="5561351"/>
          </a:xfrm>
        </p:spPr>
        <p:txBody>
          <a:bodyPr>
            <a:normAutofit/>
          </a:bodyPr>
          <a:lstStyle/>
          <a:p>
            <a:r>
              <a:rPr lang="en-US" sz="2000" dirty="0"/>
              <a:t>R = (</a:t>
            </a:r>
            <a:r>
              <a:rPr lang="en-US" sz="2000" dirty="0" err="1"/>
              <a:t>StuID</a:t>
            </a:r>
            <a:r>
              <a:rPr lang="en-US" sz="2000" dirty="0"/>
              <a:t>, </a:t>
            </a:r>
            <a:r>
              <a:rPr lang="en-US" sz="2000" dirty="0" err="1"/>
              <a:t>StuName</a:t>
            </a:r>
            <a:r>
              <a:rPr lang="en-US" sz="2000" dirty="0"/>
              <a:t>, </a:t>
            </a:r>
            <a:r>
              <a:rPr lang="en-US" sz="2000" dirty="0" err="1"/>
              <a:t>Dept</a:t>
            </a:r>
            <a:r>
              <a:rPr lang="en-US" sz="2000" dirty="0"/>
              <a:t>, </a:t>
            </a:r>
            <a:r>
              <a:rPr lang="en-US" sz="2000" dirty="0" err="1"/>
              <a:t>CourseID</a:t>
            </a:r>
            <a:r>
              <a:rPr lang="en-US" sz="2000" dirty="0"/>
              <a:t>, </a:t>
            </a:r>
            <a:r>
              <a:rPr lang="en-US" sz="2000" dirty="0" err="1"/>
              <a:t>CourseName</a:t>
            </a:r>
            <a:r>
              <a:rPr lang="en-US" sz="2000" dirty="0"/>
              <a:t>, Instructor, </a:t>
            </a:r>
            <a:r>
              <a:rPr lang="en-US" sz="2000" dirty="0" err="1"/>
              <a:t>RoomNo</a:t>
            </a:r>
            <a:r>
              <a:rPr lang="en-US" sz="2000" dirty="0"/>
              <a:t>) already in 1NF</a:t>
            </a:r>
          </a:p>
          <a:p>
            <a:r>
              <a:rPr lang="en-IN" sz="2000" dirty="0"/>
              <a:t>Primary key = (</a:t>
            </a:r>
            <a:r>
              <a:rPr lang="en-IN" sz="2000" dirty="0" err="1"/>
              <a:t>StuID</a:t>
            </a:r>
            <a:r>
              <a:rPr lang="en-IN" sz="2000" dirty="0"/>
              <a:t>, </a:t>
            </a:r>
            <a:r>
              <a:rPr lang="en-IN" sz="2000" dirty="0" err="1"/>
              <a:t>CourseID</a:t>
            </a:r>
            <a:r>
              <a:rPr lang="en-IN" sz="2000" dirty="0"/>
              <a:t>) (composite).</a:t>
            </a:r>
          </a:p>
          <a:p>
            <a:endParaRPr lang="en-IN" sz="2000" dirty="0"/>
          </a:p>
          <a:p>
            <a:r>
              <a:rPr lang="en-IN" sz="2000" dirty="0"/>
              <a:t>In 2NF, no non-prime attribute should depend on part of composite key.</a:t>
            </a:r>
          </a:p>
          <a:p>
            <a:r>
              <a:rPr lang="en-IN" sz="2000" dirty="0"/>
              <a:t>Check partial dependencies:</a:t>
            </a:r>
          </a:p>
          <a:p>
            <a:r>
              <a:rPr lang="en-IN" sz="2000" dirty="0" err="1"/>
              <a:t>StuID</a:t>
            </a:r>
            <a:r>
              <a:rPr lang="en-IN" sz="2000" dirty="0"/>
              <a:t> → </a:t>
            </a:r>
            <a:r>
              <a:rPr lang="en-IN" sz="2000" dirty="0" err="1"/>
              <a:t>StuName</a:t>
            </a:r>
            <a:r>
              <a:rPr lang="en-IN" sz="2000" dirty="0"/>
              <a:t>, Dept → partial dependency (depends only on </a:t>
            </a:r>
            <a:r>
              <a:rPr lang="en-IN" sz="2000" dirty="0" err="1"/>
              <a:t>StuID</a:t>
            </a:r>
            <a:r>
              <a:rPr lang="en-IN" sz="2000" dirty="0"/>
              <a:t>). </a:t>
            </a:r>
          </a:p>
          <a:p>
            <a:r>
              <a:rPr lang="en-IN" sz="2000" dirty="0" err="1"/>
              <a:t>CourseID</a:t>
            </a:r>
            <a:r>
              <a:rPr lang="en-IN" sz="2000" dirty="0"/>
              <a:t> → </a:t>
            </a:r>
            <a:r>
              <a:rPr lang="en-IN" sz="2000" dirty="0" err="1"/>
              <a:t>CourseName</a:t>
            </a:r>
            <a:r>
              <a:rPr lang="en-IN" sz="2000" dirty="0"/>
              <a:t>, Instructor → partial dependency (depends only on </a:t>
            </a:r>
            <a:r>
              <a:rPr lang="en-IN" sz="2000" dirty="0" err="1"/>
              <a:t>CourseID</a:t>
            </a:r>
            <a:r>
              <a:rPr lang="en-IN" sz="2000" dirty="0"/>
              <a:t>). </a:t>
            </a:r>
          </a:p>
          <a:p>
            <a:endParaRPr lang="en-IN" sz="2000" dirty="0"/>
          </a:p>
          <a:p>
            <a:r>
              <a:rPr lang="en-IN" sz="2000" dirty="0"/>
              <a:t>So 2NF decompose:</a:t>
            </a:r>
          </a:p>
          <a:p>
            <a:r>
              <a:rPr lang="en-IN" sz="2000" dirty="0"/>
              <a:t>R1(</a:t>
            </a:r>
            <a:r>
              <a:rPr lang="en-IN" sz="2000" dirty="0" err="1"/>
              <a:t>StuID</a:t>
            </a:r>
            <a:r>
              <a:rPr lang="en-IN" sz="2000" dirty="0"/>
              <a:t>, </a:t>
            </a:r>
            <a:r>
              <a:rPr lang="en-IN" sz="2000" dirty="0" err="1"/>
              <a:t>StuName</a:t>
            </a:r>
            <a:r>
              <a:rPr lang="en-IN" sz="2000" dirty="0"/>
              <a:t>, </a:t>
            </a:r>
            <a:r>
              <a:rPr lang="en-IN" sz="2000" dirty="0" err="1"/>
              <a:t>Dept</a:t>
            </a:r>
            <a:r>
              <a:rPr lang="en-IN" sz="2000" dirty="0"/>
              <a:t>)</a:t>
            </a:r>
          </a:p>
          <a:p>
            <a:r>
              <a:rPr lang="en-IN" sz="2000" dirty="0"/>
              <a:t>R2(</a:t>
            </a:r>
            <a:r>
              <a:rPr lang="en-IN" sz="2000" dirty="0" err="1"/>
              <a:t>CourseID</a:t>
            </a:r>
            <a:r>
              <a:rPr lang="en-IN" sz="2000" dirty="0"/>
              <a:t>, </a:t>
            </a:r>
            <a:r>
              <a:rPr lang="en-IN" sz="2000" dirty="0" err="1"/>
              <a:t>CourseName</a:t>
            </a:r>
            <a:r>
              <a:rPr lang="en-IN" sz="2000" dirty="0"/>
              <a:t>, Instructor, </a:t>
            </a:r>
            <a:r>
              <a:rPr lang="en-IN" sz="2000" dirty="0" err="1"/>
              <a:t>RoomNo</a:t>
            </a:r>
            <a:r>
              <a:rPr lang="en-IN" sz="2000" dirty="0"/>
              <a:t>)</a:t>
            </a:r>
          </a:p>
          <a:p>
            <a:pPr lvl="0"/>
            <a:r>
              <a:rPr lang="en-US" sz="2000" dirty="0">
                <a:latin typeface="Times New Roman" panose="02020603050405020304" pitchFamily="18" charset="0"/>
                <a:cs typeface="Times New Roman" panose="02020603050405020304" pitchFamily="18" charset="0"/>
              </a:rPr>
              <a:t>R3(</a:t>
            </a:r>
            <a:r>
              <a:rPr lang="en-US" sz="2000" dirty="0" err="1">
                <a:latin typeface="Times New Roman" panose="02020603050405020304" pitchFamily="18" charset="0"/>
                <a:cs typeface="Times New Roman" panose="02020603050405020304" pitchFamily="18" charset="0"/>
              </a:rPr>
              <a:t>StuID</a:t>
            </a:r>
            <a:r>
              <a:rPr lang="en-US" sz="2000" dirty="0">
                <a:latin typeface="Times New Roman" panose="02020603050405020304" pitchFamily="18" charset="0"/>
                <a:cs typeface="Times New Roman" panose="02020603050405020304" pitchFamily="18" charset="0"/>
              </a:rPr>
              <a:t>, </a:t>
            </a:r>
            <a:r>
              <a:rPr lang="en-US" sz="2000" dirty="0" err="1">
                <a:latin typeface="Times New Roman" panose="02020603050405020304" pitchFamily="18" charset="0"/>
                <a:cs typeface="Times New Roman" panose="02020603050405020304" pitchFamily="18" charset="0"/>
              </a:rPr>
              <a:t>CourseID</a:t>
            </a:r>
            <a:r>
              <a:rPr lang="en-US" sz="2000" dirty="0">
                <a:latin typeface="Times New Roman" panose="02020603050405020304" pitchFamily="18" charset="0"/>
                <a:cs typeface="Times New Roman" panose="02020603050405020304" pitchFamily="18" charset="0"/>
              </a:rPr>
              <a:t>)</a:t>
            </a:r>
          </a:p>
          <a:p>
            <a:pPr marL="0" indent="0">
              <a:buNone/>
            </a:pPr>
            <a:endParaRPr lang="en-IN" sz="2000" dirty="0"/>
          </a:p>
        </p:txBody>
      </p:sp>
    </p:spTree>
    <p:extLst>
      <p:ext uri="{BB962C8B-B14F-4D97-AF65-F5344CB8AC3E}">
        <p14:creationId xmlns:p14="http://schemas.microsoft.com/office/powerpoint/2010/main" val="3279658794"/>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23210" y="1"/>
            <a:ext cx="10515600" cy="959370"/>
          </a:xfrm>
        </p:spPr>
        <p:txBody>
          <a:bodyPr/>
          <a:lstStyle/>
          <a:p>
            <a:r>
              <a:rPr lang="en-US" dirty="0"/>
              <a:t>3NF</a:t>
            </a:r>
            <a:endParaRPr lang="en-IN" dirty="0"/>
          </a:p>
        </p:txBody>
      </p:sp>
      <p:sp>
        <p:nvSpPr>
          <p:cNvPr id="4" name="Rectangle 1"/>
          <p:cNvSpPr>
            <a:spLocks noGrp="1" noChangeArrowheads="1"/>
          </p:cNvSpPr>
          <p:nvPr>
            <p:ph idx="1"/>
          </p:nvPr>
        </p:nvSpPr>
        <p:spPr bwMode="auto">
          <a:xfrm>
            <a:off x="479686" y="795463"/>
            <a:ext cx="11557416" cy="600164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sz="2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Check transitive dependencies:</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sz="2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In R2: </a:t>
            </a:r>
            <a:r>
              <a:rPr kumimoji="0" lang="en-US" sz="2400" b="0" i="0" u="none" strike="noStrike" cap="none" normalizeH="0" baseline="0" dirty="0" err="1">
                <a:ln>
                  <a:noFill/>
                </a:ln>
                <a:solidFill>
                  <a:schemeClr val="tx1"/>
                </a:solidFill>
                <a:effectLst/>
                <a:latin typeface="Times New Roman" panose="02020603050405020304" pitchFamily="18" charset="0"/>
                <a:cs typeface="Times New Roman" panose="02020603050405020304" pitchFamily="18" charset="0"/>
              </a:rPr>
              <a:t>CourseID</a:t>
            </a:r>
            <a:r>
              <a:rPr kumimoji="0" lang="en-US" sz="2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 Instructor and Instructor → </a:t>
            </a:r>
            <a:r>
              <a:rPr kumimoji="0" lang="en-US" sz="2400" b="0" i="0" u="none" strike="noStrike" cap="none" normalizeH="0" baseline="0" dirty="0" err="1">
                <a:ln>
                  <a:noFill/>
                </a:ln>
                <a:solidFill>
                  <a:schemeClr val="tx1"/>
                </a:solidFill>
                <a:effectLst/>
                <a:latin typeface="Times New Roman" panose="02020603050405020304" pitchFamily="18" charset="0"/>
                <a:cs typeface="Times New Roman" panose="02020603050405020304" pitchFamily="18" charset="0"/>
              </a:rPr>
              <a:t>RoomNo</a:t>
            </a:r>
            <a:br>
              <a:rPr kumimoji="0" lang="en-US" sz="2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br>
            <a:r>
              <a:rPr kumimoji="0" lang="en-US" sz="2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a:t>
            </a:r>
            <a:r>
              <a:rPr kumimoji="0" lang="en-US" sz="2400" b="0" i="0" u="none" strike="noStrike" cap="none" normalizeH="0" baseline="0" dirty="0" err="1">
                <a:ln>
                  <a:noFill/>
                </a:ln>
                <a:solidFill>
                  <a:schemeClr val="tx1"/>
                </a:solidFill>
                <a:effectLst/>
                <a:latin typeface="Times New Roman" panose="02020603050405020304" pitchFamily="18" charset="0"/>
                <a:cs typeface="Times New Roman" panose="02020603050405020304" pitchFamily="18" charset="0"/>
              </a:rPr>
              <a:t>CourseID</a:t>
            </a:r>
            <a:r>
              <a:rPr kumimoji="0" lang="en-US" sz="2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 </a:t>
            </a:r>
            <a:r>
              <a:rPr kumimoji="0" lang="en-US" sz="2400" b="0" i="0" u="none" strike="noStrike" cap="none" normalizeH="0" baseline="0" dirty="0" err="1">
                <a:ln>
                  <a:noFill/>
                </a:ln>
                <a:solidFill>
                  <a:schemeClr val="tx1"/>
                </a:solidFill>
                <a:effectLst/>
                <a:latin typeface="Times New Roman" panose="02020603050405020304" pitchFamily="18" charset="0"/>
                <a:cs typeface="Times New Roman" panose="02020603050405020304" pitchFamily="18" charset="0"/>
              </a:rPr>
              <a:t>RoomNo</a:t>
            </a:r>
            <a:r>
              <a:rPr kumimoji="0" lang="en-US" sz="2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(transitive dependency). </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sz="2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sz="2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Decompose R2:</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sz="24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R2a(</a:t>
            </a:r>
            <a:r>
              <a:rPr kumimoji="0" lang="en-US" sz="2400" b="1" i="0" u="none" strike="noStrike" cap="none" normalizeH="0" baseline="0" dirty="0" err="1">
                <a:ln>
                  <a:noFill/>
                </a:ln>
                <a:solidFill>
                  <a:schemeClr val="tx1"/>
                </a:solidFill>
                <a:effectLst/>
                <a:latin typeface="Times New Roman" panose="02020603050405020304" pitchFamily="18" charset="0"/>
                <a:cs typeface="Times New Roman" panose="02020603050405020304" pitchFamily="18" charset="0"/>
              </a:rPr>
              <a:t>CourseID</a:t>
            </a:r>
            <a:r>
              <a:rPr kumimoji="0" lang="en-US" sz="24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a:t>
            </a:r>
            <a:r>
              <a:rPr kumimoji="0" lang="en-US" sz="2400" b="1" i="0" u="none" strike="noStrike" cap="none" normalizeH="0" baseline="0" dirty="0" err="1">
                <a:ln>
                  <a:noFill/>
                </a:ln>
                <a:solidFill>
                  <a:schemeClr val="tx1"/>
                </a:solidFill>
                <a:effectLst/>
                <a:latin typeface="Times New Roman" panose="02020603050405020304" pitchFamily="18" charset="0"/>
                <a:cs typeface="Times New Roman" panose="02020603050405020304" pitchFamily="18" charset="0"/>
              </a:rPr>
              <a:t>CourseName</a:t>
            </a:r>
            <a:r>
              <a:rPr kumimoji="0" lang="en-US" sz="24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Instructor)</a:t>
            </a:r>
            <a:endParaRPr kumimoji="0" lang="en-US" sz="2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sz="24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R2b(Instructor, </a:t>
            </a:r>
            <a:r>
              <a:rPr kumimoji="0" lang="en-US" sz="2400" b="1" i="0" u="none" strike="noStrike" cap="none" normalizeH="0" baseline="0" dirty="0" err="1">
                <a:ln>
                  <a:noFill/>
                </a:ln>
                <a:solidFill>
                  <a:schemeClr val="tx1"/>
                </a:solidFill>
                <a:effectLst/>
                <a:latin typeface="Times New Roman" panose="02020603050405020304" pitchFamily="18" charset="0"/>
                <a:cs typeface="Times New Roman" panose="02020603050405020304" pitchFamily="18" charset="0"/>
              </a:rPr>
              <a:t>RoomNo</a:t>
            </a:r>
            <a:r>
              <a:rPr kumimoji="0" lang="en-US" sz="24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a:t>
            </a:r>
            <a:endParaRPr kumimoji="0" lang="en-US" sz="2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sz="2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sz="2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Now all transitive dependencies are removed.</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sz="2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sz="2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So after </a:t>
            </a:r>
            <a:r>
              <a:rPr kumimoji="0" lang="en-US" sz="24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3NF decomposition</a:t>
            </a:r>
            <a:r>
              <a:rPr kumimoji="0" lang="en-US" sz="2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a:t>
            </a:r>
          </a:p>
          <a:p>
            <a:pPr marL="0" marR="0" lvl="0" indent="0" algn="l" defTabSz="914400" rtl="0" eaLnBrk="0" fontAlgn="base" latinLnBrk="0" hangingPunct="0">
              <a:lnSpc>
                <a:spcPct val="100000"/>
              </a:lnSpc>
              <a:spcBef>
                <a:spcPct val="0"/>
              </a:spcBef>
              <a:spcAft>
                <a:spcPct val="0"/>
              </a:spcAft>
              <a:buClrTx/>
              <a:buSzTx/>
              <a:buFontTx/>
              <a:buAutoNum type="arabicPeriod"/>
              <a:tabLst/>
            </a:pPr>
            <a:r>
              <a:rPr kumimoji="0" lang="en-US" sz="2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R1(</a:t>
            </a:r>
            <a:r>
              <a:rPr kumimoji="0" lang="en-US" sz="2400" b="0" i="0" u="none" strike="noStrike" cap="none" normalizeH="0" baseline="0" dirty="0" err="1">
                <a:ln>
                  <a:noFill/>
                </a:ln>
                <a:solidFill>
                  <a:schemeClr val="tx1"/>
                </a:solidFill>
                <a:effectLst/>
                <a:latin typeface="Times New Roman" panose="02020603050405020304" pitchFamily="18" charset="0"/>
                <a:cs typeface="Times New Roman" panose="02020603050405020304" pitchFamily="18" charset="0"/>
              </a:rPr>
              <a:t>StuID</a:t>
            </a:r>
            <a:r>
              <a:rPr kumimoji="0" lang="en-US" sz="2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a:t>
            </a:r>
            <a:r>
              <a:rPr kumimoji="0" lang="en-US" sz="2400" b="0" i="0" u="none" strike="noStrike" cap="none" normalizeH="0" baseline="0" dirty="0" err="1">
                <a:ln>
                  <a:noFill/>
                </a:ln>
                <a:solidFill>
                  <a:schemeClr val="tx1"/>
                </a:solidFill>
                <a:effectLst/>
                <a:latin typeface="Times New Roman" panose="02020603050405020304" pitchFamily="18" charset="0"/>
                <a:cs typeface="Times New Roman" panose="02020603050405020304" pitchFamily="18" charset="0"/>
              </a:rPr>
              <a:t>StuName</a:t>
            </a:r>
            <a:r>
              <a:rPr kumimoji="0" lang="en-US" sz="2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a:t>
            </a:r>
            <a:r>
              <a:rPr kumimoji="0" lang="en-US" sz="2400" b="0" i="0" u="none" strike="noStrike" cap="none" normalizeH="0" baseline="0" dirty="0" err="1">
                <a:ln>
                  <a:noFill/>
                </a:ln>
                <a:solidFill>
                  <a:schemeClr val="tx1"/>
                </a:solidFill>
                <a:effectLst/>
                <a:latin typeface="Times New Roman" panose="02020603050405020304" pitchFamily="18" charset="0"/>
                <a:cs typeface="Times New Roman" panose="02020603050405020304" pitchFamily="18" charset="0"/>
              </a:rPr>
              <a:t>Dept</a:t>
            </a:r>
            <a:r>
              <a:rPr kumimoji="0" lang="en-US" sz="2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a:t>
            </a:r>
          </a:p>
          <a:p>
            <a:pPr marL="0" marR="0" lvl="0" indent="0" algn="l" defTabSz="914400" rtl="0" eaLnBrk="0" fontAlgn="base" latinLnBrk="0" hangingPunct="0">
              <a:lnSpc>
                <a:spcPct val="100000"/>
              </a:lnSpc>
              <a:spcBef>
                <a:spcPct val="0"/>
              </a:spcBef>
              <a:spcAft>
                <a:spcPct val="0"/>
              </a:spcAft>
              <a:buClrTx/>
              <a:buSzTx/>
              <a:buFontTx/>
              <a:buAutoNum type="arabicPeriod" startAt="2"/>
              <a:tabLst/>
            </a:pPr>
            <a:r>
              <a:rPr kumimoji="0" lang="en-US" sz="2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R2a(</a:t>
            </a:r>
            <a:r>
              <a:rPr kumimoji="0" lang="en-US" sz="2400" b="0" i="0" u="none" strike="noStrike" cap="none" normalizeH="0" baseline="0" dirty="0" err="1">
                <a:ln>
                  <a:noFill/>
                </a:ln>
                <a:solidFill>
                  <a:schemeClr val="tx1"/>
                </a:solidFill>
                <a:effectLst/>
                <a:latin typeface="Times New Roman" panose="02020603050405020304" pitchFamily="18" charset="0"/>
                <a:cs typeface="Times New Roman" panose="02020603050405020304" pitchFamily="18" charset="0"/>
              </a:rPr>
              <a:t>CourseID</a:t>
            </a:r>
            <a:r>
              <a:rPr kumimoji="0" lang="en-US" sz="2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a:t>
            </a:r>
            <a:r>
              <a:rPr kumimoji="0" lang="en-US" sz="2400" b="0" i="0" u="none" strike="noStrike" cap="none" normalizeH="0" baseline="0" dirty="0" err="1">
                <a:ln>
                  <a:noFill/>
                </a:ln>
                <a:solidFill>
                  <a:schemeClr val="tx1"/>
                </a:solidFill>
                <a:effectLst/>
                <a:latin typeface="Times New Roman" panose="02020603050405020304" pitchFamily="18" charset="0"/>
                <a:cs typeface="Times New Roman" panose="02020603050405020304" pitchFamily="18" charset="0"/>
              </a:rPr>
              <a:t>CourseName</a:t>
            </a:r>
            <a:r>
              <a:rPr kumimoji="0" lang="en-US" sz="2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Instructor)</a:t>
            </a:r>
          </a:p>
          <a:p>
            <a:pPr marL="0" marR="0" lvl="0" indent="0" algn="l" defTabSz="914400" rtl="0" eaLnBrk="0" fontAlgn="base" latinLnBrk="0" hangingPunct="0">
              <a:lnSpc>
                <a:spcPct val="100000"/>
              </a:lnSpc>
              <a:spcBef>
                <a:spcPct val="0"/>
              </a:spcBef>
              <a:spcAft>
                <a:spcPct val="0"/>
              </a:spcAft>
              <a:buClrTx/>
              <a:buSzTx/>
              <a:buFontTx/>
              <a:buAutoNum type="arabicPeriod" startAt="3"/>
              <a:tabLst/>
            </a:pPr>
            <a:r>
              <a:rPr kumimoji="0" lang="en-US" sz="2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R2b(Instructor, </a:t>
            </a:r>
            <a:r>
              <a:rPr kumimoji="0" lang="en-US" sz="2400" b="0" i="0" u="none" strike="noStrike" cap="none" normalizeH="0" baseline="0" dirty="0" err="1">
                <a:ln>
                  <a:noFill/>
                </a:ln>
                <a:solidFill>
                  <a:schemeClr val="tx1"/>
                </a:solidFill>
                <a:effectLst/>
                <a:latin typeface="Times New Roman" panose="02020603050405020304" pitchFamily="18" charset="0"/>
                <a:cs typeface="Times New Roman" panose="02020603050405020304" pitchFamily="18" charset="0"/>
              </a:rPr>
              <a:t>RoomNo</a:t>
            </a:r>
            <a:r>
              <a:rPr kumimoji="0" lang="en-US" sz="2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a:t>
            </a:r>
          </a:p>
          <a:p>
            <a:pPr marL="0" marR="0" lvl="0" indent="0" algn="l" defTabSz="914400" rtl="0" eaLnBrk="0" fontAlgn="base" latinLnBrk="0" hangingPunct="0">
              <a:lnSpc>
                <a:spcPct val="100000"/>
              </a:lnSpc>
              <a:spcBef>
                <a:spcPct val="0"/>
              </a:spcBef>
              <a:spcAft>
                <a:spcPct val="0"/>
              </a:spcAft>
              <a:buClrTx/>
              <a:buSzTx/>
              <a:buFontTx/>
              <a:buAutoNum type="arabicPeriod" startAt="4"/>
              <a:tabLst/>
            </a:pPr>
            <a:r>
              <a:rPr kumimoji="0" lang="en-US" sz="2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R3(</a:t>
            </a:r>
            <a:r>
              <a:rPr kumimoji="0" lang="en-US" sz="2400" b="0" i="0" u="none" strike="noStrike" cap="none" normalizeH="0" baseline="0" dirty="0" err="1">
                <a:ln>
                  <a:noFill/>
                </a:ln>
                <a:solidFill>
                  <a:schemeClr val="tx1"/>
                </a:solidFill>
                <a:effectLst/>
                <a:latin typeface="Times New Roman" panose="02020603050405020304" pitchFamily="18" charset="0"/>
                <a:cs typeface="Times New Roman" panose="02020603050405020304" pitchFamily="18" charset="0"/>
              </a:rPr>
              <a:t>StuID</a:t>
            </a:r>
            <a:r>
              <a:rPr kumimoji="0" lang="en-US" sz="2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a:t>
            </a:r>
            <a:r>
              <a:rPr kumimoji="0" lang="en-US" sz="2400" b="0" i="0" u="none" strike="noStrike" cap="none" normalizeH="0" baseline="0" dirty="0" err="1">
                <a:ln>
                  <a:noFill/>
                </a:ln>
                <a:solidFill>
                  <a:schemeClr val="tx1"/>
                </a:solidFill>
                <a:effectLst/>
                <a:latin typeface="Times New Roman" panose="02020603050405020304" pitchFamily="18" charset="0"/>
                <a:cs typeface="Times New Roman" panose="02020603050405020304" pitchFamily="18" charset="0"/>
              </a:rPr>
              <a:t>CourseID</a:t>
            </a:r>
            <a:r>
              <a:rPr kumimoji="0" lang="en-US" sz="2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sz="2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925385082"/>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D0E5EB8-E263-4173-A607-3BFEFA75FEE9}"/>
              </a:ext>
            </a:extLst>
          </p:cNvPr>
          <p:cNvSpPr>
            <a:spLocks noGrp="1"/>
          </p:cNvSpPr>
          <p:nvPr>
            <p:ph type="title"/>
          </p:nvPr>
        </p:nvSpPr>
        <p:spPr/>
        <p:txBody>
          <a:bodyPr/>
          <a:lstStyle/>
          <a:p>
            <a:r>
              <a:rPr lang="en-IN" dirty="0"/>
              <a:t>Normalisation Example - 1</a:t>
            </a:r>
          </a:p>
        </p:txBody>
      </p:sp>
      <p:graphicFrame>
        <p:nvGraphicFramePr>
          <p:cNvPr id="4" name="Table 3">
            <a:extLst>
              <a:ext uri="{FF2B5EF4-FFF2-40B4-BE49-F238E27FC236}">
                <a16:creationId xmlns:a16="http://schemas.microsoft.com/office/drawing/2014/main" id="{A2D30E9F-E587-4202-B504-6843BD4BD78F}"/>
              </a:ext>
            </a:extLst>
          </p:cNvPr>
          <p:cNvGraphicFramePr>
            <a:graphicFrameLocks noGrp="1"/>
          </p:cNvGraphicFramePr>
          <p:nvPr/>
        </p:nvGraphicFramePr>
        <p:xfrm>
          <a:off x="838200" y="1690687"/>
          <a:ext cx="10515598" cy="3851984"/>
        </p:xfrm>
        <a:graphic>
          <a:graphicData uri="http://schemas.openxmlformats.org/drawingml/2006/table">
            <a:tbl>
              <a:tblPr firstRow="1" firstCol="1" bandRow="1">
                <a:tableStyleId>{5C22544A-7EE6-4342-B048-85BDC9FD1C3A}</a:tableStyleId>
              </a:tblPr>
              <a:tblGrid>
                <a:gridCol w="2628561">
                  <a:extLst>
                    <a:ext uri="{9D8B030D-6E8A-4147-A177-3AD203B41FA5}">
                      <a16:colId xmlns:a16="http://schemas.microsoft.com/office/drawing/2014/main" val="3150134042"/>
                    </a:ext>
                  </a:extLst>
                </a:gridCol>
                <a:gridCol w="2628561">
                  <a:extLst>
                    <a:ext uri="{9D8B030D-6E8A-4147-A177-3AD203B41FA5}">
                      <a16:colId xmlns:a16="http://schemas.microsoft.com/office/drawing/2014/main" val="3470025561"/>
                    </a:ext>
                  </a:extLst>
                </a:gridCol>
                <a:gridCol w="2628561">
                  <a:extLst>
                    <a:ext uri="{9D8B030D-6E8A-4147-A177-3AD203B41FA5}">
                      <a16:colId xmlns:a16="http://schemas.microsoft.com/office/drawing/2014/main" val="460350976"/>
                    </a:ext>
                  </a:extLst>
                </a:gridCol>
                <a:gridCol w="2629915">
                  <a:extLst>
                    <a:ext uri="{9D8B030D-6E8A-4147-A177-3AD203B41FA5}">
                      <a16:colId xmlns:a16="http://schemas.microsoft.com/office/drawing/2014/main" val="1784508973"/>
                    </a:ext>
                  </a:extLst>
                </a:gridCol>
              </a:tblGrid>
              <a:tr h="677244">
                <a:tc>
                  <a:txBody>
                    <a:bodyPr/>
                    <a:lstStyle/>
                    <a:p>
                      <a:pPr algn="just">
                        <a:lnSpc>
                          <a:spcPct val="107000"/>
                        </a:lnSpc>
                        <a:spcAft>
                          <a:spcPts val="800"/>
                        </a:spcAft>
                      </a:pPr>
                      <a:r>
                        <a:rPr lang="en-IN" sz="2800">
                          <a:effectLst/>
                        </a:rPr>
                        <a:t>Dept_Name</a:t>
                      </a:r>
                      <a:endParaRPr lang="en-IN" sz="28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gn="just">
                        <a:lnSpc>
                          <a:spcPct val="107000"/>
                        </a:lnSpc>
                        <a:spcAft>
                          <a:spcPts val="800"/>
                        </a:spcAft>
                      </a:pPr>
                      <a:r>
                        <a:rPr lang="en-IN" sz="2800">
                          <a:effectLst/>
                        </a:rPr>
                        <a:t>D_No</a:t>
                      </a:r>
                      <a:endParaRPr lang="en-IN" sz="28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gn="just">
                        <a:lnSpc>
                          <a:spcPct val="107000"/>
                        </a:lnSpc>
                        <a:spcAft>
                          <a:spcPts val="800"/>
                        </a:spcAft>
                      </a:pPr>
                      <a:r>
                        <a:rPr lang="en-IN" sz="2800">
                          <a:effectLst/>
                        </a:rPr>
                        <a:t>D_Mgr_SSN</a:t>
                      </a:r>
                      <a:endParaRPr lang="en-IN" sz="28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gn="just">
                        <a:lnSpc>
                          <a:spcPct val="107000"/>
                        </a:lnSpc>
                        <a:spcAft>
                          <a:spcPts val="800"/>
                        </a:spcAft>
                      </a:pPr>
                      <a:r>
                        <a:rPr lang="en-IN" sz="2800">
                          <a:effectLst/>
                        </a:rPr>
                        <a:t>Dept_Location</a:t>
                      </a:r>
                      <a:endParaRPr lang="en-IN" sz="28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4145453032"/>
                  </a:ext>
                </a:extLst>
              </a:tr>
              <a:tr h="1111653">
                <a:tc>
                  <a:txBody>
                    <a:bodyPr/>
                    <a:lstStyle/>
                    <a:p>
                      <a:pPr algn="just">
                        <a:lnSpc>
                          <a:spcPct val="107000"/>
                        </a:lnSpc>
                        <a:spcAft>
                          <a:spcPts val="800"/>
                        </a:spcAft>
                      </a:pPr>
                      <a:r>
                        <a:rPr lang="en-IN" sz="2800" dirty="0">
                          <a:effectLst/>
                        </a:rPr>
                        <a:t>Research</a:t>
                      </a:r>
                      <a:endParaRPr lang="en-IN" sz="28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gn="just">
                        <a:lnSpc>
                          <a:spcPct val="107000"/>
                        </a:lnSpc>
                        <a:spcAft>
                          <a:spcPts val="800"/>
                        </a:spcAft>
                      </a:pPr>
                      <a:r>
                        <a:rPr lang="en-IN" sz="2800">
                          <a:effectLst/>
                        </a:rPr>
                        <a:t>5</a:t>
                      </a:r>
                      <a:endParaRPr lang="en-IN" sz="28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gn="just">
                        <a:lnSpc>
                          <a:spcPct val="107000"/>
                        </a:lnSpc>
                        <a:spcAft>
                          <a:spcPts val="800"/>
                        </a:spcAft>
                      </a:pPr>
                      <a:r>
                        <a:rPr lang="en-IN" sz="2800">
                          <a:effectLst/>
                        </a:rPr>
                        <a:t>501</a:t>
                      </a:r>
                      <a:endParaRPr lang="en-IN" sz="28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gn="just">
                        <a:lnSpc>
                          <a:spcPct val="107000"/>
                        </a:lnSpc>
                        <a:spcAft>
                          <a:spcPts val="800"/>
                        </a:spcAft>
                      </a:pPr>
                      <a:r>
                        <a:rPr lang="en-IN" sz="2800">
                          <a:effectLst/>
                        </a:rPr>
                        <a:t>Banglore, Kolkota</a:t>
                      </a:r>
                      <a:endParaRPr lang="en-IN" sz="28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76431862"/>
                  </a:ext>
                </a:extLst>
              </a:tr>
              <a:tr h="677244">
                <a:tc>
                  <a:txBody>
                    <a:bodyPr/>
                    <a:lstStyle/>
                    <a:p>
                      <a:pPr algn="just">
                        <a:lnSpc>
                          <a:spcPct val="107000"/>
                        </a:lnSpc>
                        <a:spcAft>
                          <a:spcPts val="800"/>
                        </a:spcAft>
                      </a:pPr>
                      <a:r>
                        <a:rPr lang="en-IN" sz="2800">
                          <a:effectLst/>
                        </a:rPr>
                        <a:t>Administration</a:t>
                      </a:r>
                      <a:endParaRPr lang="en-IN" sz="28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gn="just">
                        <a:lnSpc>
                          <a:spcPct val="107000"/>
                        </a:lnSpc>
                        <a:spcAft>
                          <a:spcPts val="800"/>
                        </a:spcAft>
                      </a:pPr>
                      <a:r>
                        <a:rPr lang="en-IN" sz="2800">
                          <a:effectLst/>
                        </a:rPr>
                        <a:t>4</a:t>
                      </a:r>
                      <a:endParaRPr lang="en-IN" sz="28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gn="just">
                        <a:lnSpc>
                          <a:spcPct val="107000"/>
                        </a:lnSpc>
                        <a:spcAft>
                          <a:spcPts val="800"/>
                        </a:spcAft>
                      </a:pPr>
                      <a:r>
                        <a:rPr lang="en-IN" sz="2800">
                          <a:effectLst/>
                        </a:rPr>
                        <a:t>401</a:t>
                      </a:r>
                      <a:endParaRPr lang="en-IN" sz="28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gn="just">
                        <a:lnSpc>
                          <a:spcPct val="107000"/>
                        </a:lnSpc>
                        <a:spcAft>
                          <a:spcPts val="800"/>
                        </a:spcAft>
                      </a:pPr>
                      <a:r>
                        <a:rPr lang="en-IN" sz="2800">
                          <a:effectLst/>
                        </a:rPr>
                        <a:t>Delhi, Mumbai</a:t>
                      </a:r>
                      <a:endParaRPr lang="en-IN" sz="28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3363179607"/>
                  </a:ext>
                </a:extLst>
              </a:tr>
              <a:tr h="1385843">
                <a:tc>
                  <a:txBody>
                    <a:bodyPr/>
                    <a:lstStyle/>
                    <a:p>
                      <a:pPr algn="just">
                        <a:lnSpc>
                          <a:spcPct val="107000"/>
                        </a:lnSpc>
                        <a:spcAft>
                          <a:spcPts val="800"/>
                        </a:spcAft>
                      </a:pPr>
                      <a:r>
                        <a:rPr lang="en-IN" sz="2800">
                          <a:effectLst/>
                        </a:rPr>
                        <a:t>Sales</a:t>
                      </a:r>
                      <a:endParaRPr lang="en-IN" sz="28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gn="just">
                        <a:lnSpc>
                          <a:spcPct val="107000"/>
                        </a:lnSpc>
                        <a:spcAft>
                          <a:spcPts val="800"/>
                        </a:spcAft>
                      </a:pPr>
                      <a:r>
                        <a:rPr lang="en-IN" sz="2800">
                          <a:effectLst/>
                        </a:rPr>
                        <a:t>1</a:t>
                      </a:r>
                      <a:endParaRPr lang="en-IN" sz="28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gn="just">
                        <a:lnSpc>
                          <a:spcPct val="107000"/>
                        </a:lnSpc>
                        <a:spcAft>
                          <a:spcPts val="800"/>
                        </a:spcAft>
                      </a:pPr>
                      <a:r>
                        <a:rPr lang="en-IN" sz="2800">
                          <a:effectLst/>
                        </a:rPr>
                        <a:t>101</a:t>
                      </a:r>
                      <a:endParaRPr lang="en-IN" sz="28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gn="just">
                        <a:lnSpc>
                          <a:spcPct val="107000"/>
                        </a:lnSpc>
                        <a:spcAft>
                          <a:spcPts val="800"/>
                        </a:spcAft>
                      </a:pPr>
                      <a:r>
                        <a:rPr lang="en-IN" sz="2800" dirty="0">
                          <a:effectLst/>
                        </a:rPr>
                        <a:t>Ahmedabad, </a:t>
                      </a:r>
                      <a:r>
                        <a:rPr lang="en-IN" sz="2800" dirty="0" err="1">
                          <a:effectLst/>
                        </a:rPr>
                        <a:t>Banglore</a:t>
                      </a:r>
                      <a:r>
                        <a:rPr lang="en-IN" sz="2800" dirty="0">
                          <a:effectLst/>
                        </a:rPr>
                        <a:t>, Delhi</a:t>
                      </a:r>
                      <a:endParaRPr lang="en-IN" sz="28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4124183144"/>
                  </a:ext>
                </a:extLst>
              </a:tr>
            </a:tbl>
          </a:graphicData>
        </a:graphic>
      </p:graphicFrame>
    </p:spTree>
    <p:extLst>
      <p:ext uri="{BB962C8B-B14F-4D97-AF65-F5344CB8AC3E}">
        <p14:creationId xmlns:p14="http://schemas.microsoft.com/office/powerpoint/2010/main" val="1969625064"/>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18F3B12-3BBE-436C-9857-4C60604CC430}"/>
              </a:ext>
            </a:extLst>
          </p:cNvPr>
          <p:cNvSpPr>
            <a:spLocks noGrp="1"/>
          </p:cNvSpPr>
          <p:nvPr>
            <p:ph type="title"/>
          </p:nvPr>
        </p:nvSpPr>
        <p:spPr/>
        <p:txBody>
          <a:bodyPr/>
          <a:lstStyle/>
          <a:p>
            <a:r>
              <a:rPr lang="en-IN" dirty="0"/>
              <a:t>Example - 2</a:t>
            </a:r>
          </a:p>
        </p:txBody>
      </p:sp>
      <p:graphicFrame>
        <p:nvGraphicFramePr>
          <p:cNvPr id="4" name="Table 3">
            <a:extLst>
              <a:ext uri="{FF2B5EF4-FFF2-40B4-BE49-F238E27FC236}">
                <a16:creationId xmlns:a16="http://schemas.microsoft.com/office/drawing/2014/main" id="{0E61EA99-8702-40EE-859F-B3D81F8C7311}"/>
              </a:ext>
            </a:extLst>
          </p:cNvPr>
          <p:cNvGraphicFramePr>
            <a:graphicFrameLocks noGrp="1"/>
          </p:cNvGraphicFramePr>
          <p:nvPr/>
        </p:nvGraphicFramePr>
        <p:xfrm>
          <a:off x="838200" y="1589648"/>
          <a:ext cx="10515601" cy="4698612"/>
        </p:xfrm>
        <a:graphic>
          <a:graphicData uri="http://schemas.openxmlformats.org/drawingml/2006/table">
            <a:tbl>
              <a:tblPr firstRow="1" firstCol="1" bandRow="1">
                <a:tableStyleId>{5C22544A-7EE6-4342-B048-85BDC9FD1C3A}</a:tableStyleId>
              </a:tblPr>
              <a:tblGrid>
                <a:gridCol w="1737043">
                  <a:extLst>
                    <a:ext uri="{9D8B030D-6E8A-4147-A177-3AD203B41FA5}">
                      <a16:colId xmlns:a16="http://schemas.microsoft.com/office/drawing/2014/main" val="3596305605"/>
                    </a:ext>
                  </a:extLst>
                </a:gridCol>
                <a:gridCol w="1370424">
                  <a:extLst>
                    <a:ext uri="{9D8B030D-6E8A-4147-A177-3AD203B41FA5}">
                      <a16:colId xmlns:a16="http://schemas.microsoft.com/office/drawing/2014/main" val="3538216323"/>
                    </a:ext>
                  </a:extLst>
                </a:gridCol>
                <a:gridCol w="1731631">
                  <a:extLst>
                    <a:ext uri="{9D8B030D-6E8A-4147-A177-3AD203B41FA5}">
                      <a16:colId xmlns:a16="http://schemas.microsoft.com/office/drawing/2014/main" val="4018596971"/>
                    </a:ext>
                  </a:extLst>
                </a:gridCol>
                <a:gridCol w="1914264">
                  <a:extLst>
                    <a:ext uri="{9D8B030D-6E8A-4147-A177-3AD203B41FA5}">
                      <a16:colId xmlns:a16="http://schemas.microsoft.com/office/drawing/2014/main" val="671565440"/>
                    </a:ext>
                  </a:extLst>
                </a:gridCol>
                <a:gridCol w="2014374">
                  <a:extLst>
                    <a:ext uri="{9D8B030D-6E8A-4147-A177-3AD203B41FA5}">
                      <a16:colId xmlns:a16="http://schemas.microsoft.com/office/drawing/2014/main" val="666885990"/>
                    </a:ext>
                  </a:extLst>
                </a:gridCol>
                <a:gridCol w="1747865">
                  <a:extLst>
                    <a:ext uri="{9D8B030D-6E8A-4147-A177-3AD203B41FA5}">
                      <a16:colId xmlns:a16="http://schemas.microsoft.com/office/drawing/2014/main" val="3691872462"/>
                    </a:ext>
                  </a:extLst>
                </a:gridCol>
              </a:tblGrid>
              <a:tr h="783102">
                <a:tc>
                  <a:txBody>
                    <a:bodyPr/>
                    <a:lstStyle/>
                    <a:p>
                      <a:pPr algn="just">
                        <a:lnSpc>
                          <a:spcPct val="107000"/>
                        </a:lnSpc>
                        <a:spcAft>
                          <a:spcPts val="800"/>
                        </a:spcAft>
                      </a:pPr>
                      <a:r>
                        <a:rPr lang="en-IN" sz="2400" dirty="0">
                          <a:effectLst/>
                        </a:rPr>
                        <a:t>SSN</a:t>
                      </a:r>
                      <a:endParaRPr lang="en-IN" sz="24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gn="just">
                        <a:lnSpc>
                          <a:spcPct val="107000"/>
                        </a:lnSpc>
                        <a:spcAft>
                          <a:spcPts val="800"/>
                        </a:spcAft>
                      </a:pPr>
                      <a:r>
                        <a:rPr lang="en-IN" sz="2400">
                          <a:effectLst/>
                        </a:rPr>
                        <a:t>Proj_No</a:t>
                      </a:r>
                      <a:endParaRPr lang="en-IN" sz="24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gn="just">
                        <a:lnSpc>
                          <a:spcPct val="107000"/>
                        </a:lnSpc>
                        <a:spcAft>
                          <a:spcPts val="800"/>
                        </a:spcAft>
                      </a:pPr>
                      <a:r>
                        <a:rPr lang="en-IN" sz="2400">
                          <a:effectLst/>
                        </a:rPr>
                        <a:t>Emp_Hours</a:t>
                      </a:r>
                      <a:endParaRPr lang="en-IN" sz="24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gn="just">
                        <a:lnSpc>
                          <a:spcPct val="107000"/>
                        </a:lnSpc>
                        <a:spcAft>
                          <a:spcPts val="800"/>
                        </a:spcAft>
                      </a:pPr>
                      <a:r>
                        <a:rPr lang="en-IN" sz="2400">
                          <a:effectLst/>
                        </a:rPr>
                        <a:t>Emp_Name</a:t>
                      </a:r>
                      <a:endParaRPr lang="en-IN" sz="24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gn="just">
                        <a:lnSpc>
                          <a:spcPct val="107000"/>
                        </a:lnSpc>
                        <a:spcAft>
                          <a:spcPts val="800"/>
                        </a:spcAft>
                      </a:pPr>
                      <a:r>
                        <a:rPr lang="en-IN" sz="2400">
                          <a:effectLst/>
                        </a:rPr>
                        <a:t>Proj_Name</a:t>
                      </a:r>
                      <a:endParaRPr lang="en-IN" sz="24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gn="just">
                        <a:lnSpc>
                          <a:spcPct val="107000"/>
                        </a:lnSpc>
                        <a:spcAft>
                          <a:spcPts val="800"/>
                        </a:spcAft>
                      </a:pPr>
                      <a:r>
                        <a:rPr lang="en-IN" sz="2400">
                          <a:effectLst/>
                        </a:rPr>
                        <a:t>Proj_Loc</a:t>
                      </a:r>
                      <a:endParaRPr lang="en-IN" sz="24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3611361742"/>
                  </a:ext>
                </a:extLst>
              </a:tr>
              <a:tr h="783102">
                <a:tc>
                  <a:txBody>
                    <a:bodyPr/>
                    <a:lstStyle/>
                    <a:p>
                      <a:pPr algn="just">
                        <a:lnSpc>
                          <a:spcPct val="107000"/>
                        </a:lnSpc>
                        <a:spcAft>
                          <a:spcPts val="800"/>
                        </a:spcAft>
                      </a:pPr>
                      <a:r>
                        <a:rPr lang="en-IN" sz="2400">
                          <a:effectLst/>
                        </a:rPr>
                        <a:t>101</a:t>
                      </a:r>
                      <a:endParaRPr lang="en-IN" sz="24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gn="just">
                        <a:lnSpc>
                          <a:spcPct val="107000"/>
                        </a:lnSpc>
                        <a:spcAft>
                          <a:spcPts val="800"/>
                        </a:spcAft>
                      </a:pPr>
                      <a:r>
                        <a:rPr lang="en-IN" sz="2400">
                          <a:effectLst/>
                        </a:rPr>
                        <a:t>P1</a:t>
                      </a:r>
                      <a:endParaRPr lang="en-IN" sz="24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gn="just">
                        <a:lnSpc>
                          <a:spcPct val="107000"/>
                        </a:lnSpc>
                        <a:spcAft>
                          <a:spcPts val="800"/>
                        </a:spcAft>
                      </a:pPr>
                      <a:r>
                        <a:rPr lang="en-IN" sz="2400">
                          <a:effectLst/>
                        </a:rPr>
                        <a:t>20</a:t>
                      </a:r>
                      <a:endParaRPr lang="en-IN" sz="24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gn="just">
                        <a:lnSpc>
                          <a:spcPct val="107000"/>
                        </a:lnSpc>
                        <a:spcAft>
                          <a:spcPts val="800"/>
                        </a:spcAft>
                      </a:pPr>
                      <a:r>
                        <a:rPr lang="en-IN" sz="2400">
                          <a:effectLst/>
                        </a:rPr>
                        <a:t>Ankit Shah</a:t>
                      </a:r>
                      <a:endParaRPr lang="en-IN" sz="24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gn="just">
                        <a:lnSpc>
                          <a:spcPct val="107000"/>
                        </a:lnSpc>
                        <a:spcAft>
                          <a:spcPts val="800"/>
                        </a:spcAft>
                      </a:pPr>
                      <a:r>
                        <a:rPr lang="en-IN" sz="2400">
                          <a:effectLst/>
                        </a:rPr>
                        <a:t>Renovation</a:t>
                      </a:r>
                      <a:endParaRPr lang="en-IN" sz="24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gn="just">
                        <a:lnSpc>
                          <a:spcPct val="107000"/>
                        </a:lnSpc>
                        <a:spcAft>
                          <a:spcPts val="800"/>
                        </a:spcAft>
                      </a:pPr>
                      <a:r>
                        <a:rPr lang="en-IN" sz="2400">
                          <a:effectLst/>
                        </a:rPr>
                        <a:t>Bopal</a:t>
                      </a:r>
                      <a:endParaRPr lang="en-IN" sz="24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2753759996"/>
                  </a:ext>
                </a:extLst>
              </a:tr>
              <a:tr h="783102">
                <a:tc>
                  <a:txBody>
                    <a:bodyPr/>
                    <a:lstStyle/>
                    <a:p>
                      <a:pPr algn="just">
                        <a:lnSpc>
                          <a:spcPct val="107000"/>
                        </a:lnSpc>
                        <a:spcAft>
                          <a:spcPts val="800"/>
                        </a:spcAft>
                      </a:pPr>
                      <a:r>
                        <a:rPr lang="en-IN" sz="2400">
                          <a:effectLst/>
                        </a:rPr>
                        <a:t>101</a:t>
                      </a:r>
                      <a:endParaRPr lang="en-IN" sz="24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gn="just">
                        <a:lnSpc>
                          <a:spcPct val="107000"/>
                        </a:lnSpc>
                        <a:spcAft>
                          <a:spcPts val="800"/>
                        </a:spcAft>
                      </a:pPr>
                      <a:r>
                        <a:rPr lang="en-IN" sz="2400">
                          <a:effectLst/>
                        </a:rPr>
                        <a:t>P2</a:t>
                      </a:r>
                      <a:endParaRPr lang="en-IN" sz="24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gn="just">
                        <a:lnSpc>
                          <a:spcPct val="107000"/>
                        </a:lnSpc>
                        <a:spcAft>
                          <a:spcPts val="800"/>
                        </a:spcAft>
                      </a:pPr>
                      <a:r>
                        <a:rPr lang="en-IN" sz="2400">
                          <a:effectLst/>
                        </a:rPr>
                        <a:t>50</a:t>
                      </a:r>
                      <a:endParaRPr lang="en-IN" sz="24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gn="just">
                        <a:lnSpc>
                          <a:spcPct val="107000"/>
                        </a:lnSpc>
                        <a:spcAft>
                          <a:spcPts val="800"/>
                        </a:spcAft>
                      </a:pPr>
                      <a:r>
                        <a:rPr lang="en-IN" sz="2400">
                          <a:effectLst/>
                        </a:rPr>
                        <a:t>Ankit Shah</a:t>
                      </a:r>
                      <a:endParaRPr lang="en-IN" sz="24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gn="just">
                        <a:lnSpc>
                          <a:spcPct val="107000"/>
                        </a:lnSpc>
                        <a:spcAft>
                          <a:spcPts val="800"/>
                        </a:spcAft>
                      </a:pPr>
                      <a:r>
                        <a:rPr lang="en-IN" sz="2400">
                          <a:effectLst/>
                        </a:rPr>
                        <a:t>Construction</a:t>
                      </a:r>
                      <a:endParaRPr lang="en-IN" sz="24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gn="just">
                        <a:lnSpc>
                          <a:spcPct val="107000"/>
                        </a:lnSpc>
                        <a:spcAft>
                          <a:spcPts val="800"/>
                        </a:spcAft>
                      </a:pPr>
                      <a:r>
                        <a:rPr lang="en-IN" sz="2400">
                          <a:effectLst/>
                        </a:rPr>
                        <a:t>Ghuma</a:t>
                      </a:r>
                      <a:endParaRPr lang="en-IN" sz="24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3200085850"/>
                  </a:ext>
                </a:extLst>
              </a:tr>
              <a:tr h="783102">
                <a:tc>
                  <a:txBody>
                    <a:bodyPr/>
                    <a:lstStyle/>
                    <a:p>
                      <a:pPr algn="just">
                        <a:lnSpc>
                          <a:spcPct val="107000"/>
                        </a:lnSpc>
                        <a:spcAft>
                          <a:spcPts val="800"/>
                        </a:spcAft>
                      </a:pPr>
                      <a:r>
                        <a:rPr lang="en-IN" sz="2400">
                          <a:effectLst/>
                        </a:rPr>
                        <a:t>102</a:t>
                      </a:r>
                      <a:endParaRPr lang="en-IN" sz="24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gn="just">
                        <a:lnSpc>
                          <a:spcPct val="107000"/>
                        </a:lnSpc>
                        <a:spcAft>
                          <a:spcPts val="800"/>
                        </a:spcAft>
                      </a:pPr>
                      <a:r>
                        <a:rPr lang="en-IN" sz="2400">
                          <a:effectLst/>
                        </a:rPr>
                        <a:t>P2</a:t>
                      </a:r>
                      <a:endParaRPr lang="en-IN" sz="24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gn="just">
                        <a:lnSpc>
                          <a:spcPct val="107000"/>
                        </a:lnSpc>
                        <a:spcAft>
                          <a:spcPts val="800"/>
                        </a:spcAft>
                      </a:pPr>
                      <a:r>
                        <a:rPr lang="en-IN" sz="2400">
                          <a:effectLst/>
                        </a:rPr>
                        <a:t>70</a:t>
                      </a:r>
                      <a:endParaRPr lang="en-IN" sz="24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gn="just">
                        <a:lnSpc>
                          <a:spcPct val="107000"/>
                        </a:lnSpc>
                        <a:spcAft>
                          <a:spcPts val="800"/>
                        </a:spcAft>
                      </a:pPr>
                      <a:r>
                        <a:rPr lang="en-IN" sz="2400">
                          <a:effectLst/>
                        </a:rPr>
                        <a:t>Ankit Shah</a:t>
                      </a:r>
                      <a:endParaRPr lang="en-IN" sz="24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gn="just">
                        <a:lnSpc>
                          <a:spcPct val="107000"/>
                        </a:lnSpc>
                        <a:spcAft>
                          <a:spcPts val="800"/>
                        </a:spcAft>
                      </a:pPr>
                      <a:r>
                        <a:rPr lang="en-IN" sz="2400">
                          <a:effectLst/>
                        </a:rPr>
                        <a:t>Construction</a:t>
                      </a:r>
                      <a:endParaRPr lang="en-IN" sz="24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gn="just">
                        <a:lnSpc>
                          <a:spcPct val="107000"/>
                        </a:lnSpc>
                        <a:spcAft>
                          <a:spcPts val="800"/>
                        </a:spcAft>
                      </a:pPr>
                      <a:r>
                        <a:rPr lang="en-IN" sz="2400" dirty="0" err="1">
                          <a:effectLst/>
                        </a:rPr>
                        <a:t>Bopal</a:t>
                      </a:r>
                      <a:endParaRPr lang="en-IN" sz="24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1564513309"/>
                  </a:ext>
                </a:extLst>
              </a:tr>
              <a:tr h="783102">
                <a:tc>
                  <a:txBody>
                    <a:bodyPr/>
                    <a:lstStyle/>
                    <a:p>
                      <a:pPr algn="just">
                        <a:lnSpc>
                          <a:spcPct val="107000"/>
                        </a:lnSpc>
                        <a:spcAft>
                          <a:spcPts val="800"/>
                        </a:spcAft>
                      </a:pPr>
                      <a:r>
                        <a:rPr lang="en-IN" sz="2400">
                          <a:effectLst/>
                        </a:rPr>
                        <a:t>103</a:t>
                      </a:r>
                      <a:endParaRPr lang="en-IN" sz="24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gn="just">
                        <a:lnSpc>
                          <a:spcPct val="107000"/>
                        </a:lnSpc>
                        <a:spcAft>
                          <a:spcPts val="800"/>
                        </a:spcAft>
                      </a:pPr>
                      <a:r>
                        <a:rPr lang="en-IN" sz="2400">
                          <a:effectLst/>
                        </a:rPr>
                        <a:t>P2</a:t>
                      </a:r>
                      <a:endParaRPr lang="en-IN" sz="24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gn="just">
                        <a:lnSpc>
                          <a:spcPct val="107000"/>
                        </a:lnSpc>
                        <a:spcAft>
                          <a:spcPts val="800"/>
                        </a:spcAft>
                      </a:pPr>
                      <a:r>
                        <a:rPr lang="en-IN" sz="2400">
                          <a:effectLst/>
                        </a:rPr>
                        <a:t>40</a:t>
                      </a:r>
                      <a:endParaRPr lang="en-IN" sz="24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gn="just">
                        <a:lnSpc>
                          <a:spcPct val="107000"/>
                        </a:lnSpc>
                        <a:spcAft>
                          <a:spcPts val="800"/>
                        </a:spcAft>
                      </a:pPr>
                      <a:r>
                        <a:rPr lang="en-IN" sz="2400">
                          <a:effectLst/>
                        </a:rPr>
                        <a:t>Bhumi Patel</a:t>
                      </a:r>
                      <a:endParaRPr lang="en-IN" sz="24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gn="just">
                        <a:lnSpc>
                          <a:spcPct val="107000"/>
                        </a:lnSpc>
                        <a:spcAft>
                          <a:spcPts val="800"/>
                        </a:spcAft>
                      </a:pPr>
                      <a:r>
                        <a:rPr lang="en-IN" sz="2400">
                          <a:effectLst/>
                        </a:rPr>
                        <a:t>Construction</a:t>
                      </a:r>
                      <a:endParaRPr lang="en-IN" sz="24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gn="just">
                        <a:lnSpc>
                          <a:spcPct val="107000"/>
                        </a:lnSpc>
                        <a:spcAft>
                          <a:spcPts val="800"/>
                        </a:spcAft>
                      </a:pPr>
                      <a:r>
                        <a:rPr lang="en-IN" sz="2400">
                          <a:effectLst/>
                        </a:rPr>
                        <a:t>Sarkhej</a:t>
                      </a:r>
                      <a:endParaRPr lang="en-IN" sz="24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1167391304"/>
                  </a:ext>
                </a:extLst>
              </a:tr>
              <a:tr h="783102">
                <a:tc>
                  <a:txBody>
                    <a:bodyPr/>
                    <a:lstStyle/>
                    <a:p>
                      <a:pPr algn="just">
                        <a:lnSpc>
                          <a:spcPct val="107000"/>
                        </a:lnSpc>
                        <a:spcAft>
                          <a:spcPts val="800"/>
                        </a:spcAft>
                      </a:pPr>
                      <a:r>
                        <a:rPr lang="en-IN" sz="2400">
                          <a:effectLst/>
                        </a:rPr>
                        <a:t>103</a:t>
                      </a:r>
                      <a:endParaRPr lang="en-IN" sz="24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gn="just">
                        <a:lnSpc>
                          <a:spcPct val="107000"/>
                        </a:lnSpc>
                        <a:spcAft>
                          <a:spcPts val="800"/>
                        </a:spcAft>
                      </a:pPr>
                      <a:r>
                        <a:rPr lang="en-IN" sz="2400">
                          <a:effectLst/>
                        </a:rPr>
                        <a:t>P3</a:t>
                      </a:r>
                      <a:endParaRPr lang="en-IN" sz="24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gn="just">
                        <a:lnSpc>
                          <a:spcPct val="107000"/>
                        </a:lnSpc>
                        <a:spcAft>
                          <a:spcPts val="800"/>
                        </a:spcAft>
                      </a:pPr>
                      <a:r>
                        <a:rPr lang="en-IN" sz="2400">
                          <a:effectLst/>
                        </a:rPr>
                        <a:t>30</a:t>
                      </a:r>
                      <a:endParaRPr lang="en-IN" sz="24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gn="just">
                        <a:lnSpc>
                          <a:spcPct val="107000"/>
                        </a:lnSpc>
                        <a:spcAft>
                          <a:spcPts val="800"/>
                        </a:spcAft>
                      </a:pPr>
                      <a:r>
                        <a:rPr lang="en-IN" sz="2400">
                          <a:effectLst/>
                        </a:rPr>
                        <a:t>Bhumi Patel</a:t>
                      </a:r>
                      <a:endParaRPr lang="en-IN" sz="24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gn="just">
                        <a:lnSpc>
                          <a:spcPct val="107000"/>
                        </a:lnSpc>
                        <a:spcAft>
                          <a:spcPts val="800"/>
                        </a:spcAft>
                      </a:pPr>
                      <a:r>
                        <a:rPr lang="en-IN" sz="2400">
                          <a:effectLst/>
                        </a:rPr>
                        <a:t>Designing</a:t>
                      </a:r>
                      <a:endParaRPr lang="en-IN" sz="24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gn="just">
                        <a:lnSpc>
                          <a:spcPct val="107000"/>
                        </a:lnSpc>
                        <a:spcAft>
                          <a:spcPts val="800"/>
                        </a:spcAft>
                      </a:pPr>
                      <a:r>
                        <a:rPr lang="en-IN" sz="2400" dirty="0">
                          <a:effectLst/>
                        </a:rPr>
                        <a:t>Maninagar</a:t>
                      </a:r>
                      <a:endParaRPr lang="en-IN" sz="24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1508372430"/>
                  </a:ext>
                </a:extLst>
              </a:tr>
            </a:tbl>
          </a:graphicData>
        </a:graphic>
      </p:graphicFrame>
    </p:spTree>
    <p:extLst>
      <p:ext uri="{BB962C8B-B14F-4D97-AF65-F5344CB8AC3E}">
        <p14:creationId xmlns:p14="http://schemas.microsoft.com/office/powerpoint/2010/main" val="2131501124"/>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0BEBA05-0AF4-42B0-B415-126A2DA82824}"/>
              </a:ext>
            </a:extLst>
          </p:cNvPr>
          <p:cNvSpPr>
            <a:spLocks noGrp="1"/>
          </p:cNvSpPr>
          <p:nvPr>
            <p:ph type="title"/>
          </p:nvPr>
        </p:nvSpPr>
        <p:spPr/>
        <p:txBody>
          <a:bodyPr/>
          <a:lstStyle/>
          <a:p>
            <a:r>
              <a:rPr lang="en-IN" dirty="0"/>
              <a:t>Example - 3</a:t>
            </a:r>
          </a:p>
        </p:txBody>
      </p:sp>
      <p:graphicFrame>
        <p:nvGraphicFramePr>
          <p:cNvPr id="4" name="Table 3">
            <a:extLst>
              <a:ext uri="{FF2B5EF4-FFF2-40B4-BE49-F238E27FC236}">
                <a16:creationId xmlns:a16="http://schemas.microsoft.com/office/drawing/2014/main" id="{85D44C1D-7890-467E-937F-E9B67F56A477}"/>
              </a:ext>
            </a:extLst>
          </p:cNvPr>
          <p:cNvGraphicFramePr>
            <a:graphicFrameLocks noGrp="1"/>
          </p:cNvGraphicFramePr>
          <p:nvPr/>
        </p:nvGraphicFramePr>
        <p:xfrm>
          <a:off x="838200" y="1690689"/>
          <a:ext cx="10515599" cy="890270"/>
        </p:xfrm>
        <a:graphic>
          <a:graphicData uri="http://schemas.openxmlformats.org/drawingml/2006/table">
            <a:tbl>
              <a:tblPr firstRow="1" firstCol="1" bandRow="1">
                <a:tableStyleId>{5C22544A-7EE6-4342-B048-85BDC9FD1C3A}</a:tableStyleId>
              </a:tblPr>
              <a:tblGrid>
                <a:gridCol w="2102308">
                  <a:extLst>
                    <a:ext uri="{9D8B030D-6E8A-4147-A177-3AD203B41FA5}">
                      <a16:colId xmlns:a16="http://schemas.microsoft.com/office/drawing/2014/main" val="3145513517"/>
                    </a:ext>
                  </a:extLst>
                </a:gridCol>
                <a:gridCol w="2102308">
                  <a:extLst>
                    <a:ext uri="{9D8B030D-6E8A-4147-A177-3AD203B41FA5}">
                      <a16:colId xmlns:a16="http://schemas.microsoft.com/office/drawing/2014/main" val="3251099907"/>
                    </a:ext>
                  </a:extLst>
                </a:gridCol>
                <a:gridCol w="2103661">
                  <a:extLst>
                    <a:ext uri="{9D8B030D-6E8A-4147-A177-3AD203B41FA5}">
                      <a16:colId xmlns:a16="http://schemas.microsoft.com/office/drawing/2014/main" val="847645748"/>
                    </a:ext>
                  </a:extLst>
                </a:gridCol>
                <a:gridCol w="2103661">
                  <a:extLst>
                    <a:ext uri="{9D8B030D-6E8A-4147-A177-3AD203B41FA5}">
                      <a16:colId xmlns:a16="http://schemas.microsoft.com/office/drawing/2014/main" val="1224708625"/>
                    </a:ext>
                  </a:extLst>
                </a:gridCol>
                <a:gridCol w="2103661">
                  <a:extLst>
                    <a:ext uri="{9D8B030D-6E8A-4147-A177-3AD203B41FA5}">
                      <a16:colId xmlns:a16="http://schemas.microsoft.com/office/drawing/2014/main" val="726869701"/>
                    </a:ext>
                  </a:extLst>
                </a:gridCol>
              </a:tblGrid>
              <a:tr h="405398">
                <a:tc>
                  <a:txBody>
                    <a:bodyPr/>
                    <a:lstStyle/>
                    <a:p>
                      <a:pPr>
                        <a:lnSpc>
                          <a:spcPct val="107000"/>
                        </a:lnSpc>
                        <a:spcAft>
                          <a:spcPts val="800"/>
                        </a:spcAft>
                      </a:pPr>
                      <a:r>
                        <a:rPr lang="en-IN" sz="2800">
                          <a:effectLst/>
                        </a:rPr>
                        <a:t>Property_ID</a:t>
                      </a:r>
                      <a:endParaRPr lang="en-IN" sz="28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nSpc>
                          <a:spcPct val="107000"/>
                        </a:lnSpc>
                        <a:spcAft>
                          <a:spcPts val="800"/>
                        </a:spcAft>
                      </a:pPr>
                      <a:r>
                        <a:rPr lang="en-IN" sz="2800">
                          <a:effectLst/>
                        </a:rPr>
                        <a:t>City</a:t>
                      </a:r>
                      <a:endParaRPr lang="en-IN" sz="28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nSpc>
                          <a:spcPct val="107000"/>
                        </a:lnSpc>
                        <a:spcAft>
                          <a:spcPts val="800"/>
                        </a:spcAft>
                      </a:pPr>
                      <a:r>
                        <a:rPr lang="en-IN" sz="2800">
                          <a:effectLst/>
                        </a:rPr>
                        <a:t>Plot_No</a:t>
                      </a:r>
                      <a:endParaRPr lang="en-IN" sz="28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nSpc>
                          <a:spcPct val="107000"/>
                        </a:lnSpc>
                        <a:spcAft>
                          <a:spcPts val="800"/>
                        </a:spcAft>
                      </a:pPr>
                      <a:r>
                        <a:rPr lang="en-IN" sz="2800" dirty="0">
                          <a:effectLst/>
                        </a:rPr>
                        <a:t>Area</a:t>
                      </a:r>
                      <a:endParaRPr lang="en-IN" sz="28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nSpc>
                          <a:spcPct val="107000"/>
                        </a:lnSpc>
                        <a:spcAft>
                          <a:spcPts val="800"/>
                        </a:spcAft>
                      </a:pPr>
                      <a:r>
                        <a:rPr lang="en-IN" sz="2800" dirty="0">
                          <a:effectLst/>
                        </a:rPr>
                        <a:t>Price</a:t>
                      </a:r>
                      <a:endParaRPr lang="en-IN" sz="28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3266950008"/>
                  </a:ext>
                </a:extLst>
              </a:tr>
            </a:tbl>
          </a:graphicData>
        </a:graphic>
      </p:graphicFrame>
      <p:sp>
        <p:nvSpPr>
          <p:cNvPr id="6" name="TextBox 5">
            <a:extLst>
              <a:ext uri="{FF2B5EF4-FFF2-40B4-BE49-F238E27FC236}">
                <a16:creationId xmlns:a16="http://schemas.microsoft.com/office/drawing/2014/main" id="{670F2189-02D2-4E0B-94C8-A8FDDE389A65}"/>
              </a:ext>
            </a:extLst>
          </p:cNvPr>
          <p:cNvSpPr txBox="1"/>
          <p:nvPr/>
        </p:nvSpPr>
        <p:spPr>
          <a:xfrm>
            <a:off x="838200" y="2683178"/>
            <a:ext cx="8966982" cy="3809697"/>
          </a:xfrm>
          <a:prstGeom prst="rect">
            <a:avLst/>
          </a:prstGeom>
          <a:noFill/>
        </p:spPr>
        <p:txBody>
          <a:bodyPr wrap="square">
            <a:spAutoFit/>
          </a:bodyPr>
          <a:lstStyle/>
          <a:p>
            <a:pPr>
              <a:lnSpc>
                <a:spcPct val="107000"/>
              </a:lnSpc>
              <a:spcAft>
                <a:spcPts val="800"/>
              </a:spcAft>
            </a:pPr>
            <a:r>
              <a:rPr lang="en-IN" sz="2800" dirty="0">
                <a:effectLst/>
                <a:latin typeface="Times New Roman" panose="02020603050405020304" pitchFamily="18" charset="0"/>
                <a:ea typeface="Calibri" panose="020F0502020204030204" pitchFamily="34" charset="0"/>
                <a:cs typeface="Times New Roman" panose="02020603050405020304" pitchFamily="18" charset="0"/>
              </a:rPr>
              <a:t>Functional Dependencies are given as below:</a:t>
            </a:r>
          </a:p>
          <a:p>
            <a:pPr>
              <a:lnSpc>
                <a:spcPct val="107000"/>
              </a:lnSpc>
              <a:spcAft>
                <a:spcPts val="800"/>
              </a:spcAft>
            </a:pPr>
            <a:endParaRPr lang="en-IN" sz="2800" dirty="0">
              <a:effectLst/>
              <a:latin typeface="Calibri" panose="020F0502020204030204" pitchFamily="34" charset="0"/>
              <a:ea typeface="Calibri" panose="020F0502020204030204" pitchFamily="34" charset="0"/>
              <a:cs typeface="Times New Roman" panose="02020603050405020304" pitchFamily="18" charset="0"/>
            </a:endParaRPr>
          </a:p>
          <a:p>
            <a:pPr>
              <a:lnSpc>
                <a:spcPct val="107000"/>
              </a:lnSpc>
              <a:spcAft>
                <a:spcPts val="800"/>
              </a:spcAft>
            </a:pPr>
            <a:r>
              <a:rPr lang="en-IN" sz="2800" dirty="0">
                <a:effectLst/>
                <a:latin typeface="Times New Roman" panose="02020603050405020304" pitchFamily="18" charset="0"/>
                <a:ea typeface="Calibri" panose="020F0502020204030204" pitchFamily="34" charset="0"/>
                <a:cs typeface="Times New Roman" panose="02020603050405020304" pitchFamily="18" charset="0"/>
              </a:rPr>
              <a:t>FD1: </a:t>
            </a:r>
            <a:r>
              <a:rPr lang="en-IN" sz="2800" dirty="0" err="1">
                <a:effectLst/>
                <a:latin typeface="Times New Roman" panose="02020603050405020304" pitchFamily="18" charset="0"/>
                <a:ea typeface="Calibri" panose="020F0502020204030204" pitchFamily="34" charset="0"/>
                <a:cs typeface="Times New Roman" panose="02020603050405020304" pitchFamily="18" charset="0"/>
              </a:rPr>
              <a:t>Property_ID</a:t>
            </a:r>
            <a:r>
              <a:rPr lang="en-IN" sz="2800" dirty="0">
                <a:effectLst/>
                <a:latin typeface="Times New Roman" panose="02020603050405020304" pitchFamily="18" charset="0"/>
                <a:ea typeface="Calibri" panose="020F0502020204030204" pitchFamily="34" charset="0"/>
                <a:cs typeface="Times New Roman" panose="02020603050405020304" pitchFamily="18" charset="0"/>
              </a:rPr>
              <a:t> </a:t>
            </a:r>
            <a:r>
              <a:rPr lang="en-IN" sz="2800" dirty="0">
                <a:effectLst/>
                <a:latin typeface="Times New Roman" panose="02020603050405020304" pitchFamily="18" charset="0"/>
                <a:ea typeface="Calibri" panose="020F0502020204030204" pitchFamily="34" charset="0"/>
                <a:cs typeface="Times New Roman" panose="02020603050405020304" pitchFamily="18" charset="0"/>
                <a:sym typeface="Wingdings" panose="05000000000000000000" pitchFamily="2" charset="2"/>
              </a:rPr>
              <a:t></a:t>
            </a:r>
            <a:r>
              <a:rPr lang="en-IN" sz="2800" dirty="0">
                <a:effectLst/>
                <a:latin typeface="Times New Roman" panose="02020603050405020304" pitchFamily="18" charset="0"/>
                <a:ea typeface="Calibri" panose="020F0502020204030204" pitchFamily="34" charset="0"/>
                <a:cs typeface="Times New Roman" panose="02020603050405020304" pitchFamily="18" charset="0"/>
              </a:rPr>
              <a:t> {City, </a:t>
            </a:r>
            <a:r>
              <a:rPr lang="en-IN" sz="2800" dirty="0" err="1">
                <a:effectLst/>
                <a:latin typeface="Times New Roman" panose="02020603050405020304" pitchFamily="18" charset="0"/>
                <a:ea typeface="Calibri" panose="020F0502020204030204" pitchFamily="34" charset="0"/>
                <a:cs typeface="Times New Roman" panose="02020603050405020304" pitchFamily="18" charset="0"/>
              </a:rPr>
              <a:t>Plot_No</a:t>
            </a:r>
            <a:r>
              <a:rPr lang="en-IN" sz="2800" dirty="0">
                <a:effectLst/>
                <a:latin typeface="Times New Roman" panose="02020603050405020304" pitchFamily="18" charset="0"/>
                <a:ea typeface="Calibri" panose="020F0502020204030204" pitchFamily="34" charset="0"/>
                <a:cs typeface="Times New Roman" panose="02020603050405020304" pitchFamily="18" charset="0"/>
              </a:rPr>
              <a:t>, Area, Price}</a:t>
            </a:r>
            <a:endParaRPr lang="en-IN" sz="2800" dirty="0">
              <a:effectLst/>
              <a:latin typeface="Calibri" panose="020F0502020204030204" pitchFamily="34" charset="0"/>
              <a:ea typeface="Calibri" panose="020F0502020204030204" pitchFamily="34" charset="0"/>
              <a:cs typeface="Times New Roman" panose="02020603050405020304" pitchFamily="18" charset="0"/>
            </a:endParaRPr>
          </a:p>
          <a:p>
            <a:pPr>
              <a:lnSpc>
                <a:spcPct val="107000"/>
              </a:lnSpc>
              <a:spcAft>
                <a:spcPts val="800"/>
              </a:spcAft>
            </a:pPr>
            <a:r>
              <a:rPr lang="en-IN" sz="2800" dirty="0">
                <a:effectLst/>
                <a:latin typeface="Times New Roman" panose="02020603050405020304" pitchFamily="18" charset="0"/>
                <a:ea typeface="Calibri" panose="020F0502020204030204" pitchFamily="34" charset="0"/>
                <a:cs typeface="Times New Roman" panose="02020603050405020304" pitchFamily="18" charset="0"/>
              </a:rPr>
              <a:t>FD2: {City, </a:t>
            </a:r>
            <a:r>
              <a:rPr lang="en-IN" sz="2800" dirty="0" err="1">
                <a:effectLst/>
                <a:latin typeface="Times New Roman" panose="02020603050405020304" pitchFamily="18" charset="0"/>
                <a:ea typeface="Calibri" panose="020F0502020204030204" pitchFamily="34" charset="0"/>
                <a:cs typeface="Times New Roman" panose="02020603050405020304" pitchFamily="18" charset="0"/>
              </a:rPr>
              <a:t>Plot_No</a:t>
            </a:r>
            <a:r>
              <a:rPr lang="en-IN" sz="2800" dirty="0">
                <a:effectLst/>
                <a:latin typeface="Times New Roman" panose="02020603050405020304" pitchFamily="18" charset="0"/>
                <a:ea typeface="Calibri" panose="020F0502020204030204" pitchFamily="34" charset="0"/>
                <a:cs typeface="Times New Roman" panose="02020603050405020304" pitchFamily="18" charset="0"/>
              </a:rPr>
              <a:t>} </a:t>
            </a:r>
            <a:r>
              <a:rPr lang="en-IN" sz="2800" dirty="0">
                <a:effectLst/>
                <a:latin typeface="Times New Roman" panose="02020603050405020304" pitchFamily="18" charset="0"/>
                <a:ea typeface="Calibri" panose="020F0502020204030204" pitchFamily="34" charset="0"/>
                <a:cs typeface="Times New Roman" panose="02020603050405020304" pitchFamily="18" charset="0"/>
                <a:sym typeface="Wingdings" panose="05000000000000000000" pitchFamily="2" charset="2"/>
              </a:rPr>
              <a:t></a:t>
            </a:r>
            <a:r>
              <a:rPr lang="en-IN" sz="2800" dirty="0">
                <a:effectLst/>
                <a:latin typeface="Times New Roman" panose="02020603050405020304" pitchFamily="18" charset="0"/>
                <a:ea typeface="Calibri" panose="020F0502020204030204" pitchFamily="34" charset="0"/>
                <a:cs typeface="Times New Roman" panose="02020603050405020304" pitchFamily="18" charset="0"/>
              </a:rPr>
              <a:t> {</a:t>
            </a:r>
            <a:r>
              <a:rPr lang="en-IN" sz="2800" dirty="0" err="1">
                <a:effectLst/>
                <a:latin typeface="Times New Roman" panose="02020603050405020304" pitchFamily="18" charset="0"/>
                <a:ea typeface="Calibri" panose="020F0502020204030204" pitchFamily="34" charset="0"/>
                <a:cs typeface="Times New Roman" panose="02020603050405020304" pitchFamily="18" charset="0"/>
              </a:rPr>
              <a:t>Property_ID</a:t>
            </a:r>
            <a:r>
              <a:rPr lang="en-IN" sz="2800" dirty="0">
                <a:effectLst/>
                <a:latin typeface="Times New Roman" panose="02020603050405020304" pitchFamily="18" charset="0"/>
                <a:ea typeface="Calibri" panose="020F0502020204030204" pitchFamily="34" charset="0"/>
                <a:cs typeface="Times New Roman" panose="02020603050405020304" pitchFamily="18" charset="0"/>
              </a:rPr>
              <a:t>, Area, Price}</a:t>
            </a:r>
            <a:endParaRPr lang="en-IN" sz="2800" dirty="0">
              <a:effectLst/>
              <a:latin typeface="Calibri" panose="020F0502020204030204" pitchFamily="34" charset="0"/>
              <a:ea typeface="Calibri" panose="020F0502020204030204" pitchFamily="34" charset="0"/>
              <a:cs typeface="Times New Roman" panose="02020603050405020304" pitchFamily="18" charset="0"/>
            </a:endParaRPr>
          </a:p>
          <a:p>
            <a:pPr>
              <a:lnSpc>
                <a:spcPct val="107000"/>
              </a:lnSpc>
              <a:spcAft>
                <a:spcPts val="800"/>
              </a:spcAft>
            </a:pPr>
            <a:r>
              <a:rPr lang="en-IN" sz="2800" dirty="0">
                <a:effectLst/>
                <a:latin typeface="Times New Roman" panose="02020603050405020304" pitchFamily="18" charset="0"/>
                <a:ea typeface="Calibri" panose="020F0502020204030204" pitchFamily="34" charset="0"/>
                <a:cs typeface="Times New Roman" panose="02020603050405020304" pitchFamily="18" charset="0"/>
              </a:rPr>
              <a:t>FD3: Area </a:t>
            </a:r>
            <a:r>
              <a:rPr lang="en-IN" sz="2800" dirty="0">
                <a:effectLst/>
                <a:latin typeface="Times New Roman" panose="02020603050405020304" pitchFamily="18" charset="0"/>
                <a:ea typeface="Calibri" panose="020F0502020204030204" pitchFamily="34" charset="0"/>
                <a:cs typeface="Times New Roman" panose="02020603050405020304" pitchFamily="18" charset="0"/>
                <a:sym typeface="Wingdings" panose="05000000000000000000" pitchFamily="2" charset="2"/>
              </a:rPr>
              <a:t></a:t>
            </a:r>
            <a:r>
              <a:rPr lang="en-IN" sz="2800" dirty="0">
                <a:effectLst/>
                <a:latin typeface="Times New Roman" panose="02020603050405020304" pitchFamily="18" charset="0"/>
                <a:ea typeface="Calibri" panose="020F0502020204030204" pitchFamily="34" charset="0"/>
                <a:cs typeface="Times New Roman" panose="02020603050405020304" pitchFamily="18" charset="0"/>
              </a:rPr>
              <a:t> Price</a:t>
            </a:r>
            <a:endParaRPr lang="en-IN" sz="2800" dirty="0">
              <a:effectLst/>
              <a:latin typeface="Calibri" panose="020F0502020204030204" pitchFamily="34" charset="0"/>
              <a:ea typeface="Calibri" panose="020F0502020204030204" pitchFamily="34" charset="0"/>
              <a:cs typeface="Times New Roman" panose="02020603050405020304" pitchFamily="18" charset="0"/>
            </a:endParaRPr>
          </a:p>
          <a:p>
            <a:pPr>
              <a:lnSpc>
                <a:spcPct val="107000"/>
              </a:lnSpc>
              <a:spcAft>
                <a:spcPts val="800"/>
              </a:spcAft>
            </a:pPr>
            <a:r>
              <a:rPr lang="en-IN" sz="2800" dirty="0">
                <a:effectLst/>
                <a:latin typeface="Times New Roman" panose="02020603050405020304" pitchFamily="18" charset="0"/>
                <a:ea typeface="Calibri" panose="020F0502020204030204" pitchFamily="34" charset="0"/>
                <a:cs typeface="Times New Roman" panose="02020603050405020304" pitchFamily="18" charset="0"/>
              </a:rPr>
              <a:t>FD4: Area </a:t>
            </a:r>
            <a:r>
              <a:rPr lang="en-IN" sz="2800" dirty="0">
                <a:effectLst/>
                <a:latin typeface="Times New Roman" panose="02020603050405020304" pitchFamily="18" charset="0"/>
                <a:ea typeface="Calibri" panose="020F0502020204030204" pitchFamily="34" charset="0"/>
                <a:cs typeface="Times New Roman" panose="02020603050405020304" pitchFamily="18" charset="0"/>
                <a:sym typeface="Wingdings" panose="05000000000000000000" pitchFamily="2" charset="2"/>
              </a:rPr>
              <a:t></a:t>
            </a:r>
            <a:r>
              <a:rPr lang="en-IN" sz="2800" dirty="0">
                <a:effectLst/>
                <a:latin typeface="Times New Roman" panose="02020603050405020304" pitchFamily="18" charset="0"/>
                <a:ea typeface="Calibri" panose="020F0502020204030204" pitchFamily="34" charset="0"/>
                <a:cs typeface="Times New Roman" panose="02020603050405020304" pitchFamily="18" charset="0"/>
              </a:rPr>
              <a:t> City (Consider this special condition, FD just for BCNF)</a:t>
            </a:r>
            <a:endParaRPr lang="en-IN" sz="2800" dirty="0">
              <a:effectLst/>
              <a:latin typeface="Calibri" panose="020F0502020204030204" pitchFamily="34" charset="0"/>
              <a:ea typeface="Calibri" panose="020F0502020204030204" pitchFamily="34" charset="0"/>
              <a:cs typeface="Times New Roman" panose="02020603050405020304" pitchFamily="18" charset="0"/>
            </a:endParaRPr>
          </a:p>
        </p:txBody>
      </p:sp>
    </p:spTree>
    <p:extLst>
      <p:ext uri="{BB962C8B-B14F-4D97-AF65-F5344CB8AC3E}">
        <p14:creationId xmlns:p14="http://schemas.microsoft.com/office/powerpoint/2010/main" val="1343961280"/>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B76C2E1-702E-4D4A-98C9-F58E3E2A232E}"/>
              </a:ext>
            </a:extLst>
          </p:cNvPr>
          <p:cNvSpPr>
            <a:spLocks noGrp="1"/>
          </p:cNvSpPr>
          <p:nvPr>
            <p:ph type="title"/>
          </p:nvPr>
        </p:nvSpPr>
        <p:spPr/>
        <p:txBody>
          <a:bodyPr/>
          <a:lstStyle/>
          <a:p>
            <a:r>
              <a:rPr lang="en-IN" dirty="0"/>
              <a:t>Multivalued Dependency</a:t>
            </a:r>
          </a:p>
        </p:txBody>
      </p:sp>
      <p:sp>
        <p:nvSpPr>
          <p:cNvPr id="3" name="Content Placeholder 2">
            <a:extLst>
              <a:ext uri="{FF2B5EF4-FFF2-40B4-BE49-F238E27FC236}">
                <a16:creationId xmlns:a16="http://schemas.microsoft.com/office/drawing/2014/main" id="{784790CC-DB00-48CC-96F6-DD6D99CDB6F2}"/>
              </a:ext>
            </a:extLst>
          </p:cNvPr>
          <p:cNvSpPr>
            <a:spLocks noGrp="1"/>
          </p:cNvSpPr>
          <p:nvPr>
            <p:ph idx="1"/>
          </p:nvPr>
        </p:nvSpPr>
        <p:spPr/>
        <p:txBody>
          <a:bodyPr/>
          <a:lstStyle/>
          <a:p>
            <a:pPr algn="just"/>
            <a:r>
              <a:rPr lang="en-IN" dirty="0"/>
              <a:t>Multivalued dependency occurs when two attributes in a table are independent of each other but, both depend on a third attribute.</a:t>
            </a:r>
          </a:p>
          <a:p>
            <a:pPr algn="just"/>
            <a:r>
              <a:rPr lang="en-IN" dirty="0"/>
              <a:t>A multivalued dependency consists of at least two attributes that are dependent on a third attribute that's why it always requires at least three attributes.</a:t>
            </a:r>
          </a:p>
          <a:p>
            <a:pPr algn="just"/>
            <a:endParaRPr lang="en-IN" dirty="0"/>
          </a:p>
        </p:txBody>
      </p:sp>
    </p:spTree>
    <p:extLst>
      <p:ext uri="{BB962C8B-B14F-4D97-AF65-F5344CB8AC3E}">
        <p14:creationId xmlns:p14="http://schemas.microsoft.com/office/powerpoint/2010/main" val="847522546"/>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768CA847-0A9C-46C2-BEAC-46E8BF64D780}"/>
              </a:ext>
            </a:extLst>
          </p:cNvPr>
          <p:cNvPicPr>
            <a:picLocks noChangeAspect="1"/>
          </p:cNvPicPr>
          <p:nvPr/>
        </p:nvPicPr>
        <p:blipFill>
          <a:blip r:embed="rId2"/>
          <a:stretch>
            <a:fillRect/>
          </a:stretch>
        </p:blipFill>
        <p:spPr>
          <a:xfrm>
            <a:off x="1760587" y="211015"/>
            <a:ext cx="8670826" cy="4562397"/>
          </a:xfrm>
          <a:prstGeom prst="rect">
            <a:avLst/>
          </a:prstGeom>
        </p:spPr>
      </p:pic>
      <p:sp>
        <p:nvSpPr>
          <p:cNvPr id="7" name="TextBox 6">
            <a:extLst>
              <a:ext uri="{FF2B5EF4-FFF2-40B4-BE49-F238E27FC236}">
                <a16:creationId xmlns:a16="http://schemas.microsoft.com/office/drawing/2014/main" id="{EE379AD0-7510-4AB3-B204-DE00AD5D5BA3}"/>
              </a:ext>
            </a:extLst>
          </p:cNvPr>
          <p:cNvSpPr txBox="1"/>
          <p:nvPr/>
        </p:nvSpPr>
        <p:spPr>
          <a:xfrm>
            <a:off x="436099" y="4857815"/>
            <a:ext cx="11577710" cy="1938992"/>
          </a:xfrm>
          <a:prstGeom prst="rect">
            <a:avLst/>
          </a:prstGeom>
          <a:noFill/>
        </p:spPr>
        <p:txBody>
          <a:bodyPr wrap="square">
            <a:spAutoFit/>
          </a:bodyPr>
          <a:lstStyle/>
          <a:p>
            <a:pPr algn="just"/>
            <a:r>
              <a:rPr lang="en-IN" sz="2000" b="0" i="0" dirty="0">
                <a:solidFill>
                  <a:srgbClr val="333333"/>
                </a:solidFill>
                <a:effectLst/>
                <a:latin typeface="inter-regular"/>
              </a:rPr>
              <a:t>Here columns COLOR and MANUF_YEAR are dependent on BIKE_MODEL and independent of each other.</a:t>
            </a:r>
          </a:p>
          <a:p>
            <a:pPr algn="just"/>
            <a:r>
              <a:rPr lang="en-IN" sz="2000" b="0" i="0" dirty="0">
                <a:solidFill>
                  <a:srgbClr val="333333"/>
                </a:solidFill>
                <a:effectLst/>
                <a:latin typeface="inter-regular"/>
              </a:rPr>
              <a:t>In this case, these two columns can be called as multivalued dependent on BIKE_MODEL. The representation of these dependencies is shown below:</a:t>
            </a:r>
          </a:p>
          <a:p>
            <a:pPr algn="just"/>
            <a:endParaRPr lang="en-IN" sz="2000" b="0" i="0" dirty="0">
              <a:solidFill>
                <a:srgbClr val="333333"/>
              </a:solidFill>
              <a:effectLst/>
              <a:latin typeface="inter-regular"/>
            </a:endParaRPr>
          </a:p>
          <a:p>
            <a:pPr algn="just">
              <a:buFont typeface="+mj-lt"/>
              <a:buAutoNum type="arabicPeriod"/>
            </a:pPr>
            <a:r>
              <a:rPr lang="en-IN" sz="2000" b="0" i="0" dirty="0">
                <a:solidFill>
                  <a:srgbClr val="000000"/>
                </a:solidFill>
                <a:effectLst/>
                <a:latin typeface="inter-regular"/>
              </a:rPr>
              <a:t>BIKE_MODEL   →  →  MANUF_YEAR  </a:t>
            </a:r>
          </a:p>
          <a:p>
            <a:pPr algn="just">
              <a:buFont typeface="+mj-lt"/>
              <a:buAutoNum type="arabicPeriod"/>
            </a:pPr>
            <a:r>
              <a:rPr lang="en-IN" sz="2000" b="0" i="0" dirty="0">
                <a:solidFill>
                  <a:srgbClr val="000000"/>
                </a:solidFill>
                <a:effectLst/>
                <a:latin typeface="inter-regular"/>
              </a:rPr>
              <a:t>BIKE_MODEL   →  →  COLOR  </a:t>
            </a:r>
          </a:p>
        </p:txBody>
      </p:sp>
    </p:spTree>
    <p:extLst>
      <p:ext uri="{BB962C8B-B14F-4D97-AF65-F5344CB8AC3E}">
        <p14:creationId xmlns:p14="http://schemas.microsoft.com/office/powerpoint/2010/main" val="3612527730"/>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E7AA877-F119-4EE5-9CED-2849C561C919}"/>
              </a:ext>
            </a:extLst>
          </p:cNvPr>
          <p:cNvSpPr>
            <a:spLocks noGrp="1"/>
          </p:cNvSpPr>
          <p:nvPr>
            <p:ph type="title"/>
          </p:nvPr>
        </p:nvSpPr>
        <p:spPr/>
        <p:txBody>
          <a:bodyPr/>
          <a:lstStyle/>
          <a:p>
            <a:r>
              <a:rPr lang="en-IN" dirty="0"/>
              <a:t>4NF</a:t>
            </a:r>
          </a:p>
        </p:txBody>
      </p:sp>
      <p:sp>
        <p:nvSpPr>
          <p:cNvPr id="3" name="Content Placeholder 2">
            <a:extLst>
              <a:ext uri="{FF2B5EF4-FFF2-40B4-BE49-F238E27FC236}">
                <a16:creationId xmlns:a16="http://schemas.microsoft.com/office/drawing/2014/main" id="{65704699-F836-4F17-9832-43E47C2B568C}"/>
              </a:ext>
            </a:extLst>
          </p:cNvPr>
          <p:cNvSpPr>
            <a:spLocks noGrp="1"/>
          </p:cNvSpPr>
          <p:nvPr>
            <p:ph idx="1"/>
          </p:nvPr>
        </p:nvSpPr>
        <p:spPr>
          <a:xfrm>
            <a:off x="838200" y="1375459"/>
            <a:ext cx="10515600" cy="1831975"/>
          </a:xfrm>
        </p:spPr>
        <p:txBody>
          <a:bodyPr/>
          <a:lstStyle/>
          <a:p>
            <a:r>
              <a:rPr lang="en-IN" dirty="0"/>
              <a:t>Any relation is said to be in the fourth normal form when it satisfies the following conditions:</a:t>
            </a:r>
          </a:p>
          <a:p>
            <a:pPr lvl="1"/>
            <a:r>
              <a:rPr lang="en-IN" dirty="0"/>
              <a:t>It must be in Boyce Codd Normal Form (BCNF).</a:t>
            </a:r>
          </a:p>
          <a:p>
            <a:pPr lvl="1"/>
            <a:r>
              <a:rPr lang="en-IN" dirty="0"/>
              <a:t>It should have no multi-valued dependency.</a:t>
            </a:r>
          </a:p>
          <a:p>
            <a:pPr lvl="1"/>
            <a:endParaRPr lang="en-IN" dirty="0"/>
          </a:p>
        </p:txBody>
      </p:sp>
      <p:pic>
        <p:nvPicPr>
          <p:cNvPr id="5" name="Picture 4">
            <a:extLst>
              <a:ext uri="{FF2B5EF4-FFF2-40B4-BE49-F238E27FC236}">
                <a16:creationId xmlns:a16="http://schemas.microsoft.com/office/drawing/2014/main" id="{E3139A3F-777D-4CF5-9415-582B88BC205D}"/>
              </a:ext>
            </a:extLst>
          </p:cNvPr>
          <p:cNvPicPr>
            <a:picLocks noChangeAspect="1"/>
          </p:cNvPicPr>
          <p:nvPr/>
        </p:nvPicPr>
        <p:blipFill>
          <a:blip r:embed="rId2"/>
          <a:stretch>
            <a:fillRect/>
          </a:stretch>
        </p:blipFill>
        <p:spPr>
          <a:xfrm>
            <a:off x="838200" y="3197539"/>
            <a:ext cx="8263597" cy="3613277"/>
          </a:xfrm>
          <a:prstGeom prst="rect">
            <a:avLst/>
          </a:prstGeom>
        </p:spPr>
      </p:pic>
    </p:spTree>
    <p:extLst>
      <p:ext uri="{BB962C8B-B14F-4D97-AF65-F5344CB8AC3E}">
        <p14:creationId xmlns:p14="http://schemas.microsoft.com/office/powerpoint/2010/main" val="2515359651"/>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40C1399-12E3-422D-9B03-2AE008B6EC1F}"/>
              </a:ext>
            </a:extLst>
          </p:cNvPr>
          <p:cNvSpPr>
            <a:spLocks noGrp="1"/>
          </p:cNvSpPr>
          <p:nvPr>
            <p:ph type="title"/>
          </p:nvPr>
        </p:nvSpPr>
        <p:spPr/>
        <p:txBody>
          <a:bodyPr/>
          <a:lstStyle/>
          <a:p>
            <a:r>
              <a:rPr lang="en-IN" dirty="0"/>
              <a:t>Join Dependency</a:t>
            </a:r>
          </a:p>
        </p:txBody>
      </p:sp>
      <p:sp>
        <p:nvSpPr>
          <p:cNvPr id="3" name="Content Placeholder 2">
            <a:extLst>
              <a:ext uri="{FF2B5EF4-FFF2-40B4-BE49-F238E27FC236}">
                <a16:creationId xmlns:a16="http://schemas.microsoft.com/office/drawing/2014/main" id="{A91788EE-A146-42C5-9C85-4941DBAAF61E}"/>
              </a:ext>
            </a:extLst>
          </p:cNvPr>
          <p:cNvSpPr>
            <a:spLocks noGrp="1"/>
          </p:cNvSpPr>
          <p:nvPr>
            <p:ph idx="1"/>
          </p:nvPr>
        </p:nvSpPr>
        <p:spPr>
          <a:xfrm>
            <a:off x="838200" y="1825625"/>
            <a:ext cx="10515600" cy="4667250"/>
          </a:xfrm>
        </p:spPr>
        <p:txBody>
          <a:bodyPr>
            <a:normAutofit/>
          </a:bodyPr>
          <a:lstStyle/>
          <a:p>
            <a:r>
              <a:rPr lang="en-IN" dirty="0"/>
              <a:t>Join decomposition is a further generalization of Multivalued dependencies. If the join of R1 and R2 over C is equal to relation R then we can say that a join dependency (JD) exists, where R1 and R2 are the decomposition R1(A, B, C) and R2(C, D) of a given relations R (A, B, C, D). </a:t>
            </a:r>
          </a:p>
          <a:p>
            <a:r>
              <a:rPr lang="en-IN" dirty="0"/>
              <a:t>Alternatively, R1 and R2 are a lossless decomposition of R. A JD ⋈ {R1, R2, …, Rn} is said to hold over a relation R if R1, R2, ….., Rn is a lossless-join decomposition. </a:t>
            </a:r>
          </a:p>
          <a:p>
            <a:r>
              <a:rPr lang="en-IN" dirty="0"/>
              <a:t>The *(A, B, C, D), (C, D) will be a JD of R if the join of join’s attribute is equal to the relation R. </a:t>
            </a:r>
          </a:p>
          <a:p>
            <a:r>
              <a:rPr lang="en-IN" dirty="0"/>
              <a:t>Here, *(R1, R2, R3) is used to indicate that relation R1, R2, R3 and so on are a JD of R.</a:t>
            </a:r>
          </a:p>
        </p:txBody>
      </p:sp>
    </p:spTree>
    <p:extLst>
      <p:ext uri="{BB962C8B-B14F-4D97-AF65-F5344CB8AC3E}">
        <p14:creationId xmlns:p14="http://schemas.microsoft.com/office/powerpoint/2010/main" val="2170562869"/>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F62F9E5-6909-41D6-AEF1-E56EEB93F185}"/>
              </a:ext>
            </a:extLst>
          </p:cNvPr>
          <p:cNvSpPr>
            <a:spLocks noGrp="1"/>
          </p:cNvSpPr>
          <p:nvPr>
            <p:ph type="title"/>
          </p:nvPr>
        </p:nvSpPr>
        <p:spPr>
          <a:xfrm>
            <a:off x="838200" y="325370"/>
            <a:ext cx="10515600" cy="642040"/>
          </a:xfrm>
        </p:spPr>
        <p:txBody>
          <a:bodyPr>
            <a:normAutofit/>
          </a:bodyPr>
          <a:lstStyle/>
          <a:p>
            <a:r>
              <a:rPr lang="en-IN" dirty="0"/>
              <a:t>5NF</a:t>
            </a:r>
          </a:p>
        </p:txBody>
      </p:sp>
      <p:sp>
        <p:nvSpPr>
          <p:cNvPr id="3" name="Content Placeholder 2">
            <a:extLst>
              <a:ext uri="{FF2B5EF4-FFF2-40B4-BE49-F238E27FC236}">
                <a16:creationId xmlns:a16="http://schemas.microsoft.com/office/drawing/2014/main" id="{729C5AFA-9AB4-4E42-BEFB-75D29468AB3D}"/>
              </a:ext>
            </a:extLst>
          </p:cNvPr>
          <p:cNvSpPr>
            <a:spLocks noGrp="1"/>
          </p:cNvSpPr>
          <p:nvPr>
            <p:ph idx="1"/>
          </p:nvPr>
        </p:nvSpPr>
        <p:spPr>
          <a:xfrm>
            <a:off x="838200" y="967411"/>
            <a:ext cx="10515600" cy="1470990"/>
          </a:xfrm>
        </p:spPr>
        <p:txBody>
          <a:bodyPr>
            <a:normAutofit lnSpcReduction="10000"/>
          </a:bodyPr>
          <a:lstStyle/>
          <a:p>
            <a:r>
              <a:rPr lang="en-IN" sz="2200" dirty="0"/>
              <a:t>A relation is in Fifth Normal Form (5NF), if it is in 4NF, and won’t have join dependency.</a:t>
            </a:r>
          </a:p>
          <a:p>
            <a:r>
              <a:rPr lang="en-IN" sz="2200" dirty="0"/>
              <a:t>You can also consider that a relation is in 5NF, if the candidate key implies every join dependency in it.</a:t>
            </a:r>
          </a:p>
        </p:txBody>
      </p:sp>
      <p:pic>
        <p:nvPicPr>
          <p:cNvPr id="5" name="Picture 4">
            <a:extLst>
              <a:ext uri="{FF2B5EF4-FFF2-40B4-BE49-F238E27FC236}">
                <a16:creationId xmlns:a16="http://schemas.microsoft.com/office/drawing/2014/main" id="{DB79F776-9147-45BE-9558-0211DDE1B544}"/>
              </a:ext>
            </a:extLst>
          </p:cNvPr>
          <p:cNvPicPr>
            <a:picLocks noChangeAspect="1"/>
          </p:cNvPicPr>
          <p:nvPr/>
        </p:nvPicPr>
        <p:blipFill>
          <a:blip r:embed="rId2"/>
          <a:stretch>
            <a:fillRect/>
          </a:stretch>
        </p:blipFill>
        <p:spPr>
          <a:xfrm>
            <a:off x="838200" y="3388742"/>
            <a:ext cx="9446224" cy="3356615"/>
          </a:xfrm>
          <a:prstGeom prst="rect">
            <a:avLst/>
          </a:prstGeom>
        </p:spPr>
      </p:pic>
      <p:pic>
        <p:nvPicPr>
          <p:cNvPr id="6" name="Picture 5">
            <a:extLst>
              <a:ext uri="{FF2B5EF4-FFF2-40B4-BE49-F238E27FC236}">
                <a16:creationId xmlns:a16="http://schemas.microsoft.com/office/drawing/2014/main" id="{1F1298CC-4518-866A-12CE-8B918BE0078C}"/>
              </a:ext>
            </a:extLst>
          </p:cNvPr>
          <p:cNvPicPr>
            <a:picLocks noChangeAspect="1"/>
          </p:cNvPicPr>
          <p:nvPr/>
        </p:nvPicPr>
        <p:blipFill>
          <a:blip r:embed="rId3"/>
          <a:stretch>
            <a:fillRect/>
          </a:stretch>
        </p:blipFill>
        <p:spPr>
          <a:xfrm>
            <a:off x="1050235" y="2285664"/>
            <a:ext cx="10515600" cy="1034508"/>
          </a:xfrm>
          <a:prstGeom prst="rect">
            <a:avLst/>
          </a:prstGeom>
        </p:spPr>
      </p:pic>
    </p:spTree>
    <p:extLst>
      <p:ext uri="{BB962C8B-B14F-4D97-AF65-F5344CB8AC3E}">
        <p14:creationId xmlns:p14="http://schemas.microsoft.com/office/powerpoint/2010/main" val="993076060"/>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B08BF29F-6473-4A29-90F0-73D4149637F4}"/>
              </a:ext>
            </a:extLst>
          </p:cNvPr>
          <p:cNvPicPr>
            <a:picLocks noChangeAspect="1"/>
          </p:cNvPicPr>
          <p:nvPr/>
        </p:nvPicPr>
        <p:blipFill>
          <a:blip r:embed="rId2"/>
          <a:stretch>
            <a:fillRect/>
          </a:stretch>
        </p:blipFill>
        <p:spPr>
          <a:xfrm>
            <a:off x="2391509" y="83588"/>
            <a:ext cx="7566504" cy="6718139"/>
          </a:xfrm>
          <a:prstGeom prst="rect">
            <a:avLst/>
          </a:prstGeom>
        </p:spPr>
      </p:pic>
    </p:spTree>
    <p:extLst>
      <p:ext uri="{BB962C8B-B14F-4D97-AF65-F5344CB8AC3E}">
        <p14:creationId xmlns:p14="http://schemas.microsoft.com/office/powerpoint/2010/main" val="1246928412"/>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1941CE19-4066-4EE4-FFF8-5953996DCDEC}"/>
              </a:ext>
            </a:extLst>
          </p:cNvPr>
          <p:cNvPicPr>
            <a:picLocks noChangeAspect="1"/>
          </p:cNvPicPr>
          <p:nvPr/>
        </p:nvPicPr>
        <p:blipFill>
          <a:blip r:embed="rId2"/>
          <a:stretch>
            <a:fillRect/>
          </a:stretch>
        </p:blipFill>
        <p:spPr>
          <a:xfrm>
            <a:off x="256742" y="120549"/>
            <a:ext cx="8745773" cy="3431034"/>
          </a:xfrm>
          <a:prstGeom prst="rect">
            <a:avLst/>
          </a:prstGeom>
        </p:spPr>
      </p:pic>
      <p:pic>
        <p:nvPicPr>
          <p:cNvPr id="6" name="Picture 5">
            <a:extLst>
              <a:ext uri="{FF2B5EF4-FFF2-40B4-BE49-F238E27FC236}">
                <a16:creationId xmlns:a16="http://schemas.microsoft.com/office/drawing/2014/main" id="{8C081619-D23C-2FF5-4F63-97C2EFEF0672}"/>
              </a:ext>
            </a:extLst>
          </p:cNvPr>
          <p:cNvPicPr>
            <a:picLocks noChangeAspect="1"/>
          </p:cNvPicPr>
          <p:nvPr/>
        </p:nvPicPr>
        <p:blipFill>
          <a:blip r:embed="rId3"/>
          <a:stretch>
            <a:fillRect/>
          </a:stretch>
        </p:blipFill>
        <p:spPr>
          <a:xfrm>
            <a:off x="256742" y="3762483"/>
            <a:ext cx="11536004" cy="2625065"/>
          </a:xfrm>
          <a:prstGeom prst="rect">
            <a:avLst/>
          </a:prstGeom>
        </p:spPr>
      </p:pic>
    </p:spTree>
    <p:extLst>
      <p:ext uri="{BB962C8B-B14F-4D97-AF65-F5344CB8AC3E}">
        <p14:creationId xmlns:p14="http://schemas.microsoft.com/office/powerpoint/2010/main" val="1438248068"/>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F3D5956E-BEA0-1A98-334E-44834A75CDA3}"/>
              </a:ext>
            </a:extLst>
          </p:cNvPr>
          <p:cNvPicPr>
            <a:picLocks noChangeAspect="1"/>
          </p:cNvPicPr>
          <p:nvPr/>
        </p:nvPicPr>
        <p:blipFill>
          <a:blip r:embed="rId2"/>
          <a:stretch>
            <a:fillRect/>
          </a:stretch>
        </p:blipFill>
        <p:spPr>
          <a:xfrm>
            <a:off x="1823601" y="97158"/>
            <a:ext cx="8544798" cy="6663684"/>
          </a:xfrm>
          <a:prstGeom prst="rect">
            <a:avLst/>
          </a:prstGeom>
        </p:spPr>
      </p:pic>
    </p:spTree>
    <p:extLst>
      <p:ext uri="{BB962C8B-B14F-4D97-AF65-F5344CB8AC3E}">
        <p14:creationId xmlns:p14="http://schemas.microsoft.com/office/powerpoint/2010/main" val="3750969578"/>
      </p:ext>
    </p:ext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Picture 6">
            <a:extLst>
              <a:ext uri="{FF2B5EF4-FFF2-40B4-BE49-F238E27FC236}">
                <a16:creationId xmlns:a16="http://schemas.microsoft.com/office/drawing/2014/main" id="{201FB3AE-6F3E-799E-22EC-791A5233AB6C}"/>
              </a:ext>
            </a:extLst>
          </p:cNvPr>
          <p:cNvPicPr>
            <a:picLocks noChangeAspect="1"/>
          </p:cNvPicPr>
          <p:nvPr/>
        </p:nvPicPr>
        <p:blipFill>
          <a:blip r:embed="rId2"/>
          <a:stretch>
            <a:fillRect/>
          </a:stretch>
        </p:blipFill>
        <p:spPr>
          <a:xfrm>
            <a:off x="610775" y="669235"/>
            <a:ext cx="10970450" cy="6188765"/>
          </a:xfrm>
          <a:prstGeom prst="rect">
            <a:avLst/>
          </a:prstGeom>
        </p:spPr>
      </p:pic>
      <p:sp>
        <p:nvSpPr>
          <p:cNvPr id="2" name="TextBox 1">
            <a:extLst>
              <a:ext uri="{FF2B5EF4-FFF2-40B4-BE49-F238E27FC236}">
                <a16:creationId xmlns:a16="http://schemas.microsoft.com/office/drawing/2014/main" id="{FBE4C450-4A70-5D09-F8B6-402D752C2C67}"/>
              </a:ext>
            </a:extLst>
          </p:cNvPr>
          <p:cNvSpPr txBox="1"/>
          <p:nvPr/>
        </p:nvSpPr>
        <p:spPr>
          <a:xfrm>
            <a:off x="610775" y="159026"/>
            <a:ext cx="3987729" cy="369332"/>
          </a:xfrm>
          <a:prstGeom prst="rect">
            <a:avLst/>
          </a:prstGeom>
          <a:noFill/>
        </p:spPr>
        <p:txBody>
          <a:bodyPr wrap="square" rtlCol="0">
            <a:spAutoFit/>
          </a:bodyPr>
          <a:lstStyle/>
          <a:p>
            <a:r>
              <a:rPr lang="en-IN" dirty="0"/>
              <a:t>EXAMPLE - 3</a:t>
            </a:r>
          </a:p>
        </p:txBody>
      </p:sp>
    </p:spTree>
    <p:extLst>
      <p:ext uri="{BB962C8B-B14F-4D97-AF65-F5344CB8AC3E}">
        <p14:creationId xmlns:p14="http://schemas.microsoft.com/office/powerpoint/2010/main" val="3660654106"/>
      </p:ext>
    </p:extLst>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100D60D5-2D46-691F-CC10-3D8BC0A1296F}"/>
              </a:ext>
            </a:extLst>
          </p:cNvPr>
          <p:cNvPicPr>
            <a:picLocks noChangeAspect="1"/>
          </p:cNvPicPr>
          <p:nvPr/>
        </p:nvPicPr>
        <p:blipFill>
          <a:blip r:embed="rId2"/>
          <a:stretch>
            <a:fillRect/>
          </a:stretch>
        </p:blipFill>
        <p:spPr>
          <a:xfrm>
            <a:off x="2561096" y="0"/>
            <a:ext cx="7159373" cy="5780045"/>
          </a:xfrm>
          <a:prstGeom prst="rect">
            <a:avLst/>
          </a:prstGeom>
        </p:spPr>
      </p:pic>
      <p:pic>
        <p:nvPicPr>
          <p:cNvPr id="7" name="Picture 6">
            <a:extLst>
              <a:ext uri="{FF2B5EF4-FFF2-40B4-BE49-F238E27FC236}">
                <a16:creationId xmlns:a16="http://schemas.microsoft.com/office/drawing/2014/main" id="{BF2C3BA6-6CF7-D87D-1B83-B28A9DCA2AD6}"/>
              </a:ext>
            </a:extLst>
          </p:cNvPr>
          <p:cNvPicPr>
            <a:picLocks noChangeAspect="1"/>
          </p:cNvPicPr>
          <p:nvPr/>
        </p:nvPicPr>
        <p:blipFill>
          <a:blip r:embed="rId3"/>
          <a:stretch>
            <a:fillRect/>
          </a:stretch>
        </p:blipFill>
        <p:spPr>
          <a:xfrm>
            <a:off x="367862" y="5771998"/>
            <a:ext cx="11545842" cy="1086002"/>
          </a:xfrm>
          <a:prstGeom prst="rect">
            <a:avLst/>
          </a:prstGeom>
        </p:spPr>
      </p:pic>
    </p:spTree>
    <p:extLst>
      <p:ext uri="{BB962C8B-B14F-4D97-AF65-F5344CB8AC3E}">
        <p14:creationId xmlns:p14="http://schemas.microsoft.com/office/powerpoint/2010/main" val="1657935630"/>
      </p:ext>
    </p:extLst>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B7EF2A70-4232-8474-189E-84F0AB06BD9C}"/>
              </a:ext>
            </a:extLst>
          </p:cNvPr>
          <p:cNvPicPr>
            <a:picLocks noChangeAspect="1"/>
          </p:cNvPicPr>
          <p:nvPr/>
        </p:nvPicPr>
        <p:blipFill>
          <a:blip r:embed="rId2"/>
          <a:stretch>
            <a:fillRect/>
          </a:stretch>
        </p:blipFill>
        <p:spPr>
          <a:xfrm>
            <a:off x="1752355" y="70938"/>
            <a:ext cx="8687289" cy="6716124"/>
          </a:xfrm>
          <a:prstGeom prst="rect">
            <a:avLst/>
          </a:prstGeom>
        </p:spPr>
      </p:pic>
    </p:spTree>
    <p:extLst>
      <p:ext uri="{BB962C8B-B14F-4D97-AF65-F5344CB8AC3E}">
        <p14:creationId xmlns:p14="http://schemas.microsoft.com/office/powerpoint/2010/main" val="2170462482"/>
      </p:ext>
    </p:extLst>
  </p:cSld>
  <p:clrMapOvr>
    <a:masterClrMapping/>
  </p:clrMapOvr>
</p:sld>
</file>

<file path=ppt/theme/theme1.xml><?xml version="1.0" encoding="utf-8"?>
<a:theme xmlns:a="http://schemas.openxmlformats.org/drawingml/2006/main" name="Facet">
  <a:themeElements>
    <a:clrScheme name="Facet">
      <a:dk1>
        <a:sysClr val="windowText" lastClr="000000"/>
      </a:dk1>
      <a:lt1>
        <a:sysClr val="window" lastClr="FFFFFF"/>
      </a:lt1>
      <a:dk2>
        <a:srgbClr val="2C3C43"/>
      </a:dk2>
      <a:lt2>
        <a:srgbClr val="EBEBEB"/>
      </a:lt2>
      <a:accent1>
        <a:srgbClr val="5FCBEF"/>
      </a:accent1>
      <a:accent2>
        <a:srgbClr val="2E83C3"/>
      </a:accent2>
      <a:accent3>
        <a:srgbClr val="42D0A2"/>
      </a:accent3>
      <a:accent4>
        <a:srgbClr val="2E946B"/>
      </a:accent4>
      <a:accent5>
        <a:srgbClr val="42B051"/>
      </a:accent5>
      <a:accent6>
        <a:srgbClr val="96D141"/>
      </a:accent6>
      <a:hlink>
        <a:srgbClr val="3FCDE7"/>
      </a:hlink>
      <a:folHlink>
        <a:srgbClr val="A9D3E1"/>
      </a:folHlink>
    </a:clrScheme>
    <a:fontScheme name="Facet">
      <a:majorFont>
        <a:latin typeface="Trebuchet MS" panose="020B0603020202020204"/>
        <a:ea typeface=""/>
        <a:cs typeface=""/>
        <a:font script="Jpan" typeface="メイリオ"/>
        <a:font script="Hang" typeface="맑은 고딕"/>
        <a:font script="Hans" typeface="方正姚体"/>
        <a:font script="Hant" typeface="微軟正黑體"/>
        <a:font script="Arab" typeface="Tahoma"/>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Trebuchet MS" panose="020B0603020202020204"/>
        <a:ea typeface=""/>
        <a:cs typeface=""/>
        <a:font script="Jpan" typeface="メイリオ"/>
        <a:font script="Hang" typeface="HY그래픽M"/>
        <a:font script="Hans" typeface="华文新魏"/>
        <a:font script="Hant" typeface="微軟正黑體"/>
        <a:font script="Arab" typeface="Tahoma"/>
        <a:font script="Hebr" typeface="Gisha"/>
        <a:font script="Thai" typeface="Iris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Facet">
      <a:fillStyleLst>
        <a:solidFill>
          <a:schemeClr val="phClr"/>
        </a:solidFill>
        <a:gradFill rotWithShape="1">
          <a:gsLst>
            <a:gs pos="0">
              <a:schemeClr val="phClr">
                <a:tint val="65000"/>
                <a:lumMod val="110000"/>
              </a:schemeClr>
            </a:gs>
            <a:gs pos="88000">
              <a:schemeClr val="phClr">
                <a:tint val="90000"/>
              </a:schemeClr>
            </a:gs>
          </a:gsLst>
          <a:lin ang="5400000" scaled="0"/>
        </a:gradFill>
        <a:gradFill rotWithShape="1">
          <a:gsLst>
            <a:gs pos="0">
              <a:schemeClr val="phClr">
                <a:tint val="96000"/>
                <a:lumMod val="100000"/>
              </a:schemeClr>
            </a:gs>
            <a:gs pos="78000">
              <a:schemeClr val="phClr">
                <a:shade val="94000"/>
                <a:lumMod val="94000"/>
              </a:schemeClr>
            </a:gs>
          </a:gsLst>
          <a:lin ang="5400000" scaled="0"/>
        </a:gradFill>
      </a:fillStyleLst>
      <a:lnStyleLst>
        <a:ln w="12700" cap="rnd" cmpd="sng" algn="ctr">
          <a:solidFill>
            <a:schemeClr val="phClr"/>
          </a:solidFill>
          <a:prstDash val="solid"/>
        </a:ln>
        <a:ln w="19050" cap="rnd" cmpd="sng" algn="ctr">
          <a:solidFill>
            <a:schemeClr val="phClr"/>
          </a:solidFill>
          <a:prstDash val="solid"/>
        </a:ln>
        <a:ln w="25400" cap="rnd" cmpd="sng" algn="ctr">
          <a:solidFill>
            <a:schemeClr val="phClr"/>
          </a:solidFill>
          <a:prstDash val="solid"/>
        </a:ln>
      </a:lnStyleLst>
      <a:effectStyleLst>
        <a:effectStyle>
          <a:effectLst/>
        </a:effectStyle>
        <a:effectStyle>
          <a:effectLst>
            <a:outerShdw blurRad="38100" dist="25400" dir="5400000" rotWithShape="0">
              <a:srgbClr val="000000">
                <a:alpha val="35000"/>
              </a:srgbClr>
            </a:outerShdw>
          </a:effectLst>
        </a:effectStyle>
        <a:effectStyle>
          <a:effectLst>
            <a:outerShdw blurRad="50800" dist="38100" dir="5400000" rotWithShape="0">
              <a:srgbClr val="000000">
                <a:alpha val="35000"/>
              </a:srgbClr>
            </a:outerShdw>
          </a:effectLst>
          <a:scene3d>
            <a:camera prst="orthographicFront">
              <a:rot lat="0" lon="0" rev="0"/>
            </a:camera>
            <a:lightRig rig="threePt" dir="tl"/>
          </a:scene3d>
          <a:sp3d prstMaterial="plastic">
            <a:bevelT w="0" h="0"/>
          </a:sp3d>
        </a:effectStyle>
      </a:effectStyleLst>
      <a:bgFillStyleLst>
        <a:solidFill>
          <a:schemeClr val="phClr"/>
        </a:solidFill>
        <a:gradFill rotWithShape="1">
          <a:gsLst>
            <a:gs pos="0">
              <a:schemeClr val="phClr">
                <a:tint val="90000"/>
                <a:lumMod val="104000"/>
              </a:schemeClr>
            </a:gs>
            <a:gs pos="94000">
              <a:schemeClr val="phClr">
                <a:shade val="96000"/>
                <a:lumMod val="82000"/>
              </a:schemeClr>
            </a:gs>
          </a:gsLst>
          <a:lin ang="5400000" scaled="0"/>
        </a:gradFill>
        <a:gradFill rotWithShape="1">
          <a:gsLst>
            <a:gs pos="0">
              <a:schemeClr val="phClr">
                <a:tint val="90000"/>
                <a:lumMod val="110000"/>
              </a:schemeClr>
            </a:gs>
            <a:gs pos="100000">
              <a:schemeClr val="phClr">
                <a:shade val="94000"/>
                <a:lumMod val="96000"/>
              </a:schemeClr>
            </a:gs>
          </a:gsLst>
          <a:path path="circle">
            <a:fillToRect l="50000" t="50000" r="100000" b="100000"/>
          </a:path>
        </a:gradFill>
      </a:bgFillStyleLst>
    </a:fmtScheme>
  </a:themeElements>
  <a:objectDefaults/>
  <a:extraClrSchemeLst/>
  <a:extLst>
    <a:ext uri="{05A4C25C-085E-4340-85A3-A5531E510DB2}">
      <thm15:themeFamily xmlns:thm15="http://schemas.microsoft.com/office/thememl/2012/main" name="Facet" id="{C0C680CD-088A-49FC-A102-D699147F32B2}" vid="{0B5AB586-D108-4FC1-8368-649FE654B894}"/>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Facet</Template>
  <TotalTime>998</TotalTime>
  <Words>4551</Words>
  <Application>Microsoft Office PowerPoint</Application>
  <PresentationFormat>Widescreen</PresentationFormat>
  <Paragraphs>564</Paragraphs>
  <Slides>62</Slides>
  <Notes>0</Notes>
  <HiddenSlides>0</HiddenSlides>
  <MMClips>0</MMClips>
  <ScaleCrop>false</ScaleCrop>
  <HeadingPairs>
    <vt:vector size="6" baseType="variant">
      <vt:variant>
        <vt:lpstr>Fonts Used</vt:lpstr>
      </vt:variant>
      <vt:variant>
        <vt:i4>8</vt:i4>
      </vt:variant>
      <vt:variant>
        <vt:lpstr>Theme</vt:lpstr>
      </vt:variant>
      <vt:variant>
        <vt:i4>1</vt:i4>
      </vt:variant>
      <vt:variant>
        <vt:lpstr>Slide Titles</vt:lpstr>
      </vt:variant>
      <vt:variant>
        <vt:i4>62</vt:i4>
      </vt:variant>
    </vt:vector>
  </HeadingPairs>
  <TitlesOfParts>
    <vt:vector size="71" baseType="lpstr">
      <vt:lpstr>Arial</vt:lpstr>
      <vt:lpstr>Cabin</vt:lpstr>
      <vt:lpstr>Calibri</vt:lpstr>
      <vt:lpstr>inter-regular</vt:lpstr>
      <vt:lpstr>Times New Roman</vt:lpstr>
      <vt:lpstr>Trebuchet MS</vt:lpstr>
      <vt:lpstr>Wingdings</vt:lpstr>
      <vt:lpstr>Wingdings 3</vt:lpstr>
      <vt:lpstr>Facet</vt:lpstr>
      <vt:lpstr>PowerPoint Presentation</vt:lpstr>
      <vt:lpstr>Informal Design guidelines for Relational Schema</vt:lpstr>
      <vt:lpstr>Imparting clear semantics to attributes in relations </vt:lpstr>
      <vt:lpstr>Redundant Information in Tuples and Update Anomalies</vt:lpstr>
      <vt:lpstr>NULL values in Tuples</vt:lpstr>
      <vt:lpstr>Codd's Rules</vt:lpstr>
      <vt:lpstr>PowerPoint Presentation</vt:lpstr>
      <vt:lpstr>PowerPoint Presentation</vt:lpstr>
      <vt:lpstr>PowerPoint Presentation</vt:lpstr>
      <vt:lpstr>PowerPoint Presentation</vt:lpstr>
      <vt:lpstr>PowerPoint Presentation</vt:lpstr>
      <vt:lpstr>Functional dependency</vt:lpstr>
      <vt:lpstr>From the table we can conclude some valid functional dependencies:  roll_no → { name, dept_name, dept_building }, Here, roll_no can determine values of fields name, dept_name and dept_building,   roll_no → dept_name , Since, roll_no can determine whole set of {name, dept_name, dept_building}, it can determine its subset dept_name also.  dept_name → dept_building ,  Dept_name can identify the dept_building accurately, since departments with different dept_name will also have a different dept_building  More valid functional dependencies: roll_no → name, {roll_no, name} ⇢ {dept_name, dept_building}, etc.</vt:lpstr>
      <vt:lpstr>Armstrong’s axioms/properties of functional dependencies:</vt:lpstr>
      <vt:lpstr>Types of Functional dependencies</vt:lpstr>
      <vt:lpstr>1. Trivial Functional Dependency</vt:lpstr>
      <vt:lpstr>2. Non-trivial Functional Dependency</vt:lpstr>
      <vt:lpstr>3. Multivalued Functional Dependency</vt:lpstr>
      <vt:lpstr>4. Transitive Functional Dependency</vt:lpstr>
      <vt:lpstr>Transitive FD example</vt:lpstr>
      <vt:lpstr>Normalization</vt:lpstr>
      <vt:lpstr>Definitions of Keys and Attributes Participating in Keys</vt:lpstr>
      <vt:lpstr>Super Key</vt:lpstr>
      <vt:lpstr>Candidate Key</vt:lpstr>
      <vt:lpstr>Primary Key</vt:lpstr>
      <vt:lpstr>Alternate Key</vt:lpstr>
      <vt:lpstr>Foreign Key</vt:lpstr>
      <vt:lpstr>Composite Key</vt:lpstr>
      <vt:lpstr>Summary Table of Keys</vt:lpstr>
      <vt:lpstr>PowerPoint Presentation</vt:lpstr>
      <vt:lpstr>Normalization</vt:lpstr>
      <vt:lpstr>Second Normal Form(2NF):</vt:lpstr>
      <vt:lpstr>Third Normal Form(3NF):</vt:lpstr>
      <vt:lpstr>PowerPoint Presentation</vt:lpstr>
      <vt:lpstr>PowerPoint Presentation</vt:lpstr>
      <vt:lpstr>PowerPoint Presentation</vt:lpstr>
      <vt:lpstr>Example for Normalization</vt:lpstr>
      <vt:lpstr>2 NF Conversion</vt:lpstr>
      <vt:lpstr>3 NF Conversion of relation LOT1</vt:lpstr>
      <vt:lpstr>BCNF – Boyce Codd Normal Form</vt:lpstr>
      <vt:lpstr>BCNF</vt:lpstr>
      <vt:lpstr>BCNF Example</vt:lpstr>
      <vt:lpstr>Conversion into BCNF</vt:lpstr>
      <vt:lpstr>R(StudentID, StudentName, CourseID, CourseName, InstructorID, InstructorName, Dept, Grade)</vt:lpstr>
      <vt:lpstr>Explanation</vt:lpstr>
      <vt:lpstr>Examples for Normalization</vt:lpstr>
      <vt:lpstr>Decomposition</vt:lpstr>
      <vt:lpstr>3NF</vt:lpstr>
      <vt:lpstr>Normalisation Example - 1</vt:lpstr>
      <vt:lpstr>Example - 2</vt:lpstr>
      <vt:lpstr>Example - 3</vt:lpstr>
      <vt:lpstr>Multivalued Dependency</vt:lpstr>
      <vt:lpstr>PowerPoint Presentation</vt:lpstr>
      <vt:lpstr>4NF</vt:lpstr>
      <vt:lpstr>Join Dependency</vt:lpstr>
      <vt:lpstr>5NF</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Chudasama Vishal</dc:creator>
  <cp:lastModifiedBy>Chudasama Vishal</cp:lastModifiedBy>
  <cp:revision>75</cp:revision>
  <dcterms:created xsi:type="dcterms:W3CDTF">2025-11-09T03:36:38Z</dcterms:created>
  <dcterms:modified xsi:type="dcterms:W3CDTF">2025-11-10T05:52:09Z</dcterms:modified>
</cp:coreProperties>
</file>