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1"/>
  </p:notesMasterIdLst>
  <p:sldIdLst>
    <p:sldId id="256" r:id="rId2"/>
    <p:sldId id="257" r:id="rId3"/>
    <p:sldId id="258" r:id="rId4"/>
    <p:sldId id="259" r:id="rId5"/>
    <p:sldId id="286" r:id="rId6"/>
    <p:sldId id="287" r:id="rId7"/>
    <p:sldId id="260" r:id="rId8"/>
    <p:sldId id="261" r:id="rId9"/>
    <p:sldId id="26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269" r:id="rId37"/>
    <p:sldId id="270" r:id="rId38"/>
    <p:sldId id="271" r:id="rId39"/>
    <p:sldId id="27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06.3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9 123,'-1'0,"1"-1,-1 1,0-1,1 1,-1-1,1 0,-1 0,1 1,-1-1,1 0,-1 0,1 1,0-1,-1 0,1 0,0 0,0 0,0 0,0 1,-1-1,1 0,0 0,1 0,-1 0,0 0,0 0,0 1,1-3,0 1,0 1,1-1,-1 0,0 1,1-1,0 0,-1 1,1 0,0-1,0 1,2-1,5-3,1 1,-1 0,1 1,11-3,26-2,1 3,-1 2,74 4,-72 1,1-2,0-3,57-9,-8-2,0 4,0 5,114 8,-46 0,184-3,-309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13.3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0 121,'1'-3,"-1"1,1-1,0 1,0-1,0 1,0-1,0 1,1-1,-1 1,1 0,-1 0,1 0,0 0,0 0,0 0,0 0,0 1,0-1,1 1,-1-1,1 1,-1 0,0 0,1 0,4-1,10-3,-1 0,29-4,-40 9,396-46,126 41,-287 8,221-3,-427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33.9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0.596"/>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1.378"/>
    </inkml:context>
    <inkml:brush xml:id="br0">
      <inkml:brushProperty name="width" value="0.05" units="cm"/>
      <inkml:brushProperty name="height" value="0.05" units="cm"/>
    </inkml:brush>
  </inkml:definitions>
  <inkml:trace contextRef="#ctx0" brushRef="#br0">0 0 24575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09:37:48.239"/>
    </inkml:context>
    <inkml:brush xml:id="br0">
      <inkml:brushProperty name="width" value="0.05" units="cm"/>
      <inkml:brushProperty name="height" value="0.0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21.0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42,'159'-1,"177"-22,-170 9,250 11,-205 5,458-2,-636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09:37:28.3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1,'508'0,"-465"2,-1 2,44 10,55 5,387-15,-272-7,-22 3,-201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7:28.5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1,'744'0,"-711"0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7:50.474"/>
    </inkml:context>
    <inkml:brush xml:id="br0">
      <inkml:brushProperty name="width" value="0.05" units="cm"/>
      <inkml:brushProperty name="height" value="0.05" units="cm"/>
      <inkml:brushProperty name="color" value="#E71224"/>
    </inkml:brush>
  </inkml:definitions>
  <inkml:trace contextRef="#ctx0" brushRef="#br0">1 80 24575,'79'-4'0,"118"-20"0,-135 15 0,35-7 0,-35 5 0,101-5 0,469 18 0,-597 0 45,0 1-1,46 11 1,41 4-1544,-89-16-5327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7:52.402"/>
    </inkml:context>
    <inkml:brush xml:id="br0">
      <inkml:brushProperty name="width" value="0.05" units="cm"/>
      <inkml:brushProperty name="height" value="0.05" units="cm"/>
      <inkml:brushProperty name="color" value="#E71224"/>
    </inkml:brush>
  </inkml:definitions>
  <inkml:trace contextRef="#ctx0" brushRef="#br0">1 81 24575,'241'-21'0,"-7"0"0,-93 24 0,104-5 0,-136-16 0,-72 10 0,50-3 0,238 9 45,-178 4-1455,-112-2-5416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05.692"/>
    </inkml:context>
    <inkml:brush xml:id="br0">
      <inkml:brushProperty name="width" value="0.05" units="cm"/>
      <inkml:brushProperty name="height" value="0.05" units="cm"/>
      <inkml:brushProperty name="color" value="#E71224"/>
    </inkml:brush>
  </inkml:definitions>
  <inkml:trace contextRef="#ctx0" brushRef="#br0">2555 668 24575,'-1'-5'0,"0"0"0,0 0 0,-1 0 0,0 0 0,0 1 0,0-1 0,0 0 0,-1 1 0,0 0 0,-5-8 0,-5-7 0,-5-10 0,-1 1 0,-1 0 0,-1 1 0,-2 2 0,-1 0 0,0 1 0,-54-38 0,67 56 0,0 0 0,-1 1 0,-21-7 0,-26-13 0,-17-15 0,-2 2 0,-121-39 0,170 67 0,-245-73 0,225 71 0,-1 2 0,-1 3 0,-81-3 0,45 10 0,-139 4 0,201-1 0,0 1 0,1 1 0,0 1 0,-41 17 0,-94 50 0,88-39 0,33-16 0,1 2 0,0 1 0,-35 27 0,55-34 0,2-1 0,-1 2 0,2 0 0,0 1 0,1 0 0,1 1 0,0 1 0,-11 22 0,2 4 0,3 0 0,1 1 0,3 1 0,1 0 0,-12 91 0,21-116-170,0 0-1,-1-1 0,-2 1 1,0-2-1,-1 1 0,0-1 1,-24 36-1,18-36-6655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11.195"/>
    </inkml:context>
    <inkml:brush xml:id="br0">
      <inkml:brushProperty name="width" value="0.05" units="cm"/>
      <inkml:brushProperty name="height" value="0.05" units="cm"/>
      <inkml:brushProperty name="color" value="#E71224"/>
    </inkml:brush>
  </inkml:definitions>
  <inkml:trace contextRef="#ctx0" brushRef="#br0">20 108 24575,'13'0'0,"-1"1"0,0 0 0,0 1 0,1 1 0,-1 0 0,0 0 0,-1 1 0,1 0 0,-1 1 0,0 1 0,0 0 0,0 0 0,-1 1 0,0 0 0,0 1 0,-1 0 0,0 1 0,0 0 0,-1 0 0,0 1 0,8 14 0,-8-12 0,0-1 0,0 1 0,1-2 0,18 18 0,-21-24 0,-1 0 0,1-1 0,-1 0 0,1 0 0,0 0 0,0-1 0,0 0 0,1 0 0,-1-1 0,0 0 0,1 0 0,10 0 0,-6-1 0,-1 0 0,1-1 0,-1 0 0,1-1 0,-1 0 0,0-1 0,0 0 0,0-1 0,17-8 0,10-9 0,40-29 0,6-2 0,-58 39 0,-14 8 0,1-1 0,-1-1 0,0 1 0,-1-2 0,1 1 0,11-12 0,-21 11 0,-12 10 0,-15 8 0,-38 26 0,37-20 0,-46 20 0,-12 0 0,-77 28 0,140-57 0,0-2 0,0 0 0,0-1 0,0-2 0,-39 1 0,54-4 0,1 1 0,0-1 0,-1 0 0,1-1 0,0 1 0,0-1 0,0 0 0,0-1 0,1 0 0,-1 0 0,1 0 0,-1 0 0,-5-6 0,3 1 0,0 1 0,0-2 0,1 1 0,0-1 0,0 0 0,-9-19 0,0-7 0,1-1 0,3 0 0,-12-51 0,20 72 0,2-5 0,12 30 0,20 40 0,-25-41 0,10 13-195,2 0 0,0-1 0,2-1 0,0 0 0,1-1 0,40 28 0,-26-20-6631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25.657"/>
    </inkml:context>
    <inkml:brush xml:id="br0">
      <inkml:brushProperty name="width" value="0.05" units="cm"/>
      <inkml:brushProperty name="height" value="0.05" units="cm"/>
      <inkml:brushProperty name="color" value="#E71224"/>
    </inkml:brush>
  </inkml:definitions>
  <inkml:trace contextRef="#ctx0" brushRef="#br0">81 2 24575,'147'-2'0,"163"5"0,-280 1 0,45 11 0,-47-8 0,52 5 0,56-9 0,-791-3 0,423-2 0,1019 2-1365,-753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8:42.4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0,'1809'0,"-1750"3,79 14,44 2,-142-16,54 12,-8-2,-35-8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2-14T10:08:47.6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1 162,'191'1,"221"-4,-336-4,1-3,-2-4,91-28,-61 15,-69 20,0 2,1 2,56 1,-54 2,0-1,66-12,-11 0,1 3,0 5,122 8,-52 0,-89-3,-43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4T10:08:58.416"/>
    </inkml:context>
    <inkml:brush xml:id="br0">
      <inkml:brushProperty name="width" value="0.05" units="cm"/>
      <inkml:brushProperty name="height" value="0.05" units="cm"/>
      <inkml:brushProperty name="color" value="#E71224"/>
    </inkml:brush>
  </inkml:definitions>
  <inkml:trace contextRef="#ctx0" brushRef="#br0">0 78 24575,'6199'0'0,"-6142"-3"0,73-12 0,21-2 0,342 12 0,-290 7 0,-182-4 34,1 0-1,-1-1 0,31-9 1,35-5-1533,-48 13-5327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E5D5B-4CE0-4E6F-84BE-A53E645E58F0}" type="datetimeFigureOut">
              <a:rPr lang="en-IN" smtClean="0"/>
              <a:t>13-12-2025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5DFFD-6521-4702-A42E-0D1B203886E9}" type="slidenum">
              <a:rPr lang="en-IN" smtClean="0"/>
              <a:t>‹#›</a:t>
            </a:fld>
            <a:endParaRPr lang="en-IN" dirty="0"/>
          </a:p>
        </p:txBody>
      </p:sp>
    </p:spTree>
    <p:extLst>
      <p:ext uri="{BB962C8B-B14F-4D97-AF65-F5344CB8AC3E}">
        <p14:creationId xmlns:p14="http://schemas.microsoft.com/office/powerpoint/2010/main" val="8709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12/13/2025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5.emf"/><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emf"/><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emf"/><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customXml" Target="../ink/ink4.xml"/></Relationships>
</file>

<file path=ppt/slides/_rels/slide15.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customXml" Target="../ink/ink8.xml"/><Relationship Id="rId4" Type="http://schemas.openxmlformats.org/officeDocument/2006/relationships/image" Target="../media/image9.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16.emf"/><Relationship Id="rId18" Type="http://schemas.openxmlformats.org/officeDocument/2006/relationships/customXml" Target="../ink/ink17.xml"/><Relationship Id="rId3" Type="http://schemas.openxmlformats.org/officeDocument/2006/relationships/image" Target="../media/image11.emf"/><Relationship Id="rId7" Type="http://schemas.openxmlformats.org/officeDocument/2006/relationships/image" Target="../media/image13.emf"/><Relationship Id="rId12" Type="http://schemas.openxmlformats.org/officeDocument/2006/relationships/customXml" Target="../ink/ink14.xml"/><Relationship Id="rId17" Type="http://schemas.openxmlformats.org/officeDocument/2006/relationships/image" Target="../media/image18.emf"/><Relationship Id="rId2" Type="http://schemas.openxmlformats.org/officeDocument/2006/relationships/customXml" Target="../ink/ink9.xml"/><Relationship Id="rId16"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15.emf"/><Relationship Id="rId5" Type="http://schemas.openxmlformats.org/officeDocument/2006/relationships/image" Target="../media/image12.emf"/><Relationship Id="rId15" Type="http://schemas.openxmlformats.org/officeDocument/2006/relationships/image" Target="../media/image17.emf"/><Relationship Id="rId10" Type="http://schemas.openxmlformats.org/officeDocument/2006/relationships/customXml" Target="../ink/ink13.xml"/><Relationship Id="rId19" Type="http://schemas.openxmlformats.org/officeDocument/2006/relationships/image" Target="../media/image19.emf"/><Relationship Id="rId4" Type="http://schemas.openxmlformats.org/officeDocument/2006/relationships/customXml" Target="../ink/ink10.xml"/><Relationship Id="rId9" Type="http://schemas.openxmlformats.org/officeDocument/2006/relationships/image" Target="../media/image14.emf"/><Relationship Id="rId14" Type="http://schemas.openxmlformats.org/officeDocument/2006/relationships/customXml" Target="../ink/ink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F49590-EE75-9236-6F7F-D55C3155C348}"/>
              </a:ext>
            </a:extLst>
          </p:cNvPr>
          <p:cNvSpPr>
            <a:spLocks noGrp="1"/>
          </p:cNvSpPr>
          <p:nvPr/>
        </p:nvSpPr>
        <p:spPr>
          <a:xfrm>
            <a:off x="1599884" y="391154"/>
            <a:ext cx="1533841" cy="585215"/>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dirty="0">
                <a:solidFill>
                  <a:srgbClr val="C00000"/>
                </a:solidFill>
              </a:rPr>
              <a:t>RDBMS</a:t>
            </a:r>
            <a:endParaRPr lang="en-IN" sz="3200" b="1" dirty="0">
              <a:solidFill>
                <a:srgbClr val="C00000"/>
              </a:solidFill>
            </a:endParaRPr>
          </a:p>
        </p:txBody>
      </p:sp>
      <p:sp>
        <p:nvSpPr>
          <p:cNvPr id="5" name="Subtitle 2">
            <a:extLst>
              <a:ext uri="{FF2B5EF4-FFF2-40B4-BE49-F238E27FC236}">
                <a16:creationId xmlns:a16="http://schemas.microsoft.com/office/drawing/2014/main" id="{9592BC97-ADC0-1CF7-F659-A798E1C38A44}"/>
              </a:ext>
            </a:extLst>
          </p:cNvPr>
          <p:cNvSpPr>
            <a:spLocks noGrp="1"/>
          </p:cNvSpPr>
          <p:nvPr/>
        </p:nvSpPr>
        <p:spPr>
          <a:xfrm>
            <a:off x="3008376" y="503110"/>
            <a:ext cx="1310956" cy="39300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n-US" dirty="0"/>
              <a:t>240110102</a:t>
            </a:r>
            <a:endParaRPr lang="en-IN" dirty="0"/>
          </a:p>
        </p:txBody>
      </p:sp>
      <p:sp>
        <p:nvSpPr>
          <p:cNvPr id="3" name="TextBox 2">
            <a:extLst>
              <a:ext uri="{FF2B5EF4-FFF2-40B4-BE49-F238E27FC236}">
                <a16:creationId xmlns:a16="http://schemas.microsoft.com/office/drawing/2014/main" id="{F31B8DA5-9B6A-091F-AFA9-2608FB9A8EC5}"/>
              </a:ext>
            </a:extLst>
          </p:cNvPr>
          <p:cNvSpPr txBox="1"/>
          <p:nvPr/>
        </p:nvSpPr>
        <p:spPr>
          <a:xfrm>
            <a:off x="2103947" y="3033901"/>
            <a:ext cx="9336340" cy="1508105"/>
          </a:xfrm>
          <a:prstGeom prst="rect">
            <a:avLst/>
          </a:prstGeom>
          <a:noFill/>
        </p:spPr>
        <p:txBody>
          <a:bodyPr wrap="square">
            <a:spAutoFit/>
          </a:bodyPr>
          <a:lstStyle/>
          <a:p>
            <a:r>
              <a:rPr lang="en-IN" sz="2000" b="1" dirty="0"/>
              <a:t>Topics:</a:t>
            </a:r>
            <a:endParaRPr lang="en-IN" b="1" dirty="0"/>
          </a:p>
          <a:p>
            <a:endParaRPr lang="en-IN" dirty="0"/>
          </a:p>
          <a:p>
            <a:r>
              <a:rPr lang="en-US" dirty="0"/>
              <a:t>Transactions and ACID Properties, Transaction States and Types, Schedules and Serializability, Concurrency Control Protocols, Deadlock Management, Recovery and Logging Techniques, Commands: Commit, Rollback, </a:t>
            </a:r>
            <a:r>
              <a:rPr lang="en-US" dirty="0" err="1"/>
              <a:t>SavePoint</a:t>
            </a:r>
            <a:r>
              <a:rPr lang="en-US" dirty="0"/>
              <a:t> </a:t>
            </a:r>
          </a:p>
        </p:txBody>
      </p:sp>
      <p:sp>
        <p:nvSpPr>
          <p:cNvPr id="7" name="TextBox 6">
            <a:extLst>
              <a:ext uri="{FF2B5EF4-FFF2-40B4-BE49-F238E27FC236}">
                <a16:creationId xmlns:a16="http://schemas.microsoft.com/office/drawing/2014/main" id="{2FA5EB79-E362-2DF0-32E5-D7618658BE9C}"/>
              </a:ext>
            </a:extLst>
          </p:cNvPr>
          <p:cNvSpPr txBox="1"/>
          <p:nvPr/>
        </p:nvSpPr>
        <p:spPr>
          <a:xfrm>
            <a:off x="1599884" y="1487953"/>
            <a:ext cx="9336340" cy="1077218"/>
          </a:xfrm>
          <a:prstGeom prst="rect">
            <a:avLst/>
          </a:prstGeom>
          <a:noFill/>
        </p:spPr>
        <p:txBody>
          <a:bodyPr wrap="square">
            <a:spAutoFit/>
          </a:bodyPr>
          <a:lstStyle/>
          <a:p>
            <a:r>
              <a:rPr lang="en-US" sz="3200" b="1" dirty="0">
                <a:solidFill>
                  <a:schemeClr val="accent1"/>
                </a:solidFill>
              </a:rPr>
              <a:t>Unit 5 - Transaction and Concurrency Control (CO5)</a:t>
            </a:r>
            <a:endParaRPr lang="en-IN" sz="3200" b="1" dirty="0">
              <a:solidFill>
                <a:schemeClr val="accent1"/>
              </a:solidFill>
            </a:endParaRPr>
          </a:p>
        </p:txBody>
      </p:sp>
      <p:sp>
        <p:nvSpPr>
          <p:cNvPr id="9" name="TextBox 8">
            <a:extLst>
              <a:ext uri="{FF2B5EF4-FFF2-40B4-BE49-F238E27FC236}">
                <a16:creationId xmlns:a16="http://schemas.microsoft.com/office/drawing/2014/main" id="{EEA2F35F-2B10-477F-18F4-C5BDF6D1D596}"/>
              </a:ext>
            </a:extLst>
          </p:cNvPr>
          <p:cNvSpPr txBox="1"/>
          <p:nvPr/>
        </p:nvSpPr>
        <p:spPr>
          <a:xfrm>
            <a:off x="10819638" y="6303401"/>
            <a:ext cx="1241298" cy="276999"/>
          </a:xfrm>
          <a:prstGeom prst="rect">
            <a:avLst/>
          </a:prstGeom>
          <a:noFill/>
        </p:spPr>
        <p:txBody>
          <a:bodyPr wrap="square">
            <a:spAutoFit/>
          </a:bodyPr>
          <a:lstStyle/>
          <a:p>
            <a:r>
              <a:rPr lang="en-US" sz="1200" i="1" dirty="0"/>
              <a:t>09/11/2025</a:t>
            </a:r>
            <a:endParaRPr lang="en-IN" sz="1200" i="1" dirty="0"/>
          </a:p>
        </p:txBody>
      </p:sp>
    </p:spTree>
    <p:extLst>
      <p:ext uri="{BB962C8B-B14F-4D97-AF65-F5344CB8AC3E}">
        <p14:creationId xmlns:p14="http://schemas.microsoft.com/office/powerpoint/2010/main" val="427242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7445-83C6-474B-B6F6-8BBA559476FE}"/>
              </a:ext>
            </a:extLst>
          </p:cNvPr>
          <p:cNvSpPr>
            <a:spLocks noGrp="1"/>
          </p:cNvSpPr>
          <p:nvPr>
            <p:ph type="title"/>
          </p:nvPr>
        </p:nvSpPr>
        <p:spPr/>
        <p:txBody>
          <a:bodyPr/>
          <a:lstStyle/>
          <a:p>
            <a:r>
              <a:rPr lang="en-IN" dirty="0"/>
              <a:t>Topics to be covered</a:t>
            </a:r>
          </a:p>
        </p:txBody>
      </p:sp>
      <p:sp>
        <p:nvSpPr>
          <p:cNvPr id="3" name="Content Placeholder 2">
            <a:extLst>
              <a:ext uri="{FF2B5EF4-FFF2-40B4-BE49-F238E27FC236}">
                <a16:creationId xmlns:a16="http://schemas.microsoft.com/office/drawing/2014/main" id="{B63399D9-0AA1-41B3-B50F-DFDCBDAD2A6B}"/>
              </a:ext>
            </a:extLst>
          </p:cNvPr>
          <p:cNvSpPr>
            <a:spLocks noGrp="1"/>
          </p:cNvSpPr>
          <p:nvPr>
            <p:ph idx="1"/>
          </p:nvPr>
        </p:nvSpPr>
        <p:spPr/>
        <p:txBody>
          <a:bodyPr/>
          <a:lstStyle/>
          <a:p>
            <a:r>
              <a:rPr lang="en-IN" dirty="0"/>
              <a:t>Introducing Transactions, </a:t>
            </a:r>
          </a:p>
          <a:p>
            <a:r>
              <a:rPr lang="en-IN" dirty="0"/>
              <a:t>Processing a transaction and State of transaction, </a:t>
            </a:r>
          </a:p>
          <a:p>
            <a:r>
              <a:rPr lang="en-IN" dirty="0"/>
              <a:t>ACID property of a transaction</a:t>
            </a:r>
          </a:p>
        </p:txBody>
      </p:sp>
    </p:spTree>
    <p:extLst>
      <p:ext uri="{BB962C8B-B14F-4D97-AF65-F5344CB8AC3E}">
        <p14:creationId xmlns:p14="http://schemas.microsoft.com/office/powerpoint/2010/main" val="386734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22EAD-848D-4A95-9D39-89437C6C4862}"/>
              </a:ext>
            </a:extLst>
          </p:cNvPr>
          <p:cNvSpPr>
            <a:spLocks noGrp="1"/>
          </p:cNvSpPr>
          <p:nvPr>
            <p:ph type="title"/>
          </p:nvPr>
        </p:nvSpPr>
        <p:spPr/>
        <p:txBody>
          <a:bodyPr/>
          <a:lstStyle/>
          <a:p>
            <a:r>
              <a:rPr lang="en-IN" dirty="0"/>
              <a:t>Single-User Versus Multiuser system</a:t>
            </a:r>
          </a:p>
        </p:txBody>
      </p:sp>
      <p:sp>
        <p:nvSpPr>
          <p:cNvPr id="3" name="Content Placeholder 2">
            <a:extLst>
              <a:ext uri="{FF2B5EF4-FFF2-40B4-BE49-F238E27FC236}">
                <a16:creationId xmlns:a16="http://schemas.microsoft.com/office/drawing/2014/main" id="{D87BDF4F-010F-4F5B-94FA-6D980FEE4544}"/>
              </a:ext>
            </a:extLst>
          </p:cNvPr>
          <p:cNvSpPr>
            <a:spLocks noGrp="1"/>
          </p:cNvSpPr>
          <p:nvPr>
            <p:ph idx="1"/>
          </p:nvPr>
        </p:nvSpPr>
        <p:spPr/>
        <p:txBody>
          <a:bodyPr/>
          <a:lstStyle/>
          <a:p>
            <a:r>
              <a:rPr lang="en-IN" dirty="0"/>
              <a:t>Single-User: </a:t>
            </a:r>
          </a:p>
          <a:p>
            <a:pPr lvl="1"/>
            <a:r>
              <a:rPr lang="en-IN"/>
              <a:t>At most </a:t>
            </a:r>
            <a:r>
              <a:rPr lang="en-IN" dirty="0"/>
              <a:t>one user at a time can use the system</a:t>
            </a:r>
          </a:p>
          <a:p>
            <a:pPr lvl="1"/>
            <a:r>
              <a:rPr lang="en-IN" dirty="0"/>
              <a:t>Mostly restricted to personal computer system</a:t>
            </a:r>
          </a:p>
          <a:p>
            <a:r>
              <a:rPr lang="en-IN" dirty="0"/>
              <a:t>Multi-User system:</a:t>
            </a:r>
          </a:p>
          <a:p>
            <a:pPr lvl="1"/>
            <a:r>
              <a:rPr lang="en-IN" dirty="0"/>
              <a:t>Many users can use the system, and access the database concurrently</a:t>
            </a:r>
          </a:p>
          <a:p>
            <a:pPr lvl="1"/>
            <a:r>
              <a:rPr lang="en-IN" dirty="0" err="1"/>
              <a:t>Eg.</a:t>
            </a:r>
            <a:r>
              <a:rPr lang="en-IN" dirty="0"/>
              <a:t> Airline reservation system, banking system, stock market, supper market etc…</a:t>
            </a:r>
          </a:p>
          <a:p>
            <a:pPr lvl="1"/>
            <a:r>
              <a:rPr lang="en-IN" dirty="0"/>
              <a:t>In this system hundred and thousands of users are operating on the database by submitting transactions concurrently to the system. </a:t>
            </a:r>
          </a:p>
        </p:txBody>
      </p:sp>
    </p:spTree>
    <p:extLst>
      <p:ext uri="{BB962C8B-B14F-4D97-AF65-F5344CB8AC3E}">
        <p14:creationId xmlns:p14="http://schemas.microsoft.com/office/powerpoint/2010/main" val="1293455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sp>
        <p:nvSpPr>
          <p:cNvPr id="3" name="Content Placeholder 2">
            <a:extLst>
              <a:ext uri="{FF2B5EF4-FFF2-40B4-BE49-F238E27FC236}">
                <a16:creationId xmlns:a16="http://schemas.microsoft.com/office/drawing/2014/main" id="{EE54A0A1-4725-4629-A501-AA44BF694CB2}"/>
              </a:ext>
            </a:extLst>
          </p:cNvPr>
          <p:cNvSpPr>
            <a:spLocks noGrp="1"/>
          </p:cNvSpPr>
          <p:nvPr>
            <p:ph idx="1"/>
          </p:nvPr>
        </p:nvSpPr>
        <p:spPr>
          <a:xfrm>
            <a:off x="838200" y="1690688"/>
            <a:ext cx="10515600" cy="4935195"/>
          </a:xfrm>
        </p:spPr>
        <p:txBody>
          <a:bodyPr>
            <a:normAutofit/>
          </a:bodyPr>
          <a:lstStyle/>
          <a:p>
            <a:r>
              <a:rPr lang="en-IN" dirty="0"/>
              <a:t>Multiprogramming allows the operating system of the computer to execute multiple programs / processes at the same time</a:t>
            </a:r>
          </a:p>
          <a:p>
            <a:r>
              <a:rPr lang="en-IN" dirty="0"/>
              <a:t>A single CPU can execute only one process at a time</a:t>
            </a:r>
          </a:p>
          <a:p>
            <a:r>
              <a:rPr lang="en-IN" dirty="0"/>
              <a:t>Multiprogramming operating system executes some command from one process, then suspend the process and execute commands from next process…and so on</a:t>
            </a:r>
          </a:p>
          <a:p>
            <a:r>
              <a:rPr lang="en-IN" dirty="0"/>
              <a:t>A process is resumed at the point where it was suspended, whenever it gets turn to use CPU again</a:t>
            </a:r>
          </a:p>
          <a:p>
            <a:r>
              <a:rPr lang="en-IN" dirty="0"/>
              <a:t>If the computer has multiple CPUs, parallel processing of multiple processes is possible</a:t>
            </a:r>
          </a:p>
          <a:p>
            <a:r>
              <a:rPr lang="en-IN" dirty="0"/>
              <a:t>Most of the systems have interleaved concurrency – i.e. primary resource accessed concurrently by interactive users or application programs, which are constantly retrieving information from / and modifying the DB. </a:t>
            </a:r>
          </a:p>
        </p:txBody>
      </p:sp>
    </p:spTree>
    <p:extLst>
      <p:ext uri="{BB962C8B-B14F-4D97-AF65-F5344CB8AC3E}">
        <p14:creationId xmlns:p14="http://schemas.microsoft.com/office/powerpoint/2010/main" val="2002364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pic>
        <p:nvPicPr>
          <p:cNvPr id="5" name="Picture 4"/>
          <p:cNvPicPr>
            <a:picLocks noChangeAspect="1"/>
          </p:cNvPicPr>
          <p:nvPr/>
        </p:nvPicPr>
        <p:blipFill>
          <a:blip r:embed="rId2"/>
          <a:stretch>
            <a:fillRect/>
          </a:stretch>
        </p:blipFill>
        <p:spPr>
          <a:xfrm>
            <a:off x="1227191" y="1811874"/>
            <a:ext cx="9737618" cy="4247404"/>
          </a:xfrm>
          <a:prstGeom prst="rect">
            <a:avLst/>
          </a:prstGeom>
        </p:spPr>
      </p:pic>
    </p:spTree>
    <p:extLst>
      <p:ext uri="{BB962C8B-B14F-4D97-AF65-F5344CB8AC3E}">
        <p14:creationId xmlns:p14="http://schemas.microsoft.com/office/powerpoint/2010/main" val="321859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F3790-5F5B-43DC-8CF3-CE2C7110650F}"/>
              </a:ext>
            </a:extLst>
          </p:cNvPr>
          <p:cNvSpPr>
            <a:spLocks noGrp="1"/>
          </p:cNvSpPr>
          <p:nvPr>
            <p:ph type="title"/>
          </p:nvPr>
        </p:nvSpPr>
        <p:spPr/>
        <p:txBody>
          <a:bodyPr/>
          <a:lstStyle/>
          <a:p>
            <a:r>
              <a:rPr lang="en-IN" dirty="0"/>
              <a:t>Multiprogramming and Parallel Processing</a:t>
            </a:r>
          </a:p>
        </p:txBody>
      </p:sp>
      <p:pic>
        <p:nvPicPr>
          <p:cNvPr id="3" name="Picture 2"/>
          <p:cNvPicPr>
            <a:picLocks noChangeAspect="1"/>
          </p:cNvPicPr>
          <p:nvPr/>
        </p:nvPicPr>
        <p:blipFill>
          <a:blip r:embed="rId2"/>
          <a:stretch>
            <a:fillRect/>
          </a:stretch>
        </p:blipFill>
        <p:spPr>
          <a:xfrm>
            <a:off x="838200" y="1356509"/>
            <a:ext cx="10515600" cy="5247157"/>
          </a:xfrm>
          <a:prstGeom prst="rect">
            <a:avLst/>
          </a:prstGeom>
        </p:spPr>
      </p:pic>
    </p:spTree>
    <p:extLst>
      <p:ext uri="{BB962C8B-B14F-4D97-AF65-F5344CB8AC3E}">
        <p14:creationId xmlns:p14="http://schemas.microsoft.com/office/powerpoint/2010/main" val="2581573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1C219-9453-4190-A0F2-ED4450DD53FE}"/>
              </a:ext>
            </a:extLst>
          </p:cNvPr>
          <p:cNvSpPr>
            <a:spLocks noGrp="1"/>
          </p:cNvSpPr>
          <p:nvPr>
            <p:ph type="title"/>
          </p:nvPr>
        </p:nvSpPr>
        <p:spPr/>
        <p:txBody>
          <a:bodyPr/>
          <a:lstStyle/>
          <a:p>
            <a:r>
              <a:rPr lang="en-IN" dirty="0"/>
              <a:t>Transactions, Database Items, Read and Write Operations and DBMS Buffers</a:t>
            </a:r>
          </a:p>
        </p:txBody>
      </p:sp>
      <p:sp>
        <p:nvSpPr>
          <p:cNvPr id="3" name="Content Placeholder 2">
            <a:extLst>
              <a:ext uri="{FF2B5EF4-FFF2-40B4-BE49-F238E27FC236}">
                <a16:creationId xmlns:a16="http://schemas.microsoft.com/office/drawing/2014/main" id="{8705E70A-9E45-48A2-ACC3-1089419833F1}"/>
              </a:ext>
            </a:extLst>
          </p:cNvPr>
          <p:cNvSpPr>
            <a:spLocks noGrp="1"/>
          </p:cNvSpPr>
          <p:nvPr>
            <p:ph idx="1"/>
          </p:nvPr>
        </p:nvSpPr>
        <p:spPr>
          <a:xfrm>
            <a:off x="838200" y="1825625"/>
            <a:ext cx="11034932" cy="4814326"/>
          </a:xfrm>
        </p:spPr>
        <p:txBody>
          <a:bodyPr>
            <a:normAutofit/>
          </a:bodyPr>
          <a:lstStyle/>
          <a:p>
            <a:pPr algn="just"/>
            <a:r>
              <a:rPr lang="en-IN" dirty="0"/>
              <a:t>A transaction is an executing program that forms a logical unit of database processing.</a:t>
            </a:r>
          </a:p>
          <a:p>
            <a:pPr algn="just"/>
            <a:r>
              <a:rPr lang="en-IN" dirty="0"/>
              <a:t>A transaction includes one or more database access operations—these can include insertion, deletion, modification (update), or retrieval operations.</a:t>
            </a:r>
          </a:p>
          <a:p>
            <a:pPr algn="just"/>
            <a:r>
              <a:rPr lang="en-IN" dirty="0"/>
              <a:t>One way of specifying the transaction boundaries is by specifying explicit begin transaction and end transaction statements in an application program</a:t>
            </a:r>
          </a:p>
          <a:p>
            <a:pPr algn="just"/>
            <a:r>
              <a:rPr lang="en-IN" dirty="0"/>
              <a:t>A single application program may contain more than one transaction if it contains several transaction boundaries</a:t>
            </a:r>
          </a:p>
          <a:p>
            <a:pPr algn="just"/>
            <a:r>
              <a:rPr lang="en-IN" dirty="0"/>
              <a:t>If the database operations in a transaction do not update the database but only retrieve data, the transaction is called a read-only transaction; otherwise it is known as a read-write transaction.</a:t>
            </a:r>
          </a:p>
          <a:p>
            <a:pPr algn="just"/>
            <a:r>
              <a:rPr lang="en-IN" dirty="0"/>
              <a:t>A database is basically represented as a collection of named data items. The size of a data item is called its granularity. </a:t>
            </a:r>
          </a:p>
          <a:p>
            <a:pPr algn="just"/>
            <a:r>
              <a:rPr lang="en-IN" dirty="0"/>
              <a:t>A data item can be a database record, but it can also be a larger unit such as a whole disk block, or even a smaller unit such as an individual field (attribute) value of some record in the database</a:t>
            </a:r>
          </a:p>
        </p:txBody>
      </p:sp>
    </p:spTree>
    <p:extLst>
      <p:ext uri="{BB962C8B-B14F-4D97-AF65-F5344CB8AC3E}">
        <p14:creationId xmlns:p14="http://schemas.microsoft.com/office/powerpoint/2010/main" val="3366840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0422F-AA60-4181-860B-212242B8B4DC}"/>
              </a:ext>
            </a:extLst>
          </p:cNvPr>
          <p:cNvSpPr>
            <a:spLocks noGrp="1"/>
          </p:cNvSpPr>
          <p:nvPr>
            <p:ph type="title"/>
          </p:nvPr>
        </p:nvSpPr>
        <p:spPr/>
        <p:txBody>
          <a:bodyPr/>
          <a:lstStyle/>
          <a:p>
            <a:r>
              <a:rPr lang="en-IN" dirty="0"/>
              <a:t>Access operations that a transaction can include are as follows:</a:t>
            </a:r>
          </a:p>
        </p:txBody>
      </p:sp>
      <p:sp>
        <p:nvSpPr>
          <p:cNvPr id="3" name="Content Placeholder 2">
            <a:extLst>
              <a:ext uri="{FF2B5EF4-FFF2-40B4-BE49-F238E27FC236}">
                <a16:creationId xmlns:a16="http://schemas.microsoft.com/office/drawing/2014/main" id="{0ECCC54A-2D6D-4232-A1B2-55B24A36E77B}"/>
              </a:ext>
            </a:extLst>
          </p:cNvPr>
          <p:cNvSpPr>
            <a:spLocks noGrp="1"/>
          </p:cNvSpPr>
          <p:nvPr>
            <p:ph idx="1"/>
          </p:nvPr>
        </p:nvSpPr>
        <p:spPr/>
        <p:txBody>
          <a:bodyPr/>
          <a:lstStyle/>
          <a:p>
            <a:r>
              <a:rPr lang="en-IN" dirty="0" err="1"/>
              <a:t>read_item</a:t>
            </a:r>
            <a:r>
              <a:rPr lang="en-IN" dirty="0"/>
              <a:t>(X)</a:t>
            </a:r>
          </a:p>
          <a:p>
            <a:pPr lvl="1"/>
            <a:r>
              <a:rPr lang="en-IN" dirty="0"/>
              <a:t>Reads a database item named X into a program variable. To simplify our notation, we assume that the program variable is also named X.</a:t>
            </a:r>
          </a:p>
          <a:p>
            <a:r>
              <a:rPr lang="en-IN" dirty="0" err="1"/>
              <a:t>write_item</a:t>
            </a:r>
            <a:r>
              <a:rPr lang="en-IN" dirty="0"/>
              <a:t>(X). </a:t>
            </a:r>
          </a:p>
          <a:p>
            <a:pPr lvl="1"/>
            <a:r>
              <a:rPr lang="en-IN" dirty="0"/>
              <a:t>Writes the value of program variable X into the database item named X</a:t>
            </a:r>
          </a:p>
        </p:txBody>
      </p:sp>
    </p:spTree>
    <p:extLst>
      <p:ext uri="{BB962C8B-B14F-4D97-AF65-F5344CB8AC3E}">
        <p14:creationId xmlns:p14="http://schemas.microsoft.com/office/powerpoint/2010/main" val="993587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37B841-AC17-4FDE-9495-884857C13118}"/>
              </a:ext>
            </a:extLst>
          </p:cNvPr>
          <p:cNvSpPr>
            <a:spLocks noGrp="1"/>
          </p:cNvSpPr>
          <p:nvPr>
            <p:ph idx="1"/>
          </p:nvPr>
        </p:nvSpPr>
        <p:spPr>
          <a:xfrm>
            <a:off x="422031" y="267286"/>
            <a:ext cx="11296357" cy="6260123"/>
          </a:xfrm>
        </p:spPr>
        <p:txBody>
          <a:bodyPr>
            <a:normAutofit/>
          </a:bodyPr>
          <a:lstStyle/>
          <a:p>
            <a:pPr algn="just"/>
            <a:r>
              <a:rPr lang="en-IN" dirty="0"/>
              <a:t>Executing a </a:t>
            </a:r>
            <a:r>
              <a:rPr lang="en-IN" dirty="0" err="1"/>
              <a:t>read_item</a:t>
            </a:r>
            <a:r>
              <a:rPr lang="en-IN" dirty="0"/>
              <a:t>(X) command includes the following steps:</a:t>
            </a:r>
          </a:p>
          <a:p>
            <a:pPr lvl="1" algn="just"/>
            <a:r>
              <a:rPr lang="en-IN" dirty="0"/>
              <a:t>1. Find the address of the disk block that contains item X.</a:t>
            </a:r>
          </a:p>
          <a:p>
            <a:pPr lvl="1" algn="just"/>
            <a:r>
              <a:rPr lang="en-IN" dirty="0"/>
              <a:t>2. Copy that disk block into a buffer in main memory (if that disk block is not already in some main memory buffer). The size of the buffer is the same as the disk block size.</a:t>
            </a:r>
          </a:p>
          <a:p>
            <a:pPr lvl="1" algn="just"/>
            <a:r>
              <a:rPr lang="en-IN" dirty="0"/>
              <a:t>3. Copy item X from the buffer to the program variable named X.</a:t>
            </a:r>
          </a:p>
          <a:p>
            <a:pPr lvl="1" algn="just"/>
            <a:endParaRPr lang="en-IN" dirty="0"/>
          </a:p>
          <a:p>
            <a:pPr algn="just"/>
            <a:r>
              <a:rPr lang="en-IN" dirty="0"/>
              <a:t>Executing a </a:t>
            </a:r>
            <a:r>
              <a:rPr lang="en-IN" dirty="0" err="1"/>
              <a:t>write_item</a:t>
            </a:r>
            <a:r>
              <a:rPr lang="en-IN" dirty="0"/>
              <a:t>(X) command includes the following steps:</a:t>
            </a:r>
          </a:p>
          <a:p>
            <a:pPr lvl="1" algn="just"/>
            <a:r>
              <a:rPr lang="en-IN" dirty="0"/>
              <a:t>1. Find the address of the disk block that contains item X.</a:t>
            </a:r>
          </a:p>
          <a:p>
            <a:pPr lvl="1" algn="just"/>
            <a:r>
              <a:rPr lang="en-IN" dirty="0"/>
              <a:t>2. Copy that disk block into a buffer in main memory (if that disk block is not already in some main memory buffer).</a:t>
            </a:r>
          </a:p>
          <a:p>
            <a:pPr lvl="1" algn="just"/>
            <a:r>
              <a:rPr lang="en-IN" dirty="0"/>
              <a:t>3. Copy item X from the program variable named X into its correct location in the buffer.</a:t>
            </a:r>
          </a:p>
          <a:p>
            <a:pPr lvl="1" algn="just"/>
            <a:r>
              <a:rPr lang="en-IN" dirty="0"/>
              <a:t>4. Store the updated disk block from the buffer back to disk (either immediately or at some later point in time).</a:t>
            </a:r>
          </a:p>
        </p:txBody>
      </p:sp>
    </p:spTree>
    <p:extLst>
      <p:ext uri="{BB962C8B-B14F-4D97-AF65-F5344CB8AC3E}">
        <p14:creationId xmlns:p14="http://schemas.microsoft.com/office/powerpoint/2010/main" val="1973462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E22BE-362D-4C25-85AD-A6AE0A16B5EF}"/>
              </a:ext>
            </a:extLst>
          </p:cNvPr>
          <p:cNvSpPr>
            <a:spLocks noGrp="1"/>
          </p:cNvSpPr>
          <p:nvPr>
            <p:ph type="title"/>
          </p:nvPr>
        </p:nvSpPr>
        <p:spPr>
          <a:xfrm>
            <a:off x="838200" y="392332"/>
            <a:ext cx="10515600" cy="577410"/>
          </a:xfrm>
        </p:spPr>
        <p:txBody>
          <a:bodyPr>
            <a:normAutofit fontScale="90000"/>
          </a:bodyPr>
          <a:lstStyle/>
          <a:p>
            <a:r>
              <a:rPr lang="en-IN" dirty="0"/>
              <a:t>Transaction and System Concept</a:t>
            </a:r>
          </a:p>
        </p:txBody>
      </p:sp>
      <p:sp>
        <p:nvSpPr>
          <p:cNvPr id="3" name="Content Placeholder 2">
            <a:extLst>
              <a:ext uri="{FF2B5EF4-FFF2-40B4-BE49-F238E27FC236}">
                <a16:creationId xmlns:a16="http://schemas.microsoft.com/office/drawing/2014/main" id="{4977FB21-6E0F-45A9-8B92-D3E358100564}"/>
              </a:ext>
            </a:extLst>
          </p:cNvPr>
          <p:cNvSpPr>
            <a:spLocks noGrp="1"/>
          </p:cNvSpPr>
          <p:nvPr>
            <p:ph idx="1"/>
          </p:nvPr>
        </p:nvSpPr>
        <p:spPr>
          <a:xfrm>
            <a:off x="492369" y="1139483"/>
            <a:ext cx="11451102" cy="5584873"/>
          </a:xfrm>
        </p:spPr>
        <p:txBody>
          <a:bodyPr>
            <a:normAutofit/>
          </a:bodyPr>
          <a:lstStyle/>
          <a:p>
            <a:pPr algn="just"/>
            <a:r>
              <a:rPr lang="en-IN" sz="2000" dirty="0">
                <a:latin typeface="Times New Roman" panose="02020603050405020304" pitchFamily="18" charset="0"/>
                <a:cs typeface="Times New Roman" panose="02020603050405020304" pitchFamily="18" charset="0"/>
              </a:rPr>
              <a:t>A transaction is an atomic unit of work that should either be completed in its entirety or not done at all. </a:t>
            </a:r>
          </a:p>
          <a:p>
            <a:pPr algn="just"/>
            <a:r>
              <a:rPr lang="en-IN" sz="2000" dirty="0">
                <a:latin typeface="Times New Roman" panose="02020603050405020304" pitchFamily="18" charset="0"/>
                <a:cs typeface="Times New Roman" panose="02020603050405020304" pitchFamily="18" charset="0"/>
              </a:rPr>
              <a:t>For recovery purposes, the system needs to keep track of when each transaction starts, terminates, and commits, or aborts</a:t>
            </a:r>
          </a:p>
          <a:p>
            <a:pPr algn="just"/>
            <a:r>
              <a:rPr lang="en-IN" sz="2000" dirty="0">
                <a:latin typeface="Times New Roman" panose="02020603050405020304" pitchFamily="18" charset="0"/>
                <a:cs typeface="Times New Roman" panose="02020603050405020304" pitchFamily="18" charset="0"/>
              </a:rPr>
              <a:t>The recovery manager of the DBMS needs to keep track of the following operations:</a:t>
            </a:r>
          </a:p>
          <a:p>
            <a:pPr algn="just"/>
            <a:r>
              <a:rPr lang="en-IN" sz="2000" b="1" dirty="0">
                <a:latin typeface="Times New Roman" panose="02020603050405020304" pitchFamily="18" charset="0"/>
                <a:cs typeface="Times New Roman" panose="02020603050405020304" pitchFamily="18" charset="0"/>
              </a:rPr>
              <a:t>BEGIN_TRANSACTION</a:t>
            </a:r>
            <a:r>
              <a:rPr lang="en-IN" sz="2000" dirty="0">
                <a:latin typeface="Times New Roman" panose="02020603050405020304" pitchFamily="18" charset="0"/>
                <a:cs typeface="Times New Roman" panose="02020603050405020304" pitchFamily="18" charset="0"/>
              </a:rPr>
              <a:t>. This marks the beginning of transaction execution.</a:t>
            </a:r>
          </a:p>
          <a:p>
            <a:pPr algn="just"/>
            <a:r>
              <a:rPr lang="en-IN" sz="2000" b="1" dirty="0">
                <a:latin typeface="Times New Roman" panose="02020603050405020304" pitchFamily="18" charset="0"/>
                <a:cs typeface="Times New Roman" panose="02020603050405020304" pitchFamily="18" charset="0"/>
              </a:rPr>
              <a:t>READ or WRITE</a:t>
            </a:r>
            <a:r>
              <a:rPr lang="en-IN" sz="2000" dirty="0">
                <a:latin typeface="Times New Roman" panose="02020603050405020304" pitchFamily="18" charset="0"/>
                <a:cs typeface="Times New Roman" panose="02020603050405020304" pitchFamily="18" charset="0"/>
              </a:rPr>
              <a:t>. These specify read or write operations on the database items that are executed as part of a transaction.</a:t>
            </a:r>
          </a:p>
          <a:p>
            <a:pPr algn="just"/>
            <a:r>
              <a:rPr lang="en-IN" sz="2000" b="1" dirty="0">
                <a:latin typeface="Times New Roman" panose="02020603050405020304" pitchFamily="18" charset="0"/>
                <a:cs typeface="Times New Roman" panose="02020603050405020304" pitchFamily="18" charset="0"/>
              </a:rPr>
              <a:t>END_TRANSACTION</a:t>
            </a:r>
            <a:r>
              <a:rPr lang="en-IN" sz="2000" dirty="0">
                <a:latin typeface="Times New Roman" panose="02020603050405020304" pitchFamily="18" charset="0"/>
                <a:cs typeface="Times New Roman" panose="02020603050405020304" pitchFamily="18" charset="0"/>
              </a:rPr>
              <a:t>. This specifies that READ and WRITE transaction operations have ended and marks the end of transaction execution. However, at this point it may be necessary to check whether the changes introduced by the transaction can be permanently applied to the database (committed) or whether the transaction has to be aborted because it violates serializability or for some other reason.</a:t>
            </a:r>
          </a:p>
          <a:p>
            <a:pPr algn="just"/>
            <a:r>
              <a:rPr lang="en-IN" sz="2000" b="1" dirty="0">
                <a:latin typeface="Times New Roman" panose="02020603050405020304" pitchFamily="18" charset="0"/>
                <a:cs typeface="Times New Roman" panose="02020603050405020304" pitchFamily="18" charset="0"/>
              </a:rPr>
              <a:t>COMMIT_TRANSACTION</a:t>
            </a:r>
            <a:r>
              <a:rPr lang="en-IN" sz="2000" dirty="0">
                <a:latin typeface="Times New Roman" panose="02020603050405020304" pitchFamily="18" charset="0"/>
                <a:cs typeface="Times New Roman" panose="02020603050405020304" pitchFamily="18" charset="0"/>
              </a:rPr>
              <a:t>. This signals a successful end of the transaction so that any changes (updates) executed by the transaction can be safely committed to the database and will not be undone.</a:t>
            </a:r>
          </a:p>
          <a:p>
            <a:pPr algn="just"/>
            <a:r>
              <a:rPr lang="en-IN" sz="2000" b="1" dirty="0">
                <a:latin typeface="Times New Roman" panose="02020603050405020304" pitchFamily="18" charset="0"/>
                <a:cs typeface="Times New Roman" panose="02020603050405020304" pitchFamily="18" charset="0"/>
              </a:rPr>
              <a:t>ROLLBACK (or ABORT)</a:t>
            </a:r>
            <a:r>
              <a:rPr lang="en-IN" sz="2000" dirty="0">
                <a:latin typeface="Times New Roman" panose="02020603050405020304" pitchFamily="18" charset="0"/>
                <a:cs typeface="Times New Roman" panose="02020603050405020304" pitchFamily="18" charset="0"/>
              </a:rPr>
              <a:t>. This signals that the transaction has ended unsuccessfully, so that any changes or effects that the transaction may have applied to the database must be undone.</a:t>
            </a:r>
          </a:p>
        </p:txBody>
      </p:sp>
    </p:spTree>
    <p:extLst>
      <p:ext uri="{BB962C8B-B14F-4D97-AF65-F5344CB8AC3E}">
        <p14:creationId xmlns:p14="http://schemas.microsoft.com/office/powerpoint/2010/main" val="2103436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E10959-119F-4908-BF50-4411C023EF25}"/>
              </a:ext>
            </a:extLst>
          </p:cNvPr>
          <p:cNvPicPr>
            <a:picLocks noChangeAspect="1"/>
          </p:cNvPicPr>
          <p:nvPr/>
        </p:nvPicPr>
        <p:blipFill>
          <a:blip r:embed="rId2"/>
          <a:stretch>
            <a:fillRect/>
          </a:stretch>
        </p:blipFill>
        <p:spPr>
          <a:xfrm>
            <a:off x="273575" y="1417873"/>
            <a:ext cx="11644849" cy="4022254"/>
          </a:xfrm>
          <a:prstGeom prst="rect">
            <a:avLst/>
          </a:prstGeom>
        </p:spPr>
      </p:pic>
    </p:spTree>
    <p:extLst>
      <p:ext uri="{BB962C8B-B14F-4D97-AF65-F5344CB8AC3E}">
        <p14:creationId xmlns:p14="http://schemas.microsoft.com/office/powerpoint/2010/main" val="409046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DF66D-E915-4FFC-959F-3F52DF17AFCB}"/>
              </a:ext>
            </a:extLst>
          </p:cNvPr>
          <p:cNvSpPr>
            <a:spLocks noGrp="1"/>
          </p:cNvSpPr>
          <p:nvPr>
            <p:ph type="title"/>
          </p:nvPr>
        </p:nvSpPr>
        <p:spPr>
          <a:xfrm>
            <a:off x="838200" y="246185"/>
            <a:ext cx="10515600" cy="830629"/>
          </a:xfrm>
        </p:spPr>
        <p:txBody>
          <a:bodyPr/>
          <a:lstStyle/>
          <a:p>
            <a:r>
              <a:rPr lang="en-IN" dirty="0"/>
              <a:t>Desirable Properties of Transactions</a:t>
            </a:r>
          </a:p>
        </p:txBody>
      </p:sp>
      <p:sp>
        <p:nvSpPr>
          <p:cNvPr id="3" name="Content Placeholder 2">
            <a:extLst>
              <a:ext uri="{FF2B5EF4-FFF2-40B4-BE49-F238E27FC236}">
                <a16:creationId xmlns:a16="http://schemas.microsoft.com/office/drawing/2014/main" id="{F32AF135-0BD8-4179-970B-BF43831A27E5}"/>
              </a:ext>
            </a:extLst>
          </p:cNvPr>
          <p:cNvSpPr>
            <a:spLocks noGrp="1"/>
          </p:cNvSpPr>
          <p:nvPr>
            <p:ph idx="1"/>
          </p:nvPr>
        </p:nvSpPr>
        <p:spPr>
          <a:xfrm>
            <a:off x="665284" y="1294228"/>
            <a:ext cx="10861431" cy="5416061"/>
          </a:xfrm>
        </p:spPr>
        <p:txBody>
          <a:bodyPr>
            <a:normAutofit fontScale="92500" lnSpcReduction="20000"/>
          </a:bodyPr>
          <a:lstStyle/>
          <a:p>
            <a:pPr algn="just"/>
            <a:r>
              <a:rPr lang="en-IN" sz="3000" b="1" dirty="0"/>
              <a:t>The following are the ACID properties:	</a:t>
            </a:r>
            <a:endParaRPr lang="en-IN" b="1" dirty="0"/>
          </a:p>
          <a:p>
            <a:pPr algn="just"/>
            <a:r>
              <a:rPr lang="en-IN" sz="2800" b="1" i="0" u="none" strike="noStrike" baseline="0" dirty="0">
                <a:solidFill>
                  <a:srgbClr val="000000"/>
                </a:solidFill>
                <a:latin typeface="MinionPro-Bold"/>
              </a:rPr>
              <a:t>Atomicity. </a:t>
            </a:r>
            <a:r>
              <a:rPr lang="en-IN" sz="2800" b="0" i="0" u="none" strike="noStrike" baseline="0" dirty="0">
                <a:solidFill>
                  <a:srgbClr val="000000"/>
                </a:solidFill>
                <a:latin typeface="MinionPro-Regular"/>
              </a:rPr>
              <a:t>A transaction is an atomic unit of processing; it should either be performed in its entirety or not performed at all.</a:t>
            </a:r>
          </a:p>
          <a:p>
            <a:pPr algn="just"/>
            <a:r>
              <a:rPr lang="en-IN" sz="2800" b="1" i="0" u="none" strike="noStrike" baseline="0" dirty="0">
                <a:solidFill>
                  <a:srgbClr val="000000"/>
                </a:solidFill>
                <a:latin typeface="MinionPro-Bold"/>
              </a:rPr>
              <a:t>Consistency preservation. </a:t>
            </a:r>
            <a:r>
              <a:rPr lang="en-IN" sz="2800" b="0" i="0" u="none" strike="noStrike" baseline="0" dirty="0">
                <a:solidFill>
                  <a:srgbClr val="000000"/>
                </a:solidFill>
                <a:latin typeface="MinionPro-Regular"/>
              </a:rPr>
              <a:t>A transaction should be consistency preserving, meaning that if it is completely executed from beginning to end without interference from other transactions, it should take the database from one consistent state to another.</a:t>
            </a:r>
          </a:p>
          <a:p>
            <a:pPr algn="just"/>
            <a:r>
              <a:rPr lang="en-IN" sz="2800" b="1" i="0" u="none" strike="noStrike" baseline="0" dirty="0">
                <a:solidFill>
                  <a:srgbClr val="000000"/>
                </a:solidFill>
                <a:latin typeface="MinionPro-Bold"/>
              </a:rPr>
              <a:t>Isolation. </a:t>
            </a:r>
            <a:r>
              <a:rPr lang="en-IN" sz="2800" b="0" i="0" u="none" strike="noStrike" baseline="0" dirty="0">
                <a:solidFill>
                  <a:srgbClr val="000000"/>
                </a:solidFill>
                <a:latin typeface="MinionPro-Regular"/>
              </a:rPr>
              <a:t>A transaction should appear as though it is being executed in isolation from other transactions, even though many transactions are executing concurrently. That is, the execution of a transaction should not be interfered with by any other transactions executing concurrently.</a:t>
            </a:r>
          </a:p>
          <a:p>
            <a:pPr algn="just"/>
            <a:r>
              <a:rPr lang="en-IN" b="1" dirty="0">
                <a:solidFill>
                  <a:srgbClr val="000000"/>
                </a:solidFill>
                <a:latin typeface="MinionPro-Bold"/>
              </a:rPr>
              <a:t> Durability or permanency. </a:t>
            </a:r>
            <a:r>
              <a:rPr lang="en-IN" sz="2800" b="0" i="0" u="none" strike="noStrike" baseline="0" dirty="0">
                <a:solidFill>
                  <a:srgbClr val="000000"/>
                </a:solidFill>
                <a:latin typeface="MinionPro-Regular"/>
              </a:rPr>
              <a:t>The changes applied to the database by a committed transaction must persist in the database. These changes must not be lost because of any failure.</a:t>
            </a:r>
          </a:p>
          <a:p>
            <a:pPr algn="just"/>
            <a:endParaRPr lang="en-IN" dirty="0"/>
          </a:p>
        </p:txBody>
      </p:sp>
    </p:spTree>
    <p:extLst>
      <p:ext uri="{BB962C8B-B14F-4D97-AF65-F5344CB8AC3E}">
        <p14:creationId xmlns:p14="http://schemas.microsoft.com/office/powerpoint/2010/main" val="1423527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EA9D7-655C-43E2-AD91-20720BF6E4AB}"/>
              </a:ext>
            </a:extLst>
          </p:cNvPr>
          <p:cNvSpPr>
            <a:spLocks noGrp="1"/>
          </p:cNvSpPr>
          <p:nvPr>
            <p:ph type="title"/>
          </p:nvPr>
        </p:nvSpPr>
        <p:spPr>
          <a:xfrm>
            <a:off x="838200" y="351058"/>
            <a:ext cx="10515600" cy="886900"/>
          </a:xfrm>
        </p:spPr>
        <p:txBody>
          <a:bodyPr/>
          <a:lstStyle/>
          <a:p>
            <a:r>
              <a:rPr lang="en-IN" dirty="0"/>
              <a:t>Schedules of Transaction</a:t>
            </a:r>
          </a:p>
        </p:txBody>
      </p:sp>
      <p:sp>
        <p:nvSpPr>
          <p:cNvPr id="3" name="Content Placeholder 2">
            <a:extLst>
              <a:ext uri="{FF2B5EF4-FFF2-40B4-BE49-F238E27FC236}">
                <a16:creationId xmlns:a16="http://schemas.microsoft.com/office/drawing/2014/main" id="{11CDBDD9-D1BD-4712-9F15-B6774B3325B0}"/>
              </a:ext>
            </a:extLst>
          </p:cNvPr>
          <p:cNvSpPr>
            <a:spLocks noGrp="1"/>
          </p:cNvSpPr>
          <p:nvPr>
            <p:ph idx="1"/>
          </p:nvPr>
        </p:nvSpPr>
        <p:spPr>
          <a:xfrm>
            <a:off x="604911" y="1420836"/>
            <a:ext cx="11127543" cy="5086106"/>
          </a:xfrm>
        </p:spPr>
        <p:txBody>
          <a:bodyPr>
            <a:normAutofit/>
          </a:bodyPr>
          <a:lstStyle/>
          <a:p>
            <a:pPr algn="just"/>
            <a:r>
              <a:rPr lang="en-IN" dirty="0"/>
              <a:t>A schedule (or history) S of n transactions T1, T2, … , Tn is an ordering of the operations of the transactions. </a:t>
            </a:r>
          </a:p>
          <a:p>
            <a:pPr algn="just"/>
            <a:r>
              <a:rPr lang="en-IN" dirty="0"/>
              <a:t>Operations from different transactions can be interleaved in the schedule S. </a:t>
            </a:r>
          </a:p>
          <a:p>
            <a:pPr algn="just"/>
            <a:r>
              <a:rPr lang="en-IN" dirty="0"/>
              <a:t>For each transaction </a:t>
            </a:r>
            <a:r>
              <a:rPr lang="en-IN" dirty="0" err="1"/>
              <a:t>Ti</a:t>
            </a:r>
            <a:r>
              <a:rPr lang="en-IN" dirty="0"/>
              <a:t> that participates in the schedule S, the operations of </a:t>
            </a:r>
            <a:r>
              <a:rPr lang="en-IN" dirty="0" err="1"/>
              <a:t>Ti</a:t>
            </a:r>
            <a:r>
              <a:rPr lang="en-IN" dirty="0"/>
              <a:t> in S must appear in the same order in which they occur in </a:t>
            </a:r>
            <a:r>
              <a:rPr lang="en-IN" dirty="0" err="1"/>
              <a:t>Ti</a:t>
            </a:r>
            <a:r>
              <a:rPr lang="en-IN" dirty="0"/>
              <a:t>.</a:t>
            </a:r>
          </a:p>
          <a:p>
            <a:pPr algn="just"/>
            <a:r>
              <a:rPr lang="en-IN" dirty="0"/>
              <a:t>For the purpose of recovery and concurrency control, mainly </a:t>
            </a:r>
            <a:r>
              <a:rPr lang="en-IN" dirty="0" err="1"/>
              <a:t>read_item</a:t>
            </a:r>
            <a:r>
              <a:rPr lang="en-IN" dirty="0"/>
              <a:t> and </a:t>
            </a:r>
            <a:r>
              <a:rPr lang="en-IN" dirty="0" err="1"/>
              <a:t>write_item</a:t>
            </a:r>
            <a:r>
              <a:rPr lang="en-IN" dirty="0"/>
              <a:t> operations of the transactions, as well as the commit and abort operations are considered here. </a:t>
            </a:r>
          </a:p>
          <a:p>
            <a:pPr algn="just"/>
            <a:r>
              <a:rPr lang="en-IN" dirty="0"/>
              <a:t>A shorthand notation for describing a schedule uses the symbols b, r, w, e, c, and a for the operations </a:t>
            </a:r>
            <a:r>
              <a:rPr lang="en-IN" dirty="0" err="1"/>
              <a:t>begin_transaction</a:t>
            </a:r>
            <a:r>
              <a:rPr lang="en-IN" dirty="0"/>
              <a:t>, </a:t>
            </a:r>
            <a:r>
              <a:rPr lang="en-IN" dirty="0" err="1"/>
              <a:t>read_item</a:t>
            </a:r>
            <a:r>
              <a:rPr lang="en-IN" dirty="0"/>
              <a:t>, </a:t>
            </a:r>
            <a:r>
              <a:rPr lang="en-IN" dirty="0" err="1"/>
              <a:t>write_item</a:t>
            </a:r>
            <a:r>
              <a:rPr lang="en-IN" dirty="0"/>
              <a:t>, </a:t>
            </a:r>
            <a:r>
              <a:rPr lang="en-IN" dirty="0" err="1"/>
              <a:t>end_transaction</a:t>
            </a:r>
            <a:r>
              <a:rPr lang="en-IN" dirty="0"/>
              <a:t>, commit, and abort, respectively, and appends as a subscript the transaction id (transaction number) to each operation in the schedule</a:t>
            </a:r>
          </a:p>
        </p:txBody>
      </p:sp>
    </p:spTree>
    <p:extLst>
      <p:ext uri="{BB962C8B-B14F-4D97-AF65-F5344CB8AC3E}">
        <p14:creationId xmlns:p14="http://schemas.microsoft.com/office/powerpoint/2010/main" val="7872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A865-6491-41CB-9D95-92E25764695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BA5B0B2-B4C3-4502-9A1F-590947720A41}"/>
              </a:ext>
            </a:extLst>
          </p:cNvPr>
          <p:cNvSpPr>
            <a:spLocks noGrp="1"/>
          </p:cNvSpPr>
          <p:nvPr>
            <p:ph idx="1"/>
          </p:nvPr>
        </p:nvSpPr>
        <p:spPr>
          <a:xfrm>
            <a:off x="838200" y="1825625"/>
            <a:ext cx="10515600" cy="1325563"/>
          </a:xfrm>
        </p:spPr>
        <p:txBody>
          <a:bodyPr>
            <a:normAutofit/>
          </a:bodyPr>
          <a:lstStyle/>
          <a:p>
            <a:r>
              <a:rPr lang="en-IN" dirty="0"/>
              <a:t>Schedule for the following transaction can be written as:</a:t>
            </a:r>
          </a:p>
          <a:p>
            <a:pPr marL="0" indent="0">
              <a:buNone/>
            </a:pPr>
            <a:r>
              <a:rPr lang="en-IN" dirty="0"/>
              <a:t>	S: r1(X); r2(X); w1(X); r1(Y); w2(X); w1(Y);</a:t>
            </a:r>
          </a:p>
        </p:txBody>
      </p:sp>
      <p:pic>
        <p:nvPicPr>
          <p:cNvPr id="5" name="Picture 4">
            <a:extLst>
              <a:ext uri="{FF2B5EF4-FFF2-40B4-BE49-F238E27FC236}">
                <a16:creationId xmlns:a16="http://schemas.microsoft.com/office/drawing/2014/main" id="{D4C933BC-E303-4FE6-AA19-DDE58CC21624}"/>
              </a:ext>
            </a:extLst>
          </p:cNvPr>
          <p:cNvPicPr>
            <a:picLocks noChangeAspect="1"/>
          </p:cNvPicPr>
          <p:nvPr/>
        </p:nvPicPr>
        <p:blipFill>
          <a:blip r:embed="rId2"/>
          <a:stretch>
            <a:fillRect/>
          </a:stretch>
        </p:blipFill>
        <p:spPr>
          <a:xfrm>
            <a:off x="1851773" y="3429000"/>
            <a:ext cx="8488454" cy="320675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4C622CEB-7B80-4223-B2FF-2C4FBF0AB47B}"/>
                  </a:ext>
                </a:extLst>
              </p14:cNvPr>
              <p14:cNvContentPartPr/>
              <p14:nvPr/>
            </p14:nvContentPartPr>
            <p14:xfrm>
              <a:off x="2233385" y="2599948"/>
              <a:ext cx="601560" cy="44640"/>
            </p14:xfrm>
          </p:contentPart>
        </mc:Choice>
        <mc:Fallback xmlns="">
          <p:pic>
            <p:nvPicPr>
              <p:cNvPr id="6" name="Ink 5">
                <a:extLst>
                  <a:ext uri="{FF2B5EF4-FFF2-40B4-BE49-F238E27FC236}">
                    <a16:creationId xmlns:a16="http://schemas.microsoft.com/office/drawing/2014/main" xmlns:p14="http://schemas.microsoft.com/office/powerpoint/2010/main" xmlns="" id="{4C622CEB-7B80-4223-B2FF-2C4FBF0AB47B}"/>
                  </a:ext>
                </a:extLst>
              </p:cNvPr>
              <p:cNvPicPr/>
              <p:nvPr/>
            </p:nvPicPr>
            <p:blipFill>
              <a:blip r:embed="rId4"/>
              <a:stretch>
                <a:fillRect/>
              </a:stretch>
            </p:blipFill>
            <p:spPr>
              <a:xfrm>
                <a:off x="2179417" y="2491070"/>
                <a:ext cx="709495" cy="26239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43AC5740-12BA-4F29-AFCD-2E66C366222F}"/>
                  </a:ext>
                </a:extLst>
              </p14:cNvPr>
              <p14:cNvContentPartPr/>
              <p14:nvPr/>
            </p14:nvContentPartPr>
            <p14:xfrm>
              <a:off x="5907905" y="2586988"/>
              <a:ext cx="646200" cy="43920"/>
            </p14:xfrm>
          </p:contentPart>
        </mc:Choice>
        <mc:Fallback xmlns="">
          <p:pic>
            <p:nvPicPr>
              <p:cNvPr id="7" name="Ink 6">
                <a:extLst>
                  <a:ext uri="{FF2B5EF4-FFF2-40B4-BE49-F238E27FC236}">
                    <a16:creationId xmlns:a16="http://schemas.microsoft.com/office/drawing/2014/main" xmlns:p14="http://schemas.microsoft.com/office/powerpoint/2010/main" xmlns="" id="{43AC5740-12BA-4F29-AFCD-2E66C366222F}"/>
                  </a:ext>
                </a:extLst>
              </p:cNvPr>
              <p:cNvPicPr/>
              <p:nvPr/>
            </p:nvPicPr>
            <p:blipFill>
              <a:blip r:embed="rId6"/>
              <a:stretch>
                <a:fillRect/>
              </a:stretch>
            </p:blipFill>
            <p:spPr>
              <a:xfrm>
                <a:off x="5853935" y="2478988"/>
                <a:ext cx="7541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99279421-6EAA-48E3-8EB1-19F9538B4873}"/>
                  </a:ext>
                </a:extLst>
              </p14:cNvPr>
              <p14:cNvContentPartPr/>
              <p14:nvPr/>
            </p14:nvContentPartPr>
            <p14:xfrm>
              <a:off x="1870505" y="3009988"/>
              <a:ext cx="360" cy="360"/>
            </p14:xfrm>
          </p:contentPart>
        </mc:Choice>
        <mc:Fallback xmlns="">
          <p:pic>
            <p:nvPicPr>
              <p:cNvPr id="8" name="Ink 7">
                <a:extLst>
                  <a:ext uri="{FF2B5EF4-FFF2-40B4-BE49-F238E27FC236}">
                    <a16:creationId xmlns:a16="http://schemas.microsoft.com/office/drawing/2014/main" xmlns:p14="http://schemas.microsoft.com/office/powerpoint/2010/main" xmlns="" id="{99279421-6EAA-48E3-8EB1-19F9538B4873}"/>
                  </a:ext>
                </a:extLst>
              </p:cNvPr>
              <p:cNvPicPr/>
              <p:nvPr/>
            </p:nvPicPr>
            <p:blipFill>
              <a:blip r:embed="rId8"/>
              <a:stretch>
                <a:fillRect/>
              </a:stretch>
            </p:blipFill>
            <p:spPr>
              <a:xfrm>
                <a:off x="1816505" y="2901988"/>
                <a:ext cx="1083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99C318A7-E785-4E81-AC36-47F42AA24FF6}"/>
                  </a:ext>
                </a:extLst>
              </p14:cNvPr>
              <p14:cNvContentPartPr/>
              <p14:nvPr/>
            </p14:nvContentPartPr>
            <p14:xfrm>
              <a:off x="1997225" y="2883628"/>
              <a:ext cx="360" cy="360"/>
            </p14:xfrm>
          </p:contentPart>
        </mc:Choice>
        <mc:Fallback xmlns="">
          <p:pic>
            <p:nvPicPr>
              <p:cNvPr id="9" name="Ink 8">
                <a:extLst>
                  <a:ext uri="{FF2B5EF4-FFF2-40B4-BE49-F238E27FC236}">
                    <a16:creationId xmlns:a16="http://schemas.microsoft.com/office/drawing/2014/main" xmlns:p14="http://schemas.microsoft.com/office/powerpoint/2010/main" xmlns="" id="{99C318A7-E785-4E81-AC36-47F42AA24FF6}"/>
                  </a:ext>
                </a:extLst>
              </p:cNvPr>
              <p:cNvPicPr/>
              <p:nvPr/>
            </p:nvPicPr>
            <p:blipFill>
              <a:blip r:embed="rId10"/>
              <a:stretch>
                <a:fillRect/>
              </a:stretch>
            </p:blipFill>
            <p:spPr>
              <a:xfrm>
                <a:off x="1984985" y="2871388"/>
                <a:ext cx="24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47FCA751-4863-4EDB-B6CB-28A1073D3142}"/>
                  </a:ext>
                </a:extLst>
              </p14:cNvPr>
              <p14:cNvContentPartPr/>
              <p14:nvPr/>
            </p14:nvContentPartPr>
            <p14:xfrm>
              <a:off x="1927025" y="3024388"/>
              <a:ext cx="360" cy="360"/>
            </p14:xfrm>
          </p:contentPart>
        </mc:Choice>
        <mc:Fallback xmlns="">
          <p:pic>
            <p:nvPicPr>
              <p:cNvPr id="10" name="Ink 9">
                <a:extLst>
                  <a:ext uri="{FF2B5EF4-FFF2-40B4-BE49-F238E27FC236}">
                    <a16:creationId xmlns:a16="http://schemas.microsoft.com/office/drawing/2014/main" xmlns:p14="http://schemas.microsoft.com/office/powerpoint/2010/main" xmlns="" id="{47FCA751-4863-4EDB-B6CB-28A1073D3142}"/>
                  </a:ext>
                </a:extLst>
              </p:cNvPr>
              <p:cNvPicPr/>
              <p:nvPr/>
            </p:nvPicPr>
            <p:blipFill>
              <a:blip r:embed="rId12"/>
              <a:stretch>
                <a:fillRect/>
              </a:stretch>
            </p:blipFill>
            <p:spPr>
              <a:xfrm>
                <a:off x="1914785" y="3012148"/>
                <a:ext cx="248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2CD6F4FD-3225-4C58-8F7D-6C6949939736}"/>
                  </a:ext>
                </a:extLst>
              </p14:cNvPr>
              <p14:cNvContentPartPr/>
              <p14:nvPr/>
            </p14:nvContentPartPr>
            <p14:xfrm>
              <a:off x="2813345" y="2053468"/>
              <a:ext cx="360" cy="360"/>
            </p14:xfrm>
          </p:contentPart>
        </mc:Choice>
        <mc:Fallback xmlns="">
          <p:pic>
            <p:nvPicPr>
              <p:cNvPr id="11" name="Ink 10">
                <a:extLst>
                  <a:ext uri="{FF2B5EF4-FFF2-40B4-BE49-F238E27FC236}">
                    <a16:creationId xmlns:a16="http://schemas.microsoft.com/office/drawing/2014/main" xmlns:p14="http://schemas.microsoft.com/office/powerpoint/2010/main" xmlns="" id="{2CD6F4FD-3225-4C58-8F7D-6C6949939736}"/>
                  </a:ext>
                </a:extLst>
              </p:cNvPr>
              <p:cNvPicPr/>
              <p:nvPr/>
            </p:nvPicPr>
            <p:blipFill>
              <a:blip r:embed="rId10"/>
              <a:stretch>
                <a:fillRect/>
              </a:stretch>
            </p:blipFill>
            <p:spPr>
              <a:xfrm>
                <a:off x="2801105" y="2041228"/>
                <a:ext cx="24840" cy="24840"/>
              </a:xfrm>
              <a:prstGeom prst="rect">
                <a:avLst/>
              </a:prstGeom>
            </p:spPr>
          </p:pic>
        </mc:Fallback>
      </mc:AlternateContent>
      <p:sp>
        <p:nvSpPr>
          <p:cNvPr id="13" name="TextBox 12">
            <a:extLst>
              <a:ext uri="{FF2B5EF4-FFF2-40B4-BE49-F238E27FC236}">
                <a16:creationId xmlns:a16="http://schemas.microsoft.com/office/drawing/2014/main" id="{53A56B5E-2919-4030-BE3B-70B8A11D8FC1}"/>
              </a:ext>
            </a:extLst>
          </p:cNvPr>
          <p:cNvSpPr txBox="1"/>
          <p:nvPr/>
        </p:nvSpPr>
        <p:spPr>
          <a:xfrm>
            <a:off x="801862" y="2961623"/>
            <a:ext cx="10958824" cy="461665"/>
          </a:xfrm>
          <a:prstGeom prst="rect">
            <a:avLst/>
          </a:prstGeom>
          <a:noFill/>
        </p:spPr>
        <p:txBody>
          <a:bodyPr wrap="square">
            <a:spAutoFit/>
          </a:bodyPr>
          <a:lstStyle/>
          <a:p>
            <a:pPr marL="0" indent="0">
              <a:buNone/>
            </a:pPr>
            <a:r>
              <a:rPr lang="en-IN" sz="2400" dirty="0"/>
              <a:t>Highlighted operations are conflicting operations in the schedule – read-write conflict</a:t>
            </a:r>
          </a:p>
        </p:txBody>
      </p:sp>
    </p:spTree>
    <p:extLst>
      <p:ext uri="{BB962C8B-B14F-4D97-AF65-F5344CB8AC3E}">
        <p14:creationId xmlns:p14="http://schemas.microsoft.com/office/powerpoint/2010/main" val="2548364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A865-6491-41CB-9D95-92E25764695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BA5B0B2-B4C3-4502-9A1F-590947720A41}"/>
              </a:ext>
            </a:extLst>
          </p:cNvPr>
          <p:cNvSpPr>
            <a:spLocks noGrp="1"/>
          </p:cNvSpPr>
          <p:nvPr>
            <p:ph idx="1"/>
          </p:nvPr>
        </p:nvSpPr>
        <p:spPr>
          <a:xfrm>
            <a:off x="838200" y="1825625"/>
            <a:ext cx="10515600" cy="1325563"/>
          </a:xfrm>
        </p:spPr>
        <p:txBody>
          <a:bodyPr/>
          <a:lstStyle/>
          <a:p>
            <a:r>
              <a:rPr lang="en-IN" dirty="0"/>
              <a:t>Schedule for the following transaction can be written as:</a:t>
            </a:r>
          </a:p>
          <a:p>
            <a:pPr marL="0" indent="0">
              <a:buNone/>
            </a:pPr>
            <a:r>
              <a:rPr lang="pt-BR" dirty="0"/>
              <a:t>	S: r1(X); w1(X); r2(X); w2(X); r1(Y); a1;</a:t>
            </a:r>
            <a:endParaRPr lang="en-IN" dirty="0"/>
          </a:p>
        </p:txBody>
      </p:sp>
      <p:pic>
        <p:nvPicPr>
          <p:cNvPr id="6" name="Picture 5">
            <a:extLst>
              <a:ext uri="{FF2B5EF4-FFF2-40B4-BE49-F238E27FC236}">
                <a16:creationId xmlns:a16="http://schemas.microsoft.com/office/drawing/2014/main" id="{E0F874D0-28B9-49D2-ABF5-1274D52A2521}"/>
              </a:ext>
            </a:extLst>
          </p:cNvPr>
          <p:cNvPicPr>
            <a:picLocks noChangeAspect="1"/>
          </p:cNvPicPr>
          <p:nvPr/>
        </p:nvPicPr>
        <p:blipFill>
          <a:blip r:embed="rId2"/>
          <a:stretch>
            <a:fillRect/>
          </a:stretch>
        </p:blipFill>
        <p:spPr>
          <a:xfrm>
            <a:off x="2175217" y="3429000"/>
            <a:ext cx="7841566" cy="3127495"/>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DD22641-6D31-4585-80B1-DAEDAF14B914}"/>
                  </a:ext>
                </a:extLst>
              </p14:cNvPr>
              <p14:cNvContentPartPr/>
              <p14:nvPr/>
            </p14:nvContentPartPr>
            <p14:xfrm>
              <a:off x="3108545" y="2544868"/>
              <a:ext cx="716760" cy="15120"/>
            </p14:xfrm>
          </p:contentPart>
        </mc:Choice>
        <mc:Fallback xmlns="">
          <p:pic>
            <p:nvPicPr>
              <p:cNvPr id="4" name="Ink 3">
                <a:extLst>
                  <a:ext uri="{FF2B5EF4-FFF2-40B4-BE49-F238E27FC236}">
                    <a16:creationId xmlns:a16="http://schemas.microsoft.com/office/drawing/2014/main" xmlns:p14="http://schemas.microsoft.com/office/powerpoint/2010/main" xmlns="" id="{6DD22641-6D31-4585-80B1-DAEDAF14B914}"/>
                  </a:ext>
                </a:extLst>
              </p:cNvPr>
              <p:cNvPicPr/>
              <p:nvPr/>
            </p:nvPicPr>
            <p:blipFill>
              <a:blip r:embed="rId4"/>
              <a:stretch>
                <a:fillRect/>
              </a:stretch>
            </p:blipFill>
            <p:spPr>
              <a:xfrm>
                <a:off x="3054545" y="2436868"/>
                <a:ext cx="8247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0C76AFD1-D917-4D8E-AE27-45D9A7262057}"/>
                  </a:ext>
                </a:extLst>
              </p14:cNvPr>
              <p14:cNvContentPartPr/>
              <p14:nvPr/>
            </p14:nvContentPartPr>
            <p14:xfrm>
              <a:off x="5035985" y="2587708"/>
              <a:ext cx="673920" cy="15840"/>
            </p14:xfrm>
          </p:contentPart>
        </mc:Choice>
        <mc:Fallback xmlns="">
          <p:pic>
            <p:nvPicPr>
              <p:cNvPr id="7" name="Ink 6">
                <a:extLst>
                  <a:ext uri="{FF2B5EF4-FFF2-40B4-BE49-F238E27FC236}">
                    <a16:creationId xmlns:a16="http://schemas.microsoft.com/office/drawing/2014/main" xmlns:p14="http://schemas.microsoft.com/office/powerpoint/2010/main" xmlns="" id="{0C76AFD1-D917-4D8E-AE27-45D9A7262057}"/>
                  </a:ext>
                </a:extLst>
              </p:cNvPr>
              <p:cNvPicPr/>
              <p:nvPr/>
            </p:nvPicPr>
            <p:blipFill>
              <a:blip r:embed="rId6"/>
              <a:stretch>
                <a:fillRect/>
              </a:stretch>
            </p:blipFill>
            <p:spPr>
              <a:xfrm>
                <a:off x="4981985" y="2479708"/>
                <a:ext cx="781920" cy="231840"/>
              </a:xfrm>
              <a:prstGeom prst="rect">
                <a:avLst/>
              </a:prstGeom>
            </p:spPr>
          </p:pic>
        </mc:Fallback>
      </mc:AlternateContent>
      <p:sp>
        <p:nvSpPr>
          <p:cNvPr id="8" name="TextBox 7">
            <a:extLst>
              <a:ext uri="{FF2B5EF4-FFF2-40B4-BE49-F238E27FC236}">
                <a16:creationId xmlns:a16="http://schemas.microsoft.com/office/drawing/2014/main" id="{D5B10D0F-64C8-4887-9DE1-9A267F4B4DEE}"/>
              </a:ext>
            </a:extLst>
          </p:cNvPr>
          <p:cNvSpPr txBox="1"/>
          <p:nvPr/>
        </p:nvSpPr>
        <p:spPr>
          <a:xfrm>
            <a:off x="838199" y="2961623"/>
            <a:ext cx="10908324" cy="461665"/>
          </a:xfrm>
          <a:prstGeom prst="rect">
            <a:avLst/>
          </a:prstGeom>
          <a:noFill/>
        </p:spPr>
        <p:txBody>
          <a:bodyPr wrap="square">
            <a:spAutoFit/>
          </a:bodyPr>
          <a:lstStyle/>
          <a:p>
            <a:pPr marL="0" indent="0">
              <a:buNone/>
            </a:pPr>
            <a:r>
              <a:rPr lang="en-IN" sz="2400" dirty="0"/>
              <a:t>Highlighted operations are conflicting operations in the schedule – write-write conflict</a:t>
            </a:r>
          </a:p>
        </p:txBody>
      </p:sp>
    </p:spTree>
    <p:extLst>
      <p:ext uri="{BB962C8B-B14F-4D97-AF65-F5344CB8AC3E}">
        <p14:creationId xmlns:p14="http://schemas.microsoft.com/office/powerpoint/2010/main" val="726284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280B8-F04A-43E0-BE49-34722FB29C83}"/>
              </a:ext>
            </a:extLst>
          </p:cNvPr>
          <p:cNvSpPr>
            <a:spLocks noGrp="1"/>
          </p:cNvSpPr>
          <p:nvPr>
            <p:ph type="title"/>
          </p:nvPr>
        </p:nvSpPr>
        <p:spPr/>
        <p:txBody>
          <a:bodyPr/>
          <a:lstStyle/>
          <a:p>
            <a:r>
              <a:rPr lang="en-IN" dirty="0"/>
              <a:t>Conflicting Operations in a Schedule</a:t>
            </a:r>
          </a:p>
        </p:txBody>
      </p:sp>
      <p:sp>
        <p:nvSpPr>
          <p:cNvPr id="3" name="Content Placeholder 2">
            <a:extLst>
              <a:ext uri="{FF2B5EF4-FFF2-40B4-BE49-F238E27FC236}">
                <a16:creationId xmlns:a16="http://schemas.microsoft.com/office/drawing/2014/main" id="{07671C5E-2E3B-4D07-A763-F476AF62501D}"/>
              </a:ext>
            </a:extLst>
          </p:cNvPr>
          <p:cNvSpPr>
            <a:spLocks noGrp="1"/>
          </p:cNvSpPr>
          <p:nvPr>
            <p:ph idx="1"/>
          </p:nvPr>
        </p:nvSpPr>
        <p:spPr/>
        <p:txBody>
          <a:bodyPr/>
          <a:lstStyle/>
          <a:p>
            <a:r>
              <a:rPr lang="en-IN" dirty="0"/>
              <a:t>Two operations in a schedule are said to conflict if they satisfy all three of the following conditions: </a:t>
            </a:r>
          </a:p>
          <a:p>
            <a:r>
              <a:rPr lang="en-IN" dirty="0"/>
              <a:t>(1) they belong to different transactions; </a:t>
            </a:r>
          </a:p>
          <a:p>
            <a:r>
              <a:rPr lang="en-IN" dirty="0"/>
              <a:t>(2) they access the same item X; and</a:t>
            </a:r>
          </a:p>
          <a:p>
            <a:r>
              <a:rPr lang="en-IN" dirty="0"/>
              <a:t>(3) at least one of the operations is a </a:t>
            </a:r>
            <a:r>
              <a:rPr lang="en-IN" dirty="0" err="1"/>
              <a:t>write_item</a:t>
            </a:r>
            <a:r>
              <a:rPr lang="en-IN" dirty="0"/>
              <a:t>(X).</a:t>
            </a:r>
          </a:p>
          <a:p>
            <a:r>
              <a:rPr lang="en-IN" dirty="0"/>
              <a:t>Two operations are conflicting if changing their order can result in a different outcome.</a:t>
            </a:r>
          </a:p>
          <a:p>
            <a:endParaRPr lang="en-IN" dirty="0"/>
          </a:p>
        </p:txBody>
      </p:sp>
    </p:spTree>
    <p:extLst>
      <p:ext uri="{BB962C8B-B14F-4D97-AF65-F5344CB8AC3E}">
        <p14:creationId xmlns:p14="http://schemas.microsoft.com/office/powerpoint/2010/main" val="125869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BC7EA-30A2-4AFA-B6E6-A81BC2F40452}"/>
              </a:ext>
            </a:extLst>
          </p:cNvPr>
          <p:cNvSpPr>
            <a:spLocks noGrp="1"/>
          </p:cNvSpPr>
          <p:nvPr>
            <p:ph type="title"/>
          </p:nvPr>
        </p:nvSpPr>
        <p:spPr/>
        <p:txBody>
          <a:bodyPr/>
          <a:lstStyle/>
          <a:p>
            <a:r>
              <a:rPr lang="en-IN" dirty="0"/>
              <a:t>Complete Schedule</a:t>
            </a:r>
          </a:p>
        </p:txBody>
      </p:sp>
      <p:sp>
        <p:nvSpPr>
          <p:cNvPr id="3" name="Content Placeholder 2">
            <a:extLst>
              <a:ext uri="{FF2B5EF4-FFF2-40B4-BE49-F238E27FC236}">
                <a16:creationId xmlns:a16="http://schemas.microsoft.com/office/drawing/2014/main" id="{18BCBDCD-33F8-4B03-BAC4-5A6DEF2FD1DE}"/>
              </a:ext>
            </a:extLst>
          </p:cNvPr>
          <p:cNvSpPr>
            <a:spLocks noGrp="1"/>
          </p:cNvSpPr>
          <p:nvPr>
            <p:ph idx="1"/>
          </p:nvPr>
        </p:nvSpPr>
        <p:spPr>
          <a:xfrm>
            <a:off x="675249" y="1547446"/>
            <a:ext cx="10986867" cy="5050301"/>
          </a:xfrm>
        </p:spPr>
        <p:txBody>
          <a:bodyPr>
            <a:normAutofit/>
          </a:bodyPr>
          <a:lstStyle/>
          <a:p>
            <a:pPr algn="just"/>
            <a:r>
              <a:rPr lang="en-IN" dirty="0"/>
              <a:t>A schedule S of n transactions T1, T2, … , Tn is said to be a complete schedule if the following conditions hold:</a:t>
            </a:r>
          </a:p>
          <a:p>
            <a:pPr marL="0" indent="0" algn="just">
              <a:buNone/>
            </a:pPr>
            <a:endParaRPr lang="en-IN" dirty="0"/>
          </a:p>
          <a:p>
            <a:pPr algn="just"/>
            <a:r>
              <a:rPr lang="en-IN" dirty="0"/>
              <a:t>1. The operations in S are exactly those operations in T1, T2, … , Tn, including a commit or abort operation as the last operation for each transaction in the schedule.</a:t>
            </a:r>
          </a:p>
          <a:p>
            <a:pPr algn="just"/>
            <a:r>
              <a:rPr lang="en-IN" dirty="0"/>
              <a:t>2. For any pair of operations from the same transaction </a:t>
            </a:r>
            <a:r>
              <a:rPr lang="en-IN" dirty="0" err="1"/>
              <a:t>Ti</a:t>
            </a:r>
            <a:r>
              <a:rPr lang="en-IN" dirty="0"/>
              <a:t>, their relative order of appearance in S is the same as their order of appearance in </a:t>
            </a:r>
            <a:r>
              <a:rPr lang="en-IN" dirty="0" err="1"/>
              <a:t>Ti</a:t>
            </a:r>
            <a:r>
              <a:rPr lang="en-IN" dirty="0"/>
              <a:t>.</a:t>
            </a:r>
          </a:p>
          <a:p>
            <a:pPr algn="just"/>
            <a:r>
              <a:rPr lang="en-IN" dirty="0"/>
              <a:t>3. For any two conflicting operations, one of the two must occur before the other in the schedule</a:t>
            </a:r>
          </a:p>
        </p:txBody>
      </p:sp>
    </p:spTree>
    <p:extLst>
      <p:ext uri="{BB962C8B-B14F-4D97-AF65-F5344CB8AC3E}">
        <p14:creationId xmlns:p14="http://schemas.microsoft.com/office/powerpoint/2010/main" val="1291087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77B71-3086-405D-B8A1-AC7F8B036D24}"/>
              </a:ext>
            </a:extLst>
          </p:cNvPr>
          <p:cNvSpPr>
            <a:spLocks noGrp="1"/>
          </p:cNvSpPr>
          <p:nvPr>
            <p:ph type="title"/>
          </p:nvPr>
        </p:nvSpPr>
        <p:spPr>
          <a:xfrm>
            <a:off x="838200" y="329027"/>
            <a:ext cx="10515600" cy="704020"/>
          </a:xfrm>
        </p:spPr>
        <p:txBody>
          <a:bodyPr>
            <a:normAutofit fontScale="90000"/>
          </a:bodyPr>
          <a:lstStyle/>
          <a:p>
            <a:r>
              <a:rPr lang="en-IN" sz="4000" dirty="0"/>
              <a:t>Characterizing Schedules based on Recoverability</a:t>
            </a:r>
          </a:p>
        </p:txBody>
      </p:sp>
      <p:sp>
        <p:nvSpPr>
          <p:cNvPr id="3" name="Content Placeholder 2">
            <a:extLst>
              <a:ext uri="{FF2B5EF4-FFF2-40B4-BE49-F238E27FC236}">
                <a16:creationId xmlns:a16="http://schemas.microsoft.com/office/drawing/2014/main" id="{B04E23B8-3C9D-4F39-9792-5EA84AB86E5B}"/>
              </a:ext>
            </a:extLst>
          </p:cNvPr>
          <p:cNvSpPr>
            <a:spLocks noGrp="1"/>
          </p:cNvSpPr>
          <p:nvPr>
            <p:ph idx="1"/>
          </p:nvPr>
        </p:nvSpPr>
        <p:spPr>
          <a:xfrm>
            <a:off x="225084" y="1308296"/>
            <a:ext cx="11830928" cy="4868668"/>
          </a:xfrm>
        </p:spPr>
        <p:txBody>
          <a:bodyPr/>
          <a:lstStyle/>
          <a:p>
            <a:pPr algn="just"/>
            <a:r>
              <a:rPr lang="en-IN" dirty="0"/>
              <a:t>Once a transaction T is committed, it should never be necessary to roll back T. </a:t>
            </a:r>
          </a:p>
          <a:p>
            <a:pPr algn="just"/>
            <a:r>
              <a:rPr lang="en-IN" dirty="0"/>
              <a:t>This ensures that the durability property of transactions is not violated. </a:t>
            </a:r>
          </a:p>
          <a:p>
            <a:pPr algn="just"/>
            <a:r>
              <a:rPr lang="en-IN" dirty="0"/>
              <a:t>The schedules that theoretically meet this criterion are called </a:t>
            </a:r>
            <a:r>
              <a:rPr lang="en-IN" b="1" u="sng" dirty="0"/>
              <a:t>recoverable schedules</a:t>
            </a:r>
          </a:p>
          <a:p>
            <a:pPr algn="just"/>
            <a:endParaRPr lang="en-IN" u="sng" dirty="0"/>
          </a:p>
          <a:p>
            <a:pPr algn="just"/>
            <a:r>
              <a:rPr lang="en-IN" dirty="0"/>
              <a:t>A schedule where a committed transaction may have to be rolled back during recovery is called </a:t>
            </a:r>
            <a:r>
              <a:rPr lang="en-IN" b="1" u="sng" dirty="0"/>
              <a:t>nonrecoverable</a:t>
            </a:r>
            <a:r>
              <a:rPr lang="en-IN" dirty="0"/>
              <a:t> </a:t>
            </a:r>
            <a:r>
              <a:rPr lang="en-IN" b="1" u="sng" dirty="0"/>
              <a:t>schedules</a:t>
            </a:r>
            <a:endParaRPr lang="en-IN" dirty="0"/>
          </a:p>
          <a:p>
            <a:pPr algn="just"/>
            <a:r>
              <a:rPr lang="en-IN" dirty="0"/>
              <a:t>and hence should not be permitted by the DBMS</a:t>
            </a:r>
          </a:p>
        </p:txBody>
      </p:sp>
    </p:spTree>
    <p:extLst>
      <p:ext uri="{BB962C8B-B14F-4D97-AF65-F5344CB8AC3E}">
        <p14:creationId xmlns:p14="http://schemas.microsoft.com/office/powerpoint/2010/main" val="1766093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3F448-A5A8-4F1F-9EC2-FC4094443AF1}"/>
              </a:ext>
            </a:extLst>
          </p:cNvPr>
          <p:cNvSpPr>
            <a:spLocks noGrp="1"/>
          </p:cNvSpPr>
          <p:nvPr>
            <p:ph type="title"/>
          </p:nvPr>
        </p:nvSpPr>
        <p:spPr>
          <a:xfrm>
            <a:off x="736209" y="286824"/>
            <a:ext cx="10719581" cy="788426"/>
          </a:xfrm>
        </p:spPr>
        <p:txBody>
          <a:bodyPr>
            <a:normAutofit fontScale="90000"/>
          </a:bodyPr>
          <a:lstStyle/>
          <a:p>
            <a:r>
              <a:rPr lang="en-IN" sz="4000" dirty="0"/>
              <a:t>The condition for a recoverable schedule is as follows</a:t>
            </a:r>
          </a:p>
        </p:txBody>
      </p:sp>
      <p:sp>
        <p:nvSpPr>
          <p:cNvPr id="3" name="Content Placeholder 2">
            <a:extLst>
              <a:ext uri="{FF2B5EF4-FFF2-40B4-BE49-F238E27FC236}">
                <a16:creationId xmlns:a16="http://schemas.microsoft.com/office/drawing/2014/main" id="{8AD8BFEB-C4E4-457B-887E-C4F7EA111940}"/>
              </a:ext>
            </a:extLst>
          </p:cNvPr>
          <p:cNvSpPr>
            <a:spLocks noGrp="1"/>
          </p:cNvSpPr>
          <p:nvPr>
            <p:ph idx="1"/>
          </p:nvPr>
        </p:nvSpPr>
        <p:spPr>
          <a:xfrm>
            <a:off x="464234" y="1378634"/>
            <a:ext cx="11422966" cy="3179298"/>
          </a:xfrm>
        </p:spPr>
        <p:txBody>
          <a:bodyPr/>
          <a:lstStyle/>
          <a:p>
            <a:pPr algn="just"/>
            <a:r>
              <a:rPr lang="en-IN" dirty="0"/>
              <a:t>A schedule S is recoverable if no transaction T in S commits until all transactions T′ that have written some item X that T reads have committed.</a:t>
            </a:r>
          </a:p>
          <a:p>
            <a:pPr algn="just"/>
            <a:r>
              <a:rPr lang="en-IN" dirty="0"/>
              <a:t>A transaction T reads from transaction T′ in a schedule S if some item X is first written by T′ and later read by T. </a:t>
            </a:r>
          </a:p>
          <a:p>
            <a:pPr algn="just"/>
            <a:r>
              <a:rPr lang="en-IN" dirty="0"/>
              <a:t>In addition, T′ should not have been aborted before T reads item X, and there should be no transactions that write X after T′ writes it and before T reads it</a:t>
            </a:r>
          </a:p>
        </p:txBody>
      </p:sp>
      <p:sp>
        <p:nvSpPr>
          <p:cNvPr id="5" name="TextBox 4">
            <a:extLst>
              <a:ext uri="{FF2B5EF4-FFF2-40B4-BE49-F238E27FC236}">
                <a16:creationId xmlns:a16="http://schemas.microsoft.com/office/drawing/2014/main" id="{7F105474-08A6-48E5-BBD9-5A251C43A2BE}"/>
              </a:ext>
            </a:extLst>
          </p:cNvPr>
          <p:cNvSpPr txBox="1"/>
          <p:nvPr/>
        </p:nvSpPr>
        <p:spPr>
          <a:xfrm>
            <a:off x="736208" y="4445388"/>
            <a:ext cx="11150992" cy="1969480"/>
          </a:xfrm>
          <a:prstGeom prst="rect">
            <a:avLst/>
          </a:prstGeom>
          <a:noFill/>
        </p:spPr>
        <p:txBody>
          <a:bodyPr wrap="square">
            <a:spAutoFit/>
          </a:bodyPr>
          <a:lstStyle/>
          <a:p>
            <a:pPr algn="l"/>
            <a:r>
              <a:rPr lang="en-IN" sz="2400" b="0" i="0" u="none" strike="noStrike" baseline="0" dirty="0" err="1">
                <a:latin typeface="MinionPro-Regular"/>
              </a:rPr>
              <a:t>Eg.</a:t>
            </a:r>
            <a:r>
              <a:rPr lang="en-IN" sz="2400" b="0" i="0" u="none" strike="noStrike" baseline="0" dirty="0">
                <a:latin typeface="MinionPro-Regular"/>
              </a:rPr>
              <a:t> Consider the schedule </a:t>
            </a:r>
            <a:r>
              <a:rPr lang="en-IN" sz="2400" b="1" i="1" u="none" strike="noStrike" baseline="0" dirty="0">
                <a:latin typeface="MinionPro-It"/>
              </a:rPr>
              <a:t>S</a:t>
            </a:r>
            <a:r>
              <a:rPr lang="en-IN" b="1" i="1" u="none" strike="noStrike" baseline="0" dirty="0">
                <a:latin typeface="MinionPro-It"/>
              </a:rPr>
              <a:t>a’</a:t>
            </a:r>
            <a:r>
              <a:rPr lang="en-IN" sz="2400" b="0" i="0" u="none" strike="noStrike" baseline="0" dirty="0">
                <a:latin typeface="Symbol" panose="05050102010706020507" pitchFamily="18" charset="2"/>
              </a:rPr>
              <a:t> </a:t>
            </a:r>
            <a:r>
              <a:rPr lang="en-IN" sz="2400" b="0" i="0" u="none" strike="noStrike" baseline="0" dirty="0">
                <a:latin typeface="MinionPro-Regular"/>
              </a:rPr>
              <a:t>given below, which is the same as schedule </a:t>
            </a:r>
            <a:r>
              <a:rPr lang="en-IN" sz="2400" b="0" i="1" u="none" strike="noStrike" baseline="0" dirty="0">
                <a:latin typeface="MinionPro-It"/>
              </a:rPr>
              <a:t>S</a:t>
            </a:r>
            <a:r>
              <a:rPr lang="en-IN" b="0" i="1" u="none" strike="noStrike" baseline="0" dirty="0">
                <a:latin typeface="MinionPro-It"/>
              </a:rPr>
              <a:t>a </a:t>
            </a:r>
            <a:r>
              <a:rPr lang="en-IN" sz="2400" b="0" i="0" u="none" strike="noStrike" baseline="0" dirty="0">
                <a:latin typeface="MinionPro-Regular"/>
              </a:rPr>
              <a:t>except that two commit operations have been added to </a:t>
            </a:r>
            <a:r>
              <a:rPr lang="en-IN" sz="2400" b="0" i="1" u="none" strike="noStrike" baseline="0" dirty="0">
                <a:latin typeface="MinionPro-It"/>
              </a:rPr>
              <a:t>S</a:t>
            </a:r>
            <a:r>
              <a:rPr lang="en-IN" b="0" i="1" u="none" strike="noStrike" baseline="0" dirty="0">
                <a:latin typeface="MinionPro-It"/>
              </a:rPr>
              <a:t>a</a:t>
            </a:r>
            <a:r>
              <a:rPr lang="en-IN" sz="2400" b="0" i="0" u="none" strike="noStrike" baseline="0" dirty="0">
                <a:latin typeface="MinionPro-Regular"/>
              </a:rPr>
              <a:t>:</a:t>
            </a:r>
          </a:p>
          <a:p>
            <a:pPr algn="l"/>
            <a:r>
              <a:rPr lang="en-IN" sz="2400" b="1" i="1" u="none" strike="noStrike" baseline="0" dirty="0">
                <a:latin typeface="MinionPro-It"/>
              </a:rPr>
              <a:t>S</a:t>
            </a:r>
            <a:r>
              <a:rPr lang="en-IN" b="1" i="1" u="none" strike="noStrike" baseline="0" dirty="0">
                <a:latin typeface="MinionPro-It"/>
              </a:rPr>
              <a:t>a’</a:t>
            </a:r>
            <a:r>
              <a:rPr lang="en-IN" b="0" i="1" u="none" strike="noStrike" baseline="0" dirty="0">
                <a:latin typeface="MinionPro-It"/>
              </a:rPr>
              <a:t> </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2</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r</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Y</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2</a:t>
            </a:r>
            <a:r>
              <a:rPr lang="en-IN" sz="2400" b="0" i="0" u="none" strike="noStrike" baseline="0" dirty="0">
                <a:latin typeface="MinionPro-Regular"/>
              </a:rPr>
              <a:t>(</a:t>
            </a:r>
            <a:r>
              <a:rPr lang="en-IN" sz="2400" b="0" i="1" u="none" strike="noStrike" baseline="0" dirty="0">
                <a:latin typeface="MinionPro-It"/>
              </a:rPr>
              <a:t>X</a:t>
            </a:r>
            <a:r>
              <a:rPr lang="en-IN" sz="2400" b="0" i="0" u="none" strike="noStrike" baseline="0" dirty="0">
                <a:latin typeface="MinionPro-Regular"/>
              </a:rPr>
              <a:t>); </a:t>
            </a:r>
            <a:r>
              <a:rPr lang="en-IN" sz="2400" b="0" i="1" u="none" strike="noStrike" baseline="0" dirty="0">
                <a:latin typeface="MinionPro-It"/>
              </a:rPr>
              <a:t>c</a:t>
            </a:r>
            <a:r>
              <a:rPr lang="en-IN" b="0" i="0" u="none" strike="noStrike" baseline="0" dirty="0">
                <a:latin typeface="MinionPro-Regular"/>
              </a:rPr>
              <a:t>2</a:t>
            </a:r>
            <a:r>
              <a:rPr lang="en-IN" sz="2400" b="0" i="0" u="none" strike="noStrike" baseline="0" dirty="0">
                <a:latin typeface="MinionPro-Regular"/>
              </a:rPr>
              <a:t>; </a:t>
            </a:r>
            <a:r>
              <a:rPr lang="en-IN" sz="2400" b="0" i="1" u="none" strike="noStrike" baseline="0" dirty="0">
                <a:latin typeface="MinionPro-It"/>
              </a:rPr>
              <a:t>w</a:t>
            </a:r>
            <a:r>
              <a:rPr lang="en-IN" b="0" i="0" u="none" strike="noStrike" baseline="0" dirty="0">
                <a:latin typeface="MinionPro-Regular"/>
              </a:rPr>
              <a:t>1</a:t>
            </a:r>
            <a:r>
              <a:rPr lang="en-IN" sz="2400" b="0" i="0" u="none" strike="noStrike" baseline="0" dirty="0">
                <a:latin typeface="MinionPro-Regular"/>
              </a:rPr>
              <a:t>(</a:t>
            </a:r>
            <a:r>
              <a:rPr lang="en-IN" sz="2400" b="0" i="1" u="none" strike="noStrike" baseline="0" dirty="0">
                <a:latin typeface="MinionPro-It"/>
              </a:rPr>
              <a:t>Y</a:t>
            </a:r>
            <a:r>
              <a:rPr lang="en-IN" sz="2400" b="0" i="0" u="none" strike="noStrike" baseline="0" dirty="0">
                <a:latin typeface="MinionPro-Regular"/>
              </a:rPr>
              <a:t>); </a:t>
            </a:r>
            <a:r>
              <a:rPr lang="en-IN" sz="2400" b="0" i="1" u="none" strike="noStrike" baseline="0" dirty="0">
                <a:latin typeface="MinionPro-It"/>
              </a:rPr>
              <a:t>c</a:t>
            </a:r>
            <a:r>
              <a:rPr lang="en-IN" b="0" i="0" u="none" strike="noStrike" baseline="0" dirty="0">
                <a:latin typeface="MinionPro-Regular"/>
              </a:rPr>
              <a:t>1</a:t>
            </a:r>
            <a:r>
              <a:rPr lang="en-IN" sz="2400" b="0" i="0" u="none" strike="noStrike" baseline="0" dirty="0">
                <a:latin typeface="MinionPro-Regular"/>
              </a:rPr>
              <a:t>;</a:t>
            </a:r>
          </a:p>
          <a:p>
            <a:pPr algn="l"/>
            <a:r>
              <a:rPr lang="en-IN" sz="2400" b="1" i="1" u="none" strike="noStrike" baseline="0" dirty="0">
                <a:latin typeface="MinionPro-It"/>
              </a:rPr>
              <a:t>S</a:t>
            </a:r>
            <a:r>
              <a:rPr lang="en-IN" b="1" i="1" u="none" strike="noStrike" baseline="0" dirty="0">
                <a:latin typeface="MinionPro-It"/>
              </a:rPr>
              <a:t>a’</a:t>
            </a:r>
            <a:r>
              <a:rPr lang="en-IN" sz="2400" dirty="0">
                <a:latin typeface="Symbol" panose="05050102010706020507" pitchFamily="18" charset="2"/>
              </a:rPr>
              <a:t> </a:t>
            </a:r>
            <a:r>
              <a:rPr lang="en-IN" sz="2400" b="0" i="0" u="none" strike="noStrike" baseline="0" dirty="0">
                <a:latin typeface="MinionPro-Regular"/>
              </a:rPr>
              <a:t>is now called recoverable schedule, even though it suffers from the lost update problem</a:t>
            </a:r>
            <a:endParaRPr lang="en-IN" sz="2400" dirty="0"/>
          </a:p>
        </p:txBody>
      </p:sp>
    </p:spTree>
    <p:extLst>
      <p:ext uri="{BB962C8B-B14F-4D97-AF65-F5344CB8AC3E}">
        <p14:creationId xmlns:p14="http://schemas.microsoft.com/office/powerpoint/2010/main" val="133447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AA15F-1612-4C6F-A8C6-7E39775D0F9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190C6CD-E042-4717-A44F-DDF54AB82DC7}"/>
              </a:ext>
            </a:extLst>
          </p:cNvPr>
          <p:cNvSpPr>
            <a:spLocks noGrp="1"/>
          </p:cNvSpPr>
          <p:nvPr>
            <p:ph idx="1"/>
          </p:nvPr>
        </p:nvSpPr>
        <p:spPr/>
        <p:txBody>
          <a:bodyPr/>
          <a:lstStyle/>
          <a:p>
            <a:r>
              <a:rPr lang="en-IN" dirty="0"/>
              <a:t>Consider the two (partial) schedules Sc and Sd that follow:</a:t>
            </a:r>
          </a:p>
          <a:p>
            <a:endParaRPr lang="en-IN" dirty="0"/>
          </a:p>
          <a:p>
            <a:r>
              <a:rPr lang="en-IN" dirty="0"/>
              <a:t>Sc: r1(X); w1(X); r2(X); r1(Y); w2(X); c2; a1;</a:t>
            </a:r>
          </a:p>
          <a:p>
            <a:pPr lvl="1"/>
            <a:r>
              <a:rPr lang="en-IN" dirty="0"/>
              <a:t>Non Recoverable</a:t>
            </a:r>
          </a:p>
          <a:p>
            <a:r>
              <a:rPr lang="en-IN" dirty="0"/>
              <a:t>Sd: r1(X); w1(X); r2(X); r1(Y); w2(X); w1(Y); c1; c2;</a:t>
            </a:r>
          </a:p>
          <a:p>
            <a:pPr lvl="1"/>
            <a:r>
              <a:rPr lang="en-IN" dirty="0"/>
              <a:t>Recoverable</a:t>
            </a:r>
          </a:p>
          <a:p>
            <a:r>
              <a:rPr lang="en-IN" dirty="0"/>
              <a:t>Se: r1(X); w1(X); r2(X); r1(Y); w2(X); w1(Y); a1; a2;</a:t>
            </a:r>
          </a:p>
          <a:p>
            <a:pPr lvl="1"/>
            <a:r>
              <a:rPr lang="en-IN" dirty="0"/>
              <a:t>Recoverable with cascading rollback</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F6B0C77-DED5-462A-B907-314945DE4292}"/>
                  </a:ext>
                </a:extLst>
              </p14:cNvPr>
              <p14:cNvContentPartPr/>
              <p14:nvPr/>
            </p14:nvContentPartPr>
            <p14:xfrm>
              <a:off x="6288065" y="3108268"/>
              <a:ext cx="280080" cy="360"/>
            </p14:xfrm>
          </p:contentPart>
        </mc:Choice>
        <mc:Fallback xmlns="">
          <p:pic>
            <p:nvPicPr>
              <p:cNvPr id="4" name="Ink 3">
                <a:extLst>
                  <a:ext uri="{FF2B5EF4-FFF2-40B4-BE49-F238E27FC236}">
                    <a16:creationId xmlns:a16="http://schemas.microsoft.com/office/drawing/2014/main" xmlns:p14="http://schemas.microsoft.com/office/powerpoint/2010/main" xmlns="" id="{9F6B0C77-DED5-462A-B907-314945DE4292}"/>
                  </a:ext>
                </a:extLst>
              </p:cNvPr>
              <p:cNvPicPr/>
              <p:nvPr/>
            </p:nvPicPr>
            <p:blipFill>
              <a:blip r:embed="rId3"/>
              <a:stretch>
                <a:fillRect/>
              </a:stretch>
            </p:blipFill>
            <p:spPr>
              <a:xfrm>
                <a:off x="6234065" y="3000268"/>
                <a:ext cx="388080" cy="216360"/>
              </a:xfrm>
              <a:prstGeom prst="rect">
                <a:avLst/>
              </a:prstGeom>
            </p:spPr>
          </p:pic>
        </mc:Fallback>
      </mc:AlternateContent>
      <p:grpSp>
        <p:nvGrpSpPr>
          <p:cNvPr id="8" name="Group 7">
            <a:extLst>
              <a:ext uri="{FF2B5EF4-FFF2-40B4-BE49-F238E27FC236}">
                <a16:creationId xmlns:a16="http://schemas.microsoft.com/office/drawing/2014/main" id="{D529D6A2-FB19-4ABB-AE20-40C6E6C709A2}"/>
              </a:ext>
            </a:extLst>
          </p:cNvPr>
          <p:cNvGrpSpPr/>
          <p:nvPr/>
        </p:nvGrpSpPr>
        <p:grpSpPr>
          <a:xfrm>
            <a:off x="3600665" y="3192508"/>
            <a:ext cx="576720" cy="113400"/>
            <a:chOff x="3600665" y="3192508"/>
            <a:chExt cx="576720" cy="11340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B7B51D3-C753-4FB2-81CB-CC0BE9B48090}"/>
                    </a:ext>
                  </a:extLst>
                </p14:cNvPr>
                <p14:cNvContentPartPr/>
                <p14:nvPr/>
              </p14:nvContentPartPr>
              <p14:xfrm>
                <a:off x="3600665" y="3192508"/>
                <a:ext cx="576000" cy="29160"/>
              </p14:xfrm>
            </p:contentPart>
          </mc:Choice>
          <mc:Fallback xmlns="">
            <p:pic>
              <p:nvPicPr>
                <p:cNvPr id="6" name="Ink 5">
                  <a:extLst>
                    <a:ext uri="{FF2B5EF4-FFF2-40B4-BE49-F238E27FC236}">
                      <a16:creationId xmlns:a16="http://schemas.microsoft.com/office/drawing/2014/main" xmlns:p14="http://schemas.microsoft.com/office/powerpoint/2010/main" xmlns="" id="{9B7B51D3-C753-4FB2-81CB-CC0BE9B48090}"/>
                    </a:ext>
                  </a:extLst>
                </p:cNvPr>
                <p:cNvPicPr/>
                <p:nvPr/>
              </p:nvPicPr>
              <p:blipFill>
                <a:blip r:embed="rId5"/>
                <a:stretch>
                  <a:fillRect/>
                </a:stretch>
              </p:blipFill>
              <p:spPr>
                <a:xfrm>
                  <a:off x="3588417" y="3180268"/>
                  <a:ext cx="597253"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147A440-EDEF-4E8B-AA2B-A9B7D1648569}"/>
                    </a:ext>
                  </a:extLst>
                </p14:cNvPr>
                <p14:cNvContentPartPr/>
                <p14:nvPr/>
              </p14:nvContentPartPr>
              <p14:xfrm>
                <a:off x="3600665" y="3276748"/>
                <a:ext cx="576720" cy="29160"/>
              </p14:xfrm>
            </p:contentPart>
          </mc:Choice>
          <mc:Fallback xmlns="">
            <p:pic>
              <p:nvPicPr>
                <p:cNvPr id="7" name="Ink 6">
                  <a:extLst>
                    <a:ext uri="{FF2B5EF4-FFF2-40B4-BE49-F238E27FC236}">
                      <a16:creationId xmlns:a16="http://schemas.microsoft.com/office/drawing/2014/main" xmlns:p14="http://schemas.microsoft.com/office/powerpoint/2010/main" xmlns="" id="{7147A440-EDEF-4E8B-AA2B-A9B7D1648569}"/>
                    </a:ext>
                  </a:extLst>
                </p:cNvPr>
                <p:cNvPicPr/>
                <p:nvPr/>
              </p:nvPicPr>
              <p:blipFill>
                <a:blip r:embed="rId7"/>
                <a:stretch>
                  <a:fillRect/>
                </a:stretch>
              </p:blipFill>
              <p:spPr>
                <a:xfrm>
                  <a:off x="3588425" y="3264508"/>
                  <a:ext cx="597960" cy="5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A927C659-2C3F-4081-B856-989960A188C3}"/>
                  </a:ext>
                </a:extLst>
              </p14:cNvPr>
              <p14:cNvContentPartPr/>
              <p14:nvPr/>
            </p14:nvContentPartPr>
            <p14:xfrm>
              <a:off x="2934665" y="2572948"/>
              <a:ext cx="919800" cy="360720"/>
            </p14:xfrm>
          </p:contentPart>
        </mc:Choice>
        <mc:Fallback xmlns="">
          <p:pic>
            <p:nvPicPr>
              <p:cNvPr id="9" name="Ink 8">
                <a:extLst>
                  <a:ext uri="{FF2B5EF4-FFF2-40B4-BE49-F238E27FC236}">
                    <a16:creationId xmlns:a16="http://schemas.microsoft.com/office/drawing/2014/main" xmlns:p14="http://schemas.microsoft.com/office/powerpoint/2010/main" xmlns="" id="{A927C659-2C3F-4081-B856-989960A188C3}"/>
                  </a:ext>
                </a:extLst>
              </p:cNvPr>
              <p:cNvPicPr/>
              <p:nvPr/>
            </p:nvPicPr>
            <p:blipFill>
              <a:blip r:embed="rId9"/>
              <a:stretch>
                <a:fillRect/>
              </a:stretch>
            </p:blipFill>
            <p:spPr>
              <a:xfrm>
                <a:off x="2925665" y="2560696"/>
                <a:ext cx="941040" cy="38198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4D89915A-2EA6-464A-9103-B8CB0BCC29EB}"/>
                  </a:ext>
                </a:extLst>
              </p14:cNvPr>
              <p14:cNvContentPartPr/>
              <p14:nvPr/>
            </p14:nvContentPartPr>
            <p14:xfrm>
              <a:off x="2848265" y="2774548"/>
              <a:ext cx="303480" cy="124560"/>
            </p14:xfrm>
          </p:contentPart>
        </mc:Choice>
        <mc:Fallback xmlns="">
          <p:pic>
            <p:nvPicPr>
              <p:cNvPr id="10" name="Ink 9">
                <a:extLst>
                  <a:ext uri="{FF2B5EF4-FFF2-40B4-BE49-F238E27FC236}">
                    <a16:creationId xmlns:a16="http://schemas.microsoft.com/office/drawing/2014/main" xmlns:p14="http://schemas.microsoft.com/office/powerpoint/2010/main" xmlns="" id="{4D89915A-2EA6-464A-9103-B8CB0BCC29EB}"/>
                  </a:ext>
                </a:extLst>
              </p:cNvPr>
              <p:cNvPicPr/>
              <p:nvPr/>
            </p:nvPicPr>
            <p:blipFill>
              <a:blip r:embed="rId11"/>
              <a:stretch>
                <a:fillRect/>
              </a:stretch>
            </p:blipFill>
            <p:spPr>
              <a:xfrm>
                <a:off x="2836025" y="2762308"/>
                <a:ext cx="3279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61935153-B590-4648-A0F5-608D247BA1EA}"/>
                  </a:ext>
                </a:extLst>
              </p14:cNvPr>
              <p14:cNvContentPartPr/>
              <p14:nvPr/>
            </p14:nvContentPartPr>
            <p14:xfrm>
              <a:off x="6793145" y="3234268"/>
              <a:ext cx="319680" cy="15840"/>
            </p14:xfrm>
          </p:contentPart>
        </mc:Choice>
        <mc:Fallback xmlns="">
          <p:pic>
            <p:nvPicPr>
              <p:cNvPr id="11" name="Ink 10">
                <a:extLst>
                  <a:ext uri="{FF2B5EF4-FFF2-40B4-BE49-F238E27FC236}">
                    <a16:creationId xmlns:a16="http://schemas.microsoft.com/office/drawing/2014/main" xmlns:p14="http://schemas.microsoft.com/office/powerpoint/2010/main" xmlns="" id="{61935153-B590-4648-A0F5-608D247BA1EA}"/>
                  </a:ext>
                </a:extLst>
              </p:cNvPr>
              <p:cNvPicPr/>
              <p:nvPr/>
            </p:nvPicPr>
            <p:blipFill>
              <a:blip r:embed="rId13"/>
              <a:stretch>
                <a:fillRect/>
              </a:stretch>
            </p:blipFill>
            <p:spPr>
              <a:xfrm>
                <a:off x="6780905" y="3222300"/>
                <a:ext cx="344160" cy="3977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A281BA7B-17EB-4001-B2BB-441111DD739D}"/>
                  </a:ext>
                </a:extLst>
              </p14:cNvPr>
              <p14:cNvContentPartPr/>
              <p14:nvPr/>
            </p14:nvContentPartPr>
            <p14:xfrm>
              <a:off x="7329185" y="3952828"/>
              <a:ext cx="885600" cy="27360"/>
            </p14:xfrm>
          </p:contentPart>
        </mc:Choice>
        <mc:Fallback xmlns="">
          <p:pic>
            <p:nvPicPr>
              <p:cNvPr id="12" name="Ink 11">
                <a:extLst>
                  <a:ext uri="{FF2B5EF4-FFF2-40B4-BE49-F238E27FC236}">
                    <a16:creationId xmlns:a16="http://schemas.microsoft.com/office/drawing/2014/main" xmlns:p14="http://schemas.microsoft.com/office/powerpoint/2010/main" xmlns="" id="{A281BA7B-17EB-4001-B2BB-441111DD739D}"/>
                  </a:ext>
                </a:extLst>
              </p:cNvPr>
              <p:cNvPicPr/>
              <p:nvPr/>
            </p:nvPicPr>
            <p:blipFill>
              <a:blip r:embed="rId15"/>
              <a:stretch>
                <a:fillRect/>
              </a:stretch>
            </p:blipFill>
            <p:spPr>
              <a:xfrm>
                <a:off x="7275185" y="3844828"/>
                <a:ext cx="99360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C541A078-7288-4B65-B01D-5A74799C7E3E}"/>
                  </a:ext>
                </a:extLst>
              </p14:cNvPr>
              <p14:cNvContentPartPr/>
              <p14:nvPr/>
            </p14:nvContentPartPr>
            <p14:xfrm>
              <a:off x="7370945" y="4865068"/>
              <a:ext cx="815040" cy="58680"/>
            </p14:xfrm>
          </p:contentPart>
        </mc:Choice>
        <mc:Fallback xmlns="">
          <p:pic>
            <p:nvPicPr>
              <p:cNvPr id="13" name="Ink 12">
                <a:extLst>
                  <a:ext uri="{FF2B5EF4-FFF2-40B4-BE49-F238E27FC236}">
                    <a16:creationId xmlns:a16="http://schemas.microsoft.com/office/drawing/2014/main" xmlns:p14="http://schemas.microsoft.com/office/powerpoint/2010/main" xmlns="" id="{C541A078-7288-4B65-B01D-5A74799C7E3E}"/>
                  </a:ext>
                </a:extLst>
              </p:cNvPr>
              <p:cNvPicPr/>
              <p:nvPr/>
            </p:nvPicPr>
            <p:blipFill>
              <a:blip r:embed="rId17"/>
              <a:stretch>
                <a:fillRect/>
              </a:stretch>
            </p:blipFill>
            <p:spPr>
              <a:xfrm>
                <a:off x="7316921" y="4757068"/>
                <a:ext cx="923088"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4B2BAA43-65A5-4559-A4E8-B83637331958}"/>
                  </a:ext>
                </a:extLst>
              </p14:cNvPr>
              <p14:cNvContentPartPr/>
              <p14:nvPr/>
            </p14:nvContentPartPr>
            <p14:xfrm>
              <a:off x="3305825" y="5472028"/>
              <a:ext cx="2691360" cy="28440"/>
            </p14:xfrm>
          </p:contentPart>
        </mc:Choice>
        <mc:Fallback xmlns="">
          <p:pic>
            <p:nvPicPr>
              <p:cNvPr id="14" name="Ink 13">
                <a:extLst>
                  <a:ext uri="{FF2B5EF4-FFF2-40B4-BE49-F238E27FC236}">
                    <a16:creationId xmlns:a16="http://schemas.microsoft.com/office/drawing/2014/main" xmlns:p14="http://schemas.microsoft.com/office/powerpoint/2010/main" xmlns="" id="{4B2BAA43-65A5-4559-A4E8-B83637331958}"/>
                  </a:ext>
                </a:extLst>
              </p:cNvPr>
              <p:cNvPicPr/>
              <p:nvPr/>
            </p:nvPicPr>
            <p:blipFill>
              <a:blip r:embed="rId19"/>
              <a:stretch>
                <a:fillRect/>
              </a:stretch>
            </p:blipFill>
            <p:spPr>
              <a:xfrm>
                <a:off x="3293585" y="5461588"/>
                <a:ext cx="2712600" cy="51120"/>
              </a:xfrm>
              <a:prstGeom prst="rect">
                <a:avLst/>
              </a:prstGeom>
            </p:spPr>
          </p:pic>
        </mc:Fallback>
      </mc:AlternateContent>
    </p:spTree>
    <p:extLst>
      <p:ext uri="{BB962C8B-B14F-4D97-AF65-F5344CB8AC3E}">
        <p14:creationId xmlns:p14="http://schemas.microsoft.com/office/powerpoint/2010/main" val="2532868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8E2B6-142A-41BF-8AE8-3A4D3C1718F3}"/>
              </a:ext>
            </a:extLst>
          </p:cNvPr>
          <p:cNvSpPr>
            <a:spLocks noGrp="1"/>
          </p:cNvSpPr>
          <p:nvPr>
            <p:ph type="title"/>
          </p:nvPr>
        </p:nvSpPr>
        <p:spPr/>
        <p:txBody>
          <a:bodyPr>
            <a:normAutofit/>
          </a:bodyPr>
          <a:lstStyle/>
          <a:p>
            <a:r>
              <a:rPr lang="en-IN" sz="4000" dirty="0"/>
              <a:t>Characterizing Schedules Based on Serializability</a:t>
            </a:r>
          </a:p>
        </p:txBody>
      </p:sp>
      <p:sp>
        <p:nvSpPr>
          <p:cNvPr id="3" name="Content Placeholder 2">
            <a:extLst>
              <a:ext uri="{FF2B5EF4-FFF2-40B4-BE49-F238E27FC236}">
                <a16:creationId xmlns:a16="http://schemas.microsoft.com/office/drawing/2014/main" id="{3FCCAD3E-F56F-447E-8969-15E71163BC8B}"/>
              </a:ext>
            </a:extLst>
          </p:cNvPr>
          <p:cNvSpPr>
            <a:spLocks noGrp="1"/>
          </p:cNvSpPr>
          <p:nvPr>
            <p:ph idx="1"/>
          </p:nvPr>
        </p:nvSpPr>
        <p:spPr>
          <a:xfrm>
            <a:off x="838199" y="1825625"/>
            <a:ext cx="11020865" cy="4667250"/>
          </a:xfrm>
        </p:spPr>
        <p:txBody>
          <a:bodyPr>
            <a:normAutofit/>
          </a:bodyPr>
          <a:lstStyle/>
          <a:p>
            <a:pPr algn="just"/>
            <a:r>
              <a:rPr lang="en-IN" dirty="0"/>
              <a:t>Suppose that two users—for example, two airline reservations agents—submit to the DBMS transactions T1 and T2 at approximately the same time. </a:t>
            </a:r>
          </a:p>
          <a:p>
            <a:pPr algn="just"/>
            <a:r>
              <a:rPr lang="en-IN" dirty="0"/>
              <a:t>If no interleaving of operations is permitted, there are only two possible outcomes:</a:t>
            </a:r>
          </a:p>
          <a:p>
            <a:pPr lvl="1" algn="just"/>
            <a:r>
              <a:rPr lang="en-IN" dirty="0"/>
              <a:t>1. Execute all the operations of transaction T1 (in sequence) followed by all the operations of transaction T2 (in sequence).</a:t>
            </a:r>
          </a:p>
          <a:p>
            <a:pPr lvl="1" algn="just"/>
            <a:r>
              <a:rPr lang="en-IN" dirty="0"/>
              <a:t>2. Execute all the operations of transaction T2 (in sequence) followed by all the operations of transaction T1 (in sequence).</a:t>
            </a:r>
          </a:p>
          <a:p>
            <a:pPr algn="just"/>
            <a:r>
              <a:rPr lang="en-IN" dirty="0"/>
              <a:t>These two schedules—called serial schedules</a:t>
            </a:r>
          </a:p>
        </p:txBody>
      </p:sp>
    </p:spTree>
    <p:extLst>
      <p:ext uri="{BB962C8B-B14F-4D97-AF65-F5344CB8AC3E}">
        <p14:creationId xmlns:p14="http://schemas.microsoft.com/office/powerpoint/2010/main" val="3588801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ACF59-EC6A-4B0B-9295-A3860CC28E70}"/>
              </a:ext>
            </a:extLst>
          </p:cNvPr>
          <p:cNvSpPr>
            <a:spLocks noGrp="1"/>
          </p:cNvSpPr>
          <p:nvPr>
            <p:ph idx="1"/>
          </p:nvPr>
        </p:nvSpPr>
        <p:spPr>
          <a:xfrm>
            <a:off x="8299938" y="393895"/>
            <a:ext cx="3696026" cy="5783068"/>
          </a:xfrm>
        </p:spPr>
        <p:txBody>
          <a:bodyPr/>
          <a:lstStyle/>
          <a:p>
            <a:r>
              <a:rPr lang="en-IN" dirty="0"/>
              <a:t>Schedule A and B are serial schedules</a:t>
            </a:r>
          </a:p>
          <a:p>
            <a:endParaRPr lang="en-IN" dirty="0"/>
          </a:p>
          <a:p>
            <a:r>
              <a:rPr lang="en-IN" dirty="0"/>
              <a:t>Schedule C is Non-Serializable Schedule</a:t>
            </a:r>
          </a:p>
          <a:p>
            <a:endParaRPr lang="en-IN" dirty="0"/>
          </a:p>
          <a:p>
            <a:r>
              <a:rPr lang="en-IN" dirty="0"/>
              <a:t>Schedule D is called as serializable schedule</a:t>
            </a:r>
          </a:p>
        </p:txBody>
      </p:sp>
      <p:pic>
        <p:nvPicPr>
          <p:cNvPr id="5" name="Picture 4">
            <a:extLst>
              <a:ext uri="{FF2B5EF4-FFF2-40B4-BE49-F238E27FC236}">
                <a16:creationId xmlns:a16="http://schemas.microsoft.com/office/drawing/2014/main" id="{663F56A5-3A90-4123-BEF8-7B89AC05E5CC}"/>
              </a:ext>
            </a:extLst>
          </p:cNvPr>
          <p:cNvPicPr>
            <a:picLocks noChangeAspect="1"/>
          </p:cNvPicPr>
          <p:nvPr/>
        </p:nvPicPr>
        <p:blipFill>
          <a:blip r:embed="rId2"/>
          <a:stretch>
            <a:fillRect/>
          </a:stretch>
        </p:blipFill>
        <p:spPr>
          <a:xfrm>
            <a:off x="196036" y="188598"/>
            <a:ext cx="8376730" cy="6465420"/>
          </a:xfrm>
          <a:prstGeom prst="rect">
            <a:avLst/>
          </a:prstGeom>
        </p:spPr>
      </p:pic>
    </p:spTree>
    <p:extLst>
      <p:ext uri="{BB962C8B-B14F-4D97-AF65-F5344CB8AC3E}">
        <p14:creationId xmlns:p14="http://schemas.microsoft.com/office/powerpoint/2010/main" val="4039800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4210-4A1A-4587-1B7C-8CCDDA13A072}"/>
              </a:ext>
            </a:extLst>
          </p:cNvPr>
          <p:cNvSpPr>
            <a:spLocks noGrp="1"/>
          </p:cNvSpPr>
          <p:nvPr>
            <p:ph type="title"/>
          </p:nvPr>
        </p:nvSpPr>
        <p:spPr>
          <a:xfrm>
            <a:off x="677334" y="609600"/>
            <a:ext cx="8596668" cy="798576"/>
          </a:xfrm>
        </p:spPr>
        <p:txBody>
          <a:bodyPr/>
          <a:lstStyle/>
          <a:p>
            <a:r>
              <a:rPr lang="en-IN" dirty="0"/>
              <a:t>Concurrency Control Protocols</a:t>
            </a:r>
          </a:p>
        </p:txBody>
      </p:sp>
      <p:sp>
        <p:nvSpPr>
          <p:cNvPr id="3" name="Content Placeholder 2">
            <a:extLst>
              <a:ext uri="{FF2B5EF4-FFF2-40B4-BE49-F238E27FC236}">
                <a16:creationId xmlns:a16="http://schemas.microsoft.com/office/drawing/2014/main" id="{65270EC5-3B15-A7DC-33C6-DF4D71AF6A3A}"/>
              </a:ext>
            </a:extLst>
          </p:cNvPr>
          <p:cNvSpPr>
            <a:spLocks noGrp="1"/>
          </p:cNvSpPr>
          <p:nvPr>
            <p:ph idx="1"/>
          </p:nvPr>
        </p:nvSpPr>
        <p:spPr/>
        <p:txBody>
          <a:bodyPr/>
          <a:lstStyle/>
          <a:p>
            <a:r>
              <a:rPr lang="en-US" dirty="0"/>
              <a:t>Concurrency control protocols ensure that concurrent execution of transactions produces the same results as some serial execution, maintaining the database's consistency (Isolation property of ACID).</a:t>
            </a:r>
          </a:p>
          <a:p>
            <a:pPr marL="0" indent="0">
              <a:buNone/>
            </a:pPr>
            <a:endParaRPr lang="en-US" dirty="0"/>
          </a:p>
          <a:p>
            <a:pPr>
              <a:buAutoNum type="arabicPeriod"/>
            </a:pPr>
            <a:r>
              <a:rPr lang="en-US" dirty="0"/>
              <a:t>Lock-Based Protocols (Two-Phase Locking - 2PL)</a:t>
            </a:r>
          </a:p>
          <a:p>
            <a:pPr>
              <a:buAutoNum type="arabicPeriod"/>
            </a:pPr>
            <a:r>
              <a:rPr lang="en-IN" dirty="0"/>
              <a:t>Timestamp Ordering Protocol</a:t>
            </a:r>
          </a:p>
          <a:p>
            <a:pPr>
              <a:buAutoNum type="arabicPeriod"/>
            </a:pPr>
            <a:r>
              <a:rPr lang="en-IN" dirty="0"/>
              <a:t>Validation-Based (Optimistic) Protocol</a:t>
            </a:r>
          </a:p>
        </p:txBody>
      </p:sp>
    </p:spTree>
    <p:extLst>
      <p:ext uri="{BB962C8B-B14F-4D97-AF65-F5344CB8AC3E}">
        <p14:creationId xmlns:p14="http://schemas.microsoft.com/office/powerpoint/2010/main" val="2308882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A3AE-DFBE-E050-2A4F-2B9B0269C651}"/>
              </a:ext>
            </a:extLst>
          </p:cNvPr>
          <p:cNvSpPr>
            <a:spLocks noGrp="1"/>
          </p:cNvSpPr>
          <p:nvPr>
            <p:ph type="title"/>
          </p:nvPr>
        </p:nvSpPr>
        <p:spPr>
          <a:xfrm>
            <a:off x="677334" y="609600"/>
            <a:ext cx="8596668" cy="515112"/>
          </a:xfrm>
        </p:spPr>
        <p:txBody>
          <a:bodyPr>
            <a:normAutofit/>
          </a:bodyPr>
          <a:lstStyle/>
          <a:p>
            <a:r>
              <a:rPr lang="en-US" sz="2400" dirty="0">
                <a:solidFill>
                  <a:schemeClr val="tx1"/>
                </a:solidFill>
              </a:rPr>
              <a:t>1. Lock-Based Protocols (Two-Phase Locking - 2PL)</a:t>
            </a:r>
            <a:endParaRPr lang="en-IN" sz="2400" dirty="0">
              <a:solidFill>
                <a:schemeClr val="tx1"/>
              </a:solidFill>
            </a:endParaRPr>
          </a:p>
        </p:txBody>
      </p:sp>
      <p:sp>
        <p:nvSpPr>
          <p:cNvPr id="4" name="Rectangle 1">
            <a:extLst>
              <a:ext uri="{FF2B5EF4-FFF2-40B4-BE49-F238E27FC236}">
                <a16:creationId xmlns:a16="http://schemas.microsoft.com/office/drawing/2014/main" id="{8FD22FCA-2F98-7DF1-4A50-760112066BA9}"/>
              </a:ext>
            </a:extLst>
          </p:cNvPr>
          <p:cNvSpPr>
            <a:spLocks noGrp="1" noChangeArrowheads="1"/>
          </p:cNvSpPr>
          <p:nvPr>
            <p:ph idx="1"/>
          </p:nvPr>
        </p:nvSpPr>
        <p:spPr bwMode="auto">
          <a:xfrm>
            <a:off x="677334" y="1159151"/>
            <a:ext cx="10149162"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This is a widely used protocol to ensure serializability. Transactions are required to request locks on data items before accessing them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 Lock Types:</a:t>
            </a:r>
            <a:endParaRPr lang="en-US" altLang="en-US" dirty="0">
              <a:solidFill>
                <a:schemeClr val="tx1"/>
              </a:solidFill>
              <a:latin typeface="Google Sans Text"/>
            </a:endParaRPr>
          </a:p>
          <a:p>
            <a:pPr marL="400050" lvl="1" indent="0" algn="just" defTabSz="914400" eaLnBrk="0" fontAlgn="base" hangingPunct="0">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Google Sans Text"/>
              </a:rPr>
              <a:t> Shared Lock (S-lock):</a:t>
            </a:r>
            <a:r>
              <a:rPr kumimoji="0" lang="en-US" altLang="en-US" b="0" i="0" u="none" strike="noStrike" cap="none" normalizeH="0" baseline="0" dirty="0">
                <a:ln>
                  <a:noFill/>
                </a:ln>
                <a:solidFill>
                  <a:schemeClr val="tx1"/>
                </a:solidFill>
                <a:effectLst/>
                <a:latin typeface="Google Sans Text"/>
              </a:rPr>
              <a:t> Allows a transaction to </a:t>
            </a:r>
            <a:r>
              <a:rPr kumimoji="0" lang="en-US" altLang="en-US" b="1" i="0" u="none" strike="noStrike" cap="none" normalizeH="0" baseline="0" dirty="0">
                <a:ln>
                  <a:noFill/>
                </a:ln>
                <a:solidFill>
                  <a:schemeClr val="tx1"/>
                </a:solidFill>
                <a:effectLst/>
                <a:latin typeface="Google Sans Text"/>
              </a:rPr>
              <a:t>read</a:t>
            </a:r>
            <a:r>
              <a:rPr kumimoji="0" lang="en-US" altLang="en-US" b="0" i="0" u="none" strike="noStrike" cap="none" normalizeH="0" baseline="0" dirty="0">
                <a:ln>
                  <a:noFill/>
                </a:ln>
                <a:solidFill>
                  <a:schemeClr val="tx1"/>
                </a:solidFill>
                <a:effectLst/>
                <a:latin typeface="Google Sans Text"/>
              </a:rPr>
              <a:t> a data item </a:t>
            </a:r>
            <a:r>
              <a:rPr kumimoji="0" lang="en-US" altLang="en-US" b="0" i="1" u="none" strike="noStrike" cap="none" normalizeH="0" baseline="0" dirty="0">
                <a:ln>
                  <a:noFill/>
                </a:ln>
                <a:solidFill>
                  <a:schemeClr val="tx1"/>
                </a:solidFill>
                <a:effectLst/>
                <a:latin typeface="Google Sans Text"/>
              </a:rPr>
              <a:t>X</a:t>
            </a:r>
            <a:r>
              <a:rPr kumimoji="0" lang="en-US" altLang="en-US" b="0" i="0" u="none" strike="noStrike" cap="none" normalizeH="0" baseline="0" dirty="0">
                <a:ln>
                  <a:noFill/>
                </a:ln>
                <a:solidFill>
                  <a:schemeClr val="tx1"/>
                </a:solidFill>
                <a:effectLst/>
                <a:latin typeface="Google Sans Text"/>
              </a:rPr>
              <a:t> (e.g., </a:t>
            </a:r>
            <a:r>
              <a:rPr kumimoji="0" lang="en-US" altLang="en-US" b="0" i="0" u="none" strike="noStrike" cap="none" normalizeH="0" baseline="0" dirty="0" err="1">
                <a:ln>
                  <a:noFill/>
                </a:ln>
                <a:solidFill>
                  <a:schemeClr val="tx1"/>
                </a:solidFill>
                <a:effectLst/>
                <a:latin typeface="Google Sans Text"/>
              </a:rPr>
              <a:t>read_item</a:t>
            </a:r>
            <a:r>
              <a:rPr kumimoji="0" lang="en-US" altLang="en-US" b="0" i="0" u="none" strike="noStrike" cap="none" normalizeH="0" baseline="0" dirty="0">
                <a:ln>
                  <a:noFill/>
                </a:ln>
                <a:solidFill>
                  <a:schemeClr val="tx1"/>
                </a:solidFill>
                <a:effectLst/>
                <a:latin typeface="Google Sans Text"/>
              </a:rPr>
              <a:t>(X)). Multiple transactions can hold S-locks on the same item simultaneously.</a:t>
            </a:r>
          </a:p>
          <a:p>
            <a:pPr marL="400050" lvl="1" indent="0" algn="just" defTabSz="914400" eaLnBrk="0" fontAlgn="base" hangingPunct="0">
              <a:spcBef>
                <a:spcPct val="0"/>
              </a:spcBef>
              <a:spcAft>
                <a:spcPct val="0"/>
              </a:spcAft>
              <a:buClrTx/>
              <a:buSzTx/>
              <a:buFontTx/>
              <a:buChar char="•"/>
            </a:pPr>
            <a:r>
              <a:rPr lang="en-US" altLang="en-US" b="1" dirty="0">
                <a:solidFill>
                  <a:schemeClr val="tx1"/>
                </a:solidFill>
                <a:latin typeface="Google Sans Text"/>
              </a:rPr>
              <a:t> Exclusive Lock (X-lock):</a:t>
            </a:r>
            <a:r>
              <a:rPr lang="en-US" altLang="en-US" dirty="0">
                <a:solidFill>
                  <a:schemeClr val="tx1"/>
                </a:solidFill>
                <a:latin typeface="Google Sans Text"/>
              </a:rPr>
              <a:t> Allows a transaction to </a:t>
            </a:r>
            <a:r>
              <a:rPr lang="en-US" altLang="en-US" b="1" dirty="0">
                <a:solidFill>
                  <a:schemeClr val="tx1"/>
                </a:solidFill>
                <a:latin typeface="Google Sans Text"/>
              </a:rPr>
              <a:t>read and write</a:t>
            </a:r>
            <a:r>
              <a:rPr lang="en-US" altLang="en-US" dirty="0">
                <a:solidFill>
                  <a:schemeClr val="tx1"/>
                </a:solidFill>
                <a:latin typeface="Google Sans Text"/>
              </a:rPr>
              <a:t> a data item X (e.g., </a:t>
            </a:r>
            <a:r>
              <a:rPr lang="en-US" altLang="en-US" dirty="0" err="1">
                <a:solidFill>
                  <a:schemeClr val="tx1"/>
                </a:solidFill>
                <a:latin typeface="Google Sans Text"/>
              </a:rPr>
              <a:t>write_item</a:t>
            </a:r>
            <a:r>
              <a:rPr lang="en-US" altLang="en-US" dirty="0">
                <a:solidFill>
                  <a:schemeClr val="tx1"/>
                </a:solidFill>
                <a:latin typeface="Google Sans Text"/>
              </a:rPr>
              <a:t>(X)). Only one transaction can hold an X-lock on an item at any time.</a:t>
            </a:r>
          </a:p>
          <a:p>
            <a:pPr marL="400050" lvl="1"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Google Sans Tex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 Two-Phase Locking (2PL):</a:t>
            </a:r>
            <a:r>
              <a:rPr kumimoji="0" lang="en-US" altLang="en-US" sz="1800" b="0" i="0" u="none" strike="noStrike" cap="none" normalizeH="0" baseline="0" dirty="0">
                <a:ln>
                  <a:noFill/>
                </a:ln>
                <a:solidFill>
                  <a:schemeClr val="tx1"/>
                </a:solidFill>
                <a:effectLst/>
                <a:latin typeface="Google Sans Text"/>
              </a:rPr>
              <a:t> Every transaction must obey the following rules:</a:t>
            </a:r>
          </a:p>
          <a:p>
            <a:pPr marL="400050" lvl="1" indent="0" algn="just" defTabSz="914400" eaLnBrk="0" fontAlgn="base" hangingPunct="0">
              <a:spcBef>
                <a:spcPct val="0"/>
              </a:spcBef>
              <a:spcAft>
                <a:spcPct val="0"/>
              </a:spcAft>
              <a:buClrTx/>
              <a:buSzTx/>
              <a:buFontTx/>
              <a:buChar char="•"/>
            </a:pPr>
            <a:r>
              <a:rPr lang="en-US" altLang="en-US" dirty="0">
                <a:solidFill>
                  <a:schemeClr val="tx1"/>
                </a:solidFill>
                <a:latin typeface="Google Sans Text"/>
              </a:rPr>
              <a:t> </a:t>
            </a:r>
            <a:r>
              <a:rPr kumimoji="0" lang="en-US" altLang="en-US" b="1" i="0" u="none" strike="noStrike" cap="none" normalizeH="0" baseline="0" dirty="0">
                <a:ln>
                  <a:noFill/>
                </a:ln>
                <a:solidFill>
                  <a:schemeClr val="tx1"/>
                </a:solidFill>
                <a:effectLst/>
                <a:latin typeface="Google Sans Text"/>
              </a:rPr>
              <a:t>Growing Phase:</a:t>
            </a:r>
            <a:r>
              <a:rPr kumimoji="0" lang="en-US" altLang="en-US" b="0" i="0" u="none" strike="noStrike" cap="none" normalizeH="0" baseline="0" dirty="0">
                <a:ln>
                  <a:noFill/>
                </a:ln>
                <a:solidFill>
                  <a:schemeClr val="tx1"/>
                </a:solidFill>
                <a:effectLst/>
                <a:latin typeface="Google Sans Text"/>
              </a:rPr>
              <a:t> A transaction can obtain locks, but cannot release any locks.</a:t>
            </a:r>
          </a:p>
          <a:p>
            <a:pPr marL="400050" lvl="1" indent="0" algn="just" defTabSz="914400" eaLnBrk="0" fontAlgn="base" hangingPunct="0">
              <a:spcBef>
                <a:spcPct val="0"/>
              </a:spcBef>
              <a:spcAft>
                <a:spcPct val="0"/>
              </a:spcAft>
              <a:buClrTx/>
              <a:buSzTx/>
              <a:buFontTx/>
              <a:buChar char="•"/>
            </a:pPr>
            <a:r>
              <a:rPr lang="en-US" altLang="en-US" b="1" dirty="0">
                <a:solidFill>
                  <a:schemeClr val="tx1"/>
                </a:solidFill>
                <a:latin typeface="Google Sans Text"/>
              </a:rPr>
              <a:t> Shrinking Phase:</a:t>
            </a:r>
            <a:r>
              <a:rPr lang="en-US" altLang="en-US" dirty="0">
                <a:solidFill>
                  <a:schemeClr val="tx1"/>
                </a:solidFill>
                <a:latin typeface="Google Sans Text"/>
              </a:rPr>
              <a:t> A transaction can release locks, but cannot obtain any new locks.</a:t>
            </a:r>
          </a:p>
          <a:p>
            <a:pPr marL="400050" lvl="1" indent="0" algn="just" defTabSz="914400" eaLnBrk="0" fontAlgn="base" hangingPunct="0">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Google Sans Tex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 Strict 2PL:</a:t>
            </a:r>
            <a:r>
              <a:rPr kumimoji="0" lang="en-US" altLang="en-US" sz="1800" b="0" i="0" u="none" strike="noStrike" cap="none" normalizeH="0" baseline="0" dirty="0">
                <a:ln>
                  <a:noFill/>
                </a:ln>
                <a:solidFill>
                  <a:schemeClr val="tx1"/>
                </a:solidFill>
                <a:effectLst/>
                <a:latin typeface="Google Sans Text"/>
              </a:rPr>
              <a:t> A variation where a transaction holds all its exclusive (write) locks until it either </a:t>
            </a:r>
            <a:r>
              <a:rPr kumimoji="0" lang="en-US" altLang="en-US" sz="1800" b="1" i="0" u="none" strike="noStrike" cap="none" normalizeH="0" baseline="0" dirty="0">
                <a:ln>
                  <a:noFill/>
                </a:ln>
                <a:solidFill>
                  <a:schemeClr val="tx1"/>
                </a:solidFill>
                <a:effectLst/>
                <a:latin typeface="Google Sans Text"/>
              </a:rPr>
              <a:t>commits</a:t>
            </a:r>
            <a:r>
              <a:rPr kumimoji="0" lang="en-US" altLang="en-US" sz="1800" b="0" i="0" u="none" strike="noStrike" cap="none" normalizeH="0" baseline="0" dirty="0">
                <a:ln>
                  <a:noFill/>
                </a:ln>
                <a:solidFill>
                  <a:schemeClr val="tx1"/>
                </a:solidFill>
                <a:effectLst/>
                <a:latin typeface="Google Sans Text"/>
              </a:rPr>
              <a:t> or </a:t>
            </a:r>
            <a:r>
              <a:rPr kumimoji="0" lang="en-US" altLang="en-US" sz="1800" b="1" i="0" u="none" strike="noStrike" cap="none" normalizeH="0" baseline="0" dirty="0">
                <a:ln>
                  <a:noFill/>
                </a:ln>
                <a:solidFill>
                  <a:schemeClr val="tx1"/>
                </a:solidFill>
                <a:effectLst/>
                <a:latin typeface="Google Sans Text"/>
              </a:rPr>
              <a:t>aborts</a:t>
            </a:r>
            <a:r>
              <a:rPr kumimoji="0" lang="en-US" altLang="en-US" sz="1800" b="0" i="0" u="none" strike="noStrike" cap="none" normalizeH="0" baseline="0" dirty="0">
                <a:ln>
                  <a:noFill/>
                </a:ln>
                <a:solidFill>
                  <a:schemeClr val="tx1"/>
                </a:solidFill>
                <a:effectLst/>
                <a:latin typeface="Google Sans Text"/>
              </a:rPr>
              <a:t>. This ensures that the schedule is </a:t>
            </a:r>
            <a:r>
              <a:rPr kumimoji="0" lang="en-US" altLang="en-US" sz="1800" b="1" i="0" u="none" strike="noStrike" cap="none" normalizeH="0" baseline="0" dirty="0">
                <a:ln>
                  <a:noFill/>
                </a:ln>
                <a:solidFill>
                  <a:schemeClr val="tx1"/>
                </a:solidFill>
                <a:effectLst/>
                <a:latin typeface="Google Sans Text"/>
              </a:rPr>
              <a:t>strict</a:t>
            </a:r>
            <a:r>
              <a:rPr kumimoji="0" lang="en-US" altLang="en-US" sz="1800" b="0" i="0" u="none" strike="noStrike" cap="none" normalizeH="0" baseline="0" dirty="0">
                <a:ln>
                  <a:noFill/>
                </a:ln>
                <a:solidFill>
                  <a:schemeClr val="tx1"/>
                </a:solidFill>
                <a:effectLst/>
                <a:latin typeface="Google Sans Text"/>
              </a:rPr>
              <a:t> (no cascading aborts are necessary) and is often preferred in practice.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2935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9789-A3D5-D84A-3BB4-DC3EDB2ADE07}"/>
              </a:ext>
            </a:extLst>
          </p:cNvPr>
          <p:cNvSpPr>
            <a:spLocks noGrp="1"/>
          </p:cNvSpPr>
          <p:nvPr>
            <p:ph type="title"/>
          </p:nvPr>
        </p:nvSpPr>
        <p:spPr>
          <a:xfrm>
            <a:off x="677334" y="609600"/>
            <a:ext cx="8596668" cy="556260"/>
          </a:xfrm>
        </p:spPr>
        <p:txBody>
          <a:bodyPr>
            <a:normAutofit/>
          </a:bodyPr>
          <a:lstStyle/>
          <a:p>
            <a:r>
              <a:rPr lang="en-IN" sz="2400" dirty="0">
                <a:solidFill>
                  <a:schemeClr val="tx1"/>
                </a:solidFill>
              </a:rPr>
              <a:t>2. Timestamp Ordering Protocol</a:t>
            </a:r>
            <a:endParaRPr lang="en-IN" sz="3200" dirty="0">
              <a:solidFill>
                <a:schemeClr val="tx1"/>
              </a:solidFill>
            </a:endParaRPr>
          </a:p>
        </p:txBody>
      </p:sp>
      <p:sp>
        <p:nvSpPr>
          <p:cNvPr id="4" name="Rectangle 1">
            <a:extLst>
              <a:ext uri="{FF2B5EF4-FFF2-40B4-BE49-F238E27FC236}">
                <a16:creationId xmlns:a16="http://schemas.microsoft.com/office/drawing/2014/main" id="{5DD07805-B6D6-1FA2-6743-68172F7E45AF}"/>
              </a:ext>
            </a:extLst>
          </p:cNvPr>
          <p:cNvSpPr>
            <a:spLocks noGrp="1" noChangeArrowheads="1"/>
          </p:cNvSpPr>
          <p:nvPr>
            <p:ph idx="1"/>
          </p:nvPr>
        </p:nvSpPr>
        <p:spPr bwMode="auto">
          <a:xfrm>
            <a:off x="677334" y="1359204"/>
            <a:ext cx="9624377"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This protocol uses timestamps to manage the order of transaction operations, ensuring that conflicts are resolved according to a predefined, static ordering.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Timestamp (</a:t>
            </a:r>
            <a:r>
              <a:rPr kumimoji="0" lang="en-US" altLang="en-US" sz="1800" b="1" i="1" u="none" strike="noStrike" cap="none" normalizeH="0" baseline="0" dirty="0">
                <a:ln>
                  <a:noFill/>
                </a:ln>
                <a:solidFill>
                  <a:schemeClr val="tx1"/>
                </a:solidFill>
                <a:effectLst/>
                <a:latin typeface="Google Sans Text"/>
              </a:rPr>
              <a:t>TS</a:t>
            </a:r>
            <a:r>
              <a:rPr kumimoji="0" lang="en-US" altLang="en-US" sz="1800" b="1" i="0" u="none" strike="noStrike" cap="none" normalizeH="0" baseline="0" dirty="0">
                <a:ln>
                  <a:noFill/>
                </a:ln>
                <a:solidFill>
                  <a:schemeClr val="tx1"/>
                </a:solidFill>
                <a:effectLst/>
                <a:latin typeface="Google Sans Text"/>
              </a:rPr>
              <a:t>(</a:t>
            </a:r>
            <a:r>
              <a:rPr kumimoji="0" lang="en-US" altLang="en-US" sz="1800" b="1" i="1" u="none" strike="noStrike" cap="none" normalizeH="0" baseline="0" dirty="0">
                <a:ln>
                  <a:noFill/>
                </a:ln>
                <a:solidFill>
                  <a:schemeClr val="tx1"/>
                </a:solidFill>
                <a:effectLst/>
                <a:latin typeface="Google Sans Text"/>
              </a:rPr>
              <a:t>T</a:t>
            </a:r>
            <a:r>
              <a:rPr kumimoji="0" lang="en-US" altLang="en-US" sz="1800" b="1" i="0" u="none" strike="noStrike" cap="none" normalizeH="0" baseline="0" dirty="0">
                <a:ln>
                  <a:noFill/>
                </a:ln>
                <a:solidFill>
                  <a:schemeClr val="tx1"/>
                </a:solidFill>
                <a:effectLst/>
                <a:latin typeface="Google Sans Text"/>
              </a:rPr>
              <a:t>)):</a:t>
            </a:r>
            <a:r>
              <a:rPr kumimoji="0" lang="en-US" altLang="en-US" sz="1800" b="0" i="0" u="none" strike="noStrike" cap="none" normalizeH="0" baseline="0" dirty="0">
                <a:ln>
                  <a:noFill/>
                </a:ln>
                <a:solidFill>
                  <a:schemeClr val="tx1"/>
                </a:solidFill>
                <a:effectLst/>
                <a:latin typeface="Google Sans Text"/>
              </a:rPr>
              <a:t> A unique identifier assigned to a transaction </a:t>
            </a:r>
            <a:r>
              <a:rPr kumimoji="0" lang="en-US" altLang="en-US" sz="1800" b="0" i="1" u="none" strike="noStrike" cap="none" normalizeH="0" baseline="0" dirty="0">
                <a:ln>
                  <a:noFill/>
                </a:ln>
                <a:solidFill>
                  <a:schemeClr val="tx1"/>
                </a:solidFill>
                <a:effectLst/>
                <a:latin typeface="Google Sans Text"/>
              </a:rPr>
              <a:t>T</a:t>
            </a:r>
            <a:r>
              <a:rPr kumimoji="0" lang="en-US" altLang="en-US" sz="1800" b="0" i="0" u="none" strike="noStrike" cap="none" normalizeH="0" baseline="0" dirty="0">
                <a:ln>
                  <a:noFill/>
                </a:ln>
                <a:solidFill>
                  <a:schemeClr val="tx1"/>
                </a:solidFill>
                <a:effectLst/>
                <a:latin typeface="Google Sans Text"/>
              </a:rPr>
              <a:t> when it starts. The older transaction (smaller timestamp) has higher priority.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Protocol Mechanism:</a:t>
            </a:r>
            <a:r>
              <a:rPr kumimoji="0" lang="en-US" altLang="en-US" sz="1800" b="0" i="0" u="none" strike="noStrike" cap="none" normalizeH="0" baseline="0" dirty="0">
                <a:ln>
                  <a:noFill/>
                </a:ln>
                <a:solidFill>
                  <a:schemeClr val="tx1"/>
                </a:solidFill>
                <a:effectLst/>
                <a:latin typeface="Google Sans Text"/>
              </a:rPr>
              <a:t> For every data item </a:t>
            </a:r>
            <a:r>
              <a:rPr kumimoji="0" lang="en-US" altLang="en-US" sz="1800" b="0" i="1" u="none" strike="noStrike" cap="none" normalizeH="0" baseline="0" dirty="0">
                <a:ln>
                  <a:noFill/>
                </a:ln>
                <a:solidFill>
                  <a:schemeClr val="tx1"/>
                </a:solidFill>
                <a:effectLst/>
                <a:latin typeface="Google Sans Text"/>
              </a:rPr>
              <a:t>X</a:t>
            </a:r>
            <a:r>
              <a:rPr kumimoji="0" lang="en-US" altLang="en-US" sz="1800" b="0" i="0" u="none" strike="noStrike" cap="none" normalizeH="0" baseline="0" dirty="0">
                <a:ln>
                  <a:noFill/>
                </a:ln>
                <a:solidFill>
                  <a:schemeClr val="tx1"/>
                </a:solidFill>
                <a:effectLst/>
                <a:latin typeface="Google Sans Text"/>
              </a:rPr>
              <a:t>, the DBMS keeps track of:</a:t>
            </a:r>
          </a:p>
          <a:p>
            <a:pPr marL="400050" lvl="1" indent="0" algn="just" defTabSz="914400" eaLnBrk="0" fontAlgn="base" hangingPunct="0">
              <a:spcBef>
                <a:spcPct val="0"/>
              </a:spcBef>
              <a:spcAft>
                <a:spcPct val="0"/>
              </a:spcAft>
              <a:buClrTx/>
              <a:buSzTx/>
              <a:buFontTx/>
              <a:buChar char="•"/>
            </a:pPr>
            <a:r>
              <a:rPr lang="en-US" altLang="en-US" dirty="0">
                <a:solidFill>
                  <a:schemeClr val="tx1"/>
                </a:solidFill>
                <a:latin typeface="Google Sans Text"/>
              </a:rPr>
              <a:t>W-TS(</a:t>
            </a:r>
            <a:r>
              <a:rPr lang="en-US" altLang="en-US" i="1" dirty="0">
                <a:solidFill>
                  <a:schemeClr val="tx1"/>
                </a:solidFill>
                <a:latin typeface="Google Sans Text"/>
              </a:rPr>
              <a:t>X</a:t>
            </a:r>
            <a:r>
              <a:rPr lang="en-US" altLang="en-US" dirty="0">
                <a:solidFill>
                  <a:schemeClr val="tx1"/>
                </a:solidFill>
                <a:latin typeface="Google Sans Text"/>
              </a:rPr>
              <a:t>): The largest timestamp of a transaction that successfully </a:t>
            </a:r>
            <a:r>
              <a:rPr lang="en-US" altLang="en-US" b="1" dirty="0">
                <a:solidFill>
                  <a:schemeClr val="tx1"/>
                </a:solidFill>
                <a:latin typeface="Google Sans Text"/>
              </a:rPr>
              <a:t>wrote</a:t>
            </a:r>
            <a:r>
              <a:rPr lang="en-US" altLang="en-US" dirty="0">
                <a:solidFill>
                  <a:schemeClr val="tx1"/>
                </a:solidFill>
                <a:latin typeface="Google Sans Text"/>
              </a:rPr>
              <a:t> </a:t>
            </a:r>
            <a:r>
              <a:rPr lang="en-US" altLang="en-US" i="1" dirty="0">
                <a:solidFill>
                  <a:schemeClr val="tx1"/>
                </a:solidFill>
                <a:latin typeface="Google Sans Text"/>
              </a:rPr>
              <a:t>X</a:t>
            </a:r>
            <a:endParaRPr kumimoji="0" lang="en-US" altLang="en-US" b="0" i="1" u="none" strike="noStrike" cap="none" normalizeH="0" baseline="0" dirty="0">
              <a:ln>
                <a:noFill/>
              </a:ln>
              <a:solidFill>
                <a:schemeClr val="tx1"/>
              </a:solidFill>
              <a:effectLst/>
              <a:latin typeface="Google Sans Text"/>
            </a:endParaRPr>
          </a:p>
          <a:p>
            <a:pPr marL="400050" lvl="1" indent="0" algn="just" defTabSz="914400" eaLnBrk="0" fontAlgn="base" hangingPunct="0">
              <a:spcBef>
                <a:spcPct val="0"/>
              </a:spcBef>
              <a:spcAft>
                <a:spcPct val="0"/>
              </a:spcAft>
              <a:buClrTx/>
              <a:buSzTx/>
              <a:buFontTx/>
              <a:buChar char="•"/>
            </a:pPr>
            <a:r>
              <a:rPr lang="en-US" altLang="en-US" dirty="0">
                <a:solidFill>
                  <a:schemeClr val="tx1"/>
                </a:solidFill>
                <a:latin typeface="Google Sans Text"/>
              </a:rPr>
              <a:t>R-TS(</a:t>
            </a:r>
            <a:r>
              <a:rPr lang="en-US" altLang="en-US" i="1" dirty="0">
                <a:solidFill>
                  <a:schemeClr val="tx1"/>
                </a:solidFill>
                <a:latin typeface="Google Sans Text"/>
              </a:rPr>
              <a:t>X</a:t>
            </a:r>
            <a:r>
              <a:rPr lang="en-US" altLang="en-US" dirty="0">
                <a:solidFill>
                  <a:schemeClr val="tx1"/>
                </a:solidFill>
                <a:latin typeface="Google Sans Text"/>
              </a:rPr>
              <a:t>): The largest timestamp of a transaction that successfully </a:t>
            </a:r>
            <a:r>
              <a:rPr lang="en-US" altLang="en-US" b="1" dirty="0">
                <a:solidFill>
                  <a:schemeClr val="tx1"/>
                </a:solidFill>
                <a:latin typeface="Google Sans Text"/>
              </a:rPr>
              <a:t>read</a:t>
            </a:r>
            <a:r>
              <a:rPr lang="en-US" altLang="en-US" dirty="0">
                <a:solidFill>
                  <a:schemeClr val="tx1"/>
                </a:solidFill>
                <a:latin typeface="Google Sans Text"/>
              </a:rPr>
              <a:t> </a:t>
            </a:r>
            <a:r>
              <a:rPr lang="en-US" altLang="en-US" i="1" dirty="0">
                <a:solidFill>
                  <a:schemeClr val="tx1"/>
                </a:solidFill>
                <a:latin typeface="Google Sans Text"/>
              </a:rPr>
              <a:t>X</a:t>
            </a:r>
            <a:r>
              <a:rPr lang="en-US" altLang="en-US" dirty="0">
                <a:solidFill>
                  <a:schemeClr val="tx1"/>
                </a:solidFill>
                <a:latin typeface="Google Sans Text"/>
              </a:rPr>
              <a:t>.</a:t>
            </a:r>
          </a:p>
          <a:p>
            <a:pPr marL="400050" lvl="1" indent="0" algn="just"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Google Sans Text"/>
            </a:endParaRPr>
          </a:p>
          <a:p>
            <a:pPr marL="0" lvl="0" indent="0" algn="just"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Google Sans Text"/>
              </a:rPr>
              <a:t> A transaction </a:t>
            </a:r>
            <a:r>
              <a:rPr kumimoji="0" lang="en-US" altLang="en-US" sz="1800" b="0" i="1" u="none" strike="noStrike" cap="none" normalizeH="0" baseline="0" dirty="0">
                <a:ln>
                  <a:noFill/>
                </a:ln>
                <a:solidFill>
                  <a:schemeClr val="tx1"/>
                </a:solidFill>
                <a:effectLst/>
                <a:latin typeface="Google Sans Text"/>
              </a:rPr>
              <a:t>T</a:t>
            </a:r>
            <a:r>
              <a:rPr kumimoji="0" lang="en-US" altLang="en-US" sz="1800" b="0" i="0" u="none" strike="noStrike" cap="none" normalizeH="0" baseline="0" dirty="0">
                <a:ln>
                  <a:noFill/>
                </a:ln>
                <a:solidFill>
                  <a:schemeClr val="tx1"/>
                </a:solidFill>
                <a:effectLst/>
                <a:latin typeface="Google Sans Text"/>
              </a:rPr>
              <a:t> will only be allowed to access X if its timestamp </a:t>
            </a:r>
            <a:r>
              <a:rPr lang="en-US" altLang="en-US" b="1" i="1" dirty="0">
                <a:solidFill>
                  <a:schemeClr val="tx1"/>
                </a:solidFill>
                <a:latin typeface="Google Sans Text"/>
              </a:rPr>
              <a:t>TS</a:t>
            </a:r>
            <a:r>
              <a:rPr lang="en-US" altLang="en-US" b="1" dirty="0">
                <a:solidFill>
                  <a:schemeClr val="tx1"/>
                </a:solidFill>
                <a:latin typeface="Google Sans Text"/>
              </a:rPr>
              <a:t>(</a:t>
            </a:r>
            <a:r>
              <a:rPr lang="en-US" altLang="en-US" b="1" i="1" dirty="0">
                <a:solidFill>
                  <a:schemeClr val="tx1"/>
                </a:solidFill>
                <a:latin typeface="Google Sans Text"/>
              </a:rPr>
              <a:t>T</a:t>
            </a:r>
            <a:r>
              <a:rPr lang="en-US" altLang="en-US" b="1" dirty="0">
                <a:solidFill>
                  <a:schemeClr val="tx1"/>
                </a:solidFill>
                <a:latin typeface="Google Sans Text"/>
              </a:rPr>
              <a:t>) </a:t>
            </a:r>
            <a:r>
              <a:rPr kumimoji="0" lang="en-US" altLang="en-US" sz="1800" b="0" i="0" u="none" strike="noStrike" cap="none" normalizeH="0" baseline="0" dirty="0">
                <a:ln>
                  <a:noFill/>
                </a:ln>
                <a:solidFill>
                  <a:schemeClr val="tx1"/>
                </a:solidFill>
                <a:effectLst/>
                <a:latin typeface="Google Sans Text"/>
              </a:rPr>
              <a:t>is compatible with </a:t>
            </a:r>
            <a:r>
              <a:rPr lang="en-US" altLang="en-US" dirty="0">
                <a:solidFill>
                  <a:schemeClr val="tx1"/>
                </a:solidFill>
                <a:latin typeface="Google Sans Text"/>
              </a:rPr>
              <a:t>W-TS(</a:t>
            </a:r>
            <a:r>
              <a:rPr lang="en-US" altLang="en-US" i="1" dirty="0">
                <a:solidFill>
                  <a:schemeClr val="tx1"/>
                </a:solidFill>
                <a:latin typeface="Google Sans Text"/>
              </a:rPr>
              <a:t>X</a:t>
            </a:r>
            <a:r>
              <a:rPr lang="en-US" altLang="en-US" dirty="0">
                <a:solidFill>
                  <a:schemeClr val="tx1"/>
                </a:solidFill>
                <a:latin typeface="Google Sans Text"/>
              </a:rPr>
              <a:t>) </a:t>
            </a:r>
            <a:r>
              <a:rPr kumimoji="0" lang="en-US" altLang="en-US" sz="1800" b="0" i="0" u="none" strike="noStrike" cap="none" normalizeH="0" baseline="0" dirty="0">
                <a:ln>
                  <a:noFill/>
                </a:ln>
                <a:solidFill>
                  <a:schemeClr val="tx1"/>
                </a:solidFill>
                <a:effectLst/>
                <a:latin typeface="Google Sans Text"/>
              </a:rPr>
              <a:t>and </a:t>
            </a:r>
            <a:r>
              <a:rPr lang="en-US" altLang="en-US" dirty="0">
                <a:solidFill>
                  <a:schemeClr val="tx1"/>
                </a:solidFill>
                <a:latin typeface="Google Sans Text"/>
              </a:rPr>
              <a:t>R-TS(</a:t>
            </a:r>
            <a:r>
              <a:rPr lang="en-US" altLang="en-US" i="1" dirty="0">
                <a:solidFill>
                  <a:schemeClr val="tx1"/>
                </a:solidFill>
                <a:latin typeface="Google Sans Text"/>
              </a:rPr>
              <a:t>X</a:t>
            </a:r>
            <a:r>
              <a:rPr lang="en-US" altLang="en-US" dirty="0">
                <a:solidFill>
                  <a:schemeClr val="tx1"/>
                </a:solidFill>
                <a:latin typeface="Google Sans Text"/>
              </a:rPr>
              <a:t>)</a:t>
            </a:r>
            <a:r>
              <a:rPr kumimoji="0" lang="en-US" altLang="en-US" sz="1800" b="0" i="0" u="none" strike="noStrike" cap="none" normalizeH="0" baseline="0" dirty="0">
                <a:ln>
                  <a:noFill/>
                </a:ln>
                <a:solidFill>
                  <a:schemeClr val="tx1"/>
                </a:solidFill>
                <a:effectLst/>
                <a:latin typeface="Google Sans Text"/>
              </a:rPr>
              <a:t>. If a request violates the ordering (e.g., an older transaction tries to write a value that a newer transaction has already read), the older transaction is typically </a:t>
            </a:r>
            <a:r>
              <a:rPr kumimoji="0" lang="en-US" altLang="en-US" sz="1800" b="1" i="0" u="none" strike="noStrike" cap="none" normalizeH="0" baseline="0" dirty="0">
                <a:ln>
                  <a:noFill/>
                </a:ln>
                <a:solidFill>
                  <a:schemeClr val="tx1"/>
                </a:solidFill>
                <a:effectLst/>
                <a:latin typeface="Google Sans Text"/>
              </a:rPr>
              <a:t>rolled back</a:t>
            </a:r>
            <a:r>
              <a:rPr kumimoji="0" lang="en-US" altLang="en-US" sz="1800" b="0" i="0" u="none" strike="noStrike" cap="none" normalizeH="0" baseline="0" dirty="0">
                <a:ln>
                  <a:noFill/>
                </a:ln>
                <a:solidFill>
                  <a:schemeClr val="tx1"/>
                </a:solidFill>
                <a:effectLst/>
                <a:latin typeface="Google Sans Text"/>
              </a:rPr>
              <a:t> and </a:t>
            </a:r>
            <a:r>
              <a:rPr kumimoji="0" lang="en-US" altLang="en-US" sz="1800" b="1" i="0" u="none" strike="noStrike" cap="none" normalizeH="0" baseline="0" dirty="0">
                <a:ln>
                  <a:noFill/>
                </a:ln>
                <a:solidFill>
                  <a:schemeClr val="tx1"/>
                </a:solidFill>
                <a:effectLst/>
                <a:latin typeface="Google Sans Text"/>
              </a:rPr>
              <a:t>restarted</a:t>
            </a:r>
            <a:r>
              <a:rPr kumimoji="0" lang="en-US" altLang="en-US" sz="1800" b="0" i="0" u="none" strike="noStrike" cap="none" normalizeH="0" baseline="0" dirty="0">
                <a:ln>
                  <a:noFill/>
                </a:ln>
                <a:solidFill>
                  <a:schemeClr val="tx1"/>
                </a:solidFill>
                <a:effectLst/>
                <a:latin typeface="Google Sans Text"/>
              </a:rPr>
              <a:t> with a new, larger timestamp.</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6626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82522-85D1-5A9A-7C76-E76C9DC16F7A}"/>
              </a:ext>
            </a:extLst>
          </p:cNvPr>
          <p:cNvSpPr>
            <a:spLocks noGrp="1"/>
          </p:cNvSpPr>
          <p:nvPr>
            <p:ph type="title"/>
          </p:nvPr>
        </p:nvSpPr>
        <p:spPr>
          <a:xfrm>
            <a:off x="677334" y="387442"/>
            <a:ext cx="8596668" cy="556260"/>
          </a:xfrm>
        </p:spPr>
        <p:txBody>
          <a:bodyPr>
            <a:normAutofit/>
          </a:bodyPr>
          <a:lstStyle/>
          <a:p>
            <a:r>
              <a:rPr lang="en-IN" sz="2400" dirty="0">
                <a:solidFill>
                  <a:schemeClr val="tx1"/>
                </a:solidFill>
              </a:rPr>
              <a:t>3. Validation-Based (Optimistic) Protocol</a:t>
            </a:r>
            <a:endParaRPr lang="en-IN" sz="3200" dirty="0">
              <a:solidFill>
                <a:schemeClr val="tx1"/>
              </a:solidFill>
            </a:endParaRPr>
          </a:p>
        </p:txBody>
      </p:sp>
      <p:sp>
        <p:nvSpPr>
          <p:cNvPr id="7" name="Rectangle 1">
            <a:extLst>
              <a:ext uri="{FF2B5EF4-FFF2-40B4-BE49-F238E27FC236}">
                <a16:creationId xmlns:a16="http://schemas.microsoft.com/office/drawing/2014/main" id="{B31959DB-E7FC-B20E-A1B3-37DFC132C589}"/>
              </a:ext>
            </a:extLst>
          </p:cNvPr>
          <p:cNvSpPr>
            <a:spLocks noGrp="1" noChangeArrowheads="1"/>
          </p:cNvSpPr>
          <p:nvPr>
            <p:ph idx="1"/>
          </p:nvPr>
        </p:nvSpPr>
        <p:spPr bwMode="auto">
          <a:xfrm>
            <a:off x="684954" y="1386137"/>
            <a:ext cx="9624377" cy="4085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lvl="0" indent="0" algn="just" defTabSz="914400" eaLnBrk="0" fontAlgn="base" hangingPunct="0">
              <a:spcBef>
                <a:spcPct val="0"/>
              </a:spcBef>
              <a:spcAft>
                <a:spcPct val="0"/>
              </a:spcAft>
              <a:buClrTx/>
              <a:buSzTx/>
              <a:buNone/>
            </a:pPr>
            <a:r>
              <a:rPr lang="en-US" dirty="0"/>
              <a:t>This protocol is based on the assumption that conflicting operations are rare, thus avoiding the overhead of checking locks or timestamps with every operation. It is "optimistic" that the transaction will successfully commit.</a:t>
            </a:r>
          </a:p>
          <a:p>
            <a:pPr marL="0" lvl="0" indent="0" algn="just" defTabSz="914400" eaLnBrk="0" fontAlgn="base" hangingPunct="0">
              <a:spcBef>
                <a:spcPct val="0"/>
              </a:spcBef>
              <a:spcAft>
                <a:spcPct val="0"/>
              </a:spcAft>
              <a:buClrTx/>
              <a:buSzTx/>
              <a:buNone/>
            </a:pPr>
            <a:endParaRPr kumimoji="0" lang="en-US" altLang="en-US" sz="1050" b="0" i="0" u="none" strike="noStrike" cap="none" normalizeH="0" baseline="0" dirty="0">
              <a:ln>
                <a:noFill/>
              </a:ln>
              <a:solidFill>
                <a:schemeClr val="tx1"/>
              </a:solidFill>
              <a:effectLst/>
              <a:latin typeface="Google Sans Text"/>
            </a:endParaRPr>
          </a:p>
          <a:p>
            <a:pPr marL="0" lvl="0" indent="0" defTabSz="914400" eaLnBrk="0" fontAlgn="base" hangingPunct="0">
              <a:spcBef>
                <a:spcPct val="0"/>
              </a:spcBef>
              <a:spcAft>
                <a:spcPct val="0"/>
              </a:spcAft>
              <a:buClrTx/>
              <a:buSzTx/>
              <a:buNone/>
            </a:pPr>
            <a:r>
              <a:rPr lang="en-US" altLang="en-US" dirty="0">
                <a:solidFill>
                  <a:schemeClr val="tx1"/>
                </a:solidFill>
                <a:latin typeface="Google Sans Text"/>
              </a:rPr>
              <a:t>A transaction </a:t>
            </a:r>
            <a:r>
              <a:rPr lang="en-US" altLang="en-US" i="1" dirty="0">
                <a:solidFill>
                  <a:schemeClr val="tx1"/>
                </a:solidFill>
                <a:latin typeface="Google Sans Text"/>
              </a:rPr>
              <a:t>T</a:t>
            </a:r>
            <a:r>
              <a:rPr lang="en-US" altLang="en-US" dirty="0">
                <a:solidFill>
                  <a:schemeClr val="tx1"/>
                </a:solidFill>
                <a:latin typeface="Google Sans Text"/>
              </a:rPr>
              <a:t> execution is divided into three phases:</a:t>
            </a:r>
          </a:p>
          <a:p>
            <a:pPr marL="0" lvl="0" indent="0" defTabSz="914400" eaLnBrk="0" fontAlgn="base" hangingPunct="0">
              <a:spcBef>
                <a:spcPct val="0"/>
              </a:spcBef>
              <a:spcAft>
                <a:spcPct val="0"/>
              </a:spcAft>
              <a:buClrTx/>
              <a:buSzTx/>
              <a:buNone/>
            </a:pPr>
            <a:endParaRPr lang="en-US" altLang="en-US" dirty="0">
              <a:solidFill>
                <a:schemeClr val="tx1"/>
              </a:solidFill>
            </a:endParaRPr>
          </a:p>
          <a:p>
            <a:pPr marL="0" lvl="0" indent="0" defTabSz="914400" eaLnBrk="0" fontAlgn="base" hangingPunct="0">
              <a:spcBef>
                <a:spcPct val="0"/>
              </a:spcBef>
              <a:spcAft>
                <a:spcPct val="0"/>
              </a:spcAft>
              <a:buClrTx/>
              <a:buSzTx/>
              <a:buFontTx/>
              <a:buAutoNum type="arabicPeriod"/>
            </a:pPr>
            <a:r>
              <a:rPr lang="en-US" altLang="en-US" b="1" dirty="0">
                <a:solidFill>
                  <a:schemeClr val="tx1"/>
                </a:solidFill>
                <a:latin typeface="Google Sans Text"/>
              </a:rPr>
              <a:t>Read Phase:</a:t>
            </a:r>
            <a:r>
              <a:rPr lang="en-US" altLang="en-US" dirty="0">
                <a:solidFill>
                  <a:schemeClr val="tx1"/>
                </a:solidFill>
                <a:latin typeface="Google Sans Text"/>
              </a:rPr>
              <a:t> </a:t>
            </a:r>
            <a:r>
              <a:rPr lang="en-US" altLang="en-US" i="1" dirty="0">
                <a:solidFill>
                  <a:schemeClr val="tx1"/>
                </a:solidFill>
                <a:latin typeface="Google Sans Text"/>
              </a:rPr>
              <a:t>T</a:t>
            </a:r>
            <a:r>
              <a:rPr lang="en-US" altLang="en-US" dirty="0">
                <a:solidFill>
                  <a:schemeClr val="tx1"/>
                </a:solidFill>
                <a:latin typeface="Google Sans Text"/>
              </a:rPr>
              <a:t> executes and performs all its read and write operations. All updates are applied only to local copies of data items (in the buffer).</a:t>
            </a:r>
            <a:endParaRPr lang="en-US" altLang="en-US" sz="800" dirty="0">
              <a:solidFill>
                <a:schemeClr val="tx1"/>
              </a:solidFill>
              <a:latin typeface="Google Sans Text"/>
            </a:endParaRPr>
          </a:p>
          <a:p>
            <a:pPr marL="0" lvl="0" indent="0" defTabSz="914400" eaLnBrk="0" fontAlgn="base" hangingPunct="0">
              <a:spcBef>
                <a:spcPct val="0"/>
              </a:spcBef>
              <a:spcAft>
                <a:spcPct val="0"/>
              </a:spcAft>
              <a:buClrTx/>
              <a:buSzTx/>
              <a:buFontTx/>
              <a:buAutoNum type="arabicPeriod"/>
            </a:pPr>
            <a:endParaRPr lang="en-US" altLang="en-US" dirty="0">
              <a:solidFill>
                <a:schemeClr val="tx1"/>
              </a:solidFill>
              <a:latin typeface="Google Sans Text"/>
            </a:endParaRPr>
          </a:p>
          <a:p>
            <a:pPr marL="0" lvl="0" indent="0" defTabSz="914400" eaLnBrk="0" fontAlgn="base" hangingPunct="0">
              <a:spcBef>
                <a:spcPct val="0"/>
              </a:spcBef>
              <a:spcAft>
                <a:spcPct val="0"/>
              </a:spcAft>
              <a:buClrTx/>
              <a:buSzTx/>
              <a:buFontTx/>
              <a:buAutoNum type="arabicPeriod" startAt="2"/>
            </a:pPr>
            <a:r>
              <a:rPr lang="en-US" altLang="en-US" b="1" dirty="0">
                <a:solidFill>
                  <a:schemeClr val="tx1"/>
                </a:solidFill>
                <a:latin typeface="Google Sans Text"/>
              </a:rPr>
              <a:t>Validation Phase:</a:t>
            </a:r>
            <a:r>
              <a:rPr lang="en-US" altLang="en-US" dirty="0">
                <a:solidFill>
                  <a:schemeClr val="tx1"/>
                </a:solidFill>
                <a:latin typeface="Google Sans Text"/>
              </a:rPr>
              <a:t> </a:t>
            </a:r>
            <a:r>
              <a:rPr lang="en-US" altLang="en-US" i="1" dirty="0">
                <a:solidFill>
                  <a:schemeClr val="tx1"/>
                </a:solidFill>
                <a:latin typeface="Google Sans Text"/>
              </a:rPr>
              <a:t>T</a:t>
            </a:r>
            <a:r>
              <a:rPr lang="en-US" altLang="en-US" dirty="0">
                <a:solidFill>
                  <a:schemeClr val="tx1"/>
                </a:solidFill>
                <a:latin typeface="Google Sans Text"/>
              </a:rPr>
              <a:t> is checked to see if it violates serializability. This check ensures that </a:t>
            </a:r>
            <a:r>
              <a:rPr lang="en-US" altLang="en-US" i="1" dirty="0">
                <a:solidFill>
                  <a:schemeClr val="tx1"/>
                </a:solidFill>
                <a:latin typeface="Google Sans Text"/>
              </a:rPr>
              <a:t>T</a:t>
            </a:r>
            <a:r>
              <a:rPr lang="en-US" altLang="en-US" dirty="0">
                <a:solidFill>
                  <a:schemeClr val="tx1"/>
                </a:solidFill>
                <a:latin typeface="Google Sans Text"/>
              </a:rPr>
              <a:t> and any currently committed transactions do not conflict.</a:t>
            </a:r>
          </a:p>
          <a:p>
            <a:pPr marL="0" lvl="0" indent="0" defTabSz="914400" eaLnBrk="0" fontAlgn="base" hangingPunct="0">
              <a:spcBef>
                <a:spcPct val="0"/>
              </a:spcBef>
              <a:spcAft>
                <a:spcPct val="0"/>
              </a:spcAft>
              <a:buClrTx/>
              <a:buSzTx/>
              <a:buNone/>
            </a:pPr>
            <a:endParaRPr lang="en-US" altLang="en-US"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FontTx/>
              <a:buAutoNum type="arabicPeriod" startAt="3"/>
            </a:pPr>
            <a:r>
              <a:rPr lang="en-US" altLang="en-US" b="1" dirty="0">
                <a:solidFill>
                  <a:schemeClr val="tx1"/>
                </a:solidFill>
                <a:latin typeface="Google Sans Text"/>
              </a:rPr>
              <a:t>Write Phase:</a:t>
            </a:r>
            <a:r>
              <a:rPr lang="en-US" altLang="en-US" dirty="0">
                <a:solidFill>
                  <a:schemeClr val="tx1"/>
                </a:solidFill>
                <a:latin typeface="Google Sans Text"/>
              </a:rPr>
              <a:t> If the validation is successful, the local updates are applied to the actual database; otherwise, </a:t>
            </a:r>
            <a:r>
              <a:rPr lang="en-US" altLang="en-US" i="1" dirty="0">
                <a:solidFill>
                  <a:schemeClr val="tx1"/>
                </a:solidFill>
                <a:latin typeface="Google Sans Text"/>
              </a:rPr>
              <a:t>T</a:t>
            </a:r>
            <a:r>
              <a:rPr lang="en-US" altLang="en-US" dirty="0">
                <a:solidFill>
                  <a:schemeClr val="tx1"/>
                </a:solidFill>
                <a:latin typeface="Google Sans Text"/>
              </a:rPr>
              <a:t> is </a:t>
            </a:r>
            <a:r>
              <a:rPr lang="en-US" altLang="en-US" b="1" dirty="0">
                <a:solidFill>
                  <a:schemeClr val="tx1"/>
                </a:solidFill>
                <a:latin typeface="Google Sans Text"/>
              </a:rPr>
              <a:t>rolled back</a:t>
            </a:r>
            <a:r>
              <a:rPr lang="en-US" altLang="en-US" dirty="0">
                <a:solidFill>
                  <a:schemeClr val="tx1"/>
                </a:solidFill>
                <a:latin typeface="Google Sans Text"/>
              </a:rPr>
              <a:t> (aborted)</a:t>
            </a:r>
            <a:r>
              <a:rPr lang="en-US" altLang="en-US" sz="1200" baseline="30000" dirty="0">
                <a:solidFill>
                  <a:schemeClr val="tx1"/>
                </a:solidFill>
                <a:latin typeface="Google Sans Text"/>
              </a:rPr>
              <a:t>.</a:t>
            </a:r>
            <a:endParaRPr lang="en-US" altLang="en-US" dirty="0">
              <a:solidFill>
                <a:schemeClr val="tx1"/>
              </a:solidFill>
              <a:latin typeface="Google Sans Text"/>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4451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C31A8-776A-25EC-AAC9-9A9246982B95}"/>
              </a:ext>
            </a:extLst>
          </p:cNvPr>
          <p:cNvSpPr>
            <a:spLocks noGrp="1"/>
          </p:cNvSpPr>
          <p:nvPr>
            <p:ph type="title"/>
          </p:nvPr>
        </p:nvSpPr>
        <p:spPr>
          <a:xfrm>
            <a:off x="677334" y="609600"/>
            <a:ext cx="8596668" cy="660400"/>
          </a:xfrm>
        </p:spPr>
        <p:txBody>
          <a:bodyPr/>
          <a:lstStyle/>
          <a:p>
            <a:r>
              <a:rPr lang="en-IN" sz="3200" dirty="0"/>
              <a:t>Deadlock Management</a:t>
            </a:r>
            <a:endParaRPr lang="en-IN" dirty="0"/>
          </a:p>
        </p:txBody>
      </p:sp>
      <p:sp>
        <p:nvSpPr>
          <p:cNvPr id="7" name="TextBox 6">
            <a:extLst>
              <a:ext uri="{FF2B5EF4-FFF2-40B4-BE49-F238E27FC236}">
                <a16:creationId xmlns:a16="http://schemas.microsoft.com/office/drawing/2014/main" id="{2BACAD09-8CD6-DD9A-0F41-3B82ED34E621}"/>
              </a:ext>
            </a:extLst>
          </p:cNvPr>
          <p:cNvSpPr txBox="1"/>
          <p:nvPr/>
        </p:nvSpPr>
        <p:spPr>
          <a:xfrm>
            <a:off x="677334" y="1582341"/>
            <a:ext cx="10854266" cy="3139321"/>
          </a:xfrm>
          <a:prstGeom prst="rect">
            <a:avLst/>
          </a:prstGeom>
          <a:noFill/>
        </p:spPr>
        <p:txBody>
          <a:bodyPr wrap="square">
            <a:spAutoFit/>
          </a:bodyPr>
          <a:lstStyle/>
          <a:p>
            <a:pPr>
              <a:buNone/>
            </a:pPr>
            <a:r>
              <a:rPr lang="en-US" b="1" dirty="0"/>
              <a:t>Deadlock</a:t>
            </a:r>
          </a:p>
          <a:p>
            <a:pPr>
              <a:buFont typeface="Arial" panose="020B0604020202020204" pitchFamily="34" charset="0"/>
              <a:buChar char="•"/>
            </a:pPr>
            <a:r>
              <a:rPr lang="en-US" dirty="0"/>
              <a:t> A </a:t>
            </a:r>
            <a:r>
              <a:rPr lang="en-US" b="1" dirty="0"/>
              <a:t>deadlock</a:t>
            </a:r>
            <a:r>
              <a:rPr lang="en-US" dirty="0"/>
              <a:t> occurs when two or more transactions wait indefinitely for each other to release locks.</a:t>
            </a:r>
          </a:p>
          <a:p>
            <a:pPr>
              <a:buFont typeface="Arial" panose="020B0604020202020204" pitchFamily="34" charset="0"/>
              <a:buChar char="•"/>
            </a:pPr>
            <a:r>
              <a:rPr lang="en-US" dirty="0"/>
              <a:t> Common in </a:t>
            </a:r>
            <a:r>
              <a:rPr lang="en-US" b="1" dirty="0"/>
              <a:t>lock-based concurrency control protocols</a:t>
            </a:r>
            <a:r>
              <a:rPr lang="en-US" dirty="0"/>
              <a:t> such as </a:t>
            </a:r>
            <a:r>
              <a:rPr lang="en-US" b="1" dirty="0"/>
              <a:t>Two-Phase Locking (2PL)</a:t>
            </a:r>
            <a:r>
              <a:rPr lang="en-US" dirty="0"/>
              <a:t>.</a:t>
            </a:r>
          </a:p>
          <a:p>
            <a:pPr>
              <a:buFont typeface="Arial" panose="020B0604020202020204" pitchFamily="34" charset="0"/>
              <a:buChar char="•"/>
            </a:pPr>
            <a:r>
              <a:rPr lang="en-US" dirty="0"/>
              <a:t> Results in </a:t>
            </a:r>
            <a:r>
              <a:rPr lang="en-US" b="1" dirty="0"/>
              <a:t>system halt for those transactions</a:t>
            </a:r>
            <a:r>
              <a:rPr lang="en-US" dirty="0"/>
              <a:t> unless handled by DBMS.</a:t>
            </a:r>
          </a:p>
          <a:p>
            <a:pPr>
              <a:buNone/>
            </a:pPr>
            <a:br>
              <a:rPr lang="en-US" dirty="0"/>
            </a:br>
            <a:endParaRPr lang="en-US" dirty="0"/>
          </a:p>
          <a:p>
            <a:pPr>
              <a:buNone/>
            </a:pPr>
            <a:r>
              <a:rPr lang="en-US" b="1" dirty="0"/>
              <a:t>Deadlock Management Techniques</a:t>
            </a:r>
          </a:p>
          <a:p>
            <a:pPr>
              <a:buNone/>
            </a:pPr>
            <a:endParaRPr lang="en-US" sz="1200" b="1" dirty="0"/>
          </a:p>
          <a:p>
            <a:pPr>
              <a:buNone/>
            </a:pPr>
            <a:r>
              <a:rPr lang="en-US" dirty="0"/>
              <a:t>DBMS handles deadlocks using two approaches:</a:t>
            </a:r>
          </a:p>
          <a:p>
            <a:pPr>
              <a:buFont typeface="+mj-lt"/>
              <a:buAutoNum type="arabicPeriod"/>
            </a:pPr>
            <a:r>
              <a:rPr lang="en-US" b="1" dirty="0"/>
              <a:t> Deadlock Prevention</a:t>
            </a:r>
            <a:endParaRPr lang="en-US" dirty="0"/>
          </a:p>
          <a:p>
            <a:pPr>
              <a:buFont typeface="+mj-lt"/>
              <a:buAutoNum type="arabicPeriod"/>
            </a:pPr>
            <a:r>
              <a:rPr lang="en-US" b="1" dirty="0"/>
              <a:t> Deadlock Detection and Recovery</a:t>
            </a:r>
            <a:endParaRPr lang="en-US" dirty="0"/>
          </a:p>
        </p:txBody>
      </p:sp>
    </p:spTree>
    <p:extLst>
      <p:ext uri="{BB962C8B-B14F-4D97-AF65-F5344CB8AC3E}">
        <p14:creationId xmlns:p14="http://schemas.microsoft.com/office/powerpoint/2010/main" val="637480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D817A-5278-57FD-4836-6745DE99D551}"/>
              </a:ext>
            </a:extLst>
          </p:cNvPr>
          <p:cNvSpPr txBox="1"/>
          <p:nvPr/>
        </p:nvSpPr>
        <p:spPr>
          <a:xfrm>
            <a:off x="995680" y="671691"/>
            <a:ext cx="10200640" cy="5786199"/>
          </a:xfrm>
          <a:prstGeom prst="rect">
            <a:avLst/>
          </a:prstGeom>
          <a:noFill/>
        </p:spPr>
        <p:txBody>
          <a:bodyPr wrap="square">
            <a:spAutoFit/>
          </a:bodyPr>
          <a:lstStyle/>
          <a:p>
            <a:pPr>
              <a:buNone/>
            </a:pPr>
            <a:r>
              <a:rPr lang="en-US" sz="2400" b="1" dirty="0"/>
              <a:t>1. Deadlock Prevention</a:t>
            </a:r>
          </a:p>
          <a:p>
            <a:pPr>
              <a:buNone/>
            </a:pPr>
            <a:br>
              <a:rPr lang="en-US" dirty="0"/>
            </a:br>
            <a:endParaRPr lang="en-US" dirty="0"/>
          </a:p>
          <a:p>
            <a:pPr>
              <a:buNone/>
            </a:pPr>
            <a:r>
              <a:rPr lang="en-US" b="1" dirty="0"/>
              <a:t>Deadlock Prevention</a:t>
            </a:r>
          </a:p>
          <a:p>
            <a:pPr>
              <a:buFont typeface="Arial" panose="020B0604020202020204" pitchFamily="34" charset="0"/>
              <a:buChar char="•"/>
            </a:pPr>
            <a:r>
              <a:rPr lang="en-US" dirty="0"/>
              <a:t>DBMS ensures that </a:t>
            </a:r>
            <a:r>
              <a:rPr lang="en-US" b="1" dirty="0"/>
              <a:t>deadlocks never occur</a:t>
            </a:r>
            <a:r>
              <a:rPr lang="en-US" dirty="0"/>
              <a:t>.</a:t>
            </a:r>
          </a:p>
          <a:p>
            <a:pPr>
              <a:buFont typeface="Arial" panose="020B0604020202020204" pitchFamily="34" charset="0"/>
              <a:buChar char="•"/>
            </a:pPr>
            <a:r>
              <a:rPr lang="en-US" dirty="0"/>
              <a:t>Achieved by </a:t>
            </a:r>
            <a:r>
              <a:rPr lang="en-US" b="1" dirty="0"/>
              <a:t>restricting the way transactions request locks</a:t>
            </a:r>
            <a:r>
              <a:rPr lang="en-US" dirty="0"/>
              <a:t>.</a:t>
            </a:r>
          </a:p>
          <a:p>
            <a:pPr>
              <a:buFont typeface="Arial" panose="020B0604020202020204" pitchFamily="34" charset="0"/>
              <a:buChar char="•"/>
            </a:pPr>
            <a:r>
              <a:rPr lang="en-US" dirty="0"/>
              <a:t>May lead to </a:t>
            </a:r>
            <a:r>
              <a:rPr lang="en-US" b="1" dirty="0"/>
              <a:t>reduced concurrency</a:t>
            </a:r>
            <a:r>
              <a:rPr lang="en-US" dirty="0"/>
              <a:t>, but avoids deadlocks completely.</a:t>
            </a:r>
          </a:p>
          <a:p>
            <a:pPr>
              <a:buNone/>
            </a:pPr>
            <a:br>
              <a:rPr lang="en-US" dirty="0"/>
            </a:br>
            <a:endParaRPr lang="en-US" dirty="0"/>
          </a:p>
          <a:p>
            <a:pPr>
              <a:buNone/>
            </a:pPr>
            <a:r>
              <a:rPr lang="en-US" b="1" dirty="0"/>
              <a:t>Pre-claiming of Locks</a:t>
            </a:r>
          </a:p>
          <a:p>
            <a:pPr>
              <a:buFont typeface="Arial" panose="020B0604020202020204" pitchFamily="34" charset="0"/>
              <a:buChar char="•"/>
            </a:pPr>
            <a:r>
              <a:rPr lang="en-US" dirty="0"/>
              <a:t>A transaction must </a:t>
            </a:r>
            <a:r>
              <a:rPr lang="en-US" b="1" dirty="0"/>
              <a:t>acquire all required locks before execution begins</a:t>
            </a:r>
            <a:r>
              <a:rPr lang="en-US" dirty="0"/>
              <a:t>.</a:t>
            </a:r>
          </a:p>
          <a:p>
            <a:pPr>
              <a:buFont typeface="Arial" panose="020B0604020202020204" pitchFamily="34" charset="0"/>
              <a:buChar char="•"/>
            </a:pPr>
            <a:r>
              <a:rPr lang="en-US" dirty="0"/>
              <a:t>If any lock is unavailable:</a:t>
            </a:r>
          </a:p>
          <a:p>
            <a:pPr marL="742950" lvl="1" indent="-285750">
              <a:buFont typeface="Arial" panose="020B0604020202020204" pitchFamily="34" charset="0"/>
              <a:buChar char="•"/>
            </a:pPr>
            <a:r>
              <a:rPr lang="en-US" dirty="0"/>
              <a:t>Transaction </a:t>
            </a:r>
            <a:r>
              <a:rPr lang="en-US" b="1" dirty="0"/>
              <a:t>waits</a:t>
            </a:r>
            <a:r>
              <a:rPr lang="en-US" dirty="0"/>
              <a:t> or is </a:t>
            </a:r>
            <a:r>
              <a:rPr lang="en-US" b="1" dirty="0"/>
              <a:t>aborted</a:t>
            </a:r>
            <a:r>
              <a:rPr lang="en-US" dirty="0"/>
              <a:t>.</a:t>
            </a:r>
          </a:p>
          <a:p>
            <a:pPr>
              <a:buFont typeface="Arial" panose="020B0604020202020204" pitchFamily="34" charset="0"/>
              <a:buChar char="•"/>
            </a:pPr>
            <a:r>
              <a:rPr lang="en-US" dirty="0"/>
              <a:t>Prevents </a:t>
            </a:r>
            <a:r>
              <a:rPr lang="en-US" b="1" dirty="0"/>
              <a:t>hold and wait condition</a:t>
            </a:r>
            <a:r>
              <a:rPr lang="en-US" dirty="0"/>
              <a:t>.</a:t>
            </a:r>
          </a:p>
          <a:p>
            <a:pPr>
              <a:buNone/>
            </a:pPr>
            <a:br>
              <a:rPr lang="en-US" dirty="0"/>
            </a:br>
            <a:endParaRPr lang="en-US" dirty="0"/>
          </a:p>
          <a:p>
            <a:pPr>
              <a:buNone/>
            </a:pPr>
            <a:r>
              <a:rPr lang="en-US" b="1" dirty="0"/>
              <a:t>Lock Ordering</a:t>
            </a:r>
          </a:p>
          <a:p>
            <a:pPr>
              <a:buFont typeface="Arial" panose="020B0604020202020204" pitchFamily="34" charset="0"/>
              <a:buChar char="•"/>
            </a:pPr>
            <a:r>
              <a:rPr lang="en-US" dirty="0"/>
              <a:t>A </a:t>
            </a:r>
            <a:r>
              <a:rPr lang="en-US" b="1" dirty="0"/>
              <a:t>global order</a:t>
            </a:r>
            <a:r>
              <a:rPr lang="en-US" dirty="0"/>
              <a:t> is assigned to all data items.</a:t>
            </a:r>
          </a:p>
          <a:p>
            <a:pPr>
              <a:buFont typeface="Arial" panose="020B0604020202020204" pitchFamily="34" charset="0"/>
              <a:buChar char="•"/>
            </a:pPr>
            <a:r>
              <a:rPr lang="en-US" dirty="0"/>
              <a:t>Transactions must request locks </a:t>
            </a:r>
            <a:r>
              <a:rPr lang="en-US" b="1" dirty="0"/>
              <a:t>only in that predefined order</a:t>
            </a:r>
            <a:r>
              <a:rPr lang="en-US" dirty="0"/>
              <a:t>.</a:t>
            </a:r>
          </a:p>
          <a:p>
            <a:pPr>
              <a:buFont typeface="Arial" panose="020B0604020202020204" pitchFamily="34" charset="0"/>
              <a:buChar char="•"/>
            </a:pPr>
            <a:r>
              <a:rPr lang="en-US" dirty="0"/>
              <a:t>Prevents </a:t>
            </a:r>
            <a:r>
              <a:rPr lang="en-US" b="1" dirty="0"/>
              <a:t>circular wait condition</a:t>
            </a:r>
            <a:r>
              <a:rPr lang="en-US" dirty="0"/>
              <a:t>.</a:t>
            </a:r>
          </a:p>
        </p:txBody>
      </p:sp>
    </p:spTree>
    <p:extLst>
      <p:ext uri="{BB962C8B-B14F-4D97-AF65-F5344CB8AC3E}">
        <p14:creationId xmlns:p14="http://schemas.microsoft.com/office/powerpoint/2010/main" val="1408261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D00F46-C0D8-B889-EE8A-EE5E47BC7DCA}"/>
              </a:ext>
            </a:extLst>
          </p:cNvPr>
          <p:cNvSpPr txBox="1"/>
          <p:nvPr/>
        </p:nvSpPr>
        <p:spPr>
          <a:xfrm>
            <a:off x="1107440" y="58847"/>
            <a:ext cx="8044180" cy="6463308"/>
          </a:xfrm>
          <a:prstGeom prst="rect">
            <a:avLst/>
          </a:prstGeom>
          <a:noFill/>
        </p:spPr>
        <p:txBody>
          <a:bodyPr wrap="square">
            <a:spAutoFit/>
          </a:bodyPr>
          <a:lstStyle/>
          <a:p>
            <a:pPr>
              <a:buNone/>
            </a:pPr>
            <a:endParaRPr lang="en-US" dirty="0"/>
          </a:p>
          <a:p>
            <a:pPr>
              <a:buNone/>
            </a:pPr>
            <a:r>
              <a:rPr lang="en-US" b="1" dirty="0"/>
              <a:t>Timestamp-Based Deadlock Prevention</a:t>
            </a:r>
          </a:p>
          <a:p>
            <a:pPr>
              <a:buFont typeface="Arial" panose="020B0604020202020204" pitchFamily="34" charset="0"/>
              <a:buChar char="•"/>
            </a:pPr>
            <a:r>
              <a:rPr lang="en-US" dirty="0"/>
              <a:t>Each transaction is assigned a </a:t>
            </a:r>
            <a:r>
              <a:rPr lang="en-US" b="1" dirty="0"/>
              <a:t>timestamp (TS)</a:t>
            </a:r>
            <a:r>
              <a:rPr lang="en-US" dirty="0"/>
              <a:t> when it starts.</a:t>
            </a:r>
          </a:p>
          <a:p>
            <a:pPr>
              <a:buFont typeface="Arial" panose="020B0604020202020204" pitchFamily="34" charset="0"/>
              <a:buChar char="•"/>
            </a:pPr>
            <a:r>
              <a:rPr lang="en-US" dirty="0"/>
              <a:t>Older transactions have </a:t>
            </a:r>
            <a:r>
              <a:rPr lang="en-US" b="1" dirty="0"/>
              <a:t>higher priority</a:t>
            </a:r>
            <a:r>
              <a:rPr lang="en-US" dirty="0"/>
              <a:t>.</a:t>
            </a:r>
          </a:p>
          <a:p>
            <a:pPr>
              <a:buFont typeface="Arial" panose="020B0604020202020204" pitchFamily="34" charset="0"/>
              <a:buChar char="•"/>
            </a:pPr>
            <a:r>
              <a:rPr lang="en-US" dirty="0"/>
              <a:t>Two popular schemes:</a:t>
            </a:r>
          </a:p>
          <a:p>
            <a:pPr marL="742950" lvl="1" indent="-285750">
              <a:buFont typeface="Arial" panose="020B0604020202020204" pitchFamily="34" charset="0"/>
              <a:buChar char="•"/>
            </a:pPr>
            <a:r>
              <a:rPr lang="en-US" b="1" dirty="0"/>
              <a:t>Wait-Die</a:t>
            </a:r>
            <a:endParaRPr lang="en-US" dirty="0"/>
          </a:p>
          <a:p>
            <a:pPr marL="742950" lvl="1" indent="-285750">
              <a:buFont typeface="Arial" panose="020B0604020202020204" pitchFamily="34" charset="0"/>
              <a:buChar char="•"/>
            </a:pPr>
            <a:r>
              <a:rPr lang="en-US" b="1" dirty="0"/>
              <a:t>Wound-Wait</a:t>
            </a:r>
            <a:endParaRPr lang="en-US" dirty="0"/>
          </a:p>
          <a:p>
            <a:pPr>
              <a:buNone/>
            </a:pPr>
            <a:br>
              <a:rPr lang="en-US" dirty="0"/>
            </a:br>
            <a:endParaRPr lang="en-US" dirty="0"/>
          </a:p>
          <a:p>
            <a:pPr>
              <a:buNone/>
            </a:pPr>
            <a:r>
              <a:rPr lang="en-US" b="1" dirty="0"/>
              <a:t>Wait-Die Scheme</a:t>
            </a:r>
          </a:p>
          <a:p>
            <a:pPr>
              <a:buFont typeface="Arial" panose="020B0604020202020204" pitchFamily="34" charset="0"/>
              <a:buChar char="•"/>
            </a:pPr>
            <a:r>
              <a:rPr lang="en-US" dirty="0"/>
              <a:t>If </a:t>
            </a:r>
            <a:r>
              <a:rPr lang="en-US" dirty="0">
                <a:latin typeface="Courier New" panose="02070309020205020404" pitchFamily="49" charset="0"/>
              </a:rPr>
              <a:t>TS(Ti) &lt; TS(</a:t>
            </a:r>
            <a:r>
              <a:rPr lang="en-US" dirty="0" err="1">
                <a:latin typeface="Courier New" panose="02070309020205020404" pitchFamily="49" charset="0"/>
              </a:rPr>
              <a:t>Tj</a:t>
            </a:r>
            <a:r>
              <a:rPr lang="en-US" dirty="0">
                <a:latin typeface="Courier New" panose="02070309020205020404" pitchFamily="49" charset="0"/>
              </a:rPr>
              <a:t>)</a:t>
            </a:r>
            <a:r>
              <a:rPr lang="en-US" dirty="0"/>
              <a:t> (Ti is </a:t>
            </a:r>
            <a:r>
              <a:rPr lang="en-US" b="1" dirty="0"/>
              <a:t>older</a:t>
            </a:r>
            <a:r>
              <a:rPr lang="en-US" dirty="0"/>
              <a:t>):</a:t>
            </a:r>
          </a:p>
          <a:p>
            <a:pPr marL="742950" lvl="1" indent="-285750">
              <a:buFont typeface="Arial" panose="020B0604020202020204" pitchFamily="34" charset="0"/>
              <a:buChar char="•"/>
            </a:pPr>
            <a:r>
              <a:rPr lang="en-US" dirty="0"/>
              <a:t>Ti is </a:t>
            </a:r>
            <a:r>
              <a:rPr lang="en-US" b="1" dirty="0"/>
              <a:t>allowed to wait</a:t>
            </a:r>
            <a:r>
              <a:rPr lang="en-US" dirty="0"/>
              <a:t> for </a:t>
            </a:r>
            <a:r>
              <a:rPr lang="en-US" dirty="0" err="1"/>
              <a:t>Tj</a:t>
            </a:r>
            <a:r>
              <a:rPr lang="en-US" dirty="0"/>
              <a:t>.</a:t>
            </a:r>
          </a:p>
          <a:p>
            <a:pPr>
              <a:buFont typeface="Arial" panose="020B0604020202020204" pitchFamily="34" charset="0"/>
              <a:buChar char="•"/>
            </a:pPr>
            <a:r>
              <a:rPr lang="en-US" dirty="0"/>
              <a:t>If </a:t>
            </a:r>
            <a:r>
              <a:rPr lang="en-US" dirty="0">
                <a:latin typeface="Courier New" panose="02070309020205020404" pitchFamily="49" charset="0"/>
              </a:rPr>
              <a:t>TS(Ti) &gt; TS(</a:t>
            </a:r>
            <a:r>
              <a:rPr lang="en-US" dirty="0" err="1">
                <a:latin typeface="Courier New" panose="02070309020205020404" pitchFamily="49" charset="0"/>
              </a:rPr>
              <a:t>Tj</a:t>
            </a:r>
            <a:r>
              <a:rPr lang="en-US" dirty="0">
                <a:latin typeface="Courier New" panose="02070309020205020404" pitchFamily="49" charset="0"/>
              </a:rPr>
              <a:t>)</a:t>
            </a:r>
            <a:r>
              <a:rPr lang="en-US" dirty="0"/>
              <a:t> (Ti is </a:t>
            </a:r>
            <a:r>
              <a:rPr lang="en-US" b="1" dirty="0"/>
              <a:t>younger</a:t>
            </a:r>
            <a:r>
              <a:rPr lang="en-US" dirty="0"/>
              <a:t>):</a:t>
            </a:r>
          </a:p>
          <a:p>
            <a:pPr marL="742950" lvl="1" indent="-285750">
              <a:buFont typeface="Arial" panose="020B0604020202020204" pitchFamily="34" charset="0"/>
              <a:buChar char="•"/>
            </a:pPr>
            <a:r>
              <a:rPr lang="en-US" dirty="0"/>
              <a:t>Ti is </a:t>
            </a:r>
            <a:r>
              <a:rPr lang="en-US" b="1" dirty="0"/>
              <a:t>aborted (dies)</a:t>
            </a:r>
            <a:r>
              <a:rPr lang="en-US" dirty="0"/>
              <a:t> and restarted later.</a:t>
            </a:r>
          </a:p>
          <a:p>
            <a:pPr>
              <a:buFont typeface="Arial" panose="020B0604020202020204" pitchFamily="34" charset="0"/>
              <a:buChar char="•"/>
            </a:pPr>
            <a:r>
              <a:rPr lang="en-US" dirty="0"/>
              <a:t>Non-preemptive scheme.</a:t>
            </a:r>
          </a:p>
          <a:p>
            <a:pPr>
              <a:buNone/>
            </a:pPr>
            <a:br>
              <a:rPr lang="en-US" dirty="0"/>
            </a:br>
            <a:endParaRPr lang="en-US" dirty="0"/>
          </a:p>
          <a:p>
            <a:pPr>
              <a:buNone/>
            </a:pPr>
            <a:r>
              <a:rPr lang="en-US" b="1" dirty="0"/>
              <a:t>Wound-Wait Scheme</a:t>
            </a:r>
          </a:p>
          <a:p>
            <a:pPr>
              <a:buFont typeface="Arial" panose="020B0604020202020204" pitchFamily="34" charset="0"/>
              <a:buChar char="•"/>
            </a:pPr>
            <a:r>
              <a:rPr lang="en-US" dirty="0"/>
              <a:t>If </a:t>
            </a:r>
            <a:r>
              <a:rPr lang="en-US" dirty="0">
                <a:latin typeface="Courier New" panose="02070309020205020404" pitchFamily="49" charset="0"/>
              </a:rPr>
              <a:t>TS(Ti) &lt; TS(</a:t>
            </a:r>
            <a:r>
              <a:rPr lang="en-US" dirty="0" err="1">
                <a:latin typeface="Courier New" panose="02070309020205020404" pitchFamily="49" charset="0"/>
              </a:rPr>
              <a:t>Tj</a:t>
            </a:r>
            <a:r>
              <a:rPr lang="en-US" dirty="0">
                <a:latin typeface="Courier New" panose="02070309020205020404" pitchFamily="49" charset="0"/>
              </a:rPr>
              <a:t>)</a:t>
            </a:r>
            <a:r>
              <a:rPr lang="en-US" dirty="0"/>
              <a:t> (Ti is older):</a:t>
            </a:r>
          </a:p>
          <a:p>
            <a:pPr marL="742950" lvl="1" indent="-285750">
              <a:buFont typeface="Arial" panose="020B0604020202020204" pitchFamily="34" charset="0"/>
              <a:buChar char="•"/>
            </a:pPr>
            <a:r>
              <a:rPr lang="en-US" dirty="0" err="1"/>
              <a:t>Tj</a:t>
            </a:r>
            <a:r>
              <a:rPr lang="en-US" dirty="0"/>
              <a:t> is aborted (wounded) and Ti proceeds.</a:t>
            </a:r>
          </a:p>
          <a:p>
            <a:pPr>
              <a:buFont typeface="Arial" panose="020B0604020202020204" pitchFamily="34" charset="0"/>
              <a:buChar char="•"/>
            </a:pPr>
            <a:r>
              <a:rPr lang="en-US" dirty="0"/>
              <a:t>If </a:t>
            </a:r>
            <a:r>
              <a:rPr lang="en-US" dirty="0">
                <a:latin typeface="Courier New" panose="02070309020205020404" pitchFamily="49" charset="0"/>
              </a:rPr>
              <a:t>TS(Ti) &gt; TS(</a:t>
            </a:r>
            <a:r>
              <a:rPr lang="en-US" dirty="0" err="1">
                <a:latin typeface="Courier New" panose="02070309020205020404" pitchFamily="49" charset="0"/>
              </a:rPr>
              <a:t>Tj</a:t>
            </a:r>
            <a:r>
              <a:rPr lang="en-US" dirty="0">
                <a:latin typeface="Courier New" panose="02070309020205020404" pitchFamily="49" charset="0"/>
              </a:rPr>
              <a:t>)</a:t>
            </a:r>
            <a:r>
              <a:rPr lang="en-US" dirty="0"/>
              <a:t> (Ti is younger):</a:t>
            </a:r>
          </a:p>
          <a:p>
            <a:pPr marL="742950" lvl="1" indent="-285750">
              <a:buFont typeface="Arial" panose="020B0604020202020204" pitchFamily="34" charset="0"/>
              <a:buChar char="•"/>
            </a:pPr>
            <a:r>
              <a:rPr lang="en-US" dirty="0"/>
              <a:t>Ti waits.</a:t>
            </a:r>
          </a:p>
          <a:p>
            <a:pPr>
              <a:buFont typeface="Arial" panose="020B0604020202020204" pitchFamily="34" charset="0"/>
              <a:buChar char="•"/>
            </a:pPr>
            <a:r>
              <a:rPr lang="en-US" dirty="0"/>
              <a:t>Preemptive scheme.</a:t>
            </a:r>
            <a:endParaRPr lang="en-IN" dirty="0"/>
          </a:p>
        </p:txBody>
      </p:sp>
    </p:spTree>
    <p:extLst>
      <p:ext uri="{BB962C8B-B14F-4D97-AF65-F5344CB8AC3E}">
        <p14:creationId xmlns:p14="http://schemas.microsoft.com/office/powerpoint/2010/main" val="2234709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DF6B59-7A47-185E-5584-B4881994F9D6}"/>
              </a:ext>
            </a:extLst>
          </p:cNvPr>
          <p:cNvSpPr txBox="1"/>
          <p:nvPr/>
        </p:nvSpPr>
        <p:spPr>
          <a:xfrm>
            <a:off x="480961" y="428178"/>
            <a:ext cx="6101080" cy="6001643"/>
          </a:xfrm>
          <a:prstGeom prst="rect">
            <a:avLst/>
          </a:prstGeom>
          <a:noFill/>
        </p:spPr>
        <p:txBody>
          <a:bodyPr wrap="square">
            <a:spAutoFit/>
          </a:bodyPr>
          <a:lstStyle/>
          <a:p>
            <a:pPr>
              <a:buNone/>
            </a:pPr>
            <a:r>
              <a:rPr lang="en-US" sz="2400" b="1" dirty="0"/>
              <a:t>2. Deadlock Detection and Recovery</a:t>
            </a:r>
          </a:p>
          <a:p>
            <a:pPr>
              <a:buNone/>
            </a:pPr>
            <a:br>
              <a:rPr lang="en-US" dirty="0"/>
            </a:br>
            <a:endParaRPr lang="en-US" dirty="0"/>
          </a:p>
          <a:p>
            <a:pPr>
              <a:buNone/>
            </a:pPr>
            <a:r>
              <a:rPr lang="en-US" b="1" dirty="0"/>
              <a:t>Deadlock Detection</a:t>
            </a:r>
          </a:p>
          <a:p>
            <a:pPr>
              <a:buFont typeface="Arial" panose="020B0604020202020204" pitchFamily="34" charset="0"/>
              <a:buChar char="•"/>
            </a:pPr>
            <a:r>
              <a:rPr lang="en-US" dirty="0"/>
              <a:t>DBMS allows deadlocks to occur.</a:t>
            </a:r>
          </a:p>
          <a:p>
            <a:pPr>
              <a:buFont typeface="Arial" panose="020B0604020202020204" pitchFamily="34" charset="0"/>
              <a:buChar char="•"/>
            </a:pPr>
            <a:r>
              <a:rPr lang="en-US" dirty="0"/>
              <a:t>Periodically checks the system for deadlocks.</a:t>
            </a:r>
          </a:p>
          <a:p>
            <a:pPr>
              <a:buFont typeface="Arial" panose="020B0604020202020204" pitchFamily="34" charset="0"/>
              <a:buChar char="•"/>
            </a:pPr>
            <a:r>
              <a:rPr lang="en-US" dirty="0"/>
              <a:t>Uses a </a:t>
            </a:r>
            <a:r>
              <a:rPr lang="en-US" b="1" dirty="0"/>
              <a:t>Wait-For Graph (WFG)</a:t>
            </a:r>
            <a:r>
              <a:rPr lang="en-US" dirty="0"/>
              <a:t>.</a:t>
            </a:r>
          </a:p>
          <a:p>
            <a:pPr>
              <a:buNone/>
            </a:pPr>
            <a:br>
              <a:rPr lang="en-US" dirty="0"/>
            </a:br>
            <a:endParaRPr lang="en-US" dirty="0"/>
          </a:p>
          <a:p>
            <a:pPr>
              <a:buNone/>
            </a:pPr>
            <a:r>
              <a:rPr lang="en-US" b="1" dirty="0"/>
              <a:t>Wait-For Graph (WFG)</a:t>
            </a:r>
          </a:p>
          <a:p>
            <a:pPr>
              <a:buFont typeface="Arial" panose="020B0604020202020204" pitchFamily="34" charset="0"/>
              <a:buChar char="•"/>
            </a:pPr>
            <a:r>
              <a:rPr lang="en-US" dirty="0"/>
              <a:t>A </a:t>
            </a:r>
            <a:r>
              <a:rPr lang="en-US" b="1" dirty="0"/>
              <a:t>directed graph</a:t>
            </a:r>
            <a:r>
              <a:rPr lang="en-US" dirty="0"/>
              <a:t> maintained by DBMS.</a:t>
            </a:r>
          </a:p>
          <a:p>
            <a:pPr>
              <a:buFont typeface="Arial" panose="020B0604020202020204" pitchFamily="34" charset="0"/>
              <a:buChar char="•"/>
            </a:pPr>
            <a:r>
              <a:rPr lang="en-US" dirty="0"/>
              <a:t>Node → Transaction</a:t>
            </a:r>
          </a:p>
          <a:p>
            <a:pPr>
              <a:buFont typeface="Arial" panose="020B0604020202020204" pitchFamily="34" charset="0"/>
              <a:buChar char="•"/>
            </a:pPr>
            <a:r>
              <a:rPr lang="en-US" dirty="0"/>
              <a:t>Edge </a:t>
            </a:r>
            <a:r>
              <a:rPr lang="en-US" dirty="0">
                <a:latin typeface="Courier New" panose="02070309020205020404" pitchFamily="49" charset="0"/>
              </a:rPr>
              <a:t>Ti → </a:t>
            </a:r>
            <a:r>
              <a:rPr lang="en-US" dirty="0" err="1">
                <a:latin typeface="Courier New" panose="02070309020205020404" pitchFamily="49" charset="0"/>
              </a:rPr>
              <a:t>Tj</a:t>
            </a:r>
            <a:r>
              <a:rPr lang="en-US" dirty="0"/>
              <a:t>:</a:t>
            </a:r>
          </a:p>
          <a:p>
            <a:pPr marL="742950" lvl="1" indent="-285750">
              <a:buFont typeface="Arial" panose="020B0604020202020204" pitchFamily="34" charset="0"/>
              <a:buChar char="•"/>
            </a:pPr>
            <a:r>
              <a:rPr lang="en-US" dirty="0"/>
              <a:t>Transaction Ti is waiting for </a:t>
            </a:r>
            <a:r>
              <a:rPr lang="en-US" dirty="0" err="1"/>
              <a:t>Tj</a:t>
            </a:r>
            <a:r>
              <a:rPr lang="en-US" dirty="0"/>
              <a:t> to release a lock.</a:t>
            </a:r>
          </a:p>
          <a:p>
            <a:pPr>
              <a:buNone/>
            </a:pPr>
            <a:br>
              <a:rPr lang="en-US" dirty="0"/>
            </a:br>
            <a:endParaRPr lang="en-US" dirty="0"/>
          </a:p>
          <a:p>
            <a:pPr>
              <a:buNone/>
            </a:pPr>
            <a:r>
              <a:rPr lang="en-US" b="1" dirty="0"/>
              <a:t>Deadlock Detection Using WFG</a:t>
            </a:r>
          </a:p>
          <a:p>
            <a:pPr>
              <a:buFont typeface="Arial" panose="020B0604020202020204" pitchFamily="34" charset="0"/>
              <a:buChar char="•"/>
            </a:pPr>
            <a:r>
              <a:rPr lang="en-US" dirty="0"/>
              <a:t>A </a:t>
            </a:r>
            <a:r>
              <a:rPr lang="en-US" b="1" dirty="0"/>
              <a:t>cycle in the Wait-For Graph</a:t>
            </a:r>
            <a:r>
              <a:rPr lang="en-US" dirty="0"/>
              <a:t> indicates a deadlock.</a:t>
            </a:r>
          </a:p>
          <a:p>
            <a:pPr>
              <a:buFont typeface="Arial" panose="020B0604020202020204" pitchFamily="34" charset="0"/>
              <a:buChar char="•"/>
            </a:pPr>
            <a:r>
              <a:rPr lang="en-US" b="1" dirty="0"/>
              <a:t>Deadlock exists if and only if a cycle is present</a:t>
            </a:r>
            <a:r>
              <a:rPr lang="en-US" dirty="0"/>
              <a:t>.</a:t>
            </a:r>
          </a:p>
          <a:p>
            <a:pPr>
              <a:buNone/>
            </a:pPr>
            <a:br>
              <a:rPr lang="en-US" dirty="0"/>
            </a:br>
            <a:endParaRPr lang="en-US" dirty="0"/>
          </a:p>
        </p:txBody>
      </p:sp>
      <p:sp>
        <p:nvSpPr>
          <p:cNvPr id="6" name="TextBox 5">
            <a:extLst>
              <a:ext uri="{FF2B5EF4-FFF2-40B4-BE49-F238E27FC236}">
                <a16:creationId xmlns:a16="http://schemas.microsoft.com/office/drawing/2014/main" id="{99A13679-BE53-1C63-CA5D-2CF9A9CEAB59}"/>
              </a:ext>
            </a:extLst>
          </p:cNvPr>
          <p:cNvSpPr txBox="1"/>
          <p:nvPr/>
        </p:nvSpPr>
        <p:spPr>
          <a:xfrm>
            <a:off x="6545836" y="1145793"/>
            <a:ext cx="5165203" cy="4247317"/>
          </a:xfrm>
          <a:prstGeom prst="rect">
            <a:avLst/>
          </a:prstGeom>
          <a:noFill/>
        </p:spPr>
        <p:txBody>
          <a:bodyPr wrap="square">
            <a:spAutoFit/>
          </a:bodyPr>
          <a:lstStyle/>
          <a:p>
            <a:pPr>
              <a:buNone/>
            </a:pPr>
            <a:endParaRPr lang="en-US" dirty="0"/>
          </a:p>
          <a:p>
            <a:pPr>
              <a:buNone/>
            </a:pPr>
            <a:r>
              <a:rPr lang="en-US" b="1" dirty="0"/>
              <a:t>Deadlock Recovery</a:t>
            </a:r>
          </a:p>
          <a:p>
            <a:pPr>
              <a:buFont typeface="Arial" panose="020B0604020202020204" pitchFamily="34" charset="0"/>
              <a:buChar char="•"/>
            </a:pPr>
            <a:r>
              <a:rPr lang="en-US" dirty="0"/>
              <a:t>When a deadlock is detected:</a:t>
            </a:r>
          </a:p>
          <a:p>
            <a:pPr marL="742950" lvl="1" indent="-285750">
              <a:buFont typeface="Arial" panose="020B0604020202020204" pitchFamily="34" charset="0"/>
              <a:buChar char="•"/>
            </a:pPr>
            <a:r>
              <a:rPr lang="en-US" dirty="0"/>
              <a:t>One or more transactions are </a:t>
            </a:r>
            <a:r>
              <a:rPr lang="en-US" b="1" dirty="0"/>
              <a:t>aborted (rolled back)</a:t>
            </a:r>
            <a:r>
              <a:rPr lang="en-US" dirty="0"/>
              <a:t>.</a:t>
            </a:r>
          </a:p>
          <a:p>
            <a:pPr>
              <a:buFont typeface="Arial" panose="020B0604020202020204" pitchFamily="34" charset="0"/>
              <a:buChar char="•"/>
            </a:pPr>
            <a:r>
              <a:rPr lang="en-US" dirty="0"/>
              <a:t>Aborted transaction is called the </a:t>
            </a:r>
            <a:r>
              <a:rPr lang="en-US" b="1" dirty="0"/>
              <a:t>victim</a:t>
            </a:r>
            <a:r>
              <a:rPr lang="en-US" dirty="0"/>
              <a:t>.</a:t>
            </a:r>
          </a:p>
          <a:p>
            <a:pPr>
              <a:buNone/>
            </a:pPr>
            <a:br>
              <a:rPr lang="en-US" dirty="0"/>
            </a:br>
            <a:endParaRPr lang="en-US" dirty="0"/>
          </a:p>
          <a:p>
            <a:pPr>
              <a:buNone/>
            </a:pPr>
            <a:r>
              <a:rPr lang="en-US" b="1" dirty="0"/>
              <a:t>Victim Selection Criteria</a:t>
            </a:r>
          </a:p>
          <a:p>
            <a:pPr>
              <a:buNone/>
            </a:pPr>
            <a:r>
              <a:rPr lang="en-US" dirty="0"/>
              <a:t>DBMS chooses a victim based on:</a:t>
            </a:r>
          </a:p>
          <a:p>
            <a:pPr>
              <a:buFont typeface="Arial" panose="020B0604020202020204" pitchFamily="34" charset="0"/>
              <a:buChar char="•"/>
            </a:pPr>
            <a:r>
              <a:rPr lang="en-US" dirty="0"/>
              <a:t>Transaction that has done </a:t>
            </a:r>
            <a:r>
              <a:rPr lang="en-US" b="1" dirty="0"/>
              <a:t>least amount of work</a:t>
            </a:r>
            <a:endParaRPr lang="en-US" dirty="0"/>
          </a:p>
          <a:p>
            <a:pPr>
              <a:buFont typeface="Arial" panose="020B0604020202020204" pitchFamily="34" charset="0"/>
              <a:buChar char="•"/>
            </a:pPr>
            <a:r>
              <a:rPr lang="en-US" dirty="0"/>
              <a:t>Transaction </a:t>
            </a:r>
            <a:r>
              <a:rPr lang="en-US" b="1" dirty="0"/>
              <a:t>furthest from completion</a:t>
            </a:r>
            <a:endParaRPr lang="en-US" dirty="0"/>
          </a:p>
          <a:p>
            <a:pPr>
              <a:buFont typeface="Arial" panose="020B0604020202020204" pitchFamily="34" charset="0"/>
              <a:buChar char="•"/>
            </a:pPr>
            <a:r>
              <a:rPr lang="en-US" dirty="0"/>
              <a:t>Transaction holding </a:t>
            </a:r>
            <a:r>
              <a:rPr lang="en-US" b="1" dirty="0"/>
              <a:t>fewest locks</a:t>
            </a:r>
            <a:endParaRPr lang="en-US" dirty="0"/>
          </a:p>
          <a:p>
            <a:pPr>
              <a:buFont typeface="Arial" panose="020B0604020202020204" pitchFamily="34" charset="0"/>
              <a:buChar char="•"/>
            </a:pPr>
            <a:r>
              <a:rPr lang="en-US" dirty="0"/>
              <a:t>Transaction with </a:t>
            </a:r>
            <a:r>
              <a:rPr lang="en-US" b="1" dirty="0"/>
              <a:t>lowest priority</a:t>
            </a:r>
            <a:endParaRPr lang="en-US" dirty="0"/>
          </a:p>
        </p:txBody>
      </p:sp>
    </p:spTree>
    <p:extLst>
      <p:ext uri="{BB962C8B-B14F-4D97-AF65-F5344CB8AC3E}">
        <p14:creationId xmlns:p14="http://schemas.microsoft.com/office/powerpoint/2010/main" val="1247295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BBC9302-7A90-AAB2-9730-4700B42BE3BB}"/>
              </a:ext>
            </a:extLst>
          </p:cNvPr>
          <p:cNvSpPr txBox="1"/>
          <p:nvPr/>
        </p:nvSpPr>
        <p:spPr>
          <a:xfrm>
            <a:off x="1154575" y="762240"/>
            <a:ext cx="6105644" cy="3570208"/>
          </a:xfrm>
          <a:prstGeom prst="rect">
            <a:avLst/>
          </a:prstGeom>
          <a:noFill/>
        </p:spPr>
        <p:txBody>
          <a:bodyPr wrap="square">
            <a:spAutoFit/>
          </a:bodyPr>
          <a:lstStyle/>
          <a:p>
            <a:pPr>
              <a:buNone/>
            </a:pPr>
            <a:r>
              <a:rPr lang="en-US" sz="2800" b="1" dirty="0">
                <a:solidFill>
                  <a:schemeClr val="accent1"/>
                </a:solidFill>
              </a:rPr>
              <a:t>Recovery and Logging Techniques</a:t>
            </a:r>
          </a:p>
          <a:p>
            <a:pPr>
              <a:buNone/>
            </a:pPr>
            <a:br>
              <a:rPr lang="en-US" dirty="0"/>
            </a:br>
            <a:endParaRPr lang="en-US" dirty="0"/>
          </a:p>
          <a:p>
            <a:pPr>
              <a:buNone/>
            </a:pPr>
            <a:r>
              <a:rPr lang="en-US" b="1" dirty="0"/>
              <a:t>Recovery Management</a:t>
            </a:r>
          </a:p>
          <a:p>
            <a:pPr>
              <a:buNone/>
            </a:pPr>
            <a:endParaRPr lang="en-US" b="1" dirty="0"/>
          </a:p>
          <a:p>
            <a:pPr>
              <a:buFont typeface="Arial" panose="020B0604020202020204" pitchFamily="34" charset="0"/>
              <a:buChar char="•"/>
            </a:pPr>
            <a:r>
              <a:rPr lang="en-US" dirty="0"/>
              <a:t>Recovery ensures:</a:t>
            </a:r>
          </a:p>
          <a:p>
            <a:pPr marL="742950" lvl="1" indent="-285750">
              <a:buFont typeface="Arial" panose="020B0604020202020204" pitchFamily="34" charset="0"/>
              <a:buChar char="•"/>
            </a:pPr>
            <a:r>
              <a:rPr lang="en-US" b="1" dirty="0"/>
              <a:t>Atomicity</a:t>
            </a:r>
            <a:r>
              <a:rPr lang="en-US" dirty="0"/>
              <a:t> → All or nothing execution</a:t>
            </a:r>
          </a:p>
          <a:p>
            <a:pPr marL="742950" lvl="1" indent="-285750">
              <a:buFont typeface="Arial" panose="020B0604020202020204" pitchFamily="34" charset="0"/>
              <a:buChar char="•"/>
            </a:pPr>
            <a:r>
              <a:rPr lang="en-US" b="1" dirty="0"/>
              <a:t>Durability</a:t>
            </a:r>
            <a:r>
              <a:rPr lang="en-US" dirty="0"/>
              <a:t> → Changes persist after commit</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dirty="0"/>
              <a:t>Recovery is required after:</a:t>
            </a:r>
          </a:p>
          <a:p>
            <a:pPr marL="742950" lvl="1" indent="-285750">
              <a:buFont typeface="Arial" panose="020B0604020202020204" pitchFamily="34" charset="0"/>
              <a:buChar char="•"/>
            </a:pPr>
            <a:r>
              <a:rPr lang="en-US" dirty="0"/>
              <a:t>Transaction failure</a:t>
            </a:r>
          </a:p>
          <a:p>
            <a:pPr marL="742950" lvl="1" indent="-285750">
              <a:buFont typeface="Arial" panose="020B0604020202020204" pitchFamily="34" charset="0"/>
              <a:buChar char="•"/>
            </a:pPr>
            <a:r>
              <a:rPr lang="en-US" dirty="0"/>
              <a:t>System crash</a:t>
            </a:r>
          </a:p>
        </p:txBody>
      </p:sp>
    </p:spTree>
    <p:extLst>
      <p:ext uri="{BB962C8B-B14F-4D97-AF65-F5344CB8AC3E}">
        <p14:creationId xmlns:p14="http://schemas.microsoft.com/office/powerpoint/2010/main" val="39003805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E60DB2-6A32-8A82-4DD9-58DF547F536A}"/>
              </a:ext>
            </a:extLst>
          </p:cNvPr>
          <p:cNvSpPr txBox="1"/>
          <p:nvPr/>
        </p:nvSpPr>
        <p:spPr>
          <a:xfrm>
            <a:off x="712306" y="701987"/>
            <a:ext cx="10304362" cy="4847481"/>
          </a:xfrm>
          <a:prstGeom prst="rect">
            <a:avLst/>
          </a:prstGeom>
          <a:noFill/>
        </p:spPr>
        <p:txBody>
          <a:bodyPr wrap="square">
            <a:spAutoFit/>
          </a:bodyPr>
          <a:lstStyle/>
          <a:p>
            <a:r>
              <a:rPr lang="en-US" sz="2400" b="1" dirty="0"/>
              <a:t>The Log (Journal)</a:t>
            </a:r>
          </a:p>
          <a:p>
            <a:endParaRPr lang="en-US" b="1" dirty="0"/>
          </a:p>
          <a:p>
            <a:pPr>
              <a:buNone/>
            </a:pPr>
            <a:r>
              <a:rPr lang="en-US" dirty="0"/>
              <a:t>The log is a sequential file (kept on stable storage/disk) that records all database modifications. Log records are essential for undoing or redoing changes.</a:t>
            </a:r>
          </a:p>
          <a:p>
            <a:pPr>
              <a:buNone/>
            </a:pPr>
            <a:r>
              <a:rPr lang="en-US" dirty="0"/>
              <a:t> </a:t>
            </a:r>
          </a:p>
          <a:p>
            <a:pPr lvl="0" defTabSz="914400" eaLnBrk="0" fontAlgn="base" hangingPunct="0">
              <a:spcBef>
                <a:spcPct val="0"/>
              </a:spcBef>
              <a:spcAft>
                <a:spcPct val="0"/>
              </a:spcAft>
              <a:buFontTx/>
              <a:buChar char="•"/>
            </a:pPr>
            <a:r>
              <a:rPr lang="en-US" altLang="en-US" dirty="0">
                <a:latin typeface="Arial" panose="020B0604020202020204" pitchFamily="34" charset="0"/>
              </a:rPr>
              <a:t> Maintained on </a:t>
            </a:r>
            <a:r>
              <a:rPr lang="en-US" altLang="en-US" b="1" dirty="0">
                <a:latin typeface="Arial" panose="020B0604020202020204" pitchFamily="34" charset="0"/>
              </a:rPr>
              <a:t>disk</a:t>
            </a:r>
            <a:endParaRPr lang="en-US" altLang="en-US" dirty="0">
              <a:latin typeface="Arial" panose="020B0604020202020204" pitchFamily="34" charset="0"/>
            </a:endParaRPr>
          </a:p>
          <a:p>
            <a:pPr lvl="0" defTabSz="914400" eaLnBrk="0" fontAlgn="base" hangingPunct="0">
              <a:spcBef>
                <a:spcPct val="0"/>
              </a:spcBef>
              <a:spcAft>
                <a:spcPct val="0"/>
              </a:spcAft>
              <a:buFontTx/>
              <a:buChar char="•"/>
            </a:pPr>
            <a:r>
              <a:rPr lang="en-US" altLang="en-US" dirty="0">
                <a:latin typeface="Arial" panose="020B0604020202020204" pitchFamily="34" charset="0"/>
              </a:rPr>
              <a:t> Used for </a:t>
            </a:r>
            <a:r>
              <a:rPr lang="en-US" altLang="en-US" b="1" dirty="0">
                <a:latin typeface="Arial" panose="020B0604020202020204" pitchFamily="34" charset="0"/>
              </a:rPr>
              <a:t>UNDO and REDO operations</a:t>
            </a:r>
            <a:endParaRPr lang="en-US" altLang="en-US" dirty="0">
              <a:latin typeface="Arial" panose="020B0604020202020204" pitchFamily="34" charset="0"/>
            </a:endParaRPr>
          </a:p>
          <a:p>
            <a:pPr lvl="0" defTabSz="914400" eaLnBrk="0" fontAlgn="base" hangingPunct="0">
              <a:spcBef>
                <a:spcPct val="0"/>
              </a:spcBef>
              <a:spcAft>
                <a:spcPct val="0"/>
              </a:spcAft>
              <a:buFontTx/>
              <a:buChar char="•"/>
            </a:pPr>
            <a:r>
              <a:rPr lang="en-US" altLang="en-US" dirty="0">
                <a:latin typeface="Arial" panose="020B0604020202020204" pitchFamily="34" charset="0"/>
              </a:rPr>
              <a:t> Essential for crash recovery</a:t>
            </a:r>
          </a:p>
          <a:p>
            <a:pPr>
              <a:buNone/>
            </a:pPr>
            <a:endParaRPr lang="en-US" dirty="0"/>
          </a:p>
          <a:p>
            <a:pPr>
              <a:buNone/>
            </a:pPr>
            <a:endParaRPr lang="en-US" dirty="0"/>
          </a:p>
          <a:p>
            <a:pPr defTabSz="914400" eaLnBrk="0" fontAlgn="base" hangingPunct="0">
              <a:spcBef>
                <a:spcPct val="0"/>
              </a:spcBef>
              <a:spcAft>
                <a:spcPct val="0"/>
              </a:spcAft>
              <a:buFontTx/>
              <a:buChar char="•"/>
            </a:pPr>
            <a:r>
              <a:rPr lang="en-US" altLang="en-US" dirty="0">
                <a:latin typeface="Arial Unicode MS" panose="020B0604020202020204" pitchFamily="34" charset="-128"/>
              </a:rPr>
              <a:t> [</a:t>
            </a:r>
            <a:r>
              <a:rPr lang="en-US" altLang="en-US" dirty="0" err="1">
                <a:latin typeface="Arial Unicode MS" panose="020B0604020202020204" pitchFamily="34" charset="-128"/>
              </a:rPr>
              <a:t>start_transaction</a:t>
            </a:r>
            <a:r>
              <a:rPr lang="en-US" altLang="en-US" dirty="0">
                <a:latin typeface="Arial Unicode MS" panose="020B0604020202020204" pitchFamily="34" charset="-128"/>
              </a:rPr>
              <a:t>, T] - </a:t>
            </a:r>
            <a:r>
              <a:rPr lang="en-US" altLang="en-US" dirty="0">
                <a:latin typeface="Arial" panose="020B0604020202020204" pitchFamily="34" charset="0"/>
              </a:rPr>
              <a:t>Transaction T begins</a:t>
            </a:r>
            <a:endParaRPr lang="en-US" altLang="en-US" sz="800" dirty="0"/>
          </a:p>
          <a:p>
            <a:pPr lvl="1" defTabSz="914400" eaLnBrk="0" fontAlgn="base" hangingPunct="0">
              <a:spcBef>
                <a:spcPct val="0"/>
              </a:spcBef>
              <a:spcAft>
                <a:spcPct val="0"/>
              </a:spcAft>
              <a:buFontTx/>
              <a:buChar char="•"/>
            </a:pPr>
            <a:endParaRPr lang="en-US" altLang="en-US" sz="1100" dirty="0">
              <a:latin typeface="Arial" panose="020B0604020202020204" pitchFamily="34" charset="0"/>
            </a:endParaRPr>
          </a:p>
          <a:p>
            <a:pPr defTabSz="914400" eaLnBrk="0" fontAlgn="base" hangingPunct="0">
              <a:spcBef>
                <a:spcPct val="0"/>
              </a:spcBef>
              <a:spcAft>
                <a:spcPct val="0"/>
              </a:spcAft>
              <a:buFontTx/>
              <a:buChar char="•"/>
            </a:pPr>
            <a:r>
              <a:rPr lang="en-US" altLang="en-US" dirty="0">
                <a:latin typeface="Arial Unicode MS" panose="020B0604020202020204" pitchFamily="34" charset="-128"/>
              </a:rPr>
              <a:t> [</a:t>
            </a:r>
            <a:r>
              <a:rPr lang="en-US" altLang="en-US" dirty="0" err="1">
                <a:latin typeface="Arial Unicode MS" panose="020B0604020202020204" pitchFamily="34" charset="-128"/>
              </a:rPr>
              <a:t>write_item</a:t>
            </a:r>
            <a:r>
              <a:rPr lang="en-US" altLang="en-US" dirty="0">
                <a:latin typeface="Arial Unicode MS" panose="020B0604020202020204" pitchFamily="34" charset="-128"/>
              </a:rPr>
              <a:t>, T, X, </a:t>
            </a:r>
            <a:r>
              <a:rPr lang="en-US" altLang="en-US" dirty="0" err="1">
                <a:latin typeface="Arial Unicode MS" panose="020B0604020202020204" pitchFamily="34" charset="-128"/>
              </a:rPr>
              <a:t>old_value</a:t>
            </a:r>
            <a:r>
              <a:rPr lang="en-US" altLang="en-US" dirty="0">
                <a:latin typeface="Arial Unicode MS" panose="020B0604020202020204" pitchFamily="34" charset="-128"/>
              </a:rPr>
              <a:t>, </a:t>
            </a:r>
            <a:r>
              <a:rPr lang="en-US" altLang="en-US" dirty="0" err="1">
                <a:latin typeface="Arial Unicode MS" panose="020B0604020202020204" pitchFamily="34" charset="-128"/>
              </a:rPr>
              <a:t>new_value</a:t>
            </a:r>
            <a:r>
              <a:rPr lang="en-US" altLang="en-US" dirty="0">
                <a:latin typeface="Arial Unicode MS" panose="020B0604020202020204" pitchFamily="34" charset="-128"/>
              </a:rPr>
              <a:t>] - </a:t>
            </a:r>
            <a:r>
              <a:rPr lang="en-US" altLang="en-US" dirty="0">
                <a:latin typeface="Arial" panose="020B0604020202020204" pitchFamily="34" charset="0"/>
              </a:rPr>
              <a:t>T updates data item X</a:t>
            </a:r>
            <a:endParaRPr lang="en-US" altLang="en-US" dirty="0"/>
          </a:p>
          <a:p>
            <a:pPr lvl="1" defTabSz="914400" eaLnBrk="0" fontAlgn="base" hangingPunct="0">
              <a:spcBef>
                <a:spcPct val="0"/>
              </a:spcBef>
              <a:spcAft>
                <a:spcPct val="0"/>
              </a:spcAft>
              <a:buFontTx/>
              <a:buChar char="•"/>
            </a:pPr>
            <a:endParaRPr lang="en-US" altLang="en-US" sz="1100" dirty="0">
              <a:latin typeface="Arial" panose="020B0604020202020204" pitchFamily="34" charset="0"/>
            </a:endParaRPr>
          </a:p>
          <a:p>
            <a:pPr lvl="0" defTabSz="914400" eaLnBrk="0" fontAlgn="base" hangingPunct="0">
              <a:spcBef>
                <a:spcPct val="0"/>
              </a:spcBef>
              <a:spcAft>
                <a:spcPct val="0"/>
              </a:spcAft>
              <a:buFontTx/>
              <a:buChar char="•"/>
            </a:pPr>
            <a:r>
              <a:rPr lang="en-US" altLang="en-US" dirty="0">
                <a:latin typeface="Arial Unicode MS" panose="020B0604020202020204" pitchFamily="34" charset="-128"/>
              </a:rPr>
              <a:t> [commit, T]</a:t>
            </a:r>
            <a:r>
              <a:rPr lang="en-US" altLang="en-US" dirty="0"/>
              <a:t> - </a:t>
            </a:r>
            <a:r>
              <a:rPr lang="en-US" altLang="en-US" dirty="0">
                <a:latin typeface="Arial" panose="020B0604020202020204" pitchFamily="34" charset="0"/>
              </a:rPr>
              <a:t>Transaction T committed successfully</a:t>
            </a:r>
          </a:p>
          <a:p>
            <a:pPr lvl="1" defTabSz="914400" eaLnBrk="0" fontAlgn="base" hangingPunct="0">
              <a:spcBef>
                <a:spcPct val="0"/>
              </a:spcBef>
              <a:spcAft>
                <a:spcPct val="0"/>
              </a:spcAft>
              <a:buFontTx/>
              <a:buChar char="•"/>
            </a:pPr>
            <a:endParaRPr lang="en-US" altLang="en-US" sz="1100" dirty="0">
              <a:latin typeface="Arial" panose="020B0604020202020204" pitchFamily="34" charset="0"/>
            </a:endParaRPr>
          </a:p>
          <a:p>
            <a:pPr lvl="0" defTabSz="914400" eaLnBrk="0" fontAlgn="base" hangingPunct="0">
              <a:spcBef>
                <a:spcPct val="0"/>
              </a:spcBef>
              <a:spcAft>
                <a:spcPct val="0"/>
              </a:spcAft>
              <a:buFontTx/>
              <a:buChar char="•"/>
            </a:pPr>
            <a:r>
              <a:rPr lang="en-US" altLang="en-US" dirty="0">
                <a:latin typeface="Arial Unicode MS" panose="020B0604020202020204" pitchFamily="34" charset="-128"/>
              </a:rPr>
              <a:t> [abort, T]</a:t>
            </a:r>
            <a:r>
              <a:rPr lang="en-US" altLang="en-US" dirty="0"/>
              <a:t> - </a:t>
            </a:r>
            <a:r>
              <a:rPr lang="en-US" altLang="en-US" dirty="0">
                <a:latin typeface="Arial" panose="020B0604020202020204" pitchFamily="34" charset="0"/>
              </a:rPr>
              <a:t>Transaction T aborted</a:t>
            </a:r>
          </a:p>
          <a:p>
            <a:pPr>
              <a:buNone/>
            </a:pPr>
            <a:endParaRPr lang="en-US" dirty="0"/>
          </a:p>
        </p:txBody>
      </p:sp>
    </p:spTree>
    <p:extLst>
      <p:ext uri="{BB962C8B-B14F-4D97-AF65-F5344CB8AC3E}">
        <p14:creationId xmlns:p14="http://schemas.microsoft.com/office/powerpoint/2010/main" val="1433890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E2320AE-4C15-791E-9945-9CBFCBD91BDF}"/>
              </a:ext>
            </a:extLst>
          </p:cNvPr>
          <p:cNvSpPr>
            <a:spLocks noChangeArrowheads="1"/>
          </p:cNvSpPr>
          <p:nvPr/>
        </p:nvSpPr>
        <p:spPr bwMode="auto">
          <a:xfrm>
            <a:off x="820347" y="663480"/>
            <a:ext cx="1014331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Write-Ahead Logging (WAL) Protocol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r>
              <a:rPr lang="en-US" dirty="0"/>
              <a:t>WAL enforces </a:t>
            </a:r>
            <a:r>
              <a:rPr lang="en-US" b="1" dirty="0"/>
              <a:t>strict ordering</a:t>
            </a:r>
            <a:r>
              <a:rPr lang="en-US" dirty="0"/>
              <a:t> between log and database writes.</a:t>
            </a:r>
          </a:p>
          <a:p>
            <a:r>
              <a:rPr lang="en-US" b="1" dirty="0"/>
              <a:t>WAL Rule</a:t>
            </a:r>
            <a:r>
              <a:rPr lang="en-US" dirty="0"/>
              <a:t>:</a:t>
            </a:r>
          </a:p>
          <a:p>
            <a:pPr lvl="1"/>
            <a:r>
              <a:rPr lang="en-US" dirty="0"/>
              <a:t>Log record must be written to disk </a:t>
            </a:r>
            <a:r>
              <a:rPr lang="en-US" b="1" dirty="0"/>
              <a:t>before</a:t>
            </a:r>
            <a:endParaRPr lang="en-US" dirty="0"/>
          </a:p>
          <a:p>
            <a:pPr lvl="1"/>
            <a:r>
              <a:rPr lang="en-US" dirty="0"/>
              <a:t>The updated database block is written to disk</a:t>
            </a:r>
          </a:p>
          <a:p>
            <a:br>
              <a:rPr lang="en-US" dirty="0"/>
            </a:br>
            <a:endParaRPr lang="en-US" dirty="0"/>
          </a:p>
          <a:p>
            <a:r>
              <a:rPr lang="en-US" b="1" dirty="0"/>
              <a:t>Importance of WAL</a:t>
            </a:r>
          </a:p>
          <a:p>
            <a:r>
              <a:rPr lang="en-US" dirty="0"/>
              <a:t>Ensures that </a:t>
            </a:r>
            <a:r>
              <a:rPr lang="en-US" b="1" dirty="0"/>
              <a:t>log always contains update information</a:t>
            </a:r>
            <a:endParaRPr lang="en-US" dirty="0"/>
          </a:p>
          <a:p>
            <a:r>
              <a:rPr lang="en-US" dirty="0"/>
              <a:t>Allows DBMS to:</a:t>
            </a:r>
          </a:p>
          <a:p>
            <a:pPr lvl="1"/>
            <a:r>
              <a:rPr lang="en-US" b="1" dirty="0"/>
              <a:t>UNDO</a:t>
            </a:r>
            <a:r>
              <a:rPr lang="en-US" dirty="0"/>
              <a:t> incomplete transactions</a:t>
            </a:r>
          </a:p>
          <a:p>
            <a:pPr lvl="1"/>
            <a:r>
              <a:rPr lang="en-US" b="1" dirty="0"/>
              <a:t>REDO</a:t>
            </a:r>
            <a:r>
              <a:rPr lang="en-US" dirty="0"/>
              <a:t> committed transactions</a:t>
            </a:r>
          </a:p>
          <a:p>
            <a:r>
              <a:rPr lang="en-US" dirty="0"/>
              <a:t>Guarantees </a:t>
            </a:r>
            <a:r>
              <a:rPr lang="en-US" b="1" dirty="0"/>
              <a:t>database consistency after crash</a:t>
            </a:r>
            <a:endParaRPr lang="en-US"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1964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FE1B09-6759-74FD-C409-F0F6C378DE69}"/>
              </a:ext>
            </a:extLst>
          </p:cNvPr>
          <p:cNvSpPr txBox="1"/>
          <p:nvPr/>
        </p:nvSpPr>
        <p:spPr>
          <a:xfrm>
            <a:off x="1138428" y="804315"/>
            <a:ext cx="9386316" cy="4431983"/>
          </a:xfrm>
          <a:prstGeom prst="rect">
            <a:avLst/>
          </a:prstGeom>
          <a:noFill/>
        </p:spPr>
        <p:txBody>
          <a:bodyPr wrap="square">
            <a:spAutoFit/>
          </a:bodyPr>
          <a:lstStyle/>
          <a:p>
            <a:pPr>
              <a:buNone/>
            </a:pPr>
            <a:r>
              <a:rPr lang="en-US" sz="2400" b="1" dirty="0"/>
              <a:t>Checkpointing</a:t>
            </a:r>
          </a:p>
          <a:p>
            <a:pPr>
              <a:buNone/>
            </a:pPr>
            <a:endParaRPr lang="en-US" sz="2400" b="1" dirty="0"/>
          </a:p>
          <a:p>
            <a:pPr>
              <a:buNone/>
            </a:pPr>
            <a:r>
              <a:rPr lang="en-US" dirty="0"/>
              <a:t>Checkpointing is a technique used to minimize the time required for database recovery after a system crash.</a:t>
            </a:r>
          </a:p>
          <a:p>
            <a:pPr>
              <a:buNone/>
            </a:pPr>
            <a:endParaRPr lang="en-US" dirty="0"/>
          </a:p>
          <a:p>
            <a:pPr>
              <a:buFont typeface="Arial" panose="020B0604020202020204" pitchFamily="34" charset="0"/>
              <a:buChar char="•"/>
            </a:pPr>
            <a:r>
              <a:rPr lang="en-US" b="1" dirty="0"/>
              <a:t>Process:</a:t>
            </a:r>
            <a:r>
              <a:rPr lang="en-US" dirty="0"/>
              <a:t> The DBMS periodically takes a checkpoint, which involves:</a:t>
            </a:r>
          </a:p>
          <a:p>
            <a:pPr marL="742950" lvl="1" indent="-285750">
              <a:buFont typeface="Arial" panose="020B0604020202020204" pitchFamily="34" charset="0"/>
              <a:buChar char="•"/>
            </a:pPr>
            <a:r>
              <a:rPr lang="en-US" dirty="0"/>
              <a:t>Temporarily halting all transaction updates to the database.</a:t>
            </a:r>
          </a:p>
          <a:p>
            <a:pPr marL="742950" lvl="1" indent="-285750">
              <a:buFont typeface="Arial" panose="020B0604020202020204" pitchFamily="34" charset="0"/>
              <a:buChar char="•"/>
            </a:pPr>
            <a:r>
              <a:rPr lang="en-US" dirty="0"/>
              <a:t>Forcing all updated data blocks and all log records residing in main memory buffers onto the disk (flush buffers).</a:t>
            </a:r>
          </a:p>
          <a:p>
            <a:pPr marL="742950" lvl="1" indent="-285750">
              <a:buFont typeface="Arial" panose="020B0604020202020204" pitchFamily="34" charset="0"/>
              <a:buChar char="•"/>
            </a:pPr>
            <a:r>
              <a:rPr lang="en-US" dirty="0"/>
              <a:t>Writing a special record </a:t>
            </a:r>
            <a:r>
              <a:rPr lang="en-US" dirty="0">
                <a:latin typeface="Courier New" panose="02070309020205020404" pitchFamily="49" charset="0"/>
              </a:rPr>
              <a:t>[checkpoint]</a:t>
            </a:r>
            <a:r>
              <a:rPr lang="en-US" dirty="0"/>
              <a:t> to the log and forcing the log to disk.</a:t>
            </a:r>
          </a:p>
          <a:p>
            <a:pPr marL="742950" lvl="1" indent="-285750">
              <a:buFont typeface="Arial" panose="020B0604020202020204" pitchFamily="34" charset="0"/>
              <a:buChar char="•"/>
            </a:pPr>
            <a:r>
              <a:rPr lang="en-US" dirty="0"/>
              <a:t>Resuming normal transaction execution.</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Benefit:</a:t>
            </a:r>
            <a:r>
              <a:rPr lang="en-US" dirty="0"/>
              <a:t> In case of a crash, the system only needs to consider the transactions active since the </a:t>
            </a:r>
            <a:r>
              <a:rPr lang="en-US" b="1" dirty="0"/>
              <a:t>last checkpoint</a:t>
            </a:r>
            <a:r>
              <a:rPr lang="en-US" dirty="0"/>
              <a:t>, significantly reducing the number of log records that must be scanned for recovery.</a:t>
            </a:r>
          </a:p>
        </p:txBody>
      </p:sp>
    </p:spTree>
    <p:extLst>
      <p:ext uri="{BB962C8B-B14F-4D97-AF65-F5344CB8AC3E}">
        <p14:creationId xmlns:p14="http://schemas.microsoft.com/office/powerpoint/2010/main" val="3459353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BDA67E7-B03E-B683-1E01-BCE8136F4F80}"/>
              </a:ext>
            </a:extLst>
          </p:cNvPr>
          <p:cNvGraphicFramePr>
            <a:graphicFrameLocks noGrp="1"/>
          </p:cNvGraphicFramePr>
          <p:nvPr>
            <p:extLst>
              <p:ext uri="{D42A27DB-BD31-4B8C-83A1-F6EECF244321}">
                <p14:modId xmlns:p14="http://schemas.microsoft.com/office/powerpoint/2010/main" val="2771103952"/>
              </p:ext>
            </p:extLst>
          </p:nvPr>
        </p:nvGraphicFramePr>
        <p:xfrm>
          <a:off x="705295" y="2606040"/>
          <a:ext cx="9700577" cy="1645920"/>
        </p:xfrm>
        <a:graphic>
          <a:graphicData uri="http://schemas.openxmlformats.org/drawingml/2006/table">
            <a:tbl>
              <a:tblPr/>
              <a:tblGrid>
                <a:gridCol w="1680573">
                  <a:extLst>
                    <a:ext uri="{9D8B030D-6E8A-4147-A177-3AD203B41FA5}">
                      <a16:colId xmlns:a16="http://schemas.microsoft.com/office/drawing/2014/main" val="2703289960"/>
                    </a:ext>
                  </a:extLst>
                </a:gridCol>
                <a:gridCol w="3960068">
                  <a:extLst>
                    <a:ext uri="{9D8B030D-6E8A-4147-A177-3AD203B41FA5}">
                      <a16:colId xmlns:a16="http://schemas.microsoft.com/office/drawing/2014/main" val="721510844"/>
                    </a:ext>
                  </a:extLst>
                </a:gridCol>
                <a:gridCol w="4059936">
                  <a:extLst>
                    <a:ext uri="{9D8B030D-6E8A-4147-A177-3AD203B41FA5}">
                      <a16:colId xmlns:a16="http://schemas.microsoft.com/office/drawing/2014/main" val="1258166156"/>
                    </a:ext>
                  </a:extLst>
                </a:gridCol>
              </a:tblGrid>
              <a:tr h="0">
                <a:tc>
                  <a:txBody>
                    <a:bodyPr/>
                    <a:lstStyle/>
                    <a:p>
                      <a:pPr>
                        <a:buNone/>
                      </a:pPr>
                      <a:r>
                        <a:rPr lang="en-IN" b="1">
                          <a:effectLst/>
                          <a:latin typeface="Google Sans Text"/>
                        </a:rPr>
                        <a:t>Operation</a:t>
                      </a:r>
                      <a:endParaRPr lang="en-IN">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IN" b="1">
                          <a:effectLst/>
                          <a:latin typeface="Google Sans Text"/>
                        </a:rPr>
                        <a:t>Purpose</a:t>
                      </a:r>
                      <a:endParaRPr lang="en-IN">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IN" b="1">
                          <a:effectLst/>
                          <a:latin typeface="Google Sans Text"/>
                        </a:rPr>
                        <a:t>Used for Transactions that...</a:t>
                      </a:r>
                      <a:endParaRPr lang="en-IN">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59963493"/>
                  </a:ext>
                </a:extLst>
              </a:tr>
              <a:tr h="0">
                <a:tc>
                  <a:txBody>
                    <a:bodyPr/>
                    <a:lstStyle/>
                    <a:p>
                      <a:pPr>
                        <a:buNone/>
                      </a:pPr>
                      <a:r>
                        <a:rPr lang="en-IN" b="1">
                          <a:effectLst/>
                          <a:latin typeface="Google Sans Text"/>
                        </a:rPr>
                        <a:t>REDO</a:t>
                      </a:r>
                      <a:endParaRPr lang="en-IN">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Reapplies changes to the database.</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US">
                          <a:effectLst/>
                          <a:latin typeface="Google Sans Text"/>
                        </a:rPr>
                        <a:t>Committed before the crash (has a [commit, T] record).</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58085519"/>
                  </a:ext>
                </a:extLst>
              </a:tr>
              <a:tr h="0">
                <a:tc>
                  <a:txBody>
                    <a:bodyPr/>
                    <a:lstStyle/>
                    <a:p>
                      <a:pPr>
                        <a:buNone/>
                      </a:pPr>
                      <a:r>
                        <a:rPr lang="en-IN" b="1">
                          <a:effectLst/>
                          <a:latin typeface="Google Sans Text"/>
                        </a:rPr>
                        <a:t>UNDO</a:t>
                      </a:r>
                      <a:endParaRPr lang="en-IN">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US">
                          <a:effectLst/>
                          <a:latin typeface="Google Sans Text"/>
                        </a:rPr>
                        <a:t>Removes changes from the database.</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US" dirty="0">
                          <a:effectLst/>
                          <a:latin typeface="Google Sans Text"/>
                        </a:rPr>
                        <a:t>Were active/uncommitted at the time of the crash.</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77677054"/>
                  </a:ext>
                </a:extLst>
              </a:tr>
            </a:tbl>
          </a:graphicData>
        </a:graphic>
      </p:graphicFrame>
      <p:sp>
        <p:nvSpPr>
          <p:cNvPr id="6" name="Rectangle 1">
            <a:extLst>
              <a:ext uri="{FF2B5EF4-FFF2-40B4-BE49-F238E27FC236}">
                <a16:creationId xmlns:a16="http://schemas.microsoft.com/office/drawing/2014/main" id="{BACBABBB-BE52-B02C-02C8-F77A2166B8DC}"/>
              </a:ext>
            </a:extLst>
          </p:cNvPr>
          <p:cNvSpPr>
            <a:spLocks noChangeArrowheads="1"/>
          </p:cNvSpPr>
          <p:nvPr/>
        </p:nvSpPr>
        <p:spPr bwMode="auto">
          <a:xfrm>
            <a:off x="705295" y="594532"/>
            <a:ext cx="84937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Google Sans"/>
              </a:rPr>
              <a:t>Recovery Using Log Records (Undo/Redo)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oogle Sans Text"/>
              </a:rPr>
              <a:t>After a system crash, the recovery manager performs two main actions based on the log:</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8664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ACD7-6752-4841-846D-04108221DB6B}"/>
              </a:ext>
            </a:extLst>
          </p:cNvPr>
          <p:cNvSpPr>
            <a:spLocks noGrp="1"/>
          </p:cNvSpPr>
          <p:nvPr>
            <p:ph type="title"/>
          </p:nvPr>
        </p:nvSpPr>
        <p:spPr/>
        <p:txBody>
          <a:bodyPr/>
          <a:lstStyle/>
          <a:p>
            <a:r>
              <a:rPr lang="en-IN" dirty="0"/>
              <a:t>Practical</a:t>
            </a:r>
          </a:p>
        </p:txBody>
      </p:sp>
      <p:sp>
        <p:nvSpPr>
          <p:cNvPr id="3" name="Content Placeholder 2">
            <a:extLst>
              <a:ext uri="{FF2B5EF4-FFF2-40B4-BE49-F238E27FC236}">
                <a16:creationId xmlns:a16="http://schemas.microsoft.com/office/drawing/2014/main" id="{B9E1BB61-DC68-41E6-B73C-A165856FA22A}"/>
              </a:ext>
            </a:extLst>
          </p:cNvPr>
          <p:cNvSpPr>
            <a:spLocks noGrp="1"/>
          </p:cNvSpPr>
          <p:nvPr>
            <p:ph idx="1"/>
          </p:nvPr>
        </p:nvSpPr>
        <p:spPr/>
        <p:txBody>
          <a:bodyPr/>
          <a:lstStyle/>
          <a:p>
            <a:r>
              <a:rPr lang="en-IN" dirty="0"/>
              <a:t>Oracle Transactions: A series of one or more SQL statements that are logically related or a series of operations performed on oracle table data is termed as transaction.</a:t>
            </a:r>
          </a:p>
          <a:p>
            <a:r>
              <a:rPr lang="en-IN" dirty="0"/>
              <a:t>Transaction is a group of events that occur between any of the following events:</a:t>
            </a:r>
          </a:p>
          <a:p>
            <a:pPr lvl="1"/>
            <a:r>
              <a:rPr lang="en-IN" dirty="0"/>
              <a:t>Connection to Oracle</a:t>
            </a:r>
          </a:p>
          <a:p>
            <a:pPr lvl="1"/>
            <a:r>
              <a:rPr lang="en-IN" dirty="0"/>
              <a:t>Disconnecting from oracle</a:t>
            </a:r>
          </a:p>
          <a:p>
            <a:pPr lvl="1"/>
            <a:r>
              <a:rPr lang="en-IN" dirty="0"/>
              <a:t>Committing changes to the database table</a:t>
            </a:r>
          </a:p>
          <a:p>
            <a:pPr lvl="1"/>
            <a:r>
              <a:rPr lang="en-IN" dirty="0"/>
              <a:t>Rollback</a:t>
            </a:r>
          </a:p>
        </p:txBody>
      </p:sp>
    </p:spTree>
    <p:extLst>
      <p:ext uri="{BB962C8B-B14F-4D97-AF65-F5344CB8AC3E}">
        <p14:creationId xmlns:p14="http://schemas.microsoft.com/office/powerpoint/2010/main" val="2641889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E729-BEC2-48CF-A8A6-9EDBE5B87E45}"/>
              </a:ext>
            </a:extLst>
          </p:cNvPr>
          <p:cNvSpPr>
            <a:spLocks noGrp="1"/>
          </p:cNvSpPr>
          <p:nvPr>
            <p:ph type="title"/>
          </p:nvPr>
        </p:nvSpPr>
        <p:spPr/>
        <p:txBody>
          <a:bodyPr/>
          <a:lstStyle/>
          <a:p>
            <a:r>
              <a:rPr lang="en-IN" dirty="0"/>
              <a:t>Using Commit</a:t>
            </a:r>
          </a:p>
        </p:txBody>
      </p:sp>
      <p:sp>
        <p:nvSpPr>
          <p:cNvPr id="3" name="Content Placeholder 2">
            <a:extLst>
              <a:ext uri="{FF2B5EF4-FFF2-40B4-BE49-F238E27FC236}">
                <a16:creationId xmlns:a16="http://schemas.microsoft.com/office/drawing/2014/main" id="{348DD32A-D87B-4411-B5C1-3749DA3588EA}"/>
              </a:ext>
            </a:extLst>
          </p:cNvPr>
          <p:cNvSpPr>
            <a:spLocks noGrp="1"/>
          </p:cNvSpPr>
          <p:nvPr>
            <p:ph idx="1"/>
          </p:nvPr>
        </p:nvSpPr>
        <p:spPr/>
        <p:txBody>
          <a:bodyPr/>
          <a:lstStyle/>
          <a:p>
            <a:r>
              <a:rPr lang="en-IN" dirty="0"/>
              <a:t>A commit ends the current transaction and makes any changes permanent, made during transaction</a:t>
            </a:r>
          </a:p>
          <a:p>
            <a:r>
              <a:rPr lang="en-IN" dirty="0"/>
              <a:t>Syntax:</a:t>
            </a:r>
          </a:p>
          <a:p>
            <a:pPr marL="457200" lvl="1" indent="0">
              <a:buNone/>
            </a:pPr>
            <a:r>
              <a:rPr lang="en-IN" dirty="0"/>
              <a:t>COMMIT;</a:t>
            </a:r>
          </a:p>
        </p:txBody>
      </p:sp>
    </p:spTree>
    <p:extLst>
      <p:ext uri="{BB962C8B-B14F-4D97-AF65-F5344CB8AC3E}">
        <p14:creationId xmlns:p14="http://schemas.microsoft.com/office/powerpoint/2010/main" val="42289789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CBFA-86A4-45EA-B3FF-83B9B9FD5D7D}"/>
              </a:ext>
            </a:extLst>
          </p:cNvPr>
          <p:cNvSpPr>
            <a:spLocks noGrp="1"/>
          </p:cNvSpPr>
          <p:nvPr>
            <p:ph type="title"/>
          </p:nvPr>
        </p:nvSpPr>
        <p:spPr/>
        <p:txBody>
          <a:bodyPr/>
          <a:lstStyle/>
          <a:p>
            <a:r>
              <a:rPr lang="en-IN" dirty="0"/>
              <a:t>Rollback</a:t>
            </a:r>
          </a:p>
        </p:txBody>
      </p:sp>
      <p:sp>
        <p:nvSpPr>
          <p:cNvPr id="3" name="Content Placeholder 2">
            <a:extLst>
              <a:ext uri="{FF2B5EF4-FFF2-40B4-BE49-F238E27FC236}">
                <a16:creationId xmlns:a16="http://schemas.microsoft.com/office/drawing/2014/main" id="{5682B5F1-F1D5-4B6C-9B9B-38A4E48DF832}"/>
              </a:ext>
            </a:extLst>
          </p:cNvPr>
          <p:cNvSpPr>
            <a:spLocks noGrp="1"/>
          </p:cNvSpPr>
          <p:nvPr>
            <p:ph idx="1"/>
          </p:nvPr>
        </p:nvSpPr>
        <p:spPr/>
        <p:txBody>
          <a:bodyPr/>
          <a:lstStyle/>
          <a:p>
            <a:r>
              <a:rPr lang="en-IN" dirty="0"/>
              <a:t>A rollback does exactly opposite to Commit.</a:t>
            </a:r>
          </a:p>
          <a:p>
            <a:r>
              <a:rPr lang="en-IN" dirty="0"/>
              <a:t>It ends the transaction but undoes any changes made during the transaction</a:t>
            </a:r>
          </a:p>
          <a:p>
            <a:r>
              <a:rPr lang="en-IN" dirty="0"/>
              <a:t>All transaction locks acquired on tables are released</a:t>
            </a:r>
          </a:p>
          <a:p>
            <a:r>
              <a:rPr lang="en-IN" dirty="0"/>
              <a:t>Syntax:</a:t>
            </a:r>
          </a:p>
          <a:p>
            <a:pPr marL="457200" lvl="1" indent="0">
              <a:buNone/>
            </a:pPr>
            <a:r>
              <a:rPr lang="en-IN" dirty="0"/>
              <a:t>ROLLBACK [WORK] [TO [SAVEPOINT] &lt;</a:t>
            </a:r>
            <a:r>
              <a:rPr lang="en-IN" dirty="0" err="1"/>
              <a:t>SavePoint</a:t>
            </a:r>
            <a:r>
              <a:rPr lang="en-IN" dirty="0"/>
              <a:t> Name&gt;];</a:t>
            </a:r>
          </a:p>
          <a:p>
            <a:pPr marL="457200" lvl="1" indent="0">
              <a:buNone/>
            </a:pPr>
            <a:endParaRPr lang="en-IN" dirty="0"/>
          </a:p>
        </p:txBody>
      </p:sp>
    </p:spTree>
    <p:extLst>
      <p:ext uri="{BB962C8B-B14F-4D97-AF65-F5344CB8AC3E}">
        <p14:creationId xmlns:p14="http://schemas.microsoft.com/office/powerpoint/2010/main" val="3084530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22F65-E056-4905-ABB5-0BA96AAC0471}"/>
              </a:ext>
            </a:extLst>
          </p:cNvPr>
          <p:cNvSpPr>
            <a:spLocks noGrp="1"/>
          </p:cNvSpPr>
          <p:nvPr>
            <p:ph type="title"/>
          </p:nvPr>
        </p:nvSpPr>
        <p:spPr/>
        <p:txBody>
          <a:bodyPr/>
          <a:lstStyle/>
          <a:p>
            <a:r>
              <a:rPr lang="en-IN" dirty="0"/>
              <a:t>Creating </a:t>
            </a:r>
            <a:r>
              <a:rPr lang="en-IN" dirty="0" err="1"/>
              <a:t>SavePoint</a:t>
            </a:r>
            <a:endParaRPr lang="en-IN" dirty="0"/>
          </a:p>
        </p:txBody>
      </p:sp>
      <p:sp>
        <p:nvSpPr>
          <p:cNvPr id="3" name="Content Placeholder 2">
            <a:extLst>
              <a:ext uri="{FF2B5EF4-FFF2-40B4-BE49-F238E27FC236}">
                <a16:creationId xmlns:a16="http://schemas.microsoft.com/office/drawing/2014/main" id="{1CB96F99-F3F5-4B91-979B-2488238C5CEB}"/>
              </a:ext>
            </a:extLst>
          </p:cNvPr>
          <p:cNvSpPr>
            <a:spLocks noGrp="1"/>
          </p:cNvSpPr>
          <p:nvPr>
            <p:ph idx="1"/>
          </p:nvPr>
        </p:nvSpPr>
        <p:spPr/>
        <p:txBody>
          <a:bodyPr/>
          <a:lstStyle/>
          <a:p>
            <a:r>
              <a:rPr lang="en-IN" dirty="0"/>
              <a:t>Save point marks and saves the current point in the processing of a transaction.</a:t>
            </a:r>
          </a:p>
          <a:p>
            <a:r>
              <a:rPr lang="en-IN" dirty="0"/>
              <a:t>When the </a:t>
            </a:r>
            <a:r>
              <a:rPr lang="en-IN"/>
              <a:t>SavePoint</a:t>
            </a:r>
            <a:r>
              <a:rPr lang="en-IN" dirty="0"/>
              <a:t> is used with the rollback statement, part of a transaction can be undone</a:t>
            </a:r>
          </a:p>
          <a:p>
            <a:r>
              <a:rPr lang="en-IN" dirty="0"/>
              <a:t>An active </a:t>
            </a:r>
            <a:r>
              <a:rPr lang="en-IN" dirty="0" err="1"/>
              <a:t>SavePoint</a:t>
            </a:r>
            <a:r>
              <a:rPr lang="en-IN" dirty="0"/>
              <a:t> is one that is specified since the last COMMIT or ROLLBACK</a:t>
            </a:r>
          </a:p>
          <a:p>
            <a:r>
              <a:rPr lang="en-IN" dirty="0"/>
              <a:t>Syntax:</a:t>
            </a:r>
          </a:p>
          <a:p>
            <a:pPr marL="457200" lvl="1" indent="0">
              <a:buNone/>
            </a:pPr>
            <a:r>
              <a:rPr lang="en-IN" dirty="0"/>
              <a:t>SAVEPOINT &lt;</a:t>
            </a:r>
            <a:r>
              <a:rPr lang="en-IN" dirty="0" err="1"/>
              <a:t>SavePoint</a:t>
            </a:r>
            <a:r>
              <a:rPr lang="en-IN" dirty="0"/>
              <a:t> Name&gt;</a:t>
            </a:r>
          </a:p>
        </p:txBody>
      </p:sp>
    </p:spTree>
    <p:extLst>
      <p:ext uri="{BB962C8B-B14F-4D97-AF65-F5344CB8AC3E}">
        <p14:creationId xmlns:p14="http://schemas.microsoft.com/office/powerpoint/2010/main" val="266426534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1890</TotalTime>
  <Words>3618</Words>
  <Application>Microsoft Office PowerPoint</Application>
  <PresentationFormat>Widescreen</PresentationFormat>
  <Paragraphs>329</Paragraphs>
  <Slides>39</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39</vt:i4>
      </vt:variant>
    </vt:vector>
  </HeadingPairs>
  <TitlesOfParts>
    <vt:vector size="53" baseType="lpstr">
      <vt:lpstr>Arial Unicode MS</vt:lpstr>
      <vt:lpstr>Arial</vt:lpstr>
      <vt:lpstr>Calibri</vt:lpstr>
      <vt:lpstr>Courier New</vt:lpstr>
      <vt:lpstr>Google Sans</vt:lpstr>
      <vt:lpstr>Google Sans Text</vt:lpstr>
      <vt:lpstr>MinionPro-Bold</vt:lpstr>
      <vt:lpstr>MinionPro-It</vt:lpstr>
      <vt:lpstr>MinionPro-Regular</vt:lpstr>
      <vt:lpstr>Symbol</vt:lpstr>
      <vt:lpstr>Times New Roman</vt:lpstr>
      <vt:lpstr>Trebuchet MS</vt:lpstr>
      <vt:lpstr>Wingdings 3</vt:lpstr>
      <vt:lpstr>Facet</vt:lpstr>
      <vt:lpstr>PowerPoint Presentation</vt:lpstr>
      <vt:lpstr>Topics to be covered</vt:lpstr>
      <vt:lpstr>Single-User Versus Multiuser system</vt:lpstr>
      <vt:lpstr>Multiprogramming and Parallel Processing</vt:lpstr>
      <vt:lpstr>Multiprogramming and Parallel Processing</vt:lpstr>
      <vt:lpstr>Multiprogramming and Parallel Processing</vt:lpstr>
      <vt:lpstr>Transactions, Database Items, Read and Write Operations and DBMS Buffers</vt:lpstr>
      <vt:lpstr>Access operations that a transaction can include are as follows:</vt:lpstr>
      <vt:lpstr>PowerPoint Presentation</vt:lpstr>
      <vt:lpstr>Transaction and System Concept</vt:lpstr>
      <vt:lpstr>PowerPoint Presentation</vt:lpstr>
      <vt:lpstr>Desirable Properties of Transactions</vt:lpstr>
      <vt:lpstr>Schedules of Transaction</vt:lpstr>
      <vt:lpstr>Example</vt:lpstr>
      <vt:lpstr>Example</vt:lpstr>
      <vt:lpstr>Conflicting Operations in a Schedule</vt:lpstr>
      <vt:lpstr>Complete Schedule</vt:lpstr>
      <vt:lpstr>Characterizing Schedules based on Recoverability</vt:lpstr>
      <vt:lpstr>The condition for a recoverable schedule is as follows</vt:lpstr>
      <vt:lpstr>Example:</vt:lpstr>
      <vt:lpstr>Characterizing Schedules Based on Serializability</vt:lpstr>
      <vt:lpstr>PowerPoint Presentation</vt:lpstr>
      <vt:lpstr>Concurrency Control Protocols</vt:lpstr>
      <vt:lpstr>1. Lock-Based Protocols (Two-Phase Locking - 2PL)</vt:lpstr>
      <vt:lpstr>2. Timestamp Ordering Protocol</vt:lpstr>
      <vt:lpstr>3. Validation-Based (Optimistic) Protocol</vt:lpstr>
      <vt:lpstr>Deadlock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vt:lpstr>
      <vt:lpstr>Using Commit</vt:lpstr>
      <vt:lpstr>Rollback</vt:lpstr>
      <vt:lpstr>Creating SavePoint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Chudasama Vishal</dc:creator>
  <cp:lastModifiedBy>Chudasama Vishal</cp:lastModifiedBy>
  <cp:revision>84</cp:revision>
  <dcterms:created xsi:type="dcterms:W3CDTF">2025-11-09T03:36:38Z</dcterms:created>
  <dcterms:modified xsi:type="dcterms:W3CDTF">2025-12-13T18:45:49Z</dcterms:modified>
</cp:coreProperties>
</file>