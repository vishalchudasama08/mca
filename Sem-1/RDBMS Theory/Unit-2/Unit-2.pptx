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0"/>
  </p:notesMasterIdLst>
  <p:sldIdLst>
    <p:sldId id="256" r:id="rId2"/>
    <p:sldId id="316" r:id="rId3"/>
    <p:sldId id="258" r:id="rId4"/>
    <p:sldId id="259" r:id="rId5"/>
    <p:sldId id="260" r:id="rId6"/>
    <p:sldId id="261" r:id="rId7"/>
    <p:sldId id="262" r:id="rId8"/>
    <p:sldId id="264" r:id="rId9"/>
    <p:sldId id="265" r:id="rId10"/>
    <p:sldId id="263" r:id="rId11"/>
    <p:sldId id="317" r:id="rId12"/>
    <p:sldId id="395" r:id="rId13"/>
    <p:sldId id="396" r:id="rId14"/>
    <p:sldId id="397" r:id="rId15"/>
    <p:sldId id="398" r:id="rId16"/>
    <p:sldId id="399" r:id="rId17"/>
    <p:sldId id="390" r:id="rId18"/>
    <p:sldId id="391" r:id="rId19"/>
    <p:sldId id="392" r:id="rId20"/>
    <p:sldId id="393" r:id="rId21"/>
    <p:sldId id="394" r:id="rId22"/>
    <p:sldId id="400" r:id="rId23"/>
    <p:sldId id="385" r:id="rId24"/>
    <p:sldId id="401" r:id="rId25"/>
    <p:sldId id="270" r:id="rId26"/>
    <p:sldId id="257" r:id="rId27"/>
    <p:sldId id="386" r:id="rId28"/>
    <p:sldId id="387" r:id="rId29"/>
    <p:sldId id="388" r:id="rId30"/>
    <p:sldId id="389" r:id="rId31"/>
    <p:sldId id="402" r:id="rId32"/>
    <p:sldId id="403" r:id="rId33"/>
    <p:sldId id="266" r:id="rId34"/>
    <p:sldId id="340" r:id="rId35"/>
    <p:sldId id="341" r:id="rId36"/>
    <p:sldId id="339" r:id="rId37"/>
    <p:sldId id="342" r:id="rId38"/>
    <p:sldId id="343" r:id="rId39"/>
    <p:sldId id="267" r:id="rId40"/>
    <p:sldId id="335" r:id="rId41"/>
    <p:sldId id="404" r:id="rId42"/>
    <p:sldId id="330" r:id="rId43"/>
    <p:sldId id="271" r:id="rId44"/>
    <p:sldId id="356" r:id="rId45"/>
    <p:sldId id="405" r:id="rId46"/>
    <p:sldId id="268" r:id="rId47"/>
    <p:sldId id="269" r:id="rId48"/>
    <p:sldId id="406" r:id="rId49"/>
    <p:sldId id="407" r:id="rId50"/>
    <p:sldId id="408" r:id="rId51"/>
    <p:sldId id="409" r:id="rId52"/>
    <p:sldId id="410" r:id="rId53"/>
    <p:sldId id="411" r:id="rId54"/>
    <p:sldId id="412" r:id="rId55"/>
    <p:sldId id="413" r:id="rId56"/>
    <p:sldId id="414" r:id="rId57"/>
    <p:sldId id="415" r:id="rId58"/>
    <p:sldId id="416" r:id="rId5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2E5D5B-4CE0-4E6F-84BE-A53E645E58F0}" type="datetimeFigureOut">
              <a:rPr lang="en-IN" smtClean="0"/>
              <a:t>10-11-2025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5DFFD-6521-4702-A42E-0D1B203886E9}" type="slidenum">
              <a:rPr lang="en-IN" smtClean="0"/>
              <a:t>‹#›</a:t>
            </a:fld>
            <a:endParaRPr lang="en-IN"/>
          </a:p>
        </p:txBody>
      </p:sp>
    </p:spTree>
    <p:extLst>
      <p:ext uri="{BB962C8B-B14F-4D97-AF65-F5344CB8AC3E}">
        <p14:creationId xmlns:p14="http://schemas.microsoft.com/office/powerpoint/2010/main" val="870983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163C1374-5CAC-4030-8C16-81B86612361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EF7E24AE-BCC9-4DC1-A02B-8877CAA5FF3D}" type="slidenum">
              <a:rPr lang="en-US" altLang="en-US" sz="1200">
                <a:latin typeface="Tahoma" panose="020B0604030504040204" pitchFamily="34" charset="0"/>
              </a:rPr>
              <a:pPr eaLnBrk="1" hangingPunct="1"/>
              <a:t>8</a:t>
            </a:fld>
            <a:endParaRPr lang="en-US" altLang="en-US" sz="1200">
              <a:latin typeface="Tahoma" panose="020B0604030504040204" pitchFamily="34" charset="0"/>
            </a:endParaRPr>
          </a:p>
        </p:txBody>
      </p:sp>
      <p:sp>
        <p:nvSpPr>
          <p:cNvPr id="72707" name="Rectangle 2">
            <a:extLst>
              <a:ext uri="{FF2B5EF4-FFF2-40B4-BE49-F238E27FC236}">
                <a16:creationId xmlns:a16="http://schemas.microsoft.com/office/drawing/2014/main" id="{3A92DFAD-5E8F-43A6-82C8-6A3DBCF94992}"/>
              </a:ext>
            </a:extLst>
          </p:cNvPr>
          <p:cNvSpPr>
            <a:spLocks noChangeArrowheads="1"/>
          </p:cNvSpPr>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72708" name="Rectangle 3">
            <a:extLst>
              <a:ext uri="{FF2B5EF4-FFF2-40B4-BE49-F238E27FC236}">
                <a16:creationId xmlns:a16="http://schemas.microsoft.com/office/drawing/2014/main" id="{94A326CE-8DAA-4174-8FBE-70ED9EF2D50C}"/>
              </a:ext>
            </a:extLst>
          </p:cNvPr>
          <p:cNvSpPr>
            <a:spLocks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0" tIns="44446" rIns="90480" bIns="44446" anchor="b"/>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r" eaLnBrk="1" hangingPunct="1"/>
            <a:r>
              <a:rPr lang="en-US" altLang="en-US" sz="1200">
                <a:latin typeface="Times New Roman" panose="02020603050405020304" pitchFamily="18" charset="0"/>
                <a:cs typeface="Arial" panose="020B0604020202020204" pitchFamily="34" charset="0"/>
              </a:rPr>
              <a:t>17</a:t>
            </a:r>
          </a:p>
        </p:txBody>
      </p:sp>
      <p:sp>
        <p:nvSpPr>
          <p:cNvPr id="72709" name="Rectangle 4">
            <a:extLst>
              <a:ext uri="{FF2B5EF4-FFF2-40B4-BE49-F238E27FC236}">
                <a16:creationId xmlns:a16="http://schemas.microsoft.com/office/drawing/2014/main" id="{284C65D5-654A-44CB-BA30-A752CFFC2539}"/>
              </a:ext>
            </a:extLst>
          </p:cNvPr>
          <p:cNvSpPr>
            <a:spLocks noChangeArrowheads="1"/>
          </p:cNvSpPr>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72710" name="Rectangle 5">
            <a:extLst>
              <a:ext uri="{FF2B5EF4-FFF2-40B4-BE49-F238E27FC236}">
                <a16:creationId xmlns:a16="http://schemas.microsoft.com/office/drawing/2014/main" id="{5261E9FA-8A01-4E71-AD36-735A8F2830C2}"/>
              </a:ext>
            </a:extLst>
          </p:cNvPr>
          <p:cNvSpPr>
            <a:spLocks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72711" name="Rectangle 6">
            <a:extLst>
              <a:ext uri="{FF2B5EF4-FFF2-40B4-BE49-F238E27FC236}">
                <a16:creationId xmlns:a16="http://schemas.microsoft.com/office/drawing/2014/main" id="{8081806B-692D-4F1E-B1DB-12EAF37DFE7B}"/>
              </a:ext>
            </a:extLst>
          </p:cNvPr>
          <p:cNvSpPr>
            <a:spLocks noGrp="1" noRot="1" noChangeAspect="1" noChangeArrowheads="1" noTextEdit="1"/>
          </p:cNvSpPr>
          <p:nvPr>
            <p:ph type="sldImg"/>
          </p:nvPr>
        </p:nvSpPr>
        <p:spPr>
          <a:xfrm>
            <a:off x="1152525" y="692150"/>
            <a:ext cx="4554538" cy="3416300"/>
          </a:xfrm>
          <a:solidFill>
            <a:srgbClr val="FFFFFF"/>
          </a:solidFill>
          <a:ln w="12700" cap="flat"/>
        </p:spPr>
      </p:sp>
      <p:sp>
        <p:nvSpPr>
          <p:cNvPr id="72712" name="Rectangle 7">
            <a:extLst>
              <a:ext uri="{FF2B5EF4-FFF2-40B4-BE49-F238E27FC236}">
                <a16:creationId xmlns:a16="http://schemas.microsoft.com/office/drawing/2014/main" id="{92B1CDDF-ED58-4B11-A902-617FB84466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0" tIns="44446" rIns="90480" bIns="44446"/>
          <a:lstStyle/>
          <a:p>
            <a:endParaRPr lang="en-GB" altLang="en-US">
              <a:latin typeface="Arial" panose="020B0604020202020204" pitchFamily="34" charset="0"/>
            </a:endParaRPr>
          </a:p>
        </p:txBody>
      </p:sp>
    </p:spTree>
    <p:extLst>
      <p:ext uri="{BB962C8B-B14F-4D97-AF65-F5344CB8AC3E}">
        <p14:creationId xmlns:p14="http://schemas.microsoft.com/office/powerpoint/2010/main" val="18892378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052D617B-3812-4285-8BAA-3AD4871788D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9B1A2D3B-A4A4-4594-B9ED-DAABA3AC7D02}" type="slidenum">
              <a:rPr lang="en-CA" altLang="en-US" sz="1200">
                <a:latin typeface="Tahoma" panose="020B0604030504040204" pitchFamily="34" charset="0"/>
              </a:rPr>
              <a:pPr eaLnBrk="1" hangingPunct="1"/>
              <a:t>23</a:t>
            </a:fld>
            <a:endParaRPr lang="en-CA" altLang="en-US" sz="1200">
              <a:latin typeface="Tahoma" panose="020B0604030504040204" pitchFamily="34" charset="0"/>
            </a:endParaRPr>
          </a:p>
        </p:txBody>
      </p:sp>
      <p:sp>
        <p:nvSpPr>
          <p:cNvPr id="76803" name="Rectangle 2">
            <a:extLst>
              <a:ext uri="{FF2B5EF4-FFF2-40B4-BE49-F238E27FC236}">
                <a16:creationId xmlns:a16="http://schemas.microsoft.com/office/drawing/2014/main" id="{C4A862AF-4D38-4AF3-A4E2-95082A8DA381}"/>
              </a:ext>
            </a:extLst>
          </p:cNvPr>
          <p:cNvSpPr>
            <a:spLocks noGrp="1" noRot="1" noChangeAspect="1" noChangeArrowheads="1" noTextEdit="1"/>
          </p:cNvSpPr>
          <p:nvPr>
            <p:ph type="sldImg"/>
          </p:nvPr>
        </p:nvSpPr>
        <p:spPr>
          <a:ln/>
        </p:spPr>
      </p:sp>
      <p:sp>
        <p:nvSpPr>
          <p:cNvPr id="76804" name="Rectangle 3">
            <a:extLst>
              <a:ext uri="{FF2B5EF4-FFF2-40B4-BE49-F238E27FC236}">
                <a16:creationId xmlns:a16="http://schemas.microsoft.com/office/drawing/2014/main" id="{CE08CAA6-B42B-4DE9-B699-D178392EA52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1800">
              <a:latin typeface="Arial" panose="020B0604020202020204" pitchFamily="34" charset="0"/>
            </a:endParaRPr>
          </a:p>
        </p:txBody>
      </p:sp>
    </p:spTree>
    <p:extLst>
      <p:ext uri="{BB962C8B-B14F-4D97-AF65-F5344CB8AC3E}">
        <p14:creationId xmlns:p14="http://schemas.microsoft.com/office/powerpoint/2010/main" val="32060544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C3DA889-A451-442E-A712-75DD3B4F9150}" type="slidenum">
              <a:rPr lang="en-IN" smtClean="0"/>
              <a:t>26</a:t>
            </a:fld>
            <a:endParaRPr lang="en-IN"/>
          </a:p>
        </p:txBody>
      </p:sp>
    </p:spTree>
    <p:extLst>
      <p:ext uri="{BB962C8B-B14F-4D97-AF65-F5344CB8AC3E}">
        <p14:creationId xmlns:p14="http://schemas.microsoft.com/office/powerpoint/2010/main" val="1052252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095DFFD-6521-4702-A42E-0D1B203886E9}" type="slidenum">
              <a:rPr lang="en-IN" smtClean="0"/>
              <a:t>32</a:t>
            </a:fld>
            <a:endParaRPr lang="en-IN"/>
          </a:p>
        </p:txBody>
      </p:sp>
    </p:spTree>
    <p:extLst>
      <p:ext uri="{BB962C8B-B14F-4D97-AF65-F5344CB8AC3E}">
        <p14:creationId xmlns:p14="http://schemas.microsoft.com/office/powerpoint/2010/main" val="37189613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13AB9974-6EAC-4690-8134-37664E3AC3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ABE29348-A8A2-44F7-990D-E3626D9F0495}" type="slidenum">
              <a:rPr lang="en-CA" altLang="en-US" sz="1200">
                <a:latin typeface="Tahoma" panose="020B0604030504040204" pitchFamily="34" charset="0"/>
              </a:rPr>
              <a:pPr eaLnBrk="1" hangingPunct="1"/>
              <a:t>37</a:t>
            </a:fld>
            <a:endParaRPr lang="en-CA" altLang="en-US" sz="1200">
              <a:latin typeface="Tahoma" panose="020B0604030504040204" pitchFamily="34" charset="0"/>
            </a:endParaRPr>
          </a:p>
        </p:txBody>
      </p:sp>
      <p:sp>
        <p:nvSpPr>
          <p:cNvPr id="37891" name="Rectangle 2">
            <a:extLst>
              <a:ext uri="{FF2B5EF4-FFF2-40B4-BE49-F238E27FC236}">
                <a16:creationId xmlns:a16="http://schemas.microsoft.com/office/drawing/2014/main" id="{A111289F-CFAA-4708-ABC0-AB9647050CD2}"/>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5813CA20-363B-4D67-B577-BE0D51F187C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1800">
              <a:latin typeface="Arial" panose="020B0604020202020204" pitchFamily="34" charset="0"/>
            </a:endParaRPr>
          </a:p>
        </p:txBody>
      </p:sp>
    </p:spTree>
    <p:extLst>
      <p:ext uri="{BB962C8B-B14F-4D97-AF65-F5344CB8AC3E}">
        <p14:creationId xmlns:p14="http://schemas.microsoft.com/office/powerpoint/2010/main" val="35294086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9B86BDF5-9241-4945-A460-0798F640E3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8AF3DA6D-6AD3-4D35-B19D-7650E086FE92}" type="slidenum">
              <a:rPr lang="en-CA" altLang="en-US" sz="1200">
                <a:latin typeface="Tahoma" panose="020B0604030504040204" pitchFamily="34" charset="0"/>
              </a:rPr>
              <a:pPr eaLnBrk="1" hangingPunct="1"/>
              <a:t>38</a:t>
            </a:fld>
            <a:endParaRPr lang="en-CA" altLang="en-US" sz="1200">
              <a:latin typeface="Tahoma" panose="020B0604030504040204" pitchFamily="34" charset="0"/>
            </a:endParaRPr>
          </a:p>
        </p:txBody>
      </p:sp>
      <p:sp>
        <p:nvSpPr>
          <p:cNvPr id="38915" name="Rectangle 2">
            <a:extLst>
              <a:ext uri="{FF2B5EF4-FFF2-40B4-BE49-F238E27FC236}">
                <a16:creationId xmlns:a16="http://schemas.microsoft.com/office/drawing/2014/main" id="{19BF0E54-3764-42A5-B428-49DFA7931AC2}"/>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27B96F88-B8B8-4FD4-B08D-278D9A1623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1800">
              <a:latin typeface="Arial" panose="020B0604020202020204" pitchFamily="34" charset="0"/>
            </a:endParaRPr>
          </a:p>
        </p:txBody>
      </p:sp>
    </p:spTree>
    <p:extLst>
      <p:ext uri="{BB962C8B-B14F-4D97-AF65-F5344CB8AC3E}">
        <p14:creationId xmlns:p14="http://schemas.microsoft.com/office/powerpoint/2010/main" val="4600303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D9EE659C-B661-488B-BA2B-747225B80E3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8C954CD6-752E-4004-AA86-72B7E3992BF0}" type="slidenum">
              <a:rPr lang="en-CA" altLang="en-US" sz="1200">
                <a:latin typeface="Tahoma" panose="020B0604030504040204" pitchFamily="34" charset="0"/>
              </a:rPr>
              <a:pPr eaLnBrk="1" hangingPunct="1"/>
              <a:t>40</a:t>
            </a:fld>
            <a:endParaRPr lang="en-CA" altLang="en-US" sz="1200">
              <a:latin typeface="Tahoma" panose="020B0604030504040204" pitchFamily="34" charset="0"/>
            </a:endParaRPr>
          </a:p>
        </p:txBody>
      </p:sp>
      <p:sp>
        <p:nvSpPr>
          <p:cNvPr id="35843" name="Rectangle 2">
            <a:extLst>
              <a:ext uri="{FF2B5EF4-FFF2-40B4-BE49-F238E27FC236}">
                <a16:creationId xmlns:a16="http://schemas.microsoft.com/office/drawing/2014/main" id="{DF789BBD-0C4C-40D1-8A3D-28B7FF3F3253}"/>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97B5244F-E7C8-4540-9439-DBA106EFBA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1800">
              <a:latin typeface="Arial" panose="020B0604020202020204" pitchFamily="34" charset="0"/>
            </a:endParaRPr>
          </a:p>
        </p:txBody>
      </p:sp>
    </p:spTree>
    <p:extLst>
      <p:ext uri="{BB962C8B-B14F-4D97-AF65-F5344CB8AC3E}">
        <p14:creationId xmlns:p14="http://schemas.microsoft.com/office/powerpoint/2010/main" val="3086014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7525E0E1-43F9-4900-9BE5-132226FB0E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182D83A3-3C2C-44BF-B019-F79512D237AE}" type="slidenum">
              <a:rPr lang="en-CA" altLang="en-US" sz="1200">
                <a:latin typeface="Tahoma" panose="020B0604030504040204" pitchFamily="34" charset="0"/>
              </a:rPr>
              <a:pPr eaLnBrk="1" hangingPunct="1"/>
              <a:t>42</a:t>
            </a:fld>
            <a:endParaRPr lang="en-CA" altLang="en-US" sz="1200">
              <a:latin typeface="Tahoma" panose="020B0604030504040204" pitchFamily="34" charset="0"/>
            </a:endParaRPr>
          </a:p>
        </p:txBody>
      </p:sp>
      <p:sp>
        <p:nvSpPr>
          <p:cNvPr id="30723" name="Rectangle 2">
            <a:extLst>
              <a:ext uri="{FF2B5EF4-FFF2-40B4-BE49-F238E27FC236}">
                <a16:creationId xmlns:a16="http://schemas.microsoft.com/office/drawing/2014/main" id="{C20427AF-6E32-4CBD-B356-C2F6CD96790C}"/>
              </a:ext>
            </a:extLst>
          </p:cNvPr>
          <p:cNvSpPr>
            <a:spLocks noGrp="1" noRot="1" noChangeAspect="1" noChangeArrowheads="1" noTextEdit="1"/>
          </p:cNvSpPr>
          <p:nvPr>
            <p:ph type="sldImg"/>
          </p:nvPr>
        </p:nvSpPr>
        <p:spPr>
          <a:ln/>
        </p:spPr>
      </p:sp>
      <p:sp>
        <p:nvSpPr>
          <p:cNvPr id="30724" name="Rectangle 3">
            <a:extLst>
              <a:ext uri="{FF2B5EF4-FFF2-40B4-BE49-F238E27FC236}">
                <a16:creationId xmlns:a16="http://schemas.microsoft.com/office/drawing/2014/main" id="{4BAC681C-C0E8-4EAD-98E3-DFA598A2306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1800">
              <a:latin typeface="Arial" panose="020B0604020202020204" pitchFamily="34" charset="0"/>
            </a:endParaRPr>
          </a:p>
        </p:txBody>
      </p:sp>
    </p:spTree>
    <p:extLst>
      <p:ext uri="{BB962C8B-B14F-4D97-AF65-F5344CB8AC3E}">
        <p14:creationId xmlns:p14="http://schemas.microsoft.com/office/powerpoint/2010/main" val="18143972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BA4B175A-80BC-45C3-8D4F-3FDB4D0F3B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274B5C1E-6B47-4FD7-9227-A657D3FEA130}" type="slidenum">
              <a:rPr lang="en-CA" altLang="en-US" sz="1200">
                <a:latin typeface="Tahoma" panose="020B0604030504040204" pitchFamily="34" charset="0"/>
              </a:rPr>
              <a:pPr eaLnBrk="1" hangingPunct="1"/>
              <a:t>44</a:t>
            </a:fld>
            <a:endParaRPr lang="en-CA" altLang="en-US" sz="1200">
              <a:latin typeface="Tahoma" panose="020B0604030504040204" pitchFamily="34" charset="0"/>
            </a:endParaRPr>
          </a:p>
        </p:txBody>
      </p:sp>
      <p:sp>
        <p:nvSpPr>
          <p:cNvPr id="40963" name="Rectangle 2">
            <a:extLst>
              <a:ext uri="{FF2B5EF4-FFF2-40B4-BE49-F238E27FC236}">
                <a16:creationId xmlns:a16="http://schemas.microsoft.com/office/drawing/2014/main" id="{5B51E98E-EAC5-4337-A2DE-8575B16F13B7}"/>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14F79FA4-ACC3-4063-9953-2213E67BDA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1800">
              <a:latin typeface="Arial" panose="020B0604020202020204" pitchFamily="34" charset="0"/>
            </a:endParaRPr>
          </a:p>
        </p:txBody>
      </p:sp>
    </p:spTree>
    <p:extLst>
      <p:ext uri="{BB962C8B-B14F-4D97-AF65-F5344CB8AC3E}">
        <p14:creationId xmlns:p14="http://schemas.microsoft.com/office/powerpoint/2010/main" val="2288541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11/10/2025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11/10/2025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11/10/2025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11/10/2025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11/10/2025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11/10/2025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11/10/2025</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11/10/2025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11/10/2025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0F49590-EE75-9236-6F7F-D55C3155C348}"/>
              </a:ext>
            </a:extLst>
          </p:cNvPr>
          <p:cNvSpPr>
            <a:spLocks noGrp="1"/>
          </p:cNvSpPr>
          <p:nvPr/>
        </p:nvSpPr>
        <p:spPr>
          <a:xfrm>
            <a:off x="1599884" y="391154"/>
            <a:ext cx="1533841" cy="585215"/>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sz="3200" b="1" dirty="0">
                <a:solidFill>
                  <a:srgbClr val="C00000"/>
                </a:solidFill>
              </a:rPr>
              <a:t>RDBMS</a:t>
            </a:r>
            <a:endParaRPr lang="en-IN" sz="3200" b="1" dirty="0">
              <a:solidFill>
                <a:srgbClr val="C00000"/>
              </a:solidFill>
            </a:endParaRPr>
          </a:p>
        </p:txBody>
      </p:sp>
      <p:sp>
        <p:nvSpPr>
          <p:cNvPr id="5" name="Subtitle 2">
            <a:extLst>
              <a:ext uri="{FF2B5EF4-FFF2-40B4-BE49-F238E27FC236}">
                <a16:creationId xmlns:a16="http://schemas.microsoft.com/office/drawing/2014/main" id="{9592BC97-ADC0-1CF7-F659-A798E1C38A44}"/>
              </a:ext>
            </a:extLst>
          </p:cNvPr>
          <p:cNvSpPr>
            <a:spLocks noGrp="1"/>
          </p:cNvSpPr>
          <p:nvPr/>
        </p:nvSpPr>
        <p:spPr>
          <a:xfrm>
            <a:off x="3008376" y="503110"/>
            <a:ext cx="1310956" cy="393002"/>
          </a:xfrm>
          <a:prstGeom prst="rect">
            <a:avLst/>
          </a:prstGeom>
        </p:spPr>
        <p:txBody>
          <a:bodyPr vert="horz" lIns="91440" tIns="45720" rIns="91440" bIns="45720" rtlCol="0" anchor="t">
            <a:norm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r>
              <a:rPr lang="en-US" dirty="0"/>
              <a:t>240110102</a:t>
            </a:r>
            <a:endParaRPr lang="en-IN" dirty="0"/>
          </a:p>
        </p:txBody>
      </p:sp>
      <p:sp>
        <p:nvSpPr>
          <p:cNvPr id="3" name="TextBox 2">
            <a:extLst>
              <a:ext uri="{FF2B5EF4-FFF2-40B4-BE49-F238E27FC236}">
                <a16:creationId xmlns:a16="http://schemas.microsoft.com/office/drawing/2014/main" id="{F31B8DA5-9B6A-091F-AFA9-2608FB9A8EC5}"/>
              </a:ext>
            </a:extLst>
          </p:cNvPr>
          <p:cNvSpPr txBox="1"/>
          <p:nvPr/>
        </p:nvSpPr>
        <p:spPr>
          <a:xfrm>
            <a:off x="1993076" y="2449127"/>
            <a:ext cx="9336340" cy="3447098"/>
          </a:xfrm>
          <a:prstGeom prst="rect">
            <a:avLst/>
          </a:prstGeom>
          <a:noFill/>
        </p:spPr>
        <p:txBody>
          <a:bodyPr wrap="square">
            <a:spAutoFit/>
          </a:bodyPr>
          <a:lstStyle/>
          <a:p>
            <a:r>
              <a:rPr lang="en-IN" sz="2000" b="1" dirty="0"/>
              <a:t>Topics:</a:t>
            </a:r>
            <a:endParaRPr lang="en-IN" b="1" dirty="0"/>
          </a:p>
          <a:p>
            <a:endParaRPr lang="en-IN" dirty="0"/>
          </a:p>
          <a:p>
            <a:r>
              <a:rPr lang="en-US" b="1" dirty="0"/>
              <a:t>Components of an E-R Model</a:t>
            </a:r>
            <a:r>
              <a:rPr lang="en-US" dirty="0"/>
              <a:t>: Entity, Entity Sets, Attributes and keys – Super Key, Primary Key, Candidate Key, Alternate Key, Relationship Types, Composite entities, Weak entity </a:t>
            </a:r>
          </a:p>
          <a:p>
            <a:endParaRPr lang="en-US" dirty="0"/>
          </a:p>
          <a:p>
            <a:r>
              <a:rPr lang="en-US" dirty="0"/>
              <a:t>Relational Database design by ER to Relational Mapping </a:t>
            </a:r>
          </a:p>
          <a:p>
            <a:endParaRPr lang="en-US" dirty="0"/>
          </a:p>
          <a:p>
            <a:r>
              <a:rPr lang="en-US" b="1" dirty="0"/>
              <a:t>Examples for ER Diagram</a:t>
            </a:r>
            <a:r>
              <a:rPr lang="en-US" dirty="0"/>
              <a:t>: College Management System, Railway Reservation System, Hospital Management System, Library Management System, e-Business Management System (can take any eBusiness example like online shopping, online food ordering etc.…)</a:t>
            </a:r>
            <a:endParaRPr lang="en-IN" dirty="0"/>
          </a:p>
        </p:txBody>
      </p:sp>
      <p:sp>
        <p:nvSpPr>
          <p:cNvPr id="7" name="TextBox 6">
            <a:extLst>
              <a:ext uri="{FF2B5EF4-FFF2-40B4-BE49-F238E27FC236}">
                <a16:creationId xmlns:a16="http://schemas.microsoft.com/office/drawing/2014/main" id="{2FA5EB79-E362-2DF0-32E5-D7618658BE9C}"/>
              </a:ext>
            </a:extLst>
          </p:cNvPr>
          <p:cNvSpPr txBox="1"/>
          <p:nvPr/>
        </p:nvSpPr>
        <p:spPr>
          <a:xfrm>
            <a:off x="1599884" y="1487953"/>
            <a:ext cx="9336340" cy="523220"/>
          </a:xfrm>
          <a:prstGeom prst="rect">
            <a:avLst/>
          </a:prstGeom>
          <a:noFill/>
        </p:spPr>
        <p:txBody>
          <a:bodyPr wrap="square">
            <a:spAutoFit/>
          </a:bodyPr>
          <a:lstStyle/>
          <a:p>
            <a:r>
              <a:rPr lang="en-US" sz="2800" b="1" dirty="0">
                <a:solidFill>
                  <a:schemeClr val="accent1"/>
                </a:solidFill>
              </a:rPr>
              <a:t>Unit 2 - </a:t>
            </a:r>
            <a:r>
              <a:rPr lang="en-IN" sz="2800" b="1" dirty="0">
                <a:solidFill>
                  <a:schemeClr val="accent1"/>
                </a:solidFill>
              </a:rPr>
              <a:t>Entity Relationship Modelling (CO2) </a:t>
            </a:r>
          </a:p>
        </p:txBody>
      </p:sp>
      <p:sp>
        <p:nvSpPr>
          <p:cNvPr id="9" name="TextBox 8">
            <a:extLst>
              <a:ext uri="{FF2B5EF4-FFF2-40B4-BE49-F238E27FC236}">
                <a16:creationId xmlns:a16="http://schemas.microsoft.com/office/drawing/2014/main" id="{EEA2F35F-2B10-477F-18F4-C5BDF6D1D596}"/>
              </a:ext>
            </a:extLst>
          </p:cNvPr>
          <p:cNvSpPr txBox="1"/>
          <p:nvPr/>
        </p:nvSpPr>
        <p:spPr>
          <a:xfrm>
            <a:off x="10819638" y="6303401"/>
            <a:ext cx="1241298" cy="276999"/>
          </a:xfrm>
          <a:prstGeom prst="rect">
            <a:avLst/>
          </a:prstGeom>
          <a:noFill/>
        </p:spPr>
        <p:txBody>
          <a:bodyPr wrap="square">
            <a:spAutoFit/>
          </a:bodyPr>
          <a:lstStyle/>
          <a:p>
            <a:r>
              <a:rPr lang="en-US" sz="1200" i="1" dirty="0"/>
              <a:t>09/11/2025</a:t>
            </a:r>
            <a:endParaRPr lang="en-IN" sz="1200" i="1" dirty="0"/>
          </a:p>
        </p:txBody>
      </p:sp>
    </p:spTree>
    <p:extLst>
      <p:ext uri="{BB962C8B-B14F-4D97-AF65-F5344CB8AC3E}">
        <p14:creationId xmlns:p14="http://schemas.microsoft.com/office/powerpoint/2010/main" val="42724297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FBA88-6E74-4986-9A69-16B244AB6C38}"/>
              </a:ext>
            </a:extLst>
          </p:cNvPr>
          <p:cNvSpPr>
            <a:spLocks noGrp="1"/>
          </p:cNvSpPr>
          <p:nvPr>
            <p:ph type="title"/>
          </p:nvPr>
        </p:nvSpPr>
        <p:spPr>
          <a:xfrm>
            <a:off x="838200" y="548640"/>
            <a:ext cx="9128760" cy="776923"/>
          </a:xfrm>
        </p:spPr>
        <p:txBody>
          <a:bodyPr/>
          <a:lstStyle/>
          <a:p>
            <a:r>
              <a:rPr lang="en-IN" dirty="0"/>
              <a:t>Entities and Attributes</a:t>
            </a:r>
          </a:p>
        </p:txBody>
      </p:sp>
      <p:sp>
        <p:nvSpPr>
          <p:cNvPr id="3" name="Content Placeholder 2">
            <a:extLst>
              <a:ext uri="{FF2B5EF4-FFF2-40B4-BE49-F238E27FC236}">
                <a16:creationId xmlns:a16="http://schemas.microsoft.com/office/drawing/2014/main" id="{47659FD0-07E4-4D0D-A873-C2E9E3E62F20}"/>
              </a:ext>
            </a:extLst>
          </p:cNvPr>
          <p:cNvSpPr>
            <a:spLocks noGrp="1"/>
          </p:cNvSpPr>
          <p:nvPr>
            <p:ph idx="1"/>
          </p:nvPr>
        </p:nvSpPr>
        <p:spPr>
          <a:xfrm>
            <a:off x="838200" y="1325564"/>
            <a:ext cx="10515600" cy="5225138"/>
          </a:xfrm>
        </p:spPr>
        <p:txBody>
          <a:bodyPr>
            <a:normAutofit lnSpcReduction="10000"/>
          </a:bodyPr>
          <a:lstStyle/>
          <a:p>
            <a:r>
              <a:rPr lang="en-IN" b="1" dirty="0"/>
              <a:t>Entity:</a:t>
            </a:r>
          </a:p>
          <a:p>
            <a:pPr lvl="1"/>
            <a:r>
              <a:rPr lang="en-IN" dirty="0"/>
              <a:t>A thing or an object.</a:t>
            </a:r>
          </a:p>
          <a:p>
            <a:pPr lvl="1"/>
            <a:r>
              <a:rPr lang="en-IN" dirty="0"/>
              <a:t>It has set of properties</a:t>
            </a:r>
          </a:p>
          <a:p>
            <a:pPr lvl="1"/>
            <a:r>
              <a:rPr lang="en-IN" dirty="0"/>
              <a:t>Values for some set of properties, it can uniquely identify it</a:t>
            </a:r>
          </a:p>
          <a:p>
            <a:pPr lvl="1"/>
            <a:r>
              <a:rPr lang="en-IN" dirty="0"/>
              <a:t>Entities are specific objects or things in the mini-world that are represented in the database.</a:t>
            </a:r>
          </a:p>
          <a:p>
            <a:pPr lvl="1"/>
            <a:r>
              <a:rPr lang="en-IN" dirty="0"/>
              <a:t>For example the EMPLOYEE John Smith, the Research DEPARTMENT, the </a:t>
            </a:r>
            <a:r>
              <a:rPr lang="en-IN" dirty="0" err="1"/>
              <a:t>ProductX</a:t>
            </a:r>
            <a:r>
              <a:rPr lang="en-IN" dirty="0"/>
              <a:t> PROJECT</a:t>
            </a:r>
          </a:p>
          <a:p>
            <a:pPr lvl="1"/>
            <a:endParaRPr lang="en-IN" dirty="0"/>
          </a:p>
          <a:p>
            <a:r>
              <a:rPr lang="en-IN" dirty="0"/>
              <a:t>Attributes are properties used to describe an entity.</a:t>
            </a:r>
          </a:p>
          <a:p>
            <a:pPr lvl="1"/>
            <a:r>
              <a:rPr lang="en-IN" dirty="0"/>
              <a:t>For example an EMPLOYEE entity may have the attributes Name, SSN, Address, Sex, </a:t>
            </a:r>
            <a:r>
              <a:rPr lang="en-IN" dirty="0" err="1"/>
              <a:t>BirthDate</a:t>
            </a:r>
            <a:endParaRPr lang="en-IN" dirty="0"/>
          </a:p>
          <a:p>
            <a:r>
              <a:rPr lang="en-IN" dirty="0"/>
              <a:t>A specific entity will have a value for each of its attributes.</a:t>
            </a:r>
          </a:p>
          <a:p>
            <a:pPr lvl="1"/>
            <a:r>
              <a:rPr lang="en-IN" dirty="0"/>
              <a:t>For example a specific employee entity may have Name='John Smith', SSN='123456789', Address ='731, Fondren, Houston, TX', Sex='M', </a:t>
            </a:r>
            <a:r>
              <a:rPr lang="en-IN" dirty="0" err="1"/>
              <a:t>BirthDate</a:t>
            </a:r>
            <a:r>
              <a:rPr lang="en-IN" dirty="0"/>
              <a:t>='09-JAN-55‘</a:t>
            </a:r>
          </a:p>
          <a:p>
            <a:pPr marL="457200" lvl="1" indent="0">
              <a:buNone/>
            </a:pPr>
            <a:endParaRPr lang="en-IN" dirty="0"/>
          </a:p>
          <a:p>
            <a:r>
              <a:rPr lang="en-IN" dirty="0"/>
              <a:t>Each attribute has a value set (or data type) associated with it – e.g. integer, string, subrange, enumerated type, …</a:t>
            </a:r>
          </a:p>
          <a:p>
            <a:endParaRPr lang="en-IN" dirty="0"/>
          </a:p>
          <a:p>
            <a:pPr lvl="1"/>
            <a:endParaRPr lang="en-IN" dirty="0"/>
          </a:p>
        </p:txBody>
      </p:sp>
    </p:spTree>
    <p:extLst>
      <p:ext uri="{BB962C8B-B14F-4D97-AF65-F5344CB8AC3E}">
        <p14:creationId xmlns:p14="http://schemas.microsoft.com/office/powerpoint/2010/main" val="2352907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47000-74C2-4B41-812D-1367D3CBB94B}"/>
              </a:ext>
            </a:extLst>
          </p:cNvPr>
          <p:cNvSpPr>
            <a:spLocks noGrp="1"/>
          </p:cNvSpPr>
          <p:nvPr>
            <p:ph type="title"/>
          </p:nvPr>
        </p:nvSpPr>
        <p:spPr>
          <a:xfrm>
            <a:off x="838200" y="320041"/>
            <a:ext cx="10515600" cy="731520"/>
          </a:xfrm>
        </p:spPr>
        <p:txBody>
          <a:bodyPr/>
          <a:lstStyle/>
          <a:p>
            <a:r>
              <a:rPr lang="en-IN" dirty="0"/>
              <a:t>Type of Attributes</a:t>
            </a:r>
          </a:p>
        </p:txBody>
      </p:sp>
      <p:sp>
        <p:nvSpPr>
          <p:cNvPr id="3" name="Content Placeholder 2">
            <a:extLst>
              <a:ext uri="{FF2B5EF4-FFF2-40B4-BE49-F238E27FC236}">
                <a16:creationId xmlns:a16="http://schemas.microsoft.com/office/drawing/2014/main" id="{E1C6ACA1-7DF1-42AF-BA9A-D4B7786050AA}"/>
              </a:ext>
            </a:extLst>
          </p:cNvPr>
          <p:cNvSpPr>
            <a:spLocks noGrp="1"/>
          </p:cNvSpPr>
          <p:nvPr>
            <p:ph idx="1"/>
          </p:nvPr>
        </p:nvSpPr>
        <p:spPr>
          <a:xfrm>
            <a:off x="838200" y="1214204"/>
            <a:ext cx="10515600" cy="5411448"/>
          </a:xfrm>
        </p:spPr>
        <p:txBody>
          <a:bodyPr>
            <a:normAutofit/>
          </a:bodyPr>
          <a:lstStyle/>
          <a:p>
            <a:pPr algn="just" eaLnBrk="1" hangingPunct="1">
              <a:lnSpc>
                <a:spcPct val="80000"/>
              </a:lnSpc>
            </a:pPr>
            <a:r>
              <a:rPr lang="en-US" altLang="en-US" sz="1600" dirty="0"/>
              <a:t>Simple Attribute</a:t>
            </a:r>
          </a:p>
          <a:p>
            <a:pPr lvl="1" algn="just" eaLnBrk="1" hangingPunct="1">
              <a:lnSpc>
                <a:spcPct val="80000"/>
              </a:lnSpc>
            </a:pPr>
            <a:r>
              <a:rPr lang="en-US" altLang="en-US" sz="1400" dirty="0"/>
              <a:t>Each entity has a single atomic value for the attribute. </a:t>
            </a:r>
          </a:p>
          <a:p>
            <a:pPr lvl="1" algn="just" eaLnBrk="1" hangingPunct="1">
              <a:lnSpc>
                <a:spcPct val="80000"/>
              </a:lnSpc>
            </a:pPr>
            <a:r>
              <a:rPr lang="en-US" altLang="en-US" sz="1400" dirty="0"/>
              <a:t>For example: SSN or Gender.</a:t>
            </a:r>
          </a:p>
          <a:p>
            <a:pPr algn="just">
              <a:lnSpc>
                <a:spcPct val="80000"/>
              </a:lnSpc>
            </a:pPr>
            <a:r>
              <a:rPr lang="en-IN" sz="1600" dirty="0"/>
              <a:t>Composite Attribute</a:t>
            </a:r>
          </a:p>
          <a:p>
            <a:pPr lvl="1" algn="just">
              <a:lnSpc>
                <a:spcPct val="80000"/>
              </a:lnSpc>
            </a:pPr>
            <a:r>
              <a:rPr lang="en-IN" sz="1400" dirty="0"/>
              <a:t>An attribute where the values of that attribute can be further subdivided into meaningful sub-parts." </a:t>
            </a:r>
          </a:p>
          <a:p>
            <a:pPr lvl="1" algn="just">
              <a:lnSpc>
                <a:spcPct val="80000"/>
              </a:lnSpc>
            </a:pPr>
            <a:r>
              <a:rPr lang="en-IN" sz="1400" dirty="0"/>
              <a:t>For Example:  </a:t>
            </a:r>
            <a:r>
              <a:rPr lang="en-IN" sz="1400" dirty="0" err="1"/>
              <a:t>Emp_Name</a:t>
            </a:r>
            <a:r>
              <a:rPr lang="en-IN" sz="1400" dirty="0"/>
              <a:t> – may be stored as first name, last name, middle initial</a:t>
            </a:r>
          </a:p>
          <a:p>
            <a:pPr lvl="1" algn="just">
              <a:lnSpc>
                <a:spcPct val="80000"/>
              </a:lnSpc>
            </a:pPr>
            <a:r>
              <a:rPr lang="en-US" altLang="en-US" sz="1400" dirty="0"/>
              <a:t>Address(Apt#, House#, Street, City, State, </a:t>
            </a:r>
            <a:r>
              <a:rPr lang="en-US" altLang="en-US" sz="1400" dirty="0" err="1"/>
              <a:t>ZipCode</a:t>
            </a:r>
            <a:r>
              <a:rPr lang="en-US" altLang="en-US" sz="1400" dirty="0"/>
              <a:t>, Country)</a:t>
            </a:r>
            <a:endParaRPr lang="en-IN" altLang="en-US" sz="1400" dirty="0"/>
          </a:p>
          <a:p>
            <a:pPr algn="just">
              <a:lnSpc>
                <a:spcPct val="80000"/>
              </a:lnSpc>
            </a:pPr>
            <a:r>
              <a:rPr lang="en-IN" sz="1600" dirty="0" err="1"/>
              <a:t>Multivalue</a:t>
            </a:r>
            <a:r>
              <a:rPr lang="en-IN" sz="1600" dirty="0"/>
              <a:t> Attribute </a:t>
            </a:r>
          </a:p>
          <a:p>
            <a:pPr lvl="1" algn="just">
              <a:lnSpc>
                <a:spcPct val="80000"/>
              </a:lnSpc>
            </a:pPr>
            <a:r>
              <a:rPr lang="en-IN" sz="1400" dirty="0"/>
              <a:t>An attribute that can have more than one value associated with the key of the entity. </a:t>
            </a:r>
          </a:p>
          <a:p>
            <a:pPr lvl="1" algn="just">
              <a:lnSpc>
                <a:spcPct val="80000"/>
              </a:lnSpc>
            </a:pPr>
            <a:r>
              <a:rPr lang="en-IN" sz="1400" dirty="0"/>
              <a:t>For Example: Degree of a person, Hobby of a person, Bank branch Location, </a:t>
            </a:r>
            <a:r>
              <a:rPr lang="en-IN" sz="1400" dirty="0" err="1"/>
              <a:t>Color</a:t>
            </a:r>
            <a:r>
              <a:rPr lang="en-IN" sz="1400" dirty="0"/>
              <a:t> of a car etc.</a:t>
            </a:r>
          </a:p>
          <a:p>
            <a:pPr algn="just">
              <a:lnSpc>
                <a:spcPct val="80000"/>
              </a:lnSpc>
            </a:pPr>
            <a:r>
              <a:rPr lang="en-IN" sz="1600" dirty="0"/>
              <a:t>Derived Attribute</a:t>
            </a:r>
          </a:p>
          <a:p>
            <a:pPr lvl="1" algn="just">
              <a:lnSpc>
                <a:spcPct val="80000"/>
              </a:lnSpc>
            </a:pPr>
            <a:r>
              <a:rPr lang="en-IN" sz="1400" dirty="0"/>
              <a:t>An attribute whose value is calculated (derived) from other attributes. </a:t>
            </a:r>
          </a:p>
          <a:p>
            <a:pPr lvl="1" algn="just">
              <a:lnSpc>
                <a:spcPct val="80000"/>
              </a:lnSpc>
            </a:pPr>
            <a:r>
              <a:rPr lang="en-IN" sz="1400" dirty="0"/>
              <a:t>The derived attribute need not be physically stored within the database; instead, it can be derived by using an algorithm. </a:t>
            </a:r>
          </a:p>
          <a:p>
            <a:pPr lvl="1" algn="just">
              <a:lnSpc>
                <a:spcPct val="80000"/>
              </a:lnSpc>
            </a:pPr>
            <a:r>
              <a:rPr lang="en-IN" sz="1400" dirty="0"/>
              <a:t>For Example: Age field (can be derived from </a:t>
            </a:r>
            <a:r>
              <a:rPr lang="en-IN" sz="1400" dirty="0" err="1"/>
              <a:t>Birth_date</a:t>
            </a:r>
            <a:r>
              <a:rPr lang="en-IN" sz="1400" dirty="0"/>
              <a:t> field)</a:t>
            </a:r>
          </a:p>
          <a:p>
            <a:pPr algn="just">
              <a:lnSpc>
                <a:spcPct val="80000"/>
              </a:lnSpc>
            </a:pPr>
            <a:r>
              <a:rPr lang="en-IN" sz="1600" dirty="0"/>
              <a:t>Key Attribute</a:t>
            </a:r>
          </a:p>
          <a:p>
            <a:pPr lvl="1" algn="just">
              <a:lnSpc>
                <a:spcPct val="80000"/>
              </a:lnSpc>
            </a:pPr>
            <a:r>
              <a:rPr lang="en-US" sz="1400" dirty="0"/>
              <a:t>Uniquely identifies each entity in an entity set.</a:t>
            </a:r>
          </a:p>
          <a:p>
            <a:pPr lvl="1" algn="just">
              <a:lnSpc>
                <a:spcPct val="80000"/>
              </a:lnSpc>
            </a:pPr>
            <a:r>
              <a:rPr lang="en-IN" sz="1400" dirty="0"/>
              <a:t>Example: </a:t>
            </a:r>
            <a:r>
              <a:rPr lang="en-US" dirty="0" err="1"/>
              <a:t>Roll_No</a:t>
            </a:r>
            <a:r>
              <a:rPr lang="en-US" sz="1400" dirty="0"/>
              <a:t> for Student, </a:t>
            </a:r>
            <a:r>
              <a:rPr lang="en-US" dirty="0" err="1"/>
              <a:t>Emp_ID</a:t>
            </a:r>
            <a:r>
              <a:rPr lang="en-US" sz="1400" dirty="0"/>
              <a:t> for Employee.</a:t>
            </a:r>
            <a:endParaRPr lang="en-IN" sz="1400" dirty="0"/>
          </a:p>
        </p:txBody>
      </p:sp>
    </p:spTree>
    <p:extLst>
      <p:ext uri="{BB962C8B-B14F-4D97-AF65-F5344CB8AC3E}">
        <p14:creationId xmlns:p14="http://schemas.microsoft.com/office/powerpoint/2010/main" val="24175370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5337881-F9E6-41BB-98ED-43D7EF56D2FC}"/>
              </a:ext>
            </a:extLst>
          </p:cNvPr>
          <p:cNvSpPr>
            <a:spLocks noGrp="1"/>
          </p:cNvSpPr>
          <p:nvPr>
            <p:ph idx="1"/>
          </p:nvPr>
        </p:nvSpPr>
        <p:spPr>
          <a:xfrm>
            <a:off x="613117" y="953428"/>
            <a:ext cx="10515600" cy="4487252"/>
          </a:xfrm>
        </p:spPr>
        <p:txBody>
          <a:bodyPr>
            <a:normAutofit/>
          </a:bodyPr>
          <a:lstStyle/>
          <a:p>
            <a:r>
              <a:rPr lang="en-US" dirty="0"/>
              <a:t>Composite and Multi-Valued Attributes (Nested Attributes)</a:t>
            </a:r>
          </a:p>
          <a:p>
            <a:pPr lvl="1"/>
            <a:r>
              <a:rPr lang="en-US" dirty="0"/>
              <a:t>In general, </a:t>
            </a:r>
            <a:r>
              <a:rPr lang="en-US" b="1" dirty="0"/>
              <a:t>composite</a:t>
            </a:r>
            <a:r>
              <a:rPr lang="en-US" dirty="0"/>
              <a:t> and </a:t>
            </a:r>
            <a:r>
              <a:rPr lang="en-US" b="1" dirty="0"/>
              <a:t>multi-valued</a:t>
            </a:r>
            <a:r>
              <a:rPr lang="en-US" dirty="0"/>
              <a:t> attributes can be </a:t>
            </a:r>
            <a:r>
              <a:rPr lang="en-US" b="1" dirty="0"/>
              <a:t>nested arbitrarily</a:t>
            </a:r>
            <a:r>
              <a:rPr lang="en-US" dirty="0"/>
              <a:t> to any number of levels, though this is </a:t>
            </a:r>
            <a:r>
              <a:rPr lang="en-US" b="1" dirty="0"/>
              <a:t>rare</a:t>
            </a:r>
            <a:r>
              <a:rPr lang="en-US" dirty="0"/>
              <a:t> in practice.</a:t>
            </a:r>
          </a:p>
          <a:p>
            <a:pPr lvl="1"/>
            <a:r>
              <a:rPr lang="en-US" dirty="0"/>
              <a:t>A </a:t>
            </a:r>
            <a:r>
              <a:rPr lang="en-US" b="1" dirty="0"/>
              <a:t>composite attribute</a:t>
            </a:r>
            <a:r>
              <a:rPr lang="en-US" dirty="0"/>
              <a:t> is one that can be divided into smaller sub-parts.</a:t>
            </a:r>
          </a:p>
          <a:p>
            <a:pPr lvl="1"/>
            <a:r>
              <a:rPr lang="en-US" dirty="0"/>
              <a:t>A </a:t>
            </a:r>
            <a:r>
              <a:rPr lang="en-US" b="1" dirty="0"/>
              <a:t>multi-valued attribute</a:t>
            </a:r>
            <a:r>
              <a:rPr lang="en-US" dirty="0"/>
              <a:t> can hold </a:t>
            </a:r>
            <a:r>
              <a:rPr lang="en-US" b="1" dirty="0"/>
              <a:t>multiple values</a:t>
            </a:r>
            <a:r>
              <a:rPr lang="en-US" dirty="0"/>
              <a:t> for a single entity.</a:t>
            </a:r>
          </a:p>
          <a:p>
            <a:pPr lvl="1"/>
            <a:r>
              <a:rPr lang="en-US" dirty="0"/>
              <a:t>When both properties exist together, the attribute is called a </a:t>
            </a:r>
            <a:r>
              <a:rPr lang="en-US" b="1" dirty="0"/>
              <a:t>composite multi-valued attribute</a:t>
            </a:r>
            <a:r>
              <a:rPr lang="en-US" dirty="0"/>
              <a:t>.</a:t>
            </a:r>
          </a:p>
          <a:p>
            <a:pPr lvl="1"/>
            <a:r>
              <a:rPr lang="en-US" b="1" dirty="0"/>
              <a:t>Example</a:t>
            </a:r>
            <a:r>
              <a:rPr lang="en-US" dirty="0"/>
              <a:t>: student entity, </a:t>
            </a:r>
            <a:r>
              <a:rPr lang="en-US" dirty="0" err="1"/>
              <a:t>PreviousDegrees</a:t>
            </a:r>
            <a:r>
              <a:rPr lang="en-US" dirty="0"/>
              <a:t> attribute</a:t>
            </a:r>
          </a:p>
          <a:p>
            <a:pPr lvl="2"/>
            <a:r>
              <a:rPr lang="en-US" dirty="0" err="1"/>
              <a:t>PreviousDegrees</a:t>
            </a:r>
            <a:r>
              <a:rPr lang="en-US" dirty="0"/>
              <a:t> is </a:t>
            </a:r>
            <a:r>
              <a:rPr lang="en-US" b="1" dirty="0"/>
              <a:t>multi-valued</a:t>
            </a:r>
            <a:r>
              <a:rPr lang="en-US" dirty="0"/>
              <a:t> because a student can have more than one previous degree.</a:t>
            </a:r>
          </a:p>
          <a:p>
            <a:pPr lvl="2"/>
            <a:r>
              <a:rPr lang="en-US" dirty="0"/>
              <a:t>Each </a:t>
            </a:r>
            <a:r>
              <a:rPr lang="en-US" dirty="0" err="1"/>
              <a:t>PreviousDegree</a:t>
            </a:r>
            <a:r>
              <a:rPr lang="en-US" dirty="0"/>
              <a:t> has sub-parts, so it is </a:t>
            </a:r>
            <a:r>
              <a:rPr lang="en-US" b="1" dirty="0"/>
              <a:t>composite</a:t>
            </a:r>
            <a:r>
              <a:rPr lang="en-US" dirty="0"/>
              <a:t>: {</a:t>
            </a:r>
            <a:r>
              <a:rPr lang="en-US" dirty="0" err="1"/>
              <a:t>PreviousDegrees</a:t>
            </a:r>
            <a:r>
              <a:rPr lang="en-US" dirty="0"/>
              <a:t> (College, Year, Degree, Field)}</a:t>
            </a:r>
          </a:p>
          <a:p>
            <a:pPr lvl="1"/>
            <a:endParaRPr lang="en-US" dirty="0"/>
          </a:p>
        </p:txBody>
      </p:sp>
    </p:spTree>
    <p:extLst>
      <p:ext uri="{BB962C8B-B14F-4D97-AF65-F5344CB8AC3E}">
        <p14:creationId xmlns:p14="http://schemas.microsoft.com/office/powerpoint/2010/main" val="1658367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33684-9B00-443C-8865-FCD009AC5CC7}"/>
              </a:ext>
            </a:extLst>
          </p:cNvPr>
          <p:cNvSpPr>
            <a:spLocks noGrp="1"/>
          </p:cNvSpPr>
          <p:nvPr>
            <p:ph type="title"/>
          </p:nvPr>
        </p:nvSpPr>
        <p:spPr>
          <a:xfrm>
            <a:off x="677334" y="609600"/>
            <a:ext cx="8596668" cy="1216024"/>
          </a:xfrm>
        </p:spPr>
        <p:txBody>
          <a:bodyPr/>
          <a:lstStyle/>
          <a:p>
            <a:r>
              <a:rPr lang="en-IN" dirty="0"/>
              <a:t>Entity Type and Entity Sets</a:t>
            </a:r>
          </a:p>
        </p:txBody>
      </p:sp>
      <p:sp>
        <p:nvSpPr>
          <p:cNvPr id="3" name="Content Placeholder 2">
            <a:extLst>
              <a:ext uri="{FF2B5EF4-FFF2-40B4-BE49-F238E27FC236}">
                <a16:creationId xmlns:a16="http://schemas.microsoft.com/office/drawing/2014/main" id="{3AAAA21E-B6E9-4858-99C3-311018783AC3}"/>
              </a:ext>
            </a:extLst>
          </p:cNvPr>
          <p:cNvSpPr>
            <a:spLocks noGrp="1"/>
          </p:cNvSpPr>
          <p:nvPr>
            <p:ph idx="1"/>
          </p:nvPr>
        </p:nvSpPr>
        <p:spPr>
          <a:xfrm>
            <a:off x="838200" y="1825625"/>
            <a:ext cx="10515600" cy="3953384"/>
          </a:xfrm>
        </p:spPr>
        <p:txBody>
          <a:bodyPr>
            <a:normAutofit/>
          </a:bodyPr>
          <a:lstStyle/>
          <a:p>
            <a:pPr algn="just"/>
            <a:r>
              <a:rPr lang="en-IN" dirty="0"/>
              <a:t>A database usually contains groups of entities that are similar</a:t>
            </a:r>
          </a:p>
          <a:p>
            <a:pPr lvl="1" algn="just"/>
            <a:r>
              <a:rPr lang="en-IN" dirty="0"/>
              <a:t>For Ex. Company Employees</a:t>
            </a:r>
          </a:p>
          <a:p>
            <a:pPr algn="just"/>
            <a:r>
              <a:rPr lang="en-IN" dirty="0"/>
              <a:t>Each entity shares the same attribute but each entity has its own values for each attribute</a:t>
            </a:r>
          </a:p>
          <a:p>
            <a:pPr algn="just"/>
            <a:r>
              <a:rPr lang="en-IN" b="1" dirty="0"/>
              <a:t>Entity Type</a:t>
            </a:r>
            <a:r>
              <a:rPr lang="en-IN" dirty="0"/>
              <a:t>: A </a:t>
            </a:r>
            <a:r>
              <a:rPr lang="en-IN" b="1" dirty="0"/>
              <a:t>collection of entities</a:t>
            </a:r>
            <a:r>
              <a:rPr lang="en-IN" dirty="0"/>
              <a:t> that have the same attributes</a:t>
            </a:r>
          </a:p>
          <a:p>
            <a:pPr algn="just"/>
            <a:r>
              <a:rPr lang="en-US" b="1" dirty="0"/>
              <a:t>Entity Set: </a:t>
            </a:r>
            <a:r>
              <a:rPr lang="en-US" dirty="0"/>
              <a:t>The </a:t>
            </a:r>
            <a:r>
              <a:rPr lang="en-US" b="1" dirty="0"/>
              <a:t>collection (or group)</a:t>
            </a:r>
            <a:r>
              <a:rPr lang="en-US" dirty="0"/>
              <a:t> of </a:t>
            </a:r>
            <a:r>
              <a:rPr lang="en-US" b="1" dirty="0"/>
              <a:t>all entities</a:t>
            </a:r>
            <a:r>
              <a:rPr lang="en-US" dirty="0"/>
              <a:t> of a particular entity type stored in the database.</a:t>
            </a:r>
          </a:p>
          <a:p>
            <a:pPr algn="just"/>
            <a:r>
              <a:rPr lang="en-IN" dirty="0"/>
              <a:t>Entity set is usually referred by using the same name as the entity type.</a:t>
            </a:r>
          </a:p>
          <a:p>
            <a:pPr lvl="1" algn="just"/>
            <a:r>
              <a:rPr lang="en-IN" dirty="0"/>
              <a:t>For Ex.:  EMPLOYEE refers to both type of entity as well as the collection of all </a:t>
            </a:r>
            <a:r>
              <a:rPr lang="en-IN" i="1" dirty="0"/>
              <a:t>employee</a:t>
            </a:r>
            <a:r>
              <a:rPr lang="en-IN" dirty="0"/>
              <a:t> entities in the Database.</a:t>
            </a:r>
          </a:p>
        </p:txBody>
      </p:sp>
    </p:spTree>
    <p:extLst>
      <p:ext uri="{BB962C8B-B14F-4D97-AF65-F5344CB8AC3E}">
        <p14:creationId xmlns:p14="http://schemas.microsoft.com/office/powerpoint/2010/main" val="39777132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C7425-4AAE-483B-B8EA-52F31AE62B33}"/>
              </a:ext>
            </a:extLst>
          </p:cNvPr>
          <p:cNvSpPr>
            <a:spLocks noGrp="1"/>
          </p:cNvSpPr>
          <p:nvPr>
            <p:ph type="title"/>
          </p:nvPr>
        </p:nvSpPr>
        <p:spPr/>
        <p:txBody>
          <a:bodyPr/>
          <a:lstStyle/>
          <a:p>
            <a:r>
              <a:rPr lang="en-IN" dirty="0"/>
              <a:t>Relationship</a:t>
            </a:r>
          </a:p>
        </p:txBody>
      </p:sp>
      <p:sp>
        <p:nvSpPr>
          <p:cNvPr id="3" name="Content Placeholder 2">
            <a:extLst>
              <a:ext uri="{FF2B5EF4-FFF2-40B4-BE49-F238E27FC236}">
                <a16:creationId xmlns:a16="http://schemas.microsoft.com/office/drawing/2014/main" id="{E04A666B-ECF1-4187-845F-48DF557D2E23}"/>
              </a:ext>
            </a:extLst>
          </p:cNvPr>
          <p:cNvSpPr>
            <a:spLocks noGrp="1"/>
          </p:cNvSpPr>
          <p:nvPr>
            <p:ph idx="1"/>
          </p:nvPr>
        </p:nvSpPr>
        <p:spPr>
          <a:xfrm>
            <a:off x="838200" y="1528997"/>
            <a:ext cx="10515600" cy="5021704"/>
          </a:xfrm>
        </p:spPr>
        <p:txBody>
          <a:bodyPr/>
          <a:lstStyle/>
          <a:p>
            <a:pPr algn="just"/>
            <a:r>
              <a:rPr lang="en-IN" dirty="0"/>
              <a:t>A relationship relates two or more distinct entities with a specific meaning.</a:t>
            </a:r>
          </a:p>
          <a:p>
            <a:pPr lvl="1" algn="just"/>
            <a:r>
              <a:rPr lang="en-IN" dirty="0" err="1"/>
              <a:t>Eg.</a:t>
            </a:r>
            <a:r>
              <a:rPr lang="en-IN" dirty="0"/>
              <a:t> Employee WORKS FOR Department -------”Work For” is the relationship</a:t>
            </a:r>
          </a:p>
          <a:p>
            <a:pPr lvl="1" algn="just"/>
            <a:r>
              <a:rPr lang="en-IN" dirty="0"/>
              <a:t>Student ENROLLS Course -----------”</a:t>
            </a:r>
            <a:r>
              <a:rPr lang="en-IN" dirty="0" err="1"/>
              <a:t>Enrolls</a:t>
            </a:r>
            <a:r>
              <a:rPr lang="en-IN" dirty="0"/>
              <a:t>” is the relationship</a:t>
            </a:r>
          </a:p>
          <a:p>
            <a:pPr algn="just"/>
            <a:r>
              <a:rPr lang="en-IN" dirty="0"/>
              <a:t>A relationship type R among n entity types E1, E2, ..., </a:t>
            </a:r>
            <a:r>
              <a:rPr lang="en-IN" dirty="0" err="1"/>
              <a:t>En</a:t>
            </a:r>
            <a:r>
              <a:rPr lang="en-IN" dirty="0"/>
              <a:t> defines a set of associations—or a relationship set—among entities from these entity types. </a:t>
            </a:r>
          </a:p>
          <a:p>
            <a:pPr algn="just"/>
            <a:r>
              <a:rPr lang="en-IN" dirty="0"/>
              <a:t>As for the case of entity types and entity sets, a relationship type and its corresponding relationship set are customarily referred to by the same name, R.</a:t>
            </a:r>
          </a:p>
        </p:txBody>
      </p:sp>
    </p:spTree>
    <p:extLst>
      <p:ext uri="{BB962C8B-B14F-4D97-AF65-F5344CB8AC3E}">
        <p14:creationId xmlns:p14="http://schemas.microsoft.com/office/powerpoint/2010/main" val="38463247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a:extLst>
              <a:ext uri="{FF2B5EF4-FFF2-40B4-BE49-F238E27FC236}">
                <a16:creationId xmlns:a16="http://schemas.microsoft.com/office/drawing/2014/main" id="{44707732-E773-45FA-B234-34202BA6D7FB}"/>
              </a:ext>
            </a:extLst>
          </p:cNvPr>
          <p:cNvSpPr>
            <a:spLocks noGrp="1" noChangeArrowheads="1"/>
          </p:cNvSpPr>
          <p:nvPr>
            <p:ph type="body" idx="1"/>
          </p:nvPr>
        </p:nvSpPr>
        <p:spPr>
          <a:xfrm>
            <a:off x="618977" y="1434904"/>
            <a:ext cx="10930597" cy="5118295"/>
          </a:xfrm>
        </p:spPr>
        <p:txBody>
          <a:bodyPr/>
          <a:lstStyle/>
          <a:p>
            <a:r>
              <a:rPr lang="en-US" altLang="en-US" sz="2400" dirty="0">
                <a:latin typeface="Times New Roman" panose="02020603050405020304" pitchFamily="18" charset="0"/>
              </a:rPr>
              <a:t>In the mini-world represented by figure below employees e1, e3 and e6 work for department d1, e2 and e4 works for d2 and e5 and e7 work for d3. </a:t>
            </a:r>
          </a:p>
          <a:p>
            <a:endParaRPr lang="en-US" altLang="en-US" sz="2400" dirty="0">
              <a:latin typeface="Times New Roman" panose="02020603050405020304" pitchFamily="18" charset="0"/>
            </a:endParaRPr>
          </a:p>
        </p:txBody>
      </p:sp>
      <p:sp>
        <p:nvSpPr>
          <p:cNvPr id="1028" name="Rectangle 3">
            <a:extLst>
              <a:ext uri="{FF2B5EF4-FFF2-40B4-BE49-F238E27FC236}">
                <a16:creationId xmlns:a16="http://schemas.microsoft.com/office/drawing/2014/main" id="{FF3444CC-D567-4310-A24C-ECE47C587DA1}"/>
              </a:ext>
            </a:extLst>
          </p:cNvPr>
          <p:cNvSpPr>
            <a:spLocks noChangeArrowheads="1"/>
          </p:cNvSpPr>
          <p:nvPr/>
        </p:nvSpPr>
        <p:spPr bwMode="auto">
          <a:xfrm>
            <a:off x="1524001" y="1140769"/>
            <a:ext cx="1847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graphicFrame>
        <p:nvGraphicFramePr>
          <p:cNvPr id="1026" name="Object 4">
            <a:extLst>
              <a:ext uri="{FF2B5EF4-FFF2-40B4-BE49-F238E27FC236}">
                <a16:creationId xmlns:a16="http://schemas.microsoft.com/office/drawing/2014/main" id="{013EFF85-083B-4BDF-8ACC-31B5A77D8796}"/>
              </a:ext>
            </a:extLst>
          </p:cNvPr>
          <p:cNvGraphicFramePr>
            <a:graphicFrameLocks noChangeAspect="1"/>
          </p:cNvGraphicFramePr>
          <p:nvPr/>
        </p:nvGraphicFramePr>
        <p:xfrm>
          <a:off x="2492377" y="2663047"/>
          <a:ext cx="6370270" cy="3946423"/>
        </p:xfrm>
        <a:graphic>
          <a:graphicData uri="http://schemas.openxmlformats.org/presentationml/2006/ole">
            <mc:AlternateContent xmlns:mc="http://schemas.openxmlformats.org/markup-compatibility/2006">
              <mc:Choice xmlns:v="urn:schemas-microsoft-com:vml" Requires="v">
                <p:oleObj r:id="rId2" imgW="7323810" imgH="6087325" progId="MSPhotoEd.3">
                  <p:embed/>
                </p:oleObj>
              </mc:Choice>
              <mc:Fallback>
                <p:oleObj r:id="rId2" imgW="7323810" imgH="6087325" progId="MSPhotoEd.3">
                  <p:embed/>
                  <p:pic>
                    <p:nvPicPr>
                      <p:cNvPr id="1026" name="Object 4">
                        <a:extLst>
                          <a:ext uri="{FF2B5EF4-FFF2-40B4-BE49-F238E27FC236}">
                            <a16:creationId xmlns:a16="http://schemas.microsoft.com/office/drawing/2014/main" id="{013EFF85-083B-4BDF-8ACC-31B5A77D87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2377" y="2663047"/>
                        <a:ext cx="6370270" cy="3946423"/>
                      </a:xfrm>
                      <a:prstGeom prst="rect">
                        <a:avLst/>
                      </a:prstGeom>
                      <a:noFill/>
                    </p:spPr>
                  </p:pic>
                </p:oleObj>
              </mc:Fallback>
            </mc:AlternateContent>
          </a:graphicData>
        </a:graphic>
      </p:graphicFrame>
      <p:sp>
        <p:nvSpPr>
          <p:cNvPr id="5" name="Rectangle 5">
            <a:extLst>
              <a:ext uri="{FF2B5EF4-FFF2-40B4-BE49-F238E27FC236}">
                <a16:creationId xmlns:a16="http://schemas.microsoft.com/office/drawing/2014/main" id="{916391A0-296B-4032-A06E-E292585F8924}"/>
              </a:ext>
            </a:extLst>
          </p:cNvPr>
          <p:cNvSpPr>
            <a:spLocks noChangeArrowheads="1"/>
          </p:cNvSpPr>
          <p:nvPr/>
        </p:nvSpPr>
        <p:spPr bwMode="auto">
          <a:xfrm>
            <a:off x="897230" y="324584"/>
            <a:ext cx="10455398" cy="705321"/>
          </a:xfrm>
          <a:prstGeom prst="rect">
            <a:avLst/>
          </a:prstGeom>
          <a:noFill/>
          <a:ln w="12700">
            <a:noFill/>
            <a:miter lim="800000"/>
            <a:headEnd/>
            <a:tailEnd/>
          </a:ln>
        </p:spPr>
        <p:txBody>
          <a:bodyPr wrap="square" lIns="90488" tIns="44450" rIns="90488" bIns="44450">
            <a:spAutoFit/>
          </a:bodyPr>
          <a:lstStyle/>
          <a:p>
            <a:pPr algn="ctr">
              <a:defRPr/>
            </a:pPr>
            <a:r>
              <a:rPr lang="en-US" sz="4000" dirty="0">
                <a:solidFill>
                  <a:srgbClr val="800000"/>
                </a:solidFill>
                <a:latin typeface="+mj-lt"/>
                <a:ea typeface="+mj-ea"/>
                <a:cs typeface="+mj-cs"/>
              </a:rPr>
              <a:t>Relationship instances</a:t>
            </a:r>
          </a:p>
        </p:txBody>
      </p:sp>
    </p:spTree>
    <p:extLst>
      <p:ext uri="{BB962C8B-B14F-4D97-AF65-F5344CB8AC3E}">
        <p14:creationId xmlns:p14="http://schemas.microsoft.com/office/powerpoint/2010/main" val="234501312"/>
      </p:ext>
    </p:extLst>
  </p:cSld>
  <p:clrMapOvr>
    <a:masterClrMapping/>
  </p:clrMapOvr>
  <p:transition>
    <p:diamon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3" descr="mcf_3">
            <a:extLst>
              <a:ext uri="{FF2B5EF4-FFF2-40B4-BE49-F238E27FC236}">
                <a16:creationId xmlns:a16="http://schemas.microsoft.com/office/drawing/2014/main" id="{8642A4D2-D0EB-4365-A9C1-A6B484D44F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1149" y="1266092"/>
            <a:ext cx="9109702" cy="2300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1" name="Picture 4" descr="mcf_3">
            <a:extLst>
              <a:ext uri="{FF2B5EF4-FFF2-40B4-BE49-F238E27FC236}">
                <a16:creationId xmlns:a16="http://schemas.microsoft.com/office/drawing/2014/main" id="{FD3C953A-80A1-4898-BEBE-BD897841DC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16113" t="8214" r="16588" b="8008"/>
          <a:stretch>
            <a:fillRect/>
          </a:stretch>
        </p:blipFill>
        <p:spPr bwMode="auto">
          <a:xfrm>
            <a:off x="1541148" y="3566575"/>
            <a:ext cx="9109701" cy="3161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5" name="Rectangle 5">
            <a:extLst>
              <a:ext uri="{FF2B5EF4-FFF2-40B4-BE49-F238E27FC236}">
                <a16:creationId xmlns:a16="http://schemas.microsoft.com/office/drawing/2014/main" id="{F94A9B2A-B0FE-4CA5-A4E8-DC87BA10C9AF}"/>
              </a:ext>
            </a:extLst>
          </p:cNvPr>
          <p:cNvSpPr>
            <a:spLocks noChangeArrowheads="1"/>
          </p:cNvSpPr>
          <p:nvPr/>
        </p:nvSpPr>
        <p:spPr bwMode="auto">
          <a:xfrm>
            <a:off x="2135188" y="458788"/>
            <a:ext cx="7937500" cy="582612"/>
          </a:xfrm>
          <a:prstGeom prst="rect">
            <a:avLst/>
          </a:prstGeom>
          <a:noFill/>
          <a:ln w="12700">
            <a:noFill/>
            <a:miter lim="800000"/>
            <a:headEnd/>
            <a:tailEnd/>
          </a:ln>
        </p:spPr>
        <p:txBody>
          <a:bodyPr wrap="square" lIns="90488" tIns="44450" rIns="90488" bIns="44450">
            <a:spAutoFit/>
          </a:bodyPr>
          <a:lstStyle/>
          <a:p>
            <a:pPr algn="ctr">
              <a:defRPr/>
            </a:pPr>
            <a:r>
              <a:rPr lang="en-US" sz="3200" dirty="0">
                <a:solidFill>
                  <a:srgbClr val="800000"/>
                </a:solidFill>
                <a:latin typeface="+mj-lt"/>
                <a:ea typeface="+mj-ea"/>
                <a:cs typeface="+mj-cs"/>
              </a:rPr>
              <a:t>Relationship types and instances</a:t>
            </a:r>
          </a:p>
        </p:txBody>
      </p:sp>
    </p:spTree>
    <p:extLst>
      <p:ext uri="{BB962C8B-B14F-4D97-AF65-F5344CB8AC3E}">
        <p14:creationId xmlns:p14="http://schemas.microsoft.com/office/powerpoint/2010/main" val="70737174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a:extLst>
              <a:ext uri="{FF2B5EF4-FFF2-40B4-BE49-F238E27FC236}">
                <a16:creationId xmlns:a16="http://schemas.microsoft.com/office/drawing/2014/main" id="{364F08FF-F012-47A8-9C67-BC73FBDFAB0F}"/>
              </a:ext>
            </a:extLst>
          </p:cNvPr>
          <p:cNvSpPr>
            <a:spLocks noGrp="1" noChangeArrowheads="1"/>
          </p:cNvSpPr>
          <p:nvPr>
            <p:ph type="title"/>
          </p:nvPr>
        </p:nvSpPr>
        <p:spPr/>
        <p:txBody>
          <a:bodyPr/>
          <a:lstStyle/>
          <a:p>
            <a:pPr eaLnBrk="1" hangingPunct="1"/>
            <a:r>
              <a:rPr lang="en-US" altLang="en-US" sz="3200" dirty="0"/>
              <a:t>Relationship type vs. relationship set</a:t>
            </a:r>
          </a:p>
        </p:txBody>
      </p:sp>
      <p:sp>
        <p:nvSpPr>
          <p:cNvPr id="28676" name="Rectangle 3">
            <a:extLst>
              <a:ext uri="{FF2B5EF4-FFF2-40B4-BE49-F238E27FC236}">
                <a16:creationId xmlns:a16="http://schemas.microsoft.com/office/drawing/2014/main" id="{B839CCC8-971C-4639-9E95-BD0363D286ED}"/>
              </a:ext>
            </a:extLst>
          </p:cNvPr>
          <p:cNvSpPr>
            <a:spLocks noGrp="1" noChangeArrowheads="1"/>
          </p:cNvSpPr>
          <p:nvPr>
            <p:ph type="body" idx="1"/>
          </p:nvPr>
        </p:nvSpPr>
        <p:spPr/>
        <p:txBody>
          <a:bodyPr/>
          <a:lstStyle/>
          <a:p>
            <a:pPr eaLnBrk="1" hangingPunct="1"/>
            <a:r>
              <a:rPr lang="en-US" altLang="en-US" dirty="0"/>
              <a:t>Previous figures displayed the relationship sets</a:t>
            </a:r>
          </a:p>
          <a:p>
            <a:pPr eaLnBrk="1" hangingPunct="1"/>
            <a:r>
              <a:rPr lang="en-US" altLang="en-US" dirty="0"/>
              <a:t>Each instance in the set relates individual participating entities – one from each participating entity type</a:t>
            </a:r>
          </a:p>
          <a:p>
            <a:pPr eaLnBrk="1" hangingPunct="1"/>
            <a:r>
              <a:rPr lang="en-US" altLang="en-US" dirty="0"/>
              <a:t>In ER diagrams, we represent the </a:t>
            </a:r>
            <a:r>
              <a:rPr lang="en-US" altLang="en-US" i="1" dirty="0"/>
              <a:t>relationship type </a:t>
            </a:r>
            <a:r>
              <a:rPr lang="en-US" altLang="en-US" dirty="0"/>
              <a:t>as follows:</a:t>
            </a:r>
          </a:p>
          <a:p>
            <a:pPr lvl="1" eaLnBrk="1" hangingPunct="1"/>
            <a:r>
              <a:rPr lang="en-US" altLang="en-US" dirty="0"/>
              <a:t>Diamond-shaped box is used to display a relationship type</a:t>
            </a:r>
          </a:p>
          <a:p>
            <a:pPr lvl="1" eaLnBrk="1" hangingPunct="1"/>
            <a:r>
              <a:rPr lang="en-US" altLang="en-US" dirty="0"/>
              <a:t>Connected to the participating entity types via straight lines</a:t>
            </a:r>
          </a:p>
        </p:txBody>
      </p:sp>
    </p:spTree>
    <p:extLst>
      <p:ext uri="{BB962C8B-B14F-4D97-AF65-F5344CB8AC3E}">
        <p14:creationId xmlns:p14="http://schemas.microsoft.com/office/powerpoint/2010/main" val="2079528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050">
            <a:extLst>
              <a:ext uri="{FF2B5EF4-FFF2-40B4-BE49-F238E27FC236}">
                <a16:creationId xmlns:a16="http://schemas.microsoft.com/office/drawing/2014/main" id="{E3F3A259-9420-428E-8685-CFD53DD7A7C0}"/>
              </a:ext>
            </a:extLst>
          </p:cNvPr>
          <p:cNvSpPr>
            <a:spLocks noGrp="1" noChangeArrowheads="1"/>
          </p:cNvSpPr>
          <p:nvPr>
            <p:ph type="title"/>
          </p:nvPr>
        </p:nvSpPr>
        <p:spPr/>
        <p:txBody>
          <a:bodyPr/>
          <a:lstStyle/>
          <a:p>
            <a:pPr eaLnBrk="1" hangingPunct="1"/>
            <a:r>
              <a:rPr lang="en-US" altLang="en-US" sz="3200" dirty="0"/>
              <a:t>Relationship type vs. relationship set </a:t>
            </a:r>
          </a:p>
        </p:txBody>
      </p:sp>
      <p:sp>
        <p:nvSpPr>
          <p:cNvPr id="26628" name="Rectangle 2051">
            <a:extLst>
              <a:ext uri="{FF2B5EF4-FFF2-40B4-BE49-F238E27FC236}">
                <a16:creationId xmlns:a16="http://schemas.microsoft.com/office/drawing/2014/main" id="{EBAC3A04-5FAF-4CF1-A84A-B5C92DAD5FA9}"/>
              </a:ext>
            </a:extLst>
          </p:cNvPr>
          <p:cNvSpPr>
            <a:spLocks noGrp="1" noChangeArrowheads="1"/>
          </p:cNvSpPr>
          <p:nvPr>
            <p:ph type="body" idx="1"/>
          </p:nvPr>
        </p:nvSpPr>
        <p:spPr/>
        <p:txBody>
          <a:bodyPr>
            <a:normAutofit lnSpcReduction="10000"/>
          </a:bodyPr>
          <a:lstStyle/>
          <a:p>
            <a:pPr eaLnBrk="1" hangingPunct="1"/>
            <a:r>
              <a:rPr lang="en-US" altLang="en-US" dirty="0"/>
              <a:t>Relationship Type:</a:t>
            </a:r>
          </a:p>
          <a:p>
            <a:pPr lvl="1"/>
            <a:r>
              <a:rPr lang="en-US" dirty="0"/>
              <a:t>Defines the </a:t>
            </a:r>
            <a:r>
              <a:rPr lang="en-US" b="1" dirty="0"/>
              <a:t>association (link)</a:t>
            </a:r>
            <a:r>
              <a:rPr lang="en-US" dirty="0"/>
              <a:t> between two or more </a:t>
            </a:r>
            <a:r>
              <a:rPr lang="en-US" b="1" dirty="0"/>
              <a:t>entity types</a:t>
            </a:r>
            <a:r>
              <a:rPr lang="en-US" dirty="0"/>
              <a:t>.</a:t>
            </a:r>
            <a:endParaRPr lang="en-US" altLang="en-US" dirty="0"/>
          </a:p>
          <a:p>
            <a:pPr lvl="1" eaLnBrk="1" hangingPunct="1"/>
            <a:r>
              <a:rPr lang="en-US" altLang="en-US" dirty="0"/>
              <a:t>Is the schema description of a relationship</a:t>
            </a:r>
          </a:p>
          <a:p>
            <a:pPr lvl="1" eaLnBrk="1" hangingPunct="1"/>
            <a:r>
              <a:rPr lang="en-US" altLang="en-US" dirty="0"/>
              <a:t>Identifies the relationship name and the participating entity types</a:t>
            </a:r>
          </a:p>
          <a:p>
            <a:pPr lvl="1" eaLnBrk="1" hangingPunct="1"/>
            <a:r>
              <a:rPr lang="en-US" altLang="en-US" dirty="0"/>
              <a:t>Also identifies certain relationship constraints</a:t>
            </a:r>
          </a:p>
          <a:p>
            <a:pPr eaLnBrk="1" hangingPunct="1"/>
            <a:r>
              <a:rPr lang="en-US" altLang="en-US" dirty="0"/>
              <a:t>Relationship Set:</a:t>
            </a:r>
          </a:p>
          <a:p>
            <a:pPr lvl="1"/>
            <a:r>
              <a:rPr lang="en-US" dirty="0"/>
              <a:t>A </a:t>
            </a:r>
            <a:r>
              <a:rPr lang="en-US" b="1" dirty="0"/>
              <a:t>collection of all relationships (instances)</a:t>
            </a:r>
            <a:r>
              <a:rPr lang="en-US" dirty="0"/>
              <a:t> of a particular relationship type in the database.</a:t>
            </a:r>
          </a:p>
          <a:p>
            <a:pPr lvl="1"/>
            <a:r>
              <a:rPr lang="en-US" dirty="0"/>
              <a:t>It contains </a:t>
            </a:r>
            <a:r>
              <a:rPr lang="en-US" b="1" dirty="0"/>
              <a:t>actual data</a:t>
            </a:r>
            <a:r>
              <a:rPr lang="en-US" dirty="0"/>
              <a:t> showing which entities are related.</a:t>
            </a:r>
            <a:endParaRPr lang="en-US" altLang="en-US" dirty="0"/>
          </a:p>
          <a:p>
            <a:pPr lvl="1" eaLnBrk="1" hangingPunct="1"/>
            <a:r>
              <a:rPr lang="en-US" altLang="en-US" dirty="0"/>
              <a:t>The current set of relationship instances represented in the database</a:t>
            </a:r>
          </a:p>
          <a:p>
            <a:pPr lvl="1" eaLnBrk="1" hangingPunct="1"/>
            <a:r>
              <a:rPr lang="en-US" altLang="en-US" dirty="0"/>
              <a:t>The current </a:t>
            </a:r>
            <a:r>
              <a:rPr lang="en-US" altLang="en-US" i="1" dirty="0"/>
              <a:t>state</a:t>
            </a:r>
            <a:r>
              <a:rPr lang="en-US" altLang="en-US" dirty="0"/>
              <a:t> of a relationship type</a:t>
            </a:r>
          </a:p>
        </p:txBody>
      </p:sp>
    </p:spTree>
    <p:extLst>
      <p:ext uri="{BB962C8B-B14F-4D97-AF65-F5344CB8AC3E}">
        <p14:creationId xmlns:p14="http://schemas.microsoft.com/office/powerpoint/2010/main" val="1943415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17DFA-5491-4527-8B5B-2B3E7C80FD61}"/>
              </a:ext>
            </a:extLst>
          </p:cNvPr>
          <p:cNvSpPr>
            <a:spLocks noGrp="1"/>
          </p:cNvSpPr>
          <p:nvPr>
            <p:ph type="title"/>
          </p:nvPr>
        </p:nvSpPr>
        <p:spPr/>
        <p:txBody>
          <a:bodyPr/>
          <a:lstStyle/>
          <a:p>
            <a:r>
              <a:rPr lang="en-IN" dirty="0"/>
              <a:t>Cardinality and Participation Constraints</a:t>
            </a:r>
          </a:p>
        </p:txBody>
      </p:sp>
      <p:sp>
        <p:nvSpPr>
          <p:cNvPr id="3" name="Content Placeholder 2">
            <a:extLst>
              <a:ext uri="{FF2B5EF4-FFF2-40B4-BE49-F238E27FC236}">
                <a16:creationId xmlns:a16="http://schemas.microsoft.com/office/drawing/2014/main" id="{53353937-43A1-4CBC-A592-C7DB19E641B6}"/>
              </a:ext>
            </a:extLst>
          </p:cNvPr>
          <p:cNvSpPr>
            <a:spLocks noGrp="1"/>
          </p:cNvSpPr>
          <p:nvPr>
            <p:ph idx="1"/>
          </p:nvPr>
        </p:nvSpPr>
        <p:spPr>
          <a:xfrm>
            <a:off x="838200" y="1825624"/>
            <a:ext cx="10515600" cy="4770047"/>
          </a:xfrm>
        </p:spPr>
        <p:txBody>
          <a:bodyPr>
            <a:normAutofit/>
          </a:bodyPr>
          <a:lstStyle/>
          <a:p>
            <a:r>
              <a:rPr lang="en-IN" dirty="0"/>
              <a:t>In general, cardinality tells you "How many". </a:t>
            </a:r>
          </a:p>
          <a:p>
            <a:r>
              <a:rPr lang="en-IN" dirty="0"/>
              <a:t>Cardinality can be:</a:t>
            </a:r>
          </a:p>
          <a:p>
            <a:pPr lvl="1"/>
            <a:r>
              <a:rPr lang="en-IN" dirty="0"/>
              <a:t>One to one (1:1): every time one entity occurs, there is exactly one occurrence of another entity.</a:t>
            </a:r>
          </a:p>
          <a:p>
            <a:pPr lvl="1"/>
            <a:r>
              <a:rPr lang="en-IN" dirty="0"/>
              <a:t>One to many (1:m):  every time one entity occurs, there are multiple occurrences of another entity.</a:t>
            </a:r>
          </a:p>
          <a:p>
            <a:pPr lvl="1"/>
            <a:r>
              <a:rPr lang="en-IN" dirty="0"/>
              <a:t>Many to many (</a:t>
            </a:r>
            <a:r>
              <a:rPr lang="en-IN" dirty="0" err="1"/>
              <a:t>m:m</a:t>
            </a:r>
            <a:r>
              <a:rPr lang="en-IN" dirty="0"/>
              <a:t>): for each occurrence of an entity, there can be one or many occurrences of another—an vice versa.</a:t>
            </a:r>
          </a:p>
          <a:p>
            <a:r>
              <a:rPr lang="en-US" dirty="0"/>
              <a:t>Participation Constraints:</a:t>
            </a:r>
          </a:p>
          <a:p>
            <a:pPr lvl="1"/>
            <a:r>
              <a:rPr lang="en-US" dirty="0"/>
              <a:t>Total Participation</a:t>
            </a:r>
          </a:p>
          <a:p>
            <a:pPr lvl="1"/>
            <a:r>
              <a:rPr lang="en-US" dirty="0"/>
              <a:t>Partial Participation</a:t>
            </a:r>
            <a:endParaRPr lang="en-IN" dirty="0"/>
          </a:p>
        </p:txBody>
      </p:sp>
    </p:spTree>
    <p:extLst>
      <p:ext uri="{BB962C8B-B14F-4D97-AF65-F5344CB8AC3E}">
        <p14:creationId xmlns:p14="http://schemas.microsoft.com/office/powerpoint/2010/main" val="23609902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959370"/>
          </a:xfrm>
        </p:spPr>
        <p:txBody>
          <a:bodyPr>
            <a:normAutofit/>
          </a:bodyPr>
          <a:lstStyle/>
          <a:p>
            <a:r>
              <a:rPr lang="en-US" sz="4000" dirty="0"/>
              <a:t>Example for 1:1 Relationship Type</a:t>
            </a:r>
            <a:endParaRPr lang="en-IN" sz="4000" dirty="0"/>
          </a:p>
        </p:txBody>
      </p:sp>
      <p:sp>
        <p:nvSpPr>
          <p:cNvPr id="3" name="Content Placeholder 2"/>
          <p:cNvSpPr>
            <a:spLocks noGrp="1"/>
          </p:cNvSpPr>
          <p:nvPr>
            <p:ph idx="1"/>
          </p:nvPr>
        </p:nvSpPr>
        <p:spPr>
          <a:xfrm>
            <a:off x="838200" y="1325563"/>
            <a:ext cx="10515600" cy="5315080"/>
          </a:xfrm>
        </p:spPr>
        <p:txBody>
          <a:bodyPr>
            <a:normAutofit fontScale="92500"/>
          </a:bodyPr>
          <a:lstStyle/>
          <a:p>
            <a:r>
              <a:rPr lang="en-US" sz="2000" dirty="0"/>
              <a:t>In an </a:t>
            </a:r>
            <a:r>
              <a:rPr lang="en-US" sz="2000" b="1" dirty="0"/>
              <a:t>Entity-Relationship (ER) Model</a:t>
            </a:r>
            <a:r>
              <a:rPr lang="en-US" sz="2000" dirty="0"/>
              <a:t>, a </a:t>
            </a:r>
            <a:r>
              <a:rPr lang="en-US" sz="2000" b="1" dirty="0"/>
              <a:t>1:1 (one-to-one) relationship</a:t>
            </a:r>
            <a:r>
              <a:rPr lang="en-US" sz="2000" dirty="0"/>
              <a:t> means:</a:t>
            </a:r>
          </a:p>
          <a:p>
            <a:r>
              <a:rPr lang="en-US" sz="2000" b="1" dirty="0"/>
              <a:t>One instance</a:t>
            </a:r>
            <a:r>
              <a:rPr lang="en-US" sz="2000" dirty="0"/>
              <a:t> of Entity A is associated with </a:t>
            </a:r>
            <a:r>
              <a:rPr lang="en-US" sz="2000" b="1" dirty="0"/>
              <a:t>only one instance</a:t>
            </a:r>
            <a:r>
              <a:rPr lang="en-US" sz="2000" dirty="0"/>
              <a:t> of Entity B, and vice versa.</a:t>
            </a:r>
          </a:p>
          <a:p>
            <a:pPr marL="0" indent="0">
              <a:buNone/>
            </a:pPr>
            <a:endParaRPr lang="en-US" sz="2000" dirty="0"/>
          </a:p>
          <a:p>
            <a:pPr marL="0" indent="0">
              <a:buNone/>
            </a:pPr>
            <a:r>
              <a:rPr lang="en-US" sz="2000" b="1" dirty="0"/>
              <a:t>🔹 Example 1: Person – Passport</a:t>
            </a:r>
          </a:p>
          <a:p>
            <a:pPr marL="0" indent="0">
              <a:buNone/>
            </a:pPr>
            <a:r>
              <a:rPr lang="en-US" sz="2000" b="1" dirty="0"/>
              <a:t>Person</a:t>
            </a:r>
            <a:r>
              <a:rPr lang="en-US" sz="2000" dirty="0"/>
              <a:t> → Each person has </a:t>
            </a:r>
            <a:r>
              <a:rPr lang="en-US" sz="2000" b="1" dirty="0"/>
              <a:t>one passport</a:t>
            </a:r>
            <a:r>
              <a:rPr lang="en-US" sz="2000" dirty="0"/>
              <a:t>.</a:t>
            </a:r>
          </a:p>
          <a:p>
            <a:pPr marL="0" indent="0">
              <a:buNone/>
            </a:pPr>
            <a:r>
              <a:rPr lang="en-US" sz="2000" b="1" dirty="0"/>
              <a:t>Passport</a:t>
            </a:r>
            <a:r>
              <a:rPr lang="en-US" sz="2000" dirty="0"/>
              <a:t> → Each passport belongs to </a:t>
            </a:r>
            <a:r>
              <a:rPr lang="en-US" sz="2000" b="1" dirty="0"/>
              <a:t>one person</a:t>
            </a:r>
            <a:r>
              <a:rPr lang="en-US" sz="2000" dirty="0"/>
              <a:t> only.</a:t>
            </a:r>
          </a:p>
          <a:p>
            <a:pPr marL="0" indent="0">
              <a:buNone/>
            </a:pPr>
            <a:endParaRPr lang="en-US" sz="2000" dirty="0"/>
          </a:p>
          <a:p>
            <a:pPr marL="0" indent="0">
              <a:buNone/>
            </a:pPr>
            <a:r>
              <a:rPr lang="en-US" sz="2000" b="1" dirty="0"/>
              <a:t>🔹 Example 2: Husband – Wife </a:t>
            </a:r>
          </a:p>
          <a:p>
            <a:pPr marL="0" indent="0">
              <a:buNone/>
            </a:pPr>
            <a:r>
              <a:rPr lang="en-US" sz="2000" b="1" dirty="0"/>
              <a:t>Husband</a:t>
            </a:r>
            <a:r>
              <a:rPr lang="en-US" sz="2000" dirty="0"/>
              <a:t> → one wife only.</a:t>
            </a:r>
          </a:p>
          <a:p>
            <a:pPr marL="0" indent="0">
              <a:buNone/>
            </a:pPr>
            <a:r>
              <a:rPr lang="en-US" sz="2000" b="1" dirty="0"/>
              <a:t>Wife</a:t>
            </a:r>
            <a:r>
              <a:rPr lang="en-US" sz="2000" dirty="0"/>
              <a:t> → one husband only.</a:t>
            </a:r>
          </a:p>
          <a:p>
            <a:endParaRPr lang="en-US" sz="2000" dirty="0"/>
          </a:p>
          <a:p>
            <a:pPr marL="0" indent="0">
              <a:buNone/>
            </a:pPr>
            <a:r>
              <a:rPr lang="en-US" sz="2000" dirty="0"/>
              <a:t>📌 </a:t>
            </a:r>
            <a:r>
              <a:rPr lang="en-US" sz="2000" b="1" dirty="0"/>
              <a:t>Key Point</a:t>
            </a:r>
            <a:r>
              <a:rPr lang="en-US" sz="2000" dirty="0"/>
              <a:t>: In ER diagrams, the </a:t>
            </a:r>
            <a:r>
              <a:rPr lang="en-US" sz="2000" b="1" dirty="0"/>
              <a:t>1:1 relationship</a:t>
            </a:r>
            <a:r>
              <a:rPr lang="en-US" sz="2000" dirty="0"/>
              <a:t> is shown by connecting two entities with a line and placing </a:t>
            </a:r>
            <a:r>
              <a:rPr lang="en-US" sz="2000" b="1" dirty="0"/>
              <a:t>1</a:t>
            </a:r>
            <a:r>
              <a:rPr lang="en-US" sz="2000" dirty="0"/>
              <a:t> on both ends.</a:t>
            </a:r>
          </a:p>
          <a:p>
            <a:endParaRPr lang="en-US" sz="2000" dirty="0"/>
          </a:p>
          <a:p>
            <a:endParaRPr lang="en-IN" sz="2000" dirty="0"/>
          </a:p>
        </p:txBody>
      </p:sp>
    </p:spTree>
    <p:extLst>
      <p:ext uri="{BB962C8B-B14F-4D97-AF65-F5344CB8AC3E}">
        <p14:creationId xmlns:p14="http://schemas.microsoft.com/office/powerpoint/2010/main" val="2289500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959370"/>
          </a:xfrm>
        </p:spPr>
        <p:txBody>
          <a:bodyPr>
            <a:normAutofit/>
          </a:bodyPr>
          <a:lstStyle/>
          <a:p>
            <a:r>
              <a:rPr lang="en-US" sz="4000" dirty="0"/>
              <a:t>Example for 1:M Relationship Type</a:t>
            </a:r>
            <a:endParaRPr lang="en-IN" sz="4000" dirty="0"/>
          </a:p>
        </p:txBody>
      </p:sp>
      <p:sp>
        <p:nvSpPr>
          <p:cNvPr id="3" name="Content Placeholder 2"/>
          <p:cNvSpPr>
            <a:spLocks noGrp="1"/>
          </p:cNvSpPr>
          <p:nvPr>
            <p:ph idx="1"/>
          </p:nvPr>
        </p:nvSpPr>
        <p:spPr>
          <a:xfrm>
            <a:off x="838200" y="959370"/>
            <a:ext cx="10515600" cy="5898629"/>
          </a:xfrm>
        </p:spPr>
        <p:txBody>
          <a:bodyPr>
            <a:normAutofit fontScale="85000" lnSpcReduction="20000"/>
          </a:bodyPr>
          <a:lstStyle/>
          <a:p>
            <a:r>
              <a:rPr lang="en-US" sz="2000" dirty="0"/>
              <a:t>In an </a:t>
            </a:r>
            <a:r>
              <a:rPr lang="en-US" sz="2000" b="1" dirty="0"/>
              <a:t>Entity-Relationship (ER) Model</a:t>
            </a:r>
            <a:r>
              <a:rPr lang="en-US" sz="2000" dirty="0"/>
              <a:t>, a </a:t>
            </a:r>
            <a:r>
              <a:rPr lang="en-US" sz="2000" b="1" dirty="0"/>
              <a:t>1:M (one-to-many) relationship</a:t>
            </a:r>
            <a:r>
              <a:rPr lang="en-US" sz="2000" dirty="0"/>
              <a:t> means:</a:t>
            </a:r>
          </a:p>
          <a:p>
            <a:r>
              <a:rPr lang="en-US" sz="2000" b="1" dirty="0"/>
              <a:t>One instance</a:t>
            </a:r>
            <a:r>
              <a:rPr lang="en-US" sz="2000" dirty="0"/>
              <a:t> of Entity A can be associated with </a:t>
            </a:r>
            <a:r>
              <a:rPr lang="en-US" sz="2000" b="1" dirty="0"/>
              <a:t>many instances</a:t>
            </a:r>
            <a:r>
              <a:rPr lang="en-US" sz="2000" dirty="0"/>
              <a:t> of Entity B.</a:t>
            </a:r>
          </a:p>
          <a:p>
            <a:r>
              <a:rPr lang="en-US" sz="2000" dirty="0"/>
              <a:t>But each instance of Entity B is related to </a:t>
            </a:r>
            <a:r>
              <a:rPr lang="en-US" sz="2000" b="1" dirty="0"/>
              <a:t>only one instance</a:t>
            </a:r>
            <a:r>
              <a:rPr lang="en-US" sz="2000" dirty="0"/>
              <a:t> of Entity A.</a:t>
            </a:r>
          </a:p>
          <a:p>
            <a:pPr marL="0" indent="0">
              <a:buNone/>
            </a:pPr>
            <a:endParaRPr lang="en-US" sz="2000" dirty="0"/>
          </a:p>
          <a:p>
            <a:pPr marL="0" indent="0">
              <a:buNone/>
            </a:pPr>
            <a:r>
              <a:rPr lang="en-US" sz="2000" b="1" dirty="0"/>
              <a:t>🔹 Example 1: Teacher – Students</a:t>
            </a:r>
          </a:p>
          <a:p>
            <a:pPr marL="0" indent="0">
              <a:buNone/>
            </a:pPr>
            <a:r>
              <a:rPr lang="en-US" sz="2000" b="1" dirty="0"/>
              <a:t>Teacher</a:t>
            </a:r>
            <a:r>
              <a:rPr lang="en-US" sz="2000" dirty="0"/>
              <a:t> → One teacher can teach </a:t>
            </a:r>
            <a:r>
              <a:rPr lang="en-US" sz="2000" b="1" dirty="0"/>
              <a:t>many students</a:t>
            </a:r>
            <a:r>
              <a:rPr lang="en-US" sz="2000" dirty="0"/>
              <a:t>.</a:t>
            </a:r>
          </a:p>
          <a:p>
            <a:pPr marL="0" indent="0">
              <a:buNone/>
            </a:pPr>
            <a:r>
              <a:rPr lang="en-US" sz="2000" b="1" dirty="0"/>
              <a:t>Student</a:t>
            </a:r>
            <a:r>
              <a:rPr lang="en-US" sz="2000" dirty="0"/>
              <a:t> → Each student is taught by </a:t>
            </a:r>
            <a:r>
              <a:rPr lang="en-US" sz="2000" b="1" dirty="0"/>
              <a:t>one teacher</a:t>
            </a:r>
            <a:r>
              <a:rPr lang="en-US" sz="2000" dirty="0"/>
              <a:t> (in this relationship).</a:t>
            </a:r>
          </a:p>
          <a:p>
            <a:pPr marL="0" indent="0">
              <a:buNone/>
            </a:pPr>
            <a:endParaRPr lang="en-US" sz="2000" dirty="0"/>
          </a:p>
          <a:p>
            <a:pPr marL="0" indent="0">
              <a:buNone/>
            </a:pPr>
            <a:r>
              <a:rPr lang="en-US" sz="2000" b="1" dirty="0"/>
              <a:t>🔹 Example 2: Department – Employees</a:t>
            </a:r>
          </a:p>
          <a:p>
            <a:pPr marL="0" indent="0">
              <a:buNone/>
            </a:pPr>
            <a:r>
              <a:rPr lang="en-US" sz="2000" b="1" dirty="0"/>
              <a:t>Department</a:t>
            </a:r>
            <a:r>
              <a:rPr lang="en-US" sz="2000" dirty="0"/>
              <a:t> → One department can have </a:t>
            </a:r>
            <a:r>
              <a:rPr lang="en-US" sz="2000" b="1" dirty="0"/>
              <a:t>many employees</a:t>
            </a:r>
            <a:r>
              <a:rPr lang="en-US" sz="2000" dirty="0"/>
              <a:t>.</a:t>
            </a:r>
          </a:p>
          <a:p>
            <a:pPr marL="0" indent="0">
              <a:buNone/>
            </a:pPr>
            <a:r>
              <a:rPr lang="en-US" sz="2000" b="1" dirty="0"/>
              <a:t>Employee</a:t>
            </a:r>
            <a:r>
              <a:rPr lang="en-US" sz="2000" dirty="0"/>
              <a:t> → Each employee belongs to </a:t>
            </a:r>
            <a:r>
              <a:rPr lang="en-US" sz="2000" b="1" dirty="0"/>
              <a:t>only one department</a:t>
            </a:r>
            <a:r>
              <a:rPr lang="en-US" sz="2000" dirty="0"/>
              <a:t>.</a:t>
            </a:r>
          </a:p>
          <a:p>
            <a:endParaRPr lang="en-US" sz="2000" dirty="0"/>
          </a:p>
          <a:p>
            <a:pPr marL="0" indent="0">
              <a:buNone/>
            </a:pPr>
            <a:r>
              <a:rPr lang="en-US" sz="2000" b="1" dirty="0"/>
              <a:t>🔹 Example 3: Mother – Children</a:t>
            </a:r>
          </a:p>
          <a:p>
            <a:pPr marL="0" indent="0">
              <a:buNone/>
            </a:pPr>
            <a:r>
              <a:rPr lang="en-US" sz="2000" b="1" dirty="0"/>
              <a:t>Mother</a:t>
            </a:r>
            <a:r>
              <a:rPr lang="en-US" sz="2000" dirty="0"/>
              <a:t> → One mother can have </a:t>
            </a:r>
            <a:r>
              <a:rPr lang="en-US" sz="2000" b="1" dirty="0"/>
              <a:t>many children</a:t>
            </a:r>
            <a:r>
              <a:rPr lang="en-US" sz="2000" dirty="0"/>
              <a:t>.</a:t>
            </a:r>
          </a:p>
          <a:p>
            <a:pPr marL="0" indent="0">
              <a:buNone/>
            </a:pPr>
            <a:r>
              <a:rPr lang="en-US" sz="2000" b="1" dirty="0"/>
              <a:t>Child</a:t>
            </a:r>
            <a:r>
              <a:rPr lang="en-US" sz="2000" dirty="0"/>
              <a:t> → Each child has </a:t>
            </a:r>
            <a:r>
              <a:rPr lang="en-US" sz="2000" b="1" dirty="0"/>
              <a:t>one biological mother</a:t>
            </a:r>
            <a:endParaRPr lang="en-US" sz="2000" dirty="0"/>
          </a:p>
          <a:p>
            <a:endParaRPr lang="en-US" sz="2000" dirty="0"/>
          </a:p>
          <a:p>
            <a:pPr marL="0" indent="0">
              <a:buNone/>
            </a:pPr>
            <a:r>
              <a:rPr lang="en-US" sz="2000" dirty="0"/>
              <a:t>📌 </a:t>
            </a:r>
            <a:r>
              <a:rPr lang="en-US" sz="2000" b="1" dirty="0"/>
              <a:t>Key point:</a:t>
            </a:r>
            <a:r>
              <a:rPr lang="en-US" sz="2000" dirty="0"/>
              <a:t> "1" is placed on the side where only one instance exists, and "M" (many) is placed on the side where multiple instances exist.</a:t>
            </a:r>
          </a:p>
          <a:p>
            <a:endParaRPr lang="en-IN" sz="2000" dirty="0"/>
          </a:p>
        </p:txBody>
      </p:sp>
    </p:spTree>
    <p:extLst>
      <p:ext uri="{BB962C8B-B14F-4D97-AF65-F5344CB8AC3E}">
        <p14:creationId xmlns:p14="http://schemas.microsoft.com/office/powerpoint/2010/main" val="24662017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959370"/>
          </a:xfrm>
        </p:spPr>
        <p:txBody>
          <a:bodyPr>
            <a:normAutofit/>
          </a:bodyPr>
          <a:lstStyle/>
          <a:p>
            <a:r>
              <a:rPr lang="en-US" sz="4000" dirty="0"/>
              <a:t>Example for N:M Relationship Type</a:t>
            </a:r>
            <a:endParaRPr lang="en-IN" sz="4000" dirty="0"/>
          </a:p>
        </p:txBody>
      </p:sp>
      <p:sp>
        <p:nvSpPr>
          <p:cNvPr id="3" name="Content Placeholder 2"/>
          <p:cNvSpPr>
            <a:spLocks noGrp="1"/>
          </p:cNvSpPr>
          <p:nvPr>
            <p:ph idx="1"/>
          </p:nvPr>
        </p:nvSpPr>
        <p:spPr>
          <a:xfrm>
            <a:off x="838200" y="959370"/>
            <a:ext cx="10515600" cy="5898629"/>
          </a:xfrm>
        </p:spPr>
        <p:txBody>
          <a:bodyPr>
            <a:normAutofit fontScale="85000" lnSpcReduction="20000"/>
          </a:bodyPr>
          <a:lstStyle/>
          <a:p>
            <a:r>
              <a:rPr lang="en-US" sz="2000" dirty="0"/>
              <a:t>In an </a:t>
            </a:r>
            <a:r>
              <a:rPr lang="en-US" sz="2000" b="1" dirty="0"/>
              <a:t>Entity-Relationship (ER) Model</a:t>
            </a:r>
            <a:r>
              <a:rPr lang="en-US" sz="2000" dirty="0"/>
              <a:t>, a </a:t>
            </a:r>
            <a:r>
              <a:rPr lang="en-US" sz="2000" b="1" dirty="0"/>
              <a:t>many-to-many (M:N) relationship</a:t>
            </a:r>
            <a:r>
              <a:rPr lang="en-US" sz="2000" dirty="0"/>
              <a:t> means:</a:t>
            </a:r>
          </a:p>
          <a:p>
            <a:r>
              <a:rPr lang="en-US" sz="2000" dirty="0"/>
              <a:t>One instance of </a:t>
            </a:r>
            <a:r>
              <a:rPr lang="en-US" sz="2000" b="1" dirty="0"/>
              <a:t>Entity A</a:t>
            </a:r>
            <a:r>
              <a:rPr lang="en-US" sz="2000" dirty="0"/>
              <a:t> can be associated with </a:t>
            </a:r>
            <a:r>
              <a:rPr lang="en-US" sz="2000" b="1" dirty="0"/>
              <a:t>many instances</a:t>
            </a:r>
            <a:r>
              <a:rPr lang="en-US" sz="2000" dirty="0"/>
              <a:t> of </a:t>
            </a:r>
            <a:r>
              <a:rPr lang="en-US" sz="2000" b="1" dirty="0"/>
              <a:t>Entity B</a:t>
            </a:r>
            <a:r>
              <a:rPr lang="en-US" sz="2000" dirty="0"/>
              <a:t>,</a:t>
            </a:r>
          </a:p>
          <a:p>
            <a:r>
              <a:rPr lang="en-US" sz="2000" dirty="0"/>
              <a:t>and one instance of </a:t>
            </a:r>
            <a:r>
              <a:rPr lang="en-US" sz="2000" b="1" dirty="0"/>
              <a:t>Entity B</a:t>
            </a:r>
            <a:r>
              <a:rPr lang="en-US" sz="2000" dirty="0"/>
              <a:t> can also be associated with </a:t>
            </a:r>
            <a:r>
              <a:rPr lang="en-US" sz="2000" b="1" dirty="0"/>
              <a:t>many instances</a:t>
            </a:r>
            <a:r>
              <a:rPr lang="en-US" sz="2000" dirty="0"/>
              <a:t> of </a:t>
            </a:r>
            <a:r>
              <a:rPr lang="en-US" sz="2000" b="1" dirty="0"/>
              <a:t>Entity A</a:t>
            </a:r>
            <a:r>
              <a:rPr lang="en-US" sz="2000" dirty="0"/>
              <a:t>.</a:t>
            </a:r>
          </a:p>
          <a:p>
            <a:pPr marL="0" indent="0">
              <a:buNone/>
            </a:pPr>
            <a:endParaRPr lang="en-US" sz="2000" b="1" dirty="0"/>
          </a:p>
          <a:p>
            <a:pPr marL="0" indent="0">
              <a:buNone/>
            </a:pPr>
            <a:r>
              <a:rPr lang="en-US" sz="2000" b="1" dirty="0"/>
              <a:t>🔹 Example 1: Students – Courses</a:t>
            </a:r>
          </a:p>
          <a:p>
            <a:pPr marL="0" indent="0">
              <a:buNone/>
            </a:pPr>
            <a:r>
              <a:rPr lang="en-US" sz="2000" b="1" dirty="0"/>
              <a:t>Student</a:t>
            </a:r>
            <a:r>
              <a:rPr lang="en-US" sz="2000" dirty="0"/>
              <a:t> → One student can enroll in </a:t>
            </a:r>
            <a:r>
              <a:rPr lang="en-US" sz="2000" b="1" dirty="0"/>
              <a:t>many courses</a:t>
            </a:r>
            <a:r>
              <a:rPr lang="en-US" sz="2000" dirty="0"/>
              <a:t>.</a:t>
            </a:r>
          </a:p>
          <a:p>
            <a:pPr marL="0" indent="0">
              <a:buNone/>
            </a:pPr>
            <a:r>
              <a:rPr lang="en-US" sz="2000" b="1" dirty="0"/>
              <a:t>Course</a:t>
            </a:r>
            <a:r>
              <a:rPr lang="en-US" sz="2000" dirty="0"/>
              <a:t> → One course can have </a:t>
            </a:r>
            <a:r>
              <a:rPr lang="en-US" sz="2000" b="1" dirty="0"/>
              <a:t>many students</a:t>
            </a:r>
            <a:r>
              <a:rPr lang="en-US" sz="2000" dirty="0"/>
              <a:t> enrolled.</a:t>
            </a:r>
          </a:p>
          <a:p>
            <a:endParaRPr lang="en-US" sz="2000" dirty="0"/>
          </a:p>
          <a:p>
            <a:pPr marL="0" indent="0">
              <a:buNone/>
            </a:pPr>
            <a:r>
              <a:rPr lang="en-US" sz="2000" b="1" dirty="0"/>
              <a:t>🔹 Example 2: Authors – Books</a:t>
            </a:r>
          </a:p>
          <a:p>
            <a:pPr marL="0" indent="0">
              <a:buNone/>
            </a:pPr>
            <a:r>
              <a:rPr lang="en-US" sz="2000" b="1" dirty="0"/>
              <a:t>Author</a:t>
            </a:r>
            <a:r>
              <a:rPr lang="en-US" sz="2000" dirty="0"/>
              <a:t> → One author can write </a:t>
            </a:r>
            <a:r>
              <a:rPr lang="en-US" sz="2000" b="1" dirty="0"/>
              <a:t>many books</a:t>
            </a:r>
            <a:r>
              <a:rPr lang="en-US" sz="2000" dirty="0"/>
              <a:t>.</a:t>
            </a:r>
          </a:p>
          <a:p>
            <a:pPr marL="0" indent="0">
              <a:buNone/>
            </a:pPr>
            <a:r>
              <a:rPr lang="en-US" sz="2000" b="1" dirty="0"/>
              <a:t>Book</a:t>
            </a:r>
            <a:r>
              <a:rPr lang="en-US" sz="2000" dirty="0"/>
              <a:t> → One book can be written by </a:t>
            </a:r>
            <a:r>
              <a:rPr lang="en-US" sz="2000" b="1" dirty="0"/>
              <a:t>many authors</a:t>
            </a:r>
            <a:endParaRPr lang="en-US" sz="2000" dirty="0"/>
          </a:p>
          <a:p>
            <a:endParaRPr lang="en-US" sz="2000" dirty="0"/>
          </a:p>
          <a:p>
            <a:pPr marL="0" indent="0">
              <a:buNone/>
            </a:pPr>
            <a:r>
              <a:rPr lang="en-US" sz="2000" b="1" dirty="0"/>
              <a:t>🔹 Example 3: Doctors – Patients</a:t>
            </a:r>
          </a:p>
          <a:p>
            <a:pPr marL="0" indent="0">
              <a:buNone/>
            </a:pPr>
            <a:r>
              <a:rPr lang="en-US" sz="2000" b="1" dirty="0"/>
              <a:t>Doctor</a:t>
            </a:r>
            <a:r>
              <a:rPr lang="en-US" sz="2000" dirty="0"/>
              <a:t> → A doctor can treat </a:t>
            </a:r>
            <a:r>
              <a:rPr lang="en-US" sz="2000" b="1" dirty="0"/>
              <a:t>many patients</a:t>
            </a:r>
            <a:r>
              <a:rPr lang="en-US" sz="2000" dirty="0"/>
              <a:t>.</a:t>
            </a:r>
          </a:p>
          <a:p>
            <a:pPr marL="0" indent="0">
              <a:buNone/>
            </a:pPr>
            <a:r>
              <a:rPr lang="en-US" sz="2000" b="1" dirty="0"/>
              <a:t>Patient</a:t>
            </a:r>
            <a:r>
              <a:rPr lang="en-US" sz="2000" dirty="0"/>
              <a:t> → A patient can be treated by </a:t>
            </a:r>
            <a:r>
              <a:rPr lang="en-US" sz="2000" b="1" dirty="0"/>
              <a:t>many doctors</a:t>
            </a:r>
            <a:r>
              <a:rPr lang="en-US" sz="2000" dirty="0"/>
              <a:t>.</a:t>
            </a:r>
          </a:p>
          <a:p>
            <a:endParaRPr lang="en-US" sz="2000" dirty="0"/>
          </a:p>
          <a:p>
            <a:pPr marL="0" indent="0">
              <a:buNone/>
            </a:pPr>
            <a:r>
              <a:rPr lang="en-US" sz="2000" dirty="0"/>
              <a:t>📌 </a:t>
            </a:r>
            <a:r>
              <a:rPr lang="en-US" sz="2000" b="1" dirty="0"/>
              <a:t>Key point:</a:t>
            </a:r>
            <a:r>
              <a:rPr lang="en-US" sz="2000" dirty="0"/>
              <a:t> In practice, an </a:t>
            </a:r>
            <a:r>
              <a:rPr lang="en-US" sz="2000" b="1" dirty="0"/>
              <a:t>M:N relationship is usually broken into two 1:M relationships</a:t>
            </a:r>
            <a:r>
              <a:rPr lang="en-US" sz="2000" dirty="0"/>
              <a:t> using a </a:t>
            </a:r>
            <a:r>
              <a:rPr lang="en-US" sz="2000" b="1" dirty="0"/>
              <a:t>bridge/associative entity</a:t>
            </a:r>
            <a:r>
              <a:rPr lang="en-US" sz="2000" dirty="0"/>
              <a:t> (like </a:t>
            </a:r>
            <a:r>
              <a:rPr lang="en-US" sz="2000" i="1" dirty="0"/>
              <a:t>Enrollment</a:t>
            </a:r>
            <a:r>
              <a:rPr lang="en-US" sz="2000" dirty="0"/>
              <a:t> between Student &amp; Course).</a:t>
            </a:r>
            <a:endParaRPr lang="en-IN" sz="2000" dirty="0"/>
          </a:p>
        </p:txBody>
      </p:sp>
    </p:spTree>
    <p:extLst>
      <p:ext uri="{BB962C8B-B14F-4D97-AF65-F5344CB8AC3E}">
        <p14:creationId xmlns:p14="http://schemas.microsoft.com/office/powerpoint/2010/main" val="2745298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
            <a:ext cx="10515600" cy="819098"/>
          </a:xfrm>
        </p:spPr>
        <p:txBody>
          <a:bodyPr>
            <a:normAutofit/>
          </a:bodyPr>
          <a:lstStyle/>
          <a:p>
            <a:r>
              <a:rPr lang="en-US" sz="3600" dirty="0"/>
              <a:t>Participation Constraint</a:t>
            </a:r>
            <a:endParaRPr lang="en-IN" sz="3600" dirty="0"/>
          </a:p>
        </p:txBody>
      </p:sp>
      <p:pic>
        <p:nvPicPr>
          <p:cNvPr id="7" name="Picture 6"/>
          <p:cNvPicPr>
            <a:picLocks noChangeAspect="1"/>
          </p:cNvPicPr>
          <p:nvPr/>
        </p:nvPicPr>
        <p:blipFill>
          <a:blip r:embed="rId2"/>
          <a:stretch>
            <a:fillRect/>
          </a:stretch>
        </p:blipFill>
        <p:spPr>
          <a:xfrm>
            <a:off x="188891" y="4514771"/>
            <a:ext cx="5858070" cy="2054218"/>
          </a:xfrm>
          <a:prstGeom prst="rect">
            <a:avLst/>
          </a:prstGeom>
        </p:spPr>
      </p:pic>
      <p:pic>
        <p:nvPicPr>
          <p:cNvPr id="8" name="Picture 7"/>
          <p:cNvPicPr>
            <a:picLocks noChangeAspect="1"/>
          </p:cNvPicPr>
          <p:nvPr/>
        </p:nvPicPr>
        <p:blipFill>
          <a:blip r:embed="rId3"/>
          <a:stretch>
            <a:fillRect/>
          </a:stretch>
        </p:blipFill>
        <p:spPr>
          <a:xfrm>
            <a:off x="6723008" y="464696"/>
            <a:ext cx="5269124" cy="2503356"/>
          </a:xfrm>
          <a:prstGeom prst="rect">
            <a:avLst/>
          </a:prstGeom>
        </p:spPr>
      </p:pic>
      <p:pic>
        <p:nvPicPr>
          <p:cNvPr id="9" name="Picture 8"/>
          <p:cNvPicPr>
            <a:picLocks noChangeAspect="1"/>
          </p:cNvPicPr>
          <p:nvPr/>
        </p:nvPicPr>
        <p:blipFill>
          <a:blip r:embed="rId4"/>
          <a:stretch>
            <a:fillRect/>
          </a:stretch>
        </p:blipFill>
        <p:spPr>
          <a:xfrm>
            <a:off x="6552936" y="3519594"/>
            <a:ext cx="5439195" cy="2896195"/>
          </a:xfrm>
          <a:prstGeom prst="rect">
            <a:avLst/>
          </a:prstGeom>
        </p:spPr>
      </p:pic>
      <p:pic>
        <p:nvPicPr>
          <p:cNvPr id="11" name="Picture 10"/>
          <p:cNvPicPr>
            <a:picLocks noChangeAspect="1"/>
          </p:cNvPicPr>
          <p:nvPr/>
        </p:nvPicPr>
        <p:blipFill>
          <a:blip r:embed="rId5"/>
          <a:stretch>
            <a:fillRect/>
          </a:stretch>
        </p:blipFill>
        <p:spPr>
          <a:xfrm>
            <a:off x="188891" y="819258"/>
            <a:ext cx="6278803" cy="3527890"/>
          </a:xfrm>
          <a:prstGeom prst="rect">
            <a:avLst/>
          </a:prstGeom>
        </p:spPr>
      </p:pic>
    </p:spTree>
    <p:extLst>
      <p:ext uri="{BB962C8B-B14F-4D97-AF65-F5344CB8AC3E}">
        <p14:creationId xmlns:p14="http://schemas.microsoft.com/office/powerpoint/2010/main" val="21161431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590331-79EA-4EA5-9777-E386B18F3E63}"/>
              </a:ext>
            </a:extLst>
          </p:cNvPr>
          <p:cNvSpPr>
            <a:spLocks noGrp="1"/>
          </p:cNvSpPr>
          <p:nvPr>
            <p:ph type="title"/>
          </p:nvPr>
        </p:nvSpPr>
        <p:spPr/>
        <p:txBody>
          <a:bodyPr/>
          <a:lstStyle/>
          <a:p>
            <a:r>
              <a:rPr lang="en-IN" dirty="0"/>
              <a:t>Degree of a Relationship</a:t>
            </a:r>
          </a:p>
        </p:txBody>
      </p:sp>
      <p:sp>
        <p:nvSpPr>
          <p:cNvPr id="3" name="Content Placeholder 2">
            <a:extLst>
              <a:ext uri="{FF2B5EF4-FFF2-40B4-BE49-F238E27FC236}">
                <a16:creationId xmlns:a16="http://schemas.microsoft.com/office/drawing/2014/main" id="{4DDE4E36-BCAD-475A-9CA0-A828C95F2BDC}"/>
              </a:ext>
            </a:extLst>
          </p:cNvPr>
          <p:cNvSpPr>
            <a:spLocks noGrp="1"/>
          </p:cNvSpPr>
          <p:nvPr>
            <p:ph idx="1"/>
          </p:nvPr>
        </p:nvSpPr>
        <p:spPr/>
        <p:txBody>
          <a:bodyPr/>
          <a:lstStyle/>
          <a:p>
            <a:r>
              <a:rPr lang="en-IN" dirty="0"/>
              <a:t>Based on the number of linked entity types, we have 4 types of degrees of relationships.</a:t>
            </a:r>
          </a:p>
          <a:p>
            <a:pPr lvl="1"/>
            <a:r>
              <a:rPr lang="en-IN" dirty="0"/>
              <a:t>Unary</a:t>
            </a:r>
          </a:p>
          <a:p>
            <a:pPr lvl="1"/>
            <a:r>
              <a:rPr lang="en-IN" dirty="0"/>
              <a:t>Binary</a:t>
            </a:r>
          </a:p>
          <a:p>
            <a:pPr lvl="1"/>
            <a:r>
              <a:rPr lang="en-IN" dirty="0"/>
              <a:t>Ternary</a:t>
            </a:r>
          </a:p>
          <a:p>
            <a:pPr lvl="1"/>
            <a:r>
              <a:rPr lang="en-IN" dirty="0"/>
              <a:t>N-</a:t>
            </a:r>
            <a:r>
              <a:rPr lang="en-IN" dirty="0" err="1"/>
              <a:t>ary</a:t>
            </a:r>
            <a:endParaRPr lang="en-IN" dirty="0"/>
          </a:p>
        </p:txBody>
      </p:sp>
    </p:spTree>
    <p:extLst>
      <p:ext uri="{BB962C8B-B14F-4D97-AF65-F5344CB8AC3E}">
        <p14:creationId xmlns:p14="http://schemas.microsoft.com/office/powerpoint/2010/main" val="10178353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1FBED-9FFE-47CA-BD98-D4070B41E098}"/>
              </a:ext>
            </a:extLst>
          </p:cNvPr>
          <p:cNvSpPr>
            <a:spLocks noGrp="1"/>
          </p:cNvSpPr>
          <p:nvPr>
            <p:ph type="title"/>
          </p:nvPr>
        </p:nvSpPr>
        <p:spPr/>
        <p:txBody>
          <a:bodyPr/>
          <a:lstStyle/>
          <a:p>
            <a:r>
              <a:rPr lang="en-IN" dirty="0"/>
              <a:t>Unary Relationship</a:t>
            </a:r>
          </a:p>
        </p:txBody>
      </p:sp>
      <p:sp>
        <p:nvSpPr>
          <p:cNvPr id="3" name="Content Placeholder 2">
            <a:extLst>
              <a:ext uri="{FF2B5EF4-FFF2-40B4-BE49-F238E27FC236}">
                <a16:creationId xmlns:a16="http://schemas.microsoft.com/office/drawing/2014/main" id="{D89A8618-EE4D-40C9-AE67-E437A4EB5B12}"/>
              </a:ext>
            </a:extLst>
          </p:cNvPr>
          <p:cNvSpPr>
            <a:spLocks noGrp="1"/>
          </p:cNvSpPr>
          <p:nvPr>
            <p:ph idx="1"/>
          </p:nvPr>
        </p:nvSpPr>
        <p:spPr/>
        <p:txBody>
          <a:bodyPr/>
          <a:lstStyle/>
          <a:p>
            <a:pPr algn="just"/>
            <a:r>
              <a:rPr lang="en-IN" dirty="0"/>
              <a:t>In this type of relationship, both the associating entity type are the same. So, we can say that unary relationships exist when both entity types are the same and we call them the degree of relationship is 1. Or in other words, in a relation only one entity set is participating then such type of relationship is known as a unary relationship.</a:t>
            </a:r>
          </a:p>
          <a:p>
            <a:pPr algn="just"/>
            <a:endParaRPr lang="en-IN" dirty="0"/>
          </a:p>
          <a:p>
            <a:pPr algn="just"/>
            <a:r>
              <a:rPr lang="en-IN" dirty="0"/>
              <a:t>Example: In a particular class, we have many students, there are monitors too. So, here class monitors are also students. Thus, we can say that only students are participating here. So the degree of such type of relationship is 1.</a:t>
            </a:r>
          </a:p>
        </p:txBody>
      </p:sp>
    </p:spTree>
    <p:extLst>
      <p:ext uri="{BB962C8B-B14F-4D97-AF65-F5344CB8AC3E}">
        <p14:creationId xmlns:p14="http://schemas.microsoft.com/office/powerpoint/2010/main" val="31031604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EE506-5782-45C9-8AC4-92508055C744}"/>
              </a:ext>
            </a:extLst>
          </p:cNvPr>
          <p:cNvSpPr>
            <a:spLocks noGrp="1"/>
          </p:cNvSpPr>
          <p:nvPr>
            <p:ph type="title"/>
          </p:nvPr>
        </p:nvSpPr>
        <p:spPr/>
        <p:txBody>
          <a:bodyPr/>
          <a:lstStyle/>
          <a:p>
            <a:r>
              <a:rPr lang="en-IN" dirty="0"/>
              <a:t>Example – </a:t>
            </a:r>
            <a:r>
              <a:rPr lang="en-IN"/>
              <a:t>Unary Relationship</a:t>
            </a:r>
          </a:p>
        </p:txBody>
      </p:sp>
      <p:pic>
        <p:nvPicPr>
          <p:cNvPr id="7170" name="Picture 2" descr="Lightbox">
            <a:extLst>
              <a:ext uri="{FF2B5EF4-FFF2-40B4-BE49-F238E27FC236}">
                <a16:creationId xmlns:a16="http://schemas.microsoft.com/office/drawing/2014/main" id="{E2BB26B5-B8AD-4FD3-9935-E9ED5694FD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7967" y="2276475"/>
            <a:ext cx="5012058" cy="33506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81113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80887-A129-4E39-9A93-2DC571ED4586}"/>
              </a:ext>
            </a:extLst>
          </p:cNvPr>
          <p:cNvSpPr>
            <a:spLocks noGrp="1"/>
          </p:cNvSpPr>
          <p:nvPr>
            <p:ph type="title"/>
          </p:nvPr>
        </p:nvSpPr>
        <p:spPr/>
        <p:txBody>
          <a:bodyPr/>
          <a:lstStyle/>
          <a:p>
            <a:r>
              <a:rPr lang="en-IN" dirty="0"/>
              <a:t>Binary Relationship</a:t>
            </a:r>
          </a:p>
        </p:txBody>
      </p:sp>
      <p:sp>
        <p:nvSpPr>
          <p:cNvPr id="3" name="Content Placeholder 2">
            <a:extLst>
              <a:ext uri="{FF2B5EF4-FFF2-40B4-BE49-F238E27FC236}">
                <a16:creationId xmlns:a16="http://schemas.microsoft.com/office/drawing/2014/main" id="{8F273AFD-678C-453D-B8B7-48C51D5E5968}"/>
              </a:ext>
            </a:extLst>
          </p:cNvPr>
          <p:cNvSpPr>
            <a:spLocks noGrp="1"/>
          </p:cNvSpPr>
          <p:nvPr>
            <p:ph idx="1"/>
          </p:nvPr>
        </p:nvSpPr>
        <p:spPr/>
        <p:txBody>
          <a:bodyPr/>
          <a:lstStyle/>
          <a:p>
            <a:r>
              <a:rPr lang="en-IN" dirty="0"/>
              <a:t>In a Binary relationship, there are two types of entity associates. </a:t>
            </a:r>
          </a:p>
          <a:p>
            <a:r>
              <a:rPr lang="en-IN" dirty="0"/>
              <a:t>Binary relationship exists when there are two types of entity and we call them a degree of relationship is 2. </a:t>
            </a:r>
          </a:p>
          <a:p>
            <a:r>
              <a:rPr lang="en-IN" dirty="0"/>
              <a:t>Or in other words, in a relation when two entity sets are participating then such type of relationship is known as a binary relationship. This is the most used relationship and one can easily be converted into a relational table. </a:t>
            </a:r>
          </a:p>
        </p:txBody>
      </p:sp>
    </p:spTree>
    <p:extLst>
      <p:ext uri="{BB962C8B-B14F-4D97-AF65-F5344CB8AC3E}">
        <p14:creationId xmlns:p14="http://schemas.microsoft.com/office/powerpoint/2010/main" val="30678389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2D07B-8CC7-46DD-81D2-F554A716D9CE}"/>
              </a:ext>
            </a:extLst>
          </p:cNvPr>
          <p:cNvSpPr>
            <a:spLocks noGrp="1"/>
          </p:cNvSpPr>
          <p:nvPr>
            <p:ph type="title"/>
          </p:nvPr>
        </p:nvSpPr>
        <p:spPr/>
        <p:txBody>
          <a:bodyPr/>
          <a:lstStyle/>
          <a:p>
            <a:r>
              <a:rPr lang="en-IN" dirty="0"/>
              <a:t>Ternary Relationship</a:t>
            </a:r>
          </a:p>
        </p:txBody>
      </p:sp>
      <p:sp>
        <p:nvSpPr>
          <p:cNvPr id="3" name="Content Placeholder 2">
            <a:extLst>
              <a:ext uri="{FF2B5EF4-FFF2-40B4-BE49-F238E27FC236}">
                <a16:creationId xmlns:a16="http://schemas.microsoft.com/office/drawing/2014/main" id="{2404362A-383D-4B17-AC64-D89F33C4D0E8}"/>
              </a:ext>
            </a:extLst>
          </p:cNvPr>
          <p:cNvSpPr>
            <a:spLocks noGrp="1"/>
          </p:cNvSpPr>
          <p:nvPr>
            <p:ph idx="1"/>
          </p:nvPr>
        </p:nvSpPr>
        <p:spPr>
          <a:xfrm>
            <a:off x="838200" y="1825625"/>
            <a:ext cx="10515600" cy="1480283"/>
          </a:xfrm>
        </p:spPr>
        <p:txBody>
          <a:bodyPr/>
          <a:lstStyle/>
          <a:p>
            <a:r>
              <a:rPr lang="en-IN" dirty="0"/>
              <a:t>In the Ternary relationship, there are three types of entity associates.</a:t>
            </a:r>
          </a:p>
          <a:p>
            <a:r>
              <a:rPr lang="en-IN" dirty="0"/>
              <a:t>Ternary relationship exists when there are three types of entity and we call them a degree of relationship is 3</a:t>
            </a:r>
          </a:p>
        </p:txBody>
      </p:sp>
      <p:pic>
        <p:nvPicPr>
          <p:cNvPr id="7170" name="Picture 2" descr="Lightbox">
            <a:extLst>
              <a:ext uri="{FF2B5EF4-FFF2-40B4-BE49-F238E27FC236}">
                <a16:creationId xmlns:a16="http://schemas.microsoft.com/office/drawing/2014/main" id="{6DF2CE3E-BD9E-4282-B215-E7B8E2CBEC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5929" y="3606506"/>
            <a:ext cx="7180141" cy="28863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39895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08E6A-6F89-4348-B014-A79CC6B63F35}"/>
              </a:ext>
            </a:extLst>
          </p:cNvPr>
          <p:cNvSpPr>
            <a:spLocks noGrp="1"/>
          </p:cNvSpPr>
          <p:nvPr>
            <p:ph type="title"/>
          </p:nvPr>
        </p:nvSpPr>
        <p:spPr/>
        <p:txBody>
          <a:bodyPr/>
          <a:lstStyle/>
          <a:p>
            <a:r>
              <a:rPr lang="en-IN" dirty="0"/>
              <a:t>N-</a:t>
            </a:r>
            <a:r>
              <a:rPr lang="en-IN" dirty="0" err="1"/>
              <a:t>ary</a:t>
            </a:r>
            <a:r>
              <a:rPr lang="en-IN" dirty="0"/>
              <a:t> Relationship</a:t>
            </a:r>
          </a:p>
        </p:txBody>
      </p:sp>
      <p:sp>
        <p:nvSpPr>
          <p:cNvPr id="3" name="Content Placeholder 2">
            <a:extLst>
              <a:ext uri="{FF2B5EF4-FFF2-40B4-BE49-F238E27FC236}">
                <a16:creationId xmlns:a16="http://schemas.microsoft.com/office/drawing/2014/main" id="{8819CBA6-1B41-44BF-8558-27DDC0C18B09}"/>
              </a:ext>
            </a:extLst>
          </p:cNvPr>
          <p:cNvSpPr>
            <a:spLocks noGrp="1"/>
          </p:cNvSpPr>
          <p:nvPr>
            <p:ph idx="1"/>
          </p:nvPr>
        </p:nvSpPr>
        <p:spPr>
          <a:xfrm>
            <a:off x="838200" y="1690688"/>
            <a:ext cx="10515600" cy="1547187"/>
          </a:xfrm>
        </p:spPr>
        <p:txBody>
          <a:bodyPr/>
          <a:lstStyle/>
          <a:p>
            <a:r>
              <a:rPr lang="en-IN" b="0" i="0" dirty="0">
                <a:solidFill>
                  <a:srgbClr val="273239"/>
                </a:solidFill>
                <a:effectLst/>
                <a:latin typeface="urw-din"/>
              </a:rPr>
              <a:t>In the N-</a:t>
            </a:r>
            <a:r>
              <a:rPr lang="en-IN" b="0" i="0" dirty="0" err="1">
                <a:solidFill>
                  <a:srgbClr val="273239"/>
                </a:solidFill>
                <a:effectLst/>
                <a:latin typeface="urw-din"/>
              </a:rPr>
              <a:t>ary</a:t>
            </a:r>
            <a:r>
              <a:rPr lang="en-IN" b="0" i="0" dirty="0">
                <a:solidFill>
                  <a:srgbClr val="273239"/>
                </a:solidFill>
                <a:effectLst/>
                <a:latin typeface="urw-din"/>
              </a:rPr>
              <a:t> relationship, there are n types of entity that associates.</a:t>
            </a:r>
          </a:p>
          <a:p>
            <a:r>
              <a:rPr lang="en-IN" b="0" i="0" dirty="0">
                <a:solidFill>
                  <a:srgbClr val="273239"/>
                </a:solidFill>
                <a:effectLst/>
                <a:latin typeface="urw-din"/>
              </a:rPr>
              <a:t>N-</a:t>
            </a:r>
            <a:r>
              <a:rPr lang="en-IN" b="0" i="0" dirty="0" err="1">
                <a:solidFill>
                  <a:srgbClr val="273239"/>
                </a:solidFill>
                <a:effectLst/>
                <a:latin typeface="urw-din"/>
              </a:rPr>
              <a:t>ary</a:t>
            </a:r>
            <a:r>
              <a:rPr lang="en-IN" b="0" i="0" dirty="0">
                <a:solidFill>
                  <a:srgbClr val="273239"/>
                </a:solidFill>
                <a:effectLst/>
                <a:latin typeface="urw-din"/>
              </a:rPr>
              <a:t> relationship exists when there are n types of entities.</a:t>
            </a:r>
            <a:endParaRPr lang="en-IN" dirty="0"/>
          </a:p>
        </p:txBody>
      </p:sp>
      <p:pic>
        <p:nvPicPr>
          <p:cNvPr id="8194" name="Picture 2" descr="Lightbox">
            <a:extLst>
              <a:ext uri="{FF2B5EF4-FFF2-40B4-BE49-F238E27FC236}">
                <a16:creationId xmlns:a16="http://schemas.microsoft.com/office/drawing/2014/main" id="{27656AC7-B496-4D36-B3DB-C19B311F0F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0244" y="3715427"/>
            <a:ext cx="7171512" cy="2882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95217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71C22-73F2-427F-99DD-01BEE893EECE}"/>
              </a:ext>
            </a:extLst>
          </p:cNvPr>
          <p:cNvSpPr>
            <a:spLocks noGrp="1"/>
          </p:cNvSpPr>
          <p:nvPr>
            <p:ph type="title"/>
          </p:nvPr>
        </p:nvSpPr>
        <p:spPr/>
        <p:txBody>
          <a:bodyPr/>
          <a:lstStyle/>
          <a:p>
            <a:r>
              <a:rPr lang="en-IN" dirty="0"/>
              <a:t>Company Management System</a:t>
            </a:r>
          </a:p>
        </p:txBody>
      </p:sp>
      <p:sp>
        <p:nvSpPr>
          <p:cNvPr id="3" name="Content Placeholder 2">
            <a:extLst>
              <a:ext uri="{FF2B5EF4-FFF2-40B4-BE49-F238E27FC236}">
                <a16:creationId xmlns:a16="http://schemas.microsoft.com/office/drawing/2014/main" id="{9845C6A3-9B5F-4450-B51E-39AF691EF816}"/>
              </a:ext>
            </a:extLst>
          </p:cNvPr>
          <p:cNvSpPr>
            <a:spLocks noGrp="1"/>
          </p:cNvSpPr>
          <p:nvPr>
            <p:ph idx="1"/>
          </p:nvPr>
        </p:nvSpPr>
        <p:spPr/>
        <p:txBody>
          <a:bodyPr/>
          <a:lstStyle/>
          <a:p>
            <a:r>
              <a:rPr lang="en-IN" dirty="0"/>
              <a:t>Organization has multiple departments</a:t>
            </a:r>
          </a:p>
          <a:p>
            <a:r>
              <a:rPr lang="en-IN" dirty="0"/>
              <a:t>Employees work for the department and manages the department</a:t>
            </a:r>
          </a:p>
          <a:p>
            <a:r>
              <a:rPr lang="en-IN" dirty="0"/>
              <a:t>Per department there is an supervisor (an employee)</a:t>
            </a:r>
          </a:p>
          <a:p>
            <a:r>
              <a:rPr lang="en-IN" dirty="0"/>
              <a:t>Department executes different projects</a:t>
            </a:r>
          </a:p>
          <a:p>
            <a:r>
              <a:rPr lang="en-IN" dirty="0"/>
              <a:t>Employees work on those projects on hourly basis</a:t>
            </a:r>
          </a:p>
          <a:p>
            <a:r>
              <a:rPr lang="en-IN" dirty="0"/>
              <a:t>Organization manages the information of the Employee’s dependents also.</a:t>
            </a:r>
          </a:p>
          <a:p>
            <a:endParaRPr lang="en-IN" dirty="0"/>
          </a:p>
        </p:txBody>
      </p:sp>
    </p:spTree>
    <p:extLst>
      <p:ext uri="{BB962C8B-B14F-4D97-AF65-F5344CB8AC3E}">
        <p14:creationId xmlns:p14="http://schemas.microsoft.com/office/powerpoint/2010/main" val="15797702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050">
            <a:extLst>
              <a:ext uri="{FF2B5EF4-FFF2-40B4-BE49-F238E27FC236}">
                <a16:creationId xmlns:a16="http://schemas.microsoft.com/office/drawing/2014/main" id="{F215E831-82A1-4161-A4CA-EBD072053551}"/>
              </a:ext>
            </a:extLst>
          </p:cNvPr>
          <p:cNvSpPr>
            <a:spLocks noGrp="1" noChangeArrowheads="1"/>
          </p:cNvSpPr>
          <p:nvPr>
            <p:ph type="title"/>
          </p:nvPr>
        </p:nvSpPr>
        <p:spPr>
          <a:xfrm>
            <a:off x="988102" y="284813"/>
            <a:ext cx="10515600" cy="654206"/>
          </a:xfrm>
        </p:spPr>
        <p:txBody>
          <a:bodyPr>
            <a:normAutofit/>
          </a:bodyPr>
          <a:lstStyle/>
          <a:p>
            <a:pPr eaLnBrk="1" hangingPunct="1"/>
            <a:r>
              <a:rPr lang="en-US" altLang="en-US" sz="3600" dirty="0"/>
              <a:t>Weak Entity Types</a:t>
            </a:r>
          </a:p>
        </p:txBody>
      </p:sp>
      <p:sp>
        <p:nvSpPr>
          <p:cNvPr id="33796" name="Rectangle 2051">
            <a:extLst>
              <a:ext uri="{FF2B5EF4-FFF2-40B4-BE49-F238E27FC236}">
                <a16:creationId xmlns:a16="http://schemas.microsoft.com/office/drawing/2014/main" id="{D9E7F971-F2B2-45BE-8803-CB36280D7101}"/>
              </a:ext>
            </a:extLst>
          </p:cNvPr>
          <p:cNvSpPr>
            <a:spLocks noGrp="1" noChangeArrowheads="1"/>
          </p:cNvSpPr>
          <p:nvPr>
            <p:ph type="body" idx="1"/>
          </p:nvPr>
        </p:nvSpPr>
        <p:spPr>
          <a:xfrm>
            <a:off x="838200" y="1349114"/>
            <a:ext cx="10515600" cy="5352504"/>
          </a:xfrm>
        </p:spPr>
        <p:txBody>
          <a:bodyPr>
            <a:normAutofit fontScale="77500" lnSpcReduction="20000"/>
          </a:bodyPr>
          <a:lstStyle/>
          <a:p>
            <a:pPr eaLnBrk="1" hangingPunct="1">
              <a:lnSpc>
                <a:spcPct val="90000"/>
              </a:lnSpc>
            </a:pPr>
            <a:r>
              <a:rPr lang="en-US" altLang="en-US" sz="2000" dirty="0"/>
              <a:t>An entity that does not have a key attribute</a:t>
            </a:r>
          </a:p>
          <a:p>
            <a:pPr eaLnBrk="1" hangingPunct="1">
              <a:lnSpc>
                <a:spcPct val="90000"/>
              </a:lnSpc>
            </a:pPr>
            <a:r>
              <a:rPr lang="en-US" altLang="en-US" sz="2000" dirty="0"/>
              <a:t>A weak entity must participate in an identifying relationship type with an owner or identifying entity type</a:t>
            </a:r>
          </a:p>
          <a:p>
            <a:pPr eaLnBrk="1" hangingPunct="1">
              <a:lnSpc>
                <a:spcPct val="90000"/>
              </a:lnSpc>
            </a:pPr>
            <a:r>
              <a:rPr lang="en-US" altLang="en-US" sz="2000" dirty="0"/>
              <a:t>Entities are identified by the combination of:</a:t>
            </a:r>
          </a:p>
          <a:p>
            <a:pPr lvl="1" eaLnBrk="1" hangingPunct="1">
              <a:lnSpc>
                <a:spcPct val="90000"/>
              </a:lnSpc>
            </a:pPr>
            <a:r>
              <a:rPr lang="en-US" altLang="en-US" sz="2000" dirty="0"/>
              <a:t>A partial key of the weak entity type</a:t>
            </a:r>
          </a:p>
          <a:p>
            <a:pPr lvl="1" eaLnBrk="1" hangingPunct="1">
              <a:lnSpc>
                <a:spcPct val="90000"/>
              </a:lnSpc>
            </a:pPr>
            <a:r>
              <a:rPr lang="en-US" altLang="en-US" sz="2000" dirty="0"/>
              <a:t>The particular entity they are related to in the identifying entity type</a:t>
            </a:r>
          </a:p>
          <a:p>
            <a:pPr eaLnBrk="1" hangingPunct="1">
              <a:lnSpc>
                <a:spcPct val="90000"/>
              </a:lnSpc>
            </a:pPr>
            <a:r>
              <a:rPr lang="en-US" altLang="en-US" sz="2000" b="1" dirty="0"/>
              <a:t>Example: 1</a:t>
            </a:r>
          </a:p>
          <a:p>
            <a:pPr lvl="1" eaLnBrk="1" hangingPunct="1">
              <a:lnSpc>
                <a:spcPct val="90000"/>
              </a:lnSpc>
            </a:pPr>
            <a:r>
              <a:rPr lang="en-US" altLang="en-US" sz="2000" dirty="0"/>
              <a:t>A DEPENDENT entity is identified by the dependent’s first name, </a:t>
            </a:r>
            <a:r>
              <a:rPr lang="en-US" altLang="en-US" sz="2000" i="1" dirty="0"/>
              <a:t>and</a:t>
            </a:r>
            <a:r>
              <a:rPr lang="en-US" altLang="en-US" sz="2000" dirty="0"/>
              <a:t> the specific EMPLOYEE with whom the dependent is related</a:t>
            </a:r>
          </a:p>
          <a:p>
            <a:pPr lvl="1" eaLnBrk="1" hangingPunct="1">
              <a:lnSpc>
                <a:spcPct val="90000"/>
              </a:lnSpc>
            </a:pPr>
            <a:r>
              <a:rPr lang="en-US" altLang="en-US" sz="2000" dirty="0"/>
              <a:t>Name of DEPENDENT is the </a:t>
            </a:r>
            <a:r>
              <a:rPr lang="en-US" altLang="en-US" sz="2000" i="1" dirty="0"/>
              <a:t>partial key</a:t>
            </a:r>
          </a:p>
          <a:p>
            <a:pPr lvl="1" eaLnBrk="1" hangingPunct="1">
              <a:lnSpc>
                <a:spcPct val="90000"/>
              </a:lnSpc>
            </a:pPr>
            <a:r>
              <a:rPr lang="en-US" altLang="en-US" sz="2000" dirty="0"/>
              <a:t>DEPENDENT is a </a:t>
            </a:r>
            <a:r>
              <a:rPr lang="en-US" altLang="en-US" sz="2000" i="1" dirty="0"/>
              <a:t>weak entity type</a:t>
            </a:r>
          </a:p>
          <a:p>
            <a:pPr lvl="1" eaLnBrk="1" hangingPunct="1">
              <a:lnSpc>
                <a:spcPct val="90000"/>
              </a:lnSpc>
            </a:pPr>
            <a:r>
              <a:rPr lang="en-US" altLang="en-US" sz="2000" dirty="0"/>
              <a:t>EMPLOYEE is its identifying entity type via the identifying relationship type DEPENDENT_OF</a:t>
            </a:r>
          </a:p>
          <a:p>
            <a:pPr lvl="1" eaLnBrk="1" hangingPunct="1">
              <a:lnSpc>
                <a:spcPct val="90000"/>
              </a:lnSpc>
            </a:pPr>
            <a:endParaRPr lang="en-US" altLang="en-US" sz="2000" dirty="0"/>
          </a:p>
          <a:p>
            <a:r>
              <a:rPr lang="en-US" altLang="en-US" sz="2100" b="1" dirty="0"/>
              <a:t>Example: 2</a:t>
            </a:r>
          </a:p>
          <a:p>
            <a:pPr lvl="1"/>
            <a:r>
              <a:rPr lang="en-US" sz="2100" dirty="0"/>
              <a:t>ORDER (Strong Entity) and ORDERITEM (Weak Entity).</a:t>
            </a:r>
          </a:p>
          <a:p>
            <a:pPr lvl="1"/>
            <a:r>
              <a:rPr lang="en-US" sz="2100" dirty="0"/>
              <a:t>An </a:t>
            </a:r>
            <a:r>
              <a:rPr lang="en-US" sz="2100" dirty="0" err="1"/>
              <a:t>OrderItem</a:t>
            </a:r>
            <a:r>
              <a:rPr lang="en-US" sz="2100" dirty="0"/>
              <a:t> cannot exist without an Order.</a:t>
            </a:r>
          </a:p>
          <a:p>
            <a:pPr lvl="1"/>
            <a:r>
              <a:rPr lang="en-US" sz="2100" dirty="0"/>
              <a:t>Partial key: </a:t>
            </a:r>
            <a:r>
              <a:rPr lang="en-US" sz="2100" dirty="0" err="1"/>
              <a:t>ItemNumber</a:t>
            </a:r>
            <a:r>
              <a:rPr lang="en-US" sz="2100" dirty="0"/>
              <a:t> within an order.</a:t>
            </a:r>
          </a:p>
          <a:p>
            <a:pPr lvl="1"/>
            <a:r>
              <a:rPr lang="en-US" sz="2100" dirty="0"/>
              <a:t>Weak relationship: "Contains" between Order and </a:t>
            </a:r>
            <a:r>
              <a:rPr lang="en-US" sz="2100" dirty="0" err="1"/>
              <a:t>OrderItem</a:t>
            </a:r>
            <a:r>
              <a:rPr lang="en-US" sz="2100" dirty="0"/>
              <a:t>.</a:t>
            </a:r>
          </a:p>
          <a:p>
            <a:pPr lvl="1"/>
            <a:endParaRPr lang="en-US" altLang="en-US" sz="2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571"/>
            <a:ext cx="10515600" cy="824826"/>
          </a:xfrm>
        </p:spPr>
        <p:txBody>
          <a:bodyPr>
            <a:normAutofit/>
          </a:bodyPr>
          <a:lstStyle/>
          <a:p>
            <a:r>
              <a:rPr lang="en-US" sz="4000" dirty="0"/>
              <a:t>Relationship Type Attribute</a:t>
            </a:r>
            <a:endParaRPr lang="en-IN" sz="4000" dirty="0"/>
          </a:p>
        </p:txBody>
      </p:sp>
      <p:sp>
        <p:nvSpPr>
          <p:cNvPr id="3" name="Content Placeholder 2"/>
          <p:cNvSpPr>
            <a:spLocks noGrp="1"/>
          </p:cNvSpPr>
          <p:nvPr>
            <p:ph idx="1"/>
          </p:nvPr>
        </p:nvSpPr>
        <p:spPr>
          <a:xfrm>
            <a:off x="596371" y="841397"/>
            <a:ext cx="11414184" cy="849657"/>
          </a:xfrm>
        </p:spPr>
        <p:txBody>
          <a:bodyPr>
            <a:normAutofit/>
          </a:bodyPr>
          <a:lstStyle/>
          <a:p>
            <a:pPr algn="just"/>
            <a:r>
              <a:rPr lang="en-US" sz="2400" dirty="0"/>
              <a:t>Relationship attribute is a specific characteristic or property of that relationship itself, providing more detail about how the entities are connected</a:t>
            </a:r>
            <a:endParaRPr lang="en-IN" sz="2400" dirty="0"/>
          </a:p>
        </p:txBody>
      </p:sp>
      <p:pic>
        <p:nvPicPr>
          <p:cNvPr id="1026" name="Picture 2" descr="https://media.geeksforgeeks.org/wp-content/uploads/1to1-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010007"/>
            <a:ext cx="5975402" cy="206257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069976" y="6090850"/>
            <a:ext cx="4784195" cy="369332"/>
          </a:xfrm>
          <a:prstGeom prst="rect">
            <a:avLst/>
          </a:prstGeom>
        </p:spPr>
        <p:txBody>
          <a:bodyPr wrap="none">
            <a:spAutoFit/>
          </a:bodyPr>
          <a:lstStyle/>
          <a:p>
            <a:r>
              <a:rPr lang="en-IN" dirty="0"/>
              <a:t>Employee -------- </a:t>
            </a:r>
            <a:r>
              <a:rPr lang="en-IN" dirty="0" err="1"/>
              <a:t>Works_On</a:t>
            </a:r>
            <a:r>
              <a:rPr lang="en-IN" dirty="0"/>
              <a:t>(Hours) -------- Project</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87660" y="2010007"/>
            <a:ext cx="3594518" cy="2396346"/>
          </a:xfrm>
          <a:prstGeom prst="rect">
            <a:avLst/>
          </a:prstGeom>
        </p:spPr>
      </p:pic>
      <p:sp>
        <p:nvSpPr>
          <p:cNvPr id="7" name="Rectangle 6"/>
          <p:cNvSpPr/>
          <p:nvPr/>
        </p:nvSpPr>
        <p:spPr>
          <a:xfrm>
            <a:off x="1069976" y="5265180"/>
            <a:ext cx="5371086" cy="369332"/>
          </a:xfrm>
          <a:prstGeom prst="rect">
            <a:avLst/>
          </a:prstGeom>
        </p:spPr>
        <p:txBody>
          <a:bodyPr wrap="none">
            <a:spAutoFit/>
          </a:bodyPr>
          <a:lstStyle/>
          <a:p>
            <a:r>
              <a:rPr lang="en-IN" dirty="0"/>
              <a:t>Doctor -------- Treats(</a:t>
            </a:r>
            <a:r>
              <a:rPr lang="en-IN" dirty="0" err="1"/>
              <a:t>Date_of_Treatment</a:t>
            </a:r>
            <a:r>
              <a:rPr lang="en-IN" dirty="0"/>
              <a:t>) -------- Patient</a:t>
            </a:r>
          </a:p>
        </p:txBody>
      </p:sp>
      <p:pic>
        <p:nvPicPr>
          <p:cNvPr id="8" name="Picture 7"/>
          <p:cNvPicPr>
            <a:picLocks noChangeAspect="1"/>
          </p:cNvPicPr>
          <p:nvPr/>
        </p:nvPicPr>
        <p:blipFill>
          <a:blip r:embed="rId4"/>
          <a:stretch>
            <a:fillRect/>
          </a:stretch>
        </p:blipFill>
        <p:spPr>
          <a:xfrm>
            <a:off x="8087660" y="4072583"/>
            <a:ext cx="3594518" cy="2553070"/>
          </a:xfrm>
          <a:prstGeom prst="rect">
            <a:avLst/>
          </a:prstGeom>
        </p:spPr>
      </p:pic>
    </p:spTree>
    <p:extLst>
      <p:ext uri="{BB962C8B-B14F-4D97-AF65-F5344CB8AC3E}">
        <p14:creationId xmlns:p14="http://schemas.microsoft.com/office/powerpoint/2010/main" val="7476339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0"/>
            <a:ext cx="8229600" cy="785794"/>
          </a:xfrm>
        </p:spPr>
        <p:txBody>
          <a:bodyPr>
            <a:normAutofit/>
          </a:bodyPr>
          <a:lstStyle/>
          <a:p>
            <a:r>
              <a:rPr lang="en-US" dirty="0"/>
              <a:t>Example</a:t>
            </a:r>
            <a:endParaRPr lang="en-IN" dirty="0"/>
          </a:p>
        </p:txBody>
      </p:sp>
      <p:pic>
        <p:nvPicPr>
          <p:cNvPr id="4" name="Picture 4" descr="fig03_02"/>
          <p:cNvPicPr>
            <a:picLocks noChangeAspect="1" noChangeArrowheads="1"/>
          </p:cNvPicPr>
          <p:nvPr/>
        </p:nvPicPr>
        <p:blipFill>
          <a:blip r:embed="rId2"/>
          <a:srcRect/>
          <a:stretch>
            <a:fillRect/>
          </a:stretch>
        </p:blipFill>
        <p:spPr bwMode="auto">
          <a:xfrm>
            <a:off x="2881291" y="714356"/>
            <a:ext cx="6467608" cy="6143644"/>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92F27-D330-4EC1-91BE-CCB3085B2C4C}"/>
              </a:ext>
            </a:extLst>
          </p:cNvPr>
          <p:cNvSpPr>
            <a:spLocks noGrp="1"/>
          </p:cNvSpPr>
          <p:nvPr>
            <p:ph type="title"/>
          </p:nvPr>
        </p:nvSpPr>
        <p:spPr/>
        <p:txBody>
          <a:bodyPr/>
          <a:lstStyle/>
          <a:p>
            <a:r>
              <a:rPr lang="en-IN" dirty="0"/>
              <a:t>University Management System</a:t>
            </a:r>
          </a:p>
        </p:txBody>
      </p:sp>
      <p:sp>
        <p:nvSpPr>
          <p:cNvPr id="3" name="Content Placeholder 2">
            <a:extLst>
              <a:ext uri="{FF2B5EF4-FFF2-40B4-BE49-F238E27FC236}">
                <a16:creationId xmlns:a16="http://schemas.microsoft.com/office/drawing/2014/main" id="{04008804-6959-4212-ABC3-72A56BD40A59}"/>
              </a:ext>
            </a:extLst>
          </p:cNvPr>
          <p:cNvSpPr>
            <a:spLocks noGrp="1"/>
          </p:cNvSpPr>
          <p:nvPr>
            <p:ph idx="1"/>
          </p:nvPr>
        </p:nvSpPr>
        <p:spPr>
          <a:xfrm>
            <a:off x="838200" y="1825625"/>
            <a:ext cx="10515600" cy="4667250"/>
          </a:xfrm>
        </p:spPr>
        <p:txBody>
          <a:bodyPr>
            <a:normAutofit/>
          </a:bodyPr>
          <a:lstStyle/>
          <a:p>
            <a:r>
              <a:rPr lang="en-IN" dirty="0"/>
              <a:t>Different College / institute are there under the university</a:t>
            </a:r>
          </a:p>
          <a:p>
            <a:r>
              <a:rPr lang="en-IN" dirty="0"/>
              <a:t>Each College has different departments that manages information related to courses</a:t>
            </a:r>
          </a:p>
          <a:p>
            <a:r>
              <a:rPr lang="en-IN" dirty="0"/>
              <a:t>Students are enrolled in a course </a:t>
            </a:r>
          </a:p>
          <a:p>
            <a:r>
              <a:rPr lang="en-IN" dirty="0"/>
              <a:t>Courses offers different subjects</a:t>
            </a:r>
          </a:p>
          <a:p>
            <a:r>
              <a:rPr lang="en-IN" dirty="0"/>
              <a:t>Faculties teaches subjects in different courses</a:t>
            </a:r>
          </a:p>
          <a:p>
            <a:r>
              <a:rPr lang="en-IN" dirty="0"/>
              <a:t>One faculty in each department is the head of that department</a:t>
            </a:r>
          </a:p>
          <a:p>
            <a:r>
              <a:rPr lang="en-IN" dirty="0"/>
              <a:t>One faculty is the director of the college / institute.</a:t>
            </a:r>
          </a:p>
          <a:p>
            <a:r>
              <a:rPr lang="en-IN" dirty="0"/>
              <a:t>Course has exam, students appear for the exam and get grades for the same</a:t>
            </a:r>
          </a:p>
        </p:txBody>
      </p:sp>
    </p:spTree>
    <p:extLst>
      <p:ext uri="{BB962C8B-B14F-4D97-AF65-F5344CB8AC3E}">
        <p14:creationId xmlns:p14="http://schemas.microsoft.com/office/powerpoint/2010/main" val="841945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41C1C-CC74-479B-89ED-DBE9377434AF}"/>
              </a:ext>
            </a:extLst>
          </p:cNvPr>
          <p:cNvSpPr>
            <a:spLocks noGrp="1"/>
          </p:cNvSpPr>
          <p:nvPr>
            <p:ph type="title"/>
          </p:nvPr>
        </p:nvSpPr>
        <p:spPr>
          <a:xfrm>
            <a:off x="548640" y="450166"/>
            <a:ext cx="11240086" cy="1240522"/>
          </a:xfrm>
        </p:spPr>
        <p:txBody>
          <a:bodyPr>
            <a:noAutofit/>
          </a:bodyPr>
          <a:lstStyle/>
          <a:p>
            <a:r>
              <a:rPr lang="en-IN" sz="3600" dirty="0"/>
              <a:t>Draw an ER Diagram for the Library Management System.</a:t>
            </a:r>
            <a:br>
              <a:rPr lang="en-IN" sz="3600" dirty="0"/>
            </a:br>
            <a:endParaRPr lang="en-IN" sz="3600" dirty="0"/>
          </a:p>
        </p:txBody>
      </p:sp>
      <p:sp>
        <p:nvSpPr>
          <p:cNvPr id="3" name="Content Placeholder 2">
            <a:extLst>
              <a:ext uri="{FF2B5EF4-FFF2-40B4-BE49-F238E27FC236}">
                <a16:creationId xmlns:a16="http://schemas.microsoft.com/office/drawing/2014/main" id="{C1D17D29-74BA-4D35-B7C8-0EDC81028A65}"/>
              </a:ext>
            </a:extLst>
          </p:cNvPr>
          <p:cNvSpPr>
            <a:spLocks noGrp="1"/>
          </p:cNvSpPr>
          <p:nvPr>
            <p:ph idx="1"/>
          </p:nvPr>
        </p:nvSpPr>
        <p:spPr/>
        <p:txBody>
          <a:bodyPr/>
          <a:lstStyle/>
          <a:p>
            <a:pPr algn="just">
              <a:lnSpc>
                <a:spcPct val="115000"/>
              </a:lnSpc>
              <a:spcAft>
                <a:spcPts val="100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In a Library different types of books are purchased for the students to refer. </a:t>
            </a:r>
          </a:p>
          <a:p>
            <a:pPr algn="just">
              <a:lnSpc>
                <a:spcPct val="115000"/>
              </a:lnSpc>
              <a:spcAft>
                <a:spcPts val="100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Books are categorized by different authors and publishers. </a:t>
            </a:r>
          </a:p>
          <a:p>
            <a:pPr algn="just">
              <a:lnSpc>
                <a:spcPct val="115000"/>
              </a:lnSpc>
              <a:spcAft>
                <a:spcPts val="100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Student registers in the library and can issue books. </a:t>
            </a:r>
          </a:p>
          <a:p>
            <a:pPr algn="just">
              <a:lnSpc>
                <a:spcPct val="115000"/>
              </a:lnSpc>
              <a:spcAft>
                <a:spcPts val="1000"/>
              </a:spcAft>
            </a:pPr>
            <a:r>
              <a:rPr lang="en-US" sz="2400" dirty="0">
                <a:effectLst/>
                <a:latin typeface="Calibri" panose="020F0502020204030204" pitchFamily="34" charset="0"/>
                <a:ea typeface="Calibri" panose="020F0502020204030204" pitchFamily="34" charset="0"/>
                <a:cs typeface="Times New Roman" panose="02020603050405020304" pitchFamily="18" charset="0"/>
              </a:rPr>
              <a:t>Librarian manages student details.</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1933498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F40D6-1BC5-46B4-A2FE-3A474739DA3E}"/>
              </a:ext>
            </a:extLst>
          </p:cNvPr>
          <p:cNvSpPr>
            <a:spLocks noGrp="1"/>
          </p:cNvSpPr>
          <p:nvPr>
            <p:ph type="title"/>
          </p:nvPr>
        </p:nvSpPr>
        <p:spPr/>
        <p:txBody>
          <a:bodyPr/>
          <a:lstStyle/>
          <a:p>
            <a:r>
              <a:rPr lang="en-IN" dirty="0"/>
              <a:t>Project Management System of an IT Company</a:t>
            </a:r>
          </a:p>
        </p:txBody>
      </p:sp>
      <p:sp>
        <p:nvSpPr>
          <p:cNvPr id="3" name="Content Placeholder 2">
            <a:extLst>
              <a:ext uri="{FF2B5EF4-FFF2-40B4-BE49-F238E27FC236}">
                <a16:creationId xmlns:a16="http://schemas.microsoft.com/office/drawing/2014/main" id="{17341D99-89E1-41AC-8E95-D0BC0526AC02}"/>
              </a:ext>
            </a:extLst>
          </p:cNvPr>
          <p:cNvSpPr>
            <a:spLocks noGrp="1"/>
          </p:cNvSpPr>
          <p:nvPr>
            <p:ph idx="1"/>
          </p:nvPr>
        </p:nvSpPr>
        <p:spPr/>
        <p:txBody>
          <a:bodyPr/>
          <a:lstStyle/>
          <a:p>
            <a:r>
              <a:rPr lang="en-IN" dirty="0"/>
              <a:t>A company handles different projects from clients</a:t>
            </a:r>
          </a:p>
          <a:p>
            <a:r>
              <a:rPr lang="en-IN" dirty="0"/>
              <a:t>Manages client information</a:t>
            </a:r>
          </a:p>
          <a:p>
            <a:r>
              <a:rPr lang="en-IN" dirty="0"/>
              <a:t>Project contains different task and duration</a:t>
            </a:r>
          </a:p>
          <a:p>
            <a:r>
              <a:rPr lang="en-IN" dirty="0"/>
              <a:t>Employee has to maintain the </a:t>
            </a:r>
            <a:r>
              <a:rPr lang="en-IN" dirty="0" err="1"/>
              <a:t>daywise</a:t>
            </a:r>
            <a:r>
              <a:rPr lang="en-IN" dirty="0"/>
              <a:t> timesheet for the </a:t>
            </a:r>
            <a:r>
              <a:rPr lang="en-IN"/>
              <a:t>task completed</a:t>
            </a:r>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14686014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2E3E1-65F1-4630-BA61-A6C9CDAC1DAE}"/>
              </a:ext>
            </a:extLst>
          </p:cNvPr>
          <p:cNvSpPr>
            <a:spLocks noGrp="1"/>
          </p:cNvSpPr>
          <p:nvPr>
            <p:ph type="title"/>
          </p:nvPr>
        </p:nvSpPr>
        <p:spPr/>
        <p:txBody>
          <a:bodyPr/>
          <a:lstStyle/>
          <a:p>
            <a:r>
              <a:rPr lang="en-IN" dirty="0"/>
              <a:t>Pharmacy Store Management</a:t>
            </a:r>
          </a:p>
        </p:txBody>
      </p:sp>
      <p:sp>
        <p:nvSpPr>
          <p:cNvPr id="3" name="Content Placeholder 2">
            <a:extLst>
              <a:ext uri="{FF2B5EF4-FFF2-40B4-BE49-F238E27FC236}">
                <a16:creationId xmlns:a16="http://schemas.microsoft.com/office/drawing/2014/main" id="{3680EADC-9CE9-4688-BF44-8F53DCAB40D2}"/>
              </a:ext>
            </a:extLst>
          </p:cNvPr>
          <p:cNvSpPr>
            <a:spLocks noGrp="1"/>
          </p:cNvSpPr>
          <p:nvPr>
            <p:ph idx="1"/>
          </p:nvPr>
        </p:nvSpPr>
        <p:spPr/>
        <p:txBody>
          <a:bodyPr/>
          <a:lstStyle/>
          <a:p>
            <a:r>
              <a:rPr lang="en-IN" dirty="0"/>
              <a:t>Store has many branches, pharmacist as an employee in it</a:t>
            </a:r>
          </a:p>
          <a:p>
            <a:r>
              <a:rPr lang="en-IN" dirty="0"/>
              <a:t>Drug manufacturing company supplies drugs at different branches</a:t>
            </a:r>
          </a:p>
          <a:p>
            <a:r>
              <a:rPr lang="en-IN" dirty="0"/>
              <a:t>Patient come with a doctor’s prescription</a:t>
            </a:r>
          </a:p>
          <a:p>
            <a:r>
              <a:rPr lang="en-IN" dirty="0"/>
              <a:t>Pharmacist sell drugs</a:t>
            </a:r>
          </a:p>
          <a:p>
            <a:r>
              <a:rPr lang="en-IN" dirty="0"/>
              <a:t>The store manages information relate to the doctor, the patient as a customer, the manufacturer and the pharmacist as an employee – branch wise</a:t>
            </a:r>
          </a:p>
        </p:txBody>
      </p:sp>
    </p:spTree>
    <p:extLst>
      <p:ext uri="{BB962C8B-B14F-4D97-AF65-F5344CB8AC3E}">
        <p14:creationId xmlns:p14="http://schemas.microsoft.com/office/powerpoint/2010/main" val="8056763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31978C5-906F-4D46-AB66-3300EB779170}"/>
              </a:ext>
            </a:extLst>
          </p:cNvPr>
          <p:cNvPicPr>
            <a:picLocks noChangeAspect="1"/>
          </p:cNvPicPr>
          <p:nvPr/>
        </p:nvPicPr>
        <p:blipFill>
          <a:blip r:embed="rId2"/>
          <a:stretch>
            <a:fillRect/>
          </a:stretch>
        </p:blipFill>
        <p:spPr>
          <a:xfrm>
            <a:off x="1769878" y="0"/>
            <a:ext cx="8652244" cy="6858000"/>
          </a:xfrm>
          <a:prstGeom prst="rect">
            <a:avLst/>
          </a:prstGeom>
        </p:spPr>
      </p:pic>
    </p:spTree>
    <p:extLst>
      <p:ext uri="{BB962C8B-B14F-4D97-AF65-F5344CB8AC3E}">
        <p14:creationId xmlns:p14="http://schemas.microsoft.com/office/powerpoint/2010/main" val="42672723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14290"/>
            <a:ext cx="8229600" cy="571504"/>
          </a:xfrm>
        </p:spPr>
        <p:txBody>
          <a:bodyPr>
            <a:normAutofit fontScale="90000"/>
          </a:bodyPr>
          <a:lstStyle/>
          <a:p>
            <a:r>
              <a:rPr lang="en-US" dirty="0"/>
              <a:t>ER Model to Relational Model</a:t>
            </a:r>
            <a:endParaRPr lang="en-IN" dirty="0"/>
          </a:p>
        </p:txBody>
      </p:sp>
      <p:sp>
        <p:nvSpPr>
          <p:cNvPr id="3" name="Content Placeholder 2"/>
          <p:cNvSpPr>
            <a:spLocks noGrp="1"/>
          </p:cNvSpPr>
          <p:nvPr>
            <p:ph idx="1"/>
          </p:nvPr>
        </p:nvSpPr>
        <p:spPr>
          <a:xfrm>
            <a:off x="900332" y="1142984"/>
            <a:ext cx="10508565" cy="5500726"/>
          </a:xfrm>
        </p:spPr>
        <p:txBody>
          <a:bodyPr/>
          <a:lstStyle/>
          <a:p>
            <a:r>
              <a:rPr lang="en-IN" dirty="0"/>
              <a:t>ER diagrams mainly comprise of − Entity and its attributes Relationship, which is association among entities.</a:t>
            </a:r>
          </a:p>
          <a:p>
            <a:pPr>
              <a:buNone/>
            </a:pPr>
            <a:r>
              <a:rPr lang="en-US" dirty="0"/>
              <a:t>STEP 1:</a:t>
            </a:r>
            <a:endParaRPr lang="en-IN" dirty="0"/>
          </a:p>
          <a:p>
            <a:r>
              <a:rPr lang="en-IN" dirty="0"/>
              <a:t>Mapping Entity Process </a:t>
            </a:r>
            <a:r>
              <a:rPr lang="en-IN" sz="2000" i="1" dirty="0"/>
              <a:t>Algorithm</a:t>
            </a:r>
          </a:p>
          <a:p>
            <a:pPr lvl="1"/>
            <a:r>
              <a:rPr lang="en-IN" dirty="0"/>
              <a:t>Create table for each entity. </a:t>
            </a:r>
          </a:p>
          <a:p>
            <a:pPr lvl="1"/>
            <a:r>
              <a:rPr lang="en-IN" dirty="0"/>
              <a:t>Entity's attributes should become fields of tables with their respective data types. </a:t>
            </a:r>
          </a:p>
          <a:p>
            <a:pPr lvl="1"/>
            <a:r>
              <a:rPr lang="en-IN" dirty="0"/>
              <a:t>Declare primary key.</a:t>
            </a:r>
          </a:p>
          <a:p>
            <a:pPr lvl="1"/>
            <a:endParaRPr lang="en-IN" dirty="0"/>
          </a:p>
          <a:p>
            <a:pPr lvl="1"/>
            <a:r>
              <a:rPr lang="en-IN" dirty="0"/>
              <a:t>Example: We create the relations EMPLOYEE, DEPARTMENT, and PROJECT in the relational schema corresponding to the regular entities in the ER diagram.</a:t>
            </a:r>
          </a:p>
          <a:p>
            <a:pPr lvl="2"/>
            <a:r>
              <a:rPr lang="en-IN" dirty="0"/>
              <a:t>SSN, DNUMBER, and PNUMBER are the primary keys for the relations EMPLOYEE, DEPARTMENT, and PROJECT as shown.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14290"/>
            <a:ext cx="8229600" cy="571504"/>
          </a:xfrm>
        </p:spPr>
        <p:txBody>
          <a:bodyPr>
            <a:normAutofit fontScale="90000"/>
          </a:bodyPr>
          <a:lstStyle/>
          <a:p>
            <a:r>
              <a:rPr lang="en-US" dirty="0"/>
              <a:t>ER Model to Relational Model</a:t>
            </a:r>
            <a:endParaRPr lang="en-IN" dirty="0"/>
          </a:p>
        </p:txBody>
      </p:sp>
      <p:sp>
        <p:nvSpPr>
          <p:cNvPr id="3" name="Content Placeholder 2"/>
          <p:cNvSpPr>
            <a:spLocks noGrp="1"/>
          </p:cNvSpPr>
          <p:nvPr>
            <p:ph idx="1"/>
          </p:nvPr>
        </p:nvSpPr>
        <p:spPr>
          <a:xfrm>
            <a:off x="745587" y="1519311"/>
            <a:ext cx="10902461" cy="4910085"/>
          </a:xfrm>
        </p:spPr>
        <p:txBody>
          <a:bodyPr>
            <a:normAutofit/>
          </a:bodyPr>
          <a:lstStyle/>
          <a:p>
            <a:pPr>
              <a:buNone/>
            </a:pPr>
            <a:r>
              <a:rPr lang="en-US" dirty="0"/>
              <a:t>STEP 2:</a:t>
            </a:r>
            <a:endParaRPr lang="en-IN" dirty="0"/>
          </a:p>
          <a:p>
            <a:r>
              <a:rPr lang="en-IN" dirty="0"/>
              <a:t>Mapping Relationship Process </a:t>
            </a:r>
            <a:r>
              <a:rPr lang="en-IN" sz="2000" i="1" dirty="0"/>
              <a:t>Algorithm</a:t>
            </a:r>
          </a:p>
          <a:p>
            <a:pPr lvl="1"/>
            <a:r>
              <a:rPr lang="en-IN" dirty="0"/>
              <a:t>Create table for a relationship if it is a </a:t>
            </a:r>
            <a:r>
              <a:rPr lang="en-IN" sz="2600" b="1" dirty="0"/>
              <a:t>n:m (many to many)relationship</a:t>
            </a:r>
            <a:r>
              <a:rPr lang="en-IN" dirty="0"/>
              <a:t>. </a:t>
            </a:r>
          </a:p>
          <a:p>
            <a:pPr lvl="1"/>
            <a:r>
              <a:rPr lang="en-IN" dirty="0"/>
              <a:t>Add the primary keys of all participating Entities as fields of table with their respective data types. </a:t>
            </a:r>
          </a:p>
          <a:p>
            <a:pPr lvl="1"/>
            <a:r>
              <a:rPr lang="en-IN" dirty="0"/>
              <a:t>If relationship has any attribute, add each attribute as field of table. </a:t>
            </a:r>
          </a:p>
          <a:p>
            <a:pPr lvl="1"/>
            <a:r>
              <a:rPr lang="en-IN" dirty="0"/>
              <a:t>Declare a primary key composing all the primary keys of participating entities. </a:t>
            </a:r>
          </a:p>
          <a:p>
            <a:pPr lvl="1"/>
            <a:r>
              <a:rPr lang="en-IN" dirty="0"/>
              <a:t>Declare all foreign key constraints.</a:t>
            </a:r>
          </a:p>
          <a:p>
            <a:pPr lvl="1"/>
            <a:endParaRPr lang="en-IN" dirty="0"/>
          </a:p>
          <a:p>
            <a:pPr lvl="1"/>
            <a:r>
              <a:rPr lang="en-IN" dirty="0"/>
              <a:t>Example: The M:N relationship type WORKS_ON from the ER  diagram is mapped by creating a relation WORKS_ON in the relational database schema.</a:t>
            </a:r>
          </a:p>
          <a:p>
            <a:pPr lvl="2"/>
            <a:r>
              <a:rPr lang="en-IN" dirty="0"/>
              <a:t>The primary keys of the PROJECT and EMPLOYEE relations are included as foreign keys in WORKS_ON and renamed PNO and ESSN, respectively. </a:t>
            </a:r>
          </a:p>
          <a:p>
            <a:pPr lvl="2"/>
            <a:r>
              <a:rPr lang="en-IN" dirty="0"/>
              <a:t>Attribute HOURS in WORKS_ON represents the HOURS attribute of the relation type. The primary key of the WORKS_ON relation is the combination of the foreign key attributes {ESSN, PNO}.</a:t>
            </a:r>
          </a:p>
          <a:p>
            <a:pPr lvl="1"/>
            <a:endParaRPr lang="en-I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er1.png"/>
          <p:cNvPicPr>
            <a:picLocks noChangeAspect="1"/>
          </p:cNvPicPr>
          <p:nvPr/>
        </p:nvPicPr>
        <p:blipFill>
          <a:blip r:embed="rId2"/>
          <a:stretch>
            <a:fillRect/>
          </a:stretch>
        </p:blipFill>
        <p:spPr>
          <a:xfrm>
            <a:off x="1809721" y="642919"/>
            <a:ext cx="7592485" cy="2981741"/>
          </a:xfrm>
          <a:prstGeom prst="rect">
            <a:avLst/>
          </a:prstGeom>
        </p:spPr>
      </p:pic>
      <p:sp>
        <p:nvSpPr>
          <p:cNvPr id="5" name="Title 1"/>
          <p:cNvSpPr>
            <a:spLocks noGrp="1"/>
          </p:cNvSpPr>
          <p:nvPr>
            <p:ph type="title"/>
          </p:nvPr>
        </p:nvSpPr>
        <p:spPr>
          <a:xfrm>
            <a:off x="2095472" y="4143380"/>
            <a:ext cx="8229600" cy="2000264"/>
          </a:xfrm>
        </p:spPr>
        <p:txBody>
          <a:bodyPr>
            <a:normAutofit/>
          </a:bodyPr>
          <a:lstStyle/>
          <a:p>
            <a:r>
              <a:rPr lang="en-US" dirty="0"/>
              <a:t>Create a table for Enrolled with fields:</a:t>
            </a:r>
            <a:br>
              <a:rPr lang="en-US" dirty="0"/>
            </a:br>
            <a:r>
              <a:rPr lang="en-US" dirty="0"/>
              <a:t>(</a:t>
            </a:r>
            <a:r>
              <a:rPr lang="en-US" dirty="0" err="1"/>
              <a:t>Roll_No</a:t>
            </a:r>
            <a:r>
              <a:rPr lang="en-US" dirty="0"/>
              <a:t>, CID, Marks, </a:t>
            </a:r>
            <a:r>
              <a:rPr lang="en-US" dirty="0" err="1"/>
              <a:t>JoiningDate</a:t>
            </a:r>
            <a:r>
              <a:rPr lang="en-US" dirty="0"/>
              <a:t>)</a:t>
            </a:r>
            <a:endParaRPr lang="en-IN"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3D3E0-FE55-41A7-8B14-2742DB66177F}"/>
              </a:ext>
            </a:extLst>
          </p:cNvPr>
          <p:cNvSpPr>
            <a:spLocks noGrp="1"/>
          </p:cNvSpPr>
          <p:nvPr>
            <p:ph type="title"/>
          </p:nvPr>
        </p:nvSpPr>
        <p:spPr/>
        <p:txBody>
          <a:bodyPr/>
          <a:lstStyle/>
          <a:p>
            <a:r>
              <a:rPr lang="en-IN" dirty="0"/>
              <a:t>Mapping Relationship type</a:t>
            </a:r>
          </a:p>
        </p:txBody>
      </p:sp>
      <p:sp>
        <p:nvSpPr>
          <p:cNvPr id="3" name="Content Placeholder 2">
            <a:extLst>
              <a:ext uri="{FF2B5EF4-FFF2-40B4-BE49-F238E27FC236}">
                <a16:creationId xmlns:a16="http://schemas.microsoft.com/office/drawing/2014/main" id="{4F283643-62AD-4EE4-BF39-09E1BE4288CD}"/>
              </a:ext>
            </a:extLst>
          </p:cNvPr>
          <p:cNvSpPr>
            <a:spLocks noGrp="1"/>
          </p:cNvSpPr>
          <p:nvPr>
            <p:ph idx="1"/>
          </p:nvPr>
        </p:nvSpPr>
        <p:spPr>
          <a:xfrm>
            <a:off x="838200" y="1825625"/>
            <a:ext cx="10515600" cy="4786190"/>
          </a:xfrm>
        </p:spPr>
        <p:txBody>
          <a:bodyPr>
            <a:normAutofit lnSpcReduction="10000"/>
          </a:bodyPr>
          <a:lstStyle/>
          <a:p>
            <a:r>
              <a:rPr lang="en-IN" sz="3400" b="1" dirty="0"/>
              <a:t>Mapping of Binary 1:1 Relation Types</a:t>
            </a:r>
          </a:p>
          <a:p>
            <a:r>
              <a:rPr lang="en-IN" dirty="0"/>
              <a:t>For each binary 1:1 relationship type R in the ER schema, identify the relations S and T that correspond to the entity types participating in R.</a:t>
            </a:r>
          </a:p>
          <a:p>
            <a:r>
              <a:rPr lang="en-IN" dirty="0"/>
              <a:t>There are three possible approaches:</a:t>
            </a:r>
          </a:p>
          <a:p>
            <a:pPr marL="514350" indent="-514350">
              <a:buFont typeface="+mj-lt"/>
              <a:buAutoNum type="arabicPeriod"/>
            </a:pPr>
            <a:r>
              <a:rPr lang="en-IN" b="1" u="sng" dirty="0"/>
              <a:t>Foreign Key approach:</a:t>
            </a:r>
            <a:r>
              <a:rPr lang="en-IN" dirty="0"/>
              <a:t> Choose one of the relations-say S-and include a foreign key in S the primary key of T. It is better to choose an entity type with total participation in R in the role of S. </a:t>
            </a:r>
          </a:p>
          <a:p>
            <a:pPr lvl="1"/>
            <a:r>
              <a:rPr lang="en-IN" dirty="0"/>
              <a:t>Example: 1:1 relation MANAGES is mapped by choosing the participating entity type DEPARTMENT to serve in the role of S, because its participation in the MANAGES relationship type is total.</a:t>
            </a:r>
          </a:p>
          <a:p>
            <a:pPr marL="514350" indent="-514350">
              <a:buFont typeface="+mj-lt"/>
              <a:buAutoNum type="arabicPeriod"/>
            </a:pPr>
            <a:r>
              <a:rPr lang="en-IN" b="1" u="sng" dirty="0"/>
              <a:t>Merged relation option</a:t>
            </a:r>
            <a:r>
              <a:rPr lang="en-IN" dirty="0"/>
              <a:t>: An alternate mapping of a 1:1 relationship type is possible by merging the two entity types and the relationship into a single relation. This may be appropriate when both participations are total.</a:t>
            </a:r>
          </a:p>
          <a:p>
            <a:pPr marL="514350" indent="-514350">
              <a:buFont typeface="+mj-lt"/>
              <a:buAutoNum type="arabicPeriod"/>
            </a:pPr>
            <a:r>
              <a:rPr lang="en-IN" b="1" u="sng" dirty="0"/>
              <a:t>Cross-reference or relationship relation option: </a:t>
            </a:r>
            <a:r>
              <a:rPr lang="en-IN" dirty="0"/>
              <a:t>The third alternative is to set up a third relation R for the purpose of cross-referencing the primary keys of the two relations S and T representing the entity types.</a:t>
            </a:r>
          </a:p>
          <a:p>
            <a:endParaRPr lang="en-IN" dirty="0"/>
          </a:p>
        </p:txBody>
      </p:sp>
    </p:spTree>
    <p:extLst>
      <p:ext uri="{BB962C8B-B14F-4D97-AF65-F5344CB8AC3E}">
        <p14:creationId xmlns:p14="http://schemas.microsoft.com/office/powerpoint/2010/main" val="16569209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EBCF3-7FBB-46B2-A35F-D7B2A1370930}"/>
              </a:ext>
            </a:extLst>
          </p:cNvPr>
          <p:cNvSpPr>
            <a:spLocks noGrp="1"/>
          </p:cNvSpPr>
          <p:nvPr>
            <p:ph type="title"/>
          </p:nvPr>
        </p:nvSpPr>
        <p:spPr/>
        <p:txBody>
          <a:bodyPr/>
          <a:lstStyle/>
          <a:p>
            <a:r>
              <a:rPr lang="en-IN" dirty="0"/>
              <a:t>Mapping Relationship type</a:t>
            </a:r>
          </a:p>
        </p:txBody>
      </p:sp>
      <p:sp>
        <p:nvSpPr>
          <p:cNvPr id="3" name="Content Placeholder 2">
            <a:extLst>
              <a:ext uri="{FF2B5EF4-FFF2-40B4-BE49-F238E27FC236}">
                <a16:creationId xmlns:a16="http://schemas.microsoft.com/office/drawing/2014/main" id="{2C45739F-01DD-46CB-B63E-B647E9BA7564}"/>
              </a:ext>
            </a:extLst>
          </p:cNvPr>
          <p:cNvSpPr>
            <a:spLocks noGrp="1"/>
          </p:cNvSpPr>
          <p:nvPr>
            <p:ph idx="1"/>
          </p:nvPr>
        </p:nvSpPr>
        <p:spPr/>
        <p:txBody>
          <a:bodyPr>
            <a:normAutofit/>
          </a:bodyPr>
          <a:lstStyle/>
          <a:p>
            <a:r>
              <a:rPr lang="en-US" altLang="en-US" sz="2800" b="1" dirty="0"/>
              <a:t>Mapping of 1 : N Relationship</a:t>
            </a:r>
          </a:p>
          <a:p>
            <a:r>
              <a:rPr lang="en-IN" dirty="0"/>
              <a:t>For each regular binary 1:N relationship type R, identify the relation S that represent the participating entity type at the N-side of the relationship type. </a:t>
            </a:r>
          </a:p>
          <a:p>
            <a:r>
              <a:rPr lang="en-IN" dirty="0"/>
              <a:t>Include as foreign key in S the primary key of the relation T that represents the other entity type participating in R. </a:t>
            </a:r>
          </a:p>
          <a:p>
            <a:r>
              <a:rPr lang="en-IN" dirty="0"/>
              <a:t>Include any simple attributes of the 1:N relation type as attributes of S. </a:t>
            </a:r>
          </a:p>
          <a:p>
            <a:pPr lvl="1"/>
            <a:r>
              <a:rPr lang="en-IN" dirty="0"/>
              <a:t>Example: 1:N relationship types WORKS_FOR, CONTROLS, and SUPERVISION in the figure.</a:t>
            </a:r>
          </a:p>
          <a:p>
            <a:pPr lvl="1"/>
            <a:r>
              <a:rPr lang="en-IN" dirty="0"/>
              <a:t>For WORKS_FOR we include the primary key DNUMBER of the DEPARTMENT relation as foreign key in the EMPLOYEE relation and call it DNO. </a:t>
            </a:r>
          </a:p>
          <a:p>
            <a:endParaRPr lang="en-IN" dirty="0"/>
          </a:p>
        </p:txBody>
      </p:sp>
    </p:spTree>
    <p:extLst>
      <p:ext uri="{BB962C8B-B14F-4D97-AF65-F5344CB8AC3E}">
        <p14:creationId xmlns:p14="http://schemas.microsoft.com/office/powerpoint/2010/main" val="15097729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2FAB7-BB4F-4BCD-A901-6734C847F4F2}"/>
              </a:ext>
            </a:extLst>
          </p:cNvPr>
          <p:cNvSpPr>
            <a:spLocks noGrp="1"/>
          </p:cNvSpPr>
          <p:nvPr>
            <p:ph type="title"/>
          </p:nvPr>
        </p:nvSpPr>
        <p:spPr/>
        <p:txBody>
          <a:bodyPr/>
          <a:lstStyle/>
          <a:p>
            <a:r>
              <a:rPr lang="en-IN" dirty="0"/>
              <a:t>Mapping Relationship type</a:t>
            </a:r>
          </a:p>
        </p:txBody>
      </p:sp>
      <p:sp>
        <p:nvSpPr>
          <p:cNvPr id="3" name="Content Placeholder 2">
            <a:extLst>
              <a:ext uri="{FF2B5EF4-FFF2-40B4-BE49-F238E27FC236}">
                <a16:creationId xmlns:a16="http://schemas.microsoft.com/office/drawing/2014/main" id="{7DCF5F2B-6AAA-4CE5-BD6C-380E38ED8740}"/>
              </a:ext>
            </a:extLst>
          </p:cNvPr>
          <p:cNvSpPr>
            <a:spLocks noGrp="1"/>
          </p:cNvSpPr>
          <p:nvPr>
            <p:ph idx="1"/>
          </p:nvPr>
        </p:nvSpPr>
        <p:spPr/>
        <p:txBody>
          <a:bodyPr>
            <a:normAutofit fontScale="92500" lnSpcReduction="20000"/>
          </a:bodyPr>
          <a:lstStyle/>
          <a:p>
            <a:pPr eaLnBrk="1" hangingPunct="1">
              <a:lnSpc>
                <a:spcPct val="90000"/>
              </a:lnSpc>
            </a:pPr>
            <a:r>
              <a:rPr lang="en-US" altLang="en-US" sz="2400" b="1" dirty="0"/>
              <a:t>Mapping of N-</a:t>
            </a:r>
            <a:r>
              <a:rPr lang="en-US" altLang="en-US" sz="2400" b="1" dirty="0" err="1"/>
              <a:t>ary</a:t>
            </a:r>
            <a:r>
              <a:rPr lang="en-US" altLang="en-US" sz="2400" b="1" dirty="0"/>
              <a:t> Relationship.</a:t>
            </a:r>
            <a:endParaRPr lang="en-US" altLang="en-US" sz="2400" dirty="0"/>
          </a:p>
          <a:p>
            <a:pPr lvl="1" eaLnBrk="1" hangingPunct="1">
              <a:lnSpc>
                <a:spcPct val="90000"/>
              </a:lnSpc>
            </a:pPr>
            <a:r>
              <a:rPr lang="en-US" altLang="en-US" sz="2200" dirty="0"/>
              <a:t>For each n-</a:t>
            </a:r>
            <a:r>
              <a:rPr lang="en-US" altLang="en-US" sz="2200" dirty="0" err="1"/>
              <a:t>ary</a:t>
            </a:r>
            <a:r>
              <a:rPr lang="en-US" altLang="en-US" sz="2200" dirty="0"/>
              <a:t> relationship type R, where n&gt;2, create a new relationship S to represent R.</a:t>
            </a:r>
          </a:p>
          <a:p>
            <a:pPr lvl="1" eaLnBrk="1" hangingPunct="1">
              <a:lnSpc>
                <a:spcPct val="90000"/>
              </a:lnSpc>
            </a:pPr>
            <a:r>
              <a:rPr lang="en-US" altLang="en-US" sz="2200" dirty="0"/>
              <a:t>Include as foreign key attributes in S the primary keys of the relations that represent the participating entity types. </a:t>
            </a:r>
          </a:p>
          <a:p>
            <a:pPr lvl="1" eaLnBrk="1" hangingPunct="1">
              <a:lnSpc>
                <a:spcPct val="90000"/>
              </a:lnSpc>
            </a:pPr>
            <a:r>
              <a:rPr lang="en-US" altLang="en-US" sz="2200" dirty="0"/>
              <a:t>Also include any simple attributes of the n-</a:t>
            </a:r>
            <a:r>
              <a:rPr lang="en-US" altLang="en-US" sz="2200" dirty="0" err="1"/>
              <a:t>ary</a:t>
            </a:r>
            <a:r>
              <a:rPr lang="en-US" altLang="en-US" sz="2200" dirty="0"/>
              <a:t> relationship type (or simple components of composite attributes) as attributes of S.</a:t>
            </a:r>
            <a:r>
              <a:rPr lang="en-US" altLang="en-US" sz="1700" dirty="0"/>
              <a:t> </a:t>
            </a:r>
          </a:p>
          <a:p>
            <a:pPr lvl="1" eaLnBrk="1" hangingPunct="1">
              <a:lnSpc>
                <a:spcPct val="90000"/>
              </a:lnSpc>
            </a:pPr>
            <a:endParaRPr lang="en-US" altLang="en-US" sz="1700" dirty="0"/>
          </a:p>
          <a:p>
            <a:pPr eaLnBrk="1" hangingPunct="1">
              <a:lnSpc>
                <a:spcPct val="90000"/>
              </a:lnSpc>
            </a:pPr>
            <a:r>
              <a:rPr lang="en-US" altLang="en-US" sz="2400" b="1" dirty="0"/>
              <a:t>Example: </a:t>
            </a:r>
            <a:r>
              <a:rPr lang="en-US" altLang="en-US" sz="2400" dirty="0"/>
              <a:t>The relationship type SUPPY in the ER on the next slide.</a:t>
            </a:r>
          </a:p>
          <a:p>
            <a:pPr lvl="1" eaLnBrk="1" hangingPunct="1">
              <a:lnSpc>
                <a:spcPct val="90000"/>
              </a:lnSpc>
            </a:pPr>
            <a:r>
              <a:rPr lang="en-US" altLang="en-US" sz="2000" dirty="0"/>
              <a:t>This can be mapped to the relation SUPPLY shown in the relational schema, whose primary key is the combination of the three foreign keys {SNAME, PARTNO, PROJNAME}</a:t>
            </a:r>
            <a:endParaRPr lang="en-US" altLang="en-US" sz="2200" b="1" dirty="0">
              <a:solidFill>
                <a:srgbClr val="FF0066"/>
              </a:solidFill>
            </a:endParaRPr>
          </a:p>
          <a:p>
            <a:endParaRPr lang="en-IN" dirty="0"/>
          </a:p>
        </p:txBody>
      </p:sp>
    </p:spTree>
    <p:extLst>
      <p:ext uri="{BB962C8B-B14F-4D97-AF65-F5344CB8AC3E}">
        <p14:creationId xmlns:p14="http://schemas.microsoft.com/office/powerpoint/2010/main" val="27583677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3">
            <a:extLst>
              <a:ext uri="{FF2B5EF4-FFF2-40B4-BE49-F238E27FC236}">
                <a16:creationId xmlns:a16="http://schemas.microsoft.com/office/drawing/2014/main" id="{52650958-CBEA-4622-849A-D2CDE06030D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n-US" altLang="en-US" sz="1400">
                <a:solidFill>
                  <a:srgbClr val="990033"/>
                </a:solidFill>
              </a:rPr>
              <a:t>Slide 7- </a:t>
            </a:r>
            <a:fld id="{747AA1A8-964B-4264-B922-D0458755D15E}" type="slidenum">
              <a:rPr lang="en-US" altLang="en-US" sz="1400">
                <a:solidFill>
                  <a:srgbClr val="990033"/>
                </a:solidFill>
              </a:rPr>
              <a:pPr eaLnBrk="1" hangingPunct="1"/>
              <a:t>37</a:t>
            </a:fld>
            <a:endParaRPr lang="en-CA" altLang="en-US" sz="1400">
              <a:solidFill>
                <a:srgbClr val="990033"/>
              </a:solidFill>
            </a:endParaRPr>
          </a:p>
        </p:txBody>
      </p:sp>
      <p:sp>
        <p:nvSpPr>
          <p:cNvPr id="14339" name="Rectangle 2">
            <a:extLst>
              <a:ext uri="{FF2B5EF4-FFF2-40B4-BE49-F238E27FC236}">
                <a16:creationId xmlns:a16="http://schemas.microsoft.com/office/drawing/2014/main" id="{BF594BDB-5255-42DD-B4F8-9BFD06261E26}"/>
              </a:ext>
            </a:extLst>
          </p:cNvPr>
          <p:cNvSpPr>
            <a:spLocks noGrp="1" noChangeArrowheads="1"/>
          </p:cNvSpPr>
          <p:nvPr>
            <p:ph type="title"/>
          </p:nvPr>
        </p:nvSpPr>
        <p:spPr>
          <a:xfrm>
            <a:off x="2057400" y="304801"/>
            <a:ext cx="7924800" cy="1439863"/>
          </a:xfrm>
        </p:spPr>
        <p:txBody>
          <a:bodyPr anchor="t"/>
          <a:lstStyle/>
          <a:p>
            <a:pPr eaLnBrk="1" hangingPunct="1"/>
            <a:r>
              <a:rPr lang="en-US" altLang="en-US" sz="1800" b="1"/>
              <a:t>FIGURE 4.11</a:t>
            </a:r>
            <a:br>
              <a:rPr lang="en-US" altLang="en-US" sz="1800"/>
            </a:br>
            <a:r>
              <a:rPr lang="en-US" altLang="en-US" sz="1800"/>
              <a:t>Ternary relationship types. (a) The SUPPLY relationship. </a:t>
            </a:r>
            <a:endParaRPr lang="en-US" altLang="en-US"/>
          </a:p>
        </p:txBody>
      </p:sp>
      <p:pic>
        <p:nvPicPr>
          <p:cNvPr id="14340" name="Picture 3">
            <a:extLst>
              <a:ext uri="{FF2B5EF4-FFF2-40B4-BE49-F238E27FC236}">
                <a16:creationId xmlns:a16="http://schemas.microsoft.com/office/drawing/2014/main" id="{F90FC534-A1BE-4E31-A547-60954C9D394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209800" y="1911350"/>
            <a:ext cx="7772400" cy="2654300"/>
          </a:xfr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a:extLst>
              <a:ext uri="{FF2B5EF4-FFF2-40B4-BE49-F238E27FC236}">
                <a16:creationId xmlns:a16="http://schemas.microsoft.com/office/drawing/2014/main" id="{B848ADAD-270B-45B8-A55A-63687305A60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n-US" altLang="en-US" sz="1400">
                <a:solidFill>
                  <a:srgbClr val="990033"/>
                </a:solidFill>
              </a:rPr>
              <a:t>Slide 7- </a:t>
            </a:r>
            <a:fld id="{07A8156A-7131-4C26-A044-C0BA1CCCF7E7}" type="slidenum">
              <a:rPr lang="en-US" altLang="en-US" sz="1400">
                <a:solidFill>
                  <a:srgbClr val="990033"/>
                </a:solidFill>
              </a:rPr>
              <a:pPr eaLnBrk="1" hangingPunct="1"/>
              <a:t>38</a:t>
            </a:fld>
            <a:endParaRPr lang="en-CA" altLang="en-US" sz="1400">
              <a:solidFill>
                <a:srgbClr val="990033"/>
              </a:solidFill>
            </a:endParaRPr>
          </a:p>
        </p:txBody>
      </p:sp>
      <p:sp>
        <p:nvSpPr>
          <p:cNvPr id="15363" name="Rectangle 2">
            <a:extLst>
              <a:ext uri="{FF2B5EF4-FFF2-40B4-BE49-F238E27FC236}">
                <a16:creationId xmlns:a16="http://schemas.microsoft.com/office/drawing/2014/main" id="{7D0C89AD-CA37-4E19-B559-7EFD41BFD30C}"/>
              </a:ext>
            </a:extLst>
          </p:cNvPr>
          <p:cNvSpPr>
            <a:spLocks noGrp="1" noChangeArrowheads="1"/>
          </p:cNvSpPr>
          <p:nvPr>
            <p:ph type="title"/>
          </p:nvPr>
        </p:nvSpPr>
        <p:spPr>
          <a:xfrm>
            <a:off x="2016126" y="304800"/>
            <a:ext cx="7173913" cy="1143000"/>
          </a:xfrm>
        </p:spPr>
        <p:txBody>
          <a:bodyPr anchor="t"/>
          <a:lstStyle/>
          <a:p>
            <a:pPr eaLnBrk="1" hangingPunct="1"/>
            <a:r>
              <a:rPr lang="en-US" altLang="en-US" sz="1800" b="1"/>
              <a:t>FIGURE 7.3</a:t>
            </a:r>
            <a:br>
              <a:rPr lang="en-US" altLang="en-US" sz="1800" b="1"/>
            </a:br>
            <a:r>
              <a:rPr lang="en-US" altLang="en-US" sz="1800"/>
              <a:t>Mapping the </a:t>
            </a:r>
            <a:r>
              <a:rPr lang="en-US" altLang="en-US" sz="1800" i="1"/>
              <a:t>n</a:t>
            </a:r>
            <a:r>
              <a:rPr lang="en-US" altLang="en-US" sz="1800"/>
              <a:t>-ary relationship type SUPPLY from Figure 4.11a.</a:t>
            </a:r>
            <a:endParaRPr lang="en-US" altLang="en-US" b="1"/>
          </a:p>
        </p:txBody>
      </p:sp>
      <p:pic>
        <p:nvPicPr>
          <p:cNvPr id="15364" name="Picture 3">
            <a:extLst>
              <a:ext uri="{FF2B5EF4-FFF2-40B4-BE49-F238E27FC236}">
                <a16:creationId xmlns:a16="http://schemas.microsoft.com/office/drawing/2014/main" id="{39923134-7E75-47A9-A080-36A84D56F27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3000376" y="1752600"/>
            <a:ext cx="6189663" cy="4114800"/>
          </a:xfr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14290"/>
            <a:ext cx="8229600" cy="571504"/>
          </a:xfrm>
        </p:spPr>
        <p:txBody>
          <a:bodyPr>
            <a:normAutofit fontScale="90000"/>
          </a:bodyPr>
          <a:lstStyle/>
          <a:p>
            <a:r>
              <a:rPr lang="en-US" dirty="0"/>
              <a:t>ER Model to Relational Model (Cont…)</a:t>
            </a:r>
            <a:endParaRPr lang="en-IN" dirty="0"/>
          </a:p>
        </p:txBody>
      </p:sp>
      <p:sp>
        <p:nvSpPr>
          <p:cNvPr id="3" name="Content Placeholder 2"/>
          <p:cNvSpPr>
            <a:spLocks noGrp="1"/>
          </p:cNvSpPr>
          <p:nvPr>
            <p:ph idx="1"/>
          </p:nvPr>
        </p:nvSpPr>
        <p:spPr>
          <a:xfrm>
            <a:off x="858129" y="1026942"/>
            <a:ext cx="10789920" cy="5402454"/>
          </a:xfrm>
        </p:spPr>
        <p:txBody>
          <a:bodyPr/>
          <a:lstStyle/>
          <a:p>
            <a:pPr>
              <a:buNone/>
            </a:pPr>
            <a:r>
              <a:rPr lang="en-US" dirty="0"/>
              <a:t>STEP 3:</a:t>
            </a:r>
            <a:endParaRPr lang="en-IN" dirty="0"/>
          </a:p>
          <a:p>
            <a:r>
              <a:rPr lang="en-IN" dirty="0"/>
              <a:t>Mapping Weak Entity Sets Process </a:t>
            </a:r>
            <a:r>
              <a:rPr lang="en-IN" sz="2000" i="1" dirty="0"/>
              <a:t>Algorithm</a:t>
            </a:r>
          </a:p>
          <a:p>
            <a:pPr lvl="1"/>
            <a:r>
              <a:rPr lang="en-IN" dirty="0"/>
              <a:t>Create table for weak entity set. </a:t>
            </a:r>
          </a:p>
          <a:p>
            <a:pPr lvl="1"/>
            <a:r>
              <a:rPr lang="en-IN" dirty="0"/>
              <a:t>Add all its attributes to table as field. </a:t>
            </a:r>
          </a:p>
          <a:p>
            <a:pPr lvl="1"/>
            <a:r>
              <a:rPr lang="en-IN" dirty="0"/>
              <a:t>Add the primary key of identifying entity set.</a:t>
            </a:r>
          </a:p>
          <a:p>
            <a:pPr lvl="1"/>
            <a:r>
              <a:rPr lang="en-IN" dirty="0"/>
              <a:t>Declare all foreign key constraints.</a:t>
            </a:r>
          </a:p>
        </p:txBody>
      </p:sp>
      <p:pic>
        <p:nvPicPr>
          <p:cNvPr id="8" name="Picture 7">
            <a:extLst>
              <a:ext uri="{FF2B5EF4-FFF2-40B4-BE49-F238E27FC236}">
                <a16:creationId xmlns:a16="http://schemas.microsoft.com/office/drawing/2014/main" id="{50BA28E8-1A63-4C27-A8AF-E41AD0B3C90E}"/>
              </a:ext>
            </a:extLst>
          </p:cNvPr>
          <p:cNvPicPr>
            <a:picLocks noChangeAspect="1"/>
          </p:cNvPicPr>
          <p:nvPr/>
        </p:nvPicPr>
        <p:blipFill>
          <a:blip r:embed="rId2"/>
          <a:stretch>
            <a:fillRect/>
          </a:stretch>
        </p:blipFill>
        <p:spPr>
          <a:xfrm>
            <a:off x="2628900" y="3974782"/>
            <a:ext cx="6934200" cy="220027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a:extLst>
              <a:ext uri="{FF2B5EF4-FFF2-40B4-BE49-F238E27FC236}">
                <a16:creationId xmlns:a16="http://schemas.microsoft.com/office/drawing/2014/main" id="{5690D9F4-0D9C-41C0-9673-53FDCD78A131}"/>
              </a:ext>
            </a:extLst>
          </p:cNvPr>
          <p:cNvSpPr>
            <a:spLocks noGrp="1" noChangeArrowheads="1"/>
          </p:cNvSpPr>
          <p:nvPr>
            <p:ph type="title"/>
          </p:nvPr>
        </p:nvSpPr>
        <p:spPr>
          <a:xfrm>
            <a:off x="2209800" y="258763"/>
            <a:ext cx="7772400" cy="766762"/>
          </a:xfrm>
        </p:spPr>
        <p:txBody>
          <a:bodyPr>
            <a:normAutofit fontScale="90000"/>
          </a:bodyPr>
          <a:lstStyle/>
          <a:p>
            <a:pPr eaLnBrk="1" hangingPunct="1"/>
            <a:br>
              <a:rPr lang="en-US" altLang="en-US" sz="2800" b="1"/>
            </a:br>
            <a:r>
              <a:rPr lang="en-US" altLang="en-US" sz="2800" b="1"/>
              <a:t>ER-to-Relational Mapping Algorithm (contd.)</a:t>
            </a:r>
            <a:endParaRPr lang="en-US" altLang="en-US" sz="2800"/>
          </a:p>
        </p:txBody>
      </p:sp>
      <p:sp>
        <p:nvSpPr>
          <p:cNvPr id="12292" name="Rectangle 3">
            <a:extLst>
              <a:ext uri="{FF2B5EF4-FFF2-40B4-BE49-F238E27FC236}">
                <a16:creationId xmlns:a16="http://schemas.microsoft.com/office/drawing/2014/main" id="{563A0F18-64D2-4C98-949B-6CF28B45C943}"/>
              </a:ext>
            </a:extLst>
          </p:cNvPr>
          <p:cNvSpPr>
            <a:spLocks noGrp="1" noChangeArrowheads="1"/>
          </p:cNvSpPr>
          <p:nvPr>
            <p:ph type="body" idx="1"/>
          </p:nvPr>
        </p:nvSpPr>
        <p:spPr>
          <a:xfrm>
            <a:off x="675249" y="1463040"/>
            <a:ext cx="11268222" cy="4928235"/>
          </a:xfrm>
        </p:spPr>
        <p:txBody>
          <a:bodyPr>
            <a:normAutofit/>
          </a:bodyPr>
          <a:lstStyle/>
          <a:p>
            <a:pPr eaLnBrk="1" hangingPunct="1">
              <a:lnSpc>
                <a:spcPct val="90000"/>
              </a:lnSpc>
            </a:pPr>
            <a:r>
              <a:rPr lang="en-US" altLang="en-US" b="1" dirty="0"/>
              <a:t>Step 4: Mapping of Multivalued attributes.</a:t>
            </a:r>
          </a:p>
          <a:p>
            <a:pPr lvl="1" eaLnBrk="1" hangingPunct="1">
              <a:lnSpc>
                <a:spcPct val="90000"/>
              </a:lnSpc>
            </a:pPr>
            <a:r>
              <a:rPr lang="en-US" altLang="en-US" dirty="0"/>
              <a:t>For each multivalued attribute A, create a new relation R. </a:t>
            </a:r>
          </a:p>
          <a:p>
            <a:pPr lvl="1" eaLnBrk="1" hangingPunct="1">
              <a:lnSpc>
                <a:spcPct val="90000"/>
              </a:lnSpc>
            </a:pPr>
            <a:r>
              <a:rPr lang="en-US" altLang="en-US" dirty="0"/>
              <a:t>This relation R will include an attribute corresponding to A, plus the primary key attribute K-as a foreign key in R-of the relation that represents the entity type of relationship type that has A as an attribute. </a:t>
            </a:r>
          </a:p>
          <a:p>
            <a:pPr lvl="1" eaLnBrk="1" hangingPunct="1">
              <a:lnSpc>
                <a:spcPct val="90000"/>
              </a:lnSpc>
            </a:pPr>
            <a:r>
              <a:rPr lang="en-US" altLang="en-US" dirty="0"/>
              <a:t>The primary key of R is the combination of A and K. If the multivalued attribute is composite, we include its simple components.</a:t>
            </a:r>
          </a:p>
          <a:p>
            <a:pPr marL="457200" lvl="1" indent="0" eaLnBrk="1" hangingPunct="1">
              <a:lnSpc>
                <a:spcPct val="90000"/>
              </a:lnSpc>
              <a:buNone/>
            </a:pPr>
            <a:endParaRPr lang="en-US" altLang="en-US" dirty="0"/>
          </a:p>
          <a:p>
            <a:pPr eaLnBrk="1" hangingPunct="1">
              <a:lnSpc>
                <a:spcPct val="90000"/>
              </a:lnSpc>
            </a:pPr>
            <a:r>
              <a:rPr lang="en-US" altLang="en-US" b="1" dirty="0"/>
              <a:t>Example:</a:t>
            </a:r>
            <a:r>
              <a:rPr lang="en-US" altLang="en-US" dirty="0"/>
              <a:t> The relation DEPT_LOCATIONS is created. </a:t>
            </a:r>
          </a:p>
          <a:p>
            <a:pPr lvl="1" eaLnBrk="1" hangingPunct="1">
              <a:lnSpc>
                <a:spcPct val="90000"/>
              </a:lnSpc>
            </a:pPr>
            <a:r>
              <a:rPr lang="en-US" altLang="en-US" dirty="0"/>
              <a:t>The attribute DLOCATION represents the multivalued attribute LOCATIONS of DEPARTMENT, while DNUMBER-as foreign key-represents the primary key of the DEPARTMENT relation.</a:t>
            </a:r>
          </a:p>
          <a:p>
            <a:pPr lvl="1" eaLnBrk="1" hangingPunct="1">
              <a:lnSpc>
                <a:spcPct val="90000"/>
              </a:lnSpc>
            </a:pPr>
            <a:r>
              <a:rPr lang="en-US" altLang="en-US" dirty="0"/>
              <a:t>The primary key of R is the combination of {DNUMBER, DLOCATION}.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468" y="154745"/>
            <a:ext cx="2365717" cy="785794"/>
          </a:xfrm>
        </p:spPr>
        <p:txBody>
          <a:bodyPr>
            <a:normAutofit/>
          </a:bodyPr>
          <a:lstStyle/>
          <a:p>
            <a:r>
              <a:rPr lang="en-US" dirty="0"/>
              <a:t>Example</a:t>
            </a:r>
            <a:endParaRPr lang="en-IN" dirty="0"/>
          </a:p>
        </p:txBody>
      </p:sp>
      <p:pic>
        <p:nvPicPr>
          <p:cNvPr id="4" name="Picture 4" descr="fig03_02"/>
          <p:cNvPicPr>
            <a:picLocks noChangeAspect="1" noChangeArrowheads="1"/>
          </p:cNvPicPr>
          <p:nvPr/>
        </p:nvPicPr>
        <p:blipFill>
          <a:blip r:embed="rId2"/>
          <a:srcRect/>
          <a:stretch>
            <a:fillRect/>
          </a:stretch>
        </p:blipFill>
        <p:spPr bwMode="auto">
          <a:xfrm>
            <a:off x="2881290" y="267286"/>
            <a:ext cx="6938253" cy="6590714"/>
          </a:xfrm>
          <a:prstGeom prst="rect">
            <a:avLst/>
          </a:prstGeom>
          <a:noFill/>
          <a:ln w="9525">
            <a:noFill/>
            <a:miter lim="800000"/>
            <a:headEnd/>
            <a:tailEnd/>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a:extLst>
              <a:ext uri="{FF2B5EF4-FFF2-40B4-BE49-F238E27FC236}">
                <a16:creationId xmlns:a16="http://schemas.microsoft.com/office/drawing/2014/main" id="{C23B2348-39FF-4887-848A-A982003EDEE8}"/>
              </a:ext>
            </a:extLst>
          </p:cNvPr>
          <p:cNvSpPr>
            <a:spLocks noGrp="1" noChangeArrowheads="1"/>
          </p:cNvSpPr>
          <p:nvPr>
            <p:ph type="title"/>
          </p:nvPr>
        </p:nvSpPr>
        <p:spPr/>
        <p:txBody>
          <a:bodyPr anchor="t"/>
          <a:lstStyle/>
          <a:p>
            <a:pPr eaLnBrk="1" hangingPunct="1"/>
            <a:r>
              <a:rPr lang="en-US" altLang="en-US" sz="1800" b="1"/>
              <a:t>FIGURE 7.2</a:t>
            </a:r>
            <a:br>
              <a:rPr lang="en-US" altLang="en-US" sz="1800" b="1"/>
            </a:br>
            <a:r>
              <a:rPr lang="en-US" altLang="en-US" sz="1800"/>
              <a:t>Result of mapping the COMPANY ER schema into a relational schema.</a:t>
            </a:r>
            <a:endParaRPr lang="en-US" altLang="en-US" b="1"/>
          </a:p>
        </p:txBody>
      </p:sp>
      <p:pic>
        <p:nvPicPr>
          <p:cNvPr id="7172" name="Picture 4" descr="fig07_02">
            <a:extLst>
              <a:ext uri="{FF2B5EF4-FFF2-40B4-BE49-F238E27FC236}">
                <a16:creationId xmlns:a16="http://schemas.microsoft.com/office/drawing/2014/main" id="{CB254774-CA59-4853-8289-28BDA15CF8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1" y="1600201"/>
            <a:ext cx="7369175" cy="472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14717"/>
            <a:ext cx="2298700" cy="571504"/>
          </a:xfrm>
        </p:spPr>
        <p:txBody>
          <a:bodyPr>
            <a:normAutofit fontScale="90000"/>
          </a:bodyPr>
          <a:lstStyle/>
          <a:p>
            <a:r>
              <a:rPr lang="en-US" dirty="0"/>
              <a:t>Example</a:t>
            </a:r>
            <a:endParaRPr lang="en-IN" dirty="0"/>
          </a:p>
        </p:txBody>
      </p:sp>
      <p:pic>
        <p:nvPicPr>
          <p:cNvPr id="4" name="Picture 2" descr="Pink tissue paper"/>
          <p:cNvPicPr>
            <a:picLocks noGrp="1" noChangeAspect="1" noChangeArrowheads="1"/>
          </p:cNvPicPr>
          <p:nvPr>
            <p:ph idx="1"/>
          </p:nvPr>
        </p:nvPicPr>
        <p:blipFill>
          <a:blip r:embed="rId2"/>
          <a:srcRect/>
          <a:stretch>
            <a:fillRect/>
          </a:stretch>
        </p:blipFill>
        <p:spPr>
          <a:xfrm>
            <a:off x="2552700" y="6350"/>
            <a:ext cx="7086600" cy="6851650"/>
          </a:xfrm>
          <a:noFill/>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1" name="Picture 2">
            <a:extLst>
              <a:ext uri="{FF2B5EF4-FFF2-40B4-BE49-F238E27FC236}">
                <a16:creationId xmlns:a16="http://schemas.microsoft.com/office/drawing/2014/main" id="{7FF11C69-6F39-4B2F-BFF8-065642F5B9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51114" y="1684338"/>
            <a:ext cx="7304087" cy="4716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2" name="Rectangle 3">
            <a:extLst>
              <a:ext uri="{FF2B5EF4-FFF2-40B4-BE49-F238E27FC236}">
                <a16:creationId xmlns:a16="http://schemas.microsoft.com/office/drawing/2014/main" id="{353D1E98-F769-4F2D-AC24-316F74B7A99C}"/>
              </a:ext>
            </a:extLst>
          </p:cNvPr>
          <p:cNvSpPr>
            <a:spLocks noGrp="1" noChangeArrowheads="1"/>
          </p:cNvSpPr>
          <p:nvPr>
            <p:ph type="title"/>
          </p:nvPr>
        </p:nvSpPr>
        <p:spPr>
          <a:xfrm>
            <a:off x="1895475" y="303213"/>
            <a:ext cx="8534400" cy="842962"/>
          </a:xfrm>
        </p:spPr>
        <p:txBody>
          <a:bodyPr/>
          <a:lstStyle/>
          <a:p>
            <a:pPr eaLnBrk="1" hangingPunct="1"/>
            <a:r>
              <a:rPr lang="en-US" altLang="en-US" sz="3200" b="1" dirty="0"/>
              <a:t>Mapping Exercise</a:t>
            </a:r>
          </a:p>
        </p:txBody>
      </p:sp>
      <p:sp>
        <p:nvSpPr>
          <p:cNvPr id="17413" name="Rectangle 4">
            <a:extLst>
              <a:ext uri="{FF2B5EF4-FFF2-40B4-BE49-F238E27FC236}">
                <a16:creationId xmlns:a16="http://schemas.microsoft.com/office/drawing/2014/main" id="{D26F428D-853E-496E-A1F8-7C52C490740B}"/>
              </a:ext>
            </a:extLst>
          </p:cNvPr>
          <p:cNvSpPr>
            <a:spLocks noGrp="1" noChangeArrowheads="1"/>
          </p:cNvSpPr>
          <p:nvPr>
            <p:ph type="body" idx="1"/>
          </p:nvPr>
        </p:nvSpPr>
        <p:spPr>
          <a:xfrm>
            <a:off x="1895475" y="1146175"/>
            <a:ext cx="8413750" cy="5054600"/>
          </a:xfrm>
        </p:spPr>
        <p:txBody>
          <a:bodyPr/>
          <a:lstStyle/>
          <a:p>
            <a:pPr eaLnBrk="1" hangingPunct="1">
              <a:buFont typeface="Wingdings" panose="05000000000000000000" pitchFamily="2" charset="2"/>
              <a:buNone/>
            </a:pPr>
            <a:r>
              <a:rPr lang="en-US" altLang="en-US" sz="1800" dirty="0"/>
              <a:t>Exercise 7.4.</a:t>
            </a:r>
            <a:endParaRPr lang="en-US" altLang="en-US" sz="2400" b="1" dirty="0">
              <a:solidFill>
                <a:srgbClr val="FF0066"/>
              </a:solidFill>
            </a:endParaRPr>
          </a:p>
          <a:p>
            <a:pPr eaLnBrk="1" hangingPunct="1">
              <a:buFont typeface="Wingdings" panose="05000000000000000000" pitchFamily="2" charset="2"/>
              <a:buNone/>
            </a:pPr>
            <a:endParaRPr lang="en-US" altLang="en-US" sz="2400" dirty="0"/>
          </a:p>
          <a:p>
            <a:pPr eaLnBrk="1" hangingPunct="1">
              <a:buFont typeface="Wingdings" panose="05000000000000000000" pitchFamily="2" charset="2"/>
              <a:buNone/>
            </a:pPr>
            <a:endParaRPr lang="en-US" altLang="en-US" sz="2400" dirty="0"/>
          </a:p>
        </p:txBody>
      </p:sp>
      <p:sp>
        <p:nvSpPr>
          <p:cNvPr id="17414" name="Rectangle 5">
            <a:extLst>
              <a:ext uri="{FF2B5EF4-FFF2-40B4-BE49-F238E27FC236}">
                <a16:creationId xmlns:a16="http://schemas.microsoft.com/office/drawing/2014/main" id="{57F03BC9-EA42-49B7-BF66-6FB8BC24BBAE}"/>
              </a:ext>
            </a:extLst>
          </p:cNvPr>
          <p:cNvSpPr>
            <a:spLocks noChangeArrowheads="1"/>
          </p:cNvSpPr>
          <p:nvPr/>
        </p:nvSpPr>
        <p:spPr bwMode="auto">
          <a:xfrm>
            <a:off x="7315201" y="1684338"/>
            <a:ext cx="2994025" cy="1211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n-US" altLang="en-US" sz="1800" b="1">
                <a:solidFill>
                  <a:srgbClr val="800000"/>
                </a:solidFill>
              </a:rPr>
              <a:t>FIGURE 7.7</a:t>
            </a:r>
            <a:br>
              <a:rPr lang="en-US" altLang="en-US" sz="1800" b="1">
                <a:solidFill>
                  <a:srgbClr val="800000"/>
                </a:solidFill>
              </a:rPr>
            </a:br>
            <a:r>
              <a:rPr lang="en-US" altLang="en-US" sz="1800">
                <a:solidFill>
                  <a:srgbClr val="800000"/>
                </a:solidFill>
              </a:rPr>
              <a:t>An ER schema for a SHIP_TRACKING database.</a:t>
            </a:r>
            <a:br>
              <a:rPr lang="en-US" altLang="en-US" sz="1800" b="1">
                <a:solidFill>
                  <a:srgbClr val="800000"/>
                </a:solidFill>
              </a:rPr>
            </a:br>
            <a:endParaRPr lang="en-US" altLang="en-US" sz="1800" b="1">
              <a:solidFill>
                <a:srgbClr val="80000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487886" y="1918994"/>
            <a:ext cx="11054359" cy="4460732"/>
          </a:xfrm>
          <a:prstGeom prst="rect">
            <a:avLst/>
          </a:prstGeom>
        </p:spPr>
      </p:pic>
      <p:sp>
        <p:nvSpPr>
          <p:cNvPr id="3" name="TextBox 2">
            <a:extLst>
              <a:ext uri="{FF2B5EF4-FFF2-40B4-BE49-F238E27FC236}">
                <a16:creationId xmlns:a16="http://schemas.microsoft.com/office/drawing/2014/main" id="{2A1D96B0-410F-5C86-63C3-D53905B19EA9}"/>
              </a:ext>
            </a:extLst>
          </p:cNvPr>
          <p:cNvSpPr txBox="1"/>
          <p:nvPr/>
        </p:nvSpPr>
        <p:spPr>
          <a:xfrm>
            <a:off x="1042416" y="411480"/>
            <a:ext cx="7918704" cy="523220"/>
          </a:xfrm>
          <a:prstGeom prst="rect">
            <a:avLst/>
          </a:prstGeom>
          <a:noFill/>
        </p:spPr>
        <p:txBody>
          <a:bodyPr wrap="square">
            <a:spAutoFit/>
          </a:bodyPr>
          <a:lstStyle/>
          <a:p>
            <a:r>
              <a:rPr lang="en-US" altLang="en-US" sz="2800" b="1" dirty="0">
                <a:solidFill>
                  <a:schemeClr val="accent1"/>
                </a:solidFill>
              </a:rPr>
              <a:t>Mapping ER to Table</a:t>
            </a:r>
            <a:endParaRPr lang="en-IN" b="1" dirty="0">
              <a:solidFill>
                <a:schemeClr val="accent1"/>
              </a:solidFill>
            </a:endParaRPr>
          </a:p>
        </p:txBody>
      </p:sp>
    </p:spTree>
    <p:extLst>
      <p:ext uri="{BB962C8B-B14F-4D97-AF65-F5344CB8AC3E}">
        <p14:creationId xmlns:p14="http://schemas.microsoft.com/office/powerpoint/2010/main" val="18204650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01436" y="1310553"/>
            <a:ext cx="9220200" cy="4029075"/>
          </a:xfrm>
          <a:prstGeom prst="rect">
            <a:avLst/>
          </a:prstGeom>
        </p:spPr>
      </p:pic>
    </p:spTree>
    <p:extLst>
      <p:ext uri="{BB962C8B-B14F-4D97-AF65-F5344CB8AC3E}">
        <p14:creationId xmlns:p14="http://schemas.microsoft.com/office/powerpoint/2010/main" val="38066162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398443" y="1309255"/>
            <a:ext cx="8667750" cy="3886200"/>
          </a:xfrm>
          <a:prstGeom prst="rect">
            <a:avLst/>
          </a:prstGeom>
        </p:spPr>
      </p:pic>
    </p:spTree>
    <p:extLst>
      <p:ext uri="{BB962C8B-B14F-4D97-AF65-F5344CB8AC3E}">
        <p14:creationId xmlns:p14="http://schemas.microsoft.com/office/powerpoint/2010/main" val="11528753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48196" y="1012246"/>
            <a:ext cx="9929526" cy="4453371"/>
          </a:xfrm>
          <a:prstGeom prst="rect">
            <a:avLst/>
          </a:prstGeom>
        </p:spPr>
      </p:pic>
    </p:spTree>
    <p:extLst>
      <p:ext uri="{BB962C8B-B14F-4D97-AF65-F5344CB8AC3E}">
        <p14:creationId xmlns:p14="http://schemas.microsoft.com/office/powerpoint/2010/main" val="40138441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633845" y="284812"/>
            <a:ext cx="10247363" cy="4515787"/>
          </a:xfrm>
          <a:prstGeom prst="rect">
            <a:avLst/>
          </a:prstGeom>
        </p:spPr>
      </p:pic>
    </p:spTree>
    <p:extLst>
      <p:ext uri="{BB962C8B-B14F-4D97-AF65-F5344CB8AC3E}">
        <p14:creationId xmlns:p14="http://schemas.microsoft.com/office/powerpoint/2010/main" val="29037151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055542" y="271462"/>
            <a:ext cx="9252239" cy="6567703"/>
          </a:xfrm>
          <a:prstGeom prst="rect">
            <a:avLst/>
          </a:prstGeom>
        </p:spPr>
      </p:pic>
    </p:spTree>
    <p:extLst>
      <p:ext uri="{BB962C8B-B14F-4D97-AF65-F5344CB8AC3E}">
        <p14:creationId xmlns:p14="http://schemas.microsoft.com/office/powerpoint/2010/main" val="9250268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32533" y="153265"/>
            <a:ext cx="10550267" cy="5530561"/>
          </a:xfrm>
          <a:prstGeom prst="rect">
            <a:avLst/>
          </a:prstGeom>
        </p:spPr>
      </p:pic>
    </p:spTree>
    <p:extLst>
      <p:ext uri="{BB962C8B-B14F-4D97-AF65-F5344CB8AC3E}">
        <p14:creationId xmlns:p14="http://schemas.microsoft.com/office/powerpoint/2010/main" val="11409625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861146" y="76200"/>
            <a:ext cx="10350645" cy="6705600"/>
          </a:xfrm>
          <a:prstGeom prst="rect">
            <a:avLst/>
          </a:prstGeom>
        </p:spPr>
      </p:pic>
    </p:spTree>
    <p:extLst>
      <p:ext uri="{BB962C8B-B14F-4D97-AF65-F5344CB8AC3E}">
        <p14:creationId xmlns:p14="http://schemas.microsoft.com/office/powerpoint/2010/main" val="26926869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53341" y="526039"/>
            <a:ext cx="10115550" cy="4981800"/>
          </a:xfrm>
          <a:prstGeom prst="rect">
            <a:avLst/>
          </a:prstGeom>
        </p:spPr>
      </p:pic>
    </p:spTree>
    <p:extLst>
      <p:ext uri="{BB962C8B-B14F-4D97-AF65-F5344CB8AC3E}">
        <p14:creationId xmlns:p14="http://schemas.microsoft.com/office/powerpoint/2010/main" val="21930303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728787" y="176212"/>
            <a:ext cx="8734425" cy="6505575"/>
          </a:xfrm>
          <a:prstGeom prst="rect">
            <a:avLst/>
          </a:prstGeom>
        </p:spPr>
      </p:pic>
    </p:spTree>
    <p:extLst>
      <p:ext uri="{BB962C8B-B14F-4D97-AF65-F5344CB8AC3E}">
        <p14:creationId xmlns:p14="http://schemas.microsoft.com/office/powerpoint/2010/main" val="23634507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73244" y="523441"/>
            <a:ext cx="10637067" cy="5066868"/>
          </a:xfrm>
          <a:prstGeom prst="rect">
            <a:avLst/>
          </a:prstGeom>
        </p:spPr>
      </p:pic>
    </p:spTree>
    <p:extLst>
      <p:ext uri="{BB962C8B-B14F-4D97-AF65-F5344CB8AC3E}">
        <p14:creationId xmlns:p14="http://schemas.microsoft.com/office/powerpoint/2010/main" val="15348999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421389" y="571500"/>
            <a:ext cx="8829675" cy="5257800"/>
          </a:xfrm>
          <a:prstGeom prst="rect">
            <a:avLst/>
          </a:prstGeom>
        </p:spPr>
      </p:pic>
    </p:spTree>
    <p:extLst>
      <p:ext uri="{BB962C8B-B14F-4D97-AF65-F5344CB8AC3E}">
        <p14:creationId xmlns:p14="http://schemas.microsoft.com/office/powerpoint/2010/main" val="23729717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124382" y="558078"/>
            <a:ext cx="9409263" cy="5593340"/>
          </a:xfrm>
          <a:prstGeom prst="rect">
            <a:avLst/>
          </a:prstGeom>
        </p:spPr>
      </p:pic>
    </p:spTree>
    <p:extLst>
      <p:ext uri="{BB962C8B-B14F-4D97-AF65-F5344CB8AC3E}">
        <p14:creationId xmlns:p14="http://schemas.microsoft.com/office/powerpoint/2010/main" val="24534032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011381" y="366279"/>
            <a:ext cx="8839200" cy="6000750"/>
          </a:xfrm>
          <a:prstGeom prst="rect">
            <a:avLst/>
          </a:prstGeom>
        </p:spPr>
      </p:pic>
    </p:spTree>
    <p:extLst>
      <p:ext uri="{BB962C8B-B14F-4D97-AF65-F5344CB8AC3E}">
        <p14:creationId xmlns:p14="http://schemas.microsoft.com/office/powerpoint/2010/main" val="193153688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761</TotalTime>
  <Words>3263</Words>
  <Application>Microsoft Office PowerPoint</Application>
  <PresentationFormat>Widescreen</PresentationFormat>
  <Paragraphs>304</Paragraphs>
  <Slides>58</Slides>
  <Notes>9</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58</vt:i4>
      </vt:variant>
    </vt:vector>
  </HeadingPairs>
  <TitlesOfParts>
    <vt:vector size="68" baseType="lpstr">
      <vt:lpstr>Arial</vt:lpstr>
      <vt:lpstr>Calibri</vt:lpstr>
      <vt:lpstr>Tahoma</vt:lpstr>
      <vt:lpstr>Times New Roman</vt:lpstr>
      <vt:lpstr>Trebuchet MS</vt:lpstr>
      <vt:lpstr>urw-din</vt:lpstr>
      <vt:lpstr>Wingdings</vt:lpstr>
      <vt:lpstr>Wingdings 3</vt:lpstr>
      <vt:lpstr>Facet</vt:lpstr>
      <vt:lpstr>MSPhotoEd.3</vt:lpstr>
      <vt:lpstr>PowerPoint Presentation</vt:lpstr>
      <vt:lpstr>Entities and Attributes</vt:lpstr>
      <vt:lpstr>Type of Attributes</vt:lpstr>
      <vt:lpstr>PowerPoint Presentation</vt:lpstr>
      <vt:lpstr>Entity Type and Entity Sets</vt:lpstr>
      <vt:lpstr>Relationship</vt:lpstr>
      <vt:lpstr>PowerPoint Presentation</vt:lpstr>
      <vt:lpstr>PowerPoint Presentation</vt:lpstr>
      <vt:lpstr>Relationship type vs. relationship set</vt:lpstr>
      <vt:lpstr>Relationship type vs. relationship set </vt:lpstr>
      <vt:lpstr>Cardinality and Participation Constraints</vt:lpstr>
      <vt:lpstr>Example for 1:1 Relationship Type</vt:lpstr>
      <vt:lpstr>Example for 1:M Relationship Type</vt:lpstr>
      <vt:lpstr>Example for N:M Relationship Type</vt:lpstr>
      <vt:lpstr>Participation Constraint</vt:lpstr>
      <vt:lpstr>Degree of a Relationship</vt:lpstr>
      <vt:lpstr>Unary Relationship</vt:lpstr>
      <vt:lpstr>Example – Unary Relationship</vt:lpstr>
      <vt:lpstr>Binary Relationship</vt:lpstr>
      <vt:lpstr>Ternary Relationship</vt:lpstr>
      <vt:lpstr>N-ary Relationship</vt:lpstr>
      <vt:lpstr>Company Management System</vt:lpstr>
      <vt:lpstr>Weak Entity Types</vt:lpstr>
      <vt:lpstr>Relationship Type Attribute</vt:lpstr>
      <vt:lpstr>Example</vt:lpstr>
      <vt:lpstr>University Management System</vt:lpstr>
      <vt:lpstr>Draw an ER Diagram for the Library Management System. </vt:lpstr>
      <vt:lpstr>Project Management System of an IT Company</vt:lpstr>
      <vt:lpstr>Pharmacy Store Management</vt:lpstr>
      <vt:lpstr>PowerPoint Presentation</vt:lpstr>
      <vt:lpstr>ER Model to Relational Model</vt:lpstr>
      <vt:lpstr>ER Model to Relational Model</vt:lpstr>
      <vt:lpstr>Create a table for Enrolled with fields: (Roll_No, CID, Marks, JoiningDate)</vt:lpstr>
      <vt:lpstr>Mapping Relationship type</vt:lpstr>
      <vt:lpstr>Mapping Relationship type</vt:lpstr>
      <vt:lpstr>Mapping Relationship type</vt:lpstr>
      <vt:lpstr>FIGURE 4.11 Ternary relationship types. (a) The SUPPLY relationship. </vt:lpstr>
      <vt:lpstr>FIGURE 7.3 Mapping the n-ary relationship type SUPPLY from Figure 4.11a.</vt:lpstr>
      <vt:lpstr>ER Model to Relational Model (Cont…)</vt:lpstr>
      <vt:lpstr> ER-to-Relational Mapping Algorithm (contd.)</vt:lpstr>
      <vt:lpstr>Example</vt:lpstr>
      <vt:lpstr>FIGURE 7.2 Result of mapping the COMPANY ER schema into a relational schema.</vt:lpstr>
      <vt:lpstr>Example</vt:lpstr>
      <vt:lpstr>Mapping Exercise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Chudasama Vishal</dc:creator>
  <cp:lastModifiedBy>Chudasama Vishal</cp:lastModifiedBy>
  <cp:revision>20</cp:revision>
  <dcterms:created xsi:type="dcterms:W3CDTF">2025-11-09T03:36:38Z</dcterms:created>
  <dcterms:modified xsi:type="dcterms:W3CDTF">2025-11-10T01:51:50Z</dcterms:modified>
</cp:coreProperties>
</file>