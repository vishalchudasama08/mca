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63"/>
  </p:notesMasterIdLst>
  <p:sldIdLst>
    <p:sldId id="256" r:id="rId2"/>
    <p:sldId id="318" r:id="rId3"/>
    <p:sldId id="319" r:id="rId4"/>
    <p:sldId id="320" r:id="rId5"/>
    <p:sldId id="321" r:id="rId6"/>
    <p:sldId id="322" r:id="rId7"/>
    <p:sldId id="323" r:id="rId8"/>
    <p:sldId id="324" r:id="rId9"/>
    <p:sldId id="325" r:id="rId10"/>
    <p:sldId id="326" r:id="rId11"/>
    <p:sldId id="327" r:id="rId12"/>
    <p:sldId id="328" r:id="rId13"/>
    <p:sldId id="329" r:id="rId14"/>
    <p:sldId id="330" r:id="rId15"/>
    <p:sldId id="331" r:id="rId16"/>
    <p:sldId id="332" r:id="rId17"/>
    <p:sldId id="333" r:id="rId18"/>
    <p:sldId id="334" r:id="rId19"/>
    <p:sldId id="335" r:id="rId20"/>
    <p:sldId id="336" r:id="rId21"/>
    <p:sldId id="337" r:id="rId22"/>
    <p:sldId id="338" r:id="rId23"/>
    <p:sldId id="339" r:id="rId24"/>
    <p:sldId id="340" r:id="rId25"/>
    <p:sldId id="341" r:id="rId26"/>
    <p:sldId id="342" r:id="rId27"/>
    <p:sldId id="343" r:id="rId28"/>
    <p:sldId id="344" r:id="rId29"/>
    <p:sldId id="345" r:id="rId30"/>
    <p:sldId id="346" r:id="rId31"/>
    <p:sldId id="347" r:id="rId32"/>
    <p:sldId id="348" r:id="rId33"/>
    <p:sldId id="349" r:id="rId34"/>
    <p:sldId id="350" r:id="rId35"/>
    <p:sldId id="351" r:id="rId36"/>
    <p:sldId id="352" r:id="rId37"/>
    <p:sldId id="353" r:id="rId38"/>
    <p:sldId id="354" r:id="rId39"/>
    <p:sldId id="355" r:id="rId40"/>
    <p:sldId id="356" r:id="rId41"/>
    <p:sldId id="357" r:id="rId42"/>
    <p:sldId id="358" r:id="rId43"/>
    <p:sldId id="359" r:id="rId44"/>
    <p:sldId id="360" r:id="rId45"/>
    <p:sldId id="361" r:id="rId46"/>
    <p:sldId id="362" r:id="rId47"/>
    <p:sldId id="363" r:id="rId48"/>
    <p:sldId id="364" r:id="rId49"/>
    <p:sldId id="365" r:id="rId50"/>
    <p:sldId id="366" r:id="rId51"/>
    <p:sldId id="367" r:id="rId52"/>
    <p:sldId id="368" r:id="rId53"/>
    <p:sldId id="369" r:id="rId54"/>
    <p:sldId id="370" r:id="rId55"/>
    <p:sldId id="371" r:id="rId56"/>
    <p:sldId id="372" r:id="rId57"/>
    <p:sldId id="373" r:id="rId58"/>
    <p:sldId id="374" r:id="rId59"/>
    <p:sldId id="375" r:id="rId60"/>
    <p:sldId id="376" r:id="rId61"/>
    <p:sldId id="377" r:id="rId6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60"/>
  </p:normalViewPr>
  <p:slideViewPr>
    <p:cSldViewPr snapToGrid="0">
      <p:cViewPr varScale="1">
        <p:scale>
          <a:sx n="84" d="100"/>
          <a:sy n="84" d="100"/>
        </p:scale>
        <p:origin x="658"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4A2E5D5B-4CE0-4E6F-84BE-A53E645E58F0}" type="datetimeFigureOut">
              <a:rPr lang="en-IN" smtClean="0"/>
              <a:t>17-12-2025</a:t>
            </a:fld>
            <a:endParaRPr lang="en-IN"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0095DFFD-6521-4702-A42E-0D1B203886E9}" type="slidenum">
              <a:rPr lang="en-IN" smtClean="0"/>
              <a:t>‹#›</a:t>
            </a:fld>
            <a:endParaRPr lang="en-IN" dirty="0"/>
          </a:p>
        </p:txBody>
      </p:sp>
    </p:spTree>
    <p:extLst>
      <p:ext uri="{BB962C8B-B14F-4D97-AF65-F5344CB8AC3E}">
        <p14:creationId xmlns:p14="http://schemas.microsoft.com/office/powerpoint/2010/main" val="87098353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16" name="Group 15"/>
          <p:cNvGrpSpPr/>
          <p:nvPr/>
        </p:nvGrpSpPr>
        <p:grpSpPr>
          <a:xfrm>
            <a:off x="0" y="-8467"/>
            <a:ext cx="12192000" cy="6866467"/>
            <a:chOff x="0" y="-8467"/>
            <a:chExt cx="12192000" cy="6866467"/>
          </a:xfrm>
        </p:grpSpPr>
        <p:sp>
          <p:nvSpPr>
            <p:cNvPr id="15" name="Freeform 14"/>
            <p:cNvSpPr/>
            <p:nvPr/>
          </p:nvSpPr>
          <p:spPr>
            <a:xfrm>
              <a:off x="0" y="-7862"/>
              <a:ext cx="863600" cy="5698067"/>
            </a:xfrm>
            <a:custGeom>
              <a:avLst/>
              <a:gdLst/>
              <a:ahLst/>
              <a:cxnLst/>
              <a:rect l="l" t="t" r="r" b="b"/>
              <a:pathLst>
                <a:path w="863600" h="5698067">
                  <a:moveTo>
                    <a:pt x="0" y="8467"/>
                  </a:moveTo>
                  <a:lnTo>
                    <a:pt x="863600" y="0"/>
                  </a:lnTo>
                  <a:lnTo>
                    <a:pt x="863600" y="16934"/>
                  </a:lnTo>
                  <a:lnTo>
                    <a:pt x="0" y="5698067"/>
                  </a:lnTo>
                  <a:lnTo>
                    <a:pt x="0" y="8467"/>
                  </a:lnTo>
                  <a:close/>
                </a:path>
              </a:pathLst>
            </a:cu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cxnSp>
          <p:nvCxnSpPr>
            <p:cNvPr id="19" name="Straight Connector 18"/>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1"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2"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Isosceles Triangle 22"/>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Isosceles Triangle 26"/>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1"/>
          <p:cNvSpPr>
            <a:spLocks noGrp="1"/>
          </p:cNvSpPr>
          <p:nvPr>
            <p:ph type="ctrTitle"/>
          </p:nvPr>
        </p:nvSpPr>
        <p:spPr>
          <a:xfrm>
            <a:off x="1507067" y="2404534"/>
            <a:ext cx="7766936" cy="1646302"/>
          </a:xfrm>
        </p:spPr>
        <p:txBody>
          <a:bodyPr anchor="b">
            <a:noAutofit/>
          </a:bodyPr>
          <a:lstStyle>
            <a:lvl1pPr algn="r">
              <a:defRPr sz="5400">
                <a:solidFill>
                  <a:schemeClr val="accent1"/>
                </a:solidFill>
              </a:defRPr>
            </a:lvl1pPr>
          </a:lstStyle>
          <a:p>
            <a:r>
              <a:rPr lang="en-US"/>
              <a:t>Click to edit Master title style</a:t>
            </a:r>
            <a:endParaRPr lang="en-US" dirty="0"/>
          </a:p>
        </p:txBody>
      </p:sp>
      <p:sp>
        <p:nvSpPr>
          <p:cNvPr id="3" name="Subtitle 2"/>
          <p:cNvSpPr>
            <a:spLocks noGrp="1"/>
          </p:cNvSpPr>
          <p:nvPr>
            <p:ph type="subTitle" idx="1"/>
          </p:nvPr>
        </p:nvSpPr>
        <p:spPr>
          <a:xfrm>
            <a:off x="1507067" y="4050833"/>
            <a:ext cx="7766936" cy="1096899"/>
          </a:xfrm>
        </p:spPr>
        <p:txBody>
          <a:bodyPr anchor="t"/>
          <a:lstStyle>
            <a:lvl1pPr marL="0" indent="0" algn="r">
              <a:buNone/>
              <a:defRPr>
                <a:solidFill>
                  <a:schemeClr val="tx1">
                    <a:lumMod val="50000"/>
                    <a:lumOff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42A54C80-263E-416B-A8E0-580EDEADCBDC}" type="datetimeFigureOut">
              <a:rPr lang="en-US" dirty="0"/>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77335" y="2700867"/>
            <a:ext cx="8596668" cy="1826581"/>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860400"/>
          </a:xfrm>
        </p:spPr>
        <p:txBody>
          <a:bodyPr anchor="t"/>
          <a:lstStyle>
            <a:lvl1pPr marL="0" indent="0" algn="l">
              <a:buNone/>
              <a:defRPr sz="20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77334" y="2160589"/>
            <a:ext cx="4184035" cy="388077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089970" y="2160589"/>
            <a:ext cx="4184034" cy="388077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42A54C80-263E-416B-A8E0-580EDEADCBDC}" type="datetimeFigureOut">
              <a:rPr lang="en-US" dirty="0"/>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675745" y="2160983"/>
            <a:ext cx="4185623"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75745" y="2737245"/>
            <a:ext cx="4185623"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088383" y="2160983"/>
            <a:ext cx="4185618" cy="576262"/>
          </a:xfrm>
        </p:spPr>
        <p:txBody>
          <a:bodyPr anchor="b">
            <a:noAutofit/>
          </a:bodyPr>
          <a:lstStyle>
            <a:lvl1pPr marL="0" indent="0">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088384" y="2737245"/>
            <a:ext cx="4185617" cy="330411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677334" y="609600"/>
            <a:ext cx="8596668" cy="1320800"/>
          </a:xfrm>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1498604"/>
            <a:ext cx="3854528" cy="1278466"/>
          </a:xfrm>
        </p:spPr>
        <p:txBody>
          <a:bodyPr anchor="b">
            <a:normAutofit/>
          </a:bodyPr>
          <a:lstStyle>
            <a:lvl1pPr>
              <a:defRPr sz="2000"/>
            </a:lvl1pPr>
          </a:lstStyle>
          <a:p>
            <a:r>
              <a:rPr lang="en-US"/>
              <a:t>Click to edit Master title style</a:t>
            </a:r>
            <a:endParaRPr lang="en-US" dirty="0"/>
          </a:p>
        </p:txBody>
      </p:sp>
      <p:sp>
        <p:nvSpPr>
          <p:cNvPr id="3" name="Content Placeholder 2"/>
          <p:cNvSpPr>
            <a:spLocks noGrp="1"/>
          </p:cNvSpPr>
          <p:nvPr>
            <p:ph idx="1"/>
          </p:nvPr>
        </p:nvSpPr>
        <p:spPr>
          <a:xfrm>
            <a:off x="4760461" y="514924"/>
            <a:ext cx="4513541" cy="5526437"/>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77334" y="2777069"/>
            <a:ext cx="3854528" cy="2584449"/>
          </a:xfrm>
        </p:spPr>
        <p:txBody>
          <a:bodyPr>
            <a:normAutofit/>
          </a:bodyPr>
          <a:lstStyle>
            <a:lvl1pPr marL="0" indent="0">
              <a:buNone/>
              <a:defRPr sz="1400"/>
            </a:lvl1pPr>
            <a:lvl2pPr marL="457063" indent="0">
              <a:buNone/>
              <a:defRPr sz="1400"/>
            </a:lvl2pPr>
            <a:lvl3pPr marL="914126" indent="0">
              <a:buNone/>
              <a:defRPr sz="1200"/>
            </a:lvl3pPr>
            <a:lvl4pPr marL="1371189" indent="0">
              <a:buNone/>
              <a:defRPr sz="1000"/>
            </a:lvl4pPr>
            <a:lvl5pPr marL="1828251" indent="0">
              <a:buNone/>
              <a:defRPr sz="1000"/>
            </a:lvl5pPr>
            <a:lvl6pPr marL="2285314" indent="0">
              <a:buNone/>
              <a:defRPr sz="1000"/>
            </a:lvl6pPr>
            <a:lvl7pPr marL="2742377" indent="0">
              <a:buNone/>
              <a:defRPr sz="1000"/>
            </a:lvl7pPr>
            <a:lvl8pPr marL="3199440" indent="0">
              <a:buNone/>
              <a:defRPr sz="1000"/>
            </a:lvl8pPr>
            <a:lvl9pPr marL="3656503"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dirty="0"/>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4" y="4800600"/>
            <a:ext cx="859666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77334" y="609600"/>
            <a:ext cx="8596668" cy="3845718"/>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dirty="0"/>
              <a:t>Click icon to add picture</a:t>
            </a:r>
          </a:p>
        </p:txBody>
      </p:sp>
      <p:sp>
        <p:nvSpPr>
          <p:cNvPr id="4" name="Text Placeholder 3"/>
          <p:cNvSpPr>
            <a:spLocks noGrp="1"/>
          </p:cNvSpPr>
          <p:nvPr>
            <p:ph type="body" sz="half" idx="2"/>
          </p:nvPr>
        </p:nvSpPr>
        <p:spPr>
          <a:xfrm>
            <a:off x="677334" y="5367338"/>
            <a:ext cx="8596667" cy="674024"/>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12/17/2025</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677335" y="609600"/>
            <a:ext cx="8596668" cy="3403600"/>
          </a:xfrm>
        </p:spPr>
        <p:txBody>
          <a:bodyPr anchor="ctr">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1366139" y="3632200"/>
            <a:ext cx="7224524" cy="381000"/>
          </a:xfrm>
        </p:spPr>
        <p:txBody>
          <a:bodyPr anchor="ctr">
            <a:noAutofit/>
          </a:bodyPr>
          <a:lstStyle>
            <a:lvl1pPr marL="0" indent="0">
              <a:buFontTx/>
              <a:buNone/>
              <a:defRPr sz="1600">
                <a:solidFill>
                  <a:schemeClr val="tx1">
                    <a:lumMod val="50000"/>
                    <a:lumOff val="50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470400"/>
            <a:ext cx="8596668" cy="1570962"/>
          </a:xfrm>
        </p:spPr>
        <p:txBody>
          <a:bodyPr anchor="ctr">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677335" y="1931988"/>
            <a:ext cx="8596668" cy="2595460"/>
          </a:xfrm>
        </p:spPr>
        <p:txBody>
          <a:bodyPr anchor="b">
            <a:normAutofit/>
          </a:bodyPr>
          <a:lstStyle>
            <a:lvl1pPr algn="l">
              <a:defRPr sz="4400" b="0" cap="none"/>
            </a:lvl1pPr>
          </a:lstStyle>
          <a:p>
            <a:r>
              <a:rPr lang="en-US"/>
              <a:t>Click to edit Master title style</a:t>
            </a:r>
            <a:endParaRPr lang="en-US" dirty="0"/>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75000"/>
                    <a:lumOff val="2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931334" y="609600"/>
            <a:ext cx="8094134"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tx1">
                    <a:lumMod val="75000"/>
                    <a:lumOff val="25000"/>
                  </a:schemeClr>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24" name="TextBox 23"/>
          <p:cNvSpPr txBox="1"/>
          <p:nvPr/>
        </p:nvSpPr>
        <p:spPr>
          <a:xfrm>
            <a:off x="541870" y="790378"/>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
        <p:nvSpPr>
          <p:cNvPr id="25" name="TextBox 24"/>
          <p:cNvSpPr txBox="1"/>
          <p:nvPr/>
        </p:nvSpPr>
        <p:spPr>
          <a:xfrm>
            <a:off x="8893011" y="2886556"/>
            <a:ext cx="609600" cy="584776"/>
          </a:xfrm>
          <a:prstGeom prst="rect">
            <a:avLst/>
          </a:prstGeom>
        </p:spPr>
        <p:txBody>
          <a:bodyPr vert="horz" lIns="91440" tIns="45720" rIns="91440" bIns="45720" rtlCol="0" anchor="ctr">
            <a:noAutofit/>
          </a:bodyPr>
          <a:lstStyle/>
          <a:p>
            <a:pPr lvl="0"/>
            <a:r>
              <a:rPr lang="en-US" sz="8000" baseline="0" dirty="0">
                <a:ln w="3175" cmpd="sng">
                  <a:noFill/>
                </a:ln>
                <a:solidFill>
                  <a:schemeClr val="accent1">
                    <a:lumMod val="60000"/>
                    <a:lumOff val="40000"/>
                  </a:schemeClr>
                </a:solidFill>
                <a:effectLst/>
                <a:latin typeface="Aria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685799" y="609600"/>
            <a:ext cx="8588203" cy="3022600"/>
          </a:xfrm>
        </p:spPr>
        <p:txBody>
          <a:bodyPr anchor="ctr">
            <a:normAutofit/>
          </a:bodyPr>
          <a:lstStyle>
            <a:lvl1pPr algn="l">
              <a:defRPr sz="4400" b="0" cap="none"/>
            </a:lvl1pPr>
          </a:lstStyle>
          <a:p>
            <a:r>
              <a:rPr lang="en-US"/>
              <a:t>Click to edit Master title style</a:t>
            </a:r>
            <a:endParaRPr lang="en-US" dirty="0"/>
          </a:p>
        </p:txBody>
      </p:sp>
      <p:sp>
        <p:nvSpPr>
          <p:cNvPr id="23" name="Text Placeholder 9"/>
          <p:cNvSpPr>
            <a:spLocks noGrp="1"/>
          </p:cNvSpPr>
          <p:nvPr>
            <p:ph type="body" sz="quarter" idx="13"/>
          </p:nvPr>
        </p:nvSpPr>
        <p:spPr>
          <a:xfrm>
            <a:off x="677332" y="4013200"/>
            <a:ext cx="8596669" cy="514248"/>
          </a:xfrm>
        </p:spPr>
        <p:txBody>
          <a:bodyPr anchor="b">
            <a:noAutofit/>
          </a:bodyPr>
          <a:lstStyle>
            <a:lvl1pPr marL="0" indent="0">
              <a:buFontTx/>
              <a:buNone/>
              <a:defRPr sz="2400">
                <a:solidFill>
                  <a:schemeClr val="accent1"/>
                </a:solidFill>
              </a:defRPr>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677335" y="4527448"/>
            <a:ext cx="8596668" cy="1513914"/>
          </a:xfrm>
        </p:spPr>
        <p:txBody>
          <a:bodyPr anchor="t">
            <a:normAutofit/>
          </a:bodyPr>
          <a:lstStyle>
            <a:lvl1pPr marL="0" indent="0" algn="l">
              <a:buNone/>
              <a:defRPr sz="1800">
                <a:solidFill>
                  <a:schemeClr val="tx1">
                    <a:lumMod val="50000"/>
                    <a:lumOff val="5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5C6B4A9-1611-4792-9094-5F34BCA07E0B}" type="datetimeFigureOut">
              <a:rPr lang="en-US" dirty="0"/>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dirty="0"/>
              <a:t>‹#›</a:t>
            </a:fld>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967673" y="609599"/>
            <a:ext cx="1304743" cy="5251451"/>
          </a:xfrm>
        </p:spPr>
        <p:txBody>
          <a:bodyPr vert="eaVert" anchor="ctr"/>
          <a:lstStyle/>
          <a:p>
            <a:r>
              <a:rPr lang="en-US"/>
              <a:t>Click to edit Master title style</a:t>
            </a:r>
            <a:endParaRPr lang="en-US" dirty="0"/>
          </a:p>
        </p:txBody>
      </p:sp>
      <p:sp>
        <p:nvSpPr>
          <p:cNvPr id="3" name="Vertical Text Placeholder 2"/>
          <p:cNvSpPr>
            <a:spLocks noGrp="1"/>
          </p:cNvSpPr>
          <p:nvPr>
            <p:ph type="body" orient="vert" idx="1"/>
          </p:nvPr>
        </p:nvSpPr>
        <p:spPr>
          <a:xfrm>
            <a:off x="677335" y="609600"/>
            <a:ext cx="7060150" cy="5251450"/>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44" name="Group 43"/>
          <p:cNvGrpSpPr/>
          <p:nvPr/>
        </p:nvGrpSpPr>
        <p:grpSpPr>
          <a:xfrm>
            <a:off x="0" y="-8467"/>
            <a:ext cx="12192000" cy="6866467"/>
            <a:chOff x="0" y="-8467"/>
            <a:chExt cx="12192000" cy="6866467"/>
          </a:xfrm>
        </p:grpSpPr>
        <p:cxnSp>
          <p:nvCxnSpPr>
            <p:cNvPr id="20" name="Straight Connector 19"/>
            <p:cNvCxnSpPr/>
            <p:nvPr/>
          </p:nvCxnSpPr>
          <p:spPr>
            <a:xfrm>
              <a:off x="9371012" y="0"/>
              <a:ext cx="1219200" cy="6858000"/>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7425267" y="3681413"/>
              <a:ext cx="4763558" cy="3176587"/>
            </a:xfrm>
            <a:prstGeom prst="line">
              <a:avLst/>
            </a:prstGeom>
            <a:ln w="9525">
              <a:solidFill>
                <a:schemeClr val="accent1">
                  <a:alpha val="70000"/>
                </a:schemeClr>
              </a:solidFill>
            </a:ln>
          </p:spPr>
          <p:style>
            <a:lnRef idx="2">
              <a:schemeClr val="accent1"/>
            </a:lnRef>
            <a:fillRef idx="0">
              <a:schemeClr val="accent1"/>
            </a:fillRef>
            <a:effectRef idx="1">
              <a:schemeClr val="accent1"/>
            </a:effectRef>
            <a:fontRef idx="minor">
              <a:schemeClr val="tx1"/>
            </a:fontRef>
          </p:style>
        </p:cxnSp>
        <p:sp>
          <p:nvSpPr>
            <p:cNvPr id="22" name="Rectangle 23"/>
            <p:cNvSpPr/>
            <p:nvPr/>
          </p:nvSpPr>
          <p:spPr>
            <a:xfrm>
              <a:off x="9181476" y="-8467"/>
              <a:ext cx="3007349" cy="6866467"/>
            </a:xfrm>
            <a:custGeom>
              <a:avLst/>
              <a:gdLst/>
              <a:ahLst/>
              <a:cxnLst/>
              <a:rect l="l" t="t" r="r" b="b"/>
              <a:pathLst>
                <a:path w="3007349" h="6866467">
                  <a:moveTo>
                    <a:pt x="2045532" y="0"/>
                  </a:moveTo>
                  <a:lnTo>
                    <a:pt x="3007349" y="0"/>
                  </a:lnTo>
                  <a:lnTo>
                    <a:pt x="3007349" y="6866467"/>
                  </a:lnTo>
                  <a:lnTo>
                    <a:pt x="0" y="6866467"/>
                  </a:lnTo>
                  <a:lnTo>
                    <a:pt x="2045532" y="0"/>
                  </a:lnTo>
                  <a:close/>
                </a:path>
              </a:pathLst>
            </a:custGeom>
            <a:solidFill>
              <a:schemeClr val="accent1">
                <a:alpha val="3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3" name="Rectangle 25"/>
            <p:cNvSpPr/>
            <p:nvPr/>
          </p:nvSpPr>
          <p:spPr>
            <a:xfrm>
              <a:off x="9603442" y="-8467"/>
              <a:ext cx="2588558" cy="6866467"/>
            </a:xfrm>
            <a:custGeom>
              <a:avLst/>
              <a:gdLst/>
              <a:ahLst/>
              <a:cxnLst/>
              <a:rect l="l" t="t" r="r" b="b"/>
              <a:pathLst>
                <a:path w="2573311" h="6866467">
                  <a:moveTo>
                    <a:pt x="0" y="0"/>
                  </a:moveTo>
                  <a:lnTo>
                    <a:pt x="2573311" y="0"/>
                  </a:lnTo>
                  <a:lnTo>
                    <a:pt x="2573311" y="6866467"/>
                  </a:lnTo>
                  <a:lnTo>
                    <a:pt x="1202336" y="6866467"/>
                  </a:lnTo>
                  <a:lnTo>
                    <a:pt x="0" y="0"/>
                  </a:lnTo>
                  <a:close/>
                </a:path>
              </a:pathLst>
            </a:custGeom>
            <a:solidFill>
              <a:schemeClr val="accent1">
                <a:alpha val="2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4" name="Isosceles Triangle 23"/>
            <p:cNvSpPr/>
            <p:nvPr/>
          </p:nvSpPr>
          <p:spPr>
            <a:xfrm>
              <a:off x="8932333" y="3048000"/>
              <a:ext cx="3259667" cy="3810000"/>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25" name="Rectangle 27"/>
            <p:cNvSpPr/>
            <p:nvPr/>
          </p:nvSpPr>
          <p:spPr>
            <a:xfrm>
              <a:off x="9334500" y="-8467"/>
              <a:ext cx="2854326" cy="6866467"/>
            </a:xfrm>
            <a:custGeom>
              <a:avLst/>
              <a:gdLst/>
              <a:ahLst/>
              <a:cxnLst/>
              <a:rect l="l" t="t" r="r" b="b"/>
              <a:pathLst>
                <a:path w="2858013" h="6866467">
                  <a:moveTo>
                    <a:pt x="0" y="0"/>
                  </a:moveTo>
                  <a:lnTo>
                    <a:pt x="2858013" y="0"/>
                  </a:lnTo>
                  <a:lnTo>
                    <a:pt x="2858013" y="6866467"/>
                  </a:lnTo>
                  <a:lnTo>
                    <a:pt x="2473942" y="6866467"/>
                  </a:lnTo>
                  <a:lnTo>
                    <a:pt x="0" y="0"/>
                  </a:lnTo>
                  <a:close/>
                </a:path>
              </a:pathLst>
            </a:custGeom>
            <a:solidFill>
              <a:schemeClr val="accent1">
                <a:lumMod val="75000"/>
                <a:alpha val="5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6" name="Rectangle 28"/>
            <p:cNvSpPr/>
            <p:nvPr/>
          </p:nvSpPr>
          <p:spPr>
            <a:xfrm>
              <a:off x="10898730" y="-8467"/>
              <a:ext cx="1290094" cy="6866467"/>
            </a:xfrm>
            <a:custGeom>
              <a:avLst/>
              <a:gdLst/>
              <a:ahLst/>
              <a:cxnLst/>
              <a:rect l="l" t="t" r="r" b="b"/>
              <a:pathLst>
                <a:path w="1290094" h="6858000">
                  <a:moveTo>
                    <a:pt x="1019735" y="0"/>
                  </a:moveTo>
                  <a:lnTo>
                    <a:pt x="1290094" y="0"/>
                  </a:lnTo>
                  <a:lnTo>
                    <a:pt x="1290094" y="6858000"/>
                  </a:lnTo>
                  <a:lnTo>
                    <a:pt x="0" y="6858000"/>
                  </a:lnTo>
                  <a:lnTo>
                    <a:pt x="1019735" y="0"/>
                  </a:lnTo>
                  <a:close/>
                </a:path>
              </a:pathLst>
            </a:custGeom>
            <a:solidFill>
              <a:schemeClr val="accent2">
                <a:alpha val="7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7" name="Rectangle 29"/>
            <p:cNvSpPr/>
            <p:nvPr/>
          </p:nvSpPr>
          <p:spPr>
            <a:xfrm>
              <a:off x="10938999" y="-8467"/>
              <a:ext cx="1249825" cy="6866467"/>
            </a:xfrm>
            <a:custGeom>
              <a:avLst/>
              <a:gdLst/>
              <a:ahLst/>
              <a:cxnLst/>
              <a:rect l="l" t="t" r="r" b="b"/>
              <a:pathLst>
                <a:path w="1249825" h="6858000">
                  <a:moveTo>
                    <a:pt x="0" y="0"/>
                  </a:moveTo>
                  <a:lnTo>
                    <a:pt x="1249825" y="0"/>
                  </a:lnTo>
                  <a:lnTo>
                    <a:pt x="1249825" y="6858000"/>
                  </a:lnTo>
                  <a:lnTo>
                    <a:pt x="1109382" y="6858000"/>
                  </a:lnTo>
                  <a:lnTo>
                    <a:pt x="0" y="0"/>
                  </a:lnTo>
                  <a:close/>
                </a:path>
              </a:pathLst>
            </a:custGeom>
            <a:solidFill>
              <a:schemeClr val="accent2">
                <a:lumMod val="75000"/>
                <a:alpha val="80000"/>
              </a:schemeClr>
            </a:solidFill>
            <a:ln>
              <a:noFill/>
            </a:ln>
            <a:effectLst/>
          </p:spPr>
          <p:style>
            <a:lnRef idx="1">
              <a:schemeClr val="accent1"/>
            </a:lnRef>
            <a:fillRef idx="3">
              <a:schemeClr val="accent1"/>
            </a:fillRef>
            <a:effectRef idx="2">
              <a:schemeClr val="accent1"/>
            </a:effectRef>
            <a:fontRef idx="minor">
              <a:schemeClr val="lt1"/>
            </a:fontRef>
          </p:style>
        </p:sp>
        <p:sp>
          <p:nvSpPr>
            <p:cNvPr id="28" name="Isosceles Triangle 27"/>
            <p:cNvSpPr/>
            <p:nvPr/>
          </p:nvSpPr>
          <p:spPr>
            <a:xfrm>
              <a:off x="10371666" y="3589867"/>
              <a:ext cx="1817159" cy="3268133"/>
            </a:xfrm>
            <a:prstGeom prst="triangle">
              <a:avLst>
                <a:gd name="adj" fmla="val 100000"/>
              </a:avLst>
            </a:prstGeom>
            <a:solidFill>
              <a:schemeClr val="accent1">
                <a:lumMod val="75000"/>
                <a:alpha val="66000"/>
              </a:schemeClr>
            </a:solidFill>
            <a:ln>
              <a:noFill/>
            </a:ln>
            <a:effectLst/>
          </p:spPr>
          <p:style>
            <a:lnRef idx="1">
              <a:schemeClr val="accent1"/>
            </a:lnRef>
            <a:fillRef idx="3">
              <a:schemeClr val="accent1"/>
            </a:fillRef>
            <a:effectRef idx="2">
              <a:schemeClr val="accent1"/>
            </a:effectRef>
            <a:fontRef idx="minor">
              <a:schemeClr val="lt1"/>
            </a:fontRef>
          </p:style>
        </p:sp>
        <p:sp>
          <p:nvSpPr>
            <p:cNvPr id="19" name="Isosceles Triangle 18"/>
            <p:cNvSpPr/>
            <p:nvPr/>
          </p:nvSpPr>
          <p:spPr>
            <a:xfrm>
              <a:off x="0" y="4013200"/>
              <a:ext cx="448733" cy="2844800"/>
            </a:xfrm>
            <a:prstGeom prst="triangle">
              <a:avLst>
                <a:gd name="adj" fmla="val 0"/>
              </a:avLst>
            </a:prstGeom>
            <a:solidFill>
              <a:schemeClr val="accent1">
                <a:alpha val="70000"/>
              </a:schemeClr>
            </a:solidFill>
            <a:ln>
              <a:noFill/>
            </a:ln>
            <a:effectLst/>
          </p:spPr>
          <p:style>
            <a:lnRef idx="1">
              <a:schemeClr val="accent1"/>
            </a:lnRef>
            <a:fillRef idx="3">
              <a:schemeClr val="accent1"/>
            </a:fillRef>
            <a:effectRef idx="2">
              <a:schemeClr val="accent1"/>
            </a:effectRef>
            <a:fontRef idx="minor">
              <a:schemeClr val="lt1"/>
            </a:fontRef>
          </p:style>
        </p:sp>
      </p:grpSp>
      <p:sp>
        <p:nvSpPr>
          <p:cNvPr id="2" name="Title Placeholder 1"/>
          <p:cNvSpPr>
            <a:spLocks noGrp="1"/>
          </p:cNvSpPr>
          <p:nvPr>
            <p:ph type="title"/>
          </p:nvPr>
        </p:nvSpPr>
        <p:spPr>
          <a:xfrm>
            <a:off x="677334" y="609600"/>
            <a:ext cx="8596668" cy="1320800"/>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p:cNvSpPr>
            <a:spLocks noGrp="1"/>
          </p:cNvSpPr>
          <p:nvPr>
            <p:ph type="body" idx="1"/>
          </p:nvPr>
        </p:nvSpPr>
        <p:spPr>
          <a:xfrm>
            <a:off x="677334" y="2160589"/>
            <a:ext cx="8596668" cy="388077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205133" y="6041362"/>
            <a:ext cx="911939" cy="365125"/>
          </a:xfrm>
          <a:prstGeom prst="rect">
            <a:avLst/>
          </a:prstGeom>
        </p:spPr>
        <p:txBody>
          <a:bodyPr vert="horz" lIns="91440" tIns="45720" rIns="91440" bIns="45720" rtlCol="0" anchor="ctr"/>
          <a:lstStyle>
            <a:lvl1pPr algn="r">
              <a:defRPr sz="900">
                <a:solidFill>
                  <a:schemeClr val="tx1">
                    <a:tint val="75000"/>
                  </a:schemeClr>
                </a:solidFill>
              </a:defRPr>
            </a:lvl1pPr>
          </a:lstStyle>
          <a:p>
            <a:fld id="{B61BEF0D-F0BB-DE4B-95CE-6DB70DBA9567}" type="datetimeFigureOut">
              <a:rPr lang="en-US" dirty="0"/>
              <a:pPr/>
              <a:t>12/17/2025</a:t>
            </a:fld>
            <a:endParaRPr lang="en-US" dirty="0"/>
          </a:p>
        </p:txBody>
      </p:sp>
      <p:sp>
        <p:nvSpPr>
          <p:cNvPr id="5" name="Footer Placeholder 4"/>
          <p:cNvSpPr>
            <a:spLocks noGrp="1"/>
          </p:cNvSpPr>
          <p:nvPr>
            <p:ph type="ftr" sz="quarter" idx="3"/>
          </p:nvPr>
        </p:nvSpPr>
        <p:spPr>
          <a:xfrm>
            <a:off x="677334" y="6041362"/>
            <a:ext cx="6297612" cy="365125"/>
          </a:xfrm>
          <a:prstGeom prst="rect">
            <a:avLst/>
          </a:prstGeom>
        </p:spPr>
        <p:txBody>
          <a:bodyPr vert="horz" lIns="91440" tIns="45720" rIns="91440" bIns="45720" rtlCol="0" anchor="ctr"/>
          <a:lstStyle>
            <a:lvl1pPr algn="l">
              <a:defRPr sz="9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590663" y="6041362"/>
            <a:ext cx="683339" cy="365125"/>
          </a:xfrm>
          <a:prstGeom prst="rect">
            <a:avLst/>
          </a:prstGeom>
        </p:spPr>
        <p:txBody>
          <a:bodyPr vert="horz" lIns="91440" tIns="45720" rIns="91440" bIns="45720" rtlCol="0" anchor="ctr"/>
          <a:lstStyle>
            <a:lvl1pPr algn="r">
              <a:defRPr sz="900">
                <a:solidFill>
                  <a:schemeClr val="accent1"/>
                </a:solidFill>
              </a:defRPr>
            </a:lvl1pPr>
          </a:lstStyle>
          <a:p>
            <a:fld id="{D57F1E4F-1CFF-5643-939E-217C01CDF565}"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49" r:id="rId1"/>
    <p:sldLayoutId id="2147483665" r:id="rId2"/>
    <p:sldLayoutId id="2147483651" r:id="rId3"/>
    <p:sldLayoutId id="2147483666" r:id="rId4"/>
    <p:sldLayoutId id="2147483653" r:id="rId5"/>
    <p:sldLayoutId id="2147483654" r:id="rId6"/>
    <p:sldLayoutId id="2147483655" r:id="rId7"/>
    <p:sldLayoutId id="2147483667" r:id="rId8"/>
    <p:sldLayoutId id="2147483657" r:id="rId9"/>
    <p:sldLayoutId id="2147483660" r:id="rId10"/>
    <p:sldLayoutId id="2147483661" r:id="rId11"/>
    <p:sldLayoutId id="2147483662" r:id="rId12"/>
    <p:sldLayoutId id="2147483663" r:id="rId13"/>
    <p:sldLayoutId id="2147483664" r:id="rId14"/>
    <p:sldLayoutId id="2147483668" r:id="rId15"/>
    <p:sldLayoutId id="2147483659" r:id="rId16"/>
  </p:sldLayoutIdLst>
  <p:txStyles>
    <p:titleStyle>
      <a:lvl1pPr algn="l" defTabSz="457200" rtl="0" eaLnBrk="1" latinLnBrk="0" hangingPunct="1">
        <a:spcBef>
          <a:spcPct val="0"/>
        </a:spcBef>
        <a:buNone/>
        <a:defRPr sz="36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accent1"/>
        </a:buClr>
        <a:buSzPct val="80000"/>
        <a:buFont typeface="Wingdings 3" charset="2"/>
        <a:buChar char=""/>
        <a:defRPr sz="1800" kern="1200">
          <a:solidFill>
            <a:schemeClr val="tx1">
              <a:lumMod val="75000"/>
              <a:lumOff val="25000"/>
            </a:schemeClr>
          </a:solidFill>
          <a:latin typeface="+mn-lt"/>
          <a:ea typeface="+mn-ea"/>
          <a:cs typeface="+mn-cs"/>
        </a:defRPr>
      </a:lvl1pPr>
      <a:lvl2pPr marL="742950" indent="-285750" algn="l" defTabSz="457200" rtl="0" eaLnBrk="1" latinLnBrk="0" hangingPunct="1">
        <a:spcBef>
          <a:spcPts val="1000"/>
        </a:spcBef>
        <a:spcAft>
          <a:spcPts val="0"/>
        </a:spcAft>
        <a:buClr>
          <a:schemeClr val="accent1"/>
        </a:buClr>
        <a:buSzPct val="80000"/>
        <a:buFont typeface="Wingdings 3" charset="2"/>
        <a:buChar char=""/>
        <a:defRPr sz="1600" kern="1200">
          <a:solidFill>
            <a:schemeClr val="tx1">
              <a:lumMod val="75000"/>
              <a:lumOff val="25000"/>
            </a:schemeClr>
          </a:solidFill>
          <a:latin typeface="+mn-lt"/>
          <a:ea typeface="+mn-ea"/>
          <a:cs typeface="+mn-cs"/>
        </a:defRPr>
      </a:lvl2pPr>
      <a:lvl3pPr marL="1143000" indent="-228600" algn="l" defTabSz="457200" rtl="0" eaLnBrk="1" latinLnBrk="0" hangingPunct="1">
        <a:spcBef>
          <a:spcPts val="1000"/>
        </a:spcBef>
        <a:spcAft>
          <a:spcPts val="0"/>
        </a:spcAft>
        <a:buClr>
          <a:schemeClr val="accent1"/>
        </a:buClr>
        <a:buSzPct val="80000"/>
        <a:buFont typeface="Wingdings 3" charset="2"/>
        <a:buChar char=""/>
        <a:defRPr sz="1400" kern="1200">
          <a:solidFill>
            <a:schemeClr val="tx1">
              <a:lumMod val="75000"/>
              <a:lumOff val="25000"/>
            </a:schemeClr>
          </a:solidFill>
          <a:latin typeface="+mn-lt"/>
          <a:ea typeface="+mn-ea"/>
          <a:cs typeface="+mn-cs"/>
        </a:defRPr>
      </a:lvl3pPr>
      <a:lvl4pPr marL="1600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4pPr>
      <a:lvl5pPr marL="20574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5pPr>
      <a:lvl6pPr marL="25146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6pPr>
      <a:lvl7pPr marL="29718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7pPr>
      <a:lvl8pPr marL="34290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8pPr>
      <a:lvl9pPr marL="3886200" indent="-228600" algn="l" defTabSz="457200" rtl="0" eaLnBrk="1" latinLnBrk="0" hangingPunct="1">
        <a:spcBef>
          <a:spcPts val="1000"/>
        </a:spcBef>
        <a:spcAft>
          <a:spcPts val="0"/>
        </a:spcAft>
        <a:buClr>
          <a:schemeClr val="accent1"/>
        </a:buClr>
        <a:buSzPct val="80000"/>
        <a:buFont typeface="Wingdings 3" charset="2"/>
        <a:buChar char=""/>
        <a:defRPr sz="1200" kern="1200">
          <a:solidFill>
            <a:schemeClr val="tx1">
              <a:lumMod val="75000"/>
              <a:lumOff val="25000"/>
            </a:schemeClr>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7" Type="http://schemas.openxmlformats.org/officeDocument/2006/relationships/image" Target="../media/image12.png"/><Relationship Id="rId2" Type="http://schemas.openxmlformats.org/officeDocument/2006/relationships/image" Target="../media/image7.png"/><Relationship Id="rId1" Type="http://schemas.openxmlformats.org/officeDocument/2006/relationships/slideLayout" Target="../slideLayouts/slideLayout7.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bg>
      <p:bgPr>
        <a:blipFill>
          <a:blip r:embed="rId2"/>
          <a:tile tx="0" ty="0" sx="100000" sy="100000" flip="none" algn="tl"/>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50F49590-EE75-9236-6F7F-D55C3155C348}"/>
              </a:ext>
            </a:extLst>
          </p:cNvPr>
          <p:cNvSpPr>
            <a:spLocks noGrp="1"/>
          </p:cNvSpPr>
          <p:nvPr/>
        </p:nvSpPr>
        <p:spPr>
          <a:xfrm>
            <a:off x="1599884" y="391154"/>
            <a:ext cx="1533841" cy="585215"/>
          </a:xfrm>
          <a:prstGeom prst="rect">
            <a:avLst/>
          </a:prstGeom>
        </p:spPr>
        <p:txBody>
          <a:bodyPr vert="horz" lIns="91440" tIns="45720" rIns="91440" bIns="45720" rtlCol="0" anchor="b">
            <a:noAutofit/>
          </a:bodyPr>
          <a:lstStyle>
            <a:lvl1pPr algn="r" defTabSz="457200" rtl="0" eaLnBrk="1" latinLnBrk="0" hangingPunct="1">
              <a:spcBef>
                <a:spcPct val="0"/>
              </a:spcBef>
              <a:buNone/>
              <a:defRPr sz="5400" kern="1200">
                <a:solidFill>
                  <a:schemeClr val="accent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l"/>
            <a:r>
              <a:rPr lang="en-US" sz="3200" b="1" dirty="0">
                <a:solidFill>
                  <a:srgbClr val="C00000"/>
                </a:solidFill>
              </a:rPr>
              <a:t>RDBMS</a:t>
            </a:r>
            <a:endParaRPr lang="en-IN" sz="3200" b="1" dirty="0">
              <a:solidFill>
                <a:srgbClr val="C00000"/>
              </a:solidFill>
            </a:endParaRPr>
          </a:p>
        </p:txBody>
      </p:sp>
      <p:sp>
        <p:nvSpPr>
          <p:cNvPr id="5" name="Subtitle 2">
            <a:extLst>
              <a:ext uri="{FF2B5EF4-FFF2-40B4-BE49-F238E27FC236}">
                <a16:creationId xmlns:a16="http://schemas.microsoft.com/office/drawing/2014/main" id="{9592BC97-ADC0-1CF7-F659-A798E1C38A44}"/>
              </a:ext>
            </a:extLst>
          </p:cNvPr>
          <p:cNvSpPr>
            <a:spLocks noGrp="1"/>
          </p:cNvSpPr>
          <p:nvPr/>
        </p:nvSpPr>
        <p:spPr>
          <a:xfrm>
            <a:off x="3008376" y="503110"/>
            <a:ext cx="1310956" cy="393002"/>
          </a:xfrm>
          <a:prstGeom prst="rect">
            <a:avLst/>
          </a:prstGeom>
        </p:spPr>
        <p:txBody>
          <a:bodyPr vert="horz" lIns="91440" tIns="45720" rIns="91440" bIns="45720" rtlCol="0" anchor="t">
            <a:normAutofit/>
          </a:bodyPr>
          <a:lstStyle>
            <a:lvl1pPr marL="0" indent="0" algn="r" defTabSz="457200" rtl="0" eaLnBrk="1" latinLnBrk="0" hangingPunct="1">
              <a:spcBef>
                <a:spcPts val="1000"/>
              </a:spcBef>
              <a:spcAft>
                <a:spcPts val="0"/>
              </a:spcAft>
              <a:buClr>
                <a:schemeClr val="accent1"/>
              </a:buClr>
              <a:buSzPct val="80000"/>
              <a:buFont typeface="Wingdings 3" charset="2"/>
              <a:buNone/>
              <a:defRPr sz="1800" kern="1200">
                <a:solidFill>
                  <a:schemeClr val="tx1">
                    <a:lumMod val="50000"/>
                    <a:lumOff val="50000"/>
                  </a:schemeClr>
                </a:solidFill>
                <a:latin typeface="+mn-lt"/>
                <a:ea typeface="+mn-ea"/>
                <a:cs typeface="+mn-cs"/>
              </a:defRPr>
            </a:lvl1pPr>
            <a:lvl2pPr marL="457200" indent="0" algn="ctr" defTabSz="457200" rtl="0" eaLnBrk="1" latinLnBrk="0" hangingPunct="1">
              <a:spcBef>
                <a:spcPts val="1000"/>
              </a:spcBef>
              <a:spcAft>
                <a:spcPts val="0"/>
              </a:spcAft>
              <a:buClr>
                <a:schemeClr val="accent1"/>
              </a:buClr>
              <a:buSzPct val="80000"/>
              <a:buFont typeface="Wingdings 3" charset="2"/>
              <a:buNone/>
              <a:defRPr sz="1600" kern="1200">
                <a:solidFill>
                  <a:schemeClr val="tx1">
                    <a:tint val="75000"/>
                  </a:schemeClr>
                </a:solidFill>
                <a:latin typeface="+mn-lt"/>
                <a:ea typeface="+mn-ea"/>
                <a:cs typeface="+mn-cs"/>
              </a:defRPr>
            </a:lvl2pPr>
            <a:lvl3pPr marL="914400" indent="0" algn="ctr" defTabSz="457200" rtl="0" eaLnBrk="1" latinLnBrk="0" hangingPunct="1">
              <a:spcBef>
                <a:spcPts val="1000"/>
              </a:spcBef>
              <a:spcAft>
                <a:spcPts val="0"/>
              </a:spcAft>
              <a:buClr>
                <a:schemeClr val="accent1"/>
              </a:buClr>
              <a:buSzPct val="80000"/>
              <a:buFont typeface="Wingdings 3" charset="2"/>
              <a:buNone/>
              <a:defRPr sz="1400" kern="1200">
                <a:solidFill>
                  <a:schemeClr val="tx1">
                    <a:tint val="75000"/>
                  </a:schemeClr>
                </a:solidFill>
                <a:latin typeface="+mn-lt"/>
                <a:ea typeface="+mn-ea"/>
                <a:cs typeface="+mn-cs"/>
              </a:defRPr>
            </a:lvl3pPr>
            <a:lvl4pPr marL="1371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4pPr>
            <a:lvl5pPr marL="18288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5pPr>
            <a:lvl6pPr marL="22860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6pPr>
            <a:lvl7pPr marL="27432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7pPr>
            <a:lvl8pPr marL="32004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8pPr>
            <a:lvl9pPr marL="3657600" indent="0" algn="ctr" defTabSz="457200" rtl="0" eaLnBrk="1" latinLnBrk="0" hangingPunct="1">
              <a:spcBef>
                <a:spcPts val="1000"/>
              </a:spcBef>
              <a:spcAft>
                <a:spcPts val="0"/>
              </a:spcAft>
              <a:buClr>
                <a:schemeClr val="accent1"/>
              </a:buClr>
              <a:buSzPct val="80000"/>
              <a:buFont typeface="Wingdings 3" charset="2"/>
              <a:buNone/>
              <a:defRPr sz="1200" kern="1200">
                <a:solidFill>
                  <a:schemeClr val="tx1">
                    <a:tint val="75000"/>
                  </a:schemeClr>
                </a:solidFill>
                <a:latin typeface="+mn-lt"/>
                <a:ea typeface="+mn-ea"/>
                <a:cs typeface="+mn-cs"/>
              </a:defRPr>
            </a:lvl9pPr>
          </a:lstStyle>
          <a:p>
            <a:r>
              <a:rPr lang="en-US" dirty="0"/>
              <a:t>240110102</a:t>
            </a:r>
            <a:endParaRPr lang="en-IN" dirty="0"/>
          </a:p>
        </p:txBody>
      </p:sp>
      <p:sp>
        <p:nvSpPr>
          <p:cNvPr id="3" name="TextBox 2">
            <a:extLst>
              <a:ext uri="{FF2B5EF4-FFF2-40B4-BE49-F238E27FC236}">
                <a16:creationId xmlns:a16="http://schemas.microsoft.com/office/drawing/2014/main" id="{F31B8DA5-9B6A-091F-AFA9-2608FB9A8EC5}"/>
              </a:ext>
            </a:extLst>
          </p:cNvPr>
          <p:cNvSpPr txBox="1"/>
          <p:nvPr/>
        </p:nvSpPr>
        <p:spPr>
          <a:xfrm>
            <a:off x="2103947" y="3033901"/>
            <a:ext cx="9336340" cy="1508105"/>
          </a:xfrm>
          <a:prstGeom prst="rect">
            <a:avLst/>
          </a:prstGeom>
          <a:noFill/>
        </p:spPr>
        <p:txBody>
          <a:bodyPr wrap="square">
            <a:spAutoFit/>
          </a:bodyPr>
          <a:lstStyle/>
          <a:p>
            <a:r>
              <a:rPr lang="en-IN" sz="2000" b="1" dirty="0"/>
              <a:t>Topics:</a:t>
            </a:r>
            <a:endParaRPr lang="en-IN" b="1" dirty="0"/>
          </a:p>
          <a:p>
            <a:endParaRPr lang="en-IN" dirty="0"/>
          </a:p>
          <a:p>
            <a:r>
              <a:rPr lang="en-US" dirty="0"/>
              <a:t>File Organization: Heap, Sequential, Hashed , Indexing: Primary, Secondary, Composite, B+ Trees, Cost Estimation Basics, Query Optimization Techniques, Query Execution Plan, Statistics and Histograms</a:t>
            </a:r>
          </a:p>
        </p:txBody>
      </p:sp>
      <p:sp>
        <p:nvSpPr>
          <p:cNvPr id="7" name="TextBox 6">
            <a:extLst>
              <a:ext uri="{FF2B5EF4-FFF2-40B4-BE49-F238E27FC236}">
                <a16:creationId xmlns:a16="http://schemas.microsoft.com/office/drawing/2014/main" id="{2FA5EB79-E362-2DF0-32E5-D7618658BE9C}"/>
              </a:ext>
            </a:extLst>
          </p:cNvPr>
          <p:cNvSpPr txBox="1"/>
          <p:nvPr/>
        </p:nvSpPr>
        <p:spPr>
          <a:xfrm>
            <a:off x="1599884" y="1487953"/>
            <a:ext cx="9336340" cy="954107"/>
          </a:xfrm>
          <a:prstGeom prst="rect">
            <a:avLst/>
          </a:prstGeom>
          <a:noFill/>
        </p:spPr>
        <p:txBody>
          <a:bodyPr wrap="square">
            <a:spAutoFit/>
          </a:bodyPr>
          <a:lstStyle/>
          <a:p>
            <a:r>
              <a:rPr lang="en-US" sz="2800" b="1" dirty="0">
                <a:solidFill>
                  <a:schemeClr val="accent1"/>
                </a:solidFill>
              </a:rPr>
              <a:t>Unit 4 - Indexing, File Organization, Query Optimization (CO4)</a:t>
            </a:r>
            <a:endParaRPr lang="en-IN" sz="2800" b="1" dirty="0">
              <a:solidFill>
                <a:schemeClr val="accent1"/>
              </a:solidFill>
            </a:endParaRPr>
          </a:p>
        </p:txBody>
      </p:sp>
      <p:sp>
        <p:nvSpPr>
          <p:cNvPr id="9" name="TextBox 8">
            <a:extLst>
              <a:ext uri="{FF2B5EF4-FFF2-40B4-BE49-F238E27FC236}">
                <a16:creationId xmlns:a16="http://schemas.microsoft.com/office/drawing/2014/main" id="{EEA2F35F-2B10-477F-18F4-C5BDF6D1D596}"/>
              </a:ext>
            </a:extLst>
          </p:cNvPr>
          <p:cNvSpPr txBox="1"/>
          <p:nvPr/>
        </p:nvSpPr>
        <p:spPr>
          <a:xfrm>
            <a:off x="10819638" y="6303401"/>
            <a:ext cx="1241298" cy="276999"/>
          </a:xfrm>
          <a:prstGeom prst="rect">
            <a:avLst/>
          </a:prstGeom>
          <a:noFill/>
        </p:spPr>
        <p:txBody>
          <a:bodyPr wrap="square">
            <a:spAutoFit/>
          </a:bodyPr>
          <a:lstStyle/>
          <a:p>
            <a:r>
              <a:rPr lang="en-US" sz="1200" i="1" dirty="0"/>
              <a:t>12/12/2025</a:t>
            </a:r>
            <a:endParaRPr lang="en-IN" sz="1200" i="1" dirty="0"/>
          </a:p>
        </p:txBody>
      </p:sp>
    </p:spTree>
    <p:extLst>
      <p:ext uri="{BB962C8B-B14F-4D97-AF65-F5344CB8AC3E}">
        <p14:creationId xmlns:p14="http://schemas.microsoft.com/office/powerpoint/2010/main" val="427242978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3" name="Rectangle 2"/>
          <p:cNvSpPr/>
          <p:nvPr/>
        </p:nvSpPr>
        <p:spPr>
          <a:xfrm>
            <a:off x="263235" y="706639"/>
            <a:ext cx="11748656" cy="3693319"/>
          </a:xfrm>
          <a:prstGeom prst="rect">
            <a:avLst/>
          </a:prstGeom>
        </p:spPr>
        <p:txBody>
          <a:bodyPr wrap="square">
            <a:spAutoFit/>
          </a:bodyPr>
          <a:lstStyle/>
          <a:p>
            <a:pPr fontAlgn="base"/>
            <a:r>
              <a:rPr lang="en-US" b="0" i="0" dirty="0">
                <a:solidFill>
                  <a:srgbClr val="273239"/>
                </a:solidFill>
                <a:effectLst/>
                <a:latin typeface="Nunito"/>
              </a:rPr>
              <a:t>File organization in DBMS refers to the method of storing data records in a file so they can be accessed efficiently. It determines how data is arranged, stored, and retrieved from physical storage.</a:t>
            </a:r>
          </a:p>
          <a:p>
            <a:pPr fontAlgn="base"/>
            <a:endParaRPr lang="en-US" b="0" i="0" dirty="0">
              <a:solidFill>
                <a:srgbClr val="273239"/>
              </a:solidFill>
              <a:effectLst/>
              <a:latin typeface="Nunito"/>
            </a:endParaRPr>
          </a:p>
          <a:p>
            <a:pPr fontAlgn="base"/>
            <a:r>
              <a:rPr lang="en-US" b="1" i="0" dirty="0">
                <a:solidFill>
                  <a:srgbClr val="273239"/>
                </a:solidFill>
                <a:effectLst/>
                <a:latin typeface="Nunito"/>
              </a:rPr>
              <a:t>The Objective of File Organization</a:t>
            </a:r>
          </a:p>
          <a:p>
            <a:pPr fontAlgn="base"/>
            <a:endParaRPr lang="en-US" b="1" i="0" dirty="0">
              <a:solidFill>
                <a:srgbClr val="273239"/>
              </a:solidFill>
              <a:effectLst/>
              <a:latin typeface="Nunito"/>
            </a:endParaRPr>
          </a:p>
          <a:p>
            <a:pPr fontAlgn="base">
              <a:lnSpc>
                <a:spcPct val="150000"/>
              </a:lnSpc>
              <a:buFont typeface="Arial" panose="020B0604020202020204" pitchFamily="34" charset="0"/>
              <a:buChar char="•"/>
            </a:pPr>
            <a:r>
              <a:rPr lang="en-US" b="0" i="0" dirty="0">
                <a:solidFill>
                  <a:srgbClr val="273239"/>
                </a:solidFill>
                <a:effectLst/>
                <a:latin typeface="Nunito"/>
              </a:rPr>
              <a:t>  It helps in the faster selection of records i.e. it makes the process faster.</a:t>
            </a:r>
          </a:p>
          <a:p>
            <a:pPr fontAlgn="base">
              <a:lnSpc>
                <a:spcPct val="150000"/>
              </a:lnSpc>
              <a:buFont typeface="Arial" panose="020B0604020202020204" pitchFamily="34" charset="0"/>
              <a:buChar char="•"/>
            </a:pPr>
            <a:r>
              <a:rPr lang="en-US" b="0" i="0" dirty="0">
                <a:solidFill>
                  <a:srgbClr val="273239"/>
                </a:solidFill>
                <a:effectLst/>
                <a:latin typeface="Nunito"/>
              </a:rPr>
              <a:t>  Different Operations like inserting, deleting, and updating different records are faster and easier.</a:t>
            </a:r>
          </a:p>
          <a:p>
            <a:pPr fontAlgn="base">
              <a:lnSpc>
                <a:spcPct val="150000"/>
              </a:lnSpc>
              <a:buFont typeface="Arial" panose="020B0604020202020204" pitchFamily="34" charset="0"/>
              <a:buChar char="•"/>
            </a:pPr>
            <a:r>
              <a:rPr lang="en-US" b="0" i="0" dirty="0">
                <a:solidFill>
                  <a:srgbClr val="273239"/>
                </a:solidFill>
                <a:effectLst/>
                <a:latin typeface="Nunito"/>
              </a:rPr>
              <a:t>  It prevents us from inserting duplicate records via various operations.</a:t>
            </a:r>
          </a:p>
          <a:p>
            <a:pPr fontAlgn="base">
              <a:lnSpc>
                <a:spcPct val="150000"/>
              </a:lnSpc>
              <a:buFont typeface="Arial" panose="020B0604020202020204" pitchFamily="34" charset="0"/>
              <a:buChar char="•"/>
            </a:pPr>
            <a:r>
              <a:rPr lang="en-US" b="0" i="0" dirty="0">
                <a:solidFill>
                  <a:srgbClr val="273239"/>
                </a:solidFill>
                <a:effectLst/>
                <a:latin typeface="Nunito"/>
              </a:rPr>
              <a:t>  It helps in storing the records or the data very efficiently at a minimal cost.</a:t>
            </a:r>
          </a:p>
          <a:p>
            <a:pPr fontAlgn="base">
              <a:buFont typeface="Arial" panose="020B0604020202020204" pitchFamily="34" charset="0"/>
              <a:buChar char="•"/>
            </a:pPr>
            <a:endParaRPr lang="en-US" dirty="0">
              <a:solidFill>
                <a:srgbClr val="273239"/>
              </a:solidFill>
              <a:latin typeface="Nunito"/>
            </a:endParaRPr>
          </a:p>
          <a:p>
            <a:pPr fontAlgn="base"/>
            <a:endParaRPr lang="en-US" b="0" i="0" dirty="0">
              <a:solidFill>
                <a:srgbClr val="273239"/>
              </a:solidFill>
              <a:effectLst/>
              <a:latin typeface="Nunito"/>
            </a:endParaRPr>
          </a:p>
        </p:txBody>
      </p:sp>
    </p:spTree>
    <p:extLst>
      <p:ext uri="{BB962C8B-B14F-4D97-AF65-F5344CB8AC3E}">
        <p14:creationId xmlns:p14="http://schemas.microsoft.com/office/powerpoint/2010/main" val="235695255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263235" y="1052405"/>
            <a:ext cx="10906991" cy="5043688"/>
          </a:xfrm>
          <a:prstGeom prst="rect">
            <a:avLst/>
          </a:prstGeom>
        </p:spPr>
        <p:txBody>
          <a:bodyPr wrap="square">
            <a:spAutoFit/>
          </a:bodyPr>
          <a:lstStyle/>
          <a:p>
            <a:pPr fontAlgn="base"/>
            <a:r>
              <a:rPr lang="en-US" b="1" i="0" dirty="0">
                <a:solidFill>
                  <a:srgbClr val="273239"/>
                </a:solidFill>
                <a:effectLst/>
                <a:latin typeface="Nunito"/>
              </a:rPr>
              <a:t>Types of File Organizations</a:t>
            </a:r>
          </a:p>
          <a:p>
            <a:pPr algn="just" fontAlgn="base"/>
            <a:r>
              <a:rPr lang="en-US" b="0" i="0" dirty="0">
                <a:solidFill>
                  <a:srgbClr val="273239"/>
                </a:solidFill>
                <a:effectLst/>
                <a:latin typeface="Nunito"/>
              </a:rPr>
              <a:t>Various methods have been introduced to Organize files. These particular methods have advantages and disadvantages on the basis of access or selection. Thus it is all upon the programmer to decide the best-suited file Organization method according to the requirements. </a:t>
            </a:r>
          </a:p>
          <a:p>
            <a:pPr algn="just" fontAlgn="base"/>
            <a:endParaRPr lang="en-US" b="0" i="0" dirty="0">
              <a:solidFill>
                <a:srgbClr val="273239"/>
              </a:solidFill>
              <a:effectLst/>
              <a:latin typeface="Nunito"/>
            </a:endParaRPr>
          </a:p>
          <a:p>
            <a:pPr algn="just" fontAlgn="base"/>
            <a:endParaRPr lang="en-US" dirty="0">
              <a:solidFill>
                <a:srgbClr val="273239"/>
              </a:solidFill>
              <a:latin typeface="Nunito"/>
            </a:endParaRPr>
          </a:p>
          <a:p>
            <a:pPr algn="just" fontAlgn="base"/>
            <a:r>
              <a:rPr lang="en-US" b="0" i="0" dirty="0">
                <a:solidFill>
                  <a:srgbClr val="273239"/>
                </a:solidFill>
                <a:effectLst/>
                <a:latin typeface="Nunito"/>
              </a:rPr>
              <a:t>Some types of File Organizations are: </a:t>
            </a:r>
          </a:p>
          <a:p>
            <a:pPr algn="just" fontAlgn="base"/>
            <a:endParaRPr lang="en-US" dirty="0">
              <a:solidFill>
                <a:srgbClr val="273239"/>
              </a:solidFill>
              <a:latin typeface="Nunito"/>
            </a:endParaRPr>
          </a:p>
          <a:p>
            <a:pPr algn="just" fontAlgn="base"/>
            <a:endParaRPr lang="en-US" b="0" i="0" dirty="0">
              <a:solidFill>
                <a:srgbClr val="273239"/>
              </a:solidFill>
              <a:effectLst/>
              <a:latin typeface="Nunito"/>
            </a:endParaRPr>
          </a:p>
          <a:p>
            <a:pPr fontAlgn="base">
              <a:lnSpc>
                <a:spcPct val="150000"/>
              </a:lnSpc>
              <a:buFont typeface="Arial" panose="020B0604020202020204" pitchFamily="34" charset="0"/>
              <a:buChar char="•"/>
            </a:pPr>
            <a:r>
              <a:rPr lang="en-US" b="0" i="0" dirty="0">
                <a:solidFill>
                  <a:srgbClr val="273239"/>
                </a:solidFill>
                <a:effectLst/>
                <a:latin typeface="Nunito"/>
              </a:rPr>
              <a:t>  Sequential File Organization</a:t>
            </a:r>
          </a:p>
          <a:p>
            <a:pPr fontAlgn="base">
              <a:lnSpc>
                <a:spcPct val="150000"/>
              </a:lnSpc>
              <a:buFont typeface="Arial" panose="020B0604020202020204" pitchFamily="34" charset="0"/>
              <a:buChar char="•"/>
            </a:pPr>
            <a:r>
              <a:rPr lang="en-US" b="0" i="0" dirty="0">
                <a:solidFill>
                  <a:srgbClr val="273239"/>
                </a:solidFill>
                <a:effectLst/>
                <a:latin typeface="Nunito"/>
              </a:rPr>
              <a:t>  Heap File Organization</a:t>
            </a:r>
          </a:p>
          <a:p>
            <a:pPr fontAlgn="base">
              <a:lnSpc>
                <a:spcPct val="150000"/>
              </a:lnSpc>
              <a:buFont typeface="Arial" panose="020B0604020202020204" pitchFamily="34" charset="0"/>
              <a:buChar char="•"/>
            </a:pPr>
            <a:r>
              <a:rPr lang="en-US" b="0" i="0" dirty="0">
                <a:solidFill>
                  <a:srgbClr val="273239"/>
                </a:solidFill>
                <a:effectLst/>
                <a:latin typeface="Nunito"/>
              </a:rPr>
              <a:t>  Clustered File Organization</a:t>
            </a:r>
          </a:p>
          <a:p>
            <a:pPr fontAlgn="base">
              <a:lnSpc>
                <a:spcPct val="150000"/>
              </a:lnSpc>
              <a:buFont typeface="Arial" panose="020B0604020202020204" pitchFamily="34" charset="0"/>
              <a:buChar char="•"/>
            </a:pPr>
            <a:r>
              <a:rPr lang="en-US" b="0" i="0" dirty="0">
                <a:solidFill>
                  <a:srgbClr val="273239"/>
                </a:solidFill>
                <a:effectLst/>
                <a:latin typeface="Nunito"/>
              </a:rPr>
              <a:t>  ISAM (Indexed Sequential Access Method)</a:t>
            </a:r>
          </a:p>
          <a:p>
            <a:pPr fontAlgn="base">
              <a:lnSpc>
                <a:spcPct val="150000"/>
              </a:lnSpc>
              <a:buFont typeface="Arial" panose="020B0604020202020204" pitchFamily="34" charset="0"/>
              <a:buChar char="•"/>
            </a:pPr>
            <a:r>
              <a:rPr lang="en-US" b="0" i="0" dirty="0">
                <a:solidFill>
                  <a:srgbClr val="273239"/>
                </a:solidFill>
                <a:effectLst/>
                <a:latin typeface="Nunito"/>
              </a:rPr>
              <a:t>  Hash File Organization</a:t>
            </a:r>
          </a:p>
          <a:p>
            <a:pPr fontAlgn="base">
              <a:lnSpc>
                <a:spcPct val="150000"/>
              </a:lnSpc>
              <a:buFont typeface="Arial" panose="020B0604020202020204" pitchFamily="34" charset="0"/>
              <a:buChar char="•"/>
            </a:pPr>
            <a:r>
              <a:rPr lang="en-US" b="0" i="0" dirty="0">
                <a:solidFill>
                  <a:srgbClr val="273239"/>
                </a:solidFill>
                <a:effectLst/>
                <a:latin typeface="Nunito"/>
              </a:rPr>
              <a:t>  B+ Tree File Organization</a:t>
            </a:r>
          </a:p>
        </p:txBody>
      </p:sp>
      <p:pic>
        <p:nvPicPr>
          <p:cNvPr id="3" name="Picture 2"/>
          <p:cNvPicPr>
            <a:picLocks noChangeAspect="1"/>
          </p:cNvPicPr>
          <p:nvPr/>
        </p:nvPicPr>
        <p:blipFill>
          <a:blip r:embed="rId2" cstate="email">
            <a:extLst>
              <a:ext uri="{28A0092B-C50C-407E-A947-70E740481C1C}">
                <a14:useLocalDpi xmlns:a14="http://schemas.microsoft.com/office/drawing/2010/main"/>
              </a:ext>
            </a:extLst>
          </a:blip>
          <a:srcRect l="7088" t="16674" r="2152" b="10255"/>
          <a:stretch>
            <a:fillRect/>
          </a:stretch>
        </p:blipFill>
        <p:spPr>
          <a:xfrm>
            <a:off x="4224261" y="2798064"/>
            <a:ext cx="5797563" cy="1709927"/>
          </a:xfrm>
          <a:prstGeom prst="rect">
            <a:avLst/>
          </a:prstGeom>
        </p:spPr>
      </p:pic>
    </p:spTree>
    <p:extLst>
      <p:ext uri="{BB962C8B-B14F-4D97-AF65-F5344CB8AC3E}">
        <p14:creationId xmlns:p14="http://schemas.microsoft.com/office/powerpoint/2010/main" val="395846351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3" name="Rectangle 2"/>
          <p:cNvSpPr/>
          <p:nvPr/>
        </p:nvSpPr>
        <p:spPr>
          <a:xfrm>
            <a:off x="273626" y="871927"/>
            <a:ext cx="11800609" cy="923330"/>
          </a:xfrm>
          <a:prstGeom prst="rect">
            <a:avLst/>
          </a:prstGeom>
        </p:spPr>
        <p:txBody>
          <a:bodyPr wrap="square">
            <a:spAutoFit/>
          </a:bodyPr>
          <a:lstStyle/>
          <a:p>
            <a:pPr fontAlgn="base"/>
            <a:r>
              <a:rPr lang="en-US" b="1" i="0" dirty="0">
                <a:solidFill>
                  <a:srgbClr val="273239"/>
                </a:solidFill>
                <a:effectLst/>
                <a:latin typeface="Nunito"/>
              </a:rPr>
              <a:t>Sequential File Organization</a:t>
            </a:r>
          </a:p>
          <a:p>
            <a:pPr algn="just" fontAlgn="base"/>
            <a:r>
              <a:rPr lang="en-US" b="0" i="0" dirty="0">
                <a:solidFill>
                  <a:srgbClr val="273239"/>
                </a:solidFill>
                <a:effectLst/>
                <a:latin typeface="Nunito"/>
              </a:rPr>
              <a:t>The easiest method for file Organization is the Sequential method. In this method, the file is stored one after another in a sequential manner. There are two ways to implement this method:</a:t>
            </a:r>
          </a:p>
        </p:txBody>
      </p:sp>
      <p:sp>
        <p:nvSpPr>
          <p:cNvPr id="5" name="Rectangle 4"/>
          <p:cNvSpPr/>
          <p:nvPr/>
        </p:nvSpPr>
        <p:spPr>
          <a:xfrm>
            <a:off x="273625" y="1956000"/>
            <a:ext cx="11800609" cy="923330"/>
          </a:xfrm>
          <a:prstGeom prst="rect">
            <a:avLst/>
          </a:prstGeom>
        </p:spPr>
        <p:txBody>
          <a:bodyPr wrap="square">
            <a:spAutoFit/>
          </a:bodyPr>
          <a:lstStyle/>
          <a:p>
            <a:pPr fontAlgn="base"/>
            <a:r>
              <a:rPr lang="en-US" b="1" i="0" dirty="0">
                <a:solidFill>
                  <a:srgbClr val="273239"/>
                </a:solidFill>
                <a:effectLst/>
                <a:latin typeface="Nunito"/>
              </a:rPr>
              <a:t>1. Pile File Method</a:t>
            </a:r>
          </a:p>
          <a:p>
            <a:pPr algn="just" fontAlgn="base"/>
            <a:r>
              <a:rPr lang="en-US" b="0" i="0" dirty="0">
                <a:solidFill>
                  <a:srgbClr val="273239"/>
                </a:solidFill>
                <a:effectLst/>
                <a:latin typeface="Nunito"/>
              </a:rPr>
              <a:t>This method is quite simple, in which we store the records in a sequence i.e. one after the other in the order in which they are inserted into the tables.</a:t>
            </a:r>
          </a:p>
        </p:txBody>
      </p:sp>
      <p:pic>
        <p:nvPicPr>
          <p:cNvPr id="6" name="Picture 5"/>
          <p:cNvPicPr>
            <a:picLocks noChangeAspect="1"/>
          </p:cNvPicPr>
          <p:nvPr/>
        </p:nvPicPr>
        <p:blipFill>
          <a:blip r:embed="rId2"/>
          <a:stretch>
            <a:fillRect/>
          </a:stretch>
        </p:blipFill>
        <p:spPr>
          <a:xfrm>
            <a:off x="897515" y="3386636"/>
            <a:ext cx="7103485" cy="2462787"/>
          </a:xfrm>
          <a:prstGeom prst="rect">
            <a:avLst/>
          </a:prstGeom>
        </p:spPr>
      </p:pic>
    </p:spTree>
    <p:extLst>
      <p:ext uri="{BB962C8B-B14F-4D97-AF65-F5344CB8AC3E}">
        <p14:creationId xmlns:p14="http://schemas.microsoft.com/office/powerpoint/2010/main" val="19630932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335972" y="906656"/>
            <a:ext cx="11856027" cy="1477328"/>
          </a:xfrm>
          <a:prstGeom prst="rect">
            <a:avLst/>
          </a:prstGeom>
        </p:spPr>
        <p:txBody>
          <a:bodyPr wrap="square">
            <a:spAutoFit/>
          </a:bodyPr>
          <a:lstStyle/>
          <a:p>
            <a:pPr fontAlgn="base"/>
            <a:r>
              <a:rPr lang="en-US" b="1" i="0" dirty="0">
                <a:solidFill>
                  <a:srgbClr val="273239"/>
                </a:solidFill>
                <a:effectLst/>
                <a:latin typeface="Nunito"/>
              </a:rPr>
              <a:t>Insertion of the new record: </a:t>
            </a:r>
            <a:r>
              <a:rPr lang="en-US" b="0" i="0" dirty="0">
                <a:solidFill>
                  <a:srgbClr val="273239"/>
                </a:solidFill>
                <a:effectLst/>
                <a:latin typeface="Nunito"/>
              </a:rPr>
              <a:t>Let the R1, R3, and so on up to R5 and R4 be four records in the sequence. Here, records are nothing but a row in any table. Suppose a new record R2 has to be inserted in the sequence, then it is simply placed at the end of the file. </a:t>
            </a:r>
          </a:p>
          <a:p>
            <a:br>
              <a:rPr lang="en-US" dirty="0"/>
            </a:br>
            <a:endParaRPr lang="en-IN" dirty="0"/>
          </a:p>
        </p:txBody>
      </p:sp>
      <p:pic>
        <p:nvPicPr>
          <p:cNvPr id="7" name="Picture 6"/>
          <p:cNvPicPr>
            <a:picLocks noChangeAspect="1"/>
          </p:cNvPicPr>
          <p:nvPr/>
        </p:nvPicPr>
        <p:blipFill>
          <a:blip r:embed="rId2"/>
          <a:stretch>
            <a:fillRect/>
          </a:stretch>
        </p:blipFill>
        <p:spPr>
          <a:xfrm>
            <a:off x="1805421" y="2607210"/>
            <a:ext cx="8211640" cy="3107790"/>
          </a:xfrm>
          <a:prstGeom prst="rect">
            <a:avLst/>
          </a:prstGeom>
        </p:spPr>
      </p:pic>
    </p:spTree>
    <p:extLst>
      <p:ext uri="{BB962C8B-B14F-4D97-AF65-F5344CB8AC3E}">
        <p14:creationId xmlns:p14="http://schemas.microsoft.com/office/powerpoint/2010/main" val="8483386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3" name="Rectangle 2"/>
          <p:cNvSpPr/>
          <p:nvPr/>
        </p:nvSpPr>
        <p:spPr>
          <a:xfrm>
            <a:off x="439881" y="1128282"/>
            <a:ext cx="11478491" cy="1200329"/>
          </a:xfrm>
          <a:prstGeom prst="rect">
            <a:avLst/>
          </a:prstGeom>
        </p:spPr>
        <p:txBody>
          <a:bodyPr wrap="square">
            <a:spAutoFit/>
          </a:bodyPr>
          <a:lstStyle/>
          <a:p>
            <a:pPr fontAlgn="base"/>
            <a:r>
              <a:rPr lang="en-US" b="1" i="0" dirty="0">
                <a:solidFill>
                  <a:srgbClr val="273239"/>
                </a:solidFill>
                <a:effectLst/>
                <a:latin typeface="Nunito"/>
              </a:rPr>
              <a:t>2. Sorted File Method</a:t>
            </a:r>
          </a:p>
          <a:p>
            <a:pPr algn="just" fontAlgn="base"/>
            <a:r>
              <a:rPr lang="en-US" b="0" i="0" dirty="0">
                <a:solidFill>
                  <a:srgbClr val="273239"/>
                </a:solidFill>
                <a:effectLst/>
                <a:latin typeface="Nunito"/>
              </a:rPr>
              <a:t>In this method, As the name itself suggests whenever a new record has to be inserted, it is always inserted in a sorted (ascending or descending) manner. The sorting of records may be based on any </a:t>
            </a:r>
            <a:r>
              <a:rPr lang="en-US" b="0" i="0" u="sng" dirty="0">
                <a:solidFill>
                  <a:srgbClr val="357960"/>
                </a:solidFill>
                <a:effectLst/>
                <a:latin typeface="Nunito"/>
              </a:rPr>
              <a:t>primary key</a:t>
            </a:r>
            <a:r>
              <a:rPr lang="en-US" b="0" i="0" dirty="0">
                <a:solidFill>
                  <a:srgbClr val="273239"/>
                </a:solidFill>
                <a:effectLst/>
                <a:latin typeface="Nunito"/>
              </a:rPr>
              <a:t> or any other key. </a:t>
            </a:r>
          </a:p>
        </p:txBody>
      </p:sp>
      <p:pic>
        <p:nvPicPr>
          <p:cNvPr id="5" name="Picture 4"/>
          <p:cNvPicPr>
            <a:picLocks noChangeAspect="1"/>
          </p:cNvPicPr>
          <p:nvPr/>
        </p:nvPicPr>
        <p:blipFill>
          <a:blip r:embed="rId2"/>
          <a:stretch>
            <a:fillRect/>
          </a:stretch>
        </p:blipFill>
        <p:spPr>
          <a:xfrm>
            <a:off x="1367270" y="2755323"/>
            <a:ext cx="9172646" cy="2783032"/>
          </a:xfrm>
          <a:prstGeom prst="rect">
            <a:avLst/>
          </a:prstGeom>
        </p:spPr>
      </p:pic>
    </p:spTree>
    <p:extLst>
      <p:ext uri="{BB962C8B-B14F-4D97-AF65-F5344CB8AC3E}">
        <p14:creationId xmlns:p14="http://schemas.microsoft.com/office/powerpoint/2010/main" val="190083790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284017" y="1142091"/>
            <a:ext cx="11800609" cy="923330"/>
          </a:xfrm>
          <a:prstGeom prst="rect">
            <a:avLst/>
          </a:prstGeom>
        </p:spPr>
        <p:txBody>
          <a:bodyPr wrap="square">
            <a:spAutoFit/>
          </a:bodyPr>
          <a:lstStyle/>
          <a:p>
            <a:r>
              <a:rPr lang="en-US" b="1" i="0" dirty="0">
                <a:solidFill>
                  <a:srgbClr val="273239"/>
                </a:solidFill>
                <a:effectLst/>
                <a:latin typeface="Nunito"/>
              </a:rPr>
              <a:t>Insertion of the new record: </a:t>
            </a:r>
            <a:r>
              <a:rPr lang="en-US" b="0" i="0" dirty="0">
                <a:solidFill>
                  <a:srgbClr val="273239"/>
                </a:solidFill>
                <a:effectLst/>
                <a:latin typeface="Nunito"/>
              </a:rPr>
              <a:t>Let us assume that there is a preexisting sorted sequence of four records R1, R3, and so on up to R7 and R8. Suppose a new record R2 has to be inserted in the sequence, then it will be inserted at the end of the file and then it will sort the sequence. </a:t>
            </a:r>
            <a:endParaRPr lang="en-IN" dirty="0"/>
          </a:p>
        </p:txBody>
      </p:sp>
      <p:pic>
        <p:nvPicPr>
          <p:cNvPr id="6" name="Picture 5"/>
          <p:cNvPicPr>
            <a:picLocks noChangeAspect="1"/>
          </p:cNvPicPr>
          <p:nvPr/>
        </p:nvPicPr>
        <p:blipFill>
          <a:blip r:embed="rId2"/>
          <a:stretch>
            <a:fillRect/>
          </a:stretch>
        </p:blipFill>
        <p:spPr>
          <a:xfrm>
            <a:off x="1574221" y="2352674"/>
            <a:ext cx="8016588" cy="3743283"/>
          </a:xfrm>
          <a:prstGeom prst="rect">
            <a:avLst/>
          </a:prstGeom>
        </p:spPr>
      </p:pic>
    </p:spTree>
    <p:extLst>
      <p:ext uri="{BB962C8B-B14F-4D97-AF65-F5344CB8AC3E}">
        <p14:creationId xmlns:p14="http://schemas.microsoft.com/office/powerpoint/2010/main" val="81649075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3" name="Rectangle 2"/>
          <p:cNvSpPr/>
          <p:nvPr/>
        </p:nvSpPr>
        <p:spPr>
          <a:xfrm>
            <a:off x="367144" y="1204574"/>
            <a:ext cx="10034155" cy="2031325"/>
          </a:xfrm>
          <a:prstGeom prst="rect">
            <a:avLst/>
          </a:prstGeom>
        </p:spPr>
        <p:txBody>
          <a:bodyPr wrap="square">
            <a:spAutoFit/>
          </a:bodyPr>
          <a:lstStyle/>
          <a:p>
            <a:r>
              <a:rPr lang="en-US" b="1" dirty="0"/>
              <a:t>How It Works</a:t>
            </a:r>
          </a:p>
          <a:p>
            <a:pPr>
              <a:buFont typeface="+mj-lt"/>
              <a:buAutoNum type="arabicPeriod"/>
            </a:pPr>
            <a:r>
              <a:rPr lang="en-US" dirty="0"/>
              <a:t>A </a:t>
            </a:r>
            <a:r>
              <a:rPr lang="en-US" b="1" dirty="0"/>
              <a:t>key field</a:t>
            </a:r>
            <a:r>
              <a:rPr lang="en-US" dirty="0"/>
              <a:t> is selected (mostly primary key).</a:t>
            </a:r>
          </a:p>
          <a:p>
            <a:pPr>
              <a:buFont typeface="+mj-lt"/>
              <a:buAutoNum type="arabicPeriod"/>
            </a:pPr>
            <a:r>
              <a:rPr lang="en-US" dirty="0"/>
              <a:t>Records are </a:t>
            </a:r>
            <a:r>
              <a:rPr lang="en-US" b="1" dirty="0"/>
              <a:t>sorted and stored</a:t>
            </a:r>
            <a:r>
              <a:rPr lang="en-US" dirty="0"/>
              <a:t> according to this key.</a:t>
            </a:r>
          </a:p>
          <a:p>
            <a:pPr>
              <a:buFont typeface="+mj-lt"/>
              <a:buAutoNum type="arabicPeriod"/>
            </a:pPr>
            <a:r>
              <a:rPr lang="en-US" dirty="0"/>
              <a:t>Searching becomes faster because DBMS can use:</a:t>
            </a:r>
          </a:p>
          <a:p>
            <a:pPr marL="742950" lvl="1" indent="-285750">
              <a:buFont typeface="+mj-lt"/>
              <a:buAutoNum type="arabicPeriod"/>
            </a:pPr>
            <a:r>
              <a:rPr lang="en-US" dirty="0"/>
              <a:t>Binary Search</a:t>
            </a:r>
          </a:p>
          <a:p>
            <a:pPr marL="742950" lvl="1" indent="-285750">
              <a:buFont typeface="+mj-lt"/>
              <a:buAutoNum type="arabicPeriod"/>
            </a:pPr>
            <a:r>
              <a:rPr lang="en-US" dirty="0"/>
              <a:t>Sequential search (in order)</a:t>
            </a:r>
          </a:p>
          <a:p>
            <a:pPr>
              <a:buFont typeface="+mj-lt"/>
              <a:buAutoNum type="arabicPeriod"/>
            </a:pPr>
            <a:r>
              <a:rPr lang="en-US" dirty="0"/>
              <a:t>Insertions and deletions are harder because the order must be maintained.</a:t>
            </a:r>
          </a:p>
        </p:txBody>
      </p:sp>
      <p:sp>
        <p:nvSpPr>
          <p:cNvPr id="5" name="Rectangle 4"/>
          <p:cNvSpPr/>
          <p:nvPr/>
        </p:nvSpPr>
        <p:spPr>
          <a:xfrm>
            <a:off x="367144" y="3587648"/>
            <a:ext cx="6096000" cy="2862322"/>
          </a:xfrm>
          <a:prstGeom prst="rect">
            <a:avLst/>
          </a:prstGeom>
        </p:spPr>
        <p:txBody>
          <a:bodyPr>
            <a:spAutoFit/>
          </a:bodyPr>
          <a:lstStyle/>
          <a:p>
            <a:r>
              <a:rPr lang="en-US" b="1" dirty="0"/>
              <a:t>When to Use Sequential File Organization</a:t>
            </a:r>
          </a:p>
          <a:p>
            <a:r>
              <a:rPr lang="en-US" dirty="0"/>
              <a:t>It is best when:</a:t>
            </a:r>
          </a:p>
          <a:p>
            <a:pPr>
              <a:buFont typeface="Arial" panose="020B0604020202020204" pitchFamily="34" charset="0"/>
              <a:buChar char="•"/>
            </a:pPr>
            <a:r>
              <a:rPr lang="en-US" dirty="0"/>
              <a:t>Data is mostly </a:t>
            </a:r>
            <a:r>
              <a:rPr lang="en-US" b="1" dirty="0"/>
              <a:t>read</a:t>
            </a:r>
            <a:r>
              <a:rPr lang="en-US" dirty="0"/>
              <a:t>, not updated frequently</a:t>
            </a:r>
          </a:p>
          <a:p>
            <a:pPr>
              <a:buFont typeface="Arial" panose="020B0604020202020204" pitchFamily="34" charset="0"/>
              <a:buChar char="•"/>
            </a:pPr>
            <a:r>
              <a:rPr lang="en-US" dirty="0"/>
              <a:t>Records need to be processed in sort order</a:t>
            </a:r>
          </a:p>
          <a:p>
            <a:pPr>
              <a:buFont typeface="Arial" panose="020B0604020202020204" pitchFamily="34" charset="0"/>
              <a:buChar char="•"/>
            </a:pPr>
            <a:r>
              <a:rPr lang="en-US" dirty="0"/>
              <a:t>Range queries are common</a:t>
            </a:r>
          </a:p>
          <a:p>
            <a:pPr>
              <a:buFont typeface="Arial" panose="020B0604020202020204" pitchFamily="34" charset="0"/>
              <a:buChar char="•"/>
            </a:pPr>
            <a:r>
              <a:rPr lang="en-US" dirty="0"/>
              <a:t>Searching speed is important</a:t>
            </a:r>
            <a:br>
              <a:rPr lang="en-US" dirty="0"/>
            </a:br>
            <a:r>
              <a:rPr lang="en-US" b="1" dirty="0"/>
              <a:t>Examples:</a:t>
            </a:r>
          </a:p>
          <a:p>
            <a:pPr>
              <a:buFont typeface="Arial" panose="020B0604020202020204" pitchFamily="34" charset="0"/>
              <a:buChar char="•"/>
            </a:pPr>
            <a:r>
              <a:rPr lang="en-US" dirty="0"/>
              <a:t>Payroll system</a:t>
            </a:r>
          </a:p>
          <a:p>
            <a:pPr>
              <a:buFont typeface="Arial" panose="020B0604020202020204" pitchFamily="34" charset="0"/>
              <a:buChar char="•"/>
            </a:pPr>
            <a:r>
              <a:rPr lang="en-US" dirty="0"/>
              <a:t>Student result system</a:t>
            </a:r>
          </a:p>
          <a:p>
            <a:pPr>
              <a:buFont typeface="Arial" panose="020B0604020202020204" pitchFamily="34" charset="0"/>
              <a:buChar char="•"/>
            </a:pPr>
            <a:r>
              <a:rPr lang="en-US" dirty="0"/>
              <a:t>Invoice or billing system</a:t>
            </a:r>
          </a:p>
        </p:txBody>
      </p:sp>
      <p:sp>
        <p:nvSpPr>
          <p:cNvPr id="7" name="Rectangle 6"/>
          <p:cNvSpPr/>
          <p:nvPr/>
        </p:nvSpPr>
        <p:spPr>
          <a:xfrm>
            <a:off x="6214872" y="1315489"/>
            <a:ext cx="6096000" cy="1477328"/>
          </a:xfrm>
          <a:prstGeom prst="rect">
            <a:avLst/>
          </a:prstGeom>
        </p:spPr>
        <p:txBody>
          <a:bodyPr>
            <a:spAutoFit/>
          </a:bodyPr>
          <a:lstStyle/>
          <a:p>
            <a:r>
              <a:rPr lang="en-US" b="1" dirty="0"/>
              <a:t>Characteristics</a:t>
            </a:r>
          </a:p>
          <a:p>
            <a:pPr>
              <a:buFont typeface="Arial" panose="020B0604020202020204" pitchFamily="34" charset="0"/>
              <a:buChar char="•"/>
            </a:pPr>
            <a:r>
              <a:rPr lang="en-US" dirty="0"/>
              <a:t>Records are stored in </a:t>
            </a:r>
            <a:r>
              <a:rPr lang="en-US" b="1" dirty="0"/>
              <a:t>sorted (ordered)</a:t>
            </a:r>
            <a:r>
              <a:rPr lang="en-US" dirty="0"/>
              <a:t> manner.</a:t>
            </a:r>
          </a:p>
          <a:p>
            <a:pPr>
              <a:buFont typeface="Arial" panose="020B0604020202020204" pitchFamily="34" charset="0"/>
              <a:buChar char="•"/>
            </a:pPr>
            <a:r>
              <a:rPr lang="en-US" dirty="0"/>
              <a:t>Good for </a:t>
            </a:r>
            <a:r>
              <a:rPr lang="en-US" b="1" dirty="0"/>
              <a:t>range queries</a:t>
            </a:r>
            <a:r>
              <a:rPr lang="en-US" dirty="0"/>
              <a:t> (e.g., 100 &lt; Roll No &lt; 200).</a:t>
            </a:r>
          </a:p>
          <a:p>
            <a:pPr>
              <a:buFont typeface="Arial" panose="020B0604020202020204" pitchFamily="34" charset="0"/>
              <a:buChar char="•"/>
            </a:pPr>
            <a:r>
              <a:rPr lang="en-US" dirty="0"/>
              <a:t>Efficient for </a:t>
            </a:r>
            <a:r>
              <a:rPr lang="en-US" b="1" dirty="0"/>
              <a:t>sequential processing</a:t>
            </a:r>
            <a:r>
              <a:rPr lang="en-US" dirty="0"/>
              <a:t>.</a:t>
            </a:r>
          </a:p>
          <a:p>
            <a:pPr>
              <a:buFont typeface="Arial" panose="020B0604020202020204" pitchFamily="34" charset="0"/>
              <a:buChar char="•"/>
            </a:pPr>
            <a:r>
              <a:rPr lang="en-US" dirty="0"/>
              <a:t>Insertion and deletion require </a:t>
            </a:r>
            <a:r>
              <a:rPr lang="en-US" b="1" dirty="0"/>
              <a:t>reorganization</a:t>
            </a:r>
            <a:r>
              <a:rPr lang="en-US" dirty="0"/>
              <a:t> of file.</a:t>
            </a:r>
          </a:p>
        </p:txBody>
      </p:sp>
    </p:spTree>
    <p:extLst>
      <p:ext uri="{BB962C8B-B14F-4D97-AF65-F5344CB8AC3E}">
        <p14:creationId xmlns:p14="http://schemas.microsoft.com/office/powerpoint/2010/main" val="27645413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3" name="Rectangle 2"/>
          <p:cNvSpPr/>
          <p:nvPr/>
        </p:nvSpPr>
        <p:spPr>
          <a:xfrm>
            <a:off x="273628" y="1235885"/>
            <a:ext cx="11769436" cy="3970318"/>
          </a:xfrm>
          <a:prstGeom prst="rect">
            <a:avLst/>
          </a:prstGeom>
        </p:spPr>
        <p:txBody>
          <a:bodyPr wrap="square">
            <a:spAutoFit/>
          </a:bodyPr>
          <a:lstStyle/>
          <a:p>
            <a:pPr fontAlgn="base"/>
            <a:r>
              <a:rPr lang="en-US" b="1" i="0" dirty="0">
                <a:solidFill>
                  <a:srgbClr val="273239"/>
                </a:solidFill>
                <a:effectLst/>
                <a:latin typeface="Nunito"/>
              </a:rPr>
              <a:t>Advantages of  Sequential File Organization</a:t>
            </a:r>
          </a:p>
          <a:p>
            <a:pPr fontAlgn="base"/>
            <a:endParaRPr lang="en-US" b="1" i="0" dirty="0">
              <a:solidFill>
                <a:srgbClr val="273239"/>
              </a:solidFill>
              <a:effectLst/>
              <a:latin typeface="Nunito"/>
            </a:endParaRPr>
          </a:p>
          <a:p>
            <a:pPr fontAlgn="base">
              <a:buFont typeface="Arial" panose="020B0604020202020204" pitchFamily="34" charset="0"/>
              <a:buChar char="•"/>
            </a:pPr>
            <a:r>
              <a:rPr lang="en-US" b="0" i="0" dirty="0">
                <a:solidFill>
                  <a:srgbClr val="273239"/>
                </a:solidFill>
                <a:effectLst/>
                <a:latin typeface="Nunito"/>
              </a:rPr>
              <a:t>Fast and efficient method for huge amounts of data.</a:t>
            </a:r>
          </a:p>
          <a:p>
            <a:pPr fontAlgn="base">
              <a:buFont typeface="Arial" panose="020B0604020202020204" pitchFamily="34" charset="0"/>
              <a:buChar char="•"/>
            </a:pPr>
            <a:r>
              <a:rPr lang="en-US" b="0" i="0" dirty="0">
                <a:solidFill>
                  <a:srgbClr val="273239"/>
                </a:solidFill>
                <a:effectLst/>
                <a:latin typeface="Nunito"/>
              </a:rPr>
              <a:t>Simple design.</a:t>
            </a:r>
          </a:p>
          <a:p>
            <a:pPr fontAlgn="base">
              <a:buFont typeface="Arial" panose="020B0604020202020204" pitchFamily="34" charset="0"/>
              <a:buChar char="•"/>
            </a:pPr>
            <a:r>
              <a:rPr lang="en-US" b="0" i="0" dirty="0">
                <a:solidFill>
                  <a:srgbClr val="273239"/>
                </a:solidFill>
                <a:effectLst/>
                <a:latin typeface="Nunito"/>
              </a:rPr>
              <a:t>Files can be easily stored in </a:t>
            </a:r>
            <a:r>
              <a:rPr lang="en-US" b="0" i="0" u="sng" dirty="0">
                <a:solidFill>
                  <a:srgbClr val="357960"/>
                </a:solidFill>
                <a:effectLst/>
                <a:latin typeface="Nunito"/>
              </a:rPr>
              <a:t>magnetic tapes</a:t>
            </a:r>
            <a:r>
              <a:rPr lang="en-US" b="0" i="0" dirty="0">
                <a:solidFill>
                  <a:srgbClr val="273239"/>
                </a:solidFill>
                <a:effectLst/>
                <a:latin typeface="Nunito"/>
              </a:rPr>
              <a:t> i.e. cheaper storage mechanism.</a:t>
            </a: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endParaRPr lang="en-US" b="0" i="0" dirty="0">
              <a:solidFill>
                <a:srgbClr val="273239"/>
              </a:solidFill>
              <a:effectLst/>
              <a:latin typeface="Nunito"/>
            </a:endParaRPr>
          </a:p>
          <a:p>
            <a:pPr fontAlgn="base">
              <a:buFont typeface="Arial" panose="020B0604020202020204" pitchFamily="34" charset="0"/>
              <a:buChar char="•"/>
            </a:pPr>
            <a:endParaRPr lang="en-US" dirty="0">
              <a:solidFill>
                <a:srgbClr val="273239"/>
              </a:solidFill>
              <a:latin typeface="Nunito"/>
            </a:endParaRPr>
          </a:p>
          <a:p>
            <a:pPr fontAlgn="base">
              <a:buFont typeface="Arial" panose="020B0604020202020204" pitchFamily="34" charset="0"/>
              <a:buChar char="•"/>
            </a:pPr>
            <a:endParaRPr lang="en-US" b="0" i="0" dirty="0">
              <a:solidFill>
                <a:srgbClr val="273239"/>
              </a:solidFill>
              <a:effectLst/>
              <a:latin typeface="Nunito"/>
            </a:endParaRPr>
          </a:p>
          <a:p>
            <a:pPr fontAlgn="base"/>
            <a:r>
              <a:rPr lang="en-US" b="1" i="0" dirty="0">
                <a:solidFill>
                  <a:srgbClr val="273239"/>
                </a:solidFill>
                <a:effectLst/>
                <a:latin typeface="Nunito"/>
              </a:rPr>
              <a:t>Disadvantages of  Sequential File Organization</a:t>
            </a:r>
          </a:p>
          <a:p>
            <a:pPr fontAlgn="base"/>
            <a:endParaRPr lang="en-US" b="1" i="0" dirty="0">
              <a:solidFill>
                <a:srgbClr val="273239"/>
              </a:solidFill>
              <a:effectLst/>
              <a:latin typeface="Nunito"/>
            </a:endParaRPr>
          </a:p>
          <a:p>
            <a:pPr fontAlgn="base">
              <a:buFont typeface="Arial" panose="020B0604020202020204" pitchFamily="34" charset="0"/>
              <a:buChar char="•"/>
            </a:pPr>
            <a:r>
              <a:rPr lang="en-US" b="0" i="0" dirty="0">
                <a:solidFill>
                  <a:srgbClr val="273239"/>
                </a:solidFill>
                <a:effectLst/>
                <a:latin typeface="Nunito"/>
              </a:rPr>
              <a:t>Time wastage as we cannot jump on a particular record that is required, but we have to move in a sequential manner which takes our time.</a:t>
            </a:r>
          </a:p>
          <a:p>
            <a:pPr fontAlgn="base">
              <a:buFont typeface="Arial" panose="020B0604020202020204" pitchFamily="34" charset="0"/>
              <a:buChar char="•"/>
            </a:pPr>
            <a:r>
              <a:rPr lang="en-US" b="0" i="0" dirty="0">
                <a:solidFill>
                  <a:srgbClr val="273239"/>
                </a:solidFill>
                <a:effectLst/>
                <a:latin typeface="Nunito"/>
              </a:rPr>
              <a:t>The sorted file method is inefficient as it takes time and space for sorting records.</a:t>
            </a:r>
          </a:p>
        </p:txBody>
      </p:sp>
    </p:spTree>
    <p:extLst>
      <p:ext uri="{BB962C8B-B14F-4D97-AF65-F5344CB8AC3E}">
        <p14:creationId xmlns:p14="http://schemas.microsoft.com/office/powerpoint/2010/main" val="390208903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a:solidFill>
                  <a:srgbClr val="273239"/>
                </a:solidFill>
                <a:effectLst/>
                <a:latin typeface="Nunito"/>
              </a:rPr>
              <a:t>Heap File Organization</a:t>
            </a:r>
          </a:p>
        </p:txBody>
      </p:sp>
      <p:sp>
        <p:nvSpPr>
          <p:cNvPr id="5" name="Rectangle 4"/>
          <p:cNvSpPr/>
          <p:nvPr/>
        </p:nvSpPr>
        <p:spPr>
          <a:xfrm>
            <a:off x="524223" y="1429895"/>
            <a:ext cx="11259067" cy="2308324"/>
          </a:xfrm>
          <a:prstGeom prst="rect">
            <a:avLst/>
          </a:prstGeom>
        </p:spPr>
        <p:txBody>
          <a:bodyPr wrap="square">
            <a:spAutoFit/>
          </a:bodyPr>
          <a:lstStyle/>
          <a:p>
            <a:r>
              <a:rPr lang="en-US" b="0" i="0" dirty="0">
                <a:solidFill>
                  <a:srgbClr val="444444"/>
                </a:solidFill>
                <a:effectLst/>
                <a:latin typeface="Poppins"/>
              </a:rPr>
              <a:t>It is the most fundamental and basic form of file organization. It’s based on data chunks. The records are inserted at the end of the file in the heap file organization. The ordering and sorting of records are not required when the entries are added.</a:t>
            </a:r>
          </a:p>
          <a:p>
            <a:endParaRPr lang="en-US" b="0" i="0" dirty="0">
              <a:solidFill>
                <a:srgbClr val="444444"/>
              </a:solidFill>
              <a:effectLst/>
              <a:latin typeface="Poppins"/>
            </a:endParaRPr>
          </a:p>
          <a:p>
            <a:r>
              <a:rPr lang="en-US" b="0" i="0" dirty="0">
                <a:solidFill>
                  <a:srgbClr val="444444"/>
                </a:solidFill>
                <a:effectLst/>
                <a:latin typeface="Poppins"/>
              </a:rPr>
              <a:t>The new record is put in a different block when the data block is full. This new data block does not have to be the next data block in the memory; it can store new entries in any data block in the memory. An unordered file is the same as a heap file. Every record in the file has a unique id, and every page in the file is the same size. The DBMS is in charge of storing and managing the new records.</a:t>
            </a:r>
          </a:p>
        </p:txBody>
      </p:sp>
      <p:pic>
        <p:nvPicPr>
          <p:cNvPr id="6" name="Picture 5"/>
          <p:cNvPicPr>
            <a:picLocks noChangeAspect="1"/>
          </p:cNvPicPr>
          <p:nvPr/>
        </p:nvPicPr>
        <p:blipFill>
          <a:blip r:embed="rId2"/>
          <a:stretch>
            <a:fillRect/>
          </a:stretch>
        </p:blipFill>
        <p:spPr>
          <a:xfrm>
            <a:off x="3671021" y="4044228"/>
            <a:ext cx="3436361" cy="2803634"/>
          </a:xfrm>
          <a:prstGeom prst="rect">
            <a:avLst/>
          </a:prstGeom>
        </p:spPr>
      </p:pic>
      <p:pic>
        <p:nvPicPr>
          <p:cNvPr id="7" name="Picture 6"/>
          <p:cNvPicPr>
            <a:picLocks noChangeAspect="1"/>
          </p:cNvPicPr>
          <p:nvPr/>
        </p:nvPicPr>
        <p:blipFill>
          <a:blip r:embed="rId3"/>
          <a:stretch>
            <a:fillRect/>
          </a:stretch>
        </p:blipFill>
        <p:spPr>
          <a:xfrm>
            <a:off x="3865418" y="3830057"/>
            <a:ext cx="1219200" cy="266700"/>
          </a:xfrm>
          <a:prstGeom prst="rect">
            <a:avLst/>
          </a:prstGeom>
        </p:spPr>
      </p:pic>
      <p:pic>
        <p:nvPicPr>
          <p:cNvPr id="8" name="Picture 7"/>
          <p:cNvPicPr>
            <a:picLocks noChangeAspect="1"/>
          </p:cNvPicPr>
          <p:nvPr/>
        </p:nvPicPr>
        <p:blipFill>
          <a:blip r:embed="rId4"/>
          <a:stretch>
            <a:fillRect/>
          </a:stretch>
        </p:blipFill>
        <p:spPr>
          <a:xfrm>
            <a:off x="5782973" y="3830057"/>
            <a:ext cx="1228725" cy="371475"/>
          </a:xfrm>
          <a:prstGeom prst="rect">
            <a:avLst/>
          </a:prstGeom>
        </p:spPr>
      </p:pic>
      <p:pic>
        <p:nvPicPr>
          <p:cNvPr id="9" name="Picture 8"/>
          <p:cNvPicPr>
            <a:picLocks noChangeAspect="1"/>
          </p:cNvPicPr>
          <p:nvPr/>
        </p:nvPicPr>
        <p:blipFill>
          <a:blip r:embed="rId5"/>
          <a:stretch>
            <a:fillRect/>
          </a:stretch>
        </p:blipFill>
        <p:spPr>
          <a:xfrm>
            <a:off x="7011698" y="4320453"/>
            <a:ext cx="1038225" cy="190500"/>
          </a:xfrm>
          <a:prstGeom prst="rect">
            <a:avLst/>
          </a:prstGeom>
        </p:spPr>
      </p:pic>
      <p:pic>
        <p:nvPicPr>
          <p:cNvPr id="10" name="Picture 9"/>
          <p:cNvPicPr>
            <a:picLocks noChangeAspect="1"/>
          </p:cNvPicPr>
          <p:nvPr/>
        </p:nvPicPr>
        <p:blipFill>
          <a:blip r:embed="rId6"/>
          <a:stretch>
            <a:fillRect/>
          </a:stretch>
        </p:blipFill>
        <p:spPr>
          <a:xfrm>
            <a:off x="7022089" y="5169961"/>
            <a:ext cx="1009650" cy="200025"/>
          </a:xfrm>
          <a:prstGeom prst="rect">
            <a:avLst/>
          </a:prstGeom>
        </p:spPr>
      </p:pic>
      <p:pic>
        <p:nvPicPr>
          <p:cNvPr id="11" name="Picture 10"/>
          <p:cNvPicPr>
            <a:picLocks noChangeAspect="1"/>
          </p:cNvPicPr>
          <p:nvPr/>
        </p:nvPicPr>
        <p:blipFill>
          <a:blip r:embed="rId7"/>
          <a:stretch>
            <a:fillRect/>
          </a:stretch>
        </p:blipFill>
        <p:spPr>
          <a:xfrm>
            <a:off x="7011698" y="5924219"/>
            <a:ext cx="1019175" cy="209550"/>
          </a:xfrm>
          <a:prstGeom prst="rect">
            <a:avLst/>
          </a:prstGeom>
        </p:spPr>
      </p:pic>
    </p:spTree>
    <p:extLst>
      <p:ext uri="{BB962C8B-B14F-4D97-AF65-F5344CB8AC3E}">
        <p14:creationId xmlns:p14="http://schemas.microsoft.com/office/powerpoint/2010/main" val="144351546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a:solidFill>
                  <a:srgbClr val="273239"/>
                </a:solidFill>
                <a:effectLst/>
                <a:latin typeface="Nunito"/>
              </a:rPr>
              <a:t>Heap File Organization</a:t>
            </a:r>
          </a:p>
        </p:txBody>
      </p:sp>
      <p:sp>
        <p:nvSpPr>
          <p:cNvPr id="3" name="Rectangle 2"/>
          <p:cNvSpPr/>
          <p:nvPr/>
        </p:nvSpPr>
        <p:spPr>
          <a:xfrm>
            <a:off x="524224" y="1419228"/>
            <a:ext cx="11498058" cy="923330"/>
          </a:xfrm>
          <a:prstGeom prst="rect">
            <a:avLst/>
          </a:prstGeom>
        </p:spPr>
        <p:txBody>
          <a:bodyPr wrap="square">
            <a:spAutoFit/>
          </a:bodyPr>
          <a:lstStyle/>
          <a:p>
            <a:r>
              <a:rPr lang="en-US" b="1" i="0" dirty="0">
                <a:solidFill>
                  <a:srgbClr val="273239"/>
                </a:solidFill>
                <a:effectLst/>
                <a:latin typeface="Nunito"/>
              </a:rPr>
              <a:t>Insertion of the new record: </a:t>
            </a:r>
            <a:r>
              <a:rPr lang="en-US" b="0" i="0" dirty="0">
                <a:solidFill>
                  <a:srgbClr val="273239"/>
                </a:solidFill>
                <a:effectLst/>
                <a:latin typeface="Nunito"/>
              </a:rPr>
              <a:t>Suppose we have four records in the heap R1, R5, R6, R4, and R3, and suppose a new record R2 has to be inserted in the heap then, since the last data block i.e data block 3 is full it will be inserted in any of the data blocks selected by the DBMS, let's say data block 1.</a:t>
            </a:r>
            <a:endParaRPr lang="en-IN" dirty="0"/>
          </a:p>
        </p:txBody>
      </p:sp>
      <p:pic>
        <p:nvPicPr>
          <p:cNvPr id="12" name="Picture 11"/>
          <p:cNvPicPr>
            <a:picLocks noChangeAspect="1"/>
          </p:cNvPicPr>
          <p:nvPr/>
        </p:nvPicPr>
        <p:blipFill>
          <a:blip r:embed="rId2"/>
          <a:stretch>
            <a:fillRect/>
          </a:stretch>
        </p:blipFill>
        <p:spPr>
          <a:xfrm>
            <a:off x="3209574" y="2423729"/>
            <a:ext cx="4155283" cy="3260098"/>
          </a:xfrm>
          <a:prstGeom prst="rect">
            <a:avLst/>
          </a:prstGeom>
        </p:spPr>
      </p:pic>
      <p:sp>
        <p:nvSpPr>
          <p:cNvPr id="13" name="Rectangle 12"/>
          <p:cNvSpPr/>
          <p:nvPr/>
        </p:nvSpPr>
        <p:spPr>
          <a:xfrm>
            <a:off x="524224" y="5683827"/>
            <a:ext cx="11498058" cy="923330"/>
          </a:xfrm>
          <a:prstGeom prst="rect">
            <a:avLst/>
          </a:prstGeom>
        </p:spPr>
        <p:txBody>
          <a:bodyPr wrap="square">
            <a:spAutoFit/>
          </a:bodyPr>
          <a:lstStyle/>
          <a:p>
            <a:r>
              <a:rPr lang="en-US" b="0" i="0" dirty="0">
                <a:solidFill>
                  <a:srgbClr val="273239"/>
                </a:solidFill>
                <a:effectLst/>
                <a:latin typeface="Nunito"/>
              </a:rPr>
              <a:t>If we want to search, delete or update data in the heap file Organization we will traverse the data from the beginning of the file till we get the requested record. Thus if the database is very huge, searching, deleting, or updating the record will take a lot of time.</a:t>
            </a:r>
            <a:endParaRPr lang="en-IN" dirty="0"/>
          </a:p>
        </p:txBody>
      </p:sp>
    </p:spTree>
    <p:extLst>
      <p:ext uri="{BB962C8B-B14F-4D97-AF65-F5344CB8AC3E}">
        <p14:creationId xmlns:p14="http://schemas.microsoft.com/office/powerpoint/2010/main" val="22369257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5" name="Rectangle 4"/>
          <p:cNvSpPr/>
          <p:nvPr/>
        </p:nvSpPr>
        <p:spPr>
          <a:xfrm>
            <a:off x="524223" y="771569"/>
            <a:ext cx="6801367" cy="2031325"/>
          </a:xfrm>
          <a:prstGeom prst="rect">
            <a:avLst/>
          </a:prstGeom>
        </p:spPr>
        <p:txBody>
          <a:bodyPr wrap="square">
            <a:spAutoFit/>
          </a:bodyPr>
          <a:lstStyle/>
          <a:p>
            <a:r>
              <a:rPr lang="en-US" b="1" dirty="0"/>
              <a:t>How It Works</a:t>
            </a:r>
          </a:p>
          <a:p>
            <a:pPr>
              <a:buFont typeface="+mj-lt"/>
              <a:buAutoNum type="arabicPeriod"/>
            </a:pPr>
            <a:r>
              <a:rPr lang="en-US" dirty="0"/>
              <a:t>The file is divided into </a:t>
            </a:r>
            <a:r>
              <a:rPr lang="en-US" b="1" dirty="0"/>
              <a:t>pages/blocks</a:t>
            </a:r>
            <a:r>
              <a:rPr lang="en-US" dirty="0"/>
              <a:t>.</a:t>
            </a:r>
          </a:p>
          <a:p>
            <a:pPr>
              <a:buFont typeface="+mj-lt"/>
              <a:buAutoNum type="arabicPeriod"/>
            </a:pPr>
            <a:r>
              <a:rPr lang="en-US" dirty="0"/>
              <a:t>When a new record arrives, DBMS:</a:t>
            </a:r>
          </a:p>
          <a:p>
            <a:pPr marL="742950" lvl="1" indent="-285750">
              <a:buFont typeface="+mj-lt"/>
              <a:buAutoNum type="arabicPeriod"/>
            </a:pPr>
            <a:r>
              <a:rPr lang="en-US" dirty="0"/>
              <a:t>Finds the </a:t>
            </a:r>
            <a:r>
              <a:rPr lang="en-US" b="1" dirty="0"/>
              <a:t>first available free space</a:t>
            </a:r>
            <a:r>
              <a:rPr lang="en-US" dirty="0"/>
              <a:t> in any block</a:t>
            </a:r>
          </a:p>
          <a:p>
            <a:pPr marL="742950" lvl="1" indent="-285750">
              <a:buFont typeface="+mj-lt"/>
              <a:buAutoNum type="arabicPeriod"/>
            </a:pPr>
            <a:r>
              <a:rPr lang="en-US" dirty="0"/>
              <a:t>Stores the record there</a:t>
            </a:r>
          </a:p>
          <a:p>
            <a:pPr>
              <a:buFont typeface="+mj-lt"/>
              <a:buAutoNum type="arabicPeriod"/>
            </a:pPr>
            <a:r>
              <a:rPr lang="en-US" dirty="0"/>
              <a:t>There is </a:t>
            </a:r>
            <a:r>
              <a:rPr lang="en-US" b="1" dirty="0"/>
              <a:t>no sorting or ordering</a:t>
            </a:r>
            <a:r>
              <a:rPr lang="en-US" dirty="0"/>
              <a:t> of records.</a:t>
            </a:r>
          </a:p>
          <a:p>
            <a:pPr>
              <a:buFont typeface="+mj-lt"/>
              <a:buAutoNum type="arabicPeriod"/>
            </a:pPr>
            <a:r>
              <a:rPr lang="en-US" dirty="0"/>
              <a:t>Searching requires scanning the file from beginning to end. </a:t>
            </a:r>
          </a:p>
        </p:txBody>
      </p:sp>
      <p:sp>
        <p:nvSpPr>
          <p:cNvPr id="6" name="Rectangle 5"/>
          <p:cNvSpPr/>
          <p:nvPr/>
        </p:nvSpPr>
        <p:spPr>
          <a:xfrm>
            <a:off x="7325590" y="771569"/>
            <a:ext cx="6096000" cy="1754326"/>
          </a:xfrm>
          <a:prstGeom prst="rect">
            <a:avLst/>
          </a:prstGeom>
        </p:spPr>
        <p:txBody>
          <a:bodyPr>
            <a:spAutoFit/>
          </a:bodyPr>
          <a:lstStyle/>
          <a:p>
            <a:r>
              <a:rPr lang="en-US" b="1" dirty="0"/>
              <a:t>Characteristics</a:t>
            </a:r>
          </a:p>
          <a:p>
            <a:pPr>
              <a:buFont typeface="Arial" panose="020B0604020202020204" pitchFamily="34" charset="0"/>
              <a:buChar char="•"/>
            </a:pPr>
            <a:r>
              <a:rPr lang="en-US" dirty="0"/>
              <a:t>Records are </a:t>
            </a:r>
            <a:r>
              <a:rPr lang="en-US" b="1" dirty="0"/>
              <a:t>stored randomly</a:t>
            </a:r>
            <a:r>
              <a:rPr lang="en-US" dirty="0"/>
              <a:t>, not sorted.</a:t>
            </a:r>
          </a:p>
          <a:p>
            <a:pPr>
              <a:buFont typeface="Arial" panose="020B0604020202020204" pitchFamily="34" charset="0"/>
              <a:buChar char="•"/>
            </a:pPr>
            <a:r>
              <a:rPr lang="en-US" dirty="0"/>
              <a:t>Very </a:t>
            </a:r>
            <a:r>
              <a:rPr lang="en-US" b="1" dirty="0"/>
              <a:t>fast insertion</a:t>
            </a:r>
            <a:r>
              <a:rPr lang="en-US" dirty="0"/>
              <a:t> (just place it anywhere).</a:t>
            </a:r>
          </a:p>
          <a:p>
            <a:pPr>
              <a:buFont typeface="Arial" panose="020B0604020202020204" pitchFamily="34" charset="0"/>
              <a:buChar char="•"/>
            </a:pPr>
            <a:r>
              <a:rPr lang="en-US" dirty="0"/>
              <a:t>Searching is </a:t>
            </a:r>
            <a:r>
              <a:rPr lang="en-US" b="1" dirty="0"/>
              <a:t>slow</a:t>
            </a:r>
            <a:r>
              <a:rPr lang="en-US" dirty="0"/>
              <a:t>, especially for large files.</a:t>
            </a:r>
          </a:p>
          <a:p>
            <a:pPr>
              <a:buFont typeface="Arial" panose="020B0604020202020204" pitchFamily="34" charset="0"/>
              <a:buChar char="•"/>
            </a:pPr>
            <a:r>
              <a:rPr lang="en-US" dirty="0"/>
              <a:t>Good when data is inserted frequently.</a:t>
            </a:r>
          </a:p>
          <a:p>
            <a:pPr>
              <a:buFont typeface="Arial" panose="020B0604020202020204" pitchFamily="34" charset="0"/>
              <a:buChar char="•"/>
            </a:pPr>
            <a:r>
              <a:rPr lang="en-US" dirty="0"/>
              <a:t>Not suitable for range queries.</a:t>
            </a:r>
          </a:p>
        </p:txBody>
      </p:sp>
      <p:sp>
        <p:nvSpPr>
          <p:cNvPr id="7" name="Rectangle 6"/>
          <p:cNvSpPr/>
          <p:nvPr/>
        </p:nvSpPr>
        <p:spPr>
          <a:xfrm>
            <a:off x="524223" y="3125018"/>
            <a:ext cx="6096000" cy="3416320"/>
          </a:xfrm>
          <a:prstGeom prst="rect">
            <a:avLst/>
          </a:prstGeom>
        </p:spPr>
        <p:txBody>
          <a:bodyPr>
            <a:spAutoFit/>
          </a:bodyPr>
          <a:lstStyle/>
          <a:p>
            <a:r>
              <a:rPr lang="en-US" b="1" dirty="0"/>
              <a:t>When to Use Heap File Organization</a:t>
            </a:r>
          </a:p>
          <a:p>
            <a:r>
              <a:rPr lang="en-US" dirty="0"/>
              <a:t>Use heap organization when:</a:t>
            </a:r>
          </a:p>
          <a:p>
            <a:pPr>
              <a:buFont typeface="Arial" panose="020B0604020202020204" pitchFamily="34" charset="0"/>
              <a:buChar char="•"/>
            </a:pPr>
            <a:r>
              <a:rPr lang="en-US" dirty="0"/>
              <a:t>Insertion is frequent</a:t>
            </a:r>
          </a:p>
          <a:p>
            <a:pPr>
              <a:buFont typeface="Arial" panose="020B0604020202020204" pitchFamily="34" charset="0"/>
              <a:buChar char="•"/>
            </a:pPr>
            <a:r>
              <a:rPr lang="en-US" dirty="0"/>
              <a:t>Searching is not frequent</a:t>
            </a:r>
          </a:p>
          <a:p>
            <a:pPr>
              <a:buFont typeface="Arial" panose="020B0604020202020204" pitchFamily="34" charset="0"/>
              <a:buChar char="•"/>
            </a:pPr>
            <a:r>
              <a:rPr lang="en-US" dirty="0"/>
              <a:t>No ordering is required</a:t>
            </a:r>
          </a:p>
          <a:p>
            <a:pPr>
              <a:buFont typeface="Arial" panose="020B0604020202020204" pitchFamily="34" charset="0"/>
              <a:buChar char="•"/>
            </a:pPr>
            <a:r>
              <a:rPr lang="en-US" dirty="0"/>
              <a:t>Table size is small</a:t>
            </a:r>
          </a:p>
          <a:p>
            <a:pPr>
              <a:buFont typeface="Arial" panose="020B0604020202020204" pitchFamily="34" charset="0"/>
              <a:buChar char="•"/>
            </a:pPr>
            <a:r>
              <a:rPr lang="en-US" dirty="0"/>
              <a:t>Temporary or log data</a:t>
            </a:r>
          </a:p>
          <a:p>
            <a:r>
              <a:rPr lang="en-US" b="1" dirty="0"/>
              <a:t>Examples</a:t>
            </a:r>
            <a:r>
              <a:rPr lang="en-US" dirty="0"/>
              <a:t>:</a:t>
            </a:r>
          </a:p>
          <a:p>
            <a:pPr>
              <a:buFont typeface="Arial" panose="020B0604020202020204" pitchFamily="34" charset="0"/>
              <a:buChar char="•"/>
            </a:pPr>
            <a:r>
              <a:rPr lang="en-US" dirty="0"/>
              <a:t>Transaction logs</a:t>
            </a:r>
          </a:p>
          <a:p>
            <a:pPr>
              <a:buFont typeface="Arial" panose="020B0604020202020204" pitchFamily="34" charset="0"/>
              <a:buChar char="•"/>
            </a:pPr>
            <a:r>
              <a:rPr lang="en-US" dirty="0"/>
              <a:t>Backup tables</a:t>
            </a:r>
          </a:p>
          <a:p>
            <a:pPr>
              <a:buFont typeface="Arial" panose="020B0604020202020204" pitchFamily="34" charset="0"/>
              <a:buChar char="•"/>
            </a:pPr>
            <a:r>
              <a:rPr lang="en-US" dirty="0"/>
              <a:t>Temporary results</a:t>
            </a:r>
          </a:p>
          <a:p>
            <a:pPr>
              <a:buFont typeface="Arial" panose="020B0604020202020204" pitchFamily="34" charset="0"/>
              <a:buChar char="•"/>
            </a:pPr>
            <a:r>
              <a:rPr lang="en-US" dirty="0"/>
              <a:t>History tables</a:t>
            </a:r>
          </a:p>
        </p:txBody>
      </p:sp>
    </p:spTree>
    <p:extLst>
      <p:ext uri="{BB962C8B-B14F-4D97-AF65-F5344CB8AC3E}">
        <p14:creationId xmlns:p14="http://schemas.microsoft.com/office/powerpoint/2010/main" val="216596812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685351" cy="369332"/>
          </a:xfrm>
          <a:prstGeom prst="rect">
            <a:avLst/>
          </a:prstGeom>
        </p:spPr>
        <p:txBody>
          <a:bodyPr wrap="none">
            <a:spAutoFit/>
          </a:bodyPr>
          <a:lstStyle/>
          <a:p>
            <a:pPr fontAlgn="base"/>
            <a:r>
              <a:rPr lang="en-IN" b="1" i="0" dirty="0">
                <a:solidFill>
                  <a:srgbClr val="273239"/>
                </a:solidFill>
                <a:effectLst/>
                <a:latin typeface="Nunito"/>
              </a:rPr>
              <a:t>Heap File Organization</a:t>
            </a:r>
          </a:p>
        </p:txBody>
      </p:sp>
      <p:sp>
        <p:nvSpPr>
          <p:cNvPr id="5" name="Rectangle 4"/>
          <p:cNvSpPr/>
          <p:nvPr/>
        </p:nvSpPr>
        <p:spPr>
          <a:xfrm>
            <a:off x="524223" y="1772657"/>
            <a:ext cx="11352585" cy="2862322"/>
          </a:xfrm>
          <a:prstGeom prst="rect">
            <a:avLst/>
          </a:prstGeom>
        </p:spPr>
        <p:txBody>
          <a:bodyPr wrap="square">
            <a:spAutoFit/>
          </a:bodyPr>
          <a:lstStyle/>
          <a:p>
            <a:pPr fontAlgn="base"/>
            <a:r>
              <a:rPr lang="en-US" b="1" i="0" dirty="0">
                <a:solidFill>
                  <a:srgbClr val="273239"/>
                </a:solidFill>
                <a:effectLst/>
                <a:latin typeface="Nunito"/>
              </a:rPr>
              <a:t>Advantages of Heap File Organization</a:t>
            </a:r>
          </a:p>
          <a:p>
            <a:pPr fontAlgn="base"/>
            <a:endParaRPr lang="en-US" b="1" i="0" dirty="0">
              <a:solidFill>
                <a:srgbClr val="273239"/>
              </a:solidFill>
              <a:effectLst/>
              <a:latin typeface="Nunito"/>
            </a:endParaRPr>
          </a:p>
          <a:p>
            <a:pPr fontAlgn="base">
              <a:buFont typeface="Arial" panose="020B0604020202020204" pitchFamily="34" charset="0"/>
              <a:buChar char="•"/>
            </a:pPr>
            <a:r>
              <a:rPr lang="en-US" b="0" i="0" dirty="0">
                <a:solidFill>
                  <a:srgbClr val="273239"/>
                </a:solidFill>
                <a:effectLst/>
                <a:latin typeface="Nunito"/>
              </a:rPr>
              <a:t>Fetching and retrieving records is faster than sequential records but only in the case of small databases.</a:t>
            </a:r>
          </a:p>
          <a:p>
            <a:pPr fontAlgn="base">
              <a:buFont typeface="Arial" panose="020B0604020202020204" pitchFamily="34" charset="0"/>
              <a:buChar char="•"/>
            </a:pPr>
            <a:r>
              <a:rPr lang="en-US" b="0" i="0" dirty="0">
                <a:solidFill>
                  <a:srgbClr val="273239"/>
                </a:solidFill>
                <a:effectLst/>
                <a:latin typeface="Nunito"/>
              </a:rPr>
              <a:t>When there is a huge number of data that needs to be loaded into the </a:t>
            </a:r>
            <a:r>
              <a:rPr lang="en-US" b="0" i="0" u="sng" dirty="0">
                <a:solidFill>
                  <a:srgbClr val="357960"/>
                </a:solidFill>
                <a:effectLst/>
                <a:latin typeface="Nunito"/>
              </a:rPr>
              <a:t>database</a:t>
            </a:r>
            <a:r>
              <a:rPr lang="en-US" b="0" i="0" dirty="0">
                <a:solidFill>
                  <a:srgbClr val="273239"/>
                </a:solidFill>
                <a:effectLst/>
                <a:latin typeface="Nunito"/>
              </a:rPr>
              <a:t> at a time, then this method of file Organization is best suited.</a:t>
            </a:r>
          </a:p>
          <a:p>
            <a:pPr fontAlgn="base">
              <a:buFont typeface="Arial" panose="020B0604020202020204" pitchFamily="34" charset="0"/>
              <a:buChar char="•"/>
            </a:pPr>
            <a:endParaRPr lang="en-US" b="0" i="0" dirty="0">
              <a:solidFill>
                <a:srgbClr val="273239"/>
              </a:solidFill>
              <a:effectLst/>
              <a:latin typeface="Nunito"/>
            </a:endParaRPr>
          </a:p>
          <a:p>
            <a:pPr fontAlgn="base">
              <a:buFont typeface="Arial" panose="020B0604020202020204" pitchFamily="34" charset="0"/>
              <a:buChar char="•"/>
            </a:pPr>
            <a:endParaRPr lang="en-US" b="0" i="0" dirty="0">
              <a:solidFill>
                <a:srgbClr val="273239"/>
              </a:solidFill>
              <a:effectLst/>
              <a:latin typeface="Nunito"/>
            </a:endParaRPr>
          </a:p>
          <a:p>
            <a:pPr fontAlgn="base"/>
            <a:r>
              <a:rPr lang="en-US" b="1" i="0" dirty="0">
                <a:solidFill>
                  <a:srgbClr val="273239"/>
                </a:solidFill>
                <a:effectLst/>
                <a:latin typeface="Nunito"/>
              </a:rPr>
              <a:t>Disadvantages of Heap File Organization</a:t>
            </a:r>
          </a:p>
          <a:p>
            <a:pPr fontAlgn="base">
              <a:buFont typeface="Arial" panose="020B0604020202020204" pitchFamily="34" charset="0"/>
              <a:buChar char="•"/>
            </a:pPr>
            <a:r>
              <a:rPr lang="en-US" b="0" i="0" dirty="0">
                <a:solidFill>
                  <a:srgbClr val="273239"/>
                </a:solidFill>
                <a:effectLst/>
                <a:latin typeface="Nunito"/>
              </a:rPr>
              <a:t>The problem of unused memory blocks.</a:t>
            </a:r>
          </a:p>
          <a:p>
            <a:pPr fontAlgn="base">
              <a:buFont typeface="Arial" panose="020B0604020202020204" pitchFamily="34" charset="0"/>
              <a:buChar char="•"/>
            </a:pPr>
            <a:r>
              <a:rPr lang="en-US" b="0" i="0" dirty="0">
                <a:solidFill>
                  <a:srgbClr val="273239"/>
                </a:solidFill>
                <a:effectLst/>
                <a:latin typeface="Nunito"/>
              </a:rPr>
              <a:t>Inefficient for larger databases.</a:t>
            </a:r>
          </a:p>
        </p:txBody>
      </p:sp>
    </p:spTree>
    <p:extLst>
      <p:ext uri="{BB962C8B-B14F-4D97-AF65-F5344CB8AC3E}">
        <p14:creationId xmlns:p14="http://schemas.microsoft.com/office/powerpoint/2010/main" val="187006603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3" y="1772657"/>
            <a:ext cx="11352585" cy="2862322"/>
          </a:xfrm>
          <a:prstGeom prst="rect">
            <a:avLst/>
          </a:prstGeom>
        </p:spPr>
        <p:txBody>
          <a:bodyPr wrap="square">
            <a:spAutoFit/>
          </a:bodyPr>
          <a:lstStyle/>
          <a:p>
            <a:pPr fontAlgn="base"/>
            <a:r>
              <a:rPr lang="en-US" b="1" dirty="0"/>
              <a:t>Clustered File Organization </a:t>
            </a:r>
            <a:r>
              <a:rPr lang="en-US" dirty="0"/>
              <a:t>stores related records from different tables together based on a </a:t>
            </a:r>
            <a:r>
              <a:rPr lang="en-US" b="1" dirty="0"/>
              <a:t>common field</a:t>
            </a:r>
            <a:r>
              <a:rPr lang="en-US" dirty="0"/>
              <a:t>, like a </a:t>
            </a:r>
            <a:r>
              <a:rPr lang="en-US" b="1" dirty="0"/>
              <a:t>foreign key</a:t>
            </a:r>
            <a:r>
              <a:rPr lang="en-US" dirty="0"/>
              <a:t>. This improves query performance for join operations by placing related data physically close on disk.</a:t>
            </a:r>
          </a:p>
          <a:p>
            <a:pPr fontAlgn="base"/>
            <a:endParaRPr lang="en-US" b="0" i="0" dirty="0">
              <a:solidFill>
                <a:srgbClr val="273239"/>
              </a:solidFill>
              <a:effectLst/>
              <a:latin typeface="Nunito"/>
            </a:endParaRPr>
          </a:p>
          <a:p>
            <a:pPr fontAlgn="base"/>
            <a:r>
              <a:rPr lang="en-US" b="1" dirty="0"/>
              <a:t>A clustered file organization </a:t>
            </a:r>
            <a:r>
              <a:rPr lang="en-US" dirty="0"/>
              <a:t>keeps two or more related tables/records in a single file known as a cluster. These files consist of two or more tables within a single data block, and the mapping attributes, defining the relationships between the tables, are stored only once. These contain two or more tables in one data block and the key attributes that are related between the tables are stored only once.</a:t>
            </a:r>
          </a:p>
          <a:p>
            <a:pPr fontAlgn="base"/>
            <a:endParaRPr lang="en-US" dirty="0"/>
          </a:p>
          <a:p>
            <a:pPr fontAlgn="base"/>
            <a:r>
              <a:rPr lang="en-US" dirty="0"/>
              <a:t>This means it is </a:t>
            </a:r>
            <a:r>
              <a:rPr lang="en-US" b="1" dirty="0"/>
              <a:t>cheaper </a:t>
            </a:r>
            <a:r>
              <a:rPr lang="en-US" dirty="0"/>
              <a:t>to search for and retrieve distinct records from different files as they are now integrated and stored in the same cluster</a:t>
            </a:r>
            <a:endParaRPr lang="en-US" b="0" i="0" dirty="0">
              <a:solidFill>
                <a:srgbClr val="273239"/>
              </a:solidFill>
              <a:effectLst/>
              <a:latin typeface="Nunito"/>
            </a:endParaRPr>
          </a:p>
        </p:txBody>
      </p:sp>
    </p:spTree>
    <p:extLst>
      <p:ext uri="{BB962C8B-B14F-4D97-AF65-F5344CB8AC3E}">
        <p14:creationId xmlns:p14="http://schemas.microsoft.com/office/powerpoint/2010/main" val="4141333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3" name="Rectangle 2"/>
          <p:cNvSpPr/>
          <p:nvPr/>
        </p:nvSpPr>
        <p:spPr>
          <a:xfrm>
            <a:off x="639650" y="1572630"/>
            <a:ext cx="9032383" cy="4247317"/>
          </a:xfrm>
          <a:prstGeom prst="rect">
            <a:avLst/>
          </a:prstGeom>
        </p:spPr>
        <p:txBody>
          <a:bodyPr wrap="square">
            <a:spAutoFit/>
          </a:bodyPr>
          <a:lstStyle/>
          <a:p>
            <a:pPr lvl="0" fontAlgn="base"/>
            <a:r>
              <a:rPr lang="en-US" b="1" u="sng" dirty="0">
                <a:solidFill>
                  <a:prstClr val="black"/>
                </a:solidFill>
              </a:rPr>
              <a:t>How it works</a:t>
            </a:r>
          </a:p>
          <a:p>
            <a:pPr lvl="0" fontAlgn="base"/>
            <a:endParaRPr lang="en-US" b="1" dirty="0">
              <a:solidFill>
                <a:prstClr val="black"/>
              </a:solidFill>
            </a:endParaRPr>
          </a:p>
          <a:p>
            <a:pPr lvl="0" fontAlgn="base"/>
            <a:endParaRPr lang="en-US" b="1" dirty="0">
              <a:solidFill>
                <a:prstClr val="black"/>
              </a:solidFill>
            </a:endParaRPr>
          </a:p>
          <a:p>
            <a:pPr lvl="0" fontAlgn="base"/>
            <a:r>
              <a:rPr lang="en-US" b="1" dirty="0">
                <a:solidFill>
                  <a:prstClr val="black"/>
                </a:solidFill>
              </a:rPr>
              <a:t>Grouping records: </a:t>
            </a:r>
            <a:r>
              <a:rPr lang="en-US" dirty="0">
                <a:solidFill>
                  <a:prstClr val="black"/>
                </a:solidFill>
              </a:rPr>
              <a:t>Records from different tables that are frequently joined are stored together in the same data block, forming a cluster. </a:t>
            </a:r>
          </a:p>
          <a:p>
            <a:pPr lvl="0" fontAlgn="base"/>
            <a:endParaRPr lang="en-US" dirty="0">
              <a:solidFill>
                <a:prstClr val="black"/>
              </a:solidFill>
            </a:endParaRPr>
          </a:p>
          <a:p>
            <a:pPr lvl="0" fontAlgn="base"/>
            <a:r>
              <a:rPr lang="en-US" b="1" dirty="0">
                <a:solidFill>
                  <a:prstClr val="black"/>
                </a:solidFill>
              </a:rPr>
              <a:t>Cluster key</a:t>
            </a:r>
            <a:r>
              <a:rPr lang="en-US" dirty="0">
                <a:solidFill>
                  <a:prstClr val="black"/>
                </a:solidFill>
              </a:rPr>
              <a:t>: The cluster is created around a common column, or "cluster key," which is often a primary key in one table and a foreign key in another. </a:t>
            </a:r>
          </a:p>
          <a:p>
            <a:pPr lvl="0" fontAlgn="base"/>
            <a:endParaRPr lang="en-US" dirty="0">
              <a:solidFill>
                <a:prstClr val="black"/>
              </a:solidFill>
            </a:endParaRPr>
          </a:p>
          <a:p>
            <a:pPr lvl="0" fontAlgn="base"/>
            <a:r>
              <a:rPr lang="en-US" b="1" dirty="0">
                <a:solidFill>
                  <a:prstClr val="black"/>
                </a:solidFill>
              </a:rPr>
              <a:t>Sorting: </a:t>
            </a:r>
            <a:r>
              <a:rPr lang="en-US" dirty="0">
                <a:solidFill>
                  <a:prstClr val="black"/>
                </a:solidFill>
              </a:rPr>
              <a:t>The data within the cluster is sorted based on the cluster key, ensuring that records with the same key value are grouped together</a:t>
            </a:r>
            <a:r>
              <a:rPr lang="en-US" b="1" dirty="0">
                <a:solidFill>
                  <a:prstClr val="black"/>
                </a:solidFill>
              </a:rPr>
              <a:t>. </a:t>
            </a:r>
          </a:p>
          <a:p>
            <a:pPr lvl="0" fontAlgn="base"/>
            <a:endParaRPr lang="en-US" b="1" dirty="0">
              <a:solidFill>
                <a:prstClr val="black"/>
              </a:solidFill>
            </a:endParaRPr>
          </a:p>
          <a:p>
            <a:pPr lvl="0" fontAlgn="base"/>
            <a:r>
              <a:rPr lang="en-US" b="1" dirty="0">
                <a:solidFill>
                  <a:prstClr val="black"/>
                </a:solidFill>
              </a:rPr>
              <a:t>Efficient access: </a:t>
            </a:r>
            <a:r>
              <a:rPr lang="en-US" dirty="0">
                <a:solidFill>
                  <a:prstClr val="black"/>
                </a:solidFill>
              </a:rPr>
              <a:t>When a query needs data from these joined tables, the database can access the relevant records directly from the cluster without having to search and combine data from separate files. </a:t>
            </a:r>
            <a:endParaRPr lang="en-US" dirty="0">
              <a:solidFill>
                <a:srgbClr val="273239"/>
              </a:solidFill>
              <a:latin typeface="Nunito"/>
            </a:endParaRPr>
          </a:p>
        </p:txBody>
      </p:sp>
    </p:spTree>
    <p:extLst>
      <p:ext uri="{BB962C8B-B14F-4D97-AF65-F5344CB8AC3E}">
        <p14:creationId xmlns:p14="http://schemas.microsoft.com/office/powerpoint/2010/main" val="34603915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3" y="1772657"/>
            <a:ext cx="11352585" cy="3693319"/>
          </a:xfrm>
          <a:prstGeom prst="rect">
            <a:avLst/>
          </a:prstGeom>
        </p:spPr>
        <p:txBody>
          <a:bodyPr wrap="square">
            <a:spAutoFit/>
          </a:bodyPr>
          <a:lstStyle/>
          <a:p>
            <a:pPr fontAlgn="base"/>
            <a:r>
              <a:rPr lang="en-US" b="1" dirty="0"/>
              <a:t>Types of Clustered file organization</a:t>
            </a:r>
          </a:p>
          <a:p>
            <a:pPr fontAlgn="base"/>
            <a:r>
              <a:rPr lang="en-US" b="1" dirty="0"/>
              <a:t>1. Indexed Clusters</a:t>
            </a:r>
          </a:p>
          <a:p>
            <a:pPr fontAlgn="base"/>
            <a:r>
              <a:rPr lang="en-US" dirty="0"/>
              <a:t>The clusters are organized, such that records in an indexed cluster are stored in the order of the clustering key. However, for searching and retrieving data, an index is created on the clustering key along with physical sorting as well. When using the range queries and equality searches on the clustering key, this kind of clustering is beneficial.</a:t>
            </a:r>
          </a:p>
          <a:p>
            <a:pPr fontAlgn="base"/>
            <a:endParaRPr lang="en-US" dirty="0"/>
          </a:p>
          <a:p>
            <a:pPr fontAlgn="base"/>
            <a:r>
              <a:rPr lang="en-US" b="1" dirty="0"/>
              <a:t>2. Hash Clusters</a:t>
            </a:r>
          </a:p>
          <a:p>
            <a:pPr fontAlgn="base"/>
            <a:r>
              <a:rPr lang="en-US" dirty="0"/>
              <a:t>In a hash cluster, every record is located in accordance with a hash function on the clustering key. By applying it, one can identify records with the same hash value, and therefore identify their physical location. Another great advantage of hash clustering is that by using their clustering key, it is possible to obtain an individual record very quickly. Still, since records are not sorted in a particular order, the algorithm is slower for range queries.</a:t>
            </a:r>
          </a:p>
          <a:p>
            <a:pPr fontAlgn="base"/>
            <a:endParaRPr lang="en-US" dirty="0"/>
          </a:p>
          <a:p>
            <a:pPr fontAlgn="base"/>
            <a:endParaRPr lang="en-US" b="0" i="0" dirty="0">
              <a:solidFill>
                <a:srgbClr val="273239"/>
              </a:solidFill>
              <a:effectLst/>
              <a:latin typeface="Nunito"/>
            </a:endParaRPr>
          </a:p>
        </p:txBody>
      </p:sp>
    </p:spTree>
    <p:extLst>
      <p:ext uri="{BB962C8B-B14F-4D97-AF65-F5344CB8AC3E}">
        <p14:creationId xmlns:p14="http://schemas.microsoft.com/office/powerpoint/2010/main" val="29105163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3265638"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Clustered File Organization</a:t>
            </a:r>
          </a:p>
        </p:txBody>
      </p:sp>
      <p:sp>
        <p:nvSpPr>
          <p:cNvPr id="5" name="Rectangle 4"/>
          <p:cNvSpPr/>
          <p:nvPr/>
        </p:nvSpPr>
        <p:spPr>
          <a:xfrm>
            <a:off x="524224" y="1772657"/>
            <a:ext cx="9585692" cy="4801314"/>
          </a:xfrm>
          <a:prstGeom prst="rect">
            <a:avLst/>
          </a:prstGeom>
        </p:spPr>
        <p:txBody>
          <a:bodyPr wrap="square">
            <a:spAutoFit/>
          </a:bodyPr>
          <a:lstStyle/>
          <a:p>
            <a:pPr fontAlgn="base"/>
            <a:r>
              <a:rPr lang="en-US" b="1" u="sng" dirty="0"/>
              <a:t>Benefits</a:t>
            </a:r>
          </a:p>
          <a:p>
            <a:pPr fontAlgn="base"/>
            <a:endParaRPr lang="en-US" b="1" dirty="0"/>
          </a:p>
          <a:p>
            <a:pPr fontAlgn="base"/>
            <a:r>
              <a:rPr lang="en-US" b="1" dirty="0"/>
              <a:t>Faster queries</a:t>
            </a:r>
            <a:r>
              <a:rPr lang="en-US" dirty="0"/>
              <a:t>: Significantly speeds up queries that involve joining the clustered tables, as related data is physically co-located. </a:t>
            </a:r>
          </a:p>
          <a:p>
            <a:pPr fontAlgn="base"/>
            <a:r>
              <a:rPr lang="en-US" b="1" dirty="0"/>
              <a:t>Reduced search cost: </a:t>
            </a:r>
            <a:r>
              <a:rPr lang="en-US" dirty="0"/>
              <a:t>Eliminates the need for the database to search and access multiple files for a single query. </a:t>
            </a:r>
          </a:p>
          <a:p>
            <a:pPr fontAlgn="base"/>
            <a:r>
              <a:rPr lang="en-US" dirty="0"/>
              <a:t>Direct operations: Allows for direct insertion, update, and deletion of records through join operations</a:t>
            </a:r>
            <a:r>
              <a:rPr lang="en-US" b="1" dirty="0"/>
              <a:t>.</a:t>
            </a:r>
          </a:p>
          <a:p>
            <a:pPr fontAlgn="base"/>
            <a:endParaRPr lang="en-US" b="1" u="sng" dirty="0"/>
          </a:p>
          <a:p>
            <a:pPr fontAlgn="base"/>
            <a:r>
              <a:rPr lang="en-US" b="1" u="sng" dirty="0"/>
              <a:t>Example</a:t>
            </a:r>
          </a:p>
          <a:p>
            <a:pPr fontAlgn="base"/>
            <a:r>
              <a:rPr lang="en-US" dirty="0"/>
              <a:t>Imagine you have two tables: </a:t>
            </a:r>
            <a:r>
              <a:rPr lang="en-US" b="1" dirty="0"/>
              <a:t>Departments</a:t>
            </a:r>
            <a:r>
              <a:rPr lang="en-US" dirty="0"/>
              <a:t> and </a:t>
            </a:r>
            <a:r>
              <a:rPr lang="en-US" b="1" dirty="0"/>
              <a:t>Employees</a:t>
            </a:r>
            <a:r>
              <a:rPr lang="en-US" dirty="0"/>
              <a:t>. Employees are frequently joined with their department information. By using clustered file organization on the department_id (the cluster key), the records for employees in the 'Sales' department could be stored together in a cluster, and all records for the 'HR' department could be stored in a separate cluster. This is more efficient than storing the two tables separately and then performing a join operation every time you need to retrieve employee and department information together. </a:t>
            </a:r>
            <a:endParaRPr lang="en-US" i="0" dirty="0">
              <a:solidFill>
                <a:srgbClr val="273239"/>
              </a:solidFill>
              <a:effectLst/>
              <a:latin typeface="Nunito"/>
            </a:endParaRPr>
          </a:p>
        </p:txBody>
      </p:sp>
    </p:spTree>
    <p:extLst>
      <p:ext uri="{BB962C8B-B14F-4D97-AF65-F5344CB8AC3E}">
        <p14:creationId xmlns:p14="http://schemas.microsoft.com/office/powerpoint/2010/main" val="22148637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1477328"/>
          </a:xfrm>
          <a:prstGeom prst="rect">
            <a:avLst/>
          </a:prstGeom>
        </p:spPr>
        <p:txBody>
          <a:bodyPr wrap="square">
            <a:spAutoFit/>
          </a:bodyPr>
          <a:lstStyle/>
          <a:p>
            <a:pPr fontAlgn="base"/>
            <a:r>
              <a:rPr lang="en-US" b="1" dirty="0"/>
              <a:t>ISAM (Indexed Sequential Access Method)</a:t>
            </a:r>
            <a:r>
              <a:rPr lang="en-US" dirty="0"/>
              <a:t> is a file organization technique that allows records to be accessed both </a:t>
            </a:r>
            <a:r>
              <a:rPr lang="en-US" u="sng" dirty="0"/>
              <a:t>sequentially and randomly</a:t>
            </a:r>
            <a:r>
              <a:rPr lang="en-US" dirty="0"/>
              <a:t>. It uses a pre-structured index, which is a sorted list of keys, to map directly to the location of records in a data file, enabling fast retrieval. While ISAM was originally developed for disk storage, it is used in database management systems to provide a balance of sequential and direct access for applications with relatively static data. </a:t>
            </a:r>
            <a:endParaRPr lang="en-US" i="0" dirty="0">
              <a:solidFill>
                <a:srgbClr val="273239"/>
              </a:solidFill>
              <a:effectLst/>
              <a:latin typeface="Nunito"/>
            </a:endParaRPr>
          </a:p>
        </p:txBody>
      </p:sp>
    </p:spTree>
    <p:extLst>
      <p:ext uri="{BB962C8B-B14F-4D97-AF65-F5344CB8AC3E}">
        <p14:creationId xmlns:p14="http://schemas.microsoft.com/office/powerpoint/2010/main" val="2863626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416320"/>
          </a:xfrm>
          <a:prstGeom prst="rect">
            <a:avLst/>
          </a:prstGeom>
        </p:spPr>
        <p:txBody>
          <a:bodyPr wrap="square">
            <a:spAutoFit/>
          </a:bodyPr>
          <a:lstStyle/>
          <a:p>
            <a:pPr fontAlgn="base"/>
            <a:r>
              <a:rPr lang="en-US" b="1" dirty="0"/>
              <a:t>How ISAM works</a:t>
            </a:r>
          </a:p>
          <a:p>
            <a:pPr fontAlgn="base"/>
            <a:endParaRPr lang="en-US" b="1" dirty="0"/>
          </a:p>
          <a:p>
            <a:pPr fontAlgn="base"/>
            <a:r>
              <a:rPr lang="en-US" b="1" dirty="0"/>
              <a:t>Data File:</a:t>
            </a:r>
            <a:r>
              <a:rPr lang="en-US" dirty="0"/>
              <a:t> Records are stored in the data file in a sorted order based on a primary key.</a:t>
            </a:r>
          </a:p>
          <a:p>
            <a:pPr fontAlgn="base"/>
            <a:endParaRPr lang="en-US" dirty="0"/>
          </a:p>
          <a:p>
            <a:pPr fontAlgn="base"/>
            <a:r>
              <a:rPr lang="en-US" b="1" dirty="0"/>
              <a:t>Index File: </a:t>
            </a:r>
            <a:r>
              <a:rPr lang="en-US" dirty="0"/>
              <a:t>A separate index file contains entries that are also sorted by the key. Each index entry is a pointer to the physical location (address) of the corresponding record or block in the data file.</a:t>
            </a:r>
          </a:p>
          <a:p>
            <a:pPr fontAlgn="base"/>
            <a:endParaRPr lang="en-US" dirty="0"/>
          </a:p>
          <a:p>
            <a:pPr fontAlgn="base"/>
            <a:r>
              <a:rPr lang="en-US" b="1" dirty="0"/>
              <a:t>Overflow Area:</a:t>
            </a:r>
            <a:r>
              <a:rPr lang="en-US" dirty="0"/>
              <a:t> A separate area handles new records that are inserted and don't fit into the primary data area, also organized in a sorted manner.</a:t>
            </a:r>
          </a:p>
          <a:p>
            <a:pPr fontAlgn="base"/>
            <a:endParaRPr lang="en-US" dirty="0"/>
          </a:p>
          <a:p>
            <a:pPr fontAlgn="base"/>
            <a:r>
              <a:rPr lang="en-US" b="1" dirty="0"/>
              <a:t>Searching:</a:t>
            </a:r>
            <a:r>
              <a:rPr lang="en-US" dirty="0"/>
              <a:t> To find a record, the system first searches the index to quickly locate the correct data block address, and then it retrieves the record from that location. </a:t>
            </a:r>
            <a:endParaRPr lang="en-US" i="0" dirty="0">
              <a:solidFill>
                <a:srgbClr val="273239"/>
              </a:solidFill>
              <a:effectLst/>
              <a:latin typeface="Nunito"/>
            </a:endParaRPr>
          </a:p>
        </p:txBody>
      </p:sp>
    </p:spTree>
    <p:extLst>
      <p:ext uri="{BB962C8B-B14F-4D97-AF65-F5344CB8AC3E}">
        <p14:creationId xmlns:p14="http://schemas.microsoft.com/office/powerpoint/2010/main" val="232194585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693319"/>
          </a:xfrm>
          <a:prstGeom prst="rect">
            <a:avLst/>
          </a:prstGeom>
        </p:spPr>
        <p:txBody>
          <a:bodyPr wrap="square">
            <a:spAutoFit/>
          </a:bodyPr>
          <a:lstStyle/>
          <a:p>
            <a:pPr fontAlgn="base"/>
            <a:r>
              <a:rPr lang="en-US" b="1" dirty="0"/>
              <a:t>Working Mechanism of ISAM</a:t>
            </a:r>
          </a:p>
          <a:p>
            <a:pPr fontAlgn="base"/>
            <a:r>
              <a:rPr lang="en-US" b="1" dirty="0"/>
              <a:t>Searching: </a:t>
            </a:r>
            <a:r>
              <a:rPr lang="en-US" dirty="0"/>
              <a:t>When searching for a record, the system first looks in the index to find the disk block that contains the record. Then, that specific block is fetched to retrieve the record. This usually takes two disk I/O operations.</a:t>
            </a:r>
          </a:p>
          <a:p>
            <a:pPr fontAlgn="base"/>
            <a:endParaRPr lang="en-US" dirty="0"/>
          </a:p>
          <a:p>
            <a:pPr fontAlgn="base"/>
            <a:r>
              <a:rPr lang="en-US" b="1" dirty="0"/>
              <a:t>Insertion</a:t>
            </a:r>
            <a:r>
              <a:rPr lang="en-US" dirty="0"/>
              <a:t>: If a new record needs to be inserted, it is placed in its correct sorted position. If the block is full, the record is placed in the overflow area.</a:t>
            </a:r>
          </a:p>
          <a:p>
            <a:pPr fontAlgn="base"/>
            <a:endParaRPr lang="en-US" dirty="0"/>
          </a:p>
          <a:p>
            <a:pPr fontAlgn="base"/>
            <a:r>
              <a:rPr lang="en-US" b="1" dirty="0"/>
              <a:t>Deletion: </a:t>
            </a:r>
            <a:r>
              <a:rPr lang="en-US" dirty="0"/>
              <a:t>Deleting a record involves marking it as deleted. The space is then reclaimed during a subsequent reorganization of the data file.</a:t>
            </a:r>
          </a:p>
          <a:p>
            <a:pPr fontAlgn="base"/>
            <a:endParaRPr lang="en-US" dirty="0"/>
          </a:p>
          <a:p>
            <a:pPr fontAlgn="base"/>
            <a:r>
              <a:rPr lang="en-US" b="1" dirty="0"/>
              <a:t>Updating</a:t>
            </a:r>
            <a:r>
              <a:rPr lang="en-US" dirty="0"/>
              <a:t>: Updating a record involves either modifying it if the key is not changed, or deleting and re-inserting it if the key is modified.</a:t>
            </a:r>
            <a:endParaRPr lang="en-US" i="0" dirty="0">
              <a:solidFill>
                <a:srgbClr val="273239"/>
              </a:solidFill>
              <a:effectLst/>
              <a:latin typeface="Nunito"/>
            </a:endParaRPr>
          </a:p>
        </p:txBody>
      </p:sp>
    </p:spTree>
    <p:extLst>
      <p:ext uri="{BB962C8B-B14F-4D97-AF65-F5344CB8AC3E}">
        <p14:creationId xmlns:p14="http://schemas.microsoft.com/office/powerpoint/2010/main" val="352412226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3970318"/>
          </a:xfrm>
          <a:prstGeom prst="rect">
            <a:avLst/>
          </a:prstGeom>
        </p:spPr>
        <p:txBody>
          <a:bodyPr wrap="square">
            <a:spAutoFit/>
          </a:bodyPr>
          <a:lstStyle/>
          <a:p>
            <a:pPr fontAlgn="base"/>
            <a:r>
              <a:rPr lang="en-US" b="1" u="sng" dirty="0"/>
              <a:t>Advantages of ISAM</a:t>
            </a:r>
          </a:p>
          <a:p>
            <a:pPr fontAlgn="base"/>
            <a:r>
              <a:rPr lang="en-US" b="1" dirty="0"/>
              <a:t>Fast retrieval: </a:t>
            </a:r>
            <a:r>
              <a:rPr lang="en-US" dirty="0"/>
              <a:t>ISAM provides fast random access by using the index to directly locate records, which is much quicker than reading through an entire file.</a:t>
            </a:r>
          </a:p>
          <a:p>
            <a:pPr fontAlgn="base"/>
            <a:r>
              <a:rPr lang="en-US" b="1" dirty="0"/>
              <a:t>Supports range and partial searches: </a:t>
            </a:r>
            <a:r>
              <a:rPr lang="en-US" dirty="0"/>
              <a:t>The sorted nature of the index allows for efficient searching of ranges of data or records that start with a specific string (partial search). </a:t>
            </a:r>
          </a:p>
          <a:p>
            <a:pPr fontAlgn="base"/>
            <a:endParaRPr lang="en-US" dirty="0"/>
          </a:p>
          <a:p>
            <a:pPr fontAlgn="base"/>
            <a:r>
              <a:rPr lang="en-US" b="1" u="sng" dirty="0"/>
              <a:t>Disadvantages of ISAM</a:t>
            </a:r>
          </a:p>
          <a:p>
            <a:pPr fontAlgn="base"/>
            <a:r>
              <a:rPr lang="en-US" b="1" dirty="0"/>
              <a:t>Static structure: </a:t>
            </a:r>
            <a:r>
              <a:rPr lang="en-US" dirty="0"/>
              <a:t>The static nature of the index means that the structure of the index tree remains fixed after creation.</a:t>
            </a:r>
          </a:p>
          <a:p>
            <a:pPr fontAlgn="base"/>
            <a:r>
              <a:rPr lang="en-US" b="1" dirty="0"/>
              <a:t>Performance degradation</a:t>
            </a:r>
            <a:r>
              <a:rPr lang="en-US" dirty="0"/>
              <a:t>: Frequent insertions, deletions, and updates can create "overflow chains," which are scattered records that need to be searched sequentially and can significantly slow down performance.</a:t>
            </a:r>
          </a:p>
          <a:p>
            <a:pPr fontAlgn="base"/>
            <a:r>
              <a:rPr lang="en-US" b="1" dirty="0"/>
              <a:t>Inefficient for dynamic data: </a:t>
            </a:r>
            <a:r>
              <a:rPr lang="en-US" dirty="0"/>
              <a:t>Because of the overflow chain issue, ISAM is not ideal for databases that undergo constant and rapid changes. </a:t>
            </a:r>
            <a:endParaRPr lang="en-US" i="0" dirty="0">
              <a:solidFill>
                <a:srgbClr val="273239"/>
              </a:solidFill>
              <a:effectLst/>
              <a:latin typeface="Nunito"/>
            </a:endParaRPr>
          </a:p>
        </p:txBody>
      </p:sp>
    </p:spTree>
    <p:extLst>
      <p:ext uri="{BB962C8B-B14F-4D97-AF65-F5344CB8AC3E}">
        <p14:creationId xmlns:p14="http://schemas.microsoft.com/office/powerpoint/2010/main" val="122062937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2862322"/>
          </a:xfrm>
          <a:prstGeom prst="rect">
            <a:avLst/>
          </a:prstGeom>
        </p:spPr>
        <p:txBody>
          <a:bodyPr wrap="square">
            <a:spAutoFit/>
          </a:bodyPr>
          <a:lstStyle/>
          <a:p>
            <a:pPr fontAlgn="base"/>
            <a:r>
              <a:rPr lang="en-US" b="1" dirty="0">
                <a:solidFill>
                  <a:srgbClr val="273239"/>
                </a:solidFill>
                <a:latin typeface="Nunito"/>
              </a:rPr>
              <a:t>Example:</a:t>
            </a:r>
          </a:p>
          <a:p>
            <a:pPr fontAlgn="base"/>
            <a:endParaRPr lang="en-US" dirty="0">
              <a:solidFill>
                <a:srgbClr val="273239"/>
              </a:solidFill>
              <a:latin typeface="Nunito"/>
            </a:endParaRPr>
          </a:p>
          <a:p>
            <a:pPr fontAlgn="base"/>
            <a:r>
              <a:rPr lang="en-US" dirty="0">
                <a:solidFill>
                  <a:srgbClr val="273239"/>
                </a:solidFill>
                <a:latin typeface="Nunito"/>
              </a:rPr>
              <a:t>An ISAM example is a simplified library database with a data file of books sorted by ISBN and a separate index file. The index file contains each ISBN and a pointer to the block address in the data file where the book's information is stored. To find a specific book, the system first uses the index to find the correct block address in the data file, then retrieves the data from that location. </a:t>
            </a:r>
          </a:p>
          <a:p>
            <a:pPr fontAlgn="base"/>
            <a:endParaRPr lang="en-US" dirty="0">
              <a:solidFill>
                <a:srgbClr val="273239"/>
              </a:solidFill>
              <a:latin typeface="Nunito"/>
            </a:endParaRPr>
          </a:p>
          <a:p>
            <a:pPr fontAlgn="base"/>
            <a:endParaRPr lang="en-US" dirty="0">
              <a:solidFill>
                <a:srgbClr val="273239"/>
              </a:solidFill>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291984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4911344" cy="369332"/>
          </a:xfrm>
          <a:prstGeom prst="rect">
            <a:avLst/>
          </a:prstGeom>
        </p:spPr>
        <p:txBody>
          <a:bodyPr wrap="none">
            <a:spAutoFit/>
          </a:bodyPr>
          <a:lstStyle/>
          <a:p>
            <a:pPr fontAlgn="base">
              <a:buFont typeface="Arial" panose="020B0604020202020204" pitchFamily="34" charset="0"/>
              <a:buChar char="•"/>
            </a:pPr>
            <a:r>
              <a:rPr lang="en-US" b="1" dirty="0">
                <a:solidFill>
                  <a:srgbClr val="273239"/>
                </a:solidFill>
                <a:latin typeface="Nunito"/>
              </a:rPr>
              <a:t>ISAM (Indexed Sequential Access Method)</a:t>
            </a:r>
          </a:p>
        </p:txBody>
      </p:sp>
      <p:sp>
        <p:nvSpPr>
          <p:cNvPr id="5" name="Rectangle 4"/>
          <p:cNvSpPr/>
          <p:nvPr/>
        </p:nvSpPr>
        <p:spPr>
          <a:xfrm>
            <a:off x="524224" y="1772657"/>
            <a:ext cx="9585692" cy="5078313"/>
          </a:xfrm>
          <a:prstGeom prst="rect">
            <a:avLst/>
          </a:prstGeom>
        </p:spPr>
        <p:txBody>
          <a:bodyPr wrap="square">
            <a:spAutoFit/>
          </a:bodyPr>
          <a:lstStyle/>
          <a:p>
            <a:pPr fontAlgn="base"/>
            <a:r>
              <a:rPr lang="en-US" b="1" dirty="0">
                <a:solidFill>
                  <a:srgbClr val="273239"/>
                </a:solidFill>
                <a:latin typeface="Nunito"/>
              </a:rPr>
              <a:t>Example:</a:t>
            </a:r>
          </a:p>
          <a:p>
            <a:pPr fontAlgn="base"/>
            <a:endParaRPr lang="en-US" dirty="0">
              <a:solidFill>
                <a:srgbClr val="273239"/>
              </a:solidFill>
              <a:latin typeface="Nunito"/>
            </a:endParaRPr>
          </a:p>
          <a:p>
            <a:pPr fontAlgn="base"/>
            <a:r>
              <a:rPr lang="en-US" b="1" dirty="0"/>
              <a:t>Data File</a:t>
            </a:r>
            <a:r>
              <a:rPr lang="en-US" dirty="0"/>
              <a:t>: Contains book records, sorted by ISBN</a:t>
            </a:r>
            <a:endParaRPr lang="en-US" dirty="0">
              <a:solidFill>
                <a:srgbClr val="273239"/>
              </a:solidFill>
              <a:latin typeface="Nunito"/>
            </a:endParaRPr>
          </a:p>
          <a:p>
            <a:pPr fontAlgn="base"/>
            <a:r>
              <a:rPr lang="en-US" dirty="0">
                <a:solidFill>
                  <a:srgbClr val="273239"/>
                </a:solidFill>
                <a:latin typeface="Nunito"/>
              </a:rPr>
              <a:t>| 123 | Book A |</a:t>
            </a:r>
          </a:p>
          <a:p>
            <a:pPr fontAlgn="base"/>
            <a:r>
              <a:rPr lang="en-US" dirty="0">
                <a:solidFill>
                  <a:srgbClr val="273239"/>
                </a:solidFill>
                <a:latin typeface="Nunito"/>
              </a:rPr>
              <a:t>| 234 | Book B |</a:t>
            </a:r>
          </a:p>
          <a:p>
            <a:pPr fontAlgn="base"/>
            <a:r>
              <a:rPr lang="en-US" dirty="0">
                <a:solidFill>
                  <a:srgbClr val="273239"/>
                </a:solidFill>
                <a:latin typeface="Nunito"/>
              </a:rPr>
              <a:t>| 345 | Book C |</a:t>
            </a:r>
          </a:p>
          <a:p>
            <a:pPr fontAlgn="base"/>
            <a:r>
              <a:rPr lang="en-US" dirty="0">
                <a:solidFill>
                  <a:srgbClr val="273239"/>
                </a:solidFill>
                <a:latin typeface="Nunito"/>
              </a:rPr>
              <a:t>| 456 | Book D |</a:t>
            </a:r>
          </a:p>
          <a:p>
            <a:pPr fontAlgn="base"/>
            <a:endParaRPr lang="en-US" dirty="0">
              <a:solidFill>
                <a:srgbClr val="273239"/>
              </a:solidFill>
              <a:latin typeface="Nunito"/>
            </a:endParaRPr>
          </a:p>
          <a:p>
            <a:pPr fontAlgn="base"/>
            <a:endParaRPr lang="en-US" dirty="0">
              <a:solidFill>
                <a:srgbClr val="273239"/>
              </a:solidFill>
              <a:latin typeface="Nunito"/>
            </a:endParaRPr>
          </a:p>
          <a:p>
            <a:pPr fontAlgn="base"/>
            <a:r>
              <a:rPr lang="en-US" b="1" dirty="0">
                <a:solidFill>
                  <a:srgbClr val="273239"/>
                </a:solidFill>
                <a:latin typeface="Nunito"/>
              </a:rPr>
              <a:t>Index File</a:t>
            </a:r>
            <a:r>
              <a:rPr lang="en-US" dirty="0">
                <a:solidFill>
                  <a:srgbClr val="273239"/>
                </a:solidFill>
                <a:latin typeface="Nunito"/>
              </a:rPr>
              <a:t>: Maps ISBNs to block addresses in the data file.</a:t>
            </a:r>
          </a:p>
          <a:p>
            <a:pPr fontAlgn="base"/>
            <a:r>
              <a:rPr lang="en-US" dirty="0">
                <a:solidFill>
                  <a:srgbClr val="273239"/>
                </a:solidFill>
                <a:latin typeface="Nunito"/>
              </a:rPr>
              <a:t>| ISBN | Block Address |</a:t>
            </a:r>
          </a:p>
          <a:p>
            <a:pPr fontAlgn="base"/>
            <a:r>
              <a:rPr lang="en-US" dirty="0">
                <a:solidFill>
                  <a:srgbClr val="273239"/>
                </a:solidFill>
                <a:latin typeface="Nunito"/>
              </a:rPr>
              <a:t>| 123   | 1 |</a:t>
            </a:r>
          </a:p>
          <a:p>
            <a:pPr fontAlgn="base"/>
            <a:r>
              <a:rPr lang="en-US" dirty="0">
                <a:solidFill>
                  <a:srgbClr val="273239"/>
                </a:solidFill>
                <a:latin typeface="Nunito"/>
              </a:rPr>
              <a:t>| 234   | 2 |</a:t>
            </a:r>
          </a:p>
          <a:p>
            <a:pPr fontAlgn="base"/>
            <a:r>
              <a:rPr lang="en-US" dirty="0">
                <a:solidFill>
                  <a:srgbClr val="273239"/>
                </a:solidFill>
                <a:latin typeface="Nunito"/>
              </a:rPr>
              <a:t>| 345   | 3 |</a:t>
            </a:r>
          </a:p>
          <a:p>
            <a:pPr fontAlgn="base"/>
            <a:r>
              <a:rPr lang="en-US" dirty="0">
                <a:solidFill>
                  <a:srgbClr val="273239"/>
                </a:solidFill>
                <a:latin typeface="Nunito"/>
              </a:rPr>
              <a:t>| 456   | 4 |</a:t>
            </a:r>
          </a:p>
          <a:p>
            <a:pPr fontAlgn="base"/>
            <a:endParaRPr lang="en-US" dirty="0">
              <a:solidFill>
                <a:srgbClr val="273239"/>
              </a:solidFill>
              <a:latin typeface="Nunito"/>
            </a:endParaRPr>
          </a:p>
          <a:p>
            <a:pPr fontAlgn="base"/>
            <a:endParaRPr lang="en-US" dirty="0">
              <a:solidFill>
                <a:srgbClr val="273239"/>
              </a:solidFill>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106462870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767616" cy="369332"/>
          </a:xfrm>
          <a:prstGeom prst="rect">
            <a:avLst/>
          </a:prstGeom>
        </p:spPr>
        <p:txBody>
          <a:bodyPr wrap="square">
            <a:spAutoFit/>
          </a:bodyPr>
          <a:lstStyle/>
          <a:p>
            <a:pPr fontAlgn="base">
              <a:buFont typeface="Arial" panose="020B0604020202020204" pitchFamily="34" charset="0"/>
              <a:buChar char="•"/>
            </a:pPr>
            <a:r>
              <a:rPr lang="en-GB" b="1" dirty="0">
                <a:latin typeface="Nunito"/>
              </a:rPr>
              <a:t>Hash File Organization</a:t>
            </a:r>
            <a:endParaRPr lang="en-US" b="1" dirty="0">
              <a:solidFill>
                <a:srgbClr val="273239"/>
              </a:solidFill>
              <a:latin typeface="Nunito"/>
            </a:endParaRPr>
          </a:p>
        </p:txBody>
      </p:sp>
      <p:sp>
        <p:nvSpPr>
          <p:cNvPr id="5" name="Rectangle 4"/>
          <p:cNvSpPr/>
          <p:nvPr/>
        </p:nvSpPr>
        <p:spPr>
          <a:xfrm>
            <a:off x="524224" y="1772657"/>
            <a:ext cx="9585692" cy="2031325"/>
          </a:xfrm>
          <a:prstGeom prst="rect">
            <a:avLst/>
          </a:prstGeom>
        </p:spPr>
        <p:txBody>
          <a:bodyPr wrap="square">
            <a:spAutoFit/>
          </a:bodyPr>
          <a:lstStyle/>
          <a:p>
            <a:pPr fontAlgn="base"/>
            <a:r>
              <a:rPr lang="en-GB" dirty="0">
                <a:latin typeface="Nunito"/>
              </a:rPr>
              <a:t>Hash File Organization is a method of storing and managing records in a database by using a </a:t>
            </a:r>
            <a:r>
              <a:rPr lang="en-GB" b="1" dirty="0">
                <a:latin typeface="Nunito"/>
              </a:rPr>
              <a:t>hash function</a:t>
            </a:r>
            <a:r>
              <a:rPr lang="en-GB" dirty="0">
                <a:latin typeface="Nunito"/>
              </a:rPr>
              <a:t> to determine the direct memory address or disk block location of each record. This allows for very fast access, insertion, and deletion of individual records, making it a highly efficient technique for applications requiring quick lookups. </a:t>
            </a:r>
            <a:endParaRPr lang="en-US" dirty="0">
              <a:solidFill>
                <a:srgbClr val="273239"/>
              </a:solidFill>
              <a:latin typeface="Nunito"/>
            </a:endParaRPr>
          </a:p>
          <a:p>
            <a:pPr fontAlgn="base"/>
            <a:endParaRPr lang="en-US" dirty="0">
              <a:solidFill>
                <a:srgbClr val="273239"/>
              </a:solidFill>
              <a:latin typeface="Nunito"/>
            </a:endParaRPr>
          </a:p>
          <a:p>
            <a:pPr fontAlgn="base"/>
            <a:endParaRPr lang="en-US" i="0" dirty="0">
              <a:solidFill>
                <a:srgbClr val="273239"/>
              </a:solidFill>
              <a:effectLst/>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60208396"/>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767616" cy="369332"/>
          </a:xfrm>
          <a:prstGeom prst="rect">
            <a:avLst/>
          </a:prstGeom>
        </p:spPr>
        <p:txBody>
          <a:bodyPr wrap="square">
            <a:spAutoFit/>
          </a:bodyPr>
          <a:lstStyle/>
          <a:p>
            <a:pPr fontAlgn="base">
              <a:buFont typeface="Arial" panose="020B0604020202020204" pitchFamily="34" charset="0"/>
              <a:buChar char="•"/>
            </a:pPr>
            <a:r>
              <a:rPr lang="en-GB" b="1" dirty="0">
                <a:latin typeface="Nunito"/>
              </a:rPr>
              <a:t>Hash File Organization</a:t>
            </a:r>
            <a:endParaRPr lang="en-US" b="1" dirty="0">
              <a:solidFill>
                <a:srgbClr val="273239"/>
              </a:solidFill>
              <a:latin typeface="Nunito"/>
            </a:endParaRPr>
          </a:p>
        </p:txBody>
      </p:sp>
      <p:sp>
        <p:nvSpPr>
          <p:cNvPr id="5" name="Rectangle 4"/>
          <p:cNvSpPr/>
          <p:nvPr/>
        </p:nvSpPr>
        <p:spPr>
          <a:xfrm>
            <a:off x="524224" y="1772657"/>
            <a:ext cx="9585692" cy="3693319"/>
          </a:xfrm>
          <a:prstGeom prst="rect">
            <a:avLst/>
          </a:prstGeom>
        </p:spPr>
        <p:txBody>
          <a:bodyPr wrap="square">
            <a:spAutoFit/>
          </a:bodyPr>
          <a:lstStyle/>
          <a:p>
            <a:r>
              <a:rPr lang="en-GB" b="1" dirty="0">
                <a:latin typeface="Nunito"/>
              </a:rPr>
              <a:t>Hash Function:</a:t>
            </a:r>
            <a:r>
              <a:rPr lang="en-GB" dirty="0">
                <a:latin typeface="Nunito"/>
              </a:rPr>
              <a:t> A mathematical algorithm that takes a record's key value (e.g., an employee ID) as input and converts it into a specific memory address or a relative bucket number.</a:t>
            </a:r>
          </a:p>
          <a:p>
            <a:endParaRPr lang="en-GB" dirty="0">
              <a:latin typeface="Nunito"/>
            </a:endParaRPr>
          </a:p>
          <a:p>
            <a:r>
              <a:rPr lang="en-GB" b="1" dirty="0">
                <a:latin typeface="Nunito"/>
              </a:rPr>
              <a:t>Hash Key/Column:</a:t>
            </a:r>
            <a:r>
              <a:rPr lang="en-GB" dirty="0">
                <a:latin typeface="Nunito"/>
              </a:rPr>
              <a:t> The attribute of the record (often the primary key) to which the hash function is applied.</a:t>
            </a:r>
          </a:p>
          <a:p>
            <a:endParaRPr lang="en-GB" dirty="0">
              <a:latin typeface="Nunito"/>
            </a:endParaRPr>
          </a:p>
          <a:p>
            <a:r>
              <a:rPr lang="en-GB" b="1" dirty="0">
                <a:latin typeface="Nunito"/>
              </a:rPr>
              <a:t>Data Buckets:</a:t>
            </a:r>
            <a:r>
              <a:rPr lang="en-GB" dirty="0">
                <a:latin typeface="Nunito"/>
              </a:rPr>
              <a:t> The memory locations (typically one or more contiguous disk blocks) where the records are physically stored. The hash function maps keys to these buckets.</a:t>
            </a:r>
          </a:p>
          <a:p>
            <a:endParaRPr lang="en-GB" dirty="0">
              <a:latin typeface="Nunito"/>
            </a:endParaRPr>
          </a:p>
          <a:p>
            <a:r>
              <a:rPr lang="en-GB" b="1" dirty="0">
                <a:latin typeface="Nunito"/>
              </a:rPr>
              <a:t>Collision:</a:t>
            </a:r>
            <a:r>
              <a:rPr lang="en-GB" dirty="0">
                <a:latin typeface="Nunito"/>
              </a:rPr>
              <a:t> A situation where the hash function generates the same address for two different keys. Handling collisions is a critical part of hash file organization</a:t>
            </a:r>
          </a:p>
          <a:p>
            <a:pPr fontAlgn="base"/>
            <a:endParaRPr lang="en-US" i="0" dirty="0">
              <a:solidFill>
                <a:srgbClr val="273239"/>
              </a:solidFill>
              <a:effectLst/>
              <a:latin typeface="Nunito"/>
            </a:endParaRPr>
          </a:p>
          <a:p>
            <a:pPr fontAlgn="base"/>
            <a:endParaRPr lang="en-US" i="0" dirty="0">
              <a:solidFill>
                <a:srgbClr val="273239"/>
              </a:solidFill>
              <a:effectLst/>
              <a:latin typeface="Nunito"/>
            </a:endParaRPr>
          </a:p>
        </p:txBody>
      </p:sp>
    </p:spTree>
    <p:extLst>
      <p:ext uri="{BB962C8B-B14F-4D97-AF65-F5344CB8AC3E}">
        <p14:creationId xmlns:p14="http://schemas.microsoft.com/office/powerpoint/2010/main" val="165217095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p:cNvSpPr/>
          <p:nvPr/>
        </p:nvSpPr>
        <p:spPr>
          <a:xfrm>
            <a:off x="334297" y="212607"/>
            <a:ext cx="6096000" cy="1477328"/>
          </a:xfrm>
          <a:prstGeom prst="rect">
            <a:avLst/>
          </a:prstGeom>
        </p:spPr>
        <p:txBody>
          <a:bodyPr>
            <a:spAutoFit/>
          </a:bodyPr>
          <a:lstStyle/>
          <a:p>
            <a:r>
              <a:rPr lang="en-US" b="1" dirty="0"/>
              <a:t>Advantages</a:t>
            </a:r>
          </a:p>
          <a:p>
            <a:r>
              <a:rPr lang="en-US" dirty="0"/>
              <a:t>✔ Very fast </a:t>
            </a:r>
            <a:r>
              <a:rPr lang="en-US" b="1" dirty="0"/>
              <a:t>equality search</a:t>
            </a:r>
            <a:r>
              <a:rPr lang="en-US" dirty="0"/>
              <a:t> (exact match queries)</a:t>
            </a:r>
            <a:br>
              <a:rPr lang="en-US" dirty="0"/>
            </a:br>
            <a:r>
              <a:rPr lang="en-US" dirty="0"/>
              <a:t>✔ Direct access to record</a:t>
            </a:r>
            <a:br>
              <a:rPr lang="en-US" dirty="0"/>
            </a:br>
            <a:r>
              <a:rPr lang="en-US" dirty="0"/>
              <a:t>✔ Efficient for large number of inserts</a:t>
            </a:r>
            <a:br>
              <a:rPr lang="en-US" dirty="0"/>
            </a:br>
            <a:r>
              <a:rPr lang="en-US" dirty="0"/>
              <a:t>✔ Works best for primary key lookups</a:t>
            </a:r>
          </a:p>
        </p:txBody>
      </p:sp>
      <p:sp>
        <p:nvSpPr>
          <p:cNvPr id="8" name="Rectangle 7"/>
          <p:cNvSpPr/>
          <p:nvPr/>
        </p:nvSpPr>
        <p:spPr>
          <a:xfrm>
            <a:off x="334296" y="2227372"/>
            <a:ext cx="7747819" cy="1477328"/>
          </a:xfrm>
          <a:prstGeom prst="rect">
            <a:avLst/>
          </a:prstGeom>
        </p:spPr>
        <p:txBody>
          <a:bodyPr wrap="square">
            <a:spAutoFit/>
          </a:bodyPr>
          <a:lstStyle/>
          <a:p>
            <a:r>
              <a:rPr lang="en-US" b="1" dirty="0"/>
              <a:t>Disadvantages</a:t>
            </a:r>
          </a:p>
          <a:p>
            <a:r>
              <a:rPr lang="en-US" dirty="0"/>
              <a:t>✘ Not suitable for </a:t>
            </a:r>
            <a:r>
              <a:rPr lang="en-US" b="1" dirty="0"/>
              <a:t>range queries</a:t>
            </a:r>
            <a:r>
              <a:rPr lang="en-US" dirty="0"/>
              <a:t> (e.g., find marks between 70–90)</a:t>
            </a:r>
            <a:br>
              <a:rPr lang="en-US" dirty="0"/>
            </a:br>
            <a:r>
              <a:rPr lang="en-US" dirty="0"/>
              <a:t>✘ Bucket overflow handling needed</a:t>
            </a:r>
            <a:br>
              <a:rPr lang="en-US" dirty="0"/>
            </a:br>
            <a:r>
              <a:rPr lang="en-US" dirty="0"/>
              <a:t>✘ Hash function must be chosen carefully</a:t>
            </a:r>
            <a:br>
              <a:rPr lang="en-US" dirty="0"/>
            </a:br>
            <a:r>
              <a:rPr lang="en-US" dirty="0"/>
              <a:t>✘ Rehashing is costly</a:t>
            </a:r>
          </a:p>
        </p:txBody>
      </p:sp>
      <p:sp>
        <p:nvSpPr>
          <p:cNvPr id="9" name="Rectangle 8"/>
          <p:cNvSpPr/>
          <p:nvPr/>
        </p:nvSpPr>
        <p:spPr>
          <a:xfrm>
            <a:off x="437536" y="4242137"/>
            <a:ext cx="6096000" cy="2031325"/>
          </a:xfrm>
          <a:prstGeom prst="rect">
            <a:avLst/>
          </a:prstGeom>
        </p:spPr>
        <p:txBody>
          <a:bodyPr>
            <a:spAutoFit/>
          </a:bodyPr>
          <a:lstStyle/>
          <a:p>
            <a:r>
              <a:rPr lang="en-IN" b="1" dirty="0"/>
              <a:t>Where is Hash File Organization Used?</a:t>
            </a:r>
          </a:p>
          <a:p>
            <a:r>
              <a:rPr lang="en-IN" dirty="0"/>
              <a:t>✔ Bank account search (Account No → record)</a:t>
            </a:r>
            <a:br>
              <a:rPr lang="en-IN" dirty="0"/>
            </a:br>
            <a:r>
              <a:rPr lang="en-IN" dirty="0"/>
              <a:t>✔ Employee ID lookup</a:t>
            </a:r>
            <a:br>
              <a:rPr lang="en-IN" dirty="0"/>
            </a:br>
            <a:r>
              <a:rPr lang="en-IN" dirty="0"/>
              <a:t>✔ Student Roll No lookup</a:t>
            </a:r>
            <a:br>
              <a:rPr lang="en-IN" dirty="0"/>
            </a:br>
            <a:r>
              <a:rPr lang="en-IN" dirty="0"/>
              <a:t>✔ Aadhaar number lookup</a:t>
            </a:r>
            <a:br>
              <a:rPr lang="en-IN" dirty="0"/>
            </a:br>
            <a:r>
              <a:rPr lang="en-IN" dirty="0"/>
              <a:t>✔ URL shortener systems</a:t>
            </a:r>
            <a:br>
              <a:rPr lang="en-IN" dirty="0"/>
            </a:br>
            <a:r>
              <a:rPr lang="en-IN" dirty="0"/>
              <a:t>✔ Hash indexes (like in PostgreSQL, Oracle)</a:t>
            </a:r>
          </a:p>
        </p:txBody>
      </p:sp>
    </p:spTree>
    <p:extLst>
      <p:ext uri="{BB962C8B-B14F-4D97-AF65-F5344CB8AC3E}">
        <p14:creationId xmlns:p14="http://schemas.microsoft.com/office/powerpoint/2010/main" val="189709802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696983"/>
            <a:ext cx="2767616" cy="369332"/>
          </a:xfrm>
          <a:prstGeom prst="rect">
            <a:avLst/>
          </a:prstGeom>
        </p:spPr>
        <p:txBody>
          <a:bodyPr wrap="square">
            <a:spAutoFit/>
          </a:bodyPr>
          <a:lstStyle/>
          <a:p>
            <a:pPr fontAlgn="base"/>
            <a:r>
              <a:rPr lang="en-IN" b="1" dirty="0">
                <a:latin typeface="Nunito"/>
              </a:rPr>
              <a:t>Types of Hashing</a:t>
            </a:r>
            <a:endParaRPr lang="en-US" b="1" dirty="0">
              <a:solidFill>
                <a:srgbClr val="273239"/>
              </a:solidFill>
              <a:latin typeface="Nunito"/>
            </a:endParaRPr>
          </a:p>
        </p:txBody>
      </p:sp>
      <p:sp>
        <p:nvSpPr>
          <p:cNvPr id="5" name="Rectangle 4"/>
          <p:cNvSpPr/>
          <p:nvPr/>
        </p:nvSpPr>
        <p:spPr>
          <a:xfrm>
            <a:off x="524224" y="1174144"/>
            <a:ext cx="11392473" cy="5001369"/>
          </a:xfrm>
          <a:prstGeom prst="rect">
            <a:avLst/>
          </a:prstGeom>
        </p:spPr>
        <p:txBody>
          <a:bodyPr wrap="square">
            <a:spAutoFit/>
          </a:bodyPr>
          <a:lstStyle/>
          <a:p>
            <a:r>
              <a:rPr lang="en-GB" dirty="0">
                <a:latin typeface="Nunito"/>
              </a:rPr>
              <a:t>Hashing in file organization is generally categorized into two main types:</a:t>
            </a:r>
          </a:p>
          <a:p>
            <a:endParaRPr lang="en-GB" b="1" u="sng" dirty="0">
              <a:latin typeface="Nunito"/>
            </a:endParaRPr>
          </a:p>
          <a:p>
            <a:r>
              <a:rPr lang="en-GB" b="1" u="sng" dirty="0">
                <a:latin typeface="Nunito"/>
              </a:rPr>
              <a:t>Static Hashing</a:t>
            </a:r>
          </a:p>
          <a:p>
            <a:r>
              <a:rPr lang="en-GB" dirty="0">
                <a:latin typeface="Nunito"/>
              </a:rPr>
              <a:t>In static hashing, the number of data buckets in memory remains constant, and the hash function always produces the same address for a given key. </a:t>
            </a:r>
          </a:p>
          <a:p>
            <a:r>
              <a:rPr lang="en-GB" b="1" dirty="0">
                <a:latin typeface="Nunito"/>
              </a:rPr>
              <a:t>Collision Resolution Methods: </a:t>
            </a:r>
            <a:r>
              <a:rPr lang="en-GB" dirty="0">
                <a:latin typeface="Nunito"/>
              </a:rPr>
              <a:t>When a collision occurs in static hashing, various techniques are used:</a:t>
            </a:r>
          </a:p>
          <a:p>
            <a:endParaRPr lang="en-GB" sz="1050" dirty="0">
              <a:latin typeface="Nunito"/>
            </a:endParaRPr>
          </a:p>
          <a:p>
            <a:r>
              <a:rPr lang="en-GB" b="1" dirty="0">
                <a:latin typeface="Nunito"/>
              </a:rPr>
              <a:t>Open Addressing (Closed Hashing):</a:t>
            </a:r>
            <a:r>
              <a:rPr lang="en-GB" dirty="0">
                <a:latin typeface="Nunito"/>
              </a:rPr>
              <a:t> Probing for the next available empty slot in the hash table, using methods like linear probing, quadratic probing, or double hashing.</a:t>
            </a:r>
          </a:p>
          <a:p>
            <a:endParaRPr lang="en-GB" sz="1050" dirty="0">
              <a:latin typeface="Nunito"/>
            </a:endParaRPr>
          </a:p>
          <a:p>
            <a:r>
              <a:rPr lang="en-GB" b="1" dirty="0">
                <a:latin typeface="Nunito"/>
              </a:rPr>
              <a:t>Separate Chaining (Open Hashing):</a:t>
            </a:r>
            <a:r>
              <a:rPr lang="en-GB" dirty="0">
                <a:latin typeface="Nunito"/>
              </a:rPr>
              <a:t> Each bucket holds a pointer to a linked list that stores all records which hash to that same address</a:t>
            </a:r>
          </a:p>
          <a:p>
            <a:endParaRPr lang="en-GB" sz="2800" i="0" dirty="0">
              <a:solidFill>
                <a:srgbClr val="273239"/>
              </a:solidFill>
              <a:effectLst/>
              <a:latin typeface="Nunito"/>
            </a:endParaRPr>
          </a:p>
          <a:p>
            <a:r>
              <a:rPr lang="en-GB" b="1" u="sng" dirty="0">
                <a:latin typeface="Nunito"/>
              </a:rPr>
              <a:t>Dynamic Hashing</a:t>
            </a:r>
          </a:p>
          <a:p>
            <a:r>
              <a:rPr lang="en-GB" dirty="0">
                <a:latin typeface="Nunito"/>
              </a:rPr>
              <a:t>Dynamic hashing, also known as extendible hashing, allows the data buckets to expand or shrink dynamically as the number of records in the database increases or decreases. This approach is better suited for databases with frequent changes in size and helps maintain good performance without requiring a full rehashing of the entire file</a:t>
            </a:r>
            <a:endParaRPr lang="en-US" dirty="0">
              <a:latin typeface="Nunito"/>
            </a:endParaRPr>
          </a:p>
        </p:txBody>
      </p:sp>
    </p:spTree>
    <p:extLst>
      <p:ext uri="{BB962C8B-B14F-4D97-AF65-F5344CB8AC3E}">
        <p14:creationId xmlns:p14="http://schemas.microsoft.com/office/powerpoint/2010/main" val="380180931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extLst>
              <p:ext uri="{D42A27DB-BD31-4B8C-83A1-F6EECF244321}">
                <p14:modId xmlns:p14="http://schemas.microsoft.com/office/powerpoint/2010/main" val="2374395034"/>
              </p:ext>
            </p:extLst>
          </p:nvPr>
        </p:nvGraphicFramePr>
        <p:xfrm>
          <a:off x="1238865" y="1241870"/>
          <a:ext cx="10397612" cy="2926080"/>
        </p:xfrm>
        <a:graphic>
          <a:graphicData uri="http://schemas.openxmlformats.org/drawingml/2006/table">
            <a:tbl>
              <a:tblPr/>
              <a:tblGrid>
                <a:gridCol w="2196950">
                  <a:extLst>
                    <a:ext uri="{9D8B030D-6E8A-4147-A177-3AD203B41FA5}">
                      <a16:colId xmlns:a16="http://schemas.microsoft.com/office/drawing/2014/main" val="20000"/>
                    </a:ext>
                  </a:extLst>
                </a:gridCol>
                <a:gridCol w="3898202">
                  <a:extLst>
                    <a:ext uri="{9D8B030D-6E8A-4147-A177-3AD203B41FA5}">
                      <a16:colId xmlns:a16="http://schemas.microsoft.com/office/drawing/2014/main" val="20001"/>
                    </a:ext>
                  </a:extLst>
                </a:gridCol>
                <a:gridCol w="4302460">
                  <a:extLst>
                    <a:ext uri="{9D8B030D-6E8A-4147-A177-3AD203B41FA5}">
                      <a16:colId xmlns:a16="http://schemas.microsoft.com/office/drawing/2014/main" val="20002"/>
                    </a:ext>
                  </a:extLst>
                </a:gridCol>
              </a:tblGrid>
              <a:tr h="0">
                <a:tc>
                  <a:txBody>
                    <a:bodyPr/>
                    <a:lstStyle/>
                    <a:p>
                      <a:r>
                        <a:rPr lang="en-IN" sz="2400" b="1" dirty="0">
                          <a:solidFill>
                            <a:srgbClr val="002060"/>
                          </a:solidFill>
                        </a:rPr>
                        <a:t>Feature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b="1" dirty="0">
                          <a:solidFill>
                            <a:srgbClr val="002060"/>
                          </a:solidFill>
                        </a:rPr>
                        <a:t>Static Hashing (Real Life)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sz="2400" b="1" dirty="0">
                          <a:solidFill>
                            <a:srgbClr val="002060"/>
                          </a:solidFill>
                        </a:rPr>
                        <a:t>Dynamic Hashing (Real Life)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r>
                        <a:rPr lang="en-IN" b="1" dirty="0"/>
                        <a:t>Bucket size</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Fixed hostel blocks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Hostel adds new blocks as students increase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r>
                        <a:rPr lang="en-IN" b="1" dirty="0"/>
                        <a:t>Growth</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Overflow adjustments only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Structure grows automatically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en-IN" b="1" dirty="0"/>
                        <a:t>Flexibility</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Low</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High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r>
                        <a:rPr lang="en-IN" b="1" dirty="0"/>
                        <a:t>Handling overload</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Add temporary beds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Build a new room/floor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r>
                        <a:rPr lang="en-IN" b="1" dirty="0"/>
                        <a:t>Similar to</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Fixed parking space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Parking area expands on demand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r h="0">
                <a:tc>
                  <a:txBody>
                    <a:bodyPr/>
                    <a:lstStyle/>
                    <a:p>
                      <a:r>
                        <a:rPr lang="en-IN" b="1" dirty="0"/>
                        <a:t>Hash behaviour</a:t>
                      </a:r>
                      <a:endParaRPr lang="en-IN" dirty="0"/>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Same distribution always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IN" dirty="0"/>
                        <a:t>Hash structure changes (splits)</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3" name="Rectangle 1"/>
          <p:cNvSpPr>
            <a:spLocks noChangeArrowheads="1"/>
          </p:cNvSpPr>
          <p:nvPr/>
        </p:nvSpPr>
        <p:spPr bwMode="auto">
          <a:xfrm>
            <a:off x="1015181" y="386939"/>
            <a:ext cx="12192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sz="3000" b="1" i="0" u="none" strike="noStrike" cap="none" normalizeH="0" baseline="0" dirty="0">
                <a:ln>
                  <a:noFill/>
                </a:ln>
                <a:solidFill>
                  <a:schemeClr val="tx1"/>
                </a:solidFill>
                <a:effectLst/>
                <a:latin typeface="Arial" panose="020B0604020202020204" pitchFamily="34" charset="0"/>
              </a:rPr>
              <a:t>Static vs Dynamic Hashing – Real-Life Summary Table</a:t>
            </a:r>
          </a:p>
          <a:p>
            <a:pPr marL="0" marR="0" lvl="0" indent="0" algn="l" defTabSz="914400" rtl="0" eaLnBrk="0" fontAlgn="base" latinLnBrk="0" hangingPunct="0">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anose="020B0604020202020204" pitchFamily="34" charset="0"/>
            </a:endParaRPr>
          </a:p>
        </p:txBody>
      </p:sp>
      <p:sp>
        <p:nvSpPr>
          <p:cNvPr id="4" name="Rectangle 3"/>
          <p:cNvSpPr/>
          <p:nvPr/>
        </p:nvSpPr>
        <p:spPr>
          <a:xfrm>
            <a:off x="1204451" y="4306894"/>
            <a:ext cx="8647472" cy="1754326"/>
          </a:xfrm>
          <a:prstGeom prst="rect">
            <a:avLst/>
          </a:prstGeom>
        </p:spPr>
        <p:txBody>
          <a:bodyPr wrap="square">
            <a:spAutoFit/>
          </a:bodyPr>
          <a:lstStyle/>
          <a:p>
            <a:r>
              <a:rPr lang="en-US" b="1" dirty="0"/>
              <a:t>Static Hashing → “Fixed drawers in your cupboard”</a:t>
            </a:r>
          </a:p>
          <a:p>
            <a:pPr>
              <a:buFont typeface="Arial" panose="020B0604020202020204" pitchFamily="34" charset="0"/>
              <a:buChar char="•"/>
            </a:pPr>
            <a:r>
              <a:rPr lang="en-US" dirty="0"/>
              <a:t>If full, clothes spill over or are stuffed in awkwardly</a:t>
            </a:r>
          </a:p>
          <a:p>
            <a:pPr>
              <a:buFont typeface="Arial" panose="020B0604020202020204" pitchFamily="34" charset="0"/>
              <a:buChar char="•"/>
            </a:pPr>
            <a:r>
              <a:rPr lang="en-US" dirty="0"/>
              <a:t>Structure doesn’t grow</a:t>
            </a:r>
          </a:p>
          <a:p>
            <a:r>
              <a:rPr lang="en-US" b="1" dirty="0"/>
              <a:t>Dynamic Hashing → “Cupboard with attachable new drawers”</a:t>
            </a:r>
          </a:p>
          <a:p>
            <a:pPr>
              <a:buFont typeface="Arial" panose="020B0604020202020204" pitchFamily="34" charset="0"/>
              <a:buChar char="•"/>
            </a:pPr>
            <a:r>
              <a:rPr lang="en-US" dirty="0"/>
              <a:t>If one drawer fills, you add a new drawer</a:t>
            </a:r>
          </a:p>
          <a:p>
            <a:pPr>
              <a:buFont typeface="Arial" panose="020B0604020202020204" pitchFamily="34" charset="0"/>
              <a:buChar char="•"/>
            </a:pPr>
            <a:r>
              <a:rPr lang="en-US" dirty="0"/>
              <a:t>System adjusts itself</a:t>
            </a:r>
          </a:p>
        </p:txBody>
      </p:sp>
    </p:spTree>
    <p:extLst>
      <p:ext uri="{BB962C8B-B14F-4D97-AF65-F5344CB8AC3E}">
        <p14:creationId xmlns:p14="http://schemas.microsoft.com/office/powerpoint/2010/main" val="18960386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767616" cy="646331"/>
          </a:xfrm>
          <a:prstGeom prst="rect">
            <a:avLst/>
          </a:prstGeom>
        </p:spPr>
        <p:txBody>
          <a:bodyPr wrap="square">
            <a:spAutoFit/>
          </a:bodyPr>
          <a:lstStyle/>
          <a:p>
            <a:pPr fontAlgn="base"/>
            <a:r>
              <a:rPr lang="en-GB" b="1" dirty="0">
                <a:latin typeface="Nunito"/>
              </a:rPr>
              <a:t>Hash File Organization</a:t>
            </a:r>
            <a:endParaRPr lang="en-US" b="1" dirty="0">
              <a:solidFill>
                <a:srgbClr val="273239"/>
              </a:solidFill>
              <a:latin typeface="Nunito"/>
            </a:endParaRPr>
          </a:p>
          <a:p>
            <a:pPr fontAlgn="base"/>
            <a:endParaRPr lang="en-US" b="1" dirty="0">
              <a:solidFill>
                <a:srgbClr val="273239"/>
              </a:solidFill>
              <a:latin typeface="Nunito"/>
            </a:endParaRPr>
          </a:p>
        </p:txBody>
      </p:sp>
      <p:sp>
        <p:nvSpPr>
          <p:cNvPr id="6" name="Rectangle 5"/>
          <p:cNvSpPr/>
          <p:nvPr/>
        </p:nvSpPr>
        <p:spPr>
          <a:xfrm>
            <a:off x="684627" y="1491402"/>
            <a:ext cx="9795803" cy="3139321"/>
          </a:xfrm>
          <a:prstGeom prst="rect">
            <a:avLst/>
          </a:prstGeom>
        </p:spPr>
        <p:txBody>
          <a:bodyPr wrap="square">
            <a:spAutoFit/>
          </a:bodyPr>
          <a:lstStyle/>
          <a:p>
            <a:r>
              <a:rPr lang="en-GB" b="1" dirty="0">
                <a:latin typeface="Nunito"/>
              </a:rPr>
              <a:t>How it works</a:t>
            </a:r>
          </a:p>
          <a:p>
            <a:endParaRPr lang="en-GB" dirty="0">
              <a:latin typeface="Nunito"/>
            </a:endParaRPr>
          </a:p>
          <a:p>
            <a:pPr marL="285750" indent="-285750">
              <a:buFont typeface="Arial" panose="020B0604020202020204" pitchFamily="34" charset="0"/>
              <a:buChar char="•"/>
            </a:pPr>
            <a:r>
              <a:rPr lang="en-GB" dirty="0">
                <a:latin typeface="Nunito"/>
              </a:rPr>
              <a:t>A hash function is applied to a record's key (e.g., an ID number) to generate a number. </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This number directly points to the disk block where the record is stored. </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When a record is inserted, the hash function determines its block location, and the record is placed there directly. </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To retrieve, update, or delete a record, the same hash function is used to find its address, allowing for direct access to the record without searching. </a:t>
            </a:r>
            <a:endParaRPr lang="en-IN" dirty="0">
              <a:latin typeface="Nunito"/>
            </a:endParaRPr>
          </a:p>
        </p:txBody>
      </p:sp>
    </p:spTree>
    <p:extLst>
      <p:ext uri="{BB962C8B-B14F-4D97-AF65-F5344CB8AC3E}">
        <p14:creationId xmlns:p14="http://schemas.microsoft.com/office/powerpoint/2010/main" val="37695970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767616" cy="646331"/>
          </a:xfrm>
          <a:prstGeom prst="rect">
            <a:avLst/>
          </a:prstGeom>
        </p:spPr>
        <p:txBody>
          <a:bodyPr wrap="square">
            <a:spAutoFit/>
          </a:bodyPr>
          <a:lstStyle/>
          <a:p>
            <a:pPr fontAlgn="base"/>
            <a:r>
              <a:rPr lang="en-GB" b="1" dirty="0">
                <a:latin typeface="Nunito"/>
              </a:rPr>
              <a:t>Hash File Organization</a:t>
            </a:r>
            <a:endParaRPr lang="en-US" b="1" dirty="0">
              <a:solidFill>
                <a:srgbClr val="273239"/>
              </a:solidFill>
              <a:latin typeface="Nunito"/>
            </a:endParaRPr>
          </a:p>
          <a:p>
            <a:pPr fontAlgn="base"/>
            <a:endParaRPr lang="en-US" b="1" dirty="0">
              <a:solidFill>
                <a:srgbClr val="273239"/>
              </a:solidFill>
              <a:latin typeface="Nunito"/>
            </a:endParaRPr>
          </a:p>
        </p:txBody>
      </p:sp>
      <p:sp>
        <p:nvSpPr>
          <p:cNvPr id="6" name="Rectangle 5"/>
          <p:cNvSpPr/>
          <p:nvPr/>
        </p:nvSpPr>
        <p:spPr>
          <a:xfrm>
            <a:off x="684627" y="1491402"/>
            <a:ext cx="10892857" cy="4524315"/>
          </a:xfrm>
          <a:prstGeom prst="rect">
            <a:avLst/>
          </a:prstGeom>
        </p:spPr>
        <p:txBody>
          <a:bodyPr wrap="square">
            <a:spAutoFit/>
          </a:bodyPr>
          <a:lstStyle/>
          <a:p>
            <a:r>
              <a:rPr lang="en-GB" b="1" u="sng" dirty="0">
                <a:latin typeface="Nunito"/>
              </a:rPr>
              <a:t>Advantages</a:t>
            </a:r>
          </a:p>
          <a:p>
            <a:endParaRPr lang="en-GB" b="1" u="sng" dirty="0">
              <a:latin typeface="Nunito"/>
            </a:endParaRPr>
          </a:p>
          <a:p>
            <a:r>
              <a:rPr lang="en-GB" b="1" dirty="0">
                <a:latin typeface="Nunito"/>
              </a:rPr>
              <a:t>Speed: </a:t>
            </a:r>
            <a:r>
              <a:rPr lang="en-GB" dirty="0">
                <a:latin typeface="Nunito"/>
              </a:rPr>
              <a:t>Provides very fast data retrieval because records are accessed directly without a linear search.</a:t>
            </a:r>
          </a:p>
          <a:p>
            <a:r>
              <a:rPr lang="en-GB" b="1" dirty="0">
                <a:latin typeface="Nunito"/>
              </a:rPr>
              <a:t>Efficiency: </a:t>
            </a:r>
            <a:r>
              <a:rPr lang="en-GB" dirty="0">
                <a:latin typeface="Nunito"/>
              </a:rPr>
              <a:t>Ideal for large databases that require rapid access, such as online banking or e-commerce systems</a:t>
            </a:r>
            <a:r>
              <a:rPr lang="en-GB" b="1" dirty="0">
                <a:latin typeface="Nunito"/>
              </a:rPr>
              <a:t>.</a:t>
            </a:r>
          </a:p>
          <a:p>
            <a:r>
              <a:rPr lang="en-GB" b="1" dirty="0">
                <a:latin typeface="Nunito"/>
              </a:rPr>
              <a:t>Concurrency: </a:t>
            </a:r>
            <a:r>
              <a:rPr lang="en-GB" dirty="0">
                <a:latin typeface="Nunito"/>
              </a:rPr>
              <a:t>Can handle multiple transactions simultaneously, as records are independent and can be accessed at the same time</a:t>
            </a:r>
            <a:r>
              <a:rPr lang="en-GB" b="1" dirty="0">
                <a:latin typeface="Nunito"/>
              </a:rPr>
              <a:t>. </a:t>
            </a:r>
          </a:p>
          <a:p>
            <a:endParaRPr lang="en-GB" b="1" dirty="0">
              <a:latin typeface="Nunito"/>
            </a:endParaRPr>
          </a:p>
          <a:p>
            <a:r>
              <a:rPr lang="en-GB" b="1" u="sng" dirty="0">
                <a:latin typeface="Nunito"/>
              </a:rPr>
              <a:t>Disadvantages</a:t>
            </a:r>
          </a:p>
          <a:p>
            <a:endParaRPr lang="en-GB" b="1" dirty="0">
              <a:latin typeface="Nunito"/>
            </a:endParaRPr>
          </a:p>
          <a:p>
            <a:r>
              <a:rPr lang="en-GB" b="1" dirty="0">
                <a:latin typeface="Nunito"/>
              </a:rPr>
              <a:t>Collisions: </a:t>
            </a:r>
            <a:r>
              <a:rPr lang="en-GB" dirty="0">
                <a:latin typeface="Nunito"/>
              </a:rPr>
              <a:t>Two different keys can sometimes produce the same hash address, leading to a "collision." This requires a secondary method to resolve, such as checking the next available slot, which can slow down operations</a:t>
            </a:r>
            <a:r>
              <a:rPr lang="en-GB" b="1" dirty="0">
                <a:latin typeface="Nunito"/>
              </a:rPr>
              <a:t>. </a:t>
            </a:r>
          </a:p>
          <a:p>
            <a:endParaRPr lang="en-GB" b="1" dirty="0">
              <a:latin typeface="Nunito"/>
            </a:endParaRPr>
          </a:p>
          <a:p>
            <a:r>
              <a:rPr lang="en-GB" b="1" dirty="0">
                <a:latin typeface="Nunito"/>
              </a:rPr>
              <a:t>Static hashing: </a:t>
            </a:r>
            <a:r>
              <a:rPr lang="en-GB" dirty="0">
                <a:latin typeface="Nunito"/>
              </a:rPr>
              <a:t>If the database grows or shrinks, a static hash file can become inefficient. It may lead to too many overflows or wasted space if the initial allocation was incorrect. . </a:t>
            </a:r>
            <a:endParaRPr lang="en-IN" dirty="0">
              <a:latin typeface="Nunito"/>
            </a:endParaRPr>
          </a:p>
        </p:txBody>
      </p:sp>
    </p:spTree>
    <p:extLst>
      <p:ext uri="{BB962C8B-B14F-4D97-AF65-F5344CB8AC3E}">
        <p14:creationId xmlns:p14="http://schemas.microsoft.com/office/powerpoint/2010/main" val="183733083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767616" cy="646331"/>
          </a:xfrm>
          <a:prstGeom prst="rect">
            <a:avLst/>
          </a:prstGeom>
        </p:spPr>
        <p:txBody>
          <a:bodyPr wrap="square">
            <a:spAutoFit/>
          </a:bodyPr>
          <a:lstStyle/>
          <a:p>
            <a:r>
              <a:rPr lang="en-IN" b="1" dirty="0">
                <a:latin typeface="Nunito"/>
              </a:rPr>
              <a:t>B+ File Organization</a:t>
            </a:r>
          </a:p>
          <a:p>
            <a:pPr fontAlgn="base"/>
            <a:endParaRPr lang="en-US" b="1" dirty="0">
              <a:solidFill>
                <a:srgbClr val="273239"/>
              </a:solidFill>
              <a:latin typeface="Nunito"/>
            </a:endParaRPr>
          </a:p>
        </p:txBody>
      </p:sp>
      <p:sp>
        <p:nvSpPr>
          <p:cNvPr id="6" name="Rectangle 5"/>
          <p:cNvSpPr/>
          <p:nvPr/>
        </p:nvSpPr>
        <p:spPr>
          <a:xfrm>
            <a:off x="684627" y="1491402"/>
            <a:ext cx="9795803" cy="3970318"/>
          </a:xfrm>
          <a:prstGeom prst="rect">
            <a:avLst/>
          </a:prstGeom>
        </p:spPr>
        <p:txBody>
          <a:bodyPr wrap="square">
            <a:spAutoFit/>
          </a:bodyPr>
          <a:lstStyle/>
          <a:p>
            <a:r>
              <a:rPr lang="en-GB" dirty="0">
                <a:latin typeface="Nunito"/>
              </a:rPr>
              <a:t>The advanced way of an indexed sequential access mechanism is the B+ tree file organization. In File, records are stored in a </a:t>
            </a:r>
            <a:r>
              <a:rPr lang="en-GB" u="sng" dirty="0">
                <a:latin typeface="Nunito"/>
              </a:rPr>
              <a:t>tree-like structure</a:t>
            </a:r>
            <a:r>
              <a:rPr lang="en-GB" dirty="0">
                <a:latin typeface="Nunito"/>
              </a:rPr>
              <a:t>. </a:t>
            </a:r>
          </a:p>
          <a:p>
            <a:endParaRPr lang="en-GB" dirty="0">
              <a:latin typeface="Nunito"/>
            </a:endParaRPr>
          </a:p>
          <a:p>
            <a:endParaRPr lang="en-GB" dirty="0">
              <a:latin typeface="Nunito"/>
            </a:endParaRPr>
          </a:p>
          <a:p>
            <a:r>
              <a:rPr lang="en-GB" dirty="0">
                <a:latin typeface="Nunito"/>
              </a:rPr>
              <a:t>The B+ tree file organization is a very advanced method of an indexed sequential access mechanism. In File, records are stored in a tree-like structure. It employs a similar key-index idea, in which the primary key is utilised to sort the records. The index value is generated for each primary key and mapped to the record.</a:t>
            </a:r>
          </a:p>
          <a:p>
            <a:endParaRPr lang="en-GB" dirty="0">
              <a:latin typeface="Nunito"/>
            </a:endParaRPr>
          </a:p>
          <a:p>
            <a:r>
              <a:rPr lang="en-GB" dirty="0">
                <a:latin typeface="Nunito"/>
              </a:rPr>
              <a:t>Unlike a binary search tree (BST), the B+ tree can contain more than two children. All records are stored solely at the leaf node in this method. The leaf nodes are pointed to by intermediate nodes. There are no records in them.</a:t>
            </a:r>
          </a:p>
          <a:p>
            <a:br>
              <a:rPr lang="en-GB" dirty="0">
                <a:latin typeface="Nunito"/>
              </a:rPr>
            </a:br>
            <a:endParaRPr lang="en-IN" dirty="0">
              <a:latin typeface="Nunito"/>
            </a:endParaRPr>
          </a:p>
        </p:txBody>
      </p:sp>
    </p:spTree>
    <p:extLst>
      <p:ext uri="{BB962C8B-B14F-4D97-AF65-F5344CB8AC3E}">
        <p14:creationId xmlns:p14="http://schemas.microsoft.com/office/powerpoint/2010/main" val="219273209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767616" cy="646331"/>
          </a:xfrm>
          <a:prstGeom prst="rect">
            <a:avLst/>
          </a:prstGeom>
        </p:spPr>
        <p:txBody>
          <a:bodyPr wrap="square">
            <a:spAutoFit/>
          </a:bodyPr>
          <a:lstStyle/>
          <a:p>
            <a:r>
              <a:rPr lang="en-IN" b="1" dirty="0">
                <a:latin typeface="Nunito"/>
              </a:rPr>
              <a:t>B+ File Organization</a:t>
            </a:r>
          </a:p>
          <a:p>
            <a:pPr fontAlgn="base"/>
            <a:endParaRPr lang="en-US" b="1" dirty="0">
              <a:solidFill>
                <a:srgbClr val="273239"/>
              </a:solidFill>
              <a:latin typeface="Nunito"/>
            </a:endParaRPr>
          </a:p>
        </p:txBody>
      </p:sp>
      <p:pic>
        <p:nvPicPr>
          <p:cNvPr id="3" name="Picture 2"/>
          <p:cNvPicPr>
            <a:picLocks noChangeAspect="1"/>
          </p:cNvPicPr>
          <p:nvPr/>
        </p:nvPicPr>
        <p:blipFill>
          <a:blip r:embed="rId2"/>
          <a:srcRect l="5356"/>
          <a:stretch>
            <a:fillRect/>
          </a:stretch>
        </p:blipFill>
        <p:spPr>
          <a:xfrm>
            <a:off x="524224" y="1620768"/>
            <a:ext cx="5641048" cy="2410274"/>
          </a:xfrm>
          <a:prstGeom prst="rect">
            <a:avLst/>
          </a:prstGeom>
        </p:spPr>
      </p:pic>
      <p:sp>
        <p:nvSpPr>
          <p:cNvPr id="5" name="TextBox 4"/>
          <p:cNvSpPr txBox="1"/>
          <p:nvPr/>
        </p:nvSpPr>
        <p:spPr>
          <a:xfrm>
            <a:off x="6271848" y="671691"/>
            <a:ext cx="5256628" cy="6186309"/>
          </a:xfrm>
          <a:prstGeom prst="rect">
            <a:avLst/>
          </a:prstGeom>
          <a:noFill/>
        </p:spPr>
        <p:txBody>
          <a:bodyPr wrap="square" rtlCol="0">
            <a:spAutoFit/>
          </a:bodyPr>
          <a:lstStyle/>
          <a:p>
            <a:pPr marL="285750" indent="-285750">
              <a:buFont typeface="Arial" panose="020B0604020202020204" pitchFamily="34" charset="0"/>
              <a:buChar char="•"/>
            </a:pPr>
            <a:r>
              <a:rPr lang="en-GB" dirty="0">
                <a:latin typeface="Nunito"/>
              </a:rPr>
              <a:t>The tree has only one root node, which is number 25.</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There is a node-based intermediary layer. They don’t keep the original record. The only thing they have are pointers to the leaf node.</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The prior value of the root Is stored in the nodes to the left of the root node, while the next value is stored in the nodes to the right, i.e. 15 and 30.</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Only one leaf node contains only values, namely 10, 12, 17, 20, 24, 27, and 29.</a:t>
            </a:r>
          </a:p>
          <a:p>
            <a:pPr marL="285750" indent="-285750">
              <a:buFont typeface="Arial" panose="020B0604020202020204" pitchFamily="34" charset="0"/>
              <a:buChar char="•"/>
            </a:pPr>
            <a:endParaRPr lang="en-GB" dirty="0">
              <a:latin typeface="Nunito"/>
            </a:endParaRPr>
          </a:p>
          <a:p>
            <a:pPr marL="285750" indent="-285750">
              <a:buFont typeface="Arial" panose="020B0604020202020204" pitchFamily="34" charset="0"/>
              <a:buChar char="•"/>
            </a:pPr>
            <a:r>
              <a:rPr lang="en-GB" dirty="0">
                <a:latin typeface="Nunito"/>
              </a:rPr>
              <a:t>Because all of the leaf nodes are balanced, finding any record is much easier.</a:t>
            </a:r>
          </a:p>
          <a:p>
            <a:endParaRPr lang="en-GB" dirty="0">
              <a:latin typeface="Nunito"/>
            </a:endParaRPr>
          </a:p>
          <a:p>
            <a:pPr marL="285750" indent="-285750">
              <a:buFont typeface="Arial" panose="020B0604020202020204" pitchFamily="34" charset="0"/>
              <a:buChar char="•"/>
            </a:pPr>
            <a:r>
              <a:rPr lang="en-GB" b="1" dirty="0">
                <a:latin typeface="Nunito"/>
              </a:rPr>
              <a:t>This method allows you to search any record by following a single path and accessing it quickly.</a:t>
            </a:r>
          </a:p>
          <a:p>
            <a:endParaRPr lang="en-IN" b="1" dirty="0">
              <a:latin typeface="Nunito"/>
            </a:endParaRPr>
          </a:p>
        </p:txBody>
      </p:sp>
    </p:spTree>
    <p:extLst>
      <p:ext uri="{BB962C8B-B14F-4D97-AF65-F5344CB8AC3E}">
        <p14:creationId xmlns:p14="http://schemas.microsoft.com/office/powerpoint/2010/main" val="135067379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767616" cy="646331"/>
          </a:xfrm>
          <a:prstGeom prst="rect">
            <a:avLst/>
          </a:prstGeom>
        </p:spPr>
        <p:txBody>
          <a:bodyPr wrap="square">
            <a:spAutoFit/>
          </a:bodyPr>
          <a:lstStyle/>
          <a:p>
            <a:r>
              <a:rPr lang="en-IN" b="1" dirty="0">
                <a:latin typeface="Nunito"/>
              </a:rPr>
              <a:t>B+ File Organization</a:t>
            </a:r>
          </a:p>
          <a:p>
            <a:pPr fontAlgn="base"/>
            <a:endParaRPr lang="en-US" b="1" dirty="0">
              <a:solidFill>
                <a:srgbClr val="273239"/>
              </a:solidFill>
              <a:latin typeface="Nunito"/>
            </a:endParaRPr>
          </a:p>
        </p:txBody>
      </p:sp>
      <p:sp>
        <p:nvSpPr>
          <p:cNvPr id="6" name="Rectangle 5"/>
          <p:cNvSpPr/>
          <p:nvPr/>
        </p:nvSpPr>
        <p:spPr>
          <a:xfrm>
            <a:off x="684627" y="1491402"/>
            <a:ext cx="9795803" cy="4247317"/>
          </a:xfrm>
          <a:prstGeom prst="rect">
            <a:avLst/>
          </a:prstGeom>
        </p:spPr>
        <p:txBody>
          <a:bodyPr wrap="square">
            <a:spAutoFit/>
          </a:bodyPr>
          <a:lstStyle/>
          <a:p>
            <a:r>
              <a:rPr lang="en-GB" b="1" u="sng" dirty="0">
                <a:latin typeface="Nunito"/>
              </a:rPr>
              <a:t>Advantages:</a:t>
            </a:r>
          </a:p>
          <a:p>
            <a:r>
              <a:rPr lang="en-GB" dirty="0">
                <a:latin typeface="Nunito"/>
              </a:rPr>
              <a:t>Because all records are stored solely in the leaf nodes and ordered in a sequential linked list, searching becomes very simple using this method.</a:t>
            </a:r>
          </a:p>
          <a:p>
            <a:endParaRPr lang="en-GB" dirty="0">
              <a:latin typeface="Nunito"/>
            </a:endParaRPr>
          </a:p>
          <a:p>
            <a:r>
              <a:rPr lang="en-GB" dirty="0">
                <a:latin typeface="Nunito"/>
              </a:rPr>
              <a:t>It’s easier and faster to navigate the tree structure.</a:t>
            </a:r>
          </a:p>
          <a:p>
            <a:endParaRPr lang="en-GB" dirty="0">
              <a:latin typeface="Nunito"/>
            </a:endParaRPr>
          </a:p>
          <a:p>
            <a:r>
              <a:rPr lang="en-GB" dirty="0">
                <a:latin typeface="Nunito"/>
              </a:rPr>
              <a:t>The size of the B+ tree is unrestricted; therefore, the number of records and the structure of the B+ tree can both expand and shrink.</a:t>
            </a:r>
          </a:p>
          <a:p>
            <a:endParaRPr lang="en-GB" dirty="0">
              <a:latin typeface="Nunito"/>
            </a:endParaRPr>
          </a:p>
          <a:p>
            <a:r>
              <a:rPr lang="en-GB" dirty="0">
                <a:latin typeface="Nunito"/>
              </a:rPr>
              <a:t>It is a very balanced tree structure. Here, each insert, update, or deletion has no effect on the tree’s performance.</a:t>
            </a:r>
          </a:p>
          <a:p>
            <a:endParaRPr lang="en-GB" dirty="0">
              <a:latin typeface="Nunito"/>
            </a:endParaRPr>
          </a:p>
          <a:p>
            <a:r>
              <a:rPr lang="en-GB" b="1" u="sng" dirty="0">
                <a:latin typeface="Nunito"/>
              </a:rPr>
              <a:t>Disadvantages:</a:t>
            </a:r>
          </a:p>
          <a:p>
            <a:r>
              <a:rPr lang="en-GB" dirty="0">
                <a:latin typeface="Nunito"/>
              </a:rPr>
              <a:t>The B+ tree file organization method is very inefficient for the static method.</a:t>
            </a:r>
            <a:endParaRPr lang="en-GB" b="1" u="sng" dirty="0">
              <a:latin typeface="Nunito"/>
            </a:endParaRPr>
          </a:p>
          <a:p>
            <a:endParaRPr lang="en-IN" dirty="0">
              <a:latin typeface="Nunito"/>
            </a:endParaRPr>
          </a:p>
        </p:txBody>
      </p:sp>
    </p:spTree>
    <p:extLst>
      <p:ext uri="{BB962C8B-B14F-4D97-AF65-F5344CB8AC3E}">
        <p14:creationId xmlns:p14="http://schemas.microsoft.com/office/powerpoint/2010/main" val="259409621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363536" y="241362"/>
            <a:ext cx="3070071" cy="369332"/>
          </a:xfrm>
          <a:prstGeom prst="rect">
            <a:avLst/>
          </a:prstGeom>
        </p:spPr>
        <p:txBody>
          <a:bodyPr wrap="none">
            <a:spAutoFit/>
          </a:bodyPr>
          <a:lstStyle/>
          <a:p>
            <a:pPr fontAlgn="base"/>
            <a:r>
              <a:rPr lang="en-IN" b="1" i="0" dirty="0">
                <a:solidFill>
                  <a:srgbClr val="273239"/>
                </a:solidFill>
                <a:effectLst/>
                <a:latin typeface="Source Sans 3"/>
              </a:rPr>
              <a:t>File Organization in DBMS</a:t>
            </a:r>
          </a:p>
        </p:txBody>
      </p:sp>
      <p:sp>
        <p:nvSpPr>
          <p:cNvPr id="4" name="Rectangle 3"/>
          <p:cNvSpPr/>
          <p:nvPr/>
        </p:nvSpPr>
        <p:spPr>
          <a:xfrm>
            <a:off x="524224" y="968725"/>
            <a:ext cx="2767616" cy="369332"/>
          </a:xfrm>
          <a:prstGeom prst="rect">
            <a:avLst/>
          </a:prstGeom>
        </p:spPr>
        <p:txBody>
          <a:bodyPr wrap="square">
            <a:spAutoFit/>
          </a:bodyPr>
          <a:lstStyle/>
          <a:p>
            <a:pPr fontAlgn="base"/>
            <a:endParaRPr lang="en-US" b="1" dirty="0">
              <a:solidFill>
                <a:srgbClr val="273239"/>
              </a:solidFill>
              <a:latin typeface="Nunito"/>
            </a:endParaRPr>
          </a:p>
        </p:txBody>
      </p:sp>
      <p:sp>
        <p:nvSpPr>
          <p:cNvPr id="6" name="Rectangle 5"/>
          <p:cNvSpPr/>
          <p:nvPr/>
        </p:nvSpPr>
        <p:spPr>
          <a:xfrm>
            <a:off x="684627" y="1491402"/>
            <a:ext cx="9795803" cy="923330"/>
          </a:xfrm>
          <a:prstGeom prst="rect">
            <a:avLst/>
          </a:prstGeom>
        </p:spPr>
        <p:txBody>
          <a:bodyPr wrap="square">
            <a:spAutoFit/>
          </a:bodyPr>
          <a:lstStyle/>
          <a:p>
            <a:r>
              <a:rPr lang="en-US" dirty="0"/>
              <a:t>DBMS looks at the type of operations you (or the application) perform:</a:t>
            </a:r>
          </a:p>
          <a:p>
            <a:endParaRPr lang="en-US" dirty="0">
              <a:latin typeface="Nunito"/>
            </a:endParaRPr>
          </a:p>
          <a:p>
            <a:endParaRPr lang="en-IN" dirty="0">
              <a:latin typeface="Nunito"/>
            </a:endParaRPr>
          </a:p>
        </p:txBody>
      </p:sp>
      <p:graphicFrame>
        <p:nvGraphicFramePr>
          <p:cNvPr id="3" name="Table 2"/>
          <p:cNvGraphicFramePr>
            <a:graphicFrameLocks noGrp="1"/>
          </p:cNvGraphicFramePr>
          <p:nvPr/>
        </p:nvGraphicFramePr>
        <p:xfrm>
          <a:off x="889716" y="2272950"/>
          <a:ext cx="10515600" cy="2194560"/>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0">
                <a:tc>
                  <a:txBody>
                    <a:bodyPr/>
                    <a:lstStyle/>
                    <a:p>
                      <a:r>
                        <a:rPr lang="en-US" dirty="0"/>
                        <a:t>Requirement</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Best File Organization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0">
                <a:tc>
                  <a:txBody>
                    <a:bodyPr/>
                    <a:lstStyle/>
                    <a:p>
                      <a:r>
                        <a:rPr lang="en-US" dirty="0"/>
                        <a:t>Search by primary key</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Indexed or Clustered</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1"/>
                  </a:ext>
                </a:extLst>
              </a:tr>
              <a:tr h="0">
                <a:tc>
                  <a:txBody>
                    <a:bodyPr/>
                    <a:lstStyle/>
                    <a:p>
                      <a:r>
                        <a:rPr lang="en-US" dirty="0"/>
                        <a:t>Range search (BETWEEN, &gt;, &lt; )</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B+ Tree (Clustered index)</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2"/>
                  </a:ext>
                </a:extLst>
              </a:tr>
              <a:tr h="0">
                <a:tc>
                  <a:txBody>
                    <a:bodyPr/>
                    <a:lstStyle/>
                    <a:p>
                      <a:r>
                        <a:rPr lang="en-US" dirty="0"/>
                        <a:t>Insert-heavy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Heap or Sequential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3"/>
                  </a:ext>
                </a:extLst>
              </a:tr>
              <a:tr h="0">
                <a:tc>
                  <a:txBody>
                    <a:bodyPr/>
                    <a:lstStyle/>
                    <a:p>
                      <a:r>
                        <a:rPr lang="en-US" dirty="0"/>
                        <a:t>Very fast equality search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Hash</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4"/>
                  </a:ext>
                </a:extLst>
              </a:tr>
              <a:tr h="0">
                <a:tc>
                  <a:txBody>
                    <a:bodyPr/>
                    <a:lstStyle/>
                    <a:p>
                      <a:r>
                        <a:rPr lang="en-US" dirty="0"/>
                        <a:t>Mostly read-only table</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Sequential</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4156794103"/>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825909" y="855407"/>
            <a:ext cx="10323870" cy="5016758"/>
          </a:xfrm>
          <a:prstGeom prst="rect">
            <a:avLst/>
          </a:prstGeom>
        </p:spPr>
        <p:txBody>
          <a:bodyPr wrap="square">
            <a:spAutoFit/>
          </a:bodyPr>
          <a:lstStyle/>
          <a:p>
            <a:r>
              <a:rPr lang="en-US" sz="2000" b="1" dirty="0"/>
              <a:t>✔ Heap Example</a:t>
            </a:r>
          </a:p>
          <a:p>
            <a:r>
              <a:rPr lang="en-US" sz="2000" dirty="0"/>
              <a:t>Teacher inserts attendance log entries daily:</a:t>
            </a:r>
            <a:br>
              <a:rPr lang="en-US" sz="2000" dirty="0"/>
            </a:br>
            <a:r>
              <a:rPr lang="en-US" sz="2000" dirty="0"/>
              <a:t>Order does not matter → heap structure fits.</a:t>
            </a:r>
          </a:p>
          <a:p>
            <a:endParaRPr lang="en-US" sz="2000" dirty="0"/>
          </a:p>
          <a:p>
            <a:r>
              <a:rPr lang="en-US" sz="2000" b="1" dirty="0"/>
              <a:t>✔ Sequential Example</a:t>
            </a:r>
          </a:p>
          <a:p>
            <a:r>
              <a:rPr lang="en-US" sz="2000" dirty="0"/>
              <a:t>Bank maintains a file of customers </a:t>
            </a:r>
            <a:r>
              <a:rPr lang="en-US" sz="2000" b="1" dirty="0"/>
              <a:t>sorted by account number</a:t>
            </a:r>
            <a:r>
              <a:rPr lang="en-US" sz="2000" dirty="0"/>
              <a:t>.</a:t>
            </a:r>
          </a:p>
          <a:p>
            <a:endParaRPr lang="en-US" sz="2000" dirty="0"/>
          </a:p>
          <a:p>
            <a:r>
              <a:rPr lang="en-US" sz="2000" b="1" dirty="0"/>
              <a:t>✔ Clustered Example</a:t>
            </a:r>
          </a:p>
          <a:p>
            <a:r>
              <a:rPr lang="en-US" sz="2000" dirty="0"/>
              <a:t>Hospital file clustered by "Department":</a:t>
            </a:r>
            <a:br>
              <a:rPr lang="en-US" sz="2000" dirty="0"/>
            </a:br>
            <a:r>
              <a:rPr lang="en-US" sz="2000" dirty="0"/>
              <a:t>Cardiology patients stored together physically.</a:t>
            </a:r>
          </a:p>
          <a:p>
            <a:endParaRPr lang="en-US" sz="2000" dirty="0"/>
          </a:p>
          <a:p>
            <a:r>
              <a:rPr lang="en-US" sz="2000" b="1" dirty="0"/>
              <a:t>✔ Hash Example</a:t>
            </a:r>
          </a:p>
          <a:p>
            <a:r>
              <a:rPr lang="en-US" sz="2000" dirty="0"/>
              <a:t>Retrieve patient record by Aadhaar number (exact match).</a:t>
            </a:r>
          </a:p>
          <a:p>
            <a:endParaRPr lang="en-US" sz="2000" dirty="0"/>
          </a:p>
          <a:p>
            <a:r>
              <a:rPr lang="en-US" sz="2000" b="1" dirty="0"/>
              <a:t>✔ Indexed Example</a:t>
            </a:r>
          </a:p>
          <a:p>
            <a:r>
              <a:rPr lang="en-US" sz="2000" dirty="0"/>
              <a:t>Library book search by Title/Author using indexes.</a:t>
            </a:r>
          </a:p>
        </p:txBody>
      </p:sp>
    </p:spTree>
    <p:extLst>
      <p:ext uri="{BB962C8B-B14F-4D97-AF65-F5344CB8AC3E}">
        <p14:creationId xmlns:p14="http://schemas.microsoft.com/office/powerpoint/2010/main" val="330305466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2767616" cy="369332"/>
          </a:xfrm>
          <a:prstGeom prst="rect">
            <a:avLst/>
          </a:prstGeom>
        </p:spPr>
        <p:txBody>
          <a:bodyPr wrap="square">
            <a:spAutoFit/>
          </a:bodyPr>
          <a:lstStyle/>
          <a:p>
            <a:pPr fontAlgn="base"/>
            <a:r>
              <a:rPr lang="en-IN" b="1" dirty="0">
                <a:latin typeface="Nunito"/>
              </a:rPr>
              <a:t>Indexing in Databases</a:t>
            </a:r>
          </a:p>
        </p:txBody>
      </p:sp>
      <p:sp>
        <p:nvSpPr>
          <p:cNvPr id="6" name="Rectangle 5"/>
          <p:cNvSpPr/>
          <p:nvPr/>
        </p:nvSpPr>
        <p:spPr>
          <a:xfrm>
            <a:off x="684627" y="1491402"/>
            <a:ext cx="9795803" cy="1477328"/>
          </a:xfrm>
          <a:prstGeom prst="rect">
            <a:avLst/>
          </a:prstGeom>
        </p:spPr>
        <p:txBody>
          <a:bodyPr wrap="square">
            <a:spAutoFit/>
          </a:bodyPr>
          <a:lstStyle/>
          <a:p>
            <a:pPr fontAlgn="base"/>
            <a:r>
              <a:rPr lang="en-GB" dirty="0">
                <a:latin typeface="Nunito"/>
              </a:rPr>
              <a:t>Indexing in DBMS is used to speed up data retrieval by minimizing disk scans. Instead of searching through all rows, the DBMS uses index structures to quickly locate data using key values.</a:t>
            </a:r>
          </a:p>
          <a:p>
            <a:pPr fontAlgn="base"/>
            <a:r>
              <a:rPr lang="en-GB" dirty="0">
                <a:latin typeface="Nunito"/>
              </a:rPr>
              <a:t>When an index is created, it stores sorted key values and pointers to actual data rows. This reduces the number of disk accesses, improving performance especially on large datasets.</a:t>
            </a:r>
          </a:p>
        </p:txBody>
      </p:sp>
      <p:pic>
        <p:nvPicPr>
          <p:cNvPr id="3" name="Picture 2"/>
          <p:cNvPicPr>
            <a:picLocks noChangeAspect="1"/>
          </p:cNvPicPr>
          <p:nvPr/>
        </p:nvPicPr>
        <p:blipFill>
          <a:blip r:embed="rId2"/>
          <a:stretch>
            <a:fillRect/>
          </a:stretch>
        </p:blipFill>
        <p:spPr>
          <a:xfrm>
            <a:off x="2673735" y="2968730"/>
            <a:ext cx="5325218" cy="3801005"/>
          </a:xfrm>
          <a:prstGeom prst="rect">
            <a:avLst/>
          </a:prstGeom>
        </p:spPr>
      </p:pic>
    </p:spTree>
    <p:extLst>
      <p:ext uri="{BB962C8B-B14F-4D97-AF65-F5344CB8AC3E}">
        <p14:creationId xmlns:p14="http://schemas.microsoft.com/office/powerpoint/2010/main" val="4151340604"/>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GB" b="1" dirty="0">
                <a:latin typeface="Nunito"/>
              </a:rPr>
              <a:t>Structure of Index in Database</a:t>
            </a:r>
            <a:endParaRPr lang="en-IN" b="1" dirty="0">
              <a:latin typeface="Nunito"/>
            </a:endParaRPr>
          </a:p>
        </p:txBody>
      </p:sp>
      <p:pic>
        <p:nvPicPr>
          <p:cNvPr id="5" name="Picture 4"/>
          <p:cNvPicPr>
            <a:picLocks noChangeAspect="1"/>
          </p:cNvPicPr>
          <p:nvPr/>
        </p:nvPicPr>
        <p:blipFill>
          <a:blip r:embed="rId2"/>
          <a:stretch>
            <a:fillRect/>
          </a:stretch>
        </p:blipFill>
        <p:spPr>
          <a:xfrm>
            <a:off x="1181687" y="1285575"/>
            <a:ext cx="8196134" cy="5353063"/>
          </a:xfrm>
          <a:prstGeom prst="rect">
            <a:avLst/>
          </a:prstGeom>
        </p:spPr>
      </p:pic>
    </p:spTree>
    <p:extLst>
      <p:ext uri="{BB962C8B-B14F-4D97-AF65-F5344CB8AC3E}">
        <p14:creationId xmlns:p14="http://schemas.microsoft.com/office/powerpoint/2010/main" val="3057466021"/>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524224" y="1696088"/>
            <a:ext cx="10262382" cy="3693319"/>
          </a:xfrm>
          <a:prstGeom prst="rect">
            <a:avLst/>
          </a:prstGeom>
          <a:noFill/>
        </p:spPr>
        <p:txBody>
          <a:bodyPr wrap="square" rtlCol="0">
            <a:spAutoFit/>
          </a:bodyPr>
          <a:lstStyle/>
          <a:p>
            <a:pPr fontAlgn="base"/>
            <a:r>
              <a:rPr lang="en-GB" b="1" dirty="0">
                <a:latin typeface="Nunito"/>
              </a:rPr>
              <a:t>1. Primary Indexing</a:t>
            </a:r>
          </a:p>
          <a:p>
            <a:pPr fontAlgn="base"/>
            <a:endParaRPr lang="en-GB" b="1" dirty="0">
              <a:latin typeface="Nunito"/>
            </a:endParaRPr>
          </a:p>
          <a:p>
            <a:pPr fontAlgn="base"/>
            <a:r>
              <a:rPr lang="en-GB" dirty="0">
                <a:latin typeface="Nunito"/>
              </a:rPr>
              <a:t>This is a type of Clustered Indexing where in the data is sorted according to the search key and the </a:t>
            </a:r>
            <a:r>
              <a:rPr lang="en-GB" b="1" dirty="0">
                <a:latin typeface="Nunito"/>
              </a:rPr>
              <a:t>primary key</a:t>
            </a:r>
            <a:r>
              <a:rPr lang="en-GB" dirty="0">
                <a:latin typeface="Nunito"/>
              </a:rPr>
              <a:t> of the database table is used to create the index. It is a default format of indexing where it induces sequential file organization. As primary keys are </a:t>
            </a:r>
            <a:r>
              <a:rPr lang="en-GB" b="1" dirty="0">
                <a:latin typeface="Nunito"/>
              </a:rPr>
              <a:t>unique </a:t>
            </a:r>
            <a:r>
              <a:rPr lang="en-GB" dirty="0">
                <a:latin typeface="Nunito"/>
              </a:rPr>
              <a:t>and are stored in a sorted manner, the performance of the</a:t>
            </a:r>
            <a:r>
              <a:rPr lang="en-GB" b="1" dirty="0">
                <a:latin typeface="Nunito"/>
              </a:rPr>
              <a:t> searching operation</a:t>
            </a:r>
            <a:r>
              <a:rPr lang="en-GB" dirty="0">
                <a:latin typeface="Nunito"/>
              </a:rPr>
              <a:t> is quite efficient.</a:t>
            </a:r>
          </a:p>
          <a:p>
            <a:pPr fontAlgn="base"/>
            <a:r>
              <a:rPr lang="en-GB" dirty="0">
                <a:latin typeface="Nunito"/>
              </a:rPr>
              <a:t> </a:t>
            </a:r>
          </a:p>
          <a:p>
            <a:pPr fontAlgn="base"/>
            <a:r>
              <a:rPr lang="en-GB" b="1" dirty="0">
                <a:latin typeface="Nunito"/>
              </a:rPr>
              <a:t>Key Features</a:t>
            </a:r>
            <a:r>
              <a:rPr lang="en-GB" dirty="0">
                <a:latin typeface="Nunito"/>
              </a:rPr>
              <a:t>: The data is stored in sequential order, making searches faster and more efficient.</a:t>
            </a:r>
          </a:p>
          <a:p>
            <a:pPr fontAlgn="base"/>
            <a:r>
              <a:rPr lang="en-GB" b="1" dirty="0">
                <a:latin typeface="Nunito"/>
              </a:rPr>
              <a:t>Indexing</a:t>
            </a:r>
          </a:p>
          <a:p>
            <a:pPr marL="342900" indent="-342900" fontAlgn="base">
              <a:buAutoNum type="arabicPeriod"/>
            </a:pPr>
            <a:endParaRPr lang="en-GB" b="1" dirty="0">
              <a:latin typeface="Nunito"/>
            </a:endParaRPr>
          </a:p>
          <a:p>
            <a:pPr fontAlgn="base"/>
            <a:endParaRPr lang="en-GB" dirty="0">
              <a:latin typeface="Nunito"/>
            </a:endParaRPr>
          </a:p>
          <a:p>
            <a:br>
              <a:rPr lang="en-GB" dirty="0">
                <a:latin typeface="Nunito"/>
              </a:rPr>
            </a:br>
            <a:endParaRPr lang="en-GB" b="1" dirty="0">
              <a:latin typeface="Nunito"/>
            </a:endParaRPr>
          </a:p>
        </p:txBody>
      </p:sp>
    </p:spTree>
    <p:extLst>
      <p:ext uri="{BB962C8B-B14F-4D97-AF65-F5344CB8AC3E}">
        <p14:creationId xmlns:p14="http://schemas.microsoft.com/office/powerpoint/2010/main" val="428683130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485335" y="1696088"/>
            <a:ext cx="10262382" cy="3416320"/>
          </a:xfrm>
          <a:prstGeom prst="rect">
            <a:avLst/>
          </a:prstGeom>
          <a:noFill/>
        </p:spPr>
        <p:txBody>
          <a:bodyPr wrap="square" rtlCol="0">
            <a:spAutoFit/>
          </a:bodyPr>
          <a:lstStyle/>
          <a:p>
            <a:pPr fontAlgn="base"/>
            <a:r>
              <a:rPr lang="en-GB" dirty="0">
                <a:latin typeface="Nunito"/>
              </a:rPr>
              <a:t>There are different types of indexing techniques, each optimized for specific use cases.</a:t>
            </a:r>
          </a:p>
          <a:p>
            <a:pPr fontAlgn="base"/>
            <a:r>
              <a:rPr lang="en-GB" b="1" dirty="0">
                <a:latin typeface="Nunito"/>
              </a:rPr>
              <a:t>2. Clustered Indexing</a:t>
            </a:r>
          </a:p>
          <a:p>
            <a:pPr marL="342900" indent="-342900" fontAlgn="base">
              <a:buAutoNum type="arabicPeriod"/>
            </a:pPr>
            <a:endParaRPr lang="en-GB" b="1" dirty="0">
              <a:latin typeface="Nunito"/>
            </a:endParaRPr>
          </a:p>
          <a:p>
            <a:pPr fontAlgn="base"/>
            <a:r>
              <a:rPr lang="en-GB" b="1" dirty="0">
                <a:latin typeface="Nunito"/>
              </a:rPr>
              <a:t>Clustered Indexing</a:t>
            </a:r>
            <a:r>
              <a:rPr lang="en-GB" dirty="0">
                <a:latin typeface="Nunito"/>
              </a:rPr>
              <a:t> stores related records together in the same file, reducing search time and improving performance, especially for join operations. Data is stored in sorted order based on a key (often a </a:t>
            </a:r>
            <a:r>
              <a:rPr lang="en-GB" b="1" dirty="0">
                <a:latin typeface="Nunito"/>
              </a:rPr>
              <a:t>non-primary key</a:t>
            </a:r>
            <a:r>
              <a:rPr lang="en-GB" dirty="0">
                <a:latin typeface="Nunito"/>
              </a:rPr>
              <a:t>) to group similar records, like students by semester. If the indexed column isn't unique, multiple columns can be combined to form a unique key. This makes data retrieval faster by keeping related records close and allowing quicker access through the index.</a:t>
            </a:r>
          </a:p>
          <a:p>
            <a:pPr fontAlgn="base"/>
            <a:endParaRPr lang="en-GB" dirty="0">
              <a:latin typeface="Nunito"/>
            </a:endParaRPr>
          </a:p>
          <a:p>
            <a:pPr fontAlgn="base"/>
            <a:endParaRPr lang="en-GB" dirty="0">
              <a:latin typeface="Nunito"/>
            </a:endParaRPr>
          </a:p>
          <a:p>
            <a:br>
              <a:rPr lang="en-GB" dirty="0">
                <a:latin typeface="Nunito"/>
              </a:rPr>
            </a:br>
            <a:endParaRPr lang="en-GB" b="1" dirty="0">
              <a:latin typeface="Nunito"/>
            </a:endParaRPr>
          </a:p>
        </p:txBody>
      </p:sp>
    </p:spTree>
    <p:extLst>
      <p:ext uri="{BB962C8B-B14F-4D97-AF65-F5344CB8AC3E}">
        <p14:creationId xmlns:p14="http://schemas.microsoft.com/office/powerpoint/2010/main" val="1839000889"/>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485335" y="1696088"/>
            <a:ext cx="10262382" cy="1477328"/>
          </a:xfrm>
          <a:prstGeom prst="rect">
            <a:avLst/>
          </a:prstGeom>
          <a:noFill/>
        </p:spPr>
        <p:txBody>
          <a:bodyPr wrap="square" rtlCol="0">
            <a:spAutoFit/>
          </a:bodyPr>
          <a:lstStyle/>
          <a:p>
            <a:pPr fontAlgn="base"/>
            <a:r>
              <a:rPr lang="en-GB" b="1" dirty="0">
                <a:latin typeface="Nunito"/>
              </a:rPr>
              <a:t>Clustered Indexing</a:t>
            </a:r>
          </a:p>
          <a:p>
            <a:pPr marL="342900" indent="-342900" fontAlgn="base">
              <a:buAutoNum type="arabicPeriod"/>
            </a:pPr>
            <a:endParaRPr lang="en-GB" b="1" dirty="0">
              <a:latin typeface="Nunito"/>
            </a:endParaRPr>
          </a:p>
          <a:p>
            <a:pPr fontAlgn="base"/>
            <a:endParaRPr lang="en-GB" dirty="0">
              <a:latin typeface="Nunito"/>
            </a:endParaRPr>
          </a:p>
          <a:p>
            <a:br>
              <a:rPr lang="en-GB" dirty="0">
                <a:latin typeface="Nunito"/>
              </a:rPr>
            </a:br>
            <a:endParaRPr lang="en-GB" b="1" dirty="0">
              <a:latin typeface="Nunito"/>
            </a:endParaRPr>
          </a:p>
        </p:txBody>
      </p:sp>
      <p:pic>
        <p:nvPicPr>
          <p:cNvPr id="6" name="Picture 5"/>
          <p:cNvPicPr>
            <a:picLocks noChangeAspect="1"/>
          </p:cNvPicPr>
          <p:nvPr/>
        </p:nvPicPr>
        <p:blipFill>
          <a:blip r:embed="rId2"/>
          <a:stretch>
            <a:fillRect/>
          </a:stretch>
        </p:blipFill>
        <p:spPr>
          <a:xfrm>
            <a:off x="1331255" y="2113178"/>
            <a:ext cx="9218787" cy="4572617"/>
          </a:xfrm>
          <a:prstGeom prst="rect">
            <a:avLst/>
          </a:prstGeom>
        </p:spPr>
      </p:pic>
    </p:spTree>
    <p:extLst>
      <p:ext uri="{BB962C8B-B14F-4D97-AF65-F5344CB8AC3E}">
        <p14:creationId xmlns:p14="http://schemas.microsoft.com/office/powerpoint/2010/main" val="141124015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524224" y="1696088"/>
            <a:ext cx="10262382" cy="5355312"/>
          </a:xfrm>
          <a:prstGeom prst="rect">
            <a:avLst/>
          </a:prstGeom>
          <a:noFill/>
        </p:spPr>
        <p:txBody>
          <a:bodyPr wrap="square" rtlCol="0">
            <a:spAutoFit/>
          </a:bodyPr>
          <a:lstStyle/>
          <a:p>
            <a:pPr fontAlgn="base"/>
            <a:r>
              <a:rPr lang="en-GB" b="1" dirty="0">
                <a:latin typeface="Nunito"/>
              </a:rPr>
              <a:t>3. Non-clustered or Secondary Indexing</a:t>
            </a:r>
          </a:p>
          <a:p>
            <a:pPr fontAlgn="base"/>
            <a:endParaRPr lang="en-GB" b="1" dirty="0">
              <a:latin typeface="Nunito"/>
            </a:endParaRPr>
          </a:p>
          <a:p>
            <a:pPr fontAlgn="base"/>
            <a:r>
              <a:rPr lang="en-GB" dirty="0">
                <a:latin typeface="Nunito"/>
              </a:rPr>
              <a:t>A non-clustered index just tells us where the data lies, i.e. it gives us a list of virtual pointers or references to the location where the data is actually stored. Data is not physically stored in the order of the index. Instead, data is present in leaf nodes.</a:t>
            </a:r>
          </a:p>
          <a:p>
            <a:pPr fontAlgn="base"/>
            <a:endParaRPr lang="en-GB" dirty="0">
              <a:latin typeface="Nunito"/>
            </a:endParaRPr>
          </a:p>
          <a:p>
            <a:pPr fontAlgn="base"/>
            <a:r>
              <a:rPr lang="en-GB" b="1" dirty="0">
                <a:latin typeface="Nunito"/>
              </a:rPr>
              <a:t>Example:</a:t>
            </a:r>
            <a:r>
              <a:rPr lang="en-GB" dirty="0">
                <a:latin typeface="Nunito"/>
              </a:rPr>
              <a:t> The contents page of a book. Each entry gives us the page number or location of the information stored. The actual data here(information on each page of the book) is not organized but we have an ordered reference(contents page) to where the data points actually lie. We can have only dense ordering in the non-clustered index as sparse ordering is not possible because data is not physically organized accordingly. </a:t>
            </a:r>
          </a:p>
          <a:p>
            <a:pPr fontAlgn="base"/>
            <a:endParaRPr lang="en-GB" dirty="0">
              <a:latin typeface="Nunito"/>
            </a:endParaRPr>
          </a:p>
          <a:p>
            <a:pPr fontAlgn="base"/>
            <a:r>
              <a:rPr lang="en-GB" dirty="0">
                <a:latin typeface="Nunito"/>
              </a:rPr>
              <a:t>It requires more time as compared to the clustered index because some amount of extra work is done in order to extract the data by further following the pointer. In the case of a clustered index, data is directly present in front of the index.</a:t>
            </a:r>
          </a:p>
          <a:p>
            <a:pPr fontAlgn="base"/>
            <a:endParaRPr lang="en-GB" b="1" dirty="0">
              <a:latin typeface="Nunito"/>
            </a:endParaRPr>
          </a:p>
          <a:p>
            <a:pPr fontAlgn="base"/>
            <a:endParaRPr lang="en-GB" dirty="0">
              <a:latin typeface="Nunito"/>
            </a:endParaRPr>
          </a:p>
          <a:p>
            <a:br>
              <a:rPr lang="en-GB" dirty="0">
                <a:latin typeface="Nunito"/>
              </a:rPr>
            </a:br>
            <a:endParaRPr lang="en-GB" b="1" dirty="0">
              <a:latin typeface="Nunito"/>
            </a:endParaRPr>
          </a:p>
        </p:txBody>
      </p:sp>
    </p:spTree>
    <p:extLst>
      <p:ext uri="{BB962C8B-B14F-4D97-AF65-F5344CB8AC3E}">
        <p14:creationId xmlns:p14="http://schemas.microsoft.com/office/powerpoint/2010/main" val="292778477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4" y="968725"/>
            <a:ext cx="4315062" cy="369332"/>
          </a:xfrm>
          <a:prstGeom prst="rect">
            <a:avLst/>
          </a:prstGeom>
        </p:spPr>
        <p:txBody>
          <a:bodyPr wrap="square">
            <a:spAutoFit/>
          </a:bodyPr>
          <a:lstStyle/>
          <a:p>
            <a:pPr fontAlgn="base"/>
            <a:r>
              <a:rPr lang="en-IN" b="1" dirty="0">
                <a:latin typeface="Nunito"/>
              </a:rPr>
              <a:t>Types of Indexing Methods</a:t>
            </a:r>
          </a:p>
        </p:txBody>
      </p:sp>
      <p:sp>
        <p:nvSpPr>
          <p:cNvPr id="3" name="TextBox 2"/>
          <p:cNvSpPr txBox="1"/>
          <p:nvPr/>
        </p:nvSpPr>
        <p:spPr>
          <a:xfrm>
            <a:off x="524224" y="1696088"/>
            <a:ext cx="10262382" cy="1477328"/>
          </a:xfrm>
          <a:prstGeom prst="rect">
            <a:avLst/>
          </a:prstGeom>
          <a:noFill/>
        </p:spPr>
        <p:txBody>
          <a:bodyPr wrap="square" rtlCol="0">
            <a:spAutoFit/>
          </a:bodyPr>
          <a:lstStyle/>
          <a:p>
            <a:pPr fontAlgn="base"/>
            <a:r>
              <a:rPr lang="en-GB" b="1" dirty="0">
                <a:latin typeface="Nunito"/>
              </a:rPr>
              <a:t>3. Non-clustered or Secondary Indexing</a:t>
            </a:r>
          </a:p>
          <a:p>
            <a:pPr fontAlgn="base"/>
            <a:endParaRPr lang="en-GB" b="1" dirty="0">
              <a:latin typeface="Nunito"/>
            </a:endParaRPr>
          </a:p>
          <a:p>
            <a:pPr fontAlgn="base"/>
            <a:endParaRPr lang="en-GB" dirty="0">
              <a:latin typeface="Nunito"/>
            </a:endParaRPr>
          </a:p>
          <a:p>
            <a:br>
              <a:rPr lang="en-GB" dirty="0">
                <a:latin typeface="Nunito"/>
              </a:rPr>
            </a:br>
            <a:endParaRPr lang="en-GB" b="1" dirty="0">
              <a:latin typeface="Nunito"/>
            </a:endParaRPr>
          </a:p>
        </p:txBody>
      </p:sp>
      <p:pic>
        <p:nvPicPr>
          <p:cNvPr id="5" name="Picture 4"/>
          <p:cNvPicPr>
            <a:picLocks noChangeAspect="1"/>
          </p:cNvPicPr>
          <p:nvPr/>
        </p:nvPicPr>
        <p:blipFill>
          <a:blip r:embed="rId2"/>
          <a:stretch>
            <a:fillRect/>
          </a:stretch>
        </p:blipFill>
        <p:spPr>
          <a:xfrm>
            <a:off x="1648418" y="2160700"/>
            <a:ext cx="7049484" cy="4544059"/>
          </a:xfrm>
          <a:prstGeom prst="rect">
            <a:avLst/>
          </a:prstGeom>
        </p:spPr>
      </p:pic>
    </p:spTree>
    <p:extLst>
      <p:ext uri="{BB962C8B-B14F-4D97-AF65-F5344CB8AC3E}">
        <p14:creationId xmlns:p14="http://schemas.microsoft.com/office/powerpoint/2010/main" val="19891540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3" y="968725"/>
            <a:ext cx="9857733" cy="3693319"/>
          </a:xfrm>
          <a:prstGeom prst="rect">
            <a:avLst/>
          </a:prstGeom>
        </p:spPr>
        <p:txBody>
          <a:bodyPr wrap="square">
            <a:spAutoFit/>
          </a:bodyPr>
          <a:lstStyle/>
          <a:p>
            <a:pPr fontAlgn="base"/>
            <a:r>
              <a:rPr lang="en-GB" b="1" u="sng" dirty="0">
                <a:latin typeface="Nunito"/>
              </a:rPr>
              <a:t>Advantages of Indexing</a:t>
            </a:r>
          </a:p>
          <a:p>
            <a:pPr fontAlgn="base"/>
            <a:endParaRPr lang="en-GB" b="1" dirty="0">
              <a:latin typeface="Nunito"/>
            </a:endParaRPr>
          </a:p>
          <a:p>
            <a:pPr fontAlgn="base"/>
            <a:r>
              <a:rPr lang="en-GB" b="1" dirty="0">
                <a:latin typeface="Nunito"/>
              </a:rPr>
              <a:t>Faster Queries</a:t>
            </a:r>
            <a:r>
              <a:rPr lang="en-GB" dirty="0">
                <a:latin typeface="Nunito"/>
              </a:rPr>
              <a:t>: Indexes allow quick search of rows matching specific values, speeding up data retrieval.</a:t>
            </a:r>
          </a:p>
          <a:p>
            <a:pPr fontAlgn="base"/>
            <a:endParaRPr lang="en-GB" dirty="0">
              <a:latin typeface="Nunito"/>
            </a:endParaRPr>
          </a:p>
          <a:p>
            <a:pPr fontAlgn="base"/>
            <a:r>
              <a:rPr lang="en-GB" b="1" dirty="0">
                <a:latin typeface="Nunito"/>
              </a:rPr>
              <a:t>Efficient Access</a:t>
            </a:r>
            <a:r>
              <a:rPr lang="en-GB" dirty="0">
                <a:latin typeface="Nunito"/>
              </a:rPr>
              <a:t>: Reduces disk I/O by keeping frequently accessed data in memory.</a:t>
            </a:r>
          </a:p>
          <a:p>
            <a:pPr fontAlgn="base"/>
            <a:endParaRPr lang="en-GB" dirty="0">
              <a:latin typeface="Nunito"/>
            </a:endParaRPr>
          </a:p>
          <a:p>
            <a:pPr fontAlgn="base"/>
            <a:r>
              <a:rPr lang="en-GB" b="1" dirty="0">
                <a:latin typeface="Nunito"/>
              </a:rPr>
              <a:t>Improved Sorting</a:t>
            </a:r>
            <a:r>
              <a:rPr lang="en-GB" dirty="0">
                <a:latin typeface="Nunito"/>
              </a:rPr>
              <a:t>: Speeds up sorting by indexing the relevant columns.</a:t>
            </a:r>
          </a:p>
          <a:p>
            <a:pPr fontAlgn="base"/>
            <a:endParaRPr lang="en-GB" dirty="0">
              <a:latin typeface="Nunito"/>
            </a:endParaRPr>
          </a:p>
          <a:p>
            <a:pPr fontAlgn="base"/>
            <a:r>
              <a:rPr lang="en-GB" b="1" dirty="0">
                <a:latin typeface="Nunito"/>
              </a:rPr>
              <a:t>Consistent Performance</a:t>
            </a:r>
            <a:r>
              <a:rPr lang="en-GB" dirty="0">
                <a:latin typeface="Nunito"/>
              </a:rPr>
              <a:t>: Maintains query speed even as data grows.</a:t>
            </a:r>
          </a:p>
          <a:p>
            <a:pPr fontAlgn="base"/>
            <a:endParaRPr lang="en-GB" dirty="0">
              <a:latin typeface="Nunito"/>
            </a:endParaRPr>
          </a:p>
          <a:p>
            <a:pPr fontAlgn="base"/>
            <a:r>
              <a:rPr lang="en-GB" b="1" dirty="0">
                <a:latin typeface="Nunito"/>
              </a:rPr>
              <a:t>Data Integrity</a:t>
            </a:r>
            <a:r>
              <a:rPr lang="en-GB" dirty="0">
                <a:latin typeface="Nunito"/>
              </a:rPr>
              <a:t>: Ensures uniqueness in columns indexed as unique, preventing duplicate entries.</a:t>
            </a:r>
          </a:p>
        </p:txBody>
      </p:sp>
    </p:spTree>
    <p:extLst>
      <p:ext uri="{BB962C8B-B14F-4D97-AF65-F5344CB8AC3E}">
        <p14:creationId xmlns:p14="http://schemas.microsoft.com/office/powerpoint/2010/main" val="2433065145"/>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88788" y="241362"/>
            <a:ext cx="3143382" cy="369332"/>
          </a:xfrm>
          <a:prstGeom prst="rect">
            <a:avLst/>
          </a:prstGeom>
        </p:spPr>
        <p:txBody>
          <a:bodyPr wrap="square">
            <a:spAutoFit/>
          </a:bodyPr>
          <a:lstStyle/>
          <a:p>
            <a:pPr fontAlgn="base"/>
            <a:r>
              <a:rPr lang="en-IN" b="1" dirty="0">
                <a:latin typeface="Nunito"/>
              </a:rPr>
              <a:t>Indexing in Databases</a:t>
            </a:r>
          </a:p>
        </p:txBody>
      </p:sp>
      <p:sp>
        <p:nvSpPr>
          <p:cNvPr id="4" name="Rectangle 3"/>
          <p:cNvSpPr/>
          <p:nvPr/>
        </p:nvSpPr>
        <p:spPr>
          <a:xfrm>
            <a:off x="524223" y="968725"/>
            <a:ext cx="9857733" cy="4524315"/>
          </a:xfrm>
          <a:prstGeom prst="rect">
            <a:avLst/>
          </a:prstGeom>
        </p:spPr>
        <p:txBody>
          <a:bodyPr wrap="square">
            <a:spAutoFit/>
          </a:bodyPr>
          <a:lstStyle/>
          <a:p>
            <a:pPr fontAlgn="base"/>
            <a:r>
              <a:rPr lang="en-GB" b="1" u="sng" dirty="0">
                <a:latin typeface="Nunito"/>
              </a:rPr>
              <a:t>Disadvantages of Indexing</a:t>
            </a:r>
          </a:p>
          <a:p>
            <a:pPr fontAlgn="base"/>
            <a:r>
              <a:rPr lang="en-GB" dirty="0">
                <a:latin typeface="Nunito"/>
              </a:rPr>
              <a:t>While indexing offers many advantages, it also comes with certain trade-offs:</a:t>
            </a:r>
          </a:p>
          <a:p>
            <a:pPr fontAlgn="base"/>
            <a:endParaRPr lang="en-GB" dirty="0">
              <a:latin typeface="Nunito"/>
            </a:endParaRPr>
          </a:p>
          <a:p>
            <a:pPr fontAlgn="base"/>
            <a:r>
              <a:rPr lang="en-GB" b="1" dirty="0">
                <a:latin typeface="Nunito"/>
              </a:rPr>
              <a:t>Increased Storage Space</a:t>
            </a:r>
            <a:r>
              <a:rPr lang="en-GB" dirty="0">
                <a:latin typeface="Nunito"/>
              </a:rPr>
              <a:t>: Indexes require additional storage. Depending on the size of the data, this can significantly increase the overall storage requirements.</a:t>
            </a:r>
          </a:p>
          <a:p>
            <a:pPr fontAlgn="base"/>
            <a:endParaRPr lang="en-GB" dirty="0">
              <a:latin typeface="Nunito"/>
            </a:endParaRPr>
          </a:p>
          <a:p>
            <a:pPr fontAlgn="base"/>
            <a:r>
              <a:rPr lang="en-GB" b="1" dirty="0">
                <a:latin typeface="Nunito"/>
              </a:rPr>
              <a:t>Increased Maintenance Overhead</a:t>
            </a:r>
            <a:r>
              <a:rPr lang="en-GB" dirty="0">
                <a:latin typeface="Nunito"/>
              </a:rPr>
              <a:t>: Indexes must be updated whenever data is inserted, deleted, or modified, which can slow down these operations.</a:t>
            </a:r>
          </a:p>
          <a:p>
            <a:pPr fontAlgn="base"/>
            <a:endParaRPr lang="en-GB" dirty="0">
              <a:latin typeface="Nunito"/>
            </a:endParaRPr>
          </a:p>
          <a:p>
            <a:pPr fontAlgn="base"/>
            <a:r>
              <a:rPr lang="en-GB" b="1" dirty="0">
                <a:latin typeface="Nunito"/>
              </a:rPr>
              <a:t>Slower Insert/Update Operations</a:t>
            </a:r>
            <a:r>
              <a:rPr lang="en-GB" dirty="0">
                <a:latin typeface="Nunito"/>
              </a:rPr>
              <a:t>: Since indexes must be maintained and updated, inserting or updating data takes longer than in a non-indexed database.</a:t>
            </a:r>
          </a:p>
          <a:p>
            <a:pPr fontAlgn="base"/>
            <a:endParaRPr lang="en-GB" dirty="0">
              <a:latin typeface="Nunito"/>
            </a:endParaRPr>
          </a:p>
          <a:p>
            <a:pPr fontAlgn="base"/>
            <a:r>
              <a:rPr lang="en-GB" b="1" dirty="0">
                <a:latin typeface="Nunito"/>
              </a:rPr>
              <a:t>Complexity in Choosing the Right Index</a:t>
            </a:r>
            <a:r>
              <a:rPr lang="en-GB" dirty="0">
                <a:latin typeface="Nunito"/>
              </a:rPr>
              <a:t>: Determining the appropriate indexing strategy for a particular dataset can be challenging and requires an understanding of query patterns and access behaviours.</a:t>
            </a:r>
          </a:p>
          <a:p>
            <a:pPr fontAlgn="base"/>
            <a:r>
              <a:rPr lang="en-GB" dirty="0">
                <a:latin typeface="Nunito"/>
              </a:rPr>
              <a:t>.</a:t>
            </a:r>
          </a:p>
        </p:txBody>
      </p:sp>
    </p:spTree>
    <p:extLst>
      <p:ext uri="{BB962C8B-B14F-4D97-AF65-F5344CB8AC3E}">
        <p14:creationId xmlns:p14="http://schemas.microsoft.com/office/powerpoint/2010/main" val="1515362930"/>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04800" y="384107"/>
            <a:ext cx="11623964" cy="3785652"/>
          </a:xfrm>
          <a:prstGeom prst="rect">
            <a:avLst/>
          </a:prstGeom>
        </p:spPr>
        <p:txBody>
          <a:bodyPr wrap="square">
            <a:spAutoFit/>
          </a:bodyPr>
          <a:lstStyle/>
          <a:p>
            <a:pPr algn="ctr"/>
            <a:r>
              <a:rPr lang="en-US" sz="2400" b="1" dirty="0"/>
              <a:t>Cost Estimation Basics in DBMS</a:t>
            </a:r>
          </a:p>
          <a:p>
            <a:r>
              <a:rPr lang="en-US" dirty="0"/>
              <a:t>Cost estimation means calculating </a:t>
            </a:r>
            <a:r>
              <a:rPr lang="en-US" b="1" dirty="0"/>
              <a:t>how expensive</a:t>
            </a:r>
            <a:r>
              <a:rPr lang="en-US" dirty="0"/>
              <a:t> a query is for the database to execute.</a:t>
            </a:r>
            <a:br>
              <a:rPr lang="en-US" dirty="0"/>
            </a:br>
            <a:r>
              <a:rPr lang="en-US" dirty="0"/>
              <a:t>Database systems try to </a:t>
            </a:r>
            <a:r>
              <a:rPr lang="en-US" b="1" dirty="0"/>
              <a:t>choose the fastest and cheapest way</a:t>
            </a:r>
            <a:r>
              <a:rPr lang="en-US" dirty="0"/>
              <a:t> to run a query.</a:t>
            </a:r>
          </a:p>
          <a:p>
            <a:r>
              <a:rPr lang="en-US" dirty="0"/>
              <a:t>The cost usually depends on:</a:t>
            </a:r>
          </a:p>
          <a:p>
            <a:r>
              <a:rPr lang="en-US" b="1" dirty="0"/>
              <a:t>1 Disk I/O (Most Important)</a:t>
            </a:r>
          </a:p>
          <a:p>
            <a:pPr>
              <a:buFont typeface="Arial" panose="020B0604020202020204" pitchFamily="34" charset="0"/>
              <a:buChar char="•"/>
            </a:pPr>
            <a:r>
              <a:rPr lang="en-US" dirty="0"/>
              <a:t>Reading data from a disk is slow.</a:t>
            </a:r>
          </a:p>
          <a:p>
            <a:pPr>
              <a:buFont typeface="Arial" panose="020B0604020202020204" pitchFamily="34" charset="0"/>
              <a:buChar char="•"/>
            </a:pPr>
            <a:r>
              <a:rPr lang="en-US" dirty="0"/>
              <a:t>Most cost formulas are based on:</a:t>
            </a:r>
          </a:p>
          <a:p>
            <a:pPr marL="742950" lvl="1" indent="-285750">
              <a:buFont typeface="Arial" panose="020B0604020202020204" pitchFamily="34" charset="0"/>
              <a:buChar char="•"/>
            </a:pPr>
            <a:r>
              <a:rPr lang="en-US" dirty="0"/>
              <a:t>Number of blocks read</a:t>
            </a:r>
          </a:p>
          <a:p>
            <a:pPr marL="742950" lvl="1" indent="-285750">
              <a:buFont typeface="Arial" panose="020B0604020202020204" pitchFamily="34" charset="0"/>
              <a:buChar char="•"/>
            </a:pPr>
            <a:r>
              <a:rPr lang="en-US" dirty="0"/>
              <a:t>Number of blocks written</a:t>
            </a:r>
          </a:p>
          <a:p>
            <a:pPr>
              <a:buFont typeface="Arial" panose="020B0604020202020204" pitchFamily="34" charset="0"/>
              <a:buChar char="•"/>
            </a:pPr>
            <a:r>
              <a:rPr lang="en-US" dirty="0"/>
              <a:t>Disk I/O dominates total cost because it is MUCH slower than CPU operations.</a:t>
            </a:r>
          </a:p>
          <a:p>
            <a:r>
              <a:rPr lang="en-US" dirty="0"/>
              <a:t>Example:</a:t>
            </a:r>
            <a:br>
              <a:rPr lang="en-US" dirty="0"/>
            </a:br>
            <a:r>
              <a:rPr lang="en-US" dirty="0"/>
              <a:t>If a table has </a:t>
            </a:r>
            <a:r>
              <a:rPr lang="en-US" b="1" dirty="0"/>
              <a:t>1000 blocks</a:t>
            </a:r>
            <a:r>
              <a:rPr lang="en-US" dirty="0"/>
              <a:t>, and a query performs a </a:t>
            </a:r>
            <a:r>
              <a:rPr lang="en-US" b="1" dirty="0"/>
              <a:t>full table scan</a:t>
            </a:r>
            <a:r>
              <a:rPr lang="en-US" dirty="0"/>
              <a:t>,</a:t>
            </a:r>
            <a:br>
              <a:rPr lang="en-US" dirty="0"/>
            </a:br>
            <a:r>
              <a:rPr lang="en-US" dirty="0"/>
              <a:t>→ </a:t>
            </a:r>
            <a:r>
              <a:rPr lang="en-US" b="1" dirty="0"/>
              <a:t>Cost = 1000 block reads</a:t>
            </a:r>
            <a:endParaRPr lang="en-US" dirty="0"/>
          </a:p>
        </p:txBody>
      </p:sp>
      <p:sp>
        <p:nvSpPr>
          <p:cNvPr id="3" name="Rectangle 2"/>
          <p:cNvSpPr/>
          <p:nvPr/>
        </p:nvSpPr>
        <p:spPr>
          <a:xfrm>
            <a:off x="304799" y="4207547"/>
            <a:ext cx="9493827" cy="2031325"/>
          </a:xfrm>
          <a:prstGeom prst="rect">
            <a:avLst/>
          </a:prstGeom>
        </p:spPr>
        <p:txBody>
          <a:bodyPr wrap="square">
            <a:spAutoFit/>
          </a:bodyPr>
          <a:lstStyle/>
          <a:p>
            <a:r>
              <a:rPr lang="en-US" b="1" dirty="0"/>
              <a:t>2 CPU Cost</a:t>
            </a:r>
          </a:p>
          <a:p>
            <a:pPr>
              <a:buFont typeface="Arial" panose="020B0604020202020204" pitchFamily="34" charset="0"/>
              <a:buChar char="•"/>
            </a:pPr>
            <a:r>
              <a:rPr lang="en-US" dirty="0"/>
              <a:t>Execution of operations like:</a:t>
            </a:r>
          </a:p>
          <a:p>
            <a:pPr marL="742950" lvl="1" indent="-285750">
              <a:buFont typeface="Arial" panose="020B0604020202020204" pitchFamily="34" charset="0"/>
              <a:buChar char="•"/>
            </a:pPr>
            <a:r>
              <a:rPr lang="en-US" dirty="0"/>
              <a:t>Comparison</a:t>
            </a:r>
          </a:p>
          <a:p>
            <a:pPr marL="742950" lvl="1" indent="-285750">
              <a:buFont typeface="Arial" panose="020B0604020202020204" pitchFamily="34" charset="0"/>
              <a:buChar char="•"/>
            </a:pPr>
            <a:r>
              <a:rPr lang="en-US" dirty="0"/>
              <a:t>Join condition checking</a:t>
            </a:r>
          </a:p>
          <a:p>
            <a:pPr marL="742950" lvl="1" indent="-285750">
              <a:buFont typeface="Arial" panose="020B0604020202020204" pitchFamily="34" charset="0"/>
              <a:buChar char="•"/>
            </a:pPr>
            <a:r>
              <a:rPr lang="en-US" dirty="0"/>
              <a:t>Sorting</a:t>
            </a:r>
          </a:p>
          <a:p>
            <a:pPr>
              <a:buFont typeface="Arial" panose="020B0604020202020204" pitchFamily="34" charset="0"/>
              <a:buChar char="•"/>
            </a:pPr>
            <a:r>
              <a:rPr lang="en-US" dirty="0"/>
              <a:t>Usually small compared to disk cost.</a:t>
            </a:r>
          </a:p>
          <a:p>
            <a:r>
              <a:rPr lang="en-US" dirty="0"/>
              <a:t>DBMS sometimes ignores CPU cost and considers </a:t>
            </a:r>
            <a:r>
              <a:rPr lang="en-US" b="1" dirty="0"/>
              <a:t>only disk cost</a:t>
            </a:r>
            <a:r>
              <a:rPr lang="en-US" dirty="0"/>
              <a:t> for approximation.</a:t>
            </a:r>
          </a:p>
        </p:txBody>
      </p:sp>
      <p:sp>
        <p:nvSpPr>
          <p:cNvPr id="4" name="Rectangle 3"/>
          <p:cNvSpPr/>
          <p:nvPr/>
        </p:nvSpPr>
        <p:spPr>
          <a:xfrm>
            <a:off x="5832764" y="4390890"/>
            <a:ext cx="6096000" cy="923330"/>
          </a:xfrm>
          <a:prstGeom prst="rect">
            <a:avLst/>
          </a:prstGeom>
        </p:spPr>
        <p:txBody>
          <a:bodyPr>
            <a:spAutoFit/>
          </a:bodyPr>
          <a:lstStyle/>
          <a:p>
            <a:r>
              <a:rPr lang="en-US" b="1" dirty="0"/>
              <a:t>3 Network Cost (in distributed systems)</a:t>
            </a:r>
          </a:p>
          <a:p>
            <a:pPr>
              <a:buFont typeface="Arial" panose="020B0604020202020204" pitchFamily="34" charset="0"/>
              <a:buChar char="•"/>
            </a:pPr>
            <a:r>
              <a:rPr lang="en-US" dirty="0"/>
              <a:t>Data transfer between nodes.</a:t>
            </a:r>
          </a:p>
          <a:p>
            <a:pPr>
              <a:buFont typeface="Arial" panose="020B0604020202020204" pitchFamily="34" charset="0"/>
              <a:buChar char="•"/>
            </a:pPr>
            <a:r>
              <a:rPr lang="en-US" dirty="0"/>
              <a:t>Not relevant for single-machine DBMS.</a:t>
            </a:r>
          </a:p>
        </p:txBody>
      </p:sp>
    </p:spTree>
    <p:extLst>
      <p:ext uri="{BB962C8B-B14F-4D97-AF65-F5344CB8AC3E}">
        <p14:creationId xmlns:p14="http://schemas.microsoft.com/office/powerpoint/2010/main" val="154055300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p:nvPr/>
        </p:nvSpPr>
        <p:spPr>
          <a:xfrm>
            <a:off x="419100" y="452873"/>
            <a:ext cx="6096000" cy="1754326"/>
          </a:xfrm>
          <a:prstGeom prst="rect">
            <a:avLst/>
          </a:prstGeom>
        </p:spPr>
        <p:txBody>
          <a:bodyPr>
            <a:spAutoFit/>
          </a:bodyPr>
          <a:lstStyle/>
          <a:p>
            <a:r>
              <a:rPr lang="en-US" b="1" dirty="0"/>
              <a:t>What the DBMS Needs Before Estimating Cost</a:t>
            </a:r>
          </a:p>
          <a:p>
            <a:r>
              <a:rPr lang="en-US" dirty="0"/>
              <a:t>To calculate cost, DBMS uses:</a:t>
            </a:r>
          </a:p>
          <a:p>
            <a:r>
              <a:rPr lang="en-US" b="1" dirty="0"/>
              <a:t>4 Cardinality</a:t>
            </a:r>
          </a:p>
          <a:p>
            <a:r>
              <a:rPr lang="en-US" dirty="0"/>
              <a:t>Number of tuples (rows) in a table.</a:t>
            </a:r>
          </a:p>
          <a:p>
            <a:r>
              <a:rPr lang="en-US" dirty="0"/>
              <a:t>Example:</a:t>
            </a:r>
            <a:br>
              <a:rPr lang="en-US" dirty="0"/>
            </a:br>
            <a:r>
              <a:rPr lang="en-US" dirty="0"/>
              <a:t>Table STUDENT has </a:t>
            </a:r>
            <a:r>
              <a:rPr lang="en-US" b="1" dirty="0"/>
              <a:t>10,000 rows</a:t>
            </a:r>
            <a:r>
              <a:rPr lang="en-US" dirty="0"/>
              <a:t> → cardinality = 10,000</a:t>
            </a:r>
          </a:p>
        </p:txBody>
      </p:sp>
      <p:sp>
        <p:nvSpPr>
          <p:cNvPr id="6" name="Rectangle 4"/>
          <p:cNvSpPr>
            <a:spLocks noChangeArrowheads="1"/>
          </p:cNvSpPr>
          <p:nvPr/>
        </p:nvSpPr>
        <p:spPr bwMode="auto">
          <a:xfrm>
            <a:off x="419100" y="2156983"/>
            <a:ext cx="5231176"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5️ </a:t>
            </a:r>
            <a:r>
              <a:rPr lang="en-US" b="1" dirty="0"/>
              <a:t>Selectivity</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Fraction of rows that satisfy the condition.</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Example:</a:t>
            </a:r>
            <a:br>
              <a:rPr lang="en-US" dirty="0"/>
            </a:br>
            <a:r>
              <a:rPr lang="en-US" dirty="0"/>
              <a:t>Query: SELECT * FROM STUDENT WHERE gender = 'F';</a:t>
            </a:r>
            <a:br>
              <a:rPr lang="en-US" dirty="0"/>
            </a:br>
            <a:r>
              <a:rPr lang="en-US" dirty="0"/>
              <a:t>If 40% are female → selectivity = 0.4</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Selectivity formula:</a:t>
            </a:r>
          </a:p>
        </p:txBody>
      </p:sp>
      <p:pic>
        <p:nvPicPr>
          <p:cNvPr id="7" name="Picture 6"/>
          <p:cNvPicPr>
            <a:picLocks noChangeAspect="1"/>
          </p:cNvPicPr>
          <p:nvPr/>
        </p:nvPicPr>
        <p:blipFill>
          <a:blip r:embed="rId2"/>
          <a:stretch>
            <a:fillRect/>
          </a:stretch>
        </p:blipFill>
        <p:spPr>
          <a:xfrm>
            <a:off x="419099" y="3911308"/>
            <a:ext cx="4739765" cy="504827"/>
          </a:xfrm>
          <a:prstGeom prst="rect">
            <a:avLst/>
          </a:prstGeom>
        </p:spPr>
      </p:pic>
      <p:sp>
        <p:nvSpPr>
          <p:cNvPr id="8" name="Rectangle 7"/>
          <p:cNvSpPr/>
          <p:nvPr/>
        </p:nvSpPr>
        <p:spPr>
          <a:xfrm>
            <a:off x="419100" y="4373802"/>
            <a:ext cx="6096000" cy="2031325"/>
          </a:xfrm>
          <a:prstGeom prst="rect">
            <a:avLst/>
          </a:prstGeom>
        </p:spPr>
        <p:txBody>
          <a:bodyPr>
            <a:spAutoFit/>
          </a:bodyPr>
          <a:lstStyle/>
          <a:p>
            <a:r>
              <a:rPr lang="en-US" b="1" dirty="0"/>
              <a:t>6 Size of a tuple and size of a block</a:t>
            </a:r>
          </a:p>
          <a:p>
            <a:pPr>
              <a:buFont typeface="Arial" panose="020B0604020202020204" pitchFamily="34" charset="0"/>
              <a:buChar char="•"/>
            </a:pPr>
            <a:r>
              <a:rPr lang="en-US" dirty="0"/>
              <a:t>Determines how many tuples fit into a block.</a:t>
            </a:r>
          </a:p>
          <a:p>
            <a:pPr>
              <a:buFont typeface="Arial" panose="020B0604020202020204" pitchFamily="34" charset="0"/>
              <a:buChar char="•"/>
            </a:pPr>
            <a:r>
              <a:rPr lang="en-US" dirty="0"/>
              <a:t>Used for disk I/O calculations.</a:t>
            </a:r>
          </a:p>
          <a:p>
            <a:r>
              <a:rPr lang="en-US" dirty="0"/>
              <a:t>Example:</a:t>
            </a:r>
            <a:br>
              <a:rPr lang="en-US" dirty="0"/>
            </a:br>
            <a:r>
              <a:rPr lang="en-US" dirty="0"/>
              <a:t>Block size = 1 KB</a:t>
            </a:r>
            <a:br>
              <a:rPr lang="en-US" dirty="0"/>
            </a:br>
            <a:r>
              <a:rPr lang="en-US" dirty="0"/>
              <a:t>Tuple size = 100 bytes</a:t>
            </a:r>
            <a:br>
              <a:rPr lang="en-US" dirty="0"/>
            </a:br>
            <a:r>
              <a:rPr lang="en-US" dirty="0"/>
              <a:t>→ Each block contains 10 tuples</a:t>
            </a:r>
          </a:p>
        </p:txBody>
      </p:sp>
    </p:spTree>
    <p:extLst>
      <p:ext uri="{BB962C8B-B14F-4D97-AF65-F5344CB8AC3E}">
        <p14:creationId xmlns:p14="http://schemas.microsoft.com/office/powerpoint/2010/main" val="242336840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270164" y="170739"/>
            <a:ext cx="10609118" cy="150810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ctr" defTabSz="914400" rtl="0" eaLnBrk="0" fontAlgn="base" latinLnBrk="0" hangingPunct="0">
              <a:lnSpc>
                <a:spcPct val="100000"/>
              </a:lnSpc>
              <a:spcBef>
                <a:spcPct val="0"/>
              </a:spcBef>
              <a:spcAft>
                <a:spcPct val="0"/>
              </a:spcAft>
              <a:buClrTx/>
              <a:buSzTx/>
              <a:buFontTx/>
              <a:buNone/>
              <a:tabLst/>
            </a:pPr>
            <a:r>
              <a:rPr lang="en-US" sz="2000" dirty="0"/>
              <a:t>Cost Estimation Examples</a:t>
            </a:r>
          </a:p>
          <a:p>
            <a:pPr marL="0" marR="0" lvl="0" indent="0" algn="l" defTabSz="914400" rtl="0" eaLnBrk="0" fontAlgn="base" latinLnBrk="0" hangingPunct="0">
              <a:lnSpc>
                <a:spcPct val="100000"/>
              </a:lnSpc>
              <a:spcBef>
                <a:spcPct val="0"/>
              </a:spcBef>
              <a:spcAft>
                <a:spcPct val="0"/>
              </a:spcAft>
              <a:buClrTx/>
              <a:buSzTx/>
              <a:buFontTx/>
              <a:buNone/>
              <a:tabLst/>
            </a:pPr>
            <a:r>
              <a:rPr lang="en-US" b="1" dirty="0"/>
              <a:t>A</a:t>
            </a:r>
            <a:r>
              <a:rPr lang="en-US" dirty="0"/>
              <a:t>. </a:t>
            </a:r>
            <a:r>
              <a:rPr lang="en-US" b="1" u="sng" dirty="0"/>
              <a:t>Cost of Full Table Scan</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If table has B blocks, full scan cost = B block reads</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Example:</a:t>
            </a:r>
            <a:br>
              <a:rPr lang="en-US" dirty="0"/>
            </a:br>
            <a:r>
              <a:rPr lang="en-US" dirty="0"/>
              <a:t>500-block table → cost = 500 I/Os</a:t>
            </a:r>
          </a:p>
        </p:txBody>
      </p:sp>
      <p:sp>
        <p:nvSpPr>
          <p:cNvPr id="3" name="Rectangle 2"/>
          <p:cNvSpPr/>
          <p:nvPr/>
        </p:nvSpPr>
        <p:spPr>
          <a:xfrm>
            <a:off x="270164" y="1606263"/>
            <a:ext cx="11502736" cy="2308324"/>
          </a:xfrm>
          <a:prstGeom prst="rect">
            <a:avLst/>
          </a:prstGeom>
        </p:spPr>
        <p:txBody>
          <a:bodyPr wrap="square">
            <a:spAutoFit/>
          </a:bodyPr>
          <a:lstStyle/>
          <a:p>
            <a:r>
              <a:rPr lang="en-US" b="1" dirty="0"/>
              <a:t>B. </a:t>
            </a:r>
            <a:r>
              <a:rPr lang="en-US" b="1" u="sng" dirty="0"/>
              <a:t>Cost of Using an Index</a:t>
            </a:r>
          </a:p>
          <a:p>
            <a:r>
              <a:rPr lang="en-US" dirty="0"/>
              <a:t>Index reduces search cost.</a:t>
            </a:r>
          </a:p>
          <a:p>
            <a:r>
              <a:rPr lang="en-US" dirty="0"/>
              <a:t>Example:</a:t>
            </a:r>
            <a:br>
              <a:rPr lang="en-US" dirty="0"/>
            </a:br>
            <a:r>
              <a:rPr lang="en-US" dirty="0"/>
              <a:t>Index height = 3 (</a:t>
            </a:r>
            <a:r>
              <a:rPr lang="en-US" b="1" dirty="0"/>
              <a:t>Index Height in DBMS</a:t>
            </a:r>
            <a:r>
              <a:rPr lang="en-US" dirty="0"/>
              <a:t> refers to the </a:t>
            </a:r>
            <a:r>
              <a:rPr lang="en-US" b="1" dirty="0"/>
              <a:t>number of levels</a:t>
            </a:r>
            <a:r>
              <a:rPr lang="en-US" dirty="0"/>
              <a:t> in an index structure (usually a </a:t>
            </a:r>
            <a:r>
              <a:rPr lang="en-US" b="1" dirty="0"/>
              <a:t>B-Tree or B+ Tree</a:t>
            </a:r>
            <a:r>
              <a:rPr lang="en-US" dirty="0"/>
              <a:t>) from the </a:t>
            </a:r>
            <a:r>
              <a:rPr lang="en-US" b="1" dirty="0"/>
              <a:t>root node to the leaf node</a:t>
            </a:r>
            <a:r>
              <a:rPr lang="en-US" dirty="0"/>
              <a:t>.</a:t>
            </a:r>
            <a:r>
              <a:rPr lang="en-IN" dirty="0"/>
              <a:t> Lower height = faster lookup, Higher height = slower lookup,</a:t>
            </a:r>
            <a:r>
              <a:rPr lang="en-US" dirty="0"/>
              <a:t> Each level adds </a:t>
            </a:r>
            <a:r>
              <a:rPr lang="en-US" b="1" dirty="0"/>
              <a:t>one disk access</a:t>
            </a:r>
            <a:r>
              <a:rPr lang="en-US" dirty="0"/>
              <a:t>.)</a:t>
            </a:r>
            <a:br>
              <a:rPr lang="en-US" dirty="0"/>
            </a:br>
            <a:r>
              <a:rPr lang="en-US" dirty="0"/>
              <a:t>→ Cost = 3 I/Os to reach leaf node</a:t>
            </a:r>
          </a:p>
          <a:p>
            <a:pPr>
              <a:buFont typeface="Arial" panose="020B0604020202020204" pitchFamily="34" charset="0"/>
              <a:buChar char="•"/>
            </a:pPr>
            <a:r>
              <a:rPr lang="en-US" dirty="0"/>
              <a:t>few more to fetch data blocks.</a:t>
            </a:r>
          </a:p>
        </p:txBody>
      </p:sp>
      <p:sp>
        <p:nvSpPr>
          <p:cNvPr id="4" name="Rectangle 3"/>
          <p:cNvSpPr/>
          <p:nvPr/>
        </p:nvSpPr>
        <p:spPr>
          <a:xfrm>
            <a:off x="270163" y="3809276"/>
            <a:ext cx="11720945" cy="2862322"/>
          </a:xfrm>
          <a:prstGeom prst="rect">
            <a:avLst/>
          </a:prstGeom>
        </p:spPr>
        <p:txBody>
          <a:bodyPr wrap="square">
            <a:spAutoFit/>
          </a:bodyPr>
          <a:lstStyle/>
          <a:p>
            <a:r>
              <a:rPr lang="en-US" b="1" dirty="0"/>
              <a:t>C. </a:t>
            </a:r>
            <a:r>
              <a:rPr lang="en-US" b="1" u="sng" dirty="0"/>
              <a:t>Cost of Join Operations</a:t>
            </a:r>
          </a:p>
          <a:p>
            <a:r>
              <a:rPr lang="en-US" dirty="0"/>
              <a:t>Each join type has a different cost:</a:t>
            </a:r>
          </a:p>
          <a:p>
            <a:r>
              <a:rPr lang="en-US" b="1" dirty="0"/>
              <a:t>1. Nested Loop Join</a:t>
            </a:r>
          </a:p>
          <a:p>
            <a:r>
              <a:rPr lang="en-US" dirty="0"/>
              <a:t>Cost = M + (M × N)</a:t>
            </a:r>
            <a:br>
              <a:rPr lang="en-US" dirty="0"/>
            </a:br>
            <a:r>
              <a:rPr lang="en-US" dirty="0"/>
              <a:t>(M, N are number of blocks of two tables)</a:t>
            </a:r>
          </a:p>
          <a:p>
            <a:r>
              <a:rPr lang="en-US" b="1" dirty="0"/>
              <a:t>2. Sort-Merge Join (</a:t>
            </a:r>
            <a:r>
              <a:rPr lang="en-US" dirty="0"/>
              <a:t>Sort–Merge Join is a join algorithm used when two relations (tables) must be combined using a join condition</a:t>
            </a:r>
            <a:r>
              <a:rPr lang="en-US" b="1" dirty="0"/>
              <a:t>)</a:t>
            </a:r>
          </a:p>
          <a:p>
            <a:r>
              <a:rPr lang="en-US" dirty="0"/>
              <a:t>Cost = Sorting cost + merging cost</a:t>
            </a:r>
          </a:p>
          <a:p>
            <a:r>
              <a:rPr lang="en-US" b="1" dirty="0"/>
              <a:t>3. Hash Join</a:t>
            </a:r>
          </a:p>
          <a:p>
            <a:r>
              <a:rPr lang="en-US" dirty="0"/>
              <a:t>Cost = building hash + probing hash</a:t>
            </a:r>
          </a:p>
        </p:txBody>
      </p:sp>
    </p:spTree>
    <p:extLst>
      <p:ext uri="{BB962C8B-B14F-4D97-AF65-F5344CB8AC3E}">
        <p14:creationId xmlns:p14="http://schemas.microsoft.com/office/powerpoint/2010/main" val="3471088819"/>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6526" y="563618"/>
            <a:ext cx="11156373" cy="923330"/>
          </a:xfrm>
          <a:prstGeom prst="rect">
            <a:avLst/>
          </a:prstGeom>
        </p:spPr>
        <p:txBody>
          <a:bodyPr wrap="square">
            <a:spAutoFit/>
          </a:bodyPr>
          <a:lstStyle/>
          <a:p>
            <a:r>
              <a:rPr lang="en-US" b="1" dirty="0"/>
              <a:t>Why Cost Estimation is Needed?</a:t>
            </a:r>
          </a:p>
          <a:p>
            <a:r>
              <a:rPr lang="en-US" dirty="0"/>
              <a:t>DBMS uses cost estimation to </a:t>
            </a:r>
            <a:r>
              <a:rPr lang="en-US" b="1" dirty="0"/>
              <a:t>choose the best execution plan</a:t>
            </a:r>
            <a:r>
              <a:rPr lang="en-US" dirty="0"/>
              <a:t> for a query.</a:t>
            </a:r>
          </a:p>
          <a:p>
            <a:r>
              <a:rPr lang="en-US" dirty="0"/>
              <a:t>Example:</a:t>
            </a:r>
          </a:p>
        </p:txBody>
      </p:sp>
      <p:sp>
        <p:nvSpPr>
          <p:cNvPr id="3" name="Rectangle 2"/>
          <p:cNvSpPr/>
          <p:nvPr/>
        </p:nvSpPr>
        <p:spPr>
          <a:xfrm>
            <a:off x="2168127" y="1394615"/>
            <a:ext cx="3782510" cy="369332"/>
          </a:xfrm>
          <a:prstGeom prst="rect">
            <a:avLst/>
          </a:prstGeom>
        </p:spPr>
        <p:txBody>
          <a:bodyPr wrap="none">
            <a:spAutoFit/>
          </a:bodyPr>
          <a:lstStyle/>
          <a:p>
            <a:r>
              <a:rPr lang="en-IN" dirty="0"/>
              <a:t>SELECT * FROM EMP WHERE age = 25;</a:t>
            </a:r>
          </a:p>
        </p:txBody>
      </p:sp>
      <p:sp>
        <p:nvSpPr>
          <p:cNvPr id="4" name="Rectangle 3"/>
          <p:cNvSpPr/>
          <p:nvPr/>
        </p:nvSpPr>
        <p:spPr>
          <a:xfrm>
            <a:off x="637309" y="2298900"/>
            <a:ext cx="8194964" cy="1200329"/>
          </a:xfrm>
          <a:prstGeom prst="rect">
            <a:avLst/>
          </a:prstGeom>
        </p:spPr>
        <p:txBody>
          <a:bodyPr wrap="square">
            <a:spAutoFit/>
          </a:bodyPr>
          <a:lstStyle/>
          <a:p>
            <a:r>
              <a:rPr lang="en-US" dirty="0"/>
              <a:t>Two possible methods:</a:t>
            </a:r>
          </a:p>
          <a:p>
            <a:pPr>
              <a:buFont typeface="+mj-lt"/>
              <a:buAutoNum type="arabicPeriod"/>
            </a:pPr>
            <a:r>
              <a:rPr lang="en-US" dirty="0"/>
              <a:t>Full table scan → 5000 I/Os</a:t>
            </a:r>
          </a:p>
          <a:p>
            <a:pPr>
              <a:buFont typeface="+mj-lt"/>
              <a:buAutoNum type="arabicPeriod"/>
            </a:pPr>
            <a:r>
              <a:rPr lang="en-US" dirty="0"/>
              <a:t>Index scan → 5 I/Os</a:t>
            </a:r>
          </a:p>
          <a:p>
            <a:r>
              <a:rPr lang="en-US" dirty="0"/>
              <a:t>DBMS picks method 2 because its </a:t>
            </a:r>
            <a:r>
              <a:rPr lang="en-US" b="1" dirty="0"/>
              <a:t>cost is lowest</a:t>
            </a:r>
            <a:r>
              <a:rPr lang="en-US" dirty="0"/>
              <a:t>.</a:t>
            </a:r>
          </a:p>
        </p:txBody>
      </p:sp>
    </p:spTree>
    <p:extLst>
      <p:ext uri="{BB962C8B-B14F-4D97-AF65-F5344CB8AC3E}">
        <p14:creationId xmlns:p14="http://schemas.microsoft.com/office/powerpoint/2010/main" val="113387781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46362" y="272811"/>
            <a:ext cx="10553701" cy="1846659"/>
          </a:xfrm>
          <a:prstGeom prst="rect">
            <a:avLst/>
          </a:prstGeom>
        </p:spPr>
        <p:txBody>
          <a:bodyPr wrap="square">
            <a:spAutoFit/>
          </a:bodyPr>
          <a:lstStyle/>
          <a:p>
            <a:pPr algn="ctr"/>
            <a:r>
              <a:rPr lang="en-US" b="1" u="sng" dirty="0"/>
              <a:t>Query Optimization Techniques (DBMS)</a:t>
            </a:r>
          </a:p>
          <a:p>
            <a:pPr algn="ctr"/>
            <a:endParaRPr lang="en-US" b="1" dirty="0"/>
          </a:p>
          <a:p>
            <a:r>
              <a:rPr lang="en-US" b="1" u="sng" dirty="0"/>
              <a:t>Query Optimization</a:t>
            </a:r>
            <a:r>
              <a:rPr lang="en-US" u="sng" dirty="0"/>
              <a:t> </a:t>
            </a:r>
            <a:r>
              <a:rPr lang="en-US" dirty="0"/>
              <a:t>is the process of selecting the </a:t>
            </a:r>
            <a:r>
              <a:rPr lang="en-US" i="1" dirty="0"/>
              <a:t>most efficient</a:t>
            </a:r>
            <a:r>
              <a:rPr lang="en-US" dirty="0"/>
              <a:t> way to execute a SQL query.</a:t>
            </a:r>
            <a:br>
              <a:rPr lang="en-US" dirty="0"/>
            </a:br>
            <a:r>
              <a:rPr lang="en-US" dirty="0"/>
              <a:t>The DBMS optimizer evaluates many possible query execution strategies and picks the one with </a:t>
            </a:r>
            <a:r>
              <a:rPr lang="en-US" b="1" dirty="0"/>
              <a:t>minimum cost</a:t>
            </a:r>
            <a:r>
              <a:rPr lang="en-US" dirty="0"/>
              <a:t> (I/O, CPU, time).</a:t>
            </a:r>
          </a:p>
          <a:p>
            <a:r>
              <a:rPr lang="en-US" sz="2400" dirty="0"/>
              <a:t>There are </a:t>
            </a:r>
            <a:r>
              <a:rPr lang="en-US" sz="2400" b="1" dirty="0"/>
              <a:t>two main types</a:t>
            </a:r>
            <a:r>
              <a:rPr lang="en-US" sz="2400" dirty="0"/>
              <a:t> of optimization techniques:</a:t>
            </a:r>
          </a:p>
        </p:txBody>
      </p:sp>
      <p:sp>
        <p:nvSpPr>
          <p:cNvPr id="3" name="Rectangle 2"/>
          <p:cNvSpPr/>
          <p:nvPr/>
        </p:nvSpPr>
        <p:spPr>
          <a:xfrm>
            <a:off x="346361" y="1897348"/>
            <a:ext cx="10179629" cy="2585323"/>
          </a:xfrm>
          <a:prstGeom prst="rect">
            <a:avLst/>
          </a:prstGeom>
        </p:spPr>
        <p:txBody>
          <a:bodyPr wrap="square">
            <a:spAutoFit/>
          </a:bodyPr>
          <a:lstStyle/>
          <a:p>
            <a:endParaRPr lang="en-US" b="1" dirty="0"/>
          </a:p>
          <a:p>
            <a:r>
              <a:rPr lang="en-US" b="1" dirty="0"/>
              <a:t>1. Heuristic (Rule-Based) Optimization</a:t>
            </a:r>
          </a:p>
          <a:p>
            <a:r>
              <a:rPr lang="en-US" dirty="0"/>
              <a:t>Heuristic = “Rule of thumb.”</a:t>
            </a:r>
            <a:br>
              <a:rPr lang="en-US" dirty="0"/>
            </a:br>
            <a:r>
              <a:rPr lang="en-US" dirty="0"/>
              <a:t>These are general rules used to </a:t>
            </a:r>
            <a:r>
              <a:rPr lang="en-US" b="1" dirty="0"/>
              <a:t>rearrange</a:t>
            </a:r>
            <a:r>
              <a:rPr lang="en-US" dirty="0"/>
              <a:t> or </a:t>
            </a:r>
            <a:r>
              <a:rPr lang="en-US" b="1" dirty="0"/>
              <a:t>simplify</a:t>
            </a:r>
            <a:r>
              <a:rPr lang="en-US" dirty="0"/>
              <a:t> the query before executing.</a:t>
            </a:r>
          </a:p>
          <a:p>
            <a:r>
              <a:rPr lang="en-US" b="1" dirty="0"/>
              <a:t>⭐ Common Heuristic Rules:</a:t>
            </a:r>
          </a:p>
          <a:p>
            <a:r>
              <a:rPr lang="en-US" b="1" dirty="0"/>
              <a:t>1 Push Selection Down</a:t>
            </a:r>
          </a:p>
          <a:p>
            <a:r>
              <a:rPr lang="en-US" dirty="0"/>
              <a:t>Apply selection (WHERE conditions) </a:t>
            </a:r>
            <a:r>
              <a:rPr lang="en-US" b="1" dirty="0"/>
              <a:t>as early as possible</a:t>
            </a:r>
            <a:r>
              <a:rPr lang="en-US" dirty="0"/>
              <a:t>.</a:t>
            </a:r>
          </a:p>
          <a:p>
            <a:r>
              <a:rPr lang="en-US" dirty="0"/>
              <a:t>Example:</a:t>
            </a:r>
            <a:br>
              <a:rPr lang="en-US" dirty="0"/>
            </a:br>
            <a:r>
              <a:rPr lang="en-US" dirty="0"/>
              <a:t>Instead of scanning whole table then filtering, filter first.</a:t>
            </a:r>
          </a:p>
        </p:txBody>
      </p:sp>
      <p:sp>
        <p:nvSpPr>
          <p:cNvPr id="4" name="Rectangle 3"/>
          <p:cNvSpPr/>
          <p:nvPr/>
        </p:nvSpPr>
        <p:spPr>
          <a:xfrm>
            <a:off x="346361" y="4733706"/>
            <a:ext cx="4094391" cy="369332"/>
          </a:xfrm>
          <a:prstGeom prst="rect">
            <a:avLst/>
          </a:prstGeom>
        </p:spPr>
        <p:txBody>
          <a:bodyPr wrap="none">
            <a:spAutoFit/>
          </a:bodyPr>
          <a:lstStyle/>
          <a:p>
            <a:r>
              <a:rPr lang="en-IN" dirty="0"/>
              <a:t>SELECT * FROM EMP WHERE dept = 'CSE';</a:t>
            </a:r>
          </a:p>
        </p:txBody>
      </p:sp>
      <p:sp>
        <p:nvSpPr>
          <p:cNvPr id="5" name="Rectangle 4"/>
          <p:cNvSpPr/>
          <p:nvPr/>
        </p:nvSpPr>
        <p:spPr>
          <a:xfrm>
            <a:off x="346361" y="5530722"/>
            <a:ext cx="10179629" cy="369332"/>
          </a:xfrm>
          <a:prstGeom prst="rect">
            <a:avLst/>
          </a:prstGeom>
        </p:spPr>
        <p:txBody>
          <a:bodyPr wrap="square">
            <a:spAutoFit/>
          </a:bodyPr>
          <a:lstStyle/>
          <a:p>
            <a:r>
              <a:rPr lang="en-US" dirty="0"/>
              <a:t>Filter dept='CSE' early → reduces number of rows → reduces cost.</a:t>
            </a:r>
            <a:endParaRPr lang="en-IN" dirty="0"/>
          </a:p>
        </p:txBody>
      </p:sp>
    </p:spTree>
    <p:extLst>
      <p:ext uri="{BB962C8B-B14F-4D97-AF65-F5344CB8AC3E}">
        <p14:creationId xmlns:p14="http://schemas.microsoft.com/office/powerpoint/2010/main" val="39866508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554182" y="456291"/>
            <a:ext cx="10096500" cy="1477328"/>
          </a:xfrm>
          <a:prstGeom prst="rect">
            <a:avLst/>
          </a:prstGeom>
        </p:spPr>
        <p:txBody>
          <a:bodyPr wrap="square">
            <a:spAutoFit/>
          </a:bodyPr>
          <a:lstStyle/>
          <a:p>
            <a:r>
              <a:rPr lang="en-US" b="1" dirty="0"/>
              <a:t>2 Push Projection Down</a:t>
            </a:r>
          </a:p>
          <a:p>
            <a:r>
              <a:rPr lang="en-US" dirty="0"/>
              <a:t>Select only required columns early.</a:t>
            </a:r>
          </a:p>
          <a:p>
            <a:r>
              <a:rPr lang="en-US" dirty="0"/>
              <a:t>Example:</a:t>
            </a:r>
            <a:br>
              <a:rPr lang="en-US" dirty="0"/>
            </a:br>
            <a:r>
              <a:rPr lang="en-US" dirty="0"/>
              <a:t>If query needs </a:t>
            </a:r>
            <a:r>
              <a:rPr lang="en-US" b="1" dirty="0"/>
              <a:t>only name</a:t>
            </a:r>
            <a:r>
              <a:rPr lang="en-US" dirty="0"/>
              <a:t>, don’t keep all columns until last.</a:t>
            </a:r>
          </a:p>
          <a:p>
            <a:r>
              <a:rPr lang="en-US" dirty="0"/>
              <a:t>👉 Reduces tuple size → fewer disk blocks needed.</a:t>
            </a:r>
          </a:p>
        </p:txBody>
      </p:sp>
      <p:sp>
        <p:nvSpPr>
          <p:cNvPr id="3" name="Rectangle 1"/>
          <p:cNvSpPr>
            <a:spLocks noChangeArrowheads="1"/>
          </p:cNvSpPr>
          <p:nvPr/>
        </p:nvSpPr>
        <p:spPr bwMode="auto">
          <a:xfrm>
            <a:off x="554182" y="2153427"/>
            <a:ext cx="5322226" cy="120032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b="1" dirty="0"/>
              <a:t>3️ Use Join Ordering</a:t>
            </a:r>
          </a:p>
          <a:p>
            <a:pPr eaLnBrk="0" fontAlgn="base" hangingPunct="0">
              <a:spcBef>
                <a:spcPct val="0"/>
              </a:spcBef>
              <a:spcAft>
                <a:spcPct val="0"/>
              </a:spcAft>
            </a:pPr>
            <a:r>
              <a:rPr lang="en-US" dirty="0"/>
              <a:t>Join smaller tables first (if possible).</a:t>
            </a:r>
          </a:p>
          <a:p>
            <a:pPr eaLnBrk="0" fontAlgn="base" hangingPunct="0">
              <a:spcBef>
                <a:spcPct val="0"/>
              </a:spcBef>
              <a:spcAft>
                <a:spcPct val="0"/>
              </a:spcAft>
            </a:pPr>
            <a:r>
              <a:rPr lang="en-US" dirty="0"/>
              <a:t>(A JOIN B JOIN C) </a:t>
            </a:r>
          </a:p>
          <a:p>
            <a:pPr eaLnBrk="0" fontAlgn="base" hangingPunct="0">
              <a:spcBef>
                <a:spcPct val="0"/>
              </a:spcBef>
              <a:spcAft>
                <a:spcPct val="0"/>
              </a:spcAft>
            </a:pPr>
            <a:r>
              <a:rPr lang="en-US" dirty="0"/>
              <a:t>Better to join two small tables before joining a big one.</a:t>
            </a:r>
          </a:p>
        </p:txBody>
      </p:sp>
      <p:sp>
        <p:nvSpPr>
          <p:cNvPr id="4" name="Rectangle 3"/>
          <p:cNvSpPr/>
          <p:nvPr/>
        </p:nvSpPr>
        <p:spPr>
          <a:xfrm>
            <a:off x="554182" y="3666944"/>
            <a:ext cx="6096000" cy="646331"/>
          </a:xfrm>
          <a:prstGeom prst="rect">
            <a:avLst/>
          </a:prstGeom>
        </p:spPr>
        <p:txBody>
          <a:bodyPr>
            <a:spAutoFit/>
          </a:bodyPr>
          <a:lstStyle/>
          <a:p>
            <a:r>
              <a:rPr lang="en-US" b="1" dirty="0"/>
              <a:t>4 Replace Cartesian Product + Filter with JOIN</a:t>
            </a:r>
          </a:p>
          <a:p>
            <a:r>
              <a:rPr lang="en-US" dirty="0"/>
              <a:t>Instead of:</a:t>
            </a:r>
          </a:p>
        </p:txBody>
      </p:sp>
      <p:sp>
        <p:nvSpPr>
          <p:cNvPr id="5" name="Rectangle 4"/>
          <p:cNvSpPr/>
          <p:nvPr/>
        </p:nvSpPr>
        <p:spPr>
          <a:xfrm>
            <a:off x="897569" y="4313275"/>
            <a:ext cx="2936188" cy="369332"/>
          </a:xfrm>
          <a:prstGeom prst="rect">
            <a:avLst/>
          </a:prstGeom>
        </p:spPr>
        <p:txBody>
          <a:bodyPr wrap="none">
            <a:spAutoFit/>
          </a:bodyPr>
          <a:lstStyle/>
          <a:p>
            <a:r>
              <a:rPr lang="en-IN" dirty="0"/>
              <a:t>FROM A, B WHERE A.id = B.id</a:t>
            </a:r>
          </a:p>
        </p:txBody>
      </p:sp>
      <p:sp>
        <p:nvSpPr>
          <p:cNvPr id="6" name="Rectangle 5"/>
          <p:cNvSpPr/>
          <p:nvPr/>
        </p:nvSpPr>
        <p:spPr>
          <a:xfrm>
            <a:off x="597647" y="4645922"/>
            <a:ext cx="599844" cy="369332"/>
          </a:xfrm>
          <a:prstGeom prst="rect">
            <a:avLst/>
          </a:prstGeom>
        </p:spPr>
        <p:txBody>
          <a:bodyPr wrap="none">
            <a:spAutoFit/>
          </a:bodyPr>
          <a:lstStyle/>
          <a:p>
            <a:r>
              <a:rPr lang="en-IN" dirty="0"/>
              <a:t>Use:</a:t>
            </a:r>
          </a:p>
        </p:txBody>
      </p:sp>
      <p:sp>
        <p:nvSpPr>
          <p:cNvPr id="8" name="Rectangle 7"/>
          <p:cNvSpPr/>
          <p:nvPr/>
        </p:nvSpPr>
        <p:spPr>
          <a:xfrm>
            <a:off x="881258" y="4959606"/>
            <a:ext cx="2334037" cy="369332"/>
          </a:xfrm>
          <a:prstGeom prst="rect">
            <a:avLst/>
          </a:prstGeom>
        </p:spPr>
        <p:txBody>
          <a:bodyPr wrap="none">
            <a:spAutoFit/>
          </a:bodyPr>
          <a:lstStyle/>
          <a:p>
            <a:r>
              <a:rPr lang="en-IN" dirty="0"/>
              <a:t>A JOIN B ON A.id = B.id</a:t>
            </a:r>
          </a:p>
        </p:txBody>
      </p:sp>
      <p:sp>
        <p:nvSpPr>
          <p:cNvPr id="9" name="Rectangle 8"/>
          <p:cNvSpPr/>
          <p:nvPr/>
        </p:nvSpPr>
        <p:spPr>
          <a:xfrm>
            <a:off x="597647" y="5403549"/>
            <a:ext cx="3059620" cy="369332"/>
          </a:xfrm>
          <a:prstGeom prst="rect">
            <a:avLst/>
          </a:prstGeom>
        </p:spPr>
        <p:txBody>
          <a:bodyPr wrap="none">
            <a:spAutoFit/>
          </a:bodyPr>
          <a:lstStyle/>
          <a:p>
            <a:r>
              <a:rPr lang="en-US" dirty="0"/>
              <a:t>Faster and less memory usage.</a:t>
            </a:r>
            <a:endParaRPr lang="en-IN" dirty="0"/>
          </a:p>
        </p:txBody>
      </p:sp>
      <p:sp>
        <p:nvSpPr>
          <p:cNvPr id="10" name="Rectangle 9"/>
          <p:cNvSpPr/>
          <p:nvPr/>
        </p:nvSpPr>
        <p:spPr>
          <a:xfrm>
            <a:off x="335972" y="5842476"/>
            <a:ext cx="10501745" cy="646331"/>
          </a:xfrm>
          <a:prstGeom prst="rect">
            <a:avLst/>
          </a:prstGeom>
        </p:spPr>
        <p:txBody>
          <a:bodyPr wrap="square">
            <a:spAutoFit/>
          </a:bodyPr>
          <a:lstStyle/>
          <a:p>
            <a:r>
              <a:rPr lang="en-US" b="1" dirty="0"/>
              <a:t>5 Use Indexes</a:t>
            </a:r>
          </a:p>
          <a:p>
            <a:r>
              <a:rPr lang="en-US" dirty="0"/>
              <a:t>If a column is indexed, optimizer prefers index scan instead of full table scan.</a:t>
            </a:r>
          </a:p>
        </p:txBody>
      </p:sp>
    </p:spTree>
    <p:extLst>
      <p:ext uri="{BB962C8B-B14F-4D97-AF65-F5344CB8AC3E}">
        <p14:creationId xmlns:p14="http://schemas.microsoft.com/office/powerpoint/2010/main" val="396670831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77536" y="362635"/>
            <a:ext cx="6096000" cy="646331"/>
          </a:xfrm>
          <a:prstGeom prst="rect">
            <a:avLst/>
          </a:prstGeom>
        </p:spPr>
        <p:txBody>
          <a:bodyPr>
            <a:spAutoFit/>
          </a:bodyPr>
          <a:lstStyle/>
          <a:p>
            <a:r>
              <a:rPr lang="en-US" b="1" dirty="0"/>
              <a:t>6 Remove Unnecessary DISTINCT, ORDER BY</a:t>
            </a:r>
          </a:p>
          <a:p>
            <a:r>
              <a:rPr lang="en-US" dirty="0"/>
              <a:t>If not required, avoid them—they are expensive operations.</a:t>
            </a:r>
          </a:p>
        </p:txBody>
      </p:sp>
      <p:sp>
        <p:nvSpPr>
          <p:cNvPr id="3" name="Rectangle 2"/>
          <p:cNvSpPr/>
          <p:nvPr/>
        </p:nvSpPr>
        <p:spPr>
          <a:xfrm>
            <a:off x="377536" y="1457650"/>
            <a:ext cx="10532920" cy="3785652"/>
          </a:xfrm>
          <a:prstGeom prst="rect">
            <a:avLst/>
          </a:prstGeom>
        </p:spPr>
        <p:txBody>
          <a:bodyPr wrap="square">
            <a:spAutoFit/>
          </a:bodyPr>
          <a:lstStyle/>
          <a:p>
            <a:r>
              <a:rPr lang="en-US" sz="2400" b="1" u="sng" dirty="0"/>
              <a:t>2. Cost-Based Optimization</a:t>
            </a:r>
          </a:p>
          <a:p>
            <a:r>
              <a:rPr lang="en-US" dirty="0"/>
              <a:t>This is the </a:t>
            </a:r>
            <a:r>
              <a:rPr lang="en-US" b="1" dirty="0"/>
              <a:t>main technique used by modern DBMS</a:t>
            </a:r>
            <a:r>
              <a:rPr lang="en-US" dirty="0"/>
              <a:t> (MySQL, PostgreSQL, Oracle).</a:t>
            </a:r>
          </a:p>
          <a:p>
            <a:r>
              <a:rPr lang="en-US" dirty="0"/>
              <a:t>The optimizer:</a:t>
            </a:r>
          </a:p>
          <a:p>
            <a:r>
              <a:rPr lang="en-US" dirty="0"/>
              <a:t>1 </a:t>
            </a:r>
            <a:r>
              <a:rPr lang="en-US" b="1" dirty="0"/>
              <a:t>Generates multiple possible execution plans</a:t>
            </a:r>
            <a:br>
              <a:rPr lang="en-US" dirty="0"/>
            </a:br>
            <a:r>
              <a:rPr lang="en-US" dirty="0"/>
              <a:t>2 </a:t>
            </a:r>
            <a:r>
              <a:rPr lang="en-US" b="1" dirty="0"/>
              <a:t>Estimates the cost of each plan</a:t>
            </a:r>
            <a:r>
              <a:rPr lang="en-US" dirty="0"/>
              <a:t> using:</a:t>
            </a:r>
          </a:p>
          <a:p>
            <a:pPr>
              <a:buFont typeface="Arial" panose="020B0604020202020204" pitchFamily="34" charset="0"/>
              <a:buChar char="•"/>
            </a:pPr>
            <a:r>
              <a:rPr lang="en-US" b="1" dirty="0"/>
              <a:t>of disk I/Os</a:t>
            </a:r>
          </a:p>
          <a:p>
            <a:pPr>
              <a:buFont typeface="Arial" panose="020B0604020202020204" pitchFamily="34" charset="0"/>
              <a:buChar char="•"/>
            </a:pPr>
            <a:r>
              <a:rPr lang="en-US" dirty="0"/>
              <a:t>CPU time</a:t>
            </a:r>
          </a:p>
          <a:p>
            <a:pPr>
              <a:buFont typeface="Arial" panose="020B0604020202020204" pitchFamily="34" charset="0"/>
              <a:buChar char="•"/>
            </a:pPr>
            <a:r>
              <a:rPr lang="en-US" dirty="0"/>
              <a:t>Selectivity</a:t>
            </a:r>
          </a:p>
          <a:p>
            <a:pPr>
              <a:buFont typeface="Arial" panose="020B0604020202020204" pitchFamily="34" charset="0"/>
              <a:buChar char="•"/>
            </a:pPr>
            <a:r>
              <a:rPr lang="en-US" dirty="0"/>
              <a:t>Cardinality</a:t>
            </a:r>
          </a:p>
          <a:p>
            <a:pPr>
              <a:buFont typeface="Arial" panose="020B0604020202020204" pitchFamily="34" charset="0"/>
              <a:buChar char="•"/>
            </a:pPr>
            <a:r>
              <a:rPr lang="en-US" dirty="0"/>
              <a:t>Index costs</a:t>
            </a:r>
          </a:p>
          <a:p>
            <a:pPr>
              <a:buFont typeface="Arial" panose="020B0604020202020204" pitchFamily="34" charset="0"/>
              <a:buChar char="•"/>
            </a:pPr>
            <a:r>
              <a:rPr lang="en-US" dirty="0"/>
              <a:t>Join method cost</a:t>
            </a:r>
          </a:p>
          <a:p>
            <a:endParaRPr lang="en-US" dirty="0"/>
          </a:p>
          <a:p>
            <a:r>
              <a:rPr lang="en-US" dirty="0"/>
              <a:t>3 </a:t>
            </a:r>
            <a:r>
              <a:rPr lang="en-US" b="1" dirty="0"/>
              <a:t>Chooses the plan with lowest estimated cost</a:t>
            </a:r>
            <a:endParaRPr lang="en-US" dirty="0"/>
          </a:p>
        </p:txBody>
      </p:sp>
    </p:spTree>
    <p:extLst>
      <p:ext uri="{BB962C8B-B14F-4D97-AF65-F5344CB8AC3E}">
        <p14:creationId xmlns:p14="http://schemas.microsoft.com/office/powerpoint/2010/main" val="835543432"/>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58090" y="494852"/>
            <a:ext cx="7436427" cy="5078313"/>
          </a:xfrm>
          <a:prstGeom prst="rect">
            <a:avLst/>
          </a:prstGeom>
        </p:spPr>
        <p:txBody>
          <a:bodyPr wrap="square">
            <a:spAutoFit/>
          </a:bodyPr>
          <a:lstStyle/>
          <a:p>
            <a:pPr algn="ctr"/>
            <a:r>
              <a:rPr lang="en-IN" sz="2400" b="1" dirty="0"/>
              <a:t>Components Used in Cost-Based Optimization</a:t>
            </a:r>
          </a:p>
          <a:p>
            <a:pPr algn="ctr"/>
            <a:endParaRPr lang="en-IN" sz="2400" b="1" dirty="0"/>
          </a:p>
          <a:p>
            <a:pPr algn="ctr"/>
            <a:endParaRPr lang="en-IN" sz="2400" b="1" dirty="0"/>
          </a:p>
          <a:p>
            <a:r>
              <a:rPr lang="en-IN" b="1" dirty="0"/>
              <a:t>1 Selectivity</a:t>
            </a:r>
          </a:p>
          <a:p>
            <a:r>
              <a:rPr lang="en-IN" dirty="0"/>
              <a:t>Fraction of rows matching condition.</a:t>
            </a:r>
          </a:p>
          <a:p>
            <a:r>
              <a:rPr lang="en-IN" b="1" dirty="0"/>
              <a:t>2 Cardinality</a:t>
            </a:r>
          </a:p>
          <a:p>
            <a:r>
              <a:rPr lang="en-IN" dirty="0"/>
              <a:t>Number of rows in each relation.</a:t>
            </a:r>
          </a:p>
          <a:p>
            <a:r>
              <a:rPr lang="en-IN" b="1" dirty="0"/>
              <a:t>3 Join Algorithms</a:t>
            </a:r>
          </a:p>
          <a:p>
            <a:r>
              <a:rPr lang="en-IN" dirty="0"/>
              <a:t>Optimizer chooses:</a:t>
            </a:r>
          </a:p>
          <a:p>
            <a:pPr>
              <a:buFont typeface="Arial" panose="020B0604020202020204" pitchFamily="34" charset="0"/>
              <a:buChar char="•"/>
            </a:pPr>
            <a:r>
              <a:rPr lang="en-IN" dirty="0"/>
              <a:t>Nested Loop Join</a:t>
            </a:r>
          </a:p>
          <a:p>
            <a:pPr>
              <a:buFont typeface="Arial" panose="020B0604020202020204" pitchFamily="34" charset="0"/>
              <a:buChar char="•"/>
            </a:pPr>
            <a:r>
              <a:rPr lang="en-IN" dirty="0"/>
              <a:t>Hash Join</a:t>
            </a:r>
          </a:p>
          <a:p>
            <a:pPr>
              <a:buFont typeface="Arial" panose="020B0604020202020204" pitchFamily="34" charset="0"/>
              <a:buChar char="•"/>
            </a:pPr>
            <a:r>
              <a:rPr lang="en-IN" dirty="0"/>
              <a:t>Sort-Merge Join</a:t>
            </a:r>
          </a:p>
          <a:p>
            <a:r>
              <a:rPr lang="en-IN" b="1" dirty="0"/>
              <a:t>4 Access Paths</a:t>
            </a:r>
          </a:p>
          <a:p>
            <a:r>
              <a:rPr lang="en-IN" dirty="0"/>
              <a:t>Choose between:</a:t>
            </a:r>
          </a:p>
          <a:p>
            <a:pPr>
              <a:buFont typeface="Arial" panose="020B0604020202020204" pitchFamily="34" charset="0"/>
              <a:buChar char="•"/>
            </a:pPr>
            <a:r>
              <a:rPr lang="en-IN" dirty="0"/>
              <a:t>Table scan</a:t>
            </a:r>
          </a:p>
          <a:p>
            <a:pPr>
              <a:buFont typeface="Arial" panose="020B0604020202020204" pitchFamily="34" charset="0"/>
              <a:buChar char="•"/>
            </a:pPr>
            <a:r>
              <a:rPr lang="en-IN" dirty="0"/>
              <a:t>Index scan</a:t>
            </a:r>
          </a:p>
          <a:p>
            <a:pPr>
              <a:buFont typeface="Arial" panose="020B0604020202020204" pitchFamily="34" charset="0"/>
              <a:buChar char="•"/>
            </a:pPr>
            <a:r>
              <a:rPr lang="en-IN" dirty="0"/>
              <a:t>Index-only scan</a:t>
            </a:r>
          </a:p>
        </p:txBody>
      </p:sp>
    </p:spTree>
    <p:extLst>
      <p:ext uri="{BB962C8B-B14F-4D97-AF65-F5344CB8AC3E}">
        <p14:creationId xmlns:p14="http://schemas.microsoft.com/office/powerpoint/2010/main" val="389623632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94409" y="373302"/>
            <a:ext cx="9888682" cy="2031325"/>
          </a:xfrm>
          <a:prstGeom prst="rect">
            <a:avLst/>
          </a:prstGeom>
        </p:spPr>
        <p:txBody>
          <a:bodyPr wrap="square">
            <a:spAutoFit/>
          </a:bodyPr>
          <a:lstStyle/>
          <a:p>
            <a:r>
              <a:rPr lang="en-US" b="1" dirty="0"/>
              <a:t>3. Transformation-Based Optimization</a:t>
            </a:r>
          </a:p>
          <a:p>
            <a:r>
              <a:rPr lang="en-US" dirty="0"/>
              <a:t>Query is converted into equivalent forms using </a:t>
            </a:r>
            <a:r>
              <a:rPr lang="en-US" b="1" dirty="0"/>
              <a:t>relational algebra rules</a:t>
            </a:r>
            <a:r>
              <a:rPr lang="en-US" dirty="0"/>
              <a:t>:</a:t>
            </a:r>
          </a:p>
          <a:p>
            <a:pPr>
              <a:buFont typeface="Arial" panose="020B0604020202020204" pitchFamily="34" charset="0"/>
              <a:buChar char="•"/>
            </a:pPr>
            <a:r>
              <a:rPr lang="en-US" dirty="0"/>
              <a:t>Selection pushdown</a:t>
            </a:r>
          </a:p>
          <a:p>
            <a:pPr>
              <a:buFont typeface="Arial" panose="020B0604020202020204" pitchFamily="34" charset="0"/>
              <a:buChar char="•"/>
            </a:pPr>
            <a:r>
              <a:rPr lang="en-US" dirty="0"/>
              <a:t>Join commutativity</a:t>
            </a:r>
          </a:p>
          <a:p>
            <a:pPr>
              <a:buFont typeface="Arial" panose="020B0604020202020204" pitchFamily="34" charset="0"/>
              <a:buChar char="•"/>
            </a:pPr>
            <a:r>
              <a:rPr lang="en-US" dirty="0"/>
              <a:t>Join associativity (</a:t>
            </a:r>
            <a:r>
              <a:rPr lang="en-IN" dirty="0"/>
              <a:t>(R⋈S)⋈T=R⋈(S⋈T)  -- </a:t>
            </a:r>
            <a:r>
              <a:rPr lang="en-US" b="1" dirty="0"/>
              <a:t>re-associate</a:t>
            </a:r>
            <a:r>
              <a:rPr lang="en-US" dirty="0"/>
              <a:t> (regroup) the join operations.)</a:t>
            </a:r>
          </a:p>
          <a:p>
            <a:pPr>
              <a:buFont typeface="Arial" panose="020B0604020202020204" pitchFamily="34" charset="0"/>
              <a:buChar char="•"/>
            </a:pPr>
            <a:r>
              <a:rPr lang="en-US" dirty="0"/>
              <a:t>Projection pushdown</a:t>
            </a:r>
          </a:p>
          <a:p>
            <a:r>
              <a:rPr lang="en-US" dirty="0"/>
              <a:t>Purpose → reduce size of intermediate results.</a:t>
            </a:r>
          </a:p>
        </p:txBody>
      </p:sp>
      <p:sp>
        <p:nvSpPr>
          <p:cNvPr id="4" name="Rectangle 3"/>
          <p:cNvSpPr/>
          <p:nvPr/>
        </p:nvSpPr>
        <p:spPr>
          <a:xfrm>
            <a:off x="367144" y="2404627"/>
            <a:ext cx="11572009" cy="923330"/>
          </a:xfrm>
          <a:prstGeom prst="rect">
            <a:avLst/>
          </a:prstGeom>
        </p:spPr>
        <p:txBody>
          <a:bodyPr wrap="square">
            <a:spAutoFit/>
          </a:bodyPr>
          <a:lstStyle/>
          <a:p>
            <a:r>
              <a:rPr lang="en-US" b="1" dirty="0"/>
              <a:t>Notes: </a:t>
            </a:r>
          </a:p>
          <a:p>
            <a:r>
              <a:rPr lang="en-US" b="1" dirty="0"/>
              <a:t>Join Commutativity</a:t>
            </a:r>
            <a:r>
              <a:rPr lang="en-US" dirty="0"/>
              <a:t> is a transformation rule used in </a:t>
            </a:r>
            <a:r>
              <a:rPr lang="en-US" b="1" dirty="0"/>
              <a:t>query optimization</a:t>
            </a:r>
            <a:r>
              <a:rPr lang="en-US" dirty="0"/>
              <a:t> that allows the optimizer to </a:t>
            </a:r>
            <a:r>
              <a:rPr lang="en-US" b="1" dirty="0"/>
              <a:t>reorder join operations</a:t>
            </a:r>
            <a:r>
              <a:rPr lang="en-US" dirty="0"/>
              <a:t> without changing the final result of the query.</a:t>
            </a:r>
            <a:endParaRPr lang="en-IN" dirty="0"/>
          </a:p>
        </p:txBody>
      </p:sp>
      <p:sp>
        <p:nvSpPr>
          <p:cNvPr id="5" name="Rectangle 4"/>
          <p:cNvSpPr/>
          <p:nvPr/>
        </p:nvSpPr>
        <p:spPr>
          <a:xfrm>
            <a:off x="367144" y="3327957"/>
            <a:ext cx="11824855" cy="1477328"/>
          </a:xfrm>
          <a:prstGeom prst="rect">
            <a:avLst/>
          </a:prstGeom>
        </p:spPr>
        <p:txBody>
          <a:bodyPr wrap="square">
            <a:spAutoFit/>
          </a:bodyPr>
          <a:lstStyle/>
          <a:p>
            <a:r>
              <a:rPr lang="en-US" dirty="0"/>
              <a:t>A </a:t>
            </a:r>
            <a:r>
              <a:rPr lang="en-US" b="1" dirty="0"/>
              <a:t>join operation is commutative</a:t>
            </a:r>
            <a:r>
              <a:rPr lang="en-US" dirty="0"/>
              <a:t> if:</a:t>
            </a:r>
          </a:p>
          <a:p>
            <a:r>
              <a:rPr lang="en-US" dirty="0"/>
              <a:t>R⋈S=S⋈R</a:t>
            </a:r>
          </a:p>
          <a:p>
            <a:endParaRPr lang="en-US" dirty="0"/>
          </a:p>
          <a:p>
            <a:r>
              <a:rPr lang="en-US" dirty="0"/>
              <a:t>This means </a:t>
            </a:r>
            <a:r>
              <a:rPr lang="en-US" b="1" dirty="0"/>
              <a:t>the order of relations in a join can be swapped</a:t>
            </a:r>
            <a:r>
              <a:rPr lang="en-US" dirty="0"/>
              <a:t>, and the output will still be the same (same tuples, though the physical order may differ).</a:t>
            </a:r>
          </a:p>
        </p:txBody>
      </p:sp>
      <p:sp>
        <p:nvSpPr>
          <p:cNvPr id="6" name="Rectangle 5"/>
          <p:cNvSpPr/>
          <p:nvPr/>
        </p:nvSpPr>
        <p:spPr>
          <a:xfrm>
            <a:off x="294408" y="4851452"/>
            <a:ext cx="10927773" cy="1477328"/>
          </a:xfrm>
          <a:prstGeom prst="rect">
            <a:avLst/>
          </a:prstGeom>
        </p:spPr>
        <p:txBody>
          <a:bodyPr wrap="square">
            <a:spAutoFit/>
          </a:bodyPr>
          <a:lstStyle/>
          <a:p>
            <a:r>
              <a:rPr lang="en-US" dirty="0"/>
              <a:t>Since join commutativity allows </a:t>
            </a:r>
            <a:r>
              <a:rPr lang="en-US" b="1" dirty="0"/>
              <a:t>R join S</a:t>
            </a:r>
            <a:r>
              <a:rPr lang="en-US" dirty="0"/>
              <a:t> to be rewritten as </a:t>
            </a:r>
            <a:r>
              <a:rPr lang="en-US" b="1" dirty="0"/>
              <a:t>S join R</a:t>
            </a:r>
            <a:r>
              <a:rPr lang="en-US" dirty="0"/>
              <a:t>, the optimizer can:</a:t>
            </a:r>
          </a:p>
          <a:p>
            <a:r>
              <a:rPr lang="en-US" dirty="0"/>
              <a:t>✔ Choose the smaller table as the outer table</a:t>
            </a:r>
            <a:br>
              <a:rPr lang="en-US" dirty="0"/>
            </a:br>
            <a:r>
              <a:rPr lang="en-US" dirty="0"/>
              <a:t>✔ Pick a more efficient join method</a:t>
            </a:r>
            <a:br>
              <a:rPr lang="en-US" dirty="0"/>
            </a:br>
            <a:r>
              <a:rPr lang="en-US" dirty="0"/>
              <a:t>✔ Reduce intermediate result sizes</a:t>
            </a:r>
            <a:br>
              <a:rPr lang="en-US" dirty="0"/>
            </a:br>
            <a:r>
              <a:rPr lang="en-US" dirty="0"/>
              <a:t>✔ Generate multiple valid join trees for cost comparison</a:t>
            </a:r>
          </a:p>
        </p:txBody>
      </p:sp>
    </p:spTree>
    <p:extLst>
      <p:ext uri="{BB962C8B-B14F-4D97-AF65-F5344CB8AC3E}">
        <p14:creationId xmlns:p14="http://schemas.microsoft.com/office/powerpoint/2010/main" val="415198382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4018" y="778822"/>
            <a:ext cx="6096000" cy="3970318"/>
          </a:xfrm>
          <a:prstGeom prst="rect">
            <a:avLst/>
          </a:prstGeom>
        </p:spPr>
        <p:txBody>
          <a:bodyPr>
            <a:spAutoFit/>
          </a:bodyPr>
          <a:lstStyle/>
          <a:p>
            <a:r>
              <a:rPr lang="en-IN" b="1" dirty="0"/>
              <a:t>4. Physical Optimization Techniques</a:t>
            </a:r>
          </a:p>
          <a:p>
            <a:r>
              <a:rPr lang="en-IN" dirty="0"/>
              <a:t>DBMS also selects </a:t>
            </a:r>
            <a:r>
              <a:rPr lang="en-IN" b="1" dirty="0"/>
              <a:t>physical operations</a:t>
            </a:r>
            <a:r>
              <a:rPr lang="en-IN" dirty="0"/>
              <a:t>:</a:t>
            </a:r>
          </a:p>
          <a:p>
            <a:r>
              <a:rPr lang="en-IN" b="1" dirty="0"/>
              <a:t>1 Join Methods</a:t>
            </a:r>
          </a:p>
          <a:p>
            <a:pPr>
              <a:buFont typeface="Arial" panose="020B0604020202020204" pitchFamily="34" charset="0"/>
              <a:buChar char="•"/>
            </a:pPr>
            <a:r>
              <a:rPr lang="en-IN" dirty="0"/>
              <a:t>Nested loop join</a:t>
            </a:r>
          </a:p>
          <a:p>
            <a:pPr>
              <a:buFont typeface="Arial" panose="020B0604020202020204" pitchFamily="34" charset="0"/>
              <a:buChar char="•"/>
            </a:pPr>
            <a:r>
              <a:rPr lang="en-IN" dirty="0"/>
              <a:t>Block nested loop join</a:t>
            </a:r>
          </a:p>
          <a:p>
            <a:pPr>
              <a:buFont typeface="Arial" panose="020B0604020202020204" pitchFamily="34" charset="0"/>
              <a:buChar char="•"/>
            </a:pPr>
            <a:r>
              <a:rPr lang="en-IN" dirty="0"/>
              <a:t>Hash join</a:t>
            </a:r>
          </a:p>
          <a:p>
            <a:pPr>
              <a:buFont typeface="Arial" panose="020B0604020202020204" pitchFamily="34" charset="0"/>
              <a:buChar char="•"/>
            </a:pPr>
            <a:r>
              <a:rPr lang="en-IN" dirty="0"/>
              <a:t>Merge join</a:t>
            </a:r>
          </a:p>
          <a:p>
            <a:r>
              <a:rPr lang="en-IN" b="1" dirty="0"/>
              <a:t>2 Sorting Methods</a:t>
            </a:r>
          </a:p>
          <a:p>
            <a:pPr>
              <a:buFont typeface="Arial" panose="020B0604020202020204" pitchFamily="34" charset="0"/>
              <a:buChar char="•"/>
            </a:pPr>
            <a:r>
              <a:rPr lang="en-IN" dirty="0"/>
              <a:t>External merge sort</a:t>
            </a:r>
          </a:p>
          <a:p>
            <a:pPr>
              <a:buFont typeface="Arial" panose="020B0604020202020204" pitchFamily="34" charset="0"/>
              <a:buChar char="•"/>
            </a:pPr>
            <a:r>
              <a:rPr lang="en-IN" dirty="0"/>
              <a:t>In-memory sort</a:t>
            </a:r>
          </a:p>
          <a:p>
            <a:r>
              <a:rPr lang="en-IN" b="1" dirty="0"/>
              <a:t>3 Index Choices</a:t>
            </a:r>
          </a:p>
          <a:p>
            <a:pPr>
              <a:buFont typeface="Arial" panose="020B0604020202020204" pitchFamily="34" charset="0"/>
              <a:buChar char="•"/>
            </a:pPr>
            <a:r>
              <a:rPr lang="en-IN" dirty="0"/>
              <a:t>B-tree index</a:t>
            </a:r>
          </a:p>
          <a:p>
            <a:pPr>
              <a:buFont typeface="Arial" panose="020B0604020202020204" pitchFamily="34" charset="0"/>
              <a:buChar char="•"/>
            </a:pPr>
            <a:r>
              <a:rPr lang="en-IN" dirty="0"/>
              <a:t>Bitmap index</a:t>
            </a:r>
          </a:p>
          <a:p>
            <a:pPr>
              <a:buFont typeface="Arial" panose="020B0604020202020204" pitchFamily="34" charset="0"/>
              <a:buChar char="•"/>
            </a:pPr>
            <a:r>
              <a:rPr lang="en-IN" dirty="0"/>
              <a:t>Hash index</a:t>
            </a:r>
          </a:p>
        </p:txBody>
      </p:sp>
    </p:spTree>
    <p:extLst>
      <p:ext uri="{BB962C8B-B14F-4D97-AF65-F5344CB8AC3E}">
        <p14:creationId xmlns:p14="http://schemas.microsoft.com/office/powerpoint/2010/main" val="386028500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60264" y="386834"/>
            <a:ext cx="3171125" cy="369332"/>
          </a:xfrm>
          <a:prstGeom prst="rect">
            <a:avLst/>
          </a:prstGeom>
        </p:spPr>
        <p:txBody>
          <a:bodyPr wrap="none">
            <a:spAutoFit/>
          </a:bodyPr>
          <a:lstStyle/>
          <a:p>
            <a:r>
              <a:rPr lang="en-IN" dirty="0"/>
              <a:t>Simple Example of Optimization</a:t>
            </a:r>
          </a:p>
        </p:txBody>
      </p:sp>
      <p:sp>
        <p:nvSpPr>
          <p:cNvPr id="3" name="Rectangle 2"/>
          <p:cNvSpPr/>
          <p:nvPr/>
        </p:nvSpPr>
        <p:spPr>
          <a:xfrm>
            <a:off x="760264" y="756166"/>
            <a:ext cx="6096000" cy="923330"/>
          </a:xfrm>
          <a:prstGeom prst="rect">
            <a:avLst/>
          </a:prstGeom>
        </p:spPr>
        <p:txBody>
          <a:bodyPr>
            <a:spAutoFit/>
          </a:bodyPr>
          <a:lstStyle/>
          <a:p>
            <a:r>
              <a:rPr lang="en-IN" dirty="0"/>
              <a:t>SELECT name </a:t>
            </a:r>
          </a:p>
          <a:p>
            <a:r>
              <a:rPr lang="en-IN" dirty="0"/>
              <a:t>FROM EMP </a:t>
            </a:r>
          </a:p>
          <a:p>
            <a:r>
              <a:rPr lang="en-IN" dirty="0"/>
              <a:t>WHERE age = 25 AND salary &gt; 50000;</a:t>
            </a:r>
          </a:p>
        </p:txBody>
      </p:sp>
      <p:sp>
        <p:nvSpPr>
          <p:cNvPr id="4" name="Rectangle 1"/>
          <p:cNvSpPr>
            <a:spLocks noChangeArrowheads="1"/>
          </p:cNvSpPr>
          <p:nvPr/>
        </p:nvSpPr>
        <p:spPr bwMode="auto">
          <a:xfrm>
            <a:off x="654628" y="2177764"/>
            <a:ext cx="410157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lang="en-US" dirty="0"/>
              <a:t>DBMS will optimize like:</a:t>
            </a:r>
          </a:p>
          <a:p>
            <a:pPr marL="0" marR="0" lvl="0" indent="0" algn="l" defTabSz="914400" rtl="0" eaLnBrk="0" fontAlgn="base" latinLnBrk="0" hangingPunct="0">
              <a:lnSpc>
                <a:spcPct val="100000"/>
              </a:lnSpc>
              <a:spcBef>
                <a:spcPct val="0"/>
              </a:spcBef>
              <a:spcAft>
                <a:spcPct val="0"/>
              </a:spcAft>
              <a:buClrTx/>
              <a:buSzTx/>
              <a:buFontTx/>
              <a:buAutoNum type="arabicPeriod"/>
              <a:tabLst/>
            </a:pPr>
            <a:r>
              <a:rPr lang="en-US" dirty="0"/>
              <a:t>Push selections down</a:t>
            </a:r>
          </a:p>
          <a:p>
            <a:pPr marL="0" marR="0" lvl="0" indent="0" algn="l" defTabSz="914400" rtl="0" eaLnBrk="0" fontAlgn="base" latinLnBrk="0" hangingPunct="0">
              <a:lnSpc>
                <a:spcPct val="100000"/>
              </a:lnSpc>
              <a:spcBef>
                <a:spcPct val="0"/>
              </a:spcBef>
              <a:spcAft>
                <a:spcPct val="0"/>
              </a:spcAft>
              <a:buClrTx/>
              <a:buSzTx/>
              <a:buFontTx/>
              <a:buAutoNum type="arabicPeriod" startAt="2"/>
              <a:tabLst/>
            </a:pPr>
            <a:r>
              <a:rPr lang="en-US" dirty="0"/>
              <a:t>Use index on age or salary if available</a:t>
            </a:r>
          </a:p>
          <a:p>
            <a:pPr marL="0" marR="0" lvl="0" indent="0" algn="l" defTabSz="914400" rtl="0" eaLnBrk="0" fontAlgn="base" latinLnBrk="0" hangingPunct="0">
              <a:lnSpc>
                <a:spcPct val="100000"/>
              </a:lnSpc>
              <a:spcBef>
                <a:spcPct val="0"/>
              </a:spcBef>
              <a:spcAft>
                <a:spcPct val="0"/>
              </a:spcAft>
              <a:buClrTx/>
              <a:buSzTx/>
              <a:buFontTx/>
              <a:buAutoNum type="arabicPeriod" startAt="3"/>
              <a:tabLst/>
            </a:pPr>
            <a:r>
              <a:rPr lang="en-US" dirty="0"/>
              <a:t>Fetch only name (projection pushdown)</a:t>
            </a:r>
          </a:p>
          <a:p>
            <a:pPr marL="0" marR="0" lvl="0" indent="0" algn="l" defTabSz="914400" rtl="0" eaLnBrk="0" fontAlgn="base" latinLnBrk="0" hangingPunct="0">
              <a:lnSpc>
                <a:spcPct val="100000"/>
              </a:lnSpc>
              <a:spcBef>
                <a:spcPct val="0"/>
              </a:spcBef>
              <a:spcAft>
                <a:spcPct val="0"/>
              </a:spcAft>
              <a:buClrTx/>
              <a:buSzTx/>
              <a:buFontTx/>
              <a:buAutoNum type="arabicPeriod" startAt="4"/>
              <a:tabLst/>
            </a:pPr>
            <a:r>
              <a:rPr lang="en-US" dirty="0"/>
              <a:t>Choose best join or scan method</a:t>
            </a:r>
          </a:p>
          <a:p>
            <a:pPr marL="0" marR="0" lvl="0" indent="0" algn="l" defTabSz="914400" rtl="0" eaLnBrk="0" fontAlgn="base" latinLnBrk="0" hangingPunct="0">
              <a:lnSpc>
                <a:spcPct val="100000"/>
              </a:lnSpc>
              <a:spcBef>
                <a:spcPct val="0"/>
              </a:spcBef>
              <a:spcAft>
                <a:spcPct val="0"/>
              </a:spcAft>
              <a:buClrTx/>
              <a:buSzTx/>
              <a:buFontTx/>
              <a:buNone/>
              <a:tabLst/>
            </a:pPr>
            <a:r>
              <a:rPr lang="en-US" dirty="0"/>
              <a:t>Result → Fastest execution plan</a:t>
            </a:r>
          </a:p>
        </p:txBody>
      </p:sp>
    </p:spTree>
    <p:extLst>
      <p:ext uri="{BB962C8B-B14F-4D97-AF65-F5344CB8AC3E}">
        <p14:creationId xmlns:p14="http://schemas.microsoft.com/office/powerpoint/2010/main" val="2949738378"/>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8546" y="380276"/>
            <a:ext cx="11675918" cy="2954655"/>
          </a:xfrm>
          <a:prstGeom prst="rect">
            <a:avLst/>
          </a:prstGeom>
        </p:spPr>
        <p:txBody>
          <a:bodyPr wrap="square">
            <a:spAutoFit/>
          </a:bodyPr>
          <a:lstStyle/>
          <a:p>
            <a:pPr algn="ctr"/>
            <a:r>
              <a:rPr lang="en-US" sz="2400" b="1" dirty="0"/>
              <a:t>What is a Query Execution Plan?</a:t>
            </a:r>
          </a:p>
          <a:p>
            <a:endParaRPr lang="en-US" b="1" dirty="0"/>
          </a:p>
          <a:p>
            <a:r>
              <a:rPr lang="en-US" dirty="0"/>
              <a:t>A </a:t>
            </a:r>
            <a:r>
              <a:rPr lang="en-US" b="1" dirty="0"/>
              <a:t>Query Execution Plan (QEP)</a:t>
            </a:r>
            <a:r>
              <a:rPr lang="en-US" dirty="0"/>
              <a:t> is a </a:t>
            </a:r>
            <a:r>
              <a:rPr lang="en-US" b="1" dirty="0"/>
              <a:t>step-by-step blueprint</a:t>
            </a:r>
            <a:r>
              <a:rPr lang="en-US" dirty="0"/>
              <a:t> that shows </a:t>
            </a:r>
            <a:r>
              <a:rPr lang="en-US" b="1" dirty="0"/>
              <a:t>how the database will execute a SQL query</a:t>
            </a:r>
            <a:r>
              <a:rPr lang="en-US" dirty="0"/>
              <a:t>.</a:t>
            </a:r>
          </a:p>
          <a:p>
            <a:r>
              <a:rPr lang="en-US" dirty="0"/>
              <a:t>It is generated by the </a:t>
            </a:r>
            <a:r>
              <a:rPr lang="en-US" b="1" dirty="0"/>
              <a:t>Query Optimizer</a:t>
            </a:r>
            <a:r>
              <a:rPr lang="en-US" dirty="0"/>
              <a:t> and shows:</a:t>
            </a:r>
          </a:p>
          <a:p>
            <a:endParaRPr lang="en-US" dirty="0"/>
          </a:p>
          <a:p>
            <a:pPr>
              <a:buFont typeface="Arial" panose="020B0604020202020204" pitchFamily="34" charset="0"/>
              <a:buChar char="•"/>
            </a:pPr>
            <a:r>
              <a:rPr lang="en-US" dirty="0"/>
              <a:t>Which operations will be used</a:t>
            </a:r>
          </a:p>
          <a:p>
            <a:pPr>
              <a:buFont typeface="Arial" panose="020B0604020202020204" pitchFamily="34" charset="0"/>
              <a:buChar char="•"/>
            </a:pPr>
            <a:r>
              <a:rPr lang="en-US" dirty="0"/>
              <a:t>In what order</a:t>
            </a:r>
          </a:p>
          <a:p>
            <a:pPr>
              <a:buFont typeface="Arial" panose="020B0604020202020204" pitchFamily="34" charset="0"/>
              <a:buChar char="•"/>
            </a:pPr>
            <a:r>
              <a:rPr lang="en-US" dirty="0"/>
              <a:t>Which indexes or join methods will be chosen</a:t>
            </a:r>
          </a:p>
          <a:p>
            <a:pPr>
              <a:buFont typeface="Arial" panose="020B0604020202020204" pitchFamily="34" charset="0"/>
              <a:buChar char="•"/>
            </a:pPr>
            <a:r>
              <a:rPr lang="en-US" dirty="0"/>
              <a:t>Estimated cost of each step</a:t>
            </a:r>
          </a:p>
          <a:p>
            <a:r>
              <a:rPr lang="en-US" dirty="0"/>
              <a:t>Think of it as the </a:t>
            </a:r>
            <a:r>
              <a:rPr lang="en-US" b="1" dirty="0"/>
              <a:t>roadmap</a:t>
            </a:r>
            <a:r>
              <a:rPr lang="en-US" dirty="0"/>
              <a:t> for executing a query efficiently.</a:t>
            </a:r>
          </a:p>
        </p:txBody>
      </p:sp>
      <p:sp>
        <p:nvSpPr>
          <p:cNvPr id="3" name="Rectangle 2"/>
          <p:cNvSpPr/>
          <p:nvPr/>
        </p:nvSpPr>
        <p:spPr>
          <a:xfrm>
            <a:off x="138546" y="3383248"/>
            <a:ext cx="10855036" cy="2308324"/>
          </a:xfrm>
          <a:prstGeom prst="rect">
            <a:avLst/>
          </a:prstGeom>
        </p:spPr>
        <p:txBody>
          <a:bodyPr wrap="square">
            <a:spAutoFit/>
          </a:bodyPr>
          <a:lstStyle/>
          <a:p>
            <a:r>
              <a:rPr lang="en-US" b="1" dirty="0"/>
              <a:t>Why is a Query Execution Plan needed?</a:t>
            </a:r>
          </a:p>
          <a:p>
            <a:r>
              <a:rPr lang="en-US" dirty="0"/>
              <a:t>Because a single SQL query can be executed in </a:t>
            </a:r>
            <a:r>
              <a:rPr lang="en-US" b="1" dirty="0"/>
              <a:t>many ways</a:t>
            </a:r>
            <a:r>
              <a:rPr lang="en-US" dirty="0"/>
              <a:t>.</a:t>
            </a:r>
          </a:p>
          <a:p>
            <a:r>
              <a:rPr lang="en-US" dirty="0"/>
              <a:t>Example:</a:t>
            </a:r>
          </a:p>
          <a:p>
            <a:pPr>
              <a:buFont typeface="Arial" panose="020B0604020202020204" pitchFamily="34" charset="0"/>
              <a:buChar char="•"/>
            </a:pPr>
            <a:r>
              <a:rPr lang="en-US" dirty="0"/>
              <a:t>Use index or scan the whole table?</a:t>
            </a:r>
          </a:p>
          <a:p>
            <a:pPr>
              <a:buFont typeface="Arial" panose="020B0604020202020204" pitchFamily="34" charset="0"/>
              <a:buChar char="•"/>
            </a:pPr>
            <a:r>
              <a:rPr lang="en-US" dirty="0"/>
              <a:t>Join using nested loop, hash join, or sort-merge join?</a:t>
            </a:r>
          </a:p>
          <a:p>
            <a:pPr>
              <a:buFont typeface="Arial" panose="020B0604020202020204" pitchFamily="34" charset="0"/>
              <a:buChar char="•"/>
            </a:pPr>
            <a:r>
              <a:rPr lang="en-US" dirty="0"/>
              <a:t>Which table to join first?</a:t>
            </a:r>
          </a:p>
          <a:p>
            <a:pPr>
              <a:buFont typeface="Arial" panose="020B0604020202020204" pitchFamily="34" charset="0"/>
              <a:buChar char="•"/>
            </a:pPr>
            <a:r>
              <a:rPr lang="en-US" dirty="0"/>
              <a:t>How to push selections/projections?</a:t>
            </a:r>
          </a:p>
          <a:p>
            <a:r>
              <a:rPr lang="en-US" dirty="0"/>
              <a:t>The plan helps the DBMS choose the </a:t>
            </a:r>
            <a:r>
              <a:rPr lang="en-US" b="1" dirty="0"/>
              <a:t>fastest</a:t>
            </a:r>
            <a:r>
              <a:rPr lang="en-US" dirty="0"/>
              <a:t> and </a:t>
            </a:r>
            <a:r>
              <a:rPr lang="en-US" b="1" dirty="0"/>
              <a:t>lowest-cost</a:t>
            </a:r>
            <a:r>
              <a:rPr lang="en-US" dirty="0"/>
              <a:t> method.</a:t>
            </a:r>
          </a:p>
        </p:txBody>
      </p:sp>
    </p:spTree>
    <p:extLst>
      <p:ext uri="{BB962C8B-B14F-4D97-AF65-F5344CB8AC3E}">
        <p14:creationId xmlns:p14="http://schemas.microsoft.com/office/powerpoint/2010/main" val="2551737771"/>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616527" y="540109"/>
            <a:ext cx="9182100" cy="5355312"/>
          </a:xfrm>
          <a:prstGeom prst="rect">
            <a:avLst/>
          </a:prstGeom>
        </p:spPr>
        <p:txBody>
          <a:bodyPr wrap="square">
            <a:spAutoFit/>
          </a:bodyPr>
          <a:lstStyle/>
          <a:p>
            <a:r>
              <a:rPr lang="en-US" b="1" dirty="0"/>
              <a:t>How is a Query Execution Plan created?</a:t>
            </a:r>
          </a:p>
          <a:p>
            <a:pPr>
              <a:buFont typeface="+mj-lt"/>
              <a:buAutoNum type="arabicPeriod"/>
            </a:pPr>
            <a:r>
              <a:rPr lang="en-US" b="1" dirty="0"/>
              <a:t>Parsing</a:t>
            </a:r>
            <a:br>
              <a:rPr lang="en-US" dirty="0"/>
            </a:br>
            <a:r>
              <a:rPr lang="en-US" dirty="0"/>
              <a:t>The SQL query is checked for syntax errors.</a:t>
            </a:r>
          </a:p>
          <a:p>
            <a:pPr>
              <a:buFont typeface="+mj-lt"/>
              <a:buAutoNum type="arabicPeriod"/>
            </a:pPr>
            <a:r>
              <a:rPr lang="en-US" b="1" dirty="0"/>
              <a:t>Logical Plan Generation</a:t>
            </a:r>
            <a:br>
              <a:rPr lang="en-US" dirty="0"/>
            </a:br>
            <a:r>
              <a:rPr lang="en-US" dirty="0"/>
              <a:t>Query is converted into relational algebra (e.g., σ, π, ⋈).</a:t>
            </a:r>
          </a:p>
          <a:p>
            <a:pPr>
              <a:buFont typeface="+mj-lt"/>
              <a:buAutoNum type="arabicPeriod"/>
            </a:pPr>
            <a:r>
              <a:rPr lang="en-US" b="1" dirty="0"/>
              <a:t>Query Optimization</a:t>
            </a:r>
            <a:br>
              <a:rPr lang="en-US" dirty="0"/>
            </a:br>
            <a:r>
              <a:rPr lang="en-US" dirty="0"/>
              <a:t>Many possible plans are generated using:</a:t>
            </a:r>
          </a:p>
          <a:p>
            <a:pPr marL="742950" lvl="1" indent="-285750">
              <a:buFont typeface="+mj-lt"/>
              <a:buAutoNum type="arabicPeriod"/>
            </a:pPr>
            <a:r>
              <a:rPr lang="en-US" dirty="0"/>
              <a:t>join commutativity</a:t>
            </a:r>
          </a:p>
          <a:p>
            <a:pPr marL="742950" lvl="1" indent="-285750">
              <a:buFont typeface="+mj-lt"/>
              <a:buAutoNum type="arabicPeriod"/>
            </a:pPr>
            <a:r>
              <a:rPr lang="en-US" dirty="0"/>
              <a:t>join associativity</a:t>
            </a:r>
          </a:p>
          <a:p>
            <a:pPr marL="742950" lvl="1" indent="-285750">
              <a:buFont typeface="+mj-lt"/>
              <a:buAutoNum type="arabicPeriod"/>
            </a:pPr>
            <a:r>
              <a:rPr lang="en-US" dirty="0"/>
              <a:t>selection pushdown</a:t>
            </a:r>
          </a:p>
          <a:p>
            <a:pPr marL="742950" lvl="1" indent="-285750">
              <a:buFont typeface="+mj-lt"/>
              <a:buAutoNum type="arabicPeriod"/>
            </a:pPr>
            <a:r>
              <a:rPr lang="en-US" dirty="0"/>
              <a:t>projection pushdown</a:t>
            </a:r>
          </a:p>
          <a:p>
            <a:pPr>
              <a:buFont typeface="+mj-lt"/>
              <a:buAutoNum type="arabicPeriod"/>
            </a:pPr>
            <a:r>
              <a:rPr lang="en-US" b="1" dirty="0"/>
              <a:t>Cost Estimation</a:t>
            </a:r>
            <a:br>
              <a:rPr lang="en-US" dirty="0"/>
            </a:br>
            <a:r>
              <a:rPr lang="en-US" dirty="0"/>
              <a:t>Each possible plan gets an estimated cost based on:</a:t>
            </a:r>
          </a:p>
          <a:p>
            <a:pPr marL="742950" lvl="1" indent="-285750">
              <a:buFont typeface="+mj-lt"/>
              <a:buAutoNum type="arabicPeriod"/>
            </a:pPr>
            <a:r>
              <a:rPr lang="en-US" dirty="0"/>
              <a:t>number of disk I/Os</a:t>
            </a:r>
          </a:p>
          <a:p>
            <a:pPr marL="742950" lvl="1" indent="-285750">
              <a:buFont typeface="+mj-lt"/>
              <a:buAutoNum type="arabicPeriod"/>
            </a:pPr>
            <a:r>
              <a:rPr lang="en-US" dirty="0"/>
              <a:t>CPU usage</a:t>
            </a:r>
          </a:p>
          <a:p>
            <a:pPr marL="742950" lvl="1" indent="-285750">
              <a:buFont typeface="+mj-lt"/>
              <a:buAutoNum type="arabicPeriod"/>
            </a:pPr>
            <a:r>
              <a:rPr lang="en-US" dirty="0"/>
              <a:t>size of intermediate results</a:t>
            </a:r>
          </a:p>
          <a:p>
            <a:pPr marL="742950" lvl="1" indent="-285750">
              <a:buFont typeface="+mj-lt"/>
              <a:buAutoNum type="arabicPeriod"/>
            </a:pPr>
            <a:r>
              <a:rPr lang="en-US" dirty="0"/>
              <a:t>available indexes</a:t>
            </a:r>
          </a:p>
          <a:p>
            <a:pPr>
              <a:buFont typeface="+mj-lt"/>
              <a:buAutoNum type="arabicPeriod"/>
            </a:pPr>
            <a:r>
              <a:rPr lang="en-US" b="1" dirty="0"/>
              <a:t>Best Plan Selected</a:t>
            </a:r>
            <a:br>
              <a:rPr lang="en-US" dirty="0"/>
            </a:br>
            <a:r>
              <a:rPr lang="en-US" dirty="0"/>
              <a:t>The plan with the </a:t>
            </a:r>
            <a:r>
              <a:rPr lang="en-US" b="1" dirty="0"/>
              <a:t>lowest estimated cost</a:t>
            </a:r>
            <a:r>
              <a:rPr lang="en-US" dirty="0"/>
              <a:t> becomes the </a:t>
            </a:r>
            <a:r>
              <a:rPr lang="en-US" b="1" dirty="0"/>
              <a:t>Execution Plan</a:t>
            </a:r>
            <a:r>
              <a:rPr lang="en-US" dirty="0"/>
              <a:t>.</a:t>
            </a:r>
          </a:p>
        </p:txBody>
      </p:sp>
    </p:spTree>
    <p:extLst>
      <p:ext uri="{BB962C8B-B14F-4D97-AF65-F5344CB8AC3E}">
        <p14:creationId xmlns:p14="http://schemas.microsoft.com/office/powerpoint/2010/main" val="3639092011"/>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08709" y="487326"/>
            <a:ext cx="6096000" cy="646331"/>
          </a:xfrm>
          <a:prstGeom prst="rect">
            <a:avLst/>
          </a:prstGeom>
        </p:spPr>
        <p:txBody>
          <a:bodyPr>
            <a:spAutoFit/>
          </a:bodyPr>
          <a:lstStyle/>
          <a:p>
            <a:r>
              <a:rPr lang="en-US" b="1" dirty="0"/>
              <a:t>What does an Execution Plan contain?</a:t>
            </a:r>
          </a:p>
          <a:p>
            <a:r>
              <a:rPr lang="en-US" dirty="0"/>
              <a:t>A QEP includes:</a:t>
            </a:r>
          </a:p>
        </p:txBody>
      </p:sp>
      <p:graphicFrame>
        <p:nvGraphicFramePr>
          <p:cNvPr id="3" name="Table 2"/>
          <p:cNvGraphicFramePr>
            <a:graphicFrameLocks noGrp="1"/>
          </p:cNvGraphicFramePr>
          <p:nvPr/>
        </p:nvGraphicFramePr>
        <p:xfrm>
          <a:off x="408709" y="1561508"/>
          <a:ext cx="10515600" cy="3200400"/>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0">
                <a:tc>
                  <a:txBody>
                    <a:bodyPr/>
                    <a:lstStyle/>
                    <a:p>
                      <a:r>
                        <a:rPr lang="en-IN" dirty="0"/>
                        <a:t>Component</a:t>
                      </a:r>
                    </a:p>
                  </a:txBody>
                  <a:tcPr anchor="ctr">
                    <a:lnL>
                      <a:noFill/>
                    </a:lnL>
                    <a:lnR>
                      <a:noFill/>
                    </a:lnR>
                    <a:lnT>
                      <a:noFill/>
                    </a:lnT>
                    <a:lnB>
                      <a:noFill/>
                    </a:lnB>
                  </a:tcPr>
                </a:tc>
                <a:tc>
                  <a:txBody>
                    <a:bodyPr/>
                    <a:lstStyle/>
                    <a:p>
                      <a:r>
                        <a:rPr lang="en-IN" dirty="0"/>
                        <a:t>Meaning</a:t>
                      </a:r>
                    </a:p>
                  </a:txBody>
                  <a:tcPr anchor="ctr">
                    <a:lnL>
                      <a:noFill/>
                    </a:lnL>
                    <a:lnR>
                      <a:noFill/>
                    </a:lnR>
                    <a:lnT>
                      <a:noFill/>
                    </a:lnT>
                    <a:lnB>
                      <a:noFill/>
                    </a:lnB>
                  </a:tcPr>
                </a:tc>
                <a:extLst>
                  <a:ext uri="{0D108BD9-81ED-4DB2-BD59-A6C34878D82A}">
                    <a16:rowId xmlns:a16="http://schemas.microsoft.com/office/drawing/2014/main" val="10000"/>
                  </a:ext>
                </a:extLst>
              </a:tr>
              <a:tr h="0">
                <a:tc>
                  <a:txBody>
                    <a:bodyPr/>
                    <a:lstStyle/>
                    <a:p>
                      <a:r>
                        <a:rPr lang="en-IN" b="1" dirty="0"/>
                        <a:t>Access Path</a:t>
                      </a:r>
                      <a:endParaRPr lang="en-IN" dirty="0"/>
                    </a:p>
                  </a:txBody>
                  <a:tcPr anchor="ctr">
                    <a:lnL>
                      <a:noFill/>
                    </a:lnL>
                    <a:lnR>
                      <a:noFill/>
                    </a:lnR>
                    <a:lnT>
                      <a:noFill/>
                    </a:lnT>
                    <a:lnB>
                      <a:noFill/>
                    </a:lnB>
                  </a:tcPr>
                </a:tc>
                <a:tc>
                  <a:txBody>
                    <a:bodyPr/>
                    <a:lstStyle/>
                    <a:p>
                      <a:r>
                        <a:rPr lang="en-US" dirty="0"/>
                        <a:t>How the table is accessed (index scan or full scan)</a:t>
                      </a:r>
                    </a:p>
                  </a:txBody>
                  <a:tcPr anchor="ctr">
                    <a:lnL>
                      <a:noFill/>
                    </a:lnL>
                    <a:lnR>
                      <a:noFill/>
                    </a:lnR>
                    <a:lnT>
                      <a:noFill/>
                    </a:lnT>
                    <a:lnB>
                      <a:noFill/>
                    </a:lnB>
                  </a:tcPr>
                </a:tc>
                <a:extLst>
                  <a:ext uri="{0D108BD9-81ED-4DB2-BD59-A6C34878D82A}">
                    <a16:rowId xmlns:a16="http://schemas.microsoft.com/office/drawing/2014/main" val="10001"/>
                  </a:ext>
                </a:extLst>
              </a:tr>
              <a:tr h="0">
                <a:tc>
                  <a:txBody>
                    <a:bodyPr/>
                    <a:lstStyle/>
                    <a:p>
                      <a:r>
                        <a:rPr lang="en-IN" b="1" dirty="0"/>
                        <a:t>Join Order</a:t>
                      </a:r>
                      <a:endParaRPr lang="en-IN" dirty="0"/>
                    </a:p>
                  </a:txBody>
                  <a:tcPr anchor="ctr">
                    <a:lnL>
                      <a:noFill/>
                    </a:lnL>
                    <a:lnR>
                      <a:noFill/>
                    </a:lnR>
                    <a:lnT>
                      <a:noFill/>
                    </a:lnT>
                    <a:lnB>
                      <a:noFill/>
                    </a:lnB>
                  </a:tcPr>
                </a:tc>
                <a:tc>
                  <a:txBody>
                    <a:bodyPr/>
                    <a:lstStyle/>
                    <a:p>
                      <a:r>
                        <a:rPr lang="en-US" dirty="0"/>
                        <a:t>Which table is joined first</a:t>
                      </a:r>
                    </a:p>
                  </a:txBody>
                  <a:tcPr anchor="ctr">
                    <a:lnL>
                      <a:noFill/>
                    </a:lnL>
                    <a:lnR>
                      <a:noFill/>
                    </a:lnR>
                    <a:lnT>
                      <a:noFill/>
                    </a:lnT>
                    <a:lnB>
                      <a:noFill/>
                    </a:lnB>
                  </a:tcPr>
                </a:tc>
                <a:extLst>
                  <a:ext uri="{0D108BD9-81ED-4DB2-BD59-A6C34878D82A}">
                    <a16:rowId xmlns:a16="http://schemas.microsoft.com/office/drawing/2014/main" val="10002"/>
                  </a:ext>
                </a:extLst>
              </a:tr>
              <a:tr h="0">
                <a:tc>
                  <a:txBody>
                    <a:bodyPr/>
                    <a:lstStyle/>
                    <a:p>
                      <a:r>
                        <a:rPr lang="en-IN" b="1" dirty="0"/>
                        <a:t>Join Method</a:t>
                      </a:r>
                      <a:endParaRPr lang="en-IN" dirty="0"/>
                    </a:p>
                  </a:txBody>
                  <a:tcPr anchor="ctr">
                    <a:lnL>
                      <a:noFill/>
                    </a:lnL>
                    <a:lnR>
                      <a:noFill/>
                    </a:lnR>
                    <a:lnT>
                      <a:noFill/>
                    </a:lnT>
                    <a:lnB>
                      <a:noFill/>
                    </a:lnB>
                  </a:tcPr>
                </a:tc>
                <a:tc>
                  <a:txBody>
                    <a:bodyPr/>
                    <a:lstStyle/>
                    <a:p>
                      <a:r>
                        <a:rPr lang="en-US" dirty="0"/>
                        <a:t>Nested loop, hash join, sort-merge join</a:t>
                      </a:r>
                    </a:p>
                  </a:txBody>
                  <a:tcPr anchor="ctr">
                    <a:lnL>
                      <a:noFill/>
                    </a:lnL>
                    <a:lnR>
                      <a:noFill/>
                    </a:lnR>
                    <a:lnT>
                      <a:noFill/>
                    </a:lnT>
                    <a:lnB>
                      <a:noFill/>
                    </a:lnB>
                  </a:tcPr>
                </a:tc>
                <a:extLst>
                  <a:ext uri="{0D108BD9-81ED-4DB2-BD59-A6C34878D82A}">
                    <a16:rowId xmlns:a16="http://schemas.microsoft.com/office/drawing/2014/main" val="10003"/>
                  </a:ext>
                </a:extLst>
              </a:tr>
              <a:tr h="0">
                <a:tc>
                  <a:txBody>
                    <a:bodyPr/>
                    <a:lstStyle/>
                    <a:p>
                      <a:r>
                        <a:rPr lang="en-IN" b="1" dirty="0"/>
                        <a:t>Predicate pushdown</a:t>
                      </a:r>
                      <a:endParaRPr lang="en-IN" dirty="0"/>
                    </a:p>
                  </a:txBody>
                  <a:tcPr anchor="ctr">
                    <a:lnL>
                      <a:noFill/>
                    </a:lnL>
                    <a:lnR>
                      <a:noFill/>
                    </a:lnR>
                    <a:lnT>
                      <a:noFill/>
                    </a:lnT>
                    <a:lnB>
                      <a:noFill/>
                    </a:lnB>
                  </a:tcPr>
                </a:tc>
                <a:tc>
                  <a:txBody>
                    <a:bodyPr/>
                    <a:lstStyle/>
                    <a:p>
                      <a:r>
                        <a:rPr lang="en-IN" dirty="0"/>
                        <a:t>Applying filters early</a:t>
                      </a:r>
                    </a:p>
                  </a:txBody>
                  <a:tcPr anchor="ctr">
                    <a:lnL>
                      <a:noFill/>
                    </a:lnL>
                    <a:lnR>
                      <a:noFill/>
                    </a:lnR>
                    <a:lnT>
                      <a:noFill/>
                    </a:lnT>
                    <a:lnB>
                      <a:noFill/>
                    </a:lnB>
                  </a:tcPr>
                </a:tc>
                <a:extLst>
                  <a:ext uri="{0D108BD9-81ED-4DB2-BD59-A6C34878D82A}">
                    <a16:rowId xmlns:a16="http://schemas.microsoft.com/office/drawing/2014/main" val="10004"/>
                  </a:ext>
                </a:extLst>
              </a:tr>
              <a:tr h="0">
                <a:tc>
                  <a:txBody>
                    <a:bodyPr/>
                    <a:lstStyle/>
                    <a:p>
                      <a:r>
                        <a:rPr lang="en-IN" b="1" dirty="0"/>
                        <a:t>Projection pushdown</a:t>
                      </a:r>
                      <a:endParaRPr lang="en-IN" dirty="0"/>
                    </a:p>
                  </a:txBody>
                  <a:tcPr anchor="ctr">
                    <a:lnL>
                      <a:noFill/>
                    </a:lnL>
                    <a:lnR>
                      <a:noFill/>
                    </a:lnR>
                    <a:lnT>
                      <a:noFill/>
                    </a:lnT>
                    <a:lnB>
                      <a:noFill/>
                    </a:lnB>
                  </a:tcPr>
                </a:tc>
                <a:tc>
                  <a:txBody>
                    <a:bodyPr/>
                    <a:lstStyle/>
                    <a:p>
                      <a:r>
                        <a:rPr lang="en-US" dirty="0"/>
                        <a:t>Selecting only required columns early</a:t>
                      </a:r>
                    </a:p>
                  </a:txBody>
                  <a:tcPr anchor="ctr">
                    <a:lnL>
                      <a:noFill/>
                    </a:lnL>
                    <a:lnR>
                      <a:noFill/>
                    </a:lnR>
                    <a:lnT>
                      <a:noFill/>
                    </a:lnT>
                    <a:lnB>
                      <a:noFill/>
                    </a:lnB>
                  </a:tcPr>
                </a:tc>
                <a:extLst>
                  <a:ext uri="{0D108BD9-81ED-4DB2-BD59-A6C34878D82A}">
                    <a16:rowId xmlns:a16="http://schemas.microsoft.com/office/drawing/2014/main" val="10005"/>
                  </a:ext>
                </a:extLst>
              </a:tr>
              <a:tr h="0">
                <a:tc>
                  <a:txBody>
                    <a:bodyPr/>
                    <a:lstStyle/>
                    <a:p>
                      <a:r>
                        <a:rPr lang="en-IN" b="1" dirty="0"/>
                        <a:t>Estimated cost</a:t>
                      </a:r>
                      <a:endParaRPr lang="en-IN" dirty="0"/>
                    </a:p>
                  </a:txBody>
                  <a:tcPr anchor="ctr">
                    <a:lnL>
                      <a:noFill/>
                    </a:lnL>
                    <a:lnR>
                      <a:noFill/>
                    </a:lnR>
                    <a:lnT>
                      <a:noFill/>
                    </a:lnT>
                    <a:lnB>
                      <a:noFill/>
                    </a:lnB>
                  </a:tcPr>
                </a:tc>
                <a:tc>
                  <a:txBody>
                    <a:bodyPr/>
                    <a:lstStyle/>
                    <a:p>
                      <a:r>
                        <a:rPr lang="en-IN" dirty="0"/>
                        <a:t>Approx disk + CPU cost</a:t>
                      </a:r>
                    </a:p>
                  </a:txBody>
                  <a:tcPr anchor="ctr">
                    <a:lnL>
                      <a:noFill/>
                    </a:lnL>
                    <a:lnR>
                      <a:noFill/>
                    </a:lnR>
                    <a:lnT>
                      <a:noFill/>
                    </a:lnT>
                    <a:lnB>
                      <a:noFill/>
                    </a:lnB>
                  </a:tcPr>
                </a:tc>
                <a:extLst>
                  <a:ext uri="{0D108BD9-81ED-4DB2-BD59-A6C34878D82A}">
                    <a16:rowId xmlns:a16="http://schemas.microsoft.com/office/drawing/2014/main" val="10006"/>
                  </a:ext>
                </a:extLst>
              </a:tr>
              <a:tr h="0">
                <a:tc>
                  <a:txBody>
                    <a:bodyPr/>
                    <a:lstStyle/>
                    <a:p>
                      <a:r>
                        <a:rPr lang="en-IN" b="1" dirty="0"/>
                        <a:t>Estimated cardinality</a:t>
                      </a:r>
                      <a:endParaRPr lang="en-IN" dirty="0"/>
                    </a:p>
                  </a:txBody>
                  <a:tcPr anchor="ctr">
                    <a:lnL>
                      <a:noFill/>
                    </a:lnL>
                    <a:lnR>
                      <a:noFill/>
                    </a:lnR>
                    <a:lnT>
                      <a:noFill/>
                    </a:lnT>
                    <a:lnB>
                      <a:noFill/>
                    </a:lnB>
                  </a:tcPr>
                </a:tc>
                <a:tc>
                  <a:txBody>
                    <a:bodyPr/>
                    <a:lstStyle/>
                    <a:p>
                      <a:r>
                        <a:rPr lang="en-IN" dirty="0"/>
                        <a:t>Number of rows expected</a:t>
                      </a:r>
                    </a:p>
                  </a:txBody>
                  <a:tcPr anchor="ctr">
                    <a:lnL>
                      <a:noFill/>
                    </a:lnL>
                    <a:lnR>
                      <a:noFill/>
                    </a:lnR>
                    <a:lnT>
                      <a:noFill/>
                    </a:lnT>
                    <a:lnB>
                      <a:noFill/>
                    </a:lnB>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140686232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85452" y="418006"/>
            <a:ext cx="3440878" cy="369332"/>
          </a:xfrm>
          <a:prstGeom prst="rect">
            <a:avLst/>
          </a:prstGeom>
        </p:spPr>
        <p:txBody>
          <a:bodyPr wrap="none">
            <a:spAutoFit/>
          </a:bodyPr>
          <a:lstStyle/>
          <a:p>
            <a:r>
              <a:rPr lang="en-US" dirty="0"/>
              <a:t>Example of a Query Execution Plan</a:t>
            </a:r>
            <a:endParaRPr lang="en-IN" dirty="0"/>
          </a:p>
        </p:txBody>
      </p:sp>
      <p:sp>
        <p:nvSpPr>
          <p:cNvPr id="3" name="Rectangle 2"/>
          <p:cNvSpPr/>
          <p:nvPr/>
        </p:nvSpPr>
        <p:spPr>
          <a:xfrm>
            <a:off x="512618" y="1342936"/>
            <a:ext cx="10075717" cy="1200329"/>
          </a:xfrm>
          <a:prstGeom prst="rect">
            <a:avLst/>
          </a:prstGeom>
        </p:spPr>
        <p:txBody>
          <a:bodyPr wrap="square">
            <a:spAutoFit/>
          </a:bodyPr>
          <a:lstStyle/>
          <a:p>
            <a:r>
              <a:rPr lang="en-IN" dirty="0"/>
              <a:t>SELECT E.name, D.departmentName </a:t>
            </a:r>
          </a:p>
          <a:p>
            <a:r>
              <a:rPr lang="en-IN" dirty="0"/>
              <a:t>FROM Employee E </a:t>
            </a:r>
          </a:p>
          <a:p>
            <a:r>
              <a:rPr lang="en-IN" dirty="0"/>
              <a:t>JOIN Department D ON E.deptId = D.id </a:t>
            </a:r>
          </a:p>
          <a:p>
            <a:r>
              <a:rPr lang="en-IN" dirty="0"/>
              <a:t>WHERE salary &gt; 50000;</a:t>
            </a:r>
          </a:p>
        </p:txBody>
      </p:sp>
      <p:sp>
        <p:nvSpPr>
          <p:cNvPr id="4" name="Rectangle 3"/>
          <p:cNvSpPr/>
          <p:nvPr/>
        </p:nvSpPr>
        <p:spPr>
          <a:xfrm>
            <a:off x="512617" y="3098863"/>
            <a:ext cx="8870373" cy="1200329"/>
          </a:xfrm>
          <a:prstGeom prst="rect">
            <a:avLst/>
          </a:prstGeom>
        </p:spPr>
        <p:txBody>
          <a:bodyPr wrap="square">
            <a:spAutoFit/>
          </a:bodyPr>
          <a:lstStyle/>
          <a:p>
            <a:r>
              <a:rPr lang="en-US" dirty="0"/>
              <a:t>A possible plan:</a:t>
            </a:r>
          </a:p>
          <a:p>
            <a:pPr>
              <a:buFont typeface="+mj-lt"/>
              <a:buAutoNum type="arabicPeriod"/>
            </a:pPr>
            <a:r>
              <a:rPr lang="en-US" b="1" dirty="0"/>
              <a:t>Index Scan on Employee(salary)</a:t>
            </a:r>
            <a:r>
              <a:rPr lang="en-US" dirty="0"/>
              <a:t> – apply salary filter</a:t>
            </a:r>
          </a:p>
          <a:p>
            <a:pPr>
              <a:buFont typeface="+mj-lt"/>
              <a:buAutoNum type="arabicPeriod"/>
            </a:pPr>
            <a:r>
              <a:rPr lang="en-US" b="1" dirty="0"/>
              <a:t>Hash Join</a:t>
            </a:r>
            <a:r>
              <a:rPr lang="en-US" dirty="0"/>
              <a:t> Employee with Department</a:t>
            </a:r>
          </a:p>
          <a:p>
            <a:pPr>
              <a:buFont typeface="+mj-lt"/>
              <a:buAutoNum type="arabicPeriod"/>
            </a:pPr>
            <a:r>
              <a:rPr lang="en-US" b="1" dirty="0"/>
              <a:t>Projection</a:t>
            </a:r>
            <a:r>
              <a:rPr lang="en-US" dirty="0"/>
              <a:t> – pick only required columns</a:t>
            </a:r>
          </a:p>
        </p:txBody>
      </p:sp>
    </p:spTree>
    <p:extLst>
      <p:ext uri="{BB962C8B-B14F-4D97-AF65-F5344CB8AC3E}">
        <p14:creationId xmlns:p14="http://schemas.microsoft.com/office/powerpoint/2010/main" val="704797844"/>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936563" y="407615"/>
            <a:ext cx="3107582" cy="369332"/>
          </a:xfrm>
          <a:prstGeom prst="rect">
            <a:avLst/>
          </a:prstGeom>
        </p:spPr>
        <p:txBody>
          <a:bodyPr wrap="none">
            <a:spAutoFit/>
          </a:bodyPr>
          <a:lstStyle/>
          <a:p>
            <a:r>
              <a:rPr lang="en-US" dirty="0"/>
              <a:t>Types of Query Execution Plans</a:t>
            </a:r>
            <a:endParaRPr lang="en-IN" dirty="0"/>
          </a:p>
        </p:txBody>
      </p:sp>
      <p:sp>
        <p:nvSpPr>
          <p:cNvPr id="3" name="Rectangle 2"/>
          <p:cNvSpPr/>
          <p:nvPr/>
        </p:nvSpPr>
        <p:spPr>
          <a:xfrm>
            <a:off x="606135" y="1069907"/>
            <a:ext cx="10584873" cy="3693319"/>
          </a:xfrm>
          <a:prstGeom prst="rect">
            <a:avLst/>
          </a:prstGeom>
        </p:spPr>
        <p:txBody>
          <a:bodyPr wrap="square">
            <a:spAutoFit/>
          </a:bodyPr>
          <a:lstStyle/>
          <a:p>
            <a:r>
              <a:rPr lang="en-US" b="1" dirty="0"/>
              <a:t>1. Logical Query Plan</a:t>
            </a:r>
          </a:p>
          <a:p>
            <a:r>
              <a:rPr lang="en-US" dirty="0"/>
              <a:t>It represents the query using </a:t>
            </a:r>
            <a:r>
              <a:rPr lang="en-US" b="1" dirty="0"/>
              <a:t>relational algebra operations</a:t>
            </a:r>
            <a:r>
              <a:rPr lang="en-US" dirty="0"/>
              <a:t> like selection, projection, and join.</a:t>
            </a:r>
            <a:br>
              <a:rPr lang="en-US" dirty="0"/>
            </a:br>
            <a:r>
              <a:rPr lang="en-US" dirty="0"/>
              <a:t>It focuses on </a:t>
            </a:r>
            <a:r>
              <a:rPr lang="en-US" i="1" dirty="0"/>
              <a:t>what</a:t>
            </a:r>
            <a:r>
              <a:rPr lang="en-US" dirty="0"/>
              <a:t> operations will be performed, not </a:t>
            </a:r>
            <a:r>
              <a:rPr lang="en-US" i="1" dirty="0"/>
              <a:t>how</a:t>
            </a:r>
            <a:r>
              <a:rPr lang="en-US" dirty="0"/>
              <a:t> they will be executed.</a:t>
            </a:r>
          </a:p>
          <a:p>
            <a:r>
              <a:rPr lang="en-US" b="1" dirty="0"/>
              <a:t>2. Physical Query Plan</a:t>
            </a:r>
          </a:p>
          <a:p>
            <a:r>
              <a:rPr lang="en-US" dirty="0"/>
              <a:t>This plan specifies the </a:t>
            </a:r>
            <a:r>
              <a:rPr lang="en-US" b="1" dirty="0"/>
              <a:t>actual algorithms and access methods</a:t>
            </a:r>
            <a:r>
              <a:rPr lang="en-US" dirty="0"/>
              <a:t> (index scan, hash join, sort) used to execute the query.</a:t>
            </a:r>
            <a:br>
              <a:rPr lang="en-US" dirty="0"/>
            </a:br>
            <a:r>
              <a:rPr lang="en-US" dirty="0"/>
              <a:t>It shows </a:t>
            </a:r>
            <a:r>
              <a:rPr lang="en-US" i="1" dirty="0"/>
              <a:t>how</a:t>
            </a:r>
            <a:r>
              <a:rPr lang="en-US" dirty="0"/>
              <a:t> the DBMS will perform each operation physically.</a:t>
            </a:r>
          </a:p>
          <a:p>
            <a:r>
              <a:rPr lang="en-US" b="1" dirty="0"/>
              <a:t>3. Estimated Execution Plan</a:t>
            </a:r>
          </a:p>
          <a:p>
            <a:r>
              <a:rPr lang="en-US" dirty="0"/>
              <a:t>Generated before running the query, it provides </a:t>
            </a:r>
            <a:r>
              <a:rPr lang="en-US" b="1" dirty="0"/>
              <a:t>estimated cost, cardinality, and chosen operations</a:t>
            </a:r>
            <a:r>
              <a:rPr lang="en-US" dirty="0"/>
              <a:t>.</a:t>
            </a:r>
            <a:br>
              <a:rPr lang="en-US" dirty="0"/>
            </a:br>
            <a:r>
              <a:rPr lang="en-US" dirty="0"/>
              <a:t>It helps predict query performance without executing it.</a:t>
            </a:r>
          </a:p>
          <a:p>
            <a:r>
              <a:rPr lang="en-US" b="1" dirty="0"/>
              <a:t>4. Actual Execution Plan</a:t>
            </a:r>
          </a:p>
          <a:p>
            <a:r>
              <a:rPr lang="en-US" dirty="0"/>
              <a:t>Produced after running the query, showing the </a:t>
            </a:r>
            <a:r>
              <a:rPr lang="en-US" b="1" dirty="0"/>
              <a:t>real cost, row counts, and actual operations used</a:t>
            </a:r>
            <a:r>
              <a:rPr lang="en-US" dirty="0"/>
              <a:t>.</a:t>
            </a:r>
            <a:br>
              <a:rPr lang="en-US" dirty="0"/>
            </a:br>
            <a:r>
              <a:rPr lang="en-US" dirty="0"/>
              <a:t>It is used for performance debugging and tuning.</a:t>
            </a:r>
          </a:p>
        </p:txBody>
      </p:sp>
    </p:spTree>
    <p:extLst>
      <p:ext uri="{BB962C8B-B14F-4D97-AF65-F5344CB8AC3E}">
        <p14:creationId xmlns:p14="http://schemas.microsoft.com/office/powerpoint/2010/main" val="294011245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003600" y="563479"/>
            <a:ext cx="3160545" cy="369332"/>
          </a:xfrm>
          <a:prstGeom prst="rect">
            <a:avLst/>
          </a:prstGeom>
        </p:spPr>
        <p:txBody>
          <a:bodyPr wrap="none">
            <a:spAutoFit/>
          </a:bodyPr>
          <a:lstStyle/>
          <a:p>
            <a:r>
              <a:rPr lang="en-US" dirty="0"/>
              <a:t>How to view QEP in real DBMS?</a:t>
            </a:r>
            <a:endParaRPr lang="en-IN" dirty="0"/>
          </a:p>
        </p:txBody>
      </p:sp>
      <p:graphicFrame>
        <p:nvGraphicFramePr>
          <p:cNvPr id="4" name="Table 3"/>
          <p:cNvGraphicFramePr>
            <a:graphicFrameLocks noGrp="1"/>
          </p:cNvGraphicFramePr>
          <p:nvPr>
            <p:extLst>
              <p:ext uri="{D42A27DB-BD31-4B8C-83A1-F6EECF244321}">
                <p14:modId xmlns:p14="http://schemas.microsoft.com/office/powerpoint/2010/main" val="922786961"/>
              </p:ext>
            </p:extLst>
          </p:nvPr>
        </p:nvGraphicFramePr>
        <p:xfrm>
          <a:off x="838200" y="1153391"/>
          <a:ext cx="10515600" cy="1328079"/>
        </p:xfrm>
        <a:graphic>
          <a:graphicData uri="http://schemas.openxmlformats.org/drawingml/2006/table">
            <a:tbl>
              <a:tblPr/>
              <a:tblGrid>
                <a:gridCol w="5257800">
                  <a:extLst>
                    <a:ext uri="{9D8B030D-6E8A-4147-A177-3AD203B41FA5}">
                      <a16:colId xmlns:a16="http://schemas.microsoft.com/office/drawing/2014/main" val="20000"/>
                    </a:ext>
                  </a:extLst>
                </a:gridCol>
                <a:gridCol w="5257800">
                  <a:extLst>
                    <a:ext uri="{9D8B030D-6E8A-4147-A177-3AD203B41FA5}">
                      <a16:colId xmlns:a16="http://schemas.microsoft.com/office/drawing/2014/main" val="20001"/>
                    </a:ext>
                  </a:extLst>
                </a:gridCol>
              </a:tblGrid>
              <a:tr h="1328079">
                <a:tc>
                  <a:txBody>
                    <a:bodyPr/>
                    <a:lstStyle/>
                    <a:p>
                      <a:r>
                        <a:rPr lang="en-IN" b="1" dirty="0"/>
                        <a:t>Oracle</a:t>
                      </a:r>
                      <a:endParaRPr lang="en-IN" dirty="0"/>
                    </a:p>
                  </a:txBody>
                  <a:tcPr anchor="ctr">
                    <a:lnL>
                      <a:noFill/>
                    </a:lnL>
                    <a:lnR>
                      <a:noFill/>
                    </a:lnR>
                    <a:lnT>
                      <a:noFill/>
                    </a:lnT>
                    <a:lnB>
                      <a:noFill/>
                    </a:lnB>
                  </a:tcPr>
                </a:tc>
                <a:tc>
                  <a:txBody>
                    <a:bodyPr/>
                    <a:lstStyle/>
                    <a:p>
                      <a:r>
                        <a:rPr lang="en-US" dirty="0"/>
                        <a:t>EXPLAIN PLAN FOR</a:t>
                      </a:r>
                    </a:p>
                    <a:p>
                      <a:r>
                        <a:rPr lang="en-US" dirty="0"/>
                        <a:t>SELECT * FROM table_name;</a:t>
                      </a:r>
                    </a:p>
                    <a:p>
                      <a:endParaRPr lang="en-US" dirty="0"/>
                    </a:p>
                    <a:p>
                      <a:r>
                        <a:rPr lang="en-US" dirty="0"/>
                        <a:t>SELECT * FROM TABLE(DBMS_XPLAN.DISPLAY);</a:t>
                      </a:r>
                      <a:endParaRPr lang="en-IN" dirty="0"/>
                    </a:p>
                  </a:txBody>
                  <a:tcPr anchor="ctr">
                    <a:lnL>
                      <a:noFill/>
                    </a:lnL>
                    <a:lnR>
                      <a:noFill/>
                    </a:lnR>
                    <a:lnT>
                      <a:noFill/>
                    </a:lnT>
                    <a:lnB>
                      <a:noFill/>
                    </a:lnB>
                  </a:tcPr>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2164084599"/>
      </p:ext>
    </p:extLst>
  </p:cSld>
  <p:clrMapOvr>
    <a:masterClrMapping/>
  </p:clrMapOvr>
</p:sld>
</file>

<file path=ppt/theme/theme1.xml><?xml version="1.0" encoding="utf-8"?>
<a:theme xmlns:a="http://schemas.openxmlformats.org/drawingml/2006/main" name="Facet">
  <a:themeElements>
    <a:clrScheme name="Facet">
      <a:dk1>
        <a:sysClr val="windowText" lastClr="000000"/>
      </a:dk1>
      <a:lt1>
        <a:sysClr val="window" lastClr="FFFFFF"/>
      </a:lt1>
      <a:dk2>
        <a:srgbClr val="2C3C43"/>
      </a:dk2>
      <a:lt2>
        <a:srgbClr val="EBEBEB"/>
      </a:lt2>
      <a:accent1>
        <a:srgbClr val="5FCBEF"/>
      </a:accent1>
      <a:accent2>
        <a:srgbClr val="2E83C3"/>
      </a:accent2>
      <a:accent3>
        <a:srgbClr val="42D0A2"/>
      </a:accent3>
      <a:accent4>
        <a:srgbClr val="2E946B"/>
      </a:accent4>
      <a:accent5>
        <a:srgbClr val="42B051"/>
      </a:accent5>
      <a:accent6>
        <a:srgbClr val="96D141"/>
      </a:accent6>
      <a:hlink>
        <a:srgbClr val="3FCDE7"/>
      </a:hlink>
      <a:folHlink>
        <a:srgbClr val="A9D3E1"/>
      </a:folHlink>
    </a:clrScheme>
    <a:fontScheme name="Facet">
      <a:majorFont>
        <a:latin typeface="Trebuchet MS" panose="020B0603020202020204"/>
        <a:ea typeface=""/>
        <a:cs typeface=""/>
        <a:font script="Jpan" typeface="メイリオ"/>
        <a:font script="Hang" typeface="맑은 고딕"/>
        <a:font script="Hans" typeface="方正姚体"/>
        <a:font script="Hant" typeface="微軟正黑體"/>
        <a:font script="Arab" typeface="Tahoma"/>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Trebuchet MS" panose="020B0603020202020204"/>
        <a:ea typeface=""/>
        <a:cs typeface=""/>
        <a:font script="Jpan" typeface="メイリオ"/>
        <a:font script="Hang" typeface="HY그래픽M"/>
        <a:font script="Hans" typeface="华文新魏"/>
        <a:font script="Hant" typeface="微軟正黑體"/>
        <a:font script="Arab" typeface="Tahoma"/>
        <a:font script="Hebr" typeface="Gisha"/>
        <a:font script="Thai" typeface="Iris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Facet">
      <a:fillStyleLst>
        <a:solidFill>
          <a:schemeClr val="phClr"/>
        </a:solidFill>
        <a:gradFill rotWithShape="1">
          <a:gsLst>
            <a:gs pos="0">
              <a:schemeClr val="phClr">
                <a:tint val="65000"/>
                <a:lumMod val="110000"/>
              </a:schemeClr>
            </a:gs>
            <a:gs pos="88000">
              <a:schemeClr val="phClr">
                <a:tint val="90000"/>
              </a:schemeClr>
            </a:gs>
          </a:gsLst>
          <a:lin ang="5400000" scaled="0"/>
        </a:gradFill>
        <a:gradFill rotWithShape="1">
          <a:gsLst>
            <a:gs pos="0">
              <a:schemeClr val="phClr">
                <a:tint val="96000"/>
                <a:lumMod val="100000"/>
              </a:schemeClr>
            </a:gs>
            <a:gs pos="78000">
              <a:schemeClr val="phClr">
                <a:shade val="94000"/>
                <a:lumMod val="94000"/>
              </a:schemeClr>
            </a:gs>
          </a:gsLst>
          <a:lin ang="5400000" scaled="0"/>
        </a:gradFill>
      </a:fillStyleLst>
      <a:lnStyleLst>
        <a:ln w="12700"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35000"/>
              </a:srgbClr>
            </a:outerShdw>
          </a:effectLst>
        </a:effectStyle>
        <a:effectStyle>
          <a:effectLst>
            <a:outerShdw blurRad="50800" dist="38100" dir="5400000" rotWithShape="0">
              <a:srgbClr val="000000">
                <a:alpha val="35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0000"/>
                <a:lumMod val="104000"/>
              </a:schemeClr>
            </a:gs>
            <a:gs pos="94000">
              <a:schemeClr val="phClr">
                <a:shade val="96000"/>
                <a:lumMod val="82000"/>
              </a:schemeClr>
            </a:gs>
          </a:gsLst>
          <a:lin ang="5400000" scaled="0"/>
        </a:gradFill>
        <a:gradFill rotWithShape="1">
          <a:gsLst>
            <a:gs pos="0">
              <a:schemeClr val="phClr">
                <a:tint val="90000"/>
                <a:lumMod val="110000"/>
              </a:schemeClr>
            </a:gs>
            <a:gs pos="100000">
              <a:schemeClr val="phClr">
                <a:shade val="94000"/>
                <a:lumMod val="9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Facet" id="{C0C680CD-088A-49FC-A102-D699147F32B2}" vid="{0B5AB586-D108-4FC1-8368-649FE654B894}"/>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1779</TotalTime>
  <Words>6497</Words>
  <Application>Microsoft Office PowerPoint</Application>
  <PresentationFormat>Widescreen</PresentationFormat>
  <Paragraphs>672</Paragraphs>
  <Slides>61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61</vt:i4>
      </vt:variant>
    </vt:vector>
  </HeadingPairs>
  <TitlesOfParts>
    <vt:vector size="69" baseType="lpstr">
      <vt:lpstr>Arial</vt:lpstr>
      <vt:lpstr>Calibri</vt:lpstr>
      <vt:lpstr>Nunito</vt:lpstr>
      <vt:lpstr>Poppins</vt:lpstr>
      <vt:lpstr>Source Sans 3</vt:lpstr>
      <vt:lpstr>Trebuchet MS</vt:lpstr>
      <vt:lpstr>Wingdings 3</vt:lpstr>
      <vt:lpstr>Facet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Chudasama Vishal</dc:creator>
  <cp:lastModifiedBy>Chudasama Vishal</cp:lastModifiedBy>
  <cp:revision>80</cp:revision>
  <dcterms:created xsi:type="dcterms:W3CDTF">2025-11-09T03:36:38Z</dcterms:created>
  <dcterms:modified xsi:type="dcterms:W3CDTF">2025-12-17T04:00:40Z</dcterms:modified>
</cp:coreProperties>
</file>