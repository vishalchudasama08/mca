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9" r:id="rId3"/>
    <p:sldId id="260" r:id="rId4"/>
    <p:sldId id="261" r:id="rId5"/>
    <p:sldId id="262" r:id="rId6"/>
    <p:sldId id="272" r:id="rId7"/>
    <p:sldId id="273" r:id="rId8"/>
    <p:sldId id="257" r:id="rId9"/>
    <p:sldId id="264" r:id="rId10"/>
    <p:sldId id="265" r:id="rId11"/>
    <p:sldId id="266" r:id="rId12"/>
    <p:sldId id="267" r:id="rId13"/>
    <p:sldId id="268" r:id="rId14"/>
    <p:sldId id="275" r:id="rId15"/>
    <p:sldId id="276" r:id="rId16"/>
    <p:sldId id="277" r:id="rId17"/>
    <p:sldId id="278" r:id="rId18"/>
    <p:sldId id="269" r:id="rId19"/>
    <p:sldId id="258" r:id="rId20"/>
    <p:sldId id="279" r:id="rId21"/>
    <p:sldId id="280" r:id="rId22"/>
    <p:sldId id="281" r:id="rId23"/>
    <p:sldId id="282" r:id="rId24"/>
    <p:sldId id="283" r:id="rId25"/>
    <p:sldId id="284" r:id="rId26"/>
    <p:sldId id="285" r:id="rId27"/>
    <p:sldId id="286" r:id="rId28"/>
    <p:sldId id="287" r:id="rId29"/>
    <p:sldId id="288" r:id="rId30"/>
    <p:sldId id="289" r:id="rId31"/>
    <p:sldId id="263" r:id="rId32"/>
    <p:sldId id="290" r:id="rId33"/>
    <p:sldId id="291" r:id="rId34"/>
    <p:sldId id="274" r:id="rId35"/>
    <p:sldId id="292" r:id="rId36"/>
    <p:sldId id="293" r:id="rId37"/>
    <p:sldId id="294" r:id="rId38"/>
    <p:sldId id="295" r:id="rId39"/>
    <p:sldId id="296" r:id="rId40"/>
    <p:sldId id="297" r:id="rId41"/>
    <p:sldId id="298" r:id="rId42"/>
    <p:sldId id="299" r:id="rId43"/>
    <p:sldId id="300" r:id="rId44"/>
    <p:sldId id="301" r:id="rId45"/>
    <p:sldId id="302" r:id="rId46"/>
    <p:sldId id="303" r:id="rId47"/>
    <p:sldId id="304" r:id="rId48"/>
    <p:sldId id="305" r:id="rId49"/>
    <p:sldId id="306" r:id="rId50"/>
    <p:sldId id="307" r:id="rId51"/>
    <p:sldId id="308" r:id="rId52"/>
    <p:sldId id="309" r:id="rId53"/>
    <p:sldId id="310" r:id="rId54"/>
    <p:sldId id="311" r:id="rId55"/>
    <p:sldId id="312" r:id="rId56"/>
    <p:sldId id="313" r:id="rId57"/>
    <p:sldId id="314" r:id="rId58"/>
    <p:sldId id="315" r:id="rId5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4" d="100"/>
          <a:sy n="84" d="100"/>
        </p:scale>
        <p:origin x="65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2A54C80-263E-416B-A8E0-580EDEADCBDC}" type="datetimeFigureOut">
              <a:rPr lang="en-US" dirty="0"/>
              <a:t>11/9/2025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2A54C80-263E-416B-A8E0-580EDEADCBDC}" type="datetimeFigureOut">
              <a:rPr lang="en-US" dirty="0"/>
              <a:t>11/9/2025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11/9/2025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11/9/2025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11/9/2025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11/9/2025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11/9/2025</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11/9/2025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11/9/2025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5" r:id="rId2"/>
    <p:sldLayoutId id="2147483651" r:id="rId3"/>
    <p:sldLayoutId id="2147483666" r:id="rId4"/>
    <p:sldLayoutId id="2147483653" r:id="rId5"/>
    <p:sldLayoutId id="2147483654" r:id="rId6"/>
    <p:sldLayoutId id="2147483655" r:id="rId7"/>
    <p:sldLayoutId id="2147483667" r:id="rId8"/>
    <p:sldLayoutId id="2147483657" r:id="rId9"/>
    <p:sldLayoutId id="2147483660" r:id="rId10"/>
    <p:sldLayoutId id="2147483661" r:id="rId11"/>
    <p:sldLayoutId id="2147483662" r:id="rId12"/>
    <p:sldLayoutId id="2147483663" r:id="rId13"/>
    <p:sldLayoutId id="2147483664" r:id="rId14"/>
    <p:sldLayoutId id="2147483668"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0F49590-EE75-9236-6F7F-D55C3155C348}"/>
              </a:ext>
            </a:extLst>
          </p:cNvPr>
          <p:cNvSpPr>
            <a:spLocks noGrp="1"/>
          </p:cNvSpPr>
          <p:nvPr/>
        </p:nvSpPr>
        <p:spPr>
          <a:xfrm>
            <a:off x="1599884" y="391154"/>
            <a:ext cx="1533841" cy="585215"/>
          </a:xfrm>
          <a:prstGeom prst="rect">
            <a:avLst/>
          </a:prstGeom>
        </p:spPr>
        <p:txBody>
          <a:bodyPr vert="horz" lIns="91440" tIns="45720" rIns="91440" bIns="45720" rtlCol="0" anchor="b">
            <a:noAutofit/>
          </a:bodyPr>
          <a:lstStyle>
            <a:lvl1pPr algn="r" defTabSz="457200" rtl="0" eaLnBrk="1" latinLnBrk="0" hangingPunct="1">
              <a:spcBef>
                <a:spcPct val="0"/>
              </a:spcBef>
              <a:buNone/>
              <a:defRPr sz="54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l"/>
            <a:r>
              <a:rPr lang="en-US" sz="3200" b="1" dirty="0">
                <a:solidFill>
                  <a:srgbClr val="C00000"/>
                </a:solidFill>
              </a:rPr>
              <a:t>RDBMS</a:t>
            </a:r>
            <a:endParaRPr lang="en-IN" sz="3200" b="1" dirty="0">
              <a:solidFill>
                <a:srgbClr val="C00000"/>
              </a:solidFill>
            </a:endParaRPr>
          </a:p>
        </p:txBody>
      </p:sp>
      <p:sp>
        <p:nvSpPr>
          <p:cNvPr id="5" name="Subtitle 2">
            <a:extLst>
              <a:ext uri="{FF2B5EF4-FFF2-40B4-BE49-F238E27FC236}">
                <a16:creationId xmlns:a16="http://schemas.microsoft.com/office/drawing/2014/main" id="{9592BC97-ADC0-1CF7-F659-A798E1C38A44}"/>
              </a:ext>
            </a:extLst>
          </p:cNvPr>
          <p:cNvSpPr>
            <a:spLocks noGrp="1"/>
          </p:cNvSpPr>
          <p:nvPr/>
        </p:nvSpPr>
        <p:spPr>
          <a:xfrm>
            <a:off x="3008376" y="503110"/>
            <a:ext cx="1310956" cy="393002"/>
          </a:xfrm>
          <a:prstGeom prst="rect">
            <a:avLst/>
          </a:prstGeom>
        </p:spPr>
        <p:txBody>
          <a:bodyPr vert="horz" lIns="91440" tIns="45720" rIns="91440" bIns="45720" rtlCol="0" anchor="t">
            <a:normAutofit/>
          </a:bodyPr>
          <a:lstStyle>
            <a:lvl1pPr marL="0" indent="0" algn="r" defTabSz="457200" rtl="0" eaLnBrk="1" latinLnBrk="0" hangingPunct="1">
              <a:spcBef>
                <a:spcPts val="1000"/>
              </a:spcBef>
              <a:spcAft>
                <a:spcPts val="0"/>
              </a:spcAft>
              <a:buClr>
                <a:schemeClr val="accent1"/>
              </a:buClr>
              <a:buSzPct val="80000"/>
              <a:buFont typeface="Wingdings 3" charset="2"/>
              <a:buNone/>
              <a:defRPr sz="1800" kern="1200">
                <a:solidFill>
                  <a:schemeClr val="tx1">
                    <a:lumMod val="50000"/>
                    <a:lumOff val="50000"/>
                  </a:schemeClr>
                </a:solidFill>
                <a:latin typeface="+mn-lt"/>
                <a:ea typeface="+mn-ea"/>
                <a:cs typeface="+mn-cs"/>
              </a:defRPr>
            </a:lvl1pPr>
            <a:lvl2pPr marL="457200" indent="0" algn="ctr" defTabSz="457200" rtl="0" eaLnBrk="1" latinLnBrk="0" hangingPunct="1">
              <a:spcBef>
                <a:spcPts val="1000"/>
              </a:spcBef>
              <a:spcAft>
                <a:spcPts val="0"/>
              </a:spcAft>
              <a:buClr>
                <a:schemeClr val="accent1"/>
              </a:buClr>
              <a:buSzPct val="80000"/>
              <a:buFont typeface="Wingdings 3"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ts val="1000"/>
              </a:spcBef>
              <a:spcAft>
                <a:spcPts val="0"/>
              </a:spcAft>
              <a:buClr>
                <a:schemeClr val="accent1"/>
              </a:buClr>
              <a:buSzPct val="80000"/>
              <a:buFont typeface="Wingdings 3"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9pPr>
          </a:lstStyle>
          <a:p>
            <a:r>
              <a:rPr lang="en-US" dirty="0"/>
              <a:t>240110102</a:t>
            </a:r>
            <a:endParaRPr lang="en-IN" dirty="0"/>
          </a:p>
        </p:txBody>
      </p:sp>
      <p:sp>
        <p:nvSpPr>
          <p:cNvPr id="3" name="TextBox 2">
            <a:extLst>
              <a:ext uri="{FF2B5EF4-FFF2-40B4-BE49-F238E27FC236}">
                <a16:creationId xmlns:a16="http://schemas.microsoft.com/office/drawing/2014/main" id="{F31B8DA5-9B6A-091F-AFA9-2608FB9A8EC5}"/>
              </a:ext>
            </a:extLst>
          </p:cNvPr>
          <p:cNvSpPr txBox="1"/>
          <p:nvPr/>
        </p:nvSpPr>
        <p:spPr>
          <a:xfrm>
            <a:off x="1993076" y="2449127"/>
            <a:ext cx="9336340" cy="3416320"/>
          </a:xfrm>
          <a:prstGeom prst="rect">
            <a:avLst/>
          </a:prstGeom>
          <a:noFill/>
        </p:spPr>
        <p:txBody>
          <a:bodyPr wrap="square">
            <a:spAutoFit/>
          </a:bodyPr>
          <a:lstStyle/>
          <a:p>
            <a:r>
              <a:rPr lang="en-IN" sz="2000" b="1" dirty="0"/>
              <a:t>Topics:</a:t>
            </a:r>
            <a:endParaRPr lang="en-IN" b="1" dirty="0"/>
          </a:p>
          <a:p>
            <a:endParaRPr lang="en-IN" dirty="0"/>
          </a:p>
          <a:p>
            <a:r>
              <a:rPr lang="en-IN" dirty="0"/>
              <a:t>Data, Information, File-based Data Management, Difference between file-system and database management system, Differentiate between Database and Database Management System, Concept of Data dictionary in DBMS </a:t>
            </a:r>
          </a:p>
          <a:p>
            <a:endParaRPr lang="en-IN" dirty="0"/>
          </a:p>
          <a:p>
            <a:r>
              <a:rPr lang="en-IN" b="1" dirty="0"/>
              <a:t>Database</a:t>
            </a:r>
            <a:r>
              <a:rPr lang="en-IN" dirty="0"/>
              <a:t>: Users, Data Models, Data abstraction, ANSI/SPARC Architecture, Logical and Physical data independence, DBMS Languages: DDL, DML, DCL (definitions only) </a:t>
            </a:r>
          </a:p>
          <a:p>
            <a:endParaRPr lang="en-IN" dirty="0"/>
          </a:p>
          <a:p>
            <a:r>
              <a:rPr lang="en-US" b="1" dirty="0"/>
              <a:t>RDBMS</a:t>
            </a:r>
            <a:r>
              <a:rPr lang="en-US" dirty="0"/>
              <a:t>: Examples of RDBMS, Classifications of Database Management Systems – Relational and Non-Relational Database, Benefits of using RDBMS, Introduction to NoSQL and NewSQL (overview only)</a:t>
            </a:r>
            <a:endParaRPr lang="en-IN" dirty="0"/>
          </a:p>
        </p:txBody>
      </p:sp>
      <p:sp>
        <p:nvSpPr>
          <p:cNvPr id="7" name="TextBox 6">
            <a:extLst>
              <a:ext uri="{FF2B5EF4-FFF2-40B4-BE49-F238E27FC236}">
                <a16:creationId xmlns:a16="http://schemas.microsoft.com/office/drawing/2014/main" id="{2FA5EB79-E362-2DF0-32E5-D7618658BE9C}"/>
              </a:ext>
            </a:extLst>
          </p:cNvPr>
          <p:cNvSpPr txBox="1"/>
          <p:nvPr/>
        </p:nvSpPr>
        <p:spPr>
          <a:xfrm>
            <a:off x="1599884" y="1487953"/>
            <a:ext cx="9336340" cy="523220"/>
          </a:xfrm>
          <a:prstGeom prst="rect">
            <a:avLst/>
          </a:prstGeom>
          <a:noFill/>
        </p:spPr>
        <p:txBody>
          <a:bodyPr wrap="square">
            <a:spAutoFit/>
          </a:bodyPr>
          <a:lstStyle/>
          <a:p>
            <a:r>
              <a:rPr lang="en-US" sz="2800" b="1" dirty="0">
                <a:solidFill>
                  <a:schemeClr val="accent1"/>
                </a:solidFill>
              </a:rPr>
              <a:t>Unit 1 - </a:t>
            </a:r>
            <a:r>
              <a:rPr lang="en-IN" sz="2800" b="1" dirty="0">
                <a:solidFill>
                  <a:schemeClr val="accent1"/>
                </a:solidFill>
              </a:rPr>
              <a:t>Introduction to Database System (CO1) </a:t>
            </a:r>
          </a:p>
        </p:txBody>
      </p:sp>
      <p:sp>
        <p:nvSpPr>
          <p:cNvPr id="9" name="TextBox 8">
            <a:extLst>
              <a:ext uri="{FF2B5EF4-FFF2-40B4-BE49-F238E27FC236}">
                <a16:creationId xmlns:a16="http://schemas.microsoft.com/office/drawing/2014/main" id="{EEA2F35F-2B10-477F-18F4-C5BDF6D1D596}"/>
              </a:ext>
            </a:extLst>
          </p:cNvPr>
          <p:cNvSpPr txBox="1"/>
          <p:nvPr/>
        </p:nvSpPr>
        <p:spPr>
          <a:xfrm>
            <a:off x="10819638" y="6303401"/>
            <a:ext cx="1241298" cy="276999"/>
          </a:xfrm>
          <a:prstGeom prst="rect">
            <a:avLst/>
          </a:prstGeom>
          <a:noFill/>
        </p:spPr>
        <p:txBody>
          <a:bodyPr wrap="square">
            <a:spAutoFit/>
          </a:bodyPr>
          <a:lstStyle/>
          <a:p>
            <a:r>
              <a:rPr lang="en-US" sz="1200" i="1" dirty="0"/>
              <a:t>09/11/2025</a:t>
            </a:r>
            <a:endParaRPr lang="en-IN" sz="1200" i="1" dirty="0"/>
          </a:p>
        </p:txBody>
      </p:sp>
    </p:spTree>
    <p:extLst>
      <p:ext uri="{BB962C8B-B14F-4D97-AF65-F5344CB8AC3E}">
        <p14:creationId xmlns:p14="http://schemas.microsoft.com/office/powerpoint/2010/main" val="42724297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Definitions</a:t>
            </a:r>
            <a:endParaRPr lang="en-IN" dirty="0"/>
          </a:p>
        </p:txBody>
      </p:sp>
      <p:sp>
        <p:nvSpPr>
          <p:cNvPr id="3" name="Content Placeholder 2"/>
          <p:cNvSpPr>
            <a:spLocks noGrp="1"/>
          </p:cNvSpPr>
          <p:nvPr>
            <p:ph idx="1"/>
          </p:nvPr>
        </p:nvSpPr>
        <p:spPr>
          <a:xfrm>
            <a:off x="677334" y="1394847"/>
            <a:ext cx="8714638" cy="4974956"/>
          </a:xfrm>
        </p:spPr>
        <p:txBody>
          <a:bodyPr>
            <a:noAutofit/>
          </a:bodyPr>
          <a:lstStyle/>
          <a:p>
            <a:r>
              <a:rPr lang="en-IN" b="1" dirty="0"/>
              <a:t>Data: (Plural of Datum – Single piece of Information)</a:t>
            </a:r>
          </a:p>
          <a:p>
            <a:pPr lvl="1"/>
            <a:r>
              <a:rPr lang="en-IN" b="1" dirty="0"/>
              <a:t>Data is a known fact</a:t>
            </a:r>
          </a:p>
          <a:p>
            <a:pPr lvl="1"/>
            <a:r>
              <a:rPr lang="en-IN" b="1" dirty="0"/>
              <a:t>Can be recorded and have implicit meaning</a:t>
            </a:r>
          </a:p>
          <a:p>
            <a:pPr lvl="1"/>
            <a:r>
              <a:rPr lang="en-IN" b="1" dirty="0"/>
              <a:t>Raw or isolated facts from which the required information is produced</a:t>
            </a:r>
          </a:p>
          <a:p>
            <a:pPr lvl="1"/>
            <a:r>
              <a:rPr lang="en-IN" b="1" dirty="0"/>
              <a:t>Data can exist in a variety of forms that have meaning in the user’s environment</a:t>
            </a:r>
          </a:p>
          <a:p>
            <a:pPr lvl="1"/>
            <a:r>
              <a:rPr lang="en-IN" b="1" dirty="0"/>
              <a:t>Data can be an object such as documents, images, video segments etc… </a:t>
            </a:r>
          </a:p>
          <a:p>
            <a:pPr lvl="1"/>
            <a:endParaRPr lang="en-IN" b="1" dirty="0"/>
          </a:p>
          <a:p>
            <a:r>
              <a:rPr lang="en-IN" b="1" dirty="0"/>
              <a:t>Example: A person’s Name</a:t>
            </a:r>
          </a:p>
          <a:p>
            <a:pPr lvl="1"/>
            <a:r>
              <a:rPr lang="en-IN" b="1" dirty="0"/>
              <a:t>In an organization it is Employee Name</a:t>
            </a:r>
          </a:p>
          <a:p>
            <a:pPr lvl="1"/>
            <a:r>
              <a:rPr lang="en-IN" b="1" dirty="0"/>
              <a:t>In an institute it is Student Name</a:t>
            </a:r>
          </a:p>
          <a:p>
            <a:pPr lvl="1"/>
            <a:r>
              <a:rPr lang="en-IN" b="1" dirty="0"/>
              <a:t>In a Bill it is Customer Name</a:t>
            </a:r>
          </a:p>
          <a:p>
            <a:pPr lvl="1"/>
            <a:r>
              <a:rPr lang="en-IN" b="1" dirty="0"/>
              <a:t>In a firm it is Client Name</a:t>
            </a:r>
          </a:p>
        </p:txBody>
      </p:sp>
    </p:spTree>
    <p:extLst>
      <p:ext uri="{BB962C8B-B14F-4D97-AF65-F5344CB8AC3E}">
        <p14:creationId xmlns:p14="http://schemas.microsoft.com/office/powerpoint/2010/main" val="7153733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DBAC0-4A8D-4044-A452-2D5CEBF0633F}"/>
              </a:ext>
            </a:extLst>
          </p:cNvPr>
          <p:cNvSpPr>
            <a:spLocks noGrp="1"/>
          </p:cNvSpPr>
          <p:nvPr>
            <p:ph type="title"/>
          </p:nvPr>
        </p:nvSpPr>
        <p:spPr/>
        <p:txBody>
          <a:bodyPr/>
          <a:lstStyle/>
          <a:p>
            <a:r>
              <a:rPr lang="en-IN" dirty="0"/>
              <a:t>Information</a:t>
            </a:r>
          </a:p>
        </p:txBody>
      </p:sp>
      <p:sp>
        <p:nvSpPr>
          <p:cNvPr id="3" name="Content Placeholder 2">
            <a:extLst>
              <a:ext uri="{FF2B5EF4-FFF2-40B4-BE49-F238E27FC236}">
                <a16:creationId xmlns:a16="http://schemas.microsoft.com/office/drawing/2014/main" id="{EC066EDA-35E8-4C1E-931B-573F2812FCDD}"/>
              </a:ext>
            </a:extLst>
          </p:cNvPr>
          <p:cNvSpPr>
            <a:spLocks noGrp="1"/>
          </p:cNvSpPr>
          <p:nvPr>
            <p:ph idx="1"/>
          </p:nvPr>
        </p:nvSpPr>
        <p:spPr>
          <a:xfrm>
            <a:off x="838200" y="1825625"/>
            <a:ext cx="8941231" cy="1747569"/>
          </a:xfrm>
        </p:spPr>
        <p:txBody>
          <a:bodyPr>
            <a:normAutofit/>
          </a:bodyPr>
          <a:lstStyle/>
          <a:p>
            <a:r>
              <a:rPr lang="en-IN" sz="2000" dirty="0"/>
              <a:t>Information is processed, organised or summarised data</a:t>
            </a:r>
          </a:p>
          <a:p>
            <a:r>
              <a:rPr lang="en-IN" sz="2000" dirty="0"/>
              <a:t>It is defined as a collection of related data, that when put together, communicate meaningful and useful message to a recipient who use it to make decision.</a:t>
            </a:r>
          </a:p>
          <a:p>
            <a:pPr marL="0" indent="0">
              <a:buNone/>
            </a:pPr>
            <a:endParaRPr lang="en-IN" sz="2000" dirty="0"/>
          </a:p>
        </p:txBody>
      </p:sp>
      <p:grpSp>
        <p:nvGrpSpPr>
          <p:cNvPr id="18" name="Group 17">
            <a:extLst>
              <a:ext uri="{FF2B5EF4-FFF2-40B4-BE49-F238E27FC236}">
                <a16:creationId xmlns:a16="http://schemas.microsoft.com/office/drawing/2014/main" id="{61C964BF-EED0-4C79-AF45-1BE07F970128}"/>
              </a:ext>
            </a:extLst>
          </p:cNvPr>
          <p:cNvGrpSpPr/>
          <p:nvPr/>
        </p:nvGrpSpPr>
        <p:grpSpPr>
          <a:xfrm>
            <a:off x="699303" y="3893974"/>
            <a:ext cx="9219023" cy="617686"/>
            <a:chOff x="998807" y="3695356"/>
            <a:chExt cx="9219023" cy="617686"/>
          </a:xfrm>
        </p:grpSpPr>
        <p:sp>
          <p:nvSpPr>
            <p:cNvPr id="9" name="Rectangle 8">
              <a:extLst>
                <a:ext uri="{FF2B5EF4-FFF2-40B4-BE49-F238E27FC236}">
                  <a16:creationId xmlns:a16="http://schemas.microsoft.com/office/drawing/2014/main" id="{09CA7D55-6AC8-4987-B8C0-CE6D62F0F27F}"/>
                </a:ext>
              </a:extLst>
            </p:cNvPr>
            <p:cNvSpPr/>
            <p:nvPr/>
          </p:nvSpPr>
          <p:spPr>
            <a:xfrm>
              <a:off x="998807" y="3699803"/>
              <a:ext cx="1463039" cy="60491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Input </a:t>
              </a:r>
            </a:p>
            <a:p>
              <a:pPr algn="ctr"/>
              <a:r>
                <a:rPr lang="en-IN" dirty="0"/>
                <a:t>(Data)</a:t>
              </a:r>
            </a:p>
          </p:txBody>
        </p:sp>
        <p:sp>
          <p:nvSpPr>
            <p:cNvPr id="10" name="Rectangle 9">
              <a:extLst>
                <a:ext uri="{FF2B5EF4-FFF2-40B4-BE49-F238E27FC236}">
                  <a16:creationId xmlns:a16="http://schemas.microsoft.com/office/drawing/2014/main" id="{62385F5E-6E74-41F4-BCC7-5BB291BE3DF6}"/>
                </a:ext>
              </a:extLst>
            </p:cNvPr>
            <p:cNvSpPr/>
            <p:nvPr/>
          </p:nvSpPr>
          <p:spPr>
            <a:xfrm>
              <a:off x="2937803" y="3708131"/>
              <a:ext cx="1463039" cy="60491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Processing</a:t>
              </a:r>
            </a:p>
          </p:txBody>
        </p:sp>
        <p:sp>
          <p:nvSpPr>
            <p:cNvPr id="11" name="Rectangle 10">
              <a:extLst>
                <a:ext uri="{FF2B5EF4-FFF2-40B4-BE49-F238E27FC236}">
                  <a16:creationId xmlns:a16="http://schemas.microsoft.com/office/drawing/2014/main" id="{F6B77E89-453D-42AD-96D9-A0449C8C9BC3}"/>
                </a:ext>
              </a:extLst>
            </p:cNvPr>
            <p:cNvSpPr/>
            <p:nvPr/>
          </p:nvSpPr>
          <p:spPr>
            <a:xfrm>
              <a:off x="4876799" y="3695356"/>
              <a:ext cx="1591030" cy="61768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Output</a:t>
              </a:r>
            </a:p>
            <a:p>
              <a:pPr algn="ctr"/>
              <a:r>
                <a:rPr lang="en-IN" dirty="0"/>
                <a:t>(Information)</a:t>
              </a:r>
            </a:p>
          </p:txBody>
        </p:sp>
        <p:sp>
          <p:nvSpPr>
            <p:cNvPr id="12" name="Rectangle 11">
              <a:extLst>
                <a:ext uri="{FF2B5EF4-FFF2-40B4-BE49-F238E27FC236}">
                  <a16:creationId xmlns:a16="http://schemas.microsoft.com/office/drawing/2014/main" id="{7EE0EA34-32EE-4B25-BB6F-1011775CDBB5}"/>
                </a:ext>
              </a:extLst>
            </p:cNvPr>
            <p:cNvSpPr/>
            <p:nvPr/>
          </p:nvSpPr>
          <p:spPr>
            <a:xfrm>
              <a:off x="6943786" y="3695357"/>
              <a:ext cx="1335048" cy="60491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Users</a:t>
              </a:r>
            </a:p>
          </p:txBody>
        </p:sp>
        <p:sp>
          <p:nvSpPr>
            <p:cNvPr id="13" name="Rectangle 12">
              <a:extLst>
                <a:ext uri="{FF2B5EF4-FFF2-40B4-BE49-F238E27FC236}">
                  <a16:creationId xmlns:a16="http://schemas.microsoft.com/office/drawing/2014/main" id="{DA0051C5-AE46-45EB-B4FB-F8ECBA2896EF}"/>
                </a:ext>
              </a:extLst>
            </p:cNvPr>
            <p:cNvSpPr/>
            <p:nvPr/>
          </p:nvSpPr>
          <p:spPr>
            <a:xfrm>
              <a:off x="8754791" y="3708131"/>
              <a:ext cx="1463039" cy="60491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Decision</a:t>
              </a:r>
            </a:p>
          </p:txBody>
        </p:sp>
        <p:sp>
          <p:nvSpPr>
            <p:cNvPr id="14" name="Arrow: Right 13">
              <a:extLst>
                <a:ext uri="{FF2B5EF4-FFF2-40B4-BE49-F238E27FC236}">
                  <a16:creationId xmlns:a16="http://schemas.microsoft.com/office/drawing/2014/main" id="{DA5734FF-A4BA-4610-B98A-4A05CA131268}"/>
                </a:ext>
              </a:extLst>
            </p:cNvPr>
            <p:cNvSpPr/>
            <p:nvPr/>
          </p:nvSpPr>
          <p:spPr>
            <a:xfrm>
              <a:off x="2461846" y="3923957"/>
              <a:ext cx="475957" cy="19787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Arrow: Right 14">
              <a:extLst>
                <a:ext uri="{FF2B5EF4-FFF2-40B4-BE49-F238E27FC236}">
                  <a16:creationId xmlns:a16="http://schemas.microsoft.com/office/drawing/2014/main" id="{267955B4-6906-406B-B425-6F961DC5148B}"/>
                </a:ext>
              </a:extLst>
            </p:cNvPr>
            <p:cNvSpPr/>
            <p:nvPr/>
          </p:nvSpPr>
          <p:spPr>
            <a:xfrm>
              <a:off x="4400842" y="3923957"/>
              <a:ext cx="475957" cy="19787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Arrow: Right 15">
              <a:extLst>
                <a:ext uri="{FF2B5EF4-FFF2-40B4-BE49-F238E27FC236}">
                  <a16:creationId xmlns:a16="http://schemas.microsoft.com/office/drawing/2014/main" id="{F0172709-13D0-4928-91E2-4638ED303567}"/>
                </a:ext>
              </a:extLst>
            </p:cNvPr>
            <p:cNvSpPr/>
            <p:nvPr/>
          </p:nvSpPr>
          <p:spPr>
            <a:xfrm>
              <a:off x="6467829" y="3898874"/>
              <a:ext cx="475957" cy="19787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Arrow: Right 16">
              <a:extLst>
                <a:ext uri="{FF2B5EF4-FFF2-40B4-BE49-F238E27FC236}">
                  <a16:creationId xmlns:a16="http://schemas.microsoft.com/office/drawing/2014/main" id="{D3CC472A-5385-4A50-A6DE-7561CEE8E7A7}"/>
                </a:ext>
              </a:extLst>
            </p:cNvPr>
            <p:cNvSpPr/>
            <p:nvPr/>
          </p:nvSpPr>
          <p:spPr>
            <a:xfrm>
              <a:off x="8278834" y="3923957"/>
              <a:ext cx="475957" cy="19787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Tree>
    <p:extLst>
      <p:ext uri="{BB962C8B-B14F-4D97-AF65-F5344CB8AC3E}">
        <p14:creationId xmlns:p14="http://schemas.microsoft.com/office/powerpoint/2010/main" val="16259668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48F787-4F22-4377-A2FD-247998F13E3F}"/>
              </a:ext>
            </a:extLst>
          </p:cNvPr>
          <p:cNvSpPr>
            <a:spLocks noGrp="1"/>
          </p:cNvSpPr>
          <p:nvPr>
            <p:ph type="title"/>
          </p:nvPr>
        </p:nvSpPr>
        <p:spPr/>
        <p:txBody>
          <a:bodyPr/>
          <a:lstStyle/>
          <a:p>
            <a:r>
              <a:rPr lang="en-IN" dirty="0"/>
              <a:t>Database and Database System</a:t>
            </a:r>
          </a:p>
        </p:txBody>
      </p:sp>
      <p:sp>
        <p:nvSpPr>
          <p:cNvPr id="3" name="Content Placeholder 2">
            <a:extLst>
              <a:ext uri="{FF2B5EF4-FFF2-40B4-BE49-F238E27FC236}">
                <a16:creationId xmlns:a16="http://schemas.microsoft.com/office/drawing/2014/main" id="{D7849464-5536-4BFC-8248-952ADB2D677F}"/>
              </a:ext>
            </a:extLst>
          </p:cNvPr>
          <p:cNvSpPr>
            <a:spLocks noGrp="1"/>
          </p:cNvSpPr>
          <p:nvPr>
            <p:ph idx="1"/>
          </p:nvPr>
        </p:nvSpPr>
        <p:spPr>
          <a:xfrm>
            <a:off x="838200" y="1500160"/>
            <a:ext cx="9499169" cy="5032375"/>
          </a:xfrm>
        </p:spPr>
        <p:txBody>
          <a:bodyPr>
            <a:normAutofit/>
          </a:bodyPr>
          <a:lstStyle/>
          <a:p>
            <a:r>
              <a:rPr lang="en-IN" sz="2000" dirty="0"/>
              <a:t>Database is a kind of electronic filing cabinet; It is a repository or a container for a collection of computerised data files.</a:t>
            </a:r>
          </a:p>
          <a:p>
            <a:r>
              <a:rPr lang="en-IN" sz="2000" dirty="0"/>
              <a:t>Database is a collection of persistent data that is used by the application systems of some given enterprise (</a:t>
            </a:r>
            <a:r>
              <a:rPr lang="en-IN" sz="2000" dirty="0" err="1"/>
              <a:t>eg</a:t>
            </a:r>
            <a:r>
              <a:rPr lang="en-IN" sz="2000" dirty="0"/>
              <a:t>. Manufacturing company, Bank, Hospital, university, Govt. Dept. etc…)</a:t>
            </a:r>
          </a:p>
          <a:p>
            <a:r>
              <a:rPr lang="en-IN" sz="2000" dirty="0"/>
              <a:t>Database system is just a computerised record keeping system</a:t>
            </a:r>
          </a:p>
          <a:p>
            <a:r>
              <a:rPr lang="en-IN" sz="2000" dirty="0"/>
              <a:t>Users of the database system can perform variety of operations as</a:t>
            </a:r>
          </a:p>
          <a:p>
            <a:pPr lvl="1"/>
            <a:r>
              <a:rPr lang="en-IN" sz="1800" dirty="0"/>
              <a:t>Adding new files to the database</a:t>
            </a:r>
          </a:p>
          <a:p>
            <a:pPr lvl="1"/>
            <a:r>
              <a:rPr lang="en-IN" sz="1800" dirty="0"/>
              <a:t>Inserting data into existing files</a:t>
            </a:r>
          </a:p>
          <a:p>
            <a:pPr lvl="1"/>
            <a:r>
              <a:rPr lang="en-IN" sz="1800" dirty="0"/>
              <a:t>Retrieving data from the existing file</a:t>
            </a:r>
          </a:p>
          <a:p>
            <a:pPr lvl="1"/>
            <a:r>
              <a:rPr lang="en-IN" sz="1800" dirty="0"/>
              <a:t>Deleting data from the existing file</a:t>
            </a:r>
          </a:p>
          <a:p>
            <a:pPr lvl="1"/>
            <a:r>
              <a:rPr lang="en-IN" sz="1800" dirty="0"/>
              <a:t>Modifying data in the existing file</a:t>
            </a:r>
          </a:p>
          <a:p>
            <a:pPr lvl="1"/>
            <a:r>
              <a:rPr lang="en-IN" sz="1800" dirty="0"/>
              <a:t>Removing existing files from the database</a:t>
            </a:r>
          </a:p>
        </p:txBody>
      </p:sp>
    </p:spTree>
    <p:extLst>
      <p:ext uri="{BB962C8B-B14F-4D97-AF65-F5344CB8AC3E}">
        <p14:creationId xmlns:p14="http://schemas.microsoft.com/office/powerpoint/2010/main" val="41793333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7A308E-B20B-45F3-9364-CCD1F7931861}"/>
              </a:ext>
            </a:extLst>
          </p:cNvPr>
          <p:cNvSpPr>
            <a:spLocks noGrp="1"/>
          </p:cNvSpPr>
          <p:nvPr>
            <p:ph type="title"/>
          </p:nvPr>
        </p:nvSpPr>
        <p:spPr/>
        <p:txBody>
          <a:bodyPr/>
          <a:lstStyle/>
          <a:p>
            <a:r>
              <a:rPr lang="en-IN" dirty="0"/>
              <a:t>Disadvantages of File-Oriented System</a:t>
            </a:r>
          </a:p>
        </p:txBody>
      </p:sp>
      <p:sp>
        <p:nvSpPr>
          <p:cNvPr id="3" name="Content Placeholder 2">
            <a:extLst>
              <a:ext uri="{FF2B5EF4-FFF2-40B4-BE49-F238E27FC236}">
                <a16:creationId xmlns:a16="http://schemas.microsoft.com/office/drawing/2014/main" id="{51DB3ACE-5068-483D-BFD3-DBED597D2654}"/>
              </a:ext>
            </a:extLst>
          </p:cNvPr>
          <p:cNvSpPr>
            <a:spLocks noGrp="1"/>
          </p:cNvSpPr>
          <p:nvPr>
            <p:ph idx="1"/>
          </p:nvPr>
        </p:nvSpPr>
        <p:spPr/>
        <p:txBody>
          <a:bodyPr>
            <a:noAutofit/>
          </a:bodyPr>
          <a:lstStyle/>
          <a:p>
            <a:r>
              <a:rPr lang="en-IN" sz="2400" dirty="0"/>
              <a:t>Data redundancy</a:t>
            </a:r>
          </a:p>
          <a:p>
            <a:r>
              <a:rPr lang="en-IN" sz="2400" dirty="0"/>
              <a:t>Data inconsistency</a:t>
            </a:r>
          </a:p>
          <a:p>
            <a:r>
              <a:rPr lang="en-IN" sz="2400" dirty="0"/>
              <a:t>Program – Data dependence</a:t>
            </a:r>
          </a:p>
          <a:p>
            <a:r>
              <a:rPr lang="en-IN" sz="2400" dirty="0"/>
              <a:t>Poor data control</a:t>
            </a:r>
          </a:p>
          <a:p>
            <a:r>
              <a:rPr lang="en-IN" sz="2400" dirty="0"/>
              <a:t>Limited data sharing</a:t>
            </a:r>
          </a:p>
          <a:p>
            <a:r>
              <a:rPr lang="en-IN" sz="2400" dirty="0"/>
              <a:t>Inadequate data manipulation capabilities</a:t>
            </a:r>
          </a:p>
          <a:p>
            <a:r>
              <a:rPr lang="en-IN" sz="2400" dirty="0"/>
              <a:t>Excessive programming efforts</a:t>
            </a:r>
          </a:p>
          <a:p>
            <a:r>
              <a:rPr lang="en-IN" sz="2400" dirty="0"/>
              <a:t>Security problems</a:t>
            </a:r>
          </a:p>
        </p:txBody>
      </p:sp>
    </p:spTree>
    <p:extLst>
      <p:ext uri="{BB962C8B-B14F-4D97-AF65-F5344CB8AC3E}">
        <p14:creationId xmlns:p14="http://schemas.microsoft.com/office/powerpoint/2010/main" val="10725778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A0EFD3-E20E-4DF7-A991-79CE9FA00375}"/>
              </a:ext>
            </a:extLst>
          </p:cNvPr>
          <p:cNvSpPr>
            <a:spLocks noGrp="1"/>
          </p:cNvSpPr>
          <p:nvPr>
            <p:ph type="title"/>
          </p:nvPr>
        </p:nvSpPr>
        <p:spPr>
          <a:xfrm>
            <a:off x="838200" y="227495"/>
            <a:ext cx="10515600" cy="509518"/>
          </a:xfrm>
        </p:spPr>
        <p:txBody>
          <a:bodyPr>
            <a:normAutofit fontScale="90000"/>
          </a:bodyPr>
          <a:lstStyle/>
          <a:p>
            <a:r>
              <a:rPr lang="en-IN" dirty="0"/>
              <a:t>Functions/ Advantages of DBMS</a:t>
            </a:r>
          </a:p>
        </p:txBody>
      </p:sp>
      <p:sp>
        <p:nvSpPr>
          <p:cNvPr id="3" name="Content Placeholder 2">
            <a:extLst>
              <a:ext uri="{FF2B5EF4-FFF2-40B4-BE49-F238E27FC236}">
                <a16:creationId xmlns:a16="http://schemas.microsoft.com/office/drawing/2014/main" id="{94EDB934-DDC5-4983-AC1C-8022E3884144}"/>
              </a:ext>
            </a:extLst>
          </p:cNvPr>
          <p:cNvSpPr>
            <a:spLocks noGrp="1"/>
          </p:cNvSpPr>
          <p:nvPr>
            <p:ph idx="1"/>
          </p:nvPr>
        </p:nvSpPr>
        <p:spPr>
          <a:xfrm>
            <a:off x="838200" y="1060174"/>
            <a:ext cx="10515600" cy="5315572"/>
          </a:xfrm>
        </p:spPr>
        <p:txBody>
          <a:bodyPr>
            <a:normAutofit fontScale="92500" lnSpcReduction="10000"/>
          </a:bodyPr>
          <a:lstStyle/>
          <a:p>
            <a:pPr algn="just"/>
            <a:r>
              <a:rPr lang="en-IN" sz="2000" b="1" dirty="0"/>
              <a:t>Controlling Redundancy</a:t>
            </a:r>
            <a:r>
              <a:rPr lang="en-IN" sz="2000" dirty="0"/>
              <a:t>: Data redundancy leads to wasted storage space, duplication of effort (when multiple copies of a datum need to be updated), and a higher </a:t>
            </a:r>
            <a:r>
              <a:rPr lang="en-IN" sz="2000" dirty="0" err="1"/>
              <a:t>liklihood</a:t>
            </a:r>
            <a:r>
              <a:rPr lang="en-IN" sz="2000" dirty="0"/>
              <a:t> of the introduction of inconsistency</a:t>
            </a:r>
          </a:p>
          <a:p>
            <a:pPr algn="just"/>
            <a:r>
              <a:rPr lang="en-IN" sz="2000" b="1" dirty="0"/>
              <a:t>Restricting Unauthorized Access: </a:t>
            </a:r>
            <a:r>
              <a:rPr lang="en-IN" sz="2000" dirty="0"/>
              <a:t>provide a security and authorization subsystem, which is used for specifying restrictions on user accounts. Common kinds of restrictions are to allow read-only access (no updating), or access only to a subset of the data</a:t>
            </a:r>
          </a:p>
          <a:p>
            <a:pPr algn="just"/>
            <a:r>
              <a:rPr lang="en-IN" sz="2000" b="1" dirty="0"/>
              <a:t>Providing Persistent Storage for Program Objects</a:t>
            </a:r>
            <a:r>
              <a:rPr lang="en-IN" sz="2000" dirty="0"/>
              <a:t>:</a:t>
            </a:r>
          </a:p>
          <a:p>
            <a:pPr algn="just"/>
            <a:r>
              <a:rPr lang="en-IN" sz="2000" b="1" dirty="0"/>
              <a:t>Providing Storage Structures for Efficient Query Processing</a:t>
            </a:r>
            <a:r>
              <a:rPr lang="en-IN" sz="2000" dirty="0"/>
              <a:t>: The DBMS maintains indexes (form of trees and/or hash tables) that are utilized to improve the execution time of queries and updates.</a:t>
            </a:r>
          </a:p>
          <a:p>
            <a:pPr algn="just"/>
            <a:r>
              <a:rPr lang="en-IN" sz="2000" b="1" dirty="0"/>
              <a:t>Providing Backup and Recovery:</a:t>
            </a:r>
            <a:r>
              <a:rPr lang="en-IN" sz="2000" dirty="0"/>
              <a:t> The subsystem having this responsibility ensures that recovery is possible in the case of a system crash during execution of one or more transactions.</a:t>
            </a:r>
          </a:p>
          <a:p>
            <a:pPr algn="just"/>
            <a:r>
              <a:rPr lang="en-IN" sz="2000" b="1" dirty="0"/>
              <a:t>Providing Multiple User Interfaces: </a:t>
            </a:r>
          </a:p>
          <a:p>
            <a:pPr algn="just"/>
            <a:r>
              <a:rPr lang="en-IN" sz="2000" b="1" dirty="0"/>
              <a:t>Representing Complex Relationships Among Data:</a:t>
            </a:r>
          </a:p>
          <a:p>
            <a:pPr algn="just"/>
            <a:r>
              <a:rPr lang="en-IN" sz="2000" b="1" dirty="0"/>
              <a:t>Enforcing Integrity Constraints:</a:t>
            </a:r>
          </a:p>
        </p:txBody>
      </p:sp>
    </p:spTree>
    <p:extLst>
      <p:ext uri="{BB962C8B-B14F-4D97-AF65-F5344CB8AC3E}">
        <p14:creationId xmlns:p14="http://schemas.microsoft.com/office/powerpoint/2010/main" val="19665771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252488" cy="1320800"/>
          </a:xfrm>
        </p:spPr>
        <p:txBody>
          <a:bodyPr/>
          <a:lstStyle/>
          <a:p>
            <a:r>
              <a:rPr lang="en-US" dirty="0"/>
              <a:t>Difference between File System and Database Management System (DBMS)</a:t>
            </a:r>
            <a:endParaRPr lang="en-IN" dirty="0"/>
          </a:p>
        </p:txBody>
      </p:sp>
      <p:graphicFrame>
        <p:nvGraphicFramePr>
          <p:cNvPr id="4" name="Table 3"/>
          <p:cNvGraphicFramePr>
            <a:graphicFrameLocks noGrp="1"/>
          </p:cNvGraphicFramePr>
          <p:nvPr/>
        </p:nvGraphicFramePr>
        <p:xfrm>
          <a:off x="-1" y="1320800"/>
          <a:ext cx="11918197" cy="5358966"/>
        </p:xfrm>
        <a:graphic>
          <a:graphicData uri="http://schemas.openxmlformats.org/drawingml/2006/table">
            <a:tbl>
              <a:tblPr/>
              <a:tblGrid>
                <a:gridCol w="2061276">
                  <a:extLst>
                    <a:ext uri="{9D8B030D-6E8A-4147-A177-3AD203B41FA5}">
                      <a16:colId xmlns:a16="http://schemas.microsoft.com/office/drawing/2014/main" val="20000"/>
                    </a:ext>
                  </a:extLst>
                </a:gridCol>
                <a:gridCol w="4602996">
                  <a:extLst>
                    <a:ext uri="{9D8B030D-6E8A-4147-A177-3AD203B41FA5}">
                      <a16:colId xmlns:a16="http://schemas.microsoft.com/office/drawing/2014/main" val="20001"/>
                    </a:ext>
                  </a:extLst>
                </a:gridCol>
                <a:gridCol w="5253925">
                  <a:extLst>
                    <a:ext uri="{9D8B030D-6E8A-4147-A177-3AD203B41FA5}">
                      <a16:colId xmlns:a16="http://schemas.microsoft.com/office/drawing/2014/main" val="20002"/>
                    </a:ext>
                  </a:extLst>
                </a:gridCol>
              </a:tblGrid>
              <a:tr h="282381">
                <a:tc>
                  <a:txBody>
                    <a:bodyPr/>
                    <a:lstStyle/>
                    <a:p>
                      <a:r>
                        <a:rPr lang="en-IN" sz="1400" dirty="0"/>
                        <a:t>Feature</a:t>
                      </a:r>
                    </a:p>
                  </a:txBody>
                  <a:tcPr marL="33461" marR="33461" marT="16730" marB="16730" anchor="ctr">
                    <a:lnL>
                      <a:noFill/>
                    </a:lnL>
                    <a:lnR>
                      <a:noFill/>
                    </a:lnR>
                    <a:lnT>
                      <a:noFill/>
                    </a:lnT>
                    <a:lnB>
                      <a:noFill/>
                    </a:lnB>
                  </a:tcPr>
                </a:tc>
                <a:tc>
                  <a:txBody>
                    <a:bodyPr/>
                    <a:lstStyle/>
                    <a:p>
                      <a:r>
                        <a:rPr lang="en-IN" sz="1400"/>
                        <a:t>File System</a:t>
                      </a:r>
                    </a:p>
                  </a:txBody>
                  <a:tcPr marL="33461" marR="33461" marT="16730" marB="16730" anchor="ctr">
                    <a:lnL>
                      <a:noFill/>
                    </a:lnL>
                    <a:lnR>
                      <a:noFill/>
                    </a:lnR>
                    <a:lnT>
                      <a:noFill/>
                    </a:lnT>
                    <a:lnB>
                      <a:noFill/>
                    </a:lnB>
                  </a:tcPr>
                </a:tc>
                <a:tc>
                  <a:txBody>
                    <a:bodyPr/>
                    <a:lstStyle/>
                    <a:p>
                      <a:r>
                        <a:rPr lang="en-IN" sz="1400"/>
                        <a:t>Database Management System (DBMS)</a:t>
                      </a:r>
                    </a:p>
                  </a:txBody>
                  <a:tcPr marL="33461" marR="33461" marT="16730" marB="16730" anchor="ctr">
                    <a:lnL>
                      <a:noFill/>
                    </a:lnL>
                    <a:lnR>
                      <a:noFill/>
                    </a:lnR>
                    <a:lnT>
                      <a:noFill/>
                    </a:lnT>
                    <a:lnB>
                      <a:noFill/>
                    </a:lnB>
                  </a:tcPr>
                </a:tc>
                <a:extLst>
                  <a:ext uri="{0D108BD9-81ED-4DB2-BD59-A6C34878D82A}">
                    <a16:rowId xmlns:a16="http://schemas.microsoft.com/office/drawing/2014/main" val="10000"/>
                  </a:ext>
                </a:extLst>
              </a:tr>
              <a:tr h="701779">
                <a:tc>
                  <a:txBody>
                    <a:bodyPr/>
                    <a:lstStyle/>
                    <a:p>
                      <a:r>
                        <a:rPr lang="en-IN" sz="1400" b="1" dirty="0"/>
                        <a:t>1. Definition</a:t>
                      </a:r>
                      <a:endParaRPr lang="en-IN" sz="1400" dirty="0"/>
                    </a:p>
                  </a:txBody>
                  <a:tcPr marL="33461" marR="33461" marT="16730" marB="16730" anchor="ctr">
                    <a:lnL>
                      <a:noFill/>
                    </a:lnL>
                    <a:lnR>
                      <a:noFill/>
                    </a:lnR>
                    <a:lnT>
                      <a:noFill/>
                    </a:lnT>
                    <a:lnB>
                      <a:noFill/>
                    </a:lnB>
                  </a:tcPr>
                </a:tc>
                <a:tc>
                  <a:txBody>
                    <a:bodyPr/>
                    <a:lstStyle/>
                    <a:p>
                      <a:r>
                        <a:rPr lang="en-US" sz="1400"/>
                        <a:t>A file system is a method for storing and organizing files on storage devices like HDDs or SSDs.</a:t>
                      </a:r>
                    </a:p>
                  </a:txBody>
                  <a:tcPr marL="33461" marR="33461" marT="16730" marB="16730" anchor="ctr">
                    <a:lnL>
                      <a:noFill/>
                    </a:lnL>
                    <a:lnR>
                      <a:noFill/>
                    </a:lnR>
                    <a:lnT>
                      <a:noFill/>
                    </a:lnT>
                    <a:lnB>
                      <a:noFill/>
                    </a:lnB>
                  </a:tcPr>
                </a:tc>
                <a:tc>
                  <a:txBody>
                    <a:bodyPr/>
                    <a:lstStyle/>
                    <a:p>
                      <a:r>
                        <a:rPr lang="en-US" sz="1400"/>
                        <a:t>A DBMS is a software system that enables creation, manipulation, and management of databases.</a:t>
                      </a:r>
                    </a:p>
                  </a:txBody>
                  <a:tcPr marL="33461" marR="33461" marT="16730" marB="16730" anchor="ctr">
                    <a:lnL>
                      <a:noFill/>
                    </a:lnL>
                    <a:lnR>
                      <a:noFill/>
                    </a:lnR>
                    <a:lnT>
                      <a:noFill/>
                    </a:lnT>
                    <a:lnB>
                      <a:noFill/>
                    </a:lnB>
                  </a:tcPr>
                </a:tc>
                <a:extLst>
                  <a:ext uri="{0D108BD9-81ED-4DB2-BD59-A6C34878D82A}">
                    <a16:rowId xmlns:a16="http://schemas.microsoft.com/office/drawing/2014/main" val="10001"/>
                  </a:ext>
                </a:extLst>
              </a:tr>
              <a:tr h="481298">
                <a:tc>
                  <a:txBody>
                    <a:bodyPr/>
                    <a:lstStyle/>
                    <a:p>
                      <a:r>
                        <a:rPr lang="en-IN" sz="1400" b="1" dirty="0"/>
                        <a:t>2. Data Storage</a:t>
                      </a:r>
                      <a:endParaRPr lang="en-IN" sz="1400" dirty="0"/>
                    </a:p>
                  </a:txBody>
                  <a:tcPr marL="33461" marR="33461" marT="16730" marB="16730" anchor="ctr">
                    <a:lnL>
                      <a:noFill/>
                    </a:lnL>
                    <a:lnR>
                      <a:noFill/>
                    </a:lnR>
                    <a:lnT>
                      <a:noFill/>
                    </a:lnT>
                    <a:lnB>
                      <a:noFill/>
                    </a:lnB>
                  </a:tcPr>
                </a:tc>
                <a:tc>
                  <a:txBody>
                    <a:bodyPr/>
                    <a:lstStyle/>
                    <a:p>
                      <a:r>
                        <a:rPr lang="en-US" sz="1400"/>
                        <a:t>Data is stored in separate files, usually in formats like .txt, .csv, etc.</a:t>
                      </a:r>
                    </a:p>
                  </a:txBody>
                  <a:tcPr marL="33461" marR="33461" marT="16730" marB="16730" anchor="ctr">
                    <a:lnL>
                      <a:noFill/>
                    </a:lnL>
                    <a:lnR>
                      <a:noFill/>
                    </a:lnR>
                    <a:lnT>
                      <a:noFill/>
                    </a:lnT>
                    <a:lnB>
                      <a:noFill/>
                    </a:lnB>
                  </a:tcPr>
                </a:tc>
                <a:tc>
                  <a:txBody>
                    <a:bodyPr/>
                    <a:lstStyle/>
                    <a:p>
                      <a:r>
                        <a:rPr lang="en-US" sz="1400"/>
                        <a:t>Data is stored in structured tables in a database.</a:t>
                      </a:r>
                    </a:p>
                  </a:txBody>
                  <a:tcPr marL="33461" marR="33461" marT="16730" marB="16730" anchor="ctr">
                    <a:lnL>
                      <a:noFill/>
                    </a:lnL>
                    <a:lnR>
                      <a:noFill/>
                    </a:lnR>
                    <a:lnT>
                      <a:noFill/>
                    </a:lnT>
                    <a:lnB>
                      <a:noFill/>
                    </a:lnB>
                  </a:tcPr>
                </a:tc>
                <a:extLst>
                  <a:ext uri="{0D108BD9-81ED-4DB2-BD59-A6C34878D82A}">
                    <a16:rowId xmlns:a16="http://schemas.microsoft.com/office/drawing/2014/main" val="10002"/>
                  </a:ext>
                </a:extLst>
              </a:tr>
              <a:tr h="524422">
                <a:tc>
                  <a:txBody>
                    <a:bodyPr/>
                    <a:lstStyle/>
                    <a:p>
                      <a:r>
                        <a:rPr lang="en-IN" sz="1400" b="1" dirty="0"/>
                        <a:t>3. Data Access</a:t>
                      </a:r>
                      <a:endParaRPr lang="en-IN" sz="1400" dirty="0"/>
                    </a:p>
                  </a:txBody>
                  <a:tcPr marL="33461" marR="33461" marT="16730" marB="16730" anchor="ctr">
                    <a:lnL>
                      <a:noFill/>
                    </a:lnL>
                    <a:lnR>
                      <a:noFill/>
                    </a:lnR>
                    <a:lnT>
                      <a:noFill/>
                    </a:lnT>
                    <a:lnB>
                      <a:noFill/>
                    </a:lnB>
                  </a:tcPr>
                </a:tc>
                <a:tc>
                  <a:txBody>
                    <a:bodyPr/>
                    <a:lstStyle/>
                    <a:p>
                      <a:r>
                        <a:rPr lang="en-US" sz="1400" dirty="0"/>
                        <a:t>Manual access or through basic programming logic (e.g., file handling in Python).</a:t>
                      </a:r>
                    </a:p>
                  </a:txBody>
                  <a:tcPr marL="33461" marR="33461" marT="16730" marB="16730" anchor="ctr">
                    <a:lnL>
                      <a:noFill/>
                    </a:lnL>
                    <a:lnR>
                      <a:noFill/>
                    </a:lnR>
                    <a:lnT>
                      <a:noFill/>
                    </a:lnT>
                    <a:lnB>
                      <a:noFill/>
                    </a:lnB>
                  </a:tcPr>
                </a:tc>
                <a:tc>
                  <a:txBody>
                    <a:bodyPr/>
                    <a:lstStyle/>
                    <a:p>
                      <a:r>
                        <a:rPr lang="en-US" sz="1400"/>
                        <a:t>Accessed using structured queries (e.g., SQL).</a:t>
                      </a:r>
                    </a:p>
                  </a:txBody>
                  <a:tcPr marL="33461" marR="33461" marT="16730" marB="16730" anchor="ctr">
                    <a:lnL>
                      <a:noFill/>
                    </a:lnL>
                    <a:lnR>
                      <a:noFill/>
                    </a:lnR>
                    <a:lnT>
                      <a:noFill/>
                    </a:lnT>
                    <a:lnB>
                      <a:noFill/>
                    </a:lnB>
                  </a:tcPr>
                </a:tc>
                <a:extLst>
                  <a:ext uri="{0D108BD9-81ED-4DB2-BD59-A6C34878D82A}">
                    <a16:rowId xmlns:a16="http://schemas.microsoft.com/office/drawing/2014/main" val="10003"/>
                  </a:ext>
                </a:extLst>
              </a:tr>
              <a:tr h="481298">
                <a:tc>
                  <a:txBody>
                    <a:bodyPr/>
                    <a:lstStyle/>
                    <a:p>
                      <a:r>
                        <a:rPr lang="en-IN" sz="1400" b="1" dirty="0"/>
                        <a:t>4. Data Redundancy</a:t>
                      </a:r>
                      <a:endParaRPr lang="en-IN" sz="1400" dirty="0"/>
                    </a:p>
                  </a:txBody>
                  <a:tcPr marL="33461" marR="33461" marT="16730" marB="16730" anchor="ctr">
                    <a:lnL>
                      <a:noFill/>
                    </a:lnL>
                    <a:lnR>
                      <a:noFill/>
                    </a:lnR>
                    <a:lnT>
                      <a:noFill/>
                    </a:lnT>
                    <a:lnB>
                      <a:noFill/>
                    </a:lnB>
                  </a:tcPr>
                </a:tc>
                <a:tc>
                  <a:txBody>
                    <a:bodyPr/>
                    <a:lstStyle/>
                    <a:p>
                      <a:r>
                        <a:rPr lang="en-US" sz="1400"/>
                        <a:t>High — same data may be stored in multiple files.</a:t>
                      </a:r>
                    </a:p>
                  </a:txBody>
                  <a:tcPr marL="33461" marR="33461" marT="16730" marB="16730" anchor="ctr">
                    <a:lnL>
                      <a:noFill/>
                    </a:lnL>
                    <a:lnR>
                      <a:noFill/>
                    </a:lnR>
                    <a:lnT>
                      <a:noFill/>
                    </a:lnT>
                    <a:lnB>
                      <a:noFill/>
                    </a:lnB>
                  </a:tcPr>
                </a:tc>
                <a:tc>
                  <a:txBody>
                    <a:bodyPr/>
                    <a:lstStyle/>
                    <a:p>
                      <a:r>
                        <a:rPr lang="en-US" sz="1400"/>
                        <a:t>Controlled through normalization and relational design.</a:t>
                      </a:r>
                    </a:p>
                  </a:txBody>
                  <a:tcPr marL="33461" marR="33461" marT="16730" marB="16730" anchor="ctr">
                    <a:lnL>
                      <a:noFill/>
                    </a:lnL>
                    <a:lnR>
                      <a:noFill/>
                    </a:lnR>
                    <a:lnT>
                      <a:noFill/>
                    </a:lnT>
                    <a:lnB>
                      <a:noFill/>
                    </a:lnB>
                  </a:tcPr>
                </a:tc>
                <a:extLst>
                  <a:ext uri="{0D108BD9-81ED-4DB2-BD59-A6C34878D82A}">
                    <a16:rowId xmlns:a16="http://schemas.microsoft.com/office/drawing/2014/main" val="10004"/>
                  </a:ext>
                </a:extLst>
              </a:tr>
              <a:tr h="481298">
                <a:tc>
                  <a:txBody>
                    <a:bodyPr/>
                    <a:lstStyle/>
                    <a:p>
                      <a:r>
                        <a:rPr lang="en-IN" sz="1400" b="1" dirty="0"/>
                        <a:t>5. Data Integrity</a:t>
                      </a:r>
                      <a:endParaRPr lang="en-IN" sz="1400" dirty="0"/>
                    </a:p>
                  </a:txBody>
                  <a:tcPr marL="33461" marR="33461" marT="16730" marB="16730" anchor="ctr">
                    <a:lnL>
                      <a:noFill/>
                    </a:lnL>
                    <a:lnR>
                      <a:noFill/>
                    </a:lnR>
                    <a:lnT>
                      <a:noFill/>
                    </a:lnT>
                    <a:lnB>
                      <a:noFill/>
                    </a:lnB>
                  </a:tcPr>
                </a:tc>
                <a:tc>
                  <a:txBody>
                    <a:bodyPr/>
                    <a:lstStyle/>
                    <a:p>
                      <a:r>
                        <a:rPr lang="en-US" sz="1400" dirty="0"/>
                        <a:t>Hard to enforce; handled manually in the application code.</a:t>
                      </a:r>
                    </a:p>
                  </a:txBody>
                  <a:tcPr marL="33461" marR="33461" marT="16730" marB="16730" anchor="ctr">
                    <a:lnL>
                      <a:noFill/>
                    </a:lnL>
                    <a:lnR>
                      <a:noFill/>
                    </a:lnR>
                    <a:lnT>
                      <a:noFill/>
                    </a:lnT>
                    <a:lnB>
                      <a:noFill/>
                    </a:lnB>
                  </a:tcPr>
                </a:tc>
                <a:tc>
                  <a:txBody>
                    <a:bodyPr/>
                    <a:lstStyle/>
                    <a:p>
                      <a:r>
                        <a:rPr lang="en-US" sz="1400"/>
                        <a:t>Enforced through constraints, keys, and rules in DBMS.</a:t>
                      </a:r>
                    </a:p>
                  </a:txBody>
                  <a:tcPr marL="33461" marR="33461" marT="16730" marB="16730" anchor="ctr">
                    <a:lnL>
                      <a:noFill/>
                    </a:lnL>
                    <a:lnR>
                      <a:noFill/>
                    </a:lnR>
                    <a:lnT>
                      <a:noFill/>
                    </a:lnT>
                    <a:lnB>
                      <a:noFill/>
                    </a:lnB>
                  </a:tcPr>
                </a:tc>
                <a:extLst>
                  <a:ext uri="{0D108BD9-81ED-4DB2-BD59-A6C34878D82A}">
                    <a16:rowId xmlns:a16="http://schemas.microsoft.com/office/drawing/2014/main" val="10005"/>
                  </a:ext>
                </a:extLst>
              </a:tr>
              <a:tr h="481298">
                <a:tc>
                  <a:txBody>
                    <a:bodyPr/>
                    <a:lstStyle/>
                    <a:p>
                      <a:r>
                        <a:rPr lang="en-IN" sz="1400" b="1" dirty="0"/>
                        <a:t>6. Security</a:t>
                      </a:r>
                      <a:endParaRPr lang="en-IN" sz="1400" dirty="0"/>
                    </a:p>
                  </a:txBody>
                  <a:tcPr marL="33461" marR="33461" marT="16730" marB="16730" anchor="ctr">
                    <a:lnL>
                      <a:noFill/>
                    </a:lnL>
                    <a:lnR>
                      <a:noFill/>
                    </a:lnR>
                    <a:lnT>
                      <a:noFill/>
                    </a:lnT>
                    <a:lnB>
                      <a:noFill/>
                    </a:lnB>
                  </a:tcPr>
                </a:tc>
                <a:tc>
                  <a:txBody>
                    <a:bodyPr/>
                    <a:lstStyle/>
                    <a:p>
                      <a:r>
                        <a:rPr lang="en-US" sz="1400"/>
                        <a:t>Basic file-level security (read/write permissions).</a:t>
                      </a:r>
                    </a:p>
                  </a:txBody>
                  <a:tcPr marL="33461" marR="33461" marT="16730" marB="16730" anchor="ctr">
                    <a:lnL>
                      <a:noFill/>
                    </a:lnL>
                    <a:lnR>
                      <a:noFill/>
                    </a:lnR>
                    <a:lnT>
                      <a:noFill/>
                    </a:lnT>
                    <a:lnB>
                      <a:noFill/>
                    </a:lnB>
                  </a:tcPr>
                </a:tc>
                <a:tc>
                  <a:txBody>
                    <a:bodyPr/>
                    <a:lstStyle/>
                    <a:p>
                      <a:r>
                        <a:rPr lang="en-US" sz="1400"/>
                        <a:t>Advanced user-level and object-level security controls.</a:t>
                      </a:r>
                    </a:p>
                  </a:txBody>
                  <a:tcPr marL="33461" marR="33461" marT="16730" marB="16730" anchor="ctr">
                    <a:lnL>
                      <a:noFill/>
                    </a:lnL>
                    <a:lnR>
                      <a:noFill/>
                    </a:lnR>
                    <a:lnT>
                      <a:noFill/>
                    </a:lnT>
                    <a:lnB>
                      <a:noFill/>
                    </a:lnB>
                  </a:tcPr>
                </a:tc>
                <a:extLst>
                  <a:ext uri="{0D108BD9-81ED-4DB2-BD59-A6C34878D82A}">
                    <a16:rowId xmlns:a16="http://schemas.microsoft.com/office/drawing/2014/main" val="10006"/>
                  </a:ext>
                </a:extLst>
              </a:tr>
              <a:tr h="481298">
                <a:tc>
                  <a:txBody>
                    <a:bodyPr/>
                    <a:lstStyle/>
                    <a:p>
                      <a:r>
                        <a:rPr lang="en-IN" sz="1400" b="1" dirty="0"/>
                        <a:t>7. Concurrency</a:t>
                      </a:r>
                      <a:endParaRPr lang="en-IN" sz="1400" dirty="0"/>
                    </a:p>
                  </a:txBody>
                  <a:tcPr marL="33461" marR="33461" marT="16730" marB="16730" anchor="ctr">
                    <a:lnL>
                      <a:noFill/>
                    </a:lnL>
                    <a:lnR>
                      <a:noFill/>
                    </a:lnR>
                    <a:lnT>
                      <a:noFill/>
                    </a:lnT>
                    <a:lnB>
                      <a:noFill/>
                    </a:lnB>
                  </a:tcPr>
                </a:tc>
                <a:tc>
                  <a:txBody>
                    <a:bodyPr/>
                    <a:lstStyle/>
                    <a:p>
                      <a:r>
                        <a:rPr lang="en-US" sz="1400" dirty="0"/>
                        <a:t>Difficult — simultaneous access may corrupt data.</a:t>
                      </a:r>
                    </a:p>
                  </a:txBody>
                  <a:tcPr marL="33461" marR="33461" marT="16730" marB="16730" anchor="ctr">
                    <a:lnL>
                      <a:noFill/>
                    </a:lnL>
                    <a:lnR>
                      <a:noFill/>
                    </a:lnR>
                    <a:lnT>
                      <a:noFill/>
                    </a:lnT>
                    <a:lnB>
                      <a:noFill/>
                    </a:lnB>
                  </a:tcPr>
                </a:tc>
                <a:tc>
                  <a:txBody>
                    <a:bodyPr/>
                    <a:lstStyle/>
                    <a:p>
                      <a:r>
                        <a:rPr lang="en-US" sz="1400"/>
                        <a:t>Managed through transactions, locks, and concurrency control.</a:t>
                      </a:r>
                    </a:p>
                  </a:txBody>
                  <a:tcPr marL="33461" marR="33461" marT="16730" marB="16730" anchor="ctr">
                    <a:lnL>
                      <a:noFill/>
                    </a:lnL>
                    <a:lnR>
                      <a:noFill/>
                    </a:lnR>
                    <a:lnT>
                      <a:noFill/>
                    </a:lnT>
                    <a:lnB>
                      <a:noFill/>
                    </a:lnB>
                  </a:tcPr>
                </a:tc>
                <a:extLst>
                  <a:ext uri="{0D108BD9-81ED-4DB2-BD59-A6C34878D82A}">
                    <a16:rowId xmlns:a16="http://schemas.microsoft.com/office/drawing/2014/main" val="10007"/>
                  </a:ext>
                </a:extLst>
              </a:tr>
              <a:tr h="481298">
                <a:tc>
                  <a:txBody>
                    <a:bodyPr/>
                    <a:lstStyle/>
                    <a:p>
                      <a:r>
                        <a:rPr lang="en-IN" sz="1400" b="1" dirty="0"/>
                        <a:t>8. Backup and Recovery</a:t>
                      </a:r>
                      <a:endParaRPr lang="en-IN" sz="1400" dirty="0"/>
                    </a:p>
                  </a:txBody>
                  <a:tcPr marL="33461" marR="33461" marT="16730" marB="16730" anchor="ctr">
                    <a:lnL>
                      <a:noFill/>
                    </a:lnL>
                    <a:lnR>
                      <a:noFill/>
                    </a:lnR>
                    <a:lnT>
                      <a:noFill/>
                    </a:lnT>
                    <a:lnB>
                      <a:noFill/>
                    </a:lnB>
                  </a:tcPr>
                </a:tc>
                <a:tc>
                  <a:txBody>
                    <a:bodyPr/>
                    <a:lstStyle/>
                    <a:p>
                      <a:r>
                        <a:rPr lang="en-US" sz="1400" dirty="0"/>
                        <a:t>Needs manual handling via system tools or scripts.</a:t>
                      </a:r>
                    </a:p>
                  </a:txBody>
                  <a:tcPr marL="33461" marR="33461" marT="16730" marB="16730" anchor="ctr">
                    <a:lnL>
                      <a:noFill/>
                    </a:lnL>
                    <a:lnR>
                      <a:noFill/>
                    </a:lnR>
                    <a:lnT>
                      <a:noFill/>
                    </a:lnT>
                    <a:lnB>
                      <a:noFill/>
                    </a:lnB>
                  </a:tcPr>
                </a:tc>
                <a:tc>
                  <a:txBody>
                    <a:bodyPr/>
                    <a:lstStyle/>
                    <a:p>
                      <a:r>
                        <a:rPr lang="en-US" sz="1400"/>
                        <a:t>Built-in backup and recovery options in DBMS.</a:t>
                      </a:r>
                    </a:p>
                  </a:txBody>
                  <a:tcPr marL="33461" marR="33461" marT="16730" marB="16730" anchor="ctr">
                    <a:lnL>
                      <a:noFill/>
                    </a:lnL>
                    <a:lnR>
                      <a:noFill/>
                    </a:lnR>
                    <a:lnT>
                      <a:noFill/>
                    </a:lnT>
                    <a:lnB>
                      <a:noFill/>
                    </a:lnB>
                  </a:tcPr>
                </a:tc>
                <a:extLst>
                  <a:ext uri="{0D108BD9-81ED-4DB2-BD59-A6C34878D82A}">
                    <a16:rowId xmlns:a16="http://schemas.microsoft.com/office/drawing/2014/main" val="10008"/>
                  </a:ext>
                </a:extLst>
              </a:tr>
              <a:tr h="481298">
                <a:tc>
                  <a:txBody>
                    <a:bodyPr/>
                    <a:lstStyle/>
                    <a:p>
                      <a:r>
                        <a:rPr lang="en-IN" sz="1400" b="1" dirty="0"/>
                        <a:t>9. Querying</a:t>
                      </a:r>
                      <a:endParaRPr lang="en-IN" sz="1400" dirty="0"/>
                    </a:p>
                  </a:txBody>
                  <a:tcPr marL="33461" marR="33461" marT="16730" marB="16730" anchor="ctr">
                    <a:lnL>
                      <a:noFill/>
                    </a:lnL>
                    <a:lnR>
                      <a:noFill/>
                    </a:lnR>
                    <a:lnT>
                      <a:noFill/>
                    </a:lnT>
                    <a:lnB>
                      <a:noFill/>
                    </a:lnB>
                  </a:tcPr>
                </a:tc>
                <a:tc>
                  <a:txBody>
                    <a:bodyPr/>
                    <a:lstStyle/>
                    <a:p>
                      <a:r>
                        <a:rPr lang="en-US" sz="1400"/>
                        <a:t>No support for complex queries — needs procedural code.</a:t>
                      </a:r>
                    </a:p>
                  </a:txBody>
                  <a:tcPr marL="33461" marR="33461" marT="16730" marB="16730" anchor="ctr">
                    <a:lnL>
                      <a:noFill/>
                    </a:lnL>
                    <a:lnR>
                      <a:noFill/>
                    </a:lnR>
                    <a:lnT>
                      <a:noFill/>
                    </a:lnT>
                    <a:lnB>
                      <a:noFill/>
                    </a:lnB>
                  </a:tcPr>
                </a:tc>
                <a:tc>
                  <a:txBody>
                    <a:bodyPr/>
                    <a:lstStyle/>
                    <a:p>
                      <a:r>
                        <a:rPr lang="en-US" sz="1400"/>
                        <a:t>Supports powerful query languages like SQL.</a:t>
                      </a:r>
                    </a:p>
                  </a:txBody>
                  <a:tcPr marL="33461" marR="33461" marT="16730" marB="16730" anchor="ctr">
                    <a:lnL>
                      <a:noFill/>
                    </a:lnL>
                    <a:lnR>
                      <a:noFill/>
                    </a:lnR>
                    <a:lnT>
                      <a:noFill/>
                    </a:lnT>
                    <a:lnB>
                      <a:noFill/>
                    </a:lnB>
                  </a:tcPr>
                </a:tc>
                <a:extLst>
                  <a:ext uri="{0D108BD9-81ED-4DB2-BD59-A6C34878D82A}">
                    <a16:rowId xmlns:a16="http://schemas.microsoft.com/office/drawing/2014/main" val="10009"/>
                  </a:ext>
                </a:extLst>
              </a:tr>
              <a:tr h="481298">
                <a:tc>
                  <a:txBody>
                    <a:bodyPr/>
                    <a:lstStyle/>
                    <a:p>
                      <a:r>
                        <a:rPr lang="en-IN" sz="1400" b="1" dirty="0"/>
                        <a:t>10. Scalability</a:t>
                      </a:r>
                      <a:endParaRPr lang="en-IN" sz="1400" dirty="0"/>
                    </a:p>
                  </a:txBody>
                  <a:tcPr marL="33461" marR="33461" marT="16730" marB="16730" anchor="ctr">
                    <a:lnL>
                      <a:noFill/>
                    </a:lnL>
                    <a:lnR>
                      <a:noFill/>
                    </a:lnR>
                    <a:lnT>
                      <a:noFill/>
                    </a:lnT>
                    <a:lnB>
                      <a:noFill/>
                    </a:lnB>
                  </a:tcPr>
                </a:tc>
                <a:tc>
                  <a:txBody>
                    <a:bodyPr/>
                    <a:lstStyle/>
                    <a:p>
                      <a:r>
                        <a:rPr lang="en-US" sz="1400"/>
                        <a:t>Not scalable for large or complex datasets.</a:t>
                      </a:r>
                    </a:p>
                  </a:txBody>
                  <a:tcPr marL="33461" marR="33461" marT="16730" marB="16730" anchor="ctr">
                    <a:lnL>
                      <a:noFill/>
                    </a:lnL>
                    <a:lnR>
                      <a:noFill/>
                    </a:lnR>
                    <a:lnT>
                      <a:noFill/>
                    </a:lnT>
                    <a:lnB>
                      <a:noFill/>
                    </a:lnB>
                  </a:tcPr>
                </a:tc>
                <a:tc>
                  <a:txBody>
                    <a:bodyPr/>
                    <a:lstStyle/>
                    <a:p>
                      <a:r>
                        <a:rPr lang="en-IN" sz="1400" dirty="0"/>
                        <a:t>Scalable and efficient for large enterprise applications.</a:t>
                      </a:r>
                    </a:p>
                  </a:txBody>
                  <a:tcPr marL="33461" marR="33461" marT="16730" marB="16730" anchor="ctr">
                    <a:lnL>
                      <a:noFill/>
                    </a:lnL>
                    <a:lnR>
                      <a:noFill/>
                    </a:lnR>
                    <a:lnT>
                      <a:noFill/>
                    </a:lnT>
                    <a:lnB>
                      <a:noFill/>
                    </a:lnB>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4823120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23FFAC-C7D1-4ABF-B2DC-CE3B47B64C0E}"/>
              </a:ext>
            </a:extLst>
          </p:cNvPr>
          <p:cNvSpPr>
            <a:spLocks noGrp="1"/>
          </p:cNvSpPr>
          <p:nvPr>
            <p:ph type="title"/>
          </p:nvPr>
        </p:nvSpPr>
        <p:spPr>
          <a:xfrm>
            <a:off x="0" y="0"/>
            <a:ext cx="10515600" cy="464869"/>
          </a:xfrm>
        </p:spPr>
        <p:txBody>
          <a:bodyPr>
            <a:normAutofit fontScale="90000"/>
          </a:bodyPr>
          <a:lstStyle/>
          <a:p>
            <a:r>
              <a:rPr lang="en-IN" dirty="0"/>
              <a:t>Simplified database system environment</a:t>
            </a:r>
          </a:p>
        </p:txBody>
      </p:sp>
      <p:pic>
        <p:nvPicPr>
          <p:cNvPr id="5" name="Picture 4">
            <a:extLst>
              <a:ext uri="{FF2B5EF4-FFF2-40B4-BE49-F238E27FC236}">
                <a16:creationId xmlns:a16="http://schemas.microsoft.com/office/drawing/2014/main" id="{891547E3-55DC-4A3F-8D10-0E171B3E8AEA}"/>
              </a:ext>
            </a:extLst>
          </p:cNvPr>
          <p:cNvPicPr>
            <a:picLocks noChangeAspect="1"/>
          </p:cNvPicPr>
          <p:nvPr/>
        </p:nvPicPr>
        <p:blipFill>
          <a:blip r:embed="rId2"/>
          <a:stretch>
            <a:fillRect/>
          </a:stretch>
        </p:blipFill>
        <p:spPr>
          <a:xfrm>
            <a:off x="1019503" y="661182"/>
            <a:ext cx="5560642" cy="6196818"/>
          </a:xfrm>
          <a:prstGeom prst="rect">
            <a:avLst/>
          </a:prstGeom>
        </p:spPr>
      </p:pic>
    </p:spTree>
    <p:extLst>
      <p:ext uri="{BB962C8B-B14F-4D97-AF65-F5344CB8AC3E}">
        <p14:creationId xmlns:p14="http://schemas.microsoft.com/office/powerpoint/2010/main" val="24529200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4F393-5262-4DEB-AED4-DC730D968F47}"/>
              </a:ext>
            </a:extLst>
          </p:cNvPr>
          <p:cNvSpPr>
            <a:spLocks noGrp="1"/>
          </p:cNvSpPr>
          <p:nvPr>
            <p:ph type="title"/>
          </p:nvPr>
        </p:nvSpPr>
        <p:spPr/>
        <p:txBody>
          <a:bodyPr/>
          <a:lstStyle/>
          <a:p>
            <a:r>
              <a:rPr lang="en-IN" dirty="0"/>
              <a:t>Database Environment</a:t>
            </a:r>
          </a:p>
        </p:txBody>
      </p:sp>
      <p:sp>
        <p:nvSpPr>
          <p:cNvPr id="3" name="Content Placeholder 2">
            <a:extLst>
              <a:ext uri="{FF2B5EF4-FFF2-40B4-BE49-F238E27FC236}">
                <a16:creationId xmlns:a16="http://schemas.microsoft.com/office/drawing/2014/main" id="{BACA3C44-B87A-47BD-A9ED-E58DAD767C61}"/>
              </a:ext>
            </a:extLst>
          </p:cNvPr>
          <p:cNvSpPr>
            <a:spLocks noGrp="1"/>
          </p:cNvSpPr>
          <p:nvPr>
            <p:ph idx="1"/>
          </p:nvPr>
        </p:nvSpPr>
        <p:spPr>
          <a:xfrm>
            <a:off x="838200" y="1825624"/>
            <a:ext cx="10515600" cy="4842461"/>
          </a:xfrm>
        </p:spPr>
        <p:txBody>
          <a:bodyPr>
            <a:normAutofit lnSpcReduction="10000"/>
          </a:bodyPr>
          <a:lstStyle/>
          <a:p>
            <a:pPr algn="just"/>
            <a:r>
              <a:rPr lang="en-IN" dirty="0"/>
              <a:t>Database environment is a collective system of components that comprises and regulate the group of data, management and use of data which consists of s/w, h/w, people, techniques of handling DB and data also.</a:t>
            </a:r>
          </a:p>
          <a:p>
            <a:pPr algn="just"/>
            <a:r>
              <a:rPr lang="en-IN" dirty="0"/>
              <a:t>DBMS: A piece of s/w that manages databases and lets you create, edit and delete databases, their tables and their data.</a:t>
            </a:r>
          </a:p>
          <a:p>
            <a:pPr algn="just"/>
            <a:r>
              <a:rPr lang="en-IN" dirty="0"/>
              <a:t>DBMS are of 3 type:</a:t>
            </a:r>
          </a:p>
          <a:p>
            <a:pPr lvl="1" algn="just"/>
            <a:r>
              <a:rPr lang="en-IN" dirty="0"/>
              <a:t>RDBMS (Relational Database Management System): Stores its data and metadata in tables and access them using SQL</a:t>
            </a:r>
          </a:p>
          <a:p>
            <a:pPr lvl="1" algn="just"/>
            <a:r>
              <a:rPr lang="en-IN" dirty="0"/>
              <a:t>OODBMS (Object-Oriented Database Management System): Represent the data in the form of objects and uses OQL</a:t>
            </a:r>
          </a:p>
          <a:p>
            <a:pPr lvl="1" algn="just"/>
            <a:r>
              <a:rPr lang="en-IN" dirty="0"/>
              <a:t>ORDBMS(Object-Relational Database Management System): Represents some part of the data in the form of tables and some other part of the data in the form of objects. It uses SQL3 which is a combination of  SQL2 and OQL</a:t>
            </a:r>
          </a:p>
          <a:p>
            <a:pPr algn="just"/>
            <a:r>
              <a:rPr lang="en-IN" dirty="0"/>
              <a:t>Example of RDBMS</a:t>
            </a:r>
          </a:p>
          <a:p>
            <a:pPr lvl="1" algn="just"/>
            <a:r>
              <a:rPr lang="en-IN" dirty="0"/>
              <a:t>Oracle, DB2, IBM, MySQL, Microsoft </a:t>
            </a:r>
            <a:r>
              <a:rPr lang="en-IN" dirty="0" err="1"/>
              <a:t>SQLServer</a:t>
            </a:r>
            <a:r>
              <a:rPr lang="en-IN" dirty="0"/>
              <a:t> and PostgreSQL, SAP, Sybase ASE, Informix etc…</a:t>
            </a:r>
          </a:p>
        </p:txBody>
      </p:sp>
    </p:spTree>
    <p:extLst>
      <p:ext uri="{BB962C8B-B14F-4D97-AF65-F5344CB8AC3E}">
        <p14:creationId xmlns:p14="http://schemas.microsoft.com/office/powerpoint/2010/main" val="40164650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D77686-35A6-4C19-9E7D-AD49820C1DAF}"/>
              </a:ext>
            </a:extLst>
          </p:cNvPr>
          <p:cNvSpPr>
            <a:spLocks noGrp="1"/>
          </p:cNvSpPr>
          <p:nvPr>
            <p:ph type="title"/>
          </p:nvPr>
        </p:nvSpPr>
        <p:spPr/>
        <p:txBody>
          <a:bodyPr/>
          <a:lstStyle/>
          <a:p>
            <a:r>
              <a:rPr lang="en-IN" dirty="0"/>
              <a:t>Characteristics of Database Approach</a:t>
            </a:r>
          </a:p>
        </p:txBody>
      </p:sp>
      <p:sp>
        <p:nvSpPr>
          <p:cNvPr id="3" name="Content Placeholder 2">
            <a:extLst>
              <a:ext uri="{FF2B5EF4-FFF2-40B4-BE49-F238E27FC236}">
                <a16:creationId xmlns:a16="http://schemas.microsoft.com/office/drawing/2014/main" id="{9E19BB56-CA56-48B5-9CCD-A395E1728A39}"/>
              </a:ext>
            </a:extLst>
          </p:cNvPr>
          <p:cNvSpPr>
            <a:spLocks noGrp="1"/>
          </p:cNvSpPr>
          <p:nvPr>
            <p:ph idx="1"/>
          </p:nvPr>
        </p:nvSpPr>
        <p:spPr/>
        <p:txBody>
          <a:bodyPr/>
          <a:lstStyle/>
          <a:p>
            <a:r>
              <a:rPr lang="en-IN" dirty="0"/>
              <a:t>Self-describing nature of a database system (Metadata)</a:t>
            </a:r>
          </a:p>
          <a:p>
            <a:r>
              <a:rPr lang="en-IN" dirty="0"/>
              <a:t>Insulation between programs and data – Data Abstraction (Program data Independence)</a:t>
            </a:r>
          </a:p>
          <a:p>
            <a:r>
              <a:rPr lang="en-IN" dirty="0"/>
              <a:t>Supports multiple views of the data</a:t>
            </a:r>
          </a:p>
          <a:p>
            <a:r>
              <a:rPr lang="en-IN" dirty="0"/>
              <a:t>Sharing of data and multiuser transaction processing</a:t>
            </a:r>
          </a:p>
        </p:txBody>
      </p:sp>
    </p:spTree>
    <p:extLst>
      <p:ext uri="{BB962C8B-B14F-4D97-AF65-F5344CB8AC3E}">
        <p14:creationId xmlns:p14="http://schemas.microsoft.com/office/powerpoint/2010/main" val="23297748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6AEF60-DFCA-46C7-992C-1C750FBA3E95}"/>
              </a:ext>
            </a:extLst>
          </p:cNvPr>
          <p:cNvSpPr>
            <a:spLocks noGrp="1"/>
          </p:cNvSpPr>
          <p:nvPr>
            <p:ph type="title"/>
          </p:nvPr>
        </p:nvSpPr>
        <p:spPr/>
        <p:txBody>
          <a:bodyPr/>
          <a:lstStyle/>
          <a:p>
            <a:r>
              <a:rPr lang="en-IN" dirty="0"/>
              <a:t>Data Models</a:t>
            </a:r>
          </a:p>
        </p:txBody>
      </p:sp>
      <p:sp>
        <p:nvSpPr>
          <p:cNvPr id="3" name="Content Placeholder 2">
            <a:extLst>
              <a:ext uri="{FF2B5EF4-FFF2-40B4-BE49-F238E27FC236}">
                <a16:creationId xmlns:a16="http://schemas.microsoft.com/office/drawing/2014/main" id="{34F693B6-0D04-44AC-BC60-4BD8D555295E}"/>
              </a:ext>
            </a:extLst>
          </p:cNvPr>
          <p:cNvSpPr>
            <a:spLocks noGrp="1"/>
          </p:cNvSpPr>
          <p:nvPr>
            <p:ph idx="1"/>
          </p:nvPr>
        </p:nvSpPr>
        <p:spPr>
          <a:xfrm>
            <a:off x="838200" y="1825625"/>
            <a:ext cx="10515600" cy="4667250"/>
          </a:xfrm>
        </p:spPr>
        <p:txBody>
          <a:bodyPr>
            <a:normAutofit/>
          </a:bodyPr>
          <a:lstStyle/>
          <a:p>
            <a:pPr algn="just"/>
            <a:r>
              <a:rPr lang="en-IN" dirty="0"/>
              <a:t>Underlying the structure of a database is the data model</a:t>
            </a:r>
          </a:p>
          <a:p>
            <a:pPr algn="just"/>
            <a:r>
              <a:rPr lang="en-IN" dirty="0"/>
              <a:t>It is a collection of conceptual tools for describing data, data relationships, data semantics, and consistency constraints</a:t>
            </a:r>
          </a:p>
          <a:p>
            <a:pPr algn="just"/>
            <a:r>
              <a:rPr lang="en-IN" dirty="0"/>
              <a:t>A data model provides a way to describe the design of a database at the physical, logical, and view levels</a:t>
            </a:r>
          </a:p>
          <a:p>
            <a:pPr algn="just"/>
            <a:r>
              <a:rPr lang="en-IN" dirty="0"/>
              <a:t>There are a number of different data models that can be classified into four different categories</a:t>
            </a:r>
          </a:p>
          <a:p>
            <a:pPr lvl="1" algn="just"/>
            <a:r>
              <a:rPr lang="en-IN" dirty="0"/>
              <a:t>(Network data model and the Hierarchical data model – are now obsoleted model, only old database code uses it)</a:t>
            </a:r>
          </a:p>
          <a:p>
            <a:pPr lvl="1" algn="just"/>
            <a:r>
              <a:rPr lang="en-IN" dirty="0"/>
              <a:t>Relational model</a:t>
            </a:r>
          </a:p>
          <a:p>
            <a:pPr lvl="1" algn="just"/>
            <a:r>
              <a:rPr lang="en-IN" dirty="0"/>
              <a:t>ER Model</a:t>
            </a:r>
          </a:p>
          <a:p>
            <a:pPr lvl="1" algn="just"/>
            <a:r>
              <a:rPr lang="en-IN" dirty="0"/>
              <a:t>Object Based Data Model</a:t>
            </a:r>
          </a:p>
          <a:p>
            <a:pPr lvl="1" algn="just"/>
            <a:r>
              <a:rPr lang="en-IN" dirty="0"/>
              <a:t>Semi structured Data Model</a:t>
            </a:r>
          </a:p>
          <a:p>
            <a:pPr lvl="1" algn="just"/>
            <a:endParaRPr lang="en-IN" dirty="0"/>
          </a:p>
        </p:txBody>
      </p:sp>
    </p:spTree>
    <p:extLst>
      <p:ext uri="{BB962C8B-B14F-4D97-AF65-F5344CB8AC3E}">
        <p14:creationId xmlns:p14="http://schemas.microsoft.com/office/powerpoint/2010/main" val="19402684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D14FB-DA85-4E92-9F35-815DBF9EEC48}"/>
              </a:ext>
            </a:extLst>
          </p:cNvPr>
          <p:cNvSpPr>
            <a:spLocks noGrp="1"/>
          </p:cNvSpPr>
          <p:nvPr>
            <p:ph type="title"/>
          </p:nvPr>
        </p:nvSpPr>
        <p:spPr/>
        <p:txBody>
          <a:bodyPr/>
          <a:lstStyle/>
          <a:p>
            <a:r>
              <a:rPr lang="en-IN" dirty="0"/>
              <a:t>Relational Model</a:t>
            </a:r>
          </a:p>
        </p:txBody>
      </p:sp>
      <p:sp>
        <p:nvSpPr>
          <p:cNvPr id="3" name="Content Placeholder 2">
            <a:extLst>
              <a:ext uri="{FF2B5EF4-FFF2-40B4-BE49-F238E27FC236}">
                <a16:creationId xmlns:a16="http://schemas.microsoft.com/office/drawing/2014/main" id="{68E7F396-6B38-4A63-ADB5-4F2A58183B10}"/>
              </a:ext>
            </a:extLst>
          </p:cNvPr>
          <p:cNvSpPr>
            <a:spLocks noGrp="1"/>
          </p:cNvSpPr>
          <p:nvPr>
            <p:ph idx="1"/>
          </p:nvPr>
        </p:nvSpPr>
        <p:spPr>
          <a:xfrm>
            <a:off x="838200" y="1825624"/>
            <a:ext cx="10515600" cy="4879975"/>
          </a:xfrm>
        </p:spPr>
        <p:txBody>
          <a:bodyPr>
            <a:normAutofit/>
          </a:bodyPr>
          <a:lstStyle/>
          <a:p>
            <a:r>
              <a:rPr lang="en-IN" dirty="0"/>
              <a:t>The relational model uses a collection of tables to represent both data and the relationships among those data. </a:t>
            </a:r>
          </a:p>
          <a:p>
            <a:r>
              <a:rPr lang="en-IN" dirty="0"/>
              <a:t>Each table has multiple columns, and each column has a unique name. </a:t>
            </a:r>
          </a:p>
          <a:p>
            <a:r>
              <a:rPr lang="en-IN" dirty="0"/>
              <a:t>Tables are also known as relations. </a:t>
            </a:r>
          </a:p>
          <a:p>
            <a:r>
              <a:rPr lang="en-IN" dirty="0"/>
              <a:t>The relational model is an example of a record-based model.</a:t>
            </a:r>
          </a:p>
          <a:p>
            <a:r>
              <a:rPr lang="en-IN" dirty="0"/>
              <a:t>Record-based models are so named because the database is structured in fixed-format records of several types. </a:t>
            </a:r>
          </a:p>
          <a:p>
            <a:r>
              <a:rPr lang="en-IN" dirty="0"/>
              <a:t>Each table contains records of a particular type. </a:t>
            </a:r>
          </a:p>
          <a:p>
            <a:r>
              <a:rPr lang="en-IN" dirty="0"/>
              <a:t>Each record type defines a fixed number of fields, or attributes.</a:t>
            </a:r>
          </a:p>
          <a:p>
            <a:r>
              <a:rPr lang="en-IN" dirty="0"/>
              <a:t>The columns of the table correspond to the attributes of the record type. </a:t>
            </a:r>
          </a:p>
          <a:p>
            <a:r>
              <a:rPr lang="en-IN" dirty="0"/>
              <a:t>The relational data model is the most widely used data model, and a vast majority of current database systems are based on the relational model</a:t>
            </a:r>
          </a:p>
        </p:txBody>
      </p:sp>
    </p:spTree>
    <p:extLst>
      <p:ext uri="{BB962C8B-B14F-4D97-AF65-F5344CB8AC3E}">
        <p14:creationId xmlns:p14="http://schemas.microsoft.com/office/powerpoint/2010/main" val="40800374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666A5-7C9D-4918-A805-5F84F5EF5398}"/>
              </a:ext>
            </a:extLst>
          </p:cNvPr>
          <p:cNvSpPr>
            <a:spLocks noGrp="1"/>
          </p:cNvSpPr>
          <p:nvPr>
            <p:ph type="title"/>
          </p:nvPr>
        </p:nvSpPr>
        <p:spPr/>
        <p:txBody>
          <a:bodyPr/>
          <a:lstStyle/>
          <a:p>
            <a:r>
              <a:rPr lang="en-IN" dirty="0"/>
              <a:t>Entity-Relationship Model</a:t>
            </a:r>
          </a:p>
        </p:txBody>
      </p:sp>
      <p:sp>
        <p:nvSpPr>
          <p:cNvPr id="3" name="Content Placeholder 2">
            <a:extLst>
              <a:ext uri="{FF2B5EF4-FFF2-40B4-BE49-F238E27FC236}">
                <a16:creationId xmlns:a16="http://schemas.microsoft.com/office/drawing/2014/main" id="{6DEF72BB-D7D7-4026-85A6-2050523D4F30}"/>
              </a:ext>
            </a:extLst>
          </p:cNvPr>
          <p:cNvSpPr>
            <a:spLocks noGrp="1"/>
          </p:cNvSpPr>
          <p:nvPr>
            <p:ph idx="1"/>
          </p:nvPr>
        </p:nvSpPr>
        <p:spPr/>
        <p:txBody>
          <a:bodyPr/>
          <a:lstStyle/>
          <a:p>
            <a:r>
              <a:rPr lang="en-IN" dirty="0"/>
              <a:t>The entity-relationship (E-R) data model uses a collection of basic objects, called entities, and relationships among these objects.</a:t>
            </a:r>
          </a:p>
          <a:p>
            <a:r>
              <a:rPr lang="en-IN" dirty="0"/>
              <a:t>An entity is a “thing” or “object” in the real world that is distinguishable from other objects. </a:t>
            </a:r>
          </a:p>
          <a:p>
            <a:r>
              <a:rPr lang="en-IN" dirty="0"/>
              <a:t>The entity-relationship model is widely used in database design</a:t>
            </a:r>
          </a:p>
        </p:txBody>
      </p:sp>
    </p:spTree>
    <p:extLst>
      <p:ext uri="{BB962C8B-B14F-4D97-AF65-F5344CB8AC3E}">
        <p14:creationId xmlns:p14="http://schemas.microsoft.com/office/powerpoint/2010/main" val="20405232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96E1C7-6032-4CA9-AF6F-33682D005257}"/>
              </a:ext>
            </a:extLst>
          </p:cNvPr>
          <p:cNvSpPr>
            <a:spLocks noGrp="1"/>
          </p:cNvSpPr>
          <p:nvPr>
            <p:ph type="title"/>
          </p:nvPr>
        </p:nvSpPr>
        <p:spPr/>
        <p:txBody>
          <a:bodyPr/>
          <a:lstStyle/>
          <a:p>
            <a:r>
              <a:rPr lang="en-IN" dirty="0"/>
              <a:t>Data dictionary</a:t>
            </a:r>
          </a:p>
        </p:txBody>
      </p:sp>
      <p:sp>
        <p:nvSpPr>
          <p:cNvPr id="3" name="Content Placeholder 2">
            <a:extLst>
              <a:ext uri="{FF2B5EF4-FFF2-40B4-BE49-F238E27FC236}">
                <a16:creationId xmlns:a16="http://schemas.microsoft.com/office/drawing/2014/main" id="{3953C290-26C3-4A1D-85A2-35F0D0FA2A5D}"/>
              </a:ext>
            </a:extLst>
          </p:cNvPr>
          <p:cNvSpPr>
            <a:spLocks noGrp="1"/>
          </p:cNvSpPr>
          <p:nvPr>
            <p:ph idx="1"/>
          </p:nvPr>
        </p:nvSpPr>
        <p:spPr/>
        <p:txBody>
          <a:bodyPr>
            <a:normAutofit lnSpcReduction="10000"/>
          </a:bodyPr>
          <a:lstStyle/>
          <a:p>
            <a:r>
              <a:rPr lang="en-IN" dirty="0"/>
              <a:t>The data dictionary is considered to be a special type of table that can only be accessed and updated by the database system itself (not a regular user). </a:t>
            </a:r>
          </a:p>
          <a:p>
            <a:r>
              <a:rPr lang="en-IN" dirty="0"/>
              <a:t>The database system consults the data dictionary before reading or modifying actual data</a:t>
            </a:r>
          </a:p>
          <a:p>
            <a:r>
              <a:rPr lang="en-IN" dirty="0"/>
              <a:t>Data dictionary contains Meta Data about the structure of the database, i.e. the schema of the database.</a:t>
            </a:r>
          </a:p>
          <a:p>
            <a:r>
              <a:rPr lang="en-IN" dirty="0"/>
              <a:t>A relational database system needs to maintain data about the relations, such as the schema of the relations. In general, such “data about data” is referred to as metadata</a:t>
            </a:r>
          </a:p>
          <a:p>
            <a:r>
              <a:rPr lang="en-IN" dirty="0"/>
              <a:t>Data dictionary is also called as System </a:t>
            </a:r>
            <a:r>
              <a:rPr lang="en-IN" dirty="0" err="1"/>
              <a:t>Catalog</a:t>
            </a:r>
            <a:endParaRPr lang="en-IN" dirty="0"/>
          </a:p>
          <a:p>
            <a:r>
              <a:rPr lang="en-IN" dirty="0"/>
              <a:t>The data dictionary is often stored in a nonnormalized form to achieve fast access</a:t>
            </a:r>
          </a:p>
          <a:p>
            <a:endParaRPr lang="en-IN" dirty="0"/>
          </a:p>
        </p:txBody>
      </p:sp>
    </p:spTree>
    <p:extLst>
      <p:ext uri="{BB962C8B-B14F-4D97-AF65-F5344CB8AC3E}">
        <p14:creationId xmlns:p14="http://schemas.microsoft.com/office/powerpoint/2010/main" val="16638206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B1D14-47E9-40BC-82F3-6592B11E7B8E}"/>
              </a:ext>
            </a:extLst>
          </p:cNvPr>
          <p:cNvSpPr>
            <a:spLocks noGrp="1"/>
          </p:cNvSpPr>
          <p:nvPr>
            <p:ph type="title"/>
          </p:nvPr>
        </p:nvSpPr>
        <p:spPr>
          <a:xfrm>
            <a:off x="838200" y="125897"/>
            <a:ext cx="10515600" cy="390249"/>
          </a:xfrm>
        </p:spPr>
        <p:txBody>
          <a:bodyPr>
            <a:normAutofit fontScale="90000"/>
          </a:bodyPr>
          <a:lstStyle/>
          <a:p>
            <a:r>
              <a:rPr lang="en-IN" dirty="0"/>
              <a:t>Information stored in Data Dictionary are:</a:t>
            </a:r>
          </a:p>
        </p:txBody>
      </p:sp>
      <p:sp>
        <p:nvSpPr>
          <p:cNvPr id="3" name="Content Placeholder 2">
            <a:extLst>
              <a:ext uri="{FF2B5EF4-FFF2-40B4-BE49-F238E27FC236}">
                <a16:creationId xmlns:a16="http://schemas.microsoft.com/office/drawing/2014/main" id="{CB087B7E-9115-4F5E-B5DE-656D7EA3EAAF}"/>
              </a:ext>
            </a:extLst>
          </p:cNvPr>
          <p:cNvSpPr>
            <a:spLocks noGrp="1"/>
          </p:cNvSpPr>
          <p:nvPr>
            <p:ph idx="1"/>
          </p:nvPr>
        </p:nvSpPr>
        <p:spPr>
          <a:xfrm>
            <a:off x="838200" y="795130"/>
            <a:ext cx="10515600" cy="5936973"/>
          </a:xfrm>
        </p:spPr>
        <p:txBody>
          <a:bodyPr>
            <a:normAutofit fontScale="92500" lnSpcReduction="20000"/>
          </a:bodyPr>
          <a:lstStyle/>
          <a:p>
            <a:r>
              <a:rPr lang="en-IN" dirty="0"/>
              <a:t>Names of the relations.</a:t>
            </a:r>
          </a:p>
          <a:p>
            <a:r>
              <a:rPr lang="en-IN" dirty="0"/>
              <a:t>Names of the attributes of each relation.</a:t>
            </a:r>
          </a:p>
          <a:p>
            <a:r>
              <a:rPr lang="en-IN" dirty="0"/>
              <a:t>Domains and lengths of attributes.</a:t>
            </a:r>
          </a:p>
          <a:p>
            <a:r>
              <a:rPr lang="en-IN" dirty="0"/>
              <a:t>Names of views defined on the database, and definitions of those views.</a:t>
            </a:r>
          </a:p>
          <a:p>
            <a:r>
              <a:rPr lang="en-IN" dirty="0"/>
              <a:t>Integrity constraints (for example, key constraints).</a:t>
            </a:r>
          </a:p>
          <a:p>
            <a:r>
              <a:rPr lang="en-IN" dirty="0"/>
              <a:t>Names of authorized users.</a:t>
            </a:r>
          </a:p>
          <a:p>
            <a:r>
              <a:rPr lang="en-IN" dirty="0"/>
              <a:t>Authorization and accounting information about users.</a:t>
            </a:r>
          </a:p>
          <a:p>
            <a:r>
              <a:rPr lang="en-IN" dirty="0"/>
              <a:t>Passwords or other information used to authenticate users.</a:t>
            </a:r>
          </a:p>
          <a:p>
            <a:r>
              <a:rPr lang="en-IN" dirty="0"/>
              <a:t>Number of tuples in each relation.</a:t>
            </a:r>
          </a:p>
          <a:p>
            <a:r>
              <a:rPr lang="en-IN" dirty="0"/>
              <a:t>Method of storage for each relation</a:t>
            </a:r>
          </a:p>
          <a:p>
            <a:r>
              <a:rPr lang="en-IN" dirty="0"/>
              <a:t>If relations are stored in operating system files, the dictionary would note the names of the file (or files) containing each relation.</a:t>
            </a:r>
          </a:p>
          <a:p>
            <a:r>
              <a:rPr lang="en-IN" dirty="0"/>
              <a:t>If the database stores all relations in a single file, the dictionary may note the blocks containing records of each relation in a data structure such as a linked list.</a:t>
            </a:r>
          </a:p>
          <a:p>
            <a:r>
              <a:rPr lang="en-IN" dirty="0"/>
              <a:t>Name of the index.</a:t>
            </a:r>
          </a:p>
          <a:p>
            <a:r>
              <a:rPr lang="en-IN" dirty="0"/>
              <a:t>Name of the relation being indexed.</a:t>
            </a:r>
          </a:p>
          <a:p>
            <a:r>
              <a:rPr lang="en-IN" dirty="0"/>
              <a:t>Attributes on which the index is defined.</a:t>
            </a:r>
          </a:p>
          <a:p>
            <a:r>
              <a:rPr lang="en-IN" dirty="0"/>
              <a:t>Type of index formed.</a:t>
            </a:r>
          </a:p>
        </p:txBody>
      </p:sp>
    </p:spTree>
    <p:extLst>
      <p:ext uri="{BB962C8B-B14F-4D97-AF65-F5344CB8AC3E}">
        <p14:creationId xmlns:p14="http://schemas.microsoft.com/office/powerpoint/2010/main" val="12079263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0E1FC0B-7682-4C8D-8B39-C41FD6774C36}"/>
              </a:ext>
            </a:extLst>
          </p:cNvPr>
          <p:cNvPicPr>
            <a:picLocks noChangeAspect="1"/>
          </p:cNvPicPr>
          <p:nvPr/>
        </p:nvPicPr>
        <p:blipFill>
          <a:blip r:embed="rId2"/>
          <a:stretch>
            <a:fillRect/>
          </a:stretch>
        </p:blipFill>
        <p:spPr>
          <a:xfrm>
            <a:off x="1864979" y="88940"/>
            <a:ext cx="7134108" cy="6680120"/>
          </a:xfrm>
          <a:prstGeom prst="rect">
            <a:avLst/>
          </a:prstGeom>
        </p:spPr>
      </p:pic>
    </p:spTree>
    <p:extLst>
      <p:ext uri="{BB962C8B-B14F-4D97-AF65-F5344CB8AC3E}">
        <p14:creationId xmlns:p14="http://schemas.microsoft.com/office/powerpoint/2010/main" val="14166252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3A7B1-AA81-4CF3-A8AE-BE977C4D88E2}"/>
              </a:ext>
            </a:extLst>
          </p:cNvPr>
          <p:cNvSpPr>
            <a:spLocks noGrp="1"/>
          </p:cNvSpPr>
          <p:nvPr>
            <p:ph type="title"/>
          </p:nvPr>
        </p:nvSpPr>
        <p:spPr/>
        <p:txBody>
          <a:bodyPr/>
          <a:lstStyle/>
          <a:p>
            <a:r>
              <a:rPr lang="en-IN" dirty="0"/>
              <a:t>Types of Data Dictionary</a:t>
            </a:r>
          </a:p>
        </p:txBody>
      </p:sp>
      <p:sp>
        <p:nvSpPr>
          <p:cNvPr id="3" name="Content Placeholder 2">
            <a:extLst>
              <a:ext uri="{FF2B5EF4-FFF2-40B4-BE49-F238E27FC236}">
                <a16:creationId xmlns:a16="http://schemas.microsoft.com/office/drawing/2014/main" id="{46CCD5D0-0551-4EBB-8D8A-2874B4CB928C}"/>
              </a:ext>
            </a:extLst>
          </p:cNvPr>
          <p:cNvSpPr>
            <a:spLocks noGrp="1"/>
          </p:cNvSpPr>
          <p:nvPr>
            <p:ph idx="1"/>
          </p:nvPr>
        </p:nvSpPr>
        <p:spPr>
          <a:xfrm>
            <a:off x="838200" y="1431235"/>
            <a:ext cx="10515600" cy="5234608"/>
          </a:xfrm>
        </p:spPr>
        <p:txBody>
          <a:bodyPr>
            <a:normAutofit fontScale="92500" lnSpcReduction="10000"/>
          </a:bodyPr>
          <a:lstStyle/>
          <a:p>
            <a:pPr algn="just"/>
            <a:r>
              <a:rPr lang="en-IN" dirty="0"/>
              <a:t>There are two types of data dictionaries: active and passive</a:t>
            </a:r>
          </a:p>
          <a:p>
            <a:pPr algn="just"/>
            <a:r>
              <a:rPr lang="en-IN" dirty="0"/>
              <a:t>Active data dictionary:</a:t>
            </a:r>
          </a:p>
          <a:p>
            <a:pPr lvl="1" algn="just"/>
            <a:r>
              <a:rPr lang="en-IN" dirty="0"/>
              <a:t>Any changes to the database object structure via DDLs will have to be reflected in the data dictionary. But updating the data dictionary tables for the changes are responsibility of database in which the data dictionary exists.</a:t>
            </a:r>
          </a:p>
          <a:p>
            <a:pPr lvl="1" algn="just"/>
            <a:r>
              <a:rPr lang="en-IN" dirty="0"/>
              <a:t>Active data dictionary is created in the same database, so the DBMS software will automatically update the data dictionary. Hence there will not be any mismatch between the actual structure and the data dictionary details.</a:t>
            </a:r>
          </a:p>
          <a:p>
            <a:pPr lvl="1" algn="just"/>
            <a:r>
              <a:rPr lang="en-IN" dirty="0"/>
              <a:t>The modification is an automatic task and most RDBMS has active data dictionary. It is also known as integrated data dictionary.</a:t>
            </a:r>
          </a:p>
          <a:p>
            <a:pPr algn="just"/>
            <a:r>
              <a:rPr lang="en-IN" dirty="0"/>
              <a:t>Passive data dictionary:</a:t>
            </a:r>
          </a:p>
          <a:p>
            <a:pPr lvl="1" algn="just"/>
            <a:r>
              <a:rPr lang="en-IN" dirty="0"/>
              <a:t>Data dictionary created separately from the current database as entirely new database to store only data dictionary’s information. Sometimes it is stored as xml, excels or in any other file format. In such case, an effort is required to keep data dictionary in sync with the database objects. This kind of data dictionary is called passive data dictionary. In this case, there is a chance of mismatch with the database objects and the data dictionary. This kind of DD has to be handled with utmost care.</a:t>
            </a:r>
          </a:p>
          <a:p>
            <a:pPr lvl="1" algn="just"/>
            <a:r>
              <a:rPr lang="en-IN" dirty="0"/>
              <a:t>This data dictionary is not a choice for many users as it is not easy to maintain</a:t>
            </a:r>
          </a:p>
          <a:p>
            <a:pPr lvl="1" algn="just"/>
            <a:r>
              <a:rPr lang="en-IN" dirty="0"/>
              <a:t>Managed by the users and is modified manually when the database structure change. Also known as non-integrated data dictionary.</a:t>
            </a:r>
          </a:p>
        </p:txBody>
      </p:sp>
    </p:spTree>
    <p:extLst>
      <p:ext uri="{BB962C8B-B14F-4D97-AF65-F5344CB8AC3E}">
        <p14:creationId xmlns:p14="http://schemas.microsoft.com/office/powerpoint/2010/main" val="31963957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422A6-8CC4-86B0-0033-E93B75710345}"/>
              </a:ext>
            </a:extLst>
          </p:cNvPr>
          <p:cNvSpPr>
            <a:spLocks noGrp="1"/>
          </p:cNvSpPr>
          <p:nvPr>
            <p:ph type="title"/>
          </p:nvPr>
        </p:nvSpPr>
        <p:spPr/>
        <p:txBody>
          <a:bodyPr/>
          <a:lstStyle/>
          <a:p>
            <a:r>
              <a:rPr lang="en-US" dirty="0"/>
              <a:t>Difference between active and passive data dictionaries</a:t>
            </a:r>
            <a:endParaRPr lang="en-IN" dirty="0"/>
          </a:p>
        </p:txBody>
      </p:sp>
      <p:graphicFrame>
        <p:nvGraphicFramePr>
          <p:cNvPr id="4" name="Content Placeholder 3">
            <a:extLst>
              <a:ext uri="{FF2B5EF4-FFF2-40B4-BE49-F238E27FC236}">
                <a16:creationId xmlns:a16="http://schemas.microsoft.com/office/drawing/2014/main" id="{69C48BF7-3553-1A8F-331E-AC596E377AB5}"/>
              </a:ext>
            </a:extLst>
          </p:cNvPr>
          <p:cNvGraphicFramePr>
            <a:graphicFrameLocks noGrp="1"/>
          </p:cNvGraphicFramePr>
          <p:nvPr>
            <p:ph idx="1"/>
            <p:extLst>
              <p:ext uri="{D42A27DB-BD31-4B8C-83A1-F6EECF244321}">
                <p14:modId xmlns:p14="http://schemas.microsoft.com/office/powerpoint/2010/main" val="2076864932"/>
              </p:ext>
            </p:extLst>
          </p:nvPr>
        </p:nvGraphicFramePr>
        <p:xfrm>
          <a:off x="819509" y="2160588"/>
          <a:ext cx="10080000" cy="3966300"/>
        </p:xfrm>
        <a:graphic>
          <a:graphicData uri="http://schemas.openxmlformats.org/drawingml/2006/table">
            <a:tbl>
              <a:tblPr/>
              <a:tblGrid>
                <a:gridCol w="2005059">
                  <a:extLst>
                    <a:ext uri="{9D8B030D-6E8A-4147-A177-3AD203B41FA5}">
                      <a16:colId xmlns:a16="http://schemas.microsoft.com/office/drawing/2014/main" val="1142904007"/>
                    </a:ext>
                  </a:extLst>
                </a:gridCol>
                <a:gridCol w="4021570">
                  <a:extLst>
                    <a:ext uri="{9D8B030D-6E8A-4147-A177-3AD203B41FA5}">
                      <a16:colId xmlns:a16="http://schemas.microsoft.com/office/drawing/2014/main" val="4064668526"/>
                    </a:ext>
                  </a:extLst>
                </a:gridCol>
                <a:gridCol w="4053371">
                  <a:extLst>
                    <a:ext uri="{9D8B030D-6E8A-4147-A177-3AD203B41FA5}">
                      <a16:colId xmlns:a16="http://schemas.microsoft.com/office/drawing/2014/main" val="2038357048"/>
                    </a:ext>
                  </a:extLst>
                </a:gridCol>
              </a:tblGrid>
              <a:tr h="271455">
                <a:tc>
                  <a:txBody>
                    <a:bodyPr/>
                    <a:lstStyle/>
                    <a:p>
                      <a:pPr>
                        <a:buNone/>
                      </a:pPr>
                      <a:r>
                        <a:rPr lang="en-IN" sz="2000" b="1" dirty="0"/>
                        <a:t>Feature</a:t>
                      </a:r>
                    </a:p>
                  </a:txBody>
                  <a:tcPr marL="61610" marR="61610" marT="30805" marB="30805"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buNone/>
                      </a:pPr>
                      <a:r>
                        <a:rPr lang="en-IN" sz="2000" b="1" dirty="0"/>
                        <a:t>Active Data Dictionary</a:t>
                      </a:r>
                    </a:p>
                  </a:txBody>
                  <a:tcPr marL="61610" marR="61610" marT="30805" marB="30805"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a:buNone/>
                      </a:pPr>
                      <a:r>
                        <a:rPr lang="en-IN" sz="2000" b="1" dirty="0"/>
                        <a:t>Passive Data Dictionary</a:t>
                      </a:r>
                    </a:p>
                  </a:txBody>
                  <a:tcPr marL="61610" marR="61610" marT="30805" marB="30805"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24219002"/>
                  </a:ext>
                </a:extLst>
              </a:tr>
              <a:tr h="558902">
                <a:tc>
                  <a:txBody>
                    <a:bodyPr/>
                    <a:lstStyle/>
                    <a:p>
                      <a:pPr>
                        <a:lnSpc>
                          <a:spcPct val="100000"/>
                        </a:lnSpc>
                        <a:buNone/>
                      </a:pPr>
                      <a:r>
                        <a:rPr lang="en-IN" sz="1800" b="1" dirty="0"/>
                        <a:t>Definition</a:t>
                      </a:r>
                      <a:endParaRPr lang="en-IN" sz="1800" dirty="0"/>
                    </a:p>
                  </a:txBody>
                  <a:tcPr marL="61610" marR="61610" marT="30805" marB="30805"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nSpc>
                          <a:spcPct val="100000"/>
                        </a:lnSpc>
                        <a:buNone/>
                      </a:pPr>
                      <a:r>
                        <a:rPr lang="en-US" sz="1800" dirty="0"/>
                        <a:t>Automatically updates itself and is directly integrated with the DBMS.</a:t>
                      </a:r>
                    </a:p>
                  </a:txBody>
                  <a:tcPr marL="61610" marR="61610" marT="30805" marB="30805"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nSpc>
                          <a:spcPct val="100000"/>
                        </a:lnSpc>
                        <a:buNone/>
                      </a:pPr>
                      <a:r>
                        <a:rPr lang="en-US" sz="1800" dirty="0"/>
                        <a:t>Maintained manually and not automatically updated by the DBMS.</a:t>
                      </a:r>
                    </a:p>
                  </a:txBody>
                  <a:tcPr marL="61610" marR="61610" marT="30805" marB="30805"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26352947"/>
                  </a:ext>
                </a:extLst>
              </a:tr>
              <a:tr h="687878">
                <a:tc>
                  <a:txBody>
                    <a:bodyPr/>
                    <a:lstStyle/>
                    <a:p>
                      <a:pPr>
                        <a:lnSpc>
                          <a:spcPct val="100000"/>
                        </a:lnSpc>
                        <a:buNone/>
                      </a:pPr>
                      <a:r>
                        <a:rPr lang="en-IN" sz="1800" b="1" dirty="0"/>
                        <a:t>Integration with DBMS</a:t>
                      </a:r>
                      <a:endParaRPr lang="en-IN" sz="1800" dirty="0"/>
                    </a:p>
                  </a:txBody>
                  <a:tcPr marL="61610" marR="61610" marT="30805" marB="30805"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nSpc>
                          <a:spcPct val="100000"/>
                        </a:lnSpc>
                        <a:buNone/>
                      </a:pPr>
                      <a:r>
                        <a:rPr lang="en-US" sz="1800" dirty="0"/>
                        <a:t>Fully integrated with the DBMS. Changes in database objects automatically reflect in the dictionary.</a:t>
                      </a:r>
                    </a:p>
                  </a:txBody>
                  <a:tcPr marL="61610" marR="61610" marT="30805" marB="30805"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nSpc>
                          <a:spcPct val="100000"/>
                        </a:lnSpc>
                        <a:buNone/>
                      </a:pPr>
                      <a:r>
                        <a:rPr lang="en-US" sz="1800" dirty="0"/>
                        <a:t>Not integrated with the DBMS. Changes in database objects must be updated manually.</a:t>
                      </a:r>
                    </a:p>
                  </a:txBody>
                  <a:tcPr marL="61610" marR="61610" marT="30805" marB="30805"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31976608"/>
                  </a:ext>
                </a:extLst>
              </a:tr>
              <a:tr h="429922">
                <a:tc>
                  <a:txBody>
                    <a:bodyPr/>
                    <a:lstStyle/>
                    <a:p>
                      <a:pPr>
                        <a:lnSpc>
                          <a:spcPct val="100000"/>
                        </a:lnSpc>
                        <a:buNone/>
                      </a:pPr>
                      <a:r>
                        <a:rPr lang="en-IN" sz="1800" b="1" dirty="0"/>
                        <a:t>Consistency</a:t>
                      </a:r>
                      <a:endParaRPr lang="en-IN" sz="1800" dirty="0"/>
                    </a:p>
                  </a:txBody>
                  <a:tcPr marL="61610" marR="61610" marT="30805" marB="30805"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nSpc>
                          <a:spcPct val="100000"/>
                        </a:lnSpc>
                        <a:buNone/>
                      </a:pPr>
                      <a:r>
                        <a:rPr lang="en-US" sz="1800" dirty="0"/>
                        <a:t>Always consistent with the database because it updates automatically.</a:t>
                      </a:r>
                    </a:p>
                  </a:txBody>
                  <a:tcPr marL="61610" marR="61610" marT="30805" marB="30805"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nSpc>
                          <a:spcPct val="100000"/>
                        </a:lnSpc>
                        <a:buNone/>
                      </a:pPr>
                      <a:r>
                        <a:rPr lang="en-US" sz="1800" dirty="0"/>
                        <a:t>May become inconsistent with the database if not updated manually.</a:t>
                      </a:r>
                    </a:p>
                  </a:txBody>
                  <a:tcPr marL="61610" marR="61610" marT="30805" marB="30805"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74190559"/>
                  </a:ext>
                </a:extLst>
              </a:tr>
              <a:tr h="429922">
                <a:tc>
                  <a:txBody>
                    <a:bodyPr/>
                    <a:lstStyle/>
                    <a:p>
                      <a:pPr>
                        <a:lnSpc>
                          <a:spcPct val="100000"/>
                        </a:lnSpc>
                        <a:buNone/>
                      </a:pPr>
                      <a:r>
                        <a:rPr lang="en-IN" sz="1800" b="1"/>
                        <a:t>Usage</a:t>
                      </a:r>
                      <a:endParaRPr lang="en-IN" sz="1800"/>
                    </a:p>
                  </a:txBody>
                  <a:tcPr marL="61610" marR="61610" marT="30805" marB="30805"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nSpc>
                          <a:spcPct val="100000"/>
                        </a:lnSpc>
                        <a:buNone/>
                      </a:pPr>
                      <a:r>
                        <a:rPr lang="en-US" sz="1800"/>
                        <a:t>Can enforce rules, constraints, and assist in query optimization.</a:t>
                      </a:r>
                    </a:p>
                  </a:txBody>
                  <a:tcPr marL="61610" marR="61610" marT="30805" marB="30805"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nSpc>
                          <a:spcPct val="100000"/>
                        </a:lnSpc>
                        <a:buNone/>
                      </a:pPr>
                      <a:r>
                        <a:rPr lang="en-US" sz="1800" dirty="0"/>
                        <a:t>Used mainly for documentation and reference purposes.</a:t>
                      </a:r>
                    </a:p>
                  </a:txBody>
                  <a:tcPr marL="61610" marR="61610" marT="30805" marB="30805"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43038264"/>
                  </a:ext>
                </a:extLst>
              </a:tr>
              <a:tr h="429922">
                <a:tc>
                  <a:txBody>
                    <a:bodyPr/>
                    <a:lstStyle/>
                    <a:p>
                      <a:pPr>
                        <a:lnSpc>
                          <a:spcPct val="100000"/>
                        </a:lnSpc>
                        <a:buNone/>
                      </a:pPr>
                      <a:r>
                        <a:rPr lang="en-IN" sz="1800" b="1"/>
                        <a:t>Examples</a:t>
                      </a:r>
                      <a:endParaRPr lang="en-IN" sz="1800"/>
                    </a:p>
                  </a:txBody>
                  <a:tcPr marL="61610" marR="61610" marT="30805" marB="30805"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nSpc>
                          <a:spcPct val="100000"/>
                        </a:lnSpc>
                        <a:buNone/>
                      </a:pPr>
                      <a:r>
                        <a:rPr lang="en-IN" sz="1800"/>
                        <a:t>Oracle Data Dictionary, IBM DB2 Catalogs</a:t>
                      </a:r>
                    </a:p>
                  </a:txBody>
                  <a:tcPr marL="61610" marR="61610" marT="30805" marB="30805"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nSpc>
                          <a:spcPct val="100000"/>
                        </a:lnSpc>
                        <a:buNone/>
                      </a:pPr>
                      <a:r>
                        <a:rPr lang="en-US" sz="1800" dirty="0"/>
                        <a:t>Text files, manuals, or standalone files created by developers.</a:t>
                      </a:r>
                    </a:p>
                  </a:txBody>
                  <a:tcPr marL="61610" marR="61610" marT="30805" marB="30805"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52012240"/>
                  </a:ext>
                </a:extLst>
              </a:tr>
            </a:tbl>
          </a:graphicData>
        </a:graphic>
      </p:graphicFrame>
    </p:spTree>
    <p:extLst>
      <p:ext uri="{BB962C8B-B14F-4D97-AF65-F5344CB8AC3E}">
        <p14:creationId xmlns:p14="http://schemas.microsoft.com/office/powerpoint/2010/main" val="32817516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BBBB33-114C-4413-8133-54E21B5558A3}"/>
              </a:ext>
            </a:extLst>
          </p:cNvPr>
          <p:cNvSpPr>
            <a:spLocks noGrp="1"/>
          </p:cNvSpPr>
          <p:nvPr>
            <p:ph type="title"/>
          </p:nvPr>
        </p:nvSpPr>
        <p:spPr/>
        <p:txBody>
          <a:bodyPr/>
          <a:lstStyle/>
          <a:p>
            <a:r>
              <a:rPr lang="en-IN" dirty="0"/>
              <a:t>Database Users</a:t>
            </a:r>
          </a:p>
        </p:txBody>
      </p:sp>
      <p:sp>
        <p:nvSpPr>
          <p:cNvPr id="3" name="Content Placeholder 2">
            <a:extLst>
              <a:ext uri="{FF2B5EF4-FFF2-40B4-BE49-F238E27FC236}">
                <a16:creationId xmlns:a16="http://schemas.microsoft.com/office/drawing/2014/main" id="{2D1C0547-C990-4201-9ECD-CBC81CFDF868}"/>
              </a:ext>
            </a:extLst>
          </p:cNvPr>
          <p:cNvSpPr>
            <a:spLocks noGrp="1"/>
          </p:cNvSpPr>
          <p:nvPr>
            <p:ph idx="1"/>
          </p:nvPr>
        </p:nvSpPr>
        <p:spPr/>
        <p:txBody>
          <a:bodyPr>
            <a:normAutofit/>
          </a:bodyPr>
          <a:lstStyle/>
          <a:p>
            <a:r>
              <a:rPr lang="en-IN" sz="2400" dirty="0"/>
              <a:t>Database Administrator (DBA) :</a:t>
            </a:r>
          </a:p>
          <a:p>
            <a:r>
              <a:rPr lang="en-IN" sz="2400" dirty="0"/>
              <a:t>Naive / Parametric End Users :</a:t>
            </a:r>
          </a:p>
          <a:p>
            <a:r>
              <a:rPr lang="en-IN" sz="2400" dirty="0"/>
              <a:t>Application Programmer:</a:t>
            </a:r>
          </a:p>
          <a:p>
            <a:r>
              <a:rPr lang="en-IN" sz="2400" dirty="0"/>
              <a:t>System Analyst :</a:t>
            </a:r>
          </a:p>
          <a:p>
            <a:r>
              <a:rPr lang="en-IN" sz="2400" dirty="0"/>
              <a:t>Sophisticated Users :</a:t>
            </a:r>
          </a:p>
          <a:p>
            <a:r>
              <a:rPr lang="en-IN" sz="2400" dirty="0"/>
              <a:t>Specialized User:</a:t>
            </a:r>
          </a:p>
          <a:p>
            <a:r>
              <a:rPr lang="en-IN" sz="2400" dirty="0"/>
              <a:t>Data Base Designers :</a:t>
            </a:r>
          </a:p>
          <a:p>
            <a:pPr marL="0" indent="0">
              <a:buNone/>
            </a:pPr>
            <a:endParaRPr lang="en-IN" sz="2400" dirty="0"/>
          </a:p>
        </p:txBody>
      </p:sp>
    </p:spTree>
    <p:extLst>
      <p:ext uri="{BB962C8B-B14F-4D97-AF65-F5344CB8AC3E}">
        <p14:creationId xmlns:p14="http://schemas.microsoft.com/office/powerpoint/2010/main" val="10901711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E3EC1-918D-491C-804F-4C877DDBA11E}"/>
              </a:ext>
            </a:extLst>
          </p:cNvPr>
          <p:cNvSpPr>
            <a:spLocks noGrp="1"/>
          </p:cNvSpPr>
          <p:nvPr>
            <p:ph type="title"/>
          </p:nvPr>
        </p:nvSpPr>
        <p:spPr>
          <a:xfrm>
            <a:off x="838200" y="165652"/>
            <a:ext cx="10515600" cy="695049"/>
          </a:xfrm>
        </p:spPr>
        <p:txBody>
          <a:bodyPr/>
          <a:lstStyle/>
          <a:p>
            <a:r>
              <a:rPr lang="en-IN" dirty="0"/>
              <a:t>Database Administrator</a:t>
            </a:r>
          </a:p>
        </p:txBody>
      </p:sp>
      <p:sp>
        <p:nvSpPr>
          <p:cNvPr id="3" name="Content Placeholder 2">
            <a:extLst>
              <a:ext uri="{FF2B5EF4-FFF2-40B4-BE49-F238E27FC236}">
                <a16:creationId xmlns:a16="http://schemas.microsoft.com/office/drawing/2014/main" id="{BFE08B90-3275-4DA4-9462-F4031D0AAFD0}"/>
              </a:ext>
            </a:extLst>
          </p:cNvPr>
          <p:cNvSpPr>
            <a:spLocks noGrp="1"/>
          </p:cNvSpPr>
          <p:nvPr>
            <p:ph idx="1"/>
          </p:nvPr>
        </p:nvSpPr>
        <p:spPr>
          <a:xfrm>
            <a:off x="838200" y="1086678"/>
            <a:ext cx="11062252" cy="5771322"/>
          </a:xfrm>
        </p:spPr>
        <p:txBody>
          <a:bodyPr>
            <a:normAutofit/>
          </a:bodyPr>
          <a:lstStyle/>
          <a:p>
            <a:pPr algn="just"/>
            <a:r>
              <a:rPr lang="en-IN" dirty="0"/>
              <a:t>A person who has such central control of both the data and the programs that access those data is called a database administrator (DBA). </a:t>
            </a:r>
          </a:p>
          <a:p>
            <a:pPr algn="just"/>
            <a:r>
              <a:rPr lang="en-IN" dirty="0"/>
              <a:t>The functions of a DBA include:</a:t>
            </a:r>
          </a:p>
          <a:p>
            <a:pPr lvl="1" algn="just"/>
            <a:r>
              <a:rPr lang="en-IN" dirty="0"/>
              <a:t>Schema definition. The DBA creates the original database schema by executing a set of data definition statements in the DDL.</a:t>
            </a:r>
          </a:p>
          <a:p>
            <a:pPr lvl="1" algn="just"/>
            <a:r>
              <a:rPr lang="en-IN" dirty="0"/>
              <a:t>Storage structure and access-method definition.</a:t>
            </a:r>
          </a:p>
          <a:p>
            <a:pPr lvl="1" algn="just"/>
            <a:r>
              <a:rPr lang="en-IN" dirty="0"/>
              <a:t>Schema and physical-organization modification. </a:t>
            </a:r>
          </a:p>
          <a:p>
            <a:pPr lvl="1" algn="just"/>
            <a:r>
              <a:rPr lang="en-IN" dirty="0"/>
              <a:t>Granting of authorization for data access. </a:t>
            </a:r>
          </a:p>
          <a:p>
            <a:pPr lvl="1" algn="just"/>
            <a:r>
              <a:rPr lang="en-IN" dirty="0"/>
              <a:t>Routine maintenance. Examples of the database administrator’s routine maintenance activities are:</a:t>
            </a:r>
          </a:p>
          <a:p>
            <a:pPr lvl="2" algn="just"/>
            <a:r>
              <a:rPr lang="en-IN" dirty="0"/>
              <a:t>Periodically backing up the database, either onto tapes or onto remote servers, to prevent loss of data in case of disasters such as flooding.</a:t>
            </a:r>
          </a:p>
          <a:p>
            <a:pPr lvl="2" algn="just"/>
            <a:r>
              <a:rPr lang="en-IN" dirty="0"/>
              <a:t>Ensuring that enough free disk space is available for normal operations, and upgrading disk space as required.</a:t>
            </a:r>
          </a:p>
          <a:p>
            <a:pPr lvl="2" algn="just"/>
            <a:r>
              <a:rPr lang="en-IN" dirty="0"/>
              <a:t>Monitoring jobs running on the database and ensuring that performance is not degraded by very expensive tasks submitted by some users.</a:t>
            </a:r>
          </a:p>
        </p:txBody>
      </p:sp>
    </p:spTree>
    <p:extLst>
      <p:ext uri="{BB962C8B-B14F-4D97-AF65-F5344CB8AC3E}">
        <p14:creationId xmlns:p14="http://schemas.microsoft.com/office/powerpoint/2010/main" val="16983657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2E3E1E-24B8-4674-B25D-25DDFE822B5C}"/>
              </a:ext>
            </a:extLst>
          </p:cNvPr>
          <p:cNvSpPr>
            <a:spLocks noGrp="1"/>
          </p:cNvSpPr>
          <p:nvPr>
            <p:ph type="title"/>
          </p:nvPr>
        </p:nvSpPr>
        <p:spPr/>
        <p:txBody>
          <a:bodyPr/>
          <a:lstStyle/>
          <a:p>
            <a:r>
              <a:rPr lang="en-IN" dirty="0" err="1"/>
              <a:t>Navie</a:t>
            </a:r>
            <a:r>
              <a:rPr lang="en-IN" dirty="0"/>
              <a:t> User </a:t>
            </a:r>
          </a:p>
        </p:txBody>
      </p:sp>
      <p:sp>
        <p:nvSpPr>
          <p:cNvPr id="3" name="Content Placeholder 2">
            <a:extLst>
              <a:ext uri="{FF2B5EF4-FFF2-40B4-BE49-F238E27FC236}">
                <a16:creationId xmlns:a16="http://schemas.microsoft.com/office/drawing/2014/main" id="{49F7DC4D-93B2-4E04-9ECA-B0141B598194}"/>
              </a:ext>
            </a:extLst>
          </p:cNvPr>
          <p:cNvSpPr>
            <a:spLocks noGrp="1"/>
          </p:cNvSpPr>
          <p:nvPr>
            <p:ph idx="1"/>
          </p:nvPr>
        </p:nvSpPr>
        <p:spPr/>
        <p:txBody>
          <a:bodyPr>
            <a:normAutofit/>
          </a:bodyPr>
          <a:lstStyle/>
          <a:p>
            <a:r>
              <a:rPr lang="en-IN" dirty="0" err="1"/>
              <a:t>Navie</a:t>
            </a:r>
            <a:r>
              <a:rPr lang="en-IN" dirty="0"/>
              <a:t> users are unsophisticated users who interact with the system by invoking one of the application programs that have been written previously.</a:t>
            </a:r>
          </a:p>
          <a:p>
            <a:r>
              <a:rPr lang="en-IN" dirty="0"/>
              <a:t>For example, a clerk in the university who needs to add a new instructor to a department.</a:t>
            </a:r>
          </a:p>
          <a:p>
            <a:r>
              <a:rPr lang="en-IN" dirty="0"/>
              <a:t>The typical user interface for </a:t>
            </a:r>
            <a:r>
              <a:rPr lang="en-IN" dirty="0" err="1"/>
              <a:t>navie</a:t>
            </a:r>
            <a:r>
              <a:rPr lang="en-IN" dirty="0"/>
              <a:t> users is a forms interface, where the user can fill in appropriate fields of the form. </a:t>
            </a:r>
          </a:p>
          <a:p>
            <a:r>
              <a:rPr lang="en-IN" dirty="0" err="1"/>
              <a:t>Navie</a:t>
            </a:r>
            <a:r>
              <a:rPr lang="en-IN" dirty="0"/>
              <a:t> users ay also simply read reports generated from the database.</a:t>
            </a:r>
          </a:p>
        </p:txBody>
      </p:sp>
    </p:spTree>
    <p:extLst>
      <p:ext uri="{BB962C8B-B14F-4D97-AF65-F5344CB8AC3E}">
        <p14:creationId xmlns:p14="http://schemas.microsoft.com/office/powerpoint/2010/main" val="33866092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904E53-635E-432B-9241-1B92E40DAFA0}"/>
              </a:ext>
            </a:extLst>
          </p:cNvPr>
          <p:cNvSpPr>
            <a:spLocks noGrp="1"/>
          </p:cNvSpPr>
          <p:nvPr>
            <p:ph type="title"/>
          </p:nvPr>
        </p:nvSpPr>
        <p:spPr/>
        <p:txBody>
          <a:bodyPr/>
          <a:lstStyle/>
          <a:p>
            <a:r>
              <a:rPr lang="en-IN" dirty="0"/>
              <a:t>Application programmers </a:t>
            </a:r>
          </a:p>
        </p:txBody>
      </p:sp>
      <p:sp>
        <p:nvSpPr>
          <p:cNvPr id="3" name="Content Placeholder 2">
            <a:extLst>
              <a:ext uri="{FF2B5EF4-FFF2-40B4-BE49-F238E27FC236}">
                <a16:creationId xmlns:a16="http://schemas.microsoft.com/office/drawing/2014/main" id="{44508C9B-A6FC-4B94-98B4-07A4BADB95E3}"/>
              </a:ext>
            </a:extLst>
          </p:cNvPr>
          <p:cNvSpPr>
            <a:spLocks noGrp="1"/>
          </p:cNvSpPr>
          <p:nvPr>
            <p:ph idx="1"/>
          </p:nvPr>
        </p:nvSpPr>
        <p:spPr/>
        <p:txBody>
          <a:bodyPr/>
          <a:lstStyle/>
          <a:p>
            <a:r>
              <a:rPr lang="en-IN" dirty="0"/>
              <a:t>Application programmers are computer professionals who write application programs. </a:t>
            </a:r>
          </a:p>
          <a:p>
            <a:r>
              <a:rPr lang="en-IN" dirty="0"/>
              <a:t>Application programmers can choose from many tools to develop user interfaces. </a:t>
            </a:r>
          </a:p>
          <a:p>
            <a:r>
              <a:rPr lang="en-IN" dirty="0" err="1"/>
              <a:t>Eg.</a:t>
            </a:r>
            <a:r>
              <a:rPr lang="en-IN" dirty="0"/>
              <a:t> Rapid application development (RAD) tools are tools that enable an application programmer to construct forms and reports with minimal programming effort.</a:t>
            </a:r>
          </a:p>
        </p:txBody>
      </p:sp>
    </p:spTree>
    <p:extLst>
      <p:ext uri="{BB962C8B-B14F-4D97-AF65-F5344CB8AC3E}">
        <p14:creationId xmlns:p14="http://schemas.microsoft.com/office/powerpoint/2010/main" val="7896228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B6D104-C72E-4363-8F6C-854EA53208ED}"/>
              </a:ext>
            </a:extLst>
          </p:cNvPr>
          <p:cNvSpPr>
            <a:spLocks noGrp="1"/>
          </p:cNvSpPr>
          <p:nvPr>
            <p:ph type="title"/>
          </p:nvPr>
        </p:nvSpPr>
        <p:spPr/>
        <p:txBody>
          <a:bodyPr/>
          <a:lstStyle/>
          <a:p>
            <a:r>
              <a:rPr lang="en-IN" dirty="0"/>
              <a:t>Sophisticated users </a:t>
            </a:r>
          </a:p>
        </p:txBody>
      </p:sp>
      <p:sp>
        <p:nvSpPr>
          <p:cNvPr id="3" name="Content Placeholder 2">
            <a:extLst>
              <a:ext uri="{FF2B5EF4-FFF2-40B4-BE49-F238E27FC236}">
                <a16:creationId xmlns:a16="http://schemas.microsoft.com/office/drawing/2014/main" id="{8161504E-4220-4C1B-93B7-A1E61ABBB71A}"/>
              </a:ext>
            </a:extLst>
          </p:cNvPr>
          <p:cNvSpPr>
            <a:spLocks noGrp="1"/>
          </p:cNvSpPr>
          <p:nvPr>
            <p:ph idx="1"/>
          </p:nvPr>
        </p:nvSpPr>
        <p:spPr/>
        <p:txBody>
          <a:bodyPr/>
          <a:lstStyle/>
          <a:p>
            <a:r>
              <a:rPr lang="en-IN" dirty="0"/>
              <a:t>Sophisticated users interact with the system without writing programs. </a:t>
            </a:r>
          </a:p>
          <a:p>
            <a:r>
              <a:rPr lang="en-IN" dirty="0"/>
              <a:t>Instead, they form their requests either using a database query language or by using tools such as data analysis software. </a:t>
            </a:r>
          </a:p>
          <a:p>
            <a:r>
              <a:rPr lang="en-IN" dirty="0"/>
              <a:t>Analysts who submit queries to explore data in the database fall in this category</a:t>
            </a:r>
          </a:p>
          <a:p>
            <a:r>
              <a:rPr lang="en-IN" dirty="0"/>
              <a:t>Sophisticated users can be engineers, scientists, business analyst, who are familiar with the database</a:t>
            </a:r>
          </a:p>
        </p:txBody>
      </p:sp>
    </p:spTree>
    <p:extLst>
      <p:ext uri="{BB962C8B-B14F-4D97-AF65-F5344CB8AC3E}">
        <p14:creationId xmlns:p14="http://schemas.microsoft.com/office/powerpoint/2010/main" val="15529858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BB0CB1-1669-4BAD-BBC4-D9E66368924D}"/>
              </a:ext>
            </a:extLst>
          </p:cNvPr>
          <p:cNvSpPr>
            <a:spLocks noGrp="1"/>
          </p:cNvSpPr>
          <p:nvPr>
            <p:ph type="title"/>
          </p:nvPr>
        </p:nvSpPr>
        <p:spPr>
          <a:xfrm>
            <a:off x="677334" y="609600"/>
            <a:ext cx="8596668" cy="1054608"/>
          </a:xfrm>
        </p:spPr>
        <p:txBody>
          <a:bodyPr/>
          <a:lstStyle/>
          <a:p>
            <a:r>
              <a:rPr lang="en-IN" dirty="0"/>
              <a:t>Specialized Users</a:t>
            </a:r>
          </a:p>
        </p:txBody>
      </p:sp>
      <p:sp>
        <p:nvSpPr>
          <p:cNvPr id="3" name="Content Placeholder 2">
            <a:extLst>
              <a:ext uri="{FF2B5EF4-FFF2-40B4-BE49-F238E27FC236}">
                <a16:creationId xmlns:a16="http://schemas.microsoft.com/office/drawing/2014/main" id="{4A3CAB98-BFDB-4CE8-ACBF-851BCBCFAC51}"/>
              </a:ext>
            </a:extLst>
          </p:cNvPr>
          <p:cNvSpPr>
            <a:spLocks noGrp="1"/>
          </p:cNvSpPr>
          <p:nvPr>
            <p:ph idx="1"/>
          </p:nvPr>
        </p:nvSpPr>
        <p:spPr>
          <a:xfrm>
            <a:off x="677334" y="1664208"/>
            <a:ext cx="8596668" cy="1320801"/>
          </a:xfrm>
        </p:spPr>
        <p:txBody>
          <a:bodyPr/>
          <a:lstStyle/>
          <a:p>
            <a:r>
              <a:rPr lang="en-IN" dirty="0"/>
              <a:t>Users who write specialized database applications</a:t>
            </a:r>
          </a:p>
          <a:p>
            <a:r>
              <a:rPr lang="en-IN" dirty="0"/>
              <a:t>Among these applications are computer-aided design systems, knowledgebase and expert systems, systems that store data with complex data types (for example, graphics data and audio data), and environment-</a:t>
            </a:r>
            <a:r>
              <a:rPr lang="en-IN" dirty="0" err="1"/>
              <a:t>modeling</a:t>
            </a:r>
            <a:r>
              <a:rPr lang="en-IN" dirty="0"/>
              <a:t> systems</a:t>
            </a:r>
          </a:p>
        </p:txBody>
      </p:sp>
      <p:sp>
        <p:nvSpPr>
          <p:cNvPr id="4" name="Title 1">
            <a:extLst>
              <a:ext uri="{FF2B5EF4-FFF2-40B4-BE49-F238E27FC236}">
                <a16:creationId xmlns:a16="http://schemas.microsoft.com/office/drawing/2014/main" id="{F0706C3B-6701-8B69-C163-B468D214B660}"/>
              </a:ext>
            </a:extLst>
          </p:cNvPr>
          <p:cNvSpPr txBox="1">
            <a:spLocks/>
          </p:cNvSpPr>
          <p:nvPr/>
        </p:nvSpPr>
        <p:spPr>
          <a:xfrm>
            <a:off x="677334" y="3429000"/>
            <a:ext cx="8596668" cy="978408"/>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dirty="0"/>
              <a:t>Data Base Designers </a:t>
            </a:r>
          </a:p>
        </p:txBody>
      </p:sp>
      <p:sp>
        <p:nvSpPr>
          <p:cNvPr id="5" name="Content Placeholder 2">
            <a:extLst>
              <a:ext uri="{FF2B5EF4-FFF2-40B4-BE49-F238E27FC236}">
                <a16:creationId xmlns:a16="http://schemas.microsoft.com/office/drawing/2014/main" id="{2322E335-9A85-8958-227B-9A62260EEC1A}"/>
              </a:ext>
            </a:extLst>
          </p:cNvPr>
          <p:cNvSpPr txBox="1">
            <a:spLocks/>
          </p:cNvSpPr>
          <p:nvPr/>
        </p:nvSpPr>
        <p:spPr>
          <a:xfrm>
            <a:off x="677334" y="4431679"/>
            <a:ext cx="8596668" cy="1524226"/>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IN" dirty="0"/>
              <a:t>Data Base Designers are the users who design the structure of data base which includes tables, indexes, views, constraints, triggers, stored procedures. </a:t>
            </a:r>
          </a:p>
          <a:p>
            <a:r>
              <a:rPr lang="en-IN" dirty="0"/>
              <a:t>He/she controls what data must be stored and how the data items to be related.</a:t>
            </a:r>
          </a:p>
        </p:txBody>
      </p:sp>
    </p:spTree>
    <p:extLst>
      <p:ext uri="{BB962C8B-B14F-4D97-AF65-F5344CB8AC3E}">
        <p14:creationId xmlns:p14="http://schemas.microsoft.com/office/powerpoint/2010/main" val="7515933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0B74E8-FC92-4FB8-B7C4-FF92AB5BB1FA}"/>
              </a:ext>
            </a:extLst>
          </p:cNvPr>
          <p:cNvSpPr>
            <a:spLocks noGrp="1"/>
          </p:cNvSpPr>
          <p:nvPr>
            <p:ph type="title"/>
          </p:nvPr>
        </p:nvSpPr>
        <p:spPr/>
        <p:txBody>
          <a:bodyPr/>
          <a:lstStyle/>
          <a:p>
            <a:r>
              <a:rPr lang="en-IN" dirty="0"/>
              <a:t>Database Architecture</a:t>
            </a:r>
          </a:p>
        </p:txBody>
      </p:sp>
      <p:sp>
        <p:nvSpPr>
          <p:cNvPr id="3" name="Content Placeholder 2">
            <a:extLst>
              <a:ext uri="{FF2B5EF4-FFF2-40B4-BE49-F238E27FC236}">
                <a16:creationId xmlns:a16="http://schemas.microsoft.com/office/drawing/2014/main" id="{1475E6C4-4668-4E50-917B-8DDE90FEE593}"/>
              </a:ext>
            </a:extLst>
          </p:cNvPr>
          <p:cNvSpPr>
            <a:spLocks noGrp="1"/>
          </p:cNvSpPr>
          <p:nvPr>
            <p:ph idx="1"/>
          </p:nvPr>
        </p:nvSpPr>
        <p:spPr/>
        <p:txBody>
          <a:bodyPr/>
          <a:lstStyle/>
          <a:p>
            <a:r>
              <a:rPr lang="en-IN" dirty="0"/>
              <a:t>The DBMS design depends upon its architecture. The basic client/server architecture is used to deal with a large number of PCs, web servers, database servers and other components that are connected with networks.</a:t>
            </a:r>
          </a:p>
          <a:p>
            <a:r>
              <a:rPr lang="en-IN" dirty="0"/>
              <a:t>The client/server architecture consists of many PCs and a workstation which are connected via the network.</a:t>
            </a:r>
          </a:p>
          <a:p>
            <a:r>
              <a:rPr lang="en-IN" dirty="0"/>
              <a:t>DBMS architecture depends upon how users are connected to the database to get their request done.</a:t>
            </a:r>
          </a:p>
        </p:txBody>
      </p:sp>
    </p:spTree>
    <p:extLst>
      <p:ext uri="{BB962C8B-B14F-4D97-AF65-F5344CB8AC3E}">
        <p14:creationId xmlns:p14="http://schemas.microsoft.com/office/powerpoint/2010/main" val="23764747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208C483-51E0-46E1-A650-DE8E18830E19}"/>
              </a:ext>
            </a:extLst>
          </p:cNvPr>
          <p:cNvPicPr>
            <a:picLocks noChangeAspect="1"/>
          </p:cNvPicPr>
          <p:nvPr/>
        </p:nvPicPr>
        <p:blipFill>
          <a:blip r:embed="rId2"/>
          <a:stretch>
            <a:fillRect/>
          </a:stretch>
        </p:blipFill>
        <p:spPr>
          <a:xfrm>
            <a:off x="1457739" y="396591"/>
            <a:ext cx="9163547" cy="5990957"/>
          </a:xfrm>
          <a:prstGeom prst="rect">
            <a:avLst/>
          </a:prstGeom>
        </p:spPr>
      </p:pic>
    </p:spTree>
    <p:extLst>
      <p:ext uri="{BB962C8B-B14F-4D97-AF65-F5344CB8AC3E}">
        <p14:creationId xmlns:p14="http://schemas.microsoft.com/office/powerpoint/2010/main" val="34564780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B6E31D-3A60-44D1-A9D9-E0D38759A045}"/>
              </a:ext>
            </a:extLst>
          </p:cNvPr>
          <p:cNvSpPr>
            <a:spLocks noGrp="1"/>
          </p:cNvSpPr>
          <p:nvPr>
            <p:ph type="title"/>
          </p:nvPr>
        </p:nvSpPr>
        <p:spPr>
          <a:xfrm>
            <a:off x="799254" y="157480"/>
            <a:ext cx="8596668" cy="741680"/>
          </a:xfrm>
        </p:spPr>
        <p:txBody>
          <a:bodyPr/>
          <a:lstStyle/>
          <a:p>
            <a:r>
              <a:rPr lang="en-IN" dirty="0"/>
              <a:t>1-Tier Architecture</a:t>
            </a:r>
          </a:p>
        </p:txBody>
      </p:sp>
      <p:sp>
        <p:nvSpPr>
          <p:cNvPr id="3" name="Content Placeholder 2">
            <a:extLst>
              <a:ext uri="{FF2B5EF4-FFF2-40B4-BE49-F238E27FC236}">
                <a16:creationId xmlns:a16="http://schemas.microsoft.com/office/drawing/2014/main" id="{12345A82-8ECA-49DD-B156-A31D699D58F6}"/>
              </a:ext>
            </a:extLst>
          </p:cNvPr>
          <p:cNvSpPr>
            <a:spLocks noGrp="1"/>
          </p:cNvSpPr>
          <p:nvPr>
            <p:ph idx="1"/>
          </p:nvPr>
        </p:nvSpPr>
        <p:spPr>
          <a:xfrm>
            <a:off x="677334" y="899160"/>
            <a:ext cx="8596668" cy="5806440"/>
          </a:xfrm>
        </p:spPr>
        <p:txBody>
          <a:bodyPr/>
          <a:lstStyle/>
          <a:p>
            <a:r>
              <a:rPr lang="en-IN" dirty="0"/>
              <a:t>In this architecture, the database is directly available to the user. It means the user can directly sit on the DBMS and uses it.</a:t>
            </a:r>
          </a:p>
          <a:p>
            <a:r>
              <a:rPr lang="en-IN" dirty="0"/>
              <a:t>Any changes done here will directly be done on the database itself. It doesn't provide a handy tool for end users.</a:t>
            </a:r>
          </a:p>
          <a:p>
            <a:r>
              <a:rPr lang="en-IN" dirty="0"/>
              <a:t>The 1-Tier architecture is used for development of the local application, where programmers can directly communicate with the database for the quick response.</a:t>
            </a:r>
          </a:p>
          <a:p>
            <a:r>
              <a:rPr lang="en-US" dirty="0"/>
              <a:t>Advantages:</a:t>
            </a:r>
          </a:p>
          <a:p>
            <a:pPr lvl="1"/>
            <a:r>
              <a:rPr lang="en-US" dirty="0"/>
              <a:t>simplicity, cost-effectiveness, and ease of deployment, </a:t>
            </a:r>
          </a:p>
          <a:p>
            <a:pPr lvl="1"/>
            <a:r>
              <a:rPr lang="en-US" dirty="0"/>
              <a:t>Particularly used for small-scale or personal databases. </a:t>
            </a:r>
          </a:p>
          <a:p>
            <a:pPr lvl="1"/>
            <a:r>
              <a:rPr lang="en-US" dirty="0"/>
              <a:t>It's also known for faster data access for a single user due to the absence of network communication overhead</a:t>
            </a:r>
          </a:p>
          <a:p>
            <a:r>
              <a:rPr lang="en-US" dirty="0"/>
              <a:t>Limitations:</a:t>
            </a:r>
          </a:p>
          <a:p>
            <a:pPr lvl="1"/>
            <a:r>
              <a:rPr lang="en-US" dirty="0"/>
              <a:t>lacks scalability, challenges in data sharing </a:t>
            </a:r>
          </a:p>
          <a:p>
            <a:pPr lvl="1"/>
            <a:r>
              <a:rPr lang="en-US" dirty="0"/>
              <a:t>support a single user at a time, making it unsuitable for most modern applications. </a:t>
            </a:r>
          </a:p>
        </p:txBody>
      </p:sp>
    </p:spTree>
    <p:extLst>
      <p:ext uri="{BB962C8B-B14F-4D97-AF65-F5344CB8AC3E}">
        <p14:creationId xmlns:p14="http://schemas.microsoft.com/office/powerpoint/2010/main" val="6176215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2B867-7BF1-4FB6-BB47-603054EEC494}"/>
              </a:ext>
            </a:extLst>
          </p:cNvPr>
          <p:cNvSpPr>
            <a:spLocks noGrp="1"/>
          </p:cNvSpPr>
          <p:nvPr>
            <p:ph type="title"/>
          </p:nvPr>
        </p:nvSpPr>
        <p:spPr>
          <a:xfrm>
            <a:off x="677334" y="182880"/>
            <a:ext cx="8596668" cy="701040"/>
          </a:xfrm>
        </p:spPr>
        <p:txBody>
          <a:bodyPr/>
          <a:lstStyle/>
          <a:p>
            <a:r>
              <a:rPr lang="en-IN" dirty="0"/>
              <a:t>2-Tier Architecture</a:t>
            </a:r>
          </a:p>
        </p:txBody>
      </p:sp>
      <p:sp>
        <p:nvSpPr>
          <p:cNvPr id="3" name="Content Placeholder 2">
            <a:extLst>
              <a:ext uri="{FF2B5EF4-FFF2-40B4-BE49-F238E27FC236}">
                <a16:creationId xmlns:a16="http://schemas.microsoft.com/office/drawing/2014/main" id="{5415046A-4D79-4FAA-8C2F-92BAD88FF250}"/>
              </a:ext>
            </a:extLst>
          </p:cNvPr>
          <p:cNvSpPr>
            <a:spLocks noGrp="1"/>
          </p:cNvSpPr>
          <p:nvPr>
            <p:ph idx="1"/>
          </p:nvPr>
        </p:nvSpPr>
        <p:spPr>
          <a:xfrm>
            <a:off x="677334" y="883920"/>
            <a:ext cx="8596668" cy="5760720"/>
          </a:xfrm>
        </p:spPr>
        <p:txBody>
          <a:bodyPr>
            <a:normAutofit/>
          </a:bodyPr>
          <a:lstStyle/>
          <a:p>
            <a:r>
              <a:rPr lang="en-IN" dirty="0"/>
              <a:t>The 2-Tier architecture is same as basic client-server. In the two-tier architecture, applications on the client end can directly communicate with the database at the server side. For this interaction, API's like: ODBC, JDBC are used.</a:t>
            </a:r>
          </a:p>
          <a:p>
            <a:r>
              <a:rPr lang="en-IN" dirty="0"/>
              <a:t>The user interfaces and application programs are run on the client-side.</a:t>
            </a:r>
          </a:p>
          <a:p>
            <a:r>
              <a:rPr lang="en-IN" dirty="0"/>
              <a:t>The server side is responsible to provide the functionalities like: query processing and transaction management.</a:t>
            </a:r>
          </a:p>
          <a:p>
            <a:r>
              <a:rPr lang="en-IN" dirty="0"/>
              <a:t>To communicate with the DBMS, client-side application establishes a connection with the server side.</a:t>
            </a:r>
          </a:p>
          <a:p>
            <a:r>
              <a:rPr lang="en-US" dirty="0"/>
              <a:t>Advantages:</a:t>
            </a:r>
          </a:p>
          <a:p>
            <a:pPr lvl="1"/>
            <a:r>
              <a:rPr lang="en-US" dirty="0"/>
              <a:t>simplicity and direct client-server communication.</a:t>
            </a:r>
          </a:p>
          <a:p>
            <a:pPr lvl="1"/>
            <a:r>
              <a:rPr lang="en-US" dirty="0"/>
              <a:t> Key benefits include ease of access, scalability, cost-effectiveness, and simple deployment</a:t>
            </a:r>
          </a:p>
          <a:p>
            <a:r>
              <a:rPr lang="en-US" dirty="0"/>
              <a:t>Limitations:</a:t>
            </a:r>
          </a:p>
          <a:p>
            <a:pPr lvl="1"/>
            <a:r>
              <a:rPr lang="en-US" dirty="0"/>
              <a:t>scalability, security, and maintainability. </a:t>
            </a:r>
          </a:p>
          <a:p>
            <a:pPr lvl="1"/>
            <a:r>
              <a:rPr lang="en-US" dirty="0"/>
              <a:t>It's generally not suitable for large, complex applications with many users due to performance bottlenecks and security vulnerabilities. </a:t>
            </a:r>
            <a:endParaRPr lang="en-IN" dirty="0"/>
          </a:p>
        </p:txBody>
      </p:sp>
    </p:spTree>
    <p:extLst>
      <p:ext uri="{BB962C8B-B14F-4D97-AF65-F5344CB8AC3E}">
        <p14:creationId xmlns:p14="http://schemas.microsoft.com/office/powerpoint/2010/main" val="34874276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DBMS Architecture">
            <a:extLst>
              <a:ext uri="{FF2B5EF4-FFF2-40B4-BE49-F238E27FC236}">
                <a16:creationId xmlns:a16="http://schemas.microsoft.com/office/drawing/2014/main" id="{DD312DAB-4CAD-485D-B8AD-45F2008C65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50872" y="371062"/>
            <a:ext cx="6654405" cy="61490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271536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2B3FD-5CDE-49E1-B77B-E8C04B0CD352}"/>
              </a:ext>
            </a:extLst>
          </p:cNvPr>
          <p:cNvSpPr>
            <a:spLocks noGrp="1"/>
          </p:cNvSpPr>
          <p:nvPr>
            <p:ph type="title"/>
          </p:nvPr>
        </p:nvSpPr>
        <p:spPr>
          <a:xfrm>
            <a:off x="677334" y="167640"/>
            <a:ext cx="8596668" cy="609600"/>
          </a:xfrm>
        </p:spPr>
        <p:txBody>
          <a:bodyPr>
            <a:normAutofit fontScale="90000"/>
          </a:bodyPr>
          <a:lstStyle/>
          <a:p>
            <a:r>
              <a:rPr lang="en-IN" dirty="0"/>
              <a:t>3-Tier Architecture</a:t>
            </a:r>
          </a:p>
        </p:txBody>
      </p:sp>
      <p:sp>
        <p:nvSpPr>
          <p:cNvPr id="3" name="Content Placeholder 2">
            <a:extLst>
              <a:ext uri="{FF2B5EF4-FFF2-40B4-BE49-F238E27FC236}">
                <a16:creationId xmlns:a16="http://schemas.microsoft.com/office/drawing/2014/main" id="{40A49656-7D27-4A4A-A893-0C2F29EB5F22}"/>
              </a:ext>
            </a:extLst>
          </p:cNvPr>
          <p:cNvSpPr>
            <a:spLocks noGrp="1"/>
          </p:cNvSpPr>
          <p:nvPr>
            <p:ph idx="1"/>
          </p:nvPr>
        </p:nvSpPr>
        <p:spPr>
          <a:xfrm>
            <a:off x="784014" y="1002349"/>
            <a:ext cx="8596668" cy="5733731"/>
          </a:xfrm>
        </p:spPr>
        <p:txBody>
          <a:bodyPr>
            <a:normAutofit/>
          </a:bodyPr>
          <a:lstStyle/>
          <a:p>
            <a:r>
              <a:rPr lang="en-IN" dirty="0"/>
              <a:t>The 3-Tier architecture contains another layer between the client and server. In this architecture, client can't directly communicate with the server.</a:t>
            </a:r>
          </a:p>
          <a:p>
            <a:r>
              <a:rPr lang="en-IN" dirty="0"/>
              <a:t>The application on the client-end interacts with an application server which further communicates with the database system.</a:t>
            </a:r>
          </a:p>
          <a:p>
            <a:r>
              <a:rPr lang="en-IN" dirty="0"/>
              <a:t>End user has no idea about the existence of the database beyond the application server. The database also has no idea about any other user beyond the application.</a:t>
            </a:r>
          </a:p>
          <a:p>
            <a:r>
              <a:rPr lang="en-IN" dirty="0"/>
              <a:t>The 3-Tier architecture is used in case of large web application.</a:t>
            </a:r>
          </a:p>
          <a:p>
            <a:r>
              <a:rPr lang="en-US" dirty="0"/>
              <a:t>Advantages:</a:t>
            </a:r>
          </a:p>
          <a:p>
            <a:pPr lvl="1"/>
            <a:r>
              <a:rPr lang="en-US" dirty="0"/>
              <a:t>By separating the application into three distinct layers (presentation, application, and data), it allows for independent scaling, enhanced security protocols, and easier updates and </a:t>
            </a:r>
            <a:r>
              <a:rPr lang="en-US" dirty="0" err="1"/>
              <a:t>modifycations</a:t>
            </a:r>
            <a:endParaRPr lang="en-US" dirty="0"/>
          </a:p>
          <a:p>
            <a:r>
              <a:rPr lang="en-US" dirty="0"/>
              <a:t>Limitations:</a:t>
            </a:r>
          </a:p>
          <a:p>
            <a:pPr lvl="1"/>
            <a:r>
              <a:rPr lang="en-US" dirty="0"/>
              <a:t>increased complexity, potential performance bottlenecks due to increased network traffic, </a:t>
            </a:r>
          </a:p>
          <a:p>
            <a:pPr lvl="1"/>
            <a:r>
              <a:rPr lang="en-US" dirty="0"/>
              <a:t>higher development and maintenance costs, and reduced agility compared to simpler architectures</a:t>
            </a:r>
            <a:endParaRPr lang="en-IN" dirty="0"/>
          </a:p>
        </p:txBody>
      </p:sp>
    </p:spTree>
    <p:extLst>
      <p:ext uri="{BB962C8B-B14F-4D97-AF65-F5344CB8AC3E}">
        <p14:creationId xmlns:p14="http://schemas.microsoft.com/office/powerpoint/2010/main" val="23373255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DBMS Architecture">
            <a:extLst>
              <a:ext uri="{FF2B5EF4-FFF2-40B4-BE49-F238E27FC236}">
                <a16:creationId xmlns:a16="http://schemas.microsoft.com/office/drawing/2014/main" id="{36DC1598-0AA8-4CD9-BAB9-887242F459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60305" y="106017"/>
            <a:ext cx="6190932" cy="65200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67936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BD65A-8691-493A-A678-EFABEDAC826D}"/>
              </a:ext>
            </a:extLst>
          </p:cNvPr>
          <p:cNvSpPr>
            <a:spLocks noGrp="1"/>
          </p:cNvSpPr>
          <p:nvPr>
            <p:ph type="title"/>
          </p:nvPr>
        </p:nvSpPr>
        <p:spPr>
          <a:xfrm>
            <a:off x="237744" y="192847"/>
            <a:ext cx="11555895" cy="761309"/>
          </a:xfrm>
        </p:spPr>
        <p:txBody>
          <a:bodyPr>
            <a:normAutofit/>
          </a:bodyPr>
          <a:lstStyle/>
          <a:p>
            <a:r>
              <a:rPr lang="en-IN" sz="4000" dirty="0"/>
              <a:t>Three Level ANSI-SPARC Database Architecture</a:t>
            </a:r>
          </a:p>
        </p:txBody>
      </p:sp>
      <p:pic>
        <p:nvPicPr>
          <p:cNvPr id="5" name="Picture 4">
            <a:extLst>
              <a:ext uri="{FF2B5EF4-FFF2-40B4-BE49-F238E27FC236}">
                <a16:creationId xmlns:a16="http://schemas.microsoft.com/office/drawing/2014/main" id="{A6DE0972-AABC-4477-8260-53682489F2E4}"/>
              </a:ext>
            </a:extLst>
          </p:cNvPr>
          <p:cNvPicPr>
            <a:picLocks noChangeAspect="1"/>
          </p:cNvPicPr>
          <p:nvPr/>
        </p:nvPicPr>
        <p:blipFill>
          <a:blip r:embed="rId2"/>
          <a:stretch>
            <a:fillRect/>
          </a:stretch>
        </p:blipFill>
        <p:spPr>
          <a:xfrm>
            <a:off x="3081527" y="1126434"/>
            <a:ext cx="6158529" cy="5538719"/>
          </a:xfrm>
          <a:prstGeom prst="rect">
            <a:avLst/>
          </a:prstGeom>
        </p:spPr>
      </p:pic>
    </p:spTree>
    <p:extLst>
      <p:ext uri="{BB962C8B-B14F-4D97-AF65-F5344CB8AC3E}">
        <p14:creationId xmlns:p14="http://schemas.microsoft.com/office/powerpoint/2010/main" val="32803188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5B7F24-A71B-4D0B-9A68-D3355EB8D063}"/>
              </a:ext>
            </a:extLst>
          </p:cNvPr>
          <p:cNvSpPr>
            <a:spLocks noGrp="1"/>
          </p:cNvSpPr>
          <p:nvPr>
            <p:ph type="title"/>
          </p:nvPr>
        </p:nvSpPr>
        <p:spPr>
          <a:xfrm>
            <a:off x="838200" y="218661"/>
            <a:ext cx="10515600" cy="854075"/>
          </a:xfrm>
        </p:spPr>
        <p:txBody>
          <a:bodyPr/>
          <a:lstStyle/>
          <a:p>
            <a:r>
              <a:rPr lang="en-IN" dirty="0"/>
              <a:t>Internal level or Storage level</a:t>
            </a:r>
          </a:p>
        </p:txBody>
      </p:sp>
      <p:sp>
        <p:nvSpPr>
          <p:cNvPr id="3" name="Content Placeholder 2">
            <a:extLst>
              <a:ext uri="{FF2B5EF4-FFF2-40B4-BE49-F238E27FC236}">
                <a16:creationId xmlns:a16="http://schemas.microsoft.com/office/drawing/2014/main" id="{90C9668A-D0B1-4FB7-8F5E-4AB6429A06EA}"/>
              </a:ext>
            </a:extLst>
          </p:cNvPr>
          <p:cNvSpPr>
            <a:spLocks noGrp="1"/>
          </p:cNvSpPr>
          <p:nvPr>
            <p:ph idx="1"/>
          </p:nvPr>
        </p:nvSpPr>
        <p:spPr>
          <a:xfrm>
            <a:off x="838200" y="1245704"/>
            <a:ext cx="10515600" cy="5393635"/>
          </a:xfrm>
        </p:spPr>
        <p:txBody>
          <a:bodyPr>
            <a:normAutofit/>
          </a:bodyPr>
          <a:lstStyle/>
          <a:p>
            <a:pPr algn="just"/>
            <a:r>
              <a:rPr lang="en-IN" dirty="0"/>
              <a:t>It is the physical representation of the database on the computer</a:t>
            </a:r>
          </a:p>
          <a:p>
            <a:pPr algn="just"/>
            <a:r>
              <a:rPr lang="en-IN" dirty="0"/>
              <a:t>This level describes how the data is stored in the database</a:t>
            </a:r>
          </a:p>
          <a:p>
            <a:pPr algn="just"/>
            <a:r>
              <a:rPr lang="en-IN" dirty="0"/>
              <a:t>It covers the data structures and file organizations used to store data on storage devices. </a:t>
            </a:r>
          </a:p>
          <a:p>
            <a:pPr algn="just"/>
            <a:r>
              <a:rPr lang="en-IN" dirty="0"/>
              <a:t>It interfaces with the operating system access methods to place the data on the storage devices, build the indexes, retrieve the data and so on.</a:t>
            </a:r>
          </a:p>
          <a:p>
            <a:pPr algn="just"/>
            <a:r>
              <a:rPr lang="en-IN" dirty="0"/>
              <a:t>Defined by the DBA</a:t>
            </a:r>
          </a:p>
          <a:p>
            <a:pPr algn="just"/>
            <a:r>
              <a:rPr lang="en-IN" dirty="0"/>
              <a:t>The internal level is concerned with such things as:</a:t>
            </a:r>
          </a:p>
          <a:p>
            <a:pPr lvl="1" algn="just"/>
            <a:r>
              <a:rPr lang="en-IN" dirty="0"/>
              <a:t>Storage space allocation for data and indexes;</a:t>
            </a:r>
          </a:p>
          <a:p>
            <a:pPr lvl="1" algn="just"/>
            <a:r>
              <a:rPr lang="en-IN" dirty="0"/>
              <a:t>Record descriptions for storage (with stored sizes for data items)</a:t>
            </a:r>
          </a:p>
          <a:p>
            <a:pPr lvl="1" algn="just"/>
            <a:r>
              <a:rPr lang="en-IN" dirty="0"/>
              <a:t>Data compression and data encryption techniques</a:t>
            </a:r>
          </a:p>
        </p:txBody>
      </p:sp>
    </p:spTree>
    <p:extLst>
      <p:ext uri="{BB962C8B-B14F-4D97-AF65-F5344CB8AC3E}">
        <p14:creationId xmlns:p14="http://schemas.microsoft.com/office/powerpoint/2010/main" val="288027460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E5557C-AC7E-4861-9D97-A857B2A6D99F}"/>
              </a:ext>
            </a:extLst>
          </p:cNvPr>
          <p:cNvSpPr>
            <a:spLocks noGrp="1"/>
          </p:cNvSpPr>
          <p:nvPr>
            <p:ph type="title"/>
          </p:nvPr>
        </p:nvSpPr>
        <p:spPr>
          <a:xfrm>
            <a:off x="838200" y="126587"/>
            <a:ext cx="10515600" cy="734805"/>
          </a:xfrm>
        </p:spPr>
        <p:txBody>
          <a:bodyPr/>
          <a:lstStyle/>
          <a:p>
            <a:r>
              <a:rPr lang="en-IN" dirty="0"/>
              <a:t>Conceptual Level or Logical level</a:t>
            </a:r>
          </a:p>
        </p:txBody>
      </p:sp>
      <p:sp>
        <p:nvSpPr>
          <p:cNvPr id="3" name="Content Placeholder 2">
            <a:extLst>
              <a:ext uri="{FF2B5EF4-FFF2-40B4-BE49-F238E27FC236}">
                <a16:creationId xmlns:a16="http://schemas.microsoft.com/office/drawing/2014/main" id="{2344F6E0-D4BF-4A5D-AF0F-2A6F801035E4}"/>
              </a:ext>
            </a:extLst>
          </p:cNvPr>
          <p:cNvSpPr>
            <a:spLocks noGrp="1"/>
          </p:cNvSpPr>
          <p:nvPr>
            <p:ph idx="1"/>
          </p:nvPr>
        </p:nvSpPr>
        <p:spPr>
          <a:xfrm>
            <a:off x="838200" y="1099930"/>
            <a:ext cx="10515600" cy="5592417"/>
          </a:xfrm>
        </p:spPr>
        <p:txBody>
          <a:bodyPr>
            <a:normAutofit/>
          </a:bodyPr>
          <a:lstStyle/>
          <a:p>
            <a:pPr algn="just"/>
            <a:r>
              <a:rPr lang="en-IN" dirty="0"/>
              <a:t>This level describes what data is stored in the database and the relationships among the data. </a:t>
            </a:r>
          </a:p>
          <a:p>
            <a:pPr algn="just"/>
            <a:r>
              <a:rPr lang="en-IN" dirty="0"/>
              <a:t>This middle level in the three-tier architecture is the conceptual level which contains the logical structure of the entire database as seen by the DBA. </a:t>
            </a:r>
          </a:p>
          <a:p>
            <a:pPr algn="just"/>
            <a:r>
              <a:rPr lang="en-IN" dirty="0"/>
              <a:t>It is a complete view of the data requirements of the organization that is independent of any storage considerations. </a:t>
            </a:r>
          </a:p>
          <a:p>
            <a:pPr algn="just"/>
            <a:r>
              <a:rPr lang="en-IN" dirty="0"/>
              <a:t>The conceptual level represents:</a:t>
            </a:r>
          </a:p>
          <a:p>
            <a:pPr lvl="1" algn="just"/>
            <a:r>
              <a:rPr lang="en-IN" dirty="0"/>
              <a:t>All entities, their attributes, and their relationships;</a:t>
            </a:r>
          </a:p>
          <a:p>
            <a:pPr lvl="1" algn="just"/>
            <a:r>
              <a:rPr lang="en-IN" dirty="0"/>
              <a:t>Constraint on the data</a:t>
            </a:r>
          </a:p>
          <a:p>
            <a:pPr lvl="1" algn="just"/>
            <a:r>
              <a:rPr lang="en-IN" dirty="0"/>
              <a:t>Semantic information about the data</a:t>
            </a:r>
          </a:p>
          <a:p>
            <a:pPr lvl="1" algn="just"/>
            <a:r>
              <a:rPr lang="en-IN" dirty="0"/>
              <a:t>Checks to retain data consistency and integrity</a:t>
            </a:r>
          </a:p>
          <a:p>
            <a:pPr lvl="1" algn="just"/>
            <a:r>
              <a:rPr lang="en-IN" dirty="0"/>
              <a:t>Security information</a:t>
            </a:r>
          </a:p>
          <a:p>
            <a:pPr algn="just"/>
            <a:r>
              <a:rPr lang="en-IN" dirty="0"/>
              <a:t> For instance, the description of an entity should contain only data types of attributes (for example, integer, real, character) and their length (such as the maximum number of digits or characters), but not any storage considerations, such as the number of bytes occupied</a:t>
            </a:r>
          </a:p>
        </p:txBody>
      </p:sp>
    </p:spTree>
    <p:extLst>
      <p:ext uri="{BB962C8B-B14F-4D97-AF65-F5344CB8AC3E}">
        <p14:creationId xmlns:p14="http://schemas.microsoft.com/office/powerpoint/2010/main" val="26909121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60B30D-CCB9-4D2C-9A69-3D6C63C6EA4C}"/>
              </a:ext>
            </a:extLst>
          </p:cNvPr>
          <p:cNvSpPr>
            <a:spLocks noGrp="1"/>
          </p:cNvSpPr>
          <p:nvPr>
            <p:ph type="title"/>
          </p:nvPr>
        </p:nvSpPr>
        <p:spPr>
          <a:xfrm>
            <a:off x="838200" y="219351"/>
            <a:ext cx="10515600" cy="708301"/>
          </a:xfrm>
        </p:spPr>
        <p:txBody>
          <a:bodyPr/>
          <a:lstStyle/>
          <a:p>
            <a:r>
              <a:rPr lang="en-IN" dirty="0"/>
              <a:t>External Level or View level</a:t>
            </a:r>
          </a:p>
        </p:txBody>
      </p:sp>
      <p:sp>
        <p:nvSpPr>
          <p:cNvPr id="3" name="Content Placeholder 2">
            <a:extLst>
              <a:ext uri="{FF2B5EF4-FFF2-40B4-BE49-F238E27FC236}">
                <a16:creationId xmlns:a16="http://schemas.microsoft.com/office/drawing/2014/main" id="{459482A6-3A70-4D7B-A544-CF3127243861}"/>
              </a:ext>
            </a:extLst>
          </p:cNvPr>
          <p:cNvSpPr>
            <a:spLocks noGrp="1"/>
          </p:cNvSpPr>
          <p:nvPr>
            <p:ph idx="1"/>
          </p:nvPr>
        </p:nvSpPr>
        <p:spPr>
          <a:xfrm>
            <a:off x="838200" y="1136511"/>
            <a:ext cx="10515600" cy="5502137"/>
          </a:xfrm>
        </p:spPr>
        <p:txBody>
          <a:bodyPr>
            <a:normAutofit/>
          </a:bodyPr>
          <a:lstStyle/>
          <a:p>
            <a:pPr algn="just"/>
            <a:r>
              <a:rPr lang="en-IN" dirty="0"/>
              <a:t>It is the users' view of the database. This level describes that part of the database that is relevant to each user. </a:t>
            </a:r>
          </a:p>
          <a:p>
            <a:pPr algn="just"/>
            <a:r>
              <a:rPr lang="en-IN" dirty="0"/>
              <a:t>External level is the one which is closest to the end users. .</a:t>
            </a:r>
          </a:p>
          <a:p>
            <a:pPr algn="just"/>
            <a:r>
              <a:rPr lang="en-IN" dirty="0"/>
              <a:t>This level deals with the way in which individual users view data. Individual users are given different views according to the user's requirement.</a:t>
            </a:r>
          </a:p>
          <a:p>
            <a:pPr algn="just"/>
            <a:r>
              <a:rPr lang="en-IN" dirty="0"/>
              <a:t>A view involves only those portions of a database which are of concern to a user. So, the same database can have different views for different users</a:t>
            </a:r>
          </a:p>
          <a:p>
            <a:pPr algn="just"/>
            <a:r>
              <a:rPr lang="en-IN" dirty="0"/>
              <a:t>Example:</a:t>
            </a:r>
          </a:p>
          <a:p>
            <a:pPr lvl="1" algn="just"/>
            <a:r>
              <a:rPr lang="en-IN" dirty="0"/>
              <a:t>one user may view dates in the form (day, month, year),</a:t>
            </a:r>
          </a:p>
          <a:p>
            <a:pPr lvl="1" algn="just"/>
            <a:r>
              <a:rPr lang="en-IN" dirty="0"/>
              <a:t>while another may view dates as (year, month, day).</a:t>
            </a:r>
          </a:p>
        </p:txBody>
      </p:sp>
    </p:spTree>
    <p:extLst>
      <p:ext uri="{BB962C8B-B14F-4D97-AF65-F5344CB8AC3E}">
        <p14:creationId xmlns:p14="http://schemas.microsoft.com/office/powerpoint/2010/main" val="34391104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2E698-EC1B-4B6A-BAB1-8F516218FA05}"/>
              </a:ext>
            </a:extLst>
          </p:cNvPr>
          <p:cNvSpPr>
            <a:spLocks noGrp="1"/>
          </p:cNvSpPr>
          <p:nvPr>
            <p:ph type="title"/>
          </p:nvPr>
        </p:nvSpPr>
        <p:spPr>
          <a:xfrm>
            <a:off x="838200" y="417444"/>
            <a:ext cx="10515600" cy="509518"/>
          </a:xfrm>
        </p:spPr>
        <p:txBody>
          <a:bodyPr>
            <a:normAutofit fontScale="90000"/>
          </a:bodyPr>
          <a:lstStyle/>
          <a:p>
            <a:r>
              <a:rPr lang="en-IN" dirty="0"/>
              <a:t>Advantages of Using Three-Tier Architecture</a:t>
            </a:r>
          </a:p>
        </p:txBody>
      </p:sp>
      <p:sp>
        <p:nvSpPr>
          <p:cNvPr id="3" name="Content Placeholder 2">
            <a:extLst>
              <a:ext uri="{FF2B5EF4-FFF2-40B4-BE49-F238E27FC236}">
                <a16:creationId xmlns:a16="http://schemas.microsoft.com/office/drawing/2014/main" id="{423305A7-C3B0-40D4-8CC7-3AE6373E4491}"/>
              </a:ext>
            </a:extLst>
          </p:cNvPr>
          <p:cNvSpPr>
            <a:spLocks noGrp="1"/>
          </p:cNvSpPr>
          <p:nvPr>
            <p:ph idx="1"/>
          </p:nvPr>
        </p:nvSpPr>
        <p:spPr>
          <a:xfrm>
            <a:off x="838200" y="1364970"/>
            <a:ext cx="10515600" cy="4916557"/>
          </a:xfrm>
        </p:spPr>
        <p:txBody>
          <a:bodyPr>
            <a:normAutofit fontScale="92500" lnSpcReduction="20000"/>
          </a:bodyPr>
          <a:lstStyle/>
          <a:p>
            <a:r>
              <a:rPr lang="en-IN" dirty="0"/>
              <a:t>It makes the logical separation between business layer and presentation layer and database layer.</a:t>
            </a:r>
          </a:p>
          <a:p>
            <a:r>
              <a:rPr lang="en-IN" dirty="0"/>
              <a:t>Migration to new graphical environments is faster.</a:t>
            </a:r>
          </a:p>
          <a:p>
            <a:r>
              <a:rPr lang="en-IN" dirty="0"/>
              <a:t>As each tier is independent it is possible to enable parallel development of each tier by using different sets of developers.</a:t>
            </a:r>
          </a:p>
          <a:p>
            <a:r>
              <a:rPr lang="en-IN" dirty="0"/>
              <a:t>Easy to maintain and understand large project and complex project.</a:t>
            </a:r>
          </a:p>
          <a:p>
            <a:r>
              <a:rPr lang="en-IN" dirty="0"/>
              <a:t>Since application layer is between the database layer and presentation layer so the database layer will be more secured and client will not have direct access to the database.</a:t>
            </a:r>
          </a:p>
          <a:p>
            <a:r>
              <a:rPr lang="en-IN" dirty="0"/>
              <a:t>Posted data from presentation layer can be verified or validated at application layer before updating it to the database.</a:t>
            </a:r>
          </a:p>
          <a:p>
            <a:r>
              <a:rPr lang="en-IN" dirty="0"/>
              <a:t>Database Security can be provided at application layer.</a:t>
            </a:r>
          </a:p>
          <a:p>
            <a:r>
              <a:rPr lang="en-IN" dirty="0"/>
              <a:t>Application layer or middle layer or business layer can be a protection shield to the database.</a:t>
            </a:r>
          </a:p>
          <a:p>
            <a:r>
              <a:rPr lang="en-IN" dirty="0"/>
              <a:t>New rules or new validation rules can be defined any time and changes made to middle layer will not affect presentation layer.</a:t>
            </a:r>
          </a:p>
          <a:p>
            <a:r>
              <a:rPr lang="en-IN" dirty="0"/>
              <a:t>We can hide unnecessary methods from business layer in the presentation layer.</a:t>
            </a:r>
          </a:p>
          <a:p>
            <a:r>
              <a:rPr lang="en-IN" dirty="0"/>
              <a:t>Easy to apply object oriented concept</a:t>
            </a:r>
          </a:p>
          <a:p>
            <a:r>
              <a:rPr lang="en-IN" dirty="0"/>
              <a:t>Easy to update data provider queries.</a:t>
            </a:r>
          </a:p>
        </p:txBody>
      </p:sp>
    </p:spTree>
    <p:extLst>
      <p:ext uri="{BB962C8B-B14F-4D97-AF65-F5344CB8AC3E}">
        <p14:creationId xmlns:p14="http://schemas.microsoft.com/office/powerpoint/2010/main" val="42857355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0AC14-7080-4789-9441-114F1B86C151}"/>
              </a:ext>
            </a:extLst>
          </p:cNvPr>
          <p:cNvSpPr>
            <a:spLocks noGrp="1"/>
          </p:cNvSpPr>
          <p:nvPr>
            <p:ph type="title"/>
          </p:nvPr>
        </p:nvSpPr>
        <p:spPr>
          <a:xfrm>
            <a:off x="706800" y="209402"/>
            <a:ext cx="6264965" cy="774562"/>
          </a:xfrm>
        </p:spPr>
        <p:txBody>
          <a:bodyPr/>
          <a:lstStyle/>
          <a:p>
            <a:r>
              <a:rPr lang="en-IN" dirty="0"/>
              <a:t>Data Independence</a:t>
            </a:r>
          </a:p>
        </p:txBody>
      </p:sp>
      <p:pic>
        <p:nvPicPr>
          <p:cNvPr id="5" name="Picture 4">
            <a:extLst>
              <a:ext uri="{FF2B5EF4-FFF2-40B4-BE49-F238E27FC236}">
                <a16:creationId xmlns:a16="http://schemas.microsoft.com/office/drawing/2014/main" id="{579F4944-F390-44EC-95D8-B56F3E5F166E}"/>
              </a:ext>
            </a:extLst>
          </p:cNvPr>
          <p:cNvPicPr>
            <a:picLocks noChangeAspect="1"/>
          </p:cNvPicPr>
          <p:nvPr/>
        </p:nvPicPr>
        <p:blipFill>
          <a:blip r:embed="rId2"/>
          <a:stretch>
            <a:fillRect/>
          </a:stretch>
        </p:blipFill>
        <p:spPr>
          <a:xfrm>
            <a:off x="7103165" y="29992"/>
            <a:ext cx="4928687" cy="3681074"/>
          </a:xfrm>
          <a:prstGeom prst="rect">
            <a:avLst/>
          </a:prstGeom>
        </p:spPr>
      </p:pic>
      <p:sp>
        <p:nvSpPr>
          <p:cNvPr id="6" name="Content Placeholder 2">
            <a:extLst>
              <a:ext uri="{FF2B5EF4-FFF2-40B4-BE49-F238E27FC236}">
                <a16:creationId xmlns:a16="http://schemas.microsoft.com/office/drawing/2014/main" id="{BE2FD401-D8B0-41E1-A1F6-393385F9199D}"/>
              </a:ext>
            </a:extLst>
          </p:cNvPr>
          <p:cNvSpPr>
            <a:spLocks noGrp="1"/>
          </p:cNvSpPr>
          <p:nvPr>
            <p:ph idx="1"/>
          </p:nvPr>
        </p:nvSpPr>
        <p:spPr>
          <a:xfrm>
            <a:off x="838200" y="1152939"/>
            <a:ext cx="6264965" cy="5607661"/>
          </a:xfrm>
        </p:spPr>
        <p:txBody>
          <a:bodyPr>
            <a:normAutofit/>
          </a:bodyPr>
          <a:lstStyle/>
          <a:p>
            <a:pPr algn="just"/>
            <a:r>
              <a:rPr lang="en-IN" dirty="0"/>
              <a:t>Denotes the property that higher levels of abstraction and are not influenced by changes in the lower levels.</a:t>
            </a:r>
          </a:p>
          <a:p>
            <a:pPr algn="just"/>
            <a:r>
              <a:rPr lang="en-IN" dirty="0"/>
              <a:t>The ability to change the schema at one level of a database system without affecting a schema definition in the next higher level is called data independence.</a:t>
            </a:r>
          </a:p>
          <a:p>
            <a:pPr algn="just"/>
            <a:r>
              <a:rPr lang="en-IN" dirty="0"/>
              <a:t>There are three levels of abstractions so there are two types of data independence.</a:t>
            </a:r>
          </a:p>
          <a:p>
            <a:pPr algn="just"/>
            <a:r>
              <a:rPr lang="en-IN" dirty="0"/>
              <a:t>There are two kinds of data independence:</a:t>
            </a:r>
          </a:p>
          <a:p>
            <a:pPr lvl="1" algn="just"/>
            <a:r>
              <a:rPr lang="en-IN" dirty="0"/>
              <a:t>Logical data independence</a:t>
            </a:r>
          </a:p>
          <a:p>
            <a:pPr lvl="1" algn="just"/>
            <a:r>
              <a:rPr lang="en-IN" dirty="0"/>
              <a:t>Physical data independence</a:t>
            </a:r>
          </a:p>
        </p:txBody>
      </p:sp>
    </p:spTree>
    <p:extLst>
      <p:ext uri="{BB962C8B-B14F-4D97-AF65-F5344CB8AC3E}">
        <p14:creationId xmlns:p14="http://schemas.microsoft.com/office/powerpoint/2010/main" val="241706838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48954-EAB1-4D8B-AA3D-65C3CD22459A}"/>
              </a:ext>
            </a:extLst>
          </p:cNvPr>
          <p:cNvSpPr>
            <a:spLocks noGrp="1"/>
          </p:cNvSpPr>
          <p:nvPr>
            <p:ph type="title"/>
          </p:nvPr>
        </p:nvSpPr>
        <p:spPr/>
        <p:txBody>
          <a:bodyPr/>
          <a:lstStyle/>
          <a:p>
            <a:r>
              <a:rPr lang="en-IN" dirty="0"/>
              <a:t>Logical data independence</a:t>
            </a:r>
          </a:p>
        </p:txBody>
      </p:sp>
      <p:sp>
        <p:nvSpPr>
          <p:cNvPr id="3" name="Content Placeholder 2">
            <a:extLst>
              <a:ext uri="{FF2B5EF4-FFF2-40B4-BE49-F238E27FC236}">
                <a16:creationId xmlns:a16="http://schemas.microsoft.com/office/drawing/2014/main" id="{83A299FC-056C-491B-9C27-77DE6960E18F}"/>
              </a:ext>
            </a:extLst>
          </p:cNvPr>
          <p:cNvSpPr>
            <a:spLocks noGrp="1"/>
          </p:cNvSpPr>
          <p:nvPr>
            <p:ph idx="1"/>
          </p:nvPr>
        </p:nvSpPr>
        <p:spPr/>
        <p:txBody>
          <a:bodyPr/>
          <a:lstStyle/>
          <a:p>
            <a:r>
              <a:rPr lang="en-IN" dirty="0"/>
              <a:t>Capacity to change the conceptual schema without having to change external schemas or application programs</a:t>
            </a:r>
          </a:p>
          <a:p>
            <a:r>
              <a:rPr lang="en-IN" dirty="0"/>
              <a:t>We may change the conceptual schema to expand the database (by adding a record type or data item), or to reduce the database (by removing a record type or data item) – here  external schemas that refer only to the remaining data should not be affected</a:t>
            </a:r>
          </a:p>
          <a:p>
            <a:r>
              <a:rPr lang="en-IN" dirty="0"/>
              <a:t>Changes to constraints can be applied also to the conceptual schema without affecting the external schemas or application programs</a:t>
            </a:r>
          </a:p>
        </p:txBody>
      </p:sp>
    </p:spTree>
    <p:extLst>
      <p:ext uri="{BB962C8B-B14F-4D97-AF65-F5344CB8AC3E}">
        <p14:creationId xmlns:p14="http://schemas.microsoft.com/office/powerpoint/2010/main" val="175679465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C5DB8-FD53-479A-84D3-2A766F58771B}"/>
              </a:ext>
            </a:extLst>
          </p:cNvPr>
          <p:cNvSpPr>
            <a:spLocks noGrp="1"/>
          </p:cNvSpPr>
          <p:nvPr>
            <p:ph type="title"/>
          </p:nvPr>
        </p:nvSpPr>
        <p:spPr/>
        <p:txBody>
          <a:bodyPr/>
          <a:lstStyle/>
          <a:p>
            <a:r>
              <a:rPr lang="en-IN" dirty="0"/>
              <a:t> Physical Data Independence</a:t>
            </a:r>
          </a:p>
        </p:txBody>
      </p:sp>
      <p:sp>
        <p:nvSpPr>
          <p:cNvPr id="3" name="Content Placeholder 2">
            <a:extLst>
              <a:ext uri="{FF2B5EF4-FFF2-40B4-BE49-F238E27FC236}">
                <a16:creationId xmlns:a16="http://schemas.microsoft.com/office/drawing/2014/main" id="{56A0B5CE-B47B-461B-AB26-A135A300F8CE}"/>
              </a:ext>
            </a:extLst>
          </p:cNvPr>
          <p:cNvSpPr>
            <a:spLocks noGrp="1"/>
          </p:cNvSpPr>
          <p:nvPr>
            <p:ph idx="1"/>
          </p:nvPr>
        </p:nvSpPr>
        <p:spPr/>
        <p:txBody>
          <a:bodyPr/>
          <a:lstStyle/>
          <a:p>
            <a:r>
              <a:rPr lang="en-IN" dirty="0"/>
              <a:t>Physical data independence is the capacity to change the internal schema without having to change the conceptual (or external) schemas</a:t>
            </a:r>
          </a:p>
          <a:p>
            <a:r>
              <a:rPr lang="en-IN" dirty="0"/>
              <a:t>For example, by creating additional access structures—to improve the performance of retrieval or update. If the data remains same in the database as before, we should not have to change the conceptual schema.</a:t>
            </a:r>
          </a:p>
        </p:txBody>
      </p:sp>
    </p:spTree>
    <p:extLst>
      <p:ext uri="{BB962C8B-B14F-4D97-AF65-F5344CB8AC3E}">
        <p14:creationId xmlns:p14="http://schemas.microsoft.com/office/powerpoint/2010/main" val="75344236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2745AE-B5B4-4460-B9B1-BDB565940DD6}"/>
              </a:ext>
            </a:extLst>
          </p:cNvPr>
          <p:cNvSpPr>
            <a:spLocks noGrp="1"/>
          </p:cNvSpPr>
          <p:nvPr>
            <p:ph type="title"/>
          </p:nvPr>
        </p:nvSpPr>
        <p:spPr>
          <a:xfrm>
            <a:off x="838200" y="306180"/>
            <a:ext cx="10515600" cy="986597"/>
          </a:xfrm>
        </p:spPr>
        <p:txBody>
          <a:bodyPr/>
          <a:lstStyle/>
          <a:p>
            <a:r>
              <a:rPr lang="en-IN" dirty="0"/>
              <a:t>Data Abstraction</a:t>
            </a:r>
          </a:p>
        </p:txBody>
      </p:sp>
      <p:sp>
        <p:nvSpPr>
          <p:cNvPr id="3" name="Content Placeholder 2">
            <a:extLst>
              <a:ext uri="{FF2B5EF4-FFF2-40B4-BE49-F238E27FC236}">
                <a16:creationId xmlns:a16="http://schemas.microsoft.com/office/drawing/2014/main" id="{63D35CFB-E01B-4FF7-A0C0-264E23CA1E2B}"/>
              </a:ext>
            </a:extLst>
          </p:cNvPr>
          <p:cNvSpPr>
            <a:spLocks noGrp="1"/>
          </p:cNvSpPr>
          <p:nvPr>
            <p:ph idx="1"/>
          </p:nvPr>
        </p:nvSpPr>
        <p:spPr>
          <a:xfrm>
            <a:off x="838200" y="1573142"/>
            <a:ext cx="10515600" cy="4978677"/>
          </a:xfrm>
        </p:spPr>
        <p:txBody>
          <a:bodyPr>
            <a:normAutofit/>
          </a:bodyPr>
          <a:lstStyle/>
          <a:p>
            <a:r>
              <a:rPr lang="en-IN" dirty="0"/>
              <a:t> The system hides certain details of how the data are stored and maintained is called data abstraction</a:t>
            </a:r>
          </a:p>
          <a:p>
            <a:r>
              <a:rPr lang="en-IN" dirty="0"/>
              <a:t>Since database system users are not computer trained, developers hide the complexity from users through 3 levels of abstraction, to simplify user’s interaction with the system.</a:t>
            </a:r>
          </a:p>
          <a:p>
            <a:pPr marL="514350" indent="-514350">
              <a:lnSpc>
                <a:spcPct val="100000"/>
              </a:lnSpc>
              <a:buFont typeface="+mj-lt"/>
              <a:buAutoNum type="arabicPeriod"/>
            </a:pPr>
            <a:r>
              <a:rPr lang="en-IN" dirty="0"/>
              <a:t>Physical level of data abstraction: The lowest level of abstraction which describes </a:t>
            </a:r>
            <a:r>
              <a:rPr lang="en-IN" i="1" u="sng" dirty="0"/>
              <a:t>how data are actually stored</a:t>
            </a:r>
            <a:r>
              <a:rPr lang="en-IN" dirty="0"/>
              <a:t>.</a:t>
            </a:r>
          </a:p>
          <a:p>
            <a:pPr marL="514350" indent="-514350">
              <a:lnSpc>
                <a:spcPct val="100000"/>
              </a:lnSpc>
              <a:buFont typeface="+mj-lt"/>
              <a:buAutoNum type="arabicPeriod"/>
            </a:pPr>
            <a:r>
              <a:rPr lang="en-IN" dirty="0"/>
              <a:t>Logical level of data abstraction: This level hides </a:t>
            </a:r>
            <a:r>
              <a:rPr lang="en-IN" i="1" u="sng" dirty="0"/>
              <a:t>what data are actually stored </a:t>
            </a:r>
            <a:r>
              <a:rPr lang="en-IN" dirty="0"/>
              <a:t>in the database and what relationship exists among them.</a:t>
            </a:r>
          </a:p>
          <a:p>
            <a:pPr marL="514350" indent="-514350">
              <a:lnSpc>
                <a:spcPct val="100000"/>
              </a:lnSpc>
              <a:buFont typeface="+mj-lt"/>
              <a:buAutoNum type="arabicPeriod"/>
            </a:pPr>
            <a:r>
              <a:rPr lang="en-IN" dirty="0"/>
              <a:t> View Level of data abstraction: View provides security mechanism to </a:t>
            </a:r>
            <a:r>
              <a:rPr lang="en-IN" i="1" u="sng" dirty="0"/>
              <a:t>prevent user from accessing certain parts of database</a:t>
            </a:r>
            <a:r>
              <a:rPr lang="en-IN" dirty="0"/>
              <a:t>.</a:t>
            </a:r>
          </a:p>
          <a:p>
            <a:endParaRPr lang="en-IN" dirty="0"/>
          </a:p>
          <a:p>
            <a:endParaRPr lang="en-IN" dirty="0"/>
          </a:p>
        </p:txBody>
      </p:sp>
    </p:spTree>
    <p:extLst>
      <p:ext uri="{BB962C8B-B14F-4D97-AF65-F5344CB8AC3E}">
        <p14:creationId xmlns:p14="http://schemas.microsoft.com/office/powerpoint/2010/main" val="315361666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D06AE2-0C6C-4D28-A220-EEB6DB9E9F5E}"/>
              </a:ext>
            </a:extLst>
          </p:cNvPr>
          <p:cNvSpPr>
            <a:spLocks noGrp="1"/>
          </p:cNvSpPr>
          <p:nvPr>
            <p:ph type="title"/>
          </p:nvPr>
        </p:nvSpPr>
        <p:spPr>
          <a:xfrm>
            <a:off x="862252" y="440158"/>
            <a:ext cx="8596668" cy="1320800"/>
          </a:xfrm>
        </p:spPr>
        <p:txBody>
          <a:bodyPr/>
          <a:lstStyle/>
          <a:p>
            <a:r>
              <a:rPr lang="en-IN" dirty="0"/>
              <a:t>Mapping</a:t>
            </a:r>
          </a:p>
        </p:txBody>
      </p:sp>
      <p:pic>
        <p:nvPicPr>
          <p:cNvPr id="1026" name="Picture 2" descr="DBMS Three schema Architecture">
            <a:extLst>
              <a:ext uri="{FF2B5EF4-FFF2-40B4-BE49-F238E27FC236}">
                <a16:creationId xmlns:a16="http://schemas.microsoft.com/office/drawing/2014/main" id="{63BDB1CE-D8DD-4984-81BE-2D2F44BA17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3187" y="1252728"/>
            <a:ext cx="7017309" cy="54321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46524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40E333-34A0-423C-B1CD-C8032944B73A}"/>
              </a:ext>
            </a:extLst>
          </p:cNvPr>
          <p:cNvSpPr>
            <a:spLocks noGrp="1"/>
          </p:cNvSpPr>
          <p:nvPr>
            <p:ph type="title"/>
          </p:nvPr>
        </p:nvSpPr>
        <p:spPr>
          <a:xfrm>
            <a:off x="838200" y="365126"/>
            <a:ext cx="10515600" cy="602284"/>
          </a:xfrm>
        </p:spPr>
        <p:txBody>
          <a:bodyPr>
            <a:normAutofit fontScale="90000"/>
          </a:bodyPr>
          <a:lstStyle/>
          <a:p>
            <a:r>
              <a:rPr lang="en-IN" dirty="0"/>
              <a:t>Relational Vs. Non Relational DBMS</a:t>
            </a:r>
          </a:p>
        </p:txBody>
      </p:sp>
      <p:graphicFrame>
        <p:nvGraphicFramePr>
          <p:cNvPr id="4" name="Table 4">
            <a:extLst>
              <a:ext uri="{FF2B5EF4-FFF2-40B4-BE49-F238E27FC236}">
                <a16:creationId xmlns:a16="http://schemas.microsoft.com/office/drawing/2014/main" id="{AE09F3D4-27D1-4274-A1E1-8A7C1D1D2897}"/>
              </a:ext>
            </a:extLst>
          </p:cNvPr>
          <p:cNvGraphicFramePr>
            <a:graphicFrameLocks noGrp="1"/>
          </p:cNvGraphicFramePr>
          <p:nvPr/>
        </p:nvGraphicFramePr>
        <p:xfrm>
          <a:off x="838200" y="1126435"/>
          <a:ext cx="10515600" cy="5698932"/>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235903527"/>
                    </a:ext>
                  </a:extLst>
                </a:gridCol>
                <a:gridCol w="5257800">
                  <a:extLst>
                    <a:ext uri="{9D8B030D-6E8A-4147-A177-3AD203B41FA5}">
                      <a16:colId xmlns:a16="http://schemas.microsoft.com/office/drawing/2014/main" val="2617439076"/>
                    </a:ext>
                  </a:extLst>
                </a:gridCol>
              </a:tblGrid>
              <a:tr h="467148">
                <a:tc>
                  <a:txBody>
                    <a:bodyPr/>
                    <a:lstStyle/>
                    <a:p>
                      <a:r>
                        <a:rPr lang="en-IN" dirty="0"/>
                        <a:t>Relational</a:t>
                      </a:r>
                    </a:p>
                  </a:txBody>
                  <a:tcPr/>
                </a:tc>
                <a:tc>
                  <a:txBody>
                    <a:bodyPr/>
                    <a:lstStyle/>
                    <a:p>
                      <a:r>
                        <a:rPr lang="en-IN" dirty="0"/>
                        <a:t>Non-Relational</a:t>
                      </a:r>
                    </a:p>
                  </a:txBody>
                  <a:tcPr/>
                </a:tc>
                <a:extLst>
                  <a:ext uri="{0D108BD9-81ED-4DB2-BD59-A6C34878D82A}">
                    <a16:rowId xmlns:a16="http://schemas.microsoft.com/office/drawing/2014/main" val="231226269"/>
                  </a:ext>
                </a:extLst>
              </a:tr>
              <a:tr h="467148">
                <a:tc>
                  <a:txBody>
                    <a:bodyPr/>
                    <a:lstStyle/>
                    <a:p>
                      <a:r>
                        <a:rPr lang="en-IN" dirty="0"/>
                        <a:t>Data stored in structured format</a:t>
                      </a:r>
                    </a:p>
                  </a:txBody>
                  <a:tcPr/>
                </a:tc>
                <a:tc>
                  <a:txBody>
                    <a:bodyPr/>
                    <a:lstStyle/>
                    <a:p>
                      <a:r>
                        <a:rPr lang="en-IN" dirty="0"/>
                        <a:t>No fix structure</a:t>
                      </a:r>
                    </a:p>
                  </a:txBody>
                  <a:tcPr/>
                </a:tc>
                <a:extLst>
                  <a:ext uri="{0D108BD9-81ED-4DB2-BD59-A6C34878D82A}">
                    <a16:rowId xmlns:a16="http://schemas.microsoft.com/office/drawing/2014/main" val="2680297763"/>
                  </a:ext>
                </a:extLst>
              </a:tr>
              <a:tr h="467148">
                <a:tc>
                  <a:txBody>
                    <a:bodyPr/>
                    <a:lstStyle/>
                    <a:p>
                      <a:r>
                        <a:rPr lang="en-IN" dirty="0"/>
                        <a:t>Store and retrieval of data is easy</a:t>
                      </a:r>
                    </a:p>
                  </a:txBody>
                  <a:tcPr/>
                </a:tc>
                <a:tc>
                  <a:txBody>
                    <a:bodyPr/>
                    <a:lstStyle/>
                    <a:p>
                      <a:r>
                        <a:rPr lang="en-IN" dirty="0"/>
                        <a:t>Not easy to manipulate data</a:t>
                      </a:r>
                    </a:p>
                  </a:txBody>
                  <a:tcPr/>
                </a:tc>
                <a:extLst>
                  <a:ext uri="{0D108BD9-81ED-4DB2-BD59-A6C34878D82A}">
                    <a16:rowId xmlns:a16="http://schemas.microsoft.com/office/drawing/2014/main" val="815705735"/>
                  </a:ext>
                </a:extLst>
              </a:tr>
              <a:tr h="467148">
                <a:tc>
                  <a:txBody>
                    <a:bodyPr/>
                    <a:lstStyle/>
                    <a:p>
                      <a:r>
                        <a:rPr lang="en-IN" dirty="0"/>
                        <a:t>Can use SQL</a:t>
                      </a:r>
                    </a:p>
                  </a:txBody>
                  <a:tcPr/>
                </a:tc>
                <a:tc>
                  <a:txBody>
                    <a:bodyPr/>
                    <a:lstStyle/>
                    <a:p>
                      <a:r>
                        <a:rPr lang="en-IN" dirty="0"/>
                        <a:t>No fix language, it depends on the data storage format</a:t>
                      </a:r>
                    </a:p>
                  </a:txBody>
                  <a:tcPr/>
                </a:tc>
                <a:extLst>
                  <a:ext uri="{0D108BD9-81ED-4DB2-BD59-A6C34878D82A}">
                    <a16:rowId xmlns:a16="http://schemas.microsoft.com/office/drawing/2014/main" val="2756602575"/>
                  </a:ext>
                </a:extLst>
              </a:tr>
              <a:tr h="676722">
                <a:tc>
                  <a:txBody>
                    <a:bodyPr/>
                    <a:lstStyle/>
                    <a:p>
                      <a:r>
                        <a:rPr lang="en-IN" dirty="0"/>
                        <a:t>Data stored in form of rows and column (relation)</a:t>
                      </a:r>
                    </a:p>
                  </a:txBody>
                  <a:tcPr/>
                </a:tc>
                <a:tc>
                  <a:txBody>
                    <a:bodyPr/>
                    <a:lstStyle/>
                    <a:p>
                      <a:r>
                        <a:rPr lang="en-IN" sz="1800" b="0" i="0" kern="1200" dirty="0">
                          <a:solidFill>
                            <a:schemeClr val="dk1"/>
                          </a:solidFill>
                          <a:effectLst/>
                          <a:latin typeface="+mn-lt"/>
                          <a:ea typeface="+mn-ea"/>
                          <a:cs typeface="+mn-cs"/>
                        </a:rPr>
                        <a:t>Data in form of document , column-oriented, key-value store and graph</a:t>
                      </a:r>
                      <a:endParaRPr lang="en-IN" dirty="0"/>
                    </a:p>
                  </a:txBody>
                  <a:tcPr/>
                </a:tc>
                <a:extLst>
                  <a:ext uri="{0D108BD9-81ED-4DB2-BD59-A6C34878D82A}">
                    <a16:rowId xmlns:a16="http://schemas.microsoft.com/office/drawing/2014/main" val="2851931053"/>
                  </a:ext>
                </a:extLst>
              </a:tr>
              <a:tr h="467148">
                <a:tc>
                  <a:txBody>
                    <a:bodyPr/>
                    <a:lstStyle/>
                    <a:p>
                      <a:r>
                        <a:rPr lang="en-IN" dirty="0"/>
                        <a:t>Any application can use the database</a:t>
                      </a:r>
                    </a:p>
                  </a:txBody>
                  <a:tcPr/>
                </a:tc>
                <a:tc>
                  <a:txBody>
                    <a:bodyPr/>
                    <a:lstStyle/>
                    <a:p>
                      <a:r>
                        <a:rPr lang="en-IN" sz="1800" b="0" i="0" kern="1200" dirty="0">
                          <a:solidFill>
                            <a:schemeClr val="dk1"/>
                          </a:solidFill>
                          <a:effectLst/>
                          <a:latin typeface="+mn-lt"/>
                          <a:ea typeface="+mn-ea"/>
                          <a:cs typeface="+mn-cs"/>
                        </a:rPr>
                        <a:t>These types are used for a single application.</a:t>
                      </a:r>
                      <a:endParaRPr lang="en-IN" dirty="0"/>
                    </a:p>
                  </a:txBody>
                  <a:tcPr/>
                </a:tc>
                <a:extLst>
                  <a:ext uri="{0D108BD9-81ED-4DB2-BD59-A6C34878D82A}">
                    <a16:rowId xmlns:a16="http://schemas.microsoft.com/office/drawing/2014/main" val="364314612"/>
                  </a:ext>
                </a:extLst>
              </a:tr>
              <a:tr h="676722">
                <a:tc>
                  <a:txBody>
                    <a:bodyPr/>
                    <a:lstStyle/>
                    <a:p>
                      <a:r>
                        <a:rPr lang="en-IN" dirty="0"/>
                        <a:t>Can define key for unique identification of record, integrity constraints can be impose</a:t>
                      </a:r>
                    </a:p>
                  </a:txBody>
                  <a:tcPr/>
                </a:tc>
                <a:tc>
                  <a:txBody>
                    <a:bodyPr/>
                    <a:lstStyle/>
                    <a:p>
                      <a:r>
                        <a:rPr lang="en-IN" sz="1800" b="0" i="0" kern="1200" dirty="0">
                          <a:solidFill>
                            <a:schemeClr val="dk1"/>
                          </a:solidFill>
                          <a:effectLst/>
                          <a:latin typeface="+mn-lt"/>
                          <a:ea typeface="+mn-ea"/>
                          <a:cs typeface="+mn-cs"/>
                        </a:rPr>
                        <a:t>There are no tables, rows, primary keys or foreign keys</a:t>
                      </a:r>
                      <a:endParaRPr lang="en-IN" dirty="0"/>
                    </a:p>
                  </a:txBody>
                  <a:tcPr/>
                </a:tc>
                <a:extLst>
                  <a:ext uri="{0D108BD9-81ED-4DB2-BD59-A6C34878D82A}">
                    <a16:rowId xmlns:a16="http://schemas.microsoft.com/office/drawing/2014/main" val="2024975630"/>
                  </a:ext>
                </a:extLst>
              </a:tr>
              <a:tr h="1836816">
                <a:tc>
                  <a:txBody>
                    <a:bodyPr/>
                    <a:lstStyle/>
                    <a:p>
                      <a:r>
                        <a:rPr lang="en-IN" dirty="0"/>
                        <a:t>Most popular relational databases have been Microsoft SQL Server, Oracle Database, MySQL and IBM DB2. Several free versions of these RDBMS platforms have gained popularity over the years, such as SQL Server Express, PostgreSQL, SQLite, MySQL and MariaDB.</a:t>
                      </a:r>
                    </a:p>
                  </a:txBody>
                  <a:tcPr/>
                </a:tc>
                <a:tc>
                  <a:txBody>
                    <a:bodyPr/>
                    <a:lstStyle/>
                    <a:p>
                      <a:r>
                        <a:rPr lang="en-IN" sz="1800" b="0" i="0" kern="1200" dirty="0">
                          <a:solidFill>
                            <a:schemeClr val="dk1"/>
                          </a:solidFill>
                          <a:effectLst/>
                          <a:latin typeface="+mn-lt"/>
                          <a:ea typeface="+mn-ea"/>
                          <a:cs typeface="+mn-cs"/>
                        </a:rPr>
                        <a:t>Popular NoSQL databases are MongoDB, Apache Cassandra, Redis, Couchbase and Apache HBase</a:t>
                      </a:r>
                      <a:endParaRPr lang="en-IN" dirty="0"/>
                    </a:p>
                  </a:txBody>
                  <a:tcPr/>
                </a:tc>
                <a:extLst>
                  <a:ext uri="{0D108BD9-81ED-4DB2-BD59-A6C34878D82A}">
                    <a16:rowId xmlns:a16="http://schemas.microsoft.com/office/drawing/2014/main" val="2491013412"/>
                  </a:ext>
                </a:extLst>
              </a:tr>
            </a:tbl>
          </a:graphicData>
        </a:graphic>
      </p:graphicFrame>
    </p:spTree>
    <p:extLst>
      <p:ext uri="{BB962C8B-B14F-4D97-AF65-F5344CB8AC3E}">
        <p14:creationId xmlns:p14="http://schemas.microsoft.com/office/powerpoint/2010/main" val="323353765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ACDE6-63B1-4C0D-8621-B3F5D26FC865}"/>
              </a:ext>
            </a:extLst>
          </p:cNvPr>
          <p:cNvSpPr>
            <a:spLocks noGrp="1"/>
          </p:cNvSpPr>
          <p:nvPr>
            <p:ph type="title"/>
          </p:nvPr>
        </p:nvSpPr>
        <p:spPr/>
        <p:txBody>
          <a:bodyPr/>
          <a:lstStyle/>
          <a:p>
            <a:r>
              <a:rPr lang="en-IN" dirty="0"/>
              <a:t>Benefits of using RDBMS</a:t>
            </a:r>
          </a:p>
        </p:txBody>
      </p:sp>
      <p:pic>
        <p:nvPicPr>
          <p:cNvPr id="4" name="Picture 3">
            <a:extLst>
              <a:ext uri="{FF2B5EF4-FFF2-40B4-BE49-F238E27FC236}">
                <a16:creationId xmlns:a16="http://schemas.microsoft.com/office/drawing/2014/main" id="{F97FF9DB-668D-477C-A3DD-D86A5A64DB2E}"/>
              </a:ext>
            </a:extLst>
          </p:cNvPr>
          <p:cNvPicPr>
            <a:picLocks noChangeAspect="1"/>
          </p:cNvPicPr>
          <p:nvPr/>
        </p:nvPicPr>
        <p:blipFill>
          <a:blip r:embed="rId2"/>
          <a:stretch>
            <a:fillRect/>
          </a:stretch>
        </p:blipFill>
        <p:spPr>
          <a:xfrm>
            <a:off x="2172641" y="1690687"/>
            <a:ext cx="8292962" cy="5067921"/>
          </a:xfrm>
          <a:prstGeom prst="rect">
            <a:avLst/>
          </a:prstGeom>
        </p:spPr>
      </p:pic>
    </p:spTree>
    <p:extLst>
      <p:ext uri="{BB962C8B-B14F-4D97-AF65-F5344CB8AC3E}">
        <p14:creationId xmlns:p14="http://schemas.microsoft.com/office/powerpoint/2010/main" val="292016554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F38F6-3D9A-4018-896C-FD06B72BAC2C}"/>
              </a:ext>
            </a:extLst>
          </p:cNvPr>
          <p:cNvSpPr>
            <a:spLocks noGrp="1"/>
          </p:cNvSpPr>
          <p:nvPr>
            <p:ph type="title"/>
          </p:nvPr>
        </p:nvSpPr>
        <p:spPr/>
        <p:txBody>
          <a:bodyPr/>
          <a:lstStyle/>
          <a:p>
            <a:r>
              <a:rPr lang="en-IN" dirty="0"/>
              <a:t>Benefits of using RDBMS</a:t>
            </a:r>
          </a:p>
        </p:txBody>
      </p:sp>
      <p:sp>
        <p:nvSpPr>
          <p:cNvPr id="3" name="TextBox 2">
            <a:extLst>
              <a:ext uri="{FF2B5EF4-FFF2-40B4-BE49-F238E27FC236}">
                <a16:creationId xmlns:a16="http://schemas.microsoft.com/office/drawing/2014/main" id="{D84235BD-F6AD-B0F8-E421-47C4E09B8F6F}"/>
              </a:ext>
            </a:extLst>
          </p:cNvPr>
          <p:cNvSpPr txBox="1"/>
          <p:nvPr/>
        </p:nvSpPr>
        <p:spPr>
          <a:xfrm flipH="1">
            <a:off x="677334" y="1930400"/>
            <a:ext cx="9278633" cy="2554545"/>
          </a:xfrm>
          <a:prstGeom prst="rect">
            <a:avLst/>
          </a:prstGeom>
          <a:noFill/>
        </p:spPr>
        <p:txBody>
          <a:bodyPr wrap="square" rtlCol="0">
            <a:spAutoFit/>
          </a:bodyPr>
          <a:lstStyle/>
          <a:p>
            <a:pPr marL="285750" indent="-285750">
              <a:buClr>
                <a:srgbClr val="00B0F0"/>
              </a:buClr>
              <a:buFont typeface="Arial" panose="020B0604020202020204" pitchFamily="34" charset="0"/>
              <a:buChar char="•"/>
            </a:pPr>
            <a:r>
              <a:rPr lang="en-IN" sz="2000" dirty="0"/>
              <a:t>Possible to design complex data storage and retrieval systems with ease </a:t>
            </a:r>
          </a:p>
          <a:p>
            <a:pPr marL="285750" indent="-285750">
              <a:buClr>
                <a:srgbClr val="00B0F0"/>
              </a:buClr>
              <a:buFont typeface="Arial" panose="020B0604020202020204" pitchFamily="34" charset="0"/>
              <a:buChar char="•"/>
            </a:pPr>
            <a:r>
              <a:rPr lang="en-IN" sz="2000" dirty="0"/>
              <a:t>Support for ACID (Atomic, Consistency, Isolation, Durability) Transactions Properties</a:t>
            </a:r>
          </a:p>
          <a:p>
            <a:pPr marL="285750" indent="-285750">
              <a:buClr>
                <a:srgbClr val="00B0F0"/>
              </a:buClr>
              <a:buFont typeface="Arial" panose="020B0604020202020204" pitchFamily="34" charset="0"/>
              <a:buChar char="•"/>
            </a:pPr>
            <a:r>
              <a:rPr lang="en-IN" sz="2000" dirty="0"/>
              <a:t>Easy for backup and recovery.</a:t>
            </a:r>
          </a:p>
          <a:p>
            <a:pPr marL="285750" indent="-285750">
              <a:buClr>
                <a:srgbClr val="00B0F0"/>
              </a:buClr>
              <a:buFont typeface="Arial" panose="020B0604020202020204" pitchFamily="34" charset="0"/>
              <a:buChar char="•"/>
            </a:pPr>
            <a:r>
              <a:rPr lang="en-IN" sz="2000" dirty="0"/>
              <a:t>Easy accessibility and query based protocols, ensure good interactivity.</a:t>
            </a:r>
          </a:p>
          <a:p>
            <a:pPr marL="285750" indent="-285750">
              <a:buClr>
                <a:srgbClr val="00B0F0"/>
              </a:buClr>
              <a:buFont typeface="Arial" panose="020B0604020202020204" pitchFamily="34" charset="0"/>
              <a:buChar char="•"/>
            </a:pPr>
            <a:r>
              <a:rPr lang="en-IN" sz="2000" dirty="0"/>
              <a:t>Security and privacy ensured by maintenance of a key (Primary / Foreign key)</a:t>
            </a:r>
          </a:p>
          <a:p>
            <a:pPr marL="285750" indent="-285750">
              <a:buClr>
                <a:srgbClr val="00B0F0"/>
              </a:buClr>
              <a:buFont typeface="Arial" panose="020B0604020202020204" pitchFamily="34" charset="0"/>
              <a:buChar char="•"/>
            </a:pPr>
            <a:r>
              <a:rPr lang="en-IN" sz="2000" dirty="0"/>
              <a:t>Supporting multiple format file structures with multi level indexing.</a:t>
            </a:r>
            <a:endParaRPr lang="en-IN" dirty="0"/>
          </a:p>
        </p:txBody>
      </p:sp>
    </p:spTree>
    <p:extLst>
      <p:ext uri="{BB962C8B-B14F-4D97-AF65-F5344CB8AC3E}">
        <p14:creationId xmlns:p14="http://schemas.microsoft.com/office/powerpoint/2010/main" val="210455249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FD380-D6AF-4BE9-941B-346A91C3B9A0}"/>
              </a:ext>
            </a:extLst>
          </p:cNvPr>
          <p:cNvSpPr>
            <a:spLocks noGrp="1"/>
          </p:cNvSpPr>
          <p:nvPr>
            <p:ph type="title"/>
          </p:nvPr>
        </p:nvSpPr>
        <p:spPr>
          <a:xfrm>
            <a:off x="838200" y="19881"/>
            <a:ext cx="10515600" cy="854075"/>
          </a:xfrm>
        </p:spPr>
        <p:txBody>
          <a:bodyPr/>
          <a:lstStyle/>
          <a:p>
            <a:r>
              <a:rPr lang="en-IN" dirty="0"/>
              <a:t>Types of Databases </a:t>
            </a:r>
          </a:p>
        </p:txBody>
      </p:sp>
      <p:sp>
        <p:nvSpPr>
          <p:cNvPr id="3" name="Content Placeholder 2">
            <a:extLst>
              <a:ext uri="{FF2B5EF4-FFF2-40B4-BE49-F238E27FC236}">
                <a16:creationId xmlns:a16="http://schemas.microsoft.com/office/drawing/2014/main" id="{33D7AD3D-DC2D-4EE8-B87D-72F1754F0DA2}"/>
              </a:ext>
            </a:extLst>
          </p:cNvPr>
          <p:cNvSpPr>
            <a:spLocks noGrp="1"/>
          </p:cNvSpPr>
          <p:nvPr>
            <p:ph idx="1"/>
          </p:nvPr>
        </p:nvSpPr>
        <p:spPr>
          <a:xfrm>
            <a:off x="838200" y="728870"/>
            <a:ext cx="11181522" cy="6129130"/>
          </a:xfrm>
        </p:spPr>
        <p:txBody>
          <a:bodyPr>
            <a:normAutofit fontScale="85000" lnSpcReduction="20000"/>
          </a:bodyPr>
          <a:lstStyle/>
          <a:p>
            <a:pPr algn="just"/>
            <a:r>
              <a:rPr lang="en-IN" sz="2000" dirty="0"/>
              <a:t>Text/ file databases</a:t>
            </a:r>
          </a:p>
          <a:p>
            <a:pPr lvl="1" algn="just"/>
            <a:r>
              <a:rPr lang="en-IN" sz="1600" dirty="0"/>
              <a:t>A large portion of the information available worldwide in electronic form is actually in text form (other popular forms are structured and multimedia information).</a:t>
            </a:r>
          </a:p>
          <a:p>
            <a:pPr algn="just"/>
            <a:r>
              <a:rPr lang="en-IN" sz="2000" dirty="0"/>
              <a:t>Relational database </a:t>
            </a:r>
          </a:p>
          <a:p>
            <a:pPr lvl="1" algn="just"/>
            <a:r>
              <a:rPr lang="en-IN" sz="1600" dirty="0"/>
              <a:t>Microsoft SQL Server, Oracle Database, MySQL and IBM DB2.</a:t>
            </a:r>
          </a:p>
          <a:p>
            <a:pPr algn="just"/>
            <a:r>
              <a:rPr lang="en-IN" sz="2000" dirty="0"/>
              <a:t>NoSQL database</a:t>
            </a:r>
          </a:p>
          <a:p>
            <a:pPr lvl="1" algn="just"/>
            <a:r>
              <a:rPr lang="en-IN" sz="1600" dirty="0"/>
              <a:t>many different types of NoSQL databases, with different specifications: Key value, graph etc…</a:t>
            </a:r>
          </a:p>
          <a:p>
            <a:pPr lvl="1" algn="just"/>
            <a:r>
              <a:rPr lang="en-IN" sz="1600" dirty="0"/>
              <a:t>MongoDB is a most popular NoSQL Database (document-oriented database) that stores JSON-like documents in dynamic schemas</a:t>
            </a:r>
          </a:p>
          <a:p>
            <a:pPr lvl="1" algn="just"/>
            <a:r>
              <a:rPr lang="en-IN" sz="1600" dirty="0"/>
              <a:t>Cassandra DB is also highly scalable. Facebook® created Cassandra DB</a:t>
            </a:r>
          </a:p>
          <a:p>
            <a:pPr lvl="1" algn="just"/>
            <a:r>
              <a:rPr lang="en-IN" sz="1600" dirty="0"/>
              <a:t>The Firebase Realtime Database is a cloud-hosted NoSQL database</a:t>
            </a:r>
          </a:p>
          <a:p>
            <a:pPr algn="just"/>
            <a:r>
              <a:rPr lang="en-IN" sz="2000" dirty="0"/>
              <a:t>Cloud database</a:t>
            </a:r>
          </a:p>
          <a:p>
            <a:pPr lvl="1" algn="just"/>
            <a:r>
              <a:rPr lang="en-IN" sz="1600" dirty="0"/>
              <a:t>5 Best Cloud Databases to Use in 2021. Amazon DynamoDB, Google </a:t>
            </a:r>
            <a:r>
              <a:rPr lang="en-IN" sz="1600" dirty="0" err="1"/>
              <a:t>BigQuery</a:t>
            </a:r>
            <a:r>
              <a:rPr lang="en-IN" sz="1600" dirty="0"/>
              <a:t>, Azure SQL Server, Azure Cosmos DB, Amazon Redshift</a:t>
            </a:r>
          </a:p>
          <a:p>
            <a:pPr algn="just"/>
            <a:r>
              <a:rPr lang="en-IN" sz="2000" dirty="0"/>
              <a:t>Object-oriented database</a:t>
            </a:r>
          </a:p>
          <a:p>
            <a:pPr lvl="1" algn="just"/>
            <a:r>
              <a:rPr lang="en-IN" sz="1600" dirty="0"/>
              <a:t>An object-oriented database is based on object-oriented programming, so data and all of its attributes, are tied together as an object. Object-oriented databases are managed by object-oriented database management systems (OODBMS). These databases work well with object-oriented programming languages, such as C++ and Java</a:t>
            </a:r>
          </a:p>
          <a:p>
            <a:pPr lvl="1" algn="just"/>
            <a:r>
              <a:rPr lang="en-IN" sz="1600" dirty="0"/>
              <a:t>Examples: Wakanda, </a:t>
            </a:r>
            <a:r>
              <a:rPr lang="en-IN" sz="1600" dirty="0" err="1"/>
              <a:t>ObjectStore</a:t>
            </a:r>
            <a:endParaRPr lang="en-IN" sz="1600" dirty="0"/>
          </a:p>
          <a:p>
            <a:pPr algn="just"/>
            <a:r>
              <a:rPr lang="en-IN" sz="2000" dirty="0"/>
              <a:t>Hierarchical database </a:t>
            </a:r>
          </a:p>
          <a:p>
            <a:pPr lvl="1" algn="just"/>
            <a:r>
              <a:rPr lang="en-IN" sz="1600" dirty="0"/>
              <a:t>Hierarchical databases use a parent-child model to store data. If you were to draw a picture of a hierarchical database, it would look like a family tree, with one object on top branching down to multiple objects beneath it.</a:t>
            </a:r>
          </a:p>
          <a:p>
            <a:pPr lvl="1" algn="just"/>
            <a:r>
              <a:rPr lang="en-IN" sz="1600" dirty="0"/>
              <a:t>Examples: IBM Information Management System (IMS), Windows Registry</a:t>
            </a:r>
          </a:p>
        </p:txBody>
      </p:sp>
    </p:spTree>
    <p:extLst>
      <p:ext uri="{BB962C8B-B14F-4D97-AF65-F5344CB8AC3E}">
        <p14:creationId xmlns:p14="http://schemas.microsoft.com/office/powerpoint/2010/main" val="409760014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5341" y="0"/>
            <a:ext cx="8596668" cy="1320800"/>
          </a:xfrm>
        </p:spPr>
        <p:txBody>
          <a:bodyPr/>
          <a:lstStyle/>
          <a:p>
            <a:r>
              <a:rPr lang="en-US" dirty="0"/>
              <a:t>Components of DBMS</a:t>
            </a:r>
            <a:endParaRPr lang="en-IN" dirty="0"/>
          </a:p>
        </p:txBody>
      </p:sp>
      <p:graphicFrame>
        <p:nvGraphicFramePr>
          <p:cNvPr id="38" name="Content Placeholder 37"/>
          <p:cNvGraphicFramePr>
            <a:graphicFrameLocks noGrp="1"/>
          </p:cNvGraphicFramePr>
          <p:nvPr>
            <p:ph idx="1"/>
          </p:nvPr>
        </p:nvGraphicFramePr>
        <p:xfrm>
          <a:off x="677863" y="1565329"/>
          <a:ext cx="8596312" cy="4835471"/>
        </p:xfrm>
        <a:graphic>
          <a:graphicData uri="http://schemas.openxmlformats.org/drawingml/2006/table">
            <a:tbl>
              <a:tblPr/>
              <a:tblGrid>
                <a:gridCol w="4298156">
                  <a:extLst>
                    <a:ext uri="{9D8B030D-6E8A-4147-A177-3AD203B41FA5}">
                      <a16:colId xmlns:a16="http://schemas.microsoft.com/office/drawing/2014/main" val="20000"/>
                    </a:ext>
                  </a:extLst>
                </a:gridCol>
                <a:gridCol w="4298156">
                  <a:extLst>
                    <a:ext uri="{9D8B030D-6E8A-4147-A177-3AD203B41FA5}">
                      <a16:colId xmlns:a16="http://schemas.microsoft.com/office/drawing/2014/main" val="20001"/>
                    </a:ext>
                  </a:extLst>
                </a:gridCol>
              </a:tblGrid>
              <a:tr h="4835471">
                <a:tc>
                  <a:txBody>
                    <a:bodyPr/>
                    <a:lstStyle/>
                    <a:p>
                      <a:endParaRPr lang="en-IN" dirty="0"/>
                    </a:p>
                  </a:txBody>
                  <a:tcPr anchor="ctr">
                    <a:lnL>
                      <a:noFill/>
                    </a:lnL>
                    <a:lnR>
                      <a:noFill/>
                    </a:lnR>
                    <a:lnT>
                      <a:noFill/>
                    </a:lnT>
                    <a:lnB>
                      <a:noFill/>
                    </a:lnB>
                  </a:tcPr>
                </a:tc>
                <a:tc>
                  <a:txBody>
                    <a:bodyPr/>
                    <a:lstStyle/>
                    <a:p>
                      <a:endParaRPr lang="en-IN" dirty="0"/>
                    </a:p>
                  </a:txBody>
                  <a:tcPr anchor="ctr">
                    <a:lnL>
                      <a:noFill/>
                    </a:lnL>
                    <a:lnR>
                      <a:noFill/>
                    </a:lnR>
                    <a:lnT>
                      <a:noFill/>
                    </a:lnT>
                    <a:lnB>
                      <a:noFill/>
                    </a:lnB>
                  </a:tcPr>
                </a:tc>
                <a:extLst>
                  <a:ext uri="{0D108BD9-81ED-4DB2-BD59-A6C34878D82A}">
                    <a16:rowId xmlns:a16="http://schemas.microsoft.com/office/drawing/2014/main" val="10000"/>
                  </a:ext>
                </a:extLst>
              </a:tr>
            </a:tbl>
          </a:graphicData>
        </a:graphic>
      </p:graphicFrame>
      <p:graphicFrame>
        <p:nvGraphicFramePr>
          <p:cNvPr id="39" name="Table 38"/>
          <p:cNvGraphicFramePr>
            <a:graphicFrameLocks noGrp="1"/>
          </p:cNvGraphicFramePr>
          <p:nvPr/>
        </p:nvGraphicFramePr>
        <p:xfrm>
          <a:off x="677863" y="3506946"/>
          <a:ext cx="8596312" cy="365760"/>
        </p:xfrm>
        <a:graphic>
          <a:graphicData uri="http://schemas.openxmlformats.org/drawingml/2006/table">
            <a:tbl>
              <a:tblPr/>
              <a:tblGrid>
                <a:gridCol w="4298156">
                  <a:extLst>
                    <a:ext uri="{9D8B030D-6E8A-4147-A177-3AD203B41FA5}">
                      <a16:colId xmlns:a16="http://schemas.microsoft.com/office/drawing/2014/main" val="20000"/>
                    </a:ext>
                  </a:extLst>
                </a:gridCol>
                <a:gridCol w="4298156">
                  <a:extLst>
                    <a:ext uri="{9D8B030D-6E8A-4147-A177-3AD203B41FA5}">
                      <a16:colId xmlns:a16="http://schemas.microsoft.com/office/drawing/2014/main" val="20001"/>
                    </a:ext>
                  </a:extLst>
                </a:gridCol>
              </a:tblGrid>
              <a:tr h="0">
                <a:tc>
                  <a:txBody>
                    <a:bodyPr/>
                    <a:lstStyle/>
                    <a:p>
                      <a:endParaRPr lang="en-IN" dirty="0"/>
                    </a:p>
                  </a:txBody>
                  <a:tcPr anchor="ctr">
                    <a:lnL>
                      <a:noFill/>
                    </a:lnL>
                    <a:lnR>
                      <a:noFill/>
                    </a:lnR>
                    <a:lnT>
                      <a:noFill/>
                    </a:lnT>
                    <a:lnB>
                      <a:noFill/>
                    </a:lnB>
                  </a:tcPr>
                </a:tc>
                <a:tc>
                  <a:txBody>
                    <a:bodyPr/>
                    <a:lstStyle/>
                    <a:p>
                      <a:endParaRPr lang="en-US" dirty="0"/>
                    </a:p>
                  </a:txBody>
                  <a:tcPr anchor="ctr">
                    <a:lnL>
                      <a:noFill/>
                    </a:lnL>
                    <a:lnR>
                      <a:noFill/>
                    </a:lnR>
                    <a:lnT>
                      <a:noFill/>
                    </a:lnT>
                    <a:lnB>
                      <a:noFill/>
                    </a:lnB>
                  </a:tcPr>
                </a:tc>
                <a:extLst>
                  <a:ext uri="{0D108BD9-81ED-4DB2-BD59-A6C34878D82A}">
                    <a16:rowId xmlns:a16="http://schemas.microsoft.com/office/drawing/2014/main" val="10000"/>
                  </a:ext>
                </a:extLst>
              </a:tr>
            </a:tbl>
          </a:graphicData>
        </a:graphic>
      </p:graphicFrame>
      <p:graphicFrame>
        <p:nvGraphicFramePr>
          <p:cNvPr id="40" name="Table 39"/>
          <p:cNvGraphicFramePr>
            <a:graphicFrameLocks noGrp="1"/>
          </p:cNvGraphicFramePr>
          <p:nvPr/>
        </p:nvGraphicFramePr>
        <p:xfrm>
          <a:off x="677863" y="3506946"/>
          <a:ext cx="8596312" cy="365760"/>
        </p:xfrm>
        <a:graphic>
          <a:graphicData uri="http://schemas.openxmlformats.org/drawingml/2006/table">
            <a:tbl>
              <a:tblPr/>
              <a:tblGrid>
                <a:gridCol w="4298156">
                  <a:extLst>
                    <a:ext uri="{9D8B030D-6E8A-4147-A177-3AD203B41FA5}">
                      <a16:colId xmlns:a16="http://schemas.microsoft.com/office/drawing/2014/main" val="20000"/>
                    </a:ext>
                  </a:extLst>
                </a:gridCol>
                <a:gridCol w="4298156">
                  <a:extLst>
                    <a:ext uri="{9D8B030D-6E8A-4147-A177-3AD203B41FA5}">
                      <a16:colId xmlns:a16="http://schemas.microsoft.com/office/drawing/2014/main" val="20001"/>
                    </a:ext>
                  </a:extLst>
                </a:gridCol>
              </a:tblGrid>
              <a:tr h="0">
                <a:tc>
                  <a:txBody>
                    <a:bodyPr/>
                    <a:lstStyle/>
                    <a:p>
                      <a:endParaRPr lang="it-IT" dirty="0"/>
                    </a:p>
                  </a:txBody>
                  <a:tcPr anchor="ctr">
                    <a:lnL>
                      <a:noFill/>
                    </a:lnL>
                    <a:lnR>
                      <a:noFill/>
                    </a:lnR>
                    <a:lnT>
                      <a:noFill/>
                    </a:lnT>
                    <a:lnB>
                      <a:noFill/>
                    </a:lnB>
                  </a:tcPr>
                </a:tc>
                <a:tc>
                  <a:txBody>
                    <a:bodyPr/>
                    <a:lstStyle/>
                    <a:p>
                      <a:endParaRPr lang="en-US" dirty="0"/>
                    </a:p>
                  </a:txBody>
                  <a:tcPr anchor="ctr">
                    <a:lnL>
                      <a:noFill/>
                    </a:lnL>
                    <a:lnR>
                      <a:noFill/>
                    </a:lnR>
                    <a:lnT>
                      <a:noFill/>
                    </a:lnT>
                    <a:lnB>
                      <a:noFill/>
                    </a:lnB>
                  </a:tcPr>
                </a:tc>
                <a:extLst>
                  <a:ext uri="{0D108BD9-81ED-4DB2-BD59-A6C34878D82A}">
                    <a16:rowId xmlns:a16="http://schemas.microsoft.com/office/drawing/2014/main" val="10000"/>
                  </a:ext>
                </a:extLst>
              </a:tr>
            </a:tbl>
          </a:graphicData>
        </a:graphic>
      </p:graphicFrame>
      <p:graphicFrame>
        <p:nvGraphicFramePr>
          <p:cNvPr id="41" name="Table 40"/>
          <p:cNvGraphicFramePr>
            <a:graphicFrameLocks noGrp="1"/>
          </p:cNvGraphicFramePr>
          <p:nvPr/>
        </p:nvGraphicFramePr>
        <p:xfrm>
          <a:off x="677863" y="3506946"/>
          <a:ext cx="8596312" cy="365760"/>
        </p:xfrm>
        <a:graphic>
          <a:graphicData uri="http://schemas.openxmlformats.org/drawingml/2006/table">
            <a:tbl>
              <a:tblPr/>
              <a:tblGrid>
                <a:gridCol w="4298156">
                  <a:extLst>
                    <a:ext uri="{9D8B030D-6E8A-4147-A177-3AD203B41FA5}">
                      <a16:colId xmlns:a16="http://schemas.microsoft.com/office/drawing/2014/main" val="20000"/>
                    </a:ext>
                  </a:extLst>
                </a:gridCol>
                <a:gridCol w="4298156">
                  <a:extLst>
                    <a:ext uri="{9D8B030D-6E8A-4147-A177-3AD203B41FA5}">
                      <a16:colId xmlns:a16="http://schemas.microsoft.com/office/drawing/2014/main" val="20001"/>
                    </a:ext>
                  </a:extLst>
                </a:gridCol>
              </a:tblGrid>
              <a:tr h="0">
                <a:tc>
                  <a:txBody>
                    <a:bodyPr/>
                    <a:lstStyle/>
                    <a:p>
                      <a:endParaRPr lang="en-IN" dirty="0"/>
                    </a:p>
                  </a:txBody>
                  <a:tcPr anchor="ctr">
                    <a:lnL>
                      <a:noFill/>
                    </a:lnL>
                    <a:lnR>
                      <a:noFill/>
                    </a:lnR>
                    <a:lnT>
                      <a:noFill/>
                    </a:lnT>
                    <a:lnB>
                      <a:noFill/>
                    </a:lnB>
                  </a:tcPr>
                </a:tc>
                <a:tc>
                  <a:txBody>
                    <a:bodyPr/>
                    <a:lstStyle/>
                    <a:p>
                      <a:endParaRPr lang="en-US" dirty="0"/>
                    </a:p>
                  </a:txBody>
                  <a:tcPr anchor="ctr">
                    <a:lnL>
                      <a:noFill/>
                    </a:lnL>
                    <a:lnR>
                      <a:noFill/>
                    </a:lnR>
                    <a:lnT>
                      <a:noFill/>
                    </a:lnT>
                    <a:lnB>
                      <a:noFill/>
                    </a:lnB>
                  </a:tcPr>
                </a:tc>
                <a:extLst>
                  <a:ext uri="{0D108BD9-81ED-4DB2-BD59-A6C34878D82A}">
                    <a16:rowId xmlns:a16="http://schemas.microsoft.com/office/drawing/2014/main" val="10000"/>
                  </a:ext>
                </a:extLst>
              </a:tr>
            </a:tbl>
          </a:graphicData>
        </a:graphic>
      </p:graphicFrame>
      <p:graphicFrame>
        <p:nvGraphicFramePr>
          <p:cNvPr id="49" name="Table 48"/>
          <p:cNvGraphicFramePr>
            <a:graphicFrameLocks noGrp="1"/>
          </p:cNvGraphicFramePr>
          <p:nvPr/>
        </p:nvGraphicFramePr>
        <p:xfrm>
          <a:off x="278968" y="829551"/>
          <a:ext cx="9887919" cy="5926946"/>
        </p:xfrm>
        <a:graphic>
          <a:graphicData uri="http://schemas.openxmlformats.org/drawingml/2006/table">
            <a:tbl>
              <a:tblPr/>
              <a:tblGrid>
                <a:gridCol w="3598554">
                  <a:extLst>
                    <a:ext uri="{9D8B030D-6E8A-4147-A177-3AD203B41FA5}">
                      <a16:colId xmlns:a16="http://schemas.microsoft.com/office/drawing/2014/main" val="20000"/>
                    </a:ext>
                  </a:extLst>
                </a:gridCol>
                <a:gridCol w="6289365">
                  <a:extLst>
                    <a:ext uri="{9D8B030D-6E8A-4147-A177-3AD203B41FA5}">
                      <a16:colId xmlns:a16="http://schemas.microsoft.com/office/drawing/2014/main" val="20001"/>
                    </a:ext>
                  </a:extLst>
                </a:gridCol>
              </a:tblGrid>
              <a:tr h="151203">
                <a:tc>
                  <a:txBody>
                    <a:bodyPr/>
                    <a:lstStyle/>
                    <a:p>
                      <a:endParaRPr lang="en-IN" sz="1600" dirty="0"/>
                    </a:p>
                  </a:txBody>
                  <a:tcPr marL="28966" marR="28966" marT="14483" marB="14483" anchor="ctr">
                    <a:lnL>
                      <a:noFill/>
                    </a:lnL>
                    <a:lnR>
                      <a:noFill/>
                    </a:lnR>
                    <a:lnT>
                      <a:noFill/>
                    </a:lnT>
                    <a:lnB>
                      <a:noFill/>
                    </a:lnB>
                  </a:tcPr>
                </a:tc>
                <a:tc>
                  <a:txBody>
                    <a:bodyPr/>
                    <a:lstStyle/>
                    <a:p>
                      <a:endParaRPr lang="en-IN" sz="1600" dirty="0"/>
                    </a:p>
                  </a:txBody>
                  <a:tcPr marL="28966" marR="28966" marT="14483" marB="14483" anchor="ctr">
                    <a:lnL>
                      <a:noFill/>
                    </a:lnL>
                    <a:lnR>
                      <a:noFill/>
                    </a:lnR>
                    <a:lnT>
                      <a:noFill/>
                    </a:lnT>
                    <a:lnB>
                      <a:noFill/>
                    </a:lnB>
                  </a:tcPr>
                </a:tc>
                <a:extLst>
                  <a:ext uri="{0D108BD9-81ED-4DB2-BD59-A6C34878D82A}">
                    <a16:rowId xmlns:a16="http://schemas.microsoft.com/office/drawing/2014/main" val="10000"/>
                  </a:ext>
                </a:extLst>
              </a:tr>
              <a:tr h="495690">
                <a:tc>
                  <a:txBody>
                    <a:bodyPr/>
                    <a:lstStyle/>
                    <a:p>
                      <a:r>
                        <a:rPr lang="en-IN" sz="1600" b="1"/>
                        <a:t>1. Database Engine</a:t>
                      </a:r>
                      <a:endParaRPr lang="en-IN" sz="1600"/>
                    </a:p>
                  </a:txBody>
                  <a:tcPr marL="28966" marR="28966" marT="14483" marB="14483" anchor="ctr">
                    <a:lnL>
                      <a:noFill/>
                    </a:lnL>
                    <a:lnR>
                      <a:noFill/>
                    </a:lnR>
                    <a:lnT>
                      <a:noFill/>
                    </a:lnT>
                    <a:lnB>
                      <a:noFill/>
                    </a:lnB>
                  </a:tcPr>
                </a:tc>
                <a:tc>
                  <a:txBody>
                    <a:bodyPr/>
                    <a:lstStyle/>
                    <a:p>
                      <a:r>
                        <a:rPr lang="en-US" sz="1600"/>
                        <a:t>The core service for accessing and processing data. It handles storage, query processing, and transaction management.</a:t>
                      </a:r>
                    </a:p>
                  </a:txBody>
                  <a:tcPr marL="28966" marR="28966" marT="14483" marB="14483" anchor="ctr">
                    <a:lnL>
                      <a:noFill/>
                    </a:lnL>
                    <a:lnR>
                      <a:noFill/>
                    </a:lnR>
                    <a:lnT>
                      <a:noFill/>
                    </a:lnT>
                    <a:lnB>
                      <a:noFill/>
                    </a:lnB>
                  </a:tcPr>
                </a:tc>
                <a:extLst>
                  <a:ext uri="{0D108BD9-81ED-4DB2-BD59-A6C34878D82A}">
                    <a16:rowId xmlns:a16="http://schemas.microsoft.com/office/drawing/2014/main" val="10001"/>
                  </a:ext>
                </a:extLst>
              </a:tr>
              <a:tr h="495690">
                <a:tc>
                  <a:txBody>
                    <a:bodyPr/>
                    <a:lstStyle/>
                    <a:p>
                      <a:r>
                        <a:rPr lang="it-IT" sz="1600" b="1" dirty="0"/>
                        <a:t>2. Data Definition Language (DDL) Compiler</a:t>
                      </a:r>
                      <a:endParaRPr lang="it-IT" sz="1600" dirty="0"/>
                    </a:p>
                  </a:txBody>
                  <a:tcPr marL="28966" marR="28966" marT="14483" marB="14483" anchor="ctr">
                    <a:lnL>
                      <a:noFill/>
                    </a:lnL>
                    <a:lnR>
                      <a:noFill/>
                    </a:lnR>
                    <a:lnT>
                      <a:noFill/>
                    </a:lnT>
                    <a:lnB>
                      <a:noFill/>
                    </a:lnB>
                  </a:tcPr>
                </a:tc>
                <a:tc>
                  <a:txBody>
                    <a:bodyPr/>
                    <a:lstStyle/>
                    <a:p>
                      <a:r>
                        <a:rPr lang="en-US" sz="1600"/>
                        <a:t>Interprets and processes DDL statements like CREATE, ALTER, DROP to define schema and structure of the database.</a:t>
                      </a:r>
                    </a:p>
                  </a:txBody>
                  <a:tcPr marL="28966" marR="28966" marT="14483" marB="14483" anchor="ctr">
                    <a:lnL>
                      <a:noFill/>
                    </a:lnL>
                    <a:lnR>
                      <a:noFill/>
                    </a:lnR>
                    <a:lnT>
                      <a:noFill/>
                    </a:lnT>
                    <a:lnB>
                      <a:noFill/>
                    </a:lnB>
                  </a:tcPr>
                </a:tc>
                <a:extLst>
                  <a:ext uri="{0D108BD9-81ED-4DB2-BD59-A6C34878D82A}">
                    <a16:rowId xmlns:a16="http://schemas.microsoft.com/office/drawing/2014/main" val="10002"/>
                  </a:ext>
                </a:extLst>
              </a:tr>
              <a:tr h="495690">
                <a:tc>
                  <a:txBody>
                    <a:bodyPr/>
                    <a:lstStyle/>
                    <a:p>
                      <a:r>
                        <a:rPr lang="en-IN" sz="1600" b="1"/>
                        <a:t>3. Data Manipulation Language (DML) Compiler</a:t>
                      </a:r>
                      <a:endParaRPr lang="en-IN" sz="1600"/>
                    </a:p>
                  </a:txBody>
                  <a:tcPr marL="28966" marR="28966" marT="14483" marB="14483" anchor="ctr">
                    <a:lnL>
                      <a:noFill/>
                    </a:lnL>
                    <a:lnR>
                      <a:noFill/>
                    </a:lnR>
                    <a:lnT>
                      <a:noFill/>
                    </a:lnT>
                    <a:lnB>
                      <a:noFill/>
                    </a:lnB>
                  </a:tcPr>
                </a:tc>
                <a:tc>
                  <a:txBody>
                    <a:bodyPr/>
                    <a:lstStyle/>
                    <a:p>
                      <a:r>
                        <a:rPr lang="en-US" sz="1600" dirty="0"/>
                        <a:t>Translates DML statements (INSERT, UPDATE, DELETE, SELECT) into low-level instructions the DBMS engine can execute.</a:t>
                      </a:r>
                    </a:p>
                  </a:txBody>
                  <a:tcPr marL="28966" marR="28966" marT="14483" marB="14483" anchor="ctr">
                    <a:lnL>
                      <a:noFill/>
                    </a:lnL>
                    <a:lnR>
                      <a:noFill/>
                    </a:lnR>
                    <a:lnT>
                      <a:noFill/>
                    </a:lnT>
                    <a:lnB>
                      <a:noFill/>
                    </a:lnB>
                  </a:tcPr>
                </a:tc>
                <a:extLst>
                  <a:ext uri="{0D108BD9-81ED-4DB2-BD59-A6C34878D82A}">
                    <a16:rowId xmlns:a16="http://schemas.microsoft.com/office/drawing/2014/main" val="10003"/>
                  </a:ext>
                </a:extLst>
              </a:tr>
              <a:tr h="495690">
                <a:tc>
                  <a:txBody>
                    <a:bodyPr/>
                    <a:lstStyle/>
                    <a:p>
                      <a:r>
                        <a:rPr lang="en-IN" sz="1600" b="1"/>
                        <a:t>4. Query Processor</a:t>
                      </a:r>
                      <a:endParaRPr lang="en-IN" sz="1600"/>
                    </a:p>
                  </a:txBody>
                  <a:tcPr marL="28966" marR="28966" marT="14483" marB="14483" anchor="ctr">
                    <a:lnL>
                      <a:noFill/>
                    </a:lnL>
                    <a:lnR>
                      <a:noFill/>
                    </a:lnR>
                    <a:lnT>
                      <a:noFill/>
                    </a:lnT>
                    <a:lnB>
                      <a:noFill/>
                    </a:lnB>
                  </a:tcPr>
                </a:tc>
                <a:tc>
                  <a:txBody>
                    <a:bodyPr/>
                    <a:lstStyle/>
                    <a:p>
                      <a:r>
                        <a:rPr lang="en-US" sz="1600"/>
                        <a:t>Analyzes, parses, and optimizes SQL queries before execution. Converts high-level queries into efficient execution plans.</a:t>
                      </a:r>
                    </a:p>
                  </a:txBody>
                  <a:tcPr marL="28966" marR="28966" marT="14483" marB="14483" anchor="ctr">
                    <a:lnL>
                      <a:noFill/>
                    </a:lnL>
                    <a:lnR>
                      <a:noFill/>
                    </a:lnR>
                    <a:lnT>
                      <a:noFill/>
                    </a:lnT>
                    <a:lnB>
                      <a:noFill/>
                    </a:lnB>
                  </a:tcPr>
                </a:tc>
                <a:extLst>
                  <a:ext uri="{0D108BD9-81ED-4DB2-BD59-A6C34878D82A}">
                    <a16:rowId xmlns:a16="http://schemas.microsoft.com/office/drawing/2014/main" val="10004"/>
                  </a:ext>
                </a:extLst>
              </a:tr>
              <a:tr h="495690">
                <a:tc>
                  <a:txBody>
                    <a:bodyPr/>
                    <a:lstStyle/>
                    <a:p>
                      <a:r>
                        <a:rPr lang="en-IN" sz="1600" b="1" dirty="0"/>
                        <a:t>5. Transaction Manager</a:t>
                      </a:r>
                      <a:endParaRPr lang="en-IN" sz="1600" dirty="0"/>
                    </a:p>
                  </a:txBody>
                  <a:tcPr marL="28966" marR="28966" marT="14483" marB="14483" anchor="ctr">
                    <a:lnL>
                      <a:noFill/>
                    </a:lnL>
                    <a:lnR>
                      <a:noFill/>
                    </a:lnR>
                    <a:lnT>
                      <a:noFill/>
                    </a:lnT>
                    <a:lnB>
                      <a:noFill/>
                    </a:lnB>
                  </a:tcPr>
                </a:tc>
                <a:tc>
                  <a:txBody>
                    <a:bodyPr/>
                    <a:lstStyle/>
                    <a:p>
                      <a:r>
                        <a:rPr lang="en-US" sz="1600"/>
                        <a:t>Ensures ACID properties (Atomicity, Consistency, Isolation, Durability) during transactions. Manages concurrency and crash recovery.</a:t>
                      </a:r>
                    </a:p>
                  </a:txBody>
                  <a:tcPr marL="28966" marR="28966" marT="14483" marB="14483" anchor="ctr">
                    <a:lnL>
                      <a:noFill/>
                    </a:lnL>
                    <a:lnR>
                      <a:noFill/>
                    </a:lnR>
                    <a:lnT>
                      <a:noFill/>
                    </a:lnT>
                    <a:lnB>
                      <a:noFill/>
                    </a:lnB>
                  </a:tcPr>
                </a:tc>
                <a:extLst>
                  <a:ext uri="{0D108BD9-81ED-4DB2-BD59-A6C34878D82A}">
                    <a16:rowId xmlns:a16="http://schemas.microsoft.com/office/drawing/2014/main" val="10005"/>
                  </a:ext>
                </a:extLst>
              </a:tr>
              <a:tr h="495690">
                <a:tc>
                  <a:txBody>
                    <a:bodyPr/>
                    <a:lstStyle/>
                    <a:p>
                      <a:r>
                        <a:rPr lang="en-IN" sz="1600" b="1" dirty="0"/>
                        <a:t>6. Storage Manager</a:t>
                      </a:r>
                      <a:endParaRPr lang="en-IN" sz="1600" dirty="0"/>
                    </a:p>
                  </a:txBody>
                  <a:tcPr marL="28966" marR="28966" marT="14483" marB="14483" anchor="ctr">
                    <a:lnL>
                      <a:noFill/>
                    </a:lnL>
                    <a:lnR>
                      <a:noFill/>
                    </a:lnR>
                    <a:lnT>
                      <a:noFill/>
                    </a:lnT>
                    <a:lnB>
                      <a:noFill/>
                    </a:lnB>
                  </a:tcPr>
                </a:tc>
                <a:tc>
                  <a:txBody>
                    <a:bodyPr/>
                    <a:lstStyle/>
                    <a:p>
                      <a:r>
                        <a:rPr lang="en-US" sz="1600"/>
                        <a:t>Manages storage space on disk and memory. It handles data files, indexes, and data buffering for optimized access.</a:t>
                      </a:r>
                    </a:p>
                  </a:txBody>
                  <a:tcPr marL="28966" marR="28966" marT="14483" marB="14483" anchor="ctr">
                    <a:lnL>
                      <a:noFill/>
                    </a:lnL>
                    <a:lnR>
                      <a:noFill/>
                    </a:lnR>
                    <a:lnT>
                      <a:noFill/>
                    </a:lnT>
                    <a:lnB>
                      <a:noFill/>
                    </a:lnB>
                  </a:tcPr>
                </a:tc>
                <a:extLst>
                  <a:ext uri="{0D108BD9-81ED-4DB2-BD59-A6C34878D82A}">
                    <a16:rowId xmlns:a16="http://schemas.microsoft.com/office/drawing/2014/main" val="10006"/>
                  </a:ext>
                </a:extLst>
              </a:tr>
              <a:tr h="495690">
                <a:tc>
                  <a:txBody>
                    <a:bodyPr/>
                    <a:lstStyle/>
                    <a:p>
                      <a:r>
                        <a:rPr lang="en-IN" sz="1600" b="1"/>
                        <a:t>7. Buffer Manager</a:t>
                      </a:r>
                      <a:endParaRPr lang="en-IN" sz="1600"/>
                    </a:p>
                  </a:txBody>
                  <a:tcPr marL="28966" marR="28966" marT="14483" marB="14483" anchor="ctr">
                    <a:lnL>
                      <a:noFill/>
                    </a:lnL>
                    <a:lnR>
                      <a:noFill/>
                    </a:lnR>
                    <a:lnT>
                      <a:noFill/>
                    </a:lnT>
                    <a:lnB>
                      <a:noFill/>
                    </a:lnB>
                  </a:tcPr>
                </a:tc>
                <a:tc>
                  <a:txBody>
                    <a:bodyPr/>
                    <a:lstStyle/>
                    <a:p>
                      <a:r>
                        <a:rPr lang="en-US" sz="1600"/>
                        <a:t>Controls data transfer between disk and main memory (RAM). Keeps frequently used data in memory for faster access.</a:t>
                      </a:r>
                    </a:p>
                  </a:txBody>
                  <a:tcPr marL="28966" marR="28966" marT="14483" marB="14483" anchor="ctr">
                    <a:lnL>
                      <a:noFill/>
                    </a:lnL>
                    <a:lnR>
                      <a:noFill/>
                    </a:lnR>
                    <a:lnT>
                      <a:noFill/>
                    </a:lnT>
                    <a:lnB>
                      <a:noFill/>
                    </a:lnB>
                  </a:tcPr>
                </a:tc>
                <a:extLst>
                  <a:ext uri="{0D108BD9-81ED-4DB2-BD59-A6C34878D82A}">
                    <a16:rowId xmlns:a16="http://schemas.microsoft.com/office/drawing/2014/main" val="10007"/>
                  </a:ext>
                </a:extLst>
              </a:tr>
              <a:tr h="495690">
                <a:tc>
                  <a:txBody>
                    <a:bodyPr/>
                    <a:lstStyle/>
                    <a:p>
                      <a:r>
                        <a:rPr lang="en-US" sz="1600" b="1"/>
                        <a:t>8. Authorization and Integrity Manager</a:t>
                      </a:r>
                      <a:endParaRPr lang="en-US" sz="1600"/>
                    </a:p>
                  </a:txBody>
                  <a:tcPr marL="28966" marR="28966" marT="14483" marB="14483" anchor="ctr">
                    <a:lnL>
                      <a:noFill/>
                    </a:lnL>
                    <a:lnR>
                      <a:noFill/>
                    </a:lnR>
                    <a:lnT>
                      <a:noFill/>
                    </a:lnT>
                    <a:lnB>
                      <a:noFill/>
                    </a:lnB>
                  </a:tcPr>
                </a:tc>
                <a:tc>
                  <a:txBody>
                    <a:bodyPr/>
                    <a:lstStyle/>
                    <a:p>
                      <a:r>
                        <a:rPr lang="en-US" sz="1600"/>
                        <a:t>Enforces user access controls and data validation rules. Ensures only authorized users can access or modify the data.</a:t>
                      </a:r>
                    </a:p>
                  </a:txBody>
                  <a:tcPr marL="28966" marR="28966" marT="14483" marB="14483" anchor="ctr">
                    <a:lnL>
                      <a:noFill/>
                    </a:lnL>
                    <a:lnR>
                      <a:noFill/>
                    </a:lnR>
                    <a:lnT>
                      <a:noFill/>
                    </a:lnT>
                    <a:lnB>
                      <a:noFill/>
                    </a:lnB>
                  </a:tcPr>
                </a:tc>
                <a:extLst>
                  <a:ext uri="{0D108BD9-81ED-4DB2-BD59-A6C34878D82A}">
                    <a16:rowId xmlns:a16="http://schemas.microsoft.com/office/drawing/2014/main" val="10008"/>
                  </a:ext>
                </a:extLst>
              </a:tr>
              <a:tr h="495690">
                <a:tc>
                  <a:txBody>
                    <a:bodyPr/>
                    <a:lstStyle/>
                    <a:p>
                      <a:r>
                        <a:rPr lang="en-IN" sz="1600" b="1"/>
                        <a:t>9. Catalog/Metadata Manager</a:t>
                      </a:r>
                      <a:endParaRPr lang="en-IN" sz="1600"/>
                    </a:p>
                  </a:txBody>
                  <a:tcPr marL="28966" marR="28966" marT="14483" marB="14483" anchor="ctr">
                    <a:lnL>
                      <a:noFill/>
                    </a:lnL>
                    <a:lnR>
                      <a:noFill/>
                    </a:lnR>
                    <a:lnT>
                      <a:noFill/>
                    </a:lnT>
                    <a:lnB>
                      <a:noFill/>
                    </a:lnB>
                  </a:tcPr>
                </a:tc>
                <a:tc>
                  <a:txBody>
                    <a:bodyPr/>
                    <a:lstStyle/>
                    <a:p>
                      <a:r>
                        <a:rPr lang="en-IN" sz="1600"/>
                        <a:t>Maintains metadata — data about database structure like tables, columns, data types, indexes, constraints, etc.</a:t>
                      </a:r>
                    </a:p>
                  </a:txBody>
                  <a:tcPr marL="28966" marR="28966" marT="14483" marB="14483" anchor="ctr">
                    <a:lnL>
                      <a:noFill/>
                    </a:lnL>
                    <a:lnR>
                      <a:noFill/>
                    </a:lnR>
                    <a:lnT>
                      <a:noFill/>
                    </a:lnT>
                    <a:lnB>
                      <a:noFill/>
                    </a:lnB>
                  </a:tcPr>
                </a:tc>
                <a:extLst>
                  <a:ext uri="{0D108BD9-81ED-4DB2-BD59-A6C34878D82A}">
                    <a16:rowId xmlns:a16="http://schemas.microsoft.com/office/drawing/2014/main" val="10009"/>
                  </a:ext>
                </a:extLst>
              </a:tr>
              <a:tr h="610519">
                <a:tc>
                  <a:txBody>
                    <a:bodyPr/>
                    <a:lstStyle/>
                    <a:p>
                      <a:r>
                        <a:rPr lang="en-US" sz="1600" b="1"/>
                        <a:t>10. User Interface or Query Interface</a:t>
                      </a:r>
                      <a:endParaRPr lang="en-US" sz="1600"/>
                    </a:p>
                  </a:txBody>
                  <a:tcPr marL="28966" marR="28966" marT="14483" marB="14483" anchor="ctr">
                    <a:lnL>
                      <a:noFill/>
                    </a:lnL>
                    <a:lnR>
                      <a:noFill/>
                    </a:lnR>
                    <a:lnT>
                      <a:noFill/>
                    </a:lnT>
                    <a:lnB>
                      <a:noFill/>
                    </a:lnB>
                  </a:tcPr>
                </a:tc>
                <a:tc>
                  <a:txBody>
                    <a:bodyPr/>
                    <a:lstStyle/>
                    <a:p>
                      <a:r>
                        <a:rPr lang="en-US" sz="1600" dirty="0"/>
                        <a:t>Allows users to interact with the DBMS. Interfaces may include command-line (e.g., SQL prompt) or graphical tools (e.g., MySQL Workbench).</a:t>
                      </a:r>
                    </a:p>
                  </a:txBody>
                  <a:tcPr marL="28966" marR="28966" marT="14483" marB="14483" anchor="ctr">
                    <a:lnL>
                      <a:noFill/>
                    </a:lnL>
                    <a:lnR>
                      <a:noFill/>
                    </a:lnR>
                    <a:lnT>
                      <a:noFill/>
                    </a:lnT>
                    <a:lnB>
                      <a:noFill/>
                    </a:lnB>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42427623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DBMS Languages</a:t>
            </a:r>
          </a:p>
        </p:txBody>
      </p:sp>
      <p:sp>
        <p:nvSpPr>
          <p:cNvPr id="3" name="Content Placeholder 2"/>
          <p:cNvSpPr>
            <a:spLocks noGrp="1"/>
          </p:cNvSpPr>
          <p:nvPr>
            <p:ph idx="1"/>
          </p:nvPr>
        </p:nvSpPr>
        <p:spPr/>
        <p:txBody>
          <a:bodyPr/>
          <a:lstStyle/>
          <a:p>
            <a:r>
              <a:rPr lang="en-US" dirty="0"/>
              <a:t>In a </a:t>
            </a:r>
            <a:r>
              <a:rPr lang="en-US" b="1" dirty="0"/>
              <a:t>Database Management System (DBMS)</a:t>
            </a:r>
            <a:r>
              <a:rPr lang="en-US" dirty="0"/>
              <a:t>, special languages are used to perform tasks such as defining the structure of data, manipulating data, and controlling user access. These are called </a:t>
            </a:r>
            <a:r>
              <a:rPr lang="en-US" b="1" dirty="0"/>
              <a:t>DBMS languages</a:t>
            </a:r>
            <a:r>
              <a:rPr lang="en-US" dirty="0"/>
              <a:t> and can be categorized into:</a:t>
            </a:r>
          </a:p>
          <a:p>
            <a:pPr lvl="1"/>
            <a:r>
              <a:rPr lang="en-US" dirty="0"/>
              <a:t>DDL – Data Definition Language</a:t>
            </a:r>
          </a:p>
          <a:p>
            <a:pPr lvl="1"/>
            <a:r>
              <a:rPr lang="en-US" dirty="0"/>
              <a:t>DML – Data Manipulation Language</a:t>
            </a:r>
          </a:p>
          <a:p>
            <a:pPr lvl="1"/>
            <a:r>
              <a:rPr lang="en-US" dirty="0"/>
              <a:t>DCL – Data Control Language</a:t>
            </a:r>
          </a:p>
          <a:p>
            <a:endParaRPr lang="en-IN" dirty="0"/>
          </a:p>
        </p:txBody>
      </p:sp>
    </p:spTree>
    <p:extLst>
      <p:ext uri="{BB962C8B-B14F-4D97-AF65-F5344CB8AC3E}">
        <p14:creationId xmlns:p14="http://schemas.microsoft.com/office/powerpoint/2010/main" val="367992792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DDL – Data Definition Language</a:t>
            </a:r>
          </a:p>
        </p:txBody>
      </p:sp>
      <p:sp>
        <p:nvSpPr>
          <p:cNvPr id="3" name="Content Placeholder 2"/>
          <p:cNvSpPr>
            <a:spLocks noGrp="1"/>
          </p:cNvSpPr>
          <p:nvPr>
            <p:ph idx="1"/>
          </p:nvPr>
        </p:nvSpPr>
        <p:spPr>
          <a:xfrm>
            <a:off x="677334" y="1810069"/>
            <a:ext cx="8596668" cy="4575491"/>
          </a:xfrm>
        </p:spPr>
        <p:txBody>
          <a:bodyPr>
            <a:normAutofit/>
          </a:bodyPr>
          <a:lstStyle/>
          <a:p>
            <a:r>
              <a:rPr lang="en-US" dirty="0"/>
              <a:t>DDL is used to define the structure of database objects such as tables, schemas, indexes, and views.</a:t>
            </a:r>
          </a:p>
          <a:p>
            <a:r>
              <a:rPr lang="en-US" dirty="0"/>
              <a:t>DDL statements do not manipulate data. </a:t>
            </a:r>
          </a:p>
          <a:p>
            <a:r>
              <a:rPr lang="en-US" dirty="0"/>
              <a:t>They only define or change the structure of database objects.</a:t>
            </a:r>
          </a:p>
          <a:p>
            <a:r>
              <a:rPr lang="en-US" dirty="0"/>
              <a:t>Common DDL Commands:</a:t>
            </a:r>
          </a:p>
          <a:p>
            <a:pPr lvl="1"/>
            <a:r>
              <a:rPr lang="en-US" dirty="0"/>
              <a:t>Create</a:t>
            </a:r>
          </a:p>
          <a:p>
            <a:pPr lvl="1"/>
            <a:r>
              <a:rPr lang="en-US" dirty="0"/>
              <a:t>Alter </a:t>
            </a:r>
          </a:p>
          <a:p>
            <a:pPr lvl="1"/>
            <a:r>
              <a:rPr lang="en-US" dirty="0"/>
              <a:t>Drop </a:t>
            </a:r>
          </a:p>
          <a:p>
            <a:pPr lvl="1"/>
            <a:r>
              <a:rPr lang="en-US" dirty="0"/>
              <a:t>Truncate</a:t>
            </a:r>
          </a:p>
          <a:p>
            <a:pPr lvl="1"/>
            <a:endParaRPr lang="en-US" dirty="0"/>
          </a:p>
          <a:p>
            <a:endParaRPr lang="en-US" dirty="0"/>
          </a:p>
          <a:p>
            <a:endParaRPr lang="en-US" dirty="0"/>
          </a:p>
        </p:txBody>
      </p:sp>
    </p:spTree>
    <p:extLst>
      <p:ext uri="{BB962C8B-B14F-4D97-AF65-F5344CB8AC3E}">
        <p14:creationId xmlns:p14="http://schemas.microsoft.com/office/powerpoint/2010/main" val="381708705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DML – Data Manipulation Language</a:t>
            </a:r>
          </a:p>
        </p:txBody>
      </p:sp>
      <p:sp>
        <p:nvSpPr>
          <p:cNvPr id="3" name="Content Placeholder 2"/>
          <p:cNvSpPr>
            <a:spLocks noGrp="1"/>
          </p:cNvSpPr>
          <p:nvPr>
            <p:ph idx="1"/>
          </p:nvPr>
        </p:nvSpPr>
        <p:spPr/>
        <p:txBody>
          <a:bodyPr/>
          <a:lstStyle/>
          <a:p>
            <a:r>
              <a:rPr lang="en-US" dirty="0"/>
              <a:t>DML is used to manipulate and manage data in the database.</a:t>
            </a:r>
          </a:p>
          <a:p>
            <a:r>
              <a:rPr lang="en-US" dirty="0"/>
              <a:t>These commands allow inserting, updating, deleting, and retrieving data.</a:t>
            </a:r>
          </a:p>
          <a:p>
            <a:r>
              <a:rPr lang="en-IN" dirty="0"/>
              <a:t>Common DML Commands:</a:t>
            </a:r>
          </a:p>
          <a:p>
            <a:pPr lvl="1"/>
            <a:r>
              <a:rPr lang="en-US" dirty="0"/>
              <a:t>Select </a:t>
            </a:r>
          </a:p>
          <a:p>
            <a:pPr lvl="1"/>
            <a:r>
              <a:rPr lang="en-US" dirty="0"/>
              <a:t>Insert </a:t>
            </a:r>
          </a:p>
          <a:p>
            <a:pPr lvl="1"/>
            <a:r>
              <a:rPr lang="en-US" dirty="0"/>
              <a:t>Update </a:t>
            </a:r>
          </a:p>
          <a:p>
            <a:pPr lvl="1"/>
            <a:r>
              <a:rPr lang="en-US" dirty="0"/>
              <a:t>Delete</a:t>
            </a:r>
            <a:endParaRPr lang="en-IN" dirty="0"/>
          </a:p>
        </p:txBody>
      </p:sp>
    </p:spTree>
    <p:extLst>
      <p:ext uri="{BB962C8B-B14F-4D97-AF65-F5344CB8AC3E}">
        <p14:creationId xmlns:p14="http://schemas.microsoft.com/office/powerpoint/2010/main" val="375334701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DCL – Data Control Language</a:t>
            </a:r>
          </a:p>
        </p:txBody>
      </p:sp>
      <p:sp>
        <p:nvSpPr>
          <p:cNvPr id="3" name="Content Placeholder 2"/>
          <p:cNvSpPr>
            <a:spLocks noGrp="1"/>
          </p:cNvSpPr>
          <p:nvPr>
            <p:ph idx="1"/>
          </p:nvPr>
        </p:nvSpPr>
        <p:spPr>
          <a:xfrm>
            <a:off x="677334" y="1463041"/>
            <a:ext cx="8596668" cy="4578322"/>
          </a:xfrm>
        </p:spPr>
        <p:txBody>
          <a:bodyPr/>
          <a:lstStyle/>
          <a:p>
            <a:r>
              <a:rPr lang="en-US" dirty="0"/>
              <a:t>DCL is used to control access to data and database objects. It manages user privileges and permissions.</a:t>
            </a:r>
          </a:p>
          <a:p>
            <a:r>
              <a:rPr lang="en-US" dirty="0"/>
              <a:t>Common DCL Commands:</a:t>
            </a:r>
          </a:p>
          <a:p>
            <a:pPr lvl="1"/>
            <a:r>
              <a:rPr lang="en-US" dirty="0"/>
              <a:t>Grant</a:t>
            </a:r>
          </a:p>
          <a:p>
            <a:pPr lvl="1"/>
            <a:r>
              <a:rPr lang="en-US" dirty="0"/>
              <a:t>Revoke</a:t>
            </a:r>
            <a:endParaRPr lang="en-IN" dirty="0"/>
          </a:p>
        </p:txBody>
      </p:sp>
    </p:spTree>
    <p:extLst>
      <p:ext uri="{BB962C8B-B14F-4D97-AF65-F5344CB8AC3E}">
        <p14:creationId xmlns:p14="http://schemas.microsoft.com/office/powerpoint/2010/main" val="91576958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Traditional RDBMS</a:t>
            </a:r>
            <a:endParaRPr lang="en-IN" dirty="0"/>
          </a:p>
        </p:txBody>
      </p:sp>
      <p:sp>
        <p:nvSpPr>
          <p:cNvPr id="3" name="Content Placeholder 2"/>
          <p:cNvSpPr>
            <a:spLocks noGrp="1"/>
          </p:cNvSpPr>
          <p:nvPr>
            <p:ph idx="1"/>
          </p:nvPr>
        </p:nvSpPr>
        <p:spPr>
          <a:xfrm>
            <a:off x="677334" y="2160589"/>
            <a:ext cx="9975426" cy="3880773"/>
          </a:xfrm>
        </p:spPr>
        <p:txBody>
          <a:bodyPr/>
          <a:lstStyle/>
          <a:p>
            <a:r>
              <a:rPr lang="en-IN" dirty="0"/>
              <a:t>Based on </a:t>
            </a:r>
            <a:r>
              <a:rPr lang="en-IN" b="1" dirty="0"/>
              <a:t>Relational Model</a:t>
            </a:r>
            <a:r>
              <a:rPr lang="en-IN" dirty="0"/>
              <a:t> (tables, rows, columns).</a:t>
            </a:r>
          </a:p>
          <a:p>
            <a:r>
              <a:rPr lang="en-IN" dirty="0"/>
              <a:t>Use </a:t>
            </a:r>
            <a:r>
              <a:rPr lang="en-IN" b="1" dirty="0"/>
              <a:t>Structured Query Language (SQL)</a:t>
            </a:r>
            <a:r>
              <a:rPr lang="en-IN" dirty="0"/>
              <a:t>.</a:t>
            </a:r>
          </a:p>
          <a:p>
            <a:r>
              <a:rPr lang="en-IN" dirty="0"/>
              <a:t>Great for </a:t>
            </a:r>
            <a:r>
              <a:rPr lang="en-IN" b="1" dirty="0"/>
              <a:t>structured data</a:t>
            </a:r>
            <a:endParaRPr lang="en-IN" dirty="0"/>
          </a:p>
          <a:p>
            <a:r>
              <a:rPr lang="en-IN" dirty="0"/>
              <a:t>Strong </a:t>
            </a:r>
            <a:r>
              <a:rPr lang="en-IN" b="1" dirty="0"/>
              <a:t>ACID</a:t>
            </a:r>
            <a:r>
              <a:rPr lang="en-IN" dirty="0"/>
              <a:t> (</a:t>
            </a:r>
            <a:r>
              <a:rPr lang="en-US" b="1" dirty="0"/>
              <a:t>A</a:t>
            </a:r>
            <a:r>
              <a:rPr lang="en-US" dirty="0"/>
              <a:t>tomicity, </a:t>
            </a:r>
            <a:r>
              <a:rPr lang="en-US" b="1" dirty="0"/>
              <a:t>C</a:t>
            </a:r>
            <a:r>
              <a:rPr lang="en-US" dirty="0"/>
              <a:t>onsistency, </a:t>
            </a:r>
            <a:r>
              <a:rPr lang="en-US" b="1" dirty="0"/>
              <a:t>I</a:t>
            </a:r>
            <a:r>
              <a:rPr lang="en-US" dirty="0"/>
              <a:t>solation, and </a:t>
            </a:r>
            <a:r>
              <a:rPr lang="en-US" b="1" dirty="0"/>
              <a:t>D</a:t>
            </a:r>
            <a:r>
              <a:rPr lang="en-US" dirty="0"/>
              <a:t>urability) </a:t>
            </a:r>
            <a:r>
              <a:rPr lang="en-IN" dirty="0"/>
              <a:t>compliance.</a:t>
            </a:r>
          </a:p>
          <a:p>
            <a:r>
              <a:rPr lang="en-IN" dirty="0"/>
              <a:t>Examples: Oracle, MySQL, SQL Server, </a:t>
            </a:r>
            <a:r>
              <a:rPr lang="en-IN" dirty="0" err="1"/>
              <a:t>PostgreSQL</a:t>
            </a:r>
            <a:endParaRPr lang="en-IN" dirty="0"/>
          </a:p>
          <a:p>
            <a:endParaRPr lang="en-IN" dirty="0"/>
          </a:p>
        </p:txBody>
      </p:sp>
    </p:spTree>
    <p:extLst>
      <p:ext uri="{BB962C8B-B14F-4D97-AF65-F5344CB8AC3E}">
        <p14:creationId xmlns:p14="http://schemas.microsoft.com/office/powerpoint/2010/main" val="188833585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NoSQL</a:t>
            </a:r>
            <a:endParaRPr lang="en-IN" dirty="0"/>
          </a:p>
        </p:txBody>
      </p:sp>
      <p:sp>
        <p:nvSpPr>
          <p:cNvPr id="3" name="Content Placeholder 2"/>
          <p:cNvSpPr>
            <a:spLocks noGrp="1"/>
          </p:cNvSpPr>
          <p:nvPr>
            <p:ph idx="1"/>
          </p:nvPr>
        </p:nvSpPr>
        <p:spPr>
          <a:xfrm>
            <a:off x="677334" y="2160589"/>
            <a:ext cx="9198186" cy="4529771"/>
          </a:xfrm>
        </p:spPr>
        <p:txBody>
          <a:bodyPr>
            <a:normAutofit/>
          </a:bodyPr>
          <a:lstStyle/>
          <a:p>
            <a:r>
              <a:rPr lang="en-US" b="1" dirty="0" err="1"/>
              <a:t>NoSQL</a:t>
            </a:r>
            <a:r>
              <a:rPr lang="en-US" dirty="0"/>
              <a:t> = “Not only SQL” – a broad class of </a:t>
            </a:r>
            <a:r>
              <a:rPr lang="en-US" b="1" dirty="0"/>
              <a:t>non-relational</a:t>
            </a:r>
            <a:r>
              <a:rPr lang="en-US" dirty="0"/>
              <a:t> databases designed for:</a:t>
            </a:r>
          </a:p>
          <a:p>
            <a:r>
              <a:rPr lang="en-US" dirty="0"/>
              <a:t>High </a:t>
            </a:r>
            <a:r>
              <a:rPr lang="en-US" b="1" dirty="0"/>
              <a:t>scalability</a:t>
            </a:r>
            <a:endParaRPr lang="en-US" dirty="0"/>
          </a:p>
          <a:p>
            <a:r>
              <a:rPr lang="en-US" dirty="0"/>
              <a:t>Flexible </a:t>
            </a:r>
            <a:r>
              <a:rPr lang="en-US" b="1" dirty="0"/>
              <a:t>schema-less</a:t>
            </a:r>
            <a:r>
              <a:rPr lang="en-US" dirty="0"/>
              <a:t> structure</a:t>
            </a:r>
          </a:p>
          <a:p>
            <a:r>
              <a:rPr lang="en-US" b="1" dirty="0"/>
              <a:t>Unstructured/semi-structured data</a:t>
            </a:r>
          </a:p>
          <a:p>
            <a:pPr marL="0" indent="0">
              <a:buNone/>
            </a:pPr>
            <a:endParaRPr lang="en-US" dirty="0"/>
          </a:p>
          <a:p>
            <a:pPr marL="0" indent="0">
              <a:buNone/>
            </a:pPr>
            <a:r>
              <a:rPr lang="en-US" b="1" dirty="0"/>
              <a:t>🔍 Key Characteristics:</a:t>
            </a:r>
          </a:p>
          <a:p>
            <a:r>
              <a:rPr lang="en-US" dirty="0"/>
              <a:t>Horizontal scalability (easier distributed architecture)</a:t>
            </a:r>
          </a:p>
          <a:p>
            <a:r>
              <a:rPr lang="en-US" dirty="0"/>
              <a:t>Schema flexibility (can change structure anytime)</a:t>
            </a:r>
          </a:p>
          <a:p>
            <a:r>
              <a:rPr lang="en-US" dirty="0"/>
              <a:t>High performance for specific workloads</a:t>
            </a:r>
          </a:p>
          <a:p>
            <a:r>
              <a:rPr lang="en-US" dirty="0"/>
              <a:t>For better performance and availability use </a:t>
            </a:r>
            <a:r>
              <a:rPr lang="en-US" b="1" dirty="0"/>
              <a:t>BASE</a:t>
            </a:r>
            <a:r>
              <a:rPr lang="en-US" dirty="0"/>
              <a:t>: Basically Available, Soft state, Eventually consistent (NOT ACID)</a:t>
            </a:r>
          </a:p>
          <a:p>
            <a:endParaRPr lang="en-IN" dirty="0"/>
          </a:p>
        </p:txBody>
      </p:sp>
    </p:spTree>
    <p:extLst>
      <p:ext uri="{BB962C8B-B14F-4D97-AF65-F5344CB8AC3E}">
        <p14:creationId xmlns:p14="http://schemas.microsoft.com/office/powerpoint/2010/main" val="300915340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Types of </a:t>
            </a:r>
            <a:r>
              <a:rPr lang="en-IN" dirty="0" err="1"/>
              <a:t>NoSQL</a:t>
            </a:r>
            <a:r>
              <a:rPr lang="en-IN" dirty="0"/>
              <a:t> Databases:</a:t>
            </a:r>
          </a:p>
        </p:txBody>
      </p:sp>
      <p:graphicFrame>
        <p:nvGraphicFramePr>
          <p:cNvPr id="5" name="Table 4"/>
          <p:cNvGraphicFramePr>
            <a:graphicFrameLocks noGrp="1"/>
          </p:cNvGraphicFramePr>
          <p:nvPr/>
        </p:nvGraphicFramePr>
        <p:xfrm>
          <a:off x="677333" y="2042159"/>
          <a:ext cx="9137226" cy="4556760"/>
        </p:xfrm>
        <a:graphic>
          <a:graphicData uri="http://schemas.openxmlformats.org/drawingml/2006/table">
            <a:tbl>
              <a:tblPr/>
              <a:tblGrid>
                <a:gridCol w="3045742">
                  <a:extLst>
                    <a:ext uri="{9D8B030D-6E8A-4147-A177-3AD203B41FA5}">
                      <a16:colId xmlns:a16="http://schemas.microsoft.com/office/drawing/2014/main" val="20000"/>
                    </a:ext>
                  </a:extLst>
                </a:gridCol>
                <a:gridCol w="3045742">
                  <a:extLst>
                    <a:ext uri="{9D8B030D-6E8A-4147-A177-3AD203B41FA5}">
                      <a16:colId xmlns:a16="http://schemas.microsoft.com/office/drawing/2014/main" val="20001"/>
                    </a:ext>
                  </a:extLst>
                </a:gridCol>
                <a:gridCol w="3045742">
                  <a:extLst>
                    <a:ext uri="{9D8B030D-6E8A-4147-A177-3AD203B41FA5}">
                      <a16:colId xmlns:a16="http://schemas.microsoft.com/office/drawing/2014/main" val="20002"/>
                    </a:ext>
                  </a:extLst>
                </a:gridCol>
              </a:tblGrid>
              <a:tr h="628518">
                <a:tc>
                  <a:txBody>
                    <a:bodyPr/>
                    <a:lstStyle/>
                    <a:p>
                      <a:r>
                        <a:rPr lang="en-IN" b="1" u="sng" dirty="0">
                          <a:solidFill>
                            <a:schemeClr val="accent1">
                              <a:lumMod val="50000"/>
                            </a:schemeClr>
                          </a:solidFill>
                        </a:rPr>
                        <a:t>Type</a:t>
                      </a:r>
                    </a:p>
                  </a:txBody>
                  <a:tcPr anchor="ctr">
                    <a:lnL>
                      <a:noFill/>
                    </a:lnL>
                    <a:lnR>
                      <a:noFill/>
                    </a:lnR>
                    <a:lnT>
                      <a:noFill/>
                    </a:lnT>
                    <a:lnB>
                      <a:noFill/>
                    </a:lnB>
                  </a:tcPr>
                </a:tc>
                <a:tc>
                  <a:txBody>
                    <a:bodyPr/>
                    <a:lstStyle/>
                    <a:p>
                      <a:r>
                        <a:rPr lang="en-IN" b="1" u="sng" dirty="0">
                          <a:solidFill>
                            <a:schemeClr val="accent1">
                              <a:lumMod val="50000"/>
                            </a:schemeClr>
                          </a:solidFill>
                        </a:rPr>
                        <a:t>Description</a:t>
                      </a:r>
                    </a:p>
                  </a:txBody>
                  <a:tcPr anchor="ctr">
                    <a:lnL>
                      <a:noFill/>
                    </a:lnL>
                    <a:lnR>
                      <a:noFill/>
                    </a:lnR>
                    <a:lnT>
                      <a:noFill/>
                    </a:lnT>
                    <a:lnB>
                      <a:noFill/>
                    </a:lnB>
                  </a:tcPr>
                </a:tc>
                <a:tc>
                  <a:txBody>
                    <a:bodyPr/>
                    <a:lstStyle/>
                    <a:p>
                      <a:r>
                        <a:rPr lang="en-IN" b="1" u="sng" dirty="0">
                          <a:solidFill>
                            <a:schemeClr val="accent1">
                              <a:lumMod val="50000"/>
                            </a:schemeClr>
                          </a:solidFill>
                        </a:rPr>
                        <a:t>Example</a:t>
                      </a:r>
                    </a:p>
                  </a:txBody>
                  <a:tcPr anchor="ctr">
                    <a:lnL>
                      <a:noFill/>
                    </a:lnL>
                    <a:lnR>
                      <a:noFill/>
                    </a:lnR>
                    <a:lnT>
                      <a:noFill/>
                    </a:lnT>
                    <a:lnB>
                      <a:noFill/>
                    </a:lnB>
                  </a:tcPr>
                </a:tc>
                <a:extLst>
                  <a:ext uri="{0D108BD9-81ED-4DB2-BD59-A6C34878D82A}">
                    <a16:rowId xmlns:a16="http://schemas.microsoft.com/office/drawing/2014/main" val="10000"/>
                  </a:ext>
                </a:extLst>
              </a:tr>
              <a:tr h="1099908">
                <a:tc>
                  <a:txBody>
                    <a:bodyPr/>
                    <a:lstStyle/>
                    <a:p>
                      <a:r>
                        <a:rPr lang="en-IN" b="1" dirty="0"/>
                        <a:t>Document-based</a:t>
                      </a:r>
                      <a:endParaRPr lang="en-IN" dirty="0"/>
                    </a:p>
                  </a:txBody>
                  <a:tcPr anchor="ctr">
                    <a:lnL>
                      <a:noFill/>
                    </a:lnL>
                    <a:lnR>
                      <a:noFill/>
                    </a:lnR>
                    <a:lnT>
                      <a:noFill/>
                    </a:lnT>
                    <a:lnB>
                      <a:noFill/>
                    </a:lnB>
                  </a:tcPr>
                </a:tc>
                <a:tc>
                  <a:txBody>
                    <a:bodyPr/>
                    <a:lstStyle/>
                    <a:p>
                      <a:r>
                        <a:rPr lang="en-IN" dirty="0"/>
                        <a:t>Store data in JSON-like documents</a:t>
                      </a:r>
                    </a:p>
                  </a:txBody>
                  <a:tcPr anchor="ctr">
                    <a:lnL>
                      <a:noFill/>
                    </a:lnL>
                    <a:lnR>
                      <a:noFill/>
                    </a:lnR>
                    <a:lnT>
                      <a:noFill/>
                    </a:lnT>
                    <a:lnB>
                      <a:noFill/>
                    </a:lnB>
                  </a:tcPr>
                </a:tc>
                <a:tc>
                  <a:txBody>
                    <a:bodyPr/>
                    <a:lstStyle/>
                    <a:p>
                      <a:r>
                        <a:rPr lang="en-IN" dirty="0" err="1"/>
                        <a:t>MongoDB</a:t>
                      </a:r>
                      <a:r>
                        <a:rPr lang="en-IN" dirty="0"/>
                        <a:t>, </a:t>
                      </a:r>
                      <a:r>
                        <a:rPr lang="en-IN" dirty="0" err="1"/>
                        <a:t>CouchDB</a:t>
                      </a:r>
                      <a:endParaRPr lang="en-IN" dirty="0"/>
                    </a:p>
                  </a:txBody>
                  <a:tcPr anchor="ctr">
                    <a:lnL>
                      <a:noFill/>
                    </a:lnL>
                    <a:lnR>
                      <a:noFill/>
                    </a:lnR>
                    <a:lnT>
                      <a:noFill/>
                    </a:lnT>
                    <a:lnB>
                      <a:noFill/>
                    </a:lnB>
                  </a:tcPr>
                </a:tc>
                <a:extLst>
                  <a:ext uri="{0D108BD9-81ED-4DB2-BD59-A6C34878D82A}">
                    <a16:rowId xmlns:a16="http://schemas.microsoft.com/office/drawing/2014/main" val="10001"/>
                  </a:ext>
                </a:extLst>
              </a:tr>
              <a:tr h="628518">
                <a:tc>
                  <a:txBody>
                    <a:bodyPr/>
                    <a:lstStyle/>
                    <a:p>
                      <a:r>
                        <a:rPr lang="en-IN" b="1"/>
                        <a:t>Key-Value Stores</a:t>
                      </a:r>
                      <a:endParaRPr lang="en-IN"/>
                    </a:p>
                  </a:txBody>
                  <a:tcPr anchor="ctr">
                    <a:lnL>
                      <a:noFill/>
                    </a:lnL>
                    <a:lnR>
                      <a:noFill/>
                    </a:lnR>
                    <a:lnT>
                      <a:noFill/>
                    </a:lnT>
                    <a:lnB>
                      <a:noFill/>
                    </a:lnB>
                  </a:tcPr>
                </a:tc>
                <a:tc>
                  <a:txBody>
                    <a:bodyPr/>
                    <a:lstStyle/>
                    <a:p>
                      <a:r>
                        <a:rPr lang="en-IN"/>
                        <a:t>Simple key-value pairs</a:t>
                      </a:r>
                    </a:p>
                  </a:txBody>
                  <a:tcPr anchor="ctr">
                    <a:lnL>
                      <a:noFill/>
                    </a:lnL>
                    <a:lnR>
                      <a:noFill/>
                    </a:lnR>
                    <a:lnT>
                      <a:noFill/>
                    </a:lnT>
                    <a:lnB>
                      <a:noFill/>
                    </a:lnB>
                  </a:tcPr>
                </a:tc>
                <a:tc>
                  <a:txBody>
                    <a:bodyPr/>
                    <a:lstStyle/>
                    <a:p>
                      <a:r>
                        <a:rPr lang="en-IN" dirty="0" err="1"/>
                        <a:t>Redis</a:t>
                      </a:r>
                      <a:r>
                        <a:rPr lang="en-IN" dirty="0"/>
                        <a:t>, </a:t>
                      </a:r>
                      <a:r>
                        <a:rPr lang="en-IN" dirty="0" err="1"/>
                        <a:t>DynamoDB</a:t>
                      </a:r>
                      <a:endParaRPr lang="en-IN" dirty="0"/>
                    </a:p>
                  </a:txBody>
                  <a:tcPr anchor="ctr">
                    <a:lnL>
                      <a:noFill/>
                    </a:lnL>
                    <a:lnR>
                      <a:noFill/>
                    </a:lnR>
                    <a:lnT>
                      <a:noFill/>
                    </a:lnT>
                    <a:lnB>
                      <a:noFill/>
                    </a:lnB>
                  </a:tcPr>
                </a:tc>
                <a:extLst>
                  <a:ext uri="{0D108BD9-81ED-4DB2-BD59-A6C34878D82A}">
                    <a16:rowId xmlns:a16="http://schemas.microsoft.com/office/drawing/2014/main" val="10002"/>
                  </a:ext>
                </a:extLst>
              </a:tr>
              <a:tr h="1099908">
                <a:tc>
                  <a:txBody>
                    <a:bodyPr/>
                    <a:lstStyle/>
                    <a:p>
                      <a:r>
                        <a:rPr lang="en-IN" b="1"/>
                        <a:t>Column-based</a:t>
                      </a:r>
                      <a:endParaRPr lang="en-IN"/>
                    </a:p>
                  </a:txBody>
                  <a:tcPr anchor="ctr">
                    <a:lnL>
                      <a:noFill/>
                    </a:lnL>
                    <a:lnR>
                      <a:noFill/>
                    </a:lnR>
                    <a:lnT>
                      <a:noFill/>
                    </a:lnT>
                    <a:lnB>
                      <a:noFill/>
                    </a:lnB>
                  </a:tcPr>
                </a:tc>
                <a:tc>
                  <a:txBody>
                    <a:bodyPr/>
                    <a:lstStyle/>
                    <a:p>
                      <a:r>
                        <a:rPr lang="en-IN"/>
                        <a:t>Store data in columns for fast retrieval</a:t>
                      </a:r>
                    </a:p>
                  </a:txBody>
                  <a:tcPr anchor="ctr">
                    <a:lnL>
                      <a:noFill/>
                    </a:lnL>
                    <a:lnR>
                      <a:noFill/>
                    </a:lnR>
                    <a:lnT>
                      <a:noFill/>
                    </a:lnT>
                    <a:lnB>
                      <a:noFill/>
                    </a:lnB>
                  </a:tcPr>
                </a:tc>
                <a:tc>
                  <a:txBody>
                    <a:bodyPr/>
                    <a:lstStyle/>
                    <a:p>
                      <a:r>
                        <a:rPr lang="en-IN" dirty="0"/>
                        <a:t>Cassandra, </a:t>
                      </a:r>
                      <a:r>
                        <a:rPr lang="en-IN" dirty="0" err="1"/>
                        <a:t>HBase</a:t>
                      </a:r>
                      <a:endParaRPr lang="en-IN" dirty="0"/>
                    </a:p>
                  </a:txBody>
                  <a:tcPr anchor="ctr">
                    <a:lnL>
                      <a:noFill/>
                    </a:lnL>
                    <a:lnR>
                      <a:noFill/>
                    </a:lnR>
                    <a:lnT>
                      <a:noFill/>
                    </a:lnT>
                    <a:lnB>
                      <a:noFill/>
                    </a:lnB>
                  </a:tcPr>
                </a:tc>
                <a:extLst>
                  <a:ext uri="{0D108BD9-81ED-4DB2-BD59-A6C34878D82A}">
                    <a16:rowId xmlns:a16="http://schemas.microsoft.com/office/drawing/2014/main" val="10003"/>
                  </a:ext>
                </a:extLst>
              </a:tr>
              <a:tr h="1099908">
                <a:tc>
                  <a:txBody>
                    <a:bodyPr/>
                    <a:lstStyle/>
                    <a:p>
                      <a:r>
                        <a:rPr lang="en-IN" b="1" dirty="0"/>
                        <a:t>Graph-based</a:t>
                      </a:r>
                      <a:endParaRPr lang="en-IN" dirty="0"/>
                    </a:p>
                  </a:txBody>
                  <a:tcPr anchor="ctr">
                    <a:lnL>
                      <a:noFill/>
                    </a:lnL>
                    <a:lnR>
                      <a:noFill/>
                    </a:lnR>
                    <a:lnT>
                      <a:noFill/>
                    </a:lnT>
                    <a:lnB>
                      <a:noFill/>
                    </a:lnB>
                  </a:tcPr>
                </a:tc>
                <a:tc>
                  <a:txBody>
                    <a:bodyPr/>
                    <a:lstStyle/>
                    <a:p>
                      <a:r>
                        <a:rPr lang="en-US"/>
                        <a:t>Store data as nodes and relationships</a:t>
                      </a:r>
                    </a:p>
                  </a:txBody>
                  <a:tcPr anchor="ctr">
                    <a:lnL>
                      <a:noFill/>
                    </a:lnL>
                    <a:lnR>
                      <a:noFill/>
                    </a:lnR>
                    <a:lnT>
                      <a:noFill/>
                    </a:lnT>
                    <a:lnB>
                      <a:noFill/>
                    </a:lnB>
                  </a:tcPr>
                </a:tc>
                <a:tc>
                  <a:txBody>
                    <a:bodyPr/>
                    <a:lstStyle/>
                    <a:p>
                      <a:r>
                        <a:rPr lang="en-IN" dirty="0"/>
                        <a:t>Neo4j, </a:t>
                      </a:r>
                      <a:r>
                        <a:rPr lang="en-IN" dirty="0" err="1"/>
                        <a:t>ArangoDB</a:t>
                      </a:r>
                      <a:endParaRPr lang="en-IN" dirty="0"/>
                    </a:p>
                  </a:txBody>
                  <a:tcPr anchor="ctr">
                    <a:lnL>
                      <a:noFill/>
                    </a:lnL>
                    <a:lnR>
                      <a:noFill/>
                    </a:lnR>
                    <a:lnT>
                      <a:noFill/>
                    </a:lnT>
                    <a:lnB>
                      <a:noFill/>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2324708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When is </a:t>
            </a:r>
            <a:r>
              <a:rPr lang="en-US" b="1" dirty="0" err="1"/>
              <a:t>NoSQL</a:t>
            </a:r>
            <a:r>
              <a:rPr lang="en-US" b="1" dirty="0"/>
              <a:t> Used?</a:t>
            </a:r>
            <a:br>
              <a:rPr lang="en-US" b="1" dirty="0"/>
            </a:br>
            <a:endParaRPr lang="en-IN" dirty="0"/>
          </a:p>
        </p:txBody>
      </p:sp>
      <p:sp>
        <p:nvSpPr>
          <p:cNvPr id="3" name="Content Placeholder 2"/>
          <p:cNvSpPr>
            <a:spLocks noGrp="1"/>
          </p:cNvSpPr>
          <p:nvPr>
            <p:ph idx="1"/>
          </p:nvPr>
        </p:nvSpPr>
        <p:spPr/>
        <p:txBody>
          <a:bodyPr/>
          <a:lstStyle/>
          <a:p>
            <a:r>
              <a:rPr lang="en-US" dirty="0"/>
              <a:t>Real-time analytics</a:t>
            </a:r>
          </a:p>
          <a:p>
            <a:r>
              <a:rPr lang="en-US" dirty="0" err="1"/>
              <a:t>IoT</a:t>
            </a:r>
            <a:r>
              <a:rPr lang="en-US" dirty="0"/>
              <a:t> applications</a:t>
            </a:r>
          </a:p>
          <a:p>
            <a:r>
              <a:rPr lang="en-US" dirty="0"/>
              <a:t>Social media platforms</a:t>
            </a:r>
          </a:p>
          <a:p>
            <a:r>
              <a:rPr lang="en-US" dirty="0"/>
              <a:t>Content management systems</a:t>
            </a:r>
          </a:p>
          <a:p>
            <a:r>
              <a:rPr lang="en-US" dirty="0"/>
              <a:t>Applications with massive amounts of unstructured data</a:t>
            </a:r>
          </a:p>
          <a:p>
            <a:endParaRPr lang="en-IN" dirty="0"/>
          </a:p>
        </p:txBody>
      </p:sp>
    </p:spTree>
    <p:extLst>
      <p:ext uri="{BB962C8B-B14F-4D97-AF65-F5344CB8AC3E}">
        <p14:creationId xmlns:p14="http://schemas.microsoft.com/office/powerpoint/2010/main" val="52988491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a:t>NewSQL</a:t>
            </a:r>
            <a:endParaRPr lang="en-IN" dirty="0"/>
          </a:p>
        </p:txBody>
      </p:sp>
      <p:sp>
        <p:nvSpPr>
          <p:cNvPr id="3" name="Content Placeholder 2"/>
          <p:cNvSpPr>
            <a:spLocks noGrp="1"/>
          </p:cNvSpPr>
          <p:nvPr>
            <p:ph idx="1"/>
          </p:nvPr>
        </p:nvSpPr>
        <p:spPr/>
        <p:txBody>
          <a:bodyPr/>
          <a:lstStyle/>
          <a:p>
            <a:r>
              <a:rPr lang="en-US" dirty="0" err="1"/>
              <a:t>NewSQL</a:t>
            </a:r>
            <a:r>
              <a:rPr lang="en-US" dirty="0"/>
              <a:t> refers to modern relational databases </a:t>
            </a:r>
          </a:p>
          <a:p>
            <a:r>
              <a:rPr lang="en-US" dirty="0"/>
              <a:t>Use SQL as query language</a:t>
            </a:r>
          </a:p>
          <a:p>
            <a:r>
              <a:rPr lang="en-US" dirty="0"/>
              <a:t>Provide ACID compliance</a:t>
            </a:r>
          </a:p>
          <a:p>
            <a:r>
              <a:rPr lang="en-US" dirty="0"/>
              <a:t>Offer scalability like </a:t>
            </a:r>
            <a:r>
              <a:rPr lang="en-US" dirty="0" err="1"/>
              <a:t>NoSQL</a:t>
            </a:r>
            <a:endParaRPr lang="en-US" dirty="0"/>
          </a:p>
          <a:p>
            <a:r>
              <a:rPr lang="en-US" dirty="0" err="1"/>
              <a:t>NewSQL</a:t>
            </a:r>
            <a:r>
              <a:rPr lang="en-US" dirty="0"/>
              <a:t> = Best of both worlds: SQL + Scalability</a:t>
            </a:r>
          </a:p>
          <a:p>
            <a:pPr marL="0" indent="0">
              <a:buNone/>
            </a:pPr>
            <a:endParaRPr lang="en-IN" b="1" dirty="0"/>
          </a:p>
          <a:p>
            <a:pPr marL="0" indent="0">
              <a:buNone/>
            </a:pPr>
            <a:r>
              <a:rPr lang="en-IN" b="1" dirty="0"/>
              <a:t>Why </a:t>
            </a:r>
            <a:r>
              <a:rPr lang="en-IN" b="1" dirty="0" err="1"/>
              <a:t>NewSQL</a:t>
            </a:r>
            <a:r>
              <a:rPr lang="en-IN" b="1" dirty="0"/>
              <a:t>?</a:t>
            </a:r>
          </a:p>
          <a:p>
            <a:r>
              <a:rPr lang="en-US" dirty="0"/>
              <a:t>To address scalability limitations of traditional RDBMS without giving up SQL features or transaction integrity.</a:t>
            </a:r>
          </a:p>
          <a:p>
            <a:r>
              <a:rPr lang="en-US" dirty="0"/>
              <a:t>Designed for cloud-native applications.</a:t>
            </a:r>
            <a:endParaRPr lang="en-IN" dirty="0"/>
          </a:p>
        </p:txBody>
      </p:sp>
    </p:spTree>
    <p:extLst>
      <p:ext uri="{BB962C8B-B14F-4D97-AF65-F5344CB8AC3E}">
        <p14:creationId xmlns:p14="http://schemas.microsoft.com/office/powerpoint/2010/main" val="34402936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Key Features of </a:t>
            </a:r>
            <a:r>
              <a:rPr lang="en-US" b="1" dirty="0" err="1"/>
              <a:t>NewSQL</a:t>
            </a:r>
            <a:r>
              <a:rPr lang="en-US" b="1" dirty="0"/>
              <a:t>:</a:t>
            </a:r>
            <a:br>
              <a:rPr lang="en-US" b="1" dirty="0"/>
            </a:br>
            <a:endParaRPr lang="en-IN" dirty="0"/>
          </a:p>
        </p:txBody>
      </p:sp>
      <p:sp>
        <p:nvSpPr>
          <p:cNvPr id="3" name="Content Placeholder 2"/>
          <p:cNvSpPr>
            <a:spLocks noGrp="1"/>
          </p:cNvSpPr>
          <p:nvPr>
            <p:ph idx="1"/>
          </p:nvPr>
        </p:nvSpPr>
        <p:spPr/>
        <p:txBody>
          <a:bodyPr/>
          <a:lstStyle/>
          <a:p>
            <a:r>
              <a:rPr lang="en-US" b="1" dirty="0"/>
              <a:t>Distributed architecture</a:t>
            </a:r>
            <a:r>
              <a:rPr lang="en-US" dirty="0"/>
              <a:t> for high availability</a:t>
            </a:r>
          </a:p>
          <a:p>
            <a:r>
              <a:rPr lang="en-US" dirty="0"/>
              <a:t>Full </a:t>
            </a:r>
            <a:r>
              <a:rPr lang="en-US" b="1" dirty="0"/>
              <a:t>SQL support</a:t>
            </a:r>
            <a:r>
              <a:rPr lang="en-US" dirty="0"/>
              <a:t> (joins, indexes, ACID)</a:t>
            </a:r>
          </a:p>
          <a:p>
            <a:r>
              <a:rPr lang="en-US" b="1" dirty="0"/>
              <a:t>In-memory capabilities</a:t>
            </a:r>
            <a:r>
              <a:rPr lang="en-US" dirty="0"/>
              <a:t> for speed</a:t>
            </a:r>
          </a:p>
          <a:p>
            <a:r>
              <a:rPr lang="en-US" b="1" dirty="0"/>
              <a:t>Auto-</a:t>
            </a:r>
            <a:r>
              <a:rPr lang="en-US" b="1" dirty="0" err="1"/>
              <a:t>sharding</a:t>
            </a:r>
            <a:r>
              <a:rPr lang="en-US" dirty="0"/>
              <a:t> (</a:t>
            </a:r>
            <a:r>
              <a:rPr lang="en-US" dirty="0" err="1"/>
              <a:t>sharding</a:t>
            </a:r>
            <a:r>
              <a:rPr lang="en-US" dirty="0"/>
              <a:t> refers to the practice of horizontally partitioning a large database into smaller, more manageable pieces called shards, which are distributed across multiple servers) and </a:t>
            </a:r>
            <a:r>
              <a:rPr lang="en-US" b="1" dirty="0"/>
              <a:t>replication </a:t>
            </a:r>
            <a:r>
              <a:rPr lang="en-US" dirty="0"/>
              <a:t>(process of creating and maintaining multiple copies of data across different nodes or servers)</a:t>
            </a:r>
          </a:p>
          <a:p>
            <a:endParaRPr lang="en-IN" dirty="0"/>
          </a:p>
        </p:txBody>
      </p:sp>
    </p:spTree>
    <p:extLst>
      <p:ext uri="{BB962C8B-B14F-4D97-AF65-F5344CB8AC3E}">
        <p14:creationId xmlns:p14="http://schemas.microsoft.com/office/powerpoint/2010/main" val="91354001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Popular </a:t>
            </a:r>
            <a:r>
              <a:rPr lang="en-US" dirty="0" err="1"/>
              <a:t>NewSQL</a:t>
            </a:r>
            <a:r>
              <a:rPr lang="en-US" dirty="0"/>
              <a:t> Databases</a:t>
            </a:r>
            <a:endParaRPr lang="en-IN" dirty="0"/>
          </a:p>
        </p:txBody>
      </p:sp>
      <p:graphicFrame>
        <p:nvGraphicFramePr>
          <p:cNvPr id="4" name="Table 3"/>
          <p:cNvGraphicFramePr>
            <a:graphicFrameLocks noGrp="1"/>
          </p:cNvGraphicFramePr>
          <p:nvPr/>
        </p:nvGraphicFramePr>
        <p:xfrm>
          <a:off x="677333" y="2240278"/>
          <a:ext cx="8832426" cy="4404360"/>
        </p:xfrm>
        <a:graphic>
          <a:graphicData uri="http://schemas.openxmlformats.org/drawingml/2006/table">
            <a:tbl>
              <a:tblPr/>
              <a:tblGrid>
                <a:gridCol w="4416213">
                  <a:extLst>
                    <a:ext uri="{9D8B030D-6E8A-4147-A177-3AD203B41FA5}">
                      <a16:colId xmlns:a16="http://schemas.microsoft.com/office/drawing/2014/main" val="20000"/>
                    </a:ext>
                  </a:extLst>
                </a:gridCol>
                <a:gridCol w="4416213">
                  <a:extLst>
                    <a:ext uri="{9D8B030D-6E8A-4147-A177-3AD203B41FA5}">
                      <a16:colId xmlns:a16="http://schemas.microsoft.com/office/drawing/2014/main" val="20001"/>
                    </a:ext>
                  </a:extLst>
                </a:gridCol>
              </a:tblGrid>
              <a:tr h="652498">
                <a:tc>
                  <a:txBody>
                    <a:bodyPr/>
                    <a:lstStyle/>
                    <a:p>
                      <a:r>
                        <a:rPr lang="en-IN" b="1" u="sng" dirty="0">
                          <a:solidFill>
                            <a:schemeClr val="accent1">
                              <a:lumMod val="50000"/>
                            </a:schemeClr>
                          </a:solidFill>
                        </a:rPr>
                        <a:t>Database</a:t>
                      </a:r>
                    </a:p>
                  </a:txBody>
                  <a:tcPr anchor="ctr">
                    <a:lnL>
                      <a:noFill/>
                    </a:lnL>
                    <a:lnR>
                      <a:noFill/>
                    </a:lnR>
                    <a:lnT>
                      <a:noFill/>
                    </a:lnT>
                    <a:lnB>
                      <a:noFill/>
                    </a:lnB>
                  </a:tcPr>
                </a:tc>
                <a:tc>
                  <a:txBody>
                    <a:bodyPr/>
                    <a:lstStyle/>
                    <a:p>
                      <a:r>
                        <a:rPr lang="en-IN" b="1" u="sng" dirty="0">
                          <a:solidFill>
                            <a:schemeClr val="accent1">
                              <a:lumMod val="50000"/>
                            </a:schemeClr>
                          </a:solidFill>
                        </a:rPr>
                        <a:t>Features</a:t>
                      </a:r>
                    </a:p>
                  </a:txBody>
                  <a:tcPr anchor="ctr">
                    <a:lnL>
                      <a:noFill/>
                    </a:lnL>
                    <a:lnR>
                      <a:noFill/>
                    </a:lnR>
                    <a:lnT>
                      <a:noFill/>
                    </a:lnT>
                    <a:lnB>
                      <a:noFill/>
                    </a:lnB>
                  </a:tcPr>
                </a:tc>
                <a:extLst>
                  <a:ext uri="{0D108BD9-81ED-4DB2-BD59-A6C34878D82A}">
                    <a16:rowId xmlns:a16="http://schemas.microsoft.com/office/drawing/2014/main" val="10000"/>
                  </a:ext>
                </a:extLst>
              </a:tr>
              <a:tr h="652498">
                <a:tc>
                  <a:txBody>
                    <a:bodyPr/>
                    <a:lstStyle/>
                    <a:p>
                      <a:r>
                        <a:rPr lang="en-IN" b="1"/>
                        <a:t>Google Spanner</a:t>
                      </a:r>
                      <a:endParaRPr lang="en-IN"/>
                    </a:p>
                  </a:txBody>
                  <a:tcPr anchor="ctr">
                    <a:lnL>
                      <a:noFill/>
                    </a:lnL>
                    <a:lnR>
                      <a:noFill/>
                    </a:lnR>
                    <a:lnT>
                      <a:noFill/>
                    </a:lnT>
                    <a:lnB>
                      <a:noFill/>
                    </a:lnB>
                  </a:tcPr>
                </a:tc>
                <a:tc>
                  <a:txBody>
                    <a:bodyPr/>
                    <a:lstStyle/>
                    <a:p>
                      <a:r>
                        <a:rPr lang="en-IN"/>
                        <a:t>Global distribution, strong consistency</a:t>
                      </a:r>
                    </a:p>
                  </a:txBody>
                  <a:tcPr anchor="ctr">
                    <a:lnL>
                      <a:noFill/>
                    </a:lnL>
                    <a:lnR>
                      <a:noFill/>
                    </a:lnR>
                    <a:lnT>
                      <a:noFill/>
                    </a:lnT>
                    <a:lnB>
                      <a:noFill/>
                    </a:lnB>
                  </a:tcPr>
                </a:tc>
                <a:extLst>
                  <a:ext uri="{0D108BD9-81ED-4DB2-BD59-A6C34878D82A}">
                    <a16:rowId xmlns:a16="http://schemas.microsoft.com/office/drawing/2014/main" val="10001"/>
                  </a:ext>
                </a:extLst>
              </a:tr>
              <a:tr h="652498">
                <a:tc>
                  <a:txBody>
                    <a:bodyPr/>
                    <a:lstStyle/>
                    <a:p>
                      <a:r>
                        <a:rPr lang="en-IN" b="1"/>
                        <a:t>CockroachDB</a:t>
                      </a:r>
                      <a:endParaRPr lang="en-IN"/>
                    </a:p>
                  </a:txBody>
                  <a:tcPr anchor="ctr">
                    <a:lnL>
                      <a:noFill/>
                    </a:lnL>
                    <a:lnR>
                      <a:noFill/>
                    </a:lnR>
                    <a:lnT>
                      <a:noFill/>
                    </a:lnT>
                    <a:lnB>
                      <a:noFill/>
                    </a:lnB>
                  </a:tcPr>
                </a:tc>
                <a:tc>
                  <a:txBody>
                    <a:bodyPr/>
                    <a:lstStyle/>
                    <a:p>
                      <a:r>
                        <a:rPr lang="en-IN"/>
                        <a:t>Fault-tolerant, scalable SQL</a:t>
                      </a:r>
                    </a:p>
                  </a:txBody>
                  <a:tcPr anchor="ctr">
                    <a:lnL>
                      <a:noFill/>
                    </a:lnL>
                    <a:lnR>
                      <a:noFill/>
                    </a:lnR>
                    <a:lnT>
                      <a:noFill/>
                    </a:lnT>
                    <a:lnB>
                      <a:noFill/>
                    </a:lnB>
                  </a:tcPr>
                </a:tc>
                <a:extLst>
                  <a:ext uri="{0D108BD9-81ED-4DB2-BD59-A6C34878D82A}">
                    <a16:rowId xmlns:a16="http://schemas.microsoft.com/office/drawing/2014/main" val="10002"/>
                  </a:ext>
                </a:extLst>
              </a:tr>
              <a:tr h="652498">
                <a:tc>
                  <a:txBody>
                    <a:bodyPr/>
                    <a:lstStyle/>
                    <a:p>
                      <a:r>
                        <a:rPr lang="en-IN" b="1" dirty="0" err="1"/>
                        <a:t>VoltDB</a:t>
                      </a:r>
                      <a:endParaRPr lang="en-IN" dirty="0"/>
                    </a:p>
                  </a:txBody>
                  <a:tcPr anchor="ctr">
                    <a:lnL>
                      <a:noFill/>
                    </a:lnL>
                    <a:lnR>
                      <a:noFill/>
                    </a:lnR>
                    <a:lnT>
                      <a:noFill/>
                    </a:lnT>
                    <a:lnB>
                      <a:noFill/>
                    </a:lnB>
                  </a:tcPr>
                </a:tc>
                <a:tc>
                  <a:txBody>
                    <a:bodyPr/>
                    <a:lstStyle/>
                    <a:p>
                      <a:r>
                        <a:rPr lang="en-IN"/>
                        <a:t>In-memory processing for speed</a:t>
                      </a:r>
                    </a:p>
                  </a:txBody>
                  <a:tcPr anchor="ctr">
                    <a:lnL>
                      <a:noFill/>
                    </a:lnL>
                    <a:lnR>
                      <a:noFill/>
                    </a:lnR>
                    <a:lnT>
                      <a:noFill/>
                    </a:lnT>
                    <a:lnB>
                      <a:noFill/>
                    </a:lnB>
                  </a:tcPr>
                </a:tc>
                <a:extLst>
                  <a:ext uri="{0D108BD9-81ED-4DB2-BD59-A6C34878D82A}">
                    <a16:rowId xmlns:a16="http://schemas.microsoft.com/office/drawing/2014/main" val="10003"/>
                  </a:ext>
                </a:extLst>
              </a:tr>
              <a:tr h="652498">
                <a:tc>
                  <a:txBody>
                    <a:bodyPr/>
                    <a:lstStyle/>
                    <a:p>
                      <a:r>
                        <a:rPr lang="en-IN" b="1"/>
                        <a:t>NuoDB</a:t>
                      </a:r>
                      <a:endParaRPr lang="en-IN"/>
                    </a:p>
                  </a:txBody>
                  <a:tcPr anchor="ctr">
                    <a:lnL>
                      <a:noFill/>
                    </a:lnL>
                    <a:lnR>
                      <a:noFill/>
                    </a:lnR>
                    <a:lnT>
                      <a:noFill/>
                    </a:lnT>
                    <a:lnB>
                      <a:noFill/>
                    </a:lnB>
                  </a:tcPr>
                </a:tc>
                <a:tc>
                  <a:txBody>
                    <a:bodyPr/>
                    <a:lstStyle/>
                    <a:p>
                      <a:r>
                        <a:rPr lang="en-IN"/>
                        <a:t>Cloud-native, elastic scaling</a:t>
                      </a:r>
                    </a:p>
                  </a:txBody>
                  <a:tcPr anchor="ctr">
                    <a:lnL>
                      <a:noFill/>
                    </a:lnL>
                    <a:lnR>
                      <a:noFill/>
                    </a:lnR>
                    <a:lnT>
                      <a:noFill/>
                    </a:lnT>
                    <a:lnB>
                      <a:noFill/>
                    </a:lnB>
                  </a:tcPr>
                </a:tc>
                <a:extLst>
                  <a:ext uri="{0D108BD9-81ED-4DB2-BD59-A6C34878D82A}">
                    <a16:rowId xmlns:a16="http://schemas.microsoft.com/office/drawing/2014/main" val="10004"/>
                  </a:ext>
                </a:extLst>
              </a:tr>
              <a:tr h="1141870">
                <a:tc>
                  <a:txBody>
                    <a:bodyPr/>
                    <a:lstStyle/>
                    <a:p>
                      <a:r>
                        <a:rPr lang="en-IN" b="1"/>
                        <a:t>TiDB</a:t>
                      </a:r>
                      <a:endParaRPr lang="en-IN"/>
                    </a:p>
                  </a:txBody>
                  <a:tcPr anchor="ctr">
                    <a:lnL>
                      <a:noFill/>
                    </a:lnL>
                    <a:lnR>
                      <a:noFill/>
                    </a:lnR>
                    <a:lnT>
                      <a:noFill/>
                    </a:lnT>
                    <a:lnB>
                      <a:noFill/>
                    </a:lnB>
                  </a:tcPr>
                </a:tc>
                <a:tc>
                  <a:txBody>
                    <a:bodyPr/>
                    <a:lstStyle/>
                    <a:p>
                      <a:r>
                        <a:rPr lang="en-US" dirty="0"/>
                        <a:t>MySQL compatible, supports hybrid workloads</a:t>
                      </a:r>
                    </a:p>
                  </a:txBody>
                  <a:tcPr anchor="ctr">
                    <a:lnL>
                      <a:noFill/>
                    </a:lnL>
                    <a:lnR>
                      <a:noFill/>
                    </a:lnR>
                    <a:lnT>
                      <a:noFill/>
                    </a:lnT>
                    <a:lnB>
                      <a:noFill/>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66442591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Comparison: RDBMS </a:t>
            </a:r>
            <a:r>
              <a:rPr lang="en-IN" dirty="0" err="1"/>
              <a:t>vs</a:t>
            </a:r>
            <a:r>
              <a:rPr lang="en-IN" dirty="0"/>
              <a:t> </a:t>
            </a:r>
            <a:r>
              <a:rPr lang="en-IN" dirty="0" err="1"/>
              <a:t>NoSQL</a:t>
            </a:r>
            <a:r>
              <a:rPr lang="en-IN" dirty="0"/>
              <a:t> </a:t>
            </a:r>
            <a:r>
              <a:rPr lang="en-IN" dirty="0" err="1"/>
              <a:t>vs</a:t>
            </a:r>
            <a:r>
              <a:rPr lang="en-IN" dirty="0"/>
              <a:t> </a:t>
            </a:r>
            <a:r>
              <a:rPr lang="en-IN" dirty="0" err="1"/>
              <a:t>NewSQL</a:t>
            </a:r>
            <a:endParaRPr lang="en-IN" dirty="0"/>
          </a:p>
        </p:txBody>
      </p:sp>
      <p:graphicFrame>
        <p:nvGraphicFramePr>
          <p:cNvPr id="5" name="Table 4"/>
          <p:cNvGraphicFramePr>
            <a:graphicFrameLocks noGrp="1"/>
          </p:cNvGraphicFramePr>
          <p:nvPr/>
        </p:nvGraphicFramePr>
        <p:xfrm>
          <a:off x="677334" y="1525746"/>
          <a:ext cx="9212896" cy="4311174"/>
        </p:xfrm>
        <a:graphic>
          <a:graphicData uri="http://schemas.openxmlformats.org/drawingml/2006/table">
            <a:tbl>
              <a:tblPr/>
              <a:tblGrid>
                <a:gridCol w="2303224">
                  <a:extLst>
                    <a:ext uri="{9D8B030D-6E8A-4147-A177-3AD203B41FA5}">
                      <a16:colId xmlns:a16="http://schemas.microsoft.com/office/drawing/2014/main" val="20000"/>
                    </a:ext>
                  </a:extLst>
                </a:gridCol>
                <a:gridCol w="2303224">
                  <a:extLst>
                    <a:ext uri="{9D8B030D-6E8A-4147-A177-3AD203B41FA5}">
                      <a16:colId xmlns:a16="http://schemas.microsoft.com/office/drawing/2014/main" val="20001"/>
                    </a:ext>
                  </a:extLst>
                </a:gridCol>
                <a:gridCol w="2303224">
                  <a:extLst>
                    <a:ext uri="{9D8B030D-6E8A-4147-A177-3AD203B41FA5}">
                      <a16:colId xmlns:a16="http://schemas.microsoft.com/office/drawing/2014/main" val="20002"/>
                    </a:ext>
                  </a:extLst>
                </a:gridCol>
                <a:gridCol w="2303224">
                  <a:extLst>
                    <a:ext uri="{9D8B030D-6E8A-4147-A177-3AD203B41FA5}">
                      <a16:colId xmlns:a16="http://schemas.microsoft.com/office/drawing/2014/main" val="20003"/>
                    </a:ext>
                  </a:extLst>
                </a:gridCol>
              </a:tblGrid>
              <a:tr h="507197">
                <a:tc>
                  <a:txBody>
                    <a:bodyPr/>
                    <a:lstStyle/>
                    <a:p>
                      <a:r>
                        <a:rPr lang="en-IN" b="1" dirty="0">
                          <a:solidFill>
                            <a:schemeClr val="accent1">
                              <a:lumMod val="50000"/>
                            </a:schemeClr>
                          </a:solidFill>
                          <a:effectLst>
                            <a:outerShdw blurRad="38100" dist="38100" dir="2700000" algn="tl">
                              <a:srgbClr val="000000">
                                <a:alpha val="43137"/>
                              </a:srgbClr>
                            </a:outerShdw>
                          </a:effectLst>
                        </a:rPr>
                        <a:t>Feature</a:t>
                      </a:r>
                    </a:p>
                  </a:txBody>
                  <a:tcPr anchor="ctr">
                    <a:lnL>
                      <a:noFill/>
                    </a:lnL>
                    <a:lnR>
                      <a:noFill/>
                    </a:lnR>
                    <a:lnT>
                      <a:noFill/>
                    </a:lnT>
                    <a:lnB>
                      <a:noFill/>
                    </a:lnB>
                  </a:tcPr>
                </a:tc>
                <a:tc>
                  <a:txBody>
                    <a:bodyPr/>
                    <a:lstStyle/>
                    <a:p>
                      <a:r>
                        <a:rPr lang="en-IN" b="1" dirty="0">
                          <a:solidFill>
                            <a:schemeClr val="accent1">
                              <a:lumMod val="50000"/>
                            </a:schemeClr>
                          </a:solidFill>
                          <a:effectLst>
                            <a:outerShdw blurRad="38100" dist="38100" dir="2700000" algn="tl">
                              <a:srgbClr val="000000">
                                <a:alpha val="43137"/>
                              </a:srgbClr>
                            </a:outerShdw>
                          </a:effectLst>
                        </a:rPr>
                        <a:t>RDBMS</a:t>
                      </a:r>
                    </a:p>
                  </a:txBody>
                  <a:tcPr anchor="ctr">
                    <a:lnL>
                      <a:noFill/>
                    </a:lnL>
                    <a:lnR>
                      <a:noFill/>
                    </a:lnR>
                    <a:lnT>
                      <a:noFill/>
                    </a:lnT>
                    <a:lnB>
                      <a:noFill/>
                    </a:lnB>
                  </a:tcPr>
                </a:tc>
                <a:tc>
                  <a:txBody>
                    <a:bodyPr/>
                    <a:lstStyle/>
                    <a:p>
                      <a:r>
                        <a:rPr lang="en-IN" b="1" dirty="0" err="1">
                          <a:solidFill>
                            <a:schemeClr val="accent1">
                              <a:lumMod val="50000"/>
                            </a:schemeClr>
                          </a:solidFill>
                          <a:effectLst>
                            <a:outerShdw blurRad="38100" dist="38100" dir="2700000" algn="tl">
                              <a:srgbClr val="000000">
                                <a:alpha val="43137"/>
                              </a:srgbClr>
                            </a:outerShdw>
                          </a:effectLst>
                        </a:rPr>
                        <a:t>NoSQL</a:t>
                      </a:r>
                      <a:endParaRPr lang="en-IN" b="1" dirty="0">
                        <a:solidFill>
                          <a:schemeClr val="accent1">
                            <a:lumMod val="50000"/>
                          </a:schemeClr>
                        </a:solidFill>
                        <a:effectLst>
                          <a:outerShdw blurRad="38100" dist="38100" dir="2700000" algn="tl">
                            <a:srgbClr val="000000">
                              <a:alpha val="43137"/>
                            </a:srgbClr>
                          </a:outerShdw>
                        </a:effectLst>
                      </a:endParaRPr>
                    </a:p>
                  </a:txBody>
                  <a:tcPr anchor="ctr">
                    <a:lnL>
                      <a:noFill/>
                    </a:lnL>
                    <a:lnR>
                      <a:noFill/>
                    </a:lnR>
                    <a:lnT>
                      <a:noFill/>
                    </a:lnT>
                    <a:lnB>
                      <a:noFill/>
                    </a:lnB>
                  </a:tcPr>
                </a:tc>
                <a:tc>
                  <a:txBody>
                    <a:bodyPr/>
                    <a:lstStyle/>
                    <a:p>
                      <a:r>
                        <a:rPr lang="en-IN" b="1" dirty="0" err="1">
                          <a:solidFill>
                            <a:schemeClr val="accent1">
                              <a:lumMod val="50000"/>
                            </a:schemeClr>
                          </a:solidFill>
                          <a:effectLst>
                            <a:outerShdw blurRad="38100" dist="38100" dir="2700000" algn="tl">
                              <a:srgbClr val="000000">
                                <a:alpha val="43137"/>
                              </a:srgbClr>
                            </a:outerShdw>
                          </a:effectLst>
                        </a:rPr>
                        <a:t>NewSQL</a:t>
                      </a:r>
                      <a:endParaRPr lang="en-IN" b="1" dirty="0">
                        <a:solidFill>
                          <a:schemeClr val="accent1">
                            <a:lumMod val="50000"/>
                          </a:schemeClr>
                        </a:solidFill>
                        <a:effectLst>
                          <a:outerShdw blurRad="38100" dist="38100" dir="2700000" algn="tl">
                            <a:srgbClr val="000000">
                              <a:alpha val="43137"/>
                            </a:srgbClr>
                          </a:outerShdw>
                        </a:effectLst>
                      </a:endParaRPr>
                    </a:p>
                  </a:txBody>
                  <a:tcPr anchor="ctr">
                    <a:lnL>
                      <a:noFill/>
                    </a:lnL>
                    <a:lnR>
                      <a:noFill/>
                    </a:lnR>
                    <a:lnT>
                      <a:noFill/>
                    </a:lnT>
                    <a:lnB>
                      <a:noFill/>
                    </a:lnB>
                  </a:tcPr>
                </a:tc>
                <a:extLst>
                  <a:ext uri="{0D108BD9-81ED-4DB2-BD59-A6C34878D82A}">
                    <a16:rowId xmlns:a16="http://schemas.microsoft.com/office/drawing/2014/main" val="10000"/>
                  </a:ext>
                </a:extLst>
              </a:tr>
              <a:tr h="507197">
                <a:tc>
                  <a:txBody>
                    <a:bodyPr/>
                    <a:lstStyle/>
                    <a:p>
                      <a:r>
                        <a:rPr lang="en-IN"/>
                        <a:t>Data Model</a:t>
                      </a:r>
                    </a:p>
                  </a:txBody>
                  <a:tcPr anchor="ctr">
                    <a:lnL>
                      <a:noFill/>
                    </a:lnL>
                    <a:lnR>
                      <a:noFill/>
                    </a:lnR>
                    <a:lnT>
                      <a:noFill/>
                    </a:lnT>
                    <a:lnB>
                      <a:noFill/>
                    </a:lnB>
                  </a:tcPr>
                </a:tc>
                <a:tc>
                  <a:txBody>
                    <a:bodyPr/>
                    <a:lstStyle/>
                    <a:p>
                      <a:r>
                        <a:rPr lang="en-IN"/>
                        <a:t>Relational</a:t>
                      </a:r>
                    </a:p>
                  </a:txBody>
                  <a:tcPr anchor="ctr">
                    <a:lnL>
                      <a:noFill/>
                    </a:lnL>
                    <a:lnR>
                      <a:noFill/>
                    </a:lnR>
                    <a:lnT>
                      <a:noFill/>
                    </a:lnT>
                    <a:lnB>
                      <a:noFill/>
                    </a:lnB>
                  </a:tcPr>
                </a:tc>
                <a:tc>
                  <a:txBody>
                    <a:bodyPr/>
                    <a:lstStyle/>
                    <a:p>
                      <a:r>
                        <a:rPr lang="en-IN"/>
                        <a:t>Non-relational</a:t>
                      </a:r>
                    </a:p>
                  </a:txBody>
                  <a:tcPr anchor="ctr">
                    <a:lnL>
                      <a:noFill/>
                    </a:lnL>
                    <a:lnR>
                      <a:noFill/>
                    </a:lnR>
                    <a:lnT>
                      <a:noFill/>
                    </a:lnT>
                    <a:lnB>
                      <a:noFill/>
                    </a:lnB>
                  </a:tcPr>
                </a:tc>
                <a:tc>
                  <a:txBody>
                    <a:bodyPr/>
                    <a:lstStyle/>
                    <a:p>
                      <a:r>
                        <a:rPr lang="en-IN"/>
                        <a:t>Relational</a:t>
                      </a:r>
                    </a:p>
                  </a:txBody>
                  <a:tcPr anchor="ctr">
                    <a:lnL>
                      <a:noFill/>
                    </a:lnL>
                    <a:lnR>
                      <a:noFill/>
                    </a:lnR>
                    <a:lnT>
                      <a:noFill/>
                    </a:lnT>
                    <a:lnB>
                      <a:noFill/>
                    </a:lnB>
                  </a:tcPr>
                </a:tc>
                <a:extLst>
                  <a:ext uri="{0D108BD9-81ED-4DB2-BD59-A6C34878D82A}">
                    <a16:rowId xmlns:a16="http://schemas.microsoft.com/office/drawing/2014/main" val="10001"/>
                  </a:ext>
                </a:extLst>
              </a:tr>
              <a:tr h="507197">
                <a:tc>
                  <a:txBody>
                    <a:bodyPr/>
                    <a:lstStyle/>
                    <a:p>
                      <a:r>
                        <a:rPr lang="en-IN"/>
                        <a:t>Query Language</a:t>
                      </a:r>
                    </a:p>
                  </a:txBody>
                  <a:tcPr anchor="ctr">
                    <a:lnL>
                      <a:noFill/>
                    </a:lnL>
                    <a:lnR>
                      <a:noFill/>
                    </a:lnR>
                    <a:lnT>
                      <a:noFill/>
                    </a:lnT>
                    <a:lnB>
                      <a:noFill/>
                    </a:lnB>
                  </a:tcPr>
                </a:tc>
                <a:tc>
                  <a:txBody>
                    <a:bodyPr/>
                    <a:lstStyle/>
                    <a:p>
                      <a:r>
                        <a:rPr lang="en-IN"/>
                        <a:t>SQL</a:t>
                      </a:r>
                    </a:p>
                  </a:txBody>
                  <a:tcPr anchor="ctr">
                    <a:lnL>
                      <a:noFill/>
                    </a:lnL>
                    <a:lnR>
                      <a:noFill/>
                    </a:lnR>
                    <a:lnT>
                      <a:noFill/>
                    </a:lnT>
                    <a:lnB>
                      <a:noFill/>
                    </a:lnB>
                  </a:tcPr>
                </a:tc>
                <a:tc>
                  <a:txBody>
                    <a:bodyPr/>
                    <a:lstStyle/>
                    <a:p>
                      <a:r>
                        <a:rPr lang="en-IN"/>
                        <a:t>Varies</a:t>
                      </a:r>
                    </a:p>
                  </a:txBody>
                  <a:tcPr anchor="ctr">
                    <a:lnL>
                      <a:noFill/>
                    </a:lnL>
                    <a:lnR>
                      <a:noFill/>
                    </a:lnR>
                    <a:lnT>
                      <a:noFill/>
                    </a:lnT>
                    <a:lnB>
                      <a:noFill/>
                    </a:lnB>
                  </a:tcPr>
                </a:tc>
                <a:tc>
                  <a:txBody>
                    <a:bodyPr/>
                    <a:lstStyle/>
                    <a:p>
                      <a:r>
                        <a:rPr lang="en-IN"/>
                        <a:t>SQL</a:t>
                      </a:r>
                    </a:p>
                  </a:txBody>
                  <a:tcPr anchor="ctr">
                    <a:lnL>
                      <a:noFill/>
                    </a:lnL>
                    <a:lnR>
                      <a:noFill/>
                    </a:lnR>
                    <a:lnT>
                      <a:noFill/>
                    </a:lnT>
                    <a:lnB>
                      <a:noFill/>
                    </a:lnB>
                  </a:tcPr>
                </a:tc>
                <a:extLst>
                  <a:ext uri="{0D108BD9-81ED-4DB2-BD59-A6C34878D82A}">
                    <a16:rowId xmlns:a16="http://schemas.microsoft.com/office/drawing/2014/main" val="10002"/>
                  </a:ext>
                </a:extLst>
              </a:tr>
              <a:tr h="507197">
                <a:tc>
                  <a:txBody>
                    <a:bodyPr/>
                    <a:lstStyle/>
                    <a:p>
                      <a:r>
                        <a:rPr lang="en-IN"/>
                        <a:t>Scalability</a:t>
                      </a:r>
                    </a:p>
                  </a:txBody>
                  <a:tcPr anchor="ctr">
                    <a:lnL>
                      <a:noFill/>
                    </a:lnL>
                    <a:lnR>
                      <a:noFill/>
                    </a:lnR>
                    <a:lnT>
                      <a:noFill/>
                    </a:lnT>
                    <a:lnB>
                      <a:noFill/>
                    </a:lnB>
                  </a:tcPr>
                </a:tc>
                <a:tc>
                  <a:txBody>
                    <a:bodyPr/>
                    <a:lstStyle/>
                    <a:p>
                      <a:r>
                        <a:rPr lang="en-IN"/>
                        <a:t>Vertical</a:t>
                      </a:r>
                    </a:p>
                  </a:txBody>
                  <a:tcPr anchor="ctr">
                    <a:lnL>
                      <a:noFill/>
                    </a:lnL>
                    <a:lnR>
                      <a:noFill/>
                    </a:lnR>
                    <a:lnT>
                      <a:noFill/>
                    </a:lnT>
                    <a:lnB>
                      <a:noFill/>
                    </a:lnB>
                  </a:tcPr>
                </a:tc>
                <a:tc>
                  <a:txBody>
                    <a:bodyPr/>
                    <a:lstStyle/>
                    <a:p>
                      <a:r>
                        <a:rPr lang="en-IN"/>
                        <a:t>Horizontal</a:t>
                      </a:r>
                    </a:p>
                  </a:txBody>
                  <a:tcPr anchor="ctr">
                    <a:lnL>
                      <a:noFill/>
                    </a:lnL>
                    <a:lnR>
                      <a:noFill/>
                    </a:lnR>
                    <a:lnT>
                      <a:noFill/>
                    </a:lnT>
                    <a:lnB>
                      <a:noFill/>
                    </a:lnB>
                  </a:tcPr>
                </a:tc>
                <a:tc>
                  <a:txBody>
                    <a:bodyPr/>
                    <a:lstStyle/>
                    <a:p>
                      <a:r>
                        <a:rPr lang="en-IN"/>
                        <a:t>Horizontal</a:t>
                      </a:r>
                    </a:p>
                  </a:txBody>
                  <a:tcPr anchor="ctr">
                    <a:lnL>
                      <a:noFill/>
                    </a:lnL>
                    <a:lnR>
                      <a:noFill/>
                    </a:lnR>
                    <a:lnT>
                      <a:noFill/>
                    </a:lnT>
                    <a:lnB>
                      <a:noFill/>
                    </a:lnB>
                  </a:tcPr>
                </a:tc>
                <a:extLst>
                  <a:ext uri="{0D108BD9-81ED-4DB2-BD59-A6C34878D82A}">
                    <a16:rowId xmlns:a16="http://schemas.microsoft.com/office/drawing/2014/main" val="10003"/>
                  </a:ext>
                </a:extLst>
              </a:tr>
              <a:tr h="507197">
                <a:tc>
                  <a:txBody>
                    <a:bodyPr/>
                    <a:lstStyle/>
                    <a:p>
                      <a:r>
                        <a:rPr lang="en-IN"/>
                        <a:t>ACID</a:t>
                      </a:r>
                    </a:p>
                  </a:txBody>
                  <a:tcPr anchor="ctr">
                    <a:lnL>
                      <a:noFill/>
                    </a:lnL>
                    <a:lnR>
                      <a:noFill/>
                    </a:lnR>
                    <a:lnT>
                      <a:noFill/>
                    </a:lnT>
                    <a:lnB>
                      <a:noFill/>
                    </a:lnB>
                  </a:tcPr>
                </a:tc>
                <a:tc>
                  <a:txBody>
                    <a:bodyPr/>
                    <a:lstStyle/>
                    <a:p>
                      <a:r>
                        <a:rPr lang="en-IN"/>
                        <a:t>Yes</a:t>
                      </a:r>
                    </a:p>
                  </a:txBody>
                  <a:tcPr anchor="ctr">
                    <a:lnL>
                      <a:noFill/>
                    </a:lnL>
                    <a:lnR>
                      <a:noFill/>
                    </a:lnR>
                    <a:lnT>
                      <a:noFill/>
                    </a:lnT>
                    <a:lnB>
                      <a:noFill/>
                    </a:lnB>
                  </a:tcPr>
                </a:tc>
                <a:tc>
                  <a:txBody>
                    <a:bodyPr/>
                    <a:lstStyle/>
                    <a:p>
                      <a:r>
                        <a:rPr lang="en-IN"/>
                        <a:t>No (BASE)</a:t>
                      </a:r>
                    </a:p>
                  </a:txBody>
                  <a:tcPr anchor="ctr">
                    <a:lnL>
                      <a:noFill/>
                    </a:lnL>
                    <a:lnR>
                      <a:noFill/>
                    </a:lnR>
                    <a:lnT>
                      <a:noFill/>
                    </a:lnT>
                    <a:lnB>
                      <a:noFill/>
                    </a:lnB>
                  </a:tcPr>
                </a:tc>
                <a:tc>
                  <a:txBody>
                    <a:bodyPr/>
                    <a:lstStyle/>
                    <a:p>
                      <a:r>
                        <a:rPr lang="en-IN"/>
                        <a:t>Yes</a:t>
                      </a:r>
                    </a:p>
                  </a:txBody>
                  <a:tcPr anchor="ctr">
                    <a:lnL>
                      <a:noFill/>
                    </a:lnL>
                    <a:lnR>
                      <a:noFill/>
                    </a:lnR>
                    <a:lnT>
                      <a:noFill/>
                    </a:lnT>
                    <a:lnB>
                      <a:noFill/>
                    </a:lnB>
                  </a:tcPr>
                </a:tc>
                <a:extLst>
                  <a:ext uri="{0D108BD9-81ED-4DB2-BD59-A6C34878D82A}">
                    <a16:rowId xmlns:a16="http://schemas.microsoft.com/office/drawing/2014/main" val="10004"/>
                  </a:ext>
                </a:extLst>
              </a:tr>
              <a:tr h="507197">
                <a:tc>
                  <a:txBody>
                    <a:bodyPr/>
                    <a:lstStyle/>
                    <a:p>
                      <a:r>
                        <a:rPr lang="en-IN" dirty="0"/>
                        <a:t>Schema</a:t>
                      </a:r>
                    </a:p>
                  </a:txBody>
                  <a:tcPr anchor="ctr">
                    <a:lnL>
                      <a:noFill/>
                    </a:lnL>
                    <a:lnR>
                      <a:noFill/>
                    </a:lnR>
                    <a:lnT>
                      <a:noFill/>
                    </a:lnT>
                    <a:lnB>
                      <a:noFill/>
                    </a:lnB>
                  </a:tcPr>
                </a:tc>
                <a:tc>
                  <a:txBody>
                    <a:bodyPr/>
                    <a:lstStyle/>
                    <a:p>
                      <a:r>
                        <a:rPr lang="en-IN"/>
                        <a:t>Fixed</a:t>
                      </a:r>
                    </a:p>
                  </a:txBody>
                  <a:tcPr anchor="ctr">
                    <a:lnL>
                      <a:noFill/>
                    </a:lnL>
                    <a:lnR>
                      <a:noFill/>
                    </a:lnR>
                    <a:lnT>
                      <a:noFill/>
                    </a:lnT>
                    <a:lnB>
                      <a:noFill/>
                    </a:lnB>
                  </a:tcPr>
                </a:tc>
                <a:tc>
                  <a:txBody>
                    <a:bodyPr/>
                    <a:lstStyle/>
                    <a:p>
                      <a:r>
                        <a:rPr lang="en-IN"/>
                        <a:t>Flexible</a:t>
                      </a:r>
                    </a:p>
                  </a:txBody>
                  <a:tcPr anchor="ctr">
                    <a:lnL>
                      <a:noFill/>
                    </a:lnL>
                    <a:lnR>
                      <a:noFill/>
                    </a:lnR>
                    <a:lnT>
                      <a:noFill/>
                    </a:lnT>
                    <a:lnB>
                      <a:noFill/>
                    </a:lnB>
                  </a:tcPr>
                </a:tc>
                <a:tc>
                  <a:txBody>
                    <a:bodyPr/>
                    <a:lstStyle/>
                    <a:p>
                      <a:r>
                        <a:rPr lang="en-IN"/>
                        <a:t>Flexible</a:t>
                      </a:r>
                    </a:p>
                  </a:txBody>
                  <a:tcPr anchor="ctr">
                    <a:lnL>
                      <a:noFill/>
                    </a:lnL>
                    <a:lnR>
                      <a:noFill/>
                    </a:lnR>
                    <a:lnT>
                      <a:noFill/>
                    </a:lnT>
                    <a:lnB>
                      <a:noFill/>
                    </a:lnB>
                  </a:tcPr>
                </a:tc>
                <a:extLst>
                  <a:ext uri="{0D108BD9-81ED-4DB2-BD59-A6C34878D82A}">
                    <a16:rowId xmlns:a16="http://schemas.microsoft.com/office/drawing/2014/main" val="10005"/>
                  </a:ext>
                </a:extLst>
              </a:tr>
              <a:tr h="1267992">
                <a:tc>
                  <a:txBody>
                    <a:bodyPr/>
                    <a:lstStyle/>
                    <a:p>
                      <a:r>
                        <a:rPr lang="en-IN"/>
                        <a:t>Best Use</a:t>
                      </a:r>
                    </a:p>
                  </a:txBody>
                  <a:tcPr anchor="ctr">
                    <a:lnL>
                      <a:noFill/>
                    </a:lnL>
                    <a:lnR>
                      <a:noFill/>
                    </a:lnR>
                    <a:lnT>
                      <a:noFill/>
                    </a:lnT>
                    <a:lnB>
                      <a:noFill/>
                    </a:lnB>
                  </a:tcPr>
                </a:tc>
                <a:tc>
                  <a:txBody>
                    <a:bodyPr/>
                    <a:lstStyle/>
                    <a:p>
                      <a:r>
                        <a:rPr lang="en-IN"/>
                        <a:t>Structured data</a:t>
                      </a:r>
                    </a:p>
                  </a:txBody>
                  <a:tcPr anchor="ctr">
                    <a:lnL>
                      <a:noFill/>
                    </a:lnL>
                    <a:lnR>
                      <a:noFill/>
                    </a:lnR>
                    <a:lnT>
                      <a:noFill/>
                    </a:lnT>
                    <a:lnB>
                      <a:noFill/>
                    </a:lnB>
                  </a:tcPr>
                </a:tc>
                <a:tc>
                  <a:txBody>
                    <a:bodyPr/>
                    <a:lstStyle/>
                    <a:p>
                      <a:r>
                        <a:rPr lang="en-US"/>
                        <a:t>Big data, IoT, social apps</a:t>
                      </a:r>
                    </a:p>
                  </a:txBody>
                  <a:tcPr anchor="ctr">
                    <a:lnL>
                      <a:noFill/>
                    </a:lnL>
                    <a:lnR>
                      <a:noFill/>
                    </a:lnR>
                    <a:lnT>
                      <a:noFill/>
                    </a:lnT>
                    <a:lnB>
                      <a:noFill/>
                    </a:lnB>
                  </a:tcPr>
                </a:tc>
                <a:tc>
                  <a:txBody>
                    <a:bodyPr/>
                    <a:lstStyle/>
                    <a:p>
                      <a:r>
                        <a:rPr lang="en-US" dirty="0"/>
                        <a:t>Cloud apps needing SQL + scale</a:t>
                      </a:r>
                    </a:p>
                  </a:txBody>
                  <a:tcPr anchor="ctr">
                    <a:lnL>
                      <a:noFill/>
                    </a:lnL>
                    <a:lnR>
                      <a:noFill/>
                    </a:lnR>
                    <a:lnT>
                      <a:noFill/>
                    </a:lnT>
                    <a:lnB>
                      <a:noFill/>
                    </a:lnB>
                  </a:tcPr>
                </a:tc>
                <a:extLst>
                  <a:ext uri="{0D108BD9-81ED-4DB2-BD59-A6C34878D82A}">
                    <a16:rowId xmlns:a16="http://schemas.microsoft.com/office/drawing/2014/main" val="10006"/>
                  </a:ext>
                </a:extLst>
              </a:tr>
            </a:tbl>
          </a:graphicData>
        </a:graphic>
      </p:graphicFrame>
      <p:sp>
        <p:nvSpPr>
          <p:cNvPr id="7" name="Rectangle 6"/>
          <p:cNvSpPr/>
          <p:nvPr/>
        </p:nvSpPr>
        <p:spPr>
          <a:xfrm>
            <a:off x="677334" y="5922556"/>
            <a:ext cx="9548706" cy="646331"/>
          </a:xfrm>
          <a:prstGeom prst="rect">
            <a:avLst/>
          </a:prstGeom>
        </p:spPr>
        <p:txBody>
          <a:bodyPr wrap="square">
            <a:spAutoFit/>
          </a:bodyPr>
          <a:lstStyle/>
          <a:p>
            <a:r>
              <a:rPr lang="en-US" dirty="0" err="1"/>
              <a:t>NoSQL</a:t>
            </a:r>
            <a:r>
              <a:rPr lang="en-US" dirty="0"/>
              <a:t> = flexible, fast, scalable → good for modern apps with unstructured data.</a:t>
            </a:r>
          </a:p>
          <a:p>
            <a:r>
              <a:rPr lang="en-US" dirty="0" err="1"/>
              <a:t>NewSQL</a:t>
            </a:r>
            <a:r>
              <a:rPr lang="en-US" dirty="0"/>
              <a:t> = power of SQL with scalability → best for enterprises needing reliability + scale.</a:t>
            </a:r>
            <a:endParaRPr lang="en-IN" dirty="0"/>
          </a:p>
        </p:txBody>
      </p:sp>
    </p:spTree>
    <p:extLst>
      <p:ext uri="{BB962C8B-B14F-4D97-AF65-F5344CB8AC3E}">
        <p14:creationId xmlns:p14="http://schemas.microsoft.com/office/powerpoint/2010/main" val="1967957213"/>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emplate>Facet</Template>
  <TotalTime>424</TotalTime>
  <Words>5321</Words>
  <Application>Microsoft Office PowerPoint</Application>
  <PresentationFormat>Widescreen</PresentationFormat>
  <Paragraphs>518</Paragraphs>
  <Slides>58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58</vt:i4>
      </vt:variant>
    </vt:vector>
  </HeadingPairs>
  <TitlesOfParts>
    <vt:vector size="62" baseType="lpstr">
      <vt:lpstr>Arial</vt:lpstr>
      <vt:lpstr>Trebuchet MS</vt:lpstr>
      <vt:lpstr>Wingdings 3</vt:lpstr>
      <vt:lpstr>Facet</vt:lpstr>
      <vt:lpstr>PowerPoint Presentation</vt:lpstr>
      <vt:lpstr>Definitions</vt:lpstr>
      <vt:lpstr>Information</vt:lpstr>
      <vt:lpstr>Database and Database System</vt:lpstr>
      <vt:lpstr>Disadvantages of File-Oriented System</vt:lpstr>
      <vt:lpstr>Functions/ Advantages of DBMS</vt:lpstr>
      <vt:lpstr>Difference between File System and Database Management System (DBMS)</vt:lpstr>
      <vt:lpstr>Simplified database system environment</vt:lpstr>
      <vt:lpstr>Database Environment</vt:lpstr>
      <vt:lpstr>Characteristics of Database Approach</vt:lpstr>
      <vt:lpstr>Data Models</vt:lpstr>
      <vt:lpstr>Relational Model</vt:lpstr>
      <vt:lpstr>Entity-Relationship Model</vt:lpstr>
      <vt:lpstr>Data dictionary</vt:lpstr>
      <vt:lpstr>Information stored in Data Dictionary are:</vt:lpstr>
      <vt:lpstr>PowerPoint Presentation</vt:lpstr>
      <vt:lpstr>Types of Data Dictionary</vt:lpstr>
      <vt:lpstr>Difference between active and passive data dictionaries</vt:lpstr>
      <vt:lpstr>Database Users</vt:lpstr>
      <vt:lpstr>Database Administrator</vt:lpstr>
      <vt:lpstr>Navie User </vt:lpstr>
      <vt:lpstr>Application programmers </vt:lpstr>
      <vt:lpstr>Sophisticated users </vt:lpstr>
      <vt:lpstr>Specialized Users</vt:lpstr>
      <vt:lpstr>Database Architecture</vt:lpstr>
      <vt:lpstr>PowerPoint Presentation</vt:lpstr>
      <vt:lpstr>1-Tier Architecture</vt:lpstr>
      <vt:lpstr>2-Tier Architecture</vt:lpstr>
      <vt:lpstr>PowerPoint Presentation</vt:lpstr>
      <vt:lpstr>3-Tier Architecture</vt:lpstr>
      <vt:lpstr>PowerPoint Presentation</vt:lpstr>
      <vt:lpstr>Three Level ANSI-SPARC Database Architecture</vt:lpstr>
      <vt:lpstr>Internal level or Storage level</vt:lpstr>
      <vt:lpstr>Conceptual Level or Logical level</vt:lpstr>
      <vt:lpstr>External Level or View level</vt:lpstr>
      <vt:lpstr>Advantages of Using Three-Tier Architecture</vt:lpstr>
      <vt:lpstr>Data Independence</vt:lpstr>
      <vt:lpstr>Logical data independence</vt:lpstr>
      <vt:lpstr> Physical Data Independence</vt:lpstr>
      <vt:lpstr>Data Abstraction</vt:lpstr>
      <vt:lpstr>Mapping</vt:lpstr>
      <vt:lpstr>Relational Vs. Non Relational DBMS</vt:lpstr>
      <vt:lpstr>Benefits of using RDBMS</vt:lpstr>
      <vt:lpstr>Benefits of using RDBMS</vt:lpstr>
      <vt:lpstr>Types of Databases </vt:lpstr>
      <vt:lpstr>Components of DBMS</vt:lpstr>
      <vt:lpstr>DBMS Languages</vt:lpstr>
      <vt:lpstr>DDL – Data Definition Language</vt:lpstr>
      <vt:lpstr>DML – Data Manipulation Language</vt:lpstr>
      <vt:lpstr>DCL – Data Control Language</vt:lpstr>
      <vt:lpstr>Traditional RDBMS</vt:lpstr>
      <vt:lpstr>NoSQL</vt:lpstr>
      <vt:lpstr>Types of NoSQL Databases:</vt:lpstr>
      <vt:lpstr>When is NoSQL Used? </vt:lpstr>
      <vt:lpstr>NewSQL</vt:lpstr>
      <vt:lpstr>Key Features of NewSQL: </vt:lpstr>
      <vt:lpstr>Popular NewSQL Databases</vt:lpstr>
      <vt:lpstr>Comparison: RDBMS vs NoSQL vs NewSQL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Chudasama Vishal</dc:creator>
  <cp:lastModifiedBy>Chudasama Vishal</cp:lastModifiedBy>
  <cp:revision>11</cp:revision>
  <dcterms:created xsi:type="dcterms:W3CDTF">2025-11-09T03:36:38Z</dcterms:created>
  <dcterms:modified xsi:type="dcterms:W3CDTF">2025-11-09T11:16:28Z</dcterms:modified>
</cp:coreProperties>
</file>