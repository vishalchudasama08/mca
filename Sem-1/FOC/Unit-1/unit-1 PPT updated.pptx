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76" r:id="rId2"/>
    <p:sldId id="256" r:id="rId3"/>
    <p:sldId id="257" r:id="rId4"/>
    <p:sldId id="258" r:id="rId5"/>
    <p:sldId id="259" r:id="rId6"/>
    <p:sldId id="260" r:id="rId7"/>
    <p:sldId id="261" r:id="rId8"/>
    <p:sldId id="317" r:id="rId9"/>
    <p:sldId id="316" r:id="rId10"/>
    <p:sldId id="262" r:id="rId11"/>
    <p:sldId id="266" r:id="rId12"/>
    <p:sldId id="295" r:id="rId13"/>
    <p:sldId id="296" r:id="rId14"/>
    <p:sldId id="264" r:id="rId15"/>
    <p:sldId id="297" r:id="rId16"/>
    <p:sldId id="298" r:id="rId17"/>
    <p:sldId id="421" r:id="rId18"/>
    <p:sldId id="420" r:id="rId19"/>
    <p:sldId id="301" r:id="rId20"/>
    <p:sldId id="302" r:id="rId21"/>
    <p:sldId id="300" r:id="rId22"/>
    <p:sldId id="318" r:id="rId23"/>
    <p:sldId id="319" r:id="rId24"/>
    <p:sldId id="320" r:id="rId25"/>
    <p:sldId id="321" r:id="rId26"/>
    <p:sldId id="322" r:id="rId27"/>
    <p:sldId id="323" r:id="rId28"/>
    <p:sldId id="324" r:id="rId29"/>
    <p:sldId id="325" r:id="rId30"/>
    <p:sldId id="422" r:id="rId31"/>
    <p:sldId id="326" r:id="rId32"/>
    <p:sldId id="327" r:id="rId33"/>
    <p:sldId id="328" r:id="rId34"/>
    <p:sldId id="358" r:id="rId35"/>
    <p:sldId id="423" r:id="rId36"/>
    <p:sldId id="329" r:id="rId37"/>
    <p:sldId id="424" r:id="rId38"/>
    <p:sldId id="425" r:id="rId39"/>
    <p:sldId id="360" r:id="rId40"/>
    <p:sldId id="330" r:id="rId41"/>
    <p:sldId id="331" r:id="rId42"/>
    <p:sldId id="332" r:id="rId43"/>
    <p:sldId id="333" r:id="rId44"/>
    <p:sldId id="361" r:id="rId45"/>
    <p:sldId id="334" r:id="rId46"/>
    <p:sldId id="362" r:id="rId47"/>
    <p:sldId id="336" r:id="rId48"/>
    <p:sldId id="337" r:id="rId49"/>
    <p:sldId id="338" r:id="rId50"/>
    <p:sldId id="339" r:id="rId51"/>
    <p:sldId id="277" r:id="rId52"/>
    <p:sldId id="363" r:id="rId53"/>
    <p:sldId id="364" r:id="rId54"/>
    <p:sldId id="365" r:id="rId55"/>
    <p:sldId id="278" r:id="rId56"/>
    <p:sldId id="279" r:id="rId57"/>
    <p:sldId id="280" r:id="rId58"/>
    <p:sldId id="366" r:id="rId59"/>
    <p:sldId id="281" r:id="rId60"/>
    <p:sldId id="282" r:id="rId61"/>
    <p:sldId id="367" r:id="rId62"/>
    <p:sldId id="340" r:id="rId63"/>
    <p:sldId id="369" r:id="rId64"/>
    <p:sldId id="374" r:id="rId65"/>
    <p:sldId id="370" r:id="rId66"/>
    <p:sldId id="371" r:id="rId67"/>
    <p:sldId id="372" r:id="rId68"/>
    <p:sldId id="373" r:id="rId69"/>
    <p:sldId id="368" r:id="rId70"/>
    <p:sldId id="341" r:id="rId71"/>
    <p:sldId id="342" r:id="rId72"/>
    <p:sldId id="375" r:id="rId73"/>
    <p:sldId id="343" r:id="rId74"/>
    <p:sldId id="376" r:id="rId75"/>
    <p:sldId id="344" r:id="rId76"/>
    <p:sldId id="377" r:id="rId77"/>
    <p:sldId id="378" r:id="rId78"/>
    <p:sldId id="426" r:id="rId79"/>
    <p:sldId id="345" r:id="rId80"/>
    <p:sldId id="427" r:id="rId81"/>
    <p:sldId id="379" r:id="rId82"/>
    <p:sldId id="428" r:id="rId83"/>
    <p:sldId id="380" r:id="rId84"/>
    <p:sldId id="381" r:id="rId85"/>
    <p:sldId id="382" r:id="rId86"/>
    <p:sldId id="346" r:id="rId87"/>
    <p:sldId id="347" r:id="rId88"/>
    <p:sldId id="384" r:id="rId89"/>
    <p:sldId id="383" r:id="rId90"/>
    <p:sldId id="351" r:id="rId91"/>
    <p:sldId id="352" r:id="rId92"/>
    <p:sldId id="353" r:id="rId93"/>
    <p:sldId id="354" r:id="rId94"/>
    <p:sldId id="355" r:id="rId95"/>
    <p:sldId id="356" r:id="rId96"/>
    <p:sldId id="357" r:id="rId97"/>
    <p:sldId id="385" r:id="rId98"/>
    <p:sldId id="386" r:id="rId99"/>
    <p:sldId id="388" r:id="rId100"/>
    <p:sldId id="387" r:id="rId101"/>
    <p:sldId id="389" r:id="rId102"/>
    <p:sldId id="390" r:id="rId103"/>
    <p:sldId id="391" r:id="rId104"/>
    <p:sldId id="392" r:id="rId105"/>
    <p:sldId id="393" r:id="rId106"/>
    <p:sldId id="394" r:id="rId107"/>
    <p:sldId id="396" r:id="rId108"/>
    <p:sldId id="398" r:id="rId109"/>
    <p:sldId id="399" r:id="rId110"/>
    <p:sldId id="400" r:id="rId111"/>
    <p:sldId id="401" r:id="rId112"/>
    <p:sldId id="348" r:id="rId113"/>
    <p:sldId id="402" r:id="rId114"/>
    <p:sldId id="410" r:id="rId115"/>
    <p:sldId id="409" r:id="rId116"/>
    <p:sldId id="411" r:id="rId117"/>
    <p:sldId id="412" r:id="rId118"/>
    <p:sldId id="413" r:id="rId119"/>
    <p:sldId id="414" r:id="rId120"/>
    <p:sldId id="415" r:id="rId121"/>
    <p:sldId id="416" r:id="rId122"/>
    <p:sldId id="417" r:id="rId123"/>
    <p:sldId id="418" r:id="rId124"/>
    <p:sldId id="419" r:id="rId125"/>
    <p:sldId id="407" r:id="rId126"/>
    <p:sldId id="403" r:id="rId127"/>
    <p:sldId id="404" r:id="rId128"/>
    <p:sldId id="405" r:id="rId1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03" autoAdjust="0"/>
    <p:restoredTop sz="92101" autoAdjust="0"/>
  </p:normalViewPr>
  <p:slideViewPr>
    <p:cSldViewPr>
      <p:cViewPr varScale="1">
        <p:scale>
          <a:sx n="68" d="100"/>
          <a:sy n="68" d="100"/>
        </p:scale>
        <p:origin x="1524"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slide" Target="slides/slide117.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smtClean="0"/>
              <a:t>Click to edit Master title style</a:t>
            </a:r>
            <a:endParaRPr kumimoji="0" lang="en-US"/>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7" name="Date Placeholder 6"/>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20" name="Footer Placeholder 19"/>
          <p:cNvSpPr>
            <a:spLocks noGrp="1"/>
          </p:cNvSpPr>
          <p:nvPr>
            <p:ph type="ftr" sz="quarter" idx="11"/>
          </p:nvPr>
        </p:nvSpPr>
        <p:spPr/>
        <p:txBody>
          <a:bodyPr/>
          <a:lstStyle/>
          <a:p>
            <a:endParaRPr lang="en-IN"/>
          </a:p>
        </p:txBody>
      </p:sp>
      <p:sp>
        <p:nvSpPr>
          <p:cNvPr id="10" name="Slide Number Placeholder 9"/>
          <p:cNvSpPr>
            <a:spLocks noGrp="1"/>
          </p:cNvSpPr>
          <p:nvPr>
            <p:ph type="sldNum" sz="quarter" idx="12"/>
          </p:nvPr>
        </p:nvSpPr>
        <p:spPr/>
        <p:txBody>
          <a:bodyPr/>
          <a:lstStyle/>
          <a:p>
            <a:fld id="{BF5BDDBE-6AA0-4F21-8209-532C6FAB6768}" type="slidenum">
              <a:rPr lang="en-IN" smtClean="0"/>
              <a:pPr/>
              <a:t>‹#›</a:t>
            </a:fld>
            <a:endParaRPr lang="en-IN"/>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DDBE-6AA0-4F21-8209-532C6FAB6768}" type="slidenum">
              <a:rPr lang="en-IN" smtClean="0"/>
              <a:pPr/>
              <a:t>‹#›</a:t>
            </a:fld>
            <a:endParaRPr lang="en-IN"/>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5BDDBE-6AA0-4F21-8209-532C6FAB6768}" type="slidenum">
              <a:rPr lang="en-IN" smtClean="0"/>
              <a:pPr/>
              <a:t>‹#›</a:t>
            </a:fld>
            <a:endParaRPr lang="en-IN"/>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5BDDBE-6AA0-4F21-8209-532C6FAB6768}" type="slidenum">
              <a:rPr lang="en-IN" smtClean="0"/>
              <a:pPr/>
              <a:t>‹#›</a:t>
            </a:fld>
            <a:endParaRPr lang="en-IN"/>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smtClean="0"/>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3E79DB09-8DC4-418E-881E-E68C8BB6F983}" type="datetimeFigureOut">
              <a:rPr lang="en-US" smtClean="0"/>
              <a:pPr/>
              <a:t>11/10/2022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5BDDBE-6AA0-4F21-8209-532C6FAB6768}"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smtClean="0"/>
              <a:t>Click to edit Master title style</a:t>
            </a:r>
            <a:endParaRPr kumimoji="0" lang="en-US"/>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3E79DB09-8DC4-418E-881E-E68C8BB6F983}" type="datetimeFigureOut">
              <a:rPr lang="en-US" smtClean="0"/>
              <a:pPr/>
              <a:t>11/10/2022</a:t>
            </a:fld>
            <a:endParaRPr lang="en-IN"/>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IN"/>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F5BDDBE-6AA0-4F21-8209-532C6FAB6768}" type="slidenum">
              <a:rPr lang="en-IN" smtClean="0"/>
              <a:pPr/>
              <a:t>‹#›</a:t>
            </a:fld>
            <a:endParaRPr lang="en-IN"/>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28728" y="1500174"/>
            <a:ext cx="7504960" cy="571504"/>
          </a:xfrm>
        </p:spPr>
        <p:txBody>
          <a:bodyPr>
            <a:normAutofit fontScale="90000"/>
          </a:bodyPr>
          <a:lstStyle/>
          <a:p>
            <a:r>
              <a:rPr lang="en-US" dirty="0" smtClean="0"/>
              <a:t>Topics to be covered</a:t>
            </a:r>
            <a:endParaRPr lang="en-IN" dirty="0"/>
          </a:p>
        </p:txBody>
      </p:sp>
      <p:sp>
        <p:nvSpPr>
          <p:cNvPr id="3" name="Content Placeholder 2"/>
          <p:cNvSpPr>
            <a:spLocks noGrp="1"/>
          </p:cNvSpPr>
          <p:nvPr>
            <p:ph idx="1"/>
          </p:nvPr>
        </p:nvSpPr>
        <p:spPr>
          <a:xfrm>
            <a:off x="1428728" y="2428868"/>
            <a:ext cx="7504960" cy="3819532"/>
          </a:xfrm>
        </p:spPr>
        <p:txBody>
          <a:bodyPr>
            <a:normAutofit/>
          </a:bodyPr>
          <a:lstStyle/>
          <a:p>
            <a:r>
              <a:rPr lang="en-US" dirty="0" smtClean="0"/>
              <a:t>Definition of Computer</a:t>
            </a:r>
          </a:p>
          <a:p>
            <a:r>
              <a:rPr lang="en-US" dirty="0" smtClean="0"/>
              <a:t>Application of Computer</a:t>
            </a:r>
          </a:p>
          <a:p>
            <a:r>
              <a:rPr lang="en-US" dirty="0"/>
              <a:t>Peripheral </a:t>
            </a:r>
            <a:r>
              <a:rPr lang="en-US" dirty="0" smtClean="0"/>
              <a:t>devices</a:t>
            </a:r>
            <a:endParaRPr lang="en-US" dirty="0"/>
          </a:p>
          <a:p>
            <a:r>
              <a:rPr lang="en-US" dirty="0" smtClean="0"/>
              <a:t>Architecture of Computer</a:t>
            </a:r>
          </a:p>
          <a:p>
            <a:r>
              <a:rPr lang="en-US" dirty="0" smtClean="0"/>
              <a:t>Basic Components of Computer</a:t>
            </a:r>
          </a:p>
          <a:p>
            <a:r>
              <a:rPr lang="en-US" dirty="0" smtClean="0"/>
              <a:t>Types of Data Storage</a:t>
            </a:r>
            <a:endParaRPr lang="en-IN" dirty="0"/>
          </a:p>
        </p:txBody>
      </p:sp>
      <p:pic>
        <p:nvPicPr>
          <p:cNvPr id="1026" name="Picture 2"/>
          <p:cNvPicPr>
            <a:picLocks noChangeAspect="1" noChangeArrowheads="1"/>
          </p:cNvPicPr>
          <p:nvPr/>
        </p:nvPicPr>
        <p:blipFill>
          <a:blip r:embed="rId2"/>
          <a:srcRect/>
          <a:stretch>
            <a:fillRect/>
          </a:stretch>
        </p:blipFill>
        <p:spPr bwMode="auto">
          <a:xfrm>
            <a:off x="1142976" y="0"/>
            <a:ext cx="7500958" cy="135729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71538" y="0"/>
            <a:ext cx="7767662" cy="1285860"/>
          </a:xfrm>
        </p:spPr>
        <p:txBody>
          <a:bodyPr/>
          <a:lstStyle/>
          <a:p>
            <a:r>
              <a:rPr lang="en-US" b="1" dirty="0" smtClean="0"/>
              <a:t>Computer</a:t>
            </a:r>
            <a:endParaRPr lang="en-IN" dirty="0"/>
          </a:p>
        </p:txBody>
      </p:sp>
      <p:sp>
        <p:nvSpPr>
          <p:cNvPr id="3" name="Subtitle 2"/>
          <p:cNvSpPr>
            <a:spLocks noGrp="1"/>
          </p:cNvSpPr>
          <p:nvPr>
            <p:ph type="subTitle" idx="1"/>
          </p:nvPr>
        </p:nvSpPr>
        <p:spPr>
          <a:xfrm>
            <a:off x="999004" y="1844824"/>
            <a:ext cx="7839100" cy="1752600"/>
          </a:xfrm>
        </p:spPr>
        <p:txBody>
          <a:bodyPr>
            <a:noAutofit/>
          </a:bodyPr>
          <a:lstStyle/>
          <a:p>
            <a:pPr lvl="0"/>
            <a:r>
              <a:rPr lang="en-US" sz="2800" dirty="0" smtClean="0"/>
              <a:t>A </a:t>
            </a:r>
            <a:r>
              <a:rPr lang="en-US" sz="2800" b="1" dirty="0" smtClean="0"/>
              <a:t>computer</a:t>
            </a:r>
            <a:r>
              <a:rPr lang="en-US" sz="2800" dirty="0" smtClean="0"/>
              <a:t> is a machine that can be instructed to carryout </a:t>
            </a:r>
            <a:r>
              <a:rPr lang="en-US" sz="3200" dirty="0" smtClean="0"/>
              <a:t>sequences </a:t>
            </a:r>
            <a:r>
              <a:rPr lang="en-US" sz="2800" dirty="0" smtClean="0"/>
              <a:t>of arithmetic or logical  </a:t>
            </a:r>
            <a:r>
              <a:rPr lang="en-US" sz="2800" dirty="0"/>
              <a:t> </a:t>
            </a:r>
            <a:endParaRPr lang="en-US" sz="2800" dirty="0" smtClean="0"/>
          </a:p>
          <a:p>
            <a:pPr lvl="0"/>
            <a:r>
              <a:rPr lang="en-US" sz="2800" dirty="0" smtClean="0"/>
              <a:t>operations automatically via computer programming. </a:t>
            </a:r>
          </a:p>
          <a:p>
            <a:pPr lvl="0"/>
            <a:r>
              <a:rPr lang="en-US" sz="2800" dirty="0" smtClean="0"/>
              <a:t>                                  OR</a:t>
            </a:r>
          </a:p>
          <a:p>
            <a:pPr lvl="0"/>
            <a:r>
              <a:rPr lang="en-IN" sz="2800" dirty="0"/>
              <a:t>A computer is a machine or device that performs processes, calculations and operations based on instructions provided by a software or hardware program</a:t>
            </a:r>
            <a:r>
              <a:rPr lang="en-IN" sz="2800" dirty="0" smtClean="0"/>
              <a:t>.</a:t>
            </a:r>
          </a:p>
          <a:p>
            <a:pPr marL="484632" lvl="0" indent="-457200">
              <a:buFont typeface="Arial" panose="020B0604020202020204" pitchFamily="34" charset="0"/>
              <a:buChar char="•"/>
            </a:pPr>
            <a:r>
              <a:rPr lang="en-IN" sz="2800" dirty="0" smtClean="0"/>
              <a:t> </a:t>
            </a:r>
            <a:r>
              <a:rPr lang="en-IN" sz="2800" dirty="0"/>
              <a:t>It has the ability to accept data (input), process it, and then produce outputs.</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Applications of Computer</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US" b="1" dirty="0" smtClean="0"/>
              <a:t>Home</a:t>
            </a:r>
            <a:endParaRPr lang="en-IN" b="1" dirty="0" smtClean="0"/>
          </a:p>
          <a:p>
            <a:r>
              <a:rPr lang="en-US" dirty="0" smtClean="0"/>
              <a:t>online bill payment</a:t>
            </a:r>
          </a:p>
          <a:p>
            <a:r>
              <a:rPr lang="en-US" dirty="0" smtClean="0"/>
              <a:t>watching movies or shows at home</a:t>
            </a:r>
          </a:p>
          <a:p>
            <a:r>
              <a:rPr lang="en-US" dirty="0" smtClean="0"/>
              <a:t>home tutoring</a:t>
            </a:r>
          </a:p>
          <a:p>
            <a:r>
              <a:rPr lang="en-US" dirty="0" smtClean="0"/>
              <a:t>social media access</a:t>
            </a:r>
          </a:p>
          <a:p>
            <a:r>
              <a:rPr lang="en-US" dirty="0" smtClean="0"/>
              <a:t> playing games</a:t>
            </a:r>
          </a:p>
          <a:p>
            <a:r>
              <a:rPr lang="en-US" dirty="0" smtClean="0"/>
              <a:t> internet access, etc. </a:t>
            </a:r>
          </a:p>
          <a:p>
            <a:pPr>
              <a:buNone/>
            </a:pPr>
            <a:r>
              <a:rPr lang="en-US" b="1" dirty="0" smtClean="0"/>
              <a:t>Industry</a:t>
            </a:r>
          </a:p>
          <a:p>
            <a:r>
              <a:rPr lang="en-US" dirty="0" smtClean="0"/>
              <a:t>managing inventory</a:t>
            </a:r>
          </a:p>
          <a:p>
            <a:r>
              <a:rPr lang="en-US" dirty="0" smtClean="0"/>
              <a:t>designing purpose</a:t>
            </a:r>
          </a:p>
          <a:p>
            <a:r>
              <a:rPr lang="en-US" dirty="0" smtClean="0"/>
              <a:t>interior designing</a:t>
            </a:r>
          </a:p>
          <a:p>
            <a:r>
              <a:rPr lang="en-US" dirty="0" smtClean="0"/>
              <a:t>video conferencing</a:t>
            </a:r>
          </a:p>
          <a:p>
            <a:r>
              <a:rPr lang="en-US" dirty="0" smtClean="0"/>
              <a:t>Online marketing</a:t>
            </a:r>
            <a:endParaRPr lang="en-IN" b="1" dirty="0" smtClean="0"/>
          </a:p>
          <a:p>
            <a:pPr>
              <a:buNone/>
            </a:pPr>
            <a:endParaRPr lang="en-US" dirty="0" smtClean="0"/>
          </a:p>
          <a:p>
            <a:pPr>
              <a:buNone/>
            </a:pPr>
            <a:endParaRPr lang="en-US" b="1" dirty="0" smtClean="0"/>
          </a:p>
          <a:p>
            <a:endParaRPr lang="en-IN"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55000" lnSpcReduction="20000"/>
          </a:bodyPr>
          <a:lstStyle/>
          <a:p>
            <a:pPr>
              <a:buNone/>
            </a:pPr>
            <a:r>
              <a:rPr lang="en-US" b="1" dirty="0" smtClean="0"/>
              <a:t>Medical Field</a:t>
            </a:r>
            <a:endParaRPr lang="en-IN" b="1" dirty="0" smtClean="0"/>
          </a:p>
          <a:p>
            <a:r>
              <a:rPr lang="en-US" dirty="0" smtClean="0"/>
              <a:t>database of patients’ history</a:t>
            </a:r>
          </a:p>
          <a:p>
            <a:r>
              <a:rPr lang="en-US" dirty="0" smtClean="0"/>
              <a:t>Diagnosis</a:t>
            </a:r>
          </a:p>
          <a:p>
            <a:r>
              <a:rPr lang="en-US" dirty="0" smtClean="0"/>
              <a:t>X-rays</a:t>
            </a:r>
          </a:p>
          <a:p>
            <a:r>
              <a:rPr lang="en-US" dirty="0" smtClean="0"/>
              <a:t>live monitoring of patients</a:t>
            </a:r>
          </a:p>
          <a:p>
            <a:r>
              <a:rPr lang="en-US" dirty="0" smtClean="0"/>
              <a:t>Surgeons nowadays use robotic surgical devices </a:t>
            </a:r>
          </a:p>
          <a:p>
            <a:pPr>
              <a:buNone/>
            </a:pPr>
            <a:r>
              <a:rPr lang="en-US" b="1" dirty="0" smtClean="0"/>
              <a:t>Entertainment</a:t>
            </a:r>
            <a:endParaRPr lang="en-IN" b="1" dirty="0" smtClean="0"/>
          </a:p>
          <a:p>
            <a:r>
              <a:rPr lang="en-US" dirty="0" smtClean="0"/>
              <a:t>playing games</a:t>
            </a:r>
          </a:p>
          <a:p>
            <a:r>
              <a:rPr lang="en-US" dirty="0" smtClean="0"/>
              <a:t>listening to music</a:t>
            </a:r>
          </a:p>
          <a:p>
            <a:r>
              <a:rPr lang="en-US" dirty="0" smtClean="0"/>
              <a:t>MIDI instruments greatly help people in the entertainment industry in recording music with artificial instruments</a:t>
            </a:r>
          </a:p>
          <a:p>
            <a:r>
              <a:rPr lang="en-US" dirty="0" smtClean="0"/>
              <a:t>Note: </a:t>
            </a:r>
            <a:r>
              <a:rPr lang="en-US" dirty="0"/>
              <a:t>MIDI is an acronym that stands for Musical Instrument Digital Interface. It’s a way to connect devices that make and control sound — such as synthesizers, samplers, and computers — so that they can communicate with each other, using MIDI messages.</a:t>
            </a:r>
            <a:endParaRPr lang="en-US" dirty="0" smtClean="0"/>
          </a:p>
          <a:p>
            <a:r>
              <a:rPr lang="en-US" dirty="0" smtClean="0"/>
              <a:t>Photo editors </a:t>
            </a:r>
            <a:endParaRPr lang="en-IN"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a:buNone/>
            </a:pPr>
            <a:r>
              <a:rPr lang="en-US" b="1" dirty="0" smtClean="0"/>
              <a:t>Education</a:t>
            </a:r>
            <a:endParaRPr lang="en-IN" b="1" dirty="0" smtClean="0"/>
          </a:p>
          <a:p>
            <a:r>
              <a:rPr lang="en-US" dirty="0" smtClean="0"/>
              <a:t>online classes</a:t>
            </a:r>
          </a:p>
          <a:p>
            <a:r>
              <a:rPr lang="en-US" dirty="0" smtClean="0"/>
              <a:t>online examinations</a:t>
            </a:r>
          </a:p>
          <a:p>
            <a:r>
              <a:rPr lang="en-US" dirty="0" smtClean="0"/>
              <a:t>referring e-books</a:t>
            </a:r>
          </a:p>
          <a:p>
            <a:r>
              <a:rPr lang="en-US" dirty="0" smtClean="0"/>
              <a:t>online tutoring</a:t>
            </a:r>
          </a:p>
          <a:p>
            <a:pPr>
              <a:buNone/>
            </a:pPr>
            <a:r>
              <a:rPr lang="en-US" b="1" dirty="0" smtClean="0"/>
              <a:t>Government</a:t>
            </a:r>
          </a:p>
          <a:p>
            <a:r>
              <a:rPr lang="en-US" dirty="0" smtClean="0"/>
              <a:t>computers are used in data processing, maintaining a database of citizens</a:t>
            </a:r>
          </a:p>
          <a:p>
            <a:r>
              <a:rPr lang="en-US" dirty="0" smtClean="0"/>
              <a:t>missile development</a:t>
            </a:r>
          </a:p>
          <a:p>
            <a:r>
              <a:rPr lang="en-US" dirty="0" smtClean="0"/>
              <a:t>Satellites</a:t>
            </a:r>
          </a:p>
          <a:p>
            <a:r>
              <a:rPr lang="en-US" dirty="0" smtClean="0"/>
              <a:t>rocket launches </a:t>
            </a:r>
            <a:endParaRPr lang="en-IN" b="1" dirty="0" smtClean="0"/>
          </a:p>
          <a:p>
            <a:pPr>
              <a:buNone/>
            </a:pPr>
            <a:endParaRPr lang="en-IN"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pPr>
              <a:buNone/>
            </a:pPr>
            <a:r>
              <a:rPr lang="en-US" b="1" dirty="0" smtClean="0"/>
              <a:t>Banking</a:t>
            </a:r>
            <a:endParaRPr lang="en-IN" b="1" dirty="0" smtClean="0"/>
          </a:p>
          <a:p>
            <a:r>
              <a:rPr lang="en-US" dirty="0" smtClean="0"/>
              <a:t>computers are used to store details of customers</a:t>
            </a:r>
          </a:p>
          <a:p>
            <a:r>
              <a:rPr lang="en-US" dirty="0" smtClean="0"/>
              <a:t>conduct transactions-withdrawal and deposit of money through ATMs</a:t>
            </a:r>
          </a:p>
          <a:p>
            <a:pPr>
              <a:buNone/>
            </a:pPr>
            <a:r>
              <a:rPr lang="en-US" b="1" dirty="0" smtClean="0"/>
              <a:t>Business</a:t>
            </a:r>
          </a:p>
          <a:p>
            <a:r>
              <a:rPr lang="en-US" dirty="0" smtClean="0"/>
              <a:t>transaction processing</a:t>
            </a:r>
          </a:p>
          <a:p>
            <a:r>
              <a:rPr lang="en-US" dirty="0" smtClean="0"/>
              <a:t>Investments</a:t>
            </a:r>
          </a:p>
          <a:p>
            <a:r>
              <a:rPr lang="en-US" dirty="0" smtClean="0"/>
              <a:t>Sales</a:t>
            </a:r>
          </a:p>
          <a:p>
            <a:r>
              <a:rPr lang="en-US" dirty="0" smtClean="0"/>
              <a:t>Expenses</a:t>
            </a:r>
          </a:p>
          <a:p>
            <a:r>
              <a:rPr lang="en-US" dirty="0" smtClean="0"/>
              <a:t>markets </a:t>
            </a:r>
          </a:p>
          <a:p>
            <a:pPr>
              <a:buNone/>
            </a:pPr>
            <a:endParaRPr lang="en-IN" b="1" dirty="0" smtClean="0"/>
          </a:p>
          <a:p>
            <a:pPr>
              <a:buNone/>
            </a:pPr>
            <a:endParaRPr lang="en-US" dirty="0" smtClean="0"/>
          </a:p>
          <a:p>
            <a:pPr>
              <a:buNone/>
            </a:pPr>
            <a:endParaRPr lang="en-IN"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a:buNone/>
            </a:pPr>
            <a:r>
              <a:rPr lang="en-US" sz="2400" b="1" dirty="0" smtClean="0"/>
              <a:t>Training</a:t>
            </a:r>
            <a:endParaRPr lang="en-IN" sz="2400" b="1" dirty="0" smtClean="0"/>
          </a:p>
          <a:p>
            <a:r>
              <a:rPr lang="en-US" sz="2400" dirty="0" smtClean="0"/>
              <a:t>Many organizations use computer-based training to train their employees, to save money and improve performance</a:t>
            </a:r>
          </a:p>
          <a:p>
            <a:pPr>
              <a:buNone/>
            </a:pPr>
            <a:r>
              <a:rPr lang="en-US" sz="2400" dirty="0" smtClean="0"/>
              <a:t>Ex-Video conferencing</a:t>
            </a:r>
            <a:endParaRPr lang="en-IN" sz="2400" dirty="0" smtClean="0"/>
          </a:p>
          <a:p>
            <a:pPr>
              <a:buNone/>
            </a:pPr>
            <a:r>
              <a:rPr lang="en-US" sz="2400" b="1" dirty="0" smtClean="0"/>
              <a:t>Science and Engineering</a:t>
            </a:r>
          </a:p>
          <a:p>
            <a:r>
              <a:rPr lang="en-US" sz="2400" dirty="0" smtClean="0"/>
              <a:t>Supercomputers have numerous applications in area of Research and Development (R&amp;D).</a:t>
            </a:r>
          </a:p>
          <a:p>
            <a:r>
              <a:rPr lang="en-US" sz="2400" dirty="0" smtClean="0"/>
              <a:t>Scientists use computers to plot and analyze data to have a better understanding of earthquakes.</a:t>
            </a:r>
            <a:endParaRPr lang="en-IN" sz="2400" dirty="0" smtClean="0"/>
          </a:p>
          <a:p>
            <a:pPr>
              <a:buNone/>
            </a:pPr>
            <a:endParaRPr lang="en-IN" sz="2400" b="1"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device</a:t>
            </a:r>
            <a:endParaRPr lang="en-IN" dirty="0"/>
          </a:p>
        </p:txBody>
      </p:sp>
      <p:sp>
        <p:nvSpPr>
          <p:cNvPr id="4" name="Content Placeholder 3"/>
          <p:cNvSpPr>
            <a:spLocks noGrp="1"/>
          </p:cNvSpPr>
          <p:nvPr>
            <p:ph idx="1"/>
          </p:nvPr>
        </p:nvSpPr>
        <p:spPr/>
        <p:txBody>
          <a:bodyPr>
            <a:normAutofit fontScale="92500" lnSpcReduction="10000"/>
          </a:bodyPr>
          <a:lstStyle/>
          <a:p>
            <a:r>
              <a:rPr lang="en-US" dirty="0" smtClean="0"/>
              <a:t>Keyboard</a:t>
            </a:r>
          </a:p>
          <a:p>
            <a:r>
              <a:rPr lang="en-US" dirty="0" smtClean="0"/>
              <a:t>Mouse</a:t>
            </a:r>
          </a:p>
          <a:p>
            <a:r>
              <a:rPr lang="en-US" dirty="0" smtClean="0"/>
              <a:t>Trackball (computer cursor control device like mouse, </a:t>
            </a:r>
            <a:r>
              <a:rPr lang="en-US" dirty="0"/>
              <a:t> the trackball is an upside-down mouse that rotates in place within a socket</a:t>
            </a:r>
            <a:r>
              <a:rPr lang="en-US" dirty="0" smtClean="0"/>
              <a:t>.)</a:t>
            </a:r>
          </a:p>
          <a:p>
            <a:pPr marL="82296" indent="0">
              <a:buNone/>
            </a:pPr>
            <a:r>
              <a:rPr lang="en-US" sz="4300" dirty="0" smtClean="0">
                <a:solidFill>
                  <a:schemeClr val="tx2">
                    <a:satMod val="130000"/>
                  </a:schemeClr>
                </a:solidFill>
                <a:effectLst>
                  <a:outerShdw blurRad="50000" dist="30000" dir="5400000" algn="tl" rotWithShape="0">
                    <a:srgbClr val="000000">
                      <a:alpha val="30000"/>
                    </a:srgbClr>
                  </a:outerShdw>
                </a:effectLst>
                <a:latin typeface="+mj-lt"/>
                <a:ea typeface="+mj-ea"/>
                <a:cs typeface="+mj-cs"/>
              </a:rPr>
              <a:t>Output Device</a:t>
            </a:r>
          </a:p>
          <a:p>
            <a:r>
              <a:rPr lang="en-US" dirty="0"/>
              <a:t>Monitor</a:t>
            </a:r>
          </a:p>
          <a:p>
            <a:r>
              <a:rPr lang="en-US" dirty="0"/>
              <a:t>Printer</a:t>
            </a:r>
          </a:p>
          <a:p>
            <a:r>
              <a:rPr lang="en-US" dirty="0"/>
              <a:t>Speaker</a:t>
            </a:r>
          </a:p>
          <a:p>
            <a:endParaRPr lang="en-US" dirty="0" smtClean="0"/>
          </a:p>
          <a:p>
            <a:endParaRPr lang="en-IN" dirty="0"/>
          </a:p>
        </p:txBody>
      </p:sp>
    </p:spTree>
    <p:extLst>
      <p:ext uri="{BB962C8B-B14F-4D97-AF65-F5344CB8AC3E}">
        <p14:creationId xmlns:p14="http://schemas.microsoft.com/office/powerpoint/2010/main" val="1960927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Both </a:t>
            </a:r>
            <a:r>
              <a:rPr lang="en-IN" b="1" dirty="0" smtClean="0"/>
              <a:t>Input</a:t>
            </a:r>
            <a:r>
              <a:rPr lang="en-IN" dirty="0" smtClean="0"/>
              <a:t>–</a:t>
            </a:r>
            <a:r>
              <a:rPr lang="en-IN" b="1" dirty="0" smtClean="0"/>
              <a:t>Output </a:t>
            </a:r>
            <a:r>
              <a:rPr lang="en-IN" b="1" dirty="0"/>
              <a:t>Devices</a:t>
            </a:r>
            <a:r>
              <a:rPr lang="en-IN" dirty="0"/>
              <a:t>:</a:t>
            </a:r>
          </a:p>
        </p:txBody>
      </p:sp>
      <p:sp>
        <p:nvSpPr>
          <p:cNvPr id="3" name="Content Placeholder 2"/>
          <p:cNvSpPr>
            <a:spLocks noGrp="1"/>
          </p:cNvSpPr>
          <p:nvPr>
            <p:ph idx="1"/>
          </p:nvPr>
        </p:nvSpPr>
        <p:spPr/>
        <p:txBody>
          <a:bodyPr>
            <a:normAutofit fontScale="92500" lnSpcReduction="20000"/>
          </a:bodyPr>
          <a:lstStyle/>
          <a:p>
            <a:pPr fontAlgn="base"/>
            <a:endParaRPr lang="en-IN" dirty="0"/>
          </a:p>
          <a:p>
            <a:pPr fontAlgn="base"/>
            <a:r>
              <a:rPr lang="en-IN" dirty="0" smtClean="0"/>
              <a:t>Modems (</a:t>
            </a:r>
            <a:r>
              <a:rPr lang="en-US" b="1" dirty="0" smtClean="0"/>
              <a:t>it </a:t>
            </a:r>
            <a:r>
              <a:rPr lang="en-US" b="1" dirty="0"/>
              <a:t>sends data (upload/output) and receives data (download/input</a:t>
            </a:r>
            <a:r>
              <a:rPr lang="en-US" b="1" dirty="0" smtClean="0"/>
              <a:t>)</a:t>
            </a:r>
            <a:endParaRPr lang="en-IN" dirty="0"/>
          </a:p>
          <a:p>
            <a:pPr fontAlgn="base"/>
            <a:r>
              <a:rPr lang="en-IN" dirty="0"/>
              <a:t>Network </a:t>
            </a:r>
            <a:r>
              <a:rPr lang="en-IN" dirty="0" smtClean="0"/>
              <a:t>cards (</a:t>
            </a:r>
            <a:r>
              <a:rPr lang="en-US" dirty="0"/>
              <a:t>The purpose of the network card is to establish a path of communication between the user and the computer. This path works for both sending the data and collecting back the data from the </a:t>
            </a:r>
            <a:r>
              <a:rPr lang="en-US" dirty="0" smtClean="0"/>
              <a:t>computer</a:t>
            </a:r>
            <a:r>
              <a:rPr lang="en-IN" dirty="0" smtClean="0"/>
              <a:t>)</a:t>
            </a:r>
            <a:endParaRPr lang="en-IN" dirty="0"/>
          </a:p>
          <a:p>
            <a:pPr fontAlgn="base"/>
            <a:r>
              <a:rPr lang="en-IN" dirty="0"/>
              <a:t>Touch Screen</a:t>
            </a:r>
          </a:p>
          <a:p>
            <a:pPr fontAlgn="base"/>
            <a:r>
              <a:rPr lang="en-IN" dirty="0" smtClean="0"/>
              <a:t>Headsets </a:t>
            </a:r>
            <a:r>
              <a:rPr lang="en-IN" dirty="0"/>
              <a:t>(Headset consists of Speakers and Microphone</a:t>
            </a:r>
            <a:r>
              <a:rPr lang="en-IN" dirty="0" smtClean="0"/>
              <a:t>.)</a:t>
            </a:r>
            <a:endParaRPr lang="en-IN" dirty="0"/>
          </a:p>
          <a:p>
            <a:pPr marL="82296" indent="0">
              <a:buNone/>
            </a:pPr>
            <a:endParaRPr lang="en-IN" dirty="0"/>
          </a:p>
        </p:txBody>
      </p:sp>
    </p:spTree>
    <p:extLst>
      <p:ext uri="{BB962C8B-B14F-4D97-AF65-F5344CB8AC3E}">
        <p14:creationId xmlns:p14="http://schemas.microsoft.com/office/powerpoint/2010/main" val="33875936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Architecture of computer:</a:t>
            </a:r>
            <a:r>
              <a:rPr lang="en-IN" dirty="0" smtClean="0"/>
              <a:t/>
            </a:r>
            <a:br>
              <a:rPr lang="en-IN" dirty="0" smtClean="0"/>
            </a:br>
            <a:endParaRPr lang="en-IN" dirty="0"/>
          </a:p>
        </p:txBody>
      </p:sp>
      <p:sp>
        <p:nvSpPr>
          <p:cNvPr id="3" name="Content Placeholder 2"/>
          <p:cNvSpPr>
            <a:spLocks noGrp="1"/>
          </p:cNvSpPr>
          <p:nvPr>
            <p:ph idx="1"/>
          </p:nvPr>
        </p:nvSpPr>
        <p:spPr/>
        <p:txBody>
          <a:bodyPr/>
          <a:lstStyle/>
          <a:p>
            <a:pPr>
              <a:buNone/>
            </a:pPr>
            <a:r>
              <a:rPr lang="en-US" dirty="0" smtClean="0"/>
              <a:t>Computer system has five basic units that help the computer to perform operations, which are given below:</a:t>
            </a:r>
            <a:endParaRPr lang="en-IN" dirty="0" smtClean="0"/>
          </a:p>
          <a:p>
            <a:pPr lvl="0"/>
            <a:r>
              <a:rPr lang="en-US" dirty="0" smtClean="0"/>
              <a:t>Input Unit</a:t>
            </a:r>
            <a:endParaRPr lang="en-IN" dirty="0" smtClean="0"/>
          </a:p>
          <a:p>
            <a:pPr lvl="0"/>
            <a:r>
              <a:rPr lang="en-US" dirty="0" smtClean="0"/>
              <a:t>Output Unit</a:t>
            </a:r>
            <a:endParaRPr lang="en-IN" dirty="0" smtClean="0"/>
          </a:p>
          <a:p>
            <a:pPr lvl="0"/>
            <a:r>
              <a:rPr lang="en-US" dirty="0" smtClean="0"/>
              <a:t>Storage Unit</a:t>
            </a:r>
            <a:endParaRPr lang="en-IN" dirty="0" smtClean="0"/>
          </a:p>
          <a:p>
            <a:pPr lvl="0"/>
            <a:r>
              <a:rPr lang="en-US" dirty="0" smtClean="0"/>
              <a:t>Arithmetic Logic Unit</a:t>
            </a:r>
            <a:endParaRPr lang="en-IN" dirty="0" smtClean="0"/>
          </a:p>
          <a:p>
            <a:pPr lvl="0"/>
            <a:r>
              <a:rPr lang="en-US" dirty="0" smtClean="0"/>
              <a:t>Control Unit</a:t>
            </a:r>
            <a:endParaRPr lang="en-IN" dirty="0" smtClean="0"/>
          </a:p>
          <a:p>
            <a:pPr>
              <a:buNone/>
            </a:pPr>
            <a:endParaRPr lang="en-IN"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p:cNvPicPr>
          <p:nvPr>
            <p:ph idx="1"/>
          </p:nvPr>
        </p:nvPicPr>
        <p:blipFill>
          <a:blip r:embed="rId2"/>
          <a:srcRect/>
          <a:stretch>
            <a:fillRect/>
          </a:stretch>
        </p:blipFill>
        <p:spPr bwMode="auto">
          <a:xfrm>
            <a:off x="1142976" y="571480"/>
            <a:ext cx="7500989" cy="578647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Input Unit</a:t>
            </a:r>
            <a:endParaRPr lang="en-IN" dirty="0"/>
          </a:p>
        </p:txBody>
      </p:sp>
      <p:sp>
        <p:nvSpPr>
          <p:cNvPr id="3" name="Content Placeholder 2"/>
          <p:cNvSpPr>
            <a:spLocks noGrp="1"/>
          </p:cNvSpPr>
          <p:nvPr>
            <p:ph idx="1"/>
          </p:nvPr>
        </p:nvSpPr>
        <p:spPr/>
        <p:txBody>
          <a:bodyPr>
            <a:normAutofit/>
          </a:bodyPr>
          <a:lstStyle/>
          <a:p>
            <a:r>
              <a:rPr lang="en-IN" sz="2400" dirty="0"/>
              <a:t>The source program/high level language program/coded information/simply data is fed to a computer through input devices keyboard is a most common </a:t>
            </a:r>
            <a:r>
              <a:rPr lang="en-IN" sz="2400" dirty="0" smtClean="0"/>
              <a:t>type.</a:t>
            </a:r>
          </a:p>
          <a:p>
            <a:pPr marL="365760" lvl="1" indent="-283464">
              <a:spcBef>
                <a:spcPts val="600"/>
              </a:spcBef>
              <a:buSzPct val="80000"/>
              <a:buFont typeface="Wingdings 2"/>
              <a:buChar char=""/>
            </a:pPr>
            <a:r>
              <a:rPr lang="en-IN" sz="2400" dirty="0"/>
              <a:t>Input unit performs following tasks:</a:t>
            </a:r>
          </a:p>
          <a:p>
            <a:pPr lvl="1"/>
            <a:r>
              <a:rPr lang="en-IN" sz="2400" dirty="0"/>
              <a:t>Accept the data and instructions from the outside environment.</a:t>
            </a:r>
          </a:p>
          <a:p>
            <a:pPr lvl="1"/>
            <a:r>
              <a:rPr lang="en-IN" sz="2400" dirty="0"/>
              <a:t>Convert it into machine language.</a:t>
            </a:r>
          </a:p>
          <a:p>
            <a:pPr lvl="1"/>
            <a:r>
              <a:rPr lang="en-IN" sz="2400" dirty="0"/>
              <a:t>Supply the converted data to computer system</a:t>
            </a:r>
            <a:r>
              <a:rPr lang="en-IN" sz="2400" dirty="0" smtClean="0"/>
              <a:t>.</a:t>
            </a:r>
          </a:p>
          <a:p>
            <a:r>
              <a:rPr lang="en-IN" sz="2400" dirty="0" smtClean="0"/>
              <a:t>Example </a:t>
            </a:r>
          </a:p>
          <a:p>
            <a:pPr lvl="1"/>
            <a:r>
              <a:rPr lang="en-IN" sz="2400" dirty="0" smtClean="0"/>
              <a:t>Joysticks</a:t>
            </a:r>
            <a:r>
              <a:rPr lang="en-IN" sz="2400" dirty="0"/>
              <a:t>, trackballs, mouse, scanners </a:t>
            </a:r>
            <a:r>
              <a:rPr lang="en-IN" sz="2400" dirty="0" err="1"/>
              <a:t>etc</a:t>
            </a:r>
            <a:r>
              <a:rPr lang="en-IN" sz="2400" dirty="0"/>
              <a:t> are other input </a:t>
            </a:r>
            <a:r>
              <a:rPr lang="en-IN" sz="2400" dirty="0" smtClean="0"/>
              <a:t>devices</a:t>
            </a:r>
          </a:p>
        </p:txBody>
      </p:sp>
    </p:spTree>
    <p:extLst>
      <p:ext uri="{BB962C8B-B14F-4D97-AF65-F5344CB8AC3E}">
        <p14:creationId xmlns:p14="http://schemas.microsoft.com/office/powerpoint/2010/main" val="2056124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Unit</a:t>
            </a:r>
            <a:endParaRPr lang="en-IN" dirty="0"/>
          </a:p>
        </p:txBody>
      </p:sp>
      <p:sp>
        <p:nvSpPr>
          <p:cNvPr id="3" name="Content Placeholder 2"/>
          <p:cNvSpPr>
            <a:spLocks noGrp="1"/>
          </p:cNvSpPr>
          <p:nvPr>
            <p:ph idx="1"/>
          </p:nvPr>
        </p:nvSpPr>
        <p:spPr/>
        <p:txBody>
          <a:bodyPr/>
          <a:lstStyle/>
          <a:p>
            <a:r>
              <a:rPr lang="en-IN" dirty="0"/>
              <a:t>These actually are the counterparts of input unit</a:t>
            </a:r>
            <a:r>
              <a:rPr lang="en-IN" dirty="0" smtClean="0"/>
              <a:t>.</a:t>
            </a:r>
          </a:p>
          <a:p>
            <a:r>
              <a:rPr lang="en-IN" dirty="0" smtClean="0"/>
              <a:t> </a:t>
            </a:r>
            <a:r>
              <a:rPr lang="en-IN" dirty="0"/>
              <a:t>Its basic function is to send the processed results to the outside </a:t>
            </a:r>
            <a:r>
              <a:rPr lang="en-IN" dirty="0" smtClean="0"/>
              <a:t>world.</a:t>
            </a:r>
          </a:p>
          <a:p>
            <a:r>
              <a:rPr lang="en-IN" dirty="0" smtClean="0"/>
              <a:t>Examples:-</a:t>
            </a:r>
          </a:p>
          <a:p>
            <a:pPr lvl="1"/>
            <a:r>
              <a:rPr lang="en-IN" dirty="0" smtClean="0"/>
              <a:t> </a:t>
            </a:r>
            <a:r>
              <a:rPr lang="en-IN" dirty="0"/>
              <a:t>Printer, speakers, monitor etc.</a:t>
            </a:r>
          </a:p>
        </p:txBody>
      </p:sp>
    </p:spTree>
    <p:extLst>
      <p:ext uri="{BB962C8B-B14F-4D97-AF65-F5344CB8AC3E}">
        <p14:creationId xmlns:p14="http://schemas.microsoft.com/office/powerpoint/2010/main" val="36115964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85728"/>
            <a:ext cx="7647836" cy="5962672"/>
          </a:xfrm>
        </p:spPr>
        <p:txBody>
          <a:bodyPr>
            <a:normAutofit/>
          </a:bodyPr>
          <a:lstStyle/>
          <a:p>
            <a:pPr>
              <a:buNone/>
            </a:pPr>
            <a:r>
              <a:rPr lang="en-US" b="1" dirty="0" smtClean="0"/>
              <a:t>Storage Unit</a:t>
            </a:r>
            <a:endParaRPr lang="en-IN" b="1" dirty="0" smtClean="0"/>
          </a:p>
          <a:p>
            <a:r>
              <a:rPr lang="en-US" dirty="0" smtClean="0"/>
              <a:t>This unit holds the data and instructions. It also stores the intermediate results before these are sent to the output devices. It also stores the data for later use.</a:t>
            </a:r>
            <a:endParaRPr lang="en-IN" dirty="0"/>
          </a:p>
          <a:p>
            <a:r>
              <a:rPr lang="en-US" dirty="0" smtClean="0"/>
              <a:t>The storage unit of a computer system can be divided into two categories:</a:t>
            </a:r>
          </a:p>
          <a:p>
            <a:pPr marL="649224" lvl="2" indent="0">
              <a:buNone/>
            </a:pPr>
            <a:r>
              <a:rPr lang="en-US" b="1" dirty="0"/>
              <a:t>1</a:t>
            </a:r>
            <a:r>
              <a:rPr lang="en-US" b="1" dirty="0" smtClean="0"/>
              <a:t>. Primary Storage</a:t>
            </a:r>
          </a:p>
          <a:p>
            <a:pPr marL="649224" lvl="2" indent="0">
              <a:buNone/>
            </a:pPr>
            <a:r>
              <a:rPr lang="en-US" b="1" dirty="0" smtClean="0"/>
              <a:t>2.Secondary Storage</a:t>
            </a:r>
            <a:endParaRPr lang="en-IN" b="1" dirty="0" smtClean="0"/>
          </a:p>
          <a:p>
            <a:pPr>
              <a:buNone/>
            </a:pPr>
            <a:endParaRPr lang="en-IN" b="1" dirty="0" smtClean="0"/>
          </a:p>
          <a:p>
            <a:pPr>
              <a:buNone/>
            </a:pPr>
            <a:endParaRPr lang="en-IN"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solidFill>
                  <a:schemeClr val="tx1"/>
                </a:solidFill>
              </a:rPr>
              <a:t>Primary Storage: </a:t>
            </a:r>
            <a:endParaRPr lang="en-IN" dirty="0">
              <a:solidFill>
                <a:schemeClr val="tx1"/>
              </a:solidFill>
            </a:endParaRPr>
          </a:p>
        </p:txBody>
      </p:sp>
      <p:sp>
        <p:nvSpPr>
          <p:cNvPr id="3" name="Content Placeholder 2"/>
          <p:cNvSpPr>
            <a:spLocks noGrp="1"/>
          </p:cNvSpPr>
          <p:nvPr>
            <p:ph idx="1"/>
          </p:nvPr>
        </p:nvSpPr>
        <p:spPr/>
        <p:txBody>
          <a:bodyPr>
            <a:normAutofit/>
          </a:bodyPr>
          <a:lstStyle/>
          <a:p>
            <a:pPr lvl="0"/>
            <a:r>
              <a:rPr lang="en-US" dirty="0" smtClean="0"/>
              <a:t>This </a:t>
            </a:r>
            <a:r>
              <a:rPr lang="en-US" dirty="0"/>
              <a:t>memory is used to store the data which is being currently executed. It is used for temporary storage of data. </a:t>
            </a:r>
            <a:endParaRPr lang="en-US" dirty="0" smtClean="0"/>
          </a:p>
          <a:p>
            <a:pPr lvl="0"/>
            <a:r>
              <a:rPr lang="en-US" dirty="0" smtClean="0"/>
              <a:t>The </a:t>
            </a:r>
            <a:r>
              <a:rPr lang="en-US" dirty="0"/>
              <a:t>data is lost, when the computer is switched off. </a:t>
            </a:r>
            <a:endParaRPr lang="en-US" dirty="0" smtClean="0"/>
          </a:p>
          <a:p>
            <a:pPr lvl="0"/>
            <a:r>
              <a:rPr lang="en-US" dirty="0" smtClean="0"/>
              <a:t>RAM </a:t>
            </a:r>
            <a:r>
              <a:rPr lang="en-US" dirty="0"/>
              <a:t>is used as primary storage memory</a:t>
            </a:r>
            <a:r>
              <a:rPr lang="en-US" dirty="0" smtClean="0"/>
              <a:t>.</a:t>
            </a:r>
            <a:endParaRPr lang="en-IN" dirty="0"/>
          </a:p>
        </p:txBody>
      </p:sp>
    </p:spTree>
    <p:extLst>
      <p:ext uri="{BB962C8B-B14F-4D97-AF65-F5344CB8AC3E}">
        <p14:creationId xmlns:p14="http://schemas.microsoft.com/office/powerpoint/2010/main" val="940919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Secondary</a:t>
            </a:r>
            <a:r>
              <a:rPr lang="en-US" dirty="0">
                <a:solidFill>
                  <a:srgbClr val="FF0000"/>
                </a:solidFill>
              </a:rPr>
              <a:t> </a:t>
            </a:r>
            <a:r>
              <a:rPr lang="en-US" dirty="0">
                <a:solidFill>
                  <a:schemeClr val="tx1"/>
                </a:solidFill>
              </a:rPr>
              <a:t>Storage</a:t>
            </a:r>
            <a:r>
              <a:rPr lang="en-US" dirty="0"/>
              <a:t>:</a:t>
            </a:r>
            <a:endParaRPr lang="en-IN" dirty="0"/>
          </a:p>
        </p:txBody>
      </p:sp>
      <p:sp>
        <p:nvSpPr>
          <p:cNvPr id="3" name="Content Placeholder 2"/>
          <p:cNvSpPr>
            <a:spLocks noGrp="1"/>
          </p:cNvSpPr>
          <p:nvPr>
            <p:ph idx="1"/>
          </p:nvPr>
        </p:nvSpPr>
        <p:spPr/>
        <p:txBody>
          <a:bodyPr/>
          <a:lstStyle/>
          <a:p>
            <a:pPr lvl="0"/>
            <a:r>
              <a:rPr lang="en-US" dirty="0" smtClean="0"/>
              <a:t>The </a:t>
            </a:r>
            <a:r>
              <a:rPr lang="en-US" dirty="0"/>
              <a:t>secondary memory is slower and cheaper than primary memory. </a:t>
            </a:r>
            <a:endParaRPr lang="en-US" dirty="0" smtClean="0"/>
          </a:p>
          <a:p>
            <a:pPr lvl="0"/>
            <a:r>
              <a:rPr lang="en-US" dirty="0" smtClean="0"/>
              <a:t>It </a:t>
            </a:r>
            <a:r>
              <a:rPr lang="en-US" dirty="0"/>
              <a:t>is used for permanent storage of </a:t>
            </a:r>
            <a:r>
              <a:rPr lang="en-US" dirty="0" smtClean="0"/>
              <a:t>data.</a:t>
            </a:r>
          </a:p>
          <a:p>
            <a:pPr lvl="0"/>
            <a:r>
              <a:rPr lang="fr-FR" dirty="0" err="1"/>
              <a:t>Examples</a:t>
            </a:r>
            <a:r>
              <a:rPr lang="fr-FR" dirty="0"/>
              <a:t>: </a:t>
            </a:r>
            <a:r>
              <a:rPr lang="fr-FR" dirty="0" smtClean="0"/>
              <a:t>-</a:t>
            </a:r>
          </a:p>
          <a:p>
            <a:pPr lvl="1"/>
            <a:r>
              <a:rPr lang="fr-FR" dirty="0" smtClean="0"/>
              <a:t> </a:t>
            </a:r>
            <a:r>
              <a:rPr lang="fr-FR" dirty="0" err="1"/>
              <a:t>Magnetic</a:t>
            </a:r>
            <a:r>
              <a:rPr lang="fr-FR" dirty="0"/>
              <a:t> </a:t>
            </a:r>
            <a:r>
              <a:rPr lang="fr-FR" dirty="0" err="1"/>
              <a:t>disks</a:t>
            </a:r>
            <a:r>
              <a:rPr lang="fr-FR" dirty="0"/>
              <a:t> &amp; tapes, </a:t>
            </a:r>
            <a:r>
              <a:rPr lang="fr-FR" dirty="0" err="1"/>
              <a:t>optical</a:t>
            </a:r>
            <a:r>
              <a:rPr lang="fr-FR" dirty="0"/>
              <a:t> </a:t>
            </a:r>
            <a:r>
              <a:rPr lang="fr-FR" dirty="0" err="1"/>
              <a:t>disks</a:t>
            </a:r>
            <a:r>
              <a:rPr lang="fr-FR" dirty="0"/>
              <a:t> (</a:t>
            </a:r>
            <a:r>
              <a:rPr lang="fr-FR" dirty="0" err="1"/>
              <a:t>ie</a:t>
            </a:r>
            <a:r>
              <a:rPr lang="fr-FR" dirty="0"/>
              <a:t> CD-</a:t>
            </a:r>
            <a:r>
              <a:rPr lang="fr-FR" dirty="0" err="1"/>
              <a:t>ROM’s</a:t>
            </a:r>
            <a:r>
              <a:rPr lang="fr-FR" dirty="0"/>
              <a:t>), </a:t>
            </a:r>
            <a:r>
              <a:rPr lang="fr-FR" dirty="0" err="1"/>
              <a:t>floppies</a:t>
            </a:r>
            <a:r>
              <a:rPr lang="fr-FR" dirty="0"/>
              <a:t> etc.,</a:t>
            </a:r>
            <a:endParaRPr lang="en-IN" dirty="0"/>
          </a:p>
          <a:p>
            <a:endParaRPr lang="en-IN" dirty="0"/>
          </a:p>
        </p:txBody>
      </p:sp>
    </p:spTree>
    <p:extLst>
      <p:ext uri="{BB962C8B-B14F-4D97-AF65-F5344CB8AC3E}">
        <p14:creationId xmlns:p14="http://schemas.microsoft.com/office/powerpoint/2010/main" val="6736606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85728"/>
            <a:ext cx="7647836" cy="5962672"/>
          </a:xfrm>
        </p:spPr>
        <p:txBody>
          <a:bodyPr>
            <a:normAutofit/>
          </a:bodyPr>
          <a:lstStyle/>
          <a:p>
            <a:pPr>
              <a:buNone/>
            </a:pPr>
            <a:endParaRPr lang="en-IN" b="1" dirty="0" smtClean="0"/>
          </a:p>
          <a:p>
            <a:pPr>
              <a:buNone/>
            </a:pPr>
            <a:endParaRPr lang="en-IN" dirty="0"/>
          </a:p>
        </p:txBody>
      </p:sp>
      <p:pic>
        <p:nvPicPr>
          <p:cNvPr id="2" name="Picture 1"/>
          <p:cNvPicPr>
            <a:picLocks noChangeAspect="1"/>
          </p:cNvPicPr>
          <p:nvPr/>
        </p:nvPicPr>
        <p:blipFill>
          <a:blip r:embed="rId2"/>
          <a:stretch>
            <a:fillRect/>
          </a:stretch>
        </p:blipFill>
        <p:spPr>
          <a:xfrm>
            <a:off x="1043608" y="1268760"/>
            <a:ext cx="8100392" cy="3959385"/>
          </a:xfrm>
          <a:prstGeom prst="rect">
            <a:avLst/>
          </a:prstGeom>
        </p:spPr>
      </p:pic>
    </p:spTree>
    <p:extLst>
      <p:ext uri="{BB962C8B-B14F-4D97-AF65-F5344CB8AC3E}">
        <p14:creationId xmlns:p14="http://schemas.microsoft.com/office/powerpoint/2010/main" val="34460512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85728"/>
            <a:ext cx="7647836" cy="5962672"/>
          </a:xfrm>
        </p:spPr>
        <p:txBody>
          <a:bodyPr>
            <a:normAutofit/>
          </a:bodyPr>
          <a:lstStyle/>
          <a:p>
            <a:pPr>
              <a:buNone/>
            </a:pPr>
            <a:endParaRPr lang="en-IN" b="1" dirty="0" smtClean="0"/>
          </a:p>
          <a:p>
            <a:pPr>
              <a:buNone/>
            </a:pP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2921488731"/>
              </p:ext>
            </p:extLst>
          </p:nvPr>
        </p:nvGraphicFramePr>
        <p:xfrm>
          <a:off x="-1" y="-3"/>
          <a:ext cx="9144000" cy="7231647"/>
        </p:xfrm>
        <a:graphic>
          <a:graphicData uri="http://schemas.openxmlformats.org/drawingml/2006/table">
            <a:tbl>
              <a:tblPr/>
              <a:tblGrid>
                <a:gridCol w="3048000">
                  <a:extLst>
                    <a:ext uri="{9D8B030D-6E8A-4147-A177-3AD203B41FA5}">
                      <a16:colId xmlns="" xmlns:a16="http://schemas.microsoft.com/office/drawing/2014/main" val="673407381"/>
                    </a:ext>
                  </a:extLst>
                </a:gridCol>
                <a:gridCol w="3048000">
                  <a:extLst>
                    <a:ext uri="{9D8B030D-6E8A-4147-A177-3AD203B41FA5}">
                      <a16:colId xmlns="" xmlns:a16="http://schemas.microsoft.com/office/drawing/2014/main" val="1998523418"/>
                    </a:ext>
                  </a:extLst>
                </a:gridCol>
                <a:gridCol w="3048000">
                  <a:extLst>
                    <a:ext uri="{9D8B030D-6E8A-4147-A177-3AD203B41FA5}">
                      <a16:colId xmlns="" xmlns:a16="http://schemas.microsoft.com/office/drawing/2014/main" val="1782235558"/>
                    </a:ext>
                  </a:extLst>
                </a:gridCol>
              </a:tblGrid>
              <a:tr h="563021">
                <a:tc>
                  <a:txBody>
                    <a:bodyPr/>
                    <a:lstStyle/>
                    <a:p>
                      <a:pPr algn="l"/>
                      <a:r>
                        <a:rPr lang="en-IN" sz="1800" b="1" dirty="0">
                          <a:solidFill>
                            <a:srgbClr val="1B2437"/>
                          </a:solidFill>
                          <a:effectLst/>
                        </a:rPr>
                        <a:t>Comparison Parameters</a:t>
                      </a:r>
                      <a:endParaRPr lang="en-IN" sz="1800" b="1" dirty="0">
                        <a:solidFill>
                          <a:srgbClr val="445578"/>
                        </a:solidFill>
                        <a:effectLst/>
                      </a:endParaRPr>
                    </a:p>
                  </a:txBody>
                  <a:tcPr marL="105585" marR="105585" marT="70390" marB="70390" anchor="ctr">
                    <a:lnL>
                      <a:noFill/>
                    </a:lnL>
                    <a:lnR>
                      <a:noFill/>
                    </a:lnR>
                    <a:lnT>
                      <a:noFill/>
                    </a:lnT>
                    <a:lnB w="9525" cap="flat" cmpd="sng" algn="ctr">
                      <a:solidFill>
                        <a:srgbClr val="F5F6F9"/>
                      </a:solidFill>
                      <a:prstDash val="solid"/>
                      <a:round/>
                      <a:headEnd type="none" w="med" len="med"/>
                      <a:tailEnd type="none" w="med" len="med"/>
                    </a:lnB>
                    <a:solidFill>
                      <a:srgbClr val="F5F6F9"/>
                    </a:solidFill>
                  </a:tcPr>
                </a:tc>
                <a:tc>
                  <a:txBody>
                    <a:bodyPr/>
                    <a:lstStyle/>
                    <a:p>
                      <a:pPr algn="l"/>
                      <a:r>
                        <a:rPr lang="en-IN" sz="1800" b="1">
                          <a:solidFill>
                            <a:srgbClr val="1B2437"/>
                          </a:solidFill>
                          <a:effectLst/>
                        </a:rPr>
                        <a:t>Primary Memory</a:t>
                      </a:r>
                      <a:endParaRPr lang="en-IN" sz="1800" b="1">
                        <a:solidFill>
                          <a:srgbClr val="445578"/>
                        </a:solidFill>
                        <a:effectLst/>
                      </a:endParaRPr>
                    </a:p>
                  </a:txBody>
                  <a:tcPr marL="105585" marR="105585" marT="70390" marB="70390" anchor="ctr">
                    <a:lnL>
                      <a:noFill/>
                    </a:lnL>
                    <a:lnR>
                      <a:noFill/>
                    </a:lnR>
                    <a:lnT>
                      <a:noFill/>
                    </a:lnT>
                    <a:lnB w="9525" cap="flat" cmpd="sng" algn="ctr">
                      <a:solidFill>
                        <a:srgbClr val="F5F6F9"/>
                      </a:solidFill>
                      <a:prstDash val="solid"/>
                      <a:round/>
                      <a:headEnd type="none" w="med" len="med"/>
                      <a:tailEnd type="none" w="med" len="med"/>
                    </a:lnB>
                    <a:solidFill>
                      <a:srgbClr val="F5F6F9"/>
                    </a:solidFill>
                  </a:tcPr>
                </a:tc>
                <a:tc>
                  <a:txBody>
                    <a:bodyPr/>
                    <a:lstStyle/>
                    <a:p>
                      <a:pPr algn="l"/>
                      <a:r>
                        <a:rPr lang="en-IN" sz="1800" b="1">
                          <a:solidFill>
                            <a:srgbClr val="1B2437"/>
                          </a:solidFill>
                          <a:effectLst/>
                        </a:rPr>
                        <a:t>Secondary Memory</a:t>
                      </a:r>
                      <a:endParaRPr lang="en-IN" sz="1800" b="1">
                        <a:solidFill>
                          <a:srgbClr val="445578"/>
                        </a:solidFill>
                        <a:effectLst/>
                      </a:endParaRPr>
                    </a:p>
                  </a:txBody>
                  <a:tcPr marL="105585" marR="105585" marT="70390" marB="70390" anchor="ctr">
                    <a:lnL>
                      <a:noFill/>
                    </a:lnL>
                    <a:lnR>
                      <a:noFill/>
                    </a:lnR>
                    <a:lnT>
                      <a:noFill/>
                    </a:lnT>
                    <a:lnB w="9525" cap="flat" cmpd="sng" algn="ctr">
                      <a:solidFill>
                        <a:srgbClr val="F5F6F9"/>
                      </a:solidFill>
                      <a:prstDash val="solid"/>
                      <a:round/>
                      <a:headEnd type="none" w="med" len="med"/>
                      <a:tailEnd type="none" w="med" len="med"/>
                    </a:lnB>
                    <a:solidFill>
                      <a:srgbClr val="F5F6F9"/>
                    </a:solidFill>
                  </a:tcPr>
                </a:tc>
                <a:extLst>
                  <a:ext uri="{0D108BD9-81ED-4DB2-BD59-A6C34878D82A}">
                    <a16:rowId xmlns="" xmlns:a16="http://schemas.microsoft.com/office/drawing/2014/main" val="1027213753"/>
                  </a:ext>
                </a:extLst>
              </a:tr>
              <a:tr h="963570">
                <a:tc>
                  <a:txBody>
                    <a:bodyPr/>
                    <a:lstStyle/>
                    <a:p>
                      <a:r>
                        <a:rPr lang="en-IN" sz="1800" b="0">
                          <a:solidFill>
                            <a:srgbClr val="445578"/>
                          </a:solidFill>
                          <a:effectLst/>
                        </a:rPr>
                        <a:t>Storage validity</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Primary memory is the main memory and stores data temporarily.</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Secondary memory is the external memory and stores data permanently.</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2965898031"/>
                  </a:ext>
                </a:extLst>
              </a:tr>
              <a:tr h="743992">
                <a:tc>
                  <a:txBody>
                    <a:bodyPr/>
                    <a:lstStyle/>
                    <a:p>
                      <a:r>
                        <a:rPr lang="en-IN" sz="1800" b="0">
                          <a:solidFill>
                            <a:srgbClr val="445578"/>
                          </a:solidFill>
                          <a:effectLst/>
                        </a:rPr>
                        <a:t>Access</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The CPU can directly access the data.</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The CPU cannot directly access the data.</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3315965413"/>
                  </a:ext>
                </a:extLst>
              </a:tr>
              <a:tr h="963570">
                <a:tc>
                  <a:txBody>
                    <a:bodyPr/>
                    <a:lstStyle/>
                    <a:p>
                      <a:r>
                        <a:rPr lang="en-IN" sz="1800" b="0">
                          <a:solidFill>
                            <a:srgbClr val="445578"/>
                          </a:solidFill>
                          <a:effectLst/>
                        </a:rPr>
                        <a:t>Volatility</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Primary memory is volatile. It loses data in case of a power outage.</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Secondary memory is non-volatile, and data is stored even during a power failure.</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4175760670"/>
                  </a:ext>
                </a:extLst>
              </a:tr>
              <a:tr h="1105934">
                <a:tc>
                  <a:txBody>
                    <a:bodyPr/>
                    <a:lstStyle/>
                    <a:p>
                      <a:r>
                        <a:rPr lang="en-IN" sz="1800" b="0">
                          <a:solidFill>
                            <a:srgbClr val="445578"/>
                          </a:solidFill>
                          <a:effectLst/>
                        </a:rPr>
                        <a:t>Storage </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dirty="0">
                          <a:solidFill>
                            <a:srgbClr val="445578"/>
                          </a:solidFill>
                          <a:effectLst/>
                        </a:rPr>
                        <a:t>Data is stored inside costly semiconductor chips.</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Data is stored on external hardware devices like hard drives, floppy disks, etc.</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1573808311"/>
                  </a:ext>
                </a:extLst>
              </a:tr>
              <a:tr h="1512113">
                <a:tc>
                  <a:txBody>
                    <a:bodyPr/>
                    <a:lstStyle/>
                    <a:p>
                      <a:r>
                        <a:rPr lang="en-IN" sz="1800" b="0">
                          <a:solidFill>
                            <a:srgbClr val="445578"/>
                          </a:solidFill>
                          <a:effectLst/>
                        </a:rPr>
                        <a:t>Division</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It can be divided into RAM and ROM </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They do not have such a classification. Secondary memories are permanent storage devices like CDs, DVDs, etc.</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1738721758"/>
                  </a:ext>
                </a:extLst>
              </a:tr>
              <a:tr h="415027">
                <a:tc>
                  <a:txBody>
                    <a:bodyPr/>
                    <a:lstStyle/>
                    <a:p>
                      <a:r>
                        <a:rPr lang="en-IN" sz="1800" b="0">
                          <a:solidFill>
                            <a:srgbClr val="445578"/>
                          </a:solidFill>
                          <a:effectLst/>
                        </a:rPr>
                        <a:t>Speed</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IN" sz="1800" b="0">
                          <a:solidFill>
                            <a:srgbClr val="445578"/>
                          </a:solidFill>
                          <a:effectLst/>
                        </a:rPr>
                        <a:t>Faster </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IN" sz="1800" b="0">
                          <a:solidFill>
                            <a:srgbClr val="445578"/>
                          </a:solidFill>
                          <a:effectLst/>
                        </a:rPr>
                        <a:t>Slower</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1779093749"/>
                  </a:ext>
                </a:extLst>
              </a:tr>
              <a:tr h="963570">
                <a:tc>
                  <a:txBody>
                    <a:bodyPr/>
                    <a:lstStyle/>
                    <a:p>
                      <a:r>
                        <a:rPr lang="en-IN" sz="1800" b="0">
                          <a:solidFill>
                            <a:srgbClr val="445578"/>
                          </a:solidFill>
                          <a:effectLst/>
                        </a:rPr>
                        <a:t>Stored data</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a:solidFill>
                            <a:srgbClr val="445578"/>
                          </a:solidFill>
                          <a:effectLst/>
                        </a:rPr>
                        <a:t>It saves the data that the computer is currently using.</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tc>
                  <a:txBody>
                    <a:bodyPr/>
                    <a:lstStyle/>
                    <a:p>
                      <a:r>
                        <a:rPr lang="en-US" sz="1800" b="0" dirty="0">
                          <a:solidFill>
                            <a:srgbClr val="445578"/>
                          </a:solidFill>
                          <a:effectLst/>
                        </a:rPr>
                        <a:t>It can save various types of data in various formats and huge sizes.</a:t>
                      </a:r>
                    </a:p>
                  </a:txBody>
                  <a:tcPr marL="105585" marR="105585" marT="70390" marB="70390" anchor="ctr">
                    <a:lnL w="9525" cap="flat" cmpd="sng" algn="ctr">
                      <a:solidFill>
                        <a:srgbClr val="F5F6F9"/>
                      </a:solidFill>
                      <a:prstDash val="solid"/>
                      <a:round/>
                      <a:headEnd type="none" w="med" len="med"/>
                      <a:tailEnd type="none" w="med" len="med"/>
                    </a:lnL>
                    <a:lnR w="9525" cap="flat" cmpd="sng" algn="ctr">
                      <a:solidFill>
                        <a:srgbClr val="F5F6F9"/>
                      </a:solidFill>
                      <a:prstDash val="solid"/>
                      <a:round/>
                      <a:headEnd type="none" w="med" len="med"/>
                      <a:tailEnd type="none" w="med" len="med"/>
                    </a:lnR>
                    <a:lnT w="9525" cap="flat" cmpd="sng" algn="ctr">
                      <a:solidFill>
                        <a:srgbClr val="F5F6F9"/>
                      </a:solidFill>
                      <a:prstDash val="solid"/>
                      <a:round/>
                      <a:headEnd type="none" w="med" len="med"/>
                      <a:tailEnd type="none" w="med" len="med"/>
                    </a:lnT>
                    <a:lnB w="9525" cap="flat" cmpd="sng" algn="ctr">
                      <a:solidFill>
                        <a:srgbClr val="F5F6F9"/>
                      </a:solidFill>
                      <a:prstDash val="solid"/>
                      <a:round/>
                      <a:headEnd type="none" w="med" len="med"/>
                      <a:tailEnd type="none" w="med" len="med"/>
                    </a:lnB>
                    <a:solidFill>
                      <a:srgbClr val="FFFFFF"/>
                    </a:solidFill>
                  </a:tcPr>
                </a:tc>
                <a:extLst>
                  <a:ext uri="{0D108BD9-81ED-4DB2-BD59-A6C34878D82A}">
                    <a16:rowId xmlns="" xmlns:a16="http://schemas.microsoft.com/office/drawing/2014/main" val="1256311082"/>
                  </a:ext>
                </a:extLst>
              </a:tr>
            </a:tbl>
          </a:graphicData>
        </a:graphic>
      </p:graphicFrame>
    </p:spTree>
    <p:extLst>
      <p:ext uri="{BB962C8B-B14F-4D97-AF65-F5344CB8AC3E}">
        <p14:creationId xmlns:p14="http://schemas.microsoft.com/office/powerpoint/2010/main" val="14796085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214290"/>
            <a:ext cx="7576398" cy="6034110"/>
          </a:xfrm>
        </p:spPr>
        <p:txBody>
          <a:bodyPr>
            <a:normAutofit/>
          </a:bodyPr>
          <a:lstStyle/>
          <a:p>
            <a:pPr>
              <a:buNone/>
            </a:pPr>
            <a:r>
              <a:rPr lang="en-US" b="1" dirty="0" smtClean="0"/>
              <a:t>Arithmetic Logical Unit</a:t>
            </a:r>
          </a:p>
          <a:p>
            <a:r>
              <a:rPr lang="en-US" sz="2400" dirty="0" smtClean="0"/>
              <a:t>All the calculations are performed in ALU of the computer system. </a:t>
            </a:r>
            <a:endParaRPr lang="en-US" sz="2400" dirty="0"/>
          </a:p>
          <a:p>
            <a:r>
              <a:rPr lang="en-US" sz="2400" dirty="0" smtClean="0"/>
              <a:t>The ALU can perform basic operations such as addition, subtraction, division, multiplication etc. </a:t>
            </a:r>
          </a:p>
          <a:p>
            <a:r>
              <a:rPr lang="en-US" sz="2400" dirty="0" smtClean="0"/>
              <a:t>Whenever calculations are required, the control unit transfers the data from storage unit to ALU. When the operations are done, the result is transferred back to the storage unit.</a:t>
            </a:r>
          </a:p>
          <a:p>
            <a:endParaRPr lang="en-IN" sz="2400" dirty="0"/>
          </a:p>
        </p:txBody>
      </p:sp>
    </p:spTree>
    <p:extLst>
      <p:ext uri="{BB962C8B-B14F-4D97-AF65-F5344CB8AC3E}">
        <p14:creationId xmlns:p14="http://schemas.microsoft.com/office/powerpoint/2010/main" val="308409925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Control </a:t>
            </a:r>
            <a:r>
              <a:rPr lang="en-US" b="1" dirty="0" smtClean="0"/>
              <a:t>Unit</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It </a:t>
            </a:r>
            <a:r>
              <a:rPr lang="en-US" dirty="0"/>
              <a:t>controls all other units of the computer. It controls the flow of data and instructions to and from the storage unit to ALU. </a:t>
            </a:r>
            <a:endParaRPr lang="en-US" dirty="0" smtClean="0"/>
          </a:p>
          <a:p>
            <a:r>
              <a:rPr lang="en-US" dirty="0" smtClean="0"/>
              <a:t>Thus </a:t>
            </a:r>
            <a:r>
              <a:rPr lang="en-US" dirty="0"/>
              <a:t>it is also known as central </a:t>
            </a:r>
            <a:r>
              <a:rPr lang="en-US" b="1" dirty="0"/>
              <a:t>nervous system </a:t>
            </a:r>
            <a:r>
              <a:rPr lang="en-US" dirty="0"/>
              <a:t>of the computer</a:t>
            </a:r>
            <a:r>
              <a:rPr lang="en-US" dirty="0" smtClean="0"/>
              <a:t>.</a:t>
            </a:r>
          </a:p>
          <a:p>
            <a:r>
              <a:rPr lang="en-US" dirty="0" smtClean="0"/>
              <a:t>The </a:t>
            </a:r>
            <a:r>
              <a:rPr lang="en-US" dirty="0"/>
              <a:t>main function of a control unit is to fetch the data from the main memory, determine the devices and the operations involved with it, and produce control signals to execute the operations.</a:t>
            </a:r>
          </a:p>
          <a:p>
            <a:endParaRPr lang="en-IN" dirty="0"/>
          </a:p>
          <a:p>
            <a:pPr>
              <a:buNone/>
            </a:pPr>
            <a:endParaRPr lang="en-IN" dirty="0"/>
          </a:p>
        </p:txBody>
      </p:sp>
    </p:spTree>
    <p:extLst>
      <p:ext uri="{BB962C8B-B14F-4D97-AF65-F5344CB8AC3E}">
        <p14:creationId xmlns:p14="http://schemas.microsoft.com/office/powerpoint/2010/main" val="16296769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CPU(</a:t>
            </a:r>
            <a:r>
              <a:rPr lang="en-US" sz="4400" dirty="0"/>
              <a:t>Central Processing </a:t>
            </a:r>
            <a:r>
              <a:rPr lang="en-US" sz="4400" dirty="0" smtClean="0"/>
              <a:t>Unit)</a:t>
            </a:r>
            <a:r>
              <a:rPr lang="en-IN" b="1" dirty="0"/>
              <a:t/>
            </a:r>
            <a:br>
              <a:rPr lang="en-IN" b="1" dirty="0"/>
            </a:br>
            <a:endParaRPr lang="en-IN" dirty="0"/>
          </a:p>
        </p:txBody>
      </p:sp>
      <p:sp>
        <p:nvSpPr>
          <p:cNvPr id="3" name="Content Placeholder 2"/>
          <p:cNvSpPr>
            <a:spLocks noGrp="1"/>
          </p:cNvSpPr>
          <p:nvPr>
            <p:ph idx="1"/>
          </p:nvPr>
        </p:nvSpPr>
        <p:spPr>
          <a:xfrm>
            <a:off x="1435608" y="908720"/>
            <a:ext cx="7498080" cy="5339680"/>
          </a:xfrm>
        </p:spPr>
        <p:txBody>
          <a:bodyPr>
            <a:normAutofit/>
          </a:bodyPr>
          <a:lstStyle/>
          <a:p>
            <a:r>
              <a:rPr lang="en-US" sz="2400" dirty="0" smtClean="0"/>
              <a:t>The </a:t>
            </a:r>
            <a:r>
              <a:rPr lang="en-US" sz="2400" dirty="0"/>
              <a:t>control unit and ALU are together known as CPU. </a:t>
            </a:r>
            <a:endParaRPr lang="en-US" sz="2400" dirty="0" smtClean="0"/>
          </a:p>
          <a:p>
            <a:r>
              <a:rPr lang="en-US" sz="2400" dirty="0" smtClean="0"/>
              <a:t>CPU </a:t>
            </a:r>
            <a:r>
              <a:rPr lang="en-US" sz="2400" dirty="0"/>
              <a:t>is the brain of computer system. </a:t>
            </a:r>
            <a:endParaRPr lang="en-US" sz="2400" dirty="0" smtClean="0"/>
          </a:p>
          <a:p>
            <a:r>
              <a:rPr lang="en-US" sz="2400" dirty="0" smtClean="0"/>
              <a:t>It </a:t>
            </a:r>
            <a:r>
              <a:rPr lang="en-US" sz="2400" dirty="0"/>
              <a:t>performs following tasks:</a:t>
            </a:r>
            <a:endParaRPr lang="en-IN" sz="2400" dirty="0"/>
          </a:p>
          <a:p>
            <a:pPr lvl="1"/>
            <a:r>
              <a:rPr lang="en-US" sz="2400" dirty="0" smtClean="0"/>
              <a:t>It </a:t>
            </a:r>
            <a:r>
              <a:rPr lang="en-US" sz="2400" dirty="0"/>
              <a:t>performs all operations.</a:t>
            </a:r>
            <a:endParaRPr lang="en-IN" sz="2400" dirty="0"/>
          </a:p>
          <a:p>
            <a:pPr lvl="1"/>
            <a:r>
              <a:rPr lang="en-US" sz="2400" dirty="0"/>
              <a:t>It takes all decisions.</a:t>
            </a:r>
            <a:endParaRPr lang="en-IN" sz="2400" dirty="0"/>
          </a:p>
          <a:p>
            <a:pPr lvl="1"/>
            <a:r>
              <a:rPr lang="en-US" sz="2400" dirty="0"/>
              <a:t>It controls all the units of computer</a:t>
            </a:r>
            <a:r>
              <a:rPr lang="en-US" sz="2400" dirty="0" smtClean="0"/>
              <a:t>.</a:t>
            </a:r>
          </a:p>
          <a:p>
            <a:endParaRPr lang="en-IN" sz="2400" dirty="0"/>
          </a:p>
          <a:p>
            <a:pPr lvl="1"/>
            <a:endParaRPr lang="en-US" sz="2400" dirty="0" smtClean="0"/>
          </a:p>
          <a:p>
            <a:pPr lvl="1"/>
            <a:endParaRPr lang="en-US" sz="2400" dirty="0" smtClean="0"/>
          </a:p>
          <a:p>
            <a:pPr lvl="1"/>
            <a:endParaRPr lang="en-IN" sz="2400" dirty="0"/>
          </a:p>
          <a:p>
            <a:endParaRPr lang="en-IN" dirty="0"/>
          </a:p>
        </p:txBody>
      </p:sp>
    </p:spTree>
    <p:extLst>
      <p:ext uri="{BB962C8B-B14F-4D97-AF65-F5344CB8AC3E}">
        <p14:creationId xmlns:p14="http://schemas.microsoft.com/office/powerpoint/2010/main" val="615355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b="1" dirty="0" err="1" smtClean="0"/>
              <a:t>Peripherel</a:t>
            </a:r>
            <a:r>
              <a:rPr lang="en-US" b="1" dirty="0" smtClean="0"/>
              <a:t> devices:</a:t>
            </a:r>
            <a:r>
              <a:rPr lang="en-IN" dirty="0" smtClean="0"/>
              <a:t/>
            </a:r>
            <a:br>
              <a:rPr lang="en-IN" dirty="0" smtClean="0"/>
            </a:br>
            <a:endParaRPr lang="en-IN" dirty="0"/>
          </a:p>
        </p:txBody>
      </p:sp>
      <p:sp>
        <p:nvSpPr>
          <p:cNvPr id="3" name="Content Placeholder 2"/>
          <p:cNvSpPr>
            <a:spLocks noGrp="1"/>
          </p:cNvSpPr>
          <p:nvPr>
            <p:ph idx="1"/>
          </p:nvPr>
        </p:nvSpPr>
        <p:spPr>
          <a:xfrm>
            <a:off x="1435608" y="980728"/>
            <a:ext cx="7498080" cy="5267672"/>
          </a:xfrm>
        </p:spPr>
        <p:txBody>
          <a:bodyPr>
            <a:normAutofit/>
          </a:bodyPr>
          <a:lstStyle/>
          <a:p>
            <a:r>
              <a:rPr lang="en-US" dirty="0" smtClean="0"/>
              <a:t>Peripheral devices are devices that are attached to a computer system. </a:t>
            </a:r>
          </a:p>
          <a:p>
            <a:r>
              <a:rPr lang="en-US" dirty="0" smtClean="0"/>
              <a:t>Input devices, output devices, and the various storage units are all peripheral devices. These devices increase the basic services provided by the computer system.</a:t>
            </a:r>
          </a:p>
          <a:p>
            <a:r>
              <a:rPr lang="en-US" dirty="0" smtClean="0"/>
              <a:t>Some of the main input devices are discussed here.</a:t>
            </a:r>
            <a:endParaRPr lang="en-IN" dirty="0" smtClean="0"/>
          </a:p>
          <a:p>
            <a:pPr>
              <a:buNone/>
            </a:pPr>
            <a:endParaRPr lang="en-IN" dirty="0"/>
          </a:p>
        </p:txBody>
      </p:sp>
    </p:spTree>
    <p:extLst>
      <p:ext uri="{BB962C8B-B14F-4D97-AF65-F5344CB8AC3E}">
        <p14:creationId xmlns:p14="http://schemas.microsoft.com/office/powerpoint/2010/main" val="32476405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142852"/>
            <a:ext cx="7786710" cy="4357718"/>
          </a:xfrm>
        </p:spPr>
        <p:txBody>
          <a:bodyPr>
            <a:normAutofit fontScale="70000" lnSpcReduction="20000"/>
          </a:bodyPr>
          <a:lstStyle/>
          <a:p>
            <a:r>
              <a:rPr lang="en-US" b="1" dirty="0" smtClean="0"/>
              <a:t>Keyboard</a:t>
            </a:r>
            <a:endParaRPr lang="en-IN" dirty="0" smtClean="0"/>
          </a:p>
          <a:p>
            <a:r>
              <a:rPr lang="en-US" dirty="0" smtClean="0"/>
              <a:t>The keyboard of a computer resembles the keyboard of a typewriter.</a:t>
            </a:r>
          </a:p>
          <a:p>
            <a:r>
              <a:rPr lang="en-US" dirty="0" smtClean="0"/>
              <a:t>It consists of</a:t>
            </a:r>
          </a:p>
          <a:p>
            <a:pPr lvl="1"/>
            <a:r>
              <a:rPr lang="en-US" dirty="0" smtClean="0"/>
              <a:t>alphanumeric keys (letters and numbers), </a:t>
            </a:r>
          </a:p>
          <a:p>
            <a:pPr lvl="1"/>
            <a:r>
              <a:rPr lang="en-US" dirty="0" smtClean="0"/>
              <a:t>punctuation keys (comma, colon, semicolon, etc), </a:t>
            </a:r>
          </a:p>
          <a:p>
            <a:pPr lvl="1"/>
            <a:r>
              <a:rPr lang="en-US" dirty="0" smtClean="0"/>
              <a:t>special keys (control keys, arrow keys, function keys, etc). </a:t>
            </a:r>
          </a:p>
          <a:p>
            <a:r>
              <a:rPr lang="en-US" dirty="0" smtClean="0"/>
              <a:t>These keys are placed in the ‘Q-W-E-R-T-Y' layout, similar to those in a typewriter. </a:t>
            </a:r>
          </a:p>
          <a:p>
            <a:r>
              <a:rPr lang="en-US" dirty="0" smtClean="0"/>
              <a:t>When a key is pressed, electronic signals are generated. A keyboard encoder</a:t>
            </a:r>
            <a:r>
              <a:rPr lang="en-US" dirty="0"/>
              <a:t>(also called keyboard controller)</a:t>
            </a:r>
            <a:r>
              <a:rPr lang="en-US" dirty="0" smtClean="0"/>
              <a:t> detects these signals and sends them to the CPU. </a:t>
            </a:r>
          </a:p>
          <a:p>
            <a:r>
              <a:rPr lang="en-US" dirty="0" smtClean="0"/>
              <a:t>The most popular keyboard is the one with 101 keys.</a:t>
            </a:r>
            <a:endParaRPr lang="en-IN" dirty="0" smtClean="0"/>
          </a:p>
          <a:p>
            <a:endParaRPr lang="en-IN" dirty="0"/>
          </a:p>
        </p:txBody>
      </p:sp>
      <p:pic>
        <p:nvPicPr>
          <p:cNvPr id="4" name="Picture 2"/>
          <p:cNvPicPr>
            <a:picLocks noChangeAspect="1" noChangeArrowheads="1"/>
          </p:cNvPicPr>
          <p:nvPr/>
        </p:nvPicPr>
        <p:blipFill>
          <a:blip r:embed="rId2"/>
          <a:srcRect/>
          <a:stretch>
            <a:fillRect/>
          </a:stretch>
        </p:blipFill>
        <p:spPr bwMode="auto">
          <a:xfrm>
            <a:off x="1259632" y="4293095"/>
            <a:ext cx="7884368" cy="2545081"/>
          </a:xfrm>
          <a:prstGeom prst="rect">
            <a:avLst/>
          </a:prstGeom>
          <a:noFill/>
          <a:ln w="9525">
            <a:noFill/>
            <a:miter lim="800000"/>
            <a:headEnd/>
            <a:tailEnd/>
          </a:ln>
          <a:effectLst/>
        </p:spPr>
      </p:pic>
    </p:spTree>
    <p:extLst>
      <p:ext uri="{BB962C8B-B14F-4D97-AF65-F5344CB8AC3E}">
        <p14:creationId xmlns:p14="http://schemas.microsoft.com/office/powerpoint/2010/main" val="12942743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14414" y="0"/>
            <a:ext cx="7719274" cy="2714620"/>
          </a:xfrm>
        </p:spPr>
        <p:txBody>
          <a:bodyPr>
            <a:normAutofit fontScale="77500" lnSpcReduction="20000"/>
          </a:bodyPr>
          <a:lstStyle/>
          <a:p>
            <a:pPr>
              <a:buNone/>
            </a:pPr>
            <a:r>
              <a:rPr lang="en-US" b="1" dirty="0" smtClean="0"/>
              <a:t>Mouse</a:t>
            </a:r>
            <a:endParaRPr lang="en-IN" dirty="0" smtClean="0"/>
          </a:p>
          <a:p>
            <a:r>
              <a:rPr lang="en-US" dirty="0" smtClean="0"/>
              <a:t>The mouse is a handheld pointing device that controls the movement of the cursor or pointer on the monitor or the display screen.</a:t>
            </a:r>
          </a:p>
          <a:p>
            <a:r>
              <a:rPr lang="en-US" dirty="0" smtClean="0"/>
              <a:t> It is connected to the computer system through a cable. A mouse has one to four buttons (usually two or three) and can be used for clicking on an icon, selecting a text or an object, dragging the selected items, etc.</a:t>
            </a:r>
            <a:endParaRPr lang="en-IN" dirty="0"/>
          </a:p>
        </p:txBody>
      </p:sp>
      <p:pic>
        <p:nvPicPr>
          <p:cNvPr id="1027" name="Picture 3"/>
          <p:cNvPicPr>
            <a:picLocks noChangeAspect="1" noChangeArrowheads="1"/>
          </p:cNvPicPr>
          <p:nvPr/>
        </p:nvPicPr>
        <p:blipFill>
          <a:blip r:embed="rId2"/>
          <a:srcRect/>
          <a:stretch>
            <a:fillRect/>
          </a:stretch>
        </p:blipFill>
        <p:spPr bwMode="auto">
          <a:xfrm>
            <a:off x="1357290" y="3000372"/>
            <a:ext cx="7572428" cy="3643338"/>
          </a:xfrm>
          <a:prstGeom prst="rect">
            <a:avLst/>
          </a:prstGeom>
          <a:noFill/>
          <a:ln w="9525">
            <a:noFill/>
            <a:miter lim="800000"/>
            <a:headEnd/>
            <a:tailEnd/>
          </a:ln>
          <a:effectLst/>
        </p:spPr>
      </p:pic>
    </p:spTree>
    <p:extLst>
      <p:ext uri="{BB962C8B-B14F-4D97-AF65-F5344CB8AC3E}">
        <p14:creationId xmlns:p14="http://schemas.microsoft.com/office/powerpoint/2010/main" val="23553322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Touchpad</a:t>
            </a:r>
            <a:r>
              <a:rPr lang="en-IN" dirty="0" smtClean="0"/>
              <a:t/>
            </a:r>
            <a:br>
              <a:rPr lang="en-IN" dirty="0" smtClean="0"/>
            </a:br>
            <a:endParaRPr lang="en-IN" dirty="0"/>
          </a:p>
        </p:txBody>
      </p:sp>
      <p:sp>
        <p:nvSpPr>
          <p:cNvPr id="3" name="Content Placeholder 2"/>
          <p:cNvSpPr>
            <a:spLocks noGrp="1"/>
          </p:cNvSpPr>
          <p:nvPr>
            <p:ph idx="1"/>
          </p:nvPr>
        </p:nvSpPr>
        <p:spPr>
          <a:xfrm>
            <a:off x="1435608" y="1052736"/>
            <a:ext cx="7498080" cy="2447702"/>
          </a:xfrm>
        </p:spPr>
        <p:txBody>
          <a:bodyPr>
            <a:normAutofit fontScale="85000" lnSpcReduction="20000"/>
          </a:bodyPr>
          <a:lstStyle/>
          <a:p>
            <a:r>
              <a:rPr lang="en-US" dirty="0" smtClean="0"/>
              <a:t>In most of the laptop computers, the mouse is replaced by a touchpad. </a:t>
            </a:r>
          </a:p>
          <a:p>
            <a:r>
              <a:rPr lang="en-US" dirty="0" smtClean="0"/>
              <a:t>A touchpad is a very small, touch sensitive device that is placed in front of the keyboard.</a:t>
            </a:r>
          </a:p>
          <a:p>
            <a:r>
              <a:rPr lang="en-US" dirty="0" smtClean="0"/>
              <a:t>The movement of a finger placed on the touchpad moves the cursor on the screen. </a:t>
            </a:r>
            <a:endParaRPr lang="en-IN" dirty="0"/>
          </a:p>
        </p:txBody>
      </p:sp>
      <p:pic>
        <p:nvPicPr>
          <p:cNvPr id="2050" name="Picture 2"/>
          <p:cNvPicPr>
            <a:picLocks noChangeAspect="1" noChangeArrowheads="1"/>
          </p:cNvPicPr>
          <p:nvPr/>
        </p:nvPicPr>
        <p:blipFill>
          <a:blip r:embed="rId2"/>
          <a:srcRect/>
          <a:stretch>
            <a:fillRect/>
          </a:stretch>
        </p:blipFill>
        <p:spPr bwMode="auto">
          <a:xfrm>
            <a:off x="2143108" y="4143380"/>
            <a:ext cx="5143536" cy="2071702"/>
          </a:xfrm>
          <a:prstGeom prst="rect">
            <a:avLst/>
          </a:prstGeom>
          <a:noFill/>
          <a:ln w="9525">
            <a:noFill/>
            <a:miter lim="800000"/>
            <a:headEnd/>
            <a:tailEnd/>
          </a:ln>
          <a:effectLst/>
        </p:spPr>
      </p:pic>
    </p:spTree>
    <p:extLst>
      <p:ext uri="{BB962C8B-B14F-4D97-AF65-F5344CB8AC3E}">
        <p14:creationId xmlns:p14="http://schemas.microsoft.com/office/powerpoint/2010/main" val="161902738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Joystick</a:t>
            </a:r>
            <a:r>
              <a:rPr lang="en-IN" dirty="0"/>
              <a:t/>
            </a:r>
            <a:br>
              <a:rPr lang="en-IN" dirty="0"/>
            </a:br>
            <a:endParaRPr lang="en-IN" dirty="0"/>
          </a:p>
        </p:txBody>
      </p:sp>
      <p:sp>
        <p:nvSpPr>
          <p:cNvPr id="3" name="Content Placeholder 2"/>
          <p:cNvSpPr>
            <a:spLocks noGrp="1"/>
          </p:cNvSpPr>
          <p:nvPr>
            <p:ph idx="1"/>
          </p:nvPr>
        </p:nvSpPr>
        <p:spPr>
          <a:xfrm>
            <a:off x="1435608" y="1417638"/>
            <a:ext cx="7498080" cy="2909894"/>
          </a:xfrm>
        </p:spPr>
        <p:txBody>
          <a:bodyPr>
            <a:normAutofit fontScale="85000" lnSpcReduction="10000"/>
          </a:bodyPr>
          <a:lstStyle/>
          <a:p>
            <a:r>
              <a:rPr lang="en-US" dirty="0" smtClean="0"/>
              <a:t>A joystick is a controlling device which is most often used for playing computer games or controlling robots in the manufacturing industry. </a:t>
            </a:r>
          </a:p>
          <a:p>
            <a:r>
              <a:rPr lang="en-US" dirty="0" smtClean="0"/>
              <a:t>It has a gearshift like lever which is used to move the pointer or cursor on the screen. Generally, joysticks are two dimensional with two sides of movement. </a:t>
            </a:r>
            <a:endParaRPr lang="en-IN" dirty="0"/>
          </a:p>
        </p:txBody>
      </p:sp>
      <p:pic>
        <p:nvPicPr>
          <p:cNvPr id="3075" name="Picture 3"/>
          <p:cNvPicPr>
            <a:picLocks noChangeAspect="1" noChangeArrowheads="1"/>
          </p:cNvPicPr>
          <p:nvPr/>
        </p:nvPicPr>
        <p:blipFill>
          <a:blip r:embed="rId2"/>
          <a:srcRect/>
          <a:stretch>
            <a:fillRect/>
          </a:stretch>
        </p:blipFill>
        <p:spPr bwMode="auto">
          <a:xfrm>
            <a:off x="4572000" y="4000504"/>
            <a:ext cx="3429024" cy="2857496"/>
          </a:xfrm>
          <a:prstGeom prst="rect">
            <a:avLst/>
          </a:prstGeom>
          <a:noFill/>
          <a:ln w="9525">
            <a:noFill/>
            <a:miter lim="800000"/>
            <a:headEnd/>
            <a:tailEnd/>
          </a:ln>
          <a:effectLst/>
        </p:spPr>
      </p:pic>
    </p:spTree>
    <p:extLst>
      <p:ext uri="{BB962C8B-B14F-4D97-AF65-F5344CB8AC3E}">
        <p14:creationId xmlns:p14="http://schemas.microsoft.com/office/powerpoint/2010/main" val="20383867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Trackball</a:t>
            </a:r>
            <a:endParaRPr lang="en-IN" dirty="0"/>
          </a:p>
        </p:txBody>
      </p:sp>
      <p:sp>
        <p:nvSpPr>
          <p:cNvPr id="3" name="Content Placeholder 2"/>
          <p:cNvSpPr>
            <a:spLocks noGrp="1"/>
          </p:cNvSpPr>
          <p:nvPr>
            <p:ph idx="1"/>
          </p:nvPr>
        </p:nvSpPr>
        <p:spPr>
          <a:xfrm>
            <a:off x="1435608" y="1447800"/>
            <a:ext cx="7498080" cy="2552704"/>
          </a:xfrm>
        </p:spPr>
        <p:txBody>
          <a:bodyPr>
            <a:normAutofit fontScale="77500" lnSpcReduction="20000"/>
          </a:bodyPr>
          <a:lstStyle/>
          <a:p>
            <a:r>
              <a:rPr lang="en-IN" dirty="0"/>
              <a:t> trackball is a computer pointing device which can perform the same functions as a mouse</a:t>
            </a:r>
            <a:r>
              <a:rPr lang="en-IN" dirty="0" smtClean="0"/>
              <a:t>.</a:t>
            </a:r>
          </a:p>
          <a:p>
            <a:r>
              <a:rPr lang="en-IN" dirty="0" smtClean="0"/>
              <a:t> </a:t>
            </a:r>
            <a:r>
              <a:rPr lang="en-IN" dirty="0"/>
              <a:t>Computer mice have small balls inside of them, and when a user moves the mouse, the ball rolls, causing the pointer on the screen to move. With a trackball, the user simply rolls the ball itself using her fingers or thumb, while the body of the device stays in place. </a:t>
            </a:r>
          </a:p>
        </p:txBody>
      </p:sp>
      <p:pic>
        <p:nvPicPr>
          <p:cNvPr id="4099" name="Picture 3"/>
          <p:cNvPicPr>
            <a:picLocks noChangeAspect="1" noChangeArrowheads="1"/>
          </p:cNvPicPr>
          <p:nvPr/>
        </p:nvPicPr>
        <p:blipFill>
          <a:blip r:embed="rId2"/>
          <a:srcRect/>
          <a:stretch>
            <a:fillRect/>
          </a:stretch>
        </p:blipFill>
        <p:spPr bwMode="auto">
          <a:xfrm>
            <a:off x="2000232" y="4214818"/>
            <a:ext cx="5929354" cy="2428892"/>
          </a:xfrm>
          <a:prstGeom prst="rect">
            <a:avLst/>
          </a:prstGeom>
          <a:noFill/>
          <a:ln w="9525">
            <a:noFill/>
            <a:miter lim="800000"/>
            <a:headEnd/>
            <a:tailEnd/>
          </a:ln>
          <a:effectLst/>
        </p:spPr>
      </p:pic>
    </p:spTree>
    <p:extLst>
      <p:ext uri="{BB962C8B-B14F-4D97-AF65-F5344CB8AC3E}">
        <p14:creationId xmlns:p14="http://schemas.microsoft.com/office/powerpoint/2010/main" val="20817261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554956140"/>
              </p:ext>
            </p:extLst>
          </p:nvPr>
        </p:nvGraphicFramePr>
        <p:xfrm>
          <a:off x="1259632" y="116632"/>
          <a:ext cx="7488832" cy="5255375"/>
        </p:xfrm>
        <a:graphic>
          <a:graphicData uri="http://schemas.openxmlformats.org/drawingml/2006/table">
            <a:tbl>
              <a:tblPr/>
              <a:tblGrid>
                <a:gridCol w="432048">
                  <a:extLst>
                    <a:ext uri="{9D8B030D-6E8A-4147-A177-3AD203B41FA5}">
                      <a16:colId xmlns="" xmlns:a16="http://schemas.microsoft.com/office/drawing/2014/main" val="20000"/>
                    </a:ext>
                  </a:extLst>
                </a:gridCol>
                <a:gridCol w="3459486">
                  <a:extLst>
                    <a:ext uri="{9D8B030D-6E8A-4147-A177-3AD203B41FA5}">
                      <a16:colId xmlns="" xmlns:a16="http://schemas.microsoft.com/office/drawing/2014/main" val="20001"/>
                    </a:ext>
                  </a:extLst>
                </a:gridCol>
                <a:gridCol w="3597298">
                  <a:extLst>
                    <a:ext uri="{9D8B030D-6E8A-4147-A177-3AD203B41FA5}">
                      <a16:colId xmlns="" xmlns:a16="http://schemas.microsoft.com/office/drawing/2014/main" val="20002"/>
                    </a:ext>
                  </a:extLst>
                </a:gridCol>
              </a:tblGrid>
              <a:tr h="549578">
                <a:tc gridSpan="3">
                  <a:txBody>
                    <a:bodyPr/>
                    <a:lstStyle/>
                    <a:p>
                      <a:pPr algn="ctr"/>
                      <a:r>
                        <a:rPr lang="en-IN" b="0" dirty="0">
                          <a:solidFill>
                            <a:srgbClr val="FFFFFF"/>
                          </a:solidFill>
                          <a:effectLst/>
                        </a:rPr>
                        <a:t>Difference Between Mouse and Trackball</a:t>
                      </a:r>
                    </a:p>
                  </a:txBody>
                  <a:tcPr marL="76200" marR="76200" marT="76200" marB="762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33AAFF"/>
                    </a:solidFill>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10000"/>
                  </a:ext>
                </a:extLst>
              </a:tr>
              <a:tr h="500509">
                <a:tc>
                  <a:txBody>
                    <a:bodyPr/>
                    <a:lstStyle/>
                    <a:p>
                      <a:pPr algn="ctr"/>
                      <a:endParaRPr lang="en-IN" b="1">
                        <a:effectLst/>
                      </a:endParaRPr>
                    </a:p>
                  </a:txBody>
                  <a:tcPr marT="38100" marB="381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b="1">
                          <a:effectLst/>
                        </a:rPr>
                        <a:t>Mouse</a:t>
                      </a:r>
                      <a:endParaRPr lang="en-IN">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b="1">
                          <a:effectLst/>
                        </a:rPr>
                        <a:t>Trackball</a:t>
                      </a:r>
                      <a:endParaRPr lang="en-IN">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extLst>
                  <a:ext uri="{0D108BD9-81ED-4DB2-BD59-A6C34878D82A}">
                    <a16:rowId xmlns="" xmlns:a16="http://schemas.microsoft.com/office/drawing/2014/main" val="10001"/>
                  </a:ext>
                </a:extLst>
              </a:tr>
              <a:tr h="853809">
                <a:tc>
                  <a:txBody>
                    <a:bodyPr/>
                    <a:lstStyle/>
                    <a:p>
                      <a:pPr algn="ctr"/>
                      <a:r>
                        <a:rPr lang="en-IN" b="1">
                          <a:effectLst/>
                        </a:rPr>
                        <a:t>1.</a:t>
                      </a:r>
                    </a:p>
                  </a:txBody>
                  <a:tcPr marT="38100" marB="381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a:effectLst/>
                        </a:rPr>
                        <a:t>The mouse has to be moved when used.</a:t>
                      </a: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a:effectLst/>
                        </a:rPr>
                        <a:t>The track ball Is stationary.</a:t>
                      </a: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extLst>
                  <a:ext uri="{0D108BD9-81ED-4DB2-BD59-A6C34878D82A}">
                    <a16:rowId xmlns="" xmlns:a16="http://schemas.microsoft.com/office/drawing/2014/main" val="10002"/>
                  </a:ext>
                </a:extLst>
              </a:tr>
              <a:tr h="1560410">
                <a:tc>
                  <a:txBody>
                    <a:bodyPr/>
                    <a:lstStyle/>
                    <a:p>
                      <a:pPr algn="ctr"/>
                      <a:r>
                        <a:rPr lang="en-IN" b="1">
                          <a:effectLst/>
                        </a:rPr>
                        <a:t>2.</a:t>
                      </a:r>
                    </a:p>
                  </a:txBody>
                  <a:tcPr marT="38100" marB="381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a:effectLst/>
                        </a:rPr>
                        <a:t>A mouse consists of a metal or plastic housing or caring, a ball at its base and is rolled on a flat horizontal surface.</a:t>
                      </a: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a:effectLst/>
                        </a:rPr>
                        <a:t>You use a trackball by the rolling the ball with your palm and fingers.</a:t>
                      </a: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853809">
                <a:tc>
                  <a:txBody>
                    <a:bodyPr/>
                    <a:lstStyle/>
                    <a:p>
                      <a:pPr algn="ctr"/>
                      <a:r>
                        <a:rPr lang="en-IN" b="1">
                          <a:effectLst/>
                        </a:rPr>
                        <a:t>3.</a:t>
                      </a:r>
                    </a:p>
                  </a:txBody>
                  <a:tcPr marT="38100" marB="381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kumimoji="0" lang="en-US" b="0" i="0" kern="1200" dirty="0" smtClean="0">
                          <a:solidFill>
                            <a:schemeClr val="tx1"/>
                          </a:solidFill>
                          <a:effectLst/>
                          <a:latin typeface="+mn-lt"/>
                          <a:ea typeface="+mn-ea"/>
                          <a:cs typeface="+mn-cs"/>
                        </a:rPr>
                        <a:t>It is popular among regular users.</a:t>
                      </a:r>
                      <a:endParaRPr lang="en-IN" dirty="0">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kumimoji="0" lang="en-US" b="0" i="0" kern="1200" dirty="0" smtClean="0">
                          <a:solidFill>
                            <a:schemeClr val="tx1"/>
                          </a:solidFill>
                          <a:effectLst/>
                          <a:latin typeface="+mn-lt"/>
                          <a:ea typeface="+mn-ea"/>
                          <a:cs typeface="+mn-cs"/>
                        </a:rPr>
                        <a:t>It is mainly used for industrial purposes.</a:t>
                      </a:r>
                      <a:endParaRPr lang="en-IN" dirty="0">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extLst>
                  <a:ext uri="{0D108BD9-81ED-4DB2-BD59-A6C34878D82A}">
                    <a16:rowId xmlns="" xmlns:a16="http://schemas.microsoft.com/office/drawing/2014/main" val="10004"/>
                  </a:ext>
                </a:extLst>
              </a:tr>
              <a:tr h="804740">
                <a:tc>
                  <a:txBody>
                    <a:bodyPr/>
                    <a:lstStyle/>
                    <a:p>
                      <a:pPr algn="ctr"/>
                      <a:r>
                        <a:rPr lang="en-IN" b="1" dirty="0" smtClean="0">
                          <a:effectLst/>
                        </a:rPr>
                        <a:t>4.</a:t>
                      </a:r>
                      <a:endParaRPr lang="en-IN" b="1" dirty="0">
                        <a:effectLst/>
                      </a:endParaRPr>
                    </a:p>
                  </a:txBody>
                  <a:tcPr marT="38100" marB="3810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dirty="0">
                          <a:effectLst/>
                        </a:rPr>
                        <a:t>Mouse is commonly </a:t>
                      </a:r>
                      <a:r>
                        <a:rPr lang="en-IN" dirty="0" smtClean="0">
                          <a:effectLst/>
                        </a:rPr>
                        <a:t>use.</a:t>
                      </a:r>
                    </a:p>
                    <a:p>
                      <a:pPr algn="l"/>
                      <a:r>
                        <a:rPr kumimoji="0" lang="en-US" b="0" i="0" kern="1200" dirty="0" smtClean="0">
                          <a:solidFill>
                            <a:schemeClr val="tx1"/>
                          </a:solidFill>
                          <a:effectLst/>
                          <a:latin typeface="+mn-lt"/>
                          <a:ea typeface="+mn-ea"/>
                          <a:cs typeface="+mn-cs"/>
                        </a:rPr>
                        <a:t>It is less expensive compared to the trackball. </a:t>
                      </a:r>
                      <a:endParaRPr lang="en-IN" dirty="0">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tc>
                  <a:txBody>
                    <a:bodyPr/>
                    <a:lstStyle/>
                    <a:p>
                      <a:pPr algn="l"/>
                      <a:r>
                        <a:rPr lang="en-IN" dirty="0">
                          <a:effectLst/>
                        </a:rPr>
                        <a:t>Trackball is rear use</a:t>
                      </a:r>
                      <a:r>
                        <a:rPr lang="en-IN" dirty="0" smtClean="0">
                          <a:effectLst/>
                        </a:rPr>
                        <a:t>. </a:t>
                      </a:r>
                    </a:p>
                    <a:p>
                      <a:pPr algn="l"/>
                      <a:r>
                        <a:rPr kumimoji="0" lang="en-US" b="0" i="0" kern="1200" smtClean="0">
                          <a:solidFill>
                            <a:schemeClr val="tx1"/>
                          </a:solidFill>
                          <a:effectLst/>
                          <a:latin typeface="+mn-lt"/>
                          <a:ea typeface="+mn-ea"/>
                          <a:cs typeface="+mn-cs"/>
                        </a:rPr>
                        <a:t>It is an expensive input device.</a:t>
                      </a:r>
                      <a:endParaRPr lang="en-IN" dirty="0">
                        <a:effectLst/>
                      </a:endParaRPr>
                    </a:p>
                  </a:txBody>
                  <a:tcPr marL="47625" marT="57150" marB="57150" anchor="ctr">
                    <a:lnL w="9525" cap="flat" cmpd="sng" algn="ctr">
                      <a:solidFill>
                        <a:srgbClr val="505050"/>
                      </a:solidFill>
                      <a:prstDash val="solid"/>
                      <a:round/>
                      <a:headEnd type="none" w="med" len="med"/>
                      <a:tailEnd type="none" w="med" len="med"/>
                    </a:lnL>
                    <a:lnR w="9525" cap="flat" cmpd="sng" algn="ctr">
                      <a:solidFill>
                        <a:srgbClr val="505050"/>
                      </a:solidFill>
                      <a:prstDash val="solid"/>
                      <a:round/>
                      <a:headEnd type="none" w="med" len="med"/>
                      <a:tailEnd type="none" w="med" len="med"/>
                    </a:lnR>
                    <a:lnT w="9525" cap="flat" cmpd="sng" algn="ctr">
                      <a:solidFill>
                        <a:srgbClr val="505050"/>
                      </a:solidFill>
                      <a:prstDash val="solid"/>
                      <a:round/>
                      <a:headEnd type="none" w="med" len="med"/>
                      <a:tailEnd type="none" w="med" len="med"/>
                    </a:lnT>
                    <a:lnB w="9525" cap="flat" cmpd="sng" algn="ctr">
                      <a:solidFill>
                        <a:srgbClr val="505050"/>
                      </a:solidFill>
                      <a:prstDash val="solid"/>
                      <a:round/>
                      <a:headEnd type="none" w="med" len="med"/>
                      <a:tailEnd type="none" w="med" len="med"/>
                    </a:lnB>
                    <a:solidFill>
                      <a:srgbClr val="FFFFFF"/>
                    </a:solidFill>
                  </a:tcPr>
                </a:tc>
                <a:extLst>
                  <a:ext uri="{0D108BD9-81ED-4DB2-BD59-A6C34878D82A}">
                    <a16:rowId xmlns="" xmlns:a16="http://schemas.microsoft.com/office/drawing/2014/main" val="10006"/>
                  </a:ext>
                </a:extLst>
              </a:tr>
            </a:tbl>
          </a:graphicData>
        </a:graphic>
      </p:graphicFrame>
    </p:spTree>
    <p:extLst>
      <p:ext uri="{BB962C8B-B14F-4D97-AF65-F5344CB8AC3E}">
        <p14:creationId xmlns:p14="http://schemas.microsoft.com/office/powerpoint/2010/main" val="215971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Light pen</a:t>
            </a:r>
            <a:r>
              <a:rPr lang="en-IN" dirty="0"/>
              <a:t/>
            </a:r>
            <a:br>
              <a:rPr lang="en-IN" dirty="0"/>
            </a:br>
            <a:endParaRPr lang="en-IN" dirty="0"/>
          </a:p>
        </p:txBody>
      </p:sp>
      <p:sp>
        <p:nvSpPr>
          <p:cNvPr id="3" name="Content Placeholder 2"/>
          <p:cNvSpPr>
            <a:spLocks noGrp="1"/>
          </p:cNvSpPr>
          <p:nvPr>
            <p:ph idx="1"/>
          </p:nvPr>
        </p:nvSpPr>
        <p:spPr>
          <a:xfrm>
            <a:off x="1435608" y="1447800"/>
            <a:ext cx="7498080" cy="4573488"/>
          </a:xfrm>
        </p:spPr>
        <p:txBody>
          <a:bodyPr>
            <a:normAutofit fontScale="62500" lnSpcReduction="20000"/>
          </a:bodyPr>
          <a:lstStyle/>
          <a:p>
            <a:r>
              <a:rPr lang="en-US" sz="4500" dirty="0" smtClean="0"/>
              <a:t>Light pens are pointing devices that resemble pens and are connected to the visual display unit. </a:t>
            </a:r>
          </a:p>
          <a:p>
            <a:r>
              <a:rPr lang="en-US" sz="4500" dirty="0" smtClean="0"/>
              <a:t>Basically light pen used with cathode ray tube monitor.</a:t>
            </a:r>
          </a:p>
          <a:p>
            <a:r>
              <a:rPr lang="en-US" sz="4500" dirty="0" smtClean="0"/>
              <a:t>These devices are used for selecting menu items or for drawing pictures. </a:t>
            </a:r>
          </a:p>
          <a:p>
            <a:r>
              <a:rPr lang="en-US" sz="4500" dirty="0" smtClean="0"/>
              <a:t>A light pen consists of a small tube that contains a photocell and an optical system. When the tip of the pen touches the screen, the photocell sends the corresponding signal to the CPU indicating the screen location.</a:t>
            </a:r>
            <a:endParaRPr lang="en-IN" sz="4500" dirty="0" smtClean="0"/>
          </a:p>
          <a:p>
            <a:pPr>
              <a:buNone/>
            </a:pPr>
            <a:endParaRPr lang="en-IN" dirty="0"/>
          </a:p>
        </p:txBody>
      </p:sp>
    </p:spTree>
    <p:extLst>
      <p:ext uri="{BB962C8B-B14F-4D97-AF65-F5344CB8AC3E}">
        <p14:creationId xmlns:p14="http://schemas.microsoft.com/office/powerpoint/2010/main" val="135831719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Light pen</a:t>
            </a:r>
            <a:r>
              <a:rPr lang="en-IN" dirty="0"/>
              <a:t/>
            </a:r>
            <a:br>
              <a:rPr lang="en-IN" dirty="0"/>
            </a:br>
            <a:endParaRPr lang="en-IN" dirty="0"/>
          </a:p>
        </p:txBody>
      </p:sp>
      <p:pic>
        <p:nvPicPr>
          <p:cNvPr id="5" name="Content Placeholder 4"/>
          <p:cNvPicPr>
            <a:picLocks noGrp="1" noChangeAspect="1"/>
          </p:cNvPicPr>
          <p:nvPr>
            <p:ph idx="1"/>
          </p:nvPr>
        </p:nvPicPr>
        <p:blipFill>
          <a:blip r:embed="rId2"/>
          <a:stretch>
            <a:fillRect/>
          </a:stretch>
        </p:blipFill>
        <p:spPr>
          <a:xfrm>
            <a:off x="2555776" y="846138"/>
            <a:ext cx="4752528" cy="3303105"/>
          </a:xfrm>
          <a:prstGeom prst="rect">
            <a:avLst/>
          </a:prstGeom>
        </p:spPr>
      </p:pic>
      <p:pic>
        <p:nvPicPr>
          <p:cNvPr id="7" name="Picture 6"/>
          <p:cNvPicPr>
            <a:picLocks noChangeAspect="1"/>
          </p:cNvPicPr>
          <p:nvPr/>
        </p:nvPicPr>
        <p:blipFill>
          <a:blip r:embed="rId3"/>
          <a:stretch>
            <a:fillRect/>
          </a:stretch>
        </p:blipFill>
        <p:spPr>
          <a:xfrm>
            <a:off x="1527048" y="4171727"/>
            <a:ext cx="7315200" cy="2524125"/>
          </a:xfrm>
          <a:prstGeom prst="rect">
            <a:avLst/>
          </a:prstGeom>
        </p:spPr>
      </p:pic>
    </p:spTree>
    <p:extLst>
      <p:ext uri="{BB962C8B-B14F-4D97-AF65-F5344CB8AC3E}">
        <p14:creationId xmlns:p14="http://schemas.microsoft.com/office/powerpoint/2010/main" val="420987211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Touch screens</a:t>
            </a:r>
            <a:r>
              <a:rPr lang="en-IN" dirty="0"/>
              <a:t/>
            </a:r>
            <a:br>
              <a:rPr lang="en-IN" dirty="0"/>
            </a:br>
            <a:endParaRPr lang="en-IN" dirty="0"/>
          </a:p>
        </p:txBody>
      </p:sp>
      <p:sp>
        <p:nvSpPr>
          <p:cNvPr id="3" name="Content Placeholder 2"/>
          <p:cNvSpPr>
            <a:spLocks noGrp="1"/>
          </p:cNvSpPr>
          <p:nvPr>
            <p:ph idx="1"/>
          </p:nvPr>
        </p:nvSpPr>
        <p:spPr>
          <a:xfrm>
            <a:off x="1435608" y="1447800"/>
            <a:ext cx="7498080" cy="2838456"/>
          </a:xfrm>
        </p:spPr>
        <p:txBody>
          <a:bodyPr>
            <a:normAutofit/>
          </a:bodyPr>
          <a:lstStyle/>
          <a:p>
            <a:r>
              <a:rPr lang="en-US" dirty="0" smtClean="0"/>
              <a:t>A touch screen is used in place of a keyboard. Touch screens recognize the human touch. Using them, users can point to the selection on the screen using their fingers.</a:t>
            </a:r>
            <a:endParaRPr lang="en-IN" dirty="0" smtClean="0"/>
          </a:p>
          <a:p>
            <a:pPr>
              <a:buNone/>
            </a:pPr>
            <a:endParaRPr lang="en-IN" dirty="0"/>
          </a:p>
        </p:txBody>
      </p:sp>
      <p:pic>
        <p:nvPicPr>
          <p:cNvPr id="6146" name="Picture 2"/>
          <p:cNvPicPr>
            <a:picLocks noChangeAspect="1" noChangeArrowheads="1"/>
          </p:cNvPicPr>
          <p:nvPr/>
        </p:nvPicPr>
        <p:blipFill>
          <a:blip r:embed="rId2"/>
          <a:srcRect/>
          <a:stretch>
            <a:fillRect/>
          </a:stretch>
        </p:blipFill>
        <p:spPr bwMode="auto">
          <a:xfrm>
            <a:off x="3357554" y="4000504"/>
            <a:ext cx="5572164" cy="2643206"/>
          </a:xfrm>
          <a:prstGeom prst="rect">
            <a:avLst/>
          </a:prstGeom>
          <a:noFill/>
          <a:ln w="9525">
            <a:noFill/>
            <a:miter lim="800000"/>
            <a:headEnd/>
            <a:tailEnd/>
          </a:ln>
          <a:effectLst/>
        </p:spPr>
      </p:pic>
    </p:spTree>
    <p:extLst>
      <p:ext uri="{BB962C8B-B14F-4D97-AF65-F5344CB8AC3E}">
        <p14:creationId xmlns:p14="http://schemas.microsoft.com/office/powerpoint/2010/main" val="395272011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Scanners</a:t>
            </a:r>
            <a:r>
              <a:rPr lang="en-IN" dirty="0"/>
              <a:t/>
            </a:r>
            <a:br>
              <a:rPr lang="en-IN" dirty="0"/>
            </a:br>
            <a:endParaRPr lang="en-IN" dirty="0"/>
          </a:p>
        </p:txBody>
      </p:sp>
      <p:sp>
        <p:nvSpPr>
          <p:cNvPr id="3" name="Content Placeholder 2"/>
          <p:cNvSpPr>
            <a:spLocks noGrp="1"/>
          </p:cNvSpPr>
          <p:nvPr>
            <p:ph idx="1"/>
          </p:nvPr>
        </p:nvSpPr>
        <p:spPr>
          <a:xfrm>
            <a:off x="1435608" y="1447800"/>
            <a:ext cx="7498080" cy="2195514"/>
          </a:xfrm>
        </p:spPr>
        <p:txBody>
          <a:bodyPr>
            <a:normAutofit fontScale="92500" lnSpcReduction="20000"/>
          </a:bodyPr>
          <a:lstStyle/>
          <a:p>
            <a:r>
              <a:rPr lang="en-US" dirty="0" smtClean="0"/>
              <a:t>Scanners are devices that are designed to copy anything that is printed on a sheet of paper. </a:t>
            </a:r>
          </a:p>
          <a:p>
            <a:r>
              <a:rPr lang="en-US" dirty="0" smtClean="0"/>
              <a:t>They have the ability to analyze a picture or text and then convert it into a digital image. </a:t>
            </a:r>
            <a:endParaRPr lang="en-IN" dirty="0"/>
          </a:p>
        </p:txBody>
      </p:sp>
      <p:pic>
        <p:nvPicPr>
          <p:cNvPr id="7170" name="Picture 2"/>
          <p:cNvPicPr>
            <a:picLocks noChangeAspect="1" noChangeArrowheads="1"/>
          </p:cNvPicPr>
          <p:nvPr/>
        </p:nvPicPr>
        <p:blipFill>
          <a:blip r:embed="rId2"/>
          <a:srcRect/>
          <a:stretch>
            <a:fillRect/>
          </a:stretch>
        </p:blipFill>
        <p:spPr bwMode="auto">
          <a:xfrm>
            <a:off x="2071670" y="3500438"/>
            <a:ext cx="5357850" cy="3000396"/>
          </a:xfrm>
          <a:prstGeom prst="rect">
            <a:avLst/>
          </a:prstGeom>
          <a:noFill/>
          <a:ln w="9525">
            <a:noFill/>
            <a:miter lim="800000"/>
            <a:headEnd/>
            <a:tailEnd/>
          </a:ln>
          <a:effectLst/>
        </p:spPr>
      </p:pic>
    </p:spTree>
    <p:extLst>
      <p:ext uri="{BB962C8B-B14F-4D97-AF65-F5344CB8AC3E}">
        <p14:creationId xmlns:p14="http://schemas.microsoft.com/office/powerpoint/2010/main" val="300475685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Output Devices</a:t>
            </a:r>
            <a:endParaRPr lang="en-IN" dirty="0"/>
          </a:p>
        </p:txBody>
      </p:sp>
      <p:sp>
        <p:nvSpPr>
          <p:cNvPr id="3" name="Content Placeholder 2"/>
          <p:cNvSpPr>
            <a:spLocks noGrp="1"/>
          </p:cNvSpPr>
          <p:nvPr>
            <p:ph idx="1"/>
          </p:nvPr>
        </p:nvSpPr>
        <p:spPr>
          <a:xfrm>
            <a:off x="1071538" y="1447800"/>
            <a:ext cx="7715304" cy="4800600"/>
          </a:xfrm>
        </p:spPr>
        <p:txBody>
          <a:bodyPr>
            <a:noAutofit/>
          </a:bodyPr>
          <a:lstStyle/>
          <a:p>
            <a:r>
              <a:rPr lang="en-IN" sz="2000" dirty="0" smtClean="0"/>
              <a:t>Computer output devices receive information from the computer, and carry data that has been processed by the computer to the user. </a:t>
            </a:r>
          </a:p>
          <a:p>
            <a:pPr>
              <a:buNone/>
            </a:pPr>
            <a:r>
              <a:rPr lang="en-IN" sz="2000" dirty="0" smtClean="0"/>
              <a:t>Examples of Output Devices:-</a:t>
            </a:r>
          </a:p>
          <a:p>
            <a:pPr marL="596646" indent="-514350">
              <a:buAutoNum type="arabicPeriod"/>
            </a:pPr>
            <a:r>
              <a:rPr lang="en-IN" sz="2000" b="1" dirty="0" smtClean="0"/>
              <a:t>Monitor</a:t>
            </a:r>
            <a:r>
              <a:rPr lang="en-IN" sz="2000" dirty="0" smtClean="0"/>
              <a:t> – </a:t>
            </a:r>
          </a:p>
          <a:p>
            <a:pPr marL="596646" indent="-514350">
              <a:buNone/>
            </a:pPr>
            <a:r>
              <a:rPr lang="en-IN" sz="2000" dirty="0" smtClean="0"/>
              <a:t>       This is the most common computer output device. It creates a visual display by the use of which users can view processed data.  Monitors come in various sizes and resolutions.</a:t>
            </a:r>
          </a:p>
          <a:p>
            <a:pPr>
              <a:buNone/>
            </a:pPr>
            <a:r>
              <a:rPr lang="en-IN" sz="2000" b="1" dirty="0" smtClean="0"/>
              <a:t>Common Types of Monitors</a:t>
            </a:r>
          </a:p>
          <a:p>
            <a:r>
              <a:rPr lang="en-US" sz="2000" dirty="0"/>
              <a:t>CRT stands for Cathode Ray Tube. CRT is a technology used in traditional computer monitors and televisions. The image on CRT display is created by firing electrons from the back of the tube of phosphorus located towards the front of the screen.</a:t>
            </a:r>
          </a:p>
          <a:p>
            <a:r>
              <a:rPr lang="en-US" sz="2000" dirty="0"/>
              <a:t>Once the electron heats the phosphorus, they light up, and they are projected on a screen. The color you view on the screen is produced by a blend of red, blue and green </a:t>
            </a:r>
            <a:r>
              <a:rPr lang="en-US" sz="2000" dirty="0" smtClean="0"/>
              <a:t>light</a:t>
            </a:r>
            <a:r>
              <a:rPr lang="en-US" sz="2000" dirty="0"/>
              <a:t>.</a:t>
            </a:r>
            <a:endParaRPr lang="en-US" sz="2000" dirty="0" smtClean="0"/>
          </a:p>
        </p:txBody>
      </p:sp>
      <p:sp>
        <p:nvSpPr>
          <p:cNvPr id="4" name="AutoShape 2" descr="Image result for cathode ray tube computer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169948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AutoShape 2" descr="Image result for cathode ray tube computer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577 Cathode Ray Tube Monitor Stock Photos, Pictures &amp; Royalty-Free Images -  iStoc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p:cNvPicPr>
            <a:picLocks noChangeAspect="1"/>
          </p:cNvPicPr>
          <p:nvPr/>
        </p:nvPicPr>
        <p:blipFill>
          <a:blip r:embed="rId2"/>
          <a:stretch>
            <a:fillRect/>
          </a:stretch>
        </p:blipFill>
        <p:spPr>
          <a:xfrm>
            <a:off x="4095554" y="1419594"/>
            <a:ext cx="2592288" cy="1725050"/>
          </a:xfrm>
          <a:prstGeom prst="rect">
            <a:avLst/>
          </a:prstGeom>
        </p:spPr>
      </p:pic>
      <p:pic>
        <p:nvPicPr>
          <p:cNvPr id="3074" name="Picture 2" descr="Cathode Ray Tub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9441" y="3429000"/>
            <a:ext cx="7529715" cy="3024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25113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82296" lvl="1" indent="0">
              <a:spcBef>
                <a:spcPts val="600"/>
              </a:spcBef>
              <a:buSzPct val="80000"/>
              <a:buNone/>
            </a:pPr>
            <a:r>
              <a:rPr lang="en-IN" dirty="0" smtClean="0"/>
              <a:t>Flat </a:t>
            </a:r>
            <a:r>
              <a:rPr lang="en-IN" dirty="0"/>
              <a:t>Panel Screen – this makes use of liquid crystals or plasma to produce output. Light is passed through the liquid crystals in order to generate pixels.</a:t>
            </a:r>
          </a:p>
          <a:p>
            <a:endParaRPr lang="en-IN" dirty="0"/>
          </a:p>
        </p:txBody>
      </p:sp>
      <p:sp>
        <p:nvSpPr>
          <p:cNvPr id="4" name="AutoShape 2" descr="Image result for cathode ray tube computer image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6" name="AutoShape 4" descr="577 Cathode Ray Tube Monitor Stock Photos, Pictures &amp; Royalty-Free Images -  iStock"/>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54" name="Picture 6" descr="Flat Screen Computer Monitor Stock Photo - Image of modern, technology:  235967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9952" y="2861556"/>
            <a:ext cx="2664296" cy="3996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70235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Printer</a:t>
            </a:r>
            <a:r>
              <a:rPr lang="en-IN" dirty="0"/>
              <a:t> </a:t>
            </a:r>
          </a:p>
        </p:txBody>
      </p:sp>
      <p:sp>
        <p:nvSpPr>
          <p:cNvPr id="3" name="Content Placeholder 2"/>
          <p:cNvSpPr>
            <a:spLocks noGrp="1"/>
          </p:cNvSpPr>
          <p:nvPr>
            <p:ph idx="1"/>
          </p:nvPr>
        </p:nvSpPr>
        <p:spPr/>
        <p:txBody>
          <a:bodyPr>
            <a:normAutofit fontScale="55000" lnSpcReduction="20000"/>
          </a:bodyPr>
          <a:lstStyle/>
          <a:p>
            <a:r>
              <a:rPr lang="en-IN" sz="3400" dirty="0" smtClean="0"/>
              <a:t>This device generates a hard copy version of processed data, like documents and photographs. The computer transmits the image data to the printer, which then physically recreates the image, typically on paper.</a:t>
            </a:r>
          </a:p>
          <a:p>
            <a:pPr>
              <a:buNone/>
            </a:pPr>
            <a:r>
              <a:rPr lang="en-IN" sz="3400" b="1" dirty="0" smtClean="0"/>
              <a:t>Types of Printers</a:t>
            </a:r>
          </a:p>
          <a:p>
            <a:r>
              <a:rPr lang="en-IN" sz="3400" b="1" dirty="0" smtClean="0"/>
              <a:t>Ink Jet </a:t>
            </a:r>
            <a:r>
              <a:rPr lang="en-IN" sz="3400" dirty="0" smtClean="0"/>
              <a:t>– this kind of printer sprays tiny dots of ink onto a paper to form an image. Cheaper but need to take print out frequently otherwise cartridge will dry and then changing cartridge frequently is costly.</a:t>
            </a:r>
          </a:p>
          <a:p>
            <a:pPr fontAlgn="base"/>
            <a:r>
              <a:rPr lang="en-US" sz="3400" dirty="0" smtClean="0"/>
              <a:t>The </a:t>
            </a:r>
            <a:r>
              <a:rPr lang="en-US" sz="3400" dirty="0"/>
              <a:t>ink in the cartridges of these printers is in liquid form. They have nozzles from which ink is sprayed onto paper and it gets printed. </a:t>
            </a:r>
            <a:endParaRPr lang="en-US" sz="3400" dirty="0" smtClean="0"/>
          </a:p>
          <a:p>
            <a:pPr fontAlgn="base"/>
            <a:r>
              <a:rPr lang="en-US" sz="3400" dirty="0" smtClean="0"/>
              <a:t>The </a:t>
            </a:r>
            <a:r>
              <a:rPr lang="en-US" sz="3400" dirty="0"/>
              <a:t>disadvantage of these type of printers is that if you do not use it for a long time, then the ink in the cartridges gets dry. Then you have to clean it to use it again.</a:t>
            </a:r>
          </a:p>
          <a:p>
            <a:pPr fontAlgn="base"/>
            <a:r>
              <a:rPr lang="en-US" sz="3400" b="1" dirty="0"/>
              <a:t>Example –</a:t>
            </a:r>
            <a:r>
              <a:rPr lang="en-US" sz="3400" dirty="0"/>
              <a:t/>
            </a:r>
            <a:br>
              <a:rPr lang="en-US" sz="3400" dirty="0"/>
            </a:br>
            <a:r>
              <a:rPr lang="en-US" sz="3400" dirty="0"/>
              <a:t>HP Deskjet 1112 printer, Epson L130 single function printer, Epson L361 printer.</a:t>
            </a:r>
          </a:p>
          <a:p>
            <a:endParaRPr lang="en-IN" dirty="0" smtClean="0"/>
          </a:p>
        </p:txBody>
      </p:sp>
    </p:spTree>
    <p:extLst>
      <p:ext uri="{BB962C8B-B14F-4D97-AF65-F5344CB8AC3E}">
        <p14:creationId xmlns:p14="http://schemas.microsoft.com/office/powerpoint/2010/main" val="392355849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Printer</a:t>
            </a:r>
            <a:r>
              <a:rPr lang="en-IN" dirty="0"/>
              <a:t> </a:t>
            </a:r>
          </a:p>
        </p:txBody>
      </p:sp>
      <p:sp>
        <p:nvSpPr>
          <p:cNvPr id="3" name="Content Placeholder 2"/>
          <p:cNvSpPr>
            <a:spLocks noGrp="1"/>
          </p:cNvSpPr>
          <p:nvPr>
            <p:ph idx="1"/>
          </p:nvPr>
        </p:nvSpPr>
        <p:spPr/>
        <p:txBody>
          <a:bodyPr>
            <a:normAutofit fontScale="62500" lnSpcReduction="20000"/>
          </a:bodyPr>
          <a:lstStyle/>
          <a:p>
            <a:r>
              <a:rPr lang="en-IN" sz="3800" b="1" dirty="0" smtClean="0"/>
              <a:t>Laser -</a:t>
            </a:r>
            <a:r>
              <a:rPr lang="en-IN" sz="3800" dirty="0" smtClean="0"/>
              <a:t> </a:t>
            </a:r>
            <a:r>
              <a:rPr lang="en-US" sz="3800" dirty="0" smtClean="0"/>
              <a:t>One </a:t>
            </a:r>
            <a:r>
              <a:rPr lang="en-US" sz="3800" dirty="0"/>
              <a:t>of the big advantages of laser printers is that they don’t require ink. </a:t>
            </a:r>
            <a:endParaRPr lang="en-US" sz="3800" dirty="0" smtClean="0"/>
          </a:p>
          <a:p>
            <a:r>
              <a:rPr lang="en-US" sz="3800" dirty="0" smtClean="0"/>
              <a:t>Instead</a:t>
            </a:r>
            <a:r>
              <a:rPr lang="en-US" sz="3800" dirty="0"/>
              <a:t>, laser printers use toner cartridges. </a:t>
            </a:r>
            <a:endParaRPr lang="en-US" sz="3800" dirty="0" smtClean="0"/>
          </a:p>
          <a:p>
            <a:r>
              <a:rPr lang="en-US" sz="3800" dirty="0" smtClean="0"/>
              <a:t>Toner </a:t>
            </a:r>
            <a:r>
              <a:rPr lang="en-US" sz="3800" dirty="0"/>
              <a:t>is a very fine, dry powdered substance, which comes in cylindrical cartridges. </a:t>
            </a:r>
            <a:endParaRPr lang="en-US" sz="3800" dirty="0" smtClean="0"/>
          </a:p>
          <a:p>
            <a:r>
              <a:rPr lang="en-US" sz="3800" dirty="0" smtClean="0"/>
              <a:t>When </a:t>
            </a:r>
            <a:r>
              <a:rPr lang="en-US" sz="3800" dirty="0"/>
              <a:t>a laser printer produces a document, it’s actually toner on the surface of the final printed page.</a:t>
            </a:r>
          </a:p>
          <a:p>
            <a:r>
              <a:rPr lang="en-US" sz="3800" dirty="0"/>
              <a:t>First, the laser printer reads the electronic data that makes up the information or image that you want to print and beams this onto a photo-sensitive drum. </a:t>
            </a:r>
            <a:endParaRPr lang="en-US" sz="3800" dirty="0" smtClean="0"/>
          </a:p>
          <a:p>
            <a:r>
              <a:rPr lang="en-US" sz="3800" dirty="0" smtClean="0"/>
              <a:t>The </a:t>
            </a:r>
            <a:r>
              <a:rPr lang="en-US" sz="3800" dirty="0"/>
              <a:t>information on the drum is then transferred to paper using static electricity to position tiny particles of powdered toner in the correct pattern. </a:t>
            </a:r>
            <a:endParaRPr lang="en-US" sz="3800" dirty="0" smtClean="0"/>
          </a:p>
        </p:txBody>
      </p:sp>
    </p:spTree>
    <p:extLst>
      <p:ext uri="{BB962C8B-B14F-4D97-AF65-F5344CB8AC3E}">
        <p14:creationId xmlns:p14="http://schemas.microsoft.com/office/powerpoint/2010/main" val="149436113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Printer</a:t>
            </a:r>
            <a:r>
              <a:rPr lang="en-IN" dirty="0"/>
              <a:t> </a:t>
            </a:r>
          </a:p>
        </p:txBody>
      </p:sp>
      <p:sp>
        <p:nvSpPr>
          <p:cNvPr id="3" name="Content Placeholder 2"/>
          <p:cNvSpPr>
            <a:spLocks noGrp="1"/>
          </p:cNvSpPr>
          <p:nvPr>
            <p:ph idx="1"/>
          </p:nvPr>
        </p:nvSpPr>
        <p:spPr/>
        <p:txBody>
          <a:bodyPr>
            <a:normAutofit fontScale="70000" lnSpcReduction="20000"/>
          </a:bodyPr>
          <a:lstStyle/>
          <a:p>
            <a:r>
              <a:rPr lang="en-US" sz="3800" dirty="0" smtClean="0"/>
              <a:t>The </a:t>
            </a:r>
            <a:r>
              <a:rPr lang="en-US" sz="3800" dirty="0"/>
              <a:t>toner powder is then permanently fused onto the paper by the heat and pressure from rollers inside the machine and your finished </a:t>
            </a:r>
            <a:r>
              <a:rPr lang="en-US" sz="3800" dirty="0" smtClean="0"/>
              <a:t>printout is ready. </a:t>
            </a:r>
          </a:p>
          <a:p>
            <a:r>
              <a:rPr lang="en-US" sz="3700" dirty="0" smtClean="0"/>
              <a:t>They </a:t>
            </a:r>
            <a:r>
              <a:rPr lang="en-US" sz="3700" dirty="0"/>
              <a:t>are more reliable in comparison to inkjet printers. </a:t>
            </a:r>
          </a:p>
          <a:p>
            <a:r>
              <a:rPr lang="en-US" sz="3700" dirty="0"/>
              <a:t>They don’t use nozzle and its ink is in the form of powder which is to be put in the given bar, that is why ink of these types of printers don’t dry up whether you use these once a year or you don’t use it at all</a:t>
            </a:r>
            <a:r>
              <a:rPr lang="en-US" sz="4000" dirty="0" smtClean="0"/>
              <a:t>.</a:t>
            </a:r>
          </a:p>
          <a:p>
            <a:r>
              <a:rPr lang="en-US" sz="4000" dirty="0" smtClean="0"/>
              <a:t>Examples: </a:t>
            </a:r>
            <a:r>
              <a:rPr lang="en-US" dirty="0"/>
              <a:t>HP Color LaserJet Pro MFP M479fdw</a:t>
            </a:r>
          </a:p>
          <a:p>
            <a:r>
              <a:rPr lang="en-IN" dirty="0"/>
              <a:t>Canon MF232W</a:t>
            </a:r>
          </a:p>
          <a:p>
            <a:endParaRPr lang="en-IN" sz="4000" dirty="0"/>
          </a:p>
          <a:p>
            <a:endParaRPr lang="en-US" sz="3800" dirty="0"/>
          </a:p>
        </p:txBody>
      </p:sp>
    </p:spTree>
    <p:extLst>
      <p:ext uri="{BB962C8B-B14F-4D97-AF65-F5344CB8AC3E}">
        <p14:creationId xmlns:p14="http://schemas.microsoft.com/office/powerpoint/2010/main" val="323553020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Printer</a:t>
            </a:r>
            <a:r>
              <a:rPr lang="en-IN" dirty="0"/>
              <a:t> </a:t>
            </a:r>
          </a:p>
        </p:txBody>
      </p:sp>
      <p:sp>
        <p:nvSpPr>
          <p:cNvPr id="3" name="Content Placeholder 2"/>
          <p:cNvSpPr>
            <a:spLocks noGrp="1"/>
          </p:cNvSpPr>
          <p:nvPr>
            <p:ph idx="1"/>
          </p:nvPr>
        </p:nvSpPr>
        <p:spPr/>
        <p:txBody>
          <a:bodyPr>
            <a:normAutofit/>
          </a:bodyPr>
          <a:lstStyle/>
          <a:p>
            <a:r>
              <a:rPr lang="en-IN" dirty="0" smtClean="0"/>
              <a:t>Dot Matrix – </a:t>
            </a:r>
            <a:r>
              <a:rPr lang="en-US" dirty="0"/>
              <a:t>Dot matrix printing </a:t>
            </a:r>
            <a:r>
              <a:rPr lang="en-US" b="1" dirty="0"/>
              <a:t>uses a print head that moves back-and-forth, or in an up-and-down motion, on the page and prints by impact, striking an ink-soaked cloth ribbon against the paper</a:t>
            </a:r>
            <a:r>
              <a:rPr lang="en-US" dirty="0"/>
              <a:t>, much like the print mechanism on a typewriter</a:t>
            </a:r>
            <a:r>
              <a:rPr lang="en-US" dirty="0" smtClean="0"/>
              <a:t>.</a:t>
            </a:r>
          </a:p>
          <a:p>
            <a:r>
              <a:rPr lang="en-US" dirty="0" smtClean="0"/>
              <a:t>It is used in printing passbook, railway tickets, mark sheets etc.</a:t>
            </a:r>
            <a:endParaRPr lang="en-IN" dirty="0"/>
          </a:p>
        </p:txBody>
      </p:sp>
    </p:spTree>
    <p:extLst>
      <p:ext uri="{BB962C8B-B14F-4D97-AF65-F5344CB8AC3E}">
        <p14:creationId xmlns:p14="http://schemas.microsoft.com/office/powerpoint/2010/main" val="12329591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428604"/>
            <a:ext cx="7647836" cy="5819796"/>
          </a:xfrm>
        </p:spPr>
        <p:txBody>
          <a:bodyPr/>
          <a:lstStyle/>
          <a:p>
            <a:r>
              <a:rPr lang="en-IN" b="1" dirty="0" smtClean="0"/>
              <a:t>Speakers</a:t>
            </a:r>
            <a:r>
              <a:rPr lang="en-IN" dirty="0" smtClean="0"/>
              <a:t> </a:t>
            </a:r>
            <a:endParaRPr lang="en-IN" dirty="0"/>
          </a:p>
          <a:p>
            <a:r>
              <a:rPr lang="en-IN" dirty="0" smtClean="0"/>
              <a:t>speakers are attached to computers to facilitate the output of sound; sound cards are required in the computer for speakers to function. </a:t>
            </a:r>
          </a:p>
          <a:p>
            <a:r>
              <a:rPr lang="en-IN" dirty="0" smtClean="0"/>
              <a:t>The different kinds of speakers range from simple, two-speaker output devices right the way up to surround-sound multi-channel units.</a:t>
            </a:r>
            <a:endParaRPr lang="en-IN" dirty="0"/>
          </a:p>
        </p:txBody>
      </p:sp>
    </p:spTree>
    <p:extLst>
      <p:ext uri="{BB962C8B-B14F-4D97-AF65-F5344CB8AC3E}">
        <p14:creationId xmlns:p14="http://schemas.microsoft.com/office/powerpoint/2010/main" val="266176762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14290"/>
            <a:ext cx="7647836" cy="6034110"/>
          </a:xfrm>
        </p:spPr>
        <p:txBody>
          <a:bodyPr>
            <a:normAutofit/>
          </a:bodyPr>
          <a:lstStyle/>
          <a:p>
            <a:r>
              <a:rPr lang="en-IN" sz="2400" dirty="0"/>
              <a:t>There are </a:t>
            </a:r>
            <a:r>
              <a:rPr lang="en-IN" sz="2400" dirty="0" smtClean="0"/>
              <a:t>some </a:t>
            </a:r>
            <a:r>
              <a:rPr lang="en-IN" sz="2400" dirty="0"/>
              <a:t>important CPU specifications and terms. Each term is important to understand and know when choosing a processor. </a:t>
            </a:r>
          </a:p>
          <a:p>
            <a:pPr lvl="1"/>
            <a:r>
              <a:rPr lang="en-IN" sz="2000" b="1" dirty="0"/>
              <a:t>Multi-Core Technology</a:t>
            </a:r>
          </a:p>
          <a:p>
            <a:pPr lvl="1"/>
            <a:r>
              <a:rPr lang="en-IN" sz="2000" b="1" dirty="0"/>
              <a:t>CPU Sockets and Chipsets</a:t>
            </a:r>
          </a:p>
          <a:p>
            <a:pPr lvl="1"/>
            <a:r>
              <a:rPr lang="en-IN" sz="2000" b="1" dirty="0"/>
              <a:t>Frequency (Clock Rate)</a:t>
            </a:r>
          </a:p>
          <a:p>
            <a:pPr lvl="1"/>
            <a:r>
              <a:rPr lang="en-IN" sz="2000" b="1" dirty="0" err="1"/>
              <a:t>Hyperthreading</a:t>
            </a:r>
            <a:endParaRPr lang="en-IN" sz="2000" b="1" dirty="0"/>
          </a:p>
          <a:p>
            <a:pPr lvl="1"/>
            <a:r>
              <a:rPr lang="en-IN" sz="2000" b="1" dirty="0"/>
              <a:t>Cache</a:t>
            </a:r>
          </a:p>
          <a:p>
            <a:pPr lvl="1"/>
            <a:r>
              <a:rPr lang="en-IN" sz="2000" b="1" dirty="0"/>
              <a:t>Thermal Design Power (TDP)</a:t>
            </a:r>
          </a:p>
          <a:p>
            <a:pPr>
              <a:buNone/>
            </a:pPr>
            <a:endParaRPr lang="en-IN" dirty="0"/>
          </a:p>
        </p:txBody>
      </p:sp>
    </p:spTree>
    <p:extLst>
      <p:ext uri="{BB962C8B-B14F-4D97-AF65-F5344CB8AC3E}">
        <p14:creationId xmlns:p14="http://schemas.microsoft.com/office/powerpoint/2010/main" val="19388319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Multi-core technology</a:t>
            </a:r>
            <a:endParaRPr lang="en-IN" dirty="0"/>
          </a:p>
        </p:txBody>
      </p:sp>
      <p:sp>
        <p:nvSpPr>
          <p:cNvPr id="3" name="Content Placeholder 2"/>
          <p:cNvSpPr>
            <a:spLocks noGrp="1"/>
          </p:cNvSpPr>
          <p:nvPr>
            <p:ph idx="1"/>
          </p:nvPr>
        </p:nvSpPr>
        <p:spPr/>
        <p:txBody>
          <a:bodyPr>
            <a:normAutofit fontScale="47500" lnSpcReduction="20000"/>
          </a:bodyPr>
          <a:lstStyle/>
          <a:p>
            <a:r>
              <a:rPr lang="en-US" sz="4200" dirty="0"/>
              <a:t>A multicore processor is </a:t>
            </a:r>
            <a:r>
              <a:rPr lang="en-US" sz="4200" b="1" dirty="0"/>
              <a:t>an integrated circuit that has two or more processor cores attached for enhanced performance and reduced power consumption</a:t>
            </a:r>
            <a:r>
              <a:rPr lang="en-US" sz="4200" dirty="0"/>
              <a:t>. </a:t>
            </a:r>
            <a:endParaRPr lang="en-US" sz="4200" dirty="0" smtClean="0"/>
          </a:p>
          <a:p>
            <a:r>
              <a:rPr lang="en-US" sz="4200" dirty="0" smtClean="0"/>
              <a:t>These </a:t>
            </a:r>
            <a:r>
              <a:rPr lang="en-US" sz="4200" dirty="0"/>
              <a:t>processors also enable more efficient </a:t>
            </a:r>
            <a:r>
              <a:rPr lang="en-US" sz="4200" dirty="0" smtClean="0"/>
              <a:t>simultaneous processing of multiple tasks, such as with parallel processing and multithreading.</a:t>
            </a:r>
          </a:p>
          <a:p>
            <a:r>
              <a:rPr lang="en-IN" sz="4200" dirty="0" smtClean="0"/>
              <a:t>By doing so, a multi-core CPU is allowed to do two things at once, rather than having to process one thing at a time. </a:t>
            </a:r>
            <a:r>
              <a:rPr lang="en-IN" sz="4200" smtClean="0"/>
              <a:t>This significantly increases a processor’s performance.</a:t>
            </a:r>
          </a:p>
          <a:p>
            <a:r>
              <a:rPr lang="en-US" sz="4200" dirty="0" smtClean="0"/>
              <a:t>A processor is like a computer's brain - and </a:t>
            </a:r>
            <a:r>
              <a:rPr lang="en-US" sz="4200" b="1" dirty="0" smtClean="0"/>
              <a:t>Intel® Core™ processors are the most powerful</a:t>
            </a:r>
            <a:r>
              <a:rPr lang="en-US" sz="4200" dirty="0" smtClean="0"/>
              <a:t>. They have multiple cores for more power and smoother multi-tasking. There are 4 main categories: i3, i5, i7 and i9. Each has numerous spec options, but strictly speaking i5 is superior to i3 and so on.</a:t>
            </a:r>
            <a:endParaRPr lang="en-IN" sz="4200" dirty="0" smtClean="0"/>
          </a:p>
          <a:p>
            <a:pPr marL="82296" indent="0">
              <a:buNone/>
            </a:pPr>
            <a:endParaRPr lang="en-IN" dirty="0"/>
          </a:p>
        </p:txBody>
      </p:sp>
    </p:spTree>
    <p:extLst>
      <p:ext uri="{BB962C8B-B14F-4D97-AF65-F5344CB8AC3E}">
        <p14:creationId xmlns:p14="http://schemas.microsoft.com/office/powerpoint/2010/main" val="4611809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smtClean="0">
                <a:solidFill>
                  <a:schemeClr val="tx1"/>
                </a:solidFill>
                <a:latin typeface="+mn-lt"/>
                <a:ea typeface="+mn-ea"/>
                <a:cs typeface="+mn-cs"/>
              </a:rPr>
              <a:t>CPU Sockets and Chipsets</a:t>
            </a:r>
            <a:r>
              <a:rPr lang="en-IN" dirty="0" smtClean="0"/>
              <a:t/>
            </a:r>
            <a:br>
              <a:rPr lang="en-IN" dirty="0" smtClean="0"/>
            </a:br>
            <a:endParaRPr lang="en-IN" dirty="0"/>
          </a:p>
        </p:txBody>
      </p:sp>
      <p:sp>
        <p:nvSpPr>
          <p:cNvPr id="3" name="Content Placeholder 2"/>
          <p:cNvSpPr>
            <a:spLocks noGrp="1"/>
          </p:cNvSpPr>
          <p:nvPr>
            <p:ph idx="1"/>
          </p:nvPr>
        </p:nvSpPr>
        <p:spPr>
          <a:xfrm>
            <a:off x="1431416" y="846138"/>
            <a:ext cx="7389056" cy="3662982"/>
          </a:xfrm>
        </p:spPr>
        <p:txBody>
          <a:bodyPr>
            <a:normAutofit fontScale="55000" lnSpcReduction="20000"/>
          </a:bodyPr>
          <a:lstStyle/>
          <a:p>
            <a:r>
              <a:rPr lang="en-IN" sz="3600" dirty="0" smtClean="0"/>
              <a:t>As processing technology advances, the two main CPU manufacturers (Intel and AMD) continually come out with new series of CPUs.</a:t>
            </a:r>
          </a:p>
          <a:p>
            <a:r>
              <a:rPr lang="en-IN" sz="3600" dirty="0"/>
              <a:t>Along with different series’ of processors, there are also different sockets. The CPU socket is where the processor will be installed on the motherboard</a:t>
            </a:r>
            <a:r>
              <a:rPr lang="en-IN" sz="3600" dirty="0" smtClean="0"/>
              <a:t>.</a:t>
            </a:r>
          </a:p>
          <a:p>
            <a:r>
              <a:rPr lang="en-US" sz="3600" dirty="0" smtClean="0"/>
              <a:t>CPU socket is also called processor socket. Within CPU socket processor is installed and with the help of that socket, processor can communicate with other parts like hard disk, RAM etc.</a:t>
            </a:r>
          </a:p>
          <a:p>
            <a:r>
              <a:rPr lang="en-US" sz="3600" dirty="0" smtClean="0"/>
              <a:t>When we connect wire to plug and it gets electricity and then it works same way when we connect CPU or processor with CPU socket (available on motherboard), processor is connected with all other parts available on motherboard.</a:t>
            </a:r>
            <a:endParaRPr lang="en-IN" sz="3600" dirty="0"/>
          </a:p>
          <a:p>
            <a:endParaRPr lang="en-IN" dirty="0" smtClean="0"/>
          </a:p>
          <a:p>
            <a:endParaRPr lang="en-IN" dirty="0"/>
          </a:p>
        </p:txBody>
      </p:sp>
      <p:pic>
        <p:nvPicPr>
          <p:cNvPr id="2050" name="Picture 2"/>
          <p:cNvPicPr>
            <a:picLocks noChangeAspect="1" noChangeArrowheads="1"/>
          </p:cNvPicPr>
          <p:nvPr/>
        </p:nvPicPr>
        <p:blipFill>
          <a:blip r:embed="rId2"/>
          <a:srcRect/>
          <a:stretch>
            <a:fillRect/>
          </a:stretch>
        </p:blipFill>
        <p:spPr bwMode="auto">
          <a:xfrm>
            <a:off x="3302061" y="4602788"/>
            <a:ext cx="3647765" cy="2221426"/>
          </a:xfrm>
          <a:prstGeom prst="rect">
            <a:avLst/>
          </a:prstGeom>
          <a:noFill/>
          <a:ln w="9525">
            <a:noFill/>
            <a:miter lim="800000"/>
            <a:headEnd/>
            <a:tailEnd/>
          </a:ln>
          <a:effectLst/>
        </p:spPr>
      </p:pic>
    </p:spTree>
    <p:extLst>
      <p:ext uri="{BB962C8B-B14F-4D97-AF65-F5344CB8AC3E}">
        <p14:creationId xmlns:p14="http://schemas.microsoft.com/office/powerpoint/2010/main" val="30854478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smtClean="0"/>
              <a:t>There are 3 types of sockets.</a:t>
            </a:r>
          </a:p>
          <a:p>
            <a:r>
              <a:rPr lang="en-US" dirty="0" smtClean="0"/>
              <a:t>PGA- pin grad array (it uses small pins as connections, pins are available on CPU and holes are available on sockets)</a:t>
            </a:r>
            <a:br>
              <a:rPr lang="en-US" dirty="0" smtClean="0"/>
            </a:br>
            <a:endParaRPr lang="en-US" dirty="0" smtClean="0"/>
          </a:p>
          <a:p>
            <a:endParaRPr lang="en-US" dirty="0" smtClean="0"/>
          </a:p>
          <a:p>
            <a:endParaRPr lang="en-US" dirty="0" smtClean="0"/>
          </a:p>
          <a:p>
            <a:endParaRPr lang="en-US" dirty="0" smtClean="0"/>
          </a:p>
        </p:txBody>
      </p:sp>
      <p:pic>
        <p:nvPicPr>
          <p:cNvPr id="5" name="Picture 4"/>
          <p:cNvPicPr>
            <a:picLocks noChangeAspect="1"/>
          </p:cNvPicPr>
          <p:nvPr/>
        </p:nvPicPr>
        <p:blipFill>
          <a:blip r:embed="rId2"/>
          <a:stretch>
            <a:fillRect/>
          </a:stretch>
        </p:blipFill>
        <p:spPr>
          <a:xfrm>
            <a:off x="3347864" y="3573016"/>
            <a:ext cx="3520060" cy="2520280"/>
          </a:xfrm>
          <a:prstGeom prst="rect">
            <a:avLst/>
          </a:prstGeom>
        </p:spPr>
      </p:pic>
    </p:spTree>
    <p:extLst>
      <p:ext uri="{BB962C8B-B14F-4D97-AF65-F5344CB8AC3E}">
        <p14:creationId xmlns:p14="http://schemas.microsoft.com/office/powerpoint/2010/main" val="3620884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285728"/>
            <a:ext cx="7576398" cy="5962672"/>
          </a:xfrm>
        </p:spPr>
        <p:txBody>
          <a:bodyPr>
            <a:normAutofit/>
          </a:bodyPr>
          <a:lstStyle/>
          <a:p>
            <a:r>
              <a:rPr lang="en-US" sz="2800" dirty="0"/>
              <a:t>LGA- land grid array (pins are available on </a:t>
            </a:r>
            <a:r>
              <a:rPr lang="en-US" sz="2800" dirty="0" smtClean="0"/>
              <a:t>sockets and CPU has some contact points as shown below.)</a:t>
            </a:r>
          </a:p>
          <a:p>
            <a:r>
              <a:rPr lang="en-US" sz="2800" dirty="0" smtClean="0"/>
              <a:t>Intel is using LGA. </a:t>
            </a:r>
          </a:p>
          <a:p>
            <a:endParaRPr lang="en-US" sz="2800" dirty="0"/>
          </a:p>
          <a:p>
            <a:endParaRPr lang="en-US" sz="2800" dirty="0" smtClean="0"/>
          </a:p>
          <a:p>
            <a:r>
              <a:rPr lang="en-US" sz="2800" dirty="0" smtClean="0"/>
              <a:t>BGA – ball grid array (balls are available on CPU and some space are available on socket </a:t>
            </a:r>
            <a:r>
              <a:rPr lang="en-US" sz="2800" smtClean="0"/>
              <a:t>to fit </a:t>
            </a:r>
            <a:r>
              <a:rPr lang="en-US" sz="2800" dirty="0" smtClean="0"/>
              <a:t>that CPU on socket, and CPU is permanently fixed with soldering on socket.) </a:t>
            </a:r>
            <a:endParaRPr lang="en-US" sz="2800" dirty="0"/>
          </a:p>
          <a:p>
            <a:endParaRPr lang="en-IN" dirty="0" smtClean="0"/>
          </a:p>
        </p:txBody>
      </p:sp>
      <p:pic>
        <p:nvPicPr>
          <p:cNvPr id="4" name="Picture 3"/>
          <p:cNvPicPr>
            <a:picLocks noChangeAspect="1"/>
          </p:cNvPicPr>
          <p:nvPr/>
        </p:nvPicPr>
        <p:blipFill>
          <a:blip r:embed="rId2"/>
          <a:stretch>
            <a:fillRect/>
          </a:stretch>
        </p:blipFill>
        <p:spPr>
          <a:xfrm>
            <a:off x="5292080" y="1268760"/>
            <a:ext cx="2880320" cy="1909776"/>
          </a:xfrm>
          <a:prstGeom prst="rect">
            <a:avLst/>
          </a:prstGeom>
        </p:spPr>
      </p:pic>
      <p:pic>
        <p:nvPicPr>
          <p:cNvPr id="5" name="Picture 4"/>
          <p:cNvPicPr>
            <a:picLocks noChangeAspect="1"/>
          </p:cNvPicPr>
          <p:nvPr/>
        </p:nvPicPr>
        <p:blipFill>
          <a:blip r:embed="rId3"/>
          <a:stretch>
            <a:fillRect/>
          </a:stretch>
        </p:blipFill>
        <p:spPr>
          <a:xfrm>
            <a:off x="6444208" y="4869160"/>
            <a:ext cx="2376264" cy="1703218"/>
          </a:xfrm>
          <a:prstGeom prst="rect">
            <a:avLst/>
          </a:prstGeom>
        </p:spPr>
      </p:pic>
    </p:spTree>
    <p:extLst>
      <p:ext uri="{BB962C8B-B14F-4D97-AF65-F5344CB8AC3E}">
        <p14:creationId xmlns:p14="http://schemas.microsoft.com/office/powerpoint/2010/main" val="3555198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285728"/>
            <a:ext cx="7576398" cy="5962672"/>
          </a:xfrm>
        </p:spPr>
        <p:txBody>
          <a:bodyPr>
            <a:normAutofit/>
          </a:bodyPr>
          <a:lstStyle/>
          <a:p>
            <a:pPr marL="82296" indent="0">
              <a:buNone/>
            </a:pPr>
            <a:endParaRPr lang="en-IN" dirty="0" smtClean="0"/>
          </a:p>
          <a:p>
            <a:r>
              <a:rPr lang="en-IN" dirty="0" smtClean="0"/>
              <a:t>For instance, Intel’s Core series of CPUs have gone through many sockets, including LGA 775, LGA 1156, LGA 1155, LGA 1150, and most recently, LGA 1151.</a:t>
            </a:r>
          </a:p>
          <a:p>
            <a:r>
              <a:rPr lang="en-IN" i="1" dirty="0" smtClean="0"/>
              <a:t>Example</a:t>
            </a:r>
            <a:r>
              <a:rPr lang="en-IN" dirty="0" smtClean="0"/>
              <a:t>:</a:t>
            </a:r>
          </a:p>
          <a:p>
            <a:pPr marL="356616" lvl="1" indent="0">
              <a:buNone/>
            </a:pPr>
            <a:r>
              <a:rPr lang="en-IN" dirty="0" smtClean="0"/>
              <a:t> If you decide to buy an Intel Core i7 920 </a:t>
            </a:r>
            <a:r>
              <a:rPr lang="en-IN" dirty="0" err="1" smtClean="0"/>
              <a:t>cpu</a:t>
            </a:r>
            <a:r>
              <a:rPr lang="en-IN" dirty="0" smtClean="0"/>
              <a:t>, which is based on the LGA 1366, </a:t>
            </a:r>
            <a:r>
              <a:rPr lang="en-IN" b="1" dirty="0" smtClean="0"/>
              <a:t>you have to buy</a:t>
            </a:r>
            <a:r>
              <a:rPr lang="en-IN" dirty="0" smtClean="0"/>
              <a:t> a motherboard with a LGA 1366 socket for your </a:t>
            </a:r>
            <a:r>
              <a:rPr lang="en-IN" dirty="0" err="1" smtClean="0"/>
              <a:t>cpu</a:t>
            </a:r>
            <a:r>
              <a:rPr lang="en-IN" dirty="0" smtClean="0"/>
              <a:t> and motherboard to be compatible.</a:t>
            </a:r>
            <a:endParaRPr lang="en-IN" dirty="0"/>
          </a:p>
        </p:txBody>
      </p:sp>
    </p:spTree>
    <p:extLst>
      <p:ext uri="{BB962C8B-B14F-4D97-AF65-F5344CB8AC3E}">
        <p14:creationId xmlns:p14="http://schemas.microsoft.com/office/powerpoint/2010/main" val="39055300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Operating Frequency (GHz)</a:t>
            </a:r>
            <a:br>
              <a:rPr lang="en-IN" b="1" dirty="0" smtClean="0"/>
            </a:br>
            <a:endParaRPr lang="en-IN" dirty="0"/>
          </a:p>
        </p:txBody>
      </p:sp>
      <p:sp>
        <p:nvSpPr>
          <p:cNvPr id="3" name="Content Placeholder 2"/>
          <p:cNvSpPr>
            <a:spLocks noGrp="1"/>
          </p:cNvSpPr>
          <p:nvPr>
            <p:ph idx="1"/>
          </p:nvPr>
        </p:nvSpPr>
        <p:spPr/>
        <p:txBody>
          <a:bodyPr>
            <a:normAutofit lnSpcReduction="10000"/>
          </a:bodyPr>
          <a:lstStyle/>
          <a:p>
            <a:r>
              <a:rPr lang="en-IN" dirty="0" smtClean="0"/>
              <a:t>CPU operating frequency, or clock rate, (which is measured in hertz).</a:t>
            </a:r>
          </a:p>
          <a:p>
            <a:r>
              <a:rPr lang="en-IN" dirty="0" smtClean="0"/>
              <a:t>The operating frequency of a processor is how fast it can complete a single cycle of work. The higher the frequency, the faster it can complete a single cycle of work.</a:t>
            </a:r>
          </a:p>
          <a:p>
            <a:r>
              <a:rPr lang="en-US" dirty="0"/>
              <a:t>A CPU with a clock speed of 3.2 GHz executes 3.2 billion cycles per second</a:t>
            </a:r>
            <a:r>
              <a:rPr lang="en-US" dirty="0" smtClean="0"/>
              <a:t>.</a:t>
            </a:r>
          </a:p>
          <a:p>
            <a:r>
              <a:rPr lang="en-US" dirty="0"/>
              <a:t>3.5 to 4.2 GHz is a good speed for processor.</a:t>
            </a:r>
            <a:endParaRPr lang="en-US" dirty="0" smtClean="0"/>
          </a:p>
        </p:txBody>
      </p:sp>
    </p:spTree>
    <p:extLst>
      <p:ext uri="{BB962C8B-B14F-4D97-AF65-F5344CB8AC3E}">
        <p14:creationId xmlns:p14="http://schemas.microsoft.com/office/powerpoint/2010/main" val="36409180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2976" y="357166"/>
            <a:ext cx="7790712" cy="5891234"/>
          </a:xfrm>
        </p:spPr>
        <p:txBody>
          <a:bodyPr>
            <a:normAutofit fontScale="92500" lnSpcReduction="20000"/>
          </a:bodyPr>
          <a:lstStyle/>
          <a:p>
            <a:pPr>
              <a:buNone/>
            </a:pPr>
            <a:r>
              <a:rPr lang="en-IN" dirty="0" err="1" smtClean="0"/>
              <a:t>Hyperthreading</a:t>
            </a:r>
            <a:endParaRPr lang="en-IN" dirty="0" smtClean="0"/>
          </a:p>
          <a:p>
            <a:r>
              <a:rPr lang="en-IN" dirty="0" smtClean="0"/>
              <a:t>Basically, </a:t>
            </a:r>
            <a:r>
              <a:rPr lang="en-IN" dirty="0" err="1" smtClean="0"/>
              <a:t>hyperthreading</a:t>
            </a:r>
            <a:r>
              <a:rPr lang="en-IN" dirty="0" smtClean="0"/>
              <a:t> allows the CPU to work on two different threads (sequences of instructions for the CPU to carry out) at the same time.</a:t>
            </a:r>
          </a:p>
          <a:p>
            <a:r>
              <a:rPr lang="en-IN" dirty="0" smtClean="0"/>
              <a:t>It allows the processor to work on two different things simultaneously.</a:t>
            </a:r>
          </a:p>
          <a:p>
            <a:r>
              <a:rPr lang="en-US" dirty="0"/>
              <a:t> It increases CPU performance by improving the processor’s efficiency, thereby allowing you to run multiple demanding apps at the same time or use heavily-threaded apps without the PC lagging.</a:t>
            </a:r>
            <a:endParaRPr lang="en-IN" dirty="0" smtClean="0"/>
          </a:p>
          <a:p>
            <a:r>
              <a:rPr lang="en-US" dirty="0"/>
              <a:t>Hyper-threading is currently available on Intel Core, Core </a:t>
            </a:r>
            <a:r>
              <a:rPr lang="en-US" dirty="0" err="1"/>
              <a:t>vPro</a:t>
            </a:r>
            <a:r>
              <a:rPr lang="en-US" dirty="0"/>
              <a:t>, Core M and Xeon processors. </a:t>
            </a:r>
            <a:endParaRPr lang="en-IN" dirty="0"/>
          </a:p>
        </p:txBody>
      </p:sp>
    </p:spTree>
    <p:extLst>
      <p:ext uri="{BB962C8B-B14F-4D97-AF65-F5344CB8AC3E}">
        <p14:creationId xmlns:p14="http://schemas.microsoft.com/office/powerpoint/2010/main" val="2230595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Cache</a:t>
            </a:r>
            <a:br>
              <a:rPr lang="en-IN" b="1" dirty="0" smtClean="0"/>
            </a:br>
            <a:endParaRPr lang="en-IN" dirty="0"/>
          </a:p>
        </p:txBody>
      </p:sp>
      <p:sp>
        <p:nvSpPr>
          <p:cNvPr id="3" name="Content Placeholder 2"/>
          <p:cNvSpPr>
            <a:spLocks noGrp="1"/>
          </p:cNvSpPr>
          <p:nvPr>
            <p:ph idx="1"/>
          </p:nvPr>
        </p:nvSpPr>
        <p:spPr/>
        <p:txBody>
          <a:bodyPr>
            <a:normAutofit fontScale="92500" lnSpcReduction="10000"/>
          </a:bodyPr>
          <a:lstStyle/>
          <a:p>
            <a:r>
              <a:rPr lang="en-IN" dirty="0" smtClean="0"/>
              <a:t>Cache is on-board memory for your processor. It’s like RAM, but it offers even quicker access, since it’s located directly on your processor. While it only presents a small fraction of storage space as compared to your RAM and your hard drive, it is extremely fast and is used for the most important data relative to the tasks you are carrying out on your computer.</a:t>
            </a:r>
          </a:p>
          <a:p>
            <a:r>
              <a:rPr lang="en-IN" dirty="0" smtClean="0"/>
              <a:t>So, the more cache your processor has, the better overall it will perform.</a:t>
            </a:r>
          </a:p>
          <a:p>
            <a:endParaRPr lang="en-IN" dirty="0"/>
          </a:p>
        </p:txBody>
      </p:sp>
    </p:spTree>
    <p:extLst>
      <p:ext uri="{BB962C8B-B14F-4D97-AF65-F5344CB8AC3E}">
        <p14:creationId xmlns:p14="http://schemas.microsoft.com/office/powerpoint/2010/main" val="34979176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Thermal Design Power</a:t>
            </a:r>
            <a:br>
              <a:rPr lang="en-IN" b="1" dirty="0" smtClean="0"/>
            </a:br>
            <a:endParaRPr lang="en-IN" dirty="0"/>
          </a:p>
        </p:txBody>
      </p:sp>
      <p:sp>
        <p:nvSpPr>
          <p:cNvPr id="3" name="Content Placeholder 2"/>
          <p:cNvSpPr>
            <a:spLocks noGrp="1"/>
          </p:cNvSpPr>
          <p:nvPr>
            <p:ph idx="1"/>
          </p:nvPr>
        </p:nvSpPr>
        <p:spPr/>
        <p:txBody>
          <a:bodyPr>
            <a:normAutofit fontScale="70000" lnSpcReduction="20000"/>
          </a:bodyPr>
          <a:lstStyle/>
          <a:p>
            <a:pPr fontAlgn="base"/>
            <a:r>
              <a:rPr lang="en-IN" dirty="0" smtClean="0"/>
              <a:t>This is a general measurement that indicates how much power, in Watts, that your processor will consume in the worst case scenario. This is also used to have an idea of how much heat your processor will produce.</a:t>
            </a:r>
          </a:p>
          <a:p>
            <a:pPr fontAlgn="base"/>
            <a:r>
              <a:rPr lang="en-IN" dirty="0" smtClean="0"/>
              <a:t>Same here, a lower number is desirable, to lower your electricity bill. </a:t>
            </a:r>
          </a:p>
          <a:p>
            <a:pPr fontAlgn="base"/>
            <a:r>
              <a:rPr lang="en-IN" dirty="0" smtClean="0"/>
              <a:t>A processor which consumes more power and emit more heat will also need a better heatsink, or a faster fan, which usually results in a more noisy computer.</a:t>
            </a:r>
          </a:p>
          <a:p>
            <a:r>
              <a:rPr lang="en-IN" dirty="0" smtClean="0"/>
              <a:t>The lower the TDP of a processor, the less cooling it will need in order to operate at acceptable temperature levels. </a:t>
            </a:r>
          </a:p>
          <a:p>
            <a:r>
              <a:rPr lang="en-IN" dirty="0" smtClean="0"/>
              <a:t>The higher the TDP of a CPU and the more cooling you will need.</a:t>
            </a:r>
            <a:endParaRPr lang="en-IN" dirty="0"/>
          </a:p>
        </p:txBody>
      </p:sp>
    </p:spTree>
    <p:extLst>
      <p:ext uri="{BB962C8B-B14F-4D97-AF65-F5344CB8AC3E}">
        <p14:creationId xmlns:p14="http://schemas.microsoft.com/office/powerpoint/2010/main" val="29101628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Storage Devices</a:t>
            </a:r>
            <a:endParaRPr lang="en-IN" dirty="0"/>
          </a:p>
        </p:txBody>
      </p:sp>
      <p:sp>
        <p:nvSpPr>
          <p:cNvPr id="3" name="Content Placeholder 2"/>
          <p:cNvSpPr>
            <a:spLocks noGrp="1"/>
          </p:cNvSpPr>
          <p:nvPr>
            <p:ph idx="1"/>
          </p:nvPr>
        </p:nvSpPr>
        <p:spPr>
          <a:xfrm>
            <a:off x="1331640" y="1124744"/>
            <a:ext cx="7498080" cy="4800600"/>
          </a:xfrm>
        </p:spPr>
        <p:txBody>
          <a:bodyPr>
            <a:noAutofit/>
          </a:bodyPr>
          <a:lstStyle/>
          <a:p>
            <a:pPr fontAlgn="base"/>
            <a:r>
              <a:rPr lang="en-US" sz="1900" dirty="0"/>
              <a:t>A storage unit is a part of the computer system which is employed to store the information and instructions to be processed. </a:t>
            </a:r>
            <a:endParaRPr lang="en-US" sz="1900" dirty="0" smtClean="0"/>
          </a:p>
          <a:p>
            <a:pPr fontAlgn="base"/>
            <a:r>
              <a:rPr lang="en-US" sz="1900" dirty="0" smtClean="0"/>
              <a:t>A </a:t>
            </a:r>
            <a:r>
              <a:rPr lang="en-US" sz="1900" dirty="0"/>
              <a:t>storage device is an integral part of the computer hardware which stores information/data to process the result of any computational work. Without a storage device, a computer would not be able to run or even boot up. Or in other words, we can say that a storage device is hardware that is used for </a:t>
            </a:r>
            <a:r>
              <a:rPr lang="en-US" sz="1900" dirty="0" smtClean="0"/>
              <a:t>storing data </a:t>
            </a:r>
            <a:r>
              <a:rPr lang="en-US" sz="1900" dirty="0"/>
              <a:t>files. It can also store information/data both temporarily and permanently. </a:t>
            </a:r>
            <a:endParaRPr lang="en-US" sz="1900" dirty="0" smtClean="0"/>
          </a:p>
          <a:p>
            <a:pPr fontAlgn="base"/>
            <a:r>
              <a:rPr lang="en-US" sz="1900" dirty="0" smtClean="0"/>
              <a:t>Computer </a:t>
            </a:r>
            <a:r>
              <a:rPr lang="en-US" sz="1900" dirty="0"/>
              <a:t>storage is of two types: </a:t>
            </a:r>
          </a:p>
          <a:p>
            <a:pPr fontAlgn="base"/>
            <a:r>
              <a:rPr lang="en-US" sz="1900" b="1" dirty="0"/>
              <a:t>Primary Storage Devices:</a:t>
            </a:r>
            <a:r>
              <a:rPr lang="en-US" sz="1900" dirty="0"/>
              <a:t> It is also known as internal memory and main memory. This is a section of the CPU that holds program instructions, input data, and intermediate results. It is generally smaller in size. RAM (Random Access </a:t>
            </a:r>
            <a:r>
              <a:rPr lang="en-US" sz="1900" dirty="0" smtClean="0"/>
              <a:t>Memory – </a:t>
            </a:r>
            <a:r>
              <a:rPr lang="en-US" sz="1900" dirty="0" err="1" smtClean="0"/>
              <a:t>voletile</a:t>
            </a:r>
            <a:r>
              <a:rPr lang="en-US" sz="1900" dirty="0" smtClean="0"/>
              <a:t> ) </a:t>
            </a:r>
            <a:r>
              <a:rPr lang="en-US" sz="1900" dirty="0"/>
              <a:t>and ROM (Read Only </a:t>
            </a:r>
            <a:r>
              <a:rPr lang="en-US" sz="1900" dirty="0" err="1" smtClean="0"/>
              <a:t>Memor</a:t>
            </a:r>
            <a:r>
              <a:rPr lang="en-US" sz="1900" dirty="0" smtClean="0"/>
              <a:t> – non </a:t>
            </a:r>
            <a:r>
              <a:rPr lang="en-US" sz="1900" dirty="0" err="1" smtClean="0"/>
              <a:t>voletiley</a:t>
            </a:r>
            <a:r>
              <a:rPr lang="en-US" sz="1900" dirty="0"/>
              <a:t>) are examples of primary storage.</a:t>
            </a:r>
          </a:p>
          <a:p>
            <a:pPr fontAlgn="base"/>
            <a:r>
              <a:rPr lang="en-US" sz="1900" b="1" dirty="0"/>
              <a:t>Secondary Storage Devices: </a:t>
            </a:r>
            <a:r>
              <a:rPr lang="en-US" sz="1900" dirty="0"/>
              <a:t>Secondary storage is a memory that is stored external to the computer.  It is mainly used for the permanent and long-term storage of programs and data. Hard Disk, CD, DVD, Pen/Flash drive, SSD, </a:t>
            </a:r>
            <a:r>
              <a:rPr lang="en-US" sz="1900" dirty="0" err="1"/>
              <a:t>etc</a:t>
            </a:r>
            <a:r>
              <a:rPr lang="en-US" sz="1900" dirty="0"/>
              <a:t>, are examples of secondary storage.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Primary Storage Device</a:t>
            </a:r>
            <a:br>
              <a:rPr lang="en-IN" dirty="0" smtClean="0"/>
            </a:br>
            <a:endParaRPr lang="en-IN" dirty="0"/>
          </a:p>
        </p:txBody>
      </p:sp>
      <p:sp>
        <p:nvSpPr>
          <p:cNvPr id="3" name="Content Placeholder 2"/>
          <p:cNvSpPr>
            <a:spLocks noGrp="1"/>
          </p:cNvSpPr>
          <p:nvPr>
            <p:ph idx="1"/>
          </p:nvPr>
        </p:nvSpPr>
        <p:spPr>
          <a:xfrm>
            <a:off x="1435608" y="908720"/>
            <a:ext cx="7498080" cy="5339680"/>
          </a:xfrm>
        </p:spPr>
        <p:txBody>
          <a:bodyPr>
            <a:normAutofit fontScale="62500" lnSpcReduction="20000"/>
          </a:bodyPr>
          <a:lstStyle/>
          <a:p>
            <a:pPr fontAlgn="base"/>
            <a:r>
              <a:rPr lang="en-US" b="1" dirty="0"/>
              <a:t>RAM: </a:t>
            </a:r>
            <a:r>
              <a:rPr lang="en-US" dirty="0"/>
              <a:t>It stands for Random Access Memory. It is used to store information that is used immediately or we can say that it is a temporary memory. </a:t>
            </a:r>
            <a:endParaRPr lang="en-US" dirty="0" smtClean="0"/>
          </a:p>
          <a:p>
            <a:pPr fontAlgn="base"/>
            <a:r>
              <a:rPr lang="en-US" dirty="0" smtClean="0"/>
              <a:t>Computers </a:t>
            </a:r>
            <a:r>
              <a:rPr lang="en-US" dirty="0"/>
              <a:t>bring the software installed on a hard disk to RAM to process it and to be used by the user. Once, the computer is turned off, the data is deleted. </a:t>
            </a:r>
            <a:endParaRPr lang="en-US" dirty="0" smtClean="0"/>
          </a:p>
          <a:p>
            <a:pPr fontAlgn="base"/>
            <a:r>
              <a:rPr lang="en-US" dirty="0" smtClean="0"/>
              <a:t>With </a:t>
            </a:r>
            <a:r>
              <a:rPr lang="en-US" dirty="0"/>
              <a:t>the help of RAM, computers can perform multiple tasks like loading applications, browsing the web, editing a spreadsheet, experiencing the newest game, etc. </a:t>
            </a:r>
            <a:endParaRPr lang="en-US" dirty="0" smtClean="0"/>
          </a:p>
          <a:p>
            <a:pPr fontAlgn="base"/>
            <a:r>
              <a:rPr lang="en-US" dirty="0" smtClean="0"/>
              <a:t>It </a:t>
            </a:r>
            <a:r>
              <a:rPr lang="en-US" dirty="0"/>
              <a:t>allows you to modify quickly among these tasks, remembering where you’re in one task once you switch to a different task. It is also used to load and run applications, like your spreadsheet program, answer commands, like all edits you made within the spreadsheet, or toggle between multiple programs, like once you left the spreadsheet to see the email. </a:t>
            </a:r>
            <a:endParaRPr lang="en-US" dirty="0" smtClean="0"/>
          </a:p>
          <a:p>
            <a:pPr fontAlgn="base"/>
            <a:r>
              <a:rPr lang="en-US" dirty="0" smtClean="0"/>
              <a:t>Memory </a:t>
            </a:r>
            <a:r>
              <a:rPr lang="en-US" dirty="0"/>
              <a:t>is nearly always being actively employed by your computer. It ranges from 1GB – 32GB/64GB depending upon the specifications. There are different types of RAM, although they all serve the same purpose, the most common ones are : </a:t>
            </a:r>
          </a:p>
        </p:txBody>
      </p:sp>
    </p:spTree>
    <p:extLst>
      <p:ext uri="{BB962C8B-B14F-4D97-AF65-F5344CB8AC3E}">
        <p14:creationId xmlns:p14="http://schemas.microsoft.com/office/powerpoint/2010/main" val="35818626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Primary Storage Device</a:t>
            </a:r>
            <a:br>
              <a:rPr lang="en-IN" dirty="0" smtClean="0"/>
            </a:br>
            <a:endParaRPr lang="en-IN" dirty="0"/>
          </a:p>
        </p:txBody>
      </p:sp>
      <p:sp>
        <p:nvSpPr>
          <p:cNvPr id="3" name="Content Placeholder 2"/>
          <p:cNvSpPr>
            <a:spLocks noGrp="1"/>
          </p:cNvSpPr>
          <p:nvPr>
            <p:ph idx="1"/>
          </p:nvPr>
        </p:nvSpPr>
        <p:spPr>
          <a:xfrm>
            <a:off x="1435608" y="908720"/>
            <a:ext cx="7498080" cy="5339680"/>
          </a:xfrm>
        </p:spPr>
        <p:txBody>
          <a:bodyPr>
            <a:normAutofit fontScale="62500" lnSpcReduction="20000"/>
          </a:bodyPr>
          <a:lstStyle/>
          <a:p>
            <a:pPr fontAlgn="base"/>
            <a:r>
              <a:rPr lang="en-US" b="1" dirty="0"/>
              <a:t>SRAM: </a:t>
            </a:r>
            <a:r>
              <a:rPr lang="en-US" dirty="0"/>
              <a:t>It stands for Static Random Access Memory. It consists of circuits that retain stored information as long as the power is supply is on. It is also known as volatile memory. </a:t>
            </a:r>
            <a:endParaRPr lang="en-US" dirty="0" smtClean="0"/>
          </a:p>
          <a:p>
            <a:pPr fontAlgn="base"/>
            <a:r>
              <a:rPr lang="en-US" dirty="0" smtClean="0"/>
              <a:t>It </a:t>
            </a:r>
            <a:r>
              <a:rPr lang="en-US" dirty="0"/>
              <a:t>is used to build Cache memory. Acts as cache; storage measured in MBs</a:t>
            </a:r>
            <a:endParaRPr lang="en-US" dirty="0" smtClean="0"/>
          </a:p>
          <a:p>
            <a:pPr fontAlgn="base"/>
            <a:r>
              <a:rPr lang="en-US" dirty="0"/>
              <a:t>I</a:t>
            </a:r>
            <a:r>
              <a:rPr lang="en-US" dirty="0" smtClean="0"/>
              <a:t>t </a:t>
            </a:r>
            <a:r>
              <a:rPr lang="en-US" dirty="0"/>
              <a:t>is much faster as compared to DRAM but in terms of cost, it is costly as compared to DRAM.</a:t>
            </a:r>
          </a:p>
          <a:p>
            <a:pPr fontAlgn="base"/>
            <a:r>
              <a:rPr lang="en-US" b="1" dirty="0"/>
              <a:t>DRAM: </a:t>
            </a:r>
            <a:r>
              <a:rPr lang="en-US" dirty="0"/>
              <a:t>It stands for Dynamic Random Access Memory. </a:t>
            </a:r>
            <a:endParaRPr lang="en-US" dirty="0" smtClean="0"/>
          </a:p>
          <a:p>
            <a:pPr fontAlgn="base"/>
            <a:r>
              <a:rPr lang="en-US" dirty="0"/>
              <a:t>Connects directly to CPU bus, volatile storage measured in </a:t>
            </a:r>
            <a:r>
              <a:rPr lang="en-US" dirty="0" smtClean="0"/>
              <a:t>GBs</a:t>
            </a:r>
          </a:p>
          <a:p>
            <a:pPr fontAlgn="base"/>
            <a:r>
              <a:rPr lang="en-US" dirty="0" smtClean="0"/>
              <a:t>The </a:t>
            </a:r>
            <a:r>
              <a:rPr lang="en-US" dirty="0"/>
              <a:t>access time of DRAM is slower as compare to SRAM </a:t>
            </a:r>
            <a:r>
              <a:rPr lang="en-US" dirty="0" smtClean="0"/>
              <a:t>and </a:t>
            </a:r>
            <a:r>
              <a:rPr lang="en-US" dirty="0"/>
              <a:t>it is cheaper than SRAM </a:t>
            </a:r>
            <a:endParaRPr lang="en-US" dirty="0" smtClean="0"/>
          </a:p>
          <a:p>
            <a:pPr fontAlgn="base"/>
            <a:r>
              <a:rPr lang="en-US" b="1" dirty="0" smtClean="0"/>
              <a:t>SDRAM</a:t>
            </a:r>
            <a:r>
              <a:rPr lang="en-US" b="1" dirty="0"/>
              <a:t>: </a:t>
            </a:r>
            <a:r>
              <a:rPr lang="en-US" dirty="0"/>
              <a:t>It stands for Synchronous Dynamic Random Access Memory. It is faster than DRAM. It is widely used in computers and others. After SDRAM was introduced, the upgraded version of double data rate RAM, i.e., DDR1, DDR2, DDR3, and DDR4 was entered into the market and widely used in home/office desktops and laptops.</a:t>
            </a:r>
          </a:p>
          <a:p>
            <a:endParaRPr lang="en-IN" dirty="0"/>
          </a:p>
        </p:txBody>
      </p:sp>
    </p:spTree>
    <p:extLst>
      <p:ext uri="{BB962C8B-B14F-4D97-AF65-F5344CB8AC3E}">
        <p14:creationId xmlns:p14="http://schemas.microsoft.com/office/powerpoint/2010/main" val="42213832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Primary Storage Device</a:t>
            </a:r>
            <a:br>
              <a:rPr lang="en-IN" dirty="0" smtClean="0"/>
            </a:br>
            <a:endParaRPr lang="en-IN" dirty="0"/>
          </a:p>
        </p:txBody>
      </p:sp>
      <p:sp>
        <p:nvSpPr>
          <p:cNvPr id="3" name="Content Placeholder 2"/>
          <p:cNvSpPr>
            <a:spLocks noGrp="1"/>
          </p:cNvSpPr>
          <p:nvPr>
            <p:ph idx="1"/>
          </p:nvPr>
        </p:nvSpPr>
        <p:spPr>
          <a:xfrm>
            <a:off x="1435608" y="908720"/>
            <a:ext cx="7498080" cy="5339680"/>
          </a:xfrm>
        </p:spPr>
        <p:txBody>
          <a:bodyPr>
            <a:normAutofit fontScale="55000" lnSpcReduction="20000"/>
          </a:bodyPr>
          <a:lstStyle/>
          <a:p>
            <a:pPr fontAlgn="base"/>
            <a:r>
              <a:rPr lang="en-US" b="1" dirty="0"/>
              <a:t>ROM: </a:t>
            </a:r>
            <a:r>
              <a:rPr lang="en-US" dirty="0"/>
              <a:t>It stands for Read-Only Memory. </a:t>
            </a:r>
            <a:endParaRPr lang="en-US" dirty="0" smtClean="0"/>
          </a:p>
          <a:p>
            <a:pPr fontAlgn="base"/>
            <a:r>
              <a:rPr lang="en-US" dirty="0" smtClean="0"/>
              <a:t>The </a:t>
            </a:r>
            <a:r>
              <a:rPr lang="en-US" dirty="0"/>
              <a:t>data written or stored in these devices are non-volatile, </a:t>
            </a:r>
            <a:r>
              <a:rPr lang="en-US" dirty="0" err="1"/>
              <a:t>i.e</a:t>
            </a:r>
            <a:r>
              <a:rPr lang="en-US" dirty="0"/>
              <a:t>, once the data is stored in the memory cannot be modified or deleted. </a:t>
            </a:r>
            <a:endParaRPr lang="en-US" dirty="0" smtClean="0"/>
          </a:p>
          <a:p>
            <a:pPr fontAlgn="base"/>
            <a:r>
              <a:rPr lang="en-US" dirty="0" smtClean="0"/>
              <a:t>The </a:t>
            </a:r>
            <a:r>
              <a:rPr lang="en-US" dirty="0"/>
              <a:t>memory from which will only read but cannot write it. This type of memory is non-volatile. The information is stored permanently during manufacture only once. </a:t>
            </a:r>
            <a:endParaRPr lang="en-US" dirty="0" smtClean="0"/>
          </a:p>
          <a:p>
            <a:pPr fontAlgn="base"/>
            <a:r>
              <a:rPr lang="en-US" dirty="0" smtClean="0"/>
              <a:t>ROM </a:t>
            </a:r>
            <a:r>
              <a:rPr lang="en-US" dirty="0"/>
              <a:t>stores instructions that are used to start a computer. This operation is referred to as bootstrap. </a:t>
            </a:r>
            <a:endParaRPr lang="en-US" dirty="0" smtClean="0"/>
          </a:p>
          <a:p>
            <a:pPr fontAlgn="base"/>
            <a:r>
              <a:rPr lang="en-US" dirty="0" smtClean="0"/>
              <a:t>It </a:t>
            </a:r>
            <a:r>
              <a:rPr lang="en-US" dirty="0"/>
              <a:t>is also used in other electronic items like washers and microwaves. ROM chips can only store few megabytes (MB) of data, which ranges between 4 and 8 MB per ROM chip. There are two types of ROM: </a:t>
            </a:r>
          </a:p>
          <a:p>
            <a:pPr fontAlgn="base"/>
            <a:r>
              <a:rPr lang="en-US" b="1" dirty="0"/>
              <a:t>PROM: </a:t>
            </a:r>
            <a:r>
              <a:rPr lang="en-US" dirty="0"/>
              <a:t>PROM is Programmable Read-Only Memory. These are ROMs that can be programmed. A special PROM programmer is employed to enter the program on the PROM. Once the chip has been programmed, information on the PROM can’t be altered. PROM is non-volatile, that is data is not lost when power is switched off.</a:t>
            </a:r>
          </a:p>
          <a:p>
            <a:pPr fontAlgn="base"/>
            <a:r>
              <a:rPr lang="en-US" b="1" dirty="0"/>
              <a:t>EPROM:</a:t>
            </a:r>
            <a:r>
              <a:rPr lang="en-US" dirty="0"/>
              <a:t> Another sort of memory is that the Erasable Programmable Read-Only Memory. It is possible to erase the info which has been previously stored on an EPROM and write new data onto the chip.</a:t>
            </a:r>
          </a:p>
          <a:p>
            <a:endParaRPr lang="en-IN" dirty="0"/>
          </a:p>
        </p:txBody>
      </p:sp>
    </p:spTree>
    <p:extLst>
      <p:ext uri="{BB962C8B-B14F-4D97-AF65-F5344CB8AC3E}">
        <p14:creationId xmlns:p14="http://schemas.microsoft.com/office/powerpoint/2010/main" val="265750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Examples of Storage Device</a:t>
            </a:r>
            <a:br>
              <a:rPr lang="en-IN" dirty="0" smtClean="0"/>
            </a:br>
            <a:endParaRPr lang="en-IN" dirty="0"/>
          </a:p>
        </p:txBody>
      </p:sp>
      <p:sp>
        <p:nvSpPr>
          <p:cNvPr id="3" name="Content Placeholder 2"/>
          <p:cNvSpPr>
            <a:spLocks noGrp="1"/>
          </p:cNvSpPr>
          <p:nvPr>
            <p:ph idx="1"/>
          </p:nvPr>
        </p:nvSpPr>
        <p:spPr/>
        <p:txBody>
          <a:bodyPr>
            <a:normAutofit fontScale="70000" lnSpcReduction="20000"/>
          </a:bodyPr>
          <a:lstStyle/>
          <a:p>
            <a:r>
              <a:rPr lang="en-IN" b="1" dirty="0" smtClean="0"/>
              <a:t>Magnetic Storage Device</a:t>
            </a:r>
            <a:r>
              <a:rPr lang="en-IN" dirty="0" smtClean="0"/>
              <a:t> – one of the most popular types of storage used.</a:t>
            </a:r>
          </a:p>
          <a:p>
            <a:pPr lvl="1"/>
            <a:r>
              <a:rPr lang="en-IN" b="1" dirty="0" smtClean="0"/>
              <a:t>Floppy diskette</a:t>
            </a:r>
            <a:r>
              <a:rPr lang="en-IN" dirty="0" smtClean="0"/>
              <a:t> – </a:t>
            </a:r>
            <a:r>
              <a:rPr lang="en-US" dirty="0"/>
              <a:t>It is also known as a floppy diskette. It is generally used on a personal computer to store data externally. A Floppy disk is made up of a plastic cartridge and secures with a protective case. </a:t>
            </a:r>
            <a:endParaRPr lang="en-IN" dirty="0" smtClean="0"/>
          </a:p>
          <a:p>
            <a:pPr lvl="1"/>
            <a:r>
              <a:rPr lang="en-IN" dirty="0" smtClean="0"/>
              <a:t>A normal 3 ½ inch disk can store 1.44 MB of data.</a:t>
            </a:r>
          </a:p>
          <a:p>
            <a:pPr lvl="1"/>
            <a:r>
              <a:rPr lang="en-IN" b="1" dirty="0" smtClean="0"/>
              <a:t>Hard drive</a:t>
            </a:r>
            <a:r>
              <a:rPr lang="en-IN" dirty="0" smtClean="0"/>
              <a:t> – An internal hard drive is the main storage device in a computer. An external hard drive is also known as removable hard drive.  It is used to store portable data and backups. </a:t>
            </a:r>
            <a:r>
              <a:rPr lang="en-US" dirty="0"/>
              <a:t>It ranges from a few GBs to a few and more TB.</a:t>
            </a:r>
            <a:endParaRPr lang="en-IN" dirty="0" smtClean="0"/>
          </a:p>
          <a:p>
            <a:pPr lvl="1"/>
            <a:r>
              <a:rPr lang="en-IN" b="1" dirty="0" smtClean="0"/>
              <a:t>Magnetic card</a:t>
            </a:r>
            <a:r>
              <a:rPr lang="en-IN" dirty="0" smtClean="0"/>
              <a:t> – </a:t>
            </a:r>
            <a:r>
              <a:rPr lang="en-US" dirty="0"/>
              <a:t>It is a card in which data is stored by modifying or rearranging the magnetism of tiny iron-based magnetic particles present on the band of the card. It is also known as a swipe card. It is used like a passcode(to enter into house or hotel room), credit card, identity card, etc. </a:t>
            </a:r>
            <a:endParaRPr lang="en-IN" dirty="0" smtClean="0"/>
          </a:p>
          <a:p>
            <a:endParaRPr lang="en-IN" dirty="0"/>
          </a:p>
        </p:txBody>
      </p:sp>
      <p:pic>
        <p:nvPicPr>
          <p:cNvPr id="5" name="Picture 4"/>
          <p:cNvPicPr>
            <a:picLocks noChangeAspect="1"/>
          </p:cNvPicPr>
          <p:nvPr/>
        </p:nvPicPr>
        <p:blipFill>
          <a:blip r:embed="rId2"/>
          <a:stretch>
            <a:fillRect/>
          </a:stretch>
        </p:blipFill>
        <p:spPr>
          <a:xfrm>
            <a:off x="7637544" y="5526396"/>
            <a:ext cx="1296144" cy="1296144"/>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357166"/>
            <a:ext cx="7576398" cy="5891234"/>
          </a:xfrm>
        </p:spPr>
        <p:txBody>
          <a:bodyPr>
            <a:normAutofit fontScale="55000" lnSpcReduction="20000"/>
          </a:bodyPr>
          <a:lstStyle/>
          <a:p>
            <a:pPr>
              <a:buNone/>
            </a:pPr>
            <a:r>
              <a:rPr lang="en-IN" b="1" dirty="0" smtClean="0"/>
              <a:t>Optical Storage Device</a:t>
            </a:r>
            <a:r>
              <a:rPr lang="en-IN" dirty="0" smtClean="0"/>
              <a:t> – uses lasers and lights as its mode of saving and retrieving data.</a:t>
            </a:r>
          </a:p>
          <a:p>
            <a:r>
              <a:rPr lang="en-IN" b="1" dirty="0" smtClean="0"/>
              <a:t>Blu-ray disc</a:t>
            </a:r>
            <a:r>
              <a:rPr lang="en-IN" dirty="0" smtClean="0"/>
              <a:t> – </a:t>
            </a:r>
            <a:r>
              <a:rPr lang="en-US" b="1" dirty="0"/>
              <a:t> </a:t>
            </a:r>
            <a:r>
              <a:rPr lang="en-US" dirty="0"/>
              <a:t>It is just like CD and DVD but the storage capacity of </a:t>
            </a:r>
            <a:r>
              <a:rPr lang="en-US" dirty="0" err="1"/>
              <a:t>blu</a:t>
            </a:r>
            <a:r>
              <a:rPr lang="en-US" dirty="0"/>
              <a:t> ray is up to 25GB. To run a Blu-ray disc you need a separate Blu-ray reader. </a:t>
            </a:r>
            <a:endParaRPr lang="en-US" dirty="0" smtClean="0"/>
          </a:p>
          <a:p>
            <a:r>
              <a:rPr lang="en-IN" b="1" dirty="0" smtClean="0"/>
              <a:t>CD disc</a:t>
            </a:r>
            <a:r>
              <a:rPr lang="en-IN" dirty="0" smtClean="0"/>
              <a:t> – </a:t>
            </a:r>
            <a:r>
              <a:rPr lang="en-US" dirty="0"/>
              <a:t>It is known as</a:t>
            </a:r>
            <a:r>
              <a:rPr lang="en-US" b="1" dirty="0"/>
              <a:t> </a:t>
            </a:r>
            <a:r>
              <a:rPr lang="en-US" dirty="0"/>
              <a:t>Compact Disc. It contains tracks and sectors on its surface to store data. It is made up of polycarbonate plastic and is circular in shape. CD can store data up to 700MB. It is of two types:</a:t>
            </a:r>
          </a:p>
          <a:p>
            <a:pPr fontAlgn="base"/>
            <a:r>
              <a:rPr lang="en-US" b="1" dirty="0"/>
              <a:t>CD-R:</a:t>
            </a:r>
            <a:r>
              <a:rPr lang="en-US" dirty="0"/>
              <a:t> It stands for Compact Disc read-only. In this type of CD, once the data is written can not be erased. It is read-only.</a:t>
            </a:r>
          </a:p>
          <a:p>
            <a:pPr fontAlgn="base"/>
            <a:r>
              <a:rPr lang="en-US" b="1" dirty="0"/>
              <a:t>CD-RW: </a:t>
            </a:r>
            <a:r>
              <a:rPr lang="en-US" dirty="0"/>
              <a:t>It stands for Compact Disc read Write. In this type of CD, you can easily write or erase data multiple times.</a:t>
            </a:r>
          </a:p>
          <a:p>
            <a:pPr fontAlgn="base"/>
            <a:r>
              <a:rPr lang="en-US" b="1" dirty="0" smtClean="0"/>
              <a:t>DVD: </a:t>
            </a:r>
            <a:r>
              <a:rPr lang="en-US" dirty="0" smtClean="0"/>
              <a:t>It </a:t>
            </a:r>
            <a:r>
              <a:rPr lang="en-US" dirty="0"/>
              <a:t>is known as Digital Versatile Disc. DVDs are circular flat optical discs used to store data. It comes in two different sizes one is 4.7GB single-layer discs and another one is 8.5GB double-layer discs. DVDs look like CDs but the storage capacity of DVDs is more than as compared to CDs. It is of two types:</a:t>
            </a:r>
          </a:p>
          <a:p>
            <a:pPr fontAlgn="base"/>
            <a:r>
              <a:rPr lang="en-US" b="1" dirty="0"/>
              <a:t>DVD-R: </a:t>
            </a:r>
            <a:r>
              <a:rPr lang="en-US" dirty="0"/>
              <a:t>It stands for Digital Versatile Disc read-only. In this type of DVD, once the data is written can not be erased. It is read-only. It is generally used to write movies, etc.</a:t>
            </a:r>
          </a:p>
          <a:p>
            <a:pPr fontAlgn="base"/>
            <a:r>
              <a:rPr lang="en-US" b="1" dirty="0"/>
              <a:t>DVD-RW:</a:t>
            </a:r>
            <a:r>
              <a:rPr lang="en-US" dirty="0"/>
              <a:t> It stands for Digital Versatile Disc read Write. In this type of DVD, you can easily write or erase data multiple times.</a:t>
            </a:r>
          </a:p>
          <a:p>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85728"/>
            <a:ext cx="7647836" cy="5962672"/>
          </a:xfrm>
        </p:spPr>
        <p:txBody>
          <a:bodyPr>
            <a:normAutofit fontScale="85000" lnSpcReduction="10000"/>
          </a:bodyPr>
          <a:lstStyle/>
          <a:p>
            <a:pPr>
              <a:buNone/>
            </a:pPr>
            <a:r>
              <a:rPr lang="en-IN" b="1" dirty="0" smtClean="0"/>
              <a:t>Flash Memory Device</a:t>
            </a:r>
            <a:r>
              <a:rPr lang="en-IN" dirty="0" smtClean="0"/>
              <a:t> –</a:t>
            </a:r>
            <a:r>
              <a:rPr lang="en-US" dirty="0" smtClean="0"/>
              <a:t>It </a:t>
            </a:r>
            <a:r>
              <a:rPr lang="en-US" dirty="0"/>
              <a:t>is the most commonly used device to store data because is more reliable and efficient as compare to other storage devices</a:t>
            </a:r>
            <a:r>
              <a:rPr lang="en-US" dirty="0" smtClean="0"/>
              <a:t>.</a:t>
            </a:r>
          </a:p>
          <a:p>
            <a:pPr>
              <a:buNone/>
            </a:pPr>
            <a:r>
              <a:rPr lang="en-IN" b="1" dirty="0" smtClean="0"/>
              <a:t>SSD – Solid State Drive</a:t>
            </a:r>
            <a:r>
              <a:rPr lang="en-IN" dirty="0" smtClean="0"/>
              <a:t> – </a:t>
            </a:r>
            <a:r>
              <a:rPr lang="en-US" dirty="0"/>
              <a:t>It stands for Solid State Drive, a mass storage device like HDDs. It is more durable because it does not contain optical disks inside like hard disks. It needs less power as compared to hard disks, is lightweight, and has 10x faster read and write speed as compared to hard disks. But, these are costly as well</a:t>
            </a:r>
            <a:r>
              <a:rPr lang="en-US" dirty="0" smtClean="0"/>
              <a:t>.</a:t>
            </a:r>
          </a:p>
          <a:p>
            <a:pPr lvl="1"/>
            <a:r>
              <a:rPr lang="en-US" b="1" dirty="0"/>
              <a:t>Pen Drive:</a:t>
            </a:r>
            <a:r>
              <a:rPr lang="en-US" dirty="0"/>
              <a:t> It is also known as a USB flash drive that includes flash memory with an integrated USB interface. We can directly connect these devices to our computers and laptops and read/write data into them in a much faster and efficient way. These devices are very portable. It ranges from 1GB to 256GB generally.</a:t>
            </a:r>
            <a:endParaRPr lang="en-IN"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5852" y="285728"/>
            <a:ext cx="7647836" cy="5962672"/>
          </a:xfrm>
        </p:spPr>
        <p:txBody>
          <a:bodyPr>
            <a:normAutofit fontScale="77500" lnSpcReduction="20000"/>
          </a:bodyPr>
          <a:lstStyle/>
          <a:p>
            <a:pPr>
              <a:buNone/>
            </a:pPr>
            <a:r>
              <a:rPr lang="en-IN" b="1" dirty="0" smtClean="0"/>
              <a:t>Flash Memory Device</a:t>
            </a:r>
            <a:r>
              <a:rPr lang="en-IN" dirty="0" smtClean="0"/>
              <a:t> – </a:t>
            </a:r>
          </a:p>
          <a:p>
            <a:pPr>
              <a:buNone/>
            </a:pPr>
            <a:r>
              <a:rPr lang="en-US" b="1" dirty="0"/>
              <a:t>Multimedia Card:</a:t>
            </a:r>
            <a:r>
              <a:rPr lang="en-US" dirty="0"/>
              <a:t> It is also known as MMC. It is an integrated circuit that is generally used in-car radios, digital cameras, etc. It is an external device to store data/information</a:t>
            </a:r>
            <a:r>
              <a:rPr lang="en-US" dirty="0" smtClean="0"/>
              <a:t>. Storage is up to 32 MB.</a:t>
            </a:r>
          </a:p>
          <a:p>
            <a:r>
              <a:rPr lang="en-US" b="1" dirty="0" smtClean="0"/>
              <a:t>Memory Card: </a:t>
            </a:r>
            <a:r>
              <a:rPr lang="en-US" dirty="0"/>
              <a:t>A memory card is a type of storage device that is used for storing media and data files. </a:t>
            </a:r>
            <a:endParaRPr lang="en-US" dirty="0" smtClean="0"/>
          </a:p>
          <a:p>
            <a:r>
              <a:rPr lang="en-US" dirty="0" smtClean="0"/>
              <a:t>It </a:t>
            </a:r>
            <a:r>
              <a:rPr lang="en-US" dirty="0"/>
              <a:t>provides a permanent and non-volatile medium to store data and files from the attached device. </a:t>
            </a:r>
            <a:endParaRPr lang="en-US" dirty="0" smtClean="0"/>
          </a:p>
          <a:p>
            <a:r>
              <a:rPr lang="en-US" dirty="0" smtClean="0"/>
              <a:t>Memory </a:t>
            </a:r>
            <a:r>
              <a:rPr lang="en-US" dirty="0"/>
              <a:t>cards are commonly used in small, portable devices, such as cameras and phones</a:t>
            </a:r>
            <a:r>
              <a:rPr lang="en-US" dirty="0" smtClean="0"/>
              <a:t>.</a:t>
            </a:r>
            <a:r>
              <a:rPr lang="en-US" dirty="0"/>
              <a:t/>
            </a:r>
            <a:br>
              <a:rPr lang="en-US" dirty="0"/>
            </a:br>
            <a:r>
              <a:rPr lang="en-US" dirty="0" smtClean="0"/>
              <a:t>It is also used to store large amounts of data and is available in different sizes. To run a memory card on a computer you require a separate memory card reader.  </a:t>
            </a:r>
          </a:p>
          <a:p>
            <a:pPr>
              <a:buNone/>
            </a:pPr>
            <a:r>
              <a:rPr lang="en-IN" dirty="0" smtClean="0"/>
              <a:t>An </a:t>
            </a:r>
            <a:r>
              <a:rPr lang="en-IN" dirty="0"/>
              <a:t>electronic flash memory device used to store digital information and commonly used in mobile electronic devices.</a:t>
            </a:r>
          </a:p>
          <a:p>
            <a:pPr>
              <a:buNone/>
            </a:pPr>
            <a:endParaRPr lang="en-US" dirty="0" smtClean="0"/>
          </a:p>
        </p:txBody>
      </p:sp>
    </p:spTree>
    <p:extLst>
      <p:ext uri="{BB962C8B-B14F-4D97-AF65-F5344CB8AC3E}">
        <p14:creationId xmlns:p14="http://schemas.microsoft.com/office/powerpoint/2010/main" val="350672541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57290" y="571480"/>
            <a:ext cx="7576398" cy="5676920"/>
          </a:xfrm>
        </p:spPr>
        <p:txBody>
          <a:bodyPr>
            <a:normAutofit fontScale="92500"/>
          </a:bodyPr>
          <a:lstStyle/>
          <a:p>
            <a:r>
              <a:rPr lang="en-IN" b="1" dirty="0" smtClean="0"/>
              <a:t>Online and Cloud</a:t>
            </a:r>
            <a:r>
              <a:rPr lang="en-IN" dirty="0" smtClean="0"/>
              <a:t> :Data is managed remotely and made available over a network. Basic features are free to use but upgraded version is paid monthly as a per consumption rate.</a:t>
            </a:r>
            <a:r>
              <a:rPr lang="en-US" dirty="0"/>
              <a:t> Unlike a USB drive, external hard drive, or flash drive, users do not need to carry around a physical device to store their data. They just have to remember a password </a:t>
            </a:r>
            <a:r>
              <a:rPr lang="en-US" dirty="0" smtClean="0"/>
              <a:t>and access the data anywhere.</a:t>
            </a:r>
            <a:endParaRPr lang="en-US" sz="2800" dirty="0"/>
          </a:p>
          <a:p>
            <a:r>
              <a:rPr lang="en-US" dirty="0"/>
              <a:t>Online storage is a viable option for data backup: it provides both security and convenience to the end user</a:t>
            </a:r>
            <a:endParaRPr lang="en-IN" dirty="0" smtClean="0"/>
          </a:p>
          <a:p>
            <a:endParaRPr lang="en-I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500042"/>
            <a:ext cx="7504960" cy="5748358"/>
          </a:xfrm>
        </p:spPr>
        <p:txBody>
          <a:bodyPr>
            <a:normAutofit fontScale="85000" lnSpcReduction="20000"/>
          </a:bodyPr>
          <a:lstStyle/>
          <a:p>
            <a:r>
              <a:rPr lang="en-IN" b="1" dirty="0" smtClean="0"/>
              <a:t>Paper Storage</a:t>
            </a:r>
            <a:r>
              <a:rPr lang="en-IN" dirty="0" smtClean="0"/>
              <a:t> – method used by early computers for saving information.</a:t>
            </a:r>
          </a:p>
          <a:p>
            <a:pPr lvl="1"/>
            <a:r>
              <a:rPr lang="en-IN" b="1" dirty="0" smtClean="0"/>
              <a:t>OMR</a:t>
            </a:r>
            <a:r>
              <a:rPr lang="en-IN" dirty="0" smtClean="0"/>
              <a:t> – stands for Optical Mark Recognition  A process of capturing marked data of human from forms like surveys and tests. It is used to read questionnaires with multiple choices that are shaded.</a:t>
            </a:r>
          </a:p>
          <a:p>
            <a:r>
              <a:rPr lang="en-IN" b="1" dirty="0" smtClean="0"/>
              <a:t>Punch card</a:t>
            </a:r>
            <a:r>
              <a:rPr lang="en-IN" dirty="0" smtClean="0"/>
              <a:t> – </a:t>
            </a:r>
            <a:r>
              <a:rPr lang="en-US" b="1" dirty="0"/>
              <a:t>Punch cards</a:t>
            </a:r>
            <a:r>
              <a:rPr lang="en-US" dirty="0"/>
              <a:t> (or "punched cards"), also known as </a:t>
            </a:r>
            <a:r>
              <a:rPr lang="en-US" b="1" dirty="0"/>
              <a:t>Hollerith cards</a:t>
            </a:r>
            <a:r>
              <a:rPr lang="en-US" dirty="0"/>
              <a:t> or </a:t>
            </a:r>
            <a:r>
              <a:rPr lang="en-US" b="1" dirty="0"/>
              <a:t>IBM cards</a:t>
            </a:r>
            <a:r>
              <a:rPr lang="en-US" dirty="0"/>
              <a:t>, are paper cards where holes may be punched by hand or machine to represent computer data and instructions. </a:t>
            </a:r>
            <a:endParaRPr lang="en-US" dirty="0" smtClean="0"/>
          </a:p>
          <a:p>
            <a:r>
              <a:rPr lang="en-US" dirty="0" smtClean="0"/>
              <a:t>They </a:t>
            </a:r>
            <a:r>
              <a:rPr lang="en-US" dirty="0"/>
              <a:t>were a widely-used means of inputting data into early computers. The cards were fed into a card reader connected to a computer, which converted the sequence of holes to digital information.</a:t>
            </a:r>
          </a:p>
          <a:p>
            <a:endParaRPr lang="en-IN"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28728" y="500042"/>
            <a:ext cx="7504960" cy="5748358"/>
          </a:xfrm>
        </p:spPr>
        <p:txBody>
          <a:bodyPr>
            <a:normAutofit/>
          </a:bodyPr>
          <a:lstStyle/>
          <a:p>
            <a:r>
              <a:rPr lang="en-US" sz="2400" dirty="0" smtClean="0"/>
              <a:t>For </a:t>
            </a:r>
            <a:r>
              <a:rPr lang="en-US" sz="2400" dirty="0"/>
              <a:t>example, an early computer programmer would write a program by hand, then convert the program to several punched cards using a punch card machine. The programmer would then take the stack of cards to a computer and feed the cards into a card reader to input the program. </a:t>
            </a:r>
            <a:r>
              <a:rPr lang="en-US" sz="2400" dirty="0" smtClean="0"/>
              <a:t>Picture </a:t>
            </a:r>
            <a:r>
              <a:rPr lang="en-US" sz="2400" dirty="0"/>
              <a:t>is an example of a woman using a punch card machine to create a punch card.</a:t>
            </a:r>
          </a:p>
          <a:p>
            <a:endParaRPr lang="en-IN" dirty="0"/>
          </a:p>
        </p:txBody>
      </p:sp>
      <p:pic>
        <p:nvPicPr>
          <p:cNvPr id="2050" name="Picture 2" descr="Punch card machin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7904" y="3140968"/>
            <a:ext cx="3333750" cy="3333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17097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Booting</a:t>
            </a:r>
            <a:endParaRPr lang="en-US" dirty="0"/>
          </a:p>
        </p:txBody>
      </p:sp>
      <p:sp>
        <p:nvSpPr>
          <p:cNvPr id="3" name="Content Placeholder 2"/>
          <p:cNvSpPr>
            <a:spLocks noGrp="1"/>
          </p:cNvSpPr>
          <p:nvPr>
            <p:ph idx="1"/>
          </p:nvPr>
        </p:nvSpPr>
        <p:spPr/>
        <p:txBody>
          <a:bodyPr>
            <a:normAutofit/>
          </a:bodyPr>
          <a:lstStyle/>
          <a:p>
            <a:r>
              <a:rPr lang="en-US" dirty="0" smtClean="0"/>
              <a:t>Booting </a:t>
            </a:r>
            <a:r>
              <a:rPr lang="en-US" dirty="0"/>
              <a:t>is basically the process of starting the computer. </a:t>
            </a:r>
            <a:endParaRPr lang="en-US" dirty="0" smtClean="0"/>
          </a:p>
          <a:p>
            <a:r>
              <a:rPr lang="en-US" dirty="0" smtClean="0"/>
              <a:t>When </a:t>
            </a:r>
            <a:r>
              <a:rPr lang="en-US" dirty="0"/>
              <a:t>the CPU is first switched on it has nothing inside the Memory. </a:t>
            </a:r>
            <a:endParaRPr lang="en-US" dirty="0" smtClean="0"/>
          </a:p>
          <a:p>
            <a:r>
              <a:rPr lang="en-US" dirty="0" smtClean="0"/>
              <a:t>In </a:t>
            </a:r>
            <a:r>
              <a:rPr lang="en-US" dirty="0"/>
              <a:t>order to start the Computer, load the Operating System into the Main Memory and then Computer is ready to take commands from the User. </a:t>
            </a:r>
          </a:p>
        </p:txBody>
      </p:sp>
    </p:spTree>
    <p:extLst>
      <p:ext uri="{BB962C8B-B14F-4D97-AF65-F5344CB8AC3E}">
        <p14:creationId xmlns:p14="http://schemas.microsoft.com/office/powerpoint/2010/main" val="27962543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rPr>
              <a:t>What happens in the Process of Booting</a:t>
            </a:r>
            <a:r>
              <a:rPr lang="en-US" dirty="0" smtClean="0">
                <a:effectLst/>
              </a:rPr>
              <a:t>?</a:t>
            </a:r>
            <a:endParaRPr lang="en-US" dirty="0"/>
          </a:p>
        </p:txBody>
      </p:sp>
      <p:sp>
        <p:nvSpPr>
          <p:cNvPr id="3" name="Content Placeholder 2"/>
          <p:cNvSpPr>
            <a:spLocks noGrp="1"/>
          </p:cNvSpPr>
          <p:nvPr>
            <p:ph idx="1"/>
          </p:nvPr>
        </p:nvSpPr>
        <p:spPr/>
        <p:txBody>
          <a:bodyPr>
            <a:normAutofit/>
          </a:bodyPr>
          <a:lstStyle/>
          <a:p>
            <a:r>
              <a:rPr lang="en-US" sz="1800" dirty="0"/>
              <a:t>Booting happens when you start the computer. This happens when we turned ON the power or the computer restarts. The system BIOS (Basic </a:t>
            </a:r>
            <a:r>
              <a:rPr lang="en-US" sz="1800" dirty="0" err="1"/>
              <a:t>Input/Output</a:t>
            </a:r>
            <a:r>
              <a:rPr lang="en-US" sz="1800" dirty="0"/>
              <a:t> System) makes the peripheral devices active. Further, it requires that the boot device loads the operating system into the main memory.</a:t>
            </a:r>
          </a:p>
        </p:txBody>
      </p:sp>
      <p:pic>
        <p:nvPicPr>
          <p:cNvPr id="3074" name="Picture 2" descr="boot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0700" y="2985419"/>
            <a:ext cx="6885756" cy="36212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84259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effectLst/>
              </a:rPr>
              <a:t>BIOS</a:t>
            </a:r>
            <a:endParaRPr lang="en-US" dirty="0"/>
          </a:p>
        </p:txBody>
      </p:sp>
      <p:sp>
        <p:nvSpPr>
          <p:cNvPr id="3" name="Content Placeholder 2"/>
          <p:cNvSpPr>
            <a:spLocks noGrp="1"/>
          </p:cNvSpPr>
          <p:nvPr>
            <p:ph idx="1"/>
          </p:nvPr>
        </p:nvSpPr>
        <p:spPr/>
        <p:txBody>
          <a:bodyPr>
            <a:normAutofit/>
          </a:bodyPr>
          <a:lstStyle/>
          <a:p>
            <a:r>
              <a:rPr lang="en-US" sz="2000" dirty="0" smtClean="0"/>
              <a:t>A computer's BIOS (basic input/output – typically stored on EPROM) is its </a:t>
            </a:r>
            <a:r>
              <a:rPr lang="en-US" sz="2000" b="1" dirty="0" smtClean="0"/>
              <a:t>motherboard </a:t>
            </a:r>
            <a:r>
              <a:rPr lang="en-US" sz="2000" dirty="0" smtClean="0"/>
              <a:t>firmware (Firmware is </a:t>
            </a:r>
            <a:r>
              <a:rPr lang="en-US" sz="2000" b="1" dirty="0" smtClean="0"/>
              <a:t>a type of software that is fixed directly into a piece of hardware</a:t>
            </a:r>
            <a:r>
              <a:rPr lang="en-US" sz="2000" dirty="0" smtClean="0"/>
              <a:t>. ), the software which runs at a lower level than the operating system and tells the computer what drive to </a:t>
            </a:r>
            <a:r>
              <a:rPr lang="en-US" sz="2000" dirty="0"/>
              <a:t>boot </a:t>
            </a:r>
            <a:r>
              <a:rPr lang="en-US" sz="2000" dirty="0" smtClean="0"/>
              <a:t>from</a:t>
            </a:r>
            <a:r>
              <a:rPr lang="en-US" sz="2000" dirty="0"/>
              <a:t> </a:t>
            </a:r>
            <a:r>
              <a:rPr lang="en-US" sz="2000" b="1" dirty="0"/>
              <a:t>RAM </a:t>
            </a:r>
            <a:r>
              <a:rPr lang="en-US" sz="2000" dirty="0"/>
              <a:t>you have and controls other key details like </a:t>
            </a:r>
            <a:r>
              <a:rPr lang="en-US" sz="2000" b="1" dirty="0"/>
              <a:t>CPU </a:t>
            </a:r>
            <a:r>
              <a:rPr lang="en-US" sz="2000" b="1" dirty="0" smtClean="0"/>
              <a:t>frequency</a:t>
            </a:r>
            <a:r>
              <a:rPr lang="en-US" sz="2000" dirty="0" smtClean="0"/>
              <a:t>. You can go into the BIOS menu to change your boot order.</a:t>
            </a:r>
          </a:p>
          <a:p>
            <a:r>
              <a:rPr lang="en-US" sz="2000" dirty="0" smtClean="0"/>
              <a:t>In </a:t>
            </a:r>
            <a:r>
              <a:rPr lang="en-US" sz="2000" dirty="0"/>
              <a:t>order to access BIOS on a Windows PC, you must press your BIOS key set by your manufacturer which could be F10, F2, F12, F1, or DEL.</a:t>
            </a:r>
          </a:p>
          <a:p>
            <a:r>
              <a:rPr lang="en-US" sz="2000" dirty="0" smtClean="0"/>
              <a:t>If your PC goes through its power on self-test startup too quickly, you can also enter BIOS through Windows 10’s advanced start menu recovery settings.</a:t>
            </a:r>
          </a:p>
          <a:p>
            <a:endParaRPr lang="en-US" sz="2000" dirty="0"/>
          </a:p>
        </p:txBody>
      </p:sp>
    </p:spTree>
    <p:extLst>
      <p:ext uri="{BB962C8B-B14F-4D97-AF65-F5344CB8AC3E}">
        <p14:creationId xmlns:p14="http://schemas.microsoft.com/office/powerpoint/2010/main" val="188313414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effectLst/>
              </a:rPr>
              <a:t>Boot Devices</a:t>
            </a:r>
            <a:endParaRPr lang="en-US" b="1" dirty="0">
              <a:effectLst/>
            </a:endParaRPr>
          </a:p>
        </p:txBody>
      </p:sp>
      <p:sp>
        <p:nvSpPr>
          <p:cNvPr id="3" name="Content Placeholder 2"/>
          <p:cNvSpPr>
            <a:spLocks noGrp="1"/>
          </p:cNvSpPr>
          <p:nvPr>
            <p:ph idx="1"/>
          </p:nvPr>
        </p:nvSpPr>
        <p:spPr/>
        <p:txBody>
          <a:bodyPr>
            <a:normAutofit/>
          </a:bodyPr>
          <a:lstStyle/>
          <a:p>
            <a:r>
              <a:rPr lang="en-US" sz="2400" dirty="0"/>
              <a:t>Booting can be done either through hardware (pressing the start button) or by giving software commands. </a:t>
            </a:r>
            <a:endParaRPr lang="en-US" sz="2400" dirty="0" smtClean="0"/>
          </a:p>
          <a:p>
            <a:r>
              <a:rPr lang="en-US" sz="2400" dirty="0" smtClean="0"/>
              <a:t>Therefore</a:t>
            </a:r>
            <a:r>
              <a:rPr lang="en-US" sz="2400" dirty="0"/>
              <a:t>, a boot device is a device that loads the operating system. </a:t>
            </a:r>
            <a:endParaRPr lang="en-US" sz="2400" dirty="0" smtClean="0"/>
          </a:p>
          <a:p>
            <a:r>
              <a:rPr lang="en-US" sz="2400" dirty="0" smtClean="0"/>
              <a:t>Moreover</a:t>
            </a:r>
            <a:r>
              <a:rPr lang="en-US" sz="2400" dirty="0"/>
              <a:t>, it contains the instructions and files which start the computer. </a:t>
            </a:r>
            <a:endParaRPr lang="en-US" sz="2400" dirty="0" smtClean="0"/>
          </a:p>
          <a:p>
            <a:r>
              <a:rPr lang="en-US" sz="2400" dirty="0" smtClean="0"/>
              <a:t>Examples </a:t>
            </a:r>
            <a:r>
              <a:rPr lang="en-US" sz="2400" dirty="0"/>
              <a:t>are the hard drive, floppy disk drive, CD drive, etc. Among them, the hard drive is the most used one.</a:t>
            </a:r>
          </a:p>
        </p:txBody>
      </p:sp>
    </p:spTree>
    <p:extLst>
      <p:ext uri="{BB962C8B-B14F-4D97-AF65-F5344CB8AC3E}">
        <p14:creationId xmlns:p14="http://schemas.microsoft.com/office/powerpoint/2010/main" val="19071024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t>Types of Booting</a:t>
            </a:r>
            <a:endParaRPr lang="en-US" sz="4400" b="1" dirty="0"/>
          </a:p>
        </p:txBody>
      </p:sp>
      <p:sp>
        <p:nvSpPr>
          <p:cNvPr id="3" name="Content Placeholder 2"/>
          <p:cNvSpPr>
            <a:spLocks noGrp="1"/>
          </p:cNvSpPr>
          <p:nvPr>
            <p:ph idx="1"/>
          </p:nvPr>
        </p:nvSpPr>
        <p:spPr/>
        <p:txBody>
          <a:bodyPr>
            <a:normAutofit fontScale="85000" lnSpcReduction="20000"/>
          </a:bodyPr>
          <a:lstStyle/>
          <a:p>
            <a:r>
              <a:rPr lang="en-US" sz="2400" dirty="0" smtClean="0"/>
              <a:t>There </a:t>
            </a:r>
            <a:r>
              <a:rPr lang="en-US" sz="2400" dirty="0"/>
              <a:t>are two types of booting:</a:t>
            </a:r>
          </a:p>
          <a:p>
            <a:r>
              <a:rPr lang="en-US" sz="2400" b="1" dirty="0"/>
              <a:t>Cold Booting</a:t>
            </a:r>
          </a:p>
          <a:p>
            <a:r>
              <a:rPr lang="en-US" sz="2400" dirty="0"/>
              <a:t>A cold boot is also called </a:t>
            </a:r>
            <a:r>
              <a:rPr lang="en-US" sz="2400" b="1" dirty="0"/>
              <a:t>a hard boot. </a:t>
            </a:r>
            <a:r>
              <a:rPr lang="en-US" sz="2400" dirty="0"/>
              <a:t>It is the process when we first start the computer. </a:t>
            </a:r>
            <a:endParaRPr lang="en-US" sz="2400" dirty="0" smtClean="0"/>
          </a:p>
          <a:p>
            <a:r>
              <a:rPr lang="en-US" sz="2400" dirty="0" smtClean="0"/>
              <a:t>In </a:t>
            </a:r>
            <a:r>
              <a:rPr lang="en-US" sz="2400" dirty="0"/>
              <a:t>other words, when the computer is started from its initial state by pressing the power button it is called cold boot. </a:t>
            </a:r>
            <a:endParaRPr lang="en-US" sz="2400" dirty="0" smtClean="0"/>
          </a:p>
          <a:p>
            <a:r>
              <a:rPr lang="en-US" sz="2400" dirty="0" smtClean="0"/>
              <a:t>The </a:t>
            </a:r>
            <a:r>
              <a:rPr lang="en-US" sz="2400" dirty="0"/>
              <a:t>instructions are read from the ROM and the operating system is loaded in the main memory.</a:t>
            </a:r>
          </a:p>
          <a:p>
            <a:r>
              <a:rPr lang="en-US" sz="2400" b="1" dirty="0"/>
              <a:t>Warm Booting</a:t>
            </a:r>
          </a:p>
          <a:p>
            <a:r>
              <a:rPr lang="en-US" sz="2400" dirty="0"/>
              <a:t>Warm Boot is also called </a:t>
            </a:r>
            <a:r>
              <a:rPr lang="en-US" sz="2400" b="1" dirty="0"/>
              <a:t>soft boot</a:t>
            </a:r>
            <a:r>
              <a:rPr lang="en-US" sz="2400" dirty="0"/>
              <a:t>. </a:t>
            </a:r>
            <a:endParaRPr lang="en-US" sz="2400" dirty="0" smtClean="0"/>
          </a:p>
          <a:p>
            <a:r>
              <a:rPr lang="en-US" sz="2400" dirty="0" smtClean="0"/>
              <a:t>It </a:t>
            </a:r>
            <a:r>
              <a:rPr lang="en-US" sz="2400" dirty="0"/>
              <a:t>refers to when we restart the computer. </a:t>
            </a:r>
            <a:endParaRPr lang="en-US" sz="2400" dirty="0" smtClean="0"/>
          </a:p>
          <a:p>
            <a:r>
              <a:rPr lang="en-US" sz="2400" dirty="0" smtClean="0"/>
              <a:t>Here</a:t>
            </a:r>
            <a:r>
              <a:rPr lang="en-US" sz="2400" dirty="0"/>
              <a:t>, the computer does not start from the initial state. </a:t>
            </a:r>
            <a:endParaRPr lang="en-US" sz="2400" dirty="0" smtClean="0"/>
          </a:p>
          <a:p>
            <a:r>
              <a:rPr lang="en-US" sz="2400" dirty="0" smtClean="0"/>
              <a:t>When </a:t>
            </a:r>
            <a:r>
              <a:rPr lang="en-US" sz="2400" dirty="0"/>
              <a:t>the system gets stuck sometimes it is required to restart it while it is ON. </a:t>
            </a:r>
            <a:endParaRPr lang="en-US" sz="2400" dirty="0" smtClean="0"/>
          </a:p>
          <a:p>
            <a:r>
              <a:rPr lang="en-US" sz="2400" dirty="0" smtClean="0"/>
              <a:t>Therefore</a:t>
            </a:r>
            <a:r>
              <a:rPr lang="en-US" sz="2400" dirty="0"/>
              <a:t>, in this condition the warm boot takes place. Restart button or CTRL+ALT+DELETE keys are used for warm boot.</a:t>
            </a:r>
          </a:p>
        </p:txBody>
      </p:sp>
    </p:spTree>
    <p:extLst>
      <p:ext uri="{BB962C8B-B14F-4D97-AF65-F5344CB8AC3E}">
        <p14:creationId xmlns:p14="http://schemas.microsoft.com/office/powerpoint/2010/main" val="3840829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a:effectLst/>
              </a:rPr>
              <a:t>Steps of Booting</a:t>
            </a:r>
            <a:endParaRPr lang="en-US" sz="4400" b="1" dirty="0">
              <a:effectLst/>
            </a:endParaRPr>
          </a:p>
        </p:txBody>
      </p:sp>
      <p:sp>
        <p:nvSpPr>
          <p:cNvPr id="3" name="Content Placeholder 2"/>
          <p:cNvSpPr>
            <a:spLocks noGrp="1"/>
          </p:cNvSpPr>
          <p:nvPr>
            <p:ph idx="1"/>
          </p:nvPr>
        </p:nvSpPr>
        <p:spPr/>
        <p:txBody>
          <a:bodyPr>
            <a:normAutofit/>
          </a:bodyPr>
          <a:lstStyle/>
          <a:p>
            <a:r>
              <a:rPr lang="en-US" sz="2000" dirty="0"/>
              <a:t>We can describe the boot process in six steps:</a:t>
            </a:r>
          </a:p>
          <a:p>
            <a:r>
              <a:rPr lang="en-US" sz="2000" b="1" dirty="0"/>
              <a:t>1. The Startup</a:t>
            </a:r>
          </a:p>
          <a:p>
            <a:r>
              <a:rPr lang="en-US" sz="2000" dirty="0"/>
              <a:t>It is the first step that involves switching the power ON. It supplies electricity to the main components like BIOS and processor.</a:t>
            </a:r>
          </a:p>
          <a:p>
            <a:r>
              <a:rPr lang="en-US" sz="2000" b="1" dirty="0"/>
              <a:t>2. BIOS: Power On Self Test</a:t>
            </a:r>
          </a:p>
          <a:p>
            <a:r>
              <a:rPr lang="en-US" sz="2000" dirty="0"/>
              <a:t>It is an initial test performed by the BIOS. </a:t>
            </a:r>
            <a:endParaRPr lang="en-US" sz="2000" dirty="0" smtClean="0"/>
          </a:p>
          <a:p>
            <a:r>
              <a:rPr lang="en-US" sz="2000" dirty="0" smtClean="0"/>
              <a:t>Further</a:t>
            </a:r>
            <a:r>
              <a:rPr lang="en-US" sz="2000" dirty="0"/>
              <a:t>, this test performs an initial check on the input/output devices, computer’s main memory, disk drives, etc. Moreover, if any error occurs, the system produces a beep sound.</a:t>
            </a:r>
          </a:p>
          <a:p>
            <a:r>
              <a:rPr lang="en-US" sz="2000" b="1" dirty="0"/>
              <a:t>3. Loading of OS</a:t>
            </a:r>
          </a:p>
          <a:p>
            <a:r>
              <a:rPr lang="en-US" sz="2000" dirty="0"/>
              <a:t>In this step, the operating system is loaded into the main memory. The operating system starts working and executes all the initial files and instructions.</a:t>
            </a:r>
          </a:p>
        </p:txBody>
      </p:sp>
    </p:spTree>
    <p:extLst>
      <p:ext uri="{BB962C8B-B14F-4D97-AF65-F5344CB8AC3E}">
        <p14:creationId xmlns:p14="http://schemas.microsoft.com/office/powerpoint/2010/main" val="138672316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effectLst/>
              </a:rPr>
              <a:t>Steps of Booting</a:t>
            </a:r>
            <a:endParaRPr lang="en-US" dirty="0"/>
          </a:p>
        </p:txBody>
      </p:sp>
      <p:sp>
        <p:nvSpPr>
          <p:cNvPr id="3" name="Content Placeholder 2"/>
          <p:cNvSpPr>
            <a:spLocks noGrp="1"/>
          </p:cNvSpPr>
          <p:nvPr>
            <p:ph idx="1"/>
          </p:nvPr>
        </p:nvSpPr>
        <p:spPr/>
        <p:txBody>
          <a:bodyPr>
            <a:normAutofit fontScale="85000" lnSpcReduction="20000"/>
          </a:bodyPr>
          <a:lstStyle/>
          <a:p>
            <a:r>
              <a:rPr lang="en-US" b="1" dirty="0"/>
              <a:t>4. System Configuration</a:t>
            </a:r>
          </a:p>
          <a:p>
            <a:r>
              <a:rPr lang="en-US" dirty="0"/>
              <a:t>In this step, the drivers are loaded into the main memory. Drivers are programs that help in the functioning of the peripheral devices.</a:t>
            </a:r>
          </a:p>
          <a:p>
            <a:r>
              <a:rPr lang="en-US" b="1" dirty="0"/>
              <a:t>5. Loading System Utilities</a:t>
            </a:r>
          </a:p>
          <a:p>
            <a:r>
              <a:rPr lang="en-US" dirty="0"/>
              <a:t>System utilities are basic functioning programs, for example, volume control, antivirus, etc. In this step, system utilities are loaded into the memory.</a:t>
            </a:r>
          </a:p>
          <a:p>
            <a:r>
              <a:rPr lang="en-US" b="1" dirty="0"/>
              <a:t>6. User Authentication</a:t>
            </a:r>
          </a:p>
          <a:p>
            <a:r>
              <a:rPr lang="en-US" dirty="0"/>
              <a:t>If any password has been set up in the computer system, the system checks for user authentication. Once the user enters the login Id and password correctly the system finally starts.</a:t>
            </a:r>
          </a:p>
          <a:p>
            <a:endParaRPr lang="en-US" dirty="0"/>
          </a:p>
        </p:txBody>
      </p:sp>
    </p:spTree>
    <p:extLst>
      <p:ext uri="{BB962C8B-B14F-4D97-AF65-F5344CB8AC3E}">
        <p14:creationId xmlns:p14="http://schemas.microsoft.com/office/powerpoint/2010/main" val="42593106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Computer Name</a:t>
            </a:r>
            <a:endParaRPr lang="en-US" dirty="0"/>
          </a:p>
        </p:txBody>
      </p:sp>
      <p:sp>
        <p:nvSpPr>
          <p:cNvPr id="3" name="Content Placeholder 2"/>
          <p:cNvSpPr>
            <a:spLocks noGrp="1"/>
          </p:cNvSpPr>
          <p:nvPr>
            <p:ph idx="1"/>
          </p:nvPr>
        </p:nvSpPr>
        <p:spPr/>
        <p:txBody>
          <a:bodyPr>
            <a:normAutofit fontScale="85000" lnSpcReduction="20000"/>
          </a:bodyPr>
          <a:lstStyle/>
          <a:p>
            <a:r>
              <a:rPr lang="en-US" dirty="0"/>
              <a:t>A computer name is a unique identifier that is given to each computer and is </a:t>
            </a:r>
            <a:r>
              <a:rPr lang="en-US" dirty="0" smtClean="0"/>
              <a:t>used to </a:t>
            </a:r>
            <a:r>
              <a:rPr lang="en-US" dirty="0"/>
              <a:t>locate and connect to a computer in order to perform routine maintenance, as well as provide remote technical assistance. </a:t>
            </a:r>
            <a:endParaRPr lang="en-US" dirty="0" smtClean="0"/>
          </a:p>
          <a:p>
            <a:r>
              <a:rPr lang="en-US" dirty="0" smtClean="0"/>
              <a:t>Computer </a:t>
            </a:r>
            <a:r>
              <a:rPr lang="en-US" dirty="0"/>
              <a:t>names are also required for those employees who wish to remote into their office machine from another location; such as from </a:t>
            </a:r>
            <a:r>
              <a:rPr lang="en-US" dirty="0" smtClean="0"/>
              <a:t>home.</a:t>
            </a:r>
          </a:p>
          <a:p>
            <a:r>
              <a:rPr lang="en-US" dirty="0" smtClean="0"/>
              <a:t>All </a:t>
            </a:r>
            <a:r>
              <a:rPr lang="en-US" dirty="0"/>
              <a:t>computer names are set up in a standard format that contains location and identifying information. You can locate the computer name of a PC by completing the following steps:</a:t>
            </a:r>
          </a:p>
        </p:txBody>
      </p:sp>
    </p:spTree>
    <p:extLst>
      <p:ext uri="{BB962C8B-B14F-4D97-AF65-F5344CB8AC3E}">
        <p14:creationId xmlns:p14="http://schemas.microsoft.com/office/powerpoint/2010/main" val="11381542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Computer Name</a:t>
            </a:r>
            <a:endParaRPr lang="en-US" dirty="0"/>
          </a:p>
        </p:txBody>
      </p:sp>
      <p:sp>
        <p:nvSpPr>
          <p:cNvPr id="3" name="Content Placeholder 2"/>
          <p:cNvSpPr>
            <a:spLocks noGrp="1"/>
          </p:cNvSpPr>
          <p:nvPr>
            <p:ph idx="1"/>
          </p:nvPr>
        </p:nvSpPr>
        <p:spPr/>
        <p:txBody>
          <a:bodyPr>
            <a:normAutofit fontScale="92500" lnSpcReduction="10000"/>
          </a:bodyPr>
          <a:lstStyle/>
          <a:p>
            <a:pPr fontAlgn="base"/>
            <a:r>
              <a:rPr lang="en-US" dirty="0"/>
              <a:t>On the desktop, right-click the </a:t>
            </a:r>
            <a:r>
              <a:rPr lang="en-US" b="1" dirty="0"/>
              <a:t>Computer</a:t>
            </a:r>
            <a:r>
              <a:rPr lang="en-US" dirty="0"/>
              <a:t> icon and select </a:t>
            </a:r>
            <a:r>
              <a:rPr lang="en-US" b="1" dirty="0"/>
              <a:t>Properties</a:t>
            </a:r>
            <a:r>
              <a:rPr lang="en-US" dirty="0"/>
              <a:t> from the menu that appears.</a:t>
            </a:r>
          </a:p>
          <a:p>
            <a:pPr fontAlgn="base"/>
            <a:r>
              <a:rPr lang="en-US" dirty="0"/>
              <a:t>In the dialog box that appears, the full computer name can be located in the </a:t>
            </a:r>
            <a:r>
              <a:rPr lang="en-US" b="1" dirty="0"/>
              <a:t>Computer Name, Domain, and Workgroup Settings</a:t>
            </a:r>
            <a:r>
              <a:rPr lang="en-US" dirty="0"/>
              <a:t> section</a:t>
            </a:r>
            <a:r>
              <a:rPr lang="en-US" dirty="0" smtClean="0"/>
              <a:t>.</a:t>
            </a:r>
          </a:p>
          <a:p>
            <a:pPr fontAlgn="base"/>
            <a:r>
              <a:rPr lang="en-US" dirty="0" smtClean="0"/>
              <a:t>Or open command prompt and then type hostname command it will also display computer name.</a:t>
            </a:r>
            <a:endParaRPr lang="en-US" dirty="0"/>
          </a:p>
          <a:p>
            <a:endParaRPr lang="en-US" dirty="0"/>
          </a:p>
        </p:txBody>
      </p:sp>
    </p:spTree>
    <p:extLst>
      <p:ext uri="{BB962C8B-B14F-4D97-AF65-F5344CB8AC3E}">
        <p14:creationId xmlns:p14="http://schemas.microsoft.com/office/powerpoint/2010/main" val="250043163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Workgroup</a:t>
            </a:r>
            <a:endParaRPr lang="en-US" dirty="0"/>
          </a:p>
        </p:txBody>
      </p:sp>
      <p:sp>
        <p:nvSpPr>
          <p:cNvPr id="3" name="Content Placeholder 2"/>
          <p:cNvSpPr>
            <a:spLocks noGrp="1"/>
          </p:cNvSpPr>
          <p:nvPr>
            <p:ph idx="1"/>
          </p:nvPr>
        </p:nvSpPr>
        <p:spPr/>
        <p:txBody>
          <a:bodyPr/>
          <a:lstStyle/>
          <a:p>
            <a:r>
              <a:rPr lang="en-US" dirty="0"/>
              <a:t>A workgroup is a peer-to-peer network using Microsoft software. A workgroup allows all participating and connected systems to access shared resources such as files, system resources and printers</a:t>
            </a:r>
            <a:r>
              <a:rPr lang="en-US" dirty="0" smtClean="0"/>
              <a:t>.</a:t>
            </a:r>
          </a:p>
          <a:p>
            <a:endParaRPr lang="en-US" dirty="0"/>
          </a:p>
        </p:txBody>
      </p:sp>
    </p:spTree>
    <p:extLst>
      <p:ext uri="{BB962C8B-B14F-4D97-AF65-F5344CB8AC3E}">
        <p14:creationId xmlns:p14="http://schemas.microsoft.com/office/powerpoint/2010/main" val="20135597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What is the difference between a domain and a workgroup</a:t>
            </a:r>
            <a:r>
              <a:rPr lang="en-US" dirty="0" smtClean="0"/>
              <a:t>?</a:t>
            </a:r>
            <a:endParaRPr lang="en-US" dirty="0"/>
          </a:p>
        </p:txBody>
      </p:sp>
      <p:sp>
        <p:nvSpPr>
          <p:cNvPr id="3" name="Content Placeholder 2"/>
          <p:cNvSpPr>
            <a:spLocks noGrp="1"/>
          </p:cNvSpPr>
          <p:nvPr>
            <p:ph idx="1"/>
          </p:nvPr>
        </p:nvSpPr>
        <p:spPr>
          <a:xfrm>
            <a:off x="1435608" y="1447800"/>
            <a:ext cx="7498080" cy="5149552"/>
          </a:xfrm>
        </p:spPr>
        <p:txBody>
          <a:bodyPr>
            <a:normAutofit fontScale="40000" lnSpcReduction="20000"/>
          </a:bodyPr>
          <a:lstStyle/>
          <a:p>
            <a:r>
              <a:rPr lang="en-US" sz="4300" dirty="0" smtClean="0"/>
              <a:t>Computers </a:t>
            </a:r>
            <a:r>
              <a:rPr lang="en-US" sz="4300" dirty="0"/>
              <a:t>on a network can be part of a workgroup or a domain. The main difference between workgroups and domains is how resources on the network are managed. Computers on home networks are usually part of a workgroup, and computers on workplace networks are usually part of a domain.</a:t>
            </a:r>
          </a:p>
          <a:p>
            <a:r>
              <a:rPr lang="en-US" sz="4300" b="1" dirty="0"/>
              <a:t>In a workgroup:</a:t>
            </a:r>
          </a:p>
          <a:p>
            <a:r>
              <a:rPr lang="en-US" sz="4300" dirty="0"/>
              <a:t>All computers are peers; no computer has control over another computer.</a:t>
            </a:r>
          </a:p>
          <a:p>
            <a:r>
              <a:rPr lang="en-US" sz="4300" dirty="0"/>
              <a:t>Each computer has a set of user accounts. To use any computer in the workgroup, you must have an account on that computer.</a:t>
            </a:r>
          </a:p>
          <a:p>
            <a:r>
              <a:rPr lang="en-US" sz="4300" dirty="0" smtClean="0"/>
              <a:t>All </a:t>
            </a:r>
            <a:r>
              <a:rPr lang="en-US" sz="4300" dirty="0"/>
              <a:t>computers must be on the same local </a:t>
            </a:r>
            <a:r>
              <a:rPr lang="en-US" sz="4300" dirty="0" smtClean="0"/>
              <a:t>network.</a:t>
            </a:r>
            <a:endParaRPr lang="en-US" sz="4300" dirty="0"/>
          </a:p>
          <a:p>
            <a:r>
              <a:rPr lang="en-US" sz="4300" b="1" dirty="0"/>
              <a:t>In a domain:</a:t>
            </a:r>
          </a:p>
          <a:p>
            <a:r>
              <a:rPr lang="en-US" sz="4300" dirty="0"/>
              <a:t>One or more computers are servers. Network administrators use servers to control the security and permissions for all computers on the domain. This makes it easy to make changes because the changes are automatically made to all computers.</a:t>
            </a:r>
          </a:p>
          <a:p>
            <a:r>
              <a:rPr lang="en-US" sz="4300" dirty="0"/>
              <a:t>If you have a user account on the domain, you can log on to any computer on the domain without needing an account on that computer.</a:t>
            </a:r>
          </a:p>
          <a:p>
            <a:r>
              <a:rPr lang="en-US" sz="4300" dirty="0"/>
              <a:t>There can be hundreds or thousands of computers.</a:t>
            </a:r>
          </a:p>
          <a:p>
            <a:r>
              <a:rPr lang="en-US" sz="4300" dirty="0"/>
              <a:t>The computers can be on different local networks.</a:t>
            </a:r>
          </a:p>
          <a:p>
            <a:r>
              <a:rPr lang="en-US" sz="4300" dirty="0"/>
              <a:t>Due to the increase security and manageability in a domain environment </a:t>
            </a:r>
            <a:r>
              <a:rPr lang="en-US" sz="4300" dirty="0" smtClean="0"/>
              <a:t>it is</a:t>
            </a:r>
            <a:r>
              <a:rPr lang="en-US" sz="4300" dirty="0"/>
              <a:t> always </a:t>
            </a:r>
            <a:r>
              <a:rPr lang="en-US" sz="4300" dirty="0" smtClean="0"/>
              <a:t>recommended to implement </a:t>
            </a:r>
            <a:r>
              <a:rPr lang="en-US" sz="4300" dirty="0"/>
              <a:t>a domain environment for our clients</a:t>
            </a:r>
          </a:p>
          <a:p>
            <a:endParaRPr lang="en-US" dirty="0"/>
          </a:p>
        </p:txBody>
      </p:sp>
    </p:spTree>
    <p:extLst>
      <p:ext uri="{BB962C8B-B14F-4D97-AF65-F5344CB8AC3E}">
        <p14:creationId xmlns:p14="http://schemas.microsoft.com/office/powerpoint/2010/main" val="5587497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IP</a:t>
            </a:r>
            <a:endParaRPr lang="en-US" dirty="0"/>
          </a:p>
        </p:txBody>
      </p:sp>
      <p:sp>
        <p:nvSpPr>
          <p:cNvPr id="3" name="Content Placeholder 2"/>
          <p:cNvSpPr>
            <a:spLocks noGrp="1"/>
          </p:cNvSpPr>
          <p:nvPr>
            <p:ph idx="1"/>
          </p:nvPr>
        </p:nvSpPr>
        <p:spPr>
          <a:xfrm>
            <a:off x="1435608" y="1124744"/>
            <a:ext cx="7498080" cy="5616624"/>
          </a:xfrm>
        </p:spPr>
        <p:txBody>
          <a:bodyPr>
            <a:normAutofit fontScale="77500" lnSpcReduction="20000"/>
          </a:bodyPr>
          <a:lstStyle/>
          <a:p>
            <a:pPr fontAlgn="base"/>
            <a:r>
              <a:rPr lang="en-US" dirty="0"/>
              <a:t>An IP address is a unique address that identifies a device on the internet or a local network. IP stands for "Internet Protocol," which is the set of rules governing the format of data sent via the internet or local network.</a:t>
            </a:r>
          </a:p>
          <a:p>
            <a:pPr fontAlgn="base"/>
            <a:r>
              <a:rPr lang="en-US" dirty="0"/>
              <a:t>In essence, IP addresses are the identifier that allows information to be sent between devices on a network: they contain location information and make devices accessible for communication. The internet needs a way to differentiate between different computers, routers, and websites. </a:t>
            </a:r>
            <a:endParaRPr lang="en-US" dirty="0" smtClean="0"/>
          </a:p>
          <a:p>
            <a:pPr fontAlgn="base"/>
            <a:r>
              <a:rPr lang="en-US" dirty="0"/>
              <a:t>An IP address is a string of numbers separated by periods. IP addresses are expressed as a set of four numbers — an example address might be 192.158.1.38. Each number in the set can range from 0 to 255. So, the full IP addressing range goes from 0.0.0.0 to 255.255.255.255.</a:t>
            </a:r>
          </a:p>
        </p:txBody>
      </p:sp>
    </p:spTree>
    <p:extLst>
      <p:ext uri="{BB962C8B-B14F-4D97-AF65-F5344CB8AC3E}">
        <p14:creationId xmlns:p14="http://schemas.microsoft.com/office/powerpoint/2010/main" val="38347301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Find IP Address</a:t>
            </a:r>
            <a:endParaRPr lang="en-US" dirty="0"/>
          </a:p>
        </p:txBody>
      </p:sp>
      <p:sp>
        <p:nvSpPr>
          <p:cNvPr id="3" name="Content Placeholder 2"/>
          <p:cNvSpPr>
            <a:spLocks noGrp="1"/>
          </p:cNvSpPr>
          <p:nvPr>
            <p:ph idx="1"/>
          </p:nvPr>
        </p:nvSpPr>
        <p:spPr>
          <a:xfrm>
            <a:off x="1435608" y="1124744"/>
            <a:ext cx="7498080" cy="5616624"/>
          </a:xfrm>
        </p:spPr>
        <p:txBody>
          <a:bodyPr>
            <a:normAutofit/>
          </a:bodyPr>
          <a:lstStyle/>
          <a:p>
            <a:pPr fontAlgn="base"/>
            <a:r>
              <a:rPr lang="en-US" dirty="0"/>
              <a:t>First, </a:t>
            </a:r>
            <a:r>
              <a:rPr lang="en-US" b="1" dirty="0"/>
              <a:t>click on your Start Menu and type </a:t>
            </a:r>
            <a:r>
              <a:rPr lang="en-US" b="1" dirty="0" err="1"/>
              <a:t>cmd</a:t>
            </a:r>
            <a:r>
              <a:rPr lang="en-US" b="1" dirty="0"/>
              <a:t> in the search box and press enter.</a:t>
            </a:r>
            <a:r>
              <a:rPr lang="en-US" dirty="0"/>
              <a:t> </a:t>
            </a:r>
            <a:endParaRPr lang="en-US" dirty="0" smtClean="0"/>
          </a:p>
          <a:p>
            <a:pPr fontAlgn="base"/>
            <a:r>
              <a:rPr lang="en-US" b="1" dirty="0" smtClean="0"/>
              <a:t>Type</a:t>
            </a:r>
            <a:r>
              <a:rPr lang="en-US" b="1" dirty="0"/>
              <a:t> </a:t>
            </a:r>
            <a:r>
              <a:rPr lang="en-US" b="1" dirty="0" err="1"/>
              <a:t>ipconfig</a:t>
            </a:r>
            <a:r>
              <a:rPr lang="en-US" b="1" dirty="0"/>
              <a:t> /all and press enter</a:t>
            </a:r>
            <a:r>
              <a:rPr lang="en-US" dirty="0"/>
              <a:t>. There is a space between the command </a:t>
            </a:r>
            <a:r>
              <a:rPr lang="en-US" dirty="0" err="1"/>
              <a:t>ipconfig</a:t>
            </a:r>
            <a:r>
              <a:rPr lang="en-US" dirty="0"/>
              <a:t> and the switch of /all. Your </a:t>
            </a:r>
            <a:r>
              <a:rPr lang="en-US" dirty="0" err="1"/>
              <a:t>ip</a:t>
            </a:r>
            <a:r>
              <a:rPr lang="en-US" dirty="0"/>
              <a:t> address will be the IPv4 address</a:t>
            </a:r>
            <a:r>
              <a:rPr lang="en-US" dirty="0" smtClean="0"/>
              <a:t>.</a:t>
            </a:r>
          </a:p>
          <a:p>
            <a:pPr fontAlgn="base"/>
            <a:r>
              <a:rPr lang="en-US" dirty="0" smtClean="0"/>
              <a:t>Another way to find IP address is, type network and sharing center in run, click local area connection, then click details, IPv4 is your IP address.</a:t>
            </a:r>
            <a:endParaRPr lang="en-US" dirty="0"/>
          </a:p>
        </p:txBody>
      </p:sp>
    </p:spTree>
    <p:extLst>
      <p:ext uri="{BB962C8B-B14F-4D97-AF65-F5344CB8AC3E}">
        <p14:creationId xmlns:p14="http://schemas.microsoft.com/office/powerpoint/2010/main" val="21369007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DNS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a:t>
            </a:r>
            <a:r>
              <a:rPr lang="en-US" dirty="0"/>
              <a:t>Domain Name System (DNS) is the phonebook of the Internet. Humans access information online through domain names, like nytimes.com or espn.com. Web browsers interact through Internet Protocol (IP) addresses. DNS translates domain names to IP addresses so browsers can load Internet resources.</a:t>
            </a:r>
          </a:p>
          <a:p>
            <a:r>
              <a:rPr lang="en-US" dirty="0"/>
              <a:t>Each device connected to the Internet has a unique IP address which other machines use to find the device. DNS servers eliminate the need for humans to memorize IP addresses such as 192.168.1.1 </a:t>
            </a:r>
          </a:p>
          <a:p>
            <a:endParaRPr lang="en-US" dirty="0"/>
          </a:p>
        </p:txBody>
      </p:sp>
    </p:spTree>
    <p:extLst>
      <p:ext uri="{BB962C8B-B14F-4D97-AF65-F5344CB8AC3E}">
        <p14:creationId xmlns:p14="http://schemas.microsoft.com/office/powerpoint/2010/main" val="10406087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How DNS </a:t>
            </a:r>
            <a:r>
              <a:rPr lang="en-US" b="1" dirty="0" smtClean="0">
                <a:effectLst/>
              </a:rPr>
              <a:t>works</a:t>
            </a:r>
            <a:endParaRPr lang="en-US" dirty="0"/>
          </a:p>
        </p:txBody>
      </p:sp>
      <p:sp>
        <p:nvSpPr>
          <p:cNvPr id="3" name="Content Placeholder 2"/>
          <p:cNvSpPr>
            <a:spLocks noGrp="1"/>
          </p:cNvSpPr>
          <p:nvPr>
            <p:ph idx="1"/>
          </p:nvPr>
        </p:nvSpPr>
        <p:spPr/>
        <p:txBody>
          <a:bodyPr>
            <a:normAutofit/>
          </a:bodyPr>
          <a:lstStyle/>
          <a:p>
            <a:r>
              <a:rPr lang="en-US" dirty="0"/>
              <a:t>DNS servers convert URLs and domain names into IP addresses that computers can understand and use</a:t>
            </a:r>
            <a:r>
              <a:rPr lang="en-US"/>
              <a:t>. </a:t>
            </a:r>
            <a:endParaRPr lang="en-US" smtClean="0"/>
          </a:p>
          <a:p>
            <a:r>
              <a:rPr lang="en-US" smtClean="0"/>
              <a:t>They </a:t>
            </a:r>
            <a:r>
              <a:rPr lang="en-US" dirty="0"/>
              <a:t>translate what a user types into a browser into something the machine can use to find a webpage. This process of translation and lookup is called </a:t>
            </a:r>
            <a:r>
              <a:rPr lang="en-US" i="1" dirty="0"/>
              <a:t>DNS resolution</a:t>
            </a:r>
            <a:r>
              <a:rPr lang="en-US" dirty="0"/>
              <a:t>.</a:t>
            </a:r>
          </a:p>
        </p:txBody>
      </p:sp>
    </p:spTree>
    <p:extLst>
      <p:ext uri="{BB962C8B-B14F-4D97-AF65-F5344CB8AC3E}">
        <p14:creationId xmlns:p14="http://schemas.microsoft.com/office/powerpoint/2010/main" val="207424864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How DNS </a:t>
            </a:r>
            <a:r>
              <a:rPr lang="en-US" b="1" dirty="0" smtClean="0">
                <a:effectLst/>
              </a:rPr>
              <a:t>works</a:t>
            </a:r>
            <a:endParaRPr lang="en-US" dirty="0"/>
          </a:p>
        </p:txBody>
      </p:sp>
      <p:sp>
        <p:nvSpPr>
          <p:cNvPr id="3" name="Content Placeholder 2"/>
          <p:cNvSpPr>
            <a:spLocks noGrp="1"/>
          </p:cNvSpPr>
          <p:nvPr>
            <p:ph idx="1"/>
          </p:nvPr>
        </p:nvSpPr>
        <p:spPr>
          <a:xfrm>
            <a:off x="1435608" y="1148680"/>
            <a:ext cx="7498080" cy="4800600"/>
          </a:xfrm>
        </p:spPr>
        <p:txBody>
          <a:bodyPr>
            <a:noAutofit/>
          </a:bodyPr>
          <a:lstStyle/>
          <a:p>
            <a:r>
              <a:rPr lang="en-US" sz="2200" dirty="0"/>
              <a:t>The basic process of a DNS resolution follows these steps:</a:t>
            </a:r>
          </a:p>
          <a:p>
            <a:pPr marL="82296" indent="0">
              <a:buNone/>
            </a:pPr>
            <a:r>
              <a:rPr lang="en-US" sz="2200" dirty="0" smtClean="0"/>
              <a:t>1. The </a:t>
            </a:r>
            <a:r>
              <a:rPr lang="en-US" sz="2200" dirty="0"/>
              <a:t>user enters a web address or domain name into a browser.</a:t>
            </a:r>
          </a:p>
          <a:p>
            <a:pPr marL="82296" indent="0">
              <a:buNone/>
            </a:pPr>
            <a:r>
              <a:rPr lang="en-US" sz="2200" dirty="0" smtClean="0"/>
              <a:t>2. The </a:t>
            </a:r>
            <a:r>
              <a:rPr lang="en-US" sz="2200" dirty="0"/>
              <a:t>browser sends a message, called a </a:t>
            </a:r>
            <a:r>
              <a:rPr lang="en-US" sz="2200" i="1" u="sng" dirty="0"/>
              <a:t>recursive DNS query</a:t>
            </a:r>
            <a:r>
              <a:rPr lang="en-US" sz="2200" dirty="0"/>
              <a:t>, to the network to find out which IP or network address the domain corresponds to.</a:t>
            </a:r>
          </a:p>
          <a:p>
            <a:pPr marL="82296" indent="0">
              <a:buNone/>
            </a:pPr>
            <a:r>
              <a:rPr lang="en-US" sz="2200" dirty="0" smtClean="0"/>
              <a:t>3. The </a:t>
            </a:r>
            <a:r>
              <a:rPr lang="en-US" sz="2200" dirty="0"/>
              <a:t>query goes to a </a:t>
            </a:r>
            <a:r>
              <a:rPr lang="en-US" sz="2200" b="1" u="sng" dirty="0"/>
              <a:t>recursive DNS server</a:t>
            </a:r>
            <a:r>
              <a:rPr lang="en-US" sz="2200" b="1" dirty="0"/>
              <a:t>,</a:t>
            </a:r>
            <a:r>
              <a:rPr lang="en-US" sz="2200" dirty="0"/>
              <a:t> which is also called a </a:t>
            </a:r>
            <a:r>
              <a:rPr lang="en-US" sz="2200" i="1" dirty="0"/>
              <a:t>recursive resolver</a:t>
            </a:r>
            <a:r>
              <a:rPr lang="en-US" sz="2200" dirty="0"/>
              <a:t>, and is usually managed by the internet service provider (</a:t>
            </a:r>
            <a:r>
              <a:rPr lang="en-US" sz="2200" u="sng" dirty="0"/>
              <a:t>ISP</a:t>
            </a:r>
            <a:r>
              <a:rPr lang="en-US" sz="2200" dirty="0"/>
              <a:t>). If the recursive resolver has the address, it will return the address to the user, and the webpage will load.</a:t>
            </a:r>
          </a:p>
          <a:p>
            <a:pPr marL="82296" indent="0">
              <a:buNone/>
            </a:pPr>
            <a:r>
              <a:rPr lang="en-US" sz="2200" dirty="0" smtClean="0"/>
              <a:t>4. If </a:t>
            </a:r>
            <a:r>
              <a:rPr lang="en-US" sz="2200" dirty="0"/>
              <a:t>the recursive DNS server does not have an answer, it will query a series of other servers in the following order: DNS </a:t>
            </a:r>
            <a:r>
              <a:rPr lang="en-US" sz="2200" b="1" dirty="0"/>
              <a:t>root name servers, top-level domain (TLD) name servers and authoritative name servers.</a:t>
            </a:r>
          </a:p>
          <a:p>
            <a:pPr marL="82296" indent="0">
              <a:buNone/>
            </a:pPr>
            <a:endParaRPr lang="en-US" sz="1600" dirty="0"/>
          </a:p>
        </p:txBody>
      </p:sp>
    </p:spTree>
    <p:extLst>
      <p:ext uri="{BB962C8B-B14F-4D97-AF65-F5344CB8AC3E}">
        <p14:creationId xmlns:p14="http://schemas.microsoft.com/office/powerpoint/2010/main" val="313033026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rPr>
              <a:t>How DNS </a:t>
            </a:r>
            <a:r>
              <a:rPr lang="en-US" b="1" dirty="0" smtClean="0">
                <a:effectLst/>
              </a:rPr>
              <a:t>works</a:t>
            </a:r>
            <a:endParaRPr lang="en-US" dirty="0"/>
          </a:p>
        </p:txBody>
      </p:sp>
      <p:sp>
        <p:nvSpPr>
          <p:cNvPr id="3" name="Content Placeholder 2"/>
          <p:cNvSpPr>
            <a:spLocks noGrp="1"/>
          </p:cNvSpPr>
          <p:nvPr>
            <p:ph idx="1"/>
          </p:nvPr>
        </p:nvSpPr>
        <p:spPr>
          <a:xfrm>
            <a:off x="1435608" y="1148680"/>
            <a:ext cx="7498080" cy="4800600"/>
          </a:xfrm>
        </p:spPr>
        <p:txBody>
          <a:bodyPr>
            <a:noAutofit/>
          </a:bodyPr>
          <a:lstStyle/>
          <a:p>
            <a:pPr marL="82296" indent="0">
              <a:buNone/>
            </a:pPr>
            <a:r>
              <a:rPr lang="en-US" sz="2200" dirty="0" smtClean="0"/>
              <a:t>5. The </a:t>
            </a:r>
            <a:r>
              <a:rPr lang="en-US" sz="2200" dirty="0"/>
              <a:t>three server types work together and continue redirecting until they retrieve a DNS record that contains the queried IP address. It sends this information to the recursive DNS server, and the webpage the user is looking for loads. DNS root name servers and top-level domain </a:t>
            </a:r>
            <a:r>
              <a:rPr lang="en-US" sz="2200" dirty="0" smtClean="0"/>
              <a:t>(TLD) </a:t>
            </a:r>
            <a:r>
              <a:rPr lang="en-US" sz="2200" dirty="0"/>
              <a:t>servers primarily redirect queries and rarely provide the resolution themselves.</a:t>
            </a:r>
          </a:p>
          <a:p>
            <a:pPr marL="82296" indent="0">
              <a:buNone/>
            </a:pPr>
            <a:r>
              <a:rPr lang="en-US" sz="2200" dirty="0" smtClean="0"/>
              <a:t>6. The </a:t>
            </a:r>
            <a:r>
              <a:rPr lang="en-US" sz="2200" dirty="0"/>
              <a:t>recursive server stores, or </a:t>
            </a:r>
            <a:r>
              <a:rPr lang="en-US" sz="2200" u="sng" dirty="0"/>
              <a:t>caches</a:t>
            </a:r>
            <a:r>
              <a:rPr lang="en-US" sz="2200" dirty="0"/>
              <a:t>, </a:t>
            </a:r>
            <a:r>
              <a:rPr lang="en-US" sz="2200" dirty="0" smtClean="0"/>
              <a:t>the </a:t>
            </a:r>
            <a:r>
              <a:rPr lang="en-US" sz="2200" dirty="0"/>
              <a:t>record for the domain name, which contains the IP address. The next time it receives a request for that domain name, it can respond directly to the user instead of querying other servers.</a:t>
            </a:r>
          </a:p>
          <a:p>
            <a:pPr marL="82296" indent="0">
              <a:buNone/>
            </a:pPr>
            <a:r>
              <a:rPr lang="en-US" sz="2200" dirty="0" smtClean="0"/>
              <a:t>7. If </a:t>
            </a:r>
            <a:r>
              <a:rPr lang="en-US" sz="2200" dirty="0"/>
              <a:t>the query reaches the authoritative server and it cannot find the information, it returns an error message</a:t>
            </a:r>
            <a:r>
              <a:rPr lang="en-US" sz="2200" dirty="0" smtClean="0"/>
              <a:t>.</a:t>
            </a:r>
            <a:endParaRPr lang="en-US" sz="2200" dirty="0"/>
          </a:p>
        </p:txBody>
      </p:sp>
    </p:spTree>
    <p:extLst>
      <p:ext uri="{BB962C8B-B14F-4D97-AF65-F5344CB8AC3E}">
        <p14:creationId xmlns:p14="http://schemas.microsoft.com/office/powerpoint/2010/main" val="150457124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Proxy server</a:t>
            </a:r>
            <a:endParaRPr lang="en-US" dirty="0"/>
          </a:p>
        </p:txBody>
      </p:sp>
      <p:sp>
        <p:nvSpPr>
          <p:cNvPr id="3" name="Content Placeholder 2"/>
          <p:cNvSpPr>
            <a:spLocks noGrp="1"/>
          </p:cNvSpPr>
          <p:nvPr>
            <p:ph idx="1"/>
          </p:nvPr>
        </p:nvSpPr>
        <p:spPr/>
        <p:txBody>
          <a:bodyPr>
            <a:normAutofit fontScale="92500" lnSpcReduction="10000"/>
          </a:bodyPr>
          <a:lstStyle/>
          <a:p>
            <a:r>
              <a:rPr lang="en-US" dirty="0"/>
              <a:t>Proxy servers work by facilitating web requests and responses between a user and web server</a:t>
            </a:r>
            <a:r>
              <a:rPr lang="en-US" dirty="0" smtClean="0"/>
              <a:t>.</a:t>
            </a:r>
            <a:endParaRPr lang="en-US" dirty="0"/>
          </a:p>
          <a:p>
            <a:r>
              <a:rPr lang="en-US" dirty="0"/>
              <a:t>Typically, a user accesses a website by sending a direct request to its web server from a web browser</a:t>
            </a:r>
            <a:r>
              <a:rPr lang="en-US" b="1" dirty="0"/>
              <a:t> </a:t>
            </a:r>
            <a:r>
              <a:rPr lang="en-US" dirty="0"/>
              <a:t>via their IP address. The web server then sends a response containing the website data directly back to the user. </a:t>
            </a:r>
          </a:p>
          <a:p>
            <a:r>
              <a:rPr lang="en-US" dirty="0"/>
              <a:t/>
            </a:r>
            <a:br>
              <a:rPr lang="en-US" dirty="0"/>
            </a:br>
            <a:endParaRPr lang="en-US" dirty="0"/>
          </a:p>
        </p:txBody>
      </p:sp>
    </p:spTree>
    <p:extLst>
      <p:ext uri="{BB962C8B-B14F-4D97-AF65-F5344CB8AC3E}">
        <p14:creationId xmlns:p14="http://schemas.microsoft.com/office/powerpoint/2010/main" val="328917575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Proxy server</a:t>
            </a:r>
            <a:endParaRPr lang="en-US" dirty="0"/>
          </a:p>
        </p:txBody>
      </p:sp>
      <p:sp>
        <p:nvSpPr>
          <p:cNvPr id="3" name="Content Placeholder 2"/>
          <p:cNvSpPr>
            <a:spLocks noGrp="1"/>
          </p:cNvSpPr>
          <p:nvPr>
            <p:ph idx="1"/>
          </p:nvPr>
        </p:nvSpPr>
        <p:spPr/>
        <p:txBody>
          <a:bodyPr>
            <a:normAutofit/>
          </a:bodyPr>
          <a:lstStyle/>
          <a:p>
            <a:r>
              <a:rPr lang="en-US" dirty="0"/>
              <a:t/>
            </a:r>
            <a:br>
              <a:rPr lang="en-US" dirty="0"/>
            </a:br>
            <a:endParaRPr lang="en-US" dirty="0"/>
          </a:p>
        </p:txBody>
      </p:sp>
      <p:pic>
        <p:nvPicPr>
          <p:cNvPr id="1026" name="Picture 2" descr="Web Browsing Without Using Prox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01752" y="1888971"/>
            <a:ext cx="6965792" cy="3918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706049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Proxy server</a:t>
            </a:r>
            <a:endParaRPr lang="en-US" dirty="0"/>
          </a:p>
        </p:txBody>
      </p:sp>
      <p:sp>
        <p:nvSpPr>
          <p:cNvPr id="3" name="Content Placeholder 2"/>
          <p:cNvSpPr>
            <a:spLocks noGrp="1"/>
          </p:cNvSpPr>
          <p:nvPr>
            <p:ph idx="1"/>
          </p:nvPr>
        </p:nvSpPr>
        <p:spPr/>
        <p:txBody>
          <a:bodyPr>
            <a:normAutofit fontScale="70000" lnSpcReduction="20000"/>
          </a:bodyPr>
          <a:lstStyle/>
          <a:p>
            <a:r>
              <a:rPr lang="en-US" dirty="0"/>
              <a:t>A proxy server acts as an intermediary between the user and the web server. Proxy servers use a different IP address on behalf of the user, concealing the user's real address from web servers. </a:t>
            </a:r>
            <a:br>
              <a:rPr lang="en-US" dirty="0"/>
            </a:br>
            <a:endParaRPr lang="en-US" dirty="0"/>
          </a:p>
          <a:p>
            <a:r>
              <a:rPr lang="en-US" dirty="0"/>
              <a:t>A standard proxy server configuration works as follows:</a:t>
            </a:r>
            <a:br>
              <a:rPr lang="en-US" dirty="0"/>
            </a:br>
            <a:endParaRPr lang="en-US" dirty="0"/>
          </a:p>
          <a:p>
            <a:r>
              <a:rPr lang="en-US" dirty="0"/>
              <a:t>A user enters a website's URL into their browser.</a:t>
            </a:r>
          </a:p>
          <a:p>
            <a:r>
              <a:rPr lang="en-US" dirty="0"/>
              <a:t>The proxy server receives the user's request.</a:t>
            </a:r>
          </a:p>
          <a:p>
            <a:r>
              <a:rPr lang="en-US" dirty="0"/>
              <a:t>The proxy server forwards the request to the web server.</a:t>
            </a:r>
          </a:p>
          <a:p>
            <a:r>
              <a:rPr lang="en-US" dirty="0"/>
              <a:t>The web server sends a response (website data) back to the proxy server.</a:t>
            </a:r>
          </a:p>
          <a:p>
            <a:r>
              <a:rPr lang="en-US" dirty="0"/>
              <a:t>The proxy server forwards the response to the user.</a:t>
            </a:r>
          </a:p>
          <a:p>
            <a:r>
              <a:rPr lang="en-US" dirty="0"/>
              <a:t> </a:t>
            </a:r>
          </a:p>
        </p:txBody>
      </p:sp>
    </p:spTree>
    <p:extLst>
      <p:ext uri="{BB962C8B-B14F-4D97-AF65-F5344CB8AC3E}">
        <p14:creationId xmlns:p14="http://schemas.microsoft.com/office/powerpoint/2010/main" val="91102228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Proxy server</a:t>
            </a:r>
            <a:endParaRPr lang="en-US" dirty="0"/>
          </a:p>
        </p:txBody>
      </p:sp>
      <p:sp>
        <p:nvSpPr>
          <p:cNvPr id="3" name="Content Placeholder 2"/>
          <p:cNvSpPr>
            <a:spLocks noGrp="1"/>
          </p:cNvSpPr>
          <p:nvPr>
            <p:ph idx="1"/>
          </p:nvPr>
        </p:nvSpPr>
        <p:spPr/>
        <p:txBody>
          <a:bodyPr>
            <a:normAutofit/>
          </a:bodyPr>
          <a:lstStyle/>
          <a:p>
            <a:r>
              <a:rPr lang="en-US" dirty="0"/>
              <a:t/>
            </a:r>
            <a:br>
              <a:rPr lang="en-US" dirty="0"/>
            </a:br>
            <a:endParaRPr lang="en-US" dirty="0"/>
          </a:p>
        </p:txBody>
      </p:sp>
      <p:pic>
        <p:nvPicPr>
          <p:cNvPr id="2050" name="Picture 2" descr="Web Browsing Using a Prox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8460" y="1700808"/>
            <a:ext cx="7412012" cy="4169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086942"/>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Mechanism of Proxy Server</a:t>
            </a:r>
          </a:p>
        </p:txBody>
      </p:sp>
      <p:sp>
        <p:nvSpPr>
          <p:cNvPr id="3" name="Content Placeholder 2"/>
          <p:cNvSpPr>
            <a:spLocks noGrp="1"/>
          </p:cNvSpPr>
          <p:nvPr>
            <p:ph idx="1"/>
          </p:nvPr>
        </p:nvSpPr>
        <p:spPr/>
        <p:txBody>
          <a:bodyPr>
            <a:normAutofit/>
          </a:bodyPr>
          <a:lstStyle/>
          <a:p>
            <a:r>
              <a:rPr lang="en-US" dirty="0"/>
              <a:t> </a:t>
            </a:r>
          </a:p>
        </p:txBody>
      </p:sp>
      <p:pic>
        <p:nvPicPr>
          <p:cNvPr id="1026" name="Picture 2" descr="What is a proxy server and how does it 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440" y="1916832"/>
            <a:ext cx="6368415" cy="41799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244099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Mechanism of Proxy Server</a:t>
            </a:r>
          </a:p>
        </p:txBody>
      </p:sp>
      <p:sp>
        <p:nvSpPr>
          <p:cNvPr id="3" name="Content Placeholder 2"/>
          <p:cNvSpPr>
            <a:spLocks noGrp="1"/>
          </p:cNvSpPr>
          <p:nvPr>
            <p:ph idx="1"/>
          </p:nvPr>
        </p:nvSpPr>
        <p:spPr/>
        <p:txBody>
          <a:bodyPr>
            <a:normAutofit fontScale="77500" lnSpcReduction="20000"/>
          </a:bodyPr>
          <a:lstStyle/>
          <a:p>
            <a:r>
              <a:rPr lang="en-US" dirty="0"/>
              <a:t>The proxy server accepts the request from the client and produces a response based on the following conditions:</a:t>
            </a:r>
          </a:p>
          <a:p>
            <a:r>
              <a:rPr lang="en-US" dirty="0"/>
              <a:t>If the requested data or page already exists in the local cache, the proxy server itself provides the required retrieval to the client.</a:t>
            </a:r>
          </a:p>
          <a:p>
            <a:r>
              <a:rPr lang="en-US" dirty="0"/>
              <a:t>If the requested data or page does not exist in the local cache, the proxy server forwards that request to the destination server.</a:t>
            </a:r>
          </a:p>
          <a:p>
            <a:r>
              <a:rPr lang="en-US" dirty="0"/>
              <a:t>The proxy servers transfer the replies to the client and also being cached to them.</a:t>
            </a:r>
          </a:p>
          <a:p>
            <a:r>
              <a:rPr lang="en-US" dirty="0"/>
              <a:t>Therefore, it can be said that the proxy server acts as a client as well as the server.</a:t>
            </a:r>
          </a:p>
          <a:p>
            <a:r>
              <a:rPr lang="en-US" dirty="0"/>
              <a:t> </a:t>
            </a:r>
          </a:p>
        </p:txBody>
      </p:sp>
    </p:spTree>
    <p:extLst>
      <p:ext uri="{BB962C8B-B14F-4D97-AF65-F5344CB8AC3E}">
        <p14:creationId xmlns:p14="http://schemas.microsoft.com/office/powerpoint/2010/main" val="2164291163"/>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Mechanism of Proxy Server</a:t>
            </a:r>
          </a:p>
        </p:txBody>
      </p:sp>
      <p:pic>
        <p:nvPicPr>
          <p:cNvPr id="2050" name="Picture 2" descr="What is a proxy server and how does it wor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064" y="1484784"/>
            <a:ext cx="8032936" cy="4824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034705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Password</a:t>
            </a:r>
            <a:endParaRPr lang="en-US" dirty="0"/>
          </a:p>
        </p:txBody>
      </p:sp>
      <p:sp>
        <p:nvSpPr>
          <p:cNvPr id="3" name="Content Placeholder 2"/>
          <p:cNvSpPr>
            <a:spLocks noGrp="1"/>
          </p:cNvSpPr>
          <p:nvPr>
            <p:ph idx="1"/>
          </p:nvPr>
        </p:nvSpPr>
        <p:spPr/>
        <p:txBody>
          <a:bodyPr/>
          <a:lstStyle/>
          <a:p>
            <a:endParaRPr lang="en-US" dirty="0" smtClean="0"/>
          </a:p>
          <a:p>
            <a:r>
              <a:rPr lang="en-US" dirty="0" smtClean="0"/>
              <a:t>Start </a:t>
            </a:r>
            <a:r>
              <a:rPr lang="en-US" dirty="0"/>
              <a:t>&gt; Control Panel or Start &gt; Settings &gt; Control Panel. </a:t>
            </a:r>
            <a:endParaRPr lang="en-US" dirty="0" smtClean="0"/>
          </a:p>
          <a:p>
            <a:r>
              <a:rPr lang="en-US" dirty="0" smtClean="0"/>
              <a:t>Click on User Accounts. Then click change your windows password. </a:t>
            </a:r>
            <a:r>
              <a:rPr lang="en-US" dirty="0"/>
              <a:t>Enter your current Windows password, then enter the new password and confirm it</a:t>
            </a:r>
            <a:r>
              <a:rPr lang="en-US" dirty="0" smtClean="0"/>
              <a:t>.</a:t>
            </a:r>
          </a:p>
          <a:p>
            <a:r>
              <a:rPr lang="en-US" b="1" dirty="0"/>
              <a:t>Click Change your</a:t>
            </a:r>
            <a:r>
              <a:rPr lang="en-US" dirty="0"/>
              <a:t> password in </a:t>
            </a:r>
            <a:r>
              <a:rPr lang="en-US" dirty="0" smtClean="0"/>
              <a:t>the User Account Window.</a:t>
            </a:r>
          </a:p>
          <a:p>
            <a:endParaRPr lang="en-US" dirty="0"/>
          </a:p>
        </p:txBody>
      </p:sp>
    </p:spTree>
    <p:extLst>
      <p:ext uri="{BB962C8B-B14F-4D97-AF65-F5344CB8AC3E}">
        <p14:creationId xmlns:p14="http://schemas.microsoft.com/office/powerpoint/2010/main" val="40391486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Users</a:t>
            </a:r>
            <a:endParaRPr lang="en-US" dirty="0"/>
          </a:p>
        </p:txBody>
      </p:sp>
      <p:sp>
        <p:nvSpPr>
          <p:cNvPr id="3" name="Content Placeholder 2"/>
          <p:cNvSpPr>
            <a:spLocks noGrp="1"/>
          </p:cNvSpPr>
          <p:nvPr>
            <p:ph idx="1"/>
          </p:nvPr>
        </p:nvSpPr>
        <p:spPr/>
        <p:txBody>
          <a:bodyPr/>
          <a:lstStyle/>
          <a:p>
            <a:r>
              <a:rPr lang="en-US" dirty="0"/>
              <a:t>A </a:t>
            </a:r>
            <a:r>
              <a:rPr lang="en-US" b="1" dirty="0"/>
              <a:t>user account </a:t>
            </a:r>
            <a:r>
              <a:rPr lang="en-US" dirty="0"/>
              <a:t>allows you to </a:t>
            </a:r>
            <a:r>
              <a:rPr lang="en-US" b="1" dirty="0"/>
              <a:t>sign in</a:t>
            </a:r>
            <a:r>
              <a:rPr lang="en-US" dirty="0"/>
              <a:t> to your computer. </a:t>
            </a:r>
            <a:endParaRPr lang="en-US" dirty="0" smtClean="0"/>
          </a:p>
          <a:p>
            <a:r>
              <a:rPr lang="en-US" dirty="0" smtClean="0"/>
              <a:t>By </a:t>
            </a:r>
            <a:r>
              <a:rPr lang="en-US" dirty="0"/>
              <a:t>default, your computer already has one user account, which you were required to create when you set up your computer. </a:t>
            </a:r>
            <a:endParaRPr lang="en-US" dirty="0" smtClean="0"/>
          </a:p>
          <a:p>
            <a:r>
              <a:rPr lang="en-US" dirty="0" smtClean="0"/>
              <a:t>If </a:t>
            </a:r>
            <a:r>
              <a:rPr lang="en-US" dirty="0"/>
              <a:t>you plan to share your computer with others, you can create a</a:t>
            </a:r>
            <a:r>
              <a:rPr lang="en-US" b="1" dirty="0"/>
              <a:t> separate user account</a:t>
            </a:r>
            <a:r>
              <a:rPr lang="en-US" dirty="0"/>
              <a:t> for each person.</a:t>
            </a:r>
          </a:p>
        </p:txBody>
      </p:sp>
    </p:spTree>
    <p:extLst>
      <p:ext uri="{BB962C8B-B14F-4D97-AF65-F5344CB8AC3E}">
        <p14:creationId xmlns:p14="http://schemas.microsoft.com/office/powerpoint/2010/main" val="175440474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effectLst/>
              </a:rPr>
              <a:t>Why use separate user accounts?</a:t>
            </a:r>
            <a:br>
              <a:rPr lang="en-US" dirty="0">
                <a:effectLst/>
              </a:rPr>
            </a:br>
            <a:endParaRPr lang="en-US" dirty="0"/>
          </a:p>
        </p:txBody>
      </p:sp>
      <p:sp>
        <p:nvSpPr>
          <p:cNvPr id="3" name="Content Placeholder 2"/>
          <p:cNvSpPr>
            <a:spLocks noGrp="1"/>
          </p:cNvSpPr>
          <p:nvPr>
            <p:ph idx="1"/>
          </p:nvPr>
        </p:nvSpPr>
        <p:spPr/>
        <p:txBody>
          <a:bodyPr>
            <a:normAutofit fontScale="85000" lnSpcReduction="10000"/>
          </a:bodyPr>
          <a:lstStyle/>
          <a:p>
            <a:pPr fontAlgn="base"/>
            <a:r>
              <a:rPr lang="en-US" dirty="0"/>
              <a:t>At this point, you may be wondering why you would even need to use separate user accounts. </a:t>
            </a:r>
            <a:endParaRPr lang="en-US" dirty="0" smtClean="0"/>
          </a:p>
          <a:p>
            <a:pPr fontAlgn="base"/>
            <a:r>
              <a:rPr lang="en-US" dirty="0" smtClean="0"/>
              <a:t>But </a:t>
            </a:r>
            <a:r>
              <a:rPr lang="en-US" dirty="0"/>
              <a:t>if you're sharing a computer with multiple people—for example, with your family or at the office—user accounts allow everyone to save their own files, preferences, and settings without affecting other computer users. </a:t>
            </a:r>
            <a:endParaRPr lang="en-US" dirty="0" smtClean="0"/>
          </a:p>
          <a:p>
            <a:pPr fontAlgn="base"/>
            <a:r>
              <a:rPr lang="en-US" dirty="0" smtClean="0"/>
              <a:t>When </a:t>
            </a:r>
            <a:r>
              <a:rPr lang="en-US" dirty="0"/>
              <a:t>you start your computer, you'll be able to choose which account you want to use.</a:t>
            </a:r>
          </a:p>
          <a:p>
            <a:r>
              <a:rPr lang="en-US" dirty="0"/>
              <a:t/>
            </a:r>
            <a:br>
              <a:rPr lang="en-US" dirty="0"/>
            </a:br>
            <a:endParaRPr lang="en-US" dirty="0"/>
          </a:p>
        </p:txBody>
      </p:sp>
    </p:spTree>
    <p:extLst>
      <p:ext uri="{BB962C8B-B14F-4D97-AF65-F5344CB8AC3E}">
        <p14:creationId xmlns:p14="http://schemas.microsoft.com/office/powerpoint/2010/main" val="22191049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Users</a:t>
            </a:r>
            <a:endParaRPr lang="en-US" dirty="0"/>
          </a:p>
        </p:txBody>
      </p:sp>
      <p:sp>
        <p:nvSpPr>
          <p:cNvPr id="3" name="Content Placeholder 2"/>
          <p:cNvSpPr>
            <a:spLocks noGrp="1"/>
          </p:cNvSpPr>
          <p:nvPr>
            <p:ph idx="1"/>
          </p:nvPr>
        </p:nvSpPr>
        <p:spPr/>
        <p:txBody>
          <a:bodyPr/>
          <a:lstStyle/>
          <a:p>
            <a:r>
              <a:rPr lang="en-US" dirty="0"/>
              <a:t>Select the Windows Start menu button.</a:t>
            </a:r>
          </a:p>
          <a:p>
            <a:r>
              <a:rPr lang="en-US" dirty="0"/>
              <a:t>Select Control Panel .</a:t>
            </a:r>
          </a:p>
          <a:p>
            <a:r>
              <a:rPr lang="en-US" dirty="0"/>
              <a:t>Select User Accounts .</a:t>
            </a:r>
          </a:p>
          <a:p>
            <a:r>
              <a:rPr lang="en-US" dirty="0"/>
              <a:t>Select Manage another account .</a:t>
            </a:r>
          </a:p>
          <a:p>
            <a:r>
              <a:rPr lang="en-US" dirty="0"/>
              <a:t>Select Create a new account .</a:t>
            </a:r>
          </a:p>
          <a:p>
            <a:r>
              <a:rPr lang="en-US" dirty="0"/>
              <a:t>In the New Account Name text box, type a name for the new account.</a:t>
            </a:r>
          </a:p>
          <a:p>
            <a:r>
              <a:rPr lang="en-US" dirty="0"/>
              <a:t>Click Create Account .</a:t>
            </a:r>
          </a:p>
          <a:p>
            <a:endParaRPr lang="en-US" dirty="0"/>
          </a:p>
        </p:txBody>
      </p:sp>
    </p:spTree>
    <p:extLst>
      <p:ext uri="{BB962C8B-B14F-4D97-AF65-F5344CB8AC3E}">
        <p14:creationId xmlns:p14="http://schemas.microsoft.com/office/powerpoint/2010/main" val="425172269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35848"/>
            <a:ext cx="7746064" cy="1150620"/>
          </a:xfrm>
        </p:spPr>
        <p:txBody>
          <a:bodyPr>
            <a:normAutofit fontScale="90000"/>
          </a:bodyPr>
          <a:lstStyle/>
          <a:p>
            <a:r>
              <a:rPr lang="en-US" dirty="0" smtClean="0"/>
              <a:t>Basic troubleshooting of a computer system</a:t>
            </a:r>
            <a:endParaRPr lang="en-IN" dirty="0"/>
          </a:p>
        </p:txBody>
      </p:sp>
      <p:sp>
        <p:nvSpPr>
          <p:cNvPr id="3" name="Content Placeholder 2"/>
          <p:cNvSpPr>
            <a:spLocks noGrp="1"/>
          </p:cNvSpPr>
          <p:nvPr>
            <p:ph idx="1"/>
          </p:nvPr>
        </p:nvSpPr>
        <p:spPr/>
        <p:txBody>
          <a:bodyPr/>
          <a:lstStyle/>
          <a:p>
            <a:r>
              <a:rPr lang="en-IN" b="1" dirty="0" smtClean="0"/>
              <a:t>Troubleshooting</a:t>
            </a:r>
            <a:r>
              <a:rPr lang="en-IN" dirty="0" smtClean="0"/>
              <a:t> is the process of identifying and solving technical problems. It starts with general issues and then gets more specific.</a:t>
            </a:r>
          </a:p>
          <a:p>
            <a:endParaRPr lang="en-IN" dirty="0" smtClean="0"/>
          </a:p>
          <a:p>
            <a:r>
              <a:rPr lang="en-IN" dirty="0" smtClean="0">
                <a:solidFill>
                  <a:srgbClr val="00B0F0"/>
                </a:solidFill>
              </a:rPr>
              <a:t>Problem: An application is running slowly</a:t>
            </a:r>
          </a:p>
          <a:p>
            <a:pPr fontAlgn="base">
              <a:buNone/>
            </a:pPr>
            <a:r>
              <a:rPr lang="en-IN" b="1" dirty="0" smtClean="0"/>
              <a:t>Solution 1</a:t>
            </a:r>
            <a:r>
              <a:rPr lang="en-IN" dirty="0" smtClean="0"/>
              <a:t>: Close and reopen the application.</a:t>
            </a:r>
          </a:p>
          <a:p>
            <a:pPr fontAlgn="base">
              <a:buNone/>
            </a:pPr>
            <a:r>
              <a:rPr lang="en-IN" b="1" dirty="0" smtClean="0"/>
              <a:t>Solution 2</a:t>
            </a:r>
            <a:r>
              <a:rPr lang="en-IN" dirty="0" smtClean="0"/>
              <a:t>: Update the application.</a:t>
            </a:r>
          </a:p>
          <a:p>
            <a:pPr>
              <a:buNone/>
            </a:pPr>
            <a:endParaRPr lang="en-IN" dirty="0"/>
          </a:p>
        </p:txBody>
      </p:sp>
    </p:spTree>
    <p:extLst>
      <p:ext uri="{BB962C8B-B14F-4D97-AF65-F5344CB8AC3E}">
        <p14:creationId xmlns:p14="http://schemas.microsoft.com/office/powerpoint/2010/main" val="427407697"/>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7584" y="0"/>
            <a:ext cx="8387715" cy="6093296"/>
          </a:xfrm>
        </p:spPr>
        <p:txBody>
          <a:bodyPr>
            <a:normAutofit fontScale="92500" lnSpcReduction="10000"/>
          </a:bodyPr>
          <a:lstStyle/>
          <a:p>
            <a:pPr fontAlgn="base"/>
            <a:r>
              <a:rPr lang="en-IN" dirty="0" smtClean="0">
                <a:solidFill>
                  <a:srgbClr val="00B0F0"/>
                </a:solidFill>
              </a:rPr>
              <a:t>Problem: An application is frozen</a:t>
            </a:r>
          </a:p>
          <a:p>
            <a:pPr fontAlgn="base">
              <a:buNone/>
            </a:pPr>
            <a:r>
              <a:rPr lang="en-IN" dirty="0" smtClean="0"/>
              <a:t>   Sometimes an application may become stuck, or </a:t>
            </a:r>
            <a:r>
              <a:rPr lang="en-IN" b="1" dirty="0" smtClean="0"/>
              <a:t>frozen</a:t>
            </a:r>
            <a:r>
              <a:rPr lang="en-IN" dirty="0" smtClean="0"/>
              <a:t>. When this happens, you won't be able to close the window or click any buttons within the application.</a:t>
            </a:r>
          </a:p>
          <a:p>
            <a:r>
              <a:rPr lang="en-IN" b="1" dirty="0" smtClean="0"/>
              <a:t>Solution 1</a:t>
            </a:r>
            <a:r>
              <a:rPr lang="en-IN" dirty="0" smtClean="0"/>
              <a:t>: Force quit the application. On a PC, you can press Alt+f4</a:t>
            </a:r>
          </a:p>
          <a:p>
            <a:r>
              <a:rPr lang="en-IN" b="1" dirty="0" smtClean="0"/>
              <a:t>Solution </a:t>
            </a:r>
            <a:r>
              <a:rPr lang="en-IN" b="1" dirty="0" err="1" smtClean="0"/>
              <a:t>II:Ctrl+Alt+Delete</a:t>
            </a:r>
            <a:r>
              <a:rPr lang="en-IN" dirty="0" smtClean="0"/>
              <a:t> (the Control, Alt, and Delete keys) on your keyboard to open the </a:t>
            </a:r>
            <a:r>
              <a:rPr lang="en-IN" b="1" dirty="0" smtClean="0"/>
              <a:t>Task Manager</a:t>
            </a:r>
            <a:r>
              <a:rPr lang="en-IN" dirty="0" smtClean="0"/>
              <a:t>. On a Mac, press and hold </a:t>
            </a:r>
            <a:r>
              <a:rPr lang="en-IN" b="1" dirty="0" err="1" smtClean="0"/>
              <a:t>Command+Option+Esc</a:t>
            </a:r>
            <a:r>
              <a:rPr lang="en-IN" dirty="0" smtClean="0"/>
              <a:t>. You can then select the unresponsive application and click </a:t>
            </a:r>
            <a:r>
              <a:rPr lang="en-IN" b="1" dirty="0" smtClean="0"/>
              <a:t>End task</a:t>
            </a:r>
            <a:r>
              <a:rPr lang="en-IN" dirty="0" smtClean="0"/>
              <a:t> (or </a:t>
            </a:r>
            <a:r>
              <a:rPr lang="en-IN" b="1" dirty="0" smtClean="0"/>
              <a:t>Force Quit</a:t>
            </a:r>
            <a:r>
              <a:rPr lang="en-IN" dirty="0" smtClean="0"/>
              <a:t> on a Mac) to close it.</a:t>
            </a:r>
            <a:endParaRPr lang="en-IN" dirty="0"/>
          </a:p>
        </p:txBody>
      </p:sp>
    </p:spTree>
    <p:extLst>
      <p:ext uri="{BB962C8B-B14F-4D97-AF65-F5344CB8AC3E}">
        <p14:creationId xmlns:p14="http://schemas.microsoft.com/office/powerpoint/2010/main" val="364153112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99592" y="23272"/>
            <a:ext cx="8410099" cy="5998016"/>
          </a:xfrm>
        </p:spPr>
        <p:txBody>
          <a:bodyPr>
            <a:normAutofit/>
          </a:bodyPr>
          <a:lstStyle/>
          <a:p>
            <a:pPr algn="l" fontAlgn="base"/>
            <a:r>
              <a:rPr lang="en-IN" dirty="0" smtClean="0">
                <a:solidFill>
                  <a:srgbClr val="00B0F0"/>
                </a:solidFill>
              </a:rPr>
              <a:t>Problem: All programs on the computer run slowly</a:t>
            </a:r>
          </a:p>
          <a:p>
            <a:pPr fontAlgn="base"/>
            <a:r>
              <a:rPr lang="en-IN" b="1" dirty="0" smtClean="0"/>
              <a:t>Solution 1</a:t>
            </a:r>
            <a:r>
              <a:rPr lang="en-IN" dirty="0" smtClean="0"/>
              <a:t>: Run a </a:t>
            </a:r>
            <a:r>
              <a:rPr lang="en-IN" b="1" dirty="0" smtClean="0"/>
              <a:t>virus scanner</a:t>
            </a:r>
            <a:r>
              <a:rPr lang="en-IN" dirty="0" smtClean="0"/>
              <a:t>. </a:t>
            </a:r>
            <a:endParaRPr lang="en-IN" dirty="0" smtClean="0"/>
          </a:p>
          <a:p>
            <a:pPr fontAlgn="base"/>
            <a:r>
              <a:rPr lang="en-IN" b="1" dirty="0" smtClean="0"/>
              <a:t>Solution </a:t>
            </a:r>
            <a:r>
              <a:rPr lang="en-IN" b="1" dirty="0" smtClean="0"/>
              <a:t>2</a:t>
            </a:r>
            <a:r>
              <a:rPr lang="en-IN" dirty="0" smtClean="0"/>
              <a:t>: Your computer may be running out of hard drive space. Try </a:t>
            </a:r>
            <a:r>
              <a:rPr lang="en-IN" b="1" dirty="0" smtClean="0"/>
              <a:t>deleting</a:t>
            </a:r>
            <a:r>
              <a:rPr lang="en-IN" dirty="0" smtClean="0"/>
              <a:t> any files or programs you don't need.</a:t>
            </a:r>
          </a:p>
          <a:p>
            <a:pPr fontAlgn="base"/>
            <a:r>
              <a:rPr lang="en-IN" b="1" dirty="0" smtClean="0"/>
              <a:t>Solution 3</a:t>
            </a:r>
            <a:r>
              <a:rPr lang="en-IN" dirty="0" smtClean="0"/>
              <a:t>: </a:t>
            </a:r>
            <a:r>
              <a:rPr lang="en-IN" dirty="0" smtClean="0"/>
              <a:t>You </a:t>
            </a:r>
            <a:r>
              <a:rPr lang="en-IN" dirty="0" smtClean="0"/>
              <a:t>can run </a:t>
            </a:r>
            <a:r>
              <a:rPr lang="en-IN" b="1" dirty="0" smtClean="0"/>
              <a:t>Disk Defragmenter</a:t>
            </a:r>
            <a:r>
              <a:rPr lang="en-IN" dirty="0" smtClean="0"/>
              <a:t>. </a:t>
            </a:r>
          </a:p>
          <a:p>
            <a:pPr marL="48101" indent="0">
              <a:buNone/>
            </a:pPr>
            <a:endParaRPr lang="en-IN" dirty="0"/>
          </a:p>
        </p:txBody>
      </p:sp>
    </p:spTree>
    <p:extLst>
      <p:ext uri="{BB962C8B-B14F-4D97-AF65-F5344CB8AC3E}">
        <p14:creationId xmlns:p14="http://schemas.microsoft.com/office/powerpoint/2010/main" val="1103107245"/>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71601" y="0"/>
            <a:ext cx="7848872" cy="5949280"/>
          </a:xfrm>
        </p:spPr>
        <p:txBody>
          <a:bodyPr>
            <a:normAutofit/>
          </a:bodyPr>
          <a:lstStyle/>
          <a:p>
            <a:pPr fontAlgn="base"/>
            <a:r>
              <a:rPr lang="en-IN" dirty="0" smtClean="0">
                <a:solidFill>
                  <a:srgbClr val="00B0F0"/>
                </a:solidFill>
              </a:rPr>
              <a:t>Problem: The mouse or keyboard has stopped working</a:t>
            </a:r>
          </a:p>
          <a:p>
            <a:pPr fontAlgn="base"/>
            <a:r>
              <a:rPr lang="en-IN" b="1" dirty="0" smtClean="0"/>
              <a:t>Solution 1</a:t>
            </a:r>
            <a:r>
              <a:rPr lang="en-IN" dirty="0" smtClean="0"/>
              <a:t>: If you're using a </a:t>
            </a:r>
            <a:r>
              <a:rPr lang="en-IN" b="1" dirty="0" smtClean="0"/>
              <a:t>wired</a:t>
            </a:r>
            <a:r>
              <a:rPr lang="en-IN" dirty="0" smtClean="0"/>
              <a:t> mouse or keyboard, make sure it's correctly plugged into the computer.</a:t>
            </a:r>
          </a:p>
          <a:p>
            <a:pPr fontAlgn="base"/>
            <a:r>
              <a:rPr lang="en-IN" b="1" dirty="0" smtClean="0"/>
              <a:t>Solution 2</a:t>
            </a:r>
            <a:r>
              <a:rPr lang="en-IN" dirty="0" smtClean="0"/>
              <a:t>: If you're using a </a:t>
            </a:r>
            <a:r>
              <a:rPr lang="en-IN" b="1" dirty="0" smtClean="0"/>
              <a:t>wireless</a:t>
            </a:r>
            <a:r>
              <a:rPr lang="en-IN" dirty="0" smtClean="0"/>
              <a:t> mouse or keyboard, make sure it's turned on and that its batteries are charged.</a:t>
            </a:r>
          </a:p>
          <a:p>
            <a:endParaRPr lang="en-IN" dirty="0"/>
          </a:p>
        </p:txBody>
      </p:sp>
    </p:spTree>
    <p:extLst>
      <p:ext uri="{BB962C8B-B14F-4D97-AF65-F5344CB8AC3E}">
        <p14:creationId xmlns:p14="http://schemas.microsoft.com/office/powerpoint/2010/main" val="1145949084"/>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7076" y="20608"/>
            <a:ext cx="8075404" cy="5496624"/>
          </a:xfrm>
        </p:spPr>
        <p:txBody>
          <a:bodyPr>
            <a:normAutofit fontScale="77500" lnSpcReduction="20000"/>
          </a:bodyPr>
          <a:lstStyle/>
          <a:p>
            <a:pPr fontAlgn="base"/>
            <a:r>
              <a:rPr lang="en-US" altLang="en-IN" b="1" dirty="0" smtClean="0">
                <a:solidFill>
                  <a:srgbClr val="00B0F0"/>
                </a:solidFill>
              </a:rPr>
              <a:t>Problem: If Audio is not working properly</a:t>
            </a:r>
            <a:endParaRPr lang="en-IN" b="1" dirty="0" smtClean="0">
              <a:solidFill>
                <a:srgbClr val="00B0F0"/>
              </a:solidFill>
            </a:endParaRPr>
          </a:p>
          <a:p>
            <a:pPr fontAlgn="base"/>
            <a:r>
              <a:rPr lang="en-IN" b="1" dirty="0" smtClean="0"/>
              <a:t>Solution 1</a:t>
            </a:r>
            <a:r>
              <a:rPr lang="en-IN" dirty="0" smtClean="0"/>
              <a:t>: Check the volume level. Click the audio button in the top-right or bottom-right corner of the screen to make sure the sound is turned on and that the volume is up.</a:t>
            </a:r>
          </a:p>
          <a:p>
            <a:pPr fontAlgn="base"/>
            <a:r>
              <a:rPr lang="en-IN" b="1" dirty="0" smtClean="0"/>
              <a:t>Solution 2</a:t>
            </a:r>
            <a:r>
              <a:rPr lang="en-IN" dirty="0" smtClean="0"/>
              <a:t>: Check the audio player controls. Many audio and video players will have their own separate audio controls. Make sure the sound is turned on and that the volume is turned up in the player.</a:t>
            </a:r>
          </a:p>
          <a:p>
            <a:pPr fontAlgn="base"/>
            <a:r>
              <a:rPr lang="en-IN" b="1" dirty="0" smtClean="0"/>
              <a:t>Solution 3</a:t>
            </a:r>
            <a:r>
              <a:rPr lang="en-IN" dirty="0" smtClean="0"/>
              <a:t>: Check the cables. Make sure external speakers are plugged in, turned on, and connected to the correct audio port or a USB port. If your computer has </a:t>
            </a:r>
            <a:r>
              <a:rPr lang="en-IN" b="1" dirty="0" err="1" smtClean="0"/>
              <a:t>color</a:t>
            </a:r>
            <a:r>
              <a:rPr lang="en-IN" b="1" dirty="0" smtClean="0"/>
              <a:t>-coded</a:t>
            </a:r>
            <a:r>
              <a:rPr lang="en-IN" dirty="0" smtClean="0"/>
              <a:t> ports, the audio output port will usually be </a:t>
            </a:r>
            <a:r>
              <a:rPr lang="en-IN" b="1" dirty="0" smtClean="0"/>
              <a:t>green</a:t>
            </a:r>
            <a:r>
              <a:rPr lang="en-IN" dirty="0" smtClean="0"/>
              <a:t>.</a:t>
            </a:r>
          </a:p>
          <a:p>
            <a:pPr fontAlgn="base"/>
            <a:r>
              <a:rPr lang="en-IN" b="1" dirty="0" smtClean="0"/>
              <a:t>Solution 4</a:t>
            </a:r>
            <a:r>
              <a:rPr lang="en-IN" dirty="0" smtClean="0"/>
              <a:t>: Connect headphones to the computer to find out if you can hear sound through the headphones.</a:t>
            </a:r>
          </a:p>
          <a:p>
            <a:endParaRPr lang="en-IN" dirty="0"/>
          </a:p>
        </p:txBody>
      </p:sp>
    </p:spTree>
    <p:extLst>
      <p:ext uri="{BB962C8B-B14F-4D97-AF65-F5344CB8AC3E}">
        <p14:creationId xmlns:p14="http://schemas.microsoft.com/office/powerpoint/2010/main" val="176959053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0" y="34320"/>
            <a:ext cx="7690048" cy="6347008"/>
          </a:xfrm>
        </p:spPr>
        <p:txBody>
          <a:bodyPr>
            <a:normAutofit/>
          </a:bodyPr>
          <a:lstStyle/>
          <a:p>
            <a:pPr marL="48101" indent="0" fontAlgn="base">
              <a:buNone/>
            </a:pPr>
            <a:r>
              <a:rPr lang="en-IN" dirty="0" smtClean="0">
                <a:solidFill>
                  <a:srgbClr val="00B0F0"/>
                </a:solidFill>
              </a:rPr>
              <a:t>Problem: The screen is blank</a:t>
            </a:r>
          </a:p>
          <a:p>
            <a:pPr fontAlgn="base"/>
            <a:r>
              <a:rPr lang="en-IN" b="1" dirty="0" smtClean="0"/>
              <a:t>Solution 1</a:t>
            </a:r>
            <a:r>
              <a:rPr lang="en-IN" dirty="0" smtClean="0"/>
              <a:t>: The computer may be in </a:t>
            </a:r>
            <a:r>
              <a:rPr lang="en-IN" b="1" dirty="0" smtClean="0"/>
              <a:t>Sleep</a:t>
            </a:r>
            <a:r>
              <a:rPr lang="en-IN" dirty="0" smtClean="0"/>
              <a:t> mode. Click the mouse or press any key on the keyboard to wake it.</a:t>
            </a:r>
          </a:p>
          <a:p>
            <a:pPr fontAlgn="base"/>
            <a:r>
              <a:rPr lang="en-IN" b="1" dirty="0" smtClean="0"/>
              <a:t>Solution 2</a:t>
            </a:r>
            <a:r>
              <a:rPr lang="en-IN" dirty="0" smtClean="0"/>
              <a:t>: Make sure the monitor is </a:t>
            </a:r>
            <a:r>
              <a:rPr lang="en-IN" b="1" dirty="0" smtClean="0"/>
              <a:t>plugged in</a:t>
            </a:r>
            <a:r>
              <a:rPr lang="en-IN" dirty="0" smtClean="0"/>
              <a:t> and </a:t>
            </a:r>
            <a:r>
              <a:rPr lang="en-IN" b="1" dirty="0" smtClean="0"/>
              <a:t>turned on</a:t>
            </a:r>
            <a:r>
              <a:rPr lang="en-IN" dirty="0" smtClean="0"/>
              <a:t>.</a:t>
            </a:r>
          </a:p>
          <a:p>
            <a:pPr fontAlgn="base"/>
            <a:r>
              <a:rPr lang="en-IN" b="1" dirty="0" smtClean="0"/>
              <a:t>Solution 3</a:t>
            </a:r>
            <a:r>
              <a:rPr lang="en-IN" dirty="0" smtClean="0"/>
              <a:t>: Make sure the computer is </a:t>
            </a:r>
            <a:r>
              <a:rPr lang="en-IN" b="1" dirty="0" smtClean="0"/>
              <a:t>plugged in</a:t>
            </a:r>
            <a:r>
              <a:rPr lang="en-IN" dirty="0" smtClean="0"/>
              <a:t> and </a:t>
            </a:r>
            <a:r>
              <a:rPr lang="en-IN" b="1" dirty="0" smtClean="0"/>
              <a:t>turned on</a:t>
            </a:r>
            <a:r>
              <a:rPr lang="en-IN" dirty="0" smtClean="0"/>
              <a:t>.</a:t>
            </a:r>
          </a:p>
          <a:p>
            <a:pPr fontAlgn="base"/>
            <a:r>
              <a:rPr lang="en-IN" b="1" dirty="0" smtClean="0"/>
              <a:t>Solution 4</a:t>
            </a:r>
            <a:r>
              <a:rPr lang="en-IN" dirty="0" smtClean="0"/>
              <a:t>: If you're using a desktop, make sure the monitor cable is properly connected to the computer tower and the monitor.</a:t>
            </a:r>
          </a:p>
          <a:p>
            <a:endParaRPr lang="en-IN" dirty="0"/>
          </a:p>
        </p:txBody>
      </p:sp>
    </p:spTree>
    <p:extLst>
      <p:ext uri="{BB962C8B-B14F-4D97-AF65-F5344CB8AC3E}">
        <p14:creationId xmlns:p14="http://schemas.microsoft.com/office/powerpoint/2010/main" val="97937306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7543" y="0"/>
            <a:ext cx="7858913" cy="6165304"/>
          </a:xfrm>
        </p:spPr>
        <p:txBody>
          <a:bodyPr>
            <a:normAutofit fontScale="72500" lnSpcReduction="20000"/>
          </a:bodyPr>
          <a:lstStyle/>
          <a:p>
            <a:r>
              <a:rPr lang="en-IN" b="1" dirty="0" smtClean="0">
                <a:solidFill>
                  <a:srgbClr val="00B0F0"/>
                </a:solidFill>
              </a:rPr>
              <a:t>Slow Internet</a:t>
            </a:r>
            <a:r>
              <a:rPr lang="en-IN" dirty="0" smtClean="0"/>
              <a:t/>
            </a:r>
            <a:br>
              <a:rPr lang="en-IN" dirty="0" smtClean="0"/>
            </a:br>
            <a:r>
              <a:rPr lang="en-IN" dirty="0" smtClean="0"/>
              <a:t>To improve your Internet browser performance, you need to clear cookies and Internet temporary files frequently. In the Windows search bar, type ‘%temp%’ and hit enter to open the temporary files folder.</a:t>
            </a:r>
            <a:r>
              <a:rPr lang="en-US" dirty="0"/>
              <a:t> Clearing the Temp folder is a standard procedure for system administration to reduce the amount of storage space used.</a:t>
            </a:r>
            <a:endParaRPr lang="en-IN" dirty="0" smtClean="0"/>
          </a:p>
          <a:p>
            <a:r>
              <a:rPr lang="en-IN" b="1" dirty="0" smtClean="0">
                <a:solidFill>
                  <a:srgbClr val="00B0F0"/>
                </a:solidFill>
              </a:rPr>
              <a:t>Overheating</a:t>
            </a:r>
            <a:r>
              <a:rPr lang="en-IN" dirty="0" smtClean="0"/>
              <a:t/>
            </a:r>
            <a:br>
              <a:rPr lang="en-IN" dirty="0" smtClean="0"/>
            </a:br>
            <a:r>
              <a:rPr lang="en-IN" dirty="0" smtClean="0"/>
              <a:t>If a computer case lacks a sufficient cooling system, then the computer’s components may start to generate excess heat during operation. To avoid your computer burning itself out, turn it off and let it rest if it’s getting hot. Additionally, you can check the fan to make sure it’s working properly.</a:t>
            </a:r>
          </a:p>
          <a:p>
            <a:r>
              <a:rPr lang="en-IN" b="1" dirty="0" smtClean="0">
                <a:solidFill>
                  <a:srgbClr val="00B0F0"/>
                </a:solidFill>
              </a:rPr>
              <a:t>Dropped Internet Connections</a:t>
            </a:r>
            <a:r>
              <a:rPr lang="en-IN" dirty="0" smtClean="0"/>
              <a:t/>
            </a:r>
            <a:br>
              <a:rPr lang="en-IN" dirty="0" smtClean="0"/>
            </a:br>
            <a:r>
              <a:rPr lang="en-IN" dirty="0" smtClean="0"/>
              <a:t>Dropped Internet connections can be very frustrating. Often the problem is simple and may be caused by a bad cable or phone line, which is easy to fix. More serious problems include viruses, a bad network card or modem, or a problem with the driver.</a:t>
            </a:r>
          </a:p>
          <a:p>
            <a:endParaRPr lang="en-IN" dirty="0"/>
          </a:p>
        </p:txBody>
      </p:sp>
    </p:spTree>
    <p:extLst>
      <p:ext uri="{BB962C8B-B14F-4D97-AF65-F5344CB8AC3E}">
        <p14:creationId xmlns:p14="http://schemas.microsoft.com/office/powerpoint/2010/main" val="2966681241"/>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lstStyle/>
          <a:p>
            <a:r>
              <a:rPr lang="en-US" sz="2400" b="1" dirty="0"/>
              <a:t>Uninstall unnecessary software</a:t>
            </a:r>
          </a:p>
          <a:p>
            <a:pPr>
              <a:buNone/>
            </a:pPr>
            <a:r>
              <a:rPr lang="en-IN" sz="2400" dirty="0" smtClean="0"/>
              <a:t>If you don’t need any software then uninstall it. Go to control panel -&gt; programs -&gt; uninstall a program</a:t>
            </a:r>
          </a:p>
          <a:p>
            <a:pPr>
              <a:buNone/>
            </a:pPr>
            <a:endParaRPr lang="en-IN" dirty="0" smtClean="0"/>
          </a:p>
          <a:p>
            <a:pPr>
              <a:buNone/>
            </a:pPr>
            <a:endParaRPr lang="en-IN" dirty="0"/>
          </a:p>
        </p:txBody>
      </p:sp>
      <p:pic>
        <p:nvPicPr>
          <p:cNvPr id="5" name="Picture 4"/>
          <p:cNvPicPr>
            <a:picLocks noChangeAspect="1"/>
          </p:cNvPicPr>
          <p:nvPr/>
        </p:nvPicPr>
        <p:blipFill>
          <a:blip r:embed="rId2"/>
          <a:stretch>
            <a:fillRect/>
          </a:stretch>
        </p:blipFill>
        <p:spPr>
          <a:xfrm>
            <a:off x="2123728" y="2874948"/>
            <a:ext cx="5904656" cy="3359453"/>
          </a:xfrm>
          <a:prstGeom prst="rect">
            <a:avLst/>
          </a:prstGeom>
        </p:spPr>
      </p:pic>
    </p:spTree>
    <p:extLst>
      <p:ext uri="{BB962C8B-B14F-4D97-AF65-F5344CB8AC3E}">
        <p14:creationId xmlns:p14="http://schemas.microsoft.com/office/powerpoint/2010/main" val="13084862"/>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fontScale="92500" lnSpcReduction="10000"/>
          </a:bodyPr>
          <a:lstStyle/>
          <a:p>
            <a:r>
              <a:rPr lang="en-US" sz="2400" b="1" dirty="0"/>
              <a:t>Limit the programs at </a:t>
            </a:r>
            <a:r>
              <a:rPr lang="en-US" sz="2400" b="1" dirty="0" smtClean="0"/>
              <a:t>startup</a:t>
            </a:r>
          </a:p>
          <a:p>
            <a:r>
              <a:rPr lang="en-US" sz="2400" dirty="0"/>
              <a:t>Not all programs loaded automatically when the system starts can be found in the Startup folder. </a:t>
            </a:r>
            <a:endParaRPr lang="en-US" sz="2400" dirty="0" smtClean="0"/>
          </a:p>
          <a:p>
            <a:r>
              <a:rPr lang="en-US" sz="2400" dirty="0" smtClean="0"/>
              <a:t>You </a:t>
            </a:r>
            <a:r>
              <a:rPr lang="en-US" sz="2400" dirty="0"/>
              <a:t>have to access the System Configuration to deactivate these programs. </a:t>
            </a:r>
            <a:endParaRPr lang="en-US" sz="2400" dirty="0" smtClean="0"/>
          </a:p>
          <a:p>
            <a:r>
              <a:rPr lang="en-US" sz="2400" dirty="0" smtClean="0"/>
              <a:t>Using </a:t>
            </a:r>
            <a:r>
              <a:rPr lang="en-US" sz="2400" dirty="0"/>
              <a:t>the “Run” dialog is the fastest way to access the required list. To open it, press [Win] + [R] and enter “</a:t>
            </a:r>
            <a:r>
              <a:rPr lang="en-US" sz="2400" dirty="0" err="1"/>
              <a:t>msconfig</a:t>
            </a:r>
            <a:r>
              <a:rPr lang="en-US" sz="2400" dirty="0"/>
              <a:t>”. </a:t>
            </a:r>
            <a:endParaRPr lang="en-US" sz="2400" dirty="0" smtClean="0"/>
          </a:p>
          <a:p>
            <a:r>
              <a:rPr lang="en-US" sz="2400" dirty="0" smtClean="0"/>
              <a:t>The </a:t>
            </a:r>
            <a:r>
              <a:rPr lang="en-US" sz="2400" dirty="0"/>
              <a:t>window that opens contains a tab called “Startup”. It contains a </a:t>
            </a:r>
            <a:r>
              <a:rPr lang="en-US" sz="2400" b="1" dirty="0"/>
              <a:t>list of all programs that are launched automatically when the system </a:t>
            </a:r>
            <a:r>
              <a:rPr lang="en-US" sz="2400" b="1" dirty="0" smtClean="0"/>
              <a:t>starts</a:t>
            </a:r>
            <a:r>
              <a:rPr lang="en-US" sz="2400" dirty="0" smtClean="0"/>
              <a:t>.</a:t>
            </a:r>
            <a:endParaRPr lang="en-US" sz="2400" dirty="0"/>
          </a:p>
          <a:p>
            <a:r>
              <a:rPr lang="en-US" sz="2400" dirty="0"/>
              <a:t/>
            </a:r>
            <a:br>
              <a:rPr lang="en-US" sz="2400" dirty="0"/>
            </a:br>
            <a:endParaRPr lang="en-US" sz="2400" b="1" dirty="0"/>
          </a:p>
          <a:p>
            <a:pPr>
              <a:buNone/>
            </a:pPr>
            <a:endParaRPr lang="en-IN" dirty="0" smtClean="0"/>
          </a:p>
          <a:p>
            <a:pPr>
              <a:buNone/>
            </a:pPr>
            <a:endParaRPr lang="en-IN" dirty="0"/>
          </a:p>
        </p:txBody>
      </p:sp>
    </p:spTree>
    <p:extLst>
      <p:ext uri="{BB962C8B-B14F-4D97-AF65-F5344CB8AC3E}">
        <p14:creationId xmlns:p14="http://schemas.microsoft.com/office/powerpoint/2010/main" val="1848713662"/>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fontScale="92500" lnSpcReduction="20000"/>
          </a:bodyPr>
          <a:lstStyle/>
          <a:p>
            <a:r>
              <a:rPr lang="en-US" sz="2400" dirty="0"/>
              <a:t>Once you find the program you don’t want to run on startup, </a:t>
            </a:r>
            <a:r>
              <a:rPr lang="en-US" sz="2400" b="1" dirty="0"/>
              <a:t>you can disable the automatic start setting</a:t>
            </a:r>
            <a:r>
              <a:rPr lang="en-US" sz="2400" dirty="0"/>
              <a:t> by unchecking the checkbox. </a:t>
            </a:r>
            <a:endParaRPr lang="en-US" sz="2400" dirty="0" smtClean="0"/>
          </a:p>
          <a:p>
            <a:r>
              <a:rPr lang="en-US" sz="2400" dirty="0" smtClean="0"/>
              <a:t>Windows </a:t>
            </a:r>
            <a:r>
              <a:rPr lang="en-US" sz="2400" dirty="0"/>
              <a:t>even lets you deactivate all applications at once. However, take care when using this option: </a:t>
            </a:r>
            <a:endParaRPr lang="en-US" sz="2400" dirty="0" smtClean="0"/>
          </a:p>
          <a:p>
            <a:r>
              <a:rPr lang="en-US" sz="2400" dirty="0" smtClean="0"/>
              <a:t>Some </a:t>
            </a:r>
            <a:r>
              <a:rPr lang="en-US" sz="2400" dirty="0"/>
              <a:t>of the programs may play an important role in keeping your PC functioning properly. </a:t>
            </a:r>
            <a:endParaRPr lang="en-US" sz="2400" dirty="0" smtClean="0"/>
          </a:p>
          <a:p>
            <a:r>
              <a:rPr lang="en-US" sz="2400" dirty="0" smtClean="0"/>
              <a:t>The </a:t>
            </a:r>
            <a:r>
              <a:rPr lang="en-US" sz="2400" dirty="0"/>
              <a:t>program remains visible in the list after deactivation, which makes it easy to undo your decision</a:t>
            </a:r>
            <a:r>
              <a:rPr lang="en-US" sz="2400" dirty="0" smtClean="0"/>
              <a:t>.</a:t>
            </a:r>
          </a:p>
          <a:p>
            <a:r>
              <a:rPr lang="en-US" sz="2400" dirty="0"/>
              <a:t>The programs in the Startup folder should be based on your individual requirements. You can load all the programs you use every time when the system starts. Ex.  </a:t>
            </a:r>
            <a:r>
              <a:rPr lang="en-US" sz="2400" dirty="0" err="1"/>
              <a:t>Anivirus</a:t>
            </a:r>
            <a:r>
              <a:rPr lang="en-US" sz="2400" dirty="0"/>
              <a:t>, back up software etc.</a:t>
            </a:r>
            <a:br>
              <a:rPr lang="en-US" sz="2400" dirty="0"/>
            </a:br>
            <a:endParaRPr lang="en-US" sz="2400" b="1" dirty="0"/>
          </a:p>
          <a:p>
            <a:r>
              <a:rPr lang="en-US" sz="2400" dirty="0"/>
              <a:t/>
            </a:r>
            <a:br>
              <a:rPr lang="en-US" sz="2400" dirty="0"/>
            </a:br>
            <a:endParaRPr lang="en-US" sz="2400" b="1" dirty="0"/>
          </a:p>
          <a:p>
            <a:pPr>
              <a:buNone/>
            </a:pPr>
            <a:endParaRPr lang="en-IN" dirty="0" smtClean="0"/>
          </a:p>
          <a:p>
            <a:pPr>
              <a:buNone/>
            </a:pPr>
            <a:endParaRPr lang="en-IN" dirty="0"/>
          </a:p>
        </p:txBody>
      </p:sp>
    </p:spTree>
    <p:extLst>
      <p:ext uri="{BB962C8B-B14F-4D97-AF65-F5344CB8AC3E}">
        <p14:creationId xmlns:p14="http://schemas.microsoft.com/office/powerpoint/2010/main" val="1753532918"/>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dirty="0"/>
              <a:t/>
            </a:r>
            <a:br>
              <a:rPr lang="en-US" sz="2400" dirty="0"/>
            </a:br>
            <a:endParaRPr lang="en-US" sz="2400" b="1" dirty="0"/>
          </a:p>
          <a:p>
            <a:pPr>
              <a:buNone/>
            </a:pPr>
            <a:endParaRPr lang="en-IN" dirty="0" smtClean="0"/>
          </a:p>
          <a:p>
            <a:pPr>
              <a:buNone/>
            </a:pPr>
            <a:endParaRPr lang="en-IN" dirty="0"/>
          </a:p>
        </p:txBody>
      </p:sp>
      <p:pic>
        <p:nvPicPr>
          <p:cNvPr id="5" name="Picture 4"/>
          <p:cNvPicPr>
            <a:picLocks noChangeAspect="1"/>
          </p:cNvPicPr>
          <p:nvPr/>
        </p:nvPicPr>
        <p:blipFill>
          <a:blip r:embed="rId2"/>
          <a:stretch>
            <a:fillRect/>
          </a:stretch>
        </p:blipFill>
        <p:spPr>
          <a:xfrm>
            <a:off x="1435608" y="1457593"/>
            <a:ext cx="7189730" cy="4797307"/>
          </a:xfrm>
          <a:prstGeom prst="rect">
            <a:avLst/>
          </a:prstGeom>
        </p:spPr>
      </p:pic>
    </p:spTree>
    <p:extLst>
      <p:ext uri="{BB962C8B-B14F-4D97-AF65-F5344CB8AC3E}">
        <p14:creationId xmlns:p14="http://schemas.microsoft.com/office/powerpoint/2010/main" val="36853912"/>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a:t>Add more RAM to your </a:t>
            </a:r>
            <a:r>
              <a:rPr lang="en-US" sz="2400" b="1" dirty="0" smtClean="0"/>
              <a:t>PC</a:t>
            </a:r>
          </a:p>
          <a:p>
            <a:r>
              <a:rPr lang="en-US" sz="2400" dirty="0" smtClean="0"/>
              <a:t>This will increase speed of the PC.</a:t>
            </a:r>
          </a:p>
          <a:p>
            <a:r>
              <a:rPr lang="en-US" sz="2400" b="1" dirty="0"/>
              <a:t>Check for spyware and </a:t>
            </a:r>
            <a:r>
              <a:rPr lang="en-US" sz="2400" b="1" dirty="0" smtClean="0"/>
              <a:t>viruses</a:t>
            </a:r>
          </a:p>
          <a:p>
            <a:r>
              <a:rPr lang="en-US" sz="2400" dirty="0" smtClean="0"/>
              <a:t>use antivirus software.</a:t>
            </a:r>
            <a:endParaRPr lang="en-US" sz="2400" dirty="0"/>
          </a:p>
          <a:p>
            <a:r>
              <a:rPr lang="en-US" sz="2400" b="1" dirty="0" smtClean="0"/>
              <a:t>Use Disk Cleanup and defragmentation</a:t>
            </a:r>
          </a:p>
          <a:p>
            <a:r>
              <a:rPr lang="en-US" sz="2400" b="1" dirty="0" smtClean="0"/>
              <a:t>Disk Cleanup</a:t>
            </a:r>
          </a:p>
          <a:p>
            <a:r>
              <a:rPr lang="en-US" sz="2400" b="1" dirty="0"/>
              <a:t>Disk Cleanup</a:t>
            </a:r>
            <a:r>
              <a:rPr lang="en-US" sz="2400" dirty="0"/>
              <a:t> is a Microsoft software utility first introduced with Windows 98 and included in all subsequent releases of Windows. It allows users to remove files that are no longer needed or that can be safely deleted. </a:t>
            </a:r>
            <a:endParaRPr lang="en-US" sz="2400" b="1" dirty="0" smtClean="0"/>
          </a:p>
          <a:p>
            <a:endParaRPr lang="en-US" sz="2400" b="1" dirty="0" smtClean="0"/>
          </a:p>
          <a:p>
            <a:endParaRPr lang="en-US" sz="2400" b="1" dirty="0"/>
          </a:p>
          <a:p>
            <a:pPr>
              <a:buNone/>
            </a:pPr>
            <a:endParaRPr lang="en-IN" dirty="0" smtClean="0"/>
          </a:p>
          <a:p>
            <a:pPr>
              <a:buNone/>
            </a:pPr>
            <a:endParaRPr lang="en-IN" dirty="0"/>
          </a:p>
        </p:txBody>
      </p:sp>
    </p:spTree>
    <p:extLst>
      <p:ext uri="{BB962C8B-B14F-4D97-AF65-F5344CB8AC3E}">
        <p14:creationId xmlns:p14="http://schemas.microsoft.com/office/powerpoint/2010/main" val="241055974"/>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smtClean="0"/>
              <a:t>Disk Cleanup</a:t>
            </a:r>
          </a:p>
          <a:p>
            <a:r>
              <a:rPr lang="en-US" sz="2400" dirty="0"/>
              <a:t>Removing unnecessary files, including temporary files, helps speed up and improve the performance of the hard drive and computer. Running Disk Cleanup at least once a month is an excellent maintenance task and frequency.</a:t>
            </a:r>
          </a:p>
          <a:p>
            <a:r>
              <a:rPr lang="en-US" sz="2400" dirty="0" smtClean="0"/>
              <a:t>Disk </a:t>
            </a:r>
            <a:r>
              <a:rPr lang="en-US" sz="2400" dirty="0"/>
              <a:t>Cleanup can delete temporary Internet </a:t>
            </a:r>
            <a:r>
              <a:rPr lang="en-US" sz="2400" dirty="0" smtClean="0"/>
              <a:t>files</a:t>
            </a:r>
            <a:r>
              <a:rPr lang="en-US" sz="2400" dirty="0" smtClean="0"/>
              <a:t>, </a:t>
            </a:r>
            <a:r>
              <a:rPr lang="en-US" sz="2400" dirty="0" smtClean="0"/>
              <a:t>downloaded </a:t>
            </a:r>
            <a:r>
              <a:rPr lang="en-US" sz="2400" dirty="0"/>
              <a:t>program files, and offline webpages. Disk Cleanup also allows you to empty the Recycle Bin, delete temporary files, and delete thumbnails.</a:t>
            </a:r>
          </a:p>
          <a:p>
            <a:endParaRPr lang="en-US" sz="2400" b="1" dirty="0" smtClean="0"/>
          </a:p>
          <a:p>
            <a:endParaRPr lang="en-US" sz="2400" b="1" dirty="0" smtClean="0"/>
          </a:p>
          <a:p>
            <a:endParaRPr lang="en-US" sz="2400" b="1" dirty="0"/>
          </a:p>
          <a:p>
            <a:pPr>
              <a:buNone/>
            </a:pPr>
            <a:endParaRPr lang="en-IN" dirty="0" smtClean="0"/>
          </a:p>
          <a:p>
            <a:pPr>
              <a:buNone/>
            </a:pPr>
            <a:endParaRPr lang="en-IN" dirty="0"/>
          </a:p>
        </p:txBody>
      </p:sp>
    </p:spTree>
    <p:extLst>
      <p:ext uri="{BB962C8B-B14F-4D97-AF65-F5344CB8AC3E}">
        <p14:creationId xmlns:p14="http://schemas.microsoft.com/office/powerpoint/2010/main" val="2003149451"/>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a:t>How to open Microsoft Disk Cleanup</a:t>
            </a:r>
          </a:p>
          <a:p>
            <a:endParaRPr lang="en-US" sz="2400" dirty="0" smtClean="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2015037"/>
            <a:ext cx="7166064" cy="4524315"/>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Windows 10 and Windows 8</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b="0" i="0" u="none" strike="noStrike" cap="none" normalizeH="0" baseline="0" dirty="0" smtClean="0">
                <a:ln>
                  <a:noFill/>
                </a:ln>
                <a:solidFill>
                  <a:srgbClr val="454545"/>
                </a:solidFill>
                <a:effectLst/>
                <a:latin typeface="Verdana" panose="020B0604030504040204" pitchFamily="34" charset="0"/>
              </a:rPr>
              <a:t>Press </a:t>
            </a:r>
            <a:r>
              <a:rPr lang="en-US" dirty="0">
                <a:solidFill>
                  <a:srgbClr val="454545"/>
                </a:solidFill>
                <a:latin typeface="Verdana" panose="020B0604030504040204" pitchFamily="34" charset="0"/>
              </a:rPr>
              <a:t>Windows </a:t>
            </a:r>
            <a:r>
              <a:rPr lang="en-US" dirty="0" err="1">
                <a:solidFill>
                  <a:srgbClr val="454545"/>
                </a:solidFill>
                <a:latin typeface="Verdana" panose="020B0604030504040204" pitchFamily="34" charset="0"/>
              </a:rPr>
              <a:t>key+X</a:t>
            </a:r>
            <a:r>
              <a:rPr kumimoji="0" lang="en-US" b="0" i="0" u="none" strike="noStrike" cap="none" normalizeH="0" baseline="0" dirty="0" smtClean="0">
                <a:ln>
                  <a:noFill/>
                </a:ln>
                <a:solidFill>
                  <a:srgbClr val="454545"/>
                </a:solidFill>
                <a:effectLst/>
                <a:latin typeface="Verdana" panose="020B0604030504040204" pitchFamily="34" charset="0"/>
              </a:rPr>
              <a:t> to open the </a:t>
            </a:r>
            <a:r>
              <a:rPr kumimoji="0" lang="en-US" b="0" i="0" u="none" strike="noStrike" cap="none" normalizeH="0" baseline="0" dirty="0" smtClean="0">
                <a:ln>
                  <a:noFill/>
                </a:ln>
                <a:solidFill>
                  <a:srgbClr val="2675D1"/>
                </a:solidFill>
                <a:effectLst/>
                <a:latin typeface="Verdana" panose="020B0604030504040204" pitchFamily="34" charset="0"/>
              </a:rPr>
              <a:t>Power User Task Menu</a:t>
            </a:r>
            <a:r>
              <a:rPr kumimoji="0" lang="en-US" b="0" i="0" u="none" strike="noStrike" cap="none" normalizeH="0" baseline="0" dirty="0" smtClean="0">
                <a:ln>
                  <a:noFill/>
                </a:ln>
                <a:solidFill>
                  <a:srgbClr val="454545"/>
                </a:solidFill>
                <a:effectLst/>
                <a:latin typeface="Verdana" panose="020B060403050404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b="0" i="0" u="none" strike="noStrike" cap="none" normalizeH="0" baseline="0" dirty="0" smtClean="0">
                <a:ln>
                  <a:noFill/>
                </a:ln>
                <a:solidFill>
                  <a:srgbClr val="454545"/>
                </a:solidFill>
                <a:effectLst/>
                <a:latin typeface="Verdana" panose="020B0604030504040204" pitchFamily="34" charset="0"/>
              </a:rPr>
              <a:t>In the menu, tap or click the </a:t>
            </a:r>
            <a:r>
              <a:rPr kumimoji="0" lang="en-US" b="1" i="0" u="none" strike="noStrike" cap="none" normalizeH="0" baseline="0" dirty="0" smtClean="0">
                <a:ln>
                  <a:noFill/>
                </a:ln>
                <a:solidFill>
                  <a:srgbClr val="454545"/>
                </a:solidFill>
                <a:effectLst/>
                <a:latin typeface="Verdana" panose="020B0604030504040204" pitchFamily="34" charset="0"/>
              </a:rPr>
              <a:t>Run</a:t>
            </a:r>
            <a:r>
              <a:rPr kumimoji="0" lang="en-US" b="0" i="0" u="none" strike="noStrike" cap="none" normalizeH="0" baseline="0" dirty="0" smtClean="0">
                <a:ln>
                  <a:noFill/>
                </a:ln>
                <a:solidFill>
                  <a:srgbClr val="454545"/>
                </a:solidFill>
                <a:effectLst/>
                <a:latin typeface="Verdana" panose="020B0604030504040204" pitchFamily="34" charset="0"/>
              </a:rPr>
              <a:t> option.</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b="0" i="0" u="none" strike="noStrike" cap="none" normalizeH="0" baseline="0" dirty="0" smtClean="0">
                <a:ln>
                  <a:noFill/>
                </a:ln>
                <a:solidFill>
                  <a:srgbClr val="454545"/>
                </a:solidFill>
                <a:effectLst/>
                <a:latin typeface="Verdana" panose="020B0604030504040204" pitchFamily="34" charset="0"/>
              </a:rPr>
              <a:t>In the Run text field, type </a:t>
            </a:r>
            <a:r>
              <a:rPr kumimoji="0" lang="en-US" b="1" i="0" u="none" strike="noStrike" cap="none" normalizeH="0" baseline="0" dirty="0" err="1" smtClean="0">
                <a:ln>
                  <a:noFill/>
                </a:ln>
                <a:solidFill>
                  <a:srgbClr val="454545"/>
                </a:solidFill>
                <a:effectLst/>
                <a:latin typeface="Verdana" panose="020B0604030504040204" pitchFamily="34" charset="0"/>
              </a:rPr>
              <a:t>cleanmgr</a:t>
            </a:r>
            <a:r>
              <a:rPr kumimoji="0" lang="en-US" b="0" i="0" u="none" strike="noStrike" cap="none" normalizeH="0" baseline="0" dirty="0" smtClean="0">
                <a:ln>
                  <a:noFill/>
                </a:ln>
                <a:solidFill>
                  <a:srgbClr val="454545"/>
                </a:solidFill>
                <a:effectLst/>
                <a:latin typeface="Verdana" panose="020B0604030504040204" pitchFamily="34" charset="0"/>
              </a:rPr>
              <a:t> and press </a:t>
            </a:r>
            <a:r>
              <a:rPr lang="en-US" dirty="0">
                <a:solidFill>
                  <a:srgbClr val="454545"/>
                </a:solidFill>
                <a:latin typeface="Verdana" panose="020B0604030504040204" pitchFamily="34" charset="0"/>
              </a:rPr>
              <a:t>Enter.</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r>
              <a:rPr lang="en-US" b="1" dirty="0"/>
              <a:t>Windows 7 and earlier</a:t>
            </a:r>
          </a:p>
          <a:p>
            <a:r>
              <a:rPr lang="en-US" dirty="0"/>
              <a:t>Open the Start menu.</a:t>
            </a:r>
          </a:p>
          <a:p>
            <a:r>
              <a:rPr lang="en-US" dirty="0"/>
              <a:t>Click </a:t>
            </a:r>
            <a:r>
              <a:rPr lang="en-US" b="1" dirty="0"/>
              <a:t>Programs</a:t>
            </a:r>
            <a:r>
              <a:rPr lang="en-US" dirty="0"/>
              <a:t> &gt; </a:t>
            </a:r>
            <a:r>
              <a:rPr lang="en-US" b="1" dirty="0"/>
              <a:t>Accessories</a:t>
            </a:r>
            <a:r>
              <a:rPr lang="en-US" dirty="0"/>
              <a:t> &gt; </a:t>
            </a:r>
            <a:r>
              <a:rPr lang="en-US" b="1" dirty="0"/>
              <a:t>System Tools</a:t>
            </a:r>
            <a:r>
              <a:rPr lang="en-US" dirty="0"/>
              <a:t>.</a:t>
            </a:r>
          </a:p>
          <a:p>
            <a:r>
              <a:rPr lang="en-US" dirty="0"/>
              <a:t>In System Tools, click the </a:t>
            </a:r>
            <a:r>
              <a:rPr lang="en-US" b="1" dirty="0"/>
              <a:t>Disk Cleanup</a:t>
            </a:r>
            <a:r>
              <a:rPr lang="en-US" dirty="0"/>
              <a:t> utility.</a:t>
            </a:r>
          </a:p>
          <a:p>
            <a:r>
              <a:rPr lang="en-US" dirty="0"/>
              <a:t>or</a:t>
            </a:r>
          </a:p>
          <a:p>
            <a:r>
              <a:rPr lang="en-US" dirty="0"/>
              <a:t>Open the Start menu.</a:t>
            </a:r>
          </a:p>
          <a:p>
            <a:r>
              <a:rPr lang="en-US" dirty="0"/>
              <a:t>Click the </a:t>
            </a:r>
            <a:r>
              <a:rPr lang="en-US" b="1" dirty="0"/>
              <a:t>Run</a:t>
            </a:r>
            <a:r>
              <a:rPr lang="en-US" dirty="0"/>
              <a:t> option.</a:t>
            </a:r>
          </a:p>
          <a:p>
            <a:r>
              <a:rPr lang="en-US" dirty="0"/>
              <a:t>In the Run text field, type </a:t>
            </a:r>
            <a:r>
              <a:rPr lang="en-US" b="1" dirty="0" err="1"/>
              <a:t>cleanmgr</a:t>
            </a:r>
            <a:r>
              <a:rPr lang="en-US" dirty="0"/>
              <a:t> and press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7901158"/>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dirty="0"/>
              <a:t>Once Disk Cleanup opens, the initial window asks you which drive you want to clean up. </a:t>
            </a:r>
            <a:endParaRPr lang="en-US" sz="2400" dirty="0" smtClean="0"/>
          </a:p>
          <a:p>
            <a:r>
              <a:rPr lang="en-US" sz="2400" dirty="0" smtClean="0"/>
              <a:t>Select </a:t>
            </a:r>
            <a:r>
              <a:rPr lang="en-US" sz="2400" dirty="0"/>
              <a:t>the appropriate drive and click OK. </a:t>
            </a:r>
            <a:endParaRPr lang="en-US" sz="2400" dirty="0" smtClean="0"/>
          </a:p>
          <a:p>
            <a:r>
              <a:rPr lang="en-US" sz="2400" dirty="0" smtClean="0"/>
              <a:t>In </a:t>
            </a:r>
            <a:r>
              <a:rPr lang="en-US" sz="2400" dirty="0"/>
              <a:t>the next window that opens, check each of the boxes you want to clean up. </a:t>
            </a:r>
            <a:endParaRPr lang="en-US" sz="2400" dirty="0" smtClean="0"/>
          </a:p>
          <a:p>
            <a:r>
              <a:rPr lang="en-US" sz="2400" dirty="0" smtClean="0"/>
              <a:t>To </a:t>
            </a:r>
            <a:r>
              <a:rPr lang="en-US" sz="2400" dirty="0"/>
              <a:t>the right of each item is the disk drive space each of the items are taking up on the hard drive</a:t>
            </a:r>
            <a:r>
              <a:rPr lang="en-US" sz="2400" dirty="0" smtClean="0"/>
              <a:t>.</a:t>
            </a:r>
          </a:p>
          <a:p>
            <a:r>
              <a:rPr lang="en-US" sz="2400" dirty="0"/>
              <a:t>Once each of the boxes is checked, click OK to start the cleanup process.</a:t>
            </a:r>
            <a:endParaRPr lang="en-US" sz="2400" dirty="0" smtClean="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1366768"/>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a:t>What is defragmentation and why do I need it?</a:t>
            </a:r>
          </a:p>
          <a:p>
            <a:r>
              <a:rPr lang="en-US" sz="2400" dirty="0"/>
              <a:t>Defragmentation, also known as “defrag” or “defragging”, is the process of reorganizing the data stored on the hard drive so that related pieces of data are put back together, all lined up in a continuous fashion.</a:t>
            </a:r>
          </a:p>
          <a:p>
            <a:r>
              <a:rPr lang="en-US" sz="2400" dirty="0"/>
              <a:t>You could say that defragmentation is like cleaning house for your Servers or PCs, it picks up all of the pieces of data that are spread across your hard drive and puts them back together again, nice and neat and clean.</a:t>
            </a:r>
          </a:p>
          <a:p>
            <a:r>
              <a:rPr lang="en-US" sz="2400" dirty="0"/>
              <a:t>Defragmentation increases computer performance.</a:t>
            </a:r>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012538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a:t>How Fragmentation Occurs</a:t>
            </a:r>
          </a:p>
          <a:p>
            <a:r>
              <a:rPr lang="en-US" sz="2400" dirty="0"/>
              <a:t>Disk fragmentation occurs when a file is broken up into pieces to fit on the disk.</a:t>
            </a:r>
          </a:p>
          <a:p>
            <a:r>
              <a:rPr lang="en-US" sz="2400" dirty="0"/>
              <a:t>Because files are constantly being written, deleted and resized, fragmentation is a natural occurrence. </a:t>
            </a:r>
            <a:endParaRPr lang="en-US" sz="2400" dirty="0" smtClean="0"/>
          </a:p>
          <a:p>
            <a:r>
              <a:rPr lang="en-US" sz="2400" dirty="0" smtClean="0"/>
              <a:t>When </a:t>
            </a:r>
            <a:r>
              <a:rPr lang="en-US" sz="2400" dirty="0"/>
              <a:t>a file is spread out over several locations, it takes longer to read and write resulting in slow computer performance.</a:t>
            </a:r>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33746243"/>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smtClean="0"/>
              <a:t>How to do disk defragmentation</a:t>
            </a:r>
          </a:p>
          <a:p>
            <a:pPr marL="539496" indent="-457200">
              <a:buAutoNum type="arabicPeriod"/>
            </a:pPr>
            <a:r>
              <a:rPr lang="en-US" sz="2400" b="1" dirty="0" smtClean="0"/>
              <a:t>Allow </a:t>
            </a:r>
            <a:r>
              <a:rPr lang="en-US" sz="2400" b="1" dirty="0"/>
              <a:t>Disk Defragmenter to run </a:t>
            </a:r>
            <a:r>
              <a:rPr lang="en-US" sz="2400" b="1" dirty="0" smtClean="0"/>
              <a:t>automatically</a:t>
            </a:r>
          </a:p>
          <a:p>
            <a:pPr marL="82296" indent="0">
              <a:buNone/>
            </a:pPr>
            <a:r>
              <a:rPr lang="en-US" sz="2400" dirty="0" smtClean="0"/>
              <a:t>     open control panel -&gt; system and security -&gt; administrative tools -&gt; defragment your hard drive -&gt; configure schedule -&gt; then enter day and time and frequency when you want to run defragmentation automatically.</a:t>
            </a:r>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21477314"/>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pPr marL="82296" indent="0">
              <a:buNone/>
            </a:pPr>
            <a:r>
              <a:rPr lang="en-US" sz="2400" b="1" dirty="0" smtClean="0"/>
              <a:t>2. Manually </a:t>
            </a:r>
            <a:r>
              <a:rPr lang="en-US" sz="2400" b="1" dirty="0"/>
              <a:t>run Disk Defragmenter</a:t>
            </a:r>
          </a:p>
          <a:p>
            <a:r>
              <a:rPr lang="en-US" sz="2400" dirty="0"/>
              <a:t>Click the </a:t>
            </a:r>
            <a:r>
              <a:rPr lang="en-US" sz="2400" b="1" dirty="0"/>
              <a:t>Start </a:t>
            </a:r>
            <a:r>
              <a:rPr lang="en-US" sz="2400" dirty="0"/>
              <a:t>menu or</a:t>
            </a:r>
            <a:r>
              <a:rPr lang="en-US" sz="2400" b="1" dirty="0"/>
              <a:t> Windows</a:t>
            </a:r>
            <a:r>
              <a:rPr lang="en-US" sz="2400" dirty="0"/>
              <a:t> button</a:t>
            </a:r>
          </a:p>
          <a:p>
            <a:r>
              <a:rPr lang="en-US" sz="2400" dirty="0"/>
              <a:t>Select</a:t>
            </a:r>
            <a:r>
              <a:rPr lang="en-US" sz="2400" b="1" dirty="0"/>
              <a:t> Control Panel, </a:t>
            </a:r>
            <a:r>
              <a:rPr lang="en-US" sz="2400" dirty="0"/>
              <a:t>then</a:t>
            </a:r>
            <a:r>
              <a:rPr lang="en-US" sz="2400" b="1" dirty="0"/>
              <a:t> System and Security</a:t>
            </a:r>
            <a:endParaRPr lang="en-US" sz="2400" dirty="0"/>
          </a:p>
          <a:p>
            <a:r>
              <a:rPr lang="en-US" sz="2400" dirty="0"/>
              <a:t>Under</a:t>
            </a:r>
            <a:r>
              <a:rPr lang="en-US" sz="2400" b="1" dirty="0"/>
              <a:t> Administrative Tools, </a:t>
            </a:r>
            <a:r>
              <a:rPr lang="en-US" sz="2400" dirty="0"/>
              <a:t>click</a:t>
            </a:r>
            <a:r>
              <a:rPr lang="en-US" sz="2400" b="1" dirty="0"/>
              <a:t> Defragment your hard drive</a:t>
            </a:r>
            <a:endParaRPr lang="en-US" sz="2400" dirty="0"/>
          </a:p>
          <a:p>
            <a:r>
              <a:rPr lang="en-US" sz="2400" dirty="0"/>
              <a:t>Select</a:t>
            </a:r>
            <a:r>
              <a:rPr lang="en-US" sz="2400" b="1" dirty="0"/>
              <a:t> Analyze disk. </a:t>
            </a:r>
            <a:r>
              <a:rPr lang="en-US" sz="2400" dirty="0"/>
              <a:t>The report you get will indicate if you need to defrag your disk.</a:t>
            </a:r>
          </a:p>
          <a:p>
            <a:r>
              <a:rPr lang="en-US" sz="2400" dirty="0"/>
              <a:t>If you need to manually defrag your disk, click</a:t>
            </a:r>
            <a:r>
              <a:rPr lang="en-US" sz="2400" b="1" dirty="0"/>
              <a:t> Defragment disk</a:t>
            </a:r>
            <a:endParaRPr lang="en-US" sz="2400"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74660085"/>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fontScale="92500" lnSpcReduction="20000"/>
          </a:bodyPr>
          <a:lstStyle/>
          <a:p>
            <a:r>
              <a:rPr lang="en-US" sz="2400" b="1" dirty="0"/>
              <a:t>Consider a startup SSD</a:t>
            </a:r>
          </a:p>
          <a:p>
            <a:r>
              <a:rPr lang="en-US" sz="2400" dirty="0"/>
              <a:t>When you want better performance, a startup solid-state drive (SSD) can go a long way toward taking some of the pressure off the processor when your computer boots up. </a:t>
            </a:r>
            <a:endParaRPr lang="en-US" sz="2400" dirty="0" smtClean="0"/>
          </a:p>
          <a:p>
            <a:r>
              <a:rPr lang="en-US" sz="2400" dirty="0" smtClean="0"/>
              <a:t>If </a:t>
            </a:r>
            <a:r>
              <a:rPr lang="en-US" sz="2400" dirty="0"/>
              <a:t>you tend to run a number of applications at one time or use photo and video editing software, then a startup drive can go a long way toward making these programs run smoother and load faster.</a:t>
            </a:r>
          </a:p>
          <a:p>
            <a:r>
              <a:rPr lang="en-US" sz="2400" dirty="0"/>
              <a:t>While they’re most commonly installed on desktop computers, SSDs can be used on some laptop models as well. When you don’t have the option of using an internal SSD, you can always purchase an external drive that connects to your PC with a </a:t>
            </a:r>
            <a:r>
              <a:rPr lang="en-US" sz="2400" dirty="0" smtClean="0"/>
              <a:t>USB. </a:t>
            </a:r>
          </a:p>
          <a:p>
            <a:r>
              <a:rPr lang="en-US" sz="2400" dirty="0" smtClean="0"/>
              <a:t>This </a:t>
            </a:r>
            <a:r>
              <a:rPr lang="en-US" sz="2400" dirty="0"/>
              <a:t>drive can give you the extra push you need at startup to accomplish tasks and give you a boost for apps that need more temporary memory to run properly.</a:t>
            </a:r>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2658503"/>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a:bodyPr>
          <a:lstStyle/>
          <a:p>
            <a:r>
              <a:rPr lang="en-US" sz="2400" b="1" dirty="0"/>
              <a:t>Take a look at your web </a:t>
            </a:r>
            <a:r>
              <a:rPr lang="en-US" sz="2400" b="1" dirty="0" smtClean="0"/>
              <a:t>browser</a:t>
            </a:r>
          </a:p>
          <a:p>
            <a:r>
              <a:rPr lang="en-US" sz="2400" dirty="0"/>
              <a:t>If you have a full cache that has not been emptied in a while, then you’ll want to visit your settings and make sure that it’s empty.</a:t>
            </a:r>
          </a:p>
          <a:p>
            <a:r>
              <a:rPr lang="en-US" sz="2400" dirty="0"/>
              <a:t>Your cache </a:t>
            </a:r>
            <a:r>
              <a:rPr lang="en-US" sz="2400" dirty="0" smtClean="0"/>
              <a:t>includes </a:t>
            </a:r>
            <a:r>
              <a:rPr lang="en-US" sz="2400" dirty="0"/>
              <a:t>what you pick up when you are visiting various websites. </a:t>
            </a:r>
            <a:endParaRPr lang="en-US" sz="2400" dirty="0" smtClean="0"/>
          </a:p>
          <a:p>
            <a:r>
              <a:rPr lang="en-US" sz="2400" dirty="0" smtClean="0"/>
              <a:t>Many </a:t>
            </a:r>
            <a:r>
              <a:rPr lang="en-US" sz="2400" dirty="0"/>
              <a:t>sites use cookies in order to figure out your browsing habits and the ads you may click when you visit a site will leave one too. </a:t>
            </a:r>
            <a:endParaRPr lang="en-US" sz="2400" dirty="0" smtClean="0"/>
          </a:p>
          <a:p>
            <a:r>
              <a:rPr lang="en-US" sz="2400" dirty="0" smtClean="0"/>
              <a:t>A </a:t>
            </a:r>
            <a:r>
              <a:rPr lang="en-US" sz="2400" dirty="0"/>
              <a:t>cache holds these files as information and if you spend a lot of time online, these files can accumulate and cause your computer to run more slowly.</a:t>
            </a:r>
          </a:p>
          <a:p>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1995706"/>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Optimizing </a:t>
            </a:r>
            <a:r>
              <a:rPr lang="en-US" sz="3600" dirty="0"/>
              <a:t>the computer </a:t>
            </a:r>
            <a:r>
              <a:rPr lang="en-US" sz="3600" dirty="0" smtClean="0"/>
              <a:t>performance</a:t>
            </a:r>
            <a:r>
              <a:rPr lang="en-US" dirty="0"/>
              <a:t>	</a:t>
            </a:r>
          </a:p>
        </p:txBody>
      </p:sp>
      <p:sp>
        <p:nvSpPr>
          <p:cNvPr id="3" name="Content Placeholder 2"/>
          <p:cNvSpPr>
            <a:spLocks noGrp="1"/>
          </p:cNvSpPr>
          <p:nvPr>
            <p:ph idx="1"/>
          </p:nvPr>
        </p:nvSpPr>
        <p:spPr/>
        <p:txBody>
          <a:bodyPr>
            <a:normAutofit fontScale="70000" lnSpcReduction="20000"/>
          </a:bodyPr>
          <a:lstStyle/>
          <a:p>
            <a:r>
              <a:rPr lang="en-US" sz="2400" b="1" dirty="0"/>
              <a:t>There are two ways to do this in the more popular web browsers:</a:t>
            </a:r>
            <a:endParaRPr lang="en-US" sz="2400" dirty="0"/>
          </a:p>
          <a:p>
            <a:r>
              <a:rPr lang="en-US" sz="2400" b="1" dirty="0"/>
              <a:t>For Internet Explorer:</a:t>
            </a:r>
            <a:endParaRPr lang="en-US" sz="2400" dirty="0"/>
          </a:p>
          <a:p>
            <a:pPr fontAlgn="t"/>
            <a:r>
              <a:rPr lang="en-US" sz="2400" dirty="0"/>
              <a:t>Visit “Internet Options”</a:t>
            </a:r>
          </a:p>
          <a:p>
            <a:pPr fontAlgn="t"/>
            <a:r>
              <a:rPr lang="en-US" sz="2400" dirty="0"/>
              <a:t>Click on the “General” tab</a:t>
            </a:r>
          </a:p>
          <a:p>
            <a:pPr fontAlgn="t"/>
            <a:r>
              <a:rPr lang="en-US" sz="2400" dirty="0"/>
              <a:t>Look for the “Browsing History” option</a:t>
            </a:r>
          </a:p>
          <a:p>
            <a:pPr fontAlgn="t"/>
            <a:r>
              <a:rPr lang="en-US" sz="2400" dirty="0"/>
              <a:t>Select “Temporary Internet Files” and “Website Data”</a:t>
            </a:r>
          </a:p>
          <a:p>
            <a:pPr fontAlgn="t"/>
            <a:r>
              <a:rPr lang="en-US" sz="2400" dirty="0"/>
              <a:t>Hit “Delete”</a:t>
            </a:r>
          </a:p>
          <a:p>
            <a:r>
              <a:rPr lang="en-US" sz="2400" b="1" dirty="0"/>
              <a:t>For Google Chrome:</a:t>
            </a:r>
            <a:endParaRPr lang="en-US" sz="2400" dirty="0"/>
          </a:p>
          <a:p>
            <a:pPr fontAlgn="t"/>
            <a:r>
              <a:rPr lang="en-US" sz="2400" dirty="0"/>
              <a:t>Visit “More settings”</a:t>
            </a:r>
          </a:p>
          <a:p>
            <a:pPr fontAlgn="t"/>
            <a:r>
              <a:rPr lang="en-US" sz="2400" dirty="0"/>
              <a:t>Select “More tools”</a:t>
            </a:r>
          </a:p>
          <a:p>
            <a:pPr fontAlgn="t"/>
            <a:r>
              <a:rPr lang="en-US" sz="2400" dirty="0"/>
              <a:t>Click “Clear browsing data”</a:t>
            </a:r>
          </a:p>
          <a:p>
            <a:pPr fontAlgn="t"/>
            <a:r>
              <a:rPr lang="en-US" sz="2400" dirty="0"/>
              <a:t>Note that Chrome allows you to delete data within a certain time period</a:t>
            </a:r>
          </a:p>
          <a:p>
            <a:pPr fontAlgn="t"/>
            <a:r>
              <a:rPr lang="en-US" sz="2400" dirty="0"/>
              <a:t>If you’ve never deleted the files in your cache before, you’ll want to select “All time”</a:t>
            </a:r>
          </a:p>
          <a:p>
            <a:pPr fontAlgn="t"/>
            <a:r>
              <a:rPr lang="en-US" sz="2400" dirty="0"/>
              <a:t>Check the boxes “Cookies and other site data” and “Cached images and files”</a:t>
            </a:r>
          </a:p>
          <a:p>
            <a:pPr fontAlgn="t"/>
            <a:r>
              <a:rPr lang="en-US" sz="2400" dirty="0"/>
              <a:t>Hit “Clear data”</a:t>
            </a:r>
          </a:p>
          <a:p>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18161211"/>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638"/>
            <a:ext cx="7498080" cy="634082"/>
          </a:xfrm>
        </p:spPr>
        <p:txBody>
          <a:bodyPr>
            <a:normAutofit fontScale="90000"/>
          </a:bodyPr>
          <a:lstStyle/>
          <a:p>
            <a:r>
              <a:rPr lang="en-IN" dirty="0" smtClean="0"/>
              <a:t>Plug and Play concepts</a:t>
            </a:r>
            <a:endParaRPr lang="en-US" dirty="0"/>
          </a:p>
        </p:txBody>
      </p:sp>
      <p:pic>
        <p:nvPicPr>
          <p:cNvPr id="5" name="Picture 4"/>
          <p:cNvPicPr>
            <a:picLocks noChangeAspect="1"/>
          </p:cNvPicPr>
          <p:nvPr/>
        </p:nvPicPr>
        <p:blipFill rotWithShape="1">
          <a:blip r:embed="rId2"/>
          <a:srcRect l="34313" t="20672" r="35248" b="38168"/>
          <a:stretch/>
        </p:blipFill>
        <p:spPr>
          <a:xfrm>
            <a:off x="971600" y="936496"/>
            <a:ext cx="7704855" cy="5660856"/>
          </a:xfrm>
          <a:prstGeom prst="rect">
            <a:avLst/>
          </a:prstGeom>
        </p:spPr>
      </p:pic>
    </p:spTree>
    <p:extLst>
      <p:ext uri="{BB962C8B-B14F-4D97-AF65-F5344CB8AC3E}">
        <p14:creationId xmlns:p14="http://schemas.microsoft.com/office/powerpoint/2010/main" val="3156286351"/>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r>
              <a:rPr lang="en-US" sz="2000" dirty="0"/>
              <a:t>A computer is a device that transforms data into meaningful information. </a:t>
            </a:r>
            <a:endParaRPr lang="en-US" sz="2000" dirty="0" smtClean="0"/>
          </a:p>
          <a:p>
            <a:r>
              <a:rPr lang="en-US" sz="2000" dirty="0" smtClean="0"/>
              <a:t>It </a:t>
            </a:r>
            <a:r>
              <a:rPr lang="en-US" sz="2000" dirty="0"/>
              <a:t>processes the input according to the set of instructions provided to it by the user and gives the desired output. </a:t>
            </a:r>
            <a:endParaRPr lang="en-US" sz="2000" dirty="0" smtClean="0"/>
          </a:p>
          <a:p>
            <a:r>
              <a:rPr lang="en-US" sz="2000" dirty="0" smtClean="0"/>
              <a:t>As </a:t>
            </a:r>
            <a:r>
              <a:rPr lang="en-US" sz="2000" dirty="0"/>
              <a:t>we know that we can connect multiple external devices with the computer system. </a:t>
            </a:r>
            <a:endParaRPr lang="en-US" sz="2000" dirty="0" smtClean="0"/>
          </a:p>
          <a:p>
            <a:r>
              <a:rPr lang="en-US" sz="2000" dirty="0" smtClean="0"/>
              <a:t>Now</a:t>
            </a:r>
            <a:r>
              <a:rPr lang="en-US" sz="2000" dirty="0"/>
              <a:t>, these devices are connected with the computer using Ports. </a:t>
            </a:r>
            <a:endParaRPr lang="en-US" sz="2000" dirty="0" smtClean="0"/>
          </a:p>
          <a:p>
            <a:r>
              <a:rPr lang="en-US" sz="2000" dirty="0" smtClean="0"/>
              <a:t>The </a:t>
            </a:r>
            <a:r>
              <a:rPr lang="en-US" sz="2000" dirty="0"/>
              <a:t>ports are the physical </a:t>
            </a:r>
            <a:r>
              <a:rPr lang="en-US" sz="2000" dirty="0" smtClean="0"/>
              <a:t>points </a:t>
            </a:r>
            <a:r>
              <a:rPr lang="en-US" sz="2000" dirty="0"/>
              <a:t>present in the computer through which the external devices are connected using cables. </a:t>
            </a:r>
            <a:endParaRPr lang="en-US" sz="2000" dirty="0" smtClean="0"/>
          </a:p>
          <a:p>
            <a:r>
              <a:rPr lang="en-US" sz="2000" dirty="0" smtClean="0"/>
              <a:t>Or </a:t>
            </a:r>
            <a:r>
              <a:rPr lang="en-US" sz="2000" dirty="0"/>
              <a:t>in other words, a port is an interface between the motherboard and an external device of the computer. </a:t>
            </a:r>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1894824"/>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descr="Computer Ports"/>
          <p:cNvPicPr/>
          <p:nvPr/>
        </p:nvPicPr>
        <p:blipFill>
          <a:blip r:embed="rId2">
            <a:extLst>
              <a:ext uri="{28A0092B-C50C-407E-A947-70E740481C1C}">
                <a14:useLocalDpi xmlns:a14="http://schemas.microsoft.com/office/drawing/2010/main" val="0"/>
              </a:ext>
            </a:extLst>
          </a:blip>
          <a:srcRect/>
          <a:stretch>
            <a:fillRect/>
          </a:stretch>
        </p:blipFill>
        <p:spPr bwMode="auto">
          <a:xfrm>
            <a:off x="1979712" y="836712"/>
            <a:ext cx="6696743" cy="5616623"/>
          </a:xfrm>
          <a:prstGeom prst="rect">
            <a:avLst/>
          </a:prstGeom>
          <a:noFill/>
          <a:ln>
            <a:noFill/>
          </a:ln>
        </p:spPr>
      </p:pic>
    </p:spTree>
    <p:extLst>
      <p:ext uri="{BB962C8B-B14F-4D97-AF65-F5344CB8AC3E}">
        <p14:creationId xmlns:p14="http://schemas.microsoft.com/office/powerpoint/2010/main" val="2076677227"/>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marL="82296" indent="0" fontAlgn="base">
              <a:buNone/>
            </a:pPr>
            <a:r>
              <a:rPr lang="en-US" sz="1800" b="1" dirty="0" smtClean="0"/>
              <a:t> </a:t>
            </a:r>
            <a:r>
              <a:rPr lang="en-US" sz="1800" b="1" dirty="0"/>
              <a:t>Serial port(COM Port</a:t>
            </a:r>
            <a:r>
              <a:rPr lang="en-US" sz="1800" b="1" dirty="0" smtClean="0"/>
              <a:t>):</a:t>
            </a:r>
          </a:p>
          <a:p>
            <a:pPr marL="82296" indent="0">
              <a:buNone/>
            </a:pPr>
            <a:r>
              <a:rPr lang="en-US" sz="1800" dirty="0" smtClean="0"/>
              <a:t>A </a:t>
            </a:r>
            <a:r>
              <a:rPr lang="en-US" sz="1800" dirty="0"/>
              <a:t>serial port is also called a communication port and they are used for connection of external devices like a modem, mouse, or keyboard (basically in older PCs). </a:t>
            </a:r>
            <a:endParaRPr lang="en-US" sz="1800" dirty="0" smtClean="0"/>
          </a:p>
          <a:p>
            <a:pPr marL="82296" indent="0">
              <a:buNone/>
            </a:pPr>
            <a:r>
              <a:rPr lang="en-US" sz="1800" dirty="0" smtClean="0"/>
              <a:t>It transfers </a:t>
            </a:r>
            <a:r>
              <a:rPr lang="en-US" sz="1800" dirty="0"/>
              <a:t>information one bit at a time between the computer and external peripherals.</a:t>
            </a:r>
            <a:endParaRPr lang="en-US" sz="1800" dirty="0" smtClean="0"/>
          </a:p>
          <a:p>
            <a:pPr marL="82296" indent="0">
              <a:buNone/>
            </a:pPr>
            <a:r>
              <a:rPr lang="en-US" sz="1800" dirty="0" smtClean="0"/>
              <a:t>Serial </a:t>
            </a:r>
            <a:r>
              <a:rPr lang="en-US" sz="1800" dirty="0"/>
              <a:t>cables are cheaper to make in comparison to parallel cables and they are easier to shield from interference. </a:t>
            </a:r>
            <a:endParaRPr lang="en-US" sz="1800" dirty="0" smtClean="0"/>
          </a:p>
          <a:p>
            <a:pPr marL="82296" indent="0">
              <a:buNone/>
            </a:pPr>
            <a:r>
              <a:rPr lang="en-US" sz="1800" dirty="0" smtClean="0"/>
              <a:t>There </a:t>
            </a:r>
            <a:r>
              <a:rPr lang="en-US" sz="1800" dirty="0"/>
              <a:t>are two versions of it, which are 9 pin model and 25 pin model. </a:t>
            </a:r>
            <a:endParaRPr lang="en-US" sz="1800" dirty="0" smtClean="0"/>
          </a:p>
          <a:p>
            <a:pPr marL="82296" indent="0">
              <a:buNone/>
            </a:pPr>
            <a:r>
              <a:rPr lang="en-US" sz="1800" dirty="0" smtClean="0"/>
              <a:t>It </a:t>
            </a:r>
            <a:r>
              <a:rPr lang="en-US" sz="1800" dirty="0"/>
              <a:t>transmits data at 115 KB/sec. </a:t>
            </a:r>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descr="serial-port"/>
          <p:cNvPicPr/>
          <p:nvPr/>
        </p:nvPicPr>
        <p:blipFill>
          <a:blip r:embed="rId2">
            <a:extLst>
              <a:ext uri="{28A0092B-C50C-407E-A947-70E740481C1C}">
                <a14:useLocalDpi xmlns:a14="http://schemas.microsoft.com/office/drawing/2010/main" val="0"/>
              </a:ext>
            </a:extLst>
          </a:blip>
          <a:srcRect/>
          <a:stretch>
            <a:fillRect/>
          </a:stretch>
        </p:blipFill>
        <p:spPr bwMode="auto">
          <a:xfrm>
            <a:off x="2915816" y="4648200"/>
            <a:ext cx="4924425" cy="2209800"/>
          </a:xfrm>
          <a:prstGeom prst="rect">
            <a:avLst/>
          </a:prstGeom>
          <a:noFill/>
          <a:ln>
            <a:noFill/>
          </a:ln>
        </p:spPr>
      </p:pic>
    </p:spTree>
    <p:extLst>
      <p:ext uri="{BB962C8B-B14F-4D97-AF65-F5344CB8AC3E}">
        <p14:creationId xmlns:p14="http://schemas.microsoft.com/office/powerpoint/2010/main" val="3600696015"/>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marL="82296" indent="0" fontAlgn="base">
              <a:buNone/>
            </a:pPr>
            <a:r>
              <a:rPr lang="en-US" sz="1800" b="1" dirty="0" smtClean="0"/>
              <a:t>Parallel </a:t>
            </a:r>
            <a:r>
              <a:rPr lang="en-US" sz="1800" b="1" dirty="0"/>
              <a:t>Port (LPT ports):</a:t>
            </a:r>
            <a:endParaRPr lang="en-US" sz="1800" dirty="0"/>
          </a:p>
          <a:p>
            <a:pPr fontAlgn="base"/>
            <a:r>
              <a:rPr lang="en-US" sz="1800" dirty="0"/>
              <a:t>Parallel ports are generally used for connecting scanners and printers. </a:t>
            </a:r>
            <a:endParaRPr lang="en-US" sz="1800" dirty="0" smtClean="0"/>
          </a:p>
          <a:p>
            <a:pPr fontAlgn="base"/>
            <a:r>
              <a:rPr lang="en-US" sz="1800" dirty="0" smtClean="0"/>
              <a:t>It </a:t>
            </a:r>
            <a:r>
              <a:rPr lang="en-US" sz="1800" dirty="0"/>
              <a:t>can send several bits at the same time as it uses parallel communication. </a:t>
            </a:r>
            <a:endParaRPr lang="en-US" sz="1800" dirty="0" smtClean="0"/>
          </a:p>
          <a:p>
            <a:pPr fontAlgn="base"/>
            <a:r>
              <a:rPr lang="en-US" sz="1800" dirty="0" smtClean="0"/>
              <a:t>Its </a:t>
            </a:r>
            <a:r>
              <a:rPr lang="en-US" sz="1800" dirty="0"/>
              <a:t>data transfer speed is much higher in comparison with the serial port. </a:t>
            </a:r>
            <a:endParaRPr lang="en-US" sz="1800" dirty="0" smtClean="0"/>
          </a:p>
          <a:p>
            <a:pPr fontAlgn="base"/>
            <a:r>
              <a:rPr lang="en-US" sz="1800" dirty="0" smtClean="0"/>
              <a:t>It </a:t>
            </a:r>
            <a:r>
              <a:rPr lang="en-US" sz="1800" dirty="0"/>
              <a:t>is a 25 pin model. It is also known as Printer Port or Line Printer Port.</a:t>
            </a:r>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7" name="Picture 6" descr="parallel-port"/>
          <p:cNvPicPr/>
          <p:nvPr/>
        </p:nvPicPr>
        <p:blipFill>
          <a:blip r:embed="rId2">
            <a:extLst>
              <a:ext uri="{28A0092B-C50C-407E-A947-70E740481C1C}">
                <a14:useLocalDpi xmlns:a14="http://schemas.microsoft.com/office/drawing/2010/main" val="0"/>
              </a:ext>
            </a:extLst>
          </a:blip>
          <a:srcRect/>
          <a:stretch>
            <a:fillRect/>
          </a:stretch>
        </p:blipFill>
        <p:spPr bwMode="auto">
          <a:xfrm>
            <a:off x="2632452" y="3598326"/>
            <a:ext cx="5321163" cy="2281066"/>
          </a:xfrm>
          <a:prstGeom prst="rect">
            <a:avLst/>
          </a:prstGeom>
          <a:noFill/>
          <a:ln>
            <a:noFill/>
          </a:ln>
        </p:spPr>
      </p:pic>
    </p:spTree>
    <p:extLst>
      <p:ext uri="{BB962C8B-B14F-4D97-AF65-F5344CB8AC3E}">
        <p14:creationId xmlns:p14="http://schemas.microsoft.com/office/powerpoint/2010/main" val="2534351268"/>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US" sz="1800" b="1" dirty="0"/>
              <a:t>USB (Universal Serial Bus):</a:t>
            </a:r>
            <a:endParaRPr lang="en-US" sz="1800" dirty="0"/>
          </a:p>
          <a:p>
            <a:r>
              <a:rPr lang="en-US" sz="1800" dirty="0"/>
              <a:t>In 1997 USB was first introduced. </a:t>
            </a:r>
            <a:endParaRPr lang="en-US" sz="1800" dirty="0" smtClean="0"/>
          </a:p>
          <a:p>
            <a:r>
              <a:rPr lang="en-US" sz="1800" dirty="0" smtClean="0"/>
              <a:t>This </a:t>
            </a:r>
            <a:r>
              <a:rPr lang="en-US" sz="1800" dirty="0"/>
              <a:t>can connect all kinds of external USB devices, like external hard disk, printer, scanner, mouse, keyboard, etc. </a:t>
            </a:r>
            <a:endParaRPr lang="en-US" sz="1800" dirty="0" smtClean="0"/>
          </a:p>
          <a:p>
            <a:r>
              <a:rPr lang="en-US" sz="1800" dirty="0" smtClean="0"/>
              <a:t>There </a:t>
            </a:r>
            <a:r>
              <a:rPr lang="en-US" sz="1800" dirty="0"/>
              <a:t>are minimum of two USB Ports provided in most of the computer systems. </a:t>
            </a:r>
            <a:endParaRPr lang="en-US" sz="1800" dirty="0" smtClean="0"/>
          </a:p>
          <a:p>
            <a:r>
              <a:rPr lang="en-US" sz="1800" dirty="0" smtClean="0"/>
              <a:t>It </a:t>
            </a:r>
            <a:r>
              <a:rPr lang="en-US" sz="1800" dirty="0"/>
              <a:t>is a kind of new type serial connection Port that is much faster than the old serial Ports and These USB Ports are much smarter and more </a:t>
            </a:r>
            <a:r>
              <a:rPr lang="en-US" sz="1800" dirty="0" smtClean="0"/>
              <a:t>versatile.</a:t>
            </a:r>
          </a:p>
          <a:p>
            <a:r>
              <a:rPr lang="en-IN" sz="1800" dirty="0"/>
              <a:t>USB ports can be used as a power supply for different devices like </a:t>
            </a:r>
            <a:r>
              <a:rPr lang="en-IN" sz="1800" dirty="0" err="1"/>
              <a:t>cellphones</a:t>
            </a:r>
            <a:r>
              <a:rPr lang="en-IN" sz="1800" dirty="0"/>
              <a:t>, cameras, laptop coolers and more.</a:t>
            </a:r>
            <a:endParaRPr lang="en-US" sz="18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descr="USB-port"/>
          <p:cNvPicPr/>
          <p:nvPr/>
        </p:nvPicPr>
        <p:blipFill>
          <a:blip r:embed="rId2">
            <a:extLst>
              <a:ext uri="{28A0092B-C50C-407E-A947-70E740481C1C}">
                <a14:useLocalDpi xmlns:a14="http://schemas.microsoft.com/office/drawing/2010/main" val="0"/>
              </a:ext>
            </a:extLst>
          </a:blip>
          <a:srcRect/>
          <a:stretch>
            <a:fillRect/>
          </a:stretch>
        </p:blipFill>
        <p:spPr bwMode="auto">
          <a:xfrm>
            <a:off x="3251073" y="4941168"/>
            <a:ext cx="3867150" cy="2324100"/>
          </a:xfrm>
          <a:prstGeom prst="rect">
            <a:avLst/>
          </a:prstGeom>
          <a:noFill/>
          <a:ln>
            <a:noFill/>
          </a:ln>
        </p:spPr>
      </p:pic>
    </p:spTree>
    <p:extLst>
      <p:ext uri="{BB962C8B-B14F-4D97-AF65-F5344CB8AC3E}">
        <p14:creationId xmlns:p14="http://schemas.microsoft.com/office/powerpoint/2010/main" val="1434335451"/>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US" sz="1800" b="1" dirty="0"/>
              <a:t>PS/2 Port:</a:t>
            </a:r>
            <a:endParaRPr lang="en-US" sz="1800" dirty="0"/>
          </a:p>
          <a:p>
            <a:pPr fontAlgn="base"/>
            <a:r>
              <a:rPr lang="en-US" sz="1800" dirty="0"/>
              <a:t>PS/2 ports are special ports used for connecting old computer keyboard and mouse. </a:t>
            </a:r>
            <a:endParaRPr lang="en-US" sz="1800" dirty="0" smtClean="0"/>
          </a:p>
          <a:p>
            <a:pPr fontAlgn="base"/>
            <a:r>
              <a:rPr lang="en-US" sz="1800" dirty="0" smtClean="0"/>
              <a:t>It </a:t>
            </a:r>
            <a:r>
              <a:rPr lang="en-US" sz="1800" dirty="0"/>
              <a:t>was invented by IBM. </a:t>
            </a:r>
            <a:endParaRPr lang="en-US" sz="1800" dirty="0" smtClean="0"/>
          </a:p>
          <a:p>
            <a:pPr fontAlgn="base"/>
            <a:r>
              <a:rPr lang="en-US" sz="1800" dirty="0" smtClean="0"/>
              <a:t>In </a:t>
            </a:r>
            <a:r>
              <a:rPr lang="en-US" sz="1800" dirty="0"/>
              <a:t>old computers, there are minimum of two PS/2 Ports, each for the keyboard and the mouse. It is a 6 pin mini Din connector.</a:t>
            </a:r>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7" name="Picture 6" descr="PS2-Port"/>
          <p:cNvPicPr/>
          <p:nvPr/>
        </p:nvPicPr>
        <p:blipFill>
          <a:blip r:embed="rId2">
            <a:extLst>
              <a:ext uri="{28A0092B-C50C-407E-A947-70E740481C1C}">
                <a14:useLocalDpi xmlns:a14="http://schemas.microsoft.com/office/drawing/2010/main" val="0"/>
              </a:ext>
            </a:extLst>
          </a:blip>
          <a:srcRect/>
          <a:stretch>
            <a:fillRect/>
          </a:stretch>
        </p:blipFill>
        <p:spPr bwMode="auto">
          <a:xfrm>
            <a:off x="3089362" y="3600450"/>
            <a:ext cx="4152900" cy="2647950"/>
          </a:xfrm>
          <a:prstGeom prst="rect">
            <a:avLst/>
          </a:prstGeom>
          <a:noFill/>
          <a:ln>
            <a:noFill/>
          </a:ln>
        </p:spPr>
      </p:pic>
    </p:spTree>
    <p:extLst>
      <p:ext uri="{BB962C8B-B14F-4D97-AF65-F5344CB8AC3E}">
        <p14:creationId xmlns:p14="http://schemas.microsoft.com/office/powerpoint/2010/main" val="502884492"/>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US" sz="1800" b="1" dirty="0"/>
              <a:t>VGA Port:</a:t>
            </a:r>
            <a:endParaRPr lang="en-US" sz="1800" dirty="0"/>
          </a:p>
          <a:p>
            <a:pPr fontAlgn="base"/>
            <a:r>
              <a:rPr lang="en-US" sz="1800" dirty="0"/>
              <a:t>VGA ports also known as Video Graphic Array connector are those which connect the monitor to a computer’s video card. </a:t>
            </a:r>
            <a:endParaRPr lang="en-US" sz="1800" dirty="0" smtClean="0"/>
          </a:p>
          <a:p>
            <a:pPr lvl="0" fontAlgn="base"/>
            <a:r>
              <a:rPr lang="en-US" sz="1800" dirty="0"/>
              <a:t>I</a:t>
            </a:r>
            <a:r>
              <a:rPr lang="en-US" sz="1800" dirty="0" smtClean="0"/>
              <a:t>t </a:t>
            </a:r>
            <a:r>
              <a:rPr lang="en-US" sz="1800" dirty="0"/>
              <a:t>is used for connecting the monitor with the video adapter from the computer motherboard to display video on your monitor</a:t>
            </a:r>
            <a:r>
              <a:rPr lang="en-US" sz="1800" dirty="0" smtClean="0"/>
              <a:t>.</a:t>
            </a:r>
          </a:p>
          <a:p>
            <a:pPr fontAlgn="base"/>
            <a:r>
              <a:rPr lang="en-US" sz="1800" dirty="0" smtClean="0"/>
              <a:t>VGA </a:t>
            </a:r>
            <a:r>
              <a:rPr lang="en-US" sz="1800" dirty="0"/>
              <a:t>port has 15 holes and it is similar to the serial port connector. But VGA Ports have holes in it and the serial port connector has pins in it.</a:t>
            </a:r>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descr="VGA-port"/>
          <p:cNvPicPr/>
          <p:nvPr/>
        </p:nvPicPr>
        <p:blipFill>
          <a:blip r:embed="rId2">
            <a:extLst>
              <a:ext uri="{28A0092B-C50C-407E-A947-70E740481C1C}">
                <a14:useLocalDpi xmlns:a14="http://schemas.microsoft.com/office/drawing/2010/main" val="0"/>
              </a:ext>
            </a:extLst>
          </a:blip>
          <a:srcRect/>
          <a:stretch>
            <a:fillRect/>
          </a:stretch>
        </p:blipFill>
        <p:spPr bwMode="auto">
          <a:xfrm>
            <a:off x="2703599" y="4038600"/>
            <a:ext cx="4924425" cy="2209800"/>
          </a:xfrm>
          <a:prstGeom prst="rect">
            <a:avLst/>
          </a:prstGeom>
          <a:noFill/>
          <a:ln>
            <a:noFill/>
          </a:ln>
        </p:spPr>
      </p:pic>
    </p:spTree>
    <p:extLst>
      <p:ext uri="{BB962C8B-B14F-4D97-AF65-F5344CB8AC3E}">
        <p14:creationId xmlns:p14="http://schemas.microsoft.com/office/powerpoint/2010/main" val="2039857883"/>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US" sz="1800" b="1" dirty="0"/>
              <a:t>Sockets:</a:t>
            </a:r>
            <a:endParaRPr lang="en-US" sz="1800" dirty="0"/>
          </a:p>
          <a:p>
            <a:pPr fontAlgn="base"/>
            <a:r>
              <a:rPr lang="en-US" sz="1800" dirty="0"/>
              <a:t>Microphones and speakers are connected with the help of Sockets to the sound card of the computer.</a:t>
            </a:r>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7" name="Picture 6" descr="Socket"/>
          <p:cNvPicPr/>
          <p:nvPr/>
        </p:nvPicPr>
        <p:blipFill>
          <a:blip r:embed="rId2">
            <a:extLst>
              <a:ext uri="{28A0092B-C50C-407E-A947-70E740481C1C}">
                <a14:useLocalDpi xmlns:a14="http://schemas.microsoft.com/office/drawing/2010/main" val="0"/>
              </a:ext>
            </a:extLst>
          </a:blip>
          <a:srcRect/>
          <a:stretch>
            <a:fillRect/>
          </a:stretch>
        </p:blipFill>
        <p:spPr bwMode="auto">
          <a:xfrm>
            <a:off x="3256049" y="3356992"/>
            <a:ext cx="3819525" cy="2295525"/>
          </a:xfrm>
          <a:prstGeom prst="rect">
            <a:avLst/>
          </a:prstGeom>
          <a:noFill/>
          <a:ln>
            <a:noFill/>
          </a:ln>
        </p:spPr>
      </p:pic>
    </p:spTree>
    <p:extLst>
      <p:ext uri="{BB962C8B-B14F-4D97-AF65-F5344CB8AC3E}">
        <p14:creationId xmlns:p14="http://schemas.microsoft.com/office/powerpoint/2010/main" val="941230692"/>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US" sz="1800" b="1" dirty="0" smtClean="0"/>
              <a:t>Ethernet/Internet </a:t>
            </a:r>
            <a:r>
              <a:rPr lang="en-US" sz="1800" b="1" dirty="0"/>
              <a:t>Port:</a:t>
            </a:r>
            <a:endParaRPr lang="en-US" sz="1800" dirty="0"/>
          </a:p>
          <a:p>
            <a:pPr fontAlgn="base"/>
            <a:r>
              <a:rPr lang="en-US" sz="1800" dirty="0"/>
              <a:t>Ethernet Port helps to connect to a network and high-speed Internet(provided by LAN or other sources). </a:t>
            </a:r>
            <a:endParaRPr lang="en-US" sz="1800" dirty="0" smtClean="0"/>
          </a:p>
          <a:p>
            <a:pPr fontAlgn="base"/>
            <a:r>
              <a:rPr lang="en-US" sz="1800" dirty="0" smtClean="0"/>
              <a:t>It </a:t>
            </a:r>
            <a:r>
              <a:rPr lang="en-US" sz="1800" dirty="0"/>
              <a:t>connects the network cable to a computer and resides in a Ethernet card. </a:t>
            </a:r>
            <a:endParaRPr lang="en-US" sz="1800" dirty="0" smtClean="0"/>
          </a:p>
          <a:p>
            <a:pPr lvl="0" fontAlgn="base"/>
            <a:r>
              <a:rPr lang="en-IN" sz="1800" dirty="0" smtClean="0"/>
              <a:t>They were </a:t>
            </a:r>
            <a:r>
              <a:rPr lang="en-IN" sz="1800" dirty="0"/>
              <a:t>first introduced in 1980 to standardize the local area networks (LAN). </a:t>
            </a:r>
            <a:endParaRPr lang="en-IN" sz="1800" dirty="0" smtClean="0"/>
          </a:p>
          <a:p>
            <a:pPr lvl="0"/>
            <a:r>
              <a:rPr lang="en-IN" sz="1800" dirty="0"/>
              <a:t>Internet ports use RJ45 connectors and have speeds between 10 Mb/sec – 100 Mb/sec – 1 Gb/sec – 40 Gb/sec – 100 Gb/sec.</a:t>
            </a:r>
            <a:r>
              <a:rPr lang="en-US" sz="1800" b="1" dirty="0">
                <a:solidFill>
                  <a:srgbClr val="000000"/>
                </a:solidFill>
                <a:latin typeface="Times New Roman" panose="02020603050405020304" pitchFamily="18" charset="0"/>
                <a:cs typeface="Times New Roman" panose="02020603050405020304" pitchFamily="18" charset="0"/>
              </a:rPr>
              <a:t> </a:t>
            </a:r>
            <a:endParaRPr lang="en-US" sz="1800" b="1" dirty="0" smtClean="0">
              <a:solidFill>
                <a:srgbClr val="000000"/>
              </a:solidFill>
              <a:latin typeface="Times New Roman" panose="02020603050405020304" pitchFamily="18" charset="0"/>
              <a:cs typeface="Times New Roman" panose="02020603050405020304" pitchFamily="18" charset="0"/>
            </a:endParaRPr>
          </a:p>
          <a:p>
            <a:pPr lvl="0"/>
            <a:r>
              <a:rPr lang="en-US" sz="1800" dirty="0"/>
              <a:t>An RJ45 cable is primarily used to connect devices over an </a:t>
            </a:r>
            <a:r>
              <a:rPr lang="en-US" sz="1800" dirty="0" smtClean="0"/>
              <a:t>Ethernet. </a:t>
            </a:r>
            <a:r>
              <a:rPr lang="en-US" sz="1800" dirty="0"/>
              <a:t>For example, </a:t>
            </a:r>
            <a:r>
              <a:rPr lang="en-US" sz="1800" b="1" dirty="0"/>
              <a:t>computers, printers, network storage </a:t>
            </a:r>
            <a:r>
              <a:rPr lang="en-US" sz="1800" b="1" dirty="0" smtClean="0"/>
              <a:t>devices etc. </a:t>
            </a:r>
            <a:r>
              <a:rPr lang="en-US" sz="1800" dirty="0" smtClean="0"/>
              <a:t>, </a:t>
            </a:r>
            <a:r>
              <a:rPr lang="en-US" sz="1800" dirty="0"/>
              <a:t>are some devices capable of using an RJ45 connection. Being able to identify an RJ45 cable is important when attempting to connect devices to a network.</a:t>
            </a:r>
            <a:endParaRPr lang="en-US" sz="1800" b="1" dirty="0">
              <a:solidFill>
                <a:srgbClr val="000000"/>
              </a:solidFill>
              <a:latin typeface="Times New Roman" panose="02020603050405020304" pitchFamily="18" charset="0"/>
              <a:cs typeface="Times New Roman" panose="02020603050405020304" pitchFamily="18" charset="0"/>
            </a:endParaRPr>
          </a:p>
          <a:p>
            <a:pPr fontAlgn="base"/>
            <a:endParaRPr lang="en-US" sz="18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descr="Ethernet-Port"/>
          <p:cNvPicPr/>
          <p:nvPr/>
        </p:nvPicPr>
        <p:blipFill>
          <a:blip r:embed="rId2">
            <a:extLst>
              <a:ext uri="{28A0092B-C50C-407E-A947-70E740481C1C}">
                <a14:useLocalDpi xmlns:a14="http://schemas.microsoft.com/office/drawing/2010/main" val="0"/>
              </a:ext>
            </a:extLst>
          </a:blip>
          <a:srcRect/>
          <a:stretch>
            <a:fillRect/>
          </a:stretch>
        </p:blipFill>
        <p:spPr bwMode="auto">
          <a:xfrm>
            <a:off x="6839744" y="5711279"/>
            <a:ext cx="2304256" cy="1074242"/>
          </a:xfrm>
          <a:prstGeom prst="rect">
            <a:avLst/>
          </a:prstGeom>
          <a:noFill/>
          <a:ln>
            <a:noFill/>
          </a:ln>
        </p:spPr>
      </p:pic>
      <p:pic>
        <p:nvPicPr>
          <p:cNvPr id="8" name="Picture 7"/>
          <p:cNvPicPr>
            <a:picLocks noChangeAspect="1"/>
          </p:cNvPicPr>
          <p:nvPr/>
        </p:nvPicPr>
        <p:blipFill>
          <a:blip r:embed="rId3"/>
          <a:stretch>
            <a:fillRect/>
          </a:stretch>
        </p:blipFill>
        <p:spPr>
          <a:xfrm>
            <a:off x="2627784" y="5510472"/>
            <a:ext cx="2266950" cy="2019300"/>
          </a:xfrm>
          <a:prstGeom prst="rect">
            <a:avLst/>
          </a:prstGeom>
        </p:spPr>
      </p:pic>
    </p:spTree>
    <p:extLst>
      <p:ext uri="{BB962C8B-B14F-4D97-AF65-F5344CB8AC3E}">
        <p14:creationId xmlns:p14="http://schemas.microsoft.com/office/powerpoint/2010/main" val="1602873427"/>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pPr fontAlgn="base"/>
            <a:r>
              <a:rPr lang="en-IN" sz="1800" b="1" dirty="0"/>
              <a:t>HDMI </a:t>
            </a:r>
            <a:r>
              <a:rPr lang="en-IN" sz="1800" dirty="0"/>
              <a:t>(High Definition Multimedia Interface): Ports on computer to transmit High Definition (1080p+) Video from the computer video card to the monitor</a:t>
            </a:r>
            <a:r>
              <a:rPr lang="en-IN" sz="1800" dirty="0" smtClean="0"/>
              <a:t>.</a:t>
            </a:r>
          </a:p>
          <a:p>
            <a:pPr fontAlgn="base"/>
            <a:endParaRPr lang="en-IN" sz="1800" dirty="0"/>
          </a:p>
          <a:p>
            <a:pPr fontAlgn="base"/>
            <a:endParaRPr lang="en-IN" sz="1800" dirty="0" smtClean="0"/>
          </a:p>
          <a:p>
            <a:pPr fontAlgn="base"/>
            <a:endParaRPr lang="en-IN" sz="1800" dirty="0"/>
          </a:p>
          <a:p>
            <a:pPr fontAlgn="base"/>
            <a:endParaRPr lang="en-IN" sz="1800" dirty="0" smtClean="0"/>
          </a:p>
          <a:p>
            <a:pPr fontAlgn="base"/>
            <a:endParaRPr lang="en-IN" sz="1800" dirty="0"/>
          </a:p>
          <a:p>
            <a:pPr fontAlgn="base"/>
            <a:endParaRPr lang="en-IN" sz="1800" dirty="0" smtClean="0"/>
          </a:p>
          <a:p>
            <a:pPr fontAlgn="base"/>
            <a:endParaRPr lang="en-IN" sz="1800" dirty="0" smtClean="0"/>
          </a:p>
          <a:p>
            <a:pPr fontAlgn="base"/>
            <a:endParaRPr lang="en-IN" sz="1800" dirty="0"/>
          </a:p>
          <a:p>
            <a:pPr fontAlgn="base"/>
            <a:endParaRPr lang="en-US" sz="18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a:blip r:embed="rId2"/>
          <a:stretch>
            <a:fillRect/>
          </a:stretch>
        </p:blipFill>
        <p:spPr>
          <a:xfrm>
            <a:off x="3870198" y="2108186"/>
            <a:ext cx="2628900" cy="1743075"/>
          </a:xfrm>
          <a:prstGeom prst="rect">
            <a:avLst/>
          </a:prstGeom>
        </p:spPr>
      </p:pic>
    </p:spTree>
    <p:extLst>
      <p:ext uri="{BB962C8B-B14F-4D97-AF65-F5344CB8AC3E}">
        <p14:creationId xmlns:p14="http://schemas.microsoft.com/office/powerpoint/2010/main" val="52075012"/>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lnSpcReduction="10000"/>
          </a:bodyPr>
          <a:lstStyle/>
          <a:p>
            <a:r>
              <a:rPr lang="en-US" sz="1800" b="1" dirty="0" err="1" smtClean="0"/>
              <a:t>Firewire</a:t>
            </a:r>
            <a:r>
              <a:rPr lang="en-US" sz="1800" b="1" dirty="0" smtClean="0"/>
              <a:t> </a:t>
            </a:r>
            <a:r>
              <a:rPr lang="en-US" sz="1800" b="1" dirty="0"/>
              <a:t>Port</a:t>
            </a:r>
          </a:p>
          <a:p>
            <a:pPr lvl="0"/>
            <a:r>
              <a:rPr lang="en-US" sz="1800" dirty="0"/>
              <a:t>Transfers large amount of data at very fast speed.</a:t>
            </a:r>
          </a:p>
          <a:p>
            <a:pPr lvl="0"/>
            <a:r>
              <a:rPr lang="en-US" sz="1800" dirty="0" smtClean="0"/>
              <a:t>Data </a:t>
            </a:r>
            <a:r>
              <a:rPr lang="en-US" sz="1800" dirty="0"/>
              <a:t>travels at 400 to 800 megabits per seconds.</a:t>
            </a:r>
          </a:p>
          <a:p>
            <a:pPr lvl="0"/>
            <a:r>
              <a:rPr lang="en-US" sz="1800" dirty="0"/>
              <a:t>Invented by Apple.</a:t>
            </a:r>
          </a:p>
          <a:p>
            <a:pPr lvl="0"/>
            <a:r>
              <a:rPr lang="en-US" sz="1800" dirty="0"/>
              <a:t>It has three variants: 4-Pin FireWire 400 connector, 6-Pin FireWire 400 connector, and 9-Pin FireWire 800 connector</a:t>
            </a:r>
            <a:r>
              <a:rPr lang="en-US" sz="1800" dirty="0" smtClean="0"/>
              <a:t>.</a:t>
            </a:r>
          </a:p>
          <a:p>
            <a:pPr lvl="0"/>
            <a:r>
              <a:rPr lang="en-US" sz="1800" dirty="0"/>
              <a:t>Along with USB, </a:t>
            </a:r>
            <a:r>
              <a:rPr lang="en-US" sz="1800" dirty="0" err="1"/>
              <a:t>Firewire</a:t>
            </a:r>
            <a:r>
              <a:rPr lang="en-US" sz="1800" dirty="0"/>
              <a:t> (also called IEEE 1394) is another popular connector for adding peripherals to your computer. </a:t>
            </a:r>
            <a:endParaRPr lang="en-US" sz="1800" dirty="0" smtClean="0"/>
          </a:p>
          <a:p>
            <a:pPr lvl="0"/>
            <a:r>
              <a:rPr lang="en-US" sz="1800" dirty="0" err="1" smtClean="0"/>
              <a:t>Firewire</a:t>
            </a:r>
            <a:r>
              <a:rPr lang="en-US" sz="1800" dirty="0" smtClean="0"/>
              <a:t> </a:t>
            </a:r>
            <a:r>
              <a:rPr lang="en-US" sz="1800" dirty="0"/>
              <a:t>is most often used to connect </a:t>
            </a:r>
            <a:r>
              <a:rPr lang="en-US" sz="1800" b="1" dirty="0"/>
              <a:t>digital camcorders, external hard drives, and other devices</a:t>
            </a:r>
            <a:r>
              <a:rPr lang="en-US" sz="1800" dirty="0"/>
              <a:t> that can benefit from the high transfer rates (up to 480 Mbps) supported by the </a:t>
            </a:r>
            <a:r>
              <a:rPr lang="en-US" sz="1800" dirty="0" err="1"/>
              <a:t>Firewire</a:t>
            </a:r>
            <a:r>
              <a:rPr lang="en-US" sz="1800" dirty="0"/>
              <a:t> connection</a:t>
            </a:r>
            <a:r>
              <a:rPr lang="en-US" sz="1800" dirty="0" smtClean="0"/>
              <a:t>.</a:t>
            </a:r>
          </a:p>
          <a:p>
            <a:pPr lvl="0"/>
            <a:r>
              <a:rPr lang="en-US" sz="1800" b="1" dirty="0"/>
              <a:t>Most modern computers don't have FireWire ports built-in</a:t>
            </a:r>
            <a:r>
              <a:rPr lang="en-US" sz="1800" dirty="0"/>
              <a:t>. You'd have to upgrade them, which costs extra and may not be possible on every computer. The most recent USB standard is USB4, which supports transfer speeds as high as 40,960 Mbps. It's much faster than the 800 Mbps that FireWire supports.</a:t>
            </a:r>
          </a:p>
          <a:p>
            <a:pPr fontAlgn="base"/>
            <a:endParaRPr lang="en-IN" sz="1800" dirty="0" smtClean="0"/>
          </a:p>
          <a:p>
            <a:pPr fontAlgn="base"/>
            <a:endParaRPr lang="en-IN" sz="1800" dirty="0" smtClean="0"/>
          </a:p>
          <a:p>
            <a:pPr fontAlgn="base"/>
            <a:endParaRPr lang="en-IN" sz="1800" dirty="0"/>
          </a:p>
          <a:p>
            <a:pPr fontAlgn="base"/>
            <a:endParaRPr lang="en-US" sz="18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6" name="Picture 5"/>
          <p:cNvPicPr>
            <a:picLocks noChangeAspect="1"/>
          </p:cNvPicPr>
          <p:nvPr/>
        </p:nvPicPr>
        <p:blipFill>
          <a:blip r:embed="rId2"/>
          <a:stretch>
            <a:fillRect/>
          </a:stretch>
        </p:blipFill>
        <p:spPr>
          <a:xfrm>
            <a:off x="9317110" y="2091873"/>
            <a:ext cx="2396518" cy="1756227"/>
          </a:xfrm>
          <a:prstGeom prst="rect">
            <a:avLst/>
          </a:prstGeom>
        </p:spPr>
      </p:pic>
    </p:spTree>
    <p:extLst>
      <p:ext uri="{BB962C8B-B14F-4D97-AF65-F5344CB8AC3E}">
        <p14:creationId xmlns:p14="http://schemas.microsoft.com/office/powerpoint/2010/main" val="1191091678"/>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Types of Computer Ports</a:t>
            </a:r>
            <a:r>
              <a:rPr lang="en-US" sz="3200" dirty="0">
                <a:effectLst/>
              </a:rPr>
              <a:t/>
            </a:r>
            <a:br>
              <a:rPr lang="en-US" sz="3200" dirty="0">
                <a:effectLst/>
              </a:rPr>
            </a:br>
            <a:r>
              <a:rPr lang="en-US" dirty="0"/>
              <a:t>	</a:t>
            </a:r>
          </a:p>
        </p:txBody>
      </p:sp>
      <p:sp>
        <p:nvSpPr>
          <p:cNvPr id="3" name="Content Placeholder 2"/>
          <p:cNvSpPr>
            <a:spLocks noGrp="1"/>
          </p:cNvSpPr>
          <p:nvPr>
            <p:ph idx="1"/>
          </p:nvPr>
        </p:nvSpPr>
        <p:spPr/>
        <p:txBody>
          <a:bodyPr>
            <a:normAutofit/>
          </a:bodyPr>
          <a:lstStyle/>
          <a:p>
            <a:r>
              <a:rPr lang="en-US" sz="1800" b="1" dirty="0" smtClean="0"/>
              <a:t>DVI </a:t>
            </a:r>
            <a:r>
              <a:rPr lang="en-US" sz="1800" b="1" dirty="0" smtClean="0"/>
              <a:t>Port (</a:t>
            </a:r>
            <a:r>
              <a:rPr lang="en-US" sz="1800" b="1" dirty="0"/>
              <a:t>Digital Visual Interface</a:t>
            </a:r>
            <a:r>
              <a:rPr lang="en-US" sz="1800" b="1" dirty="0" smtClean="0"/>
              <a:t>)</a:t>
            </a:r>
            <a:endParaRPr lang="en-US" sz="1800" b="1" dirty="0"/>
          </a:p>
          <a:p>
            <a:pPr lvl="0"/>
            <a:r>
              <a:rPr lang="en-US" sz="1800" dirty="0"/>
              <a:t>Common devices that utilize the DVI connection are </a:t>
            </a:r>
            <a:r>
              <a:rPr lang="en-US" sz="1800" b="1" dirty="0"/>
              <a:t>computer monitors and projectors</a:t>
            </a:r>
            <a:r>
              <a:rPr lang="en-US" sz="1800" dirty="0"/>
              <a:t>. </a:t>
            </a:r>
            <a:endParaRPr lang="en-US" sz="1800" dirty="0" smtClean="0"/>
          </a:p>
          <a:p>
            <a:pPr lvl="0"/>
            <a:r>
              <a:rPr lang="en-US" sz="1800" dirty="0"/>
              <a:t>DVI </a:t>
            </a:r>
            <a:r>
              <a:rPr lang="en-US" sz="1800" dirty="0" smtClean="0"/>
              <a:t>offers </a:t>
            </a:r>
            <a:r>
              <a:rPr lang="en-US" sz="1800" dirty="0"/>
              <a:t>a distinctly sharper, better picture than VGA. </a:t>
            </a:r>
            <a:endParaRPr lang="en-US" sz="1800" dirty="0" smtClean="0"/>
          </a:p>
          <a:p>
            <a:pPr lvl="0"/>
            <a:r>
              <a:rPr lang="en-US" sz="1800" dirty="0" smtClean="0"/>
              <a:t>DVI </a:t>
            </a:r>
            <a:r>
              <a:rPr lang="en-US" sz="1800" dirty="0"/>
              <a:t>can even be used with some TVs, although HDMI is more common as only some DVI cables can </a:t>
            </a:r>
            <a:r>
              <a:rPr lang="en-US" sz="1800"/>
              <a:t>transmit </a:t>
            </a:r>
            <a:r>
              <a:rPr lang="en-US" sz="1800" smtClean="0"/>
              <a:t>video </a:t>
            </a:r>
            <a:r>
              <a:rPr lang="en-US" sz="1800" dirty="0"/>
              <a:t>signals.</a:t>
            </a:r>
            <a:endParaRPr lang="en-IN" sz="1800" dirty="0" smtClean="0"/>
          </a:p>
          <a:p>
            <a:pPr fontAlgn="base"/>
            <a:endParaRPr lang="en-IN" sz="1800" dirty="0" smtClean="0"/>
          </a:p>
          <a:p>
            <a:pPr fontAlgn="base"/>
            <a:endParaRPr lang="en-IN" sz="1800" dirty="0"/>
          </a:p>
          <a:p>
            <a:pPr fontAlgn="base"/>
            <a:endParaRPr lang="en-US" sz="18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pic>
        <p:nvPicPr>
          <p:cNvPr id="4098" name="Picture 2" descr="Image result for what is used of DVI p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3928" y="4005064"/>
            <a:ext cx="3088048" cy="19300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0918250"/>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600" dirty="0" smtClean="0"/>
              <a:t>Working with Internet Drive Storage</a:t>
            </a:r>
            <a:r>
              <a:rPr lang="en-US" dirty="0"/>
              <a:t>	</a:t>
            </a:r>
          </a:p>
        </p:txBody>
      </p:sp>
      <p:sp>
        <p:nvSpPr>
          <p:cNvPr id="3" name="Content Placeholder 2"/>
          <p:cNvSpPr>
            <a:spLocks noGrp="1"/>
          </p:cNvSpPr>
          <p:nvPr>
            <p:ph idx="1"/>
          </p:nvPr>
        </p:nvSpPr>
        <p:spPr/>
        <p:txBody>
          <a:bodyPr>
            <a:normAutofit fontScale="85000" lnSpcReduction="10000"/>
          </a:bodyPr>
          <a:lstStyle/>
          <a:p>
            <a:r>
              <a:rPr lang="en-US" sz="2400" dirty="0"/>
              <a:t>Online data storage refers to the practice of storing electronic data with a third party service accessed via the </a:t>
            </a:r>
            <a:r>
              <a:rPr lang="en-US" sz="2400" u="sng" dirty="0"/>
              <a:t>Internet</a:t>
            </a:r>
            <a:r>
              <a:rPr lang="en-US" sz="2400" dirty="0"/>
              <a:t>. </a:t>
            </a:r>
            <a:endParaRPr lang="en-US" sz="2400" dirty="0" smtClean="0"/>
          </a:p>
          <a:p>
            <a:r>
              <a:rPr lang="en-US" sz="2400" dirty="0" smtClean="0"/>
              <a:t>It </a:t>
            </a:r>
            <a:r>
              <a:rPr lang="en-US" sz="2400" dirty="0"/>
              <a:t>is an alternative to traditional local storage (such as disk or </a:t>
            </a:r>
            <a:r>
              <a:rPr lang="en-US" sz="2400" u="sng" dirty="0"/>
              <a:t>tape drives</a:t>
            </a:r>
            <a:r>
              <a:rPr lang="en-US" sz="2400" dirty="0"/>
              <a:t>) and </a:t>
            </a:r>
            <a:r>
              <a:rPr lang="en-US" sz="2400" u="sng" dirty="0"/>
              <a:t>portable storage</a:t>
            </a:r>
            <a:r>
              <a:rPr lang="en-US" sz="2400" dirty="0"/>
              <a:t> (such as optical media or flash drives). </a:t>
            </a:r>
            <a:endParaRPr lang="en-US" sz="2400" dirty="0" smtClean="0"/>
          </a:p>
          <a:p>
            <a:r>
              <a:rPr lang="en-US" sz="2400" dirty="0" smtClean="0"/>
              <a:t>It </a:t>
            </a:r>
            <a:r>
              <a:rPr lang="en-US" sz="2400" dirty="0"/>
              <a:t>can also be called “hosted storage,” “Internet storage” or “cloud storage.”</a:t>
            </a:r>
          </a:p>
          <a:p>
            <a:r>
              <a:rPr lang="en-US" sz="2400" dirty="0"/>
              <a:t>In recent years, the number of vendors offering online data storage for both consumers and businesses has increased dramatically. </a:t>
            </a:r>
            <a:endParaRPr lang="en-US" sz="2400" dirty="0" smtClean="0"/>
          </a:p>
          <a:p>
            <a:r>
              <a:rPr lang="en-US" sz="2400" dirty="0" smtClean="0"/>
              <a:t>Some </a:t>
            </a:r>
            <a:r>
              <a:rPr lang="en-US" sz="2400" dirty="0"/>
              <a:t>services store only a particular kind of data, such as photos, music or backup data, while others will allow users to store any type of file. </a:t>
            </a:r>
            <a:endParaRPr lang="en-US" sz="2400" dirty="0" smtClean="0"/>
          </a:p>
          <a:p>
            <a:r>
              <a:rPr lang="en-US" sz="2400" dirty="0" smtClean="0"/>
              <a:t>Most </a:t>
            </a:r>
            <a:r>
              <a:rPr lang="en-US" sz="2400" dirty="0"/>
              <a:t>of these vendors offer a small amount of storage for free with additional storage capacity available for a fee, usually paid on a monthly or annual basis.</a:t>
            </a:r>
          </a:p>
          <a:p>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06525561"/>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3200" b="1" dirty="0">
                <a:effectLst/>
              </a:rPr>
              <a:t>BENEFITS OF ONLINE STORAGE</a:t>
            </a:r>
            <a:endParaRPr lang="en-US" sz="3200" dirty="0">
              <a:effectLst/>
            </a:endParaRPr>
          </a:p>
        </p:txBody>
      </p:sp>
      <p:sp>
        <p:nvSpPr>
          <p:cNvPr id="3" name="Content Placeholder 2"/>
          <p:cNvSpPr>
            <a:spLocks noGrp="1"/>
          </p:cNvSpPr>
          <p:nvPr>
            <p:ph idx="1"/>
          </p:nvPr>
        </p:nvSpPr>
        <p:spPr/>
        <p:txBody>
          <a:bodyPr>
            <a:normAutofit fontScale="70000" lnSpcReduction="20000"/>
          </a:bodyPr>
          <a:lstStyle/>
          <a:p>
            <a:r>
              <a:rPr lang="en-US" sz="2400" dirty="0"/>
              <a:t>One of the biggest benefits of online storage is the ability to access data from anywhere. </a:t>
            </a:r>
            <a:endParaRPr lang="en-US" sz="2400" dirty="0" smtClean="0"/>
          </a:p>
          <a:p>
            <a:r>
              <a:rPr lang="en-US" sz="2400" dirty="0" smtClean="0"/>
              <a:t>As </a:t>
            </a:r>
            <a:r>
              <a:rPr lang="en-US" sz="2400" dirty="0"/>
              <a:t>the number of devices the average person uses continues to grow, syncing or transferring data among devices has become more important. </a:t>
            </a:r>
            <a:endParaRPr lang="en-US" sz="2400" dirty="0" smtClean="0"/>
          </a:p>
          <a:p>
            <a:r>
              <a:rPr lang="en-US" sz="2400" dirty="0" smtClean="0"/>
              <a:t>Not </a:t>
            </a:r>
            <a:r>
              <a:rPr lang="en-US" sz="2400" dirty="0"/>
              <a:t>only does it help transfer data between devices, online data storage also provides the ability to share files among different users. </a:t>
            </a:r>
            <a:endParaRPr lang="en-US" sz="2400" dirty="0" smtClean="0"/>
          </a:p>
          <a:p>
            <a:r>
              <a:rPr lang="en-US" sz="2400" dirty="0" smtClean="0"/>
              <a:t>This </a:t>
            </a:r>
            <a:r>
              <a:rPr lang="en-US" sz="2400" dirty="0"/>
              <a:t>is particularly helpful for business users, although it’s also popular with consumers who want to share photos, videos and similar materials with their friends and family.</a:t>
            </a:r>
          </a:p>
          <a:p>
            <a:r>
              <a:rPr lang="en-US" sz="2400" dirty="0"/>
              <a:t>Online data storage also offers distinct advantages for backup and disaster recovery situations because it’s located off site. </a:t>
            </a:r>
            <a:endParaRPr lang="en-US" sz="2400" dirty="0" smtClean="0"/>
          </a:p>
          <a:p>
            <a:r>
              <a:rPr lang="en-US" sz="2400" dirty="0" smtClean="0"/>
              <a:t>In </a:t>
            </a:r>
            <a:r>
              <a:rPr lang="en-US" sz="2400" dirty="0"/>
              <a:t>a fire, flood, earthquake or similar situation, on-site backups could be damaged, but online backups won’t be affected unless the disaster is very widespread.</a:t>
            </a:r>
          </a:p>
          <a:p>
            <a:r>
              <a:rPr lang="en-US" sz="2400" dirty="0"/>
              <a:t>However, online data storage does have some potential downsides</a:t>
            </a:r>
            <a:r>
              <a:rPr lang="en-US" sz="2400" dirty="0" smtClean="0"/>
              <a:t>.</a:t>
            </a:r>
          </a:p>
          <a:p>
            <a:r>
              <a:rPr lang="en-US" sz="2400" dirty="0" smtClean="0"/>
              <a:t> </a:t>
            </a:r>
            <a:r>
              <a:rPr lang="en-US" sz="2400" dirty="0"/>
              <a:t>Some people worry about the security of cloud storage services, and some vendors have experienced significant outages from time to time, leading to concerns about reliability.</a:t>
            </a:r>
          </a:p>
          <a:p>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62098594"/>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2800" b="1" dirty="0">
                <a:effectLst/>
              </a:rPr>
              <a:t>ONLINE STORAGE ENHANCES DATA PROTECTION AND AVAILABILITY</a:t>
            </a:r>
            <a:endParaRPr lang="en-US" sz="2800" dirty="0">
              <a:effectLst/>
            </a:endParaRPr>
          </a:p>
        </p:txBody>
      </p:sp>
      <p:sp>
        <p:nvSpPr>
          <p:cNvPr id="3" name="Content Placeholder 2"/>
          <p:cNvSpPr>
            <a:spLocks noGrp="1"/>
          </p:cNvSpPr>
          <p:nvPr>
            <p:ph idx="1"/>
          </p:nvPr>
        </p:nvSpPr>
        <p:spPr/>
        <p:txBody>
          <a:bodyPr>
            <a:normAutofit/>
          </a:bodyPr>
          <a:lstStyle/>
          <a:p>
            <a:r>
              <a:rPr lang="en-US" sz="1800" dirty="0"/>
              <a:t>Before the development of the Internet, computer systems were limited to local storage or portable storage, first in the form of tapes and floppy disks, then CDs, DVDs and USB thumb drives. Generally, using on-site storage is faster than using Internet storage, because you don’t have to wait for files to upload or download. </a:t>
            </a:r>
            <a:endParaRPr lang="en-US" sz="1800" dirty="0" smtClean="0"/>
          </a:p>
          <a:p>
            <a:r>
              <a:rPr lang="en-US" sz="1800" dirty="0" smtClean="0"/>
              <a:t>However</a:t>
            </a:r>
            <a:r>
              <a:rPr lang="en-US" sz="1800" dirty="0"/>
              <a:t>, on-site storage is more susceptible to loss due to theft, natural disasters or device failure. </a:t>
            </a:r>
            <a:endParaRPr lang="en-US" sz="1800" dirty="0" smtClean="0"/>
          </a:p>
          <a:p>
            <a:r>
              <a:rPr lang="en-US" sz="1800" dirty="0" smtClean="0"/>
              <a:t>By </a:t>
            </a:r>
            <a:r>
              <a:rPr lang="en-US" sz="1800" dirty="0"/>
              <a:t>contrast, most online data storage facilities offer enhanced physical security and automated backup capabilities to ensure that data is not lost. Online data storage also enables easier data transfer and sharing.</a:t>
            </a:r>
          </a:p>
          <a:p>
            <a:r>
              <a:rPr lang="en-US" sz="1800" dirty="0"/>
              <a:t>Like local storage, portable storage devices offer fast data transfer along with some data transfer and sharing capabilities. </a:t>
            </a:r>
            <a:endParaRPr lang="en-US" sz="1800" dirty="0" smtClean="0"/>
          </a:p>
          <a:p>
            <a:r>
              <a:rPr lang="en-US" sz="1800" dirty="0" smtClean="0"/>
              <a:t>However</a:t>
            </a:r>
            <a:r>
              <a:rPr lang="en-US" sz="1800" dirty="0"/>
              <a:t>, portable storage isn’t quite as convenient as online data storage, particularly if you want to share files with a large number of users. Portable storage devices are also easy to lose or damage, and they offer limited storage capacity.</a:t>
            </a:r>
          </a:p>
          <a:p>
            <a:endParaRPr lang="en-US" sz="24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5494434"/>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7624" y="116632"/>
            <a:ext cx="7956376" cy="1150620"/>
          </a:xfrm>
        </p:spPr>
        <p:txBody>
          <a:bodyPr>
            <a:normAutofit fontScale="90000"/>
          </a:bodyPr>
          <a:lstStyle/>
          <a:p>
            <a:r>
              <a:rPr lang="en-US" dirty="0"/>
              <a:t/>
            </a:r>
            <a:br>
              <a:rPr lang="en-US" dirty="0"/>
            </a:br>
            <a:r>
              <a:rPr lang="en-US" sz="2800" b="1" dirty="0">
                <a:effectLst/>
              </a:rPr>
              <a:t>ONLINE STORAGE ENHANCES DATA PROTECTION AND AVAILABILITY</a:t>
            </a:r>
            <a:endParaRPr lang="en-US" sz="2800" dirty="0">
              <a:effectLst/>
            </a:endParaRPr>
          </a:p>
        </p:txBody>
      </p:sp>
      <p:sp>
        <p:nvSpPr>
          <p:cNvPr id="3" name="Content Placeholder 2"/>
          <p:cNvSpPr>
            <a:spLocks noGrp="1"/>
          </p:cNvSpPr>
          <p:nvPr>
            <p:ph idx="1"/>
          </p:nvPr>
        </p:nvSpPr>
        <p:spPr/>
        <p:txBody>
          <a:bodyPr>
            <a:normAutofit/>
          </a:bodyPr>
          <a:lstStyle/>
          <a:p>
            <a:r>
              <a:rPr lang="en-US" sz="2000" dirty="0"/>
              <a:t>Recently, the term </a:t>
            </a:r>
            <a:r>
              <a:rPr lang="en-US" sz="2000" u="sng" dirty="0"/>
              <a:t>cloud storage</a:t>
            </a:r>
            <a:r>
              <a:rPr lang="en-US" sz="2000" dirty="0"/>
              <a:t> has become increasingly common. </a:t>
            </a:r>
            <a:endParaRPr lang="en-US" sz="2000" dirty="0" smtClean="0"/>
          </a:p>
          <a:p>
            <a:r>
              <a:rPr lang="en-US" sz="2000" dirty="0" smtClean="0"/>
              <a:t>Although </a:t>
            </a:r>
            <a:r>
              <a:rPr lang="en-US" sz="2000" dirty="0"/>
              <a:t>many people use the terms “cloud storage” and “online storage” interchangeably, technically, cloud storage is a particular kind of online data storage. </a:t>
            </a:r>
            <a:endParaRPr lang="en-US" sz="2000" dirty="0" smtClean="0"/>
          </a:p>
          <a:p>
            <a:r>
              <a:rPr lang="en-US" sz="2000" dirty="0" smtClean="0"/>
              <a:t>Many </a:t>
            </a:r>
            <a:r>
              <a:rPr lang="en-US" sz="2000" dirty="0"/>
              <a:t>individuals and organizations use a mix of on-site and online storage capabilities. </a:t>
            </a:r>
            <a:endParaRPr lang="en-US" sz="2000" dirty="0" smtClean="0"/>
          </a:p>
          <a:p>
            <a:r>
              <a:rPr lang="en-US" sz="2000" dirty="0" smtClean="0"/>
              <a:t>For </a:t>
            </a:r>
            <a:r>
              <a:rPr lang="en-US" sz="2000" dirty="0"/>
              <a:t>example, they might use local storage for files they use frequently and online storage for backup or archive data. Or they might use local storage for personal data and online storage for files that they wish to share with others.</a:t>
            </a:r>
          </a:p>
          <a:p>
            <a:r>
              <a:rPr lang="en-US" sz="2000" dirty="0"/>
              <a:t>Examples of online storage include services such as </a:t>
            </a:r>
            <a:r>
              <a:rPr lang="en-US" sz="2000" b="1" dirty="0"/>
              <a:t>Google Drive, Dropbox and Apple </a:t>
            </a:r>
            <a:r>
              <a:rPr lang="en-US" sz="2000" b="1" dirty="0" err="1"/>
              <a:t>iCloud</a:t>
            </a:r>
            <a:r>
              <a:rPr lang="en-US" sz="2000" dirty="0"/>
              <a:t>.</a:t>
            </a:r>
            <a:endParaRPr lang="en-US" sz="2000" b="1" dirty="0"/>
          </a:p>
          <a:p>
            <a:pPr marL="82296" indent="0">
              <a:buNone/>
            </a:pPr>
            <a:endParaRPr lang="en-US" sz="2400" dirty="0"/>
          </a:p>
          <a:p>
            <a:pPr marL="82296" indent="0">
              <a:buNone/>
            </a:pPr>
            <a:endParaRPr lang="en-US" sz="2400" dirty="0"/>
          </a:p>
          <a:p>
            <a:endParaRPr lang="en-US" sz="2400" b="1" dirty="0" smtClean="0"/>
          </a:p>
          <a:p>
            <a:endParaRPr lang="en-US" sz="2400" b="1" dirty="0"/>
          </a:p>
          <a:p>
            <a:pPr>
              <a:buNone/>
            </a:pPr>
            <a:endParaRPr lang="en-IN" dirty="0" smtClean="0"/>
          </a:p>
          <a:p>
            <a:pPr>
              <a:buNone/>
            </a:pPr>
            <a:endParaRPr lang="en-IN" dirty="0"/>
          </a:p>
        </p:txBody>
      </p:sp>
      <p:sp>
        <p:nvSpPr>
          <p:cNvPr id="5" name="Rectangle 2"/>
          <p:cNvSpPr>
            <a:spLocks noChangeArrowheads="1"/>
          </p:cNvSpPr>
          <p:nvPr/>
        </p:nvSpPr>
        <p:spPr bwMode="auto">
          <a:xfrm>
            <a:off x="1835696" y="3815529"/>
            <a:ext cx="415498" cy="92333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b="0" i="0" u="none" strike="noStrike" cap="none" normalizeH="0" baseline="0" dirty="0" smtClean="0">
              <a:ln>
                <a:noFill/>
              </a:ln>
              <a:solidFill>
                <a:srgbClr val="454545"/>
              </a:solidFill>
              <a:effectLst/>
              <a:latin typeface="Verdana" panose="020B060403050404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182377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1454</TotalTime>
  <Words>5792</Words>
  <Application>Microsoft Office PowerPoint</Application>
  <PresentationFormat>On-screen Show (4:3)</PresentationFormat>
  <Paragraphs>841</Paragraphs>
  <Slides>128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128</vt:i4>
      </vt:variant>
    </vt:vector>
  </HeadingPairs>
  <TitlesOfParts>
    <vt:vector size="134" baseType="lpstr">
      <vt:lpstr>Arial</vt:lpstr>
      <vt:lpstr>Gill Sans MT</vt:lpstr>
      <vt:lpstr>Times New Roman</vt:lpstr>
      <vt:lpstr>Verdana</vt:lpstr>
      <vt:lpstr>Wingdings 2</vt:lpstr>
      <vt:lpstr>Solstice</vt:lpstr>
      <vt:lpstr>Topics to be covered</vt:lpstr>
      <vt:lpstr>Computer</vt:lpstr>
      <vt:lpstr>Applications of Computer</vt:lpstr>
      <vt:lpstr>PowerPoint Presentation</vt:lpstr>
      <vt:lpstr>PowerPoint Presentation</vt:lpstr>
      <vt:lpstr>PowerPoint Presentation</vt:lpstr>
      <vt:lpstr>PowerPoint Presentation</vt:lpstr>
      <vt:lpstr>Input device</vt:lpstr>
      <vt:lpstr>Both Input–Output Devices:</vt:lpstr>
      <vt:lpstr>Architecture of computer: </vt:lpstr>
      <vt:lpstr>PowerPoint Presentation</vt:lpstr>
      <vt:lpstr>Input Unit</vt:lpstr>
      <vt:lpstr>Output Unit</vt:lpstr>
      <vt:lpstr>PowerPoint Presentation</vt:lpstr>
      <vt:lpstr>Primary Storage: </vt:lpstr>
      <vt:lpstr>Secondary Storage:</vt:lpstr>
      <vt:lpstr>PowerPoint Presentation</vt:lpstr>
      <vt:lpstr>PowerPoint Presentation</vt:lpstr>
      <vt:lpstr>PowerPoint Presentation</vt:lpstr>
      <vt:lpstr>Control Unit</vt:lpstr>
      <vt:lpstr>CPU(Central Processing Unit) </vt:lpstr>
      <vt:lpstr>Peripherel devices: </vt:lpstr>
      <vt:lpstr>PowerPoint Presentation</vt:lpstr>
      <vt:lpstr>PowerPoint Presentation</vt:lpstr>
      <vt:lpstr>Touchpad </vt:lpstr>
      <vt:lpstr>Joystick </vt:lpstr>
      <vt:lpstr>Trackball</vt:lpstr>
      <vt:lpstr>PowerPoint Presentation</vt:lpstr>
      <vt:lpstr>Light pen </vt:lpstr>
      <vt:lpstr>Light pen </vt:lpstr>
      <vt:lpstr>Touch screens </vt:lpstr>
      <vt:lpstr>Scanners </vt:lpstr>
      <vt:lpstr>Output Devices</vt:lpstr>
      <vt:lpstr>PowerPoint Presentation</vt:lpstr>
      <vt:lpstr>PowerPoint Presentation</vt:lpstr>
      <vt:lpstr>Printer </vt:lpstr>
      <vt:lpstr>Printer </vt:lpstr>
      <vt:lpstr>Printer </vt:lpstr>
      <vt:lpstr>Printer </vt:lpstr>
      <vt:lpstr>PowerPoint Presentation</vt:lpstr>
      <vt:lpstr>PowerPoint Presentation</vt:lpstr>
      <vt:lpstr>Multi-core technology</vt:lpstr>
      <vt:lpstr>CPU Sockets and Chipsets </vt:lpstr>
      <vt:lpstr>PowerPoint Presentation</vt:lpstr>
      <vt:lpstr>PowerPoint Presentation</vt:lpstr>
      <vt:lpstr>PowerPoint Presentation</vt:lpstr>
      <vt:lpstr>Operating Frequency (GHz) </vt:lpstr>
      <vt:lpstr>PowerPoint Presentation</vt:lpstr>
      <vt:lpstr>Cache </vt:lpstr>
      <vt:lpstr>Thermal Design Power </vt:lpstr>
      <vt:lpstr>Storage Devices</vt:lpstr>
      <vt:lpstr>Primary Storage Device </vt:lpstr>
      <vt:lpstr>Primary Storage Device </vt:lpstr>
      <vt:lpstr>Primary Storage Device </vt:lpstr>
      <vt:lpstr>Examples of Storage Device </vt:lpstr>
      <vt:lpstr>PowerPoint Presentation</vt:lpstr>
      <vt:lpstr>PowerPoint Presentation</vt:lpstr>
      <vt:lpstr>PowerPoint Presentation</vt:lpstr>
      <vt:lpstr>PowerPoint Presentation</vt:lpstr>
      <vt:lpstr>PowerPoint Presentation</vt:lpstr>
      <vt:lpstr>PowerPoint Presentation</vt:lpstr>
      <vt:lpstr>Booting</vt:lpstr>
      <vt:lpstr>What happens in the Process of Booting?</vt:lpstr>
      <vt:lpstr>BIOS</vt:lpstr>
      <vt:lpstr>Boot Devices</vt:lpstr>
      <vt:lpstr>Types of Booting</vt:lpstr>
      <vt:lpstr>Steps of Booting</vt:lpstr>
      <vt:lpstr>Steps of Booting</vt:lpstr>
      <vt:lpstr>Computer Name</vt:lpstr>
      <vt:lpstr>Computer Name</vt:lpstr>
      <vt:lpstr>Workgroup</vt:lpstr>
      <vt:lpstr>What is the difference between a domain and a workgroup?</vt:lpstr>
      <vt:lpstr>IP</vt:lpstr>
      <vt:lpstr>Find IP Address</vt:lpstr>
      <vt:lpstr>DNS</vt:lpstr>
      <vt:lpstr>How DNS works</vt:lpstr>
      <vt:lpstr>How DNS works</vt:lpstr>
      <vt:lpstr>How DNS works</vt:lpstr>
      <vt:lpstr>Proxy server</vt:lpstr>
      <vt:lpstr>Proxy server</vt:lpstr>
      <vt:lpstr>Proxy server</vt:lpstr>
      <vt:lpstr>Proxy server</vt:lpstr>
      <vt:lpstr>Mechanism of Proxy Server</vt:lpstr>
      <vt:lpstr>Mechanism of Proxy Server</vt:lpstr>
      <vt:lpstr>Mechanism of Proxy Server</vt:lpstr>
      <vt:lpstr>Password</vt:lpstr>
      <vt:lpstr>Users</vt:lpstr>
      <vt:lpstr>Why use separate user accounts? </vt:lpstr>
      <vt:lpstr>Users</vt:lpstr>
      <vt:lpstr>Basic troubleshooting of a computer system</vt:lpstr>
      <vt:lpstr>PowerPoint Presentation</vt:lpstr>
      <vt:lpstr>PowerPoint Presentation</vt:lpstr>
      <vt:lpstr>PowerPoint Presentation</vt:lpstr>
      <vt:lpstr>PowerPoint Presentation</vt:lpstr>
      <vt:lpstr>PowerPoint Presentation</vt:lpstr>
      <vt:lpstr>PowerPoint Presentation</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 Optimizing the computer performance </vt:lpstr>
      <vt:lpstr>Plug and Play concepts</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Types of Computer Ports  </vt:lpstr>
      <vt:lpstr> Working with Internet Drive Storage </vt:lpstr>
      <vt:lpstr> BENEFITS OF ONLINE STORAGE</vt:lpstr>
      <vt:lpstr> ONLINE STORAGE ENHANCES DATA PROTECTION AND AVAILABILITY</vt:lpstr>
      <vt:lpstr> ONLINE STORAGE ENHANCES DATA PROTECTION AND AVAILABILITY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dc:title>
  <dc:creator>LJMCA</dc:creator>
  <cp:lastModifiedBy>ljmca</cp:lastModifiedBy>
  <cp:revision>456</cp:revision>
  <dcterms:created xsi:type="dcterms:W3CDTF">2020-10-29T09:03:56Z</dcterms:created>
  <dcterms:modified xsi:type="dcterms:W3CDTF">2022-11-10T17:22:39Z</dcterms:modified>
</cp:coreProperties>
</file>