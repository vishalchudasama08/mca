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2" r:id="rId3"/>
    <p:sldId id="355" r:id="rId4"/>
    <p:sldId id="356" r:id="rId5"/>
    <p:sldId id="357" r:id="rId6"/>
    <p:sldId id="358" r:id="rId7"/>
    <p:sldId id="359" r:id="rId8"/>
    <p:sldId id="443" r:id="rId9"/>
    <p:sldId id="444" r:id="rId10"/>
    <p:sldId id="445" r:id="rId11"/>
    <p:sldId id="446" r:id="rId12"/>
    <p:sldId id="447" r:id="rId13"/>
    <p:sldId id="449" r:id="rId14"/>
    <p:sldId id="450" r:id="rId15"/>
    <p:sldId id="451" r:id="rId16"/>
    <p:sldId id="452" r:id="rId17"/>
    <p:sldId id="453" r:id="rId18"/>
    <p:sldId id="454" r:id="rId19"/>
    <p:sldId id="448" r:id="rId20"/>
    <p:sldId id="363" r:id="rId21"/>
    <p:sldId id="364" r:id="rId22"/>
    <p:sldId id="365" r:id="rId23"/>
    <p:sldId id="366" r:id="rId24"/>
    <p:sldId id="367" r:id="rId25"/>
    <p:sldId id="602" r:id="rId26"/>
    <p:sldId id="354" r:id="rId27"/>
    <p:sldId id="313" r:id="rId28"/>
    <p:sldId id="314" r:id="rId29"/>
    <p:sldId id="315" r:id="rId30"/>
    <p:sldId id="316" r:id="rId31"/>
    <p:sldId id="302" r:id="rId32"/>
    <p:sldId id="368" r:id="rId33"/>
    <p:sldId id="317" r:id="rId34"/>
    <p:sldId id="369" r:id="rId35"/>
    <p:sldId id="303" r:id="rId36"/>
    <p:sldId id="455" r:id="rId37"/>
    <p:sldId id="318" r:id="rId38"/>
    <p:sldId id="305" r:id="rId39"/>
    <p:sldId id="371" r:id="rId40"/>
    <p:sldId id="372" r:id="rId41"/>
    <p:sldId id="373" r:id="rId42"/>
    <p:sldId id="374" r:id="rId43"/>
    <p:sldId id="375" r:id="rId44"/>
    <p:sldId id="457" r:id="rId45"/>
    <p:sldId id="458" r:id="rId46"/>
    <p:sldId id="459" r:id="rId47"/>
    <p:sldId id="460" r:id="rId48"/>
    <p:sldId id="461" r:id="rId49"/>
    <p:sldId id="456" r:id="rId50"/>
    <p:sldId id="379" r:id="rId51"/>
    <p:sldId id="376" r:id="rId52"/>
    <p:sldId id="601" r:id="rId53"/>
    <p:sldId id="307" r:id="rId54"/>
    <p:sldId id="308" r:id="rId55"/>
    <p:sldId id="309" r:id="rId56"/>
    <p:sldId id="603" r:id="rId57"/>
    <p:sldId id="466" r:id="rId58"/>
    <p:sldId id="467" r:id="rId59"/>
    <p:sldId id="462" r:id="rId60"/>
    <p:sldId id="464" r:id="rId61"/>
    <p:sldId id="465" r:id="rId62"/>
    <p:sldId id="311" r:id="rId63"/>
    <p:sldId id="468" r:id="rId64"/>
    <p:sldId id="463" r:id="rId65"/>
    <p:sldId id="482" r:id="rId66"/>
    <p:sldId id="319" r:id="rId67"/>
    <p:sldId id="320" r:id="rId68"/>
    <p:sldId id="469" r:id="rId69"/>
    <p:sldId id="470" r:id="rId70"/>
    <p:sldId id="476" r:id="rId71"/>
    <p:sldId id="478" r:id="rId72"/>
    <p:sldId id="481" r:id="rId73"/>
    <p:sldId id="483" r:id="rId74"/>
    <p:sldId id="484" r:id="rId75"/>
    <p:sldId id="295" r:id="rId76"/>
    <p:sldId id="387" r:id="rId77"/>
    <p:sldId id="492" r:id="rId78"/>
    <p:sldId id="491" r:id="rId79"/>
    <p:sldId id="389" r:id="rId80"/>
    <p:sldId id="488" r:id="rId81"/>
    <p:sldId id="485" r:id="rId82"/>
    <p:sldId id="486" r:id="rId83"/>
    <p:sldId id="487" r:id="rId84"/>
    <p:sldId id="392" r:id="rId85"/>
    <p:sldId id="393" r:id="rId86"/>
    <p:sldId id="489" r:id="rId87"/>
    <p:sldId id="321" r:id="rId88"/>
    <p:sldId id="322" r:id="rId89"/>
    <p:sldId id="323" r:id="rId90"/>
    <p:sldId id="325" r:id="rId91"/>
    <p:sldId id="349" r:id="rId92"/>
    <p:sldId id="324" r:id="rId93"/>
    <p:sldId id="329" r:id="rId94"/>
    <p:sldId id="340" r:id="rId95"/>
    <p:sldId id="494" r:id="rId96"/>
    <p:sldId id="495" r:id="rId97"/>
    <p:sldId id="336" r:id="rId98"/>
    <p:sldId id="493" r:id="rId99"/>
    <p:sldId id="353" r:id="rId100"/>
    <p:sldId id="396" r:id="rId101"/>
    <p:sldId id="496" r:id="rId102"/>
    <p:sldId id="497" r:id="rId103"/>
    <p:sldId id="399" r:id="rId104"/>
    <p:sldId id="406" r:id="rId105"/>
    <p:sldId id="394" r:id="rId106"/>
    <p:sldId id="352" r:id="rId107"/>
    <p:sldId id="407" r:id="rId108"/>
    <p:sldId id="408" r:id="rId109"/>
    <p:sldId id="409" r:id="rId110"/>
    <p:sldId id="410" r:id="rId111"/>
    <p:sldId id="411" r:id="rId112"/>
    <p:sldId id="412" r:id="rId113"/>
    <p:sldId id="413" r:id="rId114"/>
    <p:sldId id="414" r:id="rId115"/>
    <p:sldId id="415" r:id="rId116"/>
    <p:sldId id="498" r:id="rId117"/>
    <p:sldId id="499" r:id="rId118"/>
    <p:sldId id="500" r:id="rId119"/>
    <p:sldId id="501" r:id="rId120"/>
    <p:sldId id="502" r:id="rId121"/>
    <p:sldId id="503" r:id="rId122"/>
    <p:sldId id="504" r:id="rId123"/>
    <p:sldId id="505" r:id="rId124"/>
    <p:sldId id="506" r:id="rId125"/>
    <p:sldId id="507" r:id="rId126"/>
    <p:sldId id="509" r:id="rId127"/>
    <p:sldId id="600" r:id="rId128"/>
    <p:sldId id="599" r:id="rId129"/>
    <p:sldId id="510" r:id="rId130"/>
    <p:sldId id="511" r:id="rId131"/>
    <p:sldId id="512" r:id="rId132"/>
    <p:sldId id="513" r:id="rId133"/>
    <p:sldId id="514" r:id="rId134"/>
    <p:sldId id="515" r:id="rId135"/>
    <p:sldId id="516" r:id="rId136"/>
    <p:sldId id="517" r:id="rId137"/>
    <p:sldId id="518" r:id="rId138"/>
    <p:sldId id="520" r:id="rId139"/>
    <p:sldId id="521" r:id="rId140"/>
    <p:sldId id="326" r:id="rId141"/>
    <p:sldId id="604" r:id="rId142"/>
    <p:sldId id="327" r:id="rId143"/>
    <p:sldId id="328" r:id="rId144"/>
    <p:sldId id="342" r:id="rId145"/>
    <p:sldId id="343" r:id="rId146"/>
    <p:sldId id="344" r:id="rId147"/>
    <p:sldId id="347" r:id="rId148"/>
    <p:sldId id="605" r:id="rId149"/>
    <p:sldId id="606" r:id="rId150"/>
    <p:sldId id="608" r:id="rId151"/>
    <p:sldId id="607" r:id="rId152"/>
    <p:sldId id="609" r:id="rId153"/>
    <p:sldId id="610" r:id="rId154"/>
    <p:sldId id="611" r:id="rId155"/>
    <p:sldId id="612" r:id="rId156"/>
    <p:sldId id="613" r:id="rId157"/>
    <p:sldId id="614" r:id="rId158"/>
    <p:sldId id="615" r:id="rId159"/>
    <p:sldId id="616" r:id="rId160"/>
    <p:sldId id="617" r:id="rId161"/>
    <p:sldId id="436" r:id="rId162"/>
    <p:sldId id="437" r:id="rId163"/>
    <p:sldId id="438" r:id="rId164"/>
    <p:sldId id="439" r:id="rId165"/>
    <p:sldId id="440" r:id="rId166"/>
    <p:sldId id="441" r:id="rId167"/>
    <p:sldId id="442" r:id="rId1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3" autoAdjust="0"/>
    <p:restoredTop sz="94660"/>
  </p:normalViewPr>
  <p:slideViewPr>
    <p:cSldViewPr snapToGrid="0">
      <p:cViewPr varScale="1">
        <p:scale>
          <a:sx n="92" d="100"/>
          <a:sy n="92" d="100"/>
        </p:scale>
        <p:origin x="79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E5259B-2E87-2576-B174-4B41D5938D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A5918060-58A1-866B-9B1E-A5F92F2F6F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5DA1155-10B0-BCCD-B5AC-81C942A750B7}"/>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5" name="Footer Placeholder 4">
            <a:extLst>
              <a:ext uri="{FF2B5EF4-FFF2-40B4-BE49-F238E27FC236}">
                <a16:creationId xmlns:a16="http://schemas.microsoft.com/office/drawing/2014/main" xmlns="" id="{D36D6639-EF28-D1FC-E35F-55A10E1568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8364235-1A27-D3E9-56FF-3587D2F9D20C}"/>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147551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D69173-F223-BFFB-FE91-30B2871913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062584-44A3-217F-E45F-845C17B241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AD18DAE-F30D-4FE8-D8E6-0F88D86D9155}"/>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5" name="Footer Placeholder 4">
            <a:extLst>
              <a:ext uri="{FF2B5EF4-FFF2-40B4-BE49-F238E27FC236}">
                <a16:creationId xmlns:a16="http://schemas.microsoft.com/office/drawing/2014/main" xmlns="" id="{ABDB6260-40CC-4720-1354-D8F33A6C1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7144698-4BCE-54A0-5479-9809C4705F25}"/>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52069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B1F5A3-40E2-52F6-B879-4D652033CE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FF31BF3-A5BB-F424-D157-1B150830DA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33B2866-4C8A-CDA2-F3E3-09B6EFE7CCCF}"/>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5" name="Footer Placeholder 4">
            <a:extLst>
              <a:ext uri="{FF2B5EF4-FFF2-40B4-BE49-F238E27FC236}">
                <a16:creationId xmlns:a16="http://schemas.microsoft.com/office/drawing/2014/main" xmlns="" id="{07B3D0CC-888C-3BEC-0EE4-82B0404441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3F346FF-3A57-B565-D9A5-3CACD7D0E1CB}"/>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396931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688C47-64E5-781A-2D1D-6615394A25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255C6DF-3A47-8906-624E-E3F54FA4A2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C0D68BDD-7B7C-236F-0901-4DAEFC3402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F7CB478-0D16-51A9-0940-7903E3270DE1}"/>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6" name="Footer Placeholder 5">
            <a:extLst>
              <a:ext uri="{FF2B5EF4-FFF2-40B4-BE49-F238E27FC236}">
                <a16:creationId xmlns:a16="http://schemas.microsoft.com/office/drawing/2014/main" xmlns="" id="{C0D6F4CC-A3C5-C60F-F66A-02D1C336EF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8C7B67B-7EBF-9E46-C57E-24FCFE528F52}"/>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85917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1AC293-D6BF-5279-7A39-9C7F06F021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F2B8BB6-B2AE-1351-48EF-BE7FDE4998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4CFA6E8-30D1-C3FD-8C0F-15354AA6F0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2B7A8355-845F-A079-98E1-31CF3739D9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3CB18C7-3723-E5A4-5C96-F9CED95032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1F89D791-2736-CC9F-B4B3-512292F02BE8}"/>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8" name="Footer Placeholder 7">
            <a:extLst>
              <a:ext uri="{FF2B5EF4-FFF2-40B4-BE49-F238E27FC236}">
                <a16:creationId xmlns:a16="http://schemas.microsoft.com/office/drawing/2014/main" xmlns="" id="{CA01563D-1EE8-BB5B-333A-30458F968C3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8F616E50-375D-D02C-B078-1A0D8DB675C4}"/>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423153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988538-AF19-AB81-0B59-342D8C08E1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C54142A-844B-B6D2-9465-E210C9613B3B}"/>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4" name="Footer Placeholder 3">
            <a:extLst>
              <a:ext uri="{FF2B5EF4-FFF2-40B4-BE49-F238E27FC236}">
                <a16:creationId xmlns:a16="http://schemas.microsoft.com/office/drawing/2014/main" xmlns="" id="{AD0419DD-9E60-21FE-4CD5-64F84CCE37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52B3904B-8EFA-63ED-DA46-7F02432751BE}"/>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1709378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256A812-4E4E-94A4-5349-358C90A34B91}"/>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3" name="Footer Placeholder 2">
            <a:extLst>
              <a:ext uri="{FF2B5EF4-FFF2-40B4-BE49-F238E27FC236}">
                <a16:creationId xmlns:a16="http://schemas.microsoft.com/office/drawing/2014/main" xmlns="" id="{4DDA71DA-35B4-B9FC-7C0A-B6B521AC3B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F5E34141-EA92-D4BE-EA6E-D2AA8F70BE2F}"/>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3512684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FECBF25-59CF-FAD7-7CCE-3DEE75F29E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D1BEA48-8356-662D-6A40-6432A67619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1CA02F97-631B-56D9-BFAF-BB7FC2849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1044801-63E4-75B2-6B34-FABB16B4F4A0}"/>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6" name="Footer Placeholder 5">
            <a:extLst>
              <a:ext uri="{FF2B5EF4-FFF2-40B4-BE49-F238E27FC236}">
                <a16:creationId xmlns:a16="http://schemas.microsoft.com/office/drawing/2014/main" xmlns="" id="{158B4F52-5FA6-19C3-0EAB-C55B78FBAA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EC9ED3D-1941-2918-09E5-CE3E3D8E8091}"/>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552467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F0EDE7-4736-50C1-BAB4-41C1CD3937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23895B10-7C90-4AF5-6078-6AA6819D85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71A9C54-3017-EB63-3E9C-391B813FA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AD42163-56B1-60E0-241E-6A864E44B835}"/>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6" name="Footer Placeholder 5">
            <a:extLst>
              <a:ext uri="{FF2B5EF4-FFF2-40B4-BE49-F238E27FC236}">
                <a16:creationId xmlns:a16="http://schemas.microsoft.com/office/drawing/2014/main" xmlns="" id="{7DED2078-F9E8-631F-A666-7FFC1BA216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A57BAE1F-AC6B-69D5-2D13-298A843E4BE9}"/>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1106796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2F7296-0BF2-CF48-DFC6-0DD6E05213F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03334D0-0066-0036-5878-30F72BDAAF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CA73267-62E8-B910-BACF-AB16D5D4E5D4}"/>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5" name="Footer Placeholder 4">
            <a:extLst>
              <a:ext uri="{FF2B5EF4-FFF2-40B4-BE49-F238E27FC236}">
                <a16:creationId xmlns:a16="http://schemas.microsoft.com/office/drawing/2014/main" xmlns="" id="{CF414320-F132-509C-E491-497CD220B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45CB07C8-87F3-F742-BADC-7BFD2CFA68E5}"/>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919338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7971978-CBE5-1B5C-482B-1BAFE5154A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A226E76-C7AC-B4CB-6AF8-7EC9C21C2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8C26F21-4610-409B-500D-D9B9A82EF6B9}"/>
              </a:ext>
            </a:extLst>
          </p:cNvPr>
          <p:cNvSpPr>
            <a:spLocks noGrp="1"/>
          </p:cNvSpPr>
          <p:nvPr>
            <p:ph type="dt" sz="half" idx="10"/>
          </p:nvPr>
        </p:nvSpPr>
        <p:spPr/>
        <p:txBody>
          <a:bodyPr/>
          <a:lstStyle/>
          <a:p>
            <a:fld id="{3D957532-DBB7-4BA5-A41F-E9171668B413}" type="datetimeFigureOut">
              <a:rPr lang="en-IN" smtClean="0"/>
              <a:t>07-01-2025</a:t>
            </a:fld>
            <a:endParaRPr lang="en-IN"/>
          </a:p>
        </p:txBody>
      </p:sp>
      <p:sp>
        <p:nvSpPr>
          <p:cNvPr id="5" name="Footer Placeholder 4">
            <a:extLst>
              <a:ext uri="{FF2B5EF4-FFF2-40B4-BE49-F238E27FC236}">
                <a16:creationId xmlns:a16="http://schemas.microsoft.com/office/drawing/2014/main" xmlns="" id="{074FE1F7-6827-F11A-72E8-6FA7108AD6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4CC38F8-07A4-C5ED-6EE5-CFDC853D3E4E}"/>
              </a:ext>
            </a:extLst>
          </p:cNvPr>
          <p:cNvSpPr>
            <a:spLocks noGrp="1"/>
          </p:cNvSpPr>
          <p:nvPr>
            <p:ph type="sldNum" sz="quarter" idx="12"/>
          </p:nvPr>
        </p:nvSpPr>
        <p:spPr/>
        <p:txBody>
          <a:bodyPr/>
          <a:lstStyle/>
          <a:p>
            <a:fld id="{32A5CCFD-4E55-4B9E-A9F8-AC2DFFB0FEE0}" type="slidenum">
              <a:rPr lang="en-IN" smtClean="0"/>
              <a:t>‹#›</a:t>
            </a:fld>
            <a:endParaRPr lang="en-IN"/>
          </a:p>
        </p:txBody>
      </p:sp>
    </p:spTree>
    <p:extLst>
      <p:ext uri="{BB962C8B-B14F-4D97-AF65-F5344CB8AC3E}">
        <p14:creationId xmlns:p14="http://schemas.microsoft.com/office/powerpoint/2010/main" val="2273334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3E08B69-DE62-B24C-F449-68DDDED322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16624EC-3564-6941-A175-737AD4F0B5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8C20E23-92F6-3C79-57D8-85EDABCC1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957532-DBB7-4BA5-A41F-E9171668B413}" type="datetimeFigureOut">
              <a:rPr lang="en-IN" smtClean="0"/>
              <a:t>07-01-2025</a:t>
            </a:fld>
            <a:endParaRPr lang="en-IN"/>
          </a:p>
        </p:txBody>
      </p:sp>
      <p:sp>
        <p:nvSpPr>
          <p:cNvPr id="5" name="Footer Placeholder 4">
            <a:extLst>
              <a:ext uri="{FF2B5EF4-FFF2-40B4-BE49-F238E27FC236}">
                <a16:creationId xmlns:a16="http://schemas.microsoft.com/office/drawing/2014/main" xmlns="" id="{8DA1BA9B-E63F-E83F-ADB6-D5DC81F4D9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1685DC63-FAE5-C513-8746-F36741672D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5CCFD-4E55-4B9E-A9F8-AC2DFFB0FEE0}" type="slidenum">
              <a:rPr lang="en-IN" smtClean="0"/>
              <a:t>‹#›</a:t>
            </a:fld>
            <a:endParaRPr lang="en-IN"/>
          </a:p>
        </p:txBody>
      </p:sp>
    </p:spTree>
    <p:extLst>
      <p:ext uri="{BB962C8B-B14F-4D97-AF65-F5344CB8AC3E}">
        <p14:creationId xmlns:p14="http://schemas.microsoft.com/office/powerpoint/2010/main" val="1829849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hyperlink" Target="https://www.programiz.com/dsa/linked-list-operations#add" TargetMode="External"/><Relationship Id="rId2" Type="http://schemas.openxmlformats.org/officeDocument/2006/relationships/hyperlink" Target="https://www.programiz.com/dsa/linked-list-operations#traverse" TargetMode="External"/><Relationship Id="rId1" Type="http://schemas.openxmlformats.org/officeDocument/2006/relationships/slideLayout" Target="../slideLayouts/slideLayout2.xml"/><Relationship Id="rId6" Type="http://schemas.openxmlformats.org/officeDocument/2006/relationships/hyperlink" Target="https://www.programiz.com/dsa/linked-list-operations#sort" TargetMode="External"/><Relationship Id="rId5" Type="http://schemas.openxmlformats.org/officeDocument/2006/relationships/hyperlink" Target="https://www.programiz.com/dsa/linked-list-operations#search" TargetMode="External"/><Relationship Id="rId4" Type="http://schemas.openxmlformats.org/officeDocument/2006/relationships/hyperlink" Target="https://www.programiz.com/dsa/linked-list-operations#delete"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68D167-3355-1E75-903F-0909EFED3CB4}"/>
              </a:ext>
            </a:extLst>
          </p:cNvPr>
          <p:cNvSpPr>
            <a:spLocks noGrp="1"/>
          </p:cNvSpPr>
          <p:nvPr>
            <p:ph type="ctrTitle"/>
          </p:nvPr>
        </p:nvSpPr>
        <p:spPr/>
        <p:txBody>
          <a:bodyPr>
            <a:normAutofit/>
          </a:bodyPr>
          <a:lstStyle/>
          <a:p>
            <a:r>
              <a:rPr lang="en-US" b="1" dirty="0"/>
              <a:t>DATA</a:t>
            </a:r>
            <a:br>
              <a:rPr lang="en-US" b="1" dirty="0"/>
            </a:br>
            <a:r>
              <a:rPr lang="en-US" b="1" dirty="0"/>
              <a:t>STRUCTURES</a:t>
            </a:r>
            <a:endParaRPr lang="en-IN" b="1" dirty="0"/>
          </a:p>
        </p:txBody>
      </p:sp>
      <p:sp>
        <p:nvSpPr>
          <p:cNvPr id="3" name="Subtitle 2">
            <a:extLst>
              <a:ext uri="{FF2B5EF4-FFF2-40B4-BE49-F238E27FC236}">
                <a16:creationId xmlns:a16="http://schemas.microsoft.com/office/drawing/2014/main" xmlns="" id="{1B1EBC43-CC82-4EDE-2B77-C6E6D8B6C1CD}"/>
              </a:ext>
            </a:extLst>
          </p:cNvPr>
          <p:cNvSpPr>
            <a:spLocks noGrp="1"/>
          </p:cNvSpPr>
          <p:nvPr>
            <p:ph type="subTitle" idx="1"/>
          </p:nvPr>
        </p:nvSpPr>
        <p:spPr/>
        <p:txBody>
          <a:bodyPr>
            <a:normAutofit/>
          </a:bodyPr>
          <a:lstStyle/>
          <a:p>
            <a:r>
              <a:rPr lang="en-US" sz="4800" b="1" dirty="0">
                <a:solidFill>
                  <a:srgbClr val="FF0000"/>
                </a:solidFill>
              </a:rPr>
              <a:t>UNIT - 2</a:t>
            </a:r>
            <a:endParaRPr lang="en-IN" sz="4800" b="1" dirty="0">
              <a:solidFill>
                <a:srgbClr val="FF0000"/>
              </a:solidFill>
            </a:endParaRPr>
          </a:p>
        </p:txBody>
      </p:sp>
    </p:spTree>
    <p:extLst>
      <p:ext uri="{BB962C8B-B14F-4D97-AF65-F5344CB8AC3E}">
        <p14:creationId xmlns:p14="http://schemas.microsoft.com/office/powerpoint/2010/main" val="4061118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lstStyle/>
          <a:p>
            <a:pPr algn="ctr"/>
            <a:r>
              <a:rPr lang="en-US" b="1" dirty="0" smtClean="0">
                <a:solidFill>
                  <a:srgbClr val="FF0000"/>
                </a:solidFill>
              </a:rPr>
              <a:t>Array</a:t>
            </a:r>
            <a:endParaRPr lang="en-IN" b="1" dirty="0">
              <a:solidFill>
                <a:srgbClr val="FF0000"/>
              </a:solidFill>
            </a:endParaRP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fontScale="92500" lnSpcReduction="20000"/>
          </a:bodyPr>
          <a:lstStyle/>
          <a:p>
            <a:r>
              <a:rPr lang="en-US" dirty="0"/>
              <a:t>Array is a container which can hold a fix number of items and these items should be of the same type. Most of the data structures make use of arrays to implement their algorithms. Following are the important terms to understand the concept of Array.</a:t>
            </a:r>
          </a:p>
          <a:p>
            <a:r>
              <a:rPr lang="en-US" b="1" dirty="0"/>
              <a:t>Element</a:t>
            </a:r>
            <a:r>
              <a:rPr lang="en-US" dirty="0"/>
              <a:t> − Each item stored in an array is called an element.</a:t>
            </a:r>
          </a:p>
          <a:p>
            <a:r>
              <a:rPr lang="en-US" b="1" dirty="0"/>
              <a:t>Index</a:t>
            </a:r>
            <a:r>
              <a:rPr lang="en-US" dirty="0"/>
              <a:t> − Each location of an element in an array has a numerical index, which is used to identify the element</a:t>
            </a:r>
            <a:r>
              <a:rPr lang="en-US" dirty="0" smtClean="0"/>
              <a:t>.</a:t>
            </a:r>
          </a:p>
          <a:p>
            <a:r>
              <a:rPr lang="en-US" b="1" dirty="0"/>
              <a:t>Properties of array</a:t>
            </a:r>
          </a:p>
          <a:p>
            <a:r>
              <a:rPr lang="en-US" dirty="0"/>
              <a:t>There are some of the properties of an array that are listed as follows -</a:t>
            </a:r>
          </a:p>
          <a:p>
            <a:r>
              <a:rPr lang="en-US" dirty="0"/>
              <a:t>Each element in an array is of the same data type and carries the same </a:t>
            </a:r>
            <a:r>
              <a:rPr lang="en-US" dirty="0" smtClean="0"/>
              <a:t>size.</a:t>
            </a:r>
            <a:endParaRPr lang="en-US" dirty="0"/>
          </a:p>
          <a:p>
            <a:r>
              <a:rPr lang="en-US" dirty="0"/>
              <a:t>Elements in the array are stored at contiguous memory locations from which the first element is stored at the smallest memory location.</a:t>
            </a:r>
          </a:p>
          <a:p>
            <a:r>
              <a:rPr lang="en-US" dirty="0"/>
              <a:t>Elements of the array can be randomly accessed since we can calculate the address of each element of the array with the given base address and the size of the data element.</a:t>
            </a:r>
          </a:p>
          <a:p>
            <a:endParaRPr lang="en-US" dirty="0"/>
          </a:p>
        </p:txBody>
      </p:sp>
    </p:spTree>
    <p:extLst>
      <p:ext uri="{BB962C8B-B14F-4D97-AF65-F5344CB8AC3E}">
        <p14:creationId xmlns:p14="http://schemas.microsoft.com/office/powerpoint/2010/main" val="406087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pPr algn="ctr"/>
            <a:r>
              <a:rPr lang="en-IN" dirty="0"/>
              <a:t>Array </a:t>
            </a:r>
            <a:r>
              <a:rPr lang="en-IN" dirty="0" smtClean="0"/>
              <a:t>Representation</a:t>
            </a:r>
            <a:endParaRPr lang="en-IN" b="1" dirty="0">
              <a:solidFill>
                <a:srgbClr val="FF0000"/>
              </a:solidFill>
            </a:endParaRP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r>
              <a:rPr lang="en-US" dirty="0"/>
              <a:t>Arrays can be declared in various ways in different languages. For illustration, let's take C array declaration</a:t>
            </a:r>
            <a:r>
              <a:rPr lang="en-US" dirty="0" smtClean="0"/>
              <a:t>.</a:t>
            </a:r>
          </a:p>
          <a:p>
            <a:endParaRPr lang="en-US" dirty="0"/>
          </a:p>
          <a:p>
            <a:endParaRPr lang="en-US" dirty="0" smtClean="0"/>
          </a:p>
          <a:p>
            <a:endParaRPr lang="en-US" dirty="0"/>
          </a:p>
          <a:p>
            <a:endParaRPr lang="en-US" dirty="0" smtClean="0"/>
          </a:p>
          <a:p>
            <a:endParaRPr lang="en-US" dirty="0"/>
          </a:p>
        </p:txBody>
      </p:sp>
      <p:pic>
        <p:nvPicPr>
          <p:cNvPr id="1029" name="Picture 5" descr="Array Decla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0137" y="1963156"/>
            <a:ext cx="5240673" cy="146739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rray Represent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4686" y="4209893"/>
            <a:ext cx="5415230" cy="1328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663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pPr algn="ctr"/>
            <a:r>
              <a:rPr lang="en-IN" dirty="0"/>
              <a:t>Array </a:t>
            </a:r>
            <a:r>
              <a:rPr lang="en-IN" dirty="0" smtClean="0"/>
              <a:t>Representation</a:t>
            </a:r>
            <a:endParaRPr lang="en-IN" b="1" dirty="0">
              <a:solidFill>
                <a:srgbClr val="FF0000"/>
              </a:solidFill>
            </a:endParaRP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r>
              <a:rPr lang="en-US" dirty="0"/>
              <a:t>As per the above illustration, following are the important points to be considered.</a:t>
            </a:r>
          </a:p>
          <a:p>
            <a:r>
              <a:rPr lang="en-US" dirty="0"/>
              <a:t>Index starts with 0.</a:t>
            </a:r>
          </a:p>
          <a:p>
            <a:r>
              <a:rPr lang="en-US" dirty="0"/>
              <a:t>Array length is 10 which means it can store 10 elements.</a:t>
            </a:r>
          </a:p>
          <a:p>
            <a:r>
              <a:rPr lang="en-US" dirty="0"/>
              <a:t>Each element can be accessed via its index. For example, we can fetch an element at index 6 </a:t>
            </a:r>
            <a:r>
              <a:rPr lang="en-US" dirty="0" smtClean="0"/>
              <a:t>is 27.</a:t>
            </a:r>
            <a:endParaRPr lang="en-US" dirty="0"/>
          </a:p>
          <a:p>
            <a:endParaRPr lang="en-US" dirty="0" smtClean="0"/>
          </a:p>
          <a:p>
            <a:endParaRPr lang="en-US" dirty="0"/>
          </a:p>
        </p:txBody>
      </p:sp>
    </p:spTree>
    <p:extLst>
      <p:ext uri="{BB962C8B-B14F-4D97-AF65-F5344CB8AC3E}">
        <p14:creationId xmlns:p14="http://schemas.microsoft.com/office/powerpoint/2010/main" val="3130111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IN" dirty="0"/>
              <a:t>Why are arrays required?</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r>
              <a:rPr lang="en-US" dirty="0"/>
              <a:t>Arrays are useful because -</a:t>
            </a:r>
          </a:p>
          <a:p>
            <a:r>
              <a:rPr lang="en-US" dirty="0"/>
              <a:t>Sorting and searching a value in an array is easier.</a:t>
            </a:r>
          </a:p>
          <a:p>
            <a:r>
              <a:rPr lang="en-US" dirty="0"/>
              <a:t>Arrays are best to process multiple values quickly and easily.</a:t>
            </a:r>
          </a:p>
          <a:p>
            <a:r>
              <a:rPr lang="en-US" b="1" dirty="0"/>
              <a:t>Arrays are good for storing multiple values in a single variable -</a:t>
            </a:r>
            <a:r>
              <a:rPr lang="en-US" dirty="0"/>
              <a:t> In computer programming, most cases require storing a large number of data of a similar type. To store such an amount of data, we need to define a large number of variables. It would be very difficult to remember the names of all the variables while writing the programs. Instead of naming all the variables with a different name, it is better to define an array and store all the elements into it.</a:t>
            </a:r>
          </a:p>
          <a:p>
            <a:endParaRPr lang="en-US" dirty="0" smtClean="0"/>
          </a:p>
          <a:p>
            <a:endParaRPr lang="en-US" dirty="0"/>
          </a:p>
        </p:txBody>
      </p:sp>
    </p:spTree>
    <p:extLst>
      <p:ext uri="{BB962C8B-B14F-4D97-AF65-F5344CB8AC3E}">
        <p14:creationId xmlns:p14="http://schemas.microsoft.com/office/powerpoint/2010/main" val="571641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US" dirty="0"/>
              <a:t>Memory allocation of an array</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r>
              <a:rPr lang="en-US" dirty="0"/>
              <a:t>As stated above, all the data elements of an array are stored at contiguous locations in the main memory. The name of the array represents the base address or the address of the first element in the main memory. Each element of the array is represented by proper indexing.</a:t>
            </a:r>
          </a:p>
          <a:p>
            <a:r>
              <a:rPr lang="en-US" dirty="0"/>
              <a:t>We can define the indexing of an array in the below </a:t>
            </a:r>
            <a:r>
              <a:rPr lang="en-US" dirty="0" smtClean="0"/>
              <a:t>way </a:t>
            </a:r>
            <a:r>
              <a:rPr lang="en-US" dirty="0"/>
              <a:t>-</a:t>
            </a:r>
          </a:p>
          <a:p>
            <a:r>
              <a:rPr lang="en-US" dirty="0" smtClean="0"/>
              <a:t>The </a:t>
            </a:r>
            <a:r>
              <a:rPr lang="en-US" dirty="0"/>
              <a:t>first element of the array will be </a:t>
            </a:r>
            <a:r>
              <a:rPr lang="en-US" dirty="0" err="1"/>
              <a:t>arr</a:t>
            </a:r>
            <a:r>
              <a:rPr lang="en-US" dirty="0"/>
              <a:t>[0].</a:t>
            </a:r>
          </a:p>
          <a:p>
            <a:endParaRPr lang="en-US" dirty="0"/>
          </a:p>
        </p:txBody>
      </p:sp>
      <p:pic>
        <p:nvPicPr>
          <p:cNvPr id="2050" name="Picture 2" descr="Array in 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8469" y="3748190"/>
            <a:ext cx="6749469" cy="291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26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US" dirty="0"/>
              <a:t>Memory allocation of an array</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r>
              <a:rPr lang="en-US" dirty="0"/>
              <a:t>In the above image, we have shown the memory allocation of an array </a:t>
            </a:r>
            <a:r>
              <a:rPr lang="en-US" dirty="0" err="1"/>
              <a:t>arr</a:t>
            </a:r>
            <a:r>
              <a:rPr lang="en-US" dirty="0"/>
              <a:t> of size 5. The array follows a 0-based indexing approach. The base address of the array is 100 bytes. It is the address of </a:t>
            </a:r>
            <a:r>
              <a:rPr lang="en-US" dirty="0" err="1"/>
              <a:t>arr</a:t>
            </a:r>
            <a:r>
              <a:rPr lang="en-US" dirty="0"/>
              <a:t>[0]. Here, the size of the data type used is 4 bytes; therefore, each element will take 4 bytes in the memory.</a:t>
            </a:r>
            <a:endParaRPr lang="en-US" dirty="0" smtClean="0"/>
          </a:p>
          <a:p>
            <a:endParaRPr lang="en-US" dirty="0"/>
          </a:p>
        </p:txBody>
      </p:sp>
    </p:spTree>
    <p:extLst>
      <p:ext uri="{BB962C8B-B14F-4D97-AF65-F5344CB8AC3E}">
        <p14:creationId xmlns:p14="http://schemas.microsoft.com/office/powerpoint/2010/main" val="3741095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fontScale="90000"/>
          </a:bodyPr>
          <a:lstStyle/>
          <a:p>
            <a:pPr fontAlgn="base"/>
            <a:r>
              <a:rPr lang="en-US" b="1" dirty="0"/>
              <a:t>Calculating the address of any element In the 1-D array:</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pPr fontAlgn="base"/>
            <a:r>
              <a:rPr lang="en-US" dirty="0"/>
              <a:t>A 1-dimensional array (or single-dimension array) is a type of </a:t>
            </a:r>
            <a:r>
              <a:rPr lang="en-US" u="sng" dirty="0"/>
              <a:t>linear array</a:t>
            </a:r>
            <a:r>
              <a:rPr lang="en-US" dirty="0"/>
              <a:t>. Accessing its elements involves a single subscript that can either represent a row or column index. </a:t>
            </a:r>
          </a:p>
          <a:p>
            <a:pPr fontAlgn="base"/>
            <a:r>
              <a:rPr lang="en-US" b="1" dirty="0"/>
              <a:t>Example:</a:t>
            </a:r>
            <a:endParaRPr lang="en-US" dirty="0"/>
          </a:p>
          <a:p>
            <a:pPr marL="0" indent="0">
              <a:buNone/>
            </a:pPr>
            <a:r>
              <a:rPr lang="en-US" dirty="0"/>
              <a:t/>
            </a:r>
            <a:br>
              <a:rPr lang="en-US" dirty="0"/>
            </a:br>
            <a:endParaRPr lang="en-US" dirty="0"/>
          </a:p>
        </p:txBody>
      </p:sp>
      <p:pic>
        <p:nvPicPr>
          <p:cNvPr id="1026" name="Picture 2" descr="https://media.geeksforgeeks.org/wp-content/uploads/20220809110808/1darra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3803" y="2510865"/>
            <a:ext cx="7761622" cy="3880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62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fontScale="90000"/>
          </a:bodyPr>
          <a:lstStyle/>
          <a:p>
            <a:pPr fontAlgn="base"/>
            <a:r>
              <a:rPr lang="en-US" b="1" dirty="0"/>
              <a:t>Calculating the address of any element In the 1-D array:</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fontScale="77500" lnSpcReduction="20000"/>
          </a:bodyPr>
          <a:lstStyle/>
          <a:p>
            <a:pPr fontAlgn="base"/>
            <a:r>
              <a:rPr lang="en-US" dirty="0"/>
              <a:t>To find the address of an element in an array the following</a:t>
            </a:r>
            <a:r>
              <a:rPr lang="en-US" b="1" dirty="0"/>
              <a:t> </a:t>
            </a:r>
            <a:r>
              <a:rPr lang="en-US" dirty="0"/>
              <a:t>formula is used-</a:t>
            </a:r>
            <a:br>
              <a:rPr lang="en-US" dirty="0"/>
            </a:br>
            <a:r>
              <a:rPr lang="en-US" b="1" i="1" dirty="0"/>
              <a:t>Address of A[I] = B + W * (I – LB)</a:t>
            </a:r>
            <a:endParaRPr lang="en-US" i="1" dirty="0"/>
          </a:p>
          <a:p>
            <a:pPr fontAlgn="base"/>
            <a:r>
              <a:rPr lang="en-US" i="1" dirty="0"/>
              <a:t>I = Subset of element whose address to be found, </a:t>
            </a:r>
            <a:br>
              <a:rPr lang="en-US" i="1" dirty="0"/>
            </a:br>
            <a:r>
              <a:rPr lang="en-US" i="1" dirty="0"/>
              <a:t>B = Base address, </a:t>
            </a:r>
            <a:br>
              <a:rPr lang="en-US" i="1" dirty="0"/>
            </a:br>
            <a:r>
              <a:rPr lang="en-US" i="1" dirty="0"/>
              <a:t>W = Storage size of one element store in any array(in byte), </a:t>
            </a:r>
            <a:br>
              <a:rPr lang="en-US" i="1" dirty="0"/>
            </a:br>
            <a:r>
              <a:rPr lang="en-US" i="1" dirty="0"/>
              <a:t>LB = Lower Limit/Lower Bound of subscript(If not specified assume zero).</a:t>
            </a:r>
          </a:p>
          <a:p>
            <a:pPr fontAlgn="base"/>
            <a:r>
              <a:rPr lang="en-US" b="1" dirty="0"/>
              <a:t>Example:</a:t>
            </a:r>
            <a:r>
              <a:rPr lang="en-US" dirty="0"/>
              <a:t> Given the base address of an array </a:t>
            </a:r>
            <a:r>
              <a:rPr lang="en-US" b="1" dirty="0"/>
              <a:t>A[1300 ………… 1900]</a:t>
            </a:r>
            <a:r>
              <a:rPr lang="en-US" dirty="0"/>
              <a:t> as </a:t>
            </a:r>
            <a:r>
              <a:rPr lang="en-US" b="1" dirty="0"/>
              <a:t>1020</a:t>
            </a:r>
            <a:r>
              <a:rPr lang="en-US" dirty="0"/>
              <a:t> and the size of each element is 2 bytes in the memory, find the address of </a:t>
            </a:r>
            <a:r>
              <a:rPr lang="en-US" b="1" dirty="0"/>
              <a:t>A[1700].</a:t>
            </a:r>
            <a:r>
              <a:rPr lang="en-US" dirty="0"/>
              <a:t>  </a:t>
            </a:r>
            <a:endParaRPr lang="en-US" dirty="0" smtClean="0"/>
          </a:p>
          <a:p>
            <a:pPr fontAlgn="base"/>
            <a:r>
              <a:rPr lang="en-US" b="1" i="1" dirty="0"/>
              <a:t>Given:</a:t>
            </a:r>
            <a:r>
              <a:rPr lang="en-US" i="1" dirty="0"/>
              <a:t/>
            </a:r>
            <a:br>
              <a:rPr lang="en-US" i="1" dirty="0"/>
            </a:br>
            <a:r>
              <a:rPr lang="en-US" i="1" dirty="0"/>
              <a:t>Base address B = 1020</a:t>
            </a:r>
            <a:br>
              <a:rPr lang="en-US" i="1" dirty="0"/>
            </a:br>
            <a:r>
              <a:rPr lang="en-US" i="1" dirty="0"/>
              <a:t>Lower Limit/Lower Bound of subscript LB = 1300</a:t>
            </a:r>
            <a:br>
              <a:rPr lang="en-US" i="1" dirty="0"/>
            </a:br>
            <a:r>
              <a:rPr lang="en-US" i="1" dirty="0"/>
              <a:t>Storage size of one element store in any array W = 2 Byte</a:t>
            </a:r>
            <a:br>
              <a:rPr lang="en-US" i="1" dirty="0"/>
            </a:br>
            <a:r>
              <a:rPr lang="en-US" i="1" dirty="0"/>
              <a:t>Subset of element whose address to be found I = 1700</a:t>
            </a:r>
          </a:p>
          <a:p>
            <a:pPr fontAlgn="base"/>
            <a:r>
              <a:rPr lang="en-US" b="1" i="1" dirty="0"/>
              <a:t>Formula used:</a:t>
            </a:r>
            <a:r>
              <a:rPr lang="en-US" i="1" dirty="0"/>
              <a:t/>
            </a:r>
            <a:br>
              <a:rPr lang="en-US" i="1" dirty="0"/>
            </a:br>
            <a:r>
              <a:rPr lang="en-US" i="1" dirty="0"/>
              <a:t>Address of A[I] = B + W * (I – LB)</a:t>
            </a:r>
          </a:p>
          <a:p>
            <a:pPr fontAlgn="base"/>
            <a:r>
              <a:rPr lang="en-US" b="1" i="1" dirty="0"/>
              <a:t>Solution:</a:t>
            </a:r>
            <a:r>
              <a:rPr lang="en-US" i="1" dirty="0"/>
              <a:t/>
            </a:r>
            <a:br>
              <a:rPr lang="en-US" i="1" dirty="0"/>
            </a:br>
            <a:r>
              <a:rPr lang="en-US" i="1" dirty="0"/>
              <a:t>Address of A[1700] = 1020 + 2 * (1700 – 1300)</a:t>
            </a:r>
            <a:br>
              <a:rPr lang="en-US" i="1" dirty="0"/>
            </a:br>
            <a:r>
              <a:rPr lang="en-US" i="1" dirty="0"/>
              <a:t>                              = 1020 + 2 * (400)</a:t>
            </a:r>
            <a:br>
              <a:rPr lang="en-US" i="1" dirty="0"/>
            </a:br>
            <a:r>
              <a:rPr lang="en-US" i="1" dirty="0"/>
              <a:t>                              = 1020 + 800</a:t>
            </a:r>
            <a:br>
              <a:rPr lang="en-US" i="1" dirty="0"/>
            </a:br>
            <a:r>
              <a:rPr lang="en-US" i="1" dirty="0"/>
              <a:t>Address of A[1700] = 1820</a:t>
            </a:r>
          </a:p>
          <a:p>
            <a:pPr fontAlgn="base"/>
            <a:endParaRPr lang="en-US" dirty="0"/>
          </a:p>
        </p:txBody>
      </p:sp>
    </p:spTree>
    <p:extLst>
      <p:ext uri="{BB962C8B-B14F-4D97-AF65-F5344CB8AC3E}">
        <p14:creationId xmlns:p14="http://schemas.microsoft.com/office/powerpoint/2010/main" val="2834745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p:txBody>
          <a:bodyPr/>
          <a:lstStyle/>
          <a:p>
            <a:r>
              <a:rPr lang="en-US" dirty="0"/>
              <a:t>The 2-dimensional array can be defined as an array of arrays. The 2-Dimensional arrays are organized as matrices which can be represented as the collection of rows and columns as array[M][N] where M is the number of rows and N is the number of columns. </a:t>
            </a:r>
            <a:endParaRPr lang="en-US" dirty="0" smtClean="0"/>
          </a:p>
          <a:p>
            <a:endParaRPr lang="en-US" dirty="0"/>
          </a:p>
        </p:txBody>
      </p:sp>
      <p:pic>
        <p:nvPicPr>
          <p:cNvPr id="2050" name="Picture 2" descr="https://media.geeksforgeeks.org/wp-content/uploads/20220809111509/Matri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9688" y="3685415"/>
            <a:ext cx="4983096" cy="2491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446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p:txBody>
          <a:bodyPr/>
          <a:lstStyle/>
          <a:p>
            <a:pPr fontAlgn="base"/>
            <a:r>
              <a:rPr lang="en-US" dirty="0"/>
              <a:t>To find the address of any element in a</a:t>
            </a:r>
            <a:r>
              <a:rPr lang="en-US" b="1" dirty="0"/>
              <a:t> 2-Dimensional </a:t>
            </a:r>
            <a:r>
              <a:rPr lang="en-US" dirty="0"/>
              <a:t>array there are the following two ways-</a:t>
            </a:r>
          </a:p>
          <a:p>
            <a:pPr fontAlgn="base"/>
            <a:r>
              <a:rPr lang="en-US" dirty="0"/>
              <a:t>Row Major Order</a:t>
            </a:r>
          </a:p>
          <a:p>
            <a:pPr fontAlgn="base"/>
            <a:r>
              <a:rPr lang="en-US" dirty="0"/>
              <a:t>Column Major </a:t>
            </a:r>
            <a:r>
              <a:rPr lang="en-US" dirty="0" smtClean="0"/>
              <a:t>Order</a:t>
            </a:r>
          </a:p>
          <a:p>
            <a:pPr fontAlgn="base"/>
            <a:endParaRPr lang="en-US" dirty="0"/>
          </a:p>
          <a:p>
            <a:pPr marL="0" indent="0" algn="ctr" fontAlgn="base">
              <a:buNone/>
            </a:pPr>
            <a:r>
              <a:rPr lang="en-US" b="1" dirty="0"/>
              <a:t>For an array stored in column-major layout, the elements of the columns are contiguous in memory. In row-major layout, the elements of the rows are contiguous.</a:t>
            </a:r>
          </a:p>
          <a:p>
            <a:endParaRPr lang="en-US" dirty="0"/>
          </a:p>
        </p:txBody>
      </p:sp>
    </p:spTree>
    <p:extLst>
      <p:ext uri="{BB962C8B-B14F-4D97-AF65-F5344CB8AC3E}">
        <p14:creationId xmlns:p14="http://schemas.microsoft.com/office/powerpoint/2010/main" val="1366414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p:txBody>
          <a:bodyPr>
            <a:normAutofit/>
          </a:bodyPr>
          <a:lstStyle/>
          <a:p>
            <a:pPr fontAlgn="base"/>
            <a:r>
              <a:rPr lang="en-US" b="1" dirty="0"/>
              <a:t>1. Row Major Order:</a:t>
            </a:r>
          </a:p>
          <a:p>
            <a:r>
              <a:rPr lang="en-US" u="sng" dirty="0"/>
              <a:t>Row major ordering</a:t>
            </a:r>
            <a:r>
              <a:rPr lang="en-US" dirty="0"/>
              <a:t> assigns successive elements, moving across the rows and then down the next row, to successive memory locations. In simple language, the elements of an array are stored in a Row-Wise fashion</a:t>
            </a:r>
            <a:r>
              <a:rPr lang="en-US" dirty="0" smtClean="0"/>
              <a:t>.</a:t>
            </a:r>
          </a:p>
          <a:p>
            <a:pPr fontAlgn="base"/>
            <a:r>
              <a:rPr lang="en-US" dirty="0" err="1"/>
              <a:t>arr</a:t>
            </a:r>
            <a:r>
              <a:rPr lang="en-US" dirty="0"/>
              <a:t>[3][3] =</a:t>
            </a:r>
            <a:br>
              <a:rPr lang="en-US" dirty="0"/>
            </a:br>
            <a:r>
              <a:rPr lang="en-US" dirty="0"/>
              <a:t>[ a00, a01, a02 ]</a:t>
            </a:r>
            <a:br>
              <a:rPr lang="en-US" dirty="0"/>
            </a:br>
            <a:r>
              <a:rPr lang="en-US" dirty="0"/>
              <a:t>[ b10, b11, b12 ]</a:t>
            </a:r>
            <a:br>
              <a:rPr lang="en-US" dirty="0"/>
            </a:br>
            <a:r>
              <a:rPr lang="en-US" dirty="0"/>
              <a:t>[ c20, c21, c22 ]</a:t>
            </a:r>
          </a:p>
          <a:p>
            <a:pPr fontAlgn="base"/>
            <a:r>
              <a:rPr lang="en-US" dirty="0"/>
              <a:t>Row major order = a00, a01, a02, b10, b11, b12, c20, c12, </a:t>
            </a:r>
            <a:r>
              <a:rPr lang="en-US" dirty="0" smtClean="0"/>
              <a:t>c22</a:t>
            </a:r>
            <a:endParaRPr lang="en-US" dirty="0"/>
          </a:p>
        </p:txBody>
      </p:sp>
    </p:spTree>
    <p:extLst>
      <p:ext uri="{BB962C8B-B14F-4D97-AF65-F5344CB8AC3E}">
        <p14:creationId xmlns:p14="http://schemas.microsoft.com/office/powerpoint/2010/main" val="599452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p:txBody>
          <a:bodyPr>
            <a:normAutofit lnSpcReduction="10000"/>
          </a:bodyPr>
          <a:lstStyle/>
          <a:p>
            <a:pPr fontAlgn="base"/>
            <a:r>
              <a:rPr lang="en-US" b="1" dirty="0"/>
              <a:t>1. Row Major Order</a:t>
            </a:r>
            <a:r>
              <a:rPr lang="en-US" b="1" dirty="0" smtClean="0"/>
              <a:t>:</a:t>
            </a:r>
          </a:p>
          <a:p>
            <a:pPr fontAlgn="base"/>
            <a:r>
              <a:rPr lang="en-US" b="1" i="1" dirty="0"/>
              <a:t>Address of A[I][J] = B + W * ((I – LR) * N + (J – LC))   </a:t>
            </a:r>
            <a:endParaRPr lang="en-US" i="1" dirty="0"/>
          </a:p>
          <a:p>
            <a:pPr fontAlgn="base"/>
            <a:r>
              <a:rPr lang="en-US" i="1" dirty="0"/>
              <a:t>I = Row Subset of an element whose address to be found, </a:t>
            </a:r>
            <a:br>
              <a:rPr lang="en-US" i="1" dirty="0"/>
            </a:br>
            <a:r>
              <a:rPr lang="en-US" i="1" dirty="0"/>
              <a:t>J = Column Subset of an element whose address to be found, </a:t>
            </a:r>
            <a:br>
              <a:rPr lang="en-US" i="1" dirty="0"/>
            </a:br>
            <a:r>
              <a:rPr lang="en-US" i="1" dirty="0"/>
              <a:t>B = Base address, </a:t>
            </a:r>
            <a:br>
              <a:rPr lang="en-US" i="1" dirty="0"/>
            </a:br>
            <a:r>
              <a:rPr lang="en-US" i="1" dirty="0"/>
              <a:t>W = Storage size of one element store in an array(in byte), </a:t>
            </a:r>
            <a:br>
              <a:rPr lang="en-US" i="1" dirty="0"/>
            </a:br>
            <a:r>
              <a:rPr lang="en-US" i="1" dirty="0"/>
              <a:t>LR = Lower Limit of row/start row index of the matrix(If not given assume it as zero), </a:t>
            </a:r>
            <a:br>
              <a:rPr lang="en-US" i="1" dirty="0"/>
            </a:br>
            <a:r>
              <a:rPr lang="en-US" i="1" dirty="0"/>
              <a:t>LC = Lower Limit of column/start column index of the matrix(If not given assume it as zero), </a:t>
            </a:r>
            <a:br>
              <a:rPr lang="en-US" i="1" dirty="0"/>
            </a:br>
            <a:r>
              <a:rPr lang="en-US" i="1" dirty="0"/>
              <a:t>N = Number of column given in the matrix.</a:t>
            </a:r>
          </a:p>
          <a:p>
            <a:pPr fontAlgn="base"/>
            <a:endParaRPr lang="en-US" b="1" dirty="0"/>
          </a:p>
        </p:txBody>
      </p:sp>
    </p:spTree>
    <p:extLst>
      <p:ext uri="{BB962C8B-B14F-4D97-AF65-F5344CB8AC3E}">
        <p14:creationId xmlns:p14="http://schemas.microsoft.com/office/powerpoint/2010/main" val="2151761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a:xfrm>
            <a:off x="373487" y="1825624"/>
            <a:ext cx="10980313" cy="4871389"/>
          </a:xfrm>
        </p:spPr>
        <p:txBody>
          <a:bodyPr>
            <a:normAutofit fontScale="70000" lnSpcReduction="20000"/>
          </a:bodyPr>
          <a:lstStyle/>
          <a:p>
            <a:pPr fontAlgn="base"/>
            <a:r>
              <a:rPr lang="en-US" b="1" dirty="0"/>
              <a:t>Example:</a:t>
            </a:r>
            <a:r>
              <a:rPr lang="en-US" dirty="0"/>
              <a:t> </a:t>
            </a:r>
            <a:r>
              <a:rPr lang="en-US" b="1" dirty="0"/>
              <a:t>Example: </a:t>
            </a:r>
            <a:r>
              <a:rPr lang="en-US" dirty="0"/>
              <a:t>Given an array, </a:t>
            </a:r>
            <a:r>
              <a:rPr lang="en-US" b="1" dirty="0" err="1"/>
              <a:t>arr</a:t>
            </a:r>
            <a:r>
              <a:rPr lang="en-US" b="1" dirty="0"/>
              <a:t>[1………10][1………15]</a:t>
            </a:r>
            <a:r>
              <a:rPr lang="en-US" dirty="0"/>
              <a:t> with base value </a:t>
            </a:r>
            <a:r>
              <a:rPr lang="en-US" b="1" dirty="0"/>
              <a:t>100</a:t>
            </a:r>
            <a:r>
              <a:rPr lang="en-US" dirty="0"/>
              <a:t> and the size of each element is </a:t>
            </a:r>
            <a:r>
              <a:rPr lang="en-US" b="1" dirty="0"/>
              <a:t>1 Byte</a:t>
            </a:r>
            <a:r>
              <a:rPr lang="en-US" dirty="0"/>
              <a:t> in memory. Find the address of </a:t>
            </a:r>
            <a:r>
              <a:rPr lang="en-US" b="1" dirty="0" err="1"/>
              <a:t>arr</a:t>
            </a:r>
            <a:r>
              <a:rPr lang="en-US" b="1" dirty="0"/>
              <a:t>[8][6]</a:t>
            </a:r>
            <a:r>
              <a:rPr lang="en-US" dirty="0"/>
              <a:t> with the help of row-major order</a:t>
            </a:r>
            <a:r>
              <a:rPr lang="en-US" dirty="0" smtClean="0"/>
              <a:t>.</a:t>
            </a:r>
          </a:p>
          <a:p>
            <a:pPr fontAlgn="base"/>
            <a:r>
              <a:rPr lang="en-US" b="1" i="1" dirty="0"/>
              <a:t>Given:</a:t>
            </a:r>
            <a:r>
              <a:rPr lang="en-US" i="1" dirty="0"/>
              <a:t/>
            </a:r>
            <a:br>
              <a:rPr lang="en-US" i="1" dirty="0"/>
            </a:br>
            <a:r>
              <a:rPr lang="en-US" i="1" dirty="0"/>
              <a:t>Base address B = 100</a:t>
            </a:r>
            <a:br>
              <a:rPr lang="en-US" i="1" dirty="0"/>
            </a:br>
            <a:r>
              <a:rPr lang="en-US" i="1" dirty="0"/>
              <a:t>Storage size of one element store in any array W = 1 Bytes</a:t>
            </a:r>
            <a:br>
              <a:rPr lang="en-US" i="1" dirty="0"/>
            </a:br>
            <a:r>
              <a:rPr lang="en-US" i="1" dirty="0"/>
              <a:t>Row Subset of an element whose address to be found I = 8</a:t>
            </a:r>
            <a:br>
              <a:rPr lang="en-US" i="1" dirty="0"/>
            </a:br>
            <a:r>
              <a:rPr lang="en-US" i="1" dirty="0"/>
              <a:t>Column Subset of an element whose address to be found J = 6</a:t>
            </a:r>
            <a:br>
              <a:rPr lang="en-US" i="1" dirty="0"/>
            </a:br>
            <a:r>
              <a:rPr lang="en-US" i="1" dirty="0"/>
              <a:t>Lower Limit of row/start row index of matrix LR = 1 </a:t>
            </a:r>
            <a:br>
              <a:rPr lang="en-US" i="1" dirty="0"/>
            </a:br>
            <a:r>
              <a:rPr lang="en-US" i="1" dirty="0"/>
              <a:t>Lower Limit of column/start column index of matrix = 1</a:t>
            </a:r>
            <a:br>
              <a:rPr lang="en-US" i="1" dirty="0"/>
            </a:br>
            <a:r>
              <a:rPr lang="en-US" i="1" dirty="0"/>
              <a:t>Number of column given in the matrix N = Upper Bound – Lower Bound + 1</a:t>
            </a:r>
            <a:br>
              <a:rPr lang="en-US" i="1" dirty="0"/>
            </a:br>
            <a:r>
              <a:rPr lang="en-US" i="1" dirty="0"/>
              <a:t>                                                                            = 15 – 1 + 1</a:t>
            </a:r>
            <a:br>
              <a:rPr lang="en-US" i="1" dirty="0"/>
            </a:br>
            <a:r>
              <a:rPr lang="en-US" i="1" dirty="0"/>
              <a:t>                                                                            = 15</a:t>
            </a:r>
          </a:p>
          <a:p>
            <a:pPr fontAlgn="base"/>
            <a:r>
              <a:rPr lang="en-US" b="1" i="1" dirty="0"/>
              <a:t>Formula:</a:t>
            </a:r>
            <a:r>
              <a:rPr lang="en-US" i="1" dirty="0"/>
              <a:t/>
            </a:r>
            <a:br>
              <a:rPr lang="en-US" i="1" dirty="0"/>
            </a:br>
            <a:r>
              <a:rPr lang="en-US" i="1" dirty="0"/>
              <a:t>Address of A[I][J] = B + W * ((I – LR) * N + (J – LC)) </a:t>
            </a:r>
          </a:p>
          <a:p>
            <a:pPr fontAlgn="base"/>
            <a:r>
              <a:rPr lang="en-US" b="1" i="1" dirty="0"/>
              <a:t>Solution:</a:t>
            </a:r>
            <a:r>
              <a:rPr lang="en-US" i="1" dirty="0"/>
              <a:t/>
            </a:r>
            <a:br>
              <a:rPr lang="en-US" i="1" dirty="0"/>
            </a:br>
            <a:r>
              <a:rPr lang="en-US" i="1" dirty="0"/>
              <a:t>Address of A[8][6] = 100 + 1 * ((8 – 1) * 15 + (6 – 1))</a:t>
            </a:r>
            <a:br>
              <a:rPr lang="en-US" i="1" dirty="0"/>
            </a:br>
            <a:r>
              <a:rPr lang="en-US" i="1" dirty="0"/>
              <a:t>                                   = 100 + 1 * ((7) * 15 + (5))</a:t>
            </a:r>
            <a:br>
              <a:rPr lang="en-US" i="1" dirty="0"/>
            </a:br>
            <a:r>
              <a:rPr lang="en-US" i="1" dirty="0"/>
              <a:t>                                  = 100 + 1 * (110)</a:t>
            </a:r>
            <a:br>
              <a:rPr lang="en-US" i="1" dirty="0"/>
            </a:br>
            <a:r>
              <a:rPr lang="en-US" i="1" dirty="0"/>
              <a:t>Address of A[I][J] = 210</a:t>
            </a:r>
          </a:p>
          <a:p>
            <a:pPr fontAlgn="base"/>
            <a:endParaRPr lang="en-US" b="1" dirty="0"/>
          </a:p>
        </p:txBody>
      </p:sp>
    </p:spTree>
    <p:extLst>
      <p:ext uri="{BB962C8B-B14F-4D97-AF65-F5344CB8AC3E}">
        <p14:creationId xmlns:p14="http://schemas.microsoft.com/office/powerpoint/2010/main" val="32367095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a:xfrm>
            <a:off x="373487" y="1825624"/>
            <a:ext cx="10980313" cy="4871389"/>
          </a:xfrm>
        </p:spPr>
        <p:txBody>
          <a:bodyPr>
            <a:normAutofit/>
          </a:bodyPr>
          <a:lstStyle/>
          <a:p>
            <a:pPr fontAlgn="base"/>
            <a:r>
              <a:rPr lang="en-US" b="1" dirty="0"/>
              <a:t>2. Column Major Order:</a:t>
            </a:r>
          </a:p>
          <a:p>
            <a:pPr fontAlgn="base"/>
            <a:r>
              <a:rPr lang="en-US" dirty="0"/>
              <a:t>If elements of an array are stored in a column-major fashion means moving across the column and then to the next column then it’s in column-major order. </a:t>
            </a:r>
            <a:endParaRPr lang="en-US" dirty="0" smtClean="0"/>
          </a:p>
          <a:p>
            <a:pPr fontAlgn="base"/>
            <a:r>
              <a:rPr lang="pt-BR" dirty="0"/>
              <a:t>arr[3][3] =</a:t>
            </a:r>
            <a:br>
              <a:rPr lang="pt-BR" dirty="0"/>
            </a:br>
            <a:r>
              <a:rPr lang="pt-BR" dirty="0"/>
              <a:t>[ a00, a01, a02 ]</a:t>
            </a:r>
            <a:br>
              <a:rPr lang="pt-BR" dirty="0"/>
            </a:br>
            <a:r>
              <a:rPr lang="pt-BR" dirty="0"/>
              <a:t>[ b10, b11, b12 ]</a:t>
            </a:r>
            <a:br>
              <a:rPr lang="pt-BR" dirty="0"/>
            </a:br>
            <a:r>
              <a:rPr lang="pt-BR" dirty="0"/>
              <a:t>[ c20, c21, c22 </a:t>
            </a:r>
            <a:r>
              <a:rPr lang="pt-BR" dirty="0" smtClean="0"/>
              <a:t>]</a:t>
            </a:r>
          </a:p>
          <a:p>
            <a:pPr fontAlgn="base"/>
            <a:r>
              <a:rPr lang="en-US" dirty="0"/>
              <a:t>Column major order = a00, b10, c20, a01, b11, c21, a02, b12, </a:t>
            </a:r>
            <a:r>
              <a:rPr lang="en-US" dirty="0" smtClean="0"/>
              <a:t>c22</a:t>
            </a:r>
            <a:endParaRPr lang="en-US" dirty="0"/>
          </a:p>
        </p:txBody>
      </p:sp>
    </p:spTree>
    <p:extLst>
      <p:ext uri="{BB962C8B-B14F-4D97-AF65-F5344CB8AC3E}">
        <p14:creationId xmlns:p14="http://schemas.microsoft.com/office/powerpoint/2010/main" val="13167509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a:xfrm>
            <a:off x="373487" y="1825624"/>
            <a:ext cx="10980313" cy="4871389"/>
          </a:xfrm>
        </p:spPr>
        <p:txBody>
          <a:bodyPr>
            <a:normAutofit lnSpcReduction="10000"/>
          </a:bodyPr>
          <a:lstStyle/>
          <a:p>
            <a:pPr fontAlgn="base"/>
            <a:r>
              <a:rPr lang="en-US" b="1" dirty="0"/>
              <a:t>2. Column Major </a:t>
            </a:r>
            <a:r>
              <a:rPr lang="en-US" b="1" dirty="0" err="1" smtClean="0"/>
              <a:t>Order:</a:t>
            </a:r>
            <a:r>
              <a:rPr lang="en-US" dirty="0" err="1"/>
              <a:t>To</a:t>
            </a:r>
            <a:r>
              <a:rPr lang="en-US" dirty="0"/>
              <a:t> find the address of the element using column-major order use the following formula:</a:t>
            </a:r>
            <a:endParaRPr lang="en-US" b="1" dirty="0"/>
          </a:p>
          <a:p>
            <a:pPr fontAlgn="base"/>
            <a:r>
              <a:rPr lang="en-US" b="1" i="1" dirty="0"/>
              <a:t>Address of A[I][J] = B + W * ((J – LC) * M + (I – LR))  </a:t>
            </a:r>
            <a:endParaRPr lang="en-US" i="1" dirty="0"/>
          </a:p>
          <a:p>
            <a:pPr fontAlgn="base"/>
            <a:r>
              <a:rPr lang="en-US" i="1" dirty="0"/>
              <a:t>I = Row Subset of an element whose address to be found, </a:t>
            </a:r>
            <a:br>
              <a:rPr lang="en-US" i="1" dirty="0"/>
            </a:br>
            <a:r>
              <a:rPr lang="en-US" i="1" dirty="0"/>
              <a:t>J = Column Subset of an element whose address to be found, </a:t>
            </a:r>
            <a:br>
              <a:rPr lang="en-US" i="1" dirty="0"/>
            </a:br>
            <a:r>
              <a:rPr lang="en-US" i="1" dirty="0"/>
              <a:t>B = Base address, </a:t>
            </a:r>
            <a:br>
              <a:rPr lang="en-US" i="1" dirty="0"/>
            </a:br>
            <a:r>
              <a:rPr lang="en-US" i="1" dirty="0"/>
              <a:t>W = Storage size of one element store in any array(in byte), </a:t>
            </a:r>
            <a:br>
              <a:rPr lang="en-US" i="1" dirty="0"/>
            </a:br>
            <a:r>
              <a:rPr lang="en-US" i="1" dirty="0"/>
              <a:t>LR = Lower Limit of row/start row index of matrix(If not given assume it as zero), </a:t>
            </a:r>
            <a:br>
              <a:rPr lang="en-US" i="1" dirty="0"/>
            </a:br>
            <a:r>
              <a:rPr lang="en-US" i="1" dirty="0"/>
              <a:t>LC = Lower Limit of column/start column index of matrix(If not given assume it as zero), </a:t>
            </a:r>
            <a:br>
              <a:rPr lang="en-US" i="1" dirty="0"/>
            </a:br>
            <a:r>
              <a:rPr lang="en-US" i="1" dirty="0"/>
              <a:t>M = Number of rows given in the matrix.</a:t>
            </a:r>
          </a:p>
          <a:p>
            <a:pPr fontAlgn="base"/>
            <a:endParaRPr lang="en-US" b="1" dirty="0"/>
          </a:p>
        </p:txBody>
      </p:sp>
    </p:spTree>
    <p:extLst>
      <p:ext uri="{BB962C8B-B14F-4D97-AF65-F5344CB8AC3E}">
        <p14:creationId xmlns:p14="http://schemas.microsoft.com/office/powerpoint/2010/main" val="27313311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a:xfrm>
            <a:off x="373487" y="1825624"/>
            <a:ext cx="10980313" cy="4871389"/>
          </a:xfrm>
        </p:spPr>
        <p:txBody>
          <a:bodyPr>
            <a:normAutofit fontScale="77500" lnSpcReduction="20000"/>
          </a:bodyPr>
          <a:lstStyle/>
          <a:p>
            <a:pPr fontAlgn="base"/>
            <a:r>
              <a:rPr lang="en-US" b="1" dirty="0"/>
              <a:t>Example:</a:t>
            </a:r>
            <a:r>
              <a:rPr lang="en-US" dirty="0"/>
              <a:t> Given an array </a:t>
            </a:r>
            <a:r>
              <a:rPr lang="en-US" b="1" dirty="0" err="1"/>
              <a:t>arr</a:t>
            </a:r>
            <a:r>
              <a:rPr lang="en-US" b="1" dirty="0"/>
              <a:t>[1………10][1………15]</a:t>
            </a:r>
            <a:r>
              <a:rPr lang="en-US" dirty="0"/>
              <a:t> with a base value of </a:t>
            </a:r>
            <a:r>
              <a:rPr lang="en-US" b="1" dirty="0"/>
              <a:t>100</a:t>
            </a:r>
            <a:r>
              <a:rPr lang="en-US" dirty="0"/>
              <a:t> and the size of each element is </a:t>
            </a:r>
            <a:r>
              <a:rPr lang="en-US" b="1" dirty="0"/>
              <a:t>1 Byte</a:t>
            </a:r>
            <a:r>
              <a:rPr lang="en-US" dirty="0"/>
              <a:t> in memory find the address of </a:t>
            </a:r>
            <a:r>
              <a:rPr lang="en-US" dirty="0" err="1"/>
              <a:t>arr</a:t>
            </a:r>
            <a:r>
              <a:rPr lang="en-US" dirty="0"/>
              <a:t>[8][6] with the help of column-major order</a:t>
            </a:r>
            <a:r>
              <a:rPr lang="en-US" dirty="0" smtClean="0"/>
              <a:t>.</a:t>
            </a:r>
          </a:p>
          <a:p>
            <a:pPr fontAlgn="base"/>
            <a:r>
              <a:rPr lang="en-US" b="1" i="1" dirty="0"/>
              <a:t>Given:</a:t>
            </a:r>
            <a:r>
              <a:rPr lang="en-US" i="1" dirty="0"/>
              <a:t/>
            </a:r>
            <a:br>
              <a:rPr lang="en-US" i="1" dirty="0"/>
            </a:br>
            <a:r>
              <a:rPr lang="en-US" i="1" dirty="0"/>
              <a:t>Base address B = 100</a:t>
            </a:r>
            <a:br>
              <a:rPr lang="en-US" i="1" dirty="0"/>
            </a:br>
            <a:r>
              <a:rPr lang="en-US" i="1" dirty="0"/>
              <a:t>Storage size of one element store in any array W = 1 Bytes</a:t>
            </a:r>
            <a:br>
              <a:rPr lang="en-US" i="1" dirty="0"/>
            </a:br>
            <a:r>
              <a:rPr lang="en-US" i="1" dirty="0"/>
              <a:t>Row Subset of an element whose address to be found I = 8</a:t>
            </a:r>
            <a:br>
              <a:rPr lang="en-US" i="1" dirty="0"/>
            </a:br>
            <a:r>
              <a:rPr lang="en-US" i="1" dirty="0"/>
              <a:t>Column Subset of an element whose address to be found J = 6</a:t>
            </a:r>
            <a:br>
              <a:rPr lang="en-US" i="1" dirty="0"/>
            </a:br>
            <a:r>
              <a:rPr lang="en-US" i="1" dirty="0"/>
              <a:t>Lower Limit of row/start row index of matrix LR = 1</a:t>
            </a:r>
            <a:br>
              <a:rPr lang="en-US" i="1" dirty="0"/>
            </a:br>
            <a:r>
              <a:rPr lang="en-US" i="1" dirty="0"/>
              <a:t>Lower Limit of column/start column index of matrix = 1</a:t>
            </a:r>
            <a:br>
              <a:rPr lang="en-US" i="1" dirty="0"/>
            </a:br>
            <a:r>
              <a:rPr lang="en-US" i="1" dirty="0"/>
              <a:t>Number of </a:t>
            </a:r>
            <a:r>
              <a:rPr lang="en-US" i="1" dirty="0" smtClean="0"/>
              <a:t>rows</a:t>
            </a:r>
            <a:r>
              <a:rPr lang="en-US" i="1" dirty="0" smtClean="0"/>
              <a:t> </a:t>
            </a:r>
            <a:r>
              <a:rPr lang="en-US" i="1" dirty="0"/>
              <a:t>given in the matrix M = Upper Bound – Lower Bound + 1</a:t>
            </a:r>
            <a:br>
              <a:rPr lang="en-US" i="1" dirty="0"/>
            </a:br>
            <a:r>
              <a:rPr lang="en-US" i="1" dirty="0"/>
              <a:t>                                                                            = 10 – 1 + 1</a:t>
            </a:r>
            <a:br>
              <a:rPr lang="en-US" i="1" dirty="0"/>
            </a:br>
            <a:r>
              <a:rPr lang="en-US" i="1" dirty="0"/>
              <a:t>                                                                           = 10</a:t>
            </a:r>
          </a:p>
          <a:p>
            <a:pPr fontAlgn="base"/>
            <a:r>
              <a:rPr lang="en-US" b="1" i="1" dirty="0"/>
              <a:t>Formula: used</a:t>
            </a:r>
            <a:r>
              <a:rPr lang="en-US" i="1" dirty="0"/>
              <a:t/>
            </a:r>
            <a:br>
              <a:rPr lang="en-US" i="1" dirty="0"/>
            </a:br>
            <a:r>
              <a:rPr lang="en-US" i="1" dirty="0"/>
              <a:t>Address of A[I][J] = B + W * ((J – LC) * M + (I – LR))</a:t>
            </a:r>
            <a:br>
              <a:rPr lang="en-US" i="1" dirty="0"/>
            </a:br>
            <a:r>
              <a:rPr lang="en-US" i="1" dirty="0"/>
              <a:t>Address of A[8][6] = 100 + 1 * ((6 – 1) * 10 + (8 – 1))</a:t>
            </a:r>
            <a:br>
              <a:rPr lang="en-US" i="1" dirty="0"/>
            </a:br>
            <a:r>
              <a:rPr lang="en-US" i="1" dirty="0"/>
              <a:t>                                  = 100 + 1 * ((5) * 10 + (7))</a:t>
            </a:r>
            <a:br>
              <a:rPr lang="en-US" i="1" dirty="0"/>
            </a:br>
            <a:r>
              <a:rPr lang="en-US" i="1" dirty="0"/>
              <a:t>                                 = 100 + 1 * (57)</a:t>
            </a:r>
            <a:br>
              <a:rPr lang="en-US" i="1" dirty="0"/>
            </a:br>
            <a:r>
              <a:rPr lang="en-US" i="1" dirty="0"/>
              <a:t>Address of A[I][J] = 157 </a:t>
            </a:r>
          </a:p>
          <a:p>
            <a:pPr fontAlgn="base"/>
            <a:endParaRPr lang="en-US" b="1" dirty="0"/>
          </a:p>
        </p:txBody>
      </p:sp>
    </p:spTree>
    <p:extLst>
      <p:ext uri="{BB962C8B-B14F-4D97-AF65-F5344CB8AC3E}">
        <p14:creationId xmlns:p14="http://schemas.microsoft.com/office/powerpoint/2010/main" val="20445002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a:t>Calculate the address of any element in the 2-D array</a:t>
            </a:r>
            <a:r>
              <a:rPr lang="en-US" b="1" dirty="0" smtClean="0"/>
              <a:t>:</a:t>
            </a:r>
            <a:endParaRPr lang="en-US" dirty="0"/>
          </a:p>
        </p:txBody>
      </p:sp>
      <p:sp>
        <p:nvSpPr>
          <p:cNvPr id="3" name="Content Placeholder 2"/>
          <p:cNvSpPr>
            <a:spLocks noGrp="1"/>
          </p:cNvSpPr>
          <p:nvPr>
            <p:ph idx="1"/>
          </p:nvPr>
        </p:nvSpPr>
        <p:spPr>
          <a:xfrm>
            <a:off x="373487" y="1825624"/>
            <a:ext cx="10980313" cy="4871389"/>
          </a:xfrm>
        </p:spPr>
        <p:txBody>
          <a:bodyPr>
            <a:normAutofit/>
          </a:bodyPr>
          <a:lstStyle/>
          <a:p>
            <a:pPr fontAlgn="base"/>
            <a:r>
              <a:rPr lang="en-US" dirty="0"/>
              <a:t>From the above examples, it can be observed that for the same position two different address locations are obtained that’s because in row-major order movement is done across the rows and then down to the next row, and in column-major order, first move down to the first column and then next column. So both the answers are right.</a:t>
            </a:r>
          </a:p>
          <a:p>
            <a:pPr fontAlgn="base"/>
            <a:r>
              <a:rPr lang="en-US" dirty="0"/>
              <a:t>So it’s all based on the position of the element whose address is to be found for some cases the same answers is also obtained with row-major order and column-major order and for some cases, different answers are obtained.</a:t>
            </a:r>
          </a:p>
          <a:p>
            <a:pPr fontAlgn="base"/>
            <a:endParaRPr lang="en-US" b="1" dirty="0"/>
          </a:p>
        </p:txBody>
      </p:sp>
    </p:spTree>
    <p:extLst>
      <p:ext uri="{BB962C8B-B14F-4D97-AF65-F5344CB8AC3E}">
        <p14:creationId xmlns:p14="http://schemas.microsoft.com/office/powerpoint/2010/main" val="19484368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US" dirty="0"/>
              <a:t>Basic </a:t>
            </a:r>
            <a:r>
              <a:rPr lang="en-US" dirty="0" smtClean="0"/>
              <a:t>operations array</a:t>
            </a:r>
            <a:endParaRPr lang="en-US" dirty="0"/>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r>
              <a:rPr lang="en-US" dirty="0" smtClean="0"/>
              <a:t>Now</a:t>
            </a:r>
            <a:r>
              <a:rPr lang="en-US" dirty="0"/>
              <a:t>, let's discuss the basic operations supported in the array -</a:t>
            </a:r>
          </a:p>
          <a:p>
            <a:r>
              <a:rPr lang="en-US" dirty="0"/>
              <a:t>Traversal - This operation is used to print the elements of the array.</a:t>
            </a:r>
          </a:p>
          <a:p>
            <a:r>
              <a:rPr lang="en-US" dirty="0"/>
              <a:t>Insertion - It is used to add an element at a particular index.</a:t>
            </a:r>
          </a:p>
          <a:p>
            <a:r>
              <a:rPr lang="en-US" dirty="0"/>
              <a:t>Deletion - It is used to delete an element from a particular index.</a:t>
            </a:r>
          </a:p>
          <a:p>
            <a:r>
              <a:rPr lang="en-US" dirty="0"/>
              <a:t>Search - It is used to search an element using the given index or by the value.</a:t>
            </a:r>
          </a:p>
          <a:p>
            <a:r>
              <a:rPr lang="en-US" dirty="0"/>
              <a:t>Update - It updates an element at a particular index.</a:t>
            </a:r>
          </a:p>
          <a:p>
            <a:pPr marL="0" indent="0">
              <a:buNone/>
            </a:pPr>
            <a:r>
              <a:rPr lang="en-US" dirty="0"/>
              <a:t/>
            </a:r>
            <a:br>
              <a:rPr lang="en-US" dirty="0"/>
            </a:br>
            <a:endParaRPr lang="en-US" dirty="0"/>
          </a:p>
        </p:txBody>
      </p:sp>
    </p:spTree>
    <p:extLst>
      <p:ext uri="{BB962C8B-B14F-4D97-AF65-F5344CB8AC3E}">
        <p14:creationId xmlns:p14="http://schemas.microsoft.com/office/powerpoint/2010/main" val="381151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IN" dirty="0"/>
              <a:t>Traversal operation</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fontScale="92500" lnSpcReduction="10000"/>
          </a:bodyPr>
          <a:lstStyle/>
          <a:p>
            <a:r>
              <a:rPr lang="en-US" dirty="0" smtClean="0"/>
              <a:t>This </a:t>
            </a:r>
            <a:r>
              <a:rPr lang="en-US" dirty="0"/>
              <a:t>operation is performed to traverse through the array elements. It prints all array elements one after another. We can understand it with the below program </a:t>
            </a:r>
            <a:r>
              <a:rPr lang="en-US" dirty="0" smtClean="0"/>
              <a:t>–</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dirty="0" smtClean="0"/>
              <a:t>output</a:t>
            </a: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2755542" y="1802103"/>
            <a:ext cx="4503224" cy="3954754"/>
          </a:xfrm>
          <a:prstGeom prst="rect">
            <a:avLst/>
          </a:prstGeom>
        </p:spPr>
      </p:pic>
      <p:pic>
        <p:nvPicPr>
          <p:cNvPr id="5" name="Picture 4"/>
          <p:cNvPicPr>
            <a:picLocks noChangeAspect="1"/>
          </p:cNvPicPr>
          <p:nvPr/>
        </p:nvPicPr>
        <p:blipFill>
          <a:blip r:embed="rId3"/>
          <a:stretch>
            <a:fillRect/>
          </a:stretch>
        </p:blipFill>
        <p:spPr>
          <a:xfrm>
            <a:off x="923434" y="6138920"/>
            <a:ext cx="8840454" cy="719080"/>
          </a:xfrm>
          <a:prstGeom prst="rect">
            <a:avLst/>
          </a:prstGeom>
        </p:spPr>
      </p:pic>
    </p:spTree>
    <p:extLst>
      <p:ext uri="{BB962C8B-B14F-4D97-AF65-F5344CB8AC3E}">
        <p14:creationId xmlns:p14="http://schemas.microsoft.com/office/powerpoint/2010/main" val="3910694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25321" y="112427"/>
            <a:ext cx="10515600" cy="794478"/>
          </a:xfrm>
        </p:spPr>
        <p:txBody>
          <a:bodyPr>
            <a:normAutofit/>
          </a:bodyPr>
          <a:lstStyle/>
          <a:p>
            <a:r>
              <a:rPr lang="en-IN" dirty="0"/>
              <a:t>Insertion operation</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5319168" cy="5631981"/>
          </a:xfrm>
        </p:spPr>
        <p:txBody>
          <a:bodyPr>
            <a:normAutofit fontScale="25000" lnSpcReduction="20000"/>
          </a:bodyPr>
          <a:lstStyle/>
          <a:p>
            <a:r>
              <a:rPr lang="en-US" sz="7200" dirty="0"/>
              <a:t>This operation is performed to insert one or more elements into the array. As per the requirements, an element can be added at the beginning, end, or at any index of the array. Now, let's see the implementation of inserting an element into the array</a:t>
            </a:r>
            <a:r>
              <a:rPr lang="en-US" sz="7200" dirty="0" smtClean="0"/>
              <a:t>.</a:t>
            </a:r>
          </a:p>
          <a:p>
            <a:r>
              <a:rPr lang="en-US" sz="7200" dirty="0" smtClean="0"/>
              <a:t>Steps</a:t>
            </a:r>
          </a:p>
          <a:p>
            <a:r>
              <a:rPr lang="en-US" sz="7200" dirty="0" smtClean="0"/>
              <a:t>1. input array</a:t>
            </a:r>
          </a:p>
          <a:p>
            <a:r>
              <a:rPr lang="en-US" sz="7200" dirty="0" smtClean="0"/>
              <a:t>2. input element to be inserted and position at which element will be inserted</a:t>
            </a:r>
          </a:p>
          <a:p>
            <a:r>
              <a:rPr lang="en-US" sz="7200" dirty="0"/>
              <a:t>3</a:t>
            </a:r>
            <a:r>
              <a:rPr lang="en-US" sz="7200" dirty="0" smtClean="0"/>
              <a:t>. increase the size of array element by 1. // n++</a:t>
            </a:r>
          </a:p>
          <a:p>
            <a:r>
              <a:rPr lang="en-US" sz="7200" dirty="0"/>
              <a:t>4</a:t>
            </a:r>
            <a:r>
              <a:rPr lang="en-US" sz="7200" dirty="0" smtClean="0"/>
              <a:t>. shift all the elements forward from n-1 to position</a:t>
            </a:r>
          </a:p>
          <a:p>
            <a:r>
              <a:rPr lang="en-US" sz="7200" dirty="0"/>
              <a:t>5</a:t>
            </a:r>
            <a:r>
              <a:rPr lang="en-US" sz="7200" dirty="0" smtClean="0"/>
              <a:t>. insert element at position</a:t>
            </a:r>
          </a:p>
          <a:p>
            <a:r>
              <a:rPr lang="en-US" sz="7200" dirty="0"/>
              <a:t>6</a:t>
            </a:r>
            <a:r>
              <a:rPr lang="en-US" sz="7200" smtClean="0"/>
              <a:t>. </a:t>
            </a:r>
            <a:r>
              <a:rPr lang="en-US" sz="7200" dirty="0" smtClean="0"/>
              <a:t>display array after insertion</a:t>
            </a:r>
          </a:p>
          <a:p>
            <a:endParaRPr lang="en-US" sz="7200" dirty="0" smtClean="0"/>
          </a:p>
          <a:p>
            <a:endParaRPr lang="en-US" sz="7200" dirty="0"/>
          </a:p>
          <a:p>
            <a:endParaRPr lang="en-US" sz="7200" dirty="0" smtClean="0"/>
          </a:p>
          <a:p>
            <a:endParaRPr lang="en-US" sz="7200" dirty="0"/>
          </a:p>
          <a:p>
            <a:endParaRPr lang="en-US" sz="7200" dirty="0" smtClean="0"/>
          </a:p>
          <a:p>
            <a:endParaRPr lang="en-US" sz="7200" dirty="0"/>
          </a:p>
          <a:p>
            <a:endParaRPr lang="en-US" sz="7200" dirty="0" smtClean="0"/>
          </a:p>
          <a:p>
            <a:endParaRPr lang="en-US" sz="7200" dirty="0"/>
          </a:p>
          <a:p>
            <a:endParaRPr lang="en-US" sz="7200" dirty="0" smtClean="0"/>
          </a:p>
          <a:p>
            <a:endParaRPr lang="en-US" sz="7200" dirty="0"/>
          </a:p>
          <a:p>
            <a:endParaRPr lang="en-US" sz="7200" dirty="0" smtClean="0"/>
          </a:p>
          <a:p>
            <a:endParaRPr lang="en-US" sz="7200" dirty="0"/>
          </a:p>
          <a:p>
            <a:endParaRPr lang="en-US" sz="7200" dirty="0" smtClean="0"/>
          </a:p>
          <a:p>
            <a:endParaRPr lang="en-US" sz="7200" dirty="0"/>
          </a:p>
          <a:p>
            <a:endParaRPr lang="en-US" sz="7200" dirty="0" smtClean="0"/>
          </a:p>
          <a:p>
            <a:endParaRPr lang="en-US" sz="7200" dirty="0"/>
          </a:p>
          <a:p>
            <a:r>
              <a:rPr lang="en-US" sz="7200" dirty="0" smtClean="0"/>
              <a:t>Output</a:t>
            </a:r>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marL="0" indent="0">
              <a:buNone/>
            </a:pPr>
            <a:r>
              <a:rPr lang="en-US" dirty="0"/>
              <a:t/>
            </a:r>
            <a:br>
              <a:rPr lang="en-US" dirty="0"/>
            </a:br>
            <a:endParaRPr lang="en-US" dirty="0"/>
          </a:p>
        </p:txBody>
      </p:sp>
      <p:pic>
        <p:nvPicPr>
          <p:cNvPr id="7" name="Picture 6"/>
          <p:cNvPicPr>
            <a:picLocks noChangeAspect="1"/>
          </p:cNvPicPr>
          <p:nvPr/>
        </p:nvPicPr>
        <p:blipFill>
          <a:blip r:embed="rId2"/>
          <a:stretch>
            <a:fillRect/>
          </a:stretch>
        </p:blipFill>
        <p:spPr>
          <a:xfrm>
            <a:off x="592552" y="5052939"/>
            <a:ext cx="4546118" cy="1305683"/>
          </a:xfrm>
          <a:prstGeom prst="rect">
            <a:avLst/>
          </a:prstGeom>
        </p:spPr>
      </p:pic>
      <p:sp>
        <p:nvSpPr>
          <p:cNvPr id="4" name="Rectangle 3"/>
          <p:cNvSpPr/>
          <p:nvPr/>
        </p:nvSpPr>
        <p:spPr>
          <a:xfrm>
            <a:off x="6722772" y="112427"/>
            <a:ext cx="4881093" cy="6863417"/>
          </a:xfrm>
          <a:prstGeom prst="rect">
            <a:avLst/>
          </a:prstGeom>
        </p:spPr>
        <p:txBody>
          <a:bodyPr wrap="square">
            <a:spAutoFit/>
          </a:bodyPr>
          <a:lstStyle/>
          <a:p>
            <a:r>
              <a:rPr lang="en-US" sz="1100" dirty="0"/>
              <a:t>// C Program to Insert an </a:t>
            </a:r>
            <a:r>
              <a:rPr lang="en-US" sz="1100" dirty="0" smtClean="0"/>
              <a:t>element at </a:t>
            </a:r>
            <a:r>
              <a:rPr lang="en-US" sz="1100" dirty="0"/>
              <a:t>a specific </a:t>
            </a:r>
            <a:r>
              <a:rPr lang="en-US" sz="1100" dirty="0" smtClean="0"/>
              <a:t>position </a:t>
            </a:r>
            <a:endParaRPr lang="en-US" sz="1100" dirty="0"/>
          </a:p>
          <a:p>
            <a:r>
              <a:rPr lang="en-US" sz="1100" dirty="0"/>
              <a:t>#include &lt;</a:t>
            </a:r>
            <a:r>
              <a:rPr lang="en-US" sz="1100" dirty="0" err="1"/>
              <a:t>stdio.h</a:t>
            </a:r>
            <a:r>
              <a:rPr lang="en-US" sz="1100" dirty="0" smtClean="0"/>
              <a:t>&gt; </a:t>
            </a:r>
            <a:endParaRPr lang="en-US" sz="1100" dirty="0"/>
          </a:p>
          <a:p>
            <a:r>
              <a:rPr lang="en-US" sz="1100" dirty="0" err="1"/>
              <a:t>int</a:t>
            </a:r>
            <a:r>
              <a:rPr lang="en-US" sz="1100" dirty="0"/>
              <a:t> main()</a:t>
            </a:r>
          </a:p>
          <a:p>
            <a:r>
              <a:rPr lang="en-US" sz="1100" dirty="0"/>
              <a:t>{</a:t>
            </a:r>
          </a:p>
          <a:p>
            <a:r>
              <a:rPr lang="en-US" sz="1100" dirty="0"/>
              <a:t>    </a:t>
            </a:r>
            <a:r>
              <a:rPr lang="en-US" sz="1100" dirty="0" err="1"/>
              <a:t>int</a:t>
            </a:r>
            <a:r>
              <a:rPr lang="en-US" sz="1100" dirty="0"/>
              <a:t> </a:t>
            </a:r>
            <a:r>
              <a:rPr lang="en-US" sz="1100" dirty="0" err="1"/>
              <a:t>arr</a:t>
            </a:r>
            <a:r>
              <a:rPr lang="en-US" sz="1100" dirty="0"/>
              <a:t>[100] = { 0 };</a:t>
            </a:r>
          </a:p>
          <a:p>
            <a:r>
              <a:rPr lang="en-US" sz="1100" dirty="0"/>
              <a:t>    </a:t>
            </a:r>
            <a:r>
              <a:rPr lang="en-US" sz="1100" dirty="0" err="1"/>
              <a:t>int</a:t>
            </a:r>
            <a:r>
              <a:rPr lang="en-US" sz="1100" dirty="0"/>
              <a:t> </a:t>
            </a:r>
            <a:r>
              <a:rPr lang="en-US" sz="1100" dirty="0" err="1"/>
              <a:t>i</a:t>
            </a:r>
            <a:r>
              <a:rPr lang="en-US" sz="1100" dirty="0"/>
              <a:t>, x, </a:t>
            </a:r>
            <a:r>
              <a:rPr lang="en-US" sz="1100" dirty="0" err="1"/>
              <a:t>pos</a:t>
            </a:r>
            <a:r>
              <a:rPr lang="en-US" sz="1100" dirty="0"/>
              <a:t>, n = 5;</a:t>
            </a:r>
          </a:p>
          <a:p>
            <a:r>
              <a:rPr lang="en-US" sz="1100" dirty="0"/>
              <a:t> </a:t>
            </a:r>
          </a:p>
          <a:p>
            <a:r>
              <a:rPr lang="en-US" sz="1100" dirty="0"/>
              <a:t>    // initial array of size 10</a:t>
            </a:r>
          </a:p>
          <a:p>
            <a:r>
              <a:rPr lang="en-US" sz="1100" dirty="0"/>
              <a:t>    for (</a:t>
            </a:r>
            <a:r>
              <a:rPr lang="en-US" sz="1100" dirty="0" err="1"/>
              <a:t>i</a:t>
            </a:r>
            <a:r>
              <a:rPr lang="en-US" sz="1100" dirty="0"/>
              <a:t> = 0; </a:t>
            </a:r>
            <a:r>
              <a:rPr lang="en-US" sz="1100" dirty="0" err="1"/>
              <a:t>i</a:t>
            </a:r>
            <a:r>
              <a:rPr lang="en-US" sz="1100" dirty="0"/>
              <a:t> &lt; 5; </a:t>
            </a:r>
            <a:r>
              <a:rPr lang="en-US" sz="1100" dirty="0" err="1"/>
              <a:t>i</a:t>
            </a:r>
            <a:r>
              <a:rPr lang="en-US" sz="1100" dirty="0"/>
              <a:t>++)</a:t>
            </a:r>
          </a:p>
          <a:p>
            <a:r>
              <a:rPr lang="en-US" sz="1100" dirty="0"/>
              <a:t>        </a:t>
            </a:r>
            <a:r>
              <a:rPr lang="en-US" sz="1100" dirty="0" err="1"/>
              <a:t>arr</a:t>
            </a:r>
            <a:r>
              <a:rPr lang="en-US" sz="1100" dirty="0"/>
              <a:t>[</a:t>
            </a:r>
            <a:r>
              <a:rPr lang="en-US" sz="1100" dirty="0" err="1"/>
              <a:t>i</a:t>
            </a:r>
            <a:r>
              <a:rPr lang="en-US" sz="1100" dirty="0"/>
              <a:t>] = </a:t>
            </a:r>
            <a:r>
              <a:rPr lang="en-US" sz="1100" dirty="0" err="1"/>
              <a:t>i</a:t>
            </a:r>
            <a:r>
              <a:rPr lang="en-US" sz="1100" dirty="0"/>
              <a:t> + 1;</a:t>
            </a:r>
          </a:p>
          <a:p>
            <a:r>
              <a:rPr lang="en-US" sz="1100" dirty="0"/>
              <a:t> </a:t>
            </a:r>
          </a:p>
          <a:p>
            <a:r>
              <a:rPr lang="en-US" sz="1100" dirty="0"/>
              <a:t>    // print the original array</a:t>
            </a:r>
          </a:p>
          <a:p>
            <a:r>
              <a:rPr lang="en-US" sz="1100" dirty="0"/>
              <a:t>    for (</a:t>
            </a:r>
            <a:r>
              <a:rPr lang="en-US" sz="1100" dirty="0" err="1"/>
              <a:t>i</a:t>
            </a:r>
            <a:r>
              <a:rPr lang="en-US" sz="1100" dirty="0"/>
              <a:t> = 0; </a:t>
            </a:r>
            <a:r>
              <a:rPr lang="en-US" sz="1100" dirty="0" err="1"/>
              <a:t>i</a:t>
            </a:r>
            <a:r>
              <a:rPr lang="en-US" sz="1100" dirty="0"/>
              <a:t> &lt; n; </a:t>
            </a:r>
            <a:r>
              <a:rPr lang="en-US" sz="1100" dirty="0" err="1"/>
              <a:t>i</a:t>
            </a:r>
            <a:r>
              <a:rPr lang="en-US" sz="1100" dirty="0"/>
              <a:t>++)</a:t>
            </a:r>
          </a:p>
          <a:p>
            <a:r>
              <a:rPr lang="en-US" sz="1100" dirty="0"/>
              <a:t>        </a:t>
            </a:r>
            <a:r>
              <a:rPr lang="en-US" sz="1100" dirty="0" err="1"/>
              <a:t>printf</a:t>
            </a:r>
            <a:r>
              <a:rPr lang="en-US" sz="1100" dirty="0"/>
              <a:t>("%d ", </a:t>
            </a:r>
            <a:r>
              <a:rPr lang="en-US" sz="1100" dirty="0" err="1"/>
              <a:t>arr</a:t>
            </a:r>
            <a:r>
              <a:rPr lang="en-US" sz="1100" dirty="0"/>
              <a:t>[</a:t>
            </a:r>
            <a:r>
              <a:rPr lang="en-US" sz="1100" dirty="0" err="1"/>
              <a:t>i</a:t>
            </a:r>
            <a:r>
              <a:rPr lang="en-US" sz="1100" dirty="0"/>
              <a:t>]);</a:t>
            </a:r>
          </a:p>
          <a:p>
            <a:r>
              <a:rPr lang="en-US" sz="1100" dirty="0"/>
              <a:t>    </a:t>
            </a:r>
            <a:r>
              <a:rPr lang="en-US" sz="1100" dirty="0" err="1"/>
              <a:t>printf</a:t>
            </a:r>
            <a:r>
              <a:rPr lang="en-US" sz="1100" dirty="0"/>
              <a:t>("\n");</a:t>
            </a:r>
          </a:p>
          <a:p>
            <a:r>
              <a:rPr lang="en-US" sz="1100" dirty="0"/>
              <a:t> </a:t>
            </a:r>
          </a:p>
          <a:p>
            <a:r>
              <a:rPr lang="en-US" sz="1100" dirty="0"/>
              <a:t>    // element to be inserted</a:t>
            </a:r>
          </a:p>
          <a:p>
            <a:r>
              <a:rPr lang="en-US" sz="1100" dirty="0"/>
              <a:t>    x = 50;</a:t>
            </a:r>
          </a:p>
          <a:p>
            <a:r>
              <a:rPr lang="en-US" sz="1100" dirty="0"/>
              <a:t> </a:t>
            </a:r>
          </a:p>
          <a:p>
            <a:r>
              <a:rPr lang="en-US" sz="1100" dirty="0"/>
              <a:t>    // position at which element</a:t>
            </a:r>
          </a:p>
          <a:p>
            <a:r>
              <a:rPr lang="en-US" sz="1100" dirty="0"/>
              <a:t>    // is to be inserted</a:t>
            </a:r>
          </a:p>
          <a:p>
            <a:r>
              <a:rPr lang="en-US" sz="1100" dirty="0"/>
              <a:t>    </a:t>
            </a:r>
            <a:r>
              <a:rPr lang="en-US" sz="1100" dirty="0" err="1"/>
              <a:t>pos</a:t>
            </a:r>
            <a:r>
              <a:rPr lang="en-US" sz="1100" dirty="0"/>
              <a:t> = 5;</a:t>
            </a:r>
          </a:p>
          <a:p>
            <a:r>
              <a:rPr lang="en-US" sz="1100" dirty="0"/>
              <a:t> </a:t>
            </a:r>
          </a:p>
          <a:p>
            <a:r>
              <a:rPr lang="en-US" sz="1100" dirty="0"/>
              <a:t>    // increase the size by </a:t>
            </a:r>
            <a:r>
              <a:rPr lang="en-US" sz="1100" dirty="0" smtClean="0"/>
              <a:t>1 because we are inserting one new element into array</a:t>
            </a:r>
            <a:endParaRPr lang="en-US" sz="1100" dirty="0"/>
          </a:p>
          <a:p>
            <a:r>
              <a:rPr lang="en-US" sz="1100" dirty="0"/>
              <a:t>    n++;</a:t>
            </a:r>
          </a:p>
          <a:p>
            <a:r>
              <a:rPr lang="en-US" sz="1100" dirty="0"/>
              <a:t> </a:t>
            </a:r>
          </a:p>
          <a:p>
            <a:r>
              <a:rPr lang="en-US" sz="1100" dirty="0"/>
              <a:t>    // shift elements forward</a:t>
            </a:r>
          </a:p>
          <a:p>
            <a:r>
              <a:rPr lang="en-US" sz="1100" dirty="0"/>
              <a:t>    for (</a:t>
            </a:r>
            <a:r>
              <a:rPr lang="en-US" sz="1100" dirty="0" err="1"/>
              <a:t>i</a:t>
            </a:r>
            <a:r>
              <a:rPr lang="en-US" sz="1100" dirty="0"/>
              <a:t> = n - 1; </a:t>
            </a:r>
            <a:r>
              <a:rPr lang="en-US" sz="1100" dirty="0" err="1"/>
              <a:t>i</a:t>
            </a:r>
            <a:r>
              <a:rPr lang="en-US" sz="1100" dirty="0"/>
              <a:t> &gt;= </a:t>
            </a:r>
            <a:r>
              <a:rPr lang="en-US" sz="1100" dirty="0" err="1"/>
              <a:t>pos</a:t>
            </a:r>
            <a:r>
              <a:rPr lang="en-US" sz="1100" dirty="0"/>
              <a:t>; </a:t>
            </a:r>
            <a:r>
              <a:rPr lang="en-US" sz="1100" dirty="0" err="1"/>
              <a:t>i</a:t>
            </a:r>
            <a:r>
              <a:rPr lang="en-US" sz="1100" dirty="0"/>
              <a:t>--)</a:t>
            </a:r>
          </a:p>
          <a:p>
            <a:r>
              <a:rPr lang="en-US" sz="1100" dirty="0"/>
              <a:t>        </a:t>
            </a:r>
            <a:r>
              <a:rPr lang="en-US" sz="1100" dirty="0" err="1"/>
              <a:t>arr</a:t>
            </a:r>
            <a:r>
              <a:rPr lang="en-US" sz="1100" dirty="0"/>
              <a:t>[</a:t>
            </a:r>
            <a:r>
              <a:rPr lang="en-US" sz="1100" dirty="0" err="1"/>
              <a:t>i</a:t>
            </a:r>
            <a:r>
              <a:rPr lang="en-US" sz="1100" dirty="0"/>
              <a:t>] = </a:t>
            </a:r>
            <a:r>
              <a:rPr lang="en-US" sz="1100" dirty="0" err="1"/>
              <a:t>arr</a:t>
            </a:r>
            <a:r>
              <a:rPr lang="en-US" sz="1100" dirty="0"/>
              <a:t>[</a:t>
            </a:r>
            <a:r>
              <a:rPr lang="en-US" sz="1100" dirty="0" err="1"/>
              <a:t>i</a:t>
            </a:r>
            <a:r>
              <a:rPr lang="en-US" sz="1100" dirty="0"/>
              <a:t> - 1];</a:t>
            </a:r>
          </a:p>
          <a:p>
            <a:r>
              <a:rPr lang="en-US" sz="1100" dirty="0"/>
              <a:t> </a:t>
            </a:r>
          </a:p>
          <a:p>
            <a:r>
              <a:rPr lang="en-US" sz="1100" dirty="0"/>
              <a:t>    // insert x at </a:t>
            </a:r>
            <a:r>
              <a:rPr lang="en-US" sz="1100" dirty="0" err="1"/>
              <a:t>pos</a:t>
            </a:r>
            <a:endParaRPr lang="en-US" sz="1100" dirty="0"/>
          </a:p>
          <a:p>
            <a:r>
              <a:rPr lang="en-US" sz="1100" dirty="0"/>
              <a:t>    </a:t>
            </a:r>
            <a:r>
              <a:rPr lang="en-US" sz="1100" dirty="0" err="1"/>
              <a:t>arr</a:t>
            </a:r>
            <a:r>
              <a:rPr lang="en-US" sz="1100" dirty="0"/>
              <a:t>[</a:t>
            </a:r>
            <a:r>
              <a:rPr lang="en-US" sz="1100" dirty="0" err="1"/>
              <a:t>pos</a:t>
            </a:r>
            <a:r>
              <a:rPr lang="en-US" sz="1100" dirty="0"/>
              <a:t> - 1] = x;</a:t>
            </a:r>
          </a:p>
          <a:p>
            <a:r>
              <a:rPr lang="en-US" sz="1100" dirty="0"/>
              <a:t> </a:t>
            </a:r>
          </a:p>
          <a:p>
            <a:r>
              <a:rPr lang="en-US" sz="1100" dirty="0"/>
              <a:t>    // print the updated array</a:t>
            </a:r>
          </a:p>
          <a:p>
            <a:r>
              <a:rPr lang="en-US" sz="1100" dirty="0"/>
              <a:t>    for (</a:t>
            </a:r>
            <a:r>
              <a:rPr lang="en-US" sz="1100" dirty="0" err="1"/>
              <a:t>i</a:t>
            </a:r>
            <a:r>
              <a:rPr lang="en-US" sz="1100" dirty="0"/>
              <a:t> = 0; </a:t>
            </a:r>
            <a:r>
              <a:rPr lang="en-US" sz="1100" dirty="0" err="1"/>
              <a:t>i</a:t>
            </a:r>
            <a:r>
              <a:rPr lang="en-US" sz="1100" dirty="0"/>
              <a:t> &lt; n; </a:t>
            </a:r>
            <a:r>
              <a:rPr lang="en-US" sz="1100" dirty="0" err="1"/>
              <a:t>i</a:t>
            </a:r>
            <a:r>
              <a:rPr lang="en-US" sz="1100" dirty="0"/>
              <a:t>++)</a:t>
            </a:r>
          </a:p>
          <a:p>
            <a:r>
              <a:rPr lang="en-US" sz="1100" dirty="0"/>
              <a:t>        </a:t>
            </a:r>
            <a:r>
              <a:rPr lang="en-US" sz="1100" dirty="0" err="1"/>
              <a:t>printf</a:t>
            </a:r>
            <a:r>
              <a:rPr lang="en-US" sz="1100" dirty="0"/>
              <a:t>("%d ", </a:t>
            </a:r>
            <a:r>
              <a:rPr lang="en-US" sz="1100" dirty="0" err="1"/>
              <a:t>arr</a:t>
            </a:r>
            <a:r>
              <a:rPr lang="en-US" sz="1100" dirty="0"/>
              <a:t>[</a:t>
            </a:r>
            <a:r>
              <a:rPr lang="en-US" sz="1100" dirty="0" err="1"/>
              <a:t>i</a:t>
            </a:r>
            <a:r>
              <a:rPr lang="en-US" sz="1100" dirty="0"/>
              <a:t>]);</a:t>
            </a:r>
          </a:p>
          <a:p>
            <a:r>
              <a:rPr lang="en-US" sz="1100" dirty="0"/>
              <a:t>    </a:t>
            </a:r>
            <a:r>
              <a:rPr lang="en-US" sz="1100" dirty="0" err="1"/>
              <a:t>printf</a:t>
            </a:r>
            <a:r>
              <a:rPr lang="en-US" sz="1100" dirty="0"/>
              <a:t>("\n");</a:t>
            </a:r>
          </a:p>
          <a:p>
            <a:r>
              <a:rPr lang="en-US" sz="1100" dirty="0"/>
              <a:t> </a:t>
            </a:r>
          </a:p>
          <a:p>
            <a:r>
              <a:rPr lang="en-US" sz="1100" dirty="0"/>
              <a:t>    return 0;</a:t>
            </a:r>
          </a:p>
          <a:p>
            <a:r>
              <a:rPr lang="en-US" sz="1100" dirty="0"/>
              <a:t>}</a:t>
            </a:r>
          </a:p>
        </p:txBody>
      </p:sp>
    </p:spTree>
    <p:extLst>
      <p:ext uri="{BB962C8B-B14F-4D97-AF65-F5344CB8AC3E}">
        <p14:creationId xmlns:p14="http://schemas.microsoft.com/office/powerpoint/2010/main" val="5140738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IN" dirty="0"/>
              <a:t>Deletion operation</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5938426" cy="5631981"/>
          </a:xfrm>
        </p:spPr>
        <p:txBody>
          <a:bodyPr>
            <a:normAutofit fontScale="70000" lnSpcReduction="20000"/>
          </a:bodyPr>
          <a:lstStyle/>
          <a:p>
            <a:r>
              <a:rPr lang="en-US" dirty="0"/>
              <a:t>As the name implies, this operation removes an element from the array and then reorganizes all of the array elements</a:t>
            </a:r>
            <a:r>
              <a:rPr lang="en-US" dirty="0" smtClean="0"/>
              <a:t>.</a:t>
            </a:r>
          </a:p>
          <a:p>
            <a:r>
              <a:rPr lang="en-US" dirty="0"/>
              <a:t>Steps</a:t>
            </a:r>
          </a:p>
          <a:p>
            <a:r>
              <a:rPr lang="en-US" dirty="0"/>
              <a:t>1. input array</a:t>
            </a:r>
          </a:p>
          <a:p>
            <a:r>
              <a:rPr lang="en-US" dirty="0"/>
              <a:t>2. input </a:t>
            </a:r>
            <a:r>
              <a:rPr lang="en-US" dirty="0" smtClean="0"/>
              <a:t>index of the element which is to be deleted</a:t>
            </a:r>
            <a:endParaRPr lang="en-US" dirty="0"/>
          </a:p>
          <a:p>
            <a:r>
              <a:rPr lang="en-US" dirty="0" smtClean="0"/>
              <a:t>3</a:t>
            </a:r>
            <a:r>
              <a:rPr lang="en-US" dirty="0"/>
              <a:t>. </a:t>
            </a:r>
            <a:r>
              <a:rPr lang="en-US" dirty="0" smtClean="0"/>
              <a:t>shift array element backward to deleted position </a:t>
            </a:r>
            <a:endParaRPr lang="en-US" dirty="0"/>
          </a:p>
          <a:p>
            <a:r>
              <a:rPr lang="en-US" dirty="0" smtClean="0"/>
              <a:t>4. </a:t>
            </a:r>
            <a:r>
              <a:rPr lang="en-US" dirty="0"/>
              <a:t>display array after </a:t>
            </a:r>
            <a:r>
              <a:rPr lang="en-US" dirty="0" smtClean="0"/>
              <a:t>deletion</a:t>
            </a:r>
            <a:endParaRPr lang="en-US" dirty="0"/>
          </a:p>
          <a:p>
            <a:endParaRPr lang="en-US" dirty="0" smtClean="0"/>
          </a:p>
          <a:p>
            <a:endParaRPr lang="en-US" dirty="0"/>
          </a:p>
          <a:p>
            <a:endParaRPr lang="en-US" dirty="0" smtClean="0"/>
          </a:p>
          <a:p>
            <a:r>
              <a:rPr lang="en-US" dirty="0" smtClean="0"/>
              <a:t>Output</a:t>
            </a:r>
            <a:endParaRPr lang="en-US" dirty="0"/>
          </a:p>
          <a:p>
            <a:endParaRPr lang="en-US" dirty="0" smtClean="0"/>
          </a:p>
          <a:p>
            <a:endParaRPr lang="en-US" dirty="0" smtClean="0"/>
          </a:p>
          <a:p>
            <a:pPr marL="0" indent="0">
              <a:buNone/>
            </a:pPr>
            <a:r>
              <a:rPr lang="en-US" dirty="0"/>
              <a:t/>
            </a:r>
            <a:br>
              <a:rPr lang="en-US" dirty="0"/>
            </a:br>
            <a:endParaRPr lang="en-US" dirty="0"/>
          </a:p>
        </p:txBody>
      </p:sp>
      <p:pic>
        <p:nvPicPr>
          <p:cNvPr id="5" name="Picture 4"/>
          <p:cNvPicPr>
            <a:picLocks noChangeAspect="1"/>
          </p:cNvPicPr>
          <p:nvPr/>
        </p:nvPicPr>
        <p:blipFill>
          <a:blip r:embed="rId2"/>
          <a:stretch>
            <a:fillRect/>
          </a:stretch>
        </p:blipFill>
        <p:spPr>
          <a:xfrm>
            <a:off x="128594" y="5320102"/>
            <a:ext cx="6401872" cy="999444"/>
          </a:xfrm>
          <a:prstGeom prst="rect">
            <a:avLst/>
          </a:prstGeom>
        </p:spPr>
      </p:pic>
      <p:sp>
        <p:nvSpPr>
          <p:cNvPr id="6" name="Rectangle 5"/>
          <p:cNvSpPr/>
          <p:nvPr/>
        </p:nvSpPr>
        <p:spPr>
          <a:xfrm>
            <a:off x="6427435" y="19791"/>
            <a:ext cx="5923404" cy="6771084"/>
          </a:xfrm>
          <a:prstGeom prst="rect">
            <a:avLst/>
          </a:prstGeom>
        </p:spPr>
        <p:txBody>
          <a:bodyPr wrap="square">
            <a:spAutoFit/>
          </a:bodyPr>
          <a:lstStyle/>
          <a:p>
            <a:r>
              <a:rPr lang="en-US" sz="1400" dirty="0"/>
              <a:t>#include &lt;</a:t>
            </a:r>
            <a:r>
              <a:rPr lang="en-US" sz="1400" dirty="0" err="1"/>
              <a:t>stdio.h</a:t>
            </a:r>
            <a:r>
              <a:rPr lang="en-US" sz="1400" dirty="0"/>
              <a:t>&gt;</a:t>
            </a:r>
          </a:p>
          <a:p>
            <a:r>
              <a:rPr lang="en-US" sz="1400" dirty="0"/>
              <a:t>#include &lt;</a:t>
            </a:r>
            <a:r>
              <a:rPr lang="en-US" sz="1400" dirty="0" err="1"/>
              <a:t>conio.h</a:t>
            </a:r>
            <a:r>
              <a:rPr lang="en-US" sz="1400" dirty="0"/>
              <a:t>&gt;</a:t>
            </a:r>
          </a:p>
          <a:p>
            <a:r>
              <a:rPr lang="en-US" sz="1400" dirty="0"/>
              <a:t> </a:t>
            </a:r>
          </a:p>
          <a:p>
            <a:r>
              <a:rPr lang="en-US" sz="1400" dirty="0"/>
              <a:t>void main()</a:t>
            </a:r>
          </a:p>
          <a:p>
            <a:r>
              <a:rPr lang="en-US" sz="1400" dirty="0"/>
              <a:t>{</a:t>
            </a:r>
          </a:p>
          <a:p>
            <a:r>
              <a:rPr lang="en-US" sz="1400" dirty="0"/>
              <a:t>    </a:t>
            </a:r>
            <a:r>
              <a:rPr lang="en-US" sz="1400" dirty="0" err="1"/>
              <a:t>int</a:t>
            </a:r>
            <a:r>
              <a:rPr lang="en-US" sz="1400" dirty="0"/>
              <a:t> </a:t>
            </a:r>
            <a:r>
              <a:rPr lang="en-US" sz="1400" dirty="0" err="1"/>
              <a:t>i</a:t>
            </a:r>
            <a:r>
              <a:rPr lang="en-US" sz="1400" dirty="0"/>
              <a:t>, n, index, </a:t>
            </a:r>
            <a:r>
              <a:rPr lang="en-US" sz="1400" dirty="0" err="1"/>
              <a:t>arr</a:t>
            </a:r>
            <a:r>
              <a:rPr lang="en-US" sz="1400" dirty="0"/>
              <a:t>[10];</a:t>
            </a:r>
          </a:p>
          <a:p>
            <a:r>
              <a:rPr lang="en-US" sz="1400" dirty="0"/>
              <a:t>   </a:t>
            </a:r>
          </a:p>
          <a:p>
            <a:r>
              <a:rPr lang="en-US" sz="1400" dirty="0"/>
              <a:t>    </a:t>
            </a:r>
            <a:r>
              <a:rPr lang="en-US" sz="1400" dirty="0" err="1"/>
              <a:t>printf</a:t>
            </a:r>
            <a:r>
              <a:rPr lang="en-US" sz="1400" dirty="0"/>
              <a:t>("Enter the size of the array: ");</a:t>
            </a:r>
          </a:p>
          <a:p>
            <a:r>
              <a:rPr lang="en-US" sz="1400" dirty="0"/>
              <a:t>    </a:t>
            </a:r>
            <a:r>
              <a:rPr lang="en-US" sz="1400" dirty="0" err="1"/>
              <a:t>scanf</a:t>
            </a:r>
            <a:r>
              <a:rPr lang="en-US" sz="1400" dirty="0"/>
              <a:t>("%d", &amp;n);</a:t>
            </a:r>
          </a:p>
          <a:p>
            <a:r>
              <a:rPr lang="en-US" sz="1400" dirty="0"/>
              <a:t>    </a:t>
            </a:r>
            <a:r>
              <a:rPr lang="en-US" sz="1400" dirty="0" err="1"/>
              <a:t>printf</a:t>
            </a:r>
            <a:r>
              <a:rPr lang="en-US" sz="1400" dirty="0"/>
              <a:t>("Enter the elements of the array: \n");</a:t>
            </a:r>
          </a:p>
          <a:p>
            <a:r>
              <a:rPr lang="en-US" sz="1400" dirty="0"/>
              <a:t>    for (</a:t>
            </a:r>
            <a:r>
              <a:rPr lang="en-US" sz="1400" dirty="0" err="1"/>
              <a:t>i</a:t>
            </a:r>
            <a:r>
              <a:rPr lang="en-US" sz="1400" dirty="0"/>
              <a:t> = 0; </a:t>
            </a:r>
            <a:r>
              <a:rPr lang="en-US" sz="1400" dirty="0" err="1"/>
              <a:t>i</a:t>
            </a:r>
            <a:r>
              <a:rPr lang="en-US" sz="1400" dirty="0"/>
              <a:t> &lt; n; </a:t>
            </a:r>
            <a:r>
              <a:rPr lang="en-US" sz="1400" dirty="0" err="1"/>
              <a:t>i</a:t>
            </a:r>
            <a:r>
              <a:rPr lang="en-US" sz="1400" dirty="0"/>
              <a:t>++)</a:t>
            </a:r>
          </a:p>
          <a:p>
            <a:r>
              <a:rPr lang="en-US" sz="1400" dirty="0"/>
              <a:t>    {</a:t>
            </a:r>
          </a:p>
          <a:p>
            <a:r>
              <a:rPr lang="en-US" sz="1400" dirty="0"/>
              <a:t>        </a:t>
            </a:r>
            <a:r>
              <a:rPr lang="en-US" sz="1400" dirty="0" err="1"/>
              <a:t>printf</a:t>
            </a:r>
            <a:r>
              <a:rPr lang="en-US" sz="1400" dirty="0"/>
              <a:t>("</a:t>
            </a:r>
            <a:r>
              <a:rPr lang="en-US" sz="1400" dirty="0" err="1"/>
              <a:t>arr</a:t>
            </a:r>
            <a:r>
              <a:rPr lang="en-US" sz="1400" dirty="0"/>
              <a:t>[%d] = ", </a:t>
            </a:r>
            <a:r>
              <a:rPr lang="en-US" sz="1400" dirty="0" err="1"/>
              <a:t>i</a:t>
            </a:r>
            <a:r>
              <a:rPr lang="en-US" sz="1400" dirty="0"/>
              <a:t>);</a:t>
            </a:r>
          </a:p>
          <a:p>
            <a:r>
              <a:rPr lang="en-US" sz="1400" dirty="0"/>
              <a:t>        </a:t>
            </a:r>
            <a:r>
              <a:rPr lang="en-US" sz="1400" dirty="0" err="1"/>
              <a:t>scanf</a:t>
            </a:r>
            <a:r>
              <a:rPr lang="en-US" sz="1400" dirty="0"/>
              <a:t>("%d", &amp;</a:t>
            </a:r>
            <a:r>
              <a:rPr lang="en-US" sz="1400" dirty="0" err="1"/>
              <a:t>arr</a:t>
            </a:r>
            <a:r>
              <a:rPr lang="en-US" sz="1400" dirty="0"/>
              <a:t>[</a:t>
            </a:r>
            <a:r>
              <a:rPr lang="en-US" sz="1400" dirty="0" err="1"/>
              <a:t>i</a:t>
            </a:r>
            <a:r>
              <a:rPr lang="en-US" sz="1400" dirty="0"/>
              <a:t>]);</a:t>
            </a:r>
          </a:p>
          <a:p>
            <a:r>
              <a:rPr lang="en-US" sz="1400" dirty="0"/>
              <a:t>    }</a:t>
            </a:r>
          </a:p>
          <a:p>
            <a:r>
              <a:rPr lang="en-US" sz="1400" dirty="0"/>
              <a:t>    </a:t>
            </a:r>
            <a:r>
              <a:rPr lang="en-US" sz="1400" dirty="0" err="1"/>
              <a:t>printf</a:t>
            </a:r>
            <a:r>
              <a:rPr lang="en-US" sz="1400" dirty="0"/>
              <a:t>("Enter the index of the element to be deleted: ");</a:t>
            </a:r>
          </a:p>
          <a:p>
            <a:r>
              <a:rPr lang="en-US" sz="1400" dirty="0"/>
              <a:t>    </a:t>
            </a:r>
            <a:r>
              <a:rPr lang="en-US" sz="1400" dirty="0" err="1"/>
              <a:t>scanf</a:t>
            </a:r>
            <a:r>
              <a:rPr lang="en-US" sz="1400" dirty="0"/>
              <a:t>("%d", &amp;index);</a:t>
            </a:r>
          </a:p>
          <a:p>
            <a:r>
              <a:rPr lang="en-US" sz="1400" dirty="0"/>
              <a:t>    if (index &gt;= n+1)  </a:t>
            </a:r>
          </a:p>
          <a:p>
            <a:r>
              <a:rPr lang="en-US" sz="1400" dirty="0"/>
              <a:t>    {  </a:t>
            </a:r>
          </a:p>
          <a:p>
            <a:r>
              <a:rPr lang="en-US" sz="1400" dirty="0"/>
              <a:t>        </a:t>
            </a:r>
            <a:r>
              <a:rPr lang="en-US" sz="1400" dirty="0" err="1"/>
              <a:t>printf</a:t>
            </a:r>
            <a:r>
              <a:rPr lang="en-US" sz="1400" dirty="0"/>
              <a:t> (" \n Deletion is not possible in the array.");  </a:t>
            </a:r>
          </a:p>
          <a:p>
            <a:r>
              <a:rPr lang="en-US" sz="1400" dirty="0"/>
              <a:t>    }  </a:t>
            </a:r>
          </a:p>
          <a:p>
            <a:r>
              <a:rPr lang="en-US" sz="1400" dirty="0"/>
              <a:t>    else  </a:t>
            </a:r>
          </a:p>
          <a:p>
            <a:r>
              <a:rPr lang="en-US" sz="1400" dirty="0"/>
              <a:t>    {  </a:t>
            </a:r>
          </a:p>
          <a:p>
            <a:r>
              <a:rPr lang="en-US" sz="1400" dirty="0"/>
              <a:t>        for (</a:t>
            </a:r>
            <a:r>
              <a:rPr lang="en-US" sz="1400" dirty="0" err="1"/>
              <a:t>i</a:t>
            </a:r>
            <a:r>
              <a:rPr lang="en-US" sz="1400" dirty="0"/>
              <a:t> = index; </a:t>
            </a:r>
            <a:r>
              <a:rPr lang="en-US" sz="1400" dirty="0" err="1"/>
              <a:t>i</a:t>
            </a:r>
            <a:r>
              <a:rPr lang="en-US" sz="1400" dirty="0"/>
              <a:t> &lt; n - 1; </a:t>
            </a:r>
            <a:r>
              <a:rPr lang="en-US" sz="1400" dirty="0" err="1"/>
              <a:t>i</a:t>
            </a:r>
            <a:r>
              <a:rPr lang="en-US" sz="1400" dirty="0" smtClean="0"/>
              <a:t>++) // starts replacing from delete element to n-1 	</a:t>
            </a:r>
            <a:r>
              <a:rPr lang="en-US" sz="1400" dirty="0" err="1" smtClean="0"/>
              <a:t>arr</a:t>
            </a:r>
            <a:r>
              <a:rPr lang="en-US" sz="1400" dirty="0" smtClean="0"/>
              <a:t>[</a:t>
            </a:r>
            <a:r>
              <a:rPr lang="en-US" sz="1400" dirty="0" err="1" smtClean="0"/>
              <a:t>i</a:t>
            </a:r>
            <a:r>
              <a:rPr lang="en-US" sz="1400" dirty="0"/>
              <a:t>] = </a:t>
            </a:r>
            <a:r>
              <a:rPr lang="en-US" sz="1400" dirty="0" err="1"/>
              <a:t>arr</a:t>
            </a:r>
            <a:r>
              <a:rPr lang="en-US" sz="1400" dirty="0"/>
              <a:t>[</a:t>
            </a:r>
            <a:r>
              <a:rPr lang="en-US" sz="1400" dirty="0" err="1"/>
              <a:t>i</a:t>
            </a:r>
            <a:r>
              <a:rPr lang="en-US" sz="1400" dirty="0"/>
              <a:t> + 1</a:t>
            </a:r>
            <a:r>
              <a:rPr lang="en-US" sz="1400" dirty="0" smtClean="0"/>
              <a:t>]; //shift array elements</a:t>
            </a:r>
            <a:endParaRPr lang="en-US" sz="1400" dirty="0"/>
          </a:p>
          <a:p>
            <a:r>
              <a:rPr lang="en-US" sz="1400" dirty="0"/>
              <a:t>      </a:t>
            </a:r>
            <a:r>
              <a:rPr lang="en-US" sz="1400" dirty="0" smtClean="0"/>
              <a:t> </a:t>
            </a:r>
            <a:r>
              <a:rPr lang="en-US" sz="1400" dirty="0" err="1"/>
              <a:t>printf</a:t>
            </a:r>
            <a:r>
              <a:rPr lang="en-US" sz="1400" dirty="0"/>
              <a:t>("The array after deleting the element is: ");</a:t>
            </a:r>
          </a:p>
          <a:p>
            <a:r>
              <a:rPr lang="en-US" sz="1400" dirty="0"/>
              <a:t>        for (</a:t>
            </a:r>
            <a:r>
              <a:rPr lang="en-US" sz="1400" dirty="0" err="1"/>
              <a:t>i</a:t>
            </a:r>
            <a:r>
              <a:rPr lang="en-US" sz="1400" dirty="0"/>
              <a:t> = 0; </a:t>
            </a:r>
            <a:r>
              <a:rPr lang="en-US" sz="1400" dirty="0" err="1"/>
              <a:t>i</a:t>
            </a:r>
            <a:r>
              <a:rPr lang="en-US" sz="1400" dirty="0"/>
              <a:t> &lt; n - 1; </a:t>
            </a:r>
            <a:r>
              <a:rPr lang="en-US" sz="1400" dirty="0" err="1"/>
              <a:t>i</a:t>
            </a:r>
            <a:r>
              <a:rPr lang="en-US" sz="1400" dirty="0"/>
              <a:t>++)</a:t>
            </a:r>
          </a:p>
          <a:p>
            <a:r>
              <a:rPr lang="en-US" sz="1400" dirty="0"/>
              <a:t>            </a:t>
            </a:r>
            <a:r>
              <a:rPr lang="en-US" sz="1400" dirty="0" err="1"/>
              <a:t>printf</a:t>
            </a:r>
            <a:r>
              <a:rPr lang="en-US" sz="1400" dirty="0"/>
              <a:t>("%d ", </a:t>
            </a:r>
            <a:r>
              <a:rPr lang="en-US" sz="1400" dirty="0" err="1"/>
              <a:t>arr</a:t>
            </a:r>
            <a:r>
              <a:rPr lang="en-US" sz="1400" dirty="0"/>
              <a:t>[</a:t>
            </a:r>
            <a:r>
              <a:rPr lang="en-US" sz="1400" dirty="0" err="1"/>
              <a:t>i</a:t>
            </a:r>
            <a:r>
              <a:rPr lang="en-US" sz="1400" dirty="0"/>
              <a:t>]);</a:t>
            </a:r>
          </a:p>
          <a:p>
            <a:r>
              <a:rPr lang="en-US" sz="1400" dirty="0"/>
              <a:t>       </a:t>
            </a:r>
          </a:p>
          <a:p>
            <a:r>
              <a:rPr lang="en-US" sz="1400" dirty="0"/>
              <a:t>    }</a:t>
            </a:r>
          </a:p>
          <a:p>
            <a:r>
              <a:rPr lang="en-US" sz="1400" dirty="0"/>
              <a:t>    </a:t>
            </a:r>
            <a:r>
              <a:rPr lang="en-US" sz="1400" dirty="0" err="1"/>
              <a:t>getch</a:t>
            </a:r>
            <a:r>
              <a:rPr lang="en-US" sz="1400" dirty="0" smtClean="0"/>
              <a:t>();</a:t>
            </a:r>
            <a:r>
              <a:rPr lang="en-US" sz="1400" dirty="0"/>
              <a:t> </a:t>
            </a:r>
            <a:r>
              <a:rPr lang="en-US" sz="1400" dirty="0" smtClean="0"/>
              <a:t>}</a:t>
            </a:r>
            <a:endParaRPr lang="en-US" sz="1400" dirty="0"/>
          </a:p>
        </p:txBody>
      </p:sp>
    </p:spTree>
    <p:extLst>
      <p:ext uri="{BB962C8B-B14F-4D97-AF65-F5344CB8AC3E}">
        <p14:creationId xmlns:p14="http://schemas.microsoft.com/office/powerpoint/2010/main" val="377541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IN" dirty="0"/>
              <a:t>Search operation</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5938426" cy="5631981"/>
          </a:xfrm>
        </p:spPr>
        <p:txBody>
          <a:bodyPr>
            <a:normAutofit fontScale="85000" lnSpcReduction="20000"/>
          </a:bodyPr>
          <a:lstStyle/>
          <a:p>
            <a:r>
              <a:rPr lang="en-US" dirty="0"/>
              <a:t>This operation is performed to search an element in the array based on the value or index</a:t>
            </a:r>
            <a:r>
              <a:rPr lang="en-US" dirty="0" smtClean="0"/>
              <a:t>.</a:t>
            </a:r>
          </a:p>
          <a:p>
            <a:r>
              <a:rPr lang="en-US" dirty="0" smtClean="0"/>
              <a:t>Output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marL="0" indent="0">
              <a:buNone/>
            </a:pPr>
            <a:r>
              <a:rPr lang="en-US" dirty="0"/>
              <a:t/>
            </a:r>
            <a:br>
              <a:rPr lang="en-US" dirty="0"/>
            </a:br>
            <a:endParaRPr lang="en-US" dirty="0"/>
          </a:p>
        </p:txBody>
      </p:sp>
      <p:pic>
        <p:nvPicPr>
          <p:cNvPr id="7" name="Picture 6"/>
          <p:cNvPicPr>
            <a:picLocks noChangeAspect="1"/>
          </p:cNvPicPr>
          <p:nvPr/>
        </p:nvPicPr>
        <p:blipFill>
          <a:blip r:embed="rId2"/>
          <a:stretch>
            <a:fillRect/>
          </a:stretch>
        </p:blipFill>
        <p:spPr>
          <a:xfrm>
            <a:off x="63546" y="2489446"/>
            <a:ext cx="6681494" cy="936334"/>
          </a:xfrm>
          <a:prstGeom prst="rect">
            <a:avLst/>
          </a:prstGeom>
        </p:spPr>
      </p:pic>
      <p:sp>
        <p:nvSpPr>
          <p:cNvPr id="4" name="Rectangle 3"/>
          <p:cNvSpPr/>
          <p:nvPr/>
        </p:nvSpPr>
        <p:spPr>
          <a:xfrm>
            <a:off x="6589691" y="40195"/>
            <a:ext cx="6096000" cy="6740307"/>
          </a:xfrm>
          <a:prstGeom prst="rect">
            <a:avLst/>
          </a:prstGeom>
        </p:spPr>
        <p:txBody>
          <a:bodyPr>
            <a:spAutoFit/>
          </a:bodyPr>
          <a:lstStyle/>
          <a:p>
            <a:r>
              <a:rPr lang="en-US" sz="1600" dirty="0"/>
              <a:t>#include &lt;</a:t>
            </a:r>
            <a:r>
              <a:rPr lang="en-US" sz="1600" dirty="0" err="1"/>
              <a:t>stdio.h</a:t>
            </a:r>
            <a:r>
              <a:rPr lang="en-US" sz="1600" dirty="0"/>
              <a:t>&gt;</a:t>
            </a:r>
          </a:p>
          <a:p>
            <a:r>
              <a:rPr lang="en-US" sz="1600" dirty="0"/>
              <a:t>#include &lt;</a:t>
            </a:r>
            <a:r>
              <a:rPr lang="en-US" sz="1600" dirty="0" err="1"/>
              <a:t>conio.h</a:t>
            </a:r>
            <a:r>
              <a:rPr lang="en-US" sz="1600" dirty="0" smtClean="0"/>
              <a:t>&gt; </a:t>
            </a:r>
            <a:endParaRPr lang="en-US" sz="1600" dirty="0"/>
          </a:p>
          <a:p>
            <a:r>
              <a:rPr lang="en-US" sz="1600" dirty="0" err="1"/>
              <a:t>int</a:t>
            </a:r>
            <a:r>
              <a:rPr lang="en-US" sz="1600" dirty="0"/>
              <a:t> main()</a:t>
            </a:r>
          </a:p>
          <a:p>
            <a:r>
              <a:rPr lang="en-US" sz="1600" dirty="0"/>
              <a:t>{</a:t>
            </a:r>
          </a:p>
          <a:p>
            <a:r>
              <a:rPr lang="en-US" sz="1600" dirty="0"/>
              <a:t>    </a:t>
            </a:r>
            <a:r>
              <a:rPr lang="en-US" sz="1600" dirty="0" err="1"/>
              <a:t>int</a:t>
            </a:r>
            <a:r>
              <a:rPr lang="en-US" sz="1600" dirty="0"/>
              <a:t> a[10000],</a:t>
            </a:r>
            <a:r>
              <a:rPr lang="en-US" sz="1600" dirty="0" err="1"/>
              <a:t>i,n,ele</a:t>
            </a:r>
            <a:r>
              <a:rPr lang="en-US" sz="1600" dirty="0"/>
              <a:t>;</a:t>
            </a:r>
          </a:p>
          <a:p>
            <a:r>
              <a:rPr lang="en-US" sz="1600" dirty="0"/>
              <a:t>   </a:t>
            </a:r>
          </a:p>
          <a:p>
            <a:r>
              <a:rPr lang="en-US" sz="1600" dirty="0"/>
              <a:t>    </a:t>
            </a:r>
            <a:r>
              <a:rPr lang="en-US" sz="1600" dirty="0" err="1"/>
              <a:t>printf</a:t>
            </a:r>
            <a:r>
              <a:rPr lang="en-US" sz="1600" dirty="0"/>
              <a:t>("Enter size of the  array : ");</a:t>
            </a:r>
          </a:p>
          <a:p>
            <a:r>
              <a:rPr lang="en-US" sz="1600" dirty="0"/>
              <a:t>    </a:t>
            </a:r>
            <a:r>
              <a:rPr lang="en-US" sz="1600" dirty="0" err="1"/>
              <a:t>scanf</a:t>
            </a:r>
            <a:r>
              <a:rPr lang="en-US" sz="1600" dirty="0"/>
              <a:t>("%d", &amp;n);</a:t>
            </a:r>
          </a:p>
          <a:p>
            <a:r>
              <a:rPr lang="en-US" sz="1600" dirty="0"/>
              <a:t>    </a:t>
            </a:r>
            <a:r>
              <a:rPr lang="en-US" sz="1600" dirty="0" err="1"/>
              <a:t>printf</a:t>
            </a:r>
            <a:r>
              <a:rPr lang="en-US" sz="1600" dirty="0"/>
              <a:t>("Enter elements in array : ");</a:t>
            </a:r>
          </a:p>
          <a:p>
            <a:r>
              <a:rPr lang="en-US" sz="1600" dirty="0"/>
              <a:t>    for(</a:t>
            </a:r>
            <a:r>
              <a:rPr lang="en-US" sz="1600" dirty="0" err="1"/>
              <a:t>i</a:t>
            </a:r>
            <a:r>
              <a:rPr lang="en-US" sz="1600" dirty="0"/>
              <a:t>=0; </a:t>
            </a:r>
            <a:r>
              <a:rPr lang="en-US" sz="1600" dirty="0" err="1"/>
              <a:t>i</a:t>
            </a:r>
            <a:r>
              <a:rPr lang="en-US" sz="1600" dirty="0"/>
              <a:t>&lt;n; </a:t>
            </a:r>
            <a:r>
              <a:rPr lang="en-US" sz="1600" dirty="0" err="1"/>
              <a:t>i</a:t>
            </a:r>
            <a:r>
              <a:rPr lang="en-US" sz="1600" dirty="0"/>
              <a:t>++)</a:t>
            </a:r>
          </a:p>
          <a:p>
            <a:r>
              <a:rPr lang="en-US" sz="1600" dirty="0"/>
              <a:t>    {</a:t>
            </a:r>
          </a:p>
          <a:p>
            <a:r>
              <a:rPr lang="en-US" sz="1600" dirty="0"/>
              <a:t>     </a:t>
            </a:r>
          </a:p>
          <a:p>
            <a:r>
              <a:rPr lang="en-US" sz="1600" dirty="0"/>
              <a:t>        </a:t>
            </a:r>
            <a:r>
              <a:rPr lang="en-US" sz="1600" dirty="0" err="1"/>
              <a:t>scanf</a:t>
            </a:r>
            <a:r>
              <a:rPr lang="en-US" sz="1600" dirty="0"/>
              <a:t>("%</a:t>
            </a:r>
            <a:r>
              <a:rPr lang="en-US" sz="1600" dirty="0" err="1"/>
              <a:t>d",&amp;a</a:t>
            </a:r>
            <a:r>
              <a:rPr lang="en-US" sz="1600" dirty="0"/>
              <a:t>[</a:t>
            </a:r>
            <a:r>
              <a:rPr lang="en-US" sz="1600" dirty="0" err="1"/>
              <a:t>i</a:t>
            </a:r>
            <a:r>
              <a:rPr lang="en-US" sz="1600" dirty="0"/>
              <a:t>]);</a:t>
            </a:r>
          </a:p>
          <a:p>
            <a:r>
              <a:rPr lang="en-US" sz="1600" dirty="0"/>
              <a:t>    }</a:t>
            </a:r>
          </a:p>
          <a:p>
            <a:r>
              <a:rPr lang="en-US" sz="1600" dirty="0"/>
              <a:t>    </a:t>
            </a:r>
            <a:r>
              <a:rPr lang="en-US" sz="1600" dirty="0" err="1"/>
              <a:t>printf</a:t>
            </a:r>
            <a:r>
              <a:rPr lang="en-US" sz="1600" dirty="0"/>
              <a:t>("Enter the element : ");</a:t>
            </a:r>
          </a:p>
          <a:p>
            <a:r>
              <a:rPr lang="en-US" sz="1600" dirty="0"/>
              <a:t>    </a:t>
            </a:r>
            <a:r>
              <a:rPr lang="en-US" sz="1600" dirty="0" err="1"/>
              <a:t>scanf</a:t>
            </a:r>
            <a:r>
              <a:rPr lang="en-US" sz="1600" dirty="0"/>
              <a:t>("%d", &amp;</a:t>
            </a:r>
            <a:r>
              <a:rPr lang="en-US" sz="1600" dirty="0" err="1"/>
              <a:t>ele</a:t>
            </a:r>
            <a:r>
              <a:rPr lang="en-US" sz="1600" dirty="0"/>
              <a:t>);</a:t>
            </a:r>
          </a:p>
          <a:p>
            <a:r>
              <a:rPr lang="en-US" sz="1600" dirty="0"/>
              <a:t>    for(</a:t>
            </a:r>
            <a:r>
              <a:rPr lang="en-US" sz="1600" dirty="0" err="1"/>
              <a:t>i</a:t>
            </a:r>
            <a:r>
              <a:rPr lang="en-US" sz="1600" dirty="0"/>
              <a:t>=0; </a:t>
            </a:r>
            <a:r>
              <a:rPr lang="en-US" sz="1600" dirty="0" err="1"/>
              <a:t>i</a:t>
            </a:r>
            <a:r>
              <a:rPr lang="en-US" sz="1600" dirty="0"/>
              <a:t>&lt;n; </a:t>
            </a:r>
            <a:r>
              <a:rPr lang="en-US" sz="1600" dirty="0" err="1"/>
              <a:t>i</a:t>
            </a:r>
            <a:r>
              <a:rPr lang="en-US" sz="1600" dirty="0"/>
              <a:t>++)</a:t>
            </a:r>
          </a:p>
          <a:p>
            <a:r>
              <a:rPr lang="en-US" sz="1600" dirty="0"/>
              <a:t>    {</a:t>
            </a:r>
          </a:p>
          <a:p>
            <a:r>
              <a:rPr lang="en-US" sz="1600" dirty="0"/>
              <a:t>        if(a[</a:t>
            </a:r>
            <a:r>
              <a:rPr lang="en-US" sz="1600" dirty="0" err="1"/>
              <a:t>i</a:t>
            </a:r>
            <a:r>
              <a:rPr lang="en-US" sz="1600" dirty="0"/>
              <a:t>]==</a:t>
            </a:r>
            <a:r>
              <a:rPr lang="en-US" sz="1600" dirty="0" err="1"/>
              <a:t>ele</a:t>
            </a:r>
            <a:r>
              <a:rPr lang="en-US" sz="1600" dirty="0"/>
              <a:t>)</a:t>
            </a:r>
          </a:p>
          <a:p>
            <a:r>
              <a:rPr lang="en-US" sz="1600" dirty="0"/>
              <a:t>        {</a:t>
            </a:r>
          </a:p>
          <a:p>
            <a:r>
              <a:rPr lang="en-US" sz="1600" dirty="0"/>
              <a:t>	</a:t>
            </a:r>
            <a:r>
              <a:rPr lang="en-US" sz="1600" dirty="0" err="1" smtClean="0"/>
              <a:t>printf</a:t>
            </a:r>
            <a:r>
              <a:rPr lang="en-US" sz="1600" dirty="0"/>
              <a:t>("element found");</a:t>
            </a:r>
          </a:p>
          <a:p>
            <a:r>
              <a:rPr lang="en-US" sz="1600" dirty="0"/>
              <a:t>           		 </a:t>
            </a:r>
          </a:p>
          <a:p>
            <a:r>
              <a:rPr lang="en-US" sz="1600" dirty="0"/>
              <a:t>        }        </a:t>
            </a:r>
          </a:p>
          <a:p>
            <a:r>
              <a:rPr lang="en-US" sz="1600" dirty="0"/>
              <a:t>	</a:t>
            </a:r>
          </a:p>
          <a:p>
            <a:r>
              <a:rPr lang="en-US" sz="1600" dirty="0"/>
              <a:t>    </a:t>
            </a:r>
            <a:r>
              <a:rPr lang="en-US" sz="1600" dirty="0" smtClean="0"/>
              <a:t>}  </a:t>
            </a:r>
            <a:endParaRPr lang="en-US" sz="1600" dirty="0"/>
          </a:p>
          <a:p>
            <a:r>
              <a:rPr lang="en-US" sz="1600" dirty="0" smtClean="0"/>
              <a:t>  </a:t>
            </a:r>
            <a:r>
              <a:rPr lang="en-US" sz="1600" dirty="0" err="1" smtClean="0"/>
              <a:t>getch</a:t>
            </a:r>
            <a:r>
              <a:rPr lang="en-US" sz="1600" dirty="0" smtClean="0"/>
              <a:t>();  </a:t>
            </a:r>
          </a:p>
          <a:p>
            <a:r>
              <a:rPr lang="en-US" sz="1600" dirty="0" smtClean="0"/>
              <a:t>}</a:t>
            </a:r>
            <a:endParaRPr lang="en-US" sz="1600" dirty="0"/>
          </a:p>
        </p:txBody>
      </p:sp>
    </p:spTree>
    <p:extLst>
      <p:ext uri="{BB962C8B-B14F-4D97-AF65-F5344CB8AC3E}">
        <p14:creationId xmlns:p14="http://schemas.microsoft.com/office/powerpoint/2010/main" val="800293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normAutofit/>
          </a:bodyPr>
          <a:lstStyle/>
          <a:p>
            <a:r>
              <a:rPr lang="en-IN" dirty="0"/>
              <a:t>Update operation</a:t>
            </a: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5938426" cy="5631981"/>
          </a:xfrm>
        </p:spPr>
        <p:txBody>
          <a:bodyPr>
            <a:normAutofit fontScale="85000" lnSpcReduction="20000"/>
          </a:bodyPr>
          <a:lstStyle/>
          <a:p>
            <a:r>
              <a:rPr lang="en-US" dirty="0"/>
              <a:t>This operation is performed to update an existing array element located at the given index</a:t>
            </a:r>
            <a:r>
              <a:rPr lang="en-US" dirty="0" smtClean="0"/>
              <a:t>.</a:t>
            </a:r>
          </a:p>
          <a:p>
            <a:r>
              <a:rPr lang="en-US" dirty="0" smtClean="0"/>
              <a:t>Output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pPr marL="0" indent="0">
              <a:buNone/>
            </a:pPr>
            <a:r>
              <a:rPr lang="en-US" dirty="0"/>
              <a:t/>
            </a:r>
            <a:br>
              <a:rPr lang="en-US" dirty="0"/>
            </a:br>
            <a:endParaRPr lang="en-US" dirty="0"/>
          </a:p>
        </p:txBody>
      </p:sp>
      <p:pic>
        <p:nvPicPr>
          <p:cNvPr id="5" name="Picture 4"/>
          <p:cNvPicPr>
            <a:picLocks noChangeAspect="1"/>
          </p:cNvPicPr>
          <p:nvPr/>
        </p:nvPicPr>
        <p:blipFill>
          <a:blip r:embed="rId2"/>
          <a:stretch>
            <a:fillRect/>
          </a:stretch>
        </p:blipFill>
        <p:spPr>
          <a:xfrm>
            <a:off x="353431" y="2502325"/>
            <a:ext cx="6350382" cy="897698"/>
          </a:xfrm>
          <a:prstGeom prst="rect">
            <a:avLst/>
          </a:prstGeom>
        </p:spPr>
      </p:pic>
      <p:sp>
        <p:nvSpPr>
          <p:cNvPr id="6" name="Rectangle 5"/>
          <p:cNvSpPr/>
          <p:nvPr/>
        </p:nvSpPr>
        <p:spPr>
          <a:xfrm>
            <a:off x="6937419" y="509666"/>
            <a:ext cx="4730840" cy="5632311"/>
          </a:xfrm>
          <a:prstGeom prst="rect">
            <a:avLst/>
          </a:prstGeom>
        </p:spPr>
        <p:txBody>
          <a:bodyPr wrap="square">
            <a:spAutoFit/>
          </a:bodyPr>
          <a:lstStyle/>
          <a:p>
            <a:r>
              <a:rPr lang="en-US" dirty="0"/>
              <a:t>#include &lt;</a:t>
            </a:r>
            <a:r>
              <a:rPr lang="en-US" dirty="0" err="1"/>
              <a:t>stdio.h</a:t>
            </a:r>
            <a:r>
              <a:rPr lang="en-US" dirty="0"/>
              <a:t>&gt;  </a:t>
            </a:r>
          </a:p>
          <a:p>
            <a:r>
              <a:rPr lang="en-US" dirty="0"/>
              <a:t>  </a:t>
            </a:r>
          </a:p>
          <a:p>
            <a:r>
              <a:rPr lang="en-US" dirty="0"/>
              <a:t>void main() {  </a:t>
            </a:r>
          </a:p>
          <a:p>
            <a:r>
              <a:rPr lang="en-US" dirty="0"/>
              <a:t>   </a:t>
            </a:r>
            <a:r>
              <a:rPr lang="en-US" dirty="0" err="1"/>
              <a:t>int</a:t>
            </a:r>
            <a:r>
              <a:rPr lang="en-US" dirty="0"/>
              <a:t> </a:t>
            </a:r>
            <a:r>
              <a:rPr lang="en-US" dirty="0" err="1"/>
              <a:t>arr</a:t>
            </a:r>
            <a:r>
              <a:rPr lang="en-US" dirty="0"/>
              <a:t>[5] = {18, 30, 15, 70, 12};  </a:t>
            </a:r>
          </a:p>
          <a:p>
            <a:r>
              <a:rPr lang="en-US" dirty="0"/>
              <a:t>   </a:t>
            </a:r>
            <a:r>
              <a:rPr lang="en-US" dirty="0" err="1"/>
              <a:t>int</a:t>
            </a:r>
            <a:r>
              <a:rPr lang="en-US" dirty="0"/>
              <a:t> item = 50, </a:t>
            </a:r>
            <a:r>
              <a:rPr lang="en-US" dirty="0" err="1"/>
              <a:t>i</a:t>
            </a:r>
            <a:r>
              <a:rPr lang="en-US" dirty="0"/>
              <a:t>, </a:t>
            </a:r>
            <a:r>
              <a:rPr lang="en-US" dirty="0" err="1"/>
              <a:t>pos</a:t>
            </a:r>
            <a:r>
              <a:rPr lang="en-US" dirty="0"/>
              <a:t> = 3;  </a:t>
            </a:r>
          </a:p>
          <a:p>
            <a:r>
              <a:rPr lang="en-US" dirty="0"/>
              <a:t>     </a:t>
            </a:r>
          </a:p>
          <a:p>
            <a:r>
              <a:rPr lang="en-US" dirty="0"/>
              <a:t>   </a:t>
            </a:r>
            <a:r>
              <a:rPr lang="en-US" dirty="0" err="1"/>
              <a:t>printf</a:t>
            </a:r>
            <a:r>
              <a:rPr lang="en-US" dirty="0"/>
              <a:t>("Given array elements are :\n");  </a:t>
            </a:r>
          </a:p>
          <a:p>
            <a:r>
              <a:rPr lang="en-US" dirty="0"/>
              <a:t>      </a:t>
            </a:r>
          </a:p>
          <a:p>
            <a:r>
              <a:rPr lang="en-US" dirty="0"/>
              <a:t>   for(</a:t>
            </a:r>
            <a:r>
              <a:rPr lang="en-US" dirty="0" err="1"/>
              <a:t>i</a:t>
            </a:r>
            <a:r>
              <a:rPr lang="en-US" dirty="0"/>
              <a:t> = 0; </a:t>
            </a:r>
            <a:r>
              <a:rPr lang="en-US" dirty="0" err="1"/>
              <a:t>i</a:t>
            </a:r>
            <a:r>
              <a:rPr lang="en-US" dirty="0"/>
              <a:t>&lt;5; </a:t>
            </a:r>
            <a:r>
              <a:rPr lang="en-US" dirty="0" err="1"/>
              <a:t>i</a:t>
            </a:r>
            <a:r>
              <a:rPr lang="en-US" dirty="0"/>
              <a:t>++) {  </a:t>
            </a:r>
          </a:p>
          <a:p>
            <a:r>
              <a:rPr lang="en-US" dirty="0"/>
              <a:t>      </a:t>
            </a:r>
            <a:r>
              <a:rPr lang="en-US" dirty="0" err="1"/>
              <a:t>printf</a:t>
            </a:r>
            <a:r>
              <a:rPr lang="en-US" dirty="0"/>
              <a:t>("</a:t>
            </a:r>
            <a:r>
              <a:rPr lang="en-US" dirty="0" err="1"/>
              <a:t>arr</a:t>
            </a:r>
            <a:r>
              <a:rPr lang="en-US" dirty="0"/>
              <a:t>[%d] = %d,  ", </a:t>
            </a:r>
            <a:r>
              <a:rPr lang="en-US" dirty="0" err="1"/>
              <a:t>i</a:t>
            </a:r>
            <a:r>
              <a:rPr lang="en-US" dirty="0"/>
              <a:t>, </a:t>
            </a:r>
            <a:r>
              <a:rPr lang="en-US" dirty="0" err="1"/>
              <a:t>arr</a:t>
            </a:r>
            <a:r>
              <a:rPr lang="en-US" dirty="0"/>
              <a:t>[</a:t>
            </a:r>
            <a:r>
              <a:rPr lang="en-US" dirty="0" err="1"/>
              <a:t>i</a:t>
            </a:r>
            <a:r>
              <a:rPr lang="en-US" dirty="0"/>
              <a:t>]);  </a:t>
            </a:r>
          </a:p>
          <a:p>
            <a:r>
              <a:rPr lang="en-US" dirty="0"/>
              <a:t>   }  </a:t>
            </a:r>
          </a:p>
          <a:p>
            <a:r>
              <a:rPr lang="en-US" dirty="0"/>
              <a:t>      </a:t>
            </a:r>
          </a:p>
          <a:p>
            <a:r>
              <a:rPr lang="en-US" dirty="0" err="1"/>
              <a:t>arr</a:t>
            </a:r>
            <a:r>
              <a:rPr lang="en-US" dirty="0"/>
              <a:t>[pos-1] = item;    </a:t>
            </a:r>
          </a:p>
          <a:p>
            <a:r>
              <a:rPr lang="en-US" dirty="0"/>
              <a:t>   </a:t>
            </a:r>
            <a:r>
              <a:rPr lang="en-US" dirty="0" err="1"/>
              <a:t>printf</a:t>
            </a:r>
            <a:r>
              <a:rPr lang="en-US" dirty="0"/>
              <a:t>("\</a:t>
            </a:r>
            <a:r>
              <a:rPr lang="en-US" dirty="0" err="1"/>
              <a:t>nArray</a:t>
            </a:r>
            <a:r>
              <a:rPr lang="en-US" dirty="0"/>
              <a:t> elements after </a:t>
            </a:r>
            <a:r>
              <a:rPr lang="en-US" dirty="0" err="1"/>
              <a:t>updation</a:t>
            </a:r>
            <a:r>
              <a:rPr lang="en-US" dirty="0"/>
              <a:t> :\n");  </a:t>
            </a:r>
          </a:p>
          <a:p>
            <a:r>
              <a:rPr lang="en-US" dirty="0"/>
              <a:t>      </a:t>
            </a:r>
          </a:p>
          <a:p>
            <a:r>
              <a:rPr lang="en-US" dirty="0"/>
              <a:t>   for(</a:t>
            </a:r>
            <a:r>
              <a:rPr lang="en-US" dirty="0" err="1"/>
              <a:t>i</a:t>
            </a:r>
            <a:r>
              <a:rPr lang="en-US" dirty="0"/>
              <a:t> = 0; </a:t>
            </a:r>
            <a:r>
              <a:rPr lang="en-US" dirty="0" err="1"/>
              <a:t>i</a:t>
            </a:r>
            <a:r>
              <a:rPr lang="en-US" dirty="0"/>
              <a:t>&lt;5; </a:t>
            </a:r>
            <a:r>
              <a:rPr lang="en-US" dirty="0" err="1"/>
              <a:t>i</a:t>
            </a:r>
            <a:r>
              <a:rPr lang="en-US" dirty="0"/>
              <a:t>++) {  </a:t>
            </a:r>
          </a:p>
          <a:p>
            <a:r>
              <a:rPr lang="en-US" dirty="0"/>
              <a:t>      </a:t>
            </a:r>
            <a:r>
              <a:rPr lang="en-US" dirty="0" err="1"/>
              <a:t>printf</a:t>
            </a:r>
            <a:r>
              <a:rPr lang="en-US" dirty="0"/>
              <a:t>("</a:t>
            </a:r>
            <a:r>
              <a:rPr lang="en-US" dirty="0" err="1"/>
              <a:t>arr</a:t>
            </a:r>
            <a:r>
              <a:rPr lang="en-US" dirty="0"/>
              <a:t>[%d] = %d,  ", </a:t>
            </a:r>
            <a:r>
              <a:rPr lang="en-US" dirty="0" err="1"/>
              <a:t>i</a:t>
            </a:r>
            <a:r>
              <a:rPr lang="en-US" dirty="0"/>
              <a:t>, </a:t>
            </a:r>
            <a:r>
              <a:rPr lang="en-US" dirty="0" err="1"/>
              <a:t>arr</a:t>
            </a:r>
            <a:r>
              <a:rPr lang="en-US" dirty="0"/>
              <a:t>[</a:t>
            </a:r>
            <a:r>
              <a:rPr lang="en-US" dirty="0" err="1"/>
              <a:t>i</a:t>
            </a:r>
            <a:r>
              <a:rPr lang="en-US" dirty="0"/>
              <a:t>]);  </a:t>
            </a:r>
          </a:p>
          <a:p>
            <a:r>
              <a:rPr lang="en-US" dirty="0"/>
              <a:t>   }  </a:t>
            </a:r>
          </a:p>
          <a:p>
            <a:r>
              <a:rPr lang="en-US" dirty="0"/>
              <a:t>   </a:t>
            </a:r>
            <a:r>
              <a:rPr lang="en-US" dirty="0" err="1"/>
              <a:t>getch</a:t>
            </a:r>
            <a:r>
              <a:rPr lang="en-US" dirty="0"/>
              <a:t>();</a:t>
            </a:r>
          </a:p>
          <a:p>
            <a:r>
              <a:rPr lang="en-US" dirty="0"/>
              <a:t>} </a:t>
            </a:r>
          </a:p>
        </p:txBody>
      </p:sp>
    </p:spTree>
    <p:extLst>
      <p:ext uri="{BB962C8B-B14F-4D97-AF65-F5344CB8AC3E}">
        <p14:creationId xmlns:p14="http://schemas.microsoft.com/office/powerpoint/2010/main" val="551481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Menu driven code example</a:t>
            </a:r>
            <a:endParaRPr lang="en-US" dirty="0"/>
          </a:p>
        </p:txBody>
      </p:sp>
      <p:pic>
        <p:nvPicPr>
          <p:cNvPr id="4" name="Content Placeholder 3"/>
          <p:cNvPicPr>
            <a:picLocks noGrp="1" noChangeAspect="1"/>
          </p:cNvPicPr>
          <p:nvPr>
            <p:ph idx="1"/>
          </p:nvPr>
        </p:nvPicPr>
        <p:blipFill>
          <a:blip r:embed="rId2"/>
          <a:stretch>
            <a:fillRect/>
          </a:stretch>
        </p:blipFill>
        <p:spPr>
          <a:xfrm>
            <a:off x="950957" y="1400499"/>
            <a:ext cx="4838850" cy="3042712"/>
          </a:xfrm>
          <a:prstGeom prst="rect">
            <a:avLst/>
          </a:prstGeom>
        </p:spPr>
      </p:pic>
      <p:pic>
        <p:nvPicPr>
          <p:cNvPr id="5" name="Picture 4"/>
          <p:cNvPicPr>
            <a:picLocks noChangeAspect="1"/>
          </p:cNvPicPr>
          <p:nvPr/>
        </p:nvPicPr>
        <p:blipFill>
          <a:blip r:embed="rId3"/>
          <a:stretch>
            <a:fillRect/>
          </a:stretch>
        </p:blipFill>
        <p:spPr>
          <a:xfrm>
            <a:off x="2585098" y="4443211"/>
            <a:ext cx="3204709" cy="2521919"/>
          </a:xfrm>
          <a:prstGeom prst="rect">
            <a:avLst/>
          </a:prstGeom>
        </p:spPr>
      </p:pic>
      <p:pic>
        <p:nvPicPr>
          <p:cNvPr id="6" name="Picture 5"/>
          <p:cNvPicPr>
            <a:picLocks noChangeAspect="1"/>
          </p:cNvPicPr>
          <p:nvPr/>
        </p:nvPicPr>
        <p:blipFill>
          <a:blip r:embed="rId4"/>
          <a:stretch>
            <a:fillRect/>
          </a:stretch>
        </p:blipFill>
        <p:spPr>
          <a:xfrm>
            <a:off x="5967815" y="5704170"/>
            <a:ext cx="5312188" cy="1153830"/>
          </a:xfrm>
          <a:prstGeom prst="rect">
            <a:avLst/>
          </a:prstGeom>
        </p:spPr>
      </p:pic>
    </p:spTree>
    <p:extLst>
      <p:ext uri="{BB962C8B-B14F-4D97-AF65-F5344CB8AC3E}">
        <p14:creationId xmlns:p14="http://schemas.microsoft.com/office/powerpoint/2010/main" val="1434193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lstStyle/>
          <a:p>
            <a:pPr algn="ctr"/>
            <a:r>
              <a:rPr lang="en-US" b="1" dirty="0">
                <a:solidFill>
                  <a:srgbClr val="FF0000"/>
                </a:solidFill>
              </a:rPr>
              <a:t>STACK</a:t>
            </a:r>
            <a:endParaRPr lang="en-IN" b="1" dirty="0">
              <a:solidFill>
                <a:srgbClr val="FF0000"/>
              </a:solidFill>
            </a:endParaRP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lstStyle/>
          <a:p>
            <a:r>
              <a:rPr lang="en-US" b="0" i="0" dirty="0">
                <a:solidFill>
                  <a:srgbClr val="333333"/>
                </a:solidFill>
                <a:effectLst/>
                <a:latin typeface="inter-regular"/>
              </a:rPr>
              <a:t>A Stack is a linear data structure that follows the </a:t>
            </a:r>
            <a:r>
              <a:rPr lang="en-US" b="1" i="0" dirty="0">
                <a:solidFill>
                  <a:srgbClr val="333333"/>
                </a:solidFill>
                <a:effectLst/>
                <a:latin typeface="inter-bold"/>
              </a:rPr>
              <a:t>LIFO (Last-In-First-Out)</a:t>
            </a:r>
            <a:r>
              <a:rPr lang="en-US" b="0" i="0" dirty="0">
                <a:solidFill>
                  <a:srgbClr val="333333"/>
                </a:solidFill>
                <a:effectLst/>
                <a:latin typeface="inter-regular"/>
              </a:rPr>
              <a:t> principle. </a:t>
            </a:r>
          </a:p>
          <a:p>
            <a:r>
              <a:rPr lang="en-US" b="0" i="0" dirty="0">
                <a:solidFill>
                  <a:srgbClr val="333333"/>
                </a:solidFill>
                <a:effectLst/>
                <a:latin typeface="inter-regular"/>
              </a:rPr>
              <a:t>Stack has one end, whereas the Queue has two ends (</a:t>
            </a:r>
            <a:r>
              <a:rPr lang="en-US" b="1" i="0" dirty="0">
                <a:solidFill>
                  <a:srgbClr val="333333"/>
                </a:solidFill>
                <a:effectLst/>
                <a:latin typeface="inter-bold"/>
              </a:rPr>
              <a:t>front and rear</a:t>
            </a:r>
            <a:r>
              <a:rPr lang="en-US" b="0" i="0" dirty="0">
                <a:solidFill>
                  <a:srgbClr val="333333"/>
                </a:solidFill>
                <a:effectLst/>
                <a:latin typeface="inter-regular"/>
              </a:rPr>
              <a:t>). It contains only one pointer </a:t>
            </a:r>
            <a:r>
              <a:rPr lang="en-US" b="1" i="0" dirty="0">
                <a:solidFill>
                  <a:srgbClr val="333333"/>
                </a:solidFill>
                <a:effectLst/>
                <a:latin typeface="inter-bold"/>
              </a:rPr>
              <a:t>top pointer</a:t>
            </a:r>
            <a:r>
              <a:rPr lang="en-US" b="0" i="0" dirty="0">
                <a:solidFill>
                  <a:srgbClr val="333333"/>
                </a:solidFill>
                <a:effectLst/>
                <a:latin typeface="inter-regular"/>
              </a:rPr>
              <a:t> pointing to the topmost element of the stack. </a:t>
            </a:r>
          </a:p>
          <a:p>
            <a:r>
              <a:rPr lang="en-US" b="0" i="0" dirty="0">
                <a:solidFill>
                  <a:srgbClr val="333333"/>
                </a:solidFill>
                <a:effectLst/>
                <a:latin typeface="inter-regular"/>
              </a:rPr>
              <a:t>Whenever an element is added in the stack, it is added on the top of the stack, and the element can be deleted only from the stack. </a:t>
            </a:r>
          </a:p>
          <a:p>
            <a:r>
              <a:rPr lang="en-US" b="0" i="0" dirty="0">
                <a:solidFill>
                  <a:srgbClr val="333333"/>
                </a:solidFill>
                <a:effectLst/>
                <a:latin typeface="inter-regular"/>
              </a:rPr>
              <a:t>In other words, a </a:t>
            </a:r>
            <a:r>
              <a:rPr lang="en-US" b="1" i="1" dirty="0">
                <a:solidFill>
                  <a:srgbClr val="333333"/>
                </a:solidFill>
                <a:effectLst/>
                <a:latin typeface="inter-bold"/>
              </a:rPr>
              <a:t>stack can be defined as a container in which insertion and deletion can be done from the one end known as the top of the stack.</a:t>
            </a:r>
            <a:endParaRPr lang="en-IN" dirty="0"/>
          </a:p>
        </p:txBody>
      </p:sp>
    </p:spTree>
    <p:extLst>
      <p:ext uri="{BB962C8B-B14F-4D97-AF65-F5344CB8AC3E}">
        <p14:creationId xmlns:p14="http://schemas.microsoft.com/office/powerpoint/2010/main" val="3847488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lstStyle/>
          <a:p>
            <a:pPr algn="ctr"/>
            <a:r>
              <a:rPr lang="en-US" b="1" dirty="0">
                <a:solidFill>
                  <a:srgbClr val="FF0000"/>
                </a:solidFill>
              </a:rPr>
              <a:t>STACK</a:t>
            </a:r>
            <a:endParaRPr lang="en-IN" b="1" dirty="0">
              <a:solidFill>
                <a:srgbClr val="FF0000"/>
              </a:solidFill>
            </a:endParaRP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a:bodyPr>
          <a:lstStyle/>
          <a:p>
            <a:pPr algn="just">
              <a:buFont typeface="Arial" panose="020B0604020202020204" pitchFamily="34" charset="0"/>
              <a:buChar char="•"/>
            </a:pPr>
            <a:r>
              <a:rPr lang="en-US" b="0" i="0" dirty="0">
                <a:solidFill>
                  <a:srgbClr val="000000"/>
                </a:solidFill>
                <a:effectLst/>
                <a:latin typeface="inter-regular"/>
              </a:rPr>
              <a:t>It is called as stack because it behaves like a real-world stack, piles of books, etc.</a:t>
            </a:r>
          </a:p>
          <a:p>
            <a:pPr algn="just">
              <a:buFont typeface="Arial" panose="020B0604020202020204" pitchFamily="34" charset="0"/>
              <a:buChar char="•"/>
            </a:pPr>
            <a:r>
              <a:rPr lang="en-US" b="0" i="0" dirty="0">
                <a:solidFill>
                  <a:srgbClr val="000000"/>
                </a:solidFill>
                <a:effectLst/>
                <a:latin typeface="inter-regular"/>
              </a:rPr>
              <a:t>A Stack is an abstract data </a:t>
            </a:r>
            <a:r>
              <a:rPr lang="en-US" b="0" i="0" dirty="0" smtClean="0">
                <a:solidFill>
                  <a:srgbClr val="000000"/>
                </a:solidFill>
                <a:effectLst/>
                <a:latin typeface="inter-regular"/>
              </a:rPr>
              <a:t>type.</a:t>
            </a:r>
          </a:p>
          <a:p>
            <a:pPr algn="just"/>
            <a:r>
              <a:rPr lang="en-US" dirty="0">
                <a:solidFill>
                  <a:srgbClr val="000000"/>
                </a:solidFill>
                <a:latin typeface="inter-regular"/>
              </a:rPr>
              <a:t>It is a data structure that follows some order to insert and delete the elements, and that order can be LIFO.</a:t>
            </a:r>
          </a:p>
          <a:p>
            <a:pPr algn="just"/>
            <a:r>
              <a:rPr lang="en-US" dirty="0" smtClean="0"/>
              <a:t>Note: An </a:t>
            </a:r>
            <a:r>
              <a:rPr lang="en-US" dirty="0"/>
              <a:t>abstract data type is an abstraction of a data structure that provides only the interface to which the data structure must adhere. The interface does not give any specific details about something should be implemented or in what programming language</a:t>
            </a:r>
            <a:r>
              <a:rPr lang="en-US" dirty="0" smtClean="0"/>
              <a:t>. </a:t>
            </a:r>
            <a:r>
              <a:rPr lang="en-US" dirty="0"/>
              <a:t>Abstract Data Type(ADT) is a data type, where only behavior is defined but not implementation</a:t>
            </a:r>
            <a:r>
              <a:rPr lang="en-US" dirty="0" smtClean="0"/>
              <a:t>. Array, Queue, Stack etc. are examples of ADT.</a:t>
            </a:r>
          </a:p>
          <a:p>
            <a:pPr algn="just"/>
            <a:r>
              <a:rPr lang="en-US" b="1" dirty="0"/>
              <a:t>Real life </a:t>
            </a:r>
            <a:r>
              <a:rPr lang="en-US" b="1" dirty="0" smtClean="0"/>
              <a:t>example: </a:t>
            </a:r>
            <a:r>
              <a:rPr lang="en-US" dirty="0" smtClean="0"/>
              <a:t>book </a:t>
            </a:r>
            <a:r>
              <a:rPr lang="en-US" dirty="0"/>
              <a:t>is Abstract (Telephone Book is an implementation)</a:t>
            </a:r>
            <a:endParaRPr lang="en-US" dirty="0">
              <a:solidFill>
                <a:srgbClr val="000000"/>
              </a:solidFill>
              <a:latin typeface="inter-regular"/>
            </a:endParaRPr>
          </a:p>
          <a:p>
            <a:endParaRPr lang="en-IN" dirty="0"/>
          </a:p>
        </p:txBody>
      </p:sp>
    </p:spTree>
    <p:extLst>
      <p:ext uri="{BB962C8B-B14F-4D97-AF65-F5344CB8AC3E}">
        <p14:creationId xmlns:p14="http://schemas.microsoft.com/office/powerpoint/2010/main" val="119626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2FA17E-DD13-49CB-B9D0-F875BF2051DE}"/>
              </a:ext>
            </a:extLst>
          </p:cNvPr>
          <p:cNvSpPr>
            <a:spLocks noGrp="1"/>
          </p:cNvSpPr>
          <p:nvPr>
            <p:ph type="title"/>
          </p:nvPr>
        </p:nvSpPr>
        <p:spPr/>
        <p:txBody>
          <a:bodyPr/>
          <a:lstStyle/>
          <a:p>
            <a:pPr algn="ctr"/>
            <a:r>
              <a:rPr lang="en-US" b="1" dirty="0">
                <a:solidFill>
                  <a:srgbClr val="FF0000"/>
                </a:solidFill>
              </a:rPr>
              <a:t>STACK</a:t>
            </a:r>
            <a:endParaRPr lang="en-IN" b="1" dirty="0">
              <a:solidFill>
                <a:srgbClr val="FF0000"/>
              </a:solidFill>
            </a:endParaRPr>
          </a:p>
        </p:txBody>
      </p:sp>
      <p:pic>
        <p:nvPicPr>
          <p:cNvPr id="5" name="Picture 4">
            <a:extLst>
              <a:ext uri="{FF2B5EF4-FFF2-40B4-BE49-F238E27FC236}">
                <a16:creationId xmlns:a16="http://schemas.microsoft.com/office/drawing/2014/main" xmlns="" id="{42C033AC-1161-EBAE-626F-B10278A6FF8A}"/>
              </a:ext>
            </a:extLst>
          </p:cNvPr>
          <p:cNvPicPr>
            <a:picLocks noChangeAspect="1"/>
          </p:cNvPicPr>
          <p:nvPr/>
        </p:nvPicPr>
        <p:blipFill>
          <a:blip r:embed="rId2"/>
          <a:stretch>
            <a:fillRect/>
          </a:stretch>
        </p:blipFill>
        <p:spPr>
          <a:xfrm>
            <a:off x="1169232" y="2014201"/>
            <a:ext cx="9253459" cy="4478674"/>
          </a:xfrm>
          <a:prstGeom prst="rect">
            <a:avLst/>
          </a:prstGeom>
        </p:spPr>
      </p:pic>
    </p:spTree>
    <p:extLst>
      <p:ext uri="{BB962C8B-B14F-4D97-AF65-F5344CB8AC3E}">
        <p14:creationId xmlns:p14="http://schemas.microsoft.com/office/powerpoint/2010/main" val="2227802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09B9F-B5F8-68C1-158B-B6BFF948138D}"/>
              </a:ext>
            </a:extLst>
          </p:cNvPr>
          <p:cNvSpPr>
            <a:spLocks noGrp="1"/>
          </p:cNvSpPr>
          <p:nvPr>
            <p:ph type="title"/>
          </p:nvPr>
        </p:nvSpPr>
        <p:spPr>
          <a:xfrm>
            <a:off x="838200" y="112427"/>
            <a:ext cx="10515600" cy="794478"/>
          </a:xfrm>
        </p:spPr>
        <p:txBody>
          <a:bodyPr/>
          <a:lstStyle/>
          <a:p>
            <a:pPr algn="ctr"/>
            <a:r>
              <a:rPr lang="en-US" b="1" dirty="0">
                <a:solidFill>
                  <a:srgbClr val="FF0000"/>
                </a:solidFill>
              </a:rPr>
              <a:t>STACK - OPERATIONS</a:t>
            </a:r>
            <a:endParaRPr lang="en-IN" b="1" dirty="0">
              <a:solidFill>
                <a:srgbClr val="FF0000"/>
              </a:solidFill>
            </a:endParaRPr>
          </a:p>
        </p:txBody>
      </p:sp>
      <p:sp>
        <p:nvSpPr>
          <p:cNvPr id="3" name="Content Placeholder 2">
            <a:extLst>
              <a:ext uri="{FF2B5EF4-FFF2-40B4-BE49-F238E27FC236}">
                <a16:creationId xmlns:a16="http://schemas.microsoft.com/office/drawing/2014/main" xmlns="" id="{68E3A9EE-452D-421D-B88E-2EDA3F5567E4}"/>
              </a:ext>
            </a:extLst>
          </p:cNvPr>
          <p:cNvSpPr>
            <a:spLocks noGrp="1"/>
          </p:cNvSpPr>
          <p:nvPr>
            <p:ph idx="1"/>
          </p:nvPr>
        </p:nvSpPr>
        <p:spPr>
          <a:xfrm>
            <a:off x="463446" y="963690"/>
            <a:ext cx="11311328" cy="5631981"/>
          </a:xfrm>
        </p:spPr>
        <p:txBody>
          <a:bodyPr>
            <a:normAutofit lnSpcReduction="10000"/>
          </a:bodyPr>
          <a:lstStyle/>
          <a:p>
            <a:pPr algn="just">
              <a:buFont typeface="Arial" panose="020B0604020202020204" pitchFamily="34" charset="0"/>
              <a:buChar char="•"/>
            </a:pPr>
            <a:r>
              <a:rPr lang="en-US" b="1" i="0" dirty="0">
                <a:solidFill>
                  <a:srgbClr val="000000"/>
                </a:solidFill>
                <a:effectLst/>
                <a:latin typeface="inter-bold"/>
              </a:rPr>
              <a:t>push():</a:t>
            </a:r>
            <a:r>
              <a:rPr lang="en-US" b="0" i="0" dirty="0">
                <a:solidFill>
                  <a:srgbClr val="000000"/>
                </a:solidFill>
                <a:effectLst/>
                <a:latin typeface="inter-regular"/>
              </a:rPr>
              <a:t> When we insert an element in a stack then the operation is known as a push. If the stack is full then the overflow condition occurs.</a:t>
            </a:r>
          </a:p>
          <a:p>
            <a:pPr algn="just">
              <a:buFont typeface="Arial" panose="020B0604020202020204" pitchFamily="34" charset="0"/>
              <a:buChar char="•"/>
            </a:pPr>
            <a:r>
              <a:rPr lang="en-US" b="1" i="0" dirty="0">
                <a:solidFill>
                  <a:srgbClr val="000000"/>
                </a:solidFill>
                <a:effectLst/>
                <a:latin typeface="inter-bold"/>
              </a:rPr>
              <a:t>pop():</a:t>
            </a:r>
            <a:r>
              <a:rPr lang="en-US" b="0" i="0" dirty="0">
                <a:solidFill>
                  <a:srgbClr val="000000"/>
                </a:solidFill>
                <a:effectLst/>
                <a:latin typeface="inter-regular"/>
              </a:rPr>
              <a:t> When we delete an element from the stack, the operation is known as a pop. If the stack is empty means that no element exists in the stack, this state is known as an underflow state.</a:t>
            </a:r>
          </a:p>
          <a:p>
            <a:r>
              <a:rPr lang="en-IN" b="1" dirty="0" smtClean="0"/>
              <a:t>peek():</a:t>
            </a:r>
            <a:r>
              <a:rPr lang="en-IN" dirty="0" smtClean="0"/>
              <a:t> </a:t>
            </a:r>
            <a:r>
              <a:rPr lang="en-IN" dirty="0"/>
              <a:t>Returns the top most element</a:t>
            </a:r>
            <a:r>
              <a:rPr lang="en-IN" dirty="0" smtClean="0"/>
              <a:t>.</a:t>
            </a:r>
          </a:p>
          <a:p>
            <a:r>
              <a:rPr lang="en-IN" b="1" dirty="0" smtClean="0"/>
              <a:t>Note: pop() will remove and return the item from the stack while peek() will only return the top most item from the stack it does not remove item from the stack</a:t>
            </a:r>
          </a:p>
          <a:p>
            <a:r>
              <a:rPr lang="en-IN" dirty="0" smtClean="0"/>
              <a:t>Now to create stack we need to allocate space to stack. So two ways to allocate space: static (array) and dynamic (linked list)</a:t>
            </a:r>
          </a:p>
          <a:p>
            <a:r>
              <a:rPr lang="en-IN" dirty="0" smtClean="0"/>
              <a:t>So we can implement stack using array or </a:t>
            </a:r>
            <a:r>
              <a:rPr lang="en-IN" smtClean="0"/>
              <a:t>linked list</a:t>
            </a:r>
            <a:endParaRPr lang="en-IN" dirty="0"/>
          </a:p>
        </p:txBody>
      </p:sp>
    </p:spTree>
    <p:extLst>
      <p:ext uri="{BB962C8B-B14F-4D97-AF65-F5344CB8AC3E}">
        <p14:creationId xmlns:p14="http://schemas.microsoft.com/office/powerpoint/2010/main" val="791632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F03863-F8D6-D233-1BB4-5D2DAB03F940}"/>
              </a:ext>
            </a:extLst>
          </p:cNvPr>
          <p:cNvSpPr>
            <a:spLocks noGrp="1"/>
          </p:cNvSpPr>
          <p:nvPr>
            <p:ph type="title"/>
          </p:nvPr>
        </p:nvSpPr>
        <p:spPr/>
        <p:txBody>
          <a:bodyPr/>
          <a:lstStyle/>
          <a:p>
            <a:pPr algn="ctr"/>
            <a:r>
              <a:rPr lang="en-US" b="1" dirty="0">
                <a:solidFill>
                  <a:srgbClr val="FF0000"/>
                </a:solidFill>
              </a:rPr>
              <a:t>STACK - PUSH</a:t>
            </a:r>
            <a:endParaRPr lang="en-IN" b="1" dirty="0">
              <a:solidFill>
                <a:srgbClr val="FF0000"/>
              </a:solidFill>
            </a:endParaRPr>
          </a:p>
        </p:txBody>
      </p:sp>
      <p:sp>
        <p:nvSpPr>
          <p:cNvPr id="3" name="Content Placeholder 2">
            <a:extLst>
              <a:ext uri="{FF2B5EF4-FFF2-40B4-BE49-F238E27FC236}">
                <a16:creationId xmlns:a16="http://schemas.microsoft.com/office/drawing/2014/main" xmlns="" id="{54BDC041-B090-47EA-6D1C-79FB386C8DC8}"/>
              </a:ext>
            </a:extLst>
          </p:cNvPr>
          <p:cNvSpPr>
            <a:spLocks noGrp="1"/>
          </p:cNvSpPr>
          <p:nvPr>
            <p:ph idx="1"/>
          </p:nvPr>
        </p:nvSpPr>
        <p:spPr>
          <a:xfrm>
            <a:off x="373504" y="1510830"/>
            <a:ext cx="11723557" cy="5069851"/>
          </a:xfrm>
        </p:spPr>
        <p:txBody>
          <a:bodyPr>
            <a:normAutofit/>
          </a:bodyPr>
          <a:lstStyle/>
          <a:p>
            <a:pPr marL="0" indent="0" algn="just">
              <a:buNone/>
            </a:pPr>
            <a:r>
              <a:rPr lang="en-US" b="1" i="0" dirty="0">
                <a:solidFill>
                  <a:srgbClr val="333333"/>
                </a:solidFill>
                <a:effectLst/>
                <a:latin typeface="inter-bold"/>
              </a:rPr>
              <a:t>The steps involved in the PUSH operation is given below:</a:t>
            </a:r>
            <a:endParaRPr lang="en-US" b="0" i="0" dirty="0">
              <a:solidFill>
                <a:srgbClr val="333333"/>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Before inserting an element in a stack, we check whether the stack is full.</a:t>
            </a:r>
          </a:p>
          <a:p>
            <a:pPr algn="just">
              <a:buFont typeface="Arial" panose="020B0604020202020204" pitchFamily="34" charset="0"/>
              <a:buChar char="•"/>
            </a:pPr>
            <a:r>
              <a:rPr lang="en-US" b="0" i="0" dirty="0">
                <a:solidFill>
                  <a:srgbClr val="000000"/>
                </a:solidFill>
                <a:effectLst/>
                <a:latin typeface="inter-regular"/>
              </a:rPr>
              <a:t>If we try to insert the element in a stack, and the stack is full, then the </a:t>
            </a:r>
            <a:r>
              <a:rPr lang="en-US" b="1" i="1" dirty="0">
                <a:solidFill>
                  <a:srgbClr val="000000"/>
                </a:solidFill>
                <a:effectLst/>
                <a:latin typeface="inter-bold"/>
              </a:rPr>
              <a:t>overflow</a:t>
            </a:r>
            <a:r>
              <a:rPr lang="en-US" b="0" i="0" dirty="0">
                <a:solidFill>
                  <a:srgbClr val="000000"/>
                </a:solidFill>
                <a:effectLst/>
                <a:latin typeface="inter-regular"/>
              </a:rPr>
              <a:t> condition occurs.</a:t>
            </a:r>
          </a:p>
          <a:p>
            <a:pPr algn="just">
              <a:buFont typeface="Arial" panose="020B0604020202020204" pitchFamily="34" charset="0"/>
              <a:buChar char="•"/>
            </a:pPr>
            <a:r>
              <a:rPr lang="en-US" b="0" i="0" dirty="0">
                <a:solidFill>
                  <a:srgbClr val="000000"/>
                </a:solidFill>
                <a:effectLst/>
                <a:latin typeface="inter-regular"/>
              </a:rPr>
              <a:t>When we initialize a stack, we set the value of top as -1 to check that the stack is empty.</a:t>
            </a:r>
          </a:p>
          <a:p>
            <a:pPr algn="just">
              <a:buFont typeface="Arial" panose="020B0604020202020204" pitchFamily="34" charset="0"/>
              <a:buChar char="•"/>
            </a:pPr>
            <a:r>
              <a:rPr lang="en-US" b="0" i="0" dirty="0">
                <a:solidFill>
                  <a:srgbClr val="000000"/>
                </a:solidFill>
                <a:effectLst/>
                <a:latin typeface="inter-regular"/>
              </a:rPr>
              <a:t>When the new element is pushed in a stack, first, the value of the top gets incremented, i.e., </a:t>
            </a:r>
            <a:r>
              <a:rPr lang="en-US" b="1" i="0" dirty="0">
                <a:solidFill>
                  <a:srgbClr val="000000"/>
                </a:solidFill>
                <a:effectLst/>
                <a:latin typeface="inter-bold"/>
              </a:rPr>
              <a:t>top=top+1,</a:t>
            </a:r>
            <a:r>
              <a:rPr lang="en-US" b="0" i="0" dirty="0">
                <a:solidFill>
                  <a:srgbClr val="000000"/>
                </a:solidFill>
                <a:effectLst/>
                <a:latin typeface="inter-regular"/>
              </a:rPr>
              <a:t> and the element will be placed at the new position of the </a:t>
            </a:r>
            <a:r>
              <a:rPr lang="en-US" b="1" i="0" dirty="0">
                <a:solidFill>
                  <a:srgbClr val="000000"/>
                </a:solidFill>
                <a:effectLst/>
                <a:latin typeface="inter-bold"/>
              </a:rPr>
              <a:t>top</a:t>
            </a:r>
            <a:r>
              <a:rPr lang="en-US" b="0" i="0" dirty="0">
                <a:solidFill>
                  <a:srgbClr val="000000"/>
                </a:solidFill>
                <a:effectLst/>
                <a:latin typeface="inter-regular"/>
              </a:rPr>
              <a:t>.</a:t>
            </a:r>
          </a:p>
          <a:p>
            <a:pPr algn="just">
              <a:buFont typeface="Arial" panose="020B0604020202020204" pitchFamily="34" charset="0"/>
              <a:buChar char="•"/>
            </a:pPr>
            <a:r>
              <a:rPr lang="en-US" b="0" i="0" dirty="0">
                <a:solidFill>
                  <a:srgbClr val="000000"/>
                </a:solidFill>
                <a:effectLst/>
                <a:latin typeface="inter-regular"/>
              </a:rPr>
              <a:t>The elements will be inserted until we reach the </a:t>
            </a:r>
            <a:r>
              <a:rPr lang="en-US" b="1" i="1" dirty="0">
                <a:solidFill>
                  <a:srgbClr val="000000"/>
                </a:solidFill>
                <a:effectLst/>
                <a:latin typeface="inter-bold"/>
              </a:rPr>
              <a:t>max</a:t>
            </a:r>
            <a:r>
              <a:rPr lang="en-US" b="0" i="0" dirty="0">
                <a:solidFill>
                  <a:srgbClr val="000000"/>
                </a:solidFill>
                <a:effectLst/>
                <a:latin typeface="inter-regular"/>
              </a:rPr>
              <a:t> size of the stack.</a:t>
            </a:r>
          </a:p>
          <a:p>
            <a:endParaRPr lang="en-IN" dirty="0"/>
          </a:p>
        </p:txBody>
      </p:sp>
    </p:spTree>
    <p:extLst>
      <p:ext uri="{BB962C8B-B14F-4D97-AF65-F5344CB8AC3E}">
        <p14:creationId xmlns:p14="http://schemas.microsoft.com/office/powerpoint/2010/main" val="3873007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716" y="208208"/>
            <a:ext cx="8229600" cy="1143000"/>
          </a:xfrm>
        </p:spPr>
        <p:txBody>
          <a:bodyPr/>
          <a:lstStyle/>
          <a:p>
            <a:r>
              <a:rPr lang="en-US" b="1" dirty="0" smtClean="0">
                <a:solidFill>
                  <a:srgbClr val="FF0000"/>
                </a:solidFill>
              </a:rPr>
              <a:t>PUSH</a:t>
            </a:r>
            <a:endParaRPr lang="en-US" b="1" dirty="0">
              <a:solidFill>
                <a:srgbClr val="FF0000"/>
              </a:solidFill>
            </a:endParaRPr>
          </a:p>
        </p:txBody>
      </p:sp>
      <p:pic>
        <p:nvPicPr>
          <p:cNvPr id="1026" name="Picture 2" descr="DS Stack Introdu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461" y="1207439"/>
            <a:ext cx="9078577" cy="5295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4755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lstStyle/>
          <a:p>
            <a:r>
              <a:rPr lang="en-US" b="1" dirty="0">
                <a:solidFill>
                  <a:srgbClr val="FF0000"/>
                </a:solidFill>
              </a:rPr>
              <a:t>ALGORITHM - PUSH</a:t>
            </a:r>
          </a:p>
        </p:txBody>
      </p:sp>
      <p:sp>
        <p:nvSpPr>
          <p:cNvPr id="3" name="Content Placeholder 2"/>
          <p:cNvSpPr>
            <a:spLocks noGrp="1"/>
          </p:cNvSpPr>
          <p:nvPr>
            <p:ph idx="1"/>
          </p:nvPr>
        </p:nvSpPr>
        <p:spPr>
          <a:xfrm>
            <a:off x="479685" y="838200"/>
            <a:ext cx="11325069" cy="5791200"/>
          </a:xfrm>
        </p:spPr>
        <p:txBody>
          <a:bodyPr>
            <a:normAutofit/>
          </a:bodyPr>
          <a:lstStyle/>
          <a:p>
            <a:pPr marL="0" indent="0">
              <a:buNone/>
            </a:pPr>
            <a:endParaRPr lang="en-US" b="1" dirty="0">
              <a:solidFill>
                <a:srgbClr val="FF0000"/>
              </a:solidFill>
            </a:endParaRPr>
          </a:p>
          <a:p>
            <a:pPr marL="0" indent="0">
              <a:buNone/>
            </a:pPr>
            <a:r>
              <a:rPr lang="en-US" b="1" dirty="0">
                <a:solidFill>
                  <a:srgbClr val="FF0000"/>
                </a:solidFill>
              </a:rPr>
              <a:t>PUSH(STACK, TOP, N, ITEM)</a:t>
            </a:r>
          </a:p>
          <a:p>
            <a:pPr marL="0" indent="0">
              <a:buNone/>
            </a:pPr>
            <a:r>
              <a:rPr lang="en-US" b="1" dirty="0"/>
              <a:t>This procedure inserts an item in the stack.</a:t>
            </a:r>
          </a:p>
          <a:p>
            <a:pPr marL="0" indent="0">
              <a:buNone/>
            </a:pPr>
            <a:r>
              <a:rPr lang="en-US" b="1" dirty="0"/>
              <a:t>Step 1: [Stack already filled]</a:t>
            </a:r>
          </a:p>
          <a:p>
            <a:pPr marL="0" indent="0">
              <a:buNone/>
            </a:pPr>
            <a:r>
              <a:rPr lang="en-US" b="1" dirty="0"/>
              <a:t>              If TOP = N-1 then</a:t>
            </a:r>
          </a:p>
          <a:p>
            <a:pPr marL="0" indent="0">
              <a:buNone/>
            </a:pPr>
            <a:r>
              <a:rPr lang="en-US" b="1" dirty="0"/>
              <a:t>                   Print: OVERFLOW </a:t>
            </a:r>
          </a:p>
          <a:p>
            <a:pPr marL="0" indent="0">
              <a:buNone/>
            </a:pPr>
            <a:r>
              <a:rPr lang="en-US" b="1" dirty="0"/>
              <a:t>                   Exit.</a:t>
            </a:r>
          </a:p>
          <a:p>
            <a:pPr marL="0" indent="0">
              <a:buNone/>
            </a:pPr>
            <a:r>
              <a:rPr lang="en-US" b="1" dirty="0"/>
              <a:t>Step 2:Set TOP:= TOP + 1 [Increments TOP by 1]</a:t>
            </a:r>
          </a:p>
          <a:p>
            <a:pPr marL="0" indent="0">
              <a:buNone/>
            </a:pPr>
            <a:r>
              <a:rPr lang="en-US" b="1" dirty="0"/>
              <a:t>Step 3: Set STACK[TOP] = ITEM [Inserts item in stack]</a:t>
            </a:r>
          </a:p>
          <a:p>
            <a:pPr marL="0" indent="0">
              <a:buNone/>
            </a:pPr>
            <a:r>
              <a:rPr lang="en-US" b="1" dirty="0"/>
              <a:t>Step 4: Return</a:t>
            </a:r>
          </a:p>
        </p:txBody>
      </p:sp>
    </p:spTree>
    <p:extLst>
      <p:ext uri="{BB962C8B-B14F-4D97-AF65-F5344CB8AC3E}">
        <p14:creationId xmlns:p14="http://schemas.microsoft.com/office/powerpoint/2010/main" val="321359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F03863-F8D6-D233-1BB4-5D2DAB03F940}"/>
              </a:ext>
            </a:extLst>
          </p:cNvPr>
          <p:cNvSpPr>
            <a:spLocks noGrp="1"/>
          </p:cNvSpPr>
          <p:nvPr>
            <p:ph type="title"/>
          </p:nvPr>
        </p:nvSpPr>
        <p:spPr>
          <a:xfrm>
            <a:off x="838200" y="365125"/>
            <a:ext cx="10515600" cy="601741"/>
          </a:xfrm>
        </p:spPr>
        <p:txBody>
          <a:bodyPr>
            <a:normAutofit fontScale="90000"/>
          </a:bodyPr>
          <a:lstStyle/>
          <a:p>
            <a:pPr algn="ctr"/>
            <a:r>
              <a:rPr lang="en-US" b="1" dirty="0">
                <a:solidFill>
                  <a:srgbClr val="FF0000"/>
                </a:solidFill>
              </a:rPr>
              <a:t>STACK - POP</a:t>
            </a:r>
            <a:endParaRPr lang="en-IN" b="1" dirty="0">
              <a:solidFill>
                <a:srgbClr val="FF0000"/>
              </a:solidFill>
            </a:endParaRPr>
          </a:p>
        </p:txBody>
      </p:sp>
      <p:sp>
        <p:nvSpPr>
          <p:cNvPr id="3" name="Content Placeholder 2">
            <a:extLst>
              <a:ext uri="{FF2B5EF4-FFF2-40B4-BE49-F238E27FC236}">
                <a16:creationId xmlns:a16="http://schemas.microsoft.com/office/drawing/2014/main" xmlns="" id="{54BDC041-B090-47EA-6D1C-79FB386C8DC8}"/>
              </a:ext>
            </a:extLst>
          </p:cNvPr>
          <p:cNvSpPr>
            <a:spLocks noGrp="1"/>
          </p:cNvSpPr>
          <p:nvPr>
            <p:ph idx="1"/>
          </p:nvPr>
        </p:nvSpPr>
        <p:spPr>
          <a:xfrm>
            <a:off x="659567" y="1326630"/>
            <a:ext cx="11032761" cy="5166245"/>
          </a:xfrm>
        </p:spPr>
        <p:txBody>
          <a:bodyPr>
            <a:normAutofit/>
          </a:bodyPr>
          <a:lstStyle/>
          <a:p>
            <a:pPr marL="0" indent="0" algn="just">
              <a:buNone/>
            </a:pPr>
            <a:r>
              <a:rPr lang="en-US" b="1" i="0" dirty="0">
                <a:solidFill>
                  <a:srgbClr val="333333"/>
                </a:solidFill>
                <a:effectLst/>
                <a:latin typeface="inter-bold"/>
              </a:rPr>
              <a:t>The steps involved in the POP operation is given below:</a:t>
            </a:r>
            <a:endParaRPr lang="en-US" b="0" i="0" dirty="0">
              <a:solidFill>
                <a:srgbClr val="333333"/>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Before deleting the element from the stack, we check whether the stack is empty.</a:t>
            </a:r>
          </a:p>
          <a:p>
            <a:pPr algn="just">
              <a:buFont typeface="Arial" panose="020B0604020202020204" pitchFamily="34" charset="0"/>
              <a:buChar char="•"/>
            </a:pPr>
            <a:r>
              <a:rPr lang="en-US" b="0" i="0" dirty="0">
                <a:solidFill>
                  <a:srgbClr val="000000"/>
                </a:solidFill>
                <a:effectLst/>
                <a:latin typeface="inter-regular"/>
              </a:rPr>
              <a:t>If we try to delete the element from the empty stack, then the </a:t>
            </a:r>
            <a:r>
              <a:rPr lang="en-US" b="1" i="1" dirty="0">
                <a:solidFill>
                  <a:srgbClr val="000000"/>
                </a:solidFill>
                <a:effectLst/>
                <a:latin typeface="inter-bold"/>
              </a:rPr>
              <a:t>underflow</a:t>
            </a:r>
            <a:r>
              <a:rPr lang="en-US" b="0" i="0" dirty="0">
                <a:solidFill>
                  <a:srgbClr val="000000"/>
                </a:solidFill>
                <a:effectLst/>
                <a:latin typeface="inter-regular"/>
              </a:rPr>
              <a:t> condition occurs.</a:t>
            </a:r>
          </a:p>
          <a:p>
            <a:pPr algn="just">
              <a:buFont typeface="Arial" panose="020B0604020202020204" pitchFamily="34" charset="0"/>
              <a:buChar char="•"/>
            </a:pPr>
            <a:r>
              <a:rPr lang="en-US" b="0" i="0" dirty="0">
                <a:solidFill>
                  <a:srgbClr val="000000"/>
                </a:solidFill>
                <a:effectLst/>
                <a:latin typeface="inter-regular"/>
              </a:rPr>
              <a:t>If the stack is not empty, we first access the element which is pointed by the </a:t>
            </a:r>
            <a:r>
              <a:rPr lang="en-US" b="1" i="1" dirty="0">
                <a:solidFill>
                  <a:srgbClr val="000000"/>
                </a:solidFill>
                <a:effectLst/>
                <a:latin typeface="inter-bold"/>
              </a:rPr>
              <a:t>top</a:t>
            </a: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Once the pop operation is performed, the top is decremented by 1, i.e., </a:t>
            </a:r>
            <a:r>
              <a:rPr lang="en-US" b="1" i="0" dirty="0">
                <a:solidFill>
                  <a:srgbClr val="000000"/>
                </a:solidFill>
                <a:effectLst/>
                <a:latin typeface="inter-bold"/>
              </a:rPr>
              <a:t>top=top-1</a:t>
            </a:r>
            <a:r>
              <a:rPr lang="en-US" b="0" i="0" dirty="0">
                <a:solidFill>
                  <a:srgbClr val="000000"/>
                </a:solidFill>
                <a:effectLst/>
                <a:latin typeface="inter-regular"/>
              </a:rPr>
              <a:t>.</a:t>
            </a:r>
          </a:p>
          <a:p>
            <a:endParaRPr lang="en-IN" dirty="0"/>
          </a:p>
        </p:txBody>
      </p:sp>
    </p:spTree>
    <p:extLst>
      <p:ext uri="{BB962C8B-B14F-4D97-AF65-F5344CB8AC3E}">
        <p14:creationId xmlns:p14="http://schemas.microsoft.com/office/powerpoint/2010/main" val="3568007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F03863-F8D6-D233-1BB4-5D2DAB03F940}"/>
              </a:ext>
            </a:extLst>
          </p:cNvPr>
          <p:cNvSpPr>
            <a:spLocks noGrp="1"/>
          </p:cNvSpPr>
          <p:nvPr>
            <p:ph type="title"/>
          </p:nvPr>
        </p:nvSpPr>
        <p:spPr>
          <a:xfrm>
            <a:off x="838200" y="365125"/>
            <a:ext cx="10515600" cy="601741"/>
          </a:xfrm>
        </p:spPr>
        <p:txBody>
          <a:bodyPr>
            <a:normAutofit fontScale="90000"/>
          </a:bodyPr>
          <a:lstStyle/>
          <a:p>
            <a:pPr algn="ctr"/>
            <a:r>
              <a:rPr lang="en-US" b="1" dirty="0">
                <a:solidFill>
                  <a:srgbClr val="FF0000"/>
                </a:solidFill>
              </a:rPr>
              <a:t>STACK - POP</a:t>
            </a:r>
            <a:endParaRPr lang="en-IN" b="1" dirty="0">
              <a:solidFill>
                <a:srgbClr val="FF0000"/>
              </a:solidFill>
            </a:endParaRPr>
          </a:p>
        </p:txBody>
      </p:sp>
      <p:pic>
        <p:nvPicPr>
          <p:cNvPr id="2050" name="Picture 2" descr="DS Stack Introdu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1039" y="1173363"/>
            <a:ext cx="7365687" cy="5480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8961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lstStyle/>
          <a:p>
            <a:r>
              <a:rPr lang="en-US" b="1" dirty="0">
                <a:solidFill>
                  <a:srgbClr val="FF0000"/>
                </a:solidFill>
              </a:rPr>
              <a:t>ALGORITHM – POP</a:t>
            </a:r>
          </a:p>
        </p:txBody>
      </p:sp>
      <p:sp>
        <p:nvSpPr>
          <p:cNvPr id="3" name="Content Placeholder 2"/>
          <p:cNvSpPr>
            <a:spLocks noGrp="1"/>
          </p:cNvSpPr>
          <p:nvPr>
            <p:ph idx="1"/>
          </p:nvPr>
        </p:nvSpPr>
        <p:spPr>
          <a:xfrm>
            <a:off x="1828800" y="914400"/>
            <a:ext cx="8686800" cy="5791200"/>
          </a:xfrm>
        </p:spPr>
        <p:txBody>
          <a:bodyPr>
            <a:normAutofit/>
          </a:bodyPr>
          <a:lstStyle/>
          <a:p>
            <a:pPr marL="0" indent="0">
              <a:buNone/>
            </a:pPr>
            <a:endParaRPr lang="en-US" b="1" dirty="0">
              <a:solidFill>
                <a:srgbClr val="FF0000"/>
              </a:solidFill>
            </a:endParaRPr>
          </a:p>
          <a:p>
            <a:pPr marL="0" indent="0">
              <a:buNone/>
            </a:pPr>
            <a:r>
              <a:rPr lang="en-US" b="1" dirty="0">
                <a:solidFill>
                  <a:srgbClr val="FF0000"/>
                </a:solidFill>
              </a:rPr>
              <a:t>POP(STACK, TOP, ITEM)</a:t>
            </a:r>
          </a:p>
          <a:p>
            <a:pPr marL="0" indent="0">
              <a:buNone/>
            </a:pPr>
            <a:r>
              <a:rPr lang="en-US" b="1" dirty="0"/>
              <a:t>This procedure deletes the top item from the stack.</a:t>
            </a:r>
          </a:p>
          <a:p>
            <a:pPr marL="0" indent="0">
              <a:buNone/>
            </a:pPr>
            <a:r>
              <a:rPr lang="en-US" b="1" dirty="0"/>
              <a:t>Step 1: [Stack empty?]</a:t>
            </a:r>
          </a:p>
          <a:p>
            <a:pPr marL="0" indent="0">
              <a:buNone/>
            </a:pPr>
            <a:r>
              <a:rPr lang="en-US" b="1" dirty="0"/>
              <a:t>              If TOP = -1 then</a:t>
            </a:r>
          </a:p>
          <a:p>
            <a:pPr marL="0" indent="0">
              <a:buNone/>
            </a:pPr>
            <a:r>
              <a:rPr lang="en-US" b="1" dirty="0"/>
              <a:t>                   Print: UNDERFLOW </a:t>
            </a:r>
          </a:p>
          <a:p>
            <a:pPr marL="0" indent="0">
              <a:buNone/>
            </a:pPr>
            <a:r>
              <a:rPr lang="en-US" b="1" dirty="0"/>
              <a:t>                   Exit.</a:t>
            </a:r>
          </a:p>
          <a:p>
            <a:pPr marL="0" indent="0">
              <a:buNone/>
            </a:pPr>
            <a:r>
              <a:rPr lang="en-US" b="1" dirty="0"/>
              <a:t>Step 2: Set Item:= STACK[TOP]</a:t>
            </a:r>
          </a:p>
          <a:p>
            <a:pPr marL="0" indent="0">
              <a:buNone/>
            </a:pPr>
            <a:r>
              <a:rPr lang="en-US" b="1" dirty="0"/>
              <a:t>Step 3:Set TOP:= TOP - 1 [Decrements TOP by 1]</a:t>
            </a:r>
          </a:p>
          <a:p>
            <a:pPr marL="0" indent="0">
              <a:buNone/>
            </a:pPr>
            <a:r>
              <a:rPr lang="en-US" b="1" dirty="0"/>
              <a:t>Step 4: Return</a:t>
            </a:r>
          </a:p>
        </p:txBody>
      </p:sp>
    </p:spTree>
    <p:extLst>
      <p:ext uri="{BB962C8B-B14F-4D97-AF65-F5344CB8AC3E}">
        <p14:creationId xmlns:p14="http://schemas.microsoft.com/office/powerpoint/2010/main" val="1123383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F03863-F8D6-D233-1BB4-5D2DAB03F940}"/>
              </a:ext>
            </a:extLst>
          </p:cNvPr>
          <p:cNvSpPr>
            <a:spLocks noGrp="1"/>
          </p:cNvSpPr>
          <p:nvPr>
            <p:ph type="title"/>
          </p:nvPr>
        </p:nvSpPr>
        <p:spPr>
          <a:xfrm>
            <a:off x="472191" y="202367"/>
            <a:ext cx="11272602" cy="966867"/>
          </a:xfrm>
        </p:spPr>
        <p:txBody>
          <a:bodyPr/>
          <a:lstStyle/>
          <a:p>
            <a:pPr algn="ctr"/>
            <a:r>
              <a:rPr lang="en-US" b="1" dirty="0">
                <a:solidFill>
                  <a:srgbClr val="FF0000"/>
                </a:solidFill>
              </a:rPr>
              <a:t>STACK - APPLICATIONS</a:t>
            </a:r>
            <a:endParaRPr lang="en-IN" b="1" dirty="0">
              <a:solidFill>
                <a:srgbClr val="FF0000"/>
              </a:solidFill>
            </a:endParaRPr>
          </a:p>
        </p:txBody>
      </p:sp>
      <p:sp>
        <p:nvSpPr>
          <p:cNvPr id="3" name="Content Placeholder 2">
            <a:extLst>
              <a:ext uri="{FF2B5EF4-FFF2-40B4-BE49-F238E27FC236}">
                <a16:creationId xmlns:a16="http://schemas.microsoft.com/office/drawing/2014/main" xmlns="" id="{54BDC041-B090-47EA-6D1C-79FB386C8DC8}"/>
              </a:ext>
            </a:extLst>
          </p:cNvPr>
          <p:cNvSpPr>
            <a:spLocks noGrp="1"/>
          </p:cNvSpPr>
          <p:nvPr>
            <p:ph idx="1"/>
          </p:nvPr>
        </p:nvSpPr>
        <p:spPr>
          <a:xfrm>
            <a:off x="373504" y="1510830"/>
            <a:ext cx="11723557" cy="5069851"/>
          </a:xfrm>
        </p:spPr>
        <p:txBody>
          <a:bodyPr>
            <a:normAutofit/>
          </a:bodyPr>
          <a:lstStyle/>
          <a:p>
            <a:pPr algn="just">
              <a:buFont typeface="Arial" panose="020B0604020202020204" pitchFamily="34" charset="0"/>
              <a:buChar char="•"/>
            </a:pPr>
            <a:r>
              <a:rPr lang="en-US" sz="2000" b="1" i="0" dirty="0" smtClean="0">
                <a:solidFill>
                  <a:srgbClr val="000000"/>
                </a:solidFill>
                <a:effectLst/>
                <a:latin typeface="inter-bold"/>
              </a:rPr>
              <a:t>String reversal: book (push) -&gt; (pop)</a:t>
            </a:r>
            <a:r>
              <a:rPr lang="en-US" sz="2000" b="1" i="0" dirty="0" err="1" smtClean="0">
                <a:solidFill>
                  <a:srgbClr val="000000"/>
                </a:solidFill>
                <a:effectLst/>
                <a:latin typeface="inter-bold"/>
              </a:rPr>
              <a:t>koob</a:t>
            </a:r>
            <a:endParaRPr lang="en-US" sz="2000" b="1" i="0" dirty="0" smtClean="0">
              <a:solidFill>
                <a:srgbClr val="000000"/>
              </a:solidFill>
              <a:effectLst/>
              <a:latin typeface="inter-bold"/>
            </a:endParaRPr>
          </a:p>
          <a:p>
            <a:pPr algn="just">
              <a:buFont typeface="Arial" panose="020B0604020202020204" pitchFamily="34" charset="0"/>
              <a:buChar char="•"/>
            </a:pPr>
            <a:r>
              <a:rPr lang="en-US" sz="2000" b="1" i="0" dirty="0" smtClean="0">
                <a:solidFill>
                  <a:srgbClr val="000000"/>
                </a:solidFill>
                <a:effectLst/>
                <a:latin typeface="inter-bold"/>
              </a:rPr>
              <a:t>UNDO/REDO</a:t>
            </a:r>
            <a:r>
              <a:rPr lang="en-US" sz="2000" b="1" i="0" dirty="0">
                <a:solidFill>
                  <a:srgbClr val="000000"/>
                </a:solidFill>
                <a:effectLst/>
                <a:latin typeface="inter-bold"/>
              </a:rPr>
              <a:t>:</a:t>
            </a:r>
            <a:r>
              <a:rPr lang="en-US" sz="2000" b="0" i="0" dirty="0">
                <a:solidFill>
                  <a:srgbClr val="000000"/>
                </a:solidFill>
                <a:effectLst/>
                <a:latin typeface="inter-regular"/>
              </a:rPr>
              <a:t> It can also be used for performing UNDO/REDO operations. For example, we have an editor in which we write 'a', then 'b', and then 'c'; therefore, the text written in an editor is </a:t>
            </a:r>
            <a:r>
              <a:rPr lang="en-US" sz="2000" b="0" i="0" dirty="0" err="1">
                <a:solidFill>
                  <a:srgbClr val="000000"/>
                </a:solidFill>
                <a:effectLst/>
                <a:latin typeface="inter-regular"/>
              </a:rPr>
              <a:t>abc</a:t>
            </a:r>
            <a:r>
              <a:rPr lang="en-US" sz="2000" b="0" i="0" dirty="0">
                <a:solidFill>
                  <a:srgbClr val="000000"/>
                </a:solidFill>
                <a:effectLst/>
                <a:latin typeface="inter-regular"/>
              </a:rPr>
              <a:t>. So, there are three states, a, ab, and </a:t>
            </a:r>
            <a:r>
              <a:rPr lang="en-US" sz="2000" b="0" i="0" dirty="0" err="1">
                <a:solidFill>
                  <a:srgbClr val="000000"/>
                </a:solidFill>
                <a:effectLst/>
                <a:latin typeface="inter-regular"/>
              </a:rPr>
              <a:t>abc</a:t>
            </a:r>
            <a:r>
              <a:rPr lang="en-US" sz="2000" b="0" i="0" dirty="0">
                <a:solidFill>
                  <a:srgbClr val="000000"/>
                </a:solidFill>
                <a:effectLst/>
                <a:latin typeface="inter-regular"/>
              </a:rPr>
              <a:t>, which are stored in a stack. There would be two stacks in which one stack shows UNDO state, and the other shows REDO state.</a:t>
            </a:r>
            <a:br>
              <a:rPr lang="en-US" sz="2000" b="0" i="0" dirty="0">
                <a:solidFill>
                  <a:srgbClr val="000000"/>
                </a:solidFill>
                <a:effectLst/>
                <a:latin typeface="inter-regular"/>
              </a:rPr>
            </a:br>
            <a:r>
              <a:rPr lang="en-US" sz="2000" b="0" i="0" dirty="0">
                <a:solidFill>
                  <a:srgbClr val="000000"/>
                </a:solidFill>
                <a:effectLst/>
                <a:latin typeface="inter-regular"/>
              </a:rPr>
              <a:t>If we want to perform UNDO operation, and want to achieve 'ab' state, then we implement pop operation</a:t>
            </a:r>
            <a:r>
              <a:rPr lang="en-US" sz="2000" b="0" i="0" dirty="0" smtClean="0">
                <a:solidFill>
                  <a:srgbClr val="000000"/>
                </a:solidFill>
                <a:effectLst/>
                <a:latin typeface="inter-regular"/>
              </a:rPr>
              <a:t>. Separate stack for undo and redo can be maintained. </a:t>
            </a:r>
          </a:p>
          <a:p>
            <a:pPr algn="just">
              <a:buFont typeface="Arial" panose="020B0604020202020204" pitchFamily="34" charset="0"/>
              <a:buChar char="•"/>
            </a:pPr>
            <a:endParaRPr lang="en-US" b="0" i="0" dirty="0" smtClean="0">
              <a:solidFill>
                <a:srgbClr val="000000"/>
              </a:solidFill>
              <a:effectLst/>
              <a:latin typeface="inter-regular"/>
            </a:endParaRPr>
          </a:p>
          <a:p>
            <a:pPr algn="just">
              <a:buFont typeface="Arial" panose="020B0604020202020204" pitchFamily="34" charset="0"/>
              <a:buChar char="•"/>
            </a:pPr>
            <a:endParaRPr lang="en-US" dirty="0">
              <a:solidFill>
                <a:srgbClr val="000000"/>
              </a:solidFill>
              <a:latin typeface="inter-regular"/>
            </a:endParaRPr>
          </a:p>
          <a:p>
            <a:pPr algn="just">
              <a:buFont typeface="Arial" panose="020B0604020202020204" pitchFamily="34" charset="0"/>
              <a:buChar char="•"/>
            </a:pPr>
            <a:endParaRPr lang="en-US" b="0" i="0" dirty="0" smtClean="0">
              <a:solidFill>
                <a:srgbClr val="000000"/>
              </a:solidFill>
              <a:effectLst/>
              <a:latin typeface="inter-regular"/>
            </a:endParaRPr>
          </a:p>
          <a:p>
            <a:pPr algn="just">
              <a:buFont typeface="Arial" panose="020B0604020202020204" pitchFamily="34" charset="0"/>
              <a:buChar char="•"/>
            </a:pPr>
            <a:endParaRPr lang="en-US" dirty="0">
              <a:solidFill>
                <a:srgbClr val="000000"/>
              </a:solidFill>
              <a:latin typeface="inter-regular"/>
            </a:endParaRPr>
          </a:p>
          <a:p>
            <a:pPr lvl="1" algn="just"/>
            <a:endParaRPr lang="en-US" b="0" i="0" dirty="0" smtClean="0">
              <a:solidFill>
                <a:srgbClr val="000000"/>
              </a:solidFill>
              <a:effectLst/>
              <a:latin typeface="inter-regular"/>
            </a:endParaRPr>
          </a:p>
          <a:p>
            <a:pPr marL="1828800" lvl="4" indent="0" algn="just">
              <a:buNone/>
            </a:pPr>
            <a:r>
              <a:rPr lang="en-US" b="0" i="0" dirty="0" smtClean="0">
                <a:solidFill>
                  <a:srgbClr val="000000"/>
                </a:solidFill>
                <a:effectLst/>
                <a:latin typeface="inter-regular"/>
              </a:rPr>
              <a:t>           </a:t>
            </a:r>
            <a:r>
              <a:rPr lang="en-US" dirty="0">
                <a:solidFill>
                  <a:srgbClr val="000000"/>
                </a:solidFill>
                <a:latin typeface="inter-regular"/>
              </a:rPr>
              <a:t>Undo </a:t>
            </a:r>
            <a:r>
              <a:rPr lang="en-US" dirty="0" smtClean="0">
                <a:solidFill>
                  <a:srgbClr val="000000"/>
                </a:solidFill>
                <a:latin typeface="inter-regular"/>
              </a:rPr>
              <a:t>                                                            </a:t>
            </a:r>
            <a:r>
              <a:rPr lang="en-US" dirty="0" err="1" smtClean="0">
                <a:solidFill>
                  <a:srgbClr val="000000"/>
                </a:solidFill>
                <a:latin typeface="inter-regular"/>
              </a:rPr>
              <a:t>Undo</a:t>
            </a:r>
            <a:r>
              <a:rPr lang="en-US" dirty="0" smtClean="0">
                <a:solidFill>
                  <a:srgbClr val="000000"/>
                </a:solidFill>
                <a:latin typeface="inter-regular"/>
              </a:rPr>
              <a:t>                   redo </a:t>
            </a:r>
            <a:endParaRPr lang="en-US" b="0" i="0" dirty="0" smtClean="0">
              <a:solidFill>
                <a:srgbClr val="000000"/>
              </a:solidFill>
              <a:effectLst/>
              <a:latin typeface="inter-regular"/>
            </a:endParaRPr>
          </a:p>
        </p:txBody>
      </p:sp>
      <p:pic>
        <p:nvPicPr>
          <p:cNvPr id="4" name="Picture 3"/>
          <p:cNvPicPr>
            <a:picLocks noChangeAspect="1"/>
          </p:cNvPicPr>
          <p:nvPr/>
        </p:nvPicPr>
        <p:blipFill>
          <a:blip r:embed="rId2"/>
          <a:stretch>
            <a:fillRect/>
          </a:stretch>
        </p:blipFill>
        <p:spPr>
          <a:xfrm>
            <a:off x="2646876" y="4045755"/>
            <a:ext cx="1487241" cy="1802716"/>
          </a:xfrm>
          <a:prstGeom prst="rect">
            <a:avLst/>
          </a:prstGeom>
        </p:spPr>
      </p:pic>
      <p:pic>
        <p:nvPicPr>
          <p:cNvPr id="5" name="Picture 4"/>
          <p:cNvPicPr>
            <a:picLocks noChangeAspect="1"/>
          </p:cNvPicPr>
          <p:nvPr/>
        </p:nvPicPr>
        <p:blipFill>
          <a:blip r:embed="rId3"/>
          <a:stretch>
            <a:fillRect/>
          </a:stretch>
        </p:blipFill>
        <p:spPr>
          <a:xfrm>
            <a:off x="6794410" y="4045755"/>
            <a:ext cx="3162300" cy="1685925"/>
          </a:xfrm>
          <a:prstGeom prst="rect">
            <a:avLst/>
          </a:prstGeom>
        </p:spPr>
      </p:pic>
    </p:spTree>
    <p:extLst>
      <p:ext uri="{BB962C8B-B14F-4D97-AF65-F5344CB8AC3E}">
        <p14:creationId xmlns:p14="http://schemas.microsoft.com/office/powerpoint/2010/main" val="200213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F03863-F8D6-D233-1BB4-5D2DAB03F940}"/>
              </a:ext>
            </a:extLst>
          </p:cNvPr>
          <p:cNvSpPr>
            <a:spLocks noGrp="1"/>
          </p:cNvSpPr>
          <p:nvPr>
            <p:ph type="title"/>
          </p:nvPr>
        </p:nvSpPr>
        <p:spPr>
          <a:xfrm>
            <a:off x="472191" y="202367"/>
            <a:ext cx="11272602" cy="966867"/>
          </a:xfrm>
        </p:spPr>
        <p:txBody>
          <a:bodyPr/>
          <a:lstStyle/>
          <a:p>
            <a:pPr algn="ctr"/>
            <a:r>
              <a:rPr lang="en-US" b="1" dirty="0">
                <a:solidFill>
                  <a:srgbClr val="FF0000"/>
                </a:solidFill>
              </a:rPr>
              <a:t>STACK - APPLICATIONS</a:t>
            </a:r>
            <a:endParaRPr lang="en-IN" b="1" dirty="0">
              <a:solidFill>
                <a:srgbClr val="FF0000"/>
              </a:solidFill>
            </a:endParaRPr>
          </a:p>
        </p:txBody>
      </p:sp>
      <p:sp>
        <p:nvSpPr>
          <p:cNvPr id="3" name="Content Placeholder 2">
            <a:extLst>
              <a:ext uri="{FF2B5EF4-FFF2-40B4-BE49-F238E27FC236}">
                <a16:creationId xmlns:a16="http://schemas.microsoft.com/office/drawing/2014/main" xmlns="" id="{54BDC041-B090-47EA-6D1C-79FB386C8DC8}"/>
              </a:ext>
            </a:extLst>
          </p:cNvPr>
          <p:cNvSpPr>
            <a:spLocks noGrp="1"/>
          </p:cNvSpPr>
          <p:nvPr>
            <p:ph idx="1"/>
          </p:nvPr>
        </p:nvSpPr>
        <p:spPr>
          <a:xfrm>
            <a:off x="373504" y="1510830"/>
            <a:ext cx="11723557" cy="5069851"/>
          </a:xfrm>
        </p:spPr>
        <p:txBody>
          <a:bodyPr>
            <a:normAutofit/>
          </a:bodyPr>
          <a:lstStyle/>
          <a:p>
            <a:pPr algn="just">
              <a:buFont typeface="Arial" panose="020B0604020202020204" pitchFamily="34" charset="0"/>
              <a:buChar char="•"/>
            </a:pPr>
            <a:r>
              <a:rPr lang="en-US" b="1" i="0" dirty="0" smtClean="0">
                <a:solidFill>
                  <a:srgbClr val="000000"/>
                </a:solidFill>
                <a:effectLst/>
                <a:latin typeface="inter-bold"/>
              </a:rPr>
              <a:t>Recursion/function call:</a:t>
            </a:r>
            <a:r>
              <a:rPr lang="en-US" b="0" i="0" dirty="0">
                <a:solidFill>
                  <a:srgbClr val="000000"/>
                </a:solidFill>
                <a:effectLst/>
                <a:latin typeface="inter-regular"/>
              </a:rPr>
              <a:t> The recursion means that the function is calling itself again. To maintain the previous states, the compiler creates a system stack in which all the previous records of the function are maintained.</a:t>
            </a:r>
          </a:p>
          <a:p>
            <a:r>
              <a:rPr lang="en-US" b="1" i="0" dirty="0">
                <a:solidFill>
                  <a:srgbClr val="000000"/>
                </a:solidFill>
                <a:effectLst/>
                <a:latin typeface="inter-bold"/>
              </a:rPr>
              <a:t>Expression </a:t>
            </a:r>
            <a:r>
              <a:rPr lang="en-US" b="1" i="0" dirty="0" smtClean="0">
                <a:solidFill>
                  <a:srgbClr val="000000"/>
                </a:solidFill>
                <a:effectLst/>
                <a:latin typeface="inter-bold"/>
              </a:rPr>
              <a:t>conversion (infix </a:t>
            </a:r>
            <a:r>
              <a:rPr lang="en-US" b="1" i="0" smtClean="0">
                <a:solidFill>
                  <a:srgbClr val="000000"/>
                </a:solidFill>
                <a:effectLst/>
                <a:latin typeface="inter-bold"/>
              </a:rPr>
              <a:t>to postfix/prefix):</a:t>
            </a:r>
            <a:r>
              <a:rPr lang="en-US" b="0" i="0" dirty="0">
                <a:solidFill>
                  <a:srgbClr val="000000"/>
                </a:solidFill>
                <a:effectLst/>
                <a:latin typeface="inter-regular"/>
              </a:rPr>
              <a:t> Stack can also be used for expression conversion. This is one of the most important applications of stack. </a:t>
            </a:r>
            <a:endParaRPr lang="en-US" b="0" i="0" dirty="0" smtClean="0">
              <a:solidFill>
                <a:srgbClr val="000000"/>
              </a:solidFill>
              <a:effectLst/>
              <a:latin typeface="inter-regular"/>
            </a:endParaRPr>
          </a:p>
          <a:p>
            <a:r>
              <a:rPr lang="en-US" b="1" dirty="0" smtClean="0">
                <a:solidFill>
                  <a:srgbClr val="000000"/>
                </a:solidFill>
                <a:latin typeface="inter-regular"/>
              </a:rPr>
              <a:t>Infix, postfix and prefix evaluation</a:t>
            </a:r>
          </a:p>
          <a:p>
            <a:r>
              <a:rPr lang="en-US" b="1" dirty="0" smtClean="0">
                <a:solidFill>
                  <a:srgbClr val="000000"/>
                </a:solidFill>
                <a:latin typeface="inter-regular"/>
              </a:rPr>
              <a:t>Check balanced parenthesis</a:t>
            </a:r>
            <a:r>
              <a:rPr lang="en-US" dirty="0" smtClean="0">
                <a:solidFill>
                  <a:srgbClr val="000000"/>
                </a:solidFill>
                <a:latin typeface="inter-regular"/>
              </a:rPr>
              <a:t>: every opening braces has closing braces that is checked using stack.</a:t>
            </a:r>
          </a:p>
          <a:p>
            <a:endParaRPr lang="en-IN" dirty="0"/>
          </a:p>
        </p:txBody>
      </p:sp>
    </p:spTree>
    <p:extLst>
      <p:ext uri="{BB962C8B-B14F-4D97-AF65-F5344CB8AC3E}">
        <p14:creationId xmlns:p14="http://schemas.microsoft.com/office/powerpoint/2010/main" val="1684636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1333408" cy="5029200"/>
          </a:xfrm>
        </p:spPr>
        <p:txBody>
          <a:bodyPr>
            <a:normAutofit fontScale="92500" lnSpcReduction="10000"/>
          </a:bodyPr>
          <a:lstStyle/>
          <a:p>
            <a:pPr marL="0" indent="0">
              <a:buNone/>
            </a:pPr>
            <a:r>
              <a:rPr lang="en-US" b="1" dirty="0"/>
              <a:t>Polish Notation</a:t>
            </a:r>
            <a:r>
              <a:rPr lang="en-US" dirty="0"/>
              <a:t> in the data structure is a method of expressing mathematical, logical, and algebraic equations universally. </a:t>
            </a:r>
            <a:endParaRPr lang="en-US" dirty="0" smtClean="0"/>
          </a:p>
          <a:p>
            <a:pPr marL="0" indent="0">
              <a:buNone/>
            </a:pPr>
            <a:r>
              <a:rPr lang="en-US" dirty="0" smtClean="0"/>
              <a:t>This </a:t>
            </a:r>
            <a:r>
              <a:rPr lang="en-US" dirty="0"/>
              <a:t>notation is used by the compiler to evaluate mathematical equations based on their order of operations. </a:t>
            </a:r>
            <a:endParaRPr lang="en-US" dirty="0" smtClean="0"/>
          </a:p>
          <a:p>
            <a:pPr marL="0" indent="0">
              <a:buNone/>
            </a:pPr>
            <a:r>
              <a:rPr lang="en-US" dirty="0" smtClean="0"/>
              <a:t>When </a:t>
            </a:r>
            <a:r>
              <a:rPr lang="en-US" dirty="0"/>
              <a:t>parsing mathematical expressions, three types of notations are commonly used : </a:t>
            </a:r>
            <a:endParaRPr lang="en-US" b="1" dirty="0" smtClean="0"/>
          </a:p>
          <a:p>
            <a:pPr marL="0" indent="0">
              <a:buNone/>
            </a:pPr>
            <a:r>
              <a:rPr lang="en-US" b="1" dirty="0" smtClean="0"/>
              <a:t>1</a:t>
            </a:r>
            <a:r>
              <a:rPr lang="en-US" b="1" dirty="0"/>
              <a:t>) Infix Notation (Operand Operator Operand)</a:t>
            </a:r>
          </a:p>
          <a:p>
            <a:pPr marL="0" indent="0">
              <a:buNone/>
            </a:pPr>
            <a:r>
              <a:rPr lang="en-US" b="1" dirty="0"/>
              <a:t>	A + B</a:t>
            </a:r>
          </a:p>
          <a:p>
            <a:pPr marL="0" indent="0">
              <a:buNone/>
            </a:pPr>
            <a:r>
              <a:rPr lang="en-US" b="1" dirty="0"/>
              <a:t>2) Postfix notation (Operand </a:t>
            </a:r>
            <a:r>
              <a:rPr lang="en-US" b="1" dirty="0" err="1"/>
              <a:t>Operand</a:t>
            </a:r>
            <a:r>
              <a:rPr lang="en-US" b="1" dirty="0"/>
              <a:t> Operator)</a:t>
            </a:r>
          </a:p>
          <a:p>
            <a:pPr marL="0" indent="0">
              <a:buNone/>
            </a:pPr>
            <a:r>
              <a:rPr lang="en-US" b="1" dirty="0"/>
              <a:t>        A B +</a:t>
            </a:r>
          </a:p>
          <a:p>
            <a:pPr marL="0" indent="0">
              <a:buNone/>
            </a:pPr>
            <a:r>
              <a:rPr lang="en-US" b="1" dirty="0"/>
              <a:t>3) Prefix Notation ( Operator Operand Operand)</a:t>
            </a:r>
          </a:p>
          <a:p>
            <a:pPr marL="0" indent="0">
              <a:buNone/>
            </a:pPr>
            <a:r>
              <a:rPr lang="en-US" b="1" dirty="0"/>
              <a:t>        + A B</a:t>
            </a:r>
          </a:p>
        </p:txBody>
      </p:sp>
      <p:sp>
        <p:nvSpPr>
          <p:cNvPr id="4" name="Title 3"/>
          <p:cNvSpPr>
            <a:spLocks noGrp="1"/>
          </p:cNvSpPr>
          <p:nvPr>
            <p:ph type="title"/>
          </p:nvPr>
        </p:nvSpPr>
        <p:spPr/>
        <p:txBody>
          <a:bodyPr/>
          <a:lstStyle/>
          <a:p>
            <a:r>
              <a:rPr lang="en-US" b="1" dirty="0">
                <a:solidFill>
                  <a:srgbClr val="FF0000"/>
                </a:solidFill>
              </a:rPr>
              <a:t>Polish Notation</a:t>
            </a:r>
          </a:p>
        </p:txBody>
      </p:sp>
    </p:spTree>
    <p:extLst>
      <p:ext uri="{BB962C8B-B14F-4D97-AF65-F5344CB8AC3E}">
        <p14:creationId xmlns:p14="http://schemas.microsoft.com/office/powerpoint/2010/main" val="32525635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0011177" cy="5029200"/>
          </a:xfrm>
        </p:spPr>
        <p:txBody>
          <a:bodyPr>
            <a:normAutofit/>
          </a:bodyPr>
          <a:lstStyle/>
          <a:p>
            <a:pPr marL="0" indent="0">
              <a:buNone/>
            </a:pPr>
            <a:r>
              <a:rPr lang="en-US" b="1" dirty="0"/>
              <a:t>Infix Notation :</a:t>
            </a:r>
            <a:r>
              <a:rPr lang="en-US" dirty="0"/>
              <a:t/>
            </a:r>
            <a:br>
              <a:rPr lang="en-US" dirty="0"/>
            </a:br>
            <a:r>
              <a:rPr lang="en-US" dirty="0"/>
              <a:t>This polish notation in data structure states that the operator is written in between the operands. </a:t>
            </a:r>
            <a:endParaRPr lang="en-US" dirty="0" smtClean="0"/>
          </a:p>
          <a:p>
            <a:pPr marL="0" indent="0">
              <a:buNone/>
            </a:pPr>
            <a:r>
              <a:rPr lang="en-US" dirty="0" smtClean="0"/>
              <a:t>It </a:t>
            </a:r>
            <a:r>
              <a:rPr lang="en-US" dirty="0"/>
              <a:t>is the most common type of notation we generally use to represent expressions. </a:t>
            </a:r>
            <a:endParaRPr lang="en-US" dirty="0" smtClean="0"/>
          </a:p>
          <a:p>
            <a:pPr marL="0" indent="0">
              <a:buNone/>
            </a:pPr>
            <a:r>
              <a:rPr lang="en-US" dirty="0" smtClean="0"/>
              <a:t>It's </a:t>
            </a:r>
            <a:r>
              <a:rPr lang="en-US" dirty="0"/>
              <a:t>the fully parenthesized notation. </a:t>
            </a:r>
            <a:endParaRPr lang="en-US" dirty="0" smtClean="0"/>
          </a:p>
          <a:p>
            <a:pPr marL="0" indent="0">
              <a:buNone/>
            </a:pPr>
            <a:r>
              <a:rPr lang="en-US" dirty="0" smtClean="0"/>
              <a:t>We </a:t>
            </a:r>
            <a:r>
              <a:rPr lang="en-US" dirty="0"/>
              <a:t>find it much easier to write mathematical expressions in Infix Notation, but it is difficult to parse expressions on computers in the form of infix Polish Notation</a:t>
            </a:r>
            <a:r>
              <a:rPr lang="en-US" dirty="0" smtClean="0"/>
              <a:t>.</a:t>
            </a:r>
          </a:p>
          <a:p>
            <a:pPr marL="0" indent="0">
              <a:buNone/>
            </a:pPr>
            <a:r>
              <a:rPr lang="en-US" b="1" dirty="0"/>
              <a:t>(3+7)</a:t>
            </a:r>
          </a:p>
          <a:p>
            <a:pPr marL="0" indent="0">
              <a:buNone/>
            </a:pPr>
            <a:r>
              <a:rPr lang="en-US" b="1" dirty="0"/>
              <a:t>(1*(2+3))</a:t>
            </a:r>
          </a:p>
          <a:p>
            <a:pPr marL="0" indent="0">
              <a:buNone/>
            </a:pPr>
            <a:endParaRPr lang="en-US" b="1" dirty="0"/>
          </a:p>
        </p:txBody>
      </p:sp>
      <p:sp>
        <p:nvSpPr>
          <p:cNvPr id="4" name="Title 3"/>
          <p:cNvSpPr>
            <a:spLocks noGrp="1"/>
          </p:cNvSpPr>
          <p:nvPr>
            <p:ph type="title"/>
          </p:nvPr>
        </p:nvSpPr>
        <p:spPr/>
        <p:txBody>
          <a:bodyPr/>
          <a:lstStyle/>
          <a:p>
            <a:r>
              <a:rPr lang="en-US" b="1" dirty="0">
                <a:solidFill>
                  <a:srgbClr val="FF0000"/>
                </a:solidFill>
              </a:rPr>
              <a:t>Polish Notation</a:t>
            </a:r>
          </a:p>
        </p:txBody>
      </p:sp>
    </p:spTree>
    <p:extLst>
      <p:ext uri="{BB962C8B-B14F-4D97-AF65-F5344CB8AC3E}">
        <p14:creationId xmlns:p14="http://schemas.microsoft.com/office/powerpoint/2010/main" val="37719229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0011177" cy="5029200"/>
          </a:xfrm>
        </p:spPr>
        <p:txBody>
          <a:bodyPr>
            <a:normAutofit/>
          </a:bodyPr>
          <a:lstStyle/>
          <a:p>
            <a:pPr marL="0" indent="0">
              <a:buNone/>
            </a:pPr>
            <a:r>
              <a:rPr lang="en-US" b="1" dirty="0"/>
              <a:t>Prefix Notation :</a:t>
            </a:r>
            <a:r>
              <a:rPr lang="en-US" dirty="0"/>
              <a:t/>
            </a:r>
            <a:br>
              <a:rPr lang="en-US" dirty="0"/>
            </a:br>
            <a:r>
              <a:rPr lang="en-US" dirty="0"/>
              <a:t>This polish notation in data structure states that the operator should be present as a prefix or before the operands. </a:t>
            </a:r>
            <a:endParaRPr lang="en-US" dirty="0" smtClean="0"/>
          </a:p>
          <a:p>
            <a:pPr marL="0" indent="0">
              <a:buNone/>
            </a:pPr>
            <a:r>
              <a:rPr lang="en-US" dirty="0" smtClean="0"/>
              <a:t>This </a:t>
            </a:r>
            <a:r>
              <a:rPr lang="en-US" dirty="0"/>
              <a:t>notation is also known as </a:t>
            </a:r>
            <a:r>
              <a:rPr lang="en-US" b="1" dirty="0"/>
              <a:t>"Polish Notation"</a:t>
            </a:r>
            <a:r>
              <a:rPr lang="en-US" dirty="0"/>
              <a:t>. </a:t>
            </a:r>
            <a:endParaRPr lang="en-US" dirty="0" smtClean="0"/>
          </a:p>
          <a:p>
            <a:pPr marL="0" indent="0">
              <a:buNone/>
            </a:pPr>
            <a:r>
              <a:rPr lang="en-US" dirty="0" smtClean="0"/>
              <a:t>For </a:t>
            </a:r>
            <a:r>
              <a:rPr lang="en-US" dirty="0"/>
              <a:t>example, if we have an expression like </a:t>
            </a:r>
            <a:r>
              <a:rPr lang="en-US" dirty="0" err="1"/>
              <a:t>x+y</a:t>
            </a:r>
            <a:r>
              <a:rPr lang="en-US" dirty="0"/>
              <a:t>, then here x and y are operands, and ‘+’ is the operator. </a:t>
            </a:r>
            <a:endParaRPr lang="en-US" dirty="0" smtClean="0"/>
          </a:p>
          <a:p>
            <a:pPr marL="0" indent="0">
              <a:buNone/>
            </a:pPr>
            <a:r>
              <a:rPr lang="en-US" dirty="0" smtClean="0"/>
              <a:t>The </a:t>
            </a:r>
            <a:r>
              <a:rPr lang="en-US" dirty="0"/>
              <a:t>prefix notation or polish notation of this expression will be "+</a:t>
            </a:r>
            <a:r>
              <a:rPr lang="en-US" dirty="0" err="1"/>
              <a:t>xy</a:t>
            </a:r>
            <a:r>
              <a:rPr lang="en-US" dirty="0" smtClean="0"/>
              <a:t>".</a:t>
            </a:r>
          </a:p>
          <a:p>
            <a:pPr marL="0" indent="0">
              <a:buNone/>
            </a:pPr>
            <a:r>
              <a:rPr lang="en-US" b="1" dirty="0"/>
              <a:t>3+7 will convert into +37</a:t>
            </a:r>
          </a:p>
          <a:p>
            <a:pPr marL="0" indent="0">
              <a:buNone/>
            </a:pPr>
            <a:r>
              <a:rPr lang="en-US" b="1" dirty="0"/>
              <a:t>1*(2+3) will convert into *1(+23)</a:t>
            </a:r>
          </a:p>
          <a:p>
            <a:pPr marL="0" indent="0">
              <a:buNone/>
            </a:pPr>
            <a:endParaRPr lang="en-US" b="1" dirty="0"/>
          </a:p>
        </p:txBody>
      </p:sp>
      <p:sp>
        <p:nvSpPr>
          <p:cNvPr id="4" name="Title 3"/>
          <p:cNvSpPr>
            <a:spLocks noGrp="1"/>
          </p:cNvSpPr>
          <p:nvPr>
            <p:ph type="title"/>
          </p:nvPr>
        </p:nvSpPr>
        <p:spPr/>
        <p:txBody>
          <a:bodyPr/>
          <a:lstStyle/>
          <a:p>
            <a:r>
              <a:rPr lang="en-US" b="1" dirty="0">
                <a:solidFill>
                  <a:srgbClr val="FF0000"/>
                </a:solidFill>
              </a:rPr>
              <a:t>Polish Notation</a:t>
            </a:r>
          </a:p>
        </p:txBody>
      </p:sp>
    </p:spTree>
    <p:extLst>
      <p:ext uri="{BB962C8B-B14F-4D97-AF65-F5344CB8AC3E}">
        <p14:creationId xmlns:p14="http://schemas.microsoft.com/office/powerpoint/2010/main" val="13217905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0011177" cy="5029200"/>
          </a:xfrm>
        </p:spPr>
        <p:txBody>
          <a:bodyPr>
            <a:normAutofit/>
          </a:bodyPr>
          <a:lstStyle/>
          <a:p>
            <a:pPr marL="0" indent="0">
              <a:buNone/>
            </a:pPr>
            <a:r>
              <a:rPr lang="en-US" b="1" dirty="0"/>
              <a:t>Postfix Notation :</a:t>
            </a:r>
            <a:r>
              <a:rPr lang="en-US" dirty="0"/>
              <a:t/>
            </a:r>
            <a:br>
              <a:rPr lang="en-US" dirty="0"/>
            </a:br>
            <a:r>
              <a:rPr lang="en-US" dirty="0"/>
              <a:t>This notation states that the operator should be present as a suffix, postfix, or after the operands. </a:t>
            </a:r>
            <a:endParaRPr lang="en-US" dirty="0" smtClean="0"/>
          </a:p>
          <a:p>
            <a:pPr marL="0" indent="0">
              <a:buNone/>
            </a:pPr>
            <a:r>
              <a:rPr lang="en-US" dirty="0" smtClean="0"/>
              <a:t>It </a:t>
            </a:r>
            <a:r>
              <a:rPr lang="en-US" dirty="0"/>
              <a:t>is also known as Suffix notation or Reverse Polish Notation. For example, if we have an expression like </a:t>
            </a:r>
            <a:r>
              <a:rPr lang="en-US" dirty="0" err="1"/>
              <a:t>x+y</a:t>
            </a:r>
            <a:r>
              <a:rPr lang="en-US" dirty="0"/>
              <a:t>, then here x and y are operands, and ‘+’ is the operator. </a:t>
            </a:r>
            <a:endParaRPr lang="en-US" dirty="0" smtClean="0"/>
          </a:p>
          <a:p>
            <a:pPr marL="0" indent="0">
              <a:buNone/>
            </a:pPr>
            <a:r>
              <a:rPr lang="en-US" dirty="0" smtClean="0"/>
              <a:t>The </a:t>
            </a:r>
            <a:r>
              <a:rPr lang="en-US" dirty="0"/>
              <a:t>prefix notation or polish notation of this expression will be "</a:t>
            </a:r>
            <a:r>
              <a:rPr lang="en-US" dirty="0" err="1"/>
              <a:t>xy</a:t>
            </a:r>
            <a:r>
              <a:rPr lang="en-US" dirty="0"/>
              <a:t>+".</a:t>
            </a:r>
            <a:endParaRPr lang="en-US" b="1" dirty="0"/>
          </a:p>
        </p:txBody>
      </p:sp>
      <p:sp>
        <p:nvSpPr>
          <p:cNvPr id="4" name="Title 3"/>
          <p:cNvSpPr>
            <a:spLocks noGrp="1"/>
          </p:cNvSpPr>
          <p:nvPr>
            <p:ph type="title"/>
          </p:nvPr>
        </p:nvSpPr>
        <p:spPr/>
        <p:txBody>
          <a:bodyPr/>
          <a:lstStyle/>
          <a:p>
            <a:r>
              <a:rPr lang="en-US" b="1" dirty="0">
                <a:solidFill>
                  <a:srgbClr val="FF0000"/>
                </a:solidFill>
              </a:rPr>
              <a:t>Polish Notation</a:t>
            </a:r>
          </a:p>
        </p:txBody>
      </p:sp>
    </p:spTree>
    <p:extLst>
      <p:ext uri="{BB962C8B-B14F-4D97-AF65-F5344CB8AC3E}">
        <p14:creationId xmlns:p14="http://schemas.microsoft.com/office/powerpoint/2010/main" val="4187838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0011177" cy="5029200"/>
          </a:xfrm>
        </p:spPr>
        <p:txBody>
          <a:bodyPr>
            <a:normAutofit/>
          </a:bodyPr>
          <a:lstStyle/>
          <a:p>
            <a:pPr marL="0" indent="0">
              <a:buNone/>
            </a:pPr>
            <a:r>
              <a:rPr lang="en-US" dirty="0"/>
              <a:t>In general, a computer can easily understand postfix expressions. </a:t>
            </a:r>
            <a:endParaRPr lang="en-US" dirty="0" smtClean="0"/>
          </a:p>
          <a:p>
            <a:pPr marL="0" indent="0">
              <a:buNone/>
            </a:pPr>
            <a:r>
              <a:rPr lang="en-US" dirty="0" smtClean="0"/>
              <a:t>This </a:t>
            </a:r>
            <a:r>
              <a:rPr lang="en-US" dirty="0"/>
              <a:t>notation is universally accepted and is preferred for designing and programming the arithmetic and logical units of a </a:t>
            </a:r>
            <a:r>
              <a:rPr lang="en-US" b="1" dirty="0"/>
              <a:t>CPU</a:t>
            </a:r>
            <a:r>
              <a:rPr lang="en-US" dirty="0"/>
              <a:t> (Central Processing Unit). </a:t>
            </a:r>
            <a:endParaRPr lang="en-US" dirty="0" smtClean="0"/>
          </a:p>
          <a:p>
            <a:pPr marL="0" indent="0">
              <a:buNone/>
            </a:pPr>
            <a:r>
              <a:rPr lang="en-US" dirty="0" smtClean="0"/>
              <a:t>All </a:t>
            </a:r>
            <a:r>
              <a:rPr lang="en-US" dirty="0"/>
              <a:t>the expressions that are entered into a computer are converted into </a:t>
            </a:r>
            <a:r>
              <a:rPr lang="en-US" b="1" dirty="0"/>
              <a:t>Postfix</a:t>
            </a:r>
            <a:r>
              <a:rPr lang="en-US" dirty="0"/>
              <a:t> or </a:t>
            </a:r>
            <a:r>
              <a:rPr lang="en-US" b="1" dirty="0"/>
              <a:t>Reverse Polish Notation</a:t>
            </a:r>
            <a:r>
              <a:rPr lang="en-US" dirty="0"/>
              <a:t>, stored in a stack, and then computed. </a:t>
            </a:r>
            <a:endParaRPr lang="en-US" dirty="0" smtClean="0"/>
          </a:p>
          <a:p>
            <a:pPr marL="0" indent="0">
              <a:buNone/>
            </a:pPr>
            <a:r>
              <a:rPr lang="en-US" dirty="0" smtClean="0"/>
              <a:t>Therefore</a:t>
            </a:r>
            <a:r>
              <a:rPr lang="en-US" dirty="0"/>
              <a:t>, postfix expression plays a vital role in the tech industry</a:t>
            </a:r>
            <a:r>
              <a:rPr lang="en-US" dirty="0" smtClean="0"/>
              <a:t>.</a:t>
            </a:r>
          </a:p>
          <a:p>
            <a:pPr marL="0" indent="0">
              <a:buNone/>
            </a:pPr>
            <a:r>
              <a:rPr lang="en-US" b="1" dirty="0"/>
              <a:t>3+7  will convert into  37+</a:t>
            </a:r>
          </a:p>
          <a:p>
            <a:pPr marL="0" indent="0">
              <a:buNone/>
            </a:pPr>
            <a:endParaRPr lang="en-US" b="1" dirty="0"/>
          </a:p>
        </p:txBody>
      </p:sp>
      <p:sp>
        <p:nvSpPr>
          <p:cNvPr id="4" name="Title 3"/>
          <p:cNvSpPr>
            <a:spLocks noGrp="1"/>
          </p:cNvSpPr>
          <p:nvPr>
            <p:ph type="title"/>
          </p:nvPr>
        </p:nvSpPr>
        <p:spPr/>
        <p:txBody>
          <a:bodyPr/>
          <a:lstStyle/>
          <a:p>
            <a:r>
              <a:rPr lang="en-US" b="1" dirty="0">
                <a:solidFill>
                  <a:srgbClr val="FF0000"/>
                </a:solidFill>
              </a:rPr>
              <a:t>Polish Notation</a:t>
            </a:r>
          </a:p>
        </p:txBody>
      </p:sp>
    </p:spTree>
    <p:extLst>
      <p:ext uri="{BB962C8B-B14F-4D97-AF65-F5344CB8AC3E}">
        <p14:creationId xmlns:p14="http://schemas.microsoft.com/office/powerpoint/2010/main" val="617648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Conversion of an Infix Expression to Postfix Expression</a:t>
            </a:r>
          </a:p>
        </p:txBody>
      </p:sp>
      <p:pic>
        <p:nvPicPr>
          <p:cNvPr id="2" name="Picture 1"/>
          <p:cNvPicPr>
            <a:picLocks noChangeAspect="1"/>
          </p:cNvPicPr>
          <p:nvPr/>
        </p:nvPicPr>
        <p:blipFill>
          <a:blip r:embed="rId2"/>
          <a:stretch>
            <a:fillRect/>
          </a:stretch>
        </p:blipFill>
        <p:spPr>
          <a:xfrm>
            <a:off x="1661375" y="1690688"/>
            <a:ext cx="7809761" cy="4341326"/>
          </a:xfrm>
          <a:prstGeom prst="rect">
            <a:avLst/>
          </a:prstGeom>
        </p:spPr>
      </p:pic>
    </p:spTree>
    <p:extLst>
      <p:ext uri="{BB962C8B-B14F-4D97-AF65-F5344CB8AC3E}">
        <p14:creationId xmlns:p14="http://schemas.microsoft.com/office/powerpoint/2010/main" val="33564250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Conversion of an Infix Expression to Postfix Expression</a:t>
            </a:r>
          </a:p>
        </p:txBody>
      </p:sp>
      <p:pic>
        <p:nvPicPr>
          <p:cNvPr id="5" name="Picture 4"/>
          <p:cNvPicPr>
            <a:picLocks noChangeAspect="1"/>
          </p:cNvPicPr>
          <p:nvPr/>
        </p:nvPicPr>
        <p:blipFill>
          <a:blip r:embed="rId2"/>
          <a:stretch>
            <a:fillRect/>
          </a:stretch>
        </p:blipFill>
        <p:spPr>
          <a:xfrm>
            <a:off x="682581" y="2012324"/>
            <a:ext cx="3590925" cy="1352550"/>
          </a:xfrm>
          <a:prstGeom prst="rect">
            <a:avLst/>
          </a:prstGeom>
        </p:spPr>
      </p:pic>
      <p:pic>
        <p:nvPicPr>
          <p:cNvPr id="6" name="Picture 5"/>
          <p:cNvPicPr>
            <a:picLocks noChangeAspect="1"/>
          </p:cNvPicPr>
          <p:nvPr/>
        </p:nvPicPr>
        <p:blipFill>
          <a:blip r:embed="rId3"/>
          <a:stretch>
            <a:fillRect/>
          </a:stretch>
        </p:blipFill>
        <p:spPr>
          <a:xfrm>
            <a:off x="5691858" y="1964699"/>
            <a:ext cx="4105275" cy="1400175"/>
          </a:xfrm>
          <a:prstGeom prst="rect">
            <a:avLst/>
          </a:prstGeom>
        </p:spPr>
      </p:pic>
      <p:pic>
        <p:nvPicPr>
          <p:cNvPr id="7" name="Picture 6"/>
          <p:cNvPicPr>
            <a:picLocks noChangeAspect="1"/>
          </p:cNvPicPr>
          <p:nvPr/>
        </p:nvPicPr>
        <p:blipFill>
          <a:blip r:embed="rId4"/>
          <a:stretch>
            <a:fillRect/>
          </a:stretch>
        </p:blipFill>
        <p:spPr>
          <a:xfrm>
            <a:off x="2352809" y="4028940"/>
            <a:ext cx="7194732" cy="1856705"/>
          </a:xfrm>
          <a:prstGeom prst="rect">
            <a:avLst/>
          </a:prstGeom>
        </p:spPr>
      </p:pic>
    </p:spTree>
    <p:extLst>
      <p:ext uri="{BB962C8B-B14F-4D97-AF65-F5344CB8AC3E}">
        <p14:creationId xmlns:p14="http://schemas.microsoft.com/office/powerpoint/2010/main" val="905033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Conversion of an Infix Expression to Postfix Expression</a:t>
            </a:r>
          </a:p>
        </p:txBody>
      </p:sp>
      <p:pic>
        <p:nvPicPr>
          <p:cNvPr id="2" name="Picture 1"/>
          <p:cNvPicPr>
            <a:picLocks noChangeAspect="1"/>
          </p:cNvPicPr>
          <p:nvPr/>
        </p:nvPicPr>
        <p:blipFill>
          <a:blip r:embed="rId2"/>
          <a:stretch>
            <a:fillRect/>
          </a:stretch>
        </p:blipFill>
        <p:spPr>
          <a:xfrm>
            <a:off x="385930" y="1873072"/>
            <a:ext cx="7788298" cy="4450456"/>
          </a:xfrm>
          <a:prstGeom prst="rect">
            <a:avLst/>
          </a:prstGeom>
        </p:spPr>
      </p:pic>
      <p:pic>
        <p:nvPicPr>
          <p:cNvPr id="3" name="Picture 2"/>
          <p:cNvPicPr>
            <a:picLocks noChangeAspect="1"/>
          </p:cNvPicPr>
          <p:nvPr/>
        </p:nvPicPr>
        <p:blipFill>
          <a:blip r:embed="rId3"/>
          <a:stretch>
            <a:fillRect/>
          </a:stretch>
        </p:blipFill>
        <p:spPr>
          <a:xfrm>
            <a:off x="8225744" y="2781098"/>
            <a:ext cx="3803124" cy="1038225"/>
          </a:xfrm>
          <a:prstGeom prst="rect">
            <a:avLst/>
          </a:prstGeom>
        </p:spPr>
      </p:pic>
    </p:spTree>
    <p:extLst>
      <p:ext uri="{BB962C8B-B14F-4D97-AF65-F5344CB8AC3E}">
        <p14:creationId xmlns:p14="http://schemas.microsoft.com/office/powerpoint/2010/main" val="1539991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Conversion of an Infix Expression to Postfix Expression</a:t>
            </a:r>
          </a:p>
        </p:txBody>
      </p:sp>
      <p:pic>
        <p:nvPicPr>
          <p:cNvPr id="5" name="Picture 4"/>
          <p:cNvPicPr>
            <a:picLocks noChangeAspect="1"/>
          </p:cNvPicPr>
          <p:nvPr/>
        </p:nvPicPr>
        <p:blipFill>
          <a:blip r:embed="rId2"/>
          <a:stretch>
            <a:fillRect/>
          </a:stretch>
        </p:blipFill>
        <p:spPr>
          <a:xfrm>
            <a:off x="3002924" y="4441533"/>
            <a:ext cx="5181600" cy="2276475"/>
          </a:xfrm>
          <a:prstGeom prst="rect">
            <a:avLst/>
          </a:prstGeom>
        </p:spPr>
      </p:pic>
      <p:pic>
        <p:nvPicPr>
          <p:cNvPr id="6" name="Picture 5"/>
          <p:cNvPicPr>
            <a:picLocks noChangeAspect="1"/>
          </p:cNvPicPr>
          <p:nvPr/>
        </p:nvPicPr>
        <p:blipFill>
          <a:blip r:embed="rId3"/>
          <a:stretch>
            <a:fillRect/>
          </a:stretch>
        </p:blipFill>
        <p:spPr>
          <a:xfrm>
            <a:off x="3240910" y="1690688"/>
            <a:ext cx="4705627" cy="751133"/>
          </a:xfrm>
          <a:prstGeom prst="rect">
            <a:avLst/>
          </a:prstGeom>
        </p:spPr>
      </p:pic>
      <p:sp>
        <p:nvSpPr>
          <p:cNvPr id="7" name="Content Placeholder 2"/>
          <p:cNvSpPr>
            <a:spLocks noGrp="1"/>
          </p:cNvSpPr>
          <p:nvPr>
            <p:ph idx="1"/>
          </p:nvPr>
        </p:nvSpPr>
        <p:spPr>
          <a:xfrm>
            <a:off x="1445653" y="2720662"/>
            <a:ext cx="10119575" cy="1233152"/>
          </a:xfrm>
        </p:spPr>
        <p:txBody>
          <a:bodyPr>
            <a:normAutofit fontScale="55000" lnSpcReduction="20000"/>
          </a:bodyPr>
          <a:lstStyle/>
          <a:p>
            <a:pPr marL="0" indent="0">
              <a:buNone/>
            </a:pPr>
            <a:r>
              <a:rPr lang="en-US" dirty="0" smtClean="0"/>
              <a:t>3+5*7-16</a:t>
            </a:r>
          </a:p>
          <a:p>
            <a:pPr marL="0" indent="0">
              <a:buNone/>
            </a:pPr>
            <a:r>
              <a:rPr lang="en-US" b="1" dirty="0" smtClean="0"/>
              <a:t>3+35-16 // + and – have same priority so evaluate from left to right (associativity)</a:t>
            </a:r>
          </a:p>
          <a:p>
            <a:pPr marL="0" indent="0">
              <a:buNone/>
            </a:pPr>
            <a:r>
              <a:rPr lang="en-US" b="1" dirty="0" smtClean="0"/>
              <a:t>38-16</a:t>
            </a:r>
          </a:p>
          <a:p>
            <a:pPr marL="0" indent="0">
              <a:buNone/>
            </a:pPr>
            <a:r>
              <a:rPr lang="en-US" b="1" dirty="0" smtClean="0"/>
              <a:t>22</a:t>
            </a:r>
            <a:endParaRPr lang="en-US" b="1" dirty="0"/>
          </a:p>
        </p:txBody>
      </p:sp>
    </p:spTree>
    <p:extLst>
      <p:ext uri="{BB962C8B-B14F-4D97-AF65-F5344CB8AC3E}">
        <p14:creationId xmlns:p14="http://schemas.microsoft.com/office/powerpoint/2010/main" val="41078151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Conversion of an Infix Expression to Postfix Expression</a:t>
            </a:r>
          </a:p>
        </p:txBody>
      </p:sp>
      <p:sp>
        <p:nvSpPr>
          <p:cNvPr id="7" name="Content Placeholder 2"/>
          <p:cNvSpPr>
            <a:spLocks noGrp="1"/>
          </p:cNvSpPr>
          <p:nvPr>
            <p:ph idx="1"/>
          </p:nvPr>
        </p:nvSpPr>
        <p:spPr>
          <a:xfrm>
            <a:off x="1234225" y="3750971"/>
            <a:ext cx="10119575" cy="2314977"/>
          </a:xfrm>
        </p:spPr>
        <p:txBody>
          <a:bodyPr>
            <a:normAutofit fontScale="92500" lnSpcReduction="10000"/>
          </a:bodyPr>
          <a:lstStyle/>
          <a:p>
            <a:pPr marL="0" indent="0">
              <a:buNone/>
            </a:pPr>
            <a:r>
              <a:rPr lang="en-US" b="1" dirty="0" smtClean="0"/>
              <a:t>500+5/\ 3 – 66 *9</a:t>
            </a:r>
          </a:p>
          <a:p>
            <a:pPr marL="0" indent="0">
              <a:buNone/>
            </a:pPr>
            <a:r>
              <a:rPr lang="en-US" b="1" dirty="0" smtClean="0"/>
              <a:t>500+125-66*9</a:t>
            </a:r>
          </a:p>
          <a:p>
            <a:pPr marL="0" indent="0">
              <a:buNone/>
            </a:pPr>
            <a:r>
              <a:rPr lang="en-US" b="1" dirty="0" smtClean="0"/>
              <a:t>500+125-594</a:t>
            </a:r>
          </a:p>
          <a:p>
            <a:pPr marL="0" indent="0">
              <a:buNone/>
            </a:pPr>
            <a:r>
              <a:rPr lang="en-US" b="1" dirty="0" smtClean="0"/>
              <a:t>625-594</a:t>
            </a:r>
          </a:p>
          <a:p>
            <a:pPr marL="0" indent="0">
              <a:buNone/>
            </a:pPr>
            <a:r>
              <a:rPr lang="en-US" b="1" dirty="0" smtClean="0"/>
              <a:t>31</a:t>
            </a:r>
            <a:endParaRPr lang="en-US" b="1" dirty="0"/>
          </a:p>
        </p:txBody>
      </p:sp>
      <p:pic>
        <p:nvPicPr>
          <p:cNvPr id="2" name="Picture 1"/>
          <p:cNvPicPr>
            <a:picLocks noChangeAspect="1"/>
          </p:cNvPicPr>
          <p:nvPr/>
        </p:nvPicPr>
        <p:blipFill>
          <a:blip r:embed="rId2"/>
          <a:stretch>
            <a:fillRect/>
          </a:stretch>
        </p:blipFill>
        <p:spPr>
          <a:xfrm>
            <a:off x="2525534" y="1812198"/>
            <a:ext cx="6736462" cy="1626461"/>
          </a:xfrm>
          <a:prstGeom prst="rect">
            <a:avLst/>
          </a:prstGeom>
        </p:spPr>
      </p:pic>
    </p:spTree>
    <p:extLst>
      <p:ext uri="{BB962C8B-B14F-4D97-AF65-F5344CB8AC3E}">
        <p14:creationId xmlns:p14="http://schemas.microsoft.com/office/powerpoint/2010/main" val="3370767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Conversion of an Infix Expression to Postfix Expression</a:t>
            </a:r>
          </a:p>
        </p:txBody>
      </p:sp>
      <p:pic>
        <p:nvPicPr>
          <p:cNvPr id="5" name="Picture 4"/>
          <p:cNvPicPr>
            <a:picLocks noChangeAspect="1"/>
          </p:cNvPicPr>
          <p:nvPr/>
        </p:nvPicPr>
        <p:blipFill>
          <a:blip r:embed="rId2"/>
          <a:stretch>
            <a:fillRect/>
          </a:stretch>
        </p:blipFill>
        <p:spPr>
          <a:xfrm>
            <a:off x="2889831" y="2074840"/>
            <a:ext cx="6412337" cy="3823871"/>
          </a:xfrm>
          <a:prstGeom prst="rect">
            <a:avLst/>
          </a:prstGeom>
        </p:spPr>
      </p:pic>
    </p:spTree>
    <p:extLst>
      <p:ext uri="{BB962C8B-B14F-4D97-AF65-F5344CB8AC3E}">
        <p14:creationId xmlns:p14="http://schemas.microsoft.com/office/powerpoint/2010/main" val="35862219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0011177" cy="5029200"/>
          </a:xfrm>
        </p:spPr>
        <p:txBody>
          <a:bodyPr>
            <a:normAutofit/>
          </a:bodyPr>
          <a:lstStyle/>
          <a:p>
            <a:r>
              <a:rPr lang="en-US" dirty="0"/>
              <a:t>Generally, humans find infix polish notation much easier to understand than postfix or reverse polish notation. </a:t>
            </a:r>
            <a:endParaRPr lang="en-US" dirty="0" smtClean="0"/>
          </a:p>
          <a:p>
            <a:r>
              <a:rPr lang="en-US" dirty="0" smtClean="0"/>
              <a:t>To </a:t>
            </a:r>
            <a:r>
              <a:rPr lang="en-US" dirty="0"/>
              <a:t>convert each expression from infix to postfix, we assign priority to each of the operators present in the expression. </a:t>
            </a:r>
            <a:endParaRPr lang="en-US" dirty="0" smtClean="0"/>
          </a:p>
          <a:p>
            <a:r>
              <a:rPr lang="en-US" dirty="0" smtClean="0"/>
              <a:t>Each </a:t>
            </a:r>
            <a:r>
              <a:rPr lang="en-US" dirty="0"/>
              <a:t>operator has its priority for an expression. </a:t>
            </a:r>
            <a:endParaRPr lang="en-US" dirty="0" smtClean="0"/>
          </a:p>
          <a:p>
            <a:r>
              <a:rPr lang="en-US" dirty="0" smtClean="0"/>
              <a:t>For </a:t>
            </a:r>
            <a:r>
              <a:rPr lang="en-US" dirty="0"/>
              <a:t>example, if we take some operators, i.e., +, -, *, /, then these will be arranged in priority.</a:t>
            </a:r>
          </a:p>
          <a:p>
            <a:r>
              <a:rPr lang="en-US" b="1" dirty="0"/>
              <a:t>Higher Priority Operators :</a:t>
            </a:r>
            <a:r>
              <a:rPr lang="en-US" dirty="0"/>
              <a:t> *, /, %.</a:t>
            </a:r>
            <a:br>
              <a:rPr lang="en-US" dirty="0"/>
            </a:br>
            <a:r>
              <a:rPr lang="en-US" b="1" dirty="0"/>
              <a:t>Lower Priority Operators :</a:t>
            </a:r>
            <a:r>
              <a:rPr lang="en-US" dirty="0"/>
              <a:t> +, -.</a:t>
            </a:r>
            <a:br>
              <a:rPr lang="en-US" dirty="0"/>
            </a:br>
            <a:r>
              <a:rPr lang="en-US" b="1" dirty="0"/>
              <a:t>Order of Operators :</a:t>
            </a:r>
            <a:r>
              <a:rPr lang="en-US" dirty="0"/>
              <a:t> +, −, ∗, /, ^.</a:t>
            </a:r>
          </a:p>
          <a:p>
            <a:pPr marL="0" indent="0">
              <a:buNone/>
            </a:pPr>
            <a:endParaRPr lang="en-US" b="1" dirty="0"/>
          </a:p>
        </p:txBody>
      </p:sp>
      <p:sp>
        <p:nvSpPr>
          <p:cNvPr id="4" name="Title 3"/>
          <p:cNvSpPr>
            <a:spLocks noGrp="1"/>
          </p:cNvSpPr>
          <p:nvPr>
            <p:ph type="title"/>
          </p:nvPr>
        </p:nvSpPr>
        <p:spPr/>
        <p:txBody>
          <a:bodyPr/>
          <a:lstStyle/>
          <a:p>
            <a:r>
              <a:rPr lang="en-US" b="1" dirty="0"/>
              <a:t>Conversion of an Infix Expression to Postfix Expression</a:t>
            </a:r>
          </a:p>
        </p:txBody>
      </p:sp>
    </p:spTree>
    <p:extLst>
      <p:ext uri="{BB962C8B-B14F-4D97-AF65-F5344CB8AC3E}">
        <p14:creationId xmlns:p14="http://schemas.microsoft.com/office/powerpoint/2010/main" val="32221720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823" y="1600200"/>
            <a:ext cx="10011177" cy="5029200"/>
          </a:xfrm>
        </p:spPr>
        <p:txBody>
          <a:bodyPr>
            <a:normAutofit lnSpcReduction="10000"/>
          </a:bodyPr>
          <a:lstStyle/>
          <a:p>
            <a:r>
              <a:rPr lang="en-US" dirty="0"/>
              <a:t>Reverse Polish notation is also known as Postfix notation and Suffix Notation. It plays a vital role in the tech industry. </a:t>
            </a:r>
            <a:endParaRPr lang="en-US" dirty="0" smtClean="0"/>
          </a:p>
          <a:p>
            <a:r>
              <a:rPr lang="en-US" dirty="0" smtClean="0"/>
              <a:t>In </a:t>
            </a:r>
            <a:r>
              <a:rPr lang="en-US" dirty="0"/>
              <a:t>general, humans find Infix polish notation or parenthesized format of expression easy to evaluate, whereas computers find it difficult to parse expressions in the form of Infix Polish Notation, so our computer converts the expression into postfix polish notation or reverse polish notation to evaluate the expression.</a:t>
            </a:r>
          </a:p>
          <a:p>
            <a:r>
              <a:rPr lang="en-US" dirty="0"/>
              <a:t>A reverse Polish notation states that the operator should be present after the operands. </a:t>
            </a:r>
            <a:endParaRPr lang="en-US" dirty="0" smtClean="0"/>
          </a:p>
          <a:p>
            <a:r>
              <a:rPr lang="en-US" dirty="0" smtClean="0"/>
              <a:t>For </a:t>
            </a:r>
            <a:r>
              <a:rPr lang="en-US" dirty="0"/>
              <a:t>example, if an expression is </a:t>
            </a:r>
            <a:r>
              <a:rPr lang="en-US" dirty="0" err="1"/>
              <a:t>x+y</a:t>
            </a:r>
            <a:r>
              <a:rPr lang="en-US" dirty="0"/>
              <a:t>, then x and y are operands and </a:t>
            </a:r>
            <a:r>
              <a:rPr lang="en-US" b="1" dirty="0"/>
              <a:t>‘+’</a:t>
            </a:r>
            <a:r>
              <a:rPr lang="en-US" dirty="0"/>
              <a:t> is the operator. The prefix notation or polish notation of this expression will be </a:t>
            </a:r>
            <a:r>
              <a:rPr lang="en-US" b="1" dirty="0"/>
              <a:t>"</a:t>
            </a:r>
            <a:r>
              <a:rPr lang="en-US" b="1" dirty="0" err="1"/>
              <a:t>xy</a:t>
            </a:r>
            <a:r>
              <a:rPr lang="en-US" b="1" dirty="0"/>
              <a:t>+"</a:t>
            </a:r>
            <a:r>
              <a:rPr lang="en-US" dirty="0"/>
              <a:t>.</a:t>
            </a:r>
          </a:p>
          <a:p>
            <a:pPr marL="0" indent="0">
              <a:buNone/>
            </a:pPr>
            <a:endParaRPr lang="en-US" b="1" dirty="0"/>
          </a:p>
        </p:txBody>
      </p:sp>
      <p:sp>
        <p:nvSpPr>
          <p:cNvPr id="4" name="Title 3"/>
          <p:cNvSpPr>
            <a:spLocks noGrp="1"/>
          </p:cNvSpPr>
          <p:nvPr>
            <p:ph type="title"/>
          </p:nvPr>
        </p:nvSpPr>
        <p:spPr/>
        <p:txBody>
          <a:bodyPr>
            <a:normAutofit/>
          </a:bodyPr>
          <a:lstStyle/>
          <a:p>
            <a:r>
              <a:rPr lang="en-IN" b="1" dirty="0"/>
              <a:t>Reverse Polish Notation</a:t>
            </a:r>
          </a:p>
        </p:txBody>
      </p:sp>
    </p:spTree>
    <p:extLst>
      <p:ext uri="{BB962C8B-B14F-4D97-AF65-F5344CB8AC3E}">
        <p14:creationId xmlns:p14="http://schemas.microsoft.com/office/powerpoint/2010/main" val="37174422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0000"/>
                </a:solidFill>
              </a:rPr>
              <a:t>Operator Precedence</a:t>
            </a:r>
          </a:p>
        </p:txBody>
      </p:sp>
      <p:sp>
        <p:nvSpPr>
          <p:cNvPr id="3" name="Content Placeholder 2"/>
          <p:cNvSpPr>
            <a:spLocks noGrp="1"/>
          </p:cNvSpPr>
          <p:nvPr>
            <p:ph idx="1"/>
          </p:nvPr>
        </p:nvSpPr>
        <p:spPr/>
        <p:txBody>
          <a:bodyPr>
            <a:noAutofit/>
          </a:bodyPr>
          <a:lstStyle/>
          <a:p>
            <a:pPr marL="0" indent="0">
              <a:buNone/>
            </a:pPr>
            <a:r>
              <a:rPr lang="en-US" sz="6600" dirty="0"/>
              <a:t>( )</a:t>
            </a:r>
          </a:p>
          <a:p>
            <a:pPr marL="0" indent="0">
              <a:buNone/>
            </a:pPr>
            <a:r>
              <a:rPr lang="en-US" sz="6600" b="1" dirty="0"/>
              <a:t>↑</a:t>
            </a:r>
          </a:p>
          <a:p>
            <a:pPr marL="0" indent="0">
              <a:buNone/>
            </a:pPr>
            <a:r>
              <a:rPr lang="en-US" sz="6600" b="1" dirty="0"/>
              <a:t>*, /</a:t>
            </a:r>
          </a:p>
          <a:p>
            <a:pPr marL="0" indent="0">
              <a:buNone/>
            </a:pPr>
            <a:r>
              <a:rPr lang="en-US" sz="6600" b="1" dirty="0"/>
              <a:t>+, -</a:t>
            </a:r>
          </a:p>
        </p:txBody>
      </p:sp>
    </p:spTree>
    <p:extLst>
      <p:ext uri="{BB962C8B-B14F-4D97-AF65-F5344CB8AC3E}">
        <p14:creationId xmlns:p14="http://schemas.microsoft.com/office/powerpoint/2010/main" val="4293994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rgbClr val="FF0000"/>
                </a:solidFill>
              </a:rPr>
              <a:t>Operator </a:t>
            </a:r>
            <a:r>
              <a:rPr lang="en-US" sz="5400" b="1" dirty="0" smtClean="0">
                <a:solidFill>
                  <a:srgbClr val="FF0000"/>
                </a:solidFill>
              </a:rPr>
              <a:t>Associativity</a:t>
            </a:r>
            <a:endParaRPr lang="en-US" sz="5400" b="1" dirty="0">
              <a:solidFill>
                <a:srgbClr val="FF0000"/>
              </a:solidFill>
            </a:endParaRPr>
          </a:p>
        </p:txBody>
      </p:sp>
      <p:pic>
        <p:nvPicPr>
          <p:cNvPr id="5" name="Picture 4"/>
          <p:cNvPicPr>
            <a:picLocks noChangeAspect="1"/>
          </p:cNvPicPr>
          <p:nvPr/>
        </p:nvPicPr>
        <p:blipFill>
          <a:blip r:embed="rId2"/>
          <a:stretch>
            <a:fillRect/>
          </a:stretch>
        </p:blipFill>
        <p:spPr>
          <a:xfrm>
            <a:off x="3832673" y="1831013"/>
            <a:ext cx="3392376" cy="4354132"/>
          </a:xfrm>
          <a:prstGeom prst="rect">
            <a:avLst/>
          </a:prstGeom>
        </p:spPr>
      </p:pic>
    </p:spTree>
    <p:extLst>
      <p:ext uri="{BB962C8B-B14F-4D97-AF65-F5344CB8AC3E}">
        <p14:creationId xmlns:p14="http://schemas.microsoft.com/office/powerpoint/2010/main" val="3706406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1143000"/>
          </a:xfrm>
        </p:spPr>
        <p:txBody>
          <a:bodyPr/>
          <a:lstStyle/>
          <a:p>
            <a:r>
              <a:rPr lang="en-US" b="1" u="sng" dirty="0">
                <a:solidFill>
                  <a:srgbClr val="FF0000"/>
                </a:solidFill>
              </a:rPr>
              <a:t>Convert from infix to postfix</a:t>
            </a:r>
          </a:p>
        </p:txBody>
      </p:sp>
      <p:sp>
        <p:nvSpPr>
          <p:cNvPr id="3" name="Content Placeholder 2"/>
          <p:cNvSpPr>
            <a:spLocks noGrp="1"/>
          </p:cNvSpPr>
          <p:nvPr>
            <p:ph idx="1"/>
          </p:nvPr>
        </p:nvSpPr>
        <p:spPr>
          <a:xfrm>
            <a:off x="1981200" y="1219200"/>
            <a:ext cx="8229600" cy="5105400"/>
          </a:xfrm>
        </p:spPr>
        <p:txBody>
          <a:bodyPr>
            <a:noAutofit/>
          </a:bodyPr>
          <a:lstStyle/>
          <a:p>
            <a:pPr marL="0" indent="0">
              <a:buNone/>
            </a:pPr>
            <a:r>
              <a:rPr lang="en-US" sz="4400" b="1" dirty="0"/>
              <a:t>   (A + B) * C</a:t>
            </a:r>
          </a:p>
          <a:p>
            <a:pPr marL="0" indent="0">
              <a:buNone/>
            </a:pPr>
            <a:r>
              <a:rPr lang="en-US" sz="4400" b="1" dirty="0"/>
              <a:t>= </a:t>
            </a:r>
            <a:r>
              <a:rPr lang="en-US" sz="4400" b="1" dirty="0">
                <a:solidFill>
                  <a:srgbClr val="FF0000"/>
                </a:solidFill>
              </a:rPr>
              <a:t>[ A B +]</a:t>
            </a:r>
            <a:r>
              <a:rPr lang="en-US" sz="4400" b="1" dirty="0"/>
              <a:t> * C</a:t>
            </a:r>
          </a:p>
          <a:p>
            <a:pPr marL="0" indent="0">
              <a:buNone/>
            </a:pPr>
            <a:r>
              <a:rPr lang="en-US" sz="4400" b="1" dirty="0"/>
              <a:t>= A B  + C *</a:t>
            </a:r>
          </a:p>
          <a:p>
            <a:pPr marL="0" indent="0">
              <a:buNone/>
            </a:pPr>
            <a:r>
              <a:rPr lang="en-US" sz="4400" b="1" dirty="0"/>
              <a:t> </a:t>
            </a:r>
          </a:p>
          <a:p>
            <a:pPr marL="0" indent="0">
              <a:buNone/>
            </a:pPr>
            <a:r>
              <a:rPr lang="en-US" sz="4400" b="1" dirty="0"/>
              <a:t>  A + B * C</a:t>
            </a:r>
          </a:p>
          <a:p>
            <a:pPr marL="0" indent="0">
              <a:buNone/>
            </a:pPr>
            <a:r>
              <a:rPr lang="en-US" sz="4400" b="1" dirty="0"/>
              <a:t>= A + </a:t>
            </a:r>
            <a:r>
              <a:rPr lang="en-US" sz="4400" b="1" dirty="0">
                <a:solidFill>
                  <a:srgbClr val="FF0000"/>
                </a:solidFill>
              </a:rPr>
              <a:t>[B C *]</a:t>
            </a:r>
          </a:p>
          <a:p>
            <a:pPr marL="0" indent="0">
              <a:buNone/>
            </a:pPr>
            <a:r>
              <a:rPr lang="en-US" sz="4400" b="1" dirty="0"/>
              <a:t>= A B C * +</a:t>
            </a:r>
          </a:p>
        </p:txBody>
      </p:sp>
    </p:spTree>
    <p:extLst>
      <p:ext uri="{BB962C8B-B14F-4D97-AF65-F5344CB8AC3E}">
        <p14:creationId xmlns:p14="http://schemas.microsoft.com/office/powerpoint/2010/main" val="2267913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457200"/>
            <a:ext cx="8610600" cy="6400800"/>
          </a:xfrm>
        </p:spPr>
        <p:txBody>
          <a:bodyPr>
            <a:normAutofit/>
          </a:bodyPr>
          <a:lstStyle/>
          <a:p>
            <a:pPr marL="0" indent="0">
              <a:buNone/>
            </a:pPr>
            <a:r>
              <a:rPr lang="en-US" sz="6000" b="1" dirty="0"/>
              <a:t>  (A + B) / (( D - E) * F )</a:t>
            </a:r>
          </a:p>
          <a:p>
            <a:pPr marL="0" indent="0">
              <a:buNone/>
            </a:pPr>
            <a:endParaRPr lang="en-US" sz="6000" b="1" dirty="0"/>
          </a:p>
          <a:p>
            <a:pPr marL="0" indent="0">
              <a:buNone/>
            </a:pPr>
            <a:r>
              <a:rPr lang="en-US" sz="6000" b="1" dirty="0"/>
              <a:t>= </a:t>
            </a:r>
            <a:r>
              <a:rPr lang="en-US" sz="6000" b="1" dirty="0">
                <a:solidFill>
                  <a:srgbClr val="FF0000"/>
                </a:solidFill>
              </a:rPr>
              <a:t>[A B + ] </a:t>
            </a:r>
            <a:r>
              <a:rPr lang="en-US" sz="6000" b="1" dirty="0"/>
              <a:t>/ ( </a:t>
            </a:r>
            <a:r>
              <a:rPr lang="en-US" sz="6000" b="1" dirty="0">
                <a:solidFill>
                  <a:srgbClr val="FF0000"/>
                </a:solidFill>
              </a:rPr>
              <a:t>[ D E - ] </a:t>
            </a:r>
            <a:r>
              <a:rPr lang="en-US" sz="6000" b="1" dirty="0"/>
              <a:t>* F)</a:t>
            </a:r>
          </a:p>
          <a:p>
            <a:pPr marL="0" indent="0">
              <a:buNone/>
            </a:pPr>
            <a:r>
              <a:rPr lang="en-US" sz="6000" b="1" dirty="0"/>
              <a:t>= </a:t>
            </a:r>
            <a:r>
              <a:rPr lang="en-US" sz="6000" b="1" dirty="0">
                <a:solidFill>
                  <a:srgbClr val="FF0000"/>
                </a:solidFill>
              </a:rPr>
              <a:t>[A B + ] </a:t>
            </a:r>
            <a:r>
              <a:rPr lang="en-US" sz="6000" b="1" dirty="0"/>
              <a:t>/ </a:t>
            </a:r>
            <a:r>
              <a:rPr lang="en-US" sz="6000" b="1" dirty="0">
                <a:solidFill>
                  <a:srgbClr val="FF0000"/>
                </a:solidFill>
              </a:rPr>
              <a:t>[D E – F *]</a:t>
            </a:r>
          </a:p>
          <a:p>
            <a:pPr marL="0" indent="0">
              <a:buNone/>
            </a:pPr>
            <a:r>
              <a:rPr lang="en-US" sz="6000" b="1" dirty="0"/>
              <a:t>= A B + D E – F * /</a:t>
            </a:r>
          </a:p>
        </p:txBody>
      </p:sp>
    </p:spTree>
    <p:extLst>
      <p:ext uri="{BB962C8B-B14F-4D97-AF65-F5344CB8AC3E}">
        <p14:creationId xmlns:p14="http://schemas.microsoft.com/office/powerpoint/2010/main" val="11830192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228600"/>
            <a:ext cx="8610600" cy="6248400"/>
          </a:xfrm>
        </p:spPr>
        <p:txBody>
          <a:bodyPr>
            <a:normAutofit/>
          </a:bodyPr>
          <a:lstStyle/>
          <a:p>
            <a:pPr marL="0" indent="0">
              <a:buNone/>
            </a:pPr>
            <a:r>
              <a:rPr lang="en-US" sz="5400" b="1" dirty="0"/>
              <a:t>  (( A + B ) / D) ↑  (  E – F  * G)</a:t>
            </a:r>
          </a:p>
          <a:p>
            <a:pPr marL="0" indent="0">
              <a:buNone/>
            </a:pPr>
            <a:endParaRPr lang="en-US" sz="5400" b="1" dirty="0"/>
          </a:p>
          <a:p>
            <a:pPr marL="0" indent="0">
              <a:buNone/>
            </a:pPr>
            <a:r>
              <a:rPr lang="en-US" sz="5400" b="1" dirty="0"/>
              <a:t>= (</a:t>
            </a:r>
            <a:r>
              <a:rPr lang="en-US" sz="5400" b="1" dirty="0">
                <a:solidFill>
                  <a:srgbClr val="FF0000"/>
                </a:solidFill>
              </a:rPr>
              <a:t>[AB+] </a:t>
            </a:r>
            <a:r>
              <a:rPr lang="en-US" sz="5400" b="1" dirty="0"/>
              <a:t>/ D) ↑ ( </a:t>
            </a:r>
            <a:r>
              <a:rPr lang="en-US" sz="5400" b="1" dirty="0">
                <a:solidFill>
                  <a:srgbClr val="FF0000"/>
                </a:solidFill>
              </a:rPr>
              <a:t> </a:t>
            </a:r>
            <a:r>
              <a:rPr lang="en-US" sz="5400" b="1" dirty="0"/>
              <a:t>E – </a:t>
            </a:r>
            <a:r>
              <a:rPr lang="en-US" sz="5400" b="1" dirty="0">
                <a:solidFill>
                  <a:srgbClr val="FF0000"/>
                </a:solidFill>
              </a:rPr>
              <a:t>[FG*]</a:t>
            </a:r>
            <a:r>
              <a:rPr lang="en-US" sz="5400" b="1" dirty="0"/>
              <a:t>)</a:t>
            </a:r>
          </a:p>
          <a:p>
            <a:pPr marL="0" indent="0">
              <a:buNone/>
            </a:pPr>
            <a:r>
              <a:rPr lang="en-US" sz="5400" b="1" dirty="0"/>
              <a:t>= </a:t>
            </a:r>
            <a:r>
              <a:rPr lang="en-US" sz="5400" b="1" dirty="0">
                <a:solidFill>
                  <a:srgbClr val="FF0000"/>
                </a:solidFill>
              </a:rPr>
              <a:t>[AB+D/] </a:t>
            </a:r>
            <a:r>
              <a:rPr lang="en-US" sz="5400" b="1" dirty="0"/>
              <a:t>↑ </a:t>
            </a:r>
            <a:r>
              <a:rPr lang="en-US" sz="5400" b="1" dirty="0">
                <a:solidFill>
                  <a:srgbClr val="FF0000"/>
                </a:solidFill>
              </a:rPr>
              <a:t>[EFG*-]</a:t>
            </a:r>
          </a:p>
          <a:p>
            <a:pPr marL="0" indent="0">
              <a:buNone/>
            </a:pPr>
            <a:r>
              <a:rPr lang="en-US" sz="5400" b="1" dirty="0"/>
              <a:t>= AB+D/EFG*- ↑</a:t>
            </a:r>
          </a:p>
          <a:p>
            <a:pPr marL="0" indent="0">
              <a:buNone/>
            </a:pPr>
            <a:endParaRPr lang="en-US" sz="5400" b="1" dirty="0">
              <a:solidFill>
                <a:srgbClr val="FF0000"/>
              </a:solidFill>
            </a:endParaRPr>
          </a:p>
        </p:txBody>
      </p:sp>
    </p:spTree>
    <p:extLst>
      <p:ext uri="{BB962C8B-B14F-4D97-AF65-F5344CB8AC3E}">
        <p14:creationId xmlns:p14="http://schemas.microsoft.com/office/powerpoint/2010/main" val="33073392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41" y="-407606"/>
            <a:ext cx="10515600" cy="1325563"/>
          </a:xfrm>
        </p:spPr>
        <p:txBody>
          <a:bodyPr>
            <a:normAutofit/>
          </a:bodyPr>
          <a:lstStyle/>
          <a:p>
            <a:r>
              <a:rPr lang="en-US" sz="1800" b="1" dirty="0" smtClean="0"/>
              <a:t>Algorithm </a:t>
            </a:r>
            <a:r>
              <a:rPr lang="en-US" sz="1800" b="1" dirty="0"/>
              <a:t>for the conversion from infix to postfix expression</a:t>
            </a:r>
            <a:r>
              <a:rPr lang="en-US" sz="1800" dirty="0"/>
              <a:t/>
            </a:r>
            <a:br>
              <a:rPr lang="en-US" sz="1800" dirty="0"/>
            </a:br>
            <a:endParaRPr lang="en-US" sz="1800" b="1" u="sng" dirty="0">
              <a:solidFill>
                <a:srgbClr val="FF0000"/>
              </a:solidFill>
            </a:endParaRPr>
          </a:p>
        </p:txBody>
      </p:sp>
      <p:pic>
        <p:nvPicPr>
          <p:cNvPr id="8" name="Picture 7"/>
          <p:cNvPicPr>
            <a:picLocks noChangeAspect="1"/>
          </p:cNvPicPr>
          <p:nvPr/>
        </p:nvPicPr>
        <p:blipFill>
          <a:blip r:embed="rId2"/>
          <a:stretch>
            <a:fillRect/>
          </a:stretch>
        </p:blipFill>
        <p:spPr>
          <a:xfrm>
            <a:off x="0" y="255175"/>
            <a:ext cx="7134896" cy="6618486"/>
          </a:xfrm>
          <a:prstGeom prst="rect">
            <a:avLst/>
          </a:prstGeom>
        </p:spPr>
      </p:pic>
      <p:pic>
        <p:nvPicPr>
          <p:cNvPr id="9" name="Picture 8"/>
          <p:cNvPicPr>
            <a:picLocks noChangeAspect="1"/>
          </p:cNvPicPr>
          <p:nvPr/>
        </p:nvPicPr>
        <p:blipFill>
          <a:blip r:embed="rId3"/>
          <a:stretch>
            <a:fillRect/>
          </a:stretch>
        </p:blipFill>
        <p:spPr>
          <a:xfrm>
            <a:off x="5984248" y="255176"/>
            <a:ext cx="6207752" cy="2114538"/>
          </a:xfrm>
          <a:prstGeom prst="rect">
            <a:avLst/>
          </a:prstGeom>
        </p:spPr>
      </p:pic>
      <p:pic>
        <p:nvPicPr>
          <p:cNvPr id="10" name="Picture 9"/>
          <p:cNvPicPr>
            <a:picLocks noChangeAspect="1"/>
          </p:cNvPicPr>
          <p:nvPr/>
        </p:nvPicPr>
        <p:blipFill>
          <a:blip r:embed="rId4"/>
          <a:stretch>
            <a:fillRect/>
          </a:stretch>
        </p:blipFill>
        <p:spPr>
          <a:xfrm>
            <a:off x="8071887" y="2553831"/>
            <a:ext cx="3183122" cy="957330"/>
          </a:xfrm>
          <a:prstGeom prst="rect">
            <a:avLst/>
          </a:prstGeom>
        </p:spPr>
      </p:pic>
      <p:pic>
        <p:nvPicPr>
          <p:cNvPr id="11" name="Picture 10"/>
          <p:cNvPicPr>
            <a:picLocks noChangeAspect="1"/>
          </p:cNvPicPr>
          <p:nvPr/>
        </p:nvPicPr>
        <p:blipFill>
          <a:blip r:embed="rId5"/>
          <a:stretch>
            <a:fillRect/>
          </a:stretch>
        </p:blipFill>
        <p:spPr>
          <a:xfrm>
            <a:off x="8844298" y="3510046"/>
            <a:ext cx="1638300" cy="771525"/>
          </a:xfrm>
          <a:prstGeom prst="rect">
            <a:avLst/>
          </a:prstGeom>
        </p:spPr>
      </p:pic>
      <p:pic>
        <p:nvPicPr>
          <p:cNvPr id="12" name="Picture 11"/>
          <p:cNvPicPr>
            <a:picLocks noChangeAspect="1"/>
          </p:cNvPicPr>
          <p:nvPr/>
        </p:nvPicPr>
        <p:blipFill>
          <a:blip r:embed="rId6"/>
          <a:stretch>
            <a:fillRect/>
          </a:stretch>
        </p:blipFill>
        <p:spPr>
          <a:xfrm>
            <a:off x="7839410" y="4504361"/>
            <a:ext cx="3648075" cy="733425"/>
          </a:xfrm>
          <a:prstGeom prst="rect">
            <a:avLst/>
          </a:prstGeom>
        </p:spPr>
      </p:pic>
      <p:pic>
        <p:nvPicPr>
          <p:cNvPr id="13" name="Picture 12"/>
          <p:cNvPicPr>
            <a:picLocks noChangeAspect="1"/>
          </p:cNvPicPr>
          <p:nvPr/>
        </p:nvPicPr>
        <p:blipFill>
          <a:blip r:embed="rId7"/>
          <a:stretch>
            <a:fillRect/>
          </a:stretch>
        </p:blipFill>
        <p:spPr>
          <a:xfrm>
            <a:off x="8551170" y="5237786"/>
            <a:ext cx="2533650" cy="552450"/>
          </a:xfrm>
          <a:prstGeom prst="rect">
            <a:avLst/>
          </a:prstGeom>
        </p:spPr>
      </p:pic>
    </p:spTree>
    <p:extLst>
      <p:ext uri="{BB962C8B-B14F-4D97-AF65-F5344CB8AC3E}">
        <p14:creationId xmlns:p14="http://schemas.microsoft.com/office/powerpoint/2010/main" val="34752565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99706" y="129769"/>
            <a:ext cx="5874365" cy="369332"/>
          </a:xfrm>
          <a:prstGeom prst="rect">
            <a:avLst/>
          </a:prstGeom>
        </p:spPr>
        <p:txBody>
          <a:bodyPr wrap="none">
            <a:spAutoFit/>
          </a:bodyPr>
          <a:lstStyle/>
          <a:p>
            <a:r>
              <a:rPr lang="en-IN" b="1" dirty="0">
                <a:solidFill>
                  <a:srgbClr val="333333"/>
                </a:solidFill>
                <a:latin typeface="inter-bold"/>
              </a:rPr>
              <a:t>Infix expression: K + L - M*N + (O^P) * W/U/V * T + Q</a:t>
            </a:r>
            <a:endParaRPr lang="en-IN" dirty="0"/>
          </a:p>
        </p:txBody>
      </p:sp>
      <p:pic>
        <p:nvPicPr>
          <p:cNvPr id="9" name="Picture 8"/>
          <p:cNvPicPr>
            <a:picLocks noChangeAspect="1"/>
          </p:cNvPicPr>
          <p:nvPr/>
        </p:nvPicPr>
        <p:blipFill>
          <a:blip r:embed="rId2"/>
          <a:stretch>
            <a:fillRect/>
          </a:stretch>
        </p:blipFill>
        <p:spPr>
          <a:xfrm>
            <a:off x="2695306" y="783464"/>
            <a:ext cx="7208803" cy="5823398"/>
          </a:xfrm>
          <a:prstGeom prst="rect">
            <a:avLst/>
          </a:prstGeom>
        </p:spPr>
      </p:pic>
    </p:spTree>
    <p:extLst>
      <p:ext uri="{BB962C8B-B14F-4D97-AF65-F5344CB8AC3E}">
        <p14:creationId xmlns:p14="http://schemas.microsoft.com/office/powerpoint/2010/main" val="40396371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99706" y="129769"/>
            <a:ext cx="5874365" cy="369332"/>
          </a:xfrm>
          <a:prstGeom prst="rect">
            <a:avLst/>
          </a:prstGeom>
        </p:spPr>
        <p:txBody>
          <a:bodyPr wrap="none">
            <a:spAutoFit/>
          </a:bodyPr>
          <a:lstStyle/>
          <a:p>
            <a:r>
              <a:rPr lang="en-IN" b="1" dirty="0">
                <a:solidFill>
                  <a:srgbClr val="333333"/>
                </a:solidFill>
                <a:latin typeface="inter-bold"/>
              </a:rPr>
              <a:t>Infix expression: K + L - M*N + (O^P) * W/U/V * T + Q</a:t>
            </a:r>
            <a:endParaRPr lang="en-IN" dirty="0"/>
          </a:p>
        </p:txBody>
      </p:sp>
      <p:pic>
        <p:nvPicPr>
          <p:cNvPr id="2" name="Picture 1"/>
          <p:cNvPicPr>
            <a:picLocks noChangeAspect="1"/>
          </p:cNvPicPr>
          <p:nvPr/>
        </p:nvPicPr>
        <p:blipFill>
          <a:blip r:embed="rId2"/>
          <a:stretch>
            <a:fillRect/>
          </a:stretch>
        </p:blipFill>
        <p:spPr>
          <a:xfrm>
            <a:off x="1386626" y="657090"/>
            <a:ext cx="8903752" cy="6065681"/>
          </a:xfrm>
          <a:prstGeom prst="rect">
            <a:avLst/>
          </a:prstGeom>
        </p:spPr>
      </p:pic>
    </p:spTree>
    <p:extLst>
      <p:ext uri="{BB962C8B-B14F-4D97-AF65-F5344CB8AC3E}">
        <p14:creationId xmlns:p14="http://schemas.microsoft.com/office/powerpoint/2010/main" val="736148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403797" y="575485"/>
            <a:ext cx="8461419" cy="5935024"/>
          </a:xfrm>
          <a:prstGeom prst="rect">
            <a:avLst/>
          </a:prstGeom>
        </p:spPr>
      </p:pic>
      <p:sp>
        <p:nvSpPr>
          <p:cNvPr id="7" name="Title 1"/>
          <p:cNvSpPr>
            <a:spLocks noGrp="1"/>
          </p:cNvSpPr>
          <p:nvPr>
            <p:ph type="title"/>
          </p:nvPr>
        </p:nvSpPr>
        <p:spPr>
          <a:xfrm>
            <a:off x="6788240" y="906037"/>
            <a:ext cx="3617890" cy="1325563"/>
          </a:xfrm>
        </p:spPr>
        <p:txBody>
          <a:bodyPr>
            <a:normAutofit fontScale="90000"/>
          </a:bodyPr>
          <a:lstStyle/>
          <a:p>
            <a:r>
              <a:rPr lang="en-US" sz="5400" b="1" dirty="0" smtClean="0">
                <a:solidFill>
                  <a:srgbClr val="FF0000"/>
                </a:solidFill>
              </a:rPr>
              <a:t>24+ * 46+</a:t>
            </a:r>
            <a:br>
              <a:rPr lang="en-US" sz="5400" b="1" dirty="0" smtClean="0">
                <a:solidFill>
                  <a:srgbClr val="FF0000"/>
                </a:solidFill>
              </a:rPr>
            </a:br>
            <a:r>
              <a:rPr lang="en-US" sz="5400" b="1" dirty="0" smtClean="0">
                <a:solidFill>
                  <a:srgbClr val="FF0000"/>
                </a:solidFill>
              </a:rPr>
              <a:t>24+46+*</a:t>
            </a:r>
            <a:endParaRPr lang="en-US" sz="5400" b="1" dirty="0">
              <a:solidFill>
                <a:srgbClr val="FF0000"/>
              </a:solidFill>
            </a:endParaRPr>
          </a:p>
        </p:txBody>
      </p:sp>
    </p:spTree>
    <p:extLst>
      <p:ext uri="{BB962C8B-B14F-4D97-AF65-F5344CB8AC3E}">
        <p14:creationId xmlns:p14="http://schemas.microsoft.com/office/powerpoint/2010/main" val="1003261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87888" y="996008"/>
            <a:ext cx="8423856" cy="4495423"/>
          </a:xfrm>
          <a:prstGeom prst="rect">
            <a:avLst/>
          </a:prstGeom>
        </p:spPr>
      </p:pic>
    </p:spTree>
    <p:extLst>
      <p:ext uri="{BB962C8B-B14F-4D97-AF65-F5344CB8AC3E}">
        <p14:creationId xmlns:p14="http://schemas.microsoft.com/office/powerpoint/2010/main" val="15757298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28800" y="1204059"/>
            <a:ext cx="7836258" cy="4045894"/>
          </a:xfrm>
          <a:prstGeom prst="rect">
            <a:avLst/>
          </a:prstGeom>
        </p:spPr>
      </p:pic>
    </p:spTree>
    <p:extLst>
      <p:ext uri="{BB962C8B-B14F-4D97-AF65-F5344CB8AC3E}">
        <p14:creationId xmlns:p14="http://schemas.microsoft.com/office/powerpoint/2010/main" val="1646333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u="sng" dirty="0">
                <a:solidFill>
                  <a:srgbClr val="FF0000"/>
                </a:solidFill>
              </a:rPr>
              <a:t>Infix to Postfix conversion</a:t>
            </a:r>
          </a:p>
        </p:txBody>
      </p:sp>
      <p:sp>
        <p:nvSpPr>
          <p:cNvPr id="3" name="Content Placeholder 2"/>
          <p:cNvSpPr>
            <a:spLocks noGrp="1"/>
          </p:cNvSpPr>
          <p:nvPr>
            <p:ph idx="1"/>
          </p:nvPr>
        </p:nvSpPr>
        <p:spPr/>
        <p:txBody>
          <a:bodyPr>
            <a:normAutofit/>
          </a:bodyPr>
          <a:lstStyle/>
          <a:p>
            <a:pPr marL="0" indent="0">
              <a:buNone/>
            </a:pPr>
            <a:r>
              <a:rPr lang="en-US" sz="4400" b="1" dirty="0"/>
              <a:t>( A – B ) * ( D / E )</a:t>
            </a:r>
          </a:p>
          <a:p>
            <a:pPr marL="0" indent="0">
              <a:buNone/>
            </a:pPr>
            <a:r>
              <a:rPr lang="en-US" sz="4400" b="1" dirty="0"/>
              <a:t>(A + B </a:t>
            </a:r>
            <a:r>
              <a:rPr lang="en-US" sz="4000" b="1" dirty="0"/>
              <a:t>↑ D ) / ( E – F ) + G</a:t>
            </a:r>
          </a:p>
          <a:p>
            <a:pPr marL="0" indent="0">
              <a:buNone/>
            </a:pPr>
            <a:r>
              <a:rPr lang="en-US" sz="4400" b="1" dirty="0"/>
              <a:t>A * ( B + D ) / E – F * ( G + H / K )</a:t>
            </a:r>
          </a:p>
        </p:txBody>
      </p:sp>
    </p:spTree>
    <p:extLst>
      <p:ext uri="{BB962C8B-B14F-4D97-AF65-F5344CB8AC3E}">
        <p14:creationId xmlns:p14="http://schemas.microsoft.com/office/powerpoint/2010/main" val="643285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304800"/>
            <a:ext cx="8610600" cy="6172200"/>
          </a:xfrm>
        </p:spPr>
        <p:txBody>
          <a:bodyPr>
            <a:normAutofit/>
          </a:bodyPr>
          <a:lstStyle/>
          <a:p>
            <a:pPr marL="0" indent="0">
              <a:buNone/>
            </a:pPr>
            <a:r>
              <a:rPr lang="en-US" sz="4400" b="1" u="sng" dirty="0">
                <a:solidFill>
                  <a:srgbClr val="FF0000"/>
                </a:solidFill>
              </a:rPr>
              <a:t>Practice:</a:t>
            </a:r>
          </a:p>
          <a:p>
            <a:pPr marL="0" indent="0">
              <a:buNone/>
            </a:pPr>
            <a:endParaRPr lang="en-US" sz="4400" b="1" dirty="0"/>
          </a:p>
          <a:p>
            <a:pPr marL="0" indent="0">
              <a:buNone/>
            </a:pPr>
            <a:r>
              <a:rPr lang="en-US" sz="4400" b="1" dirty="0"/>
              <a:t>Write an algorithm to print all the elements of the stack.</a:t>
            </a:r>
          </a:p>
          <a:p>
            <a:pPr marL="0" indent="0">
              <a:buNone/>
            </a:pPr>
            <a:endParaRPr lang="en-US" sz="4400" b="1" dirty="0"/>
          </a:p>
          <a:p>
            <a:pPr marL="0" indent="0">
              <a:buNone/>
            </a:pPr>
            <a:r>
              <a:rPr lang="en-US" sz="4400" b="1" dirty="0"/>
              <a:t>Write an algorithm to check whether an element is present in the stack or not</a:t>
            </a:r>
          </a:p>
        </p:txBody>
      </p:sp>
    </p:spTree>
    <p:extLst>
      <p:ext uri="{BB962C8B-B14F-4D97-AF65-F5344CB8AC3E}">
        <p14:creationId xmlns:p14="http://schemas.microsoft.com/office/powerpoint/2010/main" val="9490649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u="sng" dirty="0">
                <a:solidFill>
                  <a:srgbClr val="FF0000"/>
                </a:solidFill>
              </a:rPr>
              <a:t>Algorithm</a:t>
            </a:r>
          </a:p>
        </p:txBody>
      </p:sp>
      <p:sp>
        <p:nvSpPr>
          <p:cNvPr id="3" name="Content Placeholder 2"/>
          <p:cNvSpPr>
            <a:spLocks noGrp="1"/>
          </p:cNvSpPr>
          <p:nvPr>
            <p:ph idx="1"/>
          </p:nvPr>
        </p:nvSpPr>
        <p:spPr/>
        <p:txBody>
          <a:bodyPr>
            <a:normAutofit/>
          </a:bodyPr>
          <a:lstStyle/>
          <a:p>
            <a:pPr marL="0" indent="0">
              <a:buNone/>
            </a:pPr>
            <a:endParaRPr lang="en-US" sz="4800" b="1" dirty="0"/>
          </a:p>
          <a:p>
            <a:pPr marL="0" indent="0">
              <a:buNone/>
            </a:pPr>
            <a:r>
              <a:rPr lang="en-US" sz="4800" b="1" dirty="0"/>
              <a:t>Evaluation of Postfix expression</a:t>
            </a:r>
          </a:p>
          <a:p>
            <a:pPr marL="0" indent="0">
              <a:buNone/>
            </a:pPr>
            <a:r>
              <a:rPr lang="en-US" sz="4800" b="1" dirty="0"/>
              <a:t>Conversion from infix to postfix</a:t>
            </a:r>
          </a:p>
        </p:txBody>
      </p:sp>
    </p:spTree>
    <p:extLst>
      <p:ext uri="{BB962C8B-B14F-4D97-AF65-F5344CB8AC3E}">
        <p14:creationId xmlns:p14="http://schemas.microsoft.com/office/powerpoint/2010/main" val="13809535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u="sng" dirty="0">
                <a:solidFill>
                  <a:srgbClr val="FF0000"/>
                </a:solidFill>
              </a:rPr>
              <a:t>Algorithm</a:t>
            </a:r>
          </a:p>
        </p:txBody>
      </p:sp>
      <p:sp>
        <p:nvSpPr>
          <p:cNvPr id="3" name="Content Placeholder 2"/>
          <p:cNvSpPr>
            <a:spLocks noGrp="1"/>
          </p:cNvSpPr>
          <p:nvPr>
            <p:ph idx="1"/>
          </p:nvPr>
        </p:nvSpPr>
        <p:spPr/>
        <p:txBody>
          <a:bodyPr>
            <a:normAutofit/>
          </a:bodyPr>
          <a:lstStyle/>
          <a:p>
            <a:r>
              <a:rPr lang="en-US" dirty="0" smtClean="0"/>
              <a:t>Evaluation </a:t>
            </a:r>
            <a:r>
              <a:rPr lang="en-US" dirty="0"/>
              <a:t>of postfix </a:t>
            </a:r>
            <a:r>
              <a:rPr lang="en-US" dirty="0" smtClean="0"/>
              <a:t>expression </a:t>
            </a:r>
          </a:p>
          <a:p>
            <a:r>
              <a:rPr lang="en-US" dirty="0" smtClean="0"/>
              <a:t>Scan </a:t>
            </a:r>
            <a:r>
              <a:rPr lang="en-US" dirty="0"/>
              <a:t>the input string from left to right.</a:t>
            </a:r>
          </a:p>
          <a:p>
            <a:r>
              <a:rPr lang="en-US" dirty="0"/>
              <a:t>For each input symbol,</a:t>
            </a:r>
          </a:p>
          <a:p>
            <a:r>
              <a:rPr lang="en-US" dirty="0"/>
              <a:t>If it is a digit then, push it on to the stack.</a:t>
            </a:r>
          </a:p>
          <a:p>
            <a:r>
              <a:rPr lang="en-US" dirty="0"/>
              <a:t>If it is an operator then, pop out the top most two contents from the stack and apply the operator on them. Later on, push the result on to stack.</a:t>
            </a:r>
          </a:p>
          <a:p>
            <a:r>
              <a:rPr lang="en-US" dirty="0"/>
              <a:t>If the input symbol is ‘\0’, empty the stack.</a:t>
            </a:r>
          </a:p>
          <a:p>
            <a:pPr marL="0" indent="0">
              <a:buNone/>
            </a:pPr>
            <a:endParaRPr lang="en-US" sz="4800" b="1" dirty="0"/>
          </a:p>
        </p:txBody>
      </p:sp>
    </p:spTree>
    <p:extLst>
      <p:ext uri="{BB962C8B-B14F-4D97-AF65-F5344CB8AC3E}">
        <p14:creationId xmlns:p14="http://schemas.microsoft.com/office/powerpoint/2010/main" val="8258100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275185"/>
            <a:ext cx="11746042" cy="1141386"/>
          </a:xfrm>
        </p:spPr>
        <p:txBody>
          <a:bodyPr/>
          <a:lstStyle/>
          <a:p>
            <a:pPr algn="ctr"/>
            <a:r>
              <a:rPr lang="en-US" b="1" dirty="0">
                <a:solidFill>
                  <a:srgbClr val="FF0000"/>
                </a:solidFill>
              </a:rPr>
              <a:t>Simple Queue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81661"/>
            <a:ext cx="11746041" cy="5211214"/>
          </a:xfrm>
        </p:spPr>
        <p:txBody>
          <a:bodyPr>
            <a:noAutofit/>
          </a:bodyPr>
          <a:lstStyle/>
          <a:p>
            <a:pPr algn="just"/>
            <a:r>
              <a:rPr lang="en-US" b="0" i="0" dirty="0">
                <a:solidFill>
                  <a:srgbClr val="333333"/>
                </a:solidFill>
                <a:effectLst/>
                <a:latin typeface="inter-regular"/>
              </a:rPr>
              <a:t>A queue can be defined as an ordered list which enables insert operations to be performed at one end called </a:t>
            </a:r>
            <a:r>
              <a:rPr lang="en-US" b="1" i="0" dirty="0">
                <a:solidFill>
                  <a:srgbClr val="333333"/>
                </a:solidFill>
                <a:effectLst/>
                <a:latin typeface="inter-bold"/>
              </a:rPr>
              <a:t>REAR</a:t>
            </a:r>
            <a:r>
              <a:rPr lang="en-US" b="0" i="0" dirty="0">
                <a:solidFill>
                  <a:srgbClr val="333333"/>
                </a:solidFill>
                <a:effectLst/>
                <a:latin typeface="inter-regular"/>
              </a:rPr>
              <a:t> and delete operations to be performed at another end called </a:t>
            </a:r>
            <a:r>
              <a:rPr lang="en-US" b="1" i="0" dirty="0">
                <a:solidFill>
                  <a:srgbClr val="333333"/>
                </a:solidFill>
                <a:effectLst/>
                <a:latin typeface="inter-bold"/>
              </a:rPr>
              <a:t>FRONT</a:t>
            </a:r>
            <a:r>
              <a:rPr lang="en-US" b="0" i="0" dirty="0">
                <a:solidFill>
                  <a:srgbClr val="333333"/>
                </a:solidFill>
                <a:effectLst/>
                <a:latin typeface="inter-regular"/>
              </a:rPr>
              <a:t>.</a:t>
            </a:r>
          </a:p>
          <a:p>
            <a:pPr algn="just"/>
            <a:r>
              <a:rPr lang="en-US" b="0" i="0" dirty="0">
                <a:solidFill>
                  <a:srgbClr val="333333"/>
                </a:solidFill>
                <a:effectLst/>
                <a:latin typeface="inter-regular"/>
              </a:rPr>
              <a:t>Queue is referred to be as First In First Out list</a:t>
            </a:r>
            <a:r>
              <a:rPr lang="en-US" b="0" i="0" dirty="0" smtClean="0">
                <a:solidFill>
                  <a:srgbClr val="333333"/>
                </a:solidFill>
                <a:effectLst/>
                <a:latin typeface="inter-regular"/>
              </a:rPr>
              <a:t>.</a:t>
            </a:r>
          </a:p>
          <a:p>
            <a:pPr algn="just"/>
            <a:r>
              <a:rPr lang="en-US" dirty="0"/>
              <a:t>For example, people waiting in line for a rail ticket form a queue.</a:t>
            </a:r>
            <a:endParaRPr lang="en-US" b="0" i="0" dirty="0">
              <a:solidFill>
                <a:srgbClr val="333333"/>
              </a:solidFill>
              <a:effectLst/>
              <a:latin typeface="inter-regular"/>
            </a:endParaRPr>
          </a:p>
          <a:p>
            <a:pPr marL="0" indent="0">
              <a:buNone/>
            </a:pP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2EB5EED5-066E-624D-0184-7183EFFE5D58}"/>
              </a:ext>
            </a:extLst>
          </p:cNvPr>
          <p:cNvPicPr>
            <a:picLocks noChangeAspect="1"/>
          </p:cNvPicPr>
          <p:nvPr/>
        </p:nvPicPr>
        <p:blipFill>
          <a:blip r:embed="rId2"/>
          <a:stretch>
            <a:fillRect/>
          </a:stretch>
        </p:blipFill>
        <p:spPr>
          <a:xfrm>
            <a:off x="2233535" y="3699908"/>
            <a:ext cx="8019737" cy="2782597"/>
          </a:xfrm>
          <a:prstGeom prst="rect">
            <a:avLst/>
          </a:prstGeom>
        </p:spPr>
      </p:pic>
    </p:spTree>
    <p:extLst>
      <p:ext uri="{BB962C8B-B14F-4D97-AF65-F5344CB8AC3E}">
        <p14:creationId xmlns:p14="http://schemas.microsoft.com/office/powerpoint/2010/main" val="9022056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275185"/>
            <a:ext cx="11746042" cy="1141386"/>
          </a:xfrm>
        </p:spPr>
        <p:txBody>
          <a:bodyPr/>
          <a:lstStyle/>
          <a:p>
            <a:pPr algn="ctr"/>
            <a:r>
              <a:rPr lang="en-US" b="1" dirty="0">
                <a:solidFill>
                  <a:srgbClr val="FF0000"/>
                </a:solidFill>
              </a:rPr>
              <a:t>Queue - Applications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81661"/>
            <a:ext cx="11746041" cy="5211214"/>
          </a:xfrm>
        </p:spPr>
        <p:txBody>
          <a:bodyPr>
            <a:noAutofit/>
          </a:bodyPr>
          <a:lstStyle/>
          <a:p>
            <a:pPr algn="just">
              <a:buFont typeface="+mj-lt"/>
              <a:buAutoNum type="arabicPeriod"/>
            </a:pPr>
            <a:r>
              <a:rPr lang="en-US" b="0" i="0" dirty="0">
                <a:solidFill>
                  <a:srgbClr val="000000"/>
                </a:solidFill>
                <a:effectLst/>
                <a:latin typeface="inter-regular"/>
              </a:rPr>
              <a:t>Queues are widely used as waiting lists for a single shared resource like printer, disk, CPU.</a:t>
            </a:r>
          </a:p>
          <a:p>
            <a:pPr algn="just">
              <a:buFont typeface="+mj-lt"/>
              <a:buAutoNum type="arabicPeriod"/>
            </a:pPr>
            <a:r>
              <a:rPr lang="en-US" b="0" i="0" dirty="0">
                <a:solidFill>
                  <a:srgbClr val="000000"/>
                </a:solidFill>
                <a:effectLst/>
                <a:latin typeface="inter-regular"/>
              </a:rPr>
              <a:t>Queues are used in </a:t>
            </a:r>
            <a:r>
              <a:rPr lang="en-US" b="0" i="0" dirty="0" smtClean="0">
                <a:solidFill>
                  <a:srgbClr val="000000"/>
                </a:solidFill>
                <a:effectLst/>
                <a:latin typeface="inter-regular"/>
              </a:rPr>
              <a:t>asynchronous </a:t>
            </a:r>
            <a:r>
              <a:rPr lang="en-US" b="0" i="0" dirty="0">
                <a:solidFill>
                  <a:srgbClr val="000000"/>
                </a:solidFill>
                <a:effectLst/>
                <a:latin typeface="inter-regular"/>
              </a:rPr>
              <a:t>transfer of data (where data is not being transferred at the same rate between two processes) for </a:t>
            </a:r>
            <a:r>
              <a:rPr lang="en-US" b="0" i="0" dirty="0" err="1">
                <a:solidFill>
                  <a:srgbClr val="000000"/>
                </a:solidFill>
                <a:effectLst/>
                <a:latin typeface="inter-regular"/>
              </a:rPr>
              <a:t>eg</a:t>
            </a:r>
            <a:r>
              <a:rPr lang="en-US" b="0" i="0" dirty="0">
                <a:solidFill>
                  <a:srgbClr val="000000"/>
                </a:solidFill>
                <a:effectLst/>
                <a:latin typeface="inter-regular"/>
              </a:rPr>
              <a:t>. pipes, file IO, sockets.</a:t>
            </a:r>
          </a:p>
          <a:p>
            <a:pPr algn="just">
              <a:buFont typeface="+mj-lt"/>
              <a:buAutoNum type="arabicPeriod"/>
            </a:pPr>
            <a:r>
              <a:rPr lang="en-US" b="0" i="0" dirty="0">
                <a:solidFill>
                  <a:srgbClr val="000000"/>
                </a:solidFill>
                <a:effectLst/>
                <a:latin typeface="inter-regular"/>
              </a:rPr>
              <a:t>Queues are used as buffers in most of the applications like MP3 media player, CD player, etc.</a:t>
            </a:r>
          </a:p>
          <a:p>
            <a:pPr algn="just">
              <a:buFont typeface="+mj-lt"/>
              <a:buAutoNum type="arabicPeriod"/>
            </a:pPr>
            <a:r>
              <a:rPr lang="en-US" b="0" i="0" dirty="0">
                <a:solidFill>
                  <a:srgbClr val="000000"/>
                </a:solidFill>
                <a:effectLst/>
                <a:latin typeface="inter-regular"/>
              </a:rPr>
              <a:t>Queue are used to maintain the play list in media players in order to add and remove the songs from the play-list.</a:t>
            </a:r>
          </a:p>
          <a:p>
            <a:pPr algn="just">
              <a:buFont typeface="+mj-lt"/>
              <a:buAutoNum type="arabicPeriod"/>
            </a:pPr>
            <a:r>
              <a:rPr lang="en-US" b="0" i="0" dirty="0">
                <a:solidFill>
                  <a:srgbClr val="000000"/>
                </a:solidFill>
                <a:effectLst/>
                <a:latin typeface="inter-regular"/>
              </a:rPr>
              <a:t>Queues are used in operating systems for handling interrupts.</a:t>
            </a: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7604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275185"/>
            <a:ext cx="11746042" cy="1141386"/>
          </a:xfrm>
        </p:spPr>
        <p:txBody>
          <a:bodyPr/>
          <a:lstStyle/>
          <a:p>
            <a:pPr algn="ctr"/>
            <a:r>
              <a:rPr lang="en-US" b="1" dirty="0">
                <a:solidFill>
                  <a:srgbClr val="FF0000"/>
                </a:solidFill>
              </a:rPr>
              <a:t>Queue - Applications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81661"/>
            <a:ext cx="11746041" cy="5211214"/>
          </a:xfrm>
        </p:spPr>
        <p:txBody>
          <a:bodyPr>
            <a:noAutofit/>
          </a:bodyPr>
          <a:lstStyle/>
          <a:p>
            <a:pPr marL="0" indent="0">
              <a:buNone/>
            </a:pPr>
            <a:r>
              <a:rPr lang="en-US" dirty="0"/>
              <a:t>As we now understand that in queue, we access both ends for different reasons. The following diagram given below tries to explain queue representation as data structure </a:t>
            </a:r>
            <a:r>
              <a:rPr lang="en-US" dirty="0" smtClean="0"/>
              <a:t>−</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a:t>As in stacks, a queue can also be implemented using Arrays, Linked-lists, Pointers and Structures. </a:t>
            </a:r>
            <a:endParaRPr lang="en-IN" b="1" dirty="0">
              <a:latin typeface="Times New Roman" panose="02020603050405020304" pitchFamily="18" charset="0"/>
              <a:cs typeface="Times New Roman" panose="02020603050405020304" pitchFamily="18" charset="0"/>
            </a:endParaRPr>
          </a:p>
        </p:txBody>
      </p:sp>
      <p:pic>
        <p:nvPicPr>
          <p:cNvPr id="1026" name="Picture 2" descr="Queue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5889" y="2754573"/>
            <a:ext cx="9022381" cy="189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7915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275185"/>
            <a:ext cx="11746042" cy="1141386"/>
          </a:xfrm>
        </p:spPr>
        <p:txBody>
          <a:bodyPr/>
          <a:lstStyle/>
          <a:p>
            <a:pPr algn="ctr"/>
            <a:r>
              <a:rPr lang="en-US" b="1" dirty="0">
                <a:solidFill>
                  <a:srgbClr val="FF0000"/>
                </a:solidFill>
              </a:rPr>
              <a:t>Queue - </a:t>
            </a:r>
            <a:r>
              <a:rPr lang="en-US" b="1" dirty="0" smtClean="0">
                <a:solidFill>
                  <a:srgbClr val="FF0000"/>
                </a:solidFill>
              </a:rPr>
              <a:t>operations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281661"/>
            <a:ext cx="11746041" cy="5211214"/>
          </a:xfrm>
        </p:spPr>
        <p:txBody>
          <a:bodyPr>
            <a:noAutofit/>
          </a:bodyPr>
          <a:lstStyle/>
          <a:p>
            <a:r>
              <a:rPr lang="en-US" dirty="0"/>
              <a:t>Queue operations may involve initializing or defining the queue, utilizing it, and then completely erasing it from the memory. Here we shall try to understand the basic operations associated with queues −</a:t>
            </a:r>
          </a:p>
          <a:p>
            <a:r>
              <a:rPr lang="en-US" b="1" dirty="0" err="1"/>
              <a:t>enqueue</a:t>
            </a:r>
            <a:r>
              <a:rPr lang="en-US" b="1" dirty="0"/>
              <a:t>()</a:t>
            </a:r>
            <a:r>
              <a:rPr lang="en-US" dirty="0"/>
              <a:t> − add (store) an item to the queue.</a:t>
            </a:r>
          </a:p>
          <a:p>
            <a:r>
              <a:rPr lang="en-US" b="1" dirty="0" err="1"/>
              <a:t>dequeue</a:t>
            </a:r>
            <a:r>
              <a:rPr lang="en-US" b="1" dirty="0"/>
              <a:t>()</a:t>
            </a:r>
            <a:r>
              <a:rPr lang="en-US" dirty="0"/>
              <a:t> − remove (access) an item from the queue.</a:t>
            </a:r>
          </a:p>
          <a:p>
            <a:r>
              <a:rPr lang="en-US" dirty="0"/>
              <a:t>Few more functions are required to make the above-mentioned queue operation efficient. These are −</a:t>
            </a:r>
          </a:p>
          <a:p>
            <a:r>
              <a:rPr lang="en-US" b="1" dirty="0"/>
              <a:t>peek()</a:t>
            </a:r>
            <a:r>
              <a:rPr lang="en-US" dirty="0"/>
              <a:t> − Gets the element at the front of the queue without removing it.</a:t>
            </a:r>
          </a:p>
          <a:p>
            <a:r>
              <a:rPr lang="en-US" b="1" dirty="0" err="1"/>
              <a:t>isfull</a:t>
            </a:r>
            <a:r>
              <a:rPr lang="en-US" b="1" dirty="0"/>
              <a:t>()</a:t>
            </a:r>
            <a:r>
              <a:rPr lang="en-US" dirty="0"/>
              <a:t> − Checks if the queue is full.</a:t>
            </a:r>
          </a:p>
          <a:p>
            <a:r>
              <a:rPr lang="en-US" b="1" dirty="0" err="1"/>
              <a:t>isempty</a:t>
            </a:r>
            <a:r>
              <a:rPr lang="en-US" b="1" dirty="0"/>
              <a:t>()</a:t>
            </a:r>
            <a:r>
              <a:rPr lang="en-US" dirty="0"/>
              <a:t> − Checks if the queue is empty.</a:t>
            </a:r>
          </a:p>
          <a:p>
            <a:r>
              <a:rPr lang="en-US" sz="2000" dirty="0"/>
              <a:t>In queue, we always </a:t>
            </a:r>
            <a:r>
              <a:rPr lang="en-US" sz="2000" dirty="0" err="1"/>
              <a:t>dequeue</a:t>
            </a:r>
            <a:r>
              <a:rPr lang="en-US" sz="2000" dirty="0"/>
              <a:t> (or access) data, pointed by </a:t>
            </a:r>
            <a:r>
              <a:rPr lang="en-US" sz="2000" b="1" dirty="0"/>
              <a:t>front</a:t>
            </a:r>
            <a:r>
              <a:rPr lang="en-US" sz="2000" dirty="0"/>
              <a:t> pointer and while </a:t>
            </a:r>
            <a:r>
              <a:rPr lang="en-US" sz="2000" dirty="0" err="1"/>
              <a:t>enqueing</a:t>
            </a:r>
            <a:r>
              <a:rPr lang="en-US" sz="2000" dirty="0"/>
              <a:t> (or storing) data in the queue we take help of </a:t>
            </a:r>
            <a:r>
              <a:rPr lang="en-US" sz="2000" b="1" dirty="0"/>
              <a:t>rear</a:t>
            </a:r>
            <a:r>
              <a:rPr lang="en-US" sz="2000" dirty="0"/>
              <a:t> pointer.</a:t>
            </a: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4858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275185"/>
            <a:ext cx="11746042" cy="1141386"/>
          </a:xfrm>
        </p:spPr>
        <p:txBody>
          <a:bodyPr/>
          <a:lstStyle/>
          <a:p>
            <a:pPr algn="ctr"/>
            <a:r>
              <a:rPr lang="en-US" b="1" dirty="0">
                <a:solidFill>
                  <a:srgbClr val="FF0000"/>
                </a:solidFill>
              </a:rPr>
              <a:t>Queue - </a:t>
            </a:r>
            <a:r>
              <a:rPr lang="en-US" b="1" dirty="0" smtClean="0">
                <a:solidFill>
                  <a:srgbClr val="FF0000"/>
                </a:solidFill>
              </a:rPr>
              <a:t>operations</a:t>
            </a:r>
            <a:endParaRPr lang="en-IN" b="1" dirty="0">
              <a:solidFill>
                <a:srgbClr val="FF0000"/>
              </a:solidFill>
            </a:endParaRPr>
          </a:p>
        </p:txBody>
      </p:sp>
      <p:sp>
        <p:nvSpPr>
          <p:cNvPr id="3" name="Rectangle 2"/>
          <p:cNvSpPr/>
          <p:nvPr/>
        </p:nvSpPr>
        <p:spPr>
          <a:xfrm>
            <a:off x="613893" y="1416571"/>
            <a:ext cx="3764924" cy="5355312"/>
          </a:xfrm>
          <a:prstGeom prst="rect">
            <a:avLst/>
          </a:prstGeom>
        </p:spPr>
        <p:txBody>
          <a:bodyPr wrap="square">
            <a:spAutoFit/>
          </a:bodyPr>
          <a:lstStyle/>
          <a:p>
            <a:pPr algn="just"/>
            <a:r>
              <a:rPr lang="en-US" b="1" dirty="0" err="1"/>
              <a:t>enQueue</a:t>
            </a:r>
            <a:r>
              <a:rPr lang="en-US" b="1" dirty="0"/>
              <a:t>(value) - Inserting value into the </a:t>
            </a:r>
            <a:r>
              <a:rPr lang="en-US" b="1" dirty="0" smtClean="0"/>
              <a:t>queue</a:t>
            </a:r>
          </a:p>
          <a:p>
            <a:pPr algn="just"/>
            <a:endParaRPr lang="en-US" b="1" dirty="0"/>
          </a:p>
          <a:p>
            <a:r>
              <a:rPr lang="en-US" dirty="0"/>
              <a:t>Step 1: Check if the queue is full</a:t>
            </a:r>
            <a:r>
              <a:rPr lang="en-US" dirty="0" smtClean="0"/>
              <a:t>.</a:t>
            </a:r>
          </a:p>
          <a:p>
            <a:endParaRPr lang="en-US" dirty="0"/>
          </a:p>
          <a:p>
            <a:r>
              <a:rPr lang="en-US" dirty="0"/>
              <a:t>Step 2: If the queue is full, Overflow error</a:t>
            </a:r>
            <a:r>
              <a:rPr lang="en-US" dirty="0" smtClean="0"/>
              <a:t>.</a:t>
            </a:r>
          </a:p>
          <a:p>
            <a:endParaRPr lang="en-US" dirty="0"/>
          </a:p>
          <a:p>
            <a:r>
              <a:rPr lang="en-US" dirty="0"/>
              <a:t>Step 3: If the </a:t>
            </a:r>
            <a:r>
              <a:rPr lang="en-US" dirty="0" smtClean="0"/>
              <a:t>queue </a:t>
            </a:r>
            <a:r>
              <a:rPr lang="en-US" dirty="0"/>
              <a:t>is not full, increment the rear pointer to point to the next available empty space. </a:t>
            </a:r>
            <a:endParaRPr lang="en-US" dirty="0" smtClean="0"/>
          </a:p>
          <a:p>
            <a:endParaRPr lang="en-US" dirty="0"/>
          </a:p>
          <a:p>
            <a:r>
              <a:rPr lang="en-US" dirty="0"/>
              <a:t>Step 4: Add the data element to the queue location where the rear is pointing</a:t>
            </a:r>
            <a:r>
              <a:rPr lang="en-US" dirty="0" smtClean="0"/>
              <a:t>.</a:t>
            </a:r>
          </a:p>
          <a:p>
            <a:endParaRPr lang="en-US" dirty="0"/>
          </a:p>
          <a:p>
            <a:r>
              <a:rPr lang="en-US" dirty="0"/>
              <a:t>Step 5: Here, you have successfully added 7, 2, and -9.</a:t>
            </a:r>
          </a:p>
          <a:p>
            <a:pPr algn="just"/>
            <a:endParaRPr lang="en-US" dirty="0" smtClean="0">
              <a:solidFill>
                <a:srgbClr val="333333"/>
              </a:solidFill>
              <a:latin typeface="Open Sans"/>
            </a:endParaRPr>
          </a:p>
        </p:txBody>
      </p:sp>
      <p:pic>
        <p:nvPicPr>
          <p:cNvPr id="5" name="Picture 4"/>
          <p:cNvPicPr>
            <a:picLocks noChangeAspect="1"/>
          </p:cNvPicPr>
          <p:nvPr/>
        </p:nvPicPr>
        <p:blipFill>
          <a:blip r:embed="rId2"/>
          <a:stretch>
            <a:fillRect/>
          </a:stretch>
        </p:blipFill>
        <p:spPr>
          <a:xfrm>
            <a:off x="4543425" y="1416571"/>
            <a:ext cx="7648575" cy="4514850"/>
          </a:xfrm>
          <a:prstGeom prst="rect">
            <a:avLst/>
          </a:prstGeom>
        </p:spPr>
      </p:pic>
    </p:spTree>
    <p:extLst>
      <p:ext uri="{BB962C8B-B14F-4D97-AF65-F5344CB8AC3E}">
        <p14:creationId xmlns:p14="http://schemas.microsoft.com/office/powerpoint/2010/main" val="8498512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0"/>
            <a:ext cx="11746042" cy="1141386"/>
          </a:xfrm>
        </p:spPr>
        <p:txBody>
          <a:bodyPr/>
          <a:lstStyle/>
          <a:p>
            <a:pPr algn="ctr"/>
            <a:r>
              <a:rPr lang="en-US" b="1" dirty="0">
                <a:solidFill>
                  <a:srgbClr val="FF0000"/>
                </a:solidFill>
              </a:rPr>
              <a:t>Queue - </a:t>
            </a:r>
            <a:r>
              <a:rPr lang="en-US" b="1" dirty="0" smtClean="0">
                <a:solidFill>
                  <a:srgbClr val="FF0000"/>
                </a:solidFill>
              </a:rPr>
              <a:t>operations</a:t>
            </a:r>
            <a:endParaRPr lang="en-IN" b="1" dirty="0">
              <a:solidFill>
                <a:srgbClr val="FF0000"/>
              </a:solidFill>
            </a:endParaRPr>
          </a:p>
        </p:txBody>
      </p:sp>
      <p:sp>
        <p:nvSpPr>
          <p:cNvPr id="3" name="Rectangle 2"/>
          <p:cNvSpPr/>
          <p:nvPr/>
        </p:nvSpPr>
        <p:spPr>
          <a:xfrm>
            <a:off x="704045" y="941360"/>
            <a:ext cx="5104327" cy="5909310"/>
          </a:xfrm>
          <a:prstGeom prst="rect">
            <a:avLst/>
          </a:prstGeom>
        </p:spPr>
        <p:txBody>
          <a:bodyPr wrap="square">
            <a:spAutoFit/>
          </a:bodyPr>
          <a:lstStyle/>
          <a:p>
            <a:pPr algn="just"/>
            <a:r>
              <a:rPr lang="en-US" b="1" dirty="0" err="1">
                <a:solidFill>
                  <a:srgbClr val="E00D50"/>
                </a:solidFill>
                <a:latin typeface="Open Sans"/>
              </a:rPr>
              <a:t>deQueue</a:t>
            </a:r>
            <a:r>
              <a:rPr lang="en-US" b="1" dirty="0">
                <a:solidFill>
                  <a:srgbClr val="E00D50"/>
                </a:solidFill>
                <a:latin typeface="Open Sans"/>
              </a:rPr>
              <a:t>() - Deleting a value from the </a:t>
            </a:r>
            <a:r>
              <a:rPr lang="en-US" b="1" dirty="0" smtClean="0">
                <a:solidFill>
                  <a:srgbClr val="E00D50"/>
                </a:solidFill>
                <a:latin typeface="Open Sans"/>
              </a:rPr>
              <a:t>Queue</a:t>
            </a:r>
          </a:p>
          <a:p>
            <a:pPr algn="just"/>
            <a:endParaRPr lang="en-US" b="1" dirty="0">
              <a:solidFill>
                <a:srgbClr val="E00D50"/>
              </a:solidFill>
              <a:latin typeface="Open Sans"/>
            </a:endParaRPr>
          </a:p>
          <a:p>
            <a:pPr algn="just"/>
            <a:r>
              <a:rPr lang="en-US" dirty="0">
                <a:solidFill>
                  <a:srgbClr val="333333"/>
                </a:solidFill>
                <a:latin typeface="Open Sans"/>
              </a:rPr>
              <a:t>In a queue data structure, </a:t>
            </a:r>
            <a:r>
              <a:rPr lang="en-US" dirty="0" err="1">
                <a:solidFill>
                  <a:srgbClr val="333333"/>
                </a:solidFill>
                <a:latin typeface="Open Sans"/>
              </a:rPr>
              <a:t>deQueue</a:t>
            </a:r>
            <a:r>
              <a:rPr lang="en-US" dirty="0">
                <a:solidFill>
                  <a:srgbClr val="333333"/>
                </a:solidFill>
                <a:latin typeface="Open Sans"/>
              </a:rPr>
              <a:t>() is a function used to delete an element from the queue. </a:t>
            </a:r>
            <a:endParaRPr lang="en-US" dirty="0" smtClean="0">
              <a:solidFill>
                <a:srgbClr val="333333"/>
              </a:solidFill>
              <a:latin typeface="Open Sans"/>
            </a:endParaRPr>
          </a:p>
          <a:p>
            <a:pPr algn="just"/>
            <a:r>
              <a:rPr lang="en-US" dirty="0" smtClean="0">
                <a:solidFill>
                  <a:srgbClr val="333333"/>
                </a:solidFill>
                <a:latin typeface="Open Sans"/>
              </a:rPr>
              <a:t>In </a:t>
            </a:r>
            <a:r>
              <a:rPr lang="en-US" dirty="0">
                <a:solidFill>
                  <a:srgbClr val="333333"/>
                </a:solidFill>
                <a:latin typeface="Open Sans"/>
              </a:rPr>
              <a:t>a queue, the element is always deleted from </a:t>
            </a:r>
            <a:r>
              <a:rPr lang="en-US" b="1" dirty="0">
                <a:solidFill>
                  <a:srgbClr val="333333"/>
                </a:solidFill>
                <a:latin typeface="Open Sans"/>
              </a:rPr>
              <a:t>front</a:t>
            </a:r>
            <a:r>
              <a:rPr lang="en-US" dirty="0">
                <a:solidFill>
                  <a:srgbClr val="333333"/>
                </a:solidFill>
                <a:latin typeface="Open Sans"/>
              </a:rPr>
              <a:t> position. </a:t>
            </a:r>
            <a:endParaRPr lang="en-US" dirty="0" smtClean="0">
              <a:solidFill>
                <a:srgbClr val="333333"/>
              </a:solidFill>
              <a:latin typeface="Open Sans"/>
            </a:endParaRPr>
          </a:p>
          <a:p>
            <a:pPr algn="just"/>
            <a:r>
              <a:rPr lang="en-US" dirty="0" smtClean="0">
                <a:solidFill>
                  <a:srgbClr val="333333"/>
                </a:solidFill>
                <a:latin typeface="Open Sans"/>
              </a:rPr>
              <a:t>The </a:t>
            </a:r>
            <a:r>
              <a:rPr lang="en-US" dirty="0" err="1">
                <a:solidFill>
                  <a:srgbClr val="333333"/>
                </a:solidFill>
                <a:latin typeface="Open Sans"/>
              </a:rPr>
              <a:t>deQueue</a:t>
            </a:r>
            <a:r>
              <a:rPr lang="en-US" dirty="0">
                <a:solidFill>
                  <a:srgbClr val="333333"/>
                </a:solidFill>
                <a:latin typeface="Open Sans"/>
              </a:rPr>
              <a:t>() function does not take any value as parameter. </a:t>
            </a:r>
            <a:endParaRPr lang="en-US" dirty="0" smtClean="0">
              <a:solidFill>
                <a:srgbClr val="333333"/>
              </a:solidFill>
              <a:latin typeface="Open Sans"/>
            </a:endParaRPr>
          </a:p>
          <a:p>
            <a:pPr algn="just"/>
            <a:r>
              <a:rPr lang="en-US" dirty="0" smtClean="0">
                <a:solidFill>
                  <a:srgbClr val="333333"/>
                </a:solidFill>
                <a:latin typeface="Open Sans"/>
              </a:rPr>
              <a:t>We </a:t>
            </a:r>
            <a:r>
              <a:rPr lang="en-US" dirty="0">
                <a:solidFill>
                  <a:srgbClr val="333333"/>
                </a:solidFill>
                <a:latin typeface="Open Sans"/>
              </a:rPr>
              <a:t>can use the following steps to delete an element from the queue</a:t>
            </a:r>
            <a:r>
              <a:rPr lang="en-US" dirty="0" smtClean="0">
                <a:solidFill>
                  <a:srgbClr val="333333"/>
                </a:solidFill>
                <a:latin typeface="Open Sans"/>
              </a:rPr>
              <a:t>...</a:t>
            </a:r>
          </a:p>
          <a:p>
            <a:pPr algn="just"/>
            <a:endParaRPr lang="en-US" dirty="0">
              <a:solidFill>
                <a:srgbClr val="333333"/>
              </a:solidFill>
              <a:latin typeface="Open Sans"/>
            </a:endParaRPr>
          </a:p>
          <a:p>
            <a:r>
              <a:rPr lang="en-US" dirty="0"/>
              <a:t>Step 1: Check if the queue is empty.</a:t>
            </a:r>
          </a:p>
          <a:p>
            <a:r>
              <a:rPr lang="en-US" dirty="0"/>
              <a:t>Step 2: If the queue is empty, Underflow error.</a:t>
            </a:r>
          </a:p>
          <a:p>
            <a:r>
              <a:rPr lang="en-US" dirty="0"/>
              <a:t>Step 3: If the queue is not empty, access the data where the front pointer is pointing. </a:t>
            </a:r>
          </a:p>
          <a:p>
            <a:r>
              <a:rPr lang="en-US" dirty="0"/>
              <a:t>Step 4: Increment front pointer to point to the next available data element.</a:t>
            </a:r>
          </a:p>
          <a:p>
            <a:r>
              <a:rPr lang="en-US" dirty="0"/>
              <a:t>Step 5: Here, you have removed 7, 2, and -9 from the queue data structure. </a:t>
            </a:r>
          </a:p>
          <a:p>
            <a:pPr algn="just"/>
            <a:endParaRPr lang="en-US" dirty="0" smtClean="0">
              <a:solidFill>
                <a:srgbClr val="333333"/>
              </a:solidFill>
              <a:latin typeface="Open Sans"/>
            </a:endParaRPr>
          </a:p>
        </p:txBody>
      </p:sp>
      <p:pic>
        <p:nvPicPr>
          <p:cNvPr id="6" name="Picture 5"/>
          <p:cNvPicPr>
            <a:picLocks noChangeAspect="1"/>
          </p:cNvPicPr>
          <p:nvPr/>
        </p:nvPicPr>
        <p:blipFill>
          <a:blip r:embed="rId2"/>
          <a:stretch>
            <a:fillRect/>
          </a:stretch>
        </p:blipFill>
        <p:spPr>
          <a:xfrm>
            <a:off x="5833825" y="1482077"/>
            <a:ext cx="6358175" cy="3978566"/>
          </a:xfrm>
          <a:prstGeom prst="rect">
            <a:avLst/>
          </a:prstGeom>
        </p:spPr>
      </p:pic>
    </p:spTree>
    <p:extLst>
      <p:ext uri="{BB962C8B-B14F-4D97-AF65-F5344CB8AC3E}">
        <p14:creationId xmlns:p14="http://schemas.microsoft.com/office/powerpoint/2010/main" val="26335319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180306"/>
            <a:ext cx="11746042" cy="1141386"/>
          </a:xfrm>
        </p:spPr>
        <p:txBody>
          <a:bodyPr/>
          <a:lstStyle/>
          <a:p>
            <a:pPr algn="ctr"/>
            <a:r>
              <a:rPr lang="en-US" b="1" dirty="0">
                <a:solidFill>
                  <a:srgbClr val="FF0000"/>
                </a:solidFill>
              </a:rPr>
              <a:t>Queue - </a:t>
            </a:r>
            <a:r>
              <a:rPr lang="en-US" b="1" dirty="0" smtClean="0">
                <a:solidFill>
                  <a:srgbClr val="FF0000"/>
                </a:solidFill>
              </a:rPr>
              <a:t>operations</a:t>
            </a:r>
            <a:endParaRPr lang="en-IN" b="1" dirty="0">
              <a:solidFill>
                <a:srgbClr val="FF0000"/>
              </a:solidFill>
            </a:endParaRPr>
          </a:p>
        </p:txBody>
      </p:sp>
      <p:sp>
        <p:nvSpPr>
          <p:cNvPr id="4" name="Rectangle 3"/>
          <p:cNvSpPr/>
          <p:nvPr/>
        </p:nvSpPr>
        <p:spPr>
          <a:xfrm>
            <a:off x="750836" y="1489020"/>
            <a:ext cx="10676586" cy="3416320"/>
          </a:xfrm>
          <a:prstGeom prst="rect">
            <a:avLst/>
          </a:prstGeom>
        </p:spPr>
        <p:txBody>
          <a:bodyPr wrap="square">
            <a:spAutoFit/>
          </a:bodyPr>
          <a:lstStyle/>
          <a:p>
            <a:pPr algn="just"/>
            <a:r>
              <a:rPr lang="en-US" b="1" dirty="0">
                <a:solidFill>
                  <a:srgbClr val="E00D50"/>
                </a:solidFill>
                <a:latin typeface="Open Sans"/>
              </a:rPr>
              <a:t>display() - Displays the elements of a </a:t>
            </a:r>
            <a:r>
              <a:rPr lang="en-US" b="1" dirty="0" smtClean="0">
                <a:solidFill>
                  <a:srgbClr val="E00D50"/>
                </a:solidFill>
                <a:latin typeface="Open Sans"/>
              </a:rPr>
              <a:t>Queue</a:t>
            </a:r>
          </a:p>
          <a:p>
            <a:pPr algn="just"/>
            <a:endParaRPr lang="en-US" b="1" dirty="0">
              <a:solidFill>
                <a:srgbClr val="E00D50"/>
              </a:solidFill>
              <a:latin typeface="Open Sans"/>
            </a:endParaRPr>
          </a:p>
          <a:p>
            <a:pPr algn="just"/>
            <a:r>
              <a:rPr lang="en-US" dirty="0">
                <a:solidFill>
                  <a:srgbClr val="333333"/>
                </a:solidFill>
                <a:latin typeface="Open Sans"/>
              </a:rPr>
              <a:t>We can use the following steps to display the elements of a queue</a:t>
            </a:r>
            <a:r>
              <a:rPr lang="en-US" dirty="0" smtClean="0">
                <a:solidFill>
                  <a:srgbClr val="333333"/>
                </a:solidFill>
                <a:latin typeface="Open Sans"/>
              </a:rPr>
              <a:t>...</a:t>
            </a:r>
          </a:p>
          <a:p>
            <a:pPr algn="just"/>
            <a:endParaRPr lang="en-US" dirty="0">
              <a:solidFill>
                <a:srgbClr val="333333"/>
              </a:solidFill>
              <a:latin typeface="Open Sans"/>
            </a:endParaRPr>
          </a:p>
          <a:p>
            <a:pPr algn="just">
              <a:buFont typeface="Arial" panose="020B0604020202020204" pitchFamily="34" charset="0"/>
              <a:buChar char="•"/>
            </a:pPr>
            <a:r>
              <a:rPr lang="en-US" b="1" dirty="0">
                <a:solidFill>
                  <a:srgbClr val="162F59"/>
                </a:solidFill>
                <a:latin typeface="Open Sans"/>
              </a:rPr>
              <a:t>Step 1 - </a:t>
            </a:r>
            <a:r>
              <a:rPr lang="en-US" dirty="0">
                <a:solidFill>
                  <a:srgbClr val="333333"/>
                </a:solidFill>
                <a:latin typeface="Open Sans"/>
              </a:rPr>
              <a:t>Check whether </a:t>
            </a:r>
            <a:r>
              <a:rPr lang="en-US" b="1" dirty="0">
                <a:solidFill>
                  <a:srgbClr val="333333"/>
                </a:solidFill>
                <a:latin typeface="Open Sans"/>
              </a:rPr>
              <a:t>queue</a:t>
            </a:r>
            <a:r>
              <a:rPr lang="en-US" dirty="0">
                <a:solidFill>
                  <a:srgbClr val="333333"/>
                </a:solidFill>
                <a:latin typeface="Open Sans"/>
              </a:rPr>
              <a:t> is </a:t>
            </a:r>
            <a:r>
              <a:rPr lang="en-US" b="1" dirty="0">
                <a:solidFill>
                  <a:srgbClr val="333333"/>
                </a:solidFill>
                <a:latin typeface="Open Sans"/>
              </a:rPr>
              <a:t>EMPTY</a:t>
            </a:r>
            <a:r>
              <a:rPr lang="en-US" dirty="0">
                <a:solidFill>
                  <a:srgbClr val="333333"/>
                </a:solidFill>
                <a:latin typeface="Open Sans"/>
              </a:rPr>
              <a:t>. </a:t>
            </a:r>
            <a:endParaRPr lang="en-US" dirty="0" smtClean="0">
              <a:solidFill>
                <a:srgbClr val="333333"/>
              </a:solidFill>
              <a:latin typeface="Open Sans"/>
            </a:endParaRPr>
          </a:p>
          <a:p>
            <a:pPr algn="just">
              <a:buFont typeface="Arial" panose="020B0604020202020204" pitchFamily="34" charset="0"/>
              <a:buChar char="•"/>
            </a:pPr>
            <a:endParaRPr lang="en-US" dirty="0">
              <a:solidFill>
                <a:srgbClr val="333333"/>
              </a:solidFill>
              <a:latin typeface="Open Sans"/>
            </a:endParaRPr>
          </a:p>
          <a:p>
            <a:pPr algn="just">
              <a:buFont typeface="Arial" panose="020B0604020202020204" pitchFamily="34" charset="0"/>
              <a:buChar char="•"/>
            </a:pPr>
            <a:r>
              <a:rPr lang="en-US" b="1" dirty="0">
                <a:solidFill>
                  <a:srgbClr val="162F59"/>
                </a:solidFill>
                <a:latin typeface="Open Sans"/>
              </a:rPr>
              <a:t>Step 2 - </a:t>
            </a:r>
            <a:r>
              <a:rPr lang="en-US" dirty="0">
                <a:solidFill>
                  <a:srgbClr val="333333"/>
                </a:solidFill>
                <a:latin typeface="Open Sans"/>
              </a:rPr>
              <a:t>If it is </a:t>
            </a:r>
            <a:r>
              <a:rPr lang="en-US" b="1" dirty="0">
                <a:solidFill>
                  <a:srgbClr val="333333"/>
                </a:solidFill>
                <a:latin typeface="Open Sans"/>
              </a:rPr>
              <a:t>EMPTY</a:t>
            </a:r>
            <a:r>
              <a:rPr lang="en-US" dirty="0">
                <a:solidFill>
                  <a:srgbClr val="333333"/>
                </a:solidFill>
                <a:latin typeface="Open Sans"/>
              </a:rPr>
              <a:t>, then display </a:t>
            </a:r>
            <a:r>
              <a:rPr lang="en-US" b="1" dirty="0">
                <a:solidFill>
                  <a:srgbClr val="333333"/>
                </a:solidFill>
                <a:latin typeface="Open Sans"/>
              </a:rPr>
              <a:t>"Queue is EMPTY!!!"</a:t>
            </a:r>
            <a:r>
              <a:rPr lang="en-US" dirty="0">
                <a:solidFill>
                  <a:srgbClr val="333333"/>
                </a:solidFill>
                <a:latin typeface="Open Sans"/>
              </a:rPr>
              <a:t> and terminate the function</a:t>
            </a:r>
            <a:r>
              <a:rPr lang="en-US" dirty="0" smtClean="0">
                <a:solidFill>
                  <a:srgbClr val="333333"/>
                </a:solidFill>
                <a:latin typeface="Open Sans"/>
              </a:rPr>
              <a:t>.</a:t>
            </a:r>
          </a:p>
          <a:p>
            <a:pPr algn="just">
              <a:buFont typeface="Arial" panose="020B0604020202020204" pitchFamily="34" charset="0"/>
              <a:buChar char="•"/>
            </a:pPr>
            <a:endParaRPr lang="en-US" dirty="0">
              <a:solidFill>
                <a:srgbClr val="333333"/>
              </a:solidFill>
              <a:latin typeface="Open Sans"/>
            </a:endParaRPr>
          </a:p>
          <a:p>
            <a:pPr algn="just">
              <a:buFont typeface="Arial" panose="020B0604020202020204" pitchFamily="34" charset="0"/>
              <a:buChar char="•"/>
            </a:pPr>
            <a:r>
              <a:rPr lang="en-US" b="1" dirty="0">
                <a:solidFill>
                  <a:srgbClr val="162F59"/>
                </a:solidFill>
                <a:latin typeface="Open Sans"/>
              </a:rPr>
              <a:t>Step 3 - </a:t>
            </a:r>
            <a:r>
              <a:rPr lang="en-US" dirty="0">
                <a:solidFill>
                  <a:srgbClr val="333333"/>
                </a:solidFill>
                <a:latin typeface="Open Sans"/>
              </a:rPr>
              <a:t>If it is </a:t>
            </a:r>
            <a:r>
              <a:rPr lang="en-US" b="1" dirty="0">
                <a:solidFill>
                  <a:srgbClr val="333333"/>
                </a:solidFill>
                <a:latin typeface="Open Sans"/>
              </a:rPr>
              <a:t>NOT EMPTY</a:t>
            </a:r>
            <a:r>
              <a:rPr lang="en-US" dirty="0">
                <a:solidFill>
                  <a:srgbClr val="333333"/>
                </a:solidFill>
                <a:latin typeface="Open Sans"/>
              </a:rPr>
              <a:t>, then define an integer variable '</a:t>
            </a:r>
            <a:r>
              <a:rPr lang="en-US" b="1" dirty="0" err="1">
                <a:solidFill>
                  <a:srgbClr val="333333"/>
                </a:solidFill>
                <a:latin typeface="Open Sans"/>
              </a:rPr>
              <a:t>i</a:t>
            </a:r>
            <a:r>
              <a:rPr lang="en-US" dirty="0">
                <a:solidFill>
                  <a:srgbClr val="333333"/>
                </a:solidFill>
                <a:latin typeface="Open Sans"/>
              </a:rPr>
              <a:t>' and set '</a:t>
            </a:r>
            <a:r>
              <a:rPr lang="en-US" b="1" dirty="0" err="1">
                <a:solidFill>
                  <a:srgbClr val="333333"/>
                </a:solidFill>
                <a:latin typeface="Open Sans"/>
              </a:rPr>
              <a:t>i</a:t>
            </a:r>
            <a:r>
              <a:rPr lang="en-US" dirty="0">
                <a:solidFill>
                  <a:srgbClr val="333333"/>
                </a:solidFill>
                <a:latin typeface="Open Sans"/>
              </a:rPr>
              <a:t> = </a:t>
            </a:r>
            <a:r>
              <a:rPr lang="en-US" b="1" dirty="0">
                <a:solidFill>
                  <a:srgbClr val="333333"/>
                </a:solidFill>
                <a:latin typeface="Open Sans"/>
              </a:rPr>
              <a:t>front+1</a:t>
            </a:r>
            <a:r>
              <a:rPr lang="en-US" dirty="0" smtClean="0">
                <a:solidFill>
                  <a:srgbClr val="333333"/>
                </a:solidFill>
                <a:latin typeface="Open Sans"/>
              </a:rPr>
              <a:t>'.</a:t>
            </a:r>
          </a:p>
          <a:p>
            <a:pPr algn="just">
              <a:buFont typeface="Arial" panose="020B0604020202020204" pitchFamily="34" charset="0"/>
              <a:buChar char="•"/>
            </a:pPr>
            <a:endParaRPr lang="en-US" dirty="0">
              <a:solidFill>
                <a:srgbClr val="333333"/>
              </a:solidFill>
              <a:latin typeface="Open Sans"/>
            </a:endParaRPr>
          </a:p>
          <a:p>
            <a:pPr algn="just">
              <a:buFont typeface="Arial" panose="020B0604020202020204" pitchFamily="34" charset="0"/>
              <a:buChar char="•"/>
            </a:pPr>
            <a:r>
              <a:rPr lang="en-US" b="1" dirty="0">
                <a:solidFill>
                  <a:srgbClr val="162F59"/>
                </a:solidFill>
                <a:latin typeface="Open Sans"/>
              </a:rPr>
              <a:t>Step 4 - </a:t>
            </a:r>
            <a:r>
              <a:rPr lang="en-US" dirty="0">
                <a:solidFill>
                  <a:srgbClr val="333333"/>
                </a:solidFill>
                <a:latin typeface="Open Sans"/>
              </a:rPr>
              <a:t>Display '</a:t>
            </a:r>
            <a:r>
              <a:rPr lang="en-US" b="1" dirty="0">
                <a:solidFill>
                  <a:srgbClr val="333333"/>
                </a:solidFill>
                <a:latin typeface="Open Sans"/>
              </a:rPr>
              <a:t>queue[</a:t>
            </a:r>
            <a:r>
              <a:rPr lang="en-US" b="1" dirty="0" err="1">
                <a:solidFill>
                  <a:srgbClr val="333333"/>
                </a:solidFill>
                <a:latin typeface="Open Sans"/>
              </a:rPr>
              <a:t>i</a:t>
            </a:r>
            <a:r>
              <a:rPr lang="en-US" b="1" dirty="0">
                <a:solidFill>
                  <a:srgbClr val="333333"/>
                </a:solidFill>
                <a:latin typeface="Open Sans"/>
              </a:rPr>
              <a:t>]</a:t>
            </a:r>
            <a:r>
              <a:rPr lang="en-US" dirty="0">
                <a:solidFill>
                  <a:srgbClr val="333333"/>
                </a:solidFill>
                <a:latin typeface="Open Sans"/>
              </a:rPr>
              <a:t>' value and increment '</a:t>
            </a:r>
            <a:r>
              <a:rPr lang="en-US" b="1" dirty="0" err="1">
                <a:solidFill>
                  <a:srgbClr val="333333"/>
                </a:solidFill>
                <a:latin typeface="Open Sans"/>
              </a:rPr>
              <a:t>i</a:t>
            </a:r>
            <a:r>
              <a:rPr lang="en-US" dirty="0">
                <a:solidFill>
                  <a:srgbClr val="333333"/>
                </a:solidFill>
                <a:latin typeface="Open Sans"/>
              </a:rPr>
              <a:t>' value by one (</a:t>
            </a:r>
            <a:r>
              <a:rPr lang="en-US" b="1" dirty="0" err="1">
                <a:solidFill>
                  <a:srgbClr val="333333"/>
                </a:solidFill>
                <a:latin typeface="Open Sans"/>
              </a:rPr>
              <a:t>i</a:t>
            </a:r>
            <a:r>
              <a:rPr lang="en-US" b="1" dirty="0">
                <a:solidFill>
                  <a:srgbClr val="333333"/>
                </a:solidFill>
                <a:latin typeface="Open Sans"/>
              </a:rPr>
              <a:t>++</a:t>
            </a:r>
            <a:r>
              <a:rPr lang="en-US" dirty="0">
                <a:solidFill>
                  <a:srgbClr val="333333"/>
                </a:solidFill>
                <a:latin typeface="Open Sans"/>
              </a:rPr>
              <a:t>). Repeat the same until '</a:t>
            </a:r>
            <a:r>
              <a:rPr lang="en-US" b="1" dirty="0" err="1">
                <a:solidFill>
                  <a:srgbClr val="333333"/>
                </a:solidFill>
                <a:latin typeface="Open Sans"/>
              </a:rPr>
              <a:t>i</a:t>
            </a:r>
            <a:r>
              <a:rPr lang="en-US" dirty="0">
                <a:solidFill>
                  <a:srgbClr val="333333"/>
                </a:solidFill>
                <a:latin typeface="Open Sans"/>
              </a:rPr>
              <a:t>' value reaches to </a:t>
            </a:r>
            <a:r>
              <a:rPr lang="en-US" b="1" dirty="0">
                <a:solidFill>
                  <a:srgbClr val="333333"/>
                </a:solidFill>
                <a:latin typeface="Open Sans"/>
              </a:rPr>
              <a:t>rear</a:t>
            </a:r>
            <a:r>
              <a:rPr lang="en-US" dirty="0">
                <a:solidFill>
                  <a:srgbClr val="333333"/>
                </a:solidFill>
                <a:latin typeface="Open Sans"/>
              </a:rPr>
              <a:t> (</a:t>
            </a:r>
            <a:r>
              <a:rPr lang="en-US" b="1" dirty="0" err="1">
                <a:solidFill>
                  <a:srgbClr val="333333"/>
                </a:solidFill>
                <a:latin typeface="Open Sans"/>
              </a:rPr>
              <a:t>i</a:t>
            </a:r>
            <a:r>
              <a:rPr lang="en-US" dirty="0">
                <a:solidFill>
                  <a:srgbClr val="333333"/>
                </a:solidFill>
                <a:latin typeface="Open Sans"/>
              </a:rPr>
              <a:t> &lt;= </a:t>
            </a:r>
            <a:r>
              <a:rPr lang="en-US" b="1" dirty="0">
                <a:solidFill>
                  <a:srgbClr val="333333"/>
                </a:solidFill>
                <a:latin typeface="Open Sans"/>
              </a:rPr>
              <a:t>rear</a:t>
            </a:r>
            <a:r>
              <a:rPr lang="en-US" dirty="0">
                <a:solidFill>
                  <a:srgbClr val="333333"/>
                </a:solidFill>
                <a:latin typeface="Open Sans"/>
              </a:rPr>
              <a:t>)</a:t>
            </a:r>
            <a:endParaRPr lang="en-US" b="0" i="0" dirty="0">
              <a:solidFill>
                <a:srgbClr val="333333"/>
              </a:solidFill>
              <a:effectLst/>
              <a:latin typeface="Open Sans"/>
            </a:endParaRPr>
          </a:p>
        </p:txBody>
      </p:sp>
    </p:spTree>
    <p:extLst>
      <p:ext uri="{BB962C8B-B14F-4D97-AF65-F5344CB8AC3E}">
        <p14:creationId xmlns:p14="http://schemas.microsoft.com/office/powerpoint/2010/main" val="3987745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180306"/>
            <a:ext cx="11746042" cy="1141386"/>
          </a:xfrm>
        </p:spPr>
        <p:txBody>
          <a:bodyPr/>
          <a:lstStyle/>
          <a:p>
            <a:pPr algn="ctr"/>
            <a:r>
              <a:rPr lang="en-US" b="1" dirty="0">
                <a:solidFill>
                  <a:srgbClr val="FF0000"/>
                </a:solidFill>
              </a:rPr>
              <a:t>Queue - </a:t>
            </a:r>
            <a:r>
              <a:rPr lang="en-US" b="1" dirty="0" smtClean="0">
                <a:solidFill>
                  <a:srgbClr val="FF0000"/>
                </a:solidFill>
              </a:rPr>
              <a:t>operations</a:t>
            </a:r>
            <a:endParaRPr lang="en-IN" b="1" dirty="0">
              <a:solidFill>
                <a:srgbClr val="FF0000"/>
              </a:solidFill>
            </a:endParaRPr>
          </a:p>
        </p:txBody>
      </p:sp>
      <p:sp>
        <p:nvSpPr>
          <p:cNvPr id="4" name="Rectangle 3"/>
          <p:cNvSpPr/>
          <p:nvPr/>
        </p:nvSpPr>
        <p:spPr>
          <a:xfrm>
            <a:off x="750836" y="1489020"/>
            <a:ext cx="10676586" cy="4801314"/>
          </a:xfrm>
          <a:prstGeom prst="rect">
            <a:avLst/>
          </a:prstGeom>
        </p:spPr>
        <p:txBody>
          <a:bodyPr wrap="square">
            <a:spAutoFit/>
          </a:bodyPr>
          <a:lstStyle/>
          <a:p>
            <a:r>
              <a:rPr lang="en-US" b="1" dirty="0"/>
              <a:t>Peek() Operation</a:t>
            </a:r>
          </a:p>
          <a:p>
            <a:r>
              <a:rPr lang="en-US" dirty="0"/>
              <a:t>This function helps in extracting the data element where the front is pointing without removing it from the queue. The algorithm of Peek() function is as </a:t>
            </a:r>
            <a:r>
              <a:rPr lang="en-US" dirty="0" smtClean="0"/>
              <a:t>follows-</a:t>
            </a:r>
          </a:p>
          <a:p>
            <a:endParaRPr lang="en-US" dirty="0"/>
          </a:p>
          <a:p>
            <a:r>
              <a:rPr lang="en-US" dirty="0"/>
              <a:t>Step 1: Check if the queue is empty.</a:t>
            </a:r>
          </a:p>
          <a:p>
            <a:r>
              <a:rPr lang="en-US" dirty="0"/>
              <a:t>Step 2: If the queue is empty, return “Queue is Empty.”</a:t>
            </a:r>
          </a:p>
          <a:p>
            <a:r>
              <a:rPr lang="en-US" dirty="0"/>
              <a:t>Step 3: If the queue is not empty, access the data where the front pointer is pointing.</a:t>
            </a:r>
          </a:p>
          <a:p>
            <a:r>
              <a:rPr lang="en-US" dirty="0"/>
              <a:t>Step 4: Return data</a:t>
            </a:r>
            <a:r>
              <a:rPr lang="en-US" dirty="0" smtClean="0"/>
              <a:t>.</a:t>
            </a:r>
          </a:p>
          <a:p>
            <a:endParaRPr lang="en-US" dirty="0"/>
          </a:p>
          <a:p>
            <a:r>
              <a:rPr lang="en-US" b="1" dirty="0" err="1"/>
              <a:t>isFull</a:t>
            </a:r>
            <a:r>
              <a:rPr lang="en-US" b="1" dirty="0"/>
              <a:t>() Operation</a:t>
            </a:r>
          </a:p>
          <a:p>
            <a:r>
              <a:rPr lang="en-US" dirty="0"/>
              <a:t>This function checks if the rear pointer is reached at MAXSIZE to determine that the queue is full. The following steps are performed in the </a:t>
            </a:r>
            <a:r>
              <a:rPr lang="en-US" dirty="0" err="1"/>
              <a:t>isFull</a:t>
            </a:r>
            <a:r>
              <a:rPr lang="en-US" dirty="0"/>
              <a:t>() operation </a:t>
            </a:r>
            <a:r>
              <a:rPr lang="en-US" dirty="0" smtClean="0"/>
              <a:t>–</a:t>
            </a:r>
          </a:p>
          <a:p>
            <a:endParaRPr lang="en-US" dirty="0"/>
          </a:p>
          <a:p>
            <a:r>
              <a:rPr lang="en-US" dirty="0"/>
              <a:t>Step 1: Check if rear == MAXSIZE - 1.</a:t>
            </a:r>
          </a:p>
          <a:p>
            <a:r>
              <a:rPr lang="en-US" dirty="0"/>
              <a:t>Step 2: If they are equal, return “Queue is Full.”</a:t>
            </a:r>
          </a:p>
          <a:p>
            <a:r>
              <a:rPr lang="en-US" dirty="0"/>
              <a:t>Step 3: If they are not equal, return “Queue is not Full.”</a:t>
            </a:r>
          </a:p>
          <a:p>
            <a:endParaRPr lang="en-US" dirty="0"/>
          </a:p>
        </p:txBody>
      </p:sp>
    </p:spTree>
    <p:extLst>
      <p:ext uri="{BB962C8B-B14F-4D97-AF65-F5344CB8AC3E}">
        <p14:creationId xmlns:p14="http://schemas.microsoft.com/office/powerpoint/2010/main" val="42421291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8" y="-180306"/>
            <a:ext cx="11746042" cy="1141386"/>
          </a:xfrm>
        </p:spPr>
        <p:txBody>
          <a:bodyPr/>
          <a:lstStyle/>
          <a:p>
            <a:pPr algn="ctr"/>
            <a:r>
              <a:rPr lang="en-US" b="1" dirty="0">
                <a:solidFill>
                  <a:srgbClr val="FF0000"/>
                </a:solidFill>
              </a:rPr>
              <a:t>Queue - </a:t>
            </a:r>
            <a:r>
              <a:rPr lang="en-US" b="1" dirty="0" smtClean="0">
                <a:solidFill>
                  <a:srgbClr val="FF0000"/>
                </a:solidFill>
              </a:rPr>
              <a:t>operations</a:t>
            </a:r>
            <a:endParaRPr lang="en-IN" b="1" dirty="0">
              <a:solidFill>
                <a:srgbClr val="FF0000"/>
              </a:solidFill>
            </a:endParaRPr>
          </a:p>
        </p:txBody>
      </p:sp>
      <p:sp>
        <p:nvSpPr>
          <p:cNvPr id="4" name="Rectangle 3"/>
          <p:cNvSpPr/>
          <p:nvPr/>
        </p:nvSpPr>
        <p:spPr>
          <a:xfrm>
            <a:off x="750836" y="1489020"/>
            <a:ext cx="10676586" cy="2308324"/>
          </a:xfrm>
          <a:prstGeom prst="rect">
            <a:avLst/>
          </a:prstGeom>
        </p:spPr>
        <p:txBody>
          <a:bodyPr wrap="square">
            <a:spAutoFit/>
          </a:bodyPr>
          <a:lstStyle/>
          <a:p>
            <a:r>
              <a:rPr lang="en-US" dirty="0" err="1" smtClean="0"/>
              <a:t>isEmpty</a:t>
            </a:r>
            <a:r>
              <a:rPr lang="en-US" dirty="0" smtClean="0"/>
              <a:t>() Operation</a:t>
            </a:r>
          </a:p>
          <a:p>
            <a:endParaRPr lang="en-US" dirty="0"/>
          </a:p>
          <a:p>
            <a:r>
              <a:rPr lang="en-US" dirty="0"/>
              <a:t>The algorithm of the </a:t>
            </a:r>
            <a:r>
              <a:rPr lang="en-US" dirty="0" err="1"/>
              <a:t>isEmpty</a:t>
            </a:r>
            <a:r>
              <a:rPr lang="en-US" dirty="0" smtClean="0"/>
              <a:t>() </a:t>
            </a:r>
            <a:r>
              <a:rPr lang="en-US" dirty="0"/>
              <a:t>operation is as follows </a:t>
            </a:r>
            <a:r>
              <a:rPr lang="en-US" dirty="0" smtClean="0"/>
              <a:t>–</a:t>
            </a:r>
          </a:p>
          <a:p>
            <a:endParaRPr lang="en-US" dirty="0"/>
          </a:p>
          <a:p>
            <a:r>
              <a:rPr lang="en-US" dirty="0"/>
              <a:t>Step 1: Check if the rear and front are pointing to null memory space, i.e., -1</a:t>
            </a:r>
            <a:r>
              <a:rPr lang="en-US" dirty="0" smtClean="0"/>
              <a:t>.  // front=-1</a:t>
            </a:r>
            <a:endParaRPr lang="en-US" dirty="0"/>
          </a:p>
          <a:p>
            <a:r>
              <a:rPr lang="en-US" dirty="0"/>
              <a:t>Step 2: If they are pointing to -1, return “Queue is empty.”</a:t>
            </a:r>
          </a:p>
          <a:p>
            <a:r>
              <a:rPr lang="en-US" dirty="0"/>
              <a:t>Step 3: If they are not equal, return “Queue is not empty.”</a:t>
            </a:r>
          </a:p>
          <a:p>
            <a:endParaRPr lang="en-US" dirty="0"/>
          </a:p>
        </p:txBody>
      </p:sp>
    </p:spTree>
    <p:extLst>
      <p:ext uri="{BB962C8B-B14F-4D97-AF65-F5344CB8AC3E}">
        <p14:creationId xmlns:p14="http://schemas.microsoft.com/office/powerpoint/2010/main" val="7728853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Types of 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8130" y="468077"/>
            <a:ext cx="9885359" cy="5997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0985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Circular </a:t>
            </a:r>
            <a:r>
              <a:rPr lang="en-US" b="1" dirty="0" smtClean="0">
                <a:solidFill>
                  <a:srgbClr val="FF0000"/>
                </a:solidFill>
              </a:rPr>
              <a:t>Queue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pPr marL="0" indent="0">
              <a:buNone/>
            </a:pPr>
            <a:r>
              <a:rPr lang="en-US" sz="2400" dirty="0"/>
              <a:t>In Circular Queue, all the nodes are represented as circular. </a:t>
            </a:r>
            <a:endParaRPr lang="en-US" sz="2400" dirty="0" smtClean="0"/>
          </a:p>
          <a:p>
            <a:pPr marL="0" indent="0">
              <a:buNone/>
            </a:pPr>
            <a:r>
              <a:rPr lang="en-US" sz="2400" dirty="0" smtClean="0"/>
              <a:t>It </a:t>
            </a:r>
            <a:r>
              <a:rPr lang="en-US" sz="2400" dirty="0"/>
              <a:t>is similar to the linear Queue except that the last element of the queue is connected to the first element. </a:t>
            </a:r>
            <a:endParaRPr lang="en-US" sz="2400" dirty="0" smtClean="0"/>
          </a:p>
          <a:p>
            <a:pPr marL="0" indent="0">
              <a:buNone/>
            </a:pPr>
            <a:r>
              <a:rPr lang="en-US" sz="2400" dirty="0" smtClean="0"/>
              <a:t>It </a:t>
            </a:r>
            <a:r>
              <a:rPr lang="en-US" sz="2400" dirty="0"/>
              <a:t>is also known as Ring Buffer, as all the ends are connected to another end. The representation of circular queue is shown in the below image </a:t>
            </a:r>
            <a:r>
              <a:rPr lang="en-US" sz="2400" dirty="0" smtClean="0"/>
              <a:t>–</a:t>
            </a: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smtClean="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dirty="0" smtClean="0"/>
          </a:p>
          <a:p>
            <a:pPr marL="0" indent="0">
              <a:buNone/>
            </a:pPr>
            <a:r>
              <a:rPr lang="en-US" sz="2400" dirty="0" smtClean="0"/>
              <a:t>The </a:t>
            </a:r>
            <a:r>
              <a:rPr lang="en-US" sz="2400" dirty="0"/>
              <a:t>drawback that occurs in a linear queue is overcome by using the circular queue. </a:t>
            </a:r>
            <a:endParaRPr lang="en-US" sz="2400" dirty="0" smtClean="0"/>
          </a:p>
          <a:p>
            <a:pPr marL="0" indent="0">
              <a:buNone/>
            </a:pPr>
            <a:r>
              <a:rPr lang="en-US" sz="2400" dirty="0" smtClean="0"/>
              <a:t>If </a:t>
            </a:r>
            <a:r>
              <a:rPr lang="en-US" sz="2400" dirty="0"/>
              <a:t>the empty space is available in a circular queue, the new element can be added in an empty space by simply incrementing the value of rear. </a:t>
            </a:r>
            <a:endParaRPr lang="en-US" sz="2400" dirty="0" smtClean="0"/>
          </a:p>
          <a:p>
            <a:pPr marL="0" indent="0">
              <a:buNone/>
            </a:pPr>
            <a:r>
              <a:rPr lang="en-US" sz="2400" dirty="0" smtClean="0"/>
              <a:t>The </a:t>
            </a:r>
            <a:r>
              <a:rPr lang="en-US" sz="2400" dirty="0"/>
              <a:t>main advantage of using the circular queue is better memory utilization.</a:t>
            </a:r>
            <a:endParaRPr lang="en-IN" sz="2400" b="1" dirty="0">
              <a:latin typeface="Times New Roman" panose="02020603050405020304" pitchFamily="18" charset="0"/>
              <a:cs typeface="Times New Roman" panose="02020603050405020304" pitchFamily="18" charset="0"/>
            </a:endParaRPr>
          </a:p>
        </p:txBody>
      </p:sp>
      <p:pic>
        <p:nvPicPr>
          <p:cNvPr id="9218" name="Picture 2" descr="Types of Que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4661" y="3077533"/>
            <a:ext cx="8271768" cy="1985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69458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Circular Queue - Insert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sz="2400" b="1" dirty="0"/>
              <a:t>Algorithm to insert an element in a circular queue</a:t>
            </a:r>
            <a:endParaRPr lang="en-US" sz="2400" dirty="0"/>
          </a:p>
          <a:p>
            <a:r>
              <a:rPr lang="en-US" sz="2400" b="1" dirty="0"/>
              <a:t>Step 1:</a:t>
            </a:r>
            <a:r>
              <a:rPr lang="en-US" sz="2400" dirty="0"/>
              <a:t> IF (REAR+1)%MAX = FRONT</a:t>
            </a:r>
            <a:br>
              <a:rPr lang="en-US" sz="2400" dirty="0"/>
            </a:br>
            <a:r>
              <a:rPr lang="en-US" sz="2400" dirty="0"/>
              <a:t>Write " OVERFLOW "</a:t>
            </a:r>
            <a:br>
              <a:rPr lang="en-US" sz="2400" dirty="0"/>
            </a:br>
            <a:r>
              <a:rPr lang="en-US" sz="2400" dirty="0" err="1"/>
              <a:t>Goto</a:t>
            </a:r>
            <a:r>
              <a:rPr lang="en-US" sz="2400" dirty="0"/>
              <a:t> step 4</a:t>
            </a:r>
            <a:br>
              <a:rPr lang="en-US" sz="2400" dirty="0"/>
            </a:br>
            <a:r>
              <a:rPr lang="en-US" sz="2400" dirty="0"/>
              <a:t>[End OF IF]</a:t>
            </a:r>
          </a:p>
          <a:p>
            <a:r>
              <a:rPr lang="en-US" sz="2400" b="1" dirty="0"/>
              <a:t>Step 2:</a:t>
            </a:r>
            <a:r>
              <a:rPr lang="en-US" sz="2400" dirty="0"/>
              <a:t> IF FRONT = -1 and REAR = -1</a:t>
            </a:r>
            <a:br>
              <a:rPr lang="en-US" sz="2400" dirty="0"/>
            </a:br>
            <a:r>
              <a:rPr lang="en-US" sz="2400" dirty="0"/>
              <a:t>SET FRONT = REAR = </a:t>
            </a:r>
            <a:r>
              <a:rPr lang="en-US" sz="2400" dirty="0" smtClean="0"/>
              <a:t>0 </a:t>
            </a:r>
          </a:p>
          <a:p>
            <a:pPr marL="0" indent="0">
              <a:buNone/>
            </a:pPr>
            <a:r>
              <a:rPr lang="en-US" sz="2400" dirty="0" smtClean="0"/>
              <a:t>ELSE</a:t>
            </a:r>
            <a:r>
              <a:rPr lang="en-US" sz="2400" dirty="0"/>
              <a:t/>
            </a:r>
            <a:br>
              <a:rPr lang="en-US" sz="2400" dirty="0"/>
            </a:br>
            <a:r>
              <a:rPr lang="en-US" sz="2400" dirty="0"/>
              <a:t>SET REAR = (REAR + 1) % MAX</a:t>
            </a:r>
            <a:br>
              <a:rPr lang="en-US" sz="2400" dirty="0"/>
            </a:br>
            <a:r>
              <a:rPr lang="en-US" sz="2400" dirty="0"/>
              <a:t>[END OF IF]</a:t>
            </a:r>
          </a:p>
          <a:p>
            <a:r>
              <a:rPr lang="en-US" sz="2400" b="1" dirty="0"/>
              <a:t>Step 3:</a:t>
            </a:r>
            <a:r>
              <a:rPr lang="en-US" sz="2400" dirty="0"/>
              <a:t> SET QUEUE[REAR] = </a:t>
            </a:r>
            <a:r>
              <a:rPr lang="en-US" sz="2400" dirty="0" smtClean="0"/>
              <a:t>VAL</a:t>
            </a:r>
          </a:p>
          <a:p>
            <a:r>
              <a:rPr lang="en-IN" sz="2400" b="1" dirty="0"/>
              <a:t>Step 4:</a:t>
            </a:r>
            <a:r>
              <a:rPr lang="en-IN" sz="2400" dirty="0"/>
              <a:t> EXIT</a:t>
            </a:r>
            <a:endParaRPr lang="en-US" sz="2400" dirty="0"/>
          </a:p>
          <a:p>
            <a:pPr marL="0" indent="0">
              <a:buNone/>
            </a:pP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42128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Circular Queue – Delete</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sz="2400" b="1" dirty="0"/>
              <a:t>Step 1:</a:t>
            </a:r>
            <a:r>
              <a:rPr lang="en-US" sz="2400" dirty="0"/>
              <a:t> IF FRONT = -1</a:t>
            </a:r>
            <a:br>
              <a:rPr lang="en-US" sz="2400" dirty="0"/>
            </a:br>
            <a:r>
              <a:rPr lang="en-US" sz="2400" dirty="0"/>
              <a:t>Write " UNDERFLOW "</a:t>
            </a:r>
            <a:br>
              <a:rPr lang="en-US" sz="2400" dirty="0"/>
            </a:br>
            <a:r>
              <a:rPr lang="en-US" sz="2400" dirty="0" err="1"/>
              <a:t>Goto</a:t>
            </a:r>
            <a:r>
              <a:rPr lang="en-US" sz="2400" dirty="0"/>
              <a:t> Step 4</a:t>
            </a:r>
            <a:br>
              <a:rPr lang="en-US" sz="2400" dirty="0"/>
            </a:br>
            <a:r>
              <a:rPr lang="en-US" sz="2400" dirty="0"/>
              <a:t>[END of IF]</a:t>
            </a:r>
          </a:p>
          <a:p>
            <a:r>
              <a:rPr lang="en-US" sz="2400" b="1" dirty="0"/>
              <a:t>Step 2:</a:t>
            </a:r>
            <a:r>
              <a:rPr lang="en-US" sz="2400" dirty="0"/>
              <a:t> SET VAL = QUEUE[FRONT</a:t>
            </a:r>
            <a:r>
              <a:rPr lang="en-US" sz="2400" dirty="0" smtClean="0"/>
              <a:t>]</a:t>
            </a:r>
          </a:p>
          <a:p>
            <a:r>
              <a:rPr lang="en-US" sz="2400" b="1" dirty="0"/>
              <a:t>Step 3:</a:t>
            </a:r>
            <a:r>
              <a:rPr lang="en-US" sz="2400" dirty="0"/>
              <a:t> IF FRONT = REAR</a:t>
            </a:r>
            <a:br>
              <a:rPr lang="en-US" sz="2400" dirty="0"/>
            </a:br>
            <a:r>
              <a:rPr lang="en-US" sz="2400" dirty="0"/>
              <a:t>SET FRONT = REAR = -1</a:t>
            </a:r>
            <a:br>
              <a:rPr lang="en-US" sz="2400" dirty="0"/>
            </a:br>
            <a:r>
              <a:rPr lang="en-US" sz="2400" dirty="0" smtClean="0"/>
              <a:t>ELSE</a:t>
            </a:r>
            <a:r>
              <a:rPr lang="en-US" sz="2400" dirty="0"/>
              <a:t/>
            </a:r>
            <a:br>
              <a:rPr lang="en-US" sz="2400" dirty="0"/>
            </a:br>
            <a:r>
              <a:rPr lang="en-US" sz="2400" dirty="0"/>
              <a:t>SET FRONT = </a:t>
            </a:r>
            <a:r>
              <a:rPr lang="en-US" sz="2400" dirty="0" smtClean="0"/>
              <a:t>(FRONT </a:t>
            </a:r>
            <a:r>
              <a:rPr lang="en-US" sz="2400" dirty="0"/>
              <a:t>+ </a:t>
            </a:r>
            <a:r>
              <a:rPr lang="en-US" sz="2400" dirty="0" smtClean="0"/>
              <a:t>1)%N</a:t>
            </a:r>
            <a:r>
              <a:rPr lang="en-US" sz="2400" dirty="0"/>
              <a:t/>
            </a:r>
            <a:br>
              <a:rPr lang="en-US" sz="2400" dirty="0"/>
            </a:br>
            <a:r>
              <a:rPr lang="en-US" sz="2400" dirty="0"/>
              <a:t/>
            </a:r>
            <a:br>
              <a:rPr lang="en-US" sz="2400" dirty="0"/>
            </a:br>
            <a:r>
              <a:rPr lang="en-US" sz="2400" dirty="0"/>
              <a:t>[END OF IF]</a:t>
            </a:r>
          </a:p>
          <a:p>
            <a:r>
              <a:rPr lang="en-US" sz="2400" b="1" dirty="0"/>
              <a:t>Step 4:</a:t>
            </a:r>
            <a:r>
              <a:rPr lang="en-US" sz="2400" dirty="0"/>
              <a:t> EXIT</a:t>
            </a:r>
          </a:p>
          <a:p>
            <a:endParaRPr lang="en-US" dirty="0"/>
          </a:p>
          <a:p>
            <a:pPr marL="0" indent="0">
              <a:buNone/>
            </a:pP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3079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err="1"/>
              <a:t>Deque</a:t>
            </a:r>
            <a:r>
              <a:rPr lang="en-IN" dirty="0"/>
              <a:t> (or, Double Ended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sz="2000" dirty="0"/>
              <a:t>A </a:t>
            </a:r>
            <a:r>
              <a:rPr lang="en-US" sz="2000" dirty="0" err="1"/>
              <a:t>deque</a:t>
            </a:r>
            <a:r>
              <a:rPr lang="en-US" sz="2000" dirty="0"/>
              <a:t> is also a special type of queue. </a:t>
            </a:r>
            <a:endParaRPr lang="en-US" sz="2000" dirty="0" smtClean="0"/>
          </a:p>
          <a:p>
            <a:r>
              <a:rPr lang="en-US" sz="2000" dirty="0" smtClean="0"/>
              <a:t>In </a:t>
            </a:r>
            <a:r>
              <a:rPr lang="en-US" sz="2000" dirty="0"/>
              <a:t>this queue, the </a:t>
            </a:r>
            <a:r>
              <a:rPr lang="en-US" sz="2000" b="1" dirty="0" err="1"/>
              <a:t>enqueue</a:t>
            </a:r>
            <a:r>
              <a:rPr lang="en-US" sz="2000" b="1" dirty="0"/>
              <a:t> and </a:t>
            </a:r>
            <a:r>
              <a:rPr lang="en-US" sz="2000" b="1" dirty="0" err="1"/>
              <a:t>dequeue</a:t>
            </a:r>
            <a:r>
              <a:rPr lang="en-US" sz="2000" b="1" dirty="0"/>
              <a:t> operations take place at both front and rear</a:t>
            </a:r>
            <a:r>
              <a:rPr lang="en-US" sz="2000" dirty="0"/>
              <a:t>. </a:t>
            </a:r>
            <a:endParaRPr lang="en-US" sz="2000" dirty="0" smtClean="0"/>
          </a:p>
          <a:p>
            <a:r>
              <a:rPr lang="en-US" sz="2000" dirty="0" smtClean="0"/>
              <a:t>That </a:t>
            </a:r>
            <a:r>
              <a:rPr lang="en-US" sz="2000" dirty="0"/>
              <a:t>means, we can insert an item at both the ends and can remove an item from both the ends. Thus, it may or may not adhere to the FIFO order:</a:t>
            </a:r>
          </a:p>
          <a:p>
            <a:endParaRPr lang="en-US" dirty="0" smtClean="0"/>
          </a:p>
          <a:p>
            <a:endParaRPr lang="en-US" dirty="0"/>
          </a:p>
          <a:p>
            <a:endParaRPr lang="en-US" dirty="0" smtClean="0"/>
          </a:p>
          <a:p>
            <a:pPr marL="0" indent="0">
              <a:buNone/>
            </a:pPr>
            <a:r>
              <a:rPr lang="en-US" dirty="0"/>
              <a:t/>
            </a:r>
            <a:br>
              <a:rPr lang="en-US" dirty="0"/>
            </a:br>
            <a:endParaRPr lang="en-US" dirty="0"/>
          </a:p>
        </p:txBody>
      </p:sp>
      <p:pic>
        <p:nvPicPr>
          <p:cNvPr id="1026" name="Picture 2" descr="deq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707" y="2627827"/>
            <a:ext cx="829627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13739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err="1"/>
              <a:t>Deque</a:t>
            </a:r>
            <a:r>
              <a:rPr lang="en-IN" dirty="0"/>
              <a:t> (or, Double Ended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pPr fontAlgn="base"/>
            <a:r>
              <a:rPr lang="en-US" b="1" u="sng" dirty="0"/>
              <a:t>Properties of </a:t>
            </a:r>
            <a:r>
              <a:rPr lang="en-US" b="1" u="sng" dirty="0" err="1"/>
              <a:t>Deque</a:t>
            </a:r>
            <a:r>
              <a:rPr lang="en-US" b="1" u="sng" dirty="0"/>
              <a:t>:</a:t>
            </a:r>
            <a:r>
              <a:rPr lang="en-US" dirty="0"/>
              <a:t> </a:t>
            </a:r>
          </a:p>
          <a:p>
            <a:pPr fontAlgn="base"/>
            <a:r>
              <a:rPr lang="en-US" dirty="0" err="1"/>
              <a:t>Deque</a:t>
            </a:r>
            <a:r>
              <a:rPr lang="en-US" dirty="0"/>
              <a:t> is a generalized version of the queue which allows us to insert and delete the element at both ends. </a:t>
            </a:r>
          </a:p>
          <a:p>
            <a:pPr fontAlgn="base"/>
            <a:r>
              <a:rPr lang="en-US" dirty="0"/>
              <a:t>It does not follow FIFO (first in first out) rule</a:t>
            </a:r>
            <a:r>
              <a:rPr lang="en-US" dirty="0" smtClean="0"/>
              <a:t>.</a:t>
            </a:r>
          </a:p>
          <a:p>
            <a:pPr fontAlgn="base"/>
            <a:r>
              <a:rPr lang="en-US" b="1" dirty="0" smtClean="0"/>
              <a:t>Applications:</a:t>
            </a:r>
          </a:p>
          <a:p>
            <a:pPr fontAlgn="base"/>
            <a:r>
              <a:rPr lang="en-US" dirty="0" smtClean="0"/>
              <a:t>Applied </a:t>
            </a:r>
            <a:r>
              <a:rPr lang="en-US" dirty="0"/>
              <a:t>as both stack and queue, as it supports both operations.</a:t>
            </a:r>
          </a:p>
          <a:p>
            <a:pPr fontAlgn="base"/>
            <a:r>
              <a:rPr lang="en-US" dirty="0"/>
              <a:t>Storing a web browser’s </a:t>
            </a:r>
            <a:r>
              <a:rPr lang="en-US" dirty="0" smtClean="0"/>
              <a:t>history: In </a:t>
            </a:r>
            <a:r>
              <a:rPr lang="en-US" dirty="0"/>
              <a:t>a web browser’s history, recently visited URLs are added to the front of the </a:t>
            </a:r>
            <a:r>
              <a:rPr lang="en-US" dirty="0" err="1"/>
              <a:t>deque</a:t>
            </a:r>
            <a:r>
              <a:rPr lang="en-US" dirty="0"/>
              <a:t> and the URL at the back of the </a:t>
            </a:r>
            <a:r>
              <a:rPr lang="en-US" dirty="0" err="1"/>
              <a:t>deque</a:t>
            </a:r>
            <a:r>
              <a:rPr lang="en-US" dirty="0"/>
              <a:t> is removed after some specified number of operations of insertions at the front.</a:t>
            </a:r>
          </a:p>
          <a:p>
            <a:pPr fontAlgn="base"/>
            <a:r>
              <a:rPr lang="en-US" dirty="0" smtClean="0"/>
              <a:t>Storing </a:t>
            </a:r>
            <a:r>
              <a:rPr lang="en-US" dirty="0"/>
              <a:t>a software application’s list of undo operations.</a:t>
            </a:r>
          </a:p>
          <a:p>
            <a:pPr fontAlgn="base"/>
            <a:r>
              <a:rPr lang="en-US" dirty="0"/>
              <a:t>Job scheduling algorithm</a:t>
            </a:r>
          </a:p>
          <a:p>
            <a:pPr fontAlgn="base"/>
            <a:endParaRPr lang="en-US" dirty="0"/>
          </a:p>
          <a:p>
            <a:pPr fontAlgn="base"/>
            <a:endParaRPr lang="en-US" dirty="0"/>
          </a:p>
          <a:p>
            <a:pPr marL="0" indent="0">
              <a:buNone/>
            </a:pPr>
            <a:r>
              <a:rPr lang="en-US" dirty="0"/>
              <a:t/>
            </a:r>
            <a:br>
              <a:rPr lang="en-US" dirty="0"/>
            </a:br>
            <a:endParaRPr lang="en-US" dirty="0"/>
          </a:p>
        </p:txBody>
      </p:sp>
    </p:spTree>
    <p:extLst>
      <p:ext uri="{BB962C8B-B14F-4D97-AF65-F5344CB8AC3E}">
        <p14:creationId xmlns:p14="http://schemas.microsoft.com/office/powerpoint/2010/main" val="14275563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err="1"/>
              <a:t>Deque</a:t>
            </a:r>
            <a:r>
              <a:rPr lang="en-IN" dirty="0"/>
              <a:t> (or, Double Ended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dirty="0"/>
              <a:t>Further, it has two special cases: </a:t>
            </a:r>
            <a:r>
              <a:rPr lang="en-US" b="1" dirty="0"/>
              <a:t>input-restricted </a:t>
            </a:r>
            <a:r>
              <a:rPr lang="en-US" b="1" dirty="0" err="1"/>
              <a:t>deque</a:t>
            </a:r>
            <a:r>
              <a:rPr lang="en-US" dirty="0"/>
              <a:t> and </a:t>
            </a:r>
            <a:r>
              <a:rPr lang="en-US" b="1" dirty="0"/>
              <a:t>output-restricted </a:t>
            </a:r>
            <a:r>
              <a:rPr lang="en-US" b="1" dirty="0" err="1"/>
              <a:t>deque</a:t>
            </a:r>
            <a:r>
              <a:rPr lang="en-US" dirty="0"/>
              <a:t>.</a:t>
            </a:r>
          </a:p>
          <a:p>
            <a:r>
              <a:rPr lang="en-US" dirty="0"/>
              <a:t>As the name implies, in input restricted queue, insertion operation can be performed at only one end, while deletion can be performed from both ends</a:t>
            </a:r>
            <a:r>
              <a:rPr lang="en-US" dirty="0" smtClean="0"/>
              <a:t>.</a:t>
            </a:r>
          </a:p>
          <a:p>
            <a:r>
              <a:rPr lang="en-US" dirty="0" smtClean="0"/>
              <a:t>The </a:t>
            </a:r>
            <a:r>
              <a:rPr lang="en-US" dirty="0" err="1" smtClean="0"/>
              <a:t>enqueue</a:t>
            </a:r>
            <a:r>
              <a:rPr lang="en-US" dirty="0" smtClean="0"/>
              <a:t> </a:t>
            </a:r>
            <a:r>
              <a:rPr lang="en-US" dirty="0"/>
              <a:t>operation takes place only at the rear, but the </a:t>
            </a:r>
            <a:r>
              <a:rPr lang="en-US" dirty="0" err="1"/>
              <a:t>dequeue</a:t>
            </a:r>
            <a:r>
              <a:rPr lang="en-US" dirty="0"/>
              <a:t> operation takes place at both rear and front:</a:t>
            </a:r>
          </a:p>
          <a:p>
            <a:r>
              <a:rPr lang="en-US" dirty="0"/>
              <a:t/>
            </a:r>
            <a:br>
              <a:rPr lang="en-US" dirty="0"/>
            </a:br>
            <a:endParaRPr lang="en-US" dirty="0"/>
          </a:p>
        </p:txBody>
      </p:sp>
      <p:pic>
        <p:nvPicPr>
          <p:cNvPr id="2052" name="Picture 4" descr="input restricted deq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651" y="3876024"/>
            <a:ext cx="829627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0294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err="1"/>
              <a:t>Deque</a:t>
            </a:r>
            <a:r>
              <a:rPr lang="en-IN" dirty="0"/>
              <a:t> (or, Double Ended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dirty="0" smtClean="0"/>
              <a:t>As </a:t>
            </a:r>
            <a:r>
              <a:rPr lang="en-US" dirty="0"/>
              <a:t>the name implies, in output restricted queue, deletion operation can be performed at only one end, while insertion can be performed from both ends.</a:t>
            </a:r>
          </a:p>
          <a:p>
            <a:r>
              <a:rPr lang="en-US" dirty="0" smtClean="0"/>
              <a:t>The </a:t>
            </a:r>
            <a:r>
              <a:rPr lang="en-US" dirty="0" err="1" smtClean="0"/>
              <a:t>enqueue</a:t>
            </a:r>
            <a:r>
              <a:rPr lang="en-US" dirty="0" smtClean="0"/>
              <a:t> </a:t>
            </a:r>
            <a:r>
              <a:rPr lang="en-US" dirty="0"/>
              <a:t>operation takes place at both rear and front, but the </a:t>
            </a:r>
            <a:r>
              <a:rPr lang="en-US" dirty="0" err="1"/>
              <a:t>dequeue</a:t>
            </a:r>
            <a:r>
              <a:rPr lang="en-US" dirty="0"/>
              <a:t> operation takes place only at the front:</a:t>
            </a:r>
          </a:p>
          <a:p>
            <a:endParaRPr lang="en-US" dirty="0" smtClean="0"/>
          </a:p>
          <a:p>
            <a:endParaRPr lang="en-US" dirty="0"/>
          </a:p>
          <a:p>
            <a:endParaRPr lang="en-US" dirty="0" smtClean="0"/>
          </a:p>
          <a:p>
            <a:endParaRPr lang="en-US" dirty="0"/>
          </a:p>
          <a:p>
            <a:r>
              <a:rPr lang="en-US" dirty="0"/>
              <a:t>An output-restricted queue is handy when we need to insert an item at the front of the queue.</a:t>
            </a:r>
            <a:br>
              <a:rPr lang="en-US" dirty="0"/>
            </a:br>
            <a:r>
              <a:rPr lang="en-US" dirty="0"/>
              <a:t/>
            </a:r>
            <a:br>
              <a:rPr lang="en-US" dirty="0"/>
            </a:br>
            <a:endParaRPr lang="en-US" dirty="0"/>
          </a:p>
        </p:txBody>
      </p:sp>
      <p:pic>
        <p:nvPicPr>
          <p:cNvPr id="3076" name="Picture 4" descr="output restricted deq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887" y="2880661"/>
            <a:ext cx="829627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5692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err="1"/>
              <a:t>Deque</a:t>
            </a:r>
            <a:r>
              <a:rPr lang="en-IN" dirty="0"/>
              <a:t> (or, Double Ended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b="1" dirty="0"/>
              <a:t>Operations on </a:t>
            </a:r>
            <a:r>
              <a:rPr lang="en-US" b="1" dirty="0" err="1"/>
              <a:t>Deque</a:t>
            </a:r>
            <a:r>
              <a:rPr lang="en-US" b="1" dirty="0"/>
              <a:t>:</a:t>
            </a:r>
            <a:r>
              <a:rPr lang="en-US" dirty="0"/>
              <a:t> Mainly the following four basic operations are performed on queue</a:t>
            </a:r>
            <a:r>
              <a:rPr lang="en-US" dirty="0" smtClean="0"/>
              <a:t>:</a:t>
            </a:r>
          </a:p>
          <a:p>
            <a:pPr marL="0" indent="0">
              <a:buNone/>
            </a:pPr>
            <a:r>
              <a:rPr lang="en-US" dirty="0"/>
              <a:t/>
            </a:r>
            <a:br>
              <a:rPr lang="en-US" dirty="0"/>
            </a:br>
            <a:r>
              <a:rPr lang="en-US" b="1" i="1" dirty="0" err="1"/>
              <a:t>insertFront</a:t>
            </a:r>
            <a:r>
              <a:rPr lang="en-US" b="1" i="1" dirty="0"/>
              <a:t>()</a:t>
            </a:r>
            <a:r>
              <a:rPr lang="en-US" dirty="0"/>
              <a:t>: Adds an item at the front of </a:t>
            </a:r>
            <a:r>
              <a:rPr lang="en-US" dirty="0" err="1"/>
              <a:t>Deque</a:t>
            </a:r>
            <a:r>
              <a:rPr lang="en-US" dirty="0"/>
              <a:t>.</a:t>
            </a:r>
            <a:br>
              <a:rPr lang="en-US" dirty="0"/>
            </a:br>
            <a:r>
              <a:rPr lang="en-US" b="1" i="1" dirty="0" err="1"/>
              <a:t>insertLast</a:t>
            </a:r>
            <a:r>
              <a:rPr lang="en-US" b="1" i="1" dirty="0"/>
              <a:t>()</a:t>
            </a:r>
            <a:r>
              <a:rPr lang="en-US" dirty="0"/>
              <a:t>: Adds an item at the rear of </a:t>
            </a:r>
            <a:r>
              <a:rPr lang="en-US" dirty="0" err="1"/>
              <a:t>Deque</a:t>
            </a:r>
            <a:r>
              <a:rPr lang="en-US" dirty="0"/>
              <a:t>.</a:t>
            </a:r>
            <a:br>
              <a:rPr lang="en-US" dirty="0"/>
            </a:br>
            <a:r>
              <a:rPr lang="en-US" b="1" i="1" dirty="0" err="1"/>
              <a:t>deleteFront</a:t>
            </a:r>
            <a:r>
              <a:rPr lang="en-US" b="1" i="1" dirty="0"/>
              <a:t>()</a:t>
            </a:r>
            <a:r>
              <a:rPr lang="en-US" dirty="0"/>
              <a:t>: Deletes an item from the front of </a:t>
            </a:r>
            <a:r>
              <a:rPr lang="en-US" dirty="0" err="1"/>
              <a:t>Deque</a:t>
            </a:r>
            <a:r>
              <a:rPr lang="en-US" dirty="0"/>
              <a:t>.</a:t>
            </a:r>
            <a:br>
              <a:rPr lang="en-US" dirty="0"/>
            </a:br>
            <a:r>
              <a:rPr lang="en-US" b="1" i="1" dirty="0" err="1"/>
              <a:t>deleteLast</a:t>
            </a:r>
            <a:r>
              <a:rPr lang="en-US" b="1" i="1" dirty="0"/>
              <a:t>()</a:t>
            </a:r>
            <a:r>
              <a:rPr lang="en-US" dirty="0"/>
              <a:t>: Deletes an item from the rear of </a:t>
            </a:r>
            <a:r>
              <a:rPr lang="en-US" dirty="0" err="1"/>
              <a:t>Deque</a:t>
            </a:r>
            <a:r>
              <a:rPr lang="en-US" dirty="0"/>
              <a:t>. In addition to the above operations, the following operations are also supported.</a:t>
            </a:r>
            <a:br>
              <a:rPr lang="en-US" dirty="0"/>
            </a:br>
            <a:r>
              <a:rPr lang="en-US" b="1" i="1" dirty="0" err="1"/>
              <a:t>getFront</a:t>
            </a:r>
            <a:r>
              <a:rPr lang="en-US" b="1" i="1" dirty="0"/>
              <a:t>()</a:t>
            </a:r>
            <a:r>
              <a:rPr lang="en-US" dirty="0"/>
              <a:t>: Gets the front item from the queue.</a:t>
            </a:r>
            <a:br>
              <a:rPr lang="en-US" dirty="0"/>
            </a:br>
            <a:r>
              <a:rPr lang="en-US" b="1" i="1" dirty="0" err="1"/>
              <a:t>getRear</a:t>
            </a:r>
            <a:r>
              <a:rPr lang="en-US" b="1" i="1" dirty="0"/>
              <a:t>()</a:t>
            </a:r>
            <a:r>
              <a:rPr lang="en-US" dirty="0"/>
              <a:t>: Gets the last item from queue.</a:t>
            </a:r>
            <a:br>
              <a:rPr lang="en-US"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33791786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a:t>Priority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pPr marL="0" indent="0">
              <a:buNone/>
            </a:pPr>
            <a:r>
              <a:rPr lang="en-US" dirty="0"/>
              <a:t>It is a special type of queue in which the elements are arranged based on the priority. </a:t>
            </a:r>
            <a:endParaRPr lang="en-US" dirty="0" smtClean="0"/>
          </a:p>
          <a:p>
            <a:pPr marL="0" indent="0">
              <a:buNone/>
            </a:pPr>
            <a:r>
              <a:rPr lang="en-US" dirty="0" smtClean="0"/>
              <a:t>It </a:t>
            </a:r>
            <a:r>
              <a:rPr lang="en-US" dirty="0"/>
              <a:t>is a special type of queue data structure in which every element has a priority associated with it. </a:t>
            </a:r>
            <a:endParaRPr lang="en-US" dirty="0" smtClean="0"/>
          </a:p>
          <a:p>
            <a:pPr marL="0" indent="0">
              <a:buNone/>
            </a:pPr>
            <a:r>
              <a:rPr lang="en-US" dirty="0" smtClean="0"/>
              <a:t>Suppose </a:t>
            </a:r>
            <a:r>
              <a:rPr lang="en-US" dirty="0"/>
              <a:t>some elements occur with the same priority, they will be arranged according to the FIFO principle. </a:t>
            </a:r>
            <a:endParaRPr lang="en-US" dirty="0" smtClean="0"/>
          </a:p>
          <a:p>
            <a:pPr marL="0" indent="0">
              <a:buNone/>
            </a:pPr>
            <a:r>
              <a:rPr lang="en-US" dirty="0" smtClean="0"/>
              <a:t>The </a:t>
            </a:r>
            <a:r>
              <a:rPr lang="en-US" dirty="0"/>
              <a:t>representation of priority queue is shown in the below image -</a:t>
            </a:r>
            <a:endParaRPr lang="en-US" dirty="0" smtClean="0"/>
          </a:p>
          <a:p>
            <a:endParaRPr lang="en-US" dirty="0"/>
          </a:p>
          <a:p>
            <a:endParaRPr lang="en-US" dirty="0"/>
          </a:p>
          <a:p>
            <a:endParaRPr lang="en-US" dirty="0"/>
          </a:p>
        </p:txBody>
      </p:sp>
      <p:pic>
        <p:nvPicPr>
          <p:cNvPr id="13314" name="Picture 2" descr="Types of Que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2578" y="4521021"/>
            <a:ext cx="575310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89582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a:t>Priority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dirty="0"/>
              <a:t>Insertion in priority queue takes place based on the arrival, while deletion in the priority queue occurs based on the priority. Priority queue is mainly used to implement the CPU scheduling algorithms.</a:t>
            </a:r>
          </a:p>
          <a:p>
            <a:r>
              <a:rPr lang="en-US" dirty="0"/>
              <a:t>There are two types of priority queue that are discussed as follows -</a:t>
            </a:r>
          </a:p>
          <a:p>
            <a:r>
              <a:rPr lang="en-US" b="1" dirty="0"/>
              <a:t>Ascending priority queue -</a:t>
            </a:r>
            <a:r>
              <a:rPr lang="en-US" dirty="0"/>
              <a:t> In ascending priority queue, elements can be inserted in arbitrary order, but only smallest can be deleted first. Suppose an array with elements 7, 5, and 3 in the same order, so, insertion can be done with the same sequence, but the order of deleting the elements is 3, 5, 7.</a:t>
            </a:r>
          </a:p>
          <a:p>
            <a:r>
              <a:rPr lang="en-US" b="1" dirty="0"/>
              <a:t>Descending priority queue -</a:t>
            </a:r>
            <a:r>
              <a:rPr lang="en-US" dirty="0"/>
              <a:t> In descending priority queue, elements can be inserted in arbitrary order, but only the largest element can be deleted first. Suppose an array with elements 7, 3, and 5 in the same order, so, insertion can be done with the same sequence, but the order of deleting the elements is 7, 5, 3.</a:t>
            </a:r>
          </a:p>
          <a:p>
            <a:endParaRPr lang="en-US" dirty="0"/>
          </a:p>
          <a:p>
            <a:endParaRPr lang="en-US" dirty="0"/>
          </a:p>
          <a:p>
            <a:endParaRPr lang="en-US" dirty="0"/>
          </a:p>
        </p:txBody>
      </p:sp>
    </p:spTree>
    <p:extLst>
      <p:ext uri="{BB962C8B-B14F-4D97-AF65-F5344CB8AC3E}">
        <p14:creationId xmlns:p14="http://schemas.microsoft.com/office/powerpoint/2010/main" val="33283588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IN" dirty="0"/>
              <a:t>Priority Queue</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46748"/>
            <a:ext cx="11746041" cy="5458552"/>
          </a:xfrm>
        </p:spPr>
        <p:txBody>
          <a:bodyPr>
            <a:noAutofit/>
          </a:bodyPr>
          <a:lstStyle/>
          <a:p>
            <a:r>
              <a:rPr lang="en-US" dirty="0"/>
              <a:t>In the below priority queue, an element with a maximum ASCII value will have the highest priority. The elements with higher priority are served first. </a:t>
            </a:r>
          </a:p>
          <a:p>
            <a:endParaRPr lang="en-US" dirty="0"/>
          </a:p>
          <a:p>
            <a:endParaRPr lang="en-US" dirty="0"/>
          </a:p>
        </p:txBody>
      </p:sp>
      <p:pic>
        <p:nvPicPr>
          <p:cNvPr id="1026" name="Picture 2" descr="https://media.geeksforgeeks.org/wp-content/cdn-uploads/Priority-Queue-min-1024x5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888" y="2288134"/>
            <a:ext cx="8122250" cy="4061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9572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algn="just">
              <a:buFont typeface="Arial" panose="020B0604020202020204" pitchFamily="34" charset="0"/>
              <a:buChar char="•"/>
            </a:pPr>
            <a:r>
              <a:rPr lang="en-US" sz="2400" b="0" i="0" dirty="0">
                <a:solidFill>
                  <a:srgbClr val="000000"/>
                </a:solidFill>
                <a:effectLst/>
                <a:latin typeface="inter-regular"/>
              </a:rPr>
              <a:t>Linked List can be defined as collection of objects called </a:t>
            </a:r>
            <a:r>
              <a:rPr lang="en-US" sz="2400" b="1" i="0" dirty="0">
                <a:solidFill>
                  <a:srgbClr val="000000"/>
                </a:solidFill>
                <a:effectLst/>
                <a:latin typeface="inter-bold"/>
              </a:rPr>
              <a:t>nodes</a:t>
            </a:r>
            <a:r>
              <a:rPr lang="en-US" sz="2400" b="0" i="0" dirty="0">
                <a:solidFill>
                  <a:srgbClr val="000000"/>
                </a:solidFill>
                <a:effectLst/>
                <a:latin typeface="inter-regular"/>
              </a:rPr>
              <a:t> that are randomly stored in the memory.</a:t>
            </a:r>
          </a:p>
          <a:p>
            <a:pPr algn="just">
              <a:buFont typeface="Arial" panose="020B0604020202020204" pitchFamily="34" charset="0"/>
              <a:buChar char="•"/>
            </a:pPr>
            <a:r>
              <a:rPr lang="en-US" sz="2400" b="0" i="0" dirty="0">
                <a:solidFill>
                  <a:srgbClr val="000000"/>
                </a:solidFill>
                <a:effectLst/>
                <a:latin typeface="inter-regular"/>
              </a:rPr>
              <a:t>A node contains two fields i.e. data stored at that particular address and the pointer which contains the address of the next node in the memory.</a:t>
            </a:r>
          </a:p>
          <a:p>
            <a:pPr algn="just">
              <a:buFont typeface="Arial" panose="020B0604020202020204" pitchFamily="34" charset="0"/>
              <a:buChar char="•"/>
            </a:pPr>
            <a:r>
              <a:rPr lang="en-US" sz="2400" b="0" i="0" dirty="0">
                <a:solidFill>
                  <a:srgbClr val="000000"/>
                </a:solidFill>
                <a:effectLst/>
                <a:latin typeface="inter-regular"/>
              </a:rPr>
              <a:t>The last node of the list contains pointer to the null.</a:t>
            </a:r>
          </a:p>
          <a:p>
            <a:pPr marL="0" indent="0">
              <a:buNone/>
            </a:pPr>
            <a:endParaRPr lang="en-IN"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9125CE01-FB3C-4CCD-1C06-3DF59DF2791F}"/>
              </a:ext>
            </a:extLst>
          </p:cNvPr>
          <p:cNvSpPr txBox="1"/>
          <p:nvPr/>
        </p:nvSpPr>
        <p:spPr>
          <a:xfrm>
            <a:off x="2458388" y="3702011"/>
            <a:ext cx="716415" cy="400110"/>
          </a:xfrm>
          <a:prstGeom prst="rect">
            <a:avLst/>
          </a:prstGeom>
          <a:noFill/>
        </p:spPr>
        <p:txBody>
          <a:bodyPr wrap="none" rtlCol="0">
            <a:spAutoFit/>
          </a:bodyPr>
          <a:lstStyle/>
          <a:p>
            <a:r>
              <a:rPr lang="en-US" sz="2000" b="1" dirty="0"/>
              <a:t>Info/</a:t>
            </a:r>
          </a:p>
        </p:txBody>
      </p:sp>
      <p:pic>
        <p:nvPicPr>
          <p:cNvPr id="8" name="Picture 7">
            <a:extLst>
              <a:ext uri="{FF2B5EF4-FFF2-40B4-BE49-F238E27FC236}">
                <a16:creationId xmlns:a16="http://schemas.microsoft.com/office/drawing/2014/main" xmlns="" id="{7603D67F-8825-0D79-8F0F-8165772CB24D}"/>
              </a:ext>
            </a:extLst>
          </p:cNvPr>
          <p:cNvPicPr>
            <a:picLocks noChangeAspect="1"/>
          </p:cNvPicPr>
          <p:nvPr/>
        </p:nvPicPr>
        <p:blipFill>
          <a:blip r:embed="rId2"/>
          <a:stretch>
            <a:fillRect/>
          </a:stretch>
        </p:blipFill>
        <p:spPr>
          <a:xfrm>
            <a:off x="506541" y="3574080"/>
            <a:ext cx="11165174" cy="3163722"/>
          </a:xfrm>
          <a:prstGeom prst="rect">
            <a:avLst/>
          </a:prstGeom>
        </p:spPr>
      </p:pic>
    </p:spTree>
    <p:extLst>
      <p:ext uri="{BB962C8B-B14F-4D97-AF65-F5344CB8AC3E}">
        <p14:creationId xmlns:p14="http://schemas.microsoft.com/office/powerpoint/2010/main" val="38240853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smtClean="0">
                <a:solidFill>
                  <a:srgbClr val="FF0000"/>
                </a:solidFill>
              </a:rPr>
              <a:t>Linked </a:t>
            </a:r>
            <a:r>
              <a:rPr lang="en-US" b="1" dirty="0">
                <a:solidFill>
                  <a:srgbClr val="FF0000"/>
                </a:solidFill>
              </a:rPr>
              <a:t>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algn="just">
              <a:buFont typeface="Arial" panose="020B0604020202020204" pitchFamily="34" charset="0"/>
              <a:buChar char="•"/>
            </a:pPr>
            <a:endParaRPr lang="en-US" b="0" i="0" dirty="0">
              <a:solidFill>
                <a:srgbClr val="000000"/>
              </a:solidFill>
              <a:effectLst/>
              <a:latin typeface="inter-regular"/>
            </a:endParaRPr>
          </a:p>
          <a:p>
            <a:pPr algn="just">
              <a:buFont typeface="Arial" panose="020B0604020202020204" pitchFamily="34" charset="0"/>
              <a:buChar char="•"/>
            </a:pPr>
            <a:r>
              <a:rPr lang="en-US" sz="2400" b="0" i="0" dirty="0">
                <a:solidFill>
                  <a:srgbClr val="000000"/>
                </a:solidFill>
                <a:effectLst/>
                <a:latin typeface="inter-regular"/>
              </a:rPr>
              <a:t>The list is not required to be contiguously present in the memory. The node can reside any where in the memory and linked together to make a list. This achieves optimized utilization of space.</a:t>
            </a:r>
          </a:p>
          <a:p>
            <a:pPr algn="just">
              <a:buFont typeface="Arial" panose="020B0604020202020204" pitchFamily="34" charset="0"/>
              <a:buChar char="•"/>
            </a:pPr>
            <a:r>
              <a:rPr lang="en-US" sz="2400" b="0" i="0" dirty="0">
                <a:solidFill>
                  <a:srgbClr val="000000"/>
                </a:solidFill>
                <a:effectLst/>
                <a:latin typeface="inter-regular"/>
              </a:rPr>
              <a:t>list size is limited to the memory size and doesn't need to be declared in advance.</a:t>
            </a:r>
          </a:p>
          <a:p>
            <a:pPr algn="just">
              <a:buFont typeface="Arial" panose="020B0604020202020204" pitchFamily="34" charset="0"/>
              <a:buChar char="•"/>
            </a:pPr>
            <a:r>
              <a:rPr lang="en-US" sz="2400" b="0" i="0" dirty="0" smtClean="0">
                <a:solidFill>
                  <a:srgbClr val="000000"/>
                </a:solidFill>
                <a:effectLst/>
                <a:latin typeface="inter-regular"/>
              </a:rPr>
              <a:t>We </a:t>
            </a:r>
            <a:r>
              <a:rPr lang="en-US" sz="2400" b="0" i="0" dirty="0">
                <a:solidFill>
                  <a:srgbClr val="000000"/>
                </a:solidFill>
                <a:effectLst/>
                <a:latin typeface="inter-regular"/>
              </a:rPr>
              <a:t>can store values of primitive types or objects in the singly linked list</a:t>
            </a:r>
            <a:r>
              <a:rPr lang="en-US" sz="2400" b="0" i="0" dirty="0" smtClean="0">
                <a:solidFill>
                  <a:srgbClr val="000000"/>
                </a:solidFill>
                <a:effectLst/>
                <a:latin typeface="inter-regular"/>
              </a:rPr>
              <a:t>.</a:t>
            </a:r>
          </a:p>
          <a:p>
            <a:pPr algn="just">
              <a:buFont typeface="Arial" panose="020B0604020202020204" pitchFamily="34" charset="0"/>
              <a:buChar char="•"/>
            </a:pPr>
            <a:r>
              <a:rPr lang="en-US" sz="2400" b="1" dirty="0" smtClean="0">
                <a:solidFill>
                  <a:srgbClr val="000000"/>
                </a:solidFill>
                <a:latin typeface="inter-regular"/>
              </a:rPr>
              <a:t>Note: </a:t>
            </a:r>
          </a:p>
          <a:p>
            <a:pPr algn="just">
              <a:buFont typeface="Arial" panose="020B0604020202020204" pitchFamily="34" charset="0"/>
              <a:buChar char="•"/>
            </a:pPr>
            <a:r>
              <a:rPr lang="en-US" sz="2000" dirty="0" smtClean="0">
                <a:solidFill>
                  <a:srgbClr val="000000"/>
                </a:solidFill>
                <a:latin typeface="inter-regular"/>
              </a:rPr>
              <a:t>linked list required extra space for storing pointer variable</a:t>
            </a:r>
          </a:p>
          <a:p>
            <a:pPr algn="just">
              <a:buFont typeface="Arial" panose="020B0604020202020204" pitchFamily="34" charset="0"/>
              <a:buChar char="•"/>
            </a:pPr>
            <a:r>
              <a:rPr lang="en-US" sz="2000" b="0" i="0" dirty="0" smtClean="0">
                <a:solidFill>
                  <a:srgbClr val="000000"/>
                </a:solidFill>
                <a:effectLst/>
                <a:latin typeface="inter-regular"/>
              </a:rPr>
              <a:t>Sequential traversal is only possible. We can not access any node from middle. If we want to access last node then we have to start traversal from first node. So time complexity to access any element is O(n) in worst case because we need to visit every node. For accessing first node time complexity is O(1).</a:t>
            </a:r>
          </a:p>
          <a:p>
            <a:pPr algn="just">
              <a:buFont typeface="Arial" panose="020B0604020202020204" pitchFamily="34" charset="0"/>
              <a:buChar char="•"/>
            </a:pPr>
            <a:r>
              <a:rPr lang="en-US" sz="2000" dirty="0" smtClean="0">
                <a:solidFill>
                  <a:srgbClr val="000000"/>
                </a:solidFill>
                <a:latin typeface="inter-regular"/>
              </a:rPr>
              <a:t>For array to access any element time complexity is O(1).</a:t>
            </a:r>
          </a:p>
          <a:p>
            <a:pPr algn="just">
              <a:buFont typeface="Arial" panose="020B0604020202020204" pitchFamily="34" charset="0"/>
              <a:buChar char="•"/>
            </a:pPr>
            <a:r>
              <a:rPr lang="en-US" sz="2000" b="0" i="0" dirty="0" smtClean="0">
                <a:solidFill>
                  <a:srgbClr val="000000"/>
                </a:solidFill>
                <a:effectLst/>
                <a:latin typeface="inter-regular"/>
              </a:rPr>
              <a:t>Insertion and deletion is easier than array</a:t>
            </a:r>
            <a:endParaRPr lang="en-US" sz="2000" b="0" i="0" dirty="0">
              <a:solidFill>
                <a:srgbClr val="000000"/>
              </a:solidFill>
              <a:effectLst/>
              <a:latin typeface="inter-regular"/>
            </a:endParaRP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6225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796611"/>
          </a:xfrm>
        </p:spPr>
        <p:txBody>
          <a:bodyPr/>
          <a:lstStyle/>
          <a:p>
            <a:pPr algn="ctr"/>
            <a:r>
              <a:rPr lang="en-US" b="1" dirty="0">
                <a:solidFill>
                  <a:srgbClr val="FF0000"/>
                </a:solidFill>
              </a:rPr>
              <a:t>Why to use Linked List over array</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marL="0" indent="0" algn="just">
              <a:buNone/>
            </a:pPr>
            <a:r>
              <a:rPr lang="en-US" sz="2400" b="1" i="0" u="sng" dirty="0">
                <a:solidFill>
                  <a:srgbClr val="333333"/>
                </a:solidFill>
                <a:effectLst/>
                <a:latin typeface="inter-regular"/>
              </a:rPr>
              <a:t>Array contains following limitations:</a:t>
            </a:r>
          </a:p>
          <a:p>
            <a:pPr algn="just">
              <a:buFont typeface="+mj-lt"/>
              <a:buAutoNum type="arabicPeriod"/>
            </a:pPr>
            <a:r>
              <a:rPr lang="en-US" sz="2400" b="0" i="0" dirty="0">
                <a:solidFill>
                  <a:srgbClr val="000000"/>
                </a:solidFill>
                <a:effectLst/>
                <a:latin typeface="inter-regular"/>
              </a:rPr>
              <a:t>The size of array must be known in advance before using it in the program.</a:t>
            </a:r>
          </a:p>
          <a:p>
            <a:pPr algn="just">
              <a:buFont typeface="+mj-lt"/>
              <a:buAutoNum type="arabicPeriod"/>
            </a:pPr>
            <a:r>
              <a:rPr lang="en-US" sz="2400" b="0" i="0" dirty="0">
                <a:solidFill>
                  <a:srgbClr val="000000"/>
                </a:solidFill>
                <a:effectLst/>
                <a:latin typeface="inter-regular"/>
              </a:rPr>
              <a:t>Increasing size of the array is a time taking process. It is almost impossible to expand the size of the array at run time.</a:t>
            </a:r>
          </a:p>
          <a:p>
            <a:pPr algn="just">
              <a:buFont typeface="+mj-lt"/>
              <a:buAutoNum type="arabicPeriod"/>
            </a:pPr>
            <a:r>
              <a:rPr lang="en-US" sz="2400" b="0" i="0" dirty="0">
                <a:solidFill>
                  <a:srgbClr val="000000"/>
                </a:solidFill>
                <a:effectLst/>
                <a:latin typeface="inter-regular"/>
              </a:rPr>
              <a:t>All the elements in the array need to be contiguously stored in the memory. Inserting any element in the array needs shifting of all its predecessors.</a:t>
            </a:r>
          </a:p>
          <a:p>
            <a:pPr marL="0" indent="0" algn="just">
              <a:buNone/>
            </a:pPr>
            <a:r>
              <a:rPr lang="en-US" sz="2400" b="1" i="0" u="sng" dirty="0">
                <a:solidFill>
                  <a:srgbClr val="333333"/>
                </a:solidFill>
                <a:effectLst/>
                <a:latin typeface="inter-regular"/>
              </a:rPr>
              <a:t>Linked list is the data structure which can overcome all the limitations of an array. Using linked list is useful because,</a:t>
            </a:r>
          </a:p>
          <a:p>
            <a:pPr algn="just">
              <a:buFont typeface="+mj-lt"/>
              <a:buAutoNum type="arabicPeriod"/>
            </a:pPr>
            <a:r>
              <a:rPr lang="en-US" sz="2400" b="0" i="0" dirty="0">
                <a:solidFill>
                  <a:srgbClr val="000000"/>
                </a:solidFill>
                <a:effectLst/>
                <a:latin typeface="inter-regular"/>
              </a:rPr>
              <a:t>It allocates the memory dynamically. All the nodes of linked list are non-contiguously stored in the memory and linked together with the help of pointers.</a:t>
            </a:r>
          </a:p>
          <a:p>
            <a:pPr algn="just">
              <a:buFont typeface="+mj-lt"/>
              <a:buAutoNum type="arabicPeriod"/>
            </a:pPr>
            <a:r>
              <a:rPr lang="en-US" sz="2400" b="0" i="0" dirty="0">
                <a:solidFill>
                  <a:srgbClr val="000000"/>
                </a:solidFill>
                <a:effectLst/>
                <a:latin typeface="inter-regular"/>
              </a:rPr>
              <a:t>Sizing is no longer a problem since we do not need to define its size at the time of declaration. List grows as per the program's demand and limited to the available memory space.</a:t>
            </a:r>
          </a:p>
          <a:p>
            <a:pPr marL="0" indent="0">
              <a:buNone/>
            </a:pP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4120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sz="4800" b="1" dirty="0">
                <a:solidFill>
                  <a:srgbClr val="FF0000"/>
                </a:solidFill>
              </a:rPr>
              <a:t>Linked List – Basic Operations</a:t>
            </a:r>
            <a:endParaRPr lang="en-IN" sz="4800"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algn="l">
              <a:buFont typeface="Arial" panose="020B0604020202020204" pitchFamily="34" charset="0"/>
              <a:buChar char="•"/>
            </a:pPr>
            <a:endParaRPr lang="en-US" sz="32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endParaRPr>
          </a:p>
          <a:p>
            <a:pPr algn="l">
              <a:buFont typeface="Arial" panose="020B0604020202020204" pitchFamily="34" charset="0"/>
              <a:buChar char="•"/>
            </a:pPr>
            <a:r>
              <a:rPr lang="en-US" sz="32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Traversal</a:t>
            </a:r>
            <a:r>
              <a:rPr lang="en-US" sz="3200" b="0" i="0" dirty="0">
                <a:effectLst/>
                <a:latin typeface="Times New Roman" panose="02020603050405020304" pitchFamily="18" charset="0"/>
                <a:cs typeface="Times New Roman" panose="02020603050405020304" pitchFamily="18" charset="0"/>
              </a:rPr>
              <a:t> - access each element of the linked list</a:t>
            </a:r>
          </a:p>
          <a:p>
            <a:pPr algn="l">
              <a:buFont typeface="Arial" panose="020B0604020202020204" pitchFamily="34" charset="0"/>
              <a:buChar char="•"/>
            </a:pPr>
            <a:r>
              <a:rPr lang="en-US" sz="3200" b="0" i="0" u="none"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Insertion</a:t>
            </a:r>
            <a:r>
              <a:rPr lang="en-US" sz="3200" b="0" i="0" dirty="0">
                <a:effectLst/>
                <a:latin typeface="Times New Roman" panose="02020603050405020304" pitchFamily="18" charset="0"/>
                <a:cs typeface="Times New Roman" panose="02020603050405020304" pitchFamily="18" charset="0"/>
              </a:rPr>
              <a:t> - adds a new element to the linked list</a:t>
            </a:r>
          </a:p>
          <a:p>
            <a:pPr algn="l">
              <a:buFont typeface="Arial" panose="020B0604020202020204" pitchFamily="34" charset="0"/>
              <a:buChar char="•"/>
            </a:pPr>
            <a:r>
              <a:rPr lang="en-US" sz="3200" b="0" i="0" u="none" strike="noStrike" dirty="0">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Deletion</a:t>
            </a:r>
            <a:r>
              <a:rPr lang="en-US" sz="3200" b="0" i="0" dirty="0">
                <a:effectLst/>
                <a:latin typeface="Times New Roman" panose="02020603050405020304" pitchFamily="18" charset="0"/>
                <a:cs typeface="Times New Roman" panose="02020603050405020304" pitchFamily="18" charset="0"/>
              </a:rPr>
              <a:t> - removes the existing elements</a:t>
            </a:r>
          </a:p>
          <a:p>
            <a:pPr algn="l">
              <a:buFont typeface="Arial" panose="020B0604020202020204" pitchFamily="34" charset="0"/>
              <a:buChar char="•"/>
            </a:pPr>
            <a:r>
              <a:rPr lang="en-US" sz="3200" b="0" i="0" u="none" strike="noStrike" dirty="0">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xmlns="" val="tx"/>
                    </a:ext>
                  </a:extLst>
                </a:hlinkClick>
              </a:rPr>
              <a:t>Search</a:t>
            </a:r>
            <a:r>
              <a:rPr lang="en-US" sz="3200" b="0" i="0" dirty="0">
                <a:effectLst/>
                <a:latin typeface="Times New Roman" panose="02020603050405020304" pitchFamily="18" charset="0"/>
                <a:cs typeface="Times New Roman" panose="02020603050405020304" pitchFamily="18" charset="0"/>
              </a:rPr>
              <a:t> - find a node in the linked list</a:t>
            </a:r>
          </a:p>
          <a:p>
            <a:pPr algn="l">
              <a:buFont typeface="Arial" panose="020B0604020202020204" pitchFamily="34" charset="0"/>
              <a:buChar char="•"/>
            </a:pPr>
            <a:r>
              <a:rPr lang="en-US" sz="3200" b="0" i="0" u="none" strike="noStrike" dirty="0">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xmlns="" val="tx"/>
                    </a:ext>
                  </a:extLst>
                </a:hlinkClick>
              </a:rPr>
              <a:t>Sort</a:t>
            </a:r>
            <a:r>
              <a:rPr lang="en-US" sz="3200" b="0" i="0" dirty="0">
                <a:effectLst/>
                <a:latin typeface="Times New Roman" panose="02020603050405020304" pitchFamily="18" charset="0"/>
                <a:cs typeface="Times New Roman" panose="02020603050405020304" pitchFamily="18" charset="0"/>
              </a:rPr>
              <a:t> - sort the nodes of the linked list</a:t>
            </a:r>
          </a:p>
        </p:txBody>
      </p:sp>
    </p:spTree>
    <p:extLst>
      <p:ext uri="{BB962C8B-B14F-4D97-AF65-F5344CB8AC3E}">
        <p14:creationId xmlns:p14="http://schemas.microsoft.com/office/powerpoint/2010/main" val="38212472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756650-3DF7-29B8-053F-EA071A729891}"/>
              </a:ext>
            </a:extLst>
          </p:cNvPr>
          <p:cNvSpPr>
            <a:spLocks noGrp="1"/>
          </p:cNvSpPr>
          <p:nvPr>
            <p:ph type="title"/>
          </p:nvPr>
        </p:nvSpPr>
        <p:spPr/>
        <p:txBody>
          <a:bodyPr/>
          <a:lstStyle/>
          <a:p>
            <a:pPr algn="ctr"/>
            <a:r>
              <a:rPr lang="en-US" b="0" i="0" dirty="0">
                <a:solidFill>
                  <a:srgbClr val="FF0000"/>
                </a:solidFill>
                <a:effectLst/>
                <a:latin typeface="Heebo"/>
              </a:rPr>
              <a:t>Types of Linked List</a:t>
            </a:r>
            <a:endParaRPr lang="en-IN" dirty="0">
              <a:solidFill>
                <a:srgbClr val="FF0000"/>
              </a:solidFill>
            </a:endParaRPr>
          </a:p>
        </p:txBody>
      </p:sp>
      <p:sp>
        <p:nvSpPr>
          <p:cNvPr id="3" name="Content Placeholder 2">
            <a:extLst>
              <a:ext uri="{FF2B5EF4-FFF2-40B4-BE49-F238E27FC236}">
                <a16:creationId xmlns:a16="http://schemas.microsoft.com/office/drawing/2014/main" xmlns="" id="{CA37D53E-B4AD-77BB-AA28-FDA7BD8CD7B2}"/>
              </a:ext>
            </a:extLst>
          </p:cNvPr>
          <p:cNvSpPr>
            <a:spLocks noGrp="1"/>
          </p:cNvSpPr>
          <p:nvPr>
            <p:ph idx="1"/>
          </p:nvPr>
        </p:nvSpPr>
        <p:spPr/>
        <p:txBody>
          <a:bodyPr/>
          <a:lstStyle/>
          <a:p>
            <a:pPr marL="0" indent="0" algn="just">
              <a:buNone/>
            </a:pPr>
            <a:r>
              <a:rPr lang="en-US" b="0" i="0" dirty="0">
                <a:solidFill>
                  <a:srgbClr val="000000"/>
                </a:solidFill>
                <a:effectLst/>
                <a:latin typeface="Nunito"/>
              </a:rPr>
              <a:t>Following are the various types of linked list.</a:t>
            </a:r>
          </a:p>
          <a:p>
            <a:pPr algn="just">
              <a:buFont typeface="Arial" panose="020B0604020202020204" pitchFamily="34" charset="0"/>
              <a:buChar char="•"/>
            </a:pPr>
            <a:r>
              <a:rPr lang="en-US" b="1" i="0" dirty="0">
                <a:solidFill>
                  <a:srgbClr val="000000"/>
                </a:solidFill>
                <a:effectLst/>
                <a:latin typeface="Nunito"/>
              </a:rPr>
              <a:t>Simple Linked List</a:t>
            </a:r>
            <a:r>
              <a:rPr lang="en-US" b="0" i="0" dirty="0">
                <a:solidFill>
                  <a:srgbClr val="000000"/>
                </a:solidFill>
                <a:effectLst/>
                <a:latin typeface="Nunito"/>
              </a:rPr>
              <a:t> − Item navigation is forward only.</a:t>
            </a:r>
          </a:p>
          <a:p>
            <a:pPr algn="just">
              <a:buFont typeface="Arial" panose="020B0604020202020204" pitchFamily="34" charset="0"/>
              <a:buChar char="•"/>
            </a:pPr>
            <a:r>
              <a:rPr lang="en-US" b="1" i="0" dirty="0">
                <a:solidFill>
                  <a:srgbClr val="000000"/>
                </a:solidFill>
                <a:effectLst/>
                <a:latin typeface="Nunito"/>
              </a:rPr>
              <a:t>Doubly Linked List</a:t>
            </a:r>
            <a:r>
              <a:rPr lang="en-US" b="0" i="0" dirty="0">
                <a:solidFill>
                  <a:srgbClr val="000000"/>
                </a:solidFill>
                <a:effectLst/>
                <a:latin typeface="Nunito"/>
              </a:rPr>
              <a:t> − Items can be navigated forward and backward.</a:t>
            </a:r>
          </a:p>
          <a:p>
            <a:pPr algn="just">
              <a:buFont typeface="Arial" panose="020B0604020202020204" pitchFamily="34" charset="0"/>
              <a:buChar char="•"/>
            </a:pPr>
            <a:r>
              <a:rPr lang="en-US" b="1" i="0" dirty="0">
                <a:solidFill>
                  <a:srgbClr val="000000"/>
                </a:solidFill>
                <a:effectLst/>
                <a:latin typeface="Nunito"/>
              </a:rPr>
              <a:t>Circular Linked List</a:t>
            </a:r>
            <a:r>
              <a:rPr lang="en-US" b="0" i="0" dirty="0">
                <a:solidFill>
                  <a:srgbClr val="000000"/>
                </a:solidFill>
                <a:effectLst/>
                <a:latin typeface="Nunito"/>
              </a:rPr>
              <a:t> − Last item contains link of the first element as next and the first element has a link to the last element as previous.</a:t>
            </a:r>
          </a:p>
          <a:p>
            <a:endParaRPr lang="en-IN" dirty="0"/>
          </a:p>
        </p:txBody>
      </p:sp>
    </p:spTree>
    <p:extLst>
      <p:ext uri="{BB962C8B-B14F-4D97-AF65-F5344CB8AC3E}">
        <p14:creationId xmlns:p14="http://schemas.microsoft.com/office/powerpoint/2010/main" val="32290747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Singly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b="0" i="0" dirty="0">
                <a:solidFill>
                  <a:srgbClr val="333333"/>
                </a:solidFill>
                <a:effectLst/>
                <a:latin typeface="inter-regular"/>
              </a:rPr>
              <a:t>Singly linked list can be defined as the collection of ordered set of elements. </a:t>
            </a:r>
          </a:p>
          <a:p>
            <a:r>
              <a:rPr lang="en-US" b="0" i="0" dirty="0">
                <a:solidFill>
                  <a:srgbClr val="333333"/>
                </a:solidFill>
                <a:effectLst/>
                <a:latin typeface="inter-regular"/>
              </a:rPr>
              <a:t>The number of elements may vary according to need of the program. </a:t>
            </a:r>
          </a:p>
          <a:p>
            <a:r>
              <a:rPr lang="en-US" b="0" i="0" dirty="0">
                <a:solidFill>
                  <a:srgbClr val="333333"/>
                </a:solidFill>
                <a:effectLst/>
                <a:latin typeface="inter-regular"/>
              </a:rPr>
              <a:t>A node in the singly linked list consist of two parts: info part and link part. </a:t>
            </a:r>
          </a:p>
          <a:p>
            <a:r>
              <a:rPr lang="en-US" b="0" i="0" dirty="0">
                <a:solidFill>
                  <a:srgbClr val="333333"/>
                </a:solidFill>
                <a:effectLst/>
                <a:latin typeface="inter-regular"/>
              </a:rPr>
              <a:t>Info part of the node stores actual information that is to be represented by the node while the link part of the node stores the address of its immediate successor.</a:t>
            </a:r>
          </a:p>
          <a:p>
            <a:r>
              <a:rPr lang="en-US" b="0" i="0" dirty="0">
                <a:solidFill>
                  <a:srgbClr val="333333"/>
                </a:solidFill>
                <a:effectLst/>
                <a:latin typeface="inter-regular"/>
              </a:rPr>
              <a:t>One way chain or singly linked list can be traversed only in one direction.</a:t>
            </a:r>
          </a:p>
          <a:p>
            <a:r>
              <a:rPr lang="en-US" b="0" i="0" dirty="0">
                <a:solidFill>
                  <a:srgbClr val="333333"/>
                </a:solidFill>
                <a:effectLst/>
                <a:latin typeface="inter-regular"/>
              </a:rPr>
              <a:t>In other words, we can say that each node contains only next pointer, therefore we can not traverse the list in the reverse direction.</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9346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Singly Linked List – Important points</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394086"/>
            <a:ext cx="11746041" cy="5211214"/>
          </a:xfrm>
        </p:spPr>
        <p:txBody>
          <a:bodyPr>
            <a:noAutofit/>
          </a:bodyPr>
          <a:lstStyle/>
          <a:p>
            <a:pPr algn="l">
              <a:buFont typeface="Arial" panose="020B0604020202020204" pitchFamily="34" charset="0"/>
              <a:buChar char="•"/>
            </a:pPr>
            <a:endParaRPr lang="en-US" dirty="0">
              <a:latin typeface="Droid Sans Mono"/>
            </a:endParaRPr>
          </a:p>
          <a:p>
            <a:pPr algn="l">
              <a:buFont typeface="Arial" panose="020B0604020202020204" pitchFamily="34" charset="0"/>
              <a:buChar char="•"/>
            </a:pPr>
            <a:r>
              <a:rPr lang="en-US" dirty="0">
                <a:latin typeface="Droid Sans Mono"/>
              </a:rPr>
              <a:t>S</a:t>
            </a:r>
            <a:r>
              <a:rPr lang="en-US" b="0" i="0" dirty="0">
                <a:effectLst/>
                <a:latin typeface="Droid Sans Mono"/>
              </a:rPr>
              <a:t>tart</a:t>
            </a:r>
            <a:r>
              <a:rPr lang="en-US" b="0" i="0" dirty="0">
                <a:effectLst/>
                <a:latin typeface="euclid_circular_a"/>
              </a:rPr>
              <a:t> </a:t>
            </a:r>
            <a:r>
              <a:rPr lang="en-US" b="0" i="0" dirty="0" smtClean="0">
                <a:effectLst/>
                <a:latin typeface="euclid_circular_a"/>
              </a:rPr>
              <a:t>or head points </a:t>
            </a:r>
            <a:r>
              <a:rPr lang="en-US" b="0" i="0" dirty="0">
                <a:effectLst/>
                <a:latin typeface="euclid_circular_a"/>
              </a:rPr>
              <a:t>to the first node of the linked list</a:t>
            </a:r>
          </a:p>
          <a:p>
            <a:pPr algn="l">
              <a:buFont typeface="Arial" panose="020B0604020202020204" pitchFamily="34" charset="0"/>
              <a:buChar char="•"/>
            </a:pPr>
            <a:r>
              <a:rPr lang="en-US" dirty="0">
                <a:latin typeface="euclid_circular_a"/>
              </a:rPr>
              <a:t>Link contains the address of the next node.</a:t>
            </a:r>
            <a:endParaRPr lang="en-US" b="0" i="0" dirty="0">
              <a:effectLst/>
              <a:latin typeface="euclid_circular_a"/>
            </a:endParaRPr>
          </a:p>
          <a:p>
            <a:pPr algn="l">
              <a:buFont typeface="Arial" panose="020B0604020202020204" pitchFamily="34" charset="0"/>
              <a:buChar char="•"/>
            </a:pPr>
            <a:r>
              <a:rPr lang="en-US" b="0" i="0" dirty="0">
                <a:effectLst/>
                <a:latin typeface="Droid Sans Mono"/>
              </a:rPr>
              <a:t>link</a:t>
            </a:r>
            <a:r>
              <a:rPr lang="en-US" b="0" i="0" dirty="0">
                <a:effectLst/>
                <a:latin typeface="euclid_circular_a"/>
              </a:rPr>
              <a:t> pointer of the last node is </a:t>
            </a:r>
            <a:r>
              <a:rPr lang="en-US" b="0" i="0" dirty="0">
                <a:effectLst/>
                <a:latin typeface="Droid Sans Mono"/>
              </a:rPr>
              <a:t>NULL</a:t>
            </a:r>
            <a:r>
              <a:rPr lang="en-US" dirty="0">
                <a:latin typeface="euclid_circular_a"/>
              </a:rPr>
              <a:t>.</a:t>
            </a:r>
            <a:endParaRPr lang="en-US" b="0" i="0" dirty="0">
              <a:effectLst/>
              <a:latin typeface="euclid_circular_a"/>
            </a:endParaRPr>
          </a:p>
          <a:p>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421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927EE4-22BE-1247-B6BD-E9526DFCB4A2}"/>
              </a:ext>
            </a:extLst>
          </p:cNvPr>
          <p:cNvSpPr>
            <a:spLocks noGrp="1"/>
          </p:cNvSpPr>
          <p:nvPr>
            <p:ph type="title"/>
          </p:nvPr>
        </p:nvSpPr>
        <p:spPr>
          <a:xfrm>
            <a:off x="838200" y="134911"/>
            <a:ext cx="10515600" cy="1011837"/>
          </a:xfrm>
        </p:spPr>
        <p:txBody>
          <a:bodyPr/>
          <a:lstStyle/>
          <a:p>
            <a:pPr algn="ctr"/>
            <a:r>
              <a:rPr lang="en-US" b="1" dirty="0">
                <a:solidFill>
                  <a:srgbClr val="FF0000"/>
                </a:solidFill>
              </a:rPr>
              <a:t>Singly Linked List – Memory representation</a:t>
            </a:r>
            <a:endParaRPr lang="en-IN" dirty="0"/>
          </a:p>
        </p:txBody>
      </p:sp>
      <p:pic>
        <p:nvPicPr>
          <p:cNvPr id="4" name="Picture 3"/>
          <p:cNvPicPr>
            <a:picLocks noChangeAspect="1"/>
          </p:cNvPicPr>
          <p:nvPr/>
        </p:nvPicPr>
        <p:blipFill>
          <a:blip r:embed="rId2"/>
          <a:stretch>
            <a:fillRect/>
          </a:stretch>
        </p:blipFill>
        <p:spPr>
          <a:xfrm>
            <a:off x="0" y="1146748"/>
            <a:ext cx="12192000" cy="6858000"/>
          </a:xfrm>
          <a:prstGeom prst="rect">
            <a:avLst/>
          </a:prstGeom>
        </p:spPr>
      </p:pic>
    </p:spTree>
    <p:extLst>
      <p:ext uri="{BB962C8B-B14F-4D97-AF65-F5344CB8AC3E}">
        <p14:creationId xmlns:p14="http://schemas.microsoft.com/office/powerpoint/2010/main" val="28649210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74236" y="412593"/>
            <a:ext cx="10922941" cy="5627599"/>
          </a:xfrm>
          <a:prstGeom prst="rect">
            <a:avLst/>
          </a:prstGeom>
        </p:spPr>
      </p:pic>
    </p:spTree>
    <p:extLst>
      <p:ext uri="{BB962C8B-B14F-4D97-AF65-F5344CB8AC3E}">
        <p14:creationId xmlns:p14="http://schemas.microsoft.com/office/powerpoint/2010/main" val="21516391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smtClean="0"/>
              <a:t>Circular linked list</a:t>
            </a:r>
          </a:p>
          <a:p>
            <a:endParaRPr lang="en-US" dirty="0" smtClean="0"/>
          </a:p>
          <a:p>
            <a:endParaRPr lang="en-US" dirty="0"/>
          </a:p>
          <a:p>
            <a:endParaRPr lang="en-US" dirty="0"/>
          </a:p>
        </p:txBody>
      </p:sp>
      <p:sp>
        <p:nvSpPr>
          <p:cNvPr id="5" name="Rectangle 4"/>
          <p:cNvSpPr/>
          <p:nvPr/>
        </p:nvSpPr>
        <p:spPr>
          <a:xfrm>
            <a:off x="1434924" y="2912014"/>
            <a:ext cx="3515097" cy="1011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3381183" y="2912014"/>
            <a:ext cx="0" cy="1011695"/>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125278" y="3049289"/>
            <a:ext cx="704039" cy="707886"/>
          </a:xfrm>
          <a:prstGeom prst="rect">
            <a:avLst/>
          </a:prstGeom>
          <a:noFill/>
        </p:spPr>
        <p:txBody>
          <a:bodyPr wrap="none" rtlCol="0">
            <a:spAutoFit/>
          </a:bodyPr>
          <a:lstStyle/>
          <a:p>
            <a:r>
              <a:rPr lang="en-US" sz="4000" b="1" dirty="0" smtClean="0"/>
              <a:t>10</a:t>
            </a:r>
            <a:endParaRPr lang="en-US" sz="4000" b="1" dirty="0"/>
          </a:p>
        </p:txBody>
      </p:sp>
      <p:sp>
        <p:nvSpPr>
          <p:cNvPr id="8" name="TextBox 7"/>
          <p:cNvSpPr txBox="1"/>
          <p:nvPr/>
        </p:nvSpPr>
        <p:spPr>
          <a:xfrm>
            <a:off x="3771198" y="3018809"/>
            <a:ext cx="963725" cy="707886"/>
          </a:xfrm>
          <a:prstGeom prst="rect">
            <a:avLst/>
          </a:prstGeom>
          <a:noFill/>
        </p:spPr>
        <p:txBody>
          <a:bodyPr wrap="none" rtlCol="0">
            <a:spAutoFit/>
          </a:bodyPr>
          <a:lstStyle/>
          <a:p>
            <a:r>
              <a:rPr lang="en-US" sz="4000" b="1" dirty="0" smtClean="0"/>
              <a:t>200</a:t>
            </a:r>
            <a:endParaRPr lang="en-US" sz="4000" b="1" dirty="0"/>
          </a:p>
        </p:txBody>
      </p:sp>
      <p:sp>
        <p:nvSpPr>
          <p:cNvPr id="9" name="Rectangle 8"/>
          <p:cNvSpPr/>
          <p:nvPr/>
        </p:nvSpPr>
        <p:spPr>
          <a:xfrm>
            <a:off x="5327443" y="2912014"/>
            <a:ext cx="3279775" cy="1011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7273702" y="2912014"/>
            <a:ext cx="0" cy="1011695"/>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17797" y="3049289"/>
            <a:ext cx="704039" cy="707886"/>
          </a:xfrm>
          <a:prstGeom prst="rect">
            <a:avLst/>
          </a:prstGeom>
          <a:noFill/>
        </p:spPr>
        <p:txBody>
          <a:bodyPr wrap="none" rtlCol="0">
            <a:spAutoFit/>
          </a:bodyPr>
          <a:lstStyle/>
          <a:p>
            <a:r>
              <a:rPr lang="en-US" sz="4000" b="1" dirty="0" smtClean="0"/>
              <a:t>20</a:t>
            </a:r>
            <a:endParaRPr lang="en-US" sz="4000" b="1" dirty="0"/>
          </a:p>
        </p:txBody>
      </p:sp>
      <p:sp>
        <p:nvSpPr>
          <p:cNvPr id="12" name="TextBox 11"/>
          <p:cNvSpPr txBox="1"/>
          <p:nvPr/>
        </p:nvSpPr>
        <p:spPr>
          <a:xfrm>
            <a:off x="7663717" y="3018809"/>
            <a:ext cx="963725" cy="707886"/>
          </a:xfrm>
          <a:prstGeom prst="rect">
            <a:avLst/>
          </a:prstGeom>
          <a:noFill/>
        </p:spPr>
        <p:txBody>
          <a:bodyPr wrap="none" rtlCol="0">
            <a:spAutoFit/>
          </a:bodyPr>
          <a:lstStyle/>
          <a:p>
            <a:r>
              <a:rPr lang="en-US" sz="4000" b="1" dirty="0" smtClean="0"/>
              <a:t>300</a:t>
            </a:r>
            <a:endParaRPr lang="en-US" sz="4000" b="1" dirty="0"/>
          </a:p>
        </p:txBody>
      </p:sp>
      <p:sp>
        <p:nvSpPr>
          <p:cNvPr id="13" name="TextBox 12"/>
          <p:cNvSpPr txBox="1"/>
          <p:nvPr/>
        </p:nvSpPr>
        <p:spPr>
          <a:xfrm>
            <a:off x="2632340" y="4058646"/>
            <a:ext cx="963725" cy="707886"/>
          </a:xfrm>
          <a:prstGeom prst="rect">
            <a:avLst/>
          </a:prstGeom>
          <a:noFill/>
        </p:spPr>
        <p:txBody>
          <a:bodyPr wrap="none" rtlCol="0">
            <a:spAutoFit/>
          </a:bodyPr>
          <a:lstStyle/>
          <a:p>
            <a:r>
              <a:rPr lang="en-US" sz="4000" b="1" dirty="0" smtClean="0"/>
              <a:t>100</a:t>
            </a:r>
            <a:endParaRPr lang="en-US" sz="4000" b="1" dirty="0"/>
          </a:p>
        </p:txBody>
      </p:sp>
      <p:sp>
        <p:nvSpPr>
          <p:cNvPr id="14" name="TextBox 13"/>
          <p:cNvSpPr txBox="1"/>
          <p:nvPr/>
        </p:nvSpPr>
        <p:spPr>
          <a:xfrm>
            <a:off x="6721247" y="4058646"/>
            <a:ext cx="963725" cy="707886"/>
          </a:xfrm>
          <a:prstGeom prst="rect">
            <a:avLst/>
          </a:prstGeom>
          <a:noFill/>
        </p:spPr>
        <p:txBody>
          <a:bodyPr wrap="none" rtlCol="0">
            <a:spAutoFit/>
          </a:bodyPr>
          <a:lstStyle/>
          <a:p>
            <a:r>
              <a:rPr lang="en-US" sz="4000" b="1" dirty="0" smtClean="0"/>
              <a:t>200</a:t>
            </a:r>
            <a:endParaRPr lang="en-US" sz="4000" b="1" dirty="0"/>
          </a:p>
        </p:txBody>
      </p:sp>
      <p:sp>
        <p:nvSpPr>
          <p:cNvPr id="15" name="TextBox 14"/>
          <p:cNvSpPr txBox="1"/>
          <p:nvPr/>
        </p:nvSpPr>
        <p:spPr>
          <a:xfrm>
            <a:off x="62524" y="3362126"/>
            <a:ext cx="963725" cy="707886"/>
          </a:xfrm>
          <a:prstGeom prst="rect">
            <a:avLst/>
          </a:prstGeom>
          <a:noFill/>
        </p:spPr>
        <p:txBody>
          <a:bodyPr wrap="none" rtlCol="0">
            <a:spAutoFit/>
          </a:bodyPr>
          <a:lstStyle/>
          <a:p>
            <a:r>
              <a:rPr lang="en-US" sz="4000" b="1" dirty="0" smtClean="0"/>
              <a:t>100</a:t>
            </a:r>
            <a:endParaRPr lang="en-US" sz="4000" b="1" dirty="0"/>
          </a:p>
        </p:txBody>
      </p:sp>
      <p:sp>
        <p:nvSpPr>
          <p:cNvPr id="16" name="TextBox 15"/>
          <p:cNvSpPr txBox="1"/>
          <p:nvPr/>
        </p:nvSpPr>
        <p:spPr>
          <a:xfrm>
            <a:off x="21280" y="2733584"/>
            <a:ext cx="1247457" cy="707886"/>
          </a:xfrm>
          <a:prstGeom prst="rect">
            <a:avLst/>
          </a:prstGeom>
          <a:noFill/>
        </p:spPr>
        <p:txBody>
          <a:bodyPr wrap="none" rtlCol="0">
            <a:spAutoFit/>
          </a:bodyPr>
          <a:lstStyle/>
          <a:p>
            <a:r>
              <a:rPr lang="en-US" sz="4000" b="1" dirty="0" smtClean="0"/>
              <a:t>head</a:t>
            </a:r>
            <a:endParaRPr lang="en-US" sz="4000" b="1" dirty="0"/>
          </a:p>
        </p:txBody>
      </p:sp>
      <p:cxnSp>
        <p:nvCxnSpPr>
          <p:cNvPr id="18" name="Straight Arrow Connector 17"/>
          <p:cNvCxnSpPr/>
          <p:nvPr/>
        </p:nvCxnSpPr>
        <p:spPr>
          <a:xfrm>
            <a:off x="1044910" y="3580327"/>
            <a:ext cx="3844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53547" y="3426446"/>
            <a:ext cx="385233" cy="15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9007380" y="2901388"/>
            <a:ext cx="2512608" cy="1011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a:off x="10401183" y="2886758"/>
            <a:ext cx="0" cy="1011695"/>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9697733" y="3038663"/>
            <a:ext cx="704039" cy="707886"/>
          </a:xfrm>
          <a:prstGeom prst="rect">
            <a:avLst/>
          </a:prstGeom>
          <a:noFill/>
        </p:spPr>
        <p:txBody>
          <a:bodyPr wrap="none" rtlCol="0">
            <a:spAutoFit/>
          </a:bodyPr>
          <a:lstStyle/>
          <a:p>
            <a:r>
              <a:rPr lang="en-US" sz="4000" b="1" dirty="0"/>
              <a:t>3</a:t>
            </a:r>
            <a:r>
              <a:rPr lang="en-US" sz="4000" b="1" dirty="0" smtClean="0"/>
              <a:t>0</a:t>
            </a:r>
            <a:endParaRPr lang="en-US" sz="4000" b="1" dirty="0"/>
          </a:p>
        </p:txBody>
      </p:sp>
      <p:sp>
        <p:nvSpPr>
          <p:cNvPr id="25" name="TextBox 24"/>
          <p:cNvSpPr txBox="1"/>
          <p:nvPr/>
        </p:nvSpPr>
        <p:spPr>
          <a:xfrm>
            <a:off x="10510467" y="3018809"/>
            <a:ext cx="963725" cy="707886"/>
          </a:xfrm>
          <a:prstGeom prst="rect">
            <a:avLst/>
          </a:prstGeom>
          <a:noFill/>
        </p:spPr>
        <p:txBody>
          <a:bodyPr wrap="none" rtlCol="0">
            <a:spAutoFit/>
          </a:bodyPr>
          <a:lstStyle/>
          <a:p>
            <a:r>
              <a:rPr lang="en-US" sz="4000" b="1" dirty="0" smtClean="0"/>
              <a:t>100</a:t>
            </a:r>
            <a:endParaRPr lang="en-US" sz="4000" b="1" dirty="0"/>
          </a:p>
        </p:txBody>
      </p:sp>
      <p:sp>
        <p:nvSpPr>
          <p:cNvPr id="26" name="TextBox 25"/>
          <p:cNvSpPr txBox="1"/>
          <p:nvPr/>
        </p:nvSpPr>
        <p:spPr>
          <a:xfrm>
            <a:off x="10401183" y="4048020"/>
            <a:ext cx="963725" cy="707886"/>
          </a:xfrm>
          <a:prstGeom prst="rect">
            <a:avLst/>
          </a:prstGeom>
          <a:noFill/>
        </p:spPr>
        <p:txBody>
          <a:bodyPr wrap="none" rtlCol="0">
            <a:spAutoFit/>
          </a:bodyPr>
          <a:lstStyle/>
          <a:p>
            <a:r>
              <a:rPr lang="en-US" sz="4000" b="1" dirty="0"/>
              <a:t>3</a:t>
            </a:r>
            <a:r>
              <a:rPr lang="en-US" sz="4000" b="1" dirty="0" smtClean="0"/>
              <a:t>00</a:t>
            </a:r>
            <a:endParaRPr lang="en-US" sz="4000" b="1" dirty="0"/>
          </a:p>
        </p:txBody>
      </p:sp>
      <p:cxnSp>
        <p:nvCxnSpPr>
          <p:cNvPr id="27" name="Straight Arrow Connector 26"/>
          <p:cNvCxnSpPr/>
          <p:nvPr/>
        </p:nvCxnSpPr>
        <p:spPr>
          <a:xfrm>
            <a:off x="8622146" y="3346994"/>
            <a:ext cx="385233" cy="15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22" idx="3"/>
          </p:cNvCxnSpPr>
          <p:nvPr/>
        </p:nvCxnSpPr>
        <p:spPr>
          <a:xfrm flipH="1">
            <a:off x="1644349" y="3407236"/>
            <a:ext cx="9875639" cy="1794077"/>
          </a:xfrm>
          <a:prstGeom prst="bentConnector3">
            <a:avLst>
              <a:gd name="adj1" fmla="val -231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1668899" y="3923709"/>
            <a:ext cx="0" cy="1277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3080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b="1" dirty="0">
                <a:solidFill>
                  <a:srgbClr val="FF0000"/>
                </a:solidFill>
              </a:rPr>
              <a:t>Singly Linked List – Node </a:t>
            </a:r>
            <a:r>
              <a:rPr lang="en-US" b="1" dirty="0" smtClean="0">
                <a:solidFill>
                  <a:srgbClr val="FF0000"/>
                </a:solidFill>
              </a:rPr>
              <a:t>creation - </a:t>
            </a:r>
            <a:r>
              <a:rPr lang="en-US" dirty="0"/>
              <a:t>How to declare a linked list</a:t>
            </a:r>
            <a:r>
              <a:rPr lang="en-US" dirty="0" smtClean="0"/>
              <a: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396832"/>
            <a:ext cx="11746041" cy="5466048"/>
          </a:xfrm>
        </p:spPr>
        <p:txBody>
          <a:bodyPr>
            <a:noAutofit/>
          </a:bodyPr>
          <a:lstStyle/>
          <a:p>
            <a:r>
              <a:rPr lang="en-US" sz="2000" dirty="0"/>
              <a:t>It is simple to declare an array, as it is of single type, while the declaration of linked list is a bit more typical than array. Linked list contains two parts, and both are of different types, i.e., one is the simple variable, while another is the pointer variable. We can declare the linked list by using the user-defined data type </a:t>
            </a:r>
            <a:r>
              <a:rPr lang="en-US" sz="2000" b="1" dirty="0"/>
              <a:t>structure.</a:t>
            </a:r>
            <a:endParaRPr lang="en-US" sz="2000" dirty="0"/>
          </a:p>
          <a:p>
            <a:r>
              <a:rPr lang="en-US" sz="2000" dirty="0"/>
              <a:t>The declaration of linked list is given as follows -</a:t>
            </a:r>
          </a:p>
          <a:p>
            <a:pPr marL="0" indent="0">
              <a:buNone/>
            </a:pPr>
            <a:r>
              <a:rPr lang="en-US" sz="2400" b="1" dirty="0" err="1" smtClean="0">
                <a:latin typeface="Times New Roman" panose="02020603050405020304" pitchFamily="18" charset="0"/>
                <a:cs typeface="Times New Roman" panose="02020603050405020304" pitchFamily="18" charset="0"/>
              </a:rPr>
              <a:t>struct</a:t>
            </a:r>
            <a:r>
              <a:rPr lang="en-US" sz="2400" b="1" dirty="0" smtClean="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node</a:t>
            </a:r>
          </a:p>
          <a:p>
            <a:pPr marL="0" indent="0">
              <a:buNone/>
            </a:pPr>
            <a:r>
              <a:rPr lang="en-US" sz="2400" b="1"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  int info;</a:t>
            </a:r>
          </a:p>
          <a:p>
            <a:pPr marL="0" indent="0">
              <a:buNone/>
            </a:pPr>
            <a:r>
              <a:rPr lang="en-US" sz="2400" b="1" dirty="0">
                <a:latin typeface="Times New Roman" panose="02020603050405020304" pitchFamily="18" charset="0"/>
                <a:cs typeface="Times New Roman" panose="02020603050405020304" pitchFamily="18" charset="0"/>
              </a:rPr>
              <a:t>  struct node *next;</a:t>
            </a:r>
          </a:p>
          <a:p>
            <a:pPr marL="0" indent="0">
              <a:buNone/>
            </a:pPr>
            <a:r>
              <a:rPr lang="en-US" sz="2400" b="1" dirty="0" smtClean="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pPr marL="0" indent="0">
              <a:buNone/>
            </a:pPr>
            <a:r>
              <a:rPr lang="en-US" dirty="0"/>
              <a:t>In the above declaration, we have defined a structure named as </a:t>
            </a:r>
            <a:r>
              <a:rPr lang="en-US" b="1" dirty="0"/>
              <a:t>node</a:t>
            </a:r>
            <a:r>
              <a:rPr lang="en-US" dirty="0"/>
              <a:t> that contains two variables, one is </a:t>
            </a:r>
            <a:r>
              <a:rPr lang="en-US" b="1" dirty="0"/>
              <a:t>data</a:t>
            </a:r>
            <a:r>
              <a:rPr lang="en-US" dirty="0"/>
              <a:t> that is of integer type, and another one is </a:t>
            </a:r>
            <a:r>
              <a:rPr lang="en-US" b="1" dirty="0"/>
              <a:t>next</a:t>
            </a:r>
            <a:r>
              <a:rPr lang="en-US" dirty="0"/>
              <a:t> that is a pointer which contains the address of next node.</a:t>
            </a:r>
            <a:endParaRPr lang="en-IN" sz="32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p:txBody>
      </p:sp>
      <p:sp>
        <p:nvSpPr>
          <p:cNvPr id="4" name="Rectangle 3"/>
          <p:cNvSpPr/>
          <p:nvPr/>
        </p:nvSpPr>
        <p:spPr>
          <a:xfrm>
            <a:off x="6689504" y="3156712"/>
            <a:ext cx="3515097" cy="1011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8635763" y="3156712"/>
            <a:ext cx="0" cy="1011695"/>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379858" y="3293987"/>
            <a:ext cx="1014124" cy="707886"/>
          </a:xfrm>
          <a:prstGeom prst="rect">
            <a:avLst/>
          </a:prstGeom>
          <a:noFill/>
        </p:spPr>
        <p:txBody>
          <a:bodyPr wrap="none" rtlCol="0">
            <a:spAutoFit/>
          </a:bodyPr>
          <a:lstStyle/>
          <a:p>
            <a:r>
              <a:rPr lang="en-US" sz="4000" b="1" dirty="0"/>
              <a:t>info</a:t>
            </a:r>
          </a:p>
        </p:txBody>
      </p:sp>
      <p:sp>
        <p:nvSpPr>
          <p:cNvPr id="8" name="TextBox 7"/>
          <p:cNvSpPr txBox="1"/>
          <p:nvPr/>
        </p:nvSpPr>
        <p:spPr>
          <a:xfrm>
            <a:off x="9025778" y="3263507"/>
            <a:ext cx="1124026" cy="707886"/>
          </a:xfrm>
          <a:prstGeom prst="rect">
            <a:avLst/>
          </a:prstGeom>
          <a:noFill/>
        </p:spPr>
        <p:txBody>
          <a:bodyPr wrap="none" rtlCol="0">
            <a:spAutoFit/>
          </a:bodyPr>
          <a:lstStyle/>
          <a:p>
            <a:r>
              <a:rPr lang="en-US" sz="4000" b="1" dirty="0"/>
              <a:t>next</a:t>
            </a:r>
          </a:p>
        </p:txBody>
      </p:sp>
    </p:spTree>
    <p:extLst>
      <p:ext uri="{BB962C8B-B14F-4D97-AF65-F5344CB8AC3E}">
        <p14:creationId xmlns:p14="http://schemas.microsoft.com/office/powerpoint/2010/main" val="8184224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b="1" dirty="0">
                <a:solidFill>
                  <a:srgbClr val="FF0000"/>
                </a:solidFill>
              </a:rPr>
              <a:t>Singly Linked List – Node </a:t>
            </a:r>
            <a:r>
              <a:rPr lang="en-US" b="1" dirty="0" smtClean="0">
                <a:solidFill>
                  <a:srgbClr val="FF0000"/>
                </a:solidFill>
              </a:rPr>
              <a:t>creation </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396832"/>
            <a:ext cx="11746041" cy="5466048"/>
          </a:xfrm>
        </p:spPr>
        <p:txBody>
          <a:bodyPr>
            <a:noAutofit/>
          </a:bodyPr>
          <a:lstStyle/>
          <a:p>
            <a:pPr marL="0" indent="0">
              <a:buNone/>
            </a:pPr>
            <a:r>
              <a:rPr lang="en-US" sz="1800" b="1" dirty="0" smtClean="0"/>
              <a:t>Node creation and declaration</a:t>
            </a:r>
          </a:p>
          <a:p>
            <a:pPr marL="0" indent="0">
              <a:buNone/>
            </a:pPr>
            <a:r>
              <a:rPr lang="en-US" sz="1800" dirty="0" err="1" smtClean="0"/>
              <a:t>struct</a:t>
            </a:r>
            <a:r>
              <a:rPr lang="en-US" sz="1800" dirty="0" smtClean="0"/>
              <a:t> </a:t>
            </a:r>
            <a:r>
              <a:rPr lang="en-US" sz="1800" dirty="0"/>
              <a:t>node</a:t>
            </a:r>
          </a:p>
          <a:p>
            <a:pPr marL="0" indent="0">
              <a:buNone/>
            </a:pPr>
            <a:r>
              <a:rPr lang="en-US" sz="1800" dirty="0"/>
              <a:t>{</a:t>
            </a:r>
          </a:p>
          <a:p>
            <a:pPr marL="0" indent="0">
              <a:buNone/>
            </a:pPr>
            <a:r>
              <a:rPr lang="en-US" sz="1800" dirty="0"/>
              <a:t> </a:t>
            </a:r>
            <a:r>
              <a:rPr lang="en-US" sz="1800" dirty="0" err="1"/>
              <a:t>int</a:t>
            </a:r>
            <a:r>
              <a:rPr lang="en-US" sz="1800" dirty="0"/>
              <a:t> data;</a:t>
            </a:r>
          </a:p>
          <a:p>
            <a:pPr marL="0" indent="0">
              <a:buNone/>
            </a:pPr>
            <a:r>
              <a:rPr lang="en-US" sz="1800" dirty="0"/>
              <a:t> </a:t>
            </a:r>
            <a:r>
              <a:rPr lang="en-US" sz="1800" dirty="0" err="1"/>
              <a:t>struct</a:t>
            </a:r>
            <a:r>
              <a:rPr lang="en-US" sz="1800" dirty="0"/>
              <a:t> node * next;</a:t>
            </a:r>
          </a:p>
          <a:p>
            <a:pPr marL="0" indent="0">
              <a:buNone/>
            </a:pPr>
            <a:r>
              <a:rPr lang="en-US" sz="1800" dirty="0"/>
              <a:t>};</a:t>
            </a:r>
          </a:p>
          <a:p>
            <a:pPr marL="0" indent="0">
              <a:buNone/>
            </a:pPr>
            <a:r>
              <a:rPr lang="en-US" sz="1800" dirty="0" err="1"/>
              <a:t>struct</a:t>
            </a:r>
            <a:r>
              <a:rPr lang="en-US" sz="1800" dirty="0"/>
              <a:t> node * n;</a:t>
            </a:r>
          </a:p>
          <a:p>
            <a:pPr marL="0" indent="0">
              <a:buNone/>
            </a:pPr>
            <a:r>
              <a:rPr lang="en-US" sz="1800" dirty="0"/>
              <a:t>n=(</a:t>
            </a:r>
            <a:r>
              <a:rPr lang="en-US" sz="1800" dirty="0" err="1"/>
              <a:t>struct</a:t>
            </a:r>
            <a:r>
              <a:rPr lang="en-US" sz="1800" dirty="0"/>
              <a:t> node*)</a:t>
            </a:r>
            <a:r>
              <a:rPr lang="en-US" sz="1800" dirty="0" err="1"/>
              <a:t>malloc</a:t>
            </a:r>
            <a:r>
              <a:rPr lang="en-US" sz="1800" dirty="0"/>
              <a:t>(</a:t>
            </a:r>
            <a:r>
              <a:rPr lang="en-US" sz="1800" dirty="0" err="1"/>
              <a:t>sizeof</a:t>
            </a:r>
            <a:r>
              <a:rPr lang="en-US" sz="1800" dirty="0"/>
              <a:t>(</a:t>
            </a:r>
            <a:r>
              <a:rPr lang="en-US" sz="1800" dirty="0" err="1"/>
              <a:t>struct</a:t>
            </a:r>
            <a:r>
              <a:rPr lang="en-US" sz="1800"/>
              <a:t> </a:t>
            </a:r>
            <a:r>
              <a:rPr lang="en-US" sz="1800" smtClean="0"/>
              <a:t>node));</a:t>
            </a:r>
            <a:endParaRPr lang="en-US" sz="1800" dirty="0" smtClean="0"/>
          </a:p>
          <a:p>
            <a:pPr marL="0" indent="0">
              <a:buNone/>
            </a:pPr>
            <a:endParaRPr lang="en-US" sz="1800" dirty="0"/>
          </a:p>
          <a:p>
            <a:r>
              <a:rPr lang="en-US" sz="2400" dirty="0"/>
              <a:t>It is a declaration of a node that consists of the first variable as data and the next as a pointer, which will keep the address of the next node.</a:t>
            </a:r>
          </a:p>
          <a:p>
            <a:r>
              <a:rPr lang="en-US" sz="2400" dirty="0"/>
              <a:t>Here you need to use the </a:t>
            </a:r>
            <a:r>
              <a:rPr lang="en-US" sz="2400" dirty="0" err="1"/>
              <a:t>malloc</a:t>
            </a:r>
            <a:r>
              <a:rPr lang="en-US" sz="2400" dirty="0"/>
              <a:t> function to allocate memory for the nodes dynamically.</a:t>
            </a:r>
          </a:p>
          <a:p>
            <a:pPr marL="0" indent="0">
              <a:buNone/>
            </a:pP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9818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Singly Linked List – </a:t>
            </a:r>
            <a:r>
              <a:rPr lang="en-US" b="1" dirty="0" smtClean="0">
                <a:solidFill>
                  <a:srgbClr val="FF0000"/>
                </a:solidFill>
              </a:rPr>
              <a:t>Insert</a:t>
            </a:r>
            <a:endParaRPr lang="en-US" dirty="0"/>
          </a:p>
        </p:txBody>
      </p:sp>
      <p:pic>
        <p:nvPicPr>
          <p:cNvPr id="5" name="Picture 4"/>
          <p:cNvPicPr>
            <a:picLocks noChangeAspect="1"/>
          </p:cNvPicPr>
          <p:nvPr/>
        </p:nvPicPr>
        <p:blipFill>
          <a:blip r:embed="rId2"/>
          <a:stretch>
            <a:fillRect/>
          </a:stretch>
        </p:blipFill>
        <p:spPr>
          <a:xfrm>
            <a:off x="576194" y="1690688"/>
            <a:ext cx="10777605" cy="5202019"/>
          </a:xfrm>
          <a:prstGeom prst="rect">
            <a:avLst/>
          </a:prstGeom>
        </p:spPr>
      </p:pic>
    </p:spTree>
    <p:extLst>
      <p:ext uri="{BB962C8B-B14F-4D97-AF65-F5344CB8AC3E}">
        <p14:creationId xmlns:p14="http://schemas.microsoft.com/office/powerpoint/2010/main" val="22134715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r>
              <a:rPr lang="en-US" b="1" dirty="0"/>
              <a:t>Algorithm to insert node at the beginning of singly linked list</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US" dirty="0"/>
          </a:p>
          <a:p>
            <a:endParaRPr lang="en-IN" sz="4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326524" y="1791791"/>
            <a:ext cx="7379326" cy="4160970"/>
          </a:xfrm>
          <a:prstGeom prst="rect">
            <a:avLst/>
          </a:prstGeom>
        </p:spPr>
      </p:pic>
    </p:spTree>
    <p:extLst>
      <p:ext uri="{BB962C8B-B14F-4D97-AF65-F5344CB8AC3E}">
        <p14:creationId xmlns:p14="http://schemas.microsoft.com/office/powerpoint/2010/main" val="42806080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r>
              <a:rPr lang="en-US" b="1" dirty="0"/>
              <a:t>Steps to insert node at the beginning of singly linked list</a:t>
            </a:r>
            <a:br>
              <a:rPr lang="en-US" b="1" dirty="0"/>
            </a:br>
            <a:endParaRPr lang="en-US" b="1" dirty="0"/>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US" dirty="0"/>
          </a:p>
          <a:p>
            <a:endParaRPr lang="en-IN" sz="44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116168" y="1040504"/>
            <a:ext cx="7641465" cy="5826617"/>
          </a:xfrm>
          <a:prstGeom prst="rect">
            <a:avLst/>
          </a:prstGeom>
        </p:spPr>
      </p:pic>
    </p:spTree>
    <p:extLst>
      <p:ext uri="{BB962C8B-B14F-4D97-AF65-F5344CB8AC3E}">
        <p14:creationId xmlns:p14="http://schemas.microsoft.com/office/powerpoint/2010/main" val="30383209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r>
              <a:rPr lang="en-US" b="1" dirty="0"/>
              <a:t>Steps to insert node at the beginning of singly linked list</a:t>
            </a:r>
            <a:br>
              <a:rPr lang="en-US" b="1" dirty="0"/>
            </a:br>
            <a:endParaRPr lang="en-US" b="1" dirty="0"/>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US" dirty="0"/>
          </a:p>
          <a:p>
            <a:endParaRPr lang="en-IN" sz="4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92429" y="871846"/>
            <a:ext cx="7996908" cy="3000430"/>
          </a:xfrm>
          <a:prstGeom prst="rect">
            <a:avLst/>
          </a:prstGeom>
        </p:spPr>
      </p:pic>
      <p:pic>
        <p:nvPicPr>
          <p:cNvPr id="6" name="Picture 5"/>
          <p:cNvPicPr>
            <a:picLocks noChangeAspect="1"/>
          </p:cNvPicPr>
          <p:nvPr/>
        </p:nvPicPr>
        <p:blipFill>
          <a:blip r:embed="rId3"/>
          <a:stretch>
            <a:fillRect/>
          </a:stretch>
        </p:blipFill>
        <p:spPr>
          <a:xfrm>
            <a:off x="3276457" y="3455804"/>
            <a:ext cx="5790462" cy="3081797"/>
          </a:xfrm>
          <a:prstGeom prst="rect">
            <a:avLst/>
          </a:prstGeom>
        </p:spPr>
      </p:pic>
    </p:spTree>
    <p:extLst>
      <p:ext uri="{BB962C8B-B14F-4D97-AF65-F5344CB8AC3E}">
        <p14:creationId xmlns:p14="http://schemas.microsoft.com/office/powerpoint/2010/main" val="41448931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r>
              <a:rPr lang="en-US" b="1" dirty="0"/>
              <a:t>Algorithm to insert node at the end of Singly linked list</a:t>
            </a:r>
          </a:p>
        </p:txBody>
      </p:sp>
      <p:pic>
        <p:nvPicPr>
          <p:cNvPr id="5" name="Content Placeholder 4"/>
          <p:cNvPicPr>
            <a:picLocks noGrp="1" noChangeAspect="1"/>
          </p:cNvPicPr>
          <p:nvPr>
            <p:ph idx="1"/>
          </p:nvPr>
        </p:nvPicPr>
        <p:blipFill>
          <a:blip r:embed="rId2"/>
          <a:stretch>
            <a:fillRect/>
          </a:stretch>
        </p:blipFill>
        <p:spPr>
          <a:xfrm>
            <a:off x="1417849" y="1394086"/>
            <a:ext cx="6734478" cy="5125686"/>
          </a:xfrm>
          <a:prstGeom prst="rect">
            <a:avLst/>
          </a:prstGeom>
        </p:spPr>
      </p:pic>
    </p:spTree>
    <p:extLst>
      <p:ext uri="{BB962C8B-B14F-4D97-AF65-F5344CB8AC3E}">
        <p14:creationId xmlns:p14="http://schemas.microsoft.com/office/powerpoint/2010/main" val="39460885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Singly Linked List – Insert at </a:t>
            </a:r>
            <a:r>
              <a:rPr lang="en-US" b="1" dirty="0" smtClean="0">
                <a:solidFill>
                  <a:srgbClr val="FF0000"/>
                </a:solidFill>
              </a:rPr>
              <a:t>specified node</a:t>
            </a:r>
            <a:endParaRPr lang="en-IN" b="1" dirty="0">
              <a:solidFill>
                <a:srgbClr val="FF0000"/>
              </a:solidFill>
            </a:endParaRPr>
          </a:p>
        </p:txBody>
      </p:sp>
      <p:pic>
        <p:nvPicPr>
          <p:cNvPr id="23554" name="Picture 2" descr="Insertion in singly linked list after specified N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094" y="1507789"/>
            <a:ext cx="10333429" cy="47642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6205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FF0000"/>
                </a:solidFill>
              </a:rPr>
              <a:t>Singly Linked List – deletion and traversing</a:t>
            </a:r>
            <a:endParaRPr lang="en-US" dirty="0"/>
          </a:p>
        </p:txBody>
      </p:sp>
      <p:pic>
        <p:nvPicPr>
          <p:cNvPr id="3" name="Picture 2"/>
          <p:cNvPicPr>
            <a:picLocks noChangeAspect="1"/>
          </p:cNvPicPr>
          <p:nvPr/>
        </p:nvPicPr>
        <p:blipFill>
          <a:blip r:embed="rId2"/>
          <a:stretch>
            <a:fillRect/>
          </a:stretch>
        </p:blipFill>
        <p:spPr>
          <a:xfrm>
            <a:off x="838200" y="1450884"/>
            <a:ext cx="10515600" cy="5407115"/>
          </a:xfrm>
          <a:prstGeom prst="rect">
            <a:avLst/>
          </a:prstGeom>
        </p:spPr>
      </p:pic>
    </p:spTree>
    <p:extLst>
      <p:ext uri="{BB962C8B-B14F-4D97-AF65-F5344CB8AC3E}">
        <p14:creationId xmlns:p14="http://schemas.microsoft.com/office/powerpoint/2010/main" val="33489535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t>
            </a:r>
            <a:r>
              <a:rPr lang="en-US" dirty="0" smtClean="0"/>
              <a:t>beginning</a:t>
            </a:r>
            <a:r>
              <a:rPr lang="en-US" b="1" dirty="0" smtClean="0">
                <a:solidFill>
                  <a:srgbClr val="FF0000"/>
                </a:solidFill>
              </a:rPr>
              <a:t> </a:t>
            </a:r>
            <a:endParaRPr lang="en-IN" b="1" dirty="0">
              <a:solidFill>
                <a:srgbClr val="FF0000"/>
              </a:solidFill>
            </a:endParaRPr>
          </a:p>
        </p:txBody>
      </p:sp>
      <p:sp>
        <p:nvSpPr>
          <p:cNvPr id="3" name="Rectangle 2"/>
          <p:cNvSpPr/>
          <p:nvPr/>
        </p:nvSpPr>
        <p:spPr>
          <a:xfrm>
            <a:off x="536619" y="1534406"/>
            <a:ext cx="11221791" cy="3970318"/>
          </a:xfrm>
          <a:prstGeom prst="rect">
            <a:avLst/>
          </a:prstGeom>
        </p:spPr>
        <p:txBody>
          <a:bodyPr wrap="square">
            <a:spAutoFit/>
          </a:bodyPr>
          <a:lstStyle/>
          <a:p>
            <a:r>
              <a:rPr lang="en-US" dirty="0">
                <a:solidFill>
                  <a:srgbClr val="333333"/>
                </a:solidFill>
                <a:latin typeface="inter-regular"/>
              </a:rPr>
              <a:t>Deleting a node from the beginning of the list is the simplest operation of all. </a:t>
            </a:r>
            <a:endParaRPr lang="en-US" dirty="0" smtClean="0">
              <a:solidFill>
                <a:srgbClr val="333333"/>
              </a:solidFill>
              <a:latin typeface="inter-regular"/>
            </a:endParaRPr>
          </a:p>
          <a:p>
            <a:r>
              <a:rPr lang="en-US" dirty="0" smtClean="0">
                <a:solidFill>
                  <a:srgbClr val="333333"/>
                </a:solidFill>
                <a:latin typeface="inter-regular"/>
              </a:rPr>
              <a:t>It </a:t>
            </a:r>
            <a:r>
              <a:rPr lang="en-US" dirty="0">
                <a:solidFill>
                  <a:srgbClr val="333333"/>
                </a:solidFill>
                <a:latin typeface="inter-regular"/>
              </a:rPr>
              <a:t>just need a few adjustments in the node pointers. </a:t>
            </a:r>
            <a:endParaRPr lang="en-US" dirty="0" smtClean="0">
              <a:solidFill>
                <a:srgbClr val="333333"/>
              </a:solidFill>
              <a:latin typeface="inter-regular"/>
            </a:endParaRPr>
          </a:p>
          <a:p>
            <a:r>
              <a:rPr lang="en-US" dirty="0" smtClean="0">
                <a:solidFill>
                  <a:srgbClr val="333333"/>
                </a:solidFill>
                <a:latin typeface="inter-regular"/>
              </a:rPr>
              <a:t>Since </a:t>
            </a:r>
            <a:r>
              <a:rPr lang="en-US" dirty="0">
                <a:solidFill>
                  <a:srgbClr val="333333"/>
                </a:solidFill>
                <a:latin typeface="inter-regular"/>
              </a:rPr>
              <a:t>the first node of the list is to be deleted, therefore, we just need to make the head, point to the next of the head. </a:t>
            </a:r>
            <a:endParaRPr lang="en-US" dirty="0" smtClean="0">
              <a:solidFill>
                <a:srgbClr val="333333"/>
              </a:solidFill>
              <a:latin typeface="inter-regular"/>
            </a:endParaRPr>
          </a:p>
          <a:p>
            <a:r>
              <a:rPr lang="en-US" dirty="0" smtClean="0">
                <a:solidFill>
                  <a:srgbClr val="333333"/>
                </a:solidFill>
                <a:latin typeface="inter-regular"/>
              </a:rPr>
              <a:t>This </a:t>
            </a:r>
            <a:r>
              <a:rPr lang="en-US" dirty="0">
                <a:solidFill>
                  <a:srgbClr val="333333"/>
                </a:solidFill>
                <a:latin typeface="inter-regular"/>
              </a:rPr>
              <a:t>will be done by using the following statements</a:t>
            </a:r>
            <a:r>
              <a:rPr lang="en-US" dirty="0" smtClean="0">
                <a:solidFill>
                  <a:srgbClr val="333333"/>
                </a:solidFill>
                <a:latin typeface="inter-regular"/>
              </a:rPr>
              <a:t>.</a:t>
            </a:r>
          </a:p>
          <a:p>
            <a:endParaRPr lang="en-US" dirty="0">
              <a:solidFill>
                <a:srgbClr val="333333"/>
              </a:solidFill>
              <a:latin typeface="inter-regular"/>
            </a:endParaRPr>
          </a:p>
          <a:p>
            <a:r>
              <a:rPr lang="en-US" dirty="0" err="1"/>
              <a:t>ptr</a:t>
            </a:r>
            <a:r>
              <a:rPr lang="en-US" dirty="0"/>
              <a:t> = head;  </a:t>
            </a:r>
          </a:p>
          <a:p>
            <a:r>
              <a:rPr lang="en-US" dirty="0"/>
              <a:t>            head = </a:t>
            </a:r>
            <a:r>
              <a:rPr lang="en-US" dirty="0" err="1"/>
              <a:t>ptr</a:t>
            </a:r>
            <a:r>
              <a:rPr lang="en-US" dirty="0"/>
              <a:t>-&gt;next;  </a:t>
            </a:r>
          </a:p>
          <a:p>
            <a:endParaRPr lang="en-US" dirty="0" smtClean="0"/>
          </a:p>
          <a:p>
            <a:r>
              <a:rPr lang="en-US" dirty="0"/>
              <a:t>Now, free the pointer </a:t>
            </a:r>
            <a:r>
              <a:rPr lang="en-US" dirty="0" err="1"/>
              <a:t>ptr</a:t>
            </a:r>
            <a:r>
              <a:rPr lang="en-US" dirty="0"/>
              <a:t> which was pointing to the head node of the list. This will be done by using the following statement</a:t>
            </a:r>
            <a:r>
              <a:rPr lang="en-US" dirty="0" smtClean="0"/>
              <a:t>.</a:t>
            </a:r>
          </a:p>
          <a:p>
            <a:endParaRPr lang="en-US" dirty="0"/>
          </a:p>
          <a:p>
            <a:r>
              <a:rPr lang="en-US" dirty="0"/>
              <a:t>free(</a:t>
            </a:r>
            <a:r>
              <a:rPr lang="en-US" dirty="0" err="1"/>
              <a:t>ptr</a:t>
            </a:r>
            <a:r>
              <a:rPr lang="en-US" dirty="0"/>
              <a:t>)  </a:t>
            </a:r>
          </a:p>
          <a:p>
            <a:endParaRPr lang="en-US" dirty="0"/>
          </a:p>
        </p:txBody>
      </p:sp>
    </p:spTree>
    <p:extLst>
      <p:ext uri="{BB962C8B-B14F-4D97-AF65-F5344CB8AC3E}">
        <p14:creationId xmlns:p14="http://schemas.microsoft.com/office/powerpoint/2010/main" val="36813460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t>
            </a:r>
            <a:r>
              <a:rPr lang="en-US" dirty="0" smtClean="0"/>
              <a:t>beginning</a:t>
            </a:r>
            <a:r>
              <a:rPr lang="en-US" b="1" dirty="0" smtClean="0">
                <a:solidFill>
                  <a:srgbClr val="FF0000"/>
                </a:solidFill>
              </a:rPr>
              <a:t> </a:t>
            </a:r>
            <a:endParaRPr lang="en-IN" b="1" dirty="0">
              <a:solidFill>
                <a:srgbClr val="FF0000"/>
              </a:solidFill>
            </a:endParaRPr>
          </a:p>
        </p:txBody>
      </p:sp>
      <p:sp>
        <p:nvSpPr>
          <p:cNvPr id="3" name="Rectangle 2"/>
          <p:cNvSpPr/>
          <p:nvPr/>
        </p:nvSpPr>
        <p:spPr>
          <a:xfrm>
            <a:off x="536619" y="1534406"/>
            <a:ext cx="11221791" cy="2862322"/>
          </a:xfrm>
          <a:prstGeom prst="rect">
            <a:avLst/>
          </a:prstGeom>
        </p:spPr>
        <p:txBody>
          <a:bodyPr wrap="square">
            <a:spAutoFit/>
          </a:bodyPr>
          <a:lstStyle/>
          <a:p>
            <a:r>
              <a:rPr lang="en-US" dirty="0"/>
              <a:t>Algorithm</a:t>
            </a:r>
          </a:p>
          <a:p>
            <a:r>
              <a:rPr lang="en-US" b="1" dirty="0"/>
              <a:t>Step 1:</a:t>
            </a:r>
            <a:r>
              <a:rPr lang="en-US" dirty="0"/>
              <a:t> IF HEAD = NULL</a:t>
            </a:r>
          </a:p>
          <a:p>
            <a:r>
              <a:rPr lang="en-US" dirty="0"/>
              <a:t>Write UNDERFLOW</a:t>
            </a:r>
            <a:br>
              <a:rPr lang="en-US" dirty="0"/>
            </a:br>
            <a:r>
              <a:rPr lang="en-US" dirty="0"/>
              <a:t>     Go to Step 5</a:t>
            </a:r>
            <a:br>
              <a:rPr lang="en-US" dirty="0"/>
            </a:br>
            <a:r>
              <a:rPr lang="en-US" dirty="0"/>
              <a:t>    [END OF IF]</a:t>
            </a:r>
          </a:p>
          <a:p>
            <a:r>
              <a:rPr lang="en-US" b="1" dirty="0"/>
              <a:t>Step 2:</a:t>
            </a:r>
            <a:r>
              <a:rPr lang="en-US" dirty="0"/>
              <a:t> SET PTR = HEAD</a:t>
            </a:r>
          </a:p>
          <a:p>
            <a:r>
              <a:rPr lang="en-US" b="1" dirty="0"/>
              <a:t>Step 3:</a:t>
            </a:r>
            <a:r>
              <a:rPr lang="en-US" dirty="0"/>
              <a:t> SET HEAD = HEAD -&gt; NEXT</a:t>
            </a:r>
          </a:p>
          <a:p>
            <a:r>
              <a:rPr lang="en-US" b="1" dirty="0"/>
              <a:t>Step 4:</a:t>
            </a:r>
            <a:r>
              <a:rPr lang="en-US" dirty="0"/>
              <a:t> FREE PTR</a:t>
            </a:r>
          </a:p>
          <a:p>
            <a:r>
              <a:rPr lang="en-US" b="1" dirty="0"/>
              <a:t>Step 5:</a:t>
            </a:r>
            <a:r>
              <a:rPr lang="en-US" dirty="0"/>
              <a:t> EXIT</a:t>
            </a:r>
          </a:p>
          <a:p>
            <a:endParaRPr lang="en-US" dirty="0"/>
          </a:p>
        </p:txBody>
      </p:sp>
      <p:pic>
        <p:nvPicPr>
          <p:cNvPr id="1026" name="Picture 2" descr="DS Deletion in singly linked list at begin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5908" y="1923132"/>
            <a:ext cx="6753225" cy="3238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57269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t>
            </a:r>
            <a:r>
              <a:rPr lang="en-US" dirty="0" smtClean="0"/>
              <a:t>end</a:t>
            </a:r>
            <a:r>
              <a:rPr lang="en-US" b="1" dirty="0" smtClean="0">
                <a:solidFill>
                  <a:srgbClr val="FF0000"/>
                </a:solidFill>
              </a:rPr>
              <a:t> </a:t>
            </a:r>
            <a:endParaRPr lang="en-IN" b="1" dirty="0">
              <a:solidFill>
                <a:srgbClr val="FF0000"/>
              </a:solidFill>
            </a:endParaRPr>
          </a:p>
        </p:txBody>
      </p:sp>
      <p:sp>
        <p:nvSpPr>
          <p:cNvPr id="3" name="Rectangle 2"/>
          <p:cNvSpPr/>
          <p:nvPr/>
        </p:nvSpPr>
        <p:spPr>
          <a:xfrm>
            <a:off x="536619" y="1534406"/>
            <a:ext cx="11221791" cy="5078313"/>
          </a:xfrm>
          <a:prstGeom prst="rect">
            <a:avLst/>
          </a:prstGeom>
        </p:spPr>
        <p:txBody>
          <a:bodyPr wrap="square">
            <a:spAutoFit/>
          </a:bodyPr>
          <a:lstStyle/>
          <a:p>
            <a:r>
              <a:rPr lang="en-US" dirty="0"/>
              <a:t>There are two scenarios in which, a node is deleted from the end of the linked list.</a:t>
            </a:r>
          </a:p>
          <a:p>
            <a:r>
              <a:rPr lang="en-US" dirty="0"/>
              <a:t>There is only one node in the list and that needs to be deleted.</a:t>
            </a:r>
          </a:p>
          <a:p>
            <a:r>
              <a:rPr lang="en-US" dirty="0"/>
              <a:t>There are more than one node in the list and the last node of the list will be deleted.</a:t>
            </a:r>
          </a:p>
          <a:p>
            <a:r>
              <a:rPr lang="en-US" dirty="0"/>
              <a:t>In the first scenario,</a:t>
            </a:r>
          </a:p>
          <a:p>
            <a:r>
              <a:rPr lang="en-US" dirty="0"/>
              <a:t>the condition head → next = NULL will survive and therefore, the only node head of the list will be assigned to null. This will be done by using the following statements.</a:t>
            </a:r>
          </a:p>
          <a:p>
            <a:endParaRPr lang="en-US" dirty="0" smtClean="0"/>
          </a:p>
          <a:p>
            <a:r>
              <a:rPr lang="en-US" dirty="0" err="1"/>
              <a:t>ptr</a:t>
            </a:r>
            <a:r>
              <a:rPr lang="en-US" dirty="0"/>
              <a:t> = head  </a:t>
            </a:r>
          </a:p>
          <a:p>
            <a:r>
              <a:rPr lang="en-US" dirty="0"/>
              <a:t>        head = NULL  </a:t>
            </a:r>
          </a:p>
          <a:p>
            <a:r>
              <a:rPr lang="en-US" dirty="0"/>
              <a:t>        free(</a:t>
            </a:r>
            <a:r>
              <a:rPr lang="en-US" dirty="0" err="1"/>
              <a:t>ptr</a:t>
            </a:r>
            <a:r>
              <a:rPr lang="en-US" dirty="0"/>
              <a:t>) </a:t>
            </a:r>
          </a:p>
          <a:p>
            <a:endParaRPr lang="en-US" dirty="0" smtClean="0"/>
          </a:p>
          <a:p>
            <a:r>
              <a:rPr lang="en-US" dirty="0"/>
              <a:t>In the second scenario,</a:t>
            </a:r>
          </a:p>
          <a:p>
            <a:r>
              <a:rPr lang="en-US" dirty="0"/>
              <a:t>The condition head → next = NULL would fail and therefore, we have to traverse the node in order to reach the last node of the list.</a:t>
            </a:r>
          </a:p>
          <a:p>
            <a:r>
              <a:rPr lang="en-US" dirty="0"/>
              <a:t>For this purpose, just declare a temporary pointer temp and assign it to head of the list. We also need to keep track of the second last node of the list. For this purpose, two pointers </a:t>
            </a:r>
            <a:r>
              <a:rPr lang="en-US" dirty="0" err="1"/>
              <a:t>ptr</a:t>
            </a:r>
            <a:r>
              <a:rPr lang="en-US" dirty="0"/>
              <a:t> and ptr1 will be used where </a:t>
            </a:r>
            <a:r>
              <a:rPr lang="en-US" dirty="0" err="1"/>
              <a:t>ptr</a:t>
            </a:r>
            <a:r>
              <a:rPr lang="en-US" dirty="0"/>
              <a:t> will point to the last node and ptr1 will point to the second last node of the list.</a:t>
            </a:r>
          </a:p>
          <a:p>
            <a:endParaRPr lang="en-US" dirty="0"/>
          </a:p>
        </p:txBody>
      </p:sp>
    </p:spTree>
    <p:extLst>
      <p:ext uri="{BB962C8B-B14F-4D97-AF65-F5344CB8AC3E}">
        <p14:creationId xmlns:p14="http://schemas.microsoft.com/office/powerpoint/2010/main" val="36822941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t>
            </a:r>
            <a:r>
              <a:rPr lang="en-US" dirty="0" smtClean="0"/>
              <a:t>end</a:t>
            </a:r>
            <a:r>
              <a:rPr lang="en-US" b="1" dirty="0" smtClean="0">
                <a:solidFill>
                  <a:srgbClr val="FF0000"/>
                </a:solidFill>
              </a:rPr>
              <a:t> </a:t>
            </a:r>
            <a:endParaRPr lang="en-IN" b="1" dirty="0">
              <a:solidFill>
                <a:srgbClr val="FF0000"/>
              </a:solidFill>
            </a:endParaRPr>
          </a:p>
        </p:txBody>
      </p:sp>
      <p:sp>
        <p:nvSpPr>
          <p:cNvPr id="3" name="Rectangle 2"/>
          <p:cNvSpPr/>
          <p:nvPr/>
        </p:nvSpPr>
        <p:spPr>
          <a:xfrm>
            <a:off x="536619" y="1534406"/>
            <a:ext cx="11221791" cy="4247317"/>
          </a:xfrm>
          <a:prstGeom prst="rect">
            <a:avLst/>
          </a:prstGeom>
        </p:spPr>
        <p:txBody>
          <a:bodyPr wrap="square">
            <a:spAutoFit/>
          </a:bodyPr>
          <a:lstStyle/>
          <a:p>
            <a:r>
              <a:rPr lang="en-US" dirty="0"/>
              <a:t>this all will be done by using the following statements</a:t>
            </a:r>
            <a:r>
              <a:rPr lang="en-US" dirty="0" smtClean="0"/>
              <a:t>.</a:t>
            </a:r>
          </a:p>
          <a:p>
            <a:endParaRPr lang="en-US" dirty="0"/>
          </a:p>
          <a:p>
            <a:r>
              <a:rPr lang="en-US" dirty="0" err="1"/>
              <a:t>ptr</a:t>
            </a:r>
            <a:r>
              <a:rPr lang="en-US" dirty="0"/>
              <a:t> = head;   </a:t>
            </a:r>
          </a:p>
          <a:p>
            <a:r>
              <a:rPr lang="en-US" dirty="0"/>
              <a:t>                </a:t>
            </a:r>
            <a:r>
              <a:rPr lang="en-US" b="1" dirty="0"/>
              <a:t>while</a:t>
            </a:r>
            <a:r>
              <a:rPr lang="en-US" dirty="0"/>
              <a:t>(</a:t>
            </a:r>
            <a:r>
              <a:rPr lang="en-US" dirty="0" err="1"/>
              <a:t>ptr</a:t>
            </a:r>
            <a:r>
              <a:rPr lang="en-US" dirty="0"/>
              <a:t>-&gt;next != NULL)  </a:t>
            </a:r>
          </a:p>
          <a:p>
            <a:r>
              <a:rPr lang="en-US" dirty="0"/>
              <a:t>                {  </a:t>
            </a:r>
          </a:p>
          <a:p>
            <a:r>
              <a:rPr lang="en-US" dirty="0"/>
              <a:t>                    ptr1 = </a:t>
            </a:r>
            <a:r>
              <a:rPr lang="en-US" dirty="0" err="1"/>
              <a:t>ptr</a:t>
            </a:r>
            <a:r>
              <a:rPr lang="en-US" dirty="0"/>
              <a:t>;  </a:t>
            </a:r>
          </a:p>
          <a:p>
            <a:r>
              <a:rPr lang="en-US" dirty="0"/>
              <a:t>                    </a:t>
            </a:r>
            <a:r>
              <a:rPr lang="en-US" dirty="0" err="1"/>
              <a:t>ptr</a:t>
            </a:r>
            <a:r>
              <a:rPr lang="en-US" dirty="0"/>
              <a:t> = </a:t>
            </a:r>
            <a:r>
              <a:rPr lang="en-US" dirty="0" err="1"/>
              <a:t>ptr</a:t>
            </a:r>
            <a:r>
              <a:rPr lang="en-US" dirty="0"/>
              <a:t> -&gt;next;  </a:t>
            </a:r>
          </a:p>
          <a:p>
            <a:r>
              <a:rPr lang="en-US" dirty="0"/>
              <a:t>                }  </a:t>
            </a:r>
          </a:p>
          <a:p>
            <a:r>
              <a:rPr lang="en-US" dirty="0"/>
              <a:t>Now, we just need to make the pointer ptr1 point to the NULL and the last node of the list that is pointed by </a:t>
            </a:r>
            <a:r>
              <a:rPr lang="en-US" dirty="0" err="1"/>
              <a:t>ptr</a:t>
            </a:r>
            <a:r>
              <a:rPr lang="en-US" dirty="0"/>
              <a:t> will become free. It will be done by using the following statements</a:t>
            </a:r>
            <a:r>
              <a:rPr lang="en-US" dirty="0" smtClean="0"/>
              <a:t>.</a:t>
            </a:r>
          </a:p>
          <a:p>
            <a:endParaRPr lang="en-US" dirty="0"/>
          </a:p>
          <a:p>
            <a:r>
              <a:rPr lang="en-US" dirty="0"/>
              <a:t>ptr1-&gt;next = NULL;  </a:t>
            </a:r>
          </a:p>
          <a:p>
            <a:r>
              <a:rPr lang="en-US" dirty="0"/>
              <a:t>                free(</a:t>
            </a:r>
            <a:r>
              <a:rPr lang="en-US" dirty="0" err="1"/>
              <a:t>ptr</a:t>
            </a:r>
            <a:r>
              <a:rPr lang="en-US" dirty="0"/>
              <a:t>);  </a:t>
            </a:r>
          </a:p>
          <a:p>
            <a:endParaRPr lang="en-US" dirty="0" smtClean="0"/>
          </a:p>
          <a:p>
            <a:endParaRPr lang="en-US" dirty="0"/>
          </a:p>
        </p:txBody>
      </p:sp>
    </p:spTree>
    <p:extLst>
      <p:ext uri="{BB962C8B-B14F-4D97-AF65-F5344CB8AC3E}">
        <p14:creationId xmlns:p14="http://schemas.microsoft.com/office/powerpoint/2010/main" val="14566853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t>
            </a:r>
            <a:r>
              <a:rPr lang="en-US" dirty="0" smtClean="0"/>
              <a:t>end</a:t>
            </a:r>
            <a:r>
              <a:rPr lang="en-US" b="1" dirty="0" smtClean="0">
                <a:solidFill>
                  <a:srgbClr val="FF0000"/>
                </a:solidFill>
              </a:rPr>
              <a:t> </a:t>
            </a:r>
            <a:endParaRPr lang="en-IN" b="1" dirty="0">
              <a:solidFill>
                <a:srgbClr val="FF0000"/>
              </a:solidFill>
            </a:endParaRPr>
          </a:p>
        </p:txBody>
      </p:sp>
      <p:sp>
        <p:nvSpPr>
          <p:cNvPr id="3" name="Rectangle 2"/>
          <p:cNvSpPr/>
          <p:nvPr/>
        </p:nvSpPr>
        <p:spPr>
          <a:xfrm>
            <a:off x="536619" y="1534406"/>
            <a:ext cx="11221791" cy="4247317"/>
          </a:xfrm>
          <a:prstGeom prst="rect">
            <a:avLst/>
          </a:prstGeom>
        </p:spPr>
        <p:txBody>
          <a:bodyPr wrap="square">
            <a:spAutoFit/>
          </a:bodyPr>
          <a:lstStyle/>
          <a:p>
            <a:r>
              <a:rPr lang="en-US" dirty="0"/>
              <a:t>Algorithm</a:t>
            </a:r>
          </a:p>
          <a:p>
            <a:r>
              <a:rPr lang="en-US" b="1" dirty="0"/>
              <a:t>Step 1:</a:t>
            </a:r>
            <a:r>
              <a:rPr lang="en-US" dirty="0"/>
              <a:t> IF HEAD = NULL</a:t>
            </a:r>
          </a:p>
          <a:p>
            <a:r>
              <a:rPr lang="en-US" dirty="0"/>
              <a:t>Write UNDERFLOW</a:t>
            </a:r>
            <a:br>
              <a:rPr lang="en-US" dirty="0"/>
            </a:br>
            <a:r>
              <a:rPr lang="en-US" dirty="0"/>
              <a:t>   Go to Step 8</a:t>
            </a:r>
            <a:br>
              <a:rPr lang="en-US" dirty="0"/>
            </a:br>
            <a:r>
              <a:rPr lang="en-US" dirty="0"/>
              <a:t>  [END OF IF]</a:t>
            </a:r>
          </a:p>
          <a:p>
            <a:r>
              <a:rPr lang="en-US" b="1" dirty="0"/>
              <a:t>Step 2:</a:t>
            </a:r>
            <a:r>
              <a:rPr lang="en-US" dirty="0"/>
              <a:t> SET PTR = HEAD</a:t>
            </a:r>
          </a:p>
          <a:p>
            <a:r>
              <a:rPr lang="en-US" b="1" dirty="0"/>
              <a:t>Step 3:</a:t>
            </a:r>
            <a:r>
              <a:rPr lang="en-US" dirty="0"/>
              <a:t> Repeat Steps 4 and 5 while PTR -&gt; NEXT!= NULL</a:t>
            </a:r>
          </a:p>
          <a:p>
            <a:r>
              <a:rPr lang="en-US" b="1" dirty="0"/>
              <a:t>Step 4:</a:t>
            </a:r>
            <a:r>
              <a:rPr lang="en-US" dirty="0"/>
              <a:t> SET PREPTR = PTR</a:t>
            </a:r>
          </a:p>
          <a:p>
            <a:r>
              <a:rPr lang="en-US" b="1" dirty="0"/>
              <a:t>Step 5:</a:t>
            </a:r>
            <a:r>
              <a:rPr lang="en-US" dirty="0"/>
              <a:t> SET PTR = PTR -&gt; NEXT</a:t>
            </a:r>
          </a:p>
          <a:p>
            <a:r>
              <a:rPr lang="en-US" dirty="0"/>
              <a:t>[END OF LOOP]</a:t>
            </a:r>
          </a:p>
          <a:p>
            <a:r>
              <a:rPr lang="en-US" b="1" dirty="0"/>
              <a:t>Step 6:</a:t>
            </a:r>
            <a:r>
              <a:rPr lang="en-US" dirty="0"/>
              <a:t> SET PREPTR -&gt; NEXT = NULL</a:t>
            </a:r>
          </a:p>
          <a:p>
            <a:r>
              <a:rPr lang="en-US" b="1" dirty="0"/>
              <a:t>Step 7:</a:t>
            </a:r>
            <a:r>
              <a:rPr lang="en-US" dirty="0"/>
              <a:t> FREE PTR</a:t>
            </a:r>
          </a:p>
          <a:p>
            <a:r>
              <a:rPr lang="en-US" b="1" dirty="0"/>
              <a:t>Step 8:</a:t>
            </a:r>
            <a:r>
              <a:rPr lang="en-US" dirty="0"/>
              <a:t> EXIT</a:t>
            </a:r>
          </a:p>
          <a:p>
            <a:endParaRPr lang="en-US" dirty="0" smtClean="0"/>
          </a:p>
          <a:p>
            <a:endParaRPr lang="en-US" dirty="0"/>
          </a:p>
        </p:txBody>
      </p:sp>
      <p:pic>
        <p:nvPicPr>
          <p:cNvPr id="2050" name="Picture 2" descr="DS Delete element from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9473" y="2049561"/>
            <a:ext cx="6052678" cy="2870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6695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r>
            <a:r>
              <a:rPr lang="en-US" dirty="0" smtClean="0"/>
              <a:t>at specified position</a:t>
            </a:r>
            <a:endParaRPr lang="en-IN" b="1" dirty="0">
              <a:solidFill>
                <a:srgbClr val="FF0000"/>
              </a:solidFill>
            </a:endParaRPr>
          </a:p>
        </p:txBody>
      </p:sp>
      <p:sp>
        <p:nvSpPr>
          <p:cNvPr id="3" name="Rectangle 2"/>
          <p:cNvSpPr/>
          <p:nvPr/>
        </p:nvSpPr>
        <p:spPr>
          <a:xfrm>
            <a:off x="536619" y="1534406"/>
            <a:ext cx="11221791" cy="5355312"/>
          </a:xfrm>
          <a:prstGeom prst="rect">
            <a:avLst/>
          </a:prstGeom>
        </p:spPr>
        <p:txBody>
          <a:bodyPr wrap="square">
            <a:spAutoFit/>
          </a:bodyPr>
          <a:lstStyle/>
          <a:p>
            <a:r>
              <a:rPr lang="en-US" dirty="0"/>
              <a:t>In order to delete the node, which is present after the specified node, we need to skip the desired number of nodes to reach the node after which the node will be deleted. We need to keep track of the two nodes. The one which is to be deleted the other one if the node which is present before that node. For this purpose, two pointers are used: </a:t>
            </a:r>
            <a:r>
              <a:rPr lang="en-US" dirty="0" err="1"/>
              <a:t>ptr</a:t>
            </a:r>
            <a:r>
              <a:rPr lang="en-US" dirty="0"/>
              <a:t> and ptr1.</a:t>
            </a:r>
          </a:p>
          <a:p>
            <a:r>
              <a:rPr lang="en-US" dirty="0"/>
              <a:t>Use the following statements to do so.</a:t>
            </a:r>
          </a:p>
          <a:p>
            <a:endParaRPr lang="en-US" dirty="0" smtClean="0"/>
          </a:p>
          <a:p>
            <a:r>
              <a:rPr lang="en-US" dirty="0" err="1"/>
              <a:t>ptr</a:t>
            </a:r>
            <a:r>
              <a:rPr lang="en-US" dirty="0"/>
              <a:t>=head;  </a:t>
            </a:r>
          </a:p>
          <a:p>
            <a:r>
              <a:rPr lang="en-US" dirty="0"/>
              <a:t>        </a:t>
            </a:r>
            <a:r>
              <a:rPr lang="en-US" b="1" dirty="0"/>
              <a:t>for</a:t>
            </a:r>
            <a:r>
              <a:rPr lang="en-US" dirty="0"/>
              <a:t>(</a:t>
            </a:r>
            <a:r>
              <a:rPr lang="en-US" dirty="0" err="1"/>
              <a:t>i</a:t>
            </a:r>
            <a:r>
              <a:rPr lang="en-US" dirty="0"/>
              <a:t>=0;i&lt;</a:t>
            </a:r>
            <a:r>
              <a:rPr lang="en-US" dirty="0" err="1"/>
              <a:t>loc;i</a:t>
            </a:r>
            <a:r>
              <a:rPr lang="en-US" dirty="0"/>
              <a:t>++)  </a:t>
            </a:r>
          </a:p>
          <a:p>
            <a:r>
              <a:rPr lang="en-US" dirty="0"/>
              <a:t>        {  </a:t>
            </a:r>
          </a:p>
          <a:p>
            <a:r>
              <a:rPr lang="en-US" dirty="0"/>
              <a:t>            ptr1 = </a:t>
            </a:r>
            <a:r>
              <a:rPr lang="en-US" dirty="0" err="1"/>
              <a:t>ptr</a:t>
            </a:r>
            <a:r>
              <a:rPr lang="en-US" dirty="0"/>
              <a:t>;       </a:t>
            </a:r>
          </a:p>
          <a:p>
            <a:r>
              <a:rPr lang="en-US" dirty="0"/>
              <a:t>            </a:t>
            </a:r>
            <a:r>
              <a:rPr lang="en-US" dirty="0" err="1"/>
              <a:t>ptr</a:t>
            </a:r>
            <a:r>
              <a:rPr lang="en-US" dirty="0"/>
              <a:t> = </a:t>
            </a:r>
            <a:r>
              <a:rPr lang="en-US" dirty="0" err="1"/>
              <a:t>ptr</a:t>
            </a:r>
            <a:r>
              <a:rPr lang="en-US" dirty="0"/>
              <a:t>-&gt;next;  </a:t>
            </a:r>
          </a:p>
          <a:p>
            <a:r>
              <a:rPr lang="en-US" dirty="0"/>
              <a:t>              </a:t>
            </a:r>
          </a:p>
          <a:p>
            <a:r>
              <a:rPr lang="en-US" dirty="0"/>
              <a:t>            </a:t>
            </a:r>
            <a:r>
              <a:rPr lang="en-US" b="1" dirty="0"/>
              <a:t>if</a:t>
            </a:r>
            <a:r>
              <a:rPr lang="en-US" dirty="0"/>
              <a:t>(</a:t>
            </a:r>
            <a:r>
              <a:rPr lang="en-US" dirty="0" err="1"/>
              <a:t>ptr</a:t>
            </a:r>
            <a:r>
              <a:rPr lang="en-US" dirty="0"/>
              <a:t> == NULL)  </a:t>
            </a:r>
          </a:p>
          <a:p>
            <a:r>
              <a:rPr lang="en-US" dirty="0"/>
              <a:t>            {  </a:t>
            </a:r>
          </a:p>
          <a:p>
            <a:r>
              <a:rPr lang="en-US" dirty="0"/>
              <a:t>                </a:t>
            </a:r>
            <a:r>
              <a:rPr lang="en-US" dirty="0" err="1"/>
              <a:t>printf</a:t>
            </a:r>
            <a:r>
              <a:rPr lang="en-US" dirty="0"/>
              <a:t>("\</a:t>
            </a:r>
            <a:r>
              <a:rPr lang="en-US" dirty="0" err="1"/>
              <a:t>nThere</a:t>
            </a:r>
            <a:r>
              <a:rPr lang="en-US" dirty="0"/>
              <a:t> are less than %d elements in the list..",</a:t>
            </a:r>
            <a:r>
              <a:rPr lang="en-US" dirty="0" err="1"/>
              <a:t>loc</a:t>
            </a:r>
            <a:r>
              <a:rPr lang="en-US" dirty="0"/>
              <a:t>);  </a:t>
            </a:r>
          </a:p>
          <a:p>
            <a:r>
              <a:rPr lang="en-US" dirty="0"/>
              <a:t>                </a:t>
            </a:r>
            <a:r>
              <a:rPr lang="en-US" b="1" dirty="0"/>
              <a:t>return</a:t>
            </a:r>
            <a:r>
              <a:rPr lang="en-US" dirty="0"/>
              <a:t>;  </a:t>
            </a:r>
          </a:p>
          <a:p>
            <a:r>
              <a:rPr lang="en-US" dirty="0"/>
              <a:t>            }  </a:t>
            </a:r>
          </a:p>
          <a:p>
            <a:r>
              <a:rPr lang="en-US" dirty="0"/>
              <a:t>        }  </a:t>
            </a:r>
          </a:p>
          <a:p>
            <a:endParaRPr lang="en-US" dirty="0"/>
          </a:p>
        </p:txBody>
      </p:sp>
    </p:spTree>
    <p:extLst>
      <p:ext uri="{BB962C8B-B14F-4D97-AF65-F5344CB8AC3E}">
        <p14:creationId xmlns:p14="http://schemas.microsoft.com/office/powerpoint/2010/main" val="7089440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r>
            <a:r>
              <a:rPr lang="en-US" dirty="0" smtClean="0"/>
              <a:t>at specified position</a:t>
            </a:r>
            <a:endParaRPr lang="en-IN" b="1" dirty="0">
              <a:solidFill>
                <a:srgbClr val="FF0000"/>
              </a:solidFill>
            </a:endParaRPr>
          </a:p>
        </p:txBody>
      </p:sp>
      <p:sp>
        <p:nvSpPr>
          <p:cNvPr id="3" name="Rectangle 2"/>
          <p:cNvSpPr/>
          <p:nvPr/>
        </p:nvSpPr>
        <p:spPr>
          <a:xfrm>
            <a:off x="536619" y="1534406"/>
            <a:ext cx="11221791" cy="2031325"/>
          </a:xfrm>
          <a:prstGeom prst="rect">
            <a:avLst/>
          </a:prstGeom>
        </p:spPr>
        <p:txBody>
          <a:bodyPr wrap="square">
            <a:spAutoFit/>
          </a:bodyPr>
          <a:lstStyle/>
          <a:p>
            <a:r>
              <a:rPr lang="en-US" dirty="0"/>
              <a:t>Now, our task is almost done, we just need to make a few pointer adjustments. Make the next of ptr1 (points to the specified node) point to the next of </a:t>
            </a:r>
            <a:r>
              <a:rPr lang="en-US" dirty="0" err="1"/>
              <a:t>ptr</a:t>
            </a:r>
            <a:r>
              <a:rPr lang="en-US" dirty="0"/>
              <a:t> (the node which is to be deleted).</a:t>
            </a:r>
          </a:p>
          <a:p>
            <a:r>
              <a:rPr lang="en-US" dirty="0"/>
              <a:t>This will be done by using the following statements.</a:t>
            </a:r>
          </a:p>
          <a:p>
            <a:endParaRPr lang="en-US" dirty="0" smtClean="0"/>
          </a:p>
          <a:p>
            <a:r>
              <a:rPr lang="en-US" dirty="0"/>
              <a:t>ptr1 -&gt;next = </a:t>
            </a:r>
            <a:r>
              <a:rPr lang="en-US" dirty="0" err="1"/>
              <a:t>ptr</a:t>
            </a:r>
            <a:r>
              <a:rPr lang="en-US" dirty="0"/>
              <a:t> -&gt;next;  </a:t>
            </a:r>
          </a:p>
          <a:p>
            <a:r>
              <a:rPr lang="en-US" dirty="0"/>
              <a:t>        free(</a:t>
            </a:r>
            <a:r>
              <a:rPr lang="en-US" dirty="0" err="1"/>
              <a:t>ptr</a:t>
            </a:r>
            <a:r>
              <a:rPr lang="en-US" dirty="0"/>
              <a:t>);  </a:t>
            </a:r>
          </a:p>
          <a:p>
            <a:endParaRPr lang="en-US" dirty="0"/>
          </a:p>
        </p:txBody>
      </p:sp>
    </p:spTree>
    <p:extLst>
      <p:ext uri="{BB962C8B-B14F-4D97-AF65-F5344CB8AC3E}">
        <p14:creationId xmlns:p14="http://schemas.microsoft.com/office/powerpoint/2010/main" val="157048060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r>
            <a:r>
              <a:rPr lang="en-US" dirty="0" smtClean="0"/>
              <a:t>at specified position</a:t>
            </a:r>
            <a:endParaRPr lang="en-IN" b="1" dirty="0">
              <a:solidFill>
                <a:srgbClr val="FF0000"/>
              </a:solidFill>
            </a:endParaRPr>
          </a:p>
        </p:txBody>
      </p:sp>
      <p:sp>
        <p:nvSpPr>
          <p:cNvPr id="3" name="Rectangle 2"/>
          <p:cNvSpPr/>
          <p:nvPr/>
        </p:nvSpPr>
        <p:spPr>
          <a:xfrm>
            <a:off x="536619" y="1534406"/>
            <a:ext cx="11221791" cy="5632311"/>
          </a:xfrm>
          <a:prstGeom prst="rect">
            <a:avLst/>
          </a:prstGeom>
        </p:spPr>
        <p:txBody>
          <a:bodyPr wrap="square">
            <a:spAutoFit/>
          </a:bodyPr>
          <a:lstStyle/>
          <a:p>
            <a:r>
              <a:rPr lang="en-US" dirty="0"/>
              <a:t>Algorithm</a:t>
            </a:r>
          </a:p>
          <a:p>
            <a:r>
              <a:rPr lang="en-US" b="1" dirty="0"/>
              <a:t>STEP 1:</a:t>
            </a:r>
            <a:r>
              <a:rPr lang="en-US" dirty="0"/>
              <a:t> IF HEAD = NULL</a:t>
            </a:r>
          </a:p>
          <a:p>
            <a:r>
              <a:rPr lang="en-US" dirty="0"/>
              <a:t>WRITE UNDERFLOW</a:t>
            </a:r>
            <a:br>
              <a:rPr lang="en-US" dirty="0"/>
            </a:br>
            <a:r>
              <a:rPr lang="en-US" dirty="0"/>
              <a:t>    GOTO STEP 10</a:t>
            </a:r>
            <a:br>
              <a:rPr lang="en-US" dirty="0"/>
            </a:br>
            <a:r>
              <a:rPr lang="en-US" dirty="0"/>
              <a:t>   END OF IF</a:t>
            </a:r>
          </a:p>
          <a:p>
            <a:r>
              <a:rPr lang="en-US" b="1" dirty="0"/>
              <a:t>STEP 2:</a:t>
            </a:r>
            <a:r>
              <a:rPr lang="en-US" dirty="0"/>
              <a:t> SET TEMP = HEAD</a:t>
            </a:r>
          </a:p>
          <a:p>
            <a:r>
              <a:rPr lang="en-US" b="1" dirty="0"/>
              <a:t>STEP 3:</a:t>
            </a:r>
            <a:r>
              <a:rPr lang="en-US" dirty="0"/>
              <a:t> SET I = 0</a:t>
            </a:r>
          </a:p>
          <a:p>
            <a:r>
              <a:rPr lang="en-US" b="1" dirty="0"/>
              <a:t>STEP 4:</a:t>
            </a:r>
            <a:r>
              <a:rPr lang="en-US" dirty="0"/>
              <a:t> REPEAT STEP 5 TO 8 UNTIL </a:t>
            </a:r>
            <a:r>
              <a:rPr lang="en-US" dirty="0" smtClean="0"/>
              <a:t>I</a:t>
            </a:r>
          </a:p>
          <a:p>
            <a:r>
              <a:rPr lang="en-US" b="1" dirty="0" smtClean="0"/>
              <a:t>STEP </a:t>
            </a:r>
            <a:r>
              <a:rPr lang="en-US" b="1" dirty="0"/>
              <a:t>5:</a:t>
            </a:r>
            <a:r>
              <a:rPr lang="en-US" dirty="0"/>
              <a:t> TEMP1 = TEMP</a:t>
            </a:r>
          </a:p>
          <a:p>
            <a:r>
              <a:rPr lang="en-US" b="1" dirty="0"/>
              <a:t>STEP 6:</a:t>
            </a:r>
            <a:r>
              <a:rPr lang="en-US" dirty="0"/>
              <a:t> TEMP = TEMP → NEXT</a:t>
            </a:r>
          </a:p>
          <a:p>
            <a:r>
              <a:rPr lang="en-US" b="1" dirty="0"/>
              <a:t>STEP 7:</a:t>
            </a:r>
            <a:r>
              <a:rPr lang="en-US" dirty="0"/>
              <a:t> IF TEMP = NULL</a:t>
            </a:r>
          </a:p>
          <a:p>
            <a:r>
              <a:rPr lang="en-US" dirty="0"/>
              <a:t>WRITE "DESIRED NODE NOT PRESENT"</a:t>
            </a:r>
            <a:br>
              <a:rPr lang="en-US" dirty="0"/>
            </a:br>
            <a:r>
              <a:rPr lang="en-US" dirty="0"/>
              <a:t>    GOTO STEP 12</a:t>
            </a:r>
            <a:br>
              <a:rPr lang="en-US" dirty="0"/>
            </a:br>
            <a:r>
              <a:rPr lang="en-US" dirty="0"/>
              <a:t>    END OF IF</a:t>
            </a:r>
          </a:p>
          <a:p>
            <a:r>
              <a:rPr lang="en-US" b="1" dirty="0"/>
              <a:t>STEP 8:</a:t>
            </a:r>
            <a:r>
              <a:rPr lang="en-US" dirty="0"/>
              <a:t> I = I+1</a:t>
            </a:r>
          </a:p>
          <a:p>
            <a:r>
              <a:rPr lang="en-US" dirty="0"/>
              <a:t>END OF LOOP</a:t>
            </a:r>
          </a:p>
          <a:p>
            <a:r>
              <a:rPr lang="en-US" b="1" dirty="0"/>
              <a:t>STEP 9:</a:t>
            </a:r>
            <a:r>
              <a:rPr lang="en-US" dirty="0"/>
              <a:t> TEMP1 → NEXT = TEMP → NEXT</a:t>
            </a:r>
          </a:p>
          <a:p>
            <a:r>
              <a:rPr lang="en-US" b="1" dirty="0"/>
              <a:t>STEP 10:</a:t>
            </a:r>
            <a:r>
              <a:rPr lang="en-US" dirty="0"/>
              <a:t> FREE TEMP</a:t>
            </a:r>
          </a:p>
          <a:p>
            <a:r>
              <a:rPr lang="en-US" b="1" dirty="0"/>
              <a:t>STEP 11:</a:t>
            </a:r>
            <a:r>
              <a:rPr lang="en-US" dirty="0"/>
              <a:t> EXIT</a:t>
            </a:r>
          </a:p>
          <a:p>
            <a:endParaRPr lang="en-US" dirty="0"/>
          </a:p>
        </p:txBody>
      </p:sp>
    </p:spTree>
    <p:extLst>
      <p:ext uri="{BB962C8B-B14F-4D97-AF65-F5344CB8AC3E}">
        <p14:creationId xmlns:p14="http://schemas.microsoft.com/office/powerpoint/2010/main" val="1016518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Deletion in singly linked list </a:t>
            </a:r>
            <a:r>
              <a:rPr lang="en-US" dirty="0" smtClean="0"/>
              <a:t>at specified position</a:t>
            </a:r>
            <a:endParaRPr lang="en-IN" b="1" dirty="0">
              <a:solidFill>
                <a:srgbClr val="FF0000"/>
              </a:solidFill>
            </a:endParaRPr>
          </a:p>
        </p:txBody>
      </p:sp>
      <p:pic>
        <p:nvPicPr>
          <p:cNvPr id="3074" name="Picture 2" descr="DS Deletion in singly linked list after the specified n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2517" y="1821175"/>
            <a:ext cx="6753225" cy="3409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88779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a:t>Traversing in singly linked list</a:t>
            </a:r>
            <a:br>
              <a:rPr lang="en-US" dirty="0"/>
            </a:br>
            <a:endParaRPr lang="en-IN" b="1" dirty="0">
              <a:solidFill>
                <a:srgbClr val="FF0000"/>
              </a:solidFill>
            </a:endParaRPr>
          </a:p>
        </p:txBody>
      </p:sp>
      <p:sp>
        <p:nvSpPr>
          <p:cNvPr id="3" name="Rectangle 2"/>
          <p:cNvSpPr/>
          <p:nvPr/>
        </p:nvSpPr>
        <p:spPr>
          <a:xfrm>
            <a:off x="536619" y="1534406"/>
            <a:ext cx="11221791" cy="5632311"/>
          </a:xfrm>
          <a:prstGeom prst="rect">
            <a:avLst/>
          </a:prstGeom>
        </p:spPr>
        <p:txBody>
          <a:bodyPr wrap="square">
            <a:spAutoFit/>
          </a:bodyPr>
          <a:lstStyle/>
          <a:p>
            <a:r>
              <a:rPr lang="en-US" dirty="0"/>
              <a:t>Traversing is the most common operation that is performed in almost every scenario of singly linked list. Traversing means visiting each node of the list once in order to perform some operation on that. This will be done by using the following statements</a:t>
            </a:r>
            <a:r>
              <a:rPr lang="en-US" dirty="0" smtClean="0"/>
              <a:t>.</a:t>
            </a:r>
            <a:endParaRPr lang="en-US" dirty="0"/>
          </a:p>
          <a:p>
            <a:r>
              <a:rPr lang="en-US" dirty="0" err="1"/>
              <a:t>ptr</a:t>
            </a:r>
            <a:r>
              <a:rPr lang="en-US" dirty="0"/>
              <a:t> = head;   </a:t>
            </a:r>
          </a:p>
          <a:p>
            <a:r>
              <a:rPr lang="en-US" dirty="0"/>
              <a:t>        </a:t>
            </a:r>
            <a:r>
              <a:rPr lang="en-US" b="1" dirty="0"/>
              <a:t>while</a:t>
            </a:r>
            <a:r>
              <a:rPr lang="en-US" dirty="0"/>
              <a:t> (</a:t>
            </a:r>
            <a:r>
              <a:rPr lang="en-US" dirty="0" err="1"/>
              <a:t>ptr</a:t>
            </a:r>
            <a:r>
              <a:rPr lang="en-US" dirty="0"/>
              <a:t>!=NULL)  </a:t>
            </a:r>
          </a:p>
          <a:p>
            <a:r>
              <a:rPr lang="en-US" dirty="0"/>
              <a:t>            {  </a:t>
            </a:r>
          </a:p>
          <a:p>
            <a:r>
              <a:rPr lang="en-US" dirty="0"/>
              <a:t>                </a:t>
            </a:r>
            <a:r>
              <a:rPr lang="en-US" dirty="0" err="1"/>
              <a:t>ptr</a:t>
            </a:r>
            <a:r>
              <a:rPr lang="en-US" dirty="0"/>
              <a:t> = </a:t>
            </a:r>
            <a:r>
              <a:rPr lang="en-US" dirty="0" err="1"/>
              <a:t>ptr</a:t>
            </a:r>
            <a:r>
              <a:rPr lang="en-US" dirty="0"/>
              <a:t> -&gt; next;  </a:t>
            </a:r>
          </a:p>
          <a:p>
            <a:r>
              <a:rPr lang="en-US" dirty="0"/>
              <a:t>            }  </a:t>
            </a:r>
          </a:p>
          <a:p>
            <a:r>
              <a:rPr lang="en-US" dirty="0"/>
              <a:t>Algorithm</a:t>
            </a:r>
          </a:p>
          <a:p>
            <a:r>
              <a:rPr lang="en-US" b="1" dirty="0"/>
              <a:t>STEP 1:</a:t>
            </a:r>
            <a:r>
              <a:rPr lang="en-US" dirty="0"/>
              <a:t> SET PTR = HEAD</a:t>
            </a:r>
          </a:p>
          <a:p>
            <a:r>
              <a:rPr lang="en-US" b="1" dirty="0"/>
              <a:t>STEP 2:</a:t>
            </a:r>
            <a:r>
              <a:rPr lang="en-US" dirty="0"/>
              <a:t> IF PTR = NULL</a:t>
            </a:r>
          </a:p>
          <a:p>
            <a:r>
              <a:rPr lang="en-US" dirty="0"/>
              <a:t>   WRITE "EMPTY LIST"</a:t>
            </a:r>
            <a:br>
              <a:rPr lang="en-US" dirty="0"/>
            </a:br>
            <a:r>
              <a:rPr lang="en-US" dirty="0"/>
              <a:t>  GOTO STEP 7</a:t>
            </a:r>
            <a:br>
              <a:rPr lang="en-US" dirty="0"/>
            </a:br>
            <a:r>
              <a:rPr lang="en-US" dirty="0"/>
              <a:t>  END OF IF</a:t>
            </a:r>
          </a:p>
          <a:p>
            <a:r>
              <a:rPr lang="en-US" b="1" dirty="0"/>
              <a:t>STEP 4:</a:t>
            </a:r>
            <a:r>
              <a:rPr lang="en-US" dirty="0"/>
              <a:t> REPEAT STEP 5 AND 6 UNTIL PTR != NULL</a:t>
            </a:r>
          </a:p>
          <a:p>
            <a:r>
              <a:rPr lang="en-US" b="1" dirty="0"/>
              <a:t>STEP 5:</a:t>
            </a:r>
            <a:r>
              <a:rPr lang="en-US" dirty="0"/>
              <a:t> PRINT PTR→ DATA</a:t>
            </a:r>
          </a:p>
          <a:p>
            <a:r>
              <a:rPr lang="en-US" b="1" dirty="0"/>
              <a:t>STEP 6:</a:t>
            </a:r>
            <a:r>
              <a:rPr lang="en-US" dirty="0"/>
              <a:t> PTR = PTR → NEXT</a:t>
            </a:r>
          </a:p>
          <a:p>
            <a:r>
              <a:rPr lang="en-US" dirty="0"/>
              <a:t>[END OF LOOP]</a:t>
            </a:r>
          </a:p>
          <a:p>
            <a:r>
              <a:rPr lang="en-US" b="1" dirty="0"/>
              <a:t>STEP 7:</a:t>
            </a:r>
            <a:r>
              <a:rPr lang="en-US" dirty="0"/>
              <a:t> EXIT</a:t>
            </a:r>
          </a:p>
          <a:p>
            <a:endParaRPr lang="en-US" dirty="0"/>
          </a:p>
        </p:txBody>
      </p:sp>
    </p:spTree>
    <p:extLst>
      <p:ext uri="{BB962C8B-B14F-4D97-AF65-F5344CB8AC3E}">
        <p14:creationId xmlns:p14="http://schemas.microsoft.com/office/powerpoint/2010/main" val="104387943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smtClean="0"/>
              <a:t>search </a:t>
            </a:r>
            <a:r>
              <a:rPr lang="en-US" dirty="0"/>
              <a:t>in singly linked list</a:t>
            </a:r>
            <a:br>
              <a:rPr lang="en-US" dirty="0"/>
            </a:br>
            <a:endParaRPr lang="en-IN" b="1" dirty="0">
              <a:solidFill>
                <a:srgbClr val="FF0000"/>
              </a:solidFill>
            </a:endParaRPr>
          </a:p>
        </p:txBody>
      </p:sp>
      <p:sp>
        <p:nvSpPr>
          <p:cNvPr id="3" name="Rectangle 2"/>
          <p:cNvSpPr/>
          <p:nvPr/>
        </p:nvSpPr>
        <p:spPr>
          <a:xfrm>
            <a:off x="536619" y="1534406"/>
            <a:ext cx="11221791" cy="2585323"/>
          </a:xfrm>
          <a:prstGeom prst="rect">
            <a:avLst/>
          </a:prstGeom>
        </p:spPr>
        <p:txBody>
          <a:bodyPr wrap="square">
            <a:spAutoFit/>
          </a:bodyPr>
          <a:lstStyle/>
          <a:p>
            <a:r>
              <a:rPr lang="en-US" dirty="0" err="1"/>
              <a:t>searchNode</a:t>
            </a:r>
            <a:r>
              <a:rPr lang="en-US" dirty="0"/>
              <a:t>() will search for a node in the list:</a:t>
            </a:r>
          </a:p>
          <a:p>
            <a:pPr lvl="1"/>
            <a:r>
              <a:rPr lang="en-US" dirty="0"/>
              <a:t>Variable </a:t>
            </a:r>
            <a:r>
              <a:rPr lang="en-US" dirty="0" err="1"/>
              <a:t>i</a:t>
            </a:r>
            <a:r>
              <a:rPr lang="en-US" dirty="0"/>
              <a:t> will keep track of the position of the searched node.</a:t>
            </a:r>
          </a:p>
          <a:p>
            <a:pPr lvl="1"/>
            <a:r>
              <a:rPr lang="en-US" dirty="0"/>
              <a:t>The variable flag will store </a:t>
            </a:r>
            <a:r>
              <a:rPr lang="en-US" dirty="0" err="1"/>
              <a:t>boolean</a:t>
            </a:r>
            <a:r>
              <a:rPr lang="en-US" dirty="0"/>
              <a:t> value false.</a:t>
            </a:r>
          </a:p>
          <a:p>
            <a:pPr lvl="1"/>
            <a:r>
              <a:rPr lang="en-US" dirty="0"/>
              <a:t>Node </a:t>
            </a:r>
            <a:r>
              <a:rPr lang="en-US" dirty="0" smtClean="0"/>
              <a:t>temp will </a:t>
            </a:r>
            <a:r>
              <a:rPr lang="en-US" dirty="0"/>
              <a:t>point to head node.</a:t>
            </a:r>
          </a:p>
          <a:p>
            <a:pPr lvl="1"/>
            <a:r>
              <a:rPr lang="en-US" dirty="0"/>
              <a:t>Iterate through the loop by incrementing </a:t>
            </a:r>
            <a:r>
              <a:rPr lang="en-US" dirty="0" smtClean="0"/>
              <a:t>temp to </a:t>
            </a:r>
            <a:r>
              <a:rPr lang="en-US" dirty="0" err="1" smtClean="0"/>
              <a:t>temp.next</a:t>
            </a:r>
            <a:r>
              <a:rPr lang="en-US" dirty="0" smtClean="0"/>
              <a:t> </a:t>
            </a:r>
            <a:r>
              <a:rPr lang="en-US" dirty="0"/>
              <a:t>and </a:t>
            </a:r>
            <a:r>
              <a:rPr lang="en-US" dirty="0" err="1"/>
              <a:t>i</a:t>
            </a:r>
            <a:r>
              <a:rPr lang="en-US" dirty="0"/>
              <a:t> to </a:t>
            </a:r>
            <a:r>
              <a:rPr lang="en-US" dirty="0" err="1"/>
              <a:t>i</a:t>
            </a:r>
            <a:r>
              <a:rPr lang="en-US" dirty="0"/>
              <a:t> + 1.</a:t>
            </a:r>
          </a:p>
          <a:p>
            <a:pPr lvl="1"/>
            <a:r>
              <a:rPr lang="en-US" dirty="0"/>
              <a:t>Compare each node's data with the searched node. If a match is found, set flag to true.</a:t>
            </a:r>
          </a:p>
          <a:p>
            <a:pPr lvl="1"/>
            <a:r>
              <a:rPr lang="en-US" dirty="0"/>
              <a:t>If the flag is true, display the position of the searched node.</a:t>
            </a:r>
          </a:p>
          <a:p>
            <a:pPr lvl="1"/>
            <a:r>
              <a:rPr lang="en-US" dirty="0"/>
              <a:t>Else, display the message "Element is not present in the list".</a:t>
            </a:r>
          </a:p>
          <a:p>
            <a:endParaRPr lang="en-US" dirty="0"/>
          </a:p>
        </p:txBody>
      </p:sp>
    </p:spTree>
    <p:extLst>
      <p:ext uri="{BB962C8B-B14F-4D97-AF65-F5344CB8AC3E}">
        <p14:creationId xmlns:p14="http://schemas.microsoft.com/office/powerpoint/2010/main" val="417507837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Autofit/>
          </a:bodyPr>
          <a:lstStyle/>
          <a:p>
            <a:pPr algn="ctr"/>
            <a:r>
              <a:rPr lang="en-US" b="1" dirty="0">
                <a:solidFill>
                  <a:srgbClr val="FF0000"/>
                </a:solidFill>
              </a:rPr>
              <a:t>Singly Linked List – </a:t>
            </a:r>
            <a:r>
              <a:rPr lang="en-US" dirty="0" smtClean="0"/>
              <a:t>sort singly </a:t>
            </a:r>
            <a:r>
              <a:rPr lang="en-US" dirty="0"/>
              <a:t>linked list</a:t>
            </a:r>
            <a:br>
              <a:rPr lang="en-US" dirty="0"/>
            </a:br>
            <a:endParaRPr lang="en-IN" b="1" dirty="0">
              <a:solidFill>
                <a:srgbClr val="FF0000"/>
              </a:solidFill>
            </a:endParaRPr>
          </a:p>
        </p:txBody>
      </p:sp>
      <p:sp>
        <p:nvSpPr>
          <p:cNvPr id="3" name="Rectangle 2"/>
          <p:cNvSpPr/>
          <p:nvPr/>
        </p:nvSpPr>
        <p:spPr>
          <a:xfrm>
            <a:off x="536619" y="1534406"/>
            <a:ext cx="11221791" cy="2308324"/>
          </a:xfrm>
          <a:prstGeom prst="rect">
            <a:avLst/>
          </a:prstGeom>
        </p:spPr>
        <p:txBody>
          <a:bodyPr wrap="square">
            <a:spAutoFit/>
          </a:bodyPr>
          <a:lstStyle/>
          <a:p>
            <a:r>
              <a:rPr lang="en-US" dirty="0" err="1"/>
              <a:t>sortList</a:t>
            </a:r>
            <a:r>
              <a:rPr lang="en-US" dirty="0"/>
              <a:t>() will sort the nodes of the list in ascending order.</a:t>
            </a:r>
          </a:p>
          <a:p>
            <a:pPr lvl="1"/>
            <a:r>
              <a:rPr lang="en-US" dirty="0"/>
              <a:t>Define a node current which will point to head.</a:t>
            </a:r>
          </a:p>
          <a:p>
            <a:pPr lvl="1"/>
            <a:r>
              <a:rPr lang="en-US" dirty="0"/>
              <a:t>Define another node index which will point to node next to current.</a:t>
            </a:r>
          </a:p>
          <a:p>
            <a:pPr lvl="1"/>
            <a:r>
              <a:rPr lang="en-US" dirty="0"/>
              <a:t>Compare data of current and index node. If current's data is greater than the index's data then, swap the data between them.</a:t>
            </a:r>
          </a:p>
          <a:p>
            <a:pPr lvl="1"/>
            <a:r>
              <a:rPr lang="en-US" dirty="0"/>
              <a:t>Current will point to </a:t>
            </a:r>
            <a:r>
              <a:rPr lang="en-US" dirty="0" err="1"/>
              <a:t>current.next</a:t>
            </a:r>
            <a:r>
              <a:rPr lang="en-US" dirty="0"/>
              <a:t> and index will point to </a:t>
            </a:r>
            <a:r>
              <a:rPr lang="en-US" dirty="0" err="1"/>
              <a:t>index.next</a:t>
            </a:r>
            <a:r>
              <a:rPr lang="en-US" dirty="0"/>
              <a:t>.</a:t>
            </a:r>
          </a:p>
          <a:p>
            <a:pPr lvl="1"/>
            <a:r>
              <a:rPr lang="en-US" dirty="0"/>
              <a:t>Continue this process until the entire list is sorted.</a:t>
            </a:r>
          </a:p>
          <a:p>
            <a:endParaRPr lang="en-US" dirty="0"/>
          </a:p>
        </p:txBody>
      </p:sp>
    </p:spTree>
    <p:extLst>
      <p:ext uri="{BB962C8B-B14F-4D97-AF65-F5344CB8AC3E}">
        <p14:creationId xmlns:p14="http://schemas.microsoft.com/office/powerpoint/2010/main" val="19304087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74493" y="393020"/>
            <a:ext cx="11746042" cy="1141386"/>
          </a:xfrm>
        </p:spPr>
        <p:txBody>
          <a:bodyPr>
            <a:noAutofit/>
          </a:bodyPr>
          <a:lstStyle/>
          <a:p>
            <a:pPr algn="ctr"/>
            <a:r>
              <a:rPr lang="en-US" b="1" dirty="0">
                <a:solidFill>
                  <a:srgbClr val="FF0000"/>
                </a:solidFill>
              </a:rPr>
              <a:t>Singly Linked List – </a:t>
            </a:r>
            <a:r>
              <a:rPr lang="en-US" dirty="0" smtClean="0"/>
              <a:t>union and intersection singly </a:t>
            </a:r>
            <a:r>
              <a:rPr lang="en-US" dirty="0"/>
              <a:t>linked list</a:t>
            </a:r>
            <a:br>
              <a:rPr lang="en-US" dirty="0"/>
            </a:br>
            <a:endParaRPr lang="en-IN" b="1" dirty="0">
              <a:solidFill>
                <a:srgbClr val="FF0000"/>
              </a:solidFill>
            </a:endParaRPr>
          </a:p>
        </p:txBody>
      </p:sp>
      <p:sp>
        <p:nvSpPr>
          <p:cNvPr id="3" name="Rectangle 2"/>
          <p:cNvSpPr/>
          <p:nvPr/>
        </p:nvSpPr>
        <p:spPr>
          <a:xfrm>
            <a:off x="536619" y="1534406"/>
            <a:ext cx="11221791" cy="1200329"/>
          </a:xfrm>
          <a:prstGeom prst="rect">
            <a:avLst/>
          </a:prstGeom>
        </p:spPr>
        <p:txBody>
          <a:bodyPr wrap="square">
            <a:spAutoFit/>
          </a:bodyPr>
          <a:lstStyle/>
          <a:p>
            <a:r>
              <a:rPr lang="en-US" dirty="0"/>
              <a:t>Given two singly linked list, we have to create two linked list which contains </a:t>
            </a:r>
            <a:r>
              <a:rPr lang="en-US" b="1" dirty="0"/>
              <a:t>union and intersection of both given linked list</a:t>
            </a:r>
            <a:r>
              <a:rPr lang="en-US" dirty="0"/>
              <a:t> respectively. For Example</a:t>
            </a:r>
            <a:r>
              <a:rPr lang="en-US" dirty="0" smtClean="0"/>
              <a:t>:</a:t>
            </a:r>
          </a:p>
          <a:p>
            <a:endParaRPr lang="en-US" dirty="0"/>
          </a:p>
          <a:p>
            <a:endParaRPr lang="en-US" dirty="0"/>
          </a:p>
        </p:txBody>
      </p:sp>
      <p:pic>
        <p:nvPicPr>
          <p:cNvPr id="5" name="Picture 4"/>
          <p:cNvPicPr>
            <a:picLocks noChangeAspect="1"/>
          </p:cNvPicPr>
          <p:nvPr/>
        </p:nvPicPr>
        <p:blipFill>
          <a:blip r:embed="rId2"/>
          <a:stretch>
            <a:fillRect/>
          </a:stretch>
        </p:blipFill>
        <p:spPr>
          <a:xfrm>
            <a:off x="689757" y="2455840"/>
            <a:ext cx="4749795" cy="3301016"/>
          </a:xfrm>
          <a:prstGeom prst="rect">
            <a:avLst/>
          </a:prstGeom>
        </p:spPr>
      </p:pic>
    </p:spTree>
    <p:extLst>
      <p:ext uri="{BB962C8B-B14F-4D97-AF65-F5344CB8AC3E}">
        <p14:creationId xmlns:p14="http://schemas.microsoft.com/office/powerpoint/2010/main" val="26904753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74493" y="393020"/>
            <a:ext cx="11746042" cy="1141386"/>
          </a:xfrm>
        </p:spPr>
        <p:txBody>
          <a:bodyPr>
            <a:noAutofit/>
          </a:bodyPr>
          <a:lstStyle/>
          <a:p>
            <a:pPr algn="ctr"/>
            <a:r>
              <a:rPr lang="en-US" b="1" dirty="0">
                <a:solidFill>
                  <a:srgbClr val="FF0000"/>
                </a:solidFill>
              </a:rPr>
              <a:t>Singly Linked List – </a:t>
            </a:r>
            <a:r>
              <a:rPr lang="en-US" dirty="0" smtClean="0"/>
              <a:t>union and intersection singly </a:t>
            </a:r>
            <a:r>
              <a:rPr lang="en-US" dirty="0"/>
              <a:t>linked list</a:t>
            </a:r>
            <a:br>
              <a:rPr lang="en-US" dirty="0"/>
            </a:br>
            <a:endParaRPr lang="en-IN" b="1" dirty="0">
              <a:solidFill>
                <a:srgbClr val="FF0000"/>
              </a:solidFill>
            </a:endParaRPr>
          </a:p>
        </p:txBody>
      </p:sp>
      <p:sp>
        <p:nvSpPr>
          <p:cNvPr id="3" name="Rectangle 2"/>
          <p:cNvSpPr/>
          <p:nvPr/>
        </p:nvSpPr>
        <p:spPr>
          <a:xfrm>
            <a:off x="536619" y="1534406"/>
            <a:ext cx="11221791" cy="4247317"/>
          </a:xfrm>
          <a:prstGeom prst="rect">
            <a:avLst/>
          </a:prstGeom>
        </p:spPr>
        <p:txBody>
          <a:bodyPr wrap="square">
            <a:spAutoFit/>
          </a:bodyPr>
          <a:lstStyle/>
          <a:p>
            <a:r>
              <a:rPr lang="en-US" b="1" dirty="0"/>
              <a:t>Algorithm to find union of two linked list</a:t>
            </a:r>
            <a:r>
              <a:rPr lang="en-US" dirty="0"/>
              <a:t/>
            </a:r>
            <a:br>
              <a:rPr lang="en-US" dirty="0"/>
            </a:br>
            <a:r>
              <a:rPr lang="en-US" dirty="0"/>
              <a:t>Let the two input linked list be </a:t>
            </a:r>
            <a:r>
              <a:rPr lang="en-US" dirty="0" err="1"/>
              <a:t>LLOne</a:t>
            </a:r>
            <a:r>
              <a:rPr lang="en-US" dirty="0"/>
              <a:t> and </a:t>
            </a:r>
            <a:r>
              <a:rPr lang="en-US" dirty="0" err="1"/>
              <a:t>LLTwo</a:t>
            </a:r>
            <a:r>
              <a:rPr lang="en-US" dirty="0"/>
              <a:t> and </a:t>
            </a:r>
            <a:r>
              <a:rPr lang="en-US" dirty="0" err="1"/>
              <a:t>unionLL</a:t>
            </a:r>
            <a:r>
              <a:rPr lang="en-US" dirty="0"/>
              <a:t> be the result linked list</a:t>
            </a:r>
            <a:r>
              <a:rPr lang="en-US" dirty="0" smtClean="0"/>
              <a:t>.</a:t>
            </a:r>
          </a:p>
          <a:p>
            <a:r>
              <a:rPr lang="en-US" dirty="0" smtClean="0"/>
              <a:t>Initialize </a:t>
            </a:r>
            <a:r>
              <a:rPr lang="en-US" dirty="0" err="1"/>
              <a:t>unionLL</a:t>
            </a:r>
            <a:r>
              <a:rPr lang="en-US" dirty="0"/>
              <a:t> with NULL.</a:t>
            </a:r>
          </a:p>
          <a:p>
            <a:r>
              <a:rPr lang="en-US" dirty="0"/>
              <a:t>Traverse </a:t>
            </a:r>
            <a:r>
              <a:rPr lang="en-US" dirty="0" err="1"/>
              <a:t>LLone</a:t>
            </a:r>
            <a:r>
              <a:rPr lang="en-US" dirty="0"/>
              <a:t> and add all nodes to </a:t>
            </a:r>
            <a:r>
              <a:rPr lang="en-US" dirty="0" err="1"/>
              <a:t>unionLL</a:t>
            </a:r>
            <a:r>
              <a:rPr lang="en-US" dirty="0"/>
              <a:t>.</a:t>
            </a:r>
          </a:p>
          <a:p>
            <a:r>
              <a:rPr lang="en-US" dirty="0"/>
              <a:t>Traverse </a:t>
            </a:r>
            <a:r>
              <a:rPr lang="en-US" dirty="0" err="1"/>
              <a:t>LLTwo</a:t>
            </a:r>
            <a:r>
              <a:rPr lang="en-US" dirty="0"/>
              <a:t> and check if a node of </a:t>
            </a:r>
            <a:r>
              <a:rPr lang="en-US" dirty="0" err="1"/>
              <a:t>LLtwo</a:t>
            </a:r>
            <a:r>
              <a:rPr lang="en-US" dirty="0"/>
              <a:t> is already present in </a:t>
            </a:r>
            <a:r>
              <a:rPr lang="en-US" dirty="0" err="1"/>
              <a:t>unionLL</a:t>
            </a:r>
            <a:r>
              <a:rPr lang="en-US" dirty="0"/>
              <a:t> then don't add this node otherwise add it in </a:t>
            </a:r>
            <a:r>
              <a:rPr lang="en-US" dirty="0" err="1"/>
              <a:t>unionLL</a:t>
            </a:r>
            <a:r>
              <a:rPr lang="en-US" dirty="0"/>
              <a:t>.</a:t>
            </a:r>
          </a:p>
          <a:p>
            <a:endParaRPr lang="en-US" dirty="0" smtClean="0"/>
          </a:p>
          <a:p>
            <a:endParaRPr lang="en-US" dirty="0"/>
          </a:p>
          <a:p>
            <a:r>
              <a:rPr lang="en-US" b="1" dirty="0"/>
              <a:t>Algorithm to find intersection of two linked list</a:t>
            </a:r>
            <a:r>
              <a:rPr lang="en-US" dirty="0"/>
              <a:t/>
            </a:r>
            <a:br>
              <a:rPr lang="en-US" dirty="0"/>
            </a:br>
            <a:r>
              <a:rPr lang="en-US" dirty="0"/>
              <a:t>Let the two input linked list be </a:t>
            </a:r>
            <a:r>
              <a:rPr lang="en-US" dirty="0" err="1"/>
              <a:t>LLOne</a:t>
            </a:r>
            <a:r>
              <a:rPr lang="en-US" dirty="0"/>
              <a:t> and </a:t>
            </a:r>
            <a:r>
              <a:rPr lang="en-US" dirty="0" err="1"/>
              <a:t>LLTwo</a:t>
            </a:r>
            <a:r>
              <a:rPr lang="en-US" dirty="0"/>
              <a:t> and </a:t>
            </a:r>
            <a:r>
              <a:rPr lang="en-US" dirty="0" err="1"/>
              <a:t>intersectionLL</a:t>
            </a:r>
            <a:r>
              <a:rPr lang="en-US" dirty="0"/>
              <a:t> be the result linked list</a:t>
            </a:r>
            <a:r>
              <a:rPr lang="en-US" dirty="0" smtClean="0"/>
              <a:t>.</a:t>
            </a:r>
          </a:p>
          <a:p>
            <a:r>
              <a:rPr lang="en-US" dirty="0" smtClean="0"/>
              <a:t>Initialize </a:t>
            </a:r>
            <a:r>
              <a:rPr lang="en-US" dirty="0" err="1"/>
              <a:t>intersectionLL</a:t>
            </a:r>
            <a:r>
              <a:rPr lang="en-US" dirty="0"/>
              <a:t> with NULL.</a:t>
            </a:r>
          </a:p>
          <a:p>
            <a:r>
              <a:rPr lang="en-US" dirty="0"/>
              <a:t>Traverse </a:t>
            </a:r>
            <a:r>
              <a:rPr lang="en-US" dirty="0" err="1"/>
              <a:t>LLOne</a:t>
            </a:r>
            <a:r>
              <a:rPr lang="en-US" dirty="0"/>
              <a:t>, search each node of </a:t>
            </a:r>
            <a:r>
              <a:rPr lang="en-US" dirty="0" err="1"/>
              <a:t>LLOne</a:t>
            </a:r>
            <a:r>
              <a:rPr lang="en-US" dirty="0"/>
              <a:t> in </a:t>
            </a:r>
            <a:r>
              <a:rPr lang="en-US" dirty="0" err="1"/>
              <a:t>LLTwo</a:t>
            </a:r>
            <a:r>
              <a:rPr lang="en-US" dirty="0"/>
              <a:t> linked list. </a:t>
            </a:r>
            <a:endParaRPr lang="en-US" dirty="0" smtClean="0"/>
          </a:p>
          <a:p>
            <a:r>
              <a:rPr lang="en-US" dirty="0" smtClean="0"/>
              <a:t>If </a:t>
            </a:r>
            <a:r>
              <a:rPr lang="en-US" dirty="0"/>
              <a:t>found then add it to </a:t>
            </a:r>
            <a:r>
              <a:rPr lang="en-US" dirty="0" err="1"/>
              <a:t>intersectionLL</a:t>
            </a:r>
            <a:r>
              <a:rPr lang="en-US" dirty="0"/>
              <a:t> otherwise continue.</a:t>
            </a:r>
          </a:p>
          <a:p>
            <a:endParaRPr lang="en-US" dirty="0"/>
          </a:p>
          <a:p>
            <a:endParaRPr lang="en-US" dirty="0"/>
          </a:p>
        </p:txBody>
      </p:sp>
    </p:spTree>
    <p:extLst>
      <p:ext uri="{BB962C8B-B14F-4D97-AF65-F5344CB8AC3E}">
        <p14:creationId xmlns:p14="http://schemas.microsoft.com/office/powerpoint/2010/main" val="390306425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smtClean="0">
                <a:solidFill>
                  <a:srgbClr val="FF0000"/>
                </a:solidFill>
              </a:rPr>
              <a:t>Union Operation on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IN" b="1" dirty="0" smtClean="0">
                <a:latin typeface="Times New Roman" panose="02020603050405020304" pitchFamily="18" charset="0"/>
                <a:cs typeface="Times New Roman" panose="02020603050405020304" pitchFamily="18" charset="0"/>
              </a:rPr>
              <a:t>Union is performed on 2 lists.</a:t>
            </a:r>
          </a:p>
          <a:p>
            <a:r>
              <a:rPr lang="en-IN" b="1" dirty="0" smtClean="0">
                <a:latin typeface="Times New Roman" panose="02020603050405020304" pitchFamily="18" charset="0"/>
                <a:cs typeface="Times New Roman" panose="02020603050405020304" pitchFamily="18" charset="0"/>
              </a:rPr>
              <a:t>Each node has two part : data and address</a:t>
            </a:r>
          </a:p>
          <a:p>
            <a:endParaRPr lang="en-IN" b="1" dirty="0" smtClean="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102533" y="2585750"/>
            <a:ext cx="4467225" cy="4019550"/>
          </a:xfrm>
          <a:prstGeom prst="rect">
            <a:avLst/>
          </a:prstGeom>
        </p:spPr>
      </p:pic>
    </p:spTree>
    <p:extLst>
      <p:ext uri="{BB962C8B-B14F-4D97-AF65-F5344CB8AC3E}">
        <p14:creationId xmlns:p14="http://schemas.microsoft.com/office/powerpoint/2010/main" val="42730310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smtClean="0">
                <a:solidFill>
                  <a:srgbClr val="FF0000"/>
                </a:solidFill>
              </a:rPr>
              <a:t>Union Operation on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IN" b="1" dirty="0" smtClean="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43255" y="1716579"/>
            <a:ext cx="9997900" cy="4104672"/>
          </a:xfrm>
          <a:prstGeom prst="rect">
            <a:avLst/>
          </a:prstGeom>
        </p:spPr>
      </p:pic>
    </p:spTree>
    <p:extLst>
      <p:ext uri="{BB962C8B-B14F-4D97-AF65-F5344CB8AC3E}">
        <p14:creationId xmlns:p14="http://schemas.microsoft.com/office/powerpoint/2010/main" val="133250427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smtClean="0">
                <a:solidFill>
                  <a:srgbClr val="FF0000"/>
                </a:solidFill>
              </a:rPr>
              <a:t>Union Operation on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IN" b="1" dirty="0" smtClean="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313712" y="1394086"/>
            <a:ext cx="9478784" cy="4952878"/>
          </a:xfrm>
          <a:prstGeom prst="rect">
            <a:avLst/>
          </a:prstGeom>
        </p:spPr>
      </p:pic>
    </p:spTree>
    <p:extLst>
      <p:ext uri="{BB962C8B-B14F-4D97-AF65-F5344CB8AC3E}">
        <p14:creationId xmlns:p14="http://schemas.microsoft.com/office/powerpoint/2010/main" val="19050764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smtClean="0">
                <a:solidFill>
                  <a:srgbClr val="FF0000"/>
                </a:solidFill>
              </a:rPr>
              <a:t>Union Operation on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IN" b="1" dirty="0" smtClean="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121936" y="1271300"/>
            <a:ext cx="10275865" cy="5334000"/>
          </a:xfrm>
          <a:prstGeom prst="rect">
            <a:avLst/>
          </a:prstGeom>
        </p:spPr>
      </p:pic>
    </p:spTree>
    <p:extLst>
      <p:ext uri="{BB962C8B-B14F-4D97-AF65-F5344CB8AC3E}">
        <p14:creationId xmlns:p14="http://schemas.microsoft.com/office/powerpoint/2010/main" val="229150931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smtClean="0">
                <a:solidFill>
                  <a:srgbClr val="FF0000"/>
                </a:solidFill>
              </a:rPr>
              <a:t>Union Operation on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IN" b="1" dirty="0" smtClean="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472350" y="1963923"/>
            <a:ext cx="9520538" cy="3045960"/>
          </a:xfrm>
          <a:prstGeom prst="rect">
            <a:avLst/>
          </a:prstGeom>
        </p:spPr>
      </p:pic>
    </p:spTree>
    <p:extLst>
      <p:ext uri="{BB962C8B-B14F-4D97-AF65-F5344CB8AC3E}">
        <p14:creationId xmlns:p14="http://schemas.microsoft.com/office/powerpoint/2010/main" val="32206943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smtClean="0">
                <a:solidFill>
                  <a:srgbClr val="FF0000"/>
                </a:solidFill>
              </a:rPr>
              <a:t>intersection </a:t>
            </a:r>
            <a:r>
              <a:rPr lang="en-US" b="1" dirty="0" smtClean="0">
                <a:solidFill>
                  <a:srgbClr val="FF0000"/>
                </a:solidFill>
              </a:rPr>
              <a:t>Operation on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IN" b="1" dirty="0" smtClean="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List 1 – 10,20,40,50</a:t>
            </a:r>
          </a:p>
          <a:p>
            <a:r>
              <a:rPr lang="en-IN" b="1" dirty="0" smtClean="0">
                <a:latin typeface="Times New Roman" panose="02020603050405020304" pitchFamily="18" charset="0"/>
                <a:cs typeface="Times New Roman" panose="02020603050405020304" pitchFamily="18" charset="0"/>
              </a:rPr>
              <a:t>List 2 – 20,50,70,60</a:t>
            </a:r>
          </a:p>
          <a:p>
            <a:endParaRPr lang="en-IN" b="1" dirty="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Output – 20,50</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8996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dirty="0" smtClean="0"/>
              <a:t>Applications of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fontAlgn="base"/>
            <a:r>
              <a:rPr lang="en-US" b="1" dirty="0"/>
              <a:t>Applications of linked list in computer science:</a:t>
            </a:r>
          </a:p>
          <a:p>
            <a:pPr fontAlgn="base"/>
            <a:r>
              <a:rPr lang="en-US" dirty="0"/>
              <a:t>Implementation of </a:t>
            </a:r>
            <a:r>
              <a:rPr lang="en-US" u="sng" dirty="0"/>
              <a:t>stacks</a:t>
            </a:r>
            <a:r>
              <a:rPr lang="en-US" dirty="0"/>
              <a:t> and </a:t>
            </a:r>
            <a:r>
              <a:rPr lang="en-US" u="sng" dirty="0"/>
              <a:t>queues</a:t>
            </a:r>
            <a:endParaRPr lang="en-US" dirty="0"/>
          </a:p>
          <a:p>
            <a:pPr fontAlgn="base"/>
            <a:r>
              <a:rPr lang="en-US" dirty="0"/>
              <a:t>Implementation of graphs: </a:t>
            </a:r>
            <a:r>
              <a:rPr lang="en-US" u="sng" dirty="0"/>
              <a:t>Adjacency list representation of graphs</a:t>
            </a:r>
            <a:r>
              <a:rPr lang="en-US" dirty="0"/>
              <a:t> is the most popular which uses a linked list to store adjacent vertices.</a:t>
            </a:r>
          </a:p>
          <a:p>
            <a:pPr fontAlgn="base"/>
            <a:r>
              <a:rPr lang="en-US" dirty="0"/>
              <a:t>Dynamic memory allocation: We use a linked list of free blocks.</a:t>
            </a:r>
          </a:p>
          <a:p>
            <a:pPr fontAlgn="base"/>
            <a:r>
              <a:rPr lang="en-US" dirty="0"/>
              <a:t>Maintaining a directory of names</a:t>
            </a:r>
          </a:p>
          <a:p>
            <a:pPr fontAlgn="base"/>
            <a:r>
              <a:rPr lang="en-US" dirty="0"/>
              <a:t>Performing arithmetic operations on long integers</a:t>
            </a:r>
          </a:p>
          <a:p>
            <a:pPr fontAlgn="base"/>
            <a:r>
              <a:rPr lang="en-US" dirty="0"/>
              <a:t>Manipulation of polynomials by storing constants in the node of the linked list</a:t>
            </a:r>
          </a:p>
          <a:p>
            <a:pPr fontAlgn="base"/>
            <a:r>
              <a:rPr lang="en-US" dirty="0"/>
              <a:t>representing sparse matrices</a:t>
            </a:r>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82194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dirty="0" smtClean="0"/>
              <a:t>Applications of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fontAlgn="base"/>
            <a:r>
              <a:rPr lang="en-US" b="1" dirty="0"/>
              <a:t>Applications of linked list in the real world:</a:t>
            </a:r>
          </a:p>
          <a:p>
            <a:pPr fontAlgn="base"/>
            <a:r>
              <a:rPr lang="en-US" dirty="0"/>
              <a:t>Image viewer – Previous and next images are linked and can be accessed by the next and previous buttons.</a:t>
            </a:r>
          </a:p>
          <a:p>
            <a:pPr fontAlgn="base"/>
            <a:r>
              <a:rPr lang="en-US" dirty="0"/>
              <a:t>Previous and next page in a web browser – We can access the previous and next URL searched in a web browser by pressing the back and next buttons since they are linked as a linked list.</a:t>
            </a:r>
          </a:p>
          <a:p>
            <a:pPr fontAlgn="base"/>
            <a:r>
              <a:rPr lang="en-US" dirty="0"/>
              <a:t>Music Player – Songs in the music player are linked to the previous and next songs. So you can play songs either from starting or ending of the list.</a:t>
            </a:r>
          </a:p>
          <a:p>
            <a:pPr fontAlgn="base"/>
            <a:r>
              <a:rPr lang="en-US" dirty="0"/>
              <a:t>GPS navigation systems- Linked lists can be used to store and manage a list of locations and routes, allowing users to easily navigate to their desired destination.</a:t>
            </a:r>
          </a:p>
          <a:p>
            <a:pPr fontAlgn="base"/>
            <a:r>
              <a:rPr lang="en-US" dirty="0"/>
              <a:t>Robotics- Linked lists can be used to implement control systems for robots, allowing them to navigate and interact with their environment.</a:t>
            </a:r>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456976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a:t>Polynomial Manipulation</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Polynomial manipulations are one of the most important applications of linked lists. </a:t>
            </a:r>
            <a:endParaRPr lang="en-US" dirty="0" smtClean="0"/>
          </a:p>
          <a:p>
            <a:r>
              <a:rPr lang="en-US" dirty="0" smtClean="0"/>
              <a:t>Polynomials </a:t>
            </a:r>
            <a:r>
              <a:rPr lang="en-US" dirty="0"/>
              <a:t>are an important part of mathematics not inherently supported as a data type by most languages. </a:t>
            </a:r>
            <a:endParaRPr lang="en-US" dirty="0" smtClean="0"/>
          </a:p>
          <a:p>
            <a:r>
              <a:rPr lang="en-US" dirty="0" smtClean="0"/>
              <a:t>A </a:t>
            </a:r>
            <a:r>
              <a:rPr lang="en-US" dirty="0"/>
              <a:t>polynomial is a collection of different terms, each comprising coefficients, and exponents. It can be represented using a linked list. </a:t>
            </a:r>
            <a:endParaRPr lang="en-US" dirty="0" smtClean="0"/>
          </a:p>
          <a:p>
            <a:r>
              <a:rPr lang="en-US" dirty="0" smtClean="0"/>
              <a:t>This </a:t>
            </a:r>
            <a:r>
              <a:rPr lang="en-US" dirty="0"/>
              <a:t>representation makes polynomial manipulation efficient</a:t>
            </a:r>
            <a:r>
              <a:rPr lang="en-US" dirty="0" smtClean="0"/>
              <a:t>.</a:t>
            </a:r>
          </a:p>
          <a:p>
            <a:r>
              <a:rPr lang="en-US" dirty="0"/>
              <a:t>While representing a polynomial using a linked list, each polynomial term represents a node in the linked list. To get better efficiency in processing, we assume that the term of every polynomial is stored within the linked list in the order of decreasing exponents. Also, no two terms have the same exponent, and no term has a zero coefficient and without coefficients. The coefficient takes a value of 1.</a:t>
            </a:r>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42496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a:t>Polynomial Manipulation</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b="1" dirty="0"/>
              <a:t>Each node of a linked list representing polynomial constitute three parts:</a:t>
            </a:r>
            <a:endParaRPr lang="en-US" dirty="0"/>
          </a:p>
          <a:p>
            <a:r>
              <a:rPr lang="en-US" dirty="0"/>
              <a:t>The first part contains the value of the coefficient of the term.</a:t>
            </a:r>
          </a:p>
          <a:p>
            <a:r>
              <a:rPr lang="en-US" dirty="0"/>
              <a:t>The second part contains the value of the exponent.</a:t>
            </a:r>
          </a:p>
          <a:p>
            <a:r>
              <a:rPr lang="en-US" dirty="0"/>
              <a:t>The third part, LINK points to the next term (next node).</a:t>
            </a:r>
          </a:p>
          <a:p>
            <a:r>
              <a:rPr lang="en-US" b="1" dirty="0"/>
              <a:t>The structure of a node of a linked list that represents a polynomial is shown below</a:t>
            </a:r>
            <a:r>
              <a:rPr lang="en-US" b="1" dirty="0" smtClean="0"/>
              <a:t>:</a:t>
            </a:r>
          </a:p>
          <a:p>
            <a:endParaRPr lang="en-IN" b="1" dirty="0" smtClean="0">
              <a:latin typeface="Times New Roman" panose="02020603050405020304" pitchFamily="18" charset="0"/>
              <a:cs typeface="Times New Roman" panose="02020603050405020304" pitchFamily="18" charset="0"/>
            </a:endParaRPr>
          </a:p>
        </p:txBody>
      </p:sp>
      <p:pic>
        <p:nvPicPr>
          <p:cNvPr id="4098" name="Picture 2"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0888" y="4531530"/>
            <a:ext cx="9245526" cy="1624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63339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a:t>Polynomial Manipulation</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Consider a polynomial P(x) = </a:t>
            </a:r>
            <a:r>
              <a:rPr lang="en-US" dirty="0" smtClean="0"/>
              <a:t>7x</a:t>
            </a:r>
            <a:r>
              <a:rPr lang="en-US" baseline="30000" dirty="0"/>
              <a:t>4</a:t>
            </a:r>
            <a:r>
              <a:rPr lang="en-US" dirty="0"/>
              <a:t> + 15x</a:t>
            </a:r>
            <a:r>
              <a:rPr lang="en-US" baseline="30000" dirty="0"/>
              <a:t>3</a:t>
            </a:r>
            <a:r>
              <a:rPr lang="en-US" dirty="0"/>
              <a:t> - 2 x</a:t>
            </a:r>
            <a:r>
              <a:rPr lang="en-US" baseline="30000" dirty="0"/>
              <a:t>2</a:t>
            </a:r>
            <a:r>
              <a:rPr lang="en-US" dirty="0"/>
              <a:t> + 9. Here 7, 15, -2, and 9 are the coefficients, and 4,3,2,0 are the exponents of the terms in the polynomial. On representing this polynomial using a linked list, we </a:t>
            </a:r>
            <a:r>
              <a:rPr lang="en-US" dirty="0" smtClean="0"/>
              <a:t>have</a:t>
            </a:r>
          </a:p>
          <a:p>
            <a:endParaRPr lang="en-US" dirty="0"/>
          </a:p>
          <a:p>
            <a:endParaRPr lang="en-US" dirty="0" smtClean="0"/>
          </a:p>
          <a:p>
            <a:endParaRPr lang="en-US" dirty="0"/>
          </a:p>
          <a:p>
            <a:endParaRPr lang="en-US" dirty="0" smtClean="0"/>
          </a:p>
          <a:p>
            <a:r>
              <a:rPr lang="en-US" dirty="0"/>
              <a:t>Observe that the number of nodes equals the number of terms in the polynomial. So we have 4 nodes. Moreover, the terms are stored to decrease exponents in the linked list. Such representation of polynomial using linked lists makes the operations like subtraction, addition, multiplication, etc., on polynomial very easy.</a:t>
            </a:r>
          </a:p>
          <a:p>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5122" name="Picture 2"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1946" y="2561286"/>
            <a:ext cx="8872515" cy="1826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26945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To add two polynomials, we traverse the list P and Q. We take corresponding terms of the list P and Q and compare their exponents. If the two exponents are equal, the coefficients are added to create a new coefficient. If the new coefficient is equal to 0, then the term is dropped, and if it is not zero, it is inserted at the end of the new linked list containing the resulting polynomial. If one of the exponents is larger than the other, the corresponding term is immediately placed into the new linked list, and the term with the smaller exponent is held to be compared with the next term from the other list. If one list ends before the other, the rest of the terms of the longer list is inserted at the end of the new linked list containing the resulting polynomial.</a:t>
            </a:r>
          </a:p>
          <a:p>
            <a:r>
              <a:rPr lang="en-US" dirty="0"/>
              <a:t>Let us consider an example an example to show how the addition of two polynomials is performed,</a:t>
            </a:r>
          </a:p>
          <a:p>
            <a:r>
              <a:rPr lang="en-US" dirty="0"/>
              <a:t>P(x) = 3x</a:t>
            </a:r>
            <a:r>
              <a:rPr lang="en-US" baseline="30000" dirty="0"/>
              <a:t>4</a:t>
            </a:r>
            <a:r>
              <a:rPr lang="en-US" dirty="0"/>
              <a:t> + 2x</a:t>
            </a:r>
            <a:r>
              <a:rPr lang="en-US" baseline="30000" dirty="0"/>
              <a:t>3 </a:t>
            </a:r>
            <a:r>
              <a:rPr lang="en-US" dirty="0"/>
              <a:t>- 4 x</a:t>
            </a:r>
            <a:r>
              <a:rPr lang="en-US" baseline="30000" dirty="0"/>
              <a:t>2</a:t>
            </a:r>
            <a:r>
              <a:rPr lang="en-US" dirty="0"/>
              <a:t> + </a:t>
            </a:r>
            <a:r>
              <a:rPr lang="en-US" dirty="0" smtClean="0"/>
              <a:t>7 and </a:t>
            </a:r>
            <a:r>
              <a:rPr lang="fr-FR" dirty="0"/>
              <a:t>Q (x) = 5x</a:t>
            </a:r>
            <a:r>
              <a:rPr lang="fr-FR" baseline="30000" dirty="0"/>
              <a:t>3</a:t>
            </a:r>
            <a:r>
              <a:rPr lang="fr-FR" dirty="0"/>
              <a:t> + 4 x</a:t>
            </a:r>
            <a:r>
              <a:rPr lang="fr-FR" baseline="30000" dirty="0"/>
              <a:t>2 </a:t>
            </a:r>
            <a:r>
              <a:rPr lang="fr-FR" dirty="0"/>
              <a:t>- 5</a:t>
            </a:r>
            <a:endParaRPr lang="en-US" dirty="0"/>
          </a:p>
          <a:p>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67270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These polynomials are represented using a linked list in order of decreasing exponents as follows</a:t>
            </a:r>
            <a:r>
              <a:rPr lang="en-US" dirty="0" smtClean="0"/>
              <a:t>:</a:t>
            </a:r>
          </a:p>
          <a:p>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6146" name="Picture 2"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6304" y="2332817"/>
            <a:ext cx="8096250" cy="16668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pplication of Linked L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403" y="3976397"/>
            <a:ext cx="8096250" cy="1924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119011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To generate a new linked list for the resulting polynomials that is formed on the addition of given polynomials P(x) and Q(x), we perform the following steps,</a:t>
            </a:r>
          </a:p>
          <a:p>
            <a:pPr marL="0" indent="0">
              <a:buNone/>
            </a:pPr>
            <a:r>
              <a:rPr lang="en-US" dirty="0" smtClean="0"/>
              <a:t>1. Traverse </a:t>
            </a:r>
            <a:r>
              <a:rPr lang="en-US" dirty="0"/>
              <a:t>the two lists P and Q and examine all the nodes.</a:t>
            </a:r>
          </a:p>
          <a:p>
            <a:pPr marL="0" indent="0">
              <a:buNone/>
            </a:pPr>
            <a:r>
              <a:rPr lang="en-US" dirty="0" smtClean="0"/>
              <a:t>2. We </a:t>
            </a:r>
            <a:r>
              <a:rPr lang="en-US" dirty="0"/>
              <a:t>compare the exponents of the corresponding terms of two polynomials. The first term of polynomials P and Q contain exponents 4 and 3, respectively. Since the exponent of the first term of the polynomial P is greater than the other polynomial Q, the term having a larger exponent is inserted into the new list. The new list initially looks as shown below:</a:t>
            </a:r>
          </a:p>
          <a:p>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715365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8194" name="Picture 2"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2707" y="1381207"/>
            <a:ext cx="809625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57042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We then compare the exponent of the next term of the list P with the exponents of the present term of list Q. Since the two exponents are equal, so their coefficients are added and appended to the new list as follows:</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10242" name="Picture 2"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008" y="2893028"/>
            <a:ext cx="8572500" cy="24003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332630" y="3155324"/>
            <a:ext cx="276038" cy="307777"/>
          </a:xfrm>
          <a:prstGeom prst="rect">
            <a:avLst/>
          </a:prstGeom>
          <a:noFill/>
        </p:spPr>
        <p:txBody>
          <a:bodyPr wrap="none" rtlCol="0">
            <a:spAutoFit/>
          </a:bodyPr>
          <a:lstStyle/>
          <a:p>
            <a:r>
              <a:rPr lang="en-US" sz="1400" dirty="0" smtClean="0"/>
              <a:t>3</a:t>
            </a:r>
            <a:endParaRPr lang="en-US" sz="1400" dirty="0"/>
          </a:p>
        </p:txBody>
      </p:sp>
    </p:spTree>
    <p:extLst>
      <p:ext uri="{BB962C8B-B14F-4D97-AF65-F5344CB8AC3E}">
        <p14:creationId xmlns:p14="http://schemas.microsoft.com/office/powerpoint/2010/main" val="364207217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Then we move to the next term of P and Q lists and compare their exponents. Since exponents of both these terms are equal and after addition of their coefficients, we get 0, so the term is dropped, and no node is appended to the new list after this,</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11268" name="Picture 4"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3919" y="3251118"/>
            <a:ext cx="8096250" cy="22669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100812" y="4384593"/>
            <a:ext cx="263214" cy="276999"/>
          </a:xfrm>
          <a:prstGeom prst="rect">
            <a:avLst/>
          </a:prstGeom>
          <a:noFill/>
        </p:spPr>
        <p:txBody>
          <a:bodyPr wrap="none" rtlCol="0">
            <a:spAutoFit/>
          </a:bodyPr>
          <a:lstStyle/>
          <a:p>
            <a:r>
              <a:rPr lang="en-US" sz="1200" dirty="0" smtClean="0"/>
              <a:t>2</a:t>
            </a:r>
            <a:endParaRPr lang="en-US" sz="1200" dirty="0"/>
          </a:p>
        </p:txBody>
      </p:sp>
    </p:spTree>
    <p:extLst>
      <p:ext uri="{BB962C8B-B14F-4D97-AF65-F5344CB8AC3E}">
        <p14:creationId xmlns:p14="http://schemas.microsoft.com/office/powerpoint/2010/main" val="365511176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Addition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Moving to the next term of the two lists, P and Q, we find that the corresponding terms have the same exponents equal to 0. We add their coefficients and append them to the new list for the resulting polynomial as shown below:</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12290" name="Picture 2" descr="Application of Linked L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7705" y="3387344"/>
            <a:ext cx="8572500" cy="2181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80594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Multiplication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sz="2400" dirty="0"/>
              <a:t>We have been given two linked lists representing a polynomial each. Let’s say </a:t>
            </a:r>
            <a:r>
              <a:rPr lang="en-US" sz="2400" b="1" dirty="0"/>
              <a:t>Poly1</a:t>
            </a:r>
            <a:r>
              <a:rPr lang="en-US" sz="2400" dirty="0"/>
              <a:t> and </a:t>
            </a:r>
            <a:r>
              <a:rPr lang="en-US" sz="2400" b="1" dirty="0"/>
              <a:t>Poly2</a:t>
            </a:r>
            <a:r>
              <a:rPr lang="en-US" sz="2400" dirty="0"/>
              <a:t> is the given polynomials, so we need to multiply the polynomials and print the output.</a:t>
            </a:r>
          </a:p>
          <a:p>
            <a:r>
              <a:rPr lang="en-US" sz="2400" dirty="0"/>
              <a:t>Let’s try to understand the problem with the help of examples by referring to the websites to learn to program.</a:t>
            </a:r>
          </a:p>
          <a:p>
            <a:r>
              <a:rPr lang="en-US" sz="2400" dirty="0"/>
              <a:t>Suppose the given linked lists are:</a:t>
            </a:r>
            <a:br>
              <a:rPr lang="en-US" sz="2400" dirty="0"/>
            </a:br>
            <a:r>
              <a:rPr lang="en-US" sz="2400" b="1" dirty="0"/>
              <a:t>Poly1:</a:t>
            </a:r>
            <a:r>
              <a:rPr lang="en-US" sz="2400" dirty="0"/>
              <a:t> 3x</a:t>
            </a:r>
            <a:r>
              <a:rPr lang="en-US" sz="2400" baseline="30000" dirty="0"/>
              <a:t>3</a:t>
            </a:r>
            <a:r>
              <a:rPr lang="en-US" sz="2400" dirty="0"/>
              <a:t> + 6x</a:t>
            </a:r>
            <a:r>
              <a:rPr lang="en-US" sz="2400" baseline="30000" dirty="0"/>
              <a:t>1</a:t>
            </a:r>
            <a:r>
              <a:rPr lang="en-US" sz="2400" dirty="0"/>
              <a:t> – 9</a:t>
            </a:r>
            <a:br>
              <a:rPr lang="en-US" sz="2400" dirty="0"/>
            </a:br>
            <a:r>
              <a:rPr lang="en-US" sz="2400" b="1" dirty="0"/>
              <a:t>Poly2:</a:t>
            </a:r>
            <a:r>
              <a:rPr lang="en-US" sz="2400" dirty="0"/>
              <a:t> 9x</a:t>
            </a:r>
            <a:r>
              <a:rPr lang="en-US" sz="2400" baseline="30000" dirty="0"/>
              <a:t>3</a:t>
            </a:r>
            <a:r>
              <a:rPr lang="en-US" sz="2400" dirty="0"/>
              <a:t> – 8x</a:t>
            </a:r>
            <a:r>
              <a:rPr lang="en-US" sz="2400" baseline="30000" dirty="0"/>
              <a:t>2</a:t>
            </a:r>
            <a:r>
              <a:rPr lang="en-US" sz="2400" dirty="0"/>
              <a:t> + 7x</a:t>
            </a:r>
            <a:r>
              <a:rPr lang="en-US" sz="2400" baseline="30000" dirty="0"/>
              <a:t>1</a:t>
            </a:r>
            <a:r>
              <a:rPr lang="en-US" sz="2400" dirty="0"/>
              <a:t> + 2</a:t>
            </a:r>
          </a:p>
          <a:p>
            <a:r>
              <a:rPr lang="en-US" sz="2400" dirty="0"/>
              <a:t>Now, according to the problem statement, we need to multiply these polynomials </a:t>
            </a:r>
            <a:r>
              <a:rPr lang="en-US" sz="2400" b="1" dirty="0"/>
              <a:t>Poly1</a:t>
            </a:r>
            <a:r>
              <a:rPr lang="en-US" sz="2400" dirty="0"/>
              <a:t> and </a:t>
            </a:r>
            <a:r>
              <a:rPr lang="en-US" sz="2400" b="1" dirty="0"/>
              <a:t>Poly2</a:t>
            </a:r>
            <a:r>
              <a:rPr lang="en-US" sz="2400" dirty="0"/>
              <a:t>.</a:t>
            </a:r>
          </a:p>
          <a:p>
            <a:r>
              <a:rPr lang="en-US" sz="2400" dirty="0"/>
              <a:t>So we will multiply each term in </a:t>
            </a:r>
            <a:r>
              <a:rPr lang="en-US" sz="2400" b="1" dirty="0"/>
              <a:t>Poly1</a:t>
            </a:r>
            <a:r>
              <a:rPr lang="en-US" sz="2400" dirty="0"/>
              <a:t> with every term in </a:t>
            </a:r>
            <a:r>
              <a:rPr lang="en-US" sz="2400" b="1" dirty="0"/>
              <a:t>Poly2</a:t>
            </a:r>
            <a:r>
              <a:rPr lang="en-US" sz="2400" dirty="0"/>
              <a:t>, and then we will add up all the terms with the same power of x such that each term in the final resultant polynomial list has a different power of x.</a:t>
            </a:r>
          </a:p>
          <a:p>
            <a:r>
              <a:rPr lang="en-US" sz="2400" b="1" dirty="0"/>
              <a:t>Output</a:t>
            </a:r>
            <a:endParaRPr lang="en-US" sz="2400" dirty="0"/>
          </a:p>
          <a:p>
            <a:r>
              <a:rPr lang="en-US" sz="2400" dirty="0"/>
              <a:t>Resultant Polynomial: 27x</a:t>
            </a:r>
            <a:r>
              <a:rPr lang="en-US" sz="2400" baseline="30000" dirty="0"/>
              <a:t>6</a:t>
            </a:r>
            <a:r>
              <a:rPr lang="en-US" sz="2400" dirty="0"/>
              <a:t> – 24x</a:t>
            </a:r>
            <a:r>
              <a:rPr lang="en-US" sz="2400" baseline="30000" dirty="0"/>
              <a:t>5</a:t>
            </a:r>
            <a:r>
              <a:rPr lang="en-US" sz="2400" dirty="0"/>
              <a:t> + 75x</a:t>
            </a:r>
            <a:r>
              <a:rPr lang="en-US" sz="2400" baseline="30000" dirty="0"/>
              <a:t>4</a:t>
            </a:r>
            <a:r>
              <a:rPr lang="en-US" sz="2400" dirty="0"/>
              <a:t> – 123x</a:t>
            </a:r>
            <a:r>
              <a:rPr lang="en-US" sz="2400" baseline="30000" dirty="0"/>
              <a:t>3</a:t>
            </a:r>
            <a:r>
              <a:rPr lang="en-US" sz="2400" dirty="0"/>
              <a:t> + 114x</a:t>
            </a:r>
            <a:r>
              <a:rPr lang="en-US" sz="2400" baseline="30000" dirty="0"/>
              <a:t>2</a:t>
            </a:r>
            <a:r>
              <a:rPr lang="en-US" sz="2400" dirty="0"/>
              <a:t> – 51x</a:t>
            </a:r>
            <a:r>
              <a:rPr lang="en-US" sz="2400" baseline="30000" dirty="0"/>
              <a:t>1</a:t>
            </a:r>
            <a:r>
              <a:rPr lang="en-US" sz="2400" dirty="0"/>
              <a:t> – 18</a:t>
            </a:r>
          </a:p>
          <a:p>
            <a:r>
              <a:rPr lang="en-US" dirty="0"/>
              <a:t/>
            </a:r>
            <a:br>
              <a:rPr lang="en-US" dirty="0"/>
            </a:br>
            <a:r>
              <a:rPr lang="en-US" dirty="0"/>
              <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61710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fontScale="90000"/>
          </a:bodyPr>
          <a:lstStyle/>
          <a:p>
            <a:pPr algn="ctr"/>
            <a:r>
              <a:rPr lang="en-US" dirty="0" smtClean="0"/>
              <a:t>Multiplication of two Polynomial</a:t>
            </a:r>
            <a:r>
              <a:rPr lang="en-US" dirty="0"/>
              <a:t/>
            </a:r>
            <a:br>
              <a:rPr lang="en-US" dirty="0"/>
            </a:b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sz="2400" b="1" dirty="0"/>
              <a:t>Some other examples:</a:t>
            </a:r>
          </a:p>
          <a:p>
            <a:r>
              <a:rPr lang="en-US" sz="2400" b="1" dirty="0"/>
              <a:t>Input 1</a:t>
            </a:r>
            <a:r>
              <a:rPr lang="en-US" sz="2400" dirty="0"/>
              <a:t/>
            </a:r>
            <a:br>
              <a:rPr lang="en-US" sz="2400" dirty="0"/>
            </a:br>
            <a:r>
              <a:rPr lang="en-US" sz="2400" dirty="0"/>
              <a:t>Poly1: 6x</a:t>
            </a:r>
            <a:r>
              <a:rPr lang="en-US" sz="2400" baseline="30000" dirty="0"/>
              <a:t>1</a:t>
            </a:r>
            <a:r>
              <a:rPr lang="en-US" sz="2400" dirty="0"/>
              <a:t> – 9</a:t>
            </a:r>
            <a:br>
              <a:rPr lang="en-US" sz="2400" dirty="0"/>
            </a:br>
            <a:r>
              <a:rPr lang="en-US" sz="2400" dirty="0"/>
              <a:t>Poly2: 7x</a:t>
            </a:r>
            <a:r>
              <a:rPr lang="en-US" sz="2400" baseline="30000" dirty="0"/>
              <a:t>1</a:t>
            </a:r>
            <a:r>
              <a:rPr lang="en-US" sz="2400" dirty="0"/>
              <a:t> + 2</a:t>
            </a:r>
          </a:p>
          <a:p>
            <a:r>
              <a:rPr lang="en-US" sz="2400" b="1" dirty="0"/>
              <a:t>Output 1</a:t>
            </a:r>
            <a:r>
              <a:rPr lang="en-US" sz="2400" dirty="0"/>
              <a:t/>
            </a:r>
            <a:br>
              <a:rPr lang="en-US" sz="2400" dirty="0"/>
            </a:br>
            <a:r>
              <a:rPr lang="en-US" sz="2400" dirty="0"/>
              <a:t>Resultant Polynomial: 42x</a:t>
            </a:r>
            <a:r>
              <a:rPr lang="en-US" sz="2400" baseline="30000" dirty="0"/>
              <a:t>2</a:t>
            </a:r>
            <a:r>
              <a:rPr lang="en-US" sz="2400" dirty="0"/>
              <a:t> – 51x</a:t>
            </a:r>
            <a:r>
              <a:rPr lang="en-US" sz="2400" baseline="30000" dirty="0"/>
              <a:t>1</a:t>
            </a:r>
            <a:r>
              <a:rPr lang="en-US" sz="2400" dirty="0"/>
              <a:t> – 18</a:t>
            </a:r>
          </a:p>
          <a:p>
            <a:r>
              <a:rPr lang="en-US" sz="2400" b="1" dirty="0"/>
              <a:t>Input 2</a:t>
            </a:r>
            <a:r>
              <a:rPr lang="en-US" sz="2400" dirty="0"/>
              <a:t/>
            </a:r>
            <a:br>
              <a:rPr lang="en-US" sz="2400" dirty="0"/>
            </a:br>
            <a:r>
              <a:rPr lang="en-US" sz="2400" dirty="0"/>
              <a:t>Poly1: 8x</a:t>
            </a:r>
            <a:r>
              <a:rPr lang="en-US" sz="2400" baseline="30000" dirty="0"/>
              <a:t>1</a:t>
            </a:r>
            <a:r>
              <a:rPr lang="en-US" sz="2400" dirty="0"/>
              <a:t> + 7</a:t>
            </a:r>
            <a:br>
              <a:rPr lang="en-US" sz="2400" dirty="0"/>
            </a:br>
            <a:r>
              <a:rPr lang="en-US" sz="2400" dirty="0"/>
              <a:t>Poly2: 4x</a:t>
            </a:r>
            <a:r>
              <a:rPr lang="en-US" sz="2400" baseline="30000" dirty="0"/>
              <a:t>2</a:t>
            </a:r>
            <a:r>
              <a:rPr lang="en-US" sz="2400" dirty="0"/>
              <a:t> + 5</a:t>
            </a:r>
          </a:p>
          <a:p>
            <a:r>
              <a:rPr lang="en-US" sz="2400" b="1" dirty="0"/>
              <a:t>Output 2</a:t>
            </a:r>
            <a:r>
              <a:rPr lang="en-US" sz="2400" dirty="0"/>
              <a:t/>
            </a:r>
            <a:br>
              <a:rPr lang="en-US" sz="2400" dirty="0"/>
            </a:br>
            <a:r>
              <a:rPr lang="en-US" sz="2400" dirty="0"/>
              <a:t>Resultant Polynomial: 32x</a:t>
            </a:r>
            <a:r>
              <a:rPr lang="en-US" sz="2400" baseline="30000" dirty="0"/>
              <a:t>3</a:t>
            </a:r>
            <a:r>
              <a:rPr lang="en-US" sz="2400" dirty="0"/>
              <a:t> + 28x</a:t>
            </a:r>
            <a:r>
              <a:rPr lang="en-US" sz="2400" baseline="30000" dirty="0"/>
              <a:t>2</a:t>
            </a:r>
            <a:r>
              <a:rPr lang="en-US" sz="2400" dirty="0"/>
              <a:t> + 40x</a:t>
            </a:r>
            <a:r>
              <a:rPr lang="en-US" sz="2400" baseline="30000" dirty="0"/>
              <a:t>1</a:t>
            </a:r>
            <a:r>
              <a:rPr lang="en-US" sz="2400" dirty="0"/>
              <a:t> + 35</a:t>
            </a:r>
          </a:p>
          <a:p>
            <a:r>
              <a:rPr lang="en-US" dirty="0"/>
              <a:t/>
            </a:r>
            <a:br>
              <a:rPr lang="en-US" dirty="0"/>
            </a:br>
            <a:r>
              <a:rPr lang="en-US" dirty="0"/>
              <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80166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Doubly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b="0" i="0" dirty="0">
                <a:solidFill>
                  <a:srgbClr val="333333"/>
                </a:solidFill>
                <a:effectLst/>
                <a:latin typeface="Times New Roman" panose="02020603050405020304" pitchFamily="18" charset="0"/>
                <a:cs typeface="Times New Roman" panose="02020603050405020304" pitchFamily="18" charset="0"/>
              </a:rPr>
              <a:t>Doubly linked list is a complex type of linked list in which a node contains a pointer to the previous as well as the next node in the sequence. </a:t>
            </a:r>
          </a:p>
          <a:p>
            <a:r>
              <a:rPr lang="en-US" b="0" i="0" dirty="0">
                <a:solidFill>
                  <a:srgbClr val="333333"/>
                </a:solidFill>
                <a:effectLst/>
                <a:latin typeface="Times New Roman" panose="02020603050405020304" pitchFamily="18" charset="0"/>
                <a:cs typeface="Times New Roman" panose="02020603050405020304" pitchFamily="18" charset="0"/>
              </a:rPr>
              <a:t>Therefore, in a doubly linked list, a node consists of three parts: node data, pointer to the next node in sequence (next pointer) , pointer to the previous node (previous pointer).</a:t>
            </a:r>
          </a:p>
          <a:p>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EC476B6C-4928-D2AF-2D71-4E8378D9E74E}"/>
              </a:ext>
            </a:extLst>
          </p:cNvPr>
          <p:cNvPicPr>
            <a:picLocks noChangeAspect="1"/>
          </p:cNvPicPr>
          <p:nvPr/>
        </p:nvPicPr>
        <p:blipFill>
          <a:blip r:embed="rId2"/>
          <a:stretch>
            <a:fillRect/>
          </a:stretch>
        </p:blipFill>
        <p:spPr>
          <a:xfrm>
            <a:off x="4639455" y="3422802"/>
            <a:ext cx="4722448" cy="2752155"/>
          </a:xfrm>
          <a:prstGeom prst="rect">
            <a:avLst/>
          </a:prstGeom>
        </p:spPr>
      </p:pic>
      <p:sp>
        <p:nvSpPr>
          <p:cNvPr id="6" name="TextBox 5">
            <a:extLst>
              <a:ext uri="{FF2B5EF4-FFF2-40B4-BE49-F238E27FC236}">
                <a16:creationId xmlns:a16="http://schemas.microsoft.com/office/drawing/2014/main" xmlns="" id="{2032E9AA-FF54-009A-0716-0C0C0AD1A5D1}"/>
              </a:ext>
            </a:extLst>
          </p:cNvPr>
          <p:cNvSpPr txBox="1"/>
          <p:nvPr/>
        </p:nvSpPr>
        <p:spPr>
          <a:xfrm>
            <a:off x="4639453" y="3307195"/>
            <a:ext cx="936667" cy="461665"/>
          </a:xfrm>
          <a:prstGeom prst="rect">
            <a:avLst/>
          </a:prstGeom>
          <a:noFill/>
        </p:spPr>
        <p:txBody>
          <a:bodyPr wrap="none" rtlCol="0">
            <a:spAutoFit/>
          </a:bodyPr>
          <a:lstStyle/>
          <a:p>
            <a:r>
              <a:rPr lang="en-US" sz="2400" b="1" dirty="0"/>
              <a:t>Start/</a:t>
            </a:r>
            <a:endParaRPr lang="en-IN" sz="2400" b="1" dirty="0"/>
          </a:p>
        </p:txBody>
      </p:sp>
    </p:spTree>
    <p:extLst>
      <p:ext uri="{BB962C8B-B14F-4D97-AF65-F5344CB8AC3E}">
        <p14:creationId xmlns:p14="http://schemas.microsoft.com/office/powerpoint/2010/main" val="17628086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Doubly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IN" b="1" dirty="0" smtClean="0">
                <a:latin typeface="Times New Roman" panose="02020603050405020304" pitchFamily="18" charset="0"/>
                <a:cs typeface="Times New Roman" panose="02020603050405020304" pitchFamily="18" charset="0"/>
              </a:rPr>
              <a:t>Advantages</a:t>
            </a:r>
          </a:p>
          <a:p>
            <a:r>
              <a:rPr lang="en-IN" dirty="0" smtClean="0">
                <a:latin typeface="Times New Roman" panose="02020603050405020304" pitchFamily="18" charset="0"/>
                <a:cs typeface="Times New Roman" panose="02020603050405020304" pitchFamily="18" charset="0"/>
              </a:rPr>
              <a:t>We can traverse in both the directions</a:t>
            </a:r>
          </a:p>
          <a:p>
            <a:r>
              <a:rPr lang="en-IN" dirty="0" smtClean="0">
                <a:latin typeface="Times New Roman" panose="02020603050405020304" pitchFamily="18" charset="0"/>
                <a:cs typeface="Times New Roman" panose="02020603050405020304" pitchFamily="18" charset="0"/>
              </a:rPr>
              <a:t>Deletion and Insertion is easy</a:t>
            </a:r>
          </a:p>
          <a:p>
            <a:endParaRPr lang="en-IN" dirty="0" smtClean="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Disadvantages</a:t>
            </a:r>
          </a:p>
          <a:p>
            <a:r>
              <a:rPr lang="en-IN" dirty="0" smtClean="0">
                <a:latin typeface="Times New Roman" panose="02020603050405020304" pitchFamily="18" charset="0"/>
                <a:cs typeface="Times New Roman" panose="02020603050405020304" pitchFamily="18" charset="0"/>
              </a:rPr>
              <a:t>It requires more memory space as two addresses are stored.</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050828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Doubly Linked List</a:t>
            </a:r>
            <a:endParaRPr lang="en-IN" b="1" dirty="0">
              <a:solidFill>
                <a:srgbClr val="FF0000"/>
              </a:solidFill>
            </a:endParaRPr>
          </a:p>
        </p:txBody>
      </p:sp>
      <p:pic>
        <p:nvPicPr>
          <p:cNvPr id="8" name="Picture 7">
            <a:extLst>
              <a:ext uri="{FF2B5EF4-FFF2-40B4-BE49-F238E27FC236}">
                <a16:creationId xmlns:a16="http://schemas.microsoft.com/office/drawing/2014/main" xmlns="" id="{9355350C-64F7-8AAD-EF95-28C66E71C6A7}"/>
              </a:ext>
            </a:extLst>
          </p:cNvPr>
          <p:cNvPicPr>
            <a:picLocks noChangeAspect="1"/>
          </p:cNvPicPr>
          <p:nvPr/>
        </p:nvPicPr>
        <p:blipFill>
          <a:blip r:embed="rId2"/>
          <a:stretch>
            <a:fillRect/>
          </a:stretch>
        </p:blipFill>
        <p:spPr>
          <a:xfrm>
            <a:off x="583990" y="2186994"/>
            <a:ext cx="11010275" cy="2715504"/>
          </a:xfrm>
          <a:prstGeom prst="rect">
            <a:avLst/>
          </a:prstGeom>
        </p:spPr>
      </p:pic>
      <p:sp>
        <p:nvSpPr>
          <p:cNvPr id="9" name="TextBox 8">
            <a:extLst>
              <a:ext uri="{FF2B5EF4-FFF2-40B4-BE49-F238E27FC236}">
                <a16:creationId xmlns:a16="http://schemas.microsoft.com/office/drawing/2014/main" xmlns="" id="{8451AA83-50E1-CF3F-6DEC-A3C4D5F04168}"/>
              </a:ext>
            </a:extLst>
          </p:cNvPr>
          <p:cNvSpPr txBox="1"/>
          <p:nvPr/>
        </p:nvSpPr>
        <p:spPr>
          <a:xfrm>
            <a:off x="742013" y="2173577"/>
            <a:ext cx="936667" cy="461665"/>
          </a:xfrm>
          <a:prstGeom prst="rect">
            <a:avLst/>
          </a:prstGeom>
          <a:noFill/>
        </p:spPr>
        <p:txBody>
          <a:bodyPr wrap="none" rtlCol="0">
            <a:spAutoFit/>
          </a:bodyPr>
          <a:lstStyle/>
          <a:p>
            <a:r>
              <a:rPr lang="en-US" sz="2400" b="1" dirty="0"/>
              <a:t>Start/</a:t>
            </a:r>
            <a:endParaRPr lang="en-IN" sz="2400" b="1" dirty="0"/>
          </a:p>
        </p:txBody>
      </p:sp>
    </p:spTree>
    <p:extLst>
      <p:ext uri="{BB962C8B-B14F-4D97-AF65-F5344CB8AC3E}">
        <p14:creationId xmlns:p14="http://schemas.microsoft.com/office/powerpoint/2010/main" val="26623973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Doubly Linked List – memory representation</a:t>
            </a:r>
            <a:endParaRPr lang="en-IN" b="1" dirty="0">
              <a:solidFill>
                <a:srgbClr val="FF0000"/>
              </a:solidFill>
            </a:endParaRPr>
          </a:p>
        </p:txBody>
      </p:sp>
      <p:pic>
        <p:nvPicPr>
          <p:cNvPr id="5" name="Picture 4">
            <a:extLst>
              <a:ext uri="{FF2B5EF4-FFF2-40B4-BE49-F238E27FC236}">
                <a16:creationId xmlns:a16="http://schemas.microsoft.com/office/drawing/2014/main" xmlns="" id="{0C27C22B-C049-5B83-3CB6-5378E98DBE3D}"/>
              </a:ext>
            </a:extLst>
          </p:cNvPr>
          <p:cNvPicPr>
            <a:picLocks noChangeAspect="1"/>
          </p:cNvPicPr>
          <p:nvPr/>
        </p:nvPicPr>
        <p:blipFill>
          <a:blip r:embed="rId2"/>
          <a:stretch>
            <a:fillRect/>
          </a:stretch>
        </p:blipFill>
        <p:spPr>
          <a:xfrm>
            <a:off x="2887912" y="1154243"/>
            <a:ext cx="5707306" cy="5593463"/>
          </a:xfrm>
          <a:prstGeom prst="rect">
            <a:avLst/>
          </a:prstGeom>
        </p:spPr>
      </p:pic>
    </p:spTree>
    <p:extLst>
      <p:ext uri="{BB962C8B-B14F-4D97-AF65-F5344CB8AC3E}">
        <p14:creationId xmlns:p14="http://schemas.microsoft.com/office/powerpoint/2010/main" val="281221212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Circular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algn="just"/>
            <a:r>
              <a:rPr lang="en-US" b="0" i="0" dirty="0">
                <a:solidFill>
                  <a:srgbClr val="333333"/>
                </a:solidFill>
                <a:effectLst/>
                <a:latin typeface="inter-regular"/>
              </a:rPr>
              <a:t>In a circular Singly linked list, the last node of the list contains a pointer to the first node of the list. We can have circular singly linked list as well as circular doubly linked list.</a:t>
            </a:r>
          </a:p>
          <a:p>
            <a:pPr algn="just"/>
            <a:r>
              <a:rPr lang="en-US" b="0" i="0" dirty="0">
                <a:solidFill>
                  <a:srgbClr val="333333"/>
                </a:solidFill>
                <a:effectLst/>
                <a:latin typeface="inter-regular"/>
              </a:rPr>
              <a:t>We traverse a circular singly linked list until we reach the same node where we started. The circular singly liked list has no beginning and no ending. There is no null value present in the next part of any of the nodes.</a:t>
            </a:r>
          </a:p>
          <a:p>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xmlns="" id="{41A2FB6B-96ED-A800-A0EA-2659B97F9E37}"/>
              </a:ext>
            </a:extLst>
          </p:cNvPr>
          <p:cNvPicPr>
            <a:picLocks noChangeAspect="1"/>
          </p:cNvPicPr>
          <p:nvPr/>
        </p:nvPicPr>
        <p:blipFill>
          <a:blip r:embed="rId2"/>
          <a:stretch>
            <a:fillRect/>
          </a:stretch>
        </p:blipFill>
        <p:spPr>
          <a:xfrm>
            <a:off x="1663907" y="3923776"/>
            <a:ext cx="8706787" cy="2801045"/>
          </a:xfrm>
          <a:prstGeom prst="rect">
            <a:avLst/>
          </a:prstGeom>
        </p:spPr>
      </p:pic>
    </p:spTree>
    <p:extLst>
      <p:ext uri="{BB962C8B-B14F-4D97-AF65-F5344CB8AC3E}">
        <p14:creationId xmlns:p14="http://schemas.microsoft.com/office/powerpoint/2010/main" val="1168373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1" dirty="0">
                <a:solidFill>
                  <a:srgbClr val="FF0000"/>
                </a:solidFill>
              </a:rPr>
              <a:t>Circular Linked List</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b="0" i="0" dirty="0">
                <a:solidFill>
                  <a:srgbClr val="333333"/>
                </a:solidFill>
                <a:effectLst/>
                <a:latin typeface="inter-regular"/>
              </a:rPr>
              <a:t>Circular linked list are mostly used in task maintenance in operating systems. There are many examples where circular linked list are being used in computer science including browser surfing where a record of pages visited in the past by the user, is maintained in the form of circular linked lists and can be accessed again on clicking the previous button.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435980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0" i="0" dirty="0">
                <a:solidFill>
                  <a:srgbClr val="FF0000"/>
                </a:solidFill>
                <a:effectLst/>
                <a:latin typeface="erdana"/>
              </a:rPr>
              <a:t>Memory Representation of circular linked list</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pPr algn="just"/>
            <a:r>
              <a:rPr lang="en-US" b="0" i="0" dirty="0">
                <a:solidFill>
                  <a:srgbClr val="333333"/>
                </a:solidFill>
                <a:effectLst/>
                <a:latin typeface="inter-regular"/>
              </a:rPr>
              <a:t>In the following image, memory representation of a circular linked list containing marks of a student in 4 subjects. </a:t>
            </a:r>
          </a:p>
          <a:p>
            <a:pPr algn="just"/>
            <a:r>
              <a:rPr lang="en-US" b="0" i="0" dirty="0">
                <a:solidFill>
                  <a:srgbClr val="333333"/>
                </a:solidFill>
                <a:effectLst/>
                <a:latin typeface="inter-regular"/>
              </a:rPr>
              <a:t>However, the image shows a glimpse of how the circular list is being stored in the memory. </a:t>
            </a:r>
          </a:p>
          <a:p>
            <a:pPr algn="just"/>
            <a:r>
              <a:rPr lang="en-US" b="0" i="0" dirty="0">
                <a:solidFill>
                  <a:srgbClr val="333333"/>
                </a:solidFill>
                <a:effectLst/>
                <a:latin typeface="inter-regular"/>
              </a:rPr>
              <a:t>The start or head of the list is pointing to the element with the index 1 and containing 13 marks in the data part and 4 in the next part.</a:t>
            </a:r>
          </a:p>
          <a:p>
            <a:pPr algn="just"/>
            <a:r>
              <a:rPr lang="en-US" b="0" i="0" dirty="0">
                <a:solidFill>
                  <a:srgbClr val="333333"/>
                </a:solidFill>
                <a:effectLst/>
                <a:latin typeface="inter-regular"/>
              </a:rPr>
              <a:t>Which means that it is linked with the node that is being stored at 4th index of the list.</a:t>
            </a:r>
          </a:p>
          <a:p>
            <a:pPr algn="just"/>
            <a:r>
              <a:rPr lang="en-US" b="0" i="0" dirty="0">
                <a:solidFill>
                  <a:srgbClr val="333333"/>
                </a:solidFill>
                <a:effectLst/>
                <a:latin typeface="inter-regular"/>
              </a:rPr>
              <a:t>However, due to the fact that we are considering circular linked list in the memory therefore the last node of the list contains the address of the first node of the list.</a:t>
            </a: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710931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0" i="0" dirty="0">
                <a:solidFill>
                  <a:srgbClr val="FF0000"/>
                </a:solidFill>
                <a:effectLst/>
                <a:latin typeface="erdana"/>
              </a:rPr>
              <a:t>Memory Representation of circular linked list</a:t>
            </a:r>
          </a:p>
        </p:txBody>
      </p:sp>
      <p:pic>
        <p:nvPicPr>
          <p:cNvPr id="5" name="Picture 4">
            <a:extLst>
              <a:ext uri="{FF2B5EF4-FFF2-40B4-BE49-F238E27FC236}">
                <a16:creationId xmlns:a16="http://schemas.microsoft.com/office/drawing/2014/main" xmlns="" id="{3109A22F-3DF9-5DBA-B8B0-1B1E5E49659E}"/>
              </a:ext>
            </a:extLst>
          </p:cNvPr>
          <p:cNvPicPr>
            <a:picLocks noChangeAspect="1"/>
          </p:cNvPicPr>
          <p:nvPr/>
        </p:nvPicPr>
        <p:blipFill>
          <a:blip r:embed="rId2"/>
          <a:stretch>
            <a:fillRect/>
          </a:stretch>
        </p:blipFill>
        <p:spPr>
          <a:xfrm>
            <a:off x="2930577" y="1262260"/>
            <a:ext cx="5490487" cy="5693176"/>
          </a:xfrm>
          <a:prstGeom prst="rect">
            <a:avLst/>
          </a:prstGeom>
        </p:spPr>
      </p:pic>
    </p:spTree>
    <p:extLst>
      <p:ext uri="{BB962C8B-B14F-4D97-AF65-F5344CB8AC3E}">
        <p14:creationId xmlns:p14="http://schemas.microsoft.com/office/powerpoint/2010/main" val="98562660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1026" name="Picture 2" descr="Circular Linked List Represen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4548" y="1394086"/>
            <a:ext cx="9895069" cy="24450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itial circular linked li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4990" y="3221372"/>
            <a:ext cx="9014183" cy="22273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005589" y="5250064"/>
            <a:ext cx="6096000" cy="1200329"/>
          </a:xfrm>
          <a:prstGeom prst="rect">
            <a:avLst/>
          </a:prstGeom>
        </p:spPr>
        <p:txBody>
          <a:bodyPr>
            <a:spAutoFit/>
          </a:bodyPr>
          <a:lstStyle/>
          <a:p>
            <a:r>
              <a:rPr lang="en-US" dirty="0" err="1"/>
              <a:t>struct</a:t>
            </a:r>
            <a:r>
              <a:rPr lang="en-US" dirty="0"/>
              <a:t> Node {</a:t>
            </a:r>
          </a:p>
          <a:p>
            <a:r>
              <a:rPr lang="en-US" dirty="0"/>
              <a:t>    </a:t>
            </a:r>
            <a:r>
              <a:rPr lang="en-US" dirty="0" err="1"/>
              <a:t>int</a:t>
            </a:r>
            <a:r>
              <a:rPr lang="en-US" dirty="0"/>
              <a:t> data;</a:t>
            </a:r>
          </a:p>
          <a:p>
            <a:r>
              <a:rPr lang="en-US" dirty="0"/>
              <a:t>    </a:t>
            </a:r>
            <a:r>
              <a:rPr lang="en-US" dirty="0" err="1"/>
              <a:t>struct</a:t>
            </a:r>
            <a:r>
              <a:rPr lang="en-US" dirty="0"/>
              <a:t> Node * next;</a:t>
            </a:r>
          </a:p>
          <a:p>
            <a:r>
              <a:rPr lang="en-US" dirty="0"/>
              <a:t>};</a:t>
            </a:r>
          </a:p>
        </p:txBody>
      </p:sp>
    </p:spTree>
    <p:extLst>
      <p:ext uri="{BB962C8B-B14F-4D97-AF65-F5344CB8AC3E}">
        <p14:creationId xmlns:p14="http://schemas.microsoft.com/office/powerpoint/2010/main" val="30017918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2050" name="Picture 2" descr="Insert at the beginn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2020" y="5357612"/>
            <a:ext cx="4942813" cy="15993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592025" y="1033479"/>
            <a:ext cx="7431513" cy="4584672"/>
          </a:xfrm>
          <a:prstGeom prst="rect">
            <a:avLst/>
          </a:prstGeom>
        </p:spPr>
      </p:pic>
    </p:spTree>
    <p:extLst>
      <p:ext uri="{BB962C8B-B14F-4D97-AF65-F5344CB8AC3E}">
        <p14:creationId xmlns:p14="http://schemas.microsoft.com/office/powerpoint/2010/main" val="161300800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3" name="Picture 2"/>
          <p:cNvPicPr>
            <a:picLocks noChangeAspect="1"/>
          </p:cNvPicPr>
          <p:nvPr/>
        </p:nvPicPr>
        <p:blipFill>
          <a:blip r:embed="rId2"/>
          <a:stretch>
            <a:fillRect/>
          </a:stretch>
        </p:blipFill>
        <p:spPr>
          <a:xfrm>
            <a:off x="2450741" y="1281447"/>
            <a:ext cx="6798733" cy="5170867"/>
          </a:xfrm>
          <a:prstGeom prst="rect">
            <a:avLst/>
          </a:prstGeom>
        </p:spPr>
      </p:pic>
    </p:spTree>
    <p:extLst>
      <p:ext uri="{BB962C8B-B14F-4D97-AF65-F5344CB8AC3E}">
        <p14:creationId xmlns:p14="http://schemas.microsoft.com/office/powerpoint/2010/main" val="195731800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3" name="Picture 2"/>
          <p:cNvPicPr>
            <a:picLocks noChangeAspect="1"/>
          </p:cNvPicPr>
          <p:nvPr/>
        </p:nvPicPr>
        <p:blipFill>
          <a:blip r:embed="rId2"/>
          <a:stretch>
            <a:fillRect/>
          </a:stretch>
        </p:blipFill>
        <p:spPr>
          <a:xfrm>
            <a:off x="972756" y="1317536"/>
            <a:ext cx="9430092" cy="4928718"/>
          </a:xfrm>
          <a:prstGeom prst="rect">
            <a:avLst/>
          </a:prstGeom>
        </p:spPr>
      </p:pic>
    </p:spTree>
    <p:extLst>
      <p:ext uri="{BB962C8B-B14F-4D97-AF65-F5344CB8AC3E}">
        <p14:creationId xmlns:p14="http://schemas.microsoft.com/office/powerpoint/2010/main" val="53396916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4" name="Picture 3"/>
          <p:cNvPicPr>
            <a:picLocks noChangeAspect="1"/>
          </p:cNvPicPr>
          <p:nvPr/>
        </p:nvPicPr>
        <p:blipFill>
          <a:blip r:embed="rId2"/>
          <a:stretch>
            <a:fillRect/>
          </a:stretch>
        </p:blipFill>
        <p:spPr>
          <a:xfrm>
            <a:off x="2058740" y="1368379"/>
            <a:ext cx="7394353" cy="4895572"/>
          </a:xfrm>
          <a:prstGeom prst="rect">
            <a:avLst/>
          </a:prstGeom>
        </p:spPr>
      </p:pic>
    </p:spTree>
    <p:extLst>
      <p:ext uri="{BB962C8B-B14F-4D97-AF65-F5344CB8AC3E}">
        <p14:creationId xmlns:p14="http://schemas.microsoft.com/office/powerpoint/2010/main" val="372901852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3" name="Picture 2"/>
          <p:cNvPicPr>
            <a:picLocks noChangeAspect="1"/>
          </p:cNvPicPr>
          <p:nvPr/>
        </p:nvPicPr>
        <p:blipFill>
          <a:blip r:embed="rId2"/>
          <a:stretch>
            <a:fillRect/>
          </a:stretch>
        </p:blipFill>
        <p:spPr>
          <a:xfrm>
            <a:off x="658901" y="1141385"/>
            <a:ext cx="9509312" cy="4589713"/>
          </a:xfrm>
          <a:prstGeom prst="rect">
            <a:avLst/>
          </a:prstGeom>
        </p:spPr>
      </p:pic>
    </p:spTree>
    <p:extLst>
      <p:ext uri="{BB962C8B-B14F-4D97-AF65-F5344CB8AC3E}">
        <p14:creationId xmlns:p14="http://schemas.microsoft.com/office/powerpoint/2010/main" val="204682779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4" name="Picture 3"/>
          <p:cNvPicPr>
            <a:picLocks noChangeAspect="1"/>
          </p:cNvPicPr>
          <p:nvPr/>
        </p:nvPicPr>
        <p:blipFill>
          <a:blip r:embed="rId2"/>
          <a:stretch>
            <a:fillRect/>
          </a:stretch>
        </p:blipFill>
        <p:spPr>
          <a:xfrm>
            <a:off x="2361797" y="1141385"/>
            <a:ext cx="7395388" cy="4976079"/>
          </a:xfrm>
          <a:prstGeom prst="rect">
            <a:avLst/>
          </a:prstGeom>
        </p:spPr>
      </p:pic>
    </p:spTree>
    <p:extLst>
      <p:ext uri="{BB962C8B-B14F-4D97-AF65-F5344CB8AC3E}">
        <p14:creationId xmlns:p14="http://schemas.microsoft.com/office/powerpoint/2010/main" val="95106657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3" name="Picture 2"/>
          <p:cNvPicPr>
            <a:picLocks noChangeAspect="1"/>
          </p:cNvPicPr>
          <p:nvPr/>
        </p:nvPicPr>
        <p:blipFill>
          <a:blip r:embed="rId2"/>
          <a:stretch>
            <a:fillRect/>
          </a:stretch>
        </p:blipFill>
        <p:spPr>
          <a:xfrm>
            <a:off x="612686" y="939487"/>
            <a:ext cx="8969196" cy="5006686"/>
          </a:xfrm>
          <a:prstGeom prst="rect">
            <a:avLst/>
          </a:prstGeom>
        </p:spPr>
      </p:pic>
    </p:spTree>
    <p:extLst>
      <p:ext uri="{BB962C8B-B14F-4D97-AF65-F5344CB8AC3E}">
        <p14:creationId xmlns:p14="http://schemas.microsoft.com/office/powerpoint/2010/main" val="7911061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4" name="Picture 3"/>
          <p:cNvPicPr>
            <a:picLocks noChangeAspect="1"/>
          </p:cNvPicPr>
          <p:nvPr/>
        </p:nvPicPr>
        <p:blipFill>
          <a:blip r:embed="rId2"/>
          <a:stretch>
            <a:fillRect/>
          </a:stretch>
        </p:blipFill>
        <p:spPr>
          <a:xfrm>
            <a:off x="2054986" y="1141386"/>
            <a:ext cx="7556946" cy="4802411"/>
          </a:xfrm>
          <a:prstGeom prst="rect">
            <a:avLst/>
          </a:prstGeom>
        </p:spPr>
      </p:pic>
    </p:spTree>
    <p:extLst>
      <p:ext uri="{BB962C8B-B14F-4D97-AF65-F5344CB8AC3E}">
        <p14:creationId xmlns:p14="http://schemas.microsoft.com/office/powerpoint/2010/main" val="160715498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3" name="Picture 2"/>
          <p:cNvPicPr>
            <a:picLocks noChangeAspect="1"/>
          </p:cNvPicPr>
          <p:nvPr/>
        </p:nvPicPr>
        <p:blipFill>
          <a:blip r:embed="rId2"/>
          <a:stretch>
            <a:fillRect/>
          </a:stretch>
        </p:blipFill>
        <p:spPr>
          <a:xfrm>
            <a:off x="1118114" y="1260385"/>
            <a:ext cx="9223621" cy="5119467"/>
          </a:xfrm>
          <a:prstGeom prst="rect">
            <a:avLst/>
          </a:prstGeom>
        </p:spPr>
      </p:pic>
    </p:spTree>
    <p:extLst>
      <p:ext uri="{BB962C8B-B14F-4D97-AF65-F5344CB8AC3E}">
        <p14:creationId xmlns:p14="http://schemas.microsoft.com/office/powerpoint/2010/main" val="160878589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4" name="Picture 3"/>
          <p:cNvPicPr>
            <a:picLocks noChangeAspect="1"/>
          </p:cNvPicPr>
          <p:nvPr/>
        </p:nvPicPr>
        <p:blipFill>
          <a:blip r:embed="rId2"/>
          <a:stretch>
            <a:fillRect/>
          </a:stretch>
        </p:blipFill>
        <p:spPr>
          <a:xfrm>
            <a:off x="1803444" y="1272325"/>
            <a:ext cx="8944548" cy="4677714"/>
          </a:xfrm>
          <a:prstGeom prst="rect">
            <a:avLst/>
          </a:prstGeom>
        </p:spPr>
      </p:pic>
    </p:spTree>
    <p:extLst>
      <p:ext uri="{BB962C8B-B14F-4D97-AF65-F5344CB8AC3E}">
        <p14:creationId xmlns:p14="http://schemas.microsoft.com/office/powerpoint/2010/main" val="99209675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3" name="Picture 2"/>
          <p:cNvPicPr>
            <a:picLocks noChangeAspect="1"/>
          </p:cNvPicPr>
          <p:nvPr/>
        </p:nvPicPr>
        <p:blipFill>
          <a:blip r:embed="rId2"/>
          <a:stretch>
            <a:fillRect/>
          </a:stretch>
        </p:blipFill>
        <p:spPr>
          <a:xfrm>
            <a:off x="570494" y="1141386"/>
            <a:ext cx="8985630" cy="5144659"/>
          </a:xfrm>
          <a:prstGeom prst="rect">
            <a:avLst/>
          </a:prstGeom>
        </p:spPr>
      </p:pic>
    </p:spTree>
    <p:extLst>
      <p:ext uri="{BB962C8B-B14F-4D97-AF65-F5344CB8AC3E}">
        <p14:creationId xmlns:p14="http://schemas.microsoft.com/office/powerpoint/2010/main" val="17508320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80503" y="0"/>
            <a:ext cx="11746042" cy="1141386"/>
          </a:xfrm>
        </p:spPr>
        <p:txBody>
          <a:bodyPr/>
          <a:lstStyle/>
          <a:p>
            <a:pPr algn="ctr"/>
            <a:r>
              <a:rPr lang="en-US" b="0" i="0" dirty="0" smtClean="0">
                <a:solidFill>
                  <a:srgbClr val="FF0000"/>
                </a:solidFill>
                <a:effectLst/>
                <a:latin typeface="erdana"/>
              </a:rPr>
              <a:t>circular </a:t>
            </a:r>
            <a:r>
              <a:rPr lang="en-US" b="0" i="0" dirty="0">
                <a:solidFill>
                  <a:srgbClr val="FF0000"/>
                </a:solidFill>
                <a:effectLst/>
                <a:latin typeface="erdana"/>
              </a:rPr>
              <a:t>linked list</a:t>
            </a:r>
          </a:p>
        </p:txBody>
      </p:sp>
      <p:pic>
        <p:nvPicPr>
          <p:cNvPr id="4" name="Picture 3"/>
          <p:cNvPicPr>
            <a:picLocks noChangeAspect="1"/>
          </p:cNvPicPr>
          <p:nvPr/>
        </p:nvPicPr>
        <p:blipFill>
          <a:blip r:embed="rId2"/>
          <a:stretch>
            <a:fillRect/>
          </a:stretch>
        </p:blipFill>
        <p:spPr>
          <a:xfrm>
            <a:off x="1683644" y="1141386"/>
            <a:ext cx="7756570" cy="5524464"/>
          </a:xfrm>
          <a:prstGeom prst="rect">
            <a:avLst/>
          </a:prstGeom>
        </p:spPr>
      </p:pic>
    </p:spTree>
    <p:extLst>
      <p:ext uri="{BB962C8B-B14F-4D97-AF65-F5344CB8AC3E}">
        <p14:creationId xmlns:p14="http://schemas.microsoft.com/office/powerpoint/2010/main" val="10478734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dirty="0" smtClean="0"/>
              <a:t>Sparse matrix</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sz="2400" dirty="0"/>
              <a:t>A matrix can be defined as a two-dimensional array having 'm' rows and 'n' columns. A matrix with m rows and n columns is called m × n matrix. It is a set of numbers that are arranged in the horizontal or vertical lines of entries</a:t>
            </a:r>
            <a:r>
              <a:rPr lang="en-US" sz="2400" dirty="0" smtClean="0"/>
              <a:t>.</a:t>
            </a:r>
          </a:p>
          <a:p>
            <a:endParaRPr lang="en-US" dirty="0" smtClean="0"/>
          </a:p>
          <a:p>
            <a:endParaRPr lang="en-US" dirty="0"/>
          </a:p>
          <a:p>
            <a:endParaRPr lang="en-US" dirty="0" smtClean="0"/>
          </a:p>
          <a:p>
            <a:endParaRPr lang="en-US" dirty="0"/>
          </a:p>
          <a:p>
            <a:r>
              <a:rPr lang="en-US" dirty="0"/>
              <a:t>What is a sparse matrix?</a:t>
            </a:r>
          </a:p>
          <a:p>
            <a:r>
              <a:rPr lang="en-US" dirty="0"/>
              <a:t>Sparse matrices are those matrices that have the majority of their elements equal to zero. In other words, the sparse matrix can be defined as the matrix that has a greater number of zero elements than the non-zero elements.</a:t>
            </a:r>
          </a:p>
          <a:p>
            <a:r>
              <a:rPr lang="en-US" dirty="0"/>
              <a:t>Now, the question arises: we can also use the simple matrix to store the elements, then why is the sparse matrix required?</a:t>
            </a:r>
          </a:p>
          <a:p>
            <a:endParaRPr lang="en-US" dirty="0" smtClean="0"/>
          </a:p>
          <a:p>
            <a:r>
              <a:rPr lang="en-US" dirty="0"/>
              <a:t/>
            </a:r>
            <a:br>
              <a:rPr lang="en-US" dirty="0"/>
            </a:br>
            <a:r>
              <a:rPr lang="en-US" dirty="0"/>
              <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pic>
        <p:nvPicPr>
          <p:cNvPr id="13314" name="Picture 2" descr="Sparse 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0746" y="2280638"/>
            <a:ext cx="523875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18944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dirty="0" smtClean="0"/>
              <a:t>Sparse matrix</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Why is a sparse matrix required if we can use the simple matrix to store elements?</a:t>
            </a:r>
          </a:p>
          <a:p>
            <a:r>
              <a:rPr lang="en-US" dirty="0"/>
              <a:t>There are the following benefits of using the sparse matrix -</a:t>
            </a:r>
          </a:p>
          <a:p>
            <a:r>
              <a:rPr lang="en-US" b="1" dirty="0"/>
              <a:t>Storage -</a:t>
            </a:r>
            <a:r>
              <a:rPr lang="en-US" dirty="0"/>
              <a:t> We know that a sparse matrix contains lesser non-zero elements than zero, so less memory can be used to store elements. It evaluates only the non-zero elements.</a:t>
            </a:r>
          </a:p>
          <a:p>
            <a:r>
              <a:rPr lang="en-US" b="1" dirty="0"/>
              <a:t>Computing time:</a:t>
            </a:r>
            <a:r>
              <a:rPr lang="en-US" dirty="0"/>
              <a:t> In the case of searching in sparse matrix, we need to traverse only the non-zero elements rather than traversing all the sparse matrix elements. It saves computing time by logically designing a data structure traversing non-zero elements.</a:t>
            </a:r>
          </a:p>
          <a:p>
            <a:endParaRPr lang="en-US" dirty="0" smtClean="0"/>
          </a:p>
          <a:p>
            <a:r>
              <a:rPr lang="en-US" dirty="0"/>
              <a:t/>
            </a:r>
            <a:br>
              <a:rPr lang="en-US" dirty="0"/>
            </a:br>
            <a:r>
              <a:rPr lang="en-US" dirty="0"/>
              <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62429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pPr algn="ctr"/>
            <a:r>
              <a:rPr lang="en-US" dirty="0" smtClean="0"/>
              <a:t>Sparse matrix</a:t>
            </a:r>
            <a:endParaRPr lang="en-IN" b="1" dirty="0">
              <a:solidFill>
                <a:srgbClr val="FF0000"/>
              </a:solidFill>
            </a:endParaRP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Representation of sparse matrix</a:t>
            </a:r>
          </a:p>
          <a:p>
            <a:r>
              <a:rPr lang="en-US" dirty="0"/>
              <a:t>Now, let's see the representation of the sparse matrix. The non-zero elements in the sparse matrix can be stored using triplets that are rows, columns, and values. There are two ways to represent the sparse matrix that are listed as follows -</a:t>
            </a:r>
          </a:p>
          <a:p>
            <a:r>
              <a:rPr lang="en-US" dirty="0"/>
              <a:t>Array representation</a:t>
            </a:r>
          </a:p>
          <a:p>
            <a:r>
              <a:rPr lang="en-US" dirty="0"/>
              <a:t>Linked list representation</a:t>
            </a:r>
          </a:p>
          <a:p>
            <a:endParaRPr lang="en-US" dirty="0" smtClean="0"/>
          </a:p>
          <a:p>
            <a:r>
              <a:rPr lang="en-US" dirty="0"/>
              <a:t/>
            </a:r>
            <a:br>
              <a:rPr lang="en-US" dirty="0"/>
            </a:br>
            <a:r>
              <a:rPr lang="en-US" dirty="0"/>
              <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4950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r>
              <a:rPr lang="en-US" dirty="0"/>
              <a:t>Linked List representation of the sparse matrix</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In a linked list representation, the linked list data structure is used to represent the sparse matrix. The advantage of using a linked list to represent the sparse matrix is that the complexity of inserting or deleting a node in a linked list is lesser than the array.</a:t>
            </a:r>
          </a:p>
          <a:p>
            <a:r>
              <a:rPr lang="en-US" dirty="0"/>
              <a:t>Unlike the array representation, a node in the linked list representation consists of four fields. The four fields of the linked list are given as follows -</a:t>
            </a:r>
          </a:p>
          <a:p>
            <a:r>
              <a:rPr lang="en-US" b="1" dirty="0"/>
              <a:t>Row -</a:t>
            </a:r>
            <a:r>
              <a:rPr lang="en-US" dirty="0"/>
              <a:t> It represents the index of the row where the non-zero element is located.</a:t>
            </a:r>
          </a:p>
          <a:p>
            <a:r>
              <a:rPr lang="en-US" b="1" dirty="0"/>
              <a:t>Column -</a:t>
            </a:r>
            <a:r>
              <a:rPr lang="en-US" dirty="0"/>
              <a:t> It represents the index of the column where the non-zero element is located.</a:t>
            </a:r>
          </a:p>
          <a:p>
            <a:r>
              <a:rPr lang="en-US" b="1" dirty="0"/>
              <a:t>Value -</a:t>
            </a:r>
            <a:r>
              <a:rPr lang="en-US" dirty="0"/>
              <a:t> It is the value of the non-zero element that is located at the index (row, column).</a:t>
            </a:r>
          </a:p>
          <a:p>
            <a:r>
              <a:rPr lang="en-US" b="1" dirty="0"/>
              <a:t>Next node -</a:t>
            </a:r>
            <a:r>
              <a:rPr lang="en-US" dirty="0"/>
              <a:t> It stores the address of the next node.</a:t>
            </a:r>
          </a:p>
          <a:p>
            <a:endParaRPr lang="en-US" dirty="0" smtClean="0"/>
          </a:p>
          <a:p>
            <a:r>
              <a:rPr lang="en-US" dirty="0"/>
              <a:t/>
            </a:r>
            <a:br>
              <a:rPr lang="en-US" dirty="0"/>
            </a:br>
            <a:r>
              <a:rPr lang="en-US" dirty="0"/>
              <a:t/>
            </a:r>
            <a:br>
              <a:rPr lang="en-US" dirty="0"/>
            </a:br>
            <a:r>
              <a:rPr lang="en-US" dirty="0"/>
              <a:t/>
            </a:r>
            <a:br>
              <a:rPr lang="en-US" dirty="0"/>
            </a:br>
            <a:endParaRPr lang="en-US" dirty="0" smtClean="0"/>
          </a:p>
          <a:p>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718832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r>
              <a:rPr lang="en-US" dirty="0"/>
              <a:t>Linked List representation of the sparse matrix</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dirty="0"/>
              <a:t>The node structure of the linked list representation of the sparse matrix is shown in the below image -</a:t>
            </a:r>
            <a:endParaRPr lang="en-US" dirty="0" smtClean="0"/>
          </a:p>
          <a:p>
            <a:r>
              <a:rPr lang="en-US" dirty="0"/>
              <a:t/>
            </a:r>
            <a:br>
              <a:rPr lang="en-US" dirty="0"/>
            </a:br>
            <a:r>
              <a:rPr lang="en-US" dirty="0"/>
              <a:t/>
            </a:r>
            <a:br>
              <a:rPr lang="en-US" dirty="0"/>
            </a:br>
            <a:r>
              <a:rPr lang="en-US" dirty="0"/>
              <a:t/>
            </a:r>
            <a:br>
              <a:rPr lang="en-US" dirty="0"/>
            </a:br>
            <a:endParaRPr lang="en-US" dirty="0" smtClean="0"/>
          </a:p>
          <a:p>
            <a:r>
              <a:rPr lang="en-US" dirty="0"/>
              <a:t>Let's understand the linked list representation of sparse matrix with the help of the example given </a:t>
            </a:r>
            <a:r>
              <a:rPr lang="en-US" dirty="0" smtClean="0"/>
              <a:t>below - </a:t>
            </a:r>
            <a:r>
              <a:rPr lang="en-US" dirty="0"/>
              <a:t>Consider the sparse matrix -</a:t>
            </a:r>
            <a:endParaRPr lang="en-IN" b="1" dirty="0" smtClean="0">
              <a:latin typeface="Times New Roman" panose="02020603050405020304" pitchFamily="18" charset="0"/>
              <a:cs typeface="Times New Roman" panose="02020603050405020304" pitchFamily="18" charset="0"/>
            </a:endParaRPr>
          </a:p>
        </p:txBody>
      </p:sp>
      <p:pic>
        <p:nvPicPr>
          <p:cNvPr id="17410" name="Picture 2" descr="Sparse 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862" y="2128030"/>
            <a:ext cx="619125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Sparse Matri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6651" y="4605049"/>
            <a:ext cx="5238750" cy="2000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765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r>
              <a:rPr lang="en-US" dirty="0"/>
              <a:t>Linked List representation of the sparse matrix</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r>
              <a:rPr lang="en-US" sz="2400" dirty="0"/>
              <a:t>In the above figure, we can observe a 4x4 sparse matrix containing 5 non-zero elements and 11 zero elements. Above matrix occupies 4x4 = 16 memory space. Increasing the size of matrix will increase the wastage space.</a:t>
            </a:r>
          </a:p>
          <a:p>
            <a:r>
              <a:rPr lang="en-US" sz="2400" dirty="0"/>
              <a:t>The linked list representation of the above matrix is given below </a:t>
            </a:r>
            <a:r>
              <a:rPr lang="en-US" sz="2400" dirty="0" smtClean="0"/>
              <a:t>–</a:t>
            </a:r>
          </a:p>
          <a:p>
            <a:endParaRPr lang="en-US" sz="2400" dirty="0"/>
          </a:p>
          <a:p>
            <a:endParaRPr lang="en-US" sz="2400" dirty="0" smtClean="0"/>
          </a:p>
          <a:p>
            <a:r>
              <a:rPr lang="en-US" sz="2400" dirty="0"/>
              <a:t>In the above figure, the sparse matrix is represented in the linked list form. In the node, the first field represents the index of the row, the second field represents the index of the column, the third field represents the value, and the fourth field contains the address of the next node.</a:t>
            </a:r>
          </a:p>
          <a:p>
            <a:r>
              <a:rPr lang="en-US" sz="2400" dirty="0"/>
              <a:t>In the above figure, the first field of the first node of the linked list contains 0, which means 0</a:t>
            </a:r>
            <a:r>
              <a:rPr lang="en-US" sz="2400" baseline="30000" dirty="0"/>
              <a:t>th</a:t>
            </a:r>
            <a:r>
              <a:rPr lang="en-US" sz="2400" dirty="0"/>
              <a:t> row, the second field contains 2, which means 2</a:t>
            </a:r>
            <a:r>
              <a:rPr lang="en-US" sz="2400" baseline="30000" dirty="0"/>
              <a:t>nd</a:t>
            </a:r>
            <a:r>
              <a:rPr lang="en-US" sz="2400" dirty="0"/>
              <a:t> column, and the third field contains 1 that is the non-zero element. So, the first node represents that element 1 is stored at the 0</a:t>
            </a:r>
            <a:r>
              <a:rPr lang="en-US" sz="2400" baseline="30000" dirty="0"/>
              <a:t>th</a:t>
            </a:r>
            <a:r>
              <a:rPr lang="en-US" sz="2400" dirty="0"/>
              <a:t> row-2</a:t>
            </a:r>
            <a:r>
              <a:rPr lang="en-US" sz="2400" baseline="30000" dirty="0"/>
              <a:t>nd</a:t>
            </a:r>
            <a:r>
              <a:rPr lang="en-US" sz="2400" dirty="0"/>
              <a:t> column in the given sparse matrix. In a similar manner, all of the nodes represent the non-zero elements of the sparse matrix.</a:t>
            </a:r>
          </a:p>
          <a:p>
            <a:endParaRPr lang="en-US" dirty="0" smtClean="0"/>
          </a:p>
          <a:p>
            <a:endParaRPr lang="en-US" dirty="0"/>
          </a:p>
        </p:txBody>
      </p:sp>
      <p:pic>
        <p:nvPicPr>
          <p:cNvPr id="21506" name="Picture 2" descr="Sparse Matri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167" y="2657539"/>
            <a:ext cx="9809922" cy="8947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parse Matri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4573" y="1863734"/>
            <a:ext cx="2767930" cy="1056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93311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B39BE9-8CDD-05EF-5903-F35647928424}"/>
              </a:ext>
            </a:extLst>
          </p:cNvPr>
          <p:cNvSpPr>
            <a:spLocks noGrp="1"/>
          </p:cNvSpPr>
          <p:nvPr>
            <p:ph type="title"/>
          </p:nvPr>
        </p:nvSpPr>
        <p:spPr>
          <a:xfrm>
            <a:off x="216109" y="252700"/>
            <a:ext cx="11746042" cy="1141386"/>
          </a:xfrm>
        </p:spPr>
        <p:txBody>
          <a:bodyPr>
            <a:normAutofit/>
          </a:bodyPr>
          <a:lstStyle/>
          <a:p>
            <a:r>
              <a:rPr lang="en-US" dirty="0"/>
              <a:t>Linked List representation of the sparse matrix</a:t>
            </a:r>
          </a:p>
        </p:txBody>
      </p:sp>
      <p:sp>
        <p:nvSpPr>
          <p:cNvPr id="3" name="Content Placeholder 2">
            <a:extLst>
              <a:ext uri="{FF2B5EF4-FFF2-40B4-BE49-F238E27FC236}">
                <a16:creationId xmlns:a16="http://schemas.microsoft.com/office/drawing/2014/main" xmlns="" id="{806FE3FC-31AD-FA4D-2E69-DCE31E155D1B}"/>
              </a:ext>
            </a:extLst>
          </p:cNvPr>
          <p:cNvSpPr>
            <a:spLocks noGrp="1"/>
          </p:cNvSpPr>
          <p:nvPr>
            <p:ph idx="1"/>
          </p:nvPr>
        </p:nvSpPr>
        <p:spPr>
          <a:xfrm>
            <a:off x="216108" y="1139252"/>
            <a:ext cx="11746041" cy="5466048"/>
          </a:xfrm>
        </p:spPr>
        <p:txBody>
          <a:bodyPr>
            <a:noAutofit/>
          </a:bodyPr>
          <a:lstStyle/>
          <a:p>
            <a:endParaRPr lang="en-US" dirty="0" smtClean="0"/>
          </a:p>
          <a:p>
            <a:endParaRPr lang="en-US" dirty="0"/>
          </a:p>
        </p:txBody>
      </p:sp>
      <p:sp>
        <p:nvSpPr>
          <p:cNvPr id="4" name="Rectangle 3"/>
          <p:cNvSpPr/>
          <p:nvPr/>
        </p:nvSpPr>
        <p:spPr>
          <a:xfrm>
            <a:off x="321972" y="1250040"/>
            <a:ext cx="11640177" cy="5262979"/>
          </a:xfrm>
          <a:prstGeom prst="rect">
            <a:avLst/>
          </a:prstGeom>
        </p:spPr>
        <p:txBody>
          <a:bodyPr wrap="square">
            <a:spAutoFit/>
          </a:bodyPr>
          <a:lstStyle/>
          <a:p>
            <a:r>
              <a:rPr lang="en-US" sz="1600" dirty="0">
                <a:solidFill>
                  <a:srgbClr val="000000"/>
                </a:solidFill>
                <a:latin typeface="Trebuchet MS" panose="020B0603020202020204" pitchFamily="34" charset="0"/>
              </a:rPr>
              <a:t>If most of the elements in a matrix have the value 0, then the matrix is called spare matrix.</a:t>
            </a:r>
            <a:r>
              <a:rPr lang="en-US" sz="1600" dirty="0"/>
              <a:t/>
            </a:r>
            <a:br>
              <a:rPr lang="en-US" sz="1600" dirty="0"/>
            </a:br>
            <a:r>
              <a:rPr lang="en-US" sz="1600" dirty="0">
                <a:solidFill>
                  <a:srgbClr val="000000"/>
                </a:solidFill>
                <a:latin typeface="Trebuchet MS" panose="020B0603020202020204" pitchFamily="34" charset="0"/>
              </a:rPr>
              <a:t/>
            </a:r>
            <a:br>
              <a:rPr lang="en-US" sz="1600" dirty="0">
                <a:solidFill>
                  <a:srgbClr val="000000"/>
                </a:solidFill>
                <a:latin typeface="Trebuchet MS" panose="020B0603020202020204" pitchFamily="34" charset="0"/>
              </a:rPr>
            </a:br>
            <a:r>
              <a:rPr lang="en-US" sz="1600" b="1" dirty="0">
                <a:solidFill>
                  <a:srgbClr val="660000"/>
                </a:solidFill>
                <a:latin typeface="Trebuchet MS" panose="020B0603020202020204" pitchFamily="34" charset="0"/>
              </a:rPr>
              <a:t>Example For 3 X 3 Sparse Matrix:</a:t>
            </a:r>
            <a:r>
              <a:rPr lang="en-US" sz="1600" dirty="0"/>
              <a:t/>
            </a:r>
            <a:br>
              <a:rPr lang="en-US" sz="1600" dirty="0"/>
            </a:br>
            <a:r>
              <a:rPr lang="en-US" sz="1600" dirty="0">
                <a:solidFill>
                  <a:srgbClr val="000000"/>
                </a:solidFill>
                <a:latin typeface="Trebuchet MS" panose="020B0603020202020204" pitchFamily="34" charset="0"/>
              </a:rPr>
              <a:t>|  1   0   0 |</a:t>
            </a:r>
            <a:r>
              <a:rPr lang="en-US" sz="1600" dirty="0"/>
              <a:t/>
            </a:r>
            <a:br>
              <a:rPr lang="en-US" sz="1600" dirty="0"/>
            </a:br>
            <a:r>
              <a:rPr lang="en-US" sz="1600" dirty="0">
                <a:solidFill>
                  <a:srgbClr val="000000"/>
                </a:solidFill>
                <a:latin typeface="Trebuchet MS" panose="020B0603020202020204" pitchFamily="34" charset="0"/>
              </a:rPr>
              <a:t>|  0   0   0 |</a:t>
            </a:r>
            <a:r>
              <a:rPr lang="en-US" sz="1600" dirty="0"/>
              <a:t/>
            </a:r>
            <a:br>
              <a:rPr lang="en-US" sz="1600" dirty="0"/>
            </a:br>
            <a:r>
              <a:rPr lang="en-US" sz="1600" dirty="0">
                <a:solidFill>
                  <a:srgbClr val="000000"/>
                </a:solidFill>
                <a:latin typeface="Trebuchet MS" panose="020B0603020202020204" pitchFamily="34" charset="0"/>
              </a:rPr>
              <a:t>|  0   4   0 |</a:t>
            </a:r>
            <a:r>
              <a:rPr lang="en-US" sz="1600" dirty="0"/>
              <a:t/>
            </a:r>
            <a:br>
              <a:rPr lang="en-US" sz="1600" dirty="0"/>
            </a:br>
            <a:r>
              <a:rPr lang="en-US" sz="1600" dirty="0">
                <a:solidFill>
                  <a:srgbClr val="000000"/>
                </a:solidFill>
                <a:latin typeface="Trebuchet MS" panose="020B0603020202020204" pitchFamily="34" charset="0"/>
              </a:rPr>
              <a:t/>
            </a:r>
            <a:br>
              <a:rPr lang="en-US" sz="1600" dirty="0">
                <a:solidFill>
                  <a:srgbClr val="000000"/>
                </a:solidFill>
                <a:latin typeface="Trebuchet MS" panose="020B0603020202020204" pitchFamily="34" charset="0"/>
              </a:rPr>
            </a:br>
            <a:r>
              <a:rPr lang="en-US" sz="1600" b="1" dirty="0">
                <a:solidFill>
                  <a:srgbClr val="660000"/>
                </a:solidFill>
                <a:latin typeface="Trebuchet MS" panose="020B0603020202020204" pitchFamily="34" charset="0"/>
              </a:rPr>
              <a:t>3-Tuple Representation Of Sparse Matrix Using Arrays: </a:t>
            </a:r>
            <a:r>
              <a:rPr lang="en-US" sz="1600" dirty="0"/>
              <a:t/>
            </a:r>
            <a:br>
              <a:rPr lang="en-US" sz="1600" dirty="0"/>
            </a:br>
            <a:r>
              <a:rPr lang="en-US" sz="1600" dirty="0">
                <a:solidFill>
                  <a:srgbClr val="000000"/>
                </a:solidFill>
                <a:latin typeface="Trebuchet MS" panose="020B0603020202020204" pitchFamily="34" charset="0"/>
              </a:rPr>
              <a:t>|  3   3   2 |</a:t>
            </a:r>
            <a:r>
              <a:rPr lang="en-US" sz="1600" dirty="0"/>
              <a:t/>
            </a:r>
            <a:br>
              <a:rPr lang="en-US" sz="1600" dirty="0"/>
            </a:br>
            <a:r>
              <a:rPr lang="en-US" sz="1600" dirty="0">
                <a:solidFill>
                  <a:srgbClr val="000000"/>
                </a:solidFill>
                <a:latin typeface="Trebuchet MS" panose="020B0603020202020204" pitchFamily="34" charset="0"/>
              </a:rPr>
              <a:t>|  0   0   1 |</a:t>
            </a:r>
            <a:r>
              <a:rPr lang="en-US" sz="1600" dirty="0"/>
              <a:t/>
            </a:r>
            <a:br>
              <a:rPr lang="en-US" sz="1600" dirty="0"/>
            </a:br>
            <a:r>
              <a:rPr lang="en-US" sz="1600" dirty="0">
                <a:solidFill>
                  <a:srgbClr val="000000"/>
                </a:solidFill>
                <a:latin typeface="Trebuchet MS" panose="020B0603020202020204" pitchFamily="34" charset="0"/>
              </a:rPr>
              <a:t>|  2   1   4 |</a:t>
            </a:r>
            <a:r>
              <a:rPr lang="en-US" sz="1600" dirty="0"/>
              <a:t/>
            </a:r>
            <a:br>
              <a:rPr lang="en-US" sz="1600" dirty="0"/>
            </a:br>
            <a:r>
              <a:rPr lang="en-US" sz="1600" dirty="0">
                <a:solidFill>
                  <a:srgbClr val="000000"/>
                </a:solidFill>
                <a:latin typeface="Trebuchet MS" panose="020B0603020202020204" pitchFamily="34" charset="0"/>
              </a:rPr>
              <a:t/>
            </a:r>
            <a:br>
              <a:rPr lang="en-US" sz="1600" dirty="0">
                <a:solidFill>
                  <a:srgbClr val="000000"/>
                </a:solidFill>
                <a:latin typeface="Trebuchet MS" panose="020B0603020202020204" pitchFamily="34" charset="0"/>
              </a:rPr>
            </a:br>
            <a:r>
              <a:rPr lang="en-US" sz="1600" dirty="0">
                <a:solidFill>
                  <a:srgbClr val="000000"/>
                </a:solidFill>
                <a:latin typeface="Trebuchet MS" panose="020B0603020202020204" pitchFamily="34" charset="0"/>
              </a:rPr>
              <a:t>Elements in the first row represents the number of rows, columns and non-zero values in sparse matrix.</a:t>
            </a:r>
            <a:r>
              <a:rPr lang="en-US" sz="1600" dirty="0"/>
              <a:t/>
            </a:r>
            <a:br>
              <a:rPr lang="en-US" sz="1600" dirty="0"/>
            </a:br>
            <a:r>
              <a:rPr lang="en-US" sz="1600" dirty="0">
                <a:solidFill>
                  <a:srgbClr val="000000"/>
                </a:solidFill>
                <a:latin typeface="Trebuchet MS" panose="020B0603020202020204" pitchFamily="34" charset="0"/>
              </a:rPr>
              <a:t>First Row  -  |  3   3   2 |</a:t>
            </a:r>
            <a:r>
              <a:rPr lang="en-US" sz="1600" dirty="0"/>
              <a:t/>
            </a:r>
            <a:br>
              <a:rPr lang="en-US" sz="1600" dirty="0"/>
            </a:br>
            <a:r>
              <a:rPr lang="en-US" sz="1600" dirty="0">
                <a:solidFill>
                  <a:srgbClr val="000000"/>
                </a:solidFill>
                <a:latin typeface="Trebuchet MS" panose="020B0603020202020204" pitchFamily="34" charset="0"/>
              </a:rPr>
              <a:t>3 - rows</a:t>
            </a:r>
            <a:r>
              <a:rPr lang="en-US" sz="1600" dirty="0"/>
              <a:t/>
            </a:r>
            <a:br>
              <a:rPr lang="en-US" sz="1600" dirty="0"/>
            </a:br>
            <a:r>
              <a:rPr lang="en-US" sz="1600" dirty="0">
                <a:solidFill>
                  <a:srgbClr val="000000"/>
                </a:solidFill>
                <a:latin typeface="Trebuchet MS" panose="020B0603020202020204" pitchFamily="34" charset="0"/>
              </a:rPr>
              <a:t>3 - columns</a:t>
            </a:r>
            <a:r>
              <a:rPr lang="en-US" sz="1600" dirty="0"/>
              <a:t/>
            </a:r>
            <a:br>
              <a:rPr lang="en-US" sz="1600" dirty="0"/>
            </a:br>
            <a:r>
              <a:rPr lang="en-US" sz="1600" dirty="0">
                <a:solidFill>
                  <a:srgbClr val="000000"/>
                </a:solidFill>
                <a:latin typeface="Trebuchet MS" panose="020B0603020202020204" pitchFamily="34" charset="0"/>
              </a:rPr>
              <a:t>2 - non- zero values</a:t>
            </a:r>
            <a:r>
              <a:rPr lang="en-US" sz="1600" dirty="0"/>
              <a:t/>
            </a:r>
            <a:br>
              <a:rPr lang="en-US" sz="1600" dirty="0"/>
            </a:br>
            <a:r>
              <a:rPr lang="en-US" sz="1600" dirty="0">
                <a:solidFill>
                  <a:srgbClr val="000000"/>
                </a:solidFill>
                <a:latin typeface="Trebuchet MS" panose="020B0603020202020204" pitchFamily="34" charset="0"/>
              </a:rPr>
              <a:t/>
            </a:r>
            <a:br>
              <a:rPr lang="en-US" sz="1600" dirty="0">
                <a:solidFill>
                  <a:srgbClr val="000000"/>
                </a:solidFill>
                <a:latin typeface="Trebuchet MS" panose="020B0603020202020204" pitchFamily="34" charset="0"/>
              </a:rPr>
            </a:br>
            <a:r>
              <a:rPr lang="en-US" sz="1600" dirty="0">
                <a:solidFill>
                  <a:srgbClr val="000000"/>
                </a:solidFill>
                <a:latin typeface="Trebuchet MS" panose="020B0603020202020204" pitchFamily="34" charset="0"/>
              </a:rPr>
              <a:t>Elements in the other rows gives information about the location and value of non-zero elements.</a:t>
            </a:r>
            <a:r>
              <a:rPr lang="en-US" sz="1600" dirty="0"/>
              <a:t/>
            </a:r>
            <a:br>
              <a:rPr lang="en-US" sz="1600" dirty="0"/>
            </a:br>
            <a:r>
              <a:rPr lang="en-US" sz="1600" dirty="0">
                <a:solidFill>
                  <a:srgbClr val="000000"/>
                </a:solidFill>
                <a:latin typeface="Trebuchet MS" panose="020B0603020202020204" pitchFamily="34" charset="0"/>
              </a:rPr>
              <a:t>|  0   0   1 | ( Second Row) - represents value 1 at 0th Row, 0th column</a:t>
            </a:r>
            <a:r>
              <a:rPr lang="en-US" sz="1600" dirty="0"/>
              <a:t/>
            </a:r>
            <a:br>
              <a:rPr lang="en-US" sz="1600" dirty="0"/>
            </a:br>
            <a:r>
              <a:rPr lang="en-US" sz="1600" dirty="0">
                <a:solidFill>
                  <a:srgbClr val="000000"/>
                </a:solidFill>
                <a:latin typeface="Trebuchet MS" panose="020B0603020202020204" pitchFamily="34" charset="0"/>
              </a:rPr>
              <a:t>|  2   1   4 | (Third Row)     - represents value 4 at 2nd Row, 1st column</a:t>
            </a:r>
            <a:endParaRPr lang="en-US" sz="1600" dirty="0"/>
          </a:p>
        </p:txBody>
      </p:sp>
    </p:spTree>
    <p:extLst>
      <p:ext uri="{BB962C8B-B14F-4D97-AF65-F5344CB8AC3E}">
        <p14:creationId xmlns:p14="http://schemas.microsoft.com/office/powerpoint/2010/main" val="21373684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3247</TotalTime>
  <Words>7103</Words>
  <Application>Microsoft Office PowerPoint</Application>
  <PresentationFormat>Widescreen</PresentationFormat>
  <Paragraphs>1036</Paragraphs>
  <Slides>167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167</vt:i4>
      </vt:variant>
    </vt:vector>
  </HeadingPairs>
  <TitlesOfParts>
    <vt:vector size="181" baseType="lpstr">
      <vt:lpstr>Arial</vt:lpstr>
      <vt:lpstr>Calibri</vt:lpstr>
      <vt:lpstr>Calibri Light</vt:lpstr>
      <vt:lpstr>Droid Sans Mono</vt:lpstr>
      <vt:lpstr>erdana</vt:lpstr>
      <vt:lpstr>euclid_circular_a</vt:lpstr>
      <vt:lpstr>Heebo</vt:lpstr>
      <vt:lpstr>inter-bold</vt:lpstr>
      <vt:lpstr>inter-regular</vt:lpstr>
      <vt:lpstr>Nunito</vt:lpstr>
      <vt:lpstr>Open Sans</vt:lpstr>
      <vt:lpstr>Times New Roman</vt:lpstr>
      <vt:lpstr>Trebuchet MS</vt:lpstr>
      <vt:lpstr>Office Theme</vt:lpstr>
      <vt:lpstr>DATA STRUCTURES</vt:lpstr>
      <vt:lpstr>Array</vt:lpstr>
      <vt:lpstr>Array Representation</vt:lpstr>
      <vt:lpstr>Array Representation</vt:lpstr>
      <vt:lpstr>Why are arrays required?</vt:lpstr>
      <vt:lpstr>Memory allocation of an array</vt:lpstr>
      <vt:lpstr>Memory allocation of an array</vt:lpstr>
      <vt:lpstr>Calculating the address of any element In the 1-D array:</vt:lpstr>
      <vt:lpstr>Calculating the address of any element In the 1-D array:</vt:lpstr>
      <vt:lpstr>Calculate the address of any element in the 2-D array:</vt:lpstr>
      <vt:lpstr>Calculate the address of any element in the 2-D array:</vt:lpstr>
      <vt:lpstr>Calculate the address of any element in the 2-D array:</vt:lpstr>
      <vt:lpstr>Calculate the address of any element in the 2-D array:</vt:lpstr>
      <vt:lpstr>Calculate the address of any element in the 2-D array:</vt:lpstr>
      <vt:lpstr>Calculate the address of any element in the 2-D array:</vt:lpstr>
      <vt:lpstr>Calculate the address of any element in the 2-D array:</vt:lpstr>
      <vt:lpstr>Calculate the address of any element in the 2-D array:</vt:lpstr>
      <vt:lpstr>Calculate the address of any element in the 2-D array:</vt:lpstr>
      <vt:lpstr>Basic operations array</vt:lpstr>
      <vt:lpstr>Traversal operation</vt:lpstr>
      <vt:lpstr>Insertion operation</vt:lpstr>
      <vt:lpstr>Deletion operation</vt:lpstr>
      <vt:lpstr>Search operation</vt:lpstr>
      <vt:lpstr>Update operation</vt:lpstr>
      <vt:lpstr>Menu driven code example</vt:lpstr>
      <vt:lpstr>STACK</vt:lpstr>
      <vt:lpstr>STACK</vt:lpstr>
      <vt:lpstr>STACK</vt:lpstr>
      <vt:lpstr>STACK - OPERATIONS</vt:lpstr>
      <vt:lpstr>STACK - PUSH</vt:lpstr>
      <vt:lpstr>PUSH</vt:lpstr>
      <vt:lpstr>ALGORITHM - PUSH</vt:lpstr>
      <vt:lpstr>STACK - POP</vt:lpstr>
      <vt:lpstr>STACK - POP</vt:lpstr>
      <vt:lpstr>ALGORITHM – POP</vt:lpstr>
      <vt:lpstr>STACK - APPLICATIONS</vt:lpstr>
      <vt:lpstr>STACK - APPLICATIONS</vt:lpstr>
      <vt:lpstr>Polish Notation</vt:lpstr>
      <vt:lpstr>Polish Notation</vt:lpstr>
      <vt:lpstr>Polish Notation</vt:lpstr>
      <vt:lpstr>Polish Notation</vt:lpstr>
      <vt:lpstr>Polish Notation</vt:lpstr>
      <vt:lpstr>Conversion of an Infix Expression to Postfix Expression</vt:lpstr>
      <vt:lpstr>Conversion of an Infix Expression to Postfix Expression</vt:lpstr>
      <vt:lpstr>Conversion of an Infix Expression to Postfix Expression</vt:lpstr>
      <vt:lpstr>Conversion of an Infix Expression to Postfix Expression</vt:lpstr>
      <vt:lpstr>Conversion of an Infix Expression to Postfix Expression</vt:lpstr>
      <vt:lpstr>Conversion of an Infix Expression to Postfix Expression</vt:lpstr>
      <vt:lpstr>Conversion of an Infix Expression to Postfix Expression</vt:lpstr>
      <vt:lpstr>Reverse Polish Notation</vt:lpstr>
      <vt:lpstr>Operator Precedence</vt:lpstr>
      <vt:lpstr>Operator Associativity</vt:lpstr>
      <vt:lpstr>Convert from infix to postfix</vt:lpstr>
      <vt:lpstr>PowerPoint Presentation</vt:lpstr>
      <vt:lpstr>PowerPoint Presentation</vt:lpstr>
      <vt:lpstr>Algorithm for the conversion from infix to postfix expression </vt:lpstr>
      <vt:lpstr>PowerPoint Presentation</vt:lpstr>
      <vt:lpstr>PowerPoint Presentation</vt:lpstr>
      <vt:lpstr>24+ * 46+ 24+46+*</vt:lpstr>
      <vt:lpstr>PowerPoint Presentation</vt:lpstr>
      <vt:lpstr>PowerPoint Presentation</vt:lpstr>
      <vt:lpstr>Infix to Postfix conversion</vt:lpstr>
      <vt:lpstr>PowerPoint Presentation</vt:lpstr>
      <vt:lpstr>Algorithm</vt:lpstr>
      <vt:lpstr>Algorithm</vt:lpstr>
      <vt:lpstr>Simple Queue</vt:lpstr>
      <vt:lpstr>Queue - Applications</vt:lpstr>
      <vt:lpstr>Queue - Applications</vt:lpstr>
      <vt:lpstr>Queue - operations</vt:lpstr>
      <vt:lpstr>Queue - operations</vt:lpstr>
      <vt:lpstr>Queue - operations</vt:lpstr>
      <vt:lpstr>Queue - operations</vt:lpstr>
      <vt:lpstr>Queue - operations</vt:lpstr>
      <vt:lpstr>Queue - operations</vt:lpstr>
      <vt:lpstr>PowerPoint Presentation</vt:lpstr>
      <vt:lpstr>Circular Queue</vt:lpstr>
      <vt:lpstr>Circular Queue - Insert</vt:lpstr>
      <vt:lpstr>Circular Queue – Delete</vt:lpstr>
      <vt:lpstr>Deque (or, Double Ended Queue)</vt:lpstr>
      <vt:lpstr>Deque (or, Double Ended Queue)</vt:lpstr>
      <vt:lpstr>Deque (or, Double Ended Queue)</vt:lpstr>
      <vt:lpstr>Deque (or, Double Ended Queue)</vt:lpstr>
      <vt:lpstr>Deque (or, Double Ended Queue)</vt:lpstr>
      <vt:lpstr>Priority Queue</vt:lpstr>
      <vt:lpstr>Priority Queue</vt:lpstr>
      <vt:lpstr>Priority Queue</vt:lpstr>
      <vt:lpstr>Linked List</vt:lpstr>
      <vt:lpstr>Linked List</vt:lpstr>
      <vt:lpstr>Why to use Linked List over array</vt:lpstr>
      <vt:lpstr>Linked List – Basic Operations</vt:lpstr>
      <vt:lpstr>Types of Linked List</vt:lpstr>
      <vt:lpstr>Singly Linked List</vt:lpstr>
      <vt:lpstr>Singly Linked List – Important points</vt:lpstr>
      <vt:lpstr>Singly Linked List – Memory representation</vt:lpstr>
      <vt:lpstr>PowerPoint Presentation</vt:lpstr>
      <vt:lpstr>PowerPoint Presentation</vt:lpstr>
      <vt:lpstr>Singly Linked List – Node creation - How to declare a linked list?</vt:lpstr>
      <vt:lpstr>Singly Linked List – Node creation </vt:lpstr>
      <vt:lpstr>Singly Linked List – Insert</vt:lpstr>
      <vt:lpstr>Algorithm to insert node at the beginning of singly linked list</vt:lpstr>
      <vt:lpstr>Steps to insert node at the beginning of singly linked list </vt:lpstr>
      <vt:lpstr>Steps to insert node at the beginning of singly linked list </vt:lpstr>
      <vt:lpstr>Algorithm to insert node at the end of Singly linked list</vt:lpstr>
      <vt:lpstr>Singly Linked List – Insert at specified node</vt:lpstr>
      <vt:lpstr>Singly Linked List – deletion and traversing</vt:lpstr>
      <vt:lpstr>Singly Linked List – Deletion in singly linked list at beginning </vt:lpstr>
      <vt:lpstr>Singly Linked List – Deletion in singly linked list at beginning </vt:lpstr>
      <vt:lpstr>Singly Linked List – Deletion in singly linked list at end </vt:lpstr>
      <vt:lpstr>Singly Linked List – Deletion in singly linked list at end </vt:lpstr>
      <vt:lpstr>Singly Linked List – Deletion in singly linked list at end </vt:lpstr>
      <vt:lpstr>Singly Linked List – Deletion in singly linked list at specified position</vt:lpstr>
      <vt:lpstr>Singly Linked List – Deletion in singly linked list at specified position</vt:lpstr>
      <vt:lpstr>Singly Linked List – Deletion in singly linked list at specified position</vt:lpstr>
      <vt:lpstr>Singly Linked List – Deletion in singly linked list at specified position</vt:lpstr>
      <vt:lpstr>Singly Linked List – Traversing in singly linked list </vt:lpstr>
      <vt:lpstr>Singly Linked List – search in singly linked list </vt:lpstr>
      <vt:lpstr>Singly Linked List – sort singly linked list </vt:lpstr>
      <vt:lpstr>Singly Linked List – union and intersection singly linked list </vt:lpstr>
      <vt:lpstr>Singly Linked List – union and intersection singly linked list </vt:lpstr>
      <vt:lpstr>Union Operation on linked list</vt:lpstr>
      <vt:lpstr>Union Operation on linked list</vt:lpstr>
      <vt:lpstr>Union Operation on linked list</vt:lpstr>
      <vt:lpstr>Union Operation on linked list</vt:lpstr>
      <vt:lpstr>Union Operation on linked list</vt:lpstr>
      <vt:lpstr>intersection Operation on linked list</vt:lpstr>
      <vt:lpstr>Applications of linked list</vt:lpstr>
      <vt:lpstr>Applications of linked list</vt:lpstr>
      <vt:lpstr>Polynomial Manipulation </vt:lpstr>
      <vt:lpstr>Polynomial Manipulation </vt:lpstr>
      <vt:lpstr>Polynomial Manipulation </vt:lpstr>
      <vt:lpstr>Addition of two Polynomial </vt:lpstr>
      <vt:lpstr>Addition of two Polynomial </vt:lpstr>
      <vt:lpstr>Addition of two Polynomial </vt:lpstr>
      <vt:lpstr>Addition of two Polynomial </vt:lpstr>
      <vt:lpstr>Addition of two Polynomial </vt:lpstr>
      <vt:lpstr>Addition of two Polynomial </vt:lpstr>
      <vt:lpstr>Addition of two Polynomial </vt:lpstr>
      <vt:lpstr>Multiplication of two Polynomial </vt:lpstr>
      <vt:lpstr>Multiplication of two Polynomial </vt:lpstr>
      <vt:lpstr>Doubly Linked List</vt:lpstr>
      <vt:lpstr>Doubly Linked List</vt:lpstr>
      <vt:lpstr>Doubly Linked List</vt:lpstr>
      <vt:lpstr>Doubly Linked List – memory representation</vt:lpstr>
      <vt:lpstr>Circular Linked List</vt:lpstr>
      <vt:lpstr>Circular Linked List</vt:lpstr>
      <vt:lpstr>Memory Representation of circular linked list</vt:lpstr>
      <vt:lpstr>Memory Representation of 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circular linked list</vt:lpstr>
      <vt:lpstr>Sparse matrix</vt:lpstr>
      <vt:lpstr>Sparse matrix</vt:lpstr>
      <vt:lpstr>Sparse matrix</vt:lpstr>
      <vt:lpstr>Linked List representation of the sparse matrix</vt:lpstr>
      <vt:lpstr>Linked List representation of the sparse matrix</vt:lpstr>
      <vt:lpstr>Linked List representation of the sparse matrix</vt:lpstr>
      <vt:lpstr>Linked List representation of the sparse matrix</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creator>SutariaVidhi</dc:creator>
  <cp:lastModifiedBy>HP</cp:lastModifiedBy>
  <cp:revision>970</cp:revision>
  <dcterms:created xsi:type="dcterms:W3CDTF">2022-12-04T14:11:35Z</dcterms:created>
  <dcterms:modified xsi:type="dcterms:W3CDTF">2025-01-07T08:48:02Z</dcterms:modified>
</cp:coreProperties>
</file>