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15" r:id="rId15"/>
    <p:sldId id="300" r:id="rId16"/>
    <p:sldId id="301" r:id="rId17"/>
    <p:sldId id="269" r:id="rId18"/>
    <p:sldId id="270" r:id="rId19"/>
    <p:sldId id="271" r:id="rId20"/>
    <p:sldId id="308" r:id="rId21"/>
    <p:sldId id="314" r:id="rId22"/>
    <p:sldId id="272" r:id="rId23"/>
    <p:sldId id="273" r:id="rId24"/>
    <p:sldId id="274" r:id="rId25"/>
    <p:sldId id="275" r:id="rId26"/>
    <p:sldId id="276" r:id="rId27"/>
    <p:sldId id="277" r:id="rId28"/>
    <p:sldId id="278" r:id="rId29"/>
    <p:sldId id="280" r:id="rId30"/>
    <p:sldId id="309" r:id="rId31"/>
    <p:sldId id="279" r:id="rId32"/>
    <p:sldId id="316" r:id="rId33"/>
    <p:sldId id="317" r:id="rId34"/>
    <p:sldId id="318" r:id="rId35"/>
    <p:sldId id="319" r:id="rId36"/>
    <p:sldId id="320" r:id="rId37"/>
    <p:sldId id="321" r:id="rId38"/>
    <p:sldId id="325" r:id="rId39"/>
    <p:sldId id="326" r:id="rId40"/>
    <p:sldId id="322" r:id="rId41"/>
    <p:sldId id="323" r:id="rId42"/>
    <p:sldId id="324" r:id="rId43"/>
    <p:sldId id="306" r:id="rId44"/>
    <p:sldId id="307" r:id="rId45"/>
    <p:sldId id="285" r:id="rId46"/>
    <p:sldId id="297" r:id="rId47"/>
    <p:sldId id="303" r:id="rId48"/>
    <p:sldId id="304" r:id="rId49"/>
    <p:sldId id="305" r:id="rId50"/>
    <p:sldId id="298" r:id="rId51"/>
    <p:sldId id="299" r:id="rId52"/>
    <p:sldId id="310" r:id="rId53"/>
    <p:sldId id="311" r:id="rId54"/>
    <p:sldId id="312" r:id="rId55"/>
    <p:sldId id="31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5" autoAdjust="0"/>
    <p:restoredTop sz="94660"/>
  </p:normalViewPr>
  <p:slideViewPr>
    <p:cSldViewPr snapToGrid="0">
      <p:cViewPr varScale="1">
        <p:scale>
          <a:sx n="92" d="100"/>
          <a:sy n="92" d="100"/>
        </p:scale>
        <p:origin x="52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E5259B-2E87-2576-B174-4B41D5938D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A5918060-58A1-866B-9B1E-A5F92F2F6F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5DA1155-10B0-BCCD-B5AC-81C942A750B7}"/>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5" name="Footer Placeholder 4">
            <a:extLst>
              <a:ext uri="{FF2B5EF4-FFF2-40B4-BE49-F238E27FC236}">
                <a16:creationId xmlns:a16="http://schemas.microsoft.com/office/drawing/2014/main" xmlns="" id="{D36D6639-EF28-D1FC-E35F-55A10E156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8364235-1A27-D3E9-56FF-3587D2F9D20C}"/>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147551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D69173-F223-BFFB-FE91-30B2871913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062584-44A3-217F-E45F-845C17B241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AD18DAE-F30D-4FE8-D8E6-0F88D86D9155}"/>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5" name="Footer Placeholder 4">
            <a:extLst>
              <a:ext uri="{FF2B5EF4-FFF2-40B4-BE49-F238E27FC236}">
                <a16:creationId xmlns:a16="http://schemas.microsoft.com/office/drawing/2014/main" xmlns="" id="{ABDB6260-40CC-4720-1354-D8F33A6C1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7144698-4BCE-54A0-5479-9809C4705F25}"/>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52069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B1F5A3-40E2-52F6-B879-4D652033CE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FF31BF3-A5BB-F424-D157-1B150830DA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33B2866-4C8A-CDA2-F3E3-09B6EFE7CCCF}"/>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5" name="Footer Placeholder 4">
            <a:extLst>
              <a:ext uri="{FF2B5EF4-FFF2-40B4-BE49-F238E27FC236}">
                <a16:creationId xmlns:a16="http://schemas.microsoft.com/office/drawing/2014/main" xmlns="" id="{07B3D0CC-888C-3BEC-0EE4-82B040444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3F346FF-3A57-B565-D9A5-3CACD7D0E1CB}"/>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396931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688C47-64E5-781A-2D1D-6615394A25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255C6DF-3A47-8906-624E-E3F54FA4A2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0D68BDD-7B7C-236F-0901-4DAEFC3402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F7CB478-0D16-51A9-0940-7903E3270DE1}"/>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6" name="Footer Placeholder 5">
            <a:extLst>
              <a:ext uri="{FF2B5EF4-FFF2-40B4-BE49-F238E27FC236}">
                <a16:creationId xmlns:a16="http://schemas.microsoft.com/office/drawing/2014/main" xmlns="" id="{C0D6F4CC-A3C5-C60F-F66A-02D1C336EF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8C7B67B-7EBF-9E46-C57E-24FCFE528F52}"/>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85917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AC293-D6BF-5279-7A39-9C7F06F021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2B8BB6-B2AE-1351-48EF-BE7FDE499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4CFA6E8-30D1-C3FD-8C0F-15354AA6F0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B7A8355-845F-A079-98E1-31CF3739D9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3CB18C7-3723-E5A4-5C96-F9CED95032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1F89D791-2736-CC9F-B4B3-512292F02BE8}"/>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8" name="Footer Placeholder 7">
            <a:extLst>
              <a:ext uri="{FF2B5EF4-FFF2-40B4-BE49-F238E27FC236}">
                <a16:creationId xmlns:a16="http://schemas.microsoft.com/office/drawing/2014/main" xmlns="" id="{CA01563D-1EE8-BB5B-333A-30458F968C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8F616E50-375D-D02C-B078-1A0D8DB675C4}"/>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423153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988538-AF19-AB81-0B59-342D8C08E1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C54142A-844B-B6D2-9465-E210C9613B3B}"/>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4" name="Footer Placeholder 3">
            <a:extLst>
              <a:ext uri="{FF2B5EF4-FFF2-40B4-BE49-F238E27FC236}">
                <a16:creationId xmlns:a16="http://schemas.microsoft.com/office/drawing/2014/main" xmlns="" id="{AD0419DD-9E60-21FE-4CD5-64F84CCE37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2B3904B-8EFA-63ED-DA46-7F02432751BE}"/>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1709378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256A812-4E4E-94A4-5349-358C90A34B91}"/>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3" name="Footer Placeholder 2">
            <a:extLst>
              <a:ext uri="{FF2B5EF4-FFF2-40B4-BE49-F238E27FC236}">
                <a16:creationId xmlns:a16="http://schemas.microsoft.com/office/drawing/2014/main" xmlns="" id="{4DDA71DA-35B4-B9FC-7C0A-B6B521AC3B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F5E34141-EA92-D4BE-EA6E-D2AA8F70BE2F}"/>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3512684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ECBF25-59CF-FAD7-7CCE-3DEE75F29E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D1BEA48-8356-662D-6A40-6432A67619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1CA02F97-631B-56D9-BFAF-BB7FC2849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1044801-63E4-75B2-6B34-FABB16B4F4A0}"/>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6" name="Footer Placeholder 5">
            <a:extLst>
              <a:ext uri="{FF2B5EF4-FFF2-40B4-BE49-F238E27FC236}">
                <a16:creationId xmlns:a16="http://schemas.microsoft.com/office/drawing/2014/main" xmlns="" id="{158B4F52-5FA6-19C3-0EAB-C55B78FBAA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EC9ED3D-1941-2918-09E5-CE3E3D8E8091}"/>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552467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F0EDE7-4736-50C1-BAB4-41C1CD3937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3895B10-7C90-4AF5-6078-6AA6819D85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71A9C54-3017-EB63-3E9C-391B813FA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AD42163-56B1-60E0-241E-6A864E44B835}"/>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6" name="Footer Placeholder 5">
            <a:extLst>
              <a:ext uri="{FF2B5EF4-FFF2-40B4-BE49-F238E27FC236}">
                <a16:creationId xmlns:a16="http://schemas.microsoft.com/office/drawing/2014/main" xmlns="" id="{7DED2078-F9E8-631F-A666-7FFC1BA216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57BAE1F-AC6B-69D5-2D13-298A843E4BE9}"/>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1106796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2F7296-0BF2-CF48-DFC6-0DD6E05213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03334D0-0066-0036-5878-30F72BDAAF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CA73267-62E8-B910-BACF-AB16D5D4E5D4}"/>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5" name="Footer Placeholder 4">
            <a:extLst>
              <a:ext uri="{FF2B5EF4-FFF2-40B4-BE49-F238E27FC236}">
                <a16:creationId xmlns:a16="http://schemas.microsoft.com/office/drawing/2014/main" xmlns="" id="{CF414320-F132-509C-E491-497CD220B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5CB07C8-87F3-F742-BADC-7BFD2CFA68E5}"/>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919338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7971978-CBE5-1B5C-482B-1BAFE5154A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A226E76-C7AC-B4CB-6AF8-7EC9C21C2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8C26F21-4610-409B-500D-D9B9A82EF6B9}"/>
              </a:ext>
            </a:extLst>
          </p:cNvPr>
          <p:cNvSpPr>
            <a:spLocks noGrp="1"/>
          </p:cNvSpPr>
          <p:nvPr>
            <p:ph type="dt" sz="half" idx="10"/>
          </p:nvPr>
        </p:nvSpPr>
        <p:spPr/>
        <p:txBody>
          <a:bodyPr/>
          <a:lstStyle/>
          <a:p>
            <a:fld id="{3D957532-DBB7-4BA5-A41F-E9171668B413}" type="datetimeFigureOut">
              <a:rPr lang="en-IN" smtClean="0"/>
              <a:t>03-01-2025</a:t>
            </a:fld>
            <a:endParaRPr lang="en-IN"/>
          </a:p>
        </p:txBody>
      </p:sp>
      <p:sp>
        <p:nvSpPr>
          <p:cNvPr id="5" name="Footer Placeholder 4">
            <a:extLst>
              <a:ext uri="{FF2B5EF4-FFF2-40B4-BE49-F238E27FC236}">
                <a16:creationId xmlns:a16="http://schemas.microsoft.com/office/drawing/2014/main" xmlns="" id="{074FE1F7-6827-F11A-72E8-6FA7108AD6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4CC38F8-07A4-C5ED-6EE5-CFDC853D3E4E}"/>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27333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3E08B69-DE62-B24C-F449-68DDDED322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16624EC-3564-6941-A175-737AD4F0B5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8C20E23-92F6-3C79-57D8-85EDABCC1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957532-DBB7-4BA5-A41F-E9171668B413}" type="datetimeFigureOut">
              <a:rPr lang="en-IN" smtClean="0"/>
              <a:t>03-01-2025</a:t>
            </a:fld>
            <a:endParaRPr lang="en-IN"/>
          </a:p>
        </p:txBody>
      </p:sp>
      <p:sp>
        <p:nvSpPr>
          <p:cNvPr id="5" name="Footer Placeholder 4">
            <a:extLst>
              <a:ext uri="{FF2B5EF4-FFF2-40B4-BE49-F238E27FC236}">
                <a16:creationId xmlns:a16="http://schemas.microsoft.com/office/drawing/2014/main" xmlns="" id="{8DA1BA9B-E63F-E83F-ADB6-D5DC81F4D9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1685DC63-FAE5-C513-8746-F36741672D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5CCFD-4E55-4B9E-A9F8-AC2DFFB0FEE0}" type="slidenum">
              <a:rPr lang="en-IN" smtClean="0"/>
              <a:t>‹#›</a:t>
            </a:fld>
            <a:endParaRPr lang="en-IN"/>
          </a:p>
        </p:txBody>
      </p:sp>
    </p:spTree>
    <p:extLst>
      <p:ext uri="{BB962C8B-B14F-4D97-AF65-F5344CB8AC3E}">
        <p14:creationId xmlns:p14="http://schemas.microsoft.com/office/powerpoint/2010/main" val="1829849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68D167-3355-1E75-903F-0909EFED3CB4}"/>
              </a:ext>
            </a:extLst>
          </p:cNvPr>
          <p:cNvSpPr>
            <a:spLocks noGrp="1"/>
          </p:cNvSpPr>
          <p:nvPr>
            <p:ph type="ctrTitle"/>
          </p:nvPr>
        </p:nvSpPr>
        <p:spPr/>
        <p:txBody>
          <a:bodyPr>
            <a:normAutofit/>
          </a:bodyPr>
          <a:lstStyle/>
          <a:p>
            <a:r>
              <a:rPr lang="en-US" dirty="0"/>
              <a:t>DATA</a:t>
            </a:r>
            <a:br>
              <a:rPr lang="en-US" dirty="0"/>
            </a:br>
            <a:r>
              <a:rPr lang="en-US" dirty="0"/>
              <a:t>STRUCTURES</a:t>
            </a:r>
            <a:endParaRPr lang="en-IN" dirty="0"/>
          </a:p>
        </p:txBody>
      </p:sp>
      <p:sp>
        <p:nvSpPr>
          <p:cNvPr id="3" name="Subtitle 2">
            <a:extLst>
              <a:ext uri="{FF2B5EF4-FFF2-40B4-BE49-F238E27FC236}">
                <a16:creationId xmlns:a16="http://schemas.microsoft.com/office/drawing/2014/main" xmlns="" id="{1B1EBC43-CC82-4EDE-2B77-C6E6D8B6C1CD}"/>
              </a:ext>
            </a:extLst>
          </p:cNvPr>
          <p:cNvSpPr>
            <a:spLocks noGrp="1"/>
          </p:cNvSpPr>
          <p:nvPr>
            <p:ph type="subTitle" idx="1"/>
          </p:nvPr>
        </p:nvSpPr>
        <p:spPr/>
        <p:txBody>
          <a:bodyPr>
            <a:normAutofit/>
          </a:bodyPr>
          <a:lstStyle/>
          <a:p>
            <a:r>
              <a:rPr lang="en-US" sz="4800" dirty="0"/>
              <a:t>UNIT - 1</a:t>
            </a:r>
            <a:endParaRPr lang="en-IN" sz="4800" dirty="0"/>
          </a:p>
        </p:txBody>
      </p:sp>
    </p:spTree>
    <p:extLst>
      <p:ext uri="{BB962C8B-B14F-4D97-AF65-F5344CB8AC3E}">
        <p14:creationId xmlns:p14="http://schemas.microsoft.com/office/powerpoint/2010/main" val="4061118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252700"/>
            <a:ext cx="11746042" cy="1141386"/>
          </a:xfrm>
        </p:spPr>
        <p:txBody>
          <a:bodyPr/>
          <a:lstStyle/>
          <a:p>
            <a:pPr algn="ctr"/>
            <a:r>
              <a:rPr lang="en-US" b="1" dirty="0">
                <a:solidFill>
                  <a:srgbClr val="FF0000"/>
                </a:solidFill>
              </a:rPr>
              <a:t>DATA</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Autofit/>
          </a:bodyPr>
          <a:lstStyle/>
          <a:p>
            <a:r>
              <a:rPr lang="en-US" sz="2400" dirty="0">
                <a:latin typeface="Times New Roman" panose="02020603050405020304" pitchFamily="18" charset="0"/>
                <a:ea typeface="Calibri" panose="020F0502020204030204" pitchFamily="34" charset="0"/>
                <a:cs typeface="Times New Roman" panose="02020603050405020304" pitchFamily="18" charset="0"/>
              </a:rPr>
              <a:t>Data is the basic fact or entity that is utilized in calculation or manipulation.</a:t>
            </a:r>
          </a:p>
          <a:p>
            <a:r>
              <a:rPr lang="en-IN" sz="2400" dirty="0">
                <a:latin typeface="Times New Roman" panose="02020603050405020304" pitchFamily="18" charset="0"/>
                <a:ea typeface="Calibri" panose="020F0502020204030204" pitchFamily="34" charset="0"/>
                <a:cs typeface="Times New Roman" panose="02020603050405020304" pitchFamily="18" charset="0"/>
              </a:rPr>
              <a:t>There are two different types of data Numeric data and Alphanumeric data.</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Bef>
                <a:spcPts val="505"/>
              </a:spcBef>
              <a:buFont typeface="Symbol" panose="05050102010706020507" pitchFamily="18" charset="2"/>
              <a:buChar char=""/>
            </a:pPr>
            <a:r>
              <a:rPr lang="en-US" sz="2400" b="0" dirty="0" smtClean="0">
                <a:effectLst/>
                <a:latin typeface="Times New Roman" panose="02020603050405020304" pitchFamily="18" charset="0"/>
                <a:ea typeface="Calibri" panose="020F0502020204030204" pitchFamily="34" charset="0"/>
                <a:cs typeface="Times New Roman" panose="02020603050405020304" pitchFamily="18" charset="0"/>
              </a:rPr>
              <a:t>Data </a:t>
            </a: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can come in the form of text, observations, figures, images, numbers, graphs, or symbols. </a:t>
            </a:r>
            <a:endParaRPr lang="en-IN" sz="24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spcBef>
                <a:spcPts val="505"/>
              </a:spcBef>
              <a:buFont typeface="Symbol" panose="05050102010706020507" pitchFamily="18" charset="2"/>
              <a:buChar char=""/>
            </a:pP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For example, data might include individual prices, weights, addresses, ages, names, temperatures, dates, or distances. </a:t>
            </a:r>
            <a:endParaRPr lang="en-IN" sz="24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spcBef>
                <a:spcPts val="505"/>
              </a:spcBef>
              <a:buFont typeface="Symbol" panose="05050102010706020507" pitchFamily="18" charset="2"/>
              <a:buChar char=""/>
            </a:pP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Data is a raw form of knowledge and, on its own, doesn't carry any significance or purpose.</a:t>
            </a:r>
            <a:endParaRPr lang="en-IN" sz="24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spcBef>
                <a:spcPts val="505"/>
              </a:spcBef>
              <a:buFont typeface="Symbol" panose="05050102010706020507" pitchFamily="18" charset="2"/>
              <a:buChar char=""/>
            </a:pP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When programmer collects such type of data for processing he would require to store them in computer’s main memory.</a:t>
            </a:r>
            <a:endParaRPr lang="en-IN" sz="24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spcBef>
                <a:spcPts val="505"/>
              </a:spcBef>
              <a:buFont typeface="Symbol" panose="05050102010706020507" pitchFamily="18" charset="2"/>
              <a:buChar char=""/>
            </a:pP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The process of storing data into computer’s main memory is called representation.</a:t>
            </a:r>
            <a:endParaRPr lang="en-IN" sz="24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spcBef>
                <a:spcPts val="505"/>
              </a:spcBef>
              <a:buFont typeface="Symbol" panose="05050102010706020507" pitchFamily="18" charset="2"/>
              <a:buChar char=""/>
            </a:pP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Data to be processed must be organized into particular fashion and these organization leads to structuring of data. </a:t>
            </a:r>
            <a:endParaRPr lang="en-IN" sz="2400" b="1" dirty="0">
              <a:effectLst/>
              <a:latin typeface="Times New Roman" panose="02020603050405020304" pitchFamily="18" charset="0"/>
              <a:ea typeface="Cambria" panose="020405030504060302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11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Introduction</a:t>
            </a:r>
            <a:r>
              <a:rPr lang="en-US" b="1" spc="-3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to</a:t>
            </a:r>
            <a:r>
              <a:rPr lang="en-US"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Data</a:t>
            </a:r>
            <a:r>
              <a:rPr lang="en-US"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Structure</a:t>
            </a:r>
            <a:endParaRPr lang="en-IN" sz="88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lnSpcReduction="10000"/>
          </a:bodyPr>
          <a:lstStyle/>
          <a:p>
            <a:pPr>
              <a:spcBef>
                <a:spcPts val="840"/>
              </a:spcBef>
              <a:buSzPts val="1100"/>
              <a:tabLst>
                <a:tab pos="558800" algn="l"/>
                <a:tab pos="559435" algn="l"/>
              </a:tabLst>
            </a:pPr>
            <a:r>
              <a:rPr lang="en-US" dirty="0">
                <a:effectLst/>
                <a:latin typeface="Calibri" panose="020F0502020204030204" pitchFamily="34" charset="0"/>
                <a:ea typeface="Symbol" panose="05050102010706020507" pitchFamily="18" charset="2"/>
                <a:cs typeface="Symbol" panose="05050102010706020507" pitchFamily="18" charset="2"/>
              </a:rPr>
              <a:t>Computer</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is</a:t>
            </a:r>
            <a:r>
              <a:rPr lang="en-US" spc="-1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an electronic</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machine</a:t>
            </a:r>
            <a:r>
              <a:rPr lang="en-US" spc="-1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which</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is used for</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data</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processing</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and</a:t>
            </a:r>
            <a:r>
              <a:rPr lang="en-US" spc="-1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manipulation.</a:t>
            </a:r>
            <a:endParaRPr lang="en-IN" dirty="0">
              <a:effectLst/>
              <a:latin typeface="Calibri" panose="020F0502020204030204" pitchFamily="34" charset="0"/>
              <a:ea typeface="Symbol" panose="05050102010706020507" pitchFamily="18" charset="2"/>
              <a:cs typeface="Symbol" panose="05050102010706020507" pitchFamily="18" charset="2"/>
            </a:endParaRPr>
          </a:p>
          <a:p>
            <a:pPr marR="431800">
              <a:lnSpc>
                <a:spcPct val="113000"/>
              </a:lnSpc>
              <a:spcBef>
                <a:spcPts val="205"/>
              </a:spcBef>
              <a:buSzPts val="1100"/>
              <a:tabLst>
                <a:tab pos="558800" algn="l"/>
                <a:tab pos="559435" algn="l"/>
              </a:tabLst>
            </a:pPr>
            <a:r>
              <a:rPr lang="en-US" dirty="0">
                <a:effectLst/>
                <a:latin typeface="Calibri" panose="020F0502020204030204" pitchFamily="34" charset="0"/>
                <a:ea typeface="Symbol" panose="05050102010706020507" pitchFamily="18" charset="2"/>
                <a:cs typeface="Symbol" panose="05050102010706020507" pitchFamily="18" charset="2"/>
              </a:rPr>
              <a:t>When</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programmer</a:t>
            </a:r>
            <a:r>
              <a:rPr lang="en-US" spc="9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collects</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such</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type</a:t>
            </a:r>
            <a:r>
              <a:rPr lang="en-US" spc="8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of</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data</a:t>
            </a:r>
            <a:r>
              <a:rPr lang="en-US" spc="9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for</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processing,</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he</a:t>
            </a:r>
            <a:r>
              <a:rPr lang="en-US" spc="9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would</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require</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to</a:t>
            </a:r>
            <a:r>
              <a:rPr lang="en-US" spc="10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store</a:t>
            </a:r>
            <a:r>
              <a:rPr lang="en-US" spc="9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all</a:t>
            </a:r>
            <a:r>
              <a:rPr lang="en-US" spc="9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of</a:t>
            </a:r>
            <a:r>
              <a:rPr lang="en-US" spc="8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them</a:t>
            </a:r>
            <a:r>
              <a:rPr lang="en-US" spc="9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in</a:t>
            </a:r>
            <a:r>
              <a:rPr lang="en-US" spc="-23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computer’s</a:t>
            </a:r>
            <a:r>
              <a:rPr lang="en-US" spc="-1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main</a:t>
            </a:r>
            <a:r>
              <a:rPr lang="en-US" spc="-2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memory.</a:t>
            </a:r>
            <a:endParaRPr lang="en-IN" dirty="0">
              <a:effectLst/>
              <a:latin typeface="Calibri" panose="020F0502020204030204" pitchFamily="34" charset="0"/>
              <a:ea typeface="Symbol" panose="05050102010706020507" pitchFamily="18" charset="2"/>
              <a:cs typeface="Symbol" panose="05050102010706020507" pitchFamily="18" charset="2"/>
            </a:endParaRPr>
          </a:p>
          <a:p>
            <a:pPr>
              <a:spcBef>
                <a:spcPts val="25"/>
              </a:spcBef>
              <a:buSzPts val="1100"/>
              <a:tabLst>
                <a:tab pos="558800" algn="l"/>
                <a:tab pos="559435" algn="l"/>
              </a:tabLst>
            </a:pPr>
            <a:r>
              <a:rPr lang="en-US" dirty="0">
                <a:effectLst/>
                <a:latin typeface="Calibri" panose="020F0502020204030204" pitchFamily="34" charset="0"/>
                <a:ea typeface="Symbol" panose="05050102010706020507" pitchFamily="18" charset="2"/>
                <a:cs typeface="Symbol" panose="05050102010706020507" pitchFamily="18" charset="2"/>
              </a:rPr>
              <a:t>In</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order</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to</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make</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computer</a:t>
            </a:r>
            <a:r>
              <a:rPr lang="en-US" spc="-2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work</a:t>
            </a:r>
            <a:r>
              <a:rPr lang="en-US" spc="-1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we need to</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know:</a:t>
            </a:r>
            <a:endParaRPr lang="en-IN" dirty="0">
              <a:effectLst/>
              <a:latin typeface="Calibri" panose="020F0502020204030204" pitchFamily="34" charset="0"/>
              <a:ea typeface="Symbol" panose="05050102010706020507" pitchFamily="18" charset="2"/>
              <a:cs typeface="Symbol" panose="05050102010706020507" pitchFamily="18" charset="2"/>
            </a:endParaRPr>
          </a:p>
          <a:p>
            <a:pPr lvl="1">
              <a:spcBef>
                <a:spcPts val="190"/>
              </a:spcBef>
              <a:buSzPts val="1100"/>
              <a:tabLst>
                <a:tab pos="788035" algn="l"/>
              </a:tabLst>
            </a:pPr>
            <a:r>
              <a:rPr lang="en-US" sz="2800" dirty="0">
                <a:effectLst/>
                <a:latin typeface="Calibri" panose="020F0502020204030204" pitchFamily="34" charset="0"/>
                <a:ea typeface="Courier New" panose="02070309020205020404" pitchFamily="49" charset="0"/>
              </a:rPr>
              <a:t>Representation</a:t>
            </a:r>
            <a:r>
              <a:rPr lang="en-US" sz="2800" spc="-10"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of</a:t>
            </a:r>
            <a:r>
              <a:rPr lang="en-US" sz="2800" spc="-1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data in</a:t>
            </a:r>
            <a:r>
              <a:rPr lang="en-US" sz="2800" spc="-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computer.</a:t>
            </a:r>
            <a:endParaRPr lang="en-IN" sz="2800" dirty="0">
              <a:effectLst/>
              <a:latin typeface="Calibri" panose="020F0502020204030204" pitchFamily="34" charset="0"/>
              <a:ea typeface="Courier New" panose="02070309020205020404" pitchFamily="49" charset="0"/>
            </a:endParaRPr>
          </a:p>
          <a:p>
            <a:pPr lvl="1">
              <a:spcBef>
                <a:spcPts val="170"/>
              </a:spcBef>
              <a:buSzPts val="1100"/>
              <a:tabLst>
                <a:tab pos="788035" algn="l"/>
              </a:tabLst>
            </a:pPr>
            <a:r>
              <a:rPr lang="en-US" sz="2800" dirty="0">
                <a:effectLst/>
                <a:latin typeface="Calibri" panose="020F0502020204030204" pitchFamily="34" charset="0"/>
                <a:ea typeface="Courier New" panose="02070309020205020404" pitchFamily="49" charset="0"/>
              </a:rPr>
              <a:t>Accessing</a:t>
            </a:r>
            <a:r>
              <a:rPr lang="en-US" sz="2800" spc="-1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of data.</a:t>
            </a:r>
            <a:endParaRPr lang="en-IN" sz="2800" dirty="0">
              <a:effectLst/>
              <a:latin typeface="Calibri" panose="020F0502020204030204" pitchFamily="34" charset="0"/>
              <a:ea typeface="Courier New" panose="02070309020205020404" pitchFamily="49" charset="0"/>
            </a:endParaRPr>
          </a:p>
          <a:p>
            <a:pPr lvl="1">
              <a:spcBef>
                <a:spcPts val="170"/>
              </a:spcBef>
              <a:buSzPts val="1100"/>
              <a:tabLst>
                <a:tab pos="788035" algn="l"/>
              </a:tabLst>
            </a:pPr>
            <a:r>
              <a:rPr lang="en-US" sz="2800" dirty="0">
                <a:effectLst/>
                <a:latin typeface="Calibri" panose="020F0502020204030204" pitchFamily="34" charset="0"/>
                <a:ea typeface="Courier New" panose="02070309020205020404" pitchFamily="49" charset="0"/>
              </a:rPr>
              <a:t>How</a:t>
            </a:r>
            <a:r>
              <a:rPr lang="en-US" sz="2800" spc="-1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to</a:t>
            </a:r>
            <a:r>
              <a:rPr lang="en-US" sz="2800" spc="-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solve</a:t>
            </a:r>
            <a:r>
              <a:rPr lang="en-US" sz="2800" spc="-1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problem</a:t>
            </a:r>
            <a:r>
              <a:rPr lang="en-US" sz="2800" spc="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step</a:t>
            </a:r>
            <a:r>
              <a:rPr lang="en-US" sz="2800" spc="-1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by</a:t>
            </a:r>
            <a:r>
              <a:rPr lang="en-US" sz="2800" spc="-5" dirty="0">
                <a:effectLst/>
                <a:latin typeface="Calibri" panose="020F0502020204030204" pitchFamily="34" charset="0"/>
                <a:ea typeface="Courier New" panose="02070309020205020404" pitchFamily="49" charset="0"/>
              </a:rPr>
              <a:t> </a:t>
            </a:r>
            <a:r>
              <a:rPr lang="en-US" sz="2800" dirty="0">
                <a:effectLst/>
                <a:latin typeface="Calibri" panose="020F0502020204030204" pitchFamily="34" charset="0"/>
                <a:ea typeface="Courier New" panose="02070309020205020404" pitchFamily="49" charset="0"/>
              </a:rPr>
              <a:t>step.</a:t>
            </a:r>
            <a:endParaRPr lang="en-IN" sz="2800" dirty="0">
              <a:effectLst/>
              <a:latin typeface="Calibri" panose="020F0502020204030204" pitchFamily="34" charset="0"/>
              <a:ea typeface="Courier New" panose="02070309020205020404" pitchFamily="49" charset="0"/>
            </a:endParaRPr>
          </a:p>
          <a:p>
            <a:pPr>
              <a:spcBef>
                <a:spcPts val="160"/>
              </a:spcBef>
              <a:buSzPts val="1100"/>
              <a:tabLst>
                <a:tab pos="558800" algn="l"/>
                <a:tab pos="559435" algn="l"/>
              </a:tabLst>
            </a:pPr>
            <a:r>
              <a:rPr lang="en-US" dirty="0">
                <a:effectLst/>
                <a:latin typeface="Calibri" panose="020F0502020204030204" pitchFamily="34" charset="0"/>
                <a:ea typeface="Symbol" panose="05050102010706020507" pitchFamily="18" charset="2"/>
                <a:cs typeface="Symbol" panose="05050102010706020507" pitchFamily="18" charset="2"/>
              </a:rPr>
              <a:t>For</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doing</a:t>
            </a:r>
            <a:r>
              <a:rPr lang="en-US" spc="-1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this</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task</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we use</a:t>
            </a:r>
            <a:r>
              <a:rPr lang="en-US" spc="-20"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data</a:t>
            </a:r>
            <a:r>
              <a:rPr lang="en-US" spc="-5" dirty="0">
                <a:effectLst/>
                <a:latin typeface="Calibri" panose="020F0502020204030204" pitchFamily="34" charset="0"/>
                <a:ea typeface="Symbol" panose="05050102010706020507" pitchFamily="18" charset="2"/>
                <a:cs typeface="Symbol" panose="05050102010706020507" pitchFamily="18" charset="2"/>
              </a:rPr>
              <a:t> </a:t>
            </a:r>
            <a:r>
              <a:rPr lang="en-US" dirty="0">
                <a:effectLst/>
                <a:latin typeface="Calibri" panose="020F0502020204030204" pitchFamily="34" charset="0"/>
                <a:ea typeface="Symbol" panose="05050102010706020507" pitchFamily="18" charset="2"/>
                <a:cs typeface="Symbol" panose="05050102010706020507" pitchFamily="18" charset="2"/>
              </a:rPr>
              <a:t>structure</a:t>
            </a:r>
            <a:r>
              <a:rPr lang="en-US" dirty="0" smtClean="0">
                <a:effectLst/>
                <a:latin typeface="Calibri" panose="020F0502020204030204" pitchFamily="34" charset="0"/>
                <a:ea typeface="Symbol" panose="05050102010706020507" pitchFamily="18" charset="2"/>
                <a:cs typeface="Symbol" panose="05050102010706020507" pitchFamily="18" charset="2"/>
              </a:rPr>
              <a:t>.</a:t>
            </a:r>
          </a:p>
          <a:p>
            <a:pPr lvl="0">
              <a:spcBef>
                <a:spcPts val="160"/>
              </a:spcBef>
              <a:buSzPts val="1100"/>
              <a:tabLst>
                <a:tab pos="558800" algn="l"/>
                <a:tab pos="559435" algn="l"/>
              </a:tabLst>
            </a:pPr>
            <a:r>
              <a:rPr lang="en-US" dirty="0"/>
              <a:t>Using appropriate data structures can help programmers save a good amount of time while performing operations such as storage, retrieval, or processing of data. Manipulation of large amounts of data is easier.</a:t>
            </a:r>
            <a:endParaRPr lang="en-IN" dirty="0">
              <a:latin typeface="Times New Roman" panose="02020603050405020304" pitchFamily="18" charset="0"/>
              <a:ea typeface="Symbol" panose="05050102010706020507" pitchFamily="18" charset="2"/>
              <a:cs typeface="Times New Roman" panose="02020603050405020304" pitchFamily="18" charset="0"/>
            </a:endParaRPr>
          </a:p>
          <a:p>
            <a:pPr>
              <a:spcBef>
                <a:spcPts val="160"/>
              </a:spcBef>
              <a:buSzPts val="1100"/>
              <a:tabLst>
                <a:tab pos="558800" algn="l"/>
                <a:tab pos="559435" algn="l"/>
              </a:tabLst>
            </a:pPr>
            <a:endParaRPr lang="en-IN" dirty="0">
              <a:effectLst/>
              <a:latin typeface="Calibri" panose="020F0502020204030204" pitchFamily="34" charset="0"/>
              <a:ea typeface="Symbol" panose="05050102010706020507" pitchFamily="18" charset="2"/>
              <a:cs typeface="Symbol" panose="05050102010706020507" pitchFamily="18" charset="2"/>
            </a:endParaRPr>
          </a:p>
        </p:txBody>
      </p:sp>
    </p:spTree>
    <p:extLst>
      <p:ext uri="{BB962C8B-B14F-4D97-AF65-F5344CB8AC3E}">
        <p14:creationId xmlns:p14="http://schemas.microsoft.com/office/powerpoint/2010/main" val="4277317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Introduction</a:t>
            </a:r>
            <a:r>
              <a:rPr lang="en-US" b="1" spc="-3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to</a:t>
            </a:r>
            <a:r>
              <a:rPr lang="en-US"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Data</a:t>
            </a:r>
            <a:r>
              <a:rPr lang="en-US"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Structure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334125"/>
            <a:ext cx="11746041" cy="5271175"/>
          </a:xfrm>
        </p:spPr>
        <p:txBody>
          <a:bodyPr>
            <a:normAutofit fontScale="92500" lnSpcReduction="20000"/>
          </a:bodyPr>
          <a:lstStyle/>
          <a:p>
            <a:pPr marL="342900" marR="429260" lvl="0" indent="-342900">
              <a:spcBef>
                <a:spcPts val="840"/>
              </a:spcBef>
              <a:spcAft>
                <a:spcPts val="0"/>
              </a:spcAft>
              <a:buSzPts val="1100"/>
              <a:buFont typeface="Symbol" panose="05050102010706020507" pitchFamily="18" charset="2"/>
              <a:buChar char=""/>
              <a:tabLst>
                <a:tab pos="558800" algn="l"/>
                <a:tab pos="559435" algn="l"/>
              </a:tabLst>
            </a:pPr>
            <a:r>
              <a:rPr lang="en-US" b="1"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b="1" spc="1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b="1"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b="1" spc="1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is</a:t>
            </a:r>
            <a:r>
              <a:rPr lang="en-US" spc="1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a:t>
            </a:r>
            <a:r>
              <a:rPr lang="en-US" spc="1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representation</a:t>
            </a:r>
            <a:r>
              <a:rPr lang="en-US" spc="1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1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the</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logical</a:t>
            </a:r>
            <a:r>
              <a:rPr lang="en-US" spc="1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relationship</a:t>
            </a:r>
            <a:r>
              <a:rPr lang="en-US" spc="1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existing</a:t>
            </a:r>
            <a:r>
              <a:rPr lang="en-US" spc="1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between</a:t>
            </a:r>
            <a:r>
              <a:rPr lang="en-US" spc="10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individual</a:t>
            </a:r>
            <a:r>
              <a:rPr lang="en-US" spc="1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elements</a:t>
            </a:r>
            <a:r>
              <a:rPr lang="en-US" spc="1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2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marR="430530" lvl="0" indent="-342900">
              <a:lnSpc>
                <a:spcPct val="98000"/>
              </a:lnSpc>
              <a:spcBef>
                <a:spcPts val="15"/>
              </a:spcBef>
              <a:spcAft>
                <a:spcPts val="0"/>
              </a:spcAft>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is</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way</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 organizing</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all data</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items</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that</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considers</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not only</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the</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elements</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stored</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but</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also</a:t>
            </a:r>
            <a:r>
              <a:rPr lang="en-US" spc="-2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their</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relationship</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to</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each</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other.</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marR="430530" lvl="0" indent="-342900">
              <a:spcBef>
                <a:spcPts val="5"/>
              </a:spcBef>
              <a:spcAft>
                <a:spcPts val="0"/>
              </a:spcAft>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We</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can</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also</a:t>
            </a:r>
            <a:r>
              <a:rPr lang="en-US" spc="1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define</a:t>
            </a:r>
            <a:r>
              <a:rPr lang="en-US" spc="1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1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as</a:t>
            </a:r>
            <a:r>
              <a:rPr lang="en-US" spc="1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mathematical</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or</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logical</a:t>
            </a:r>
            <a:r>
              <a:rPr lang="en-US" spc="1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model</a:t>
            </a:r>
            <a:r>
              <a:rPr lang="en-US" spc="1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a:t>
            </a:r>
            <a:r>
              <a:rPr lang="en-US" spc="1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particular</a:t>
            </a:r>
            <a:r>
              <a:rPr lang="en-US" spc="1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organization</a:t>
            </a:r>
            <a:r>
              <a:rPr lang="en-US" spc="1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2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data items.</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marR="427355" lvl="0" indent="-342900">
              <a:spcBef>
                <a:spcPts val="5"/>
              </a:spcBef>
              <a:spcAft>
                <a:spcPts val="0"/>
              </a:spcAft>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The</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representation</a:t>
            </a:r>
            <a:r>
              <a:rPr lang="en-US" spc="5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particular</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6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in</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the</a:t>
            </a:r>
            <a:r>
              <a:rPr lang="en-US" spc="4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main</a:t>
            </a:r>
            <a:r>
              <a:rPr lang="en-US" spc="5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memory</a:t>
            </a:r>
            <a:r>
              <a:rPr lang="en-US" spc="6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6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computer</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is</a:t>
            </a:r>
            <a:r>
              <a:rPr lang="en-US" spc="6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called</a:t>
            </a:r>
            <a:r>
              <a:rPr lang="en-US" spc="5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as</a:t>
            </a:r>
            <a:r>
              <a:rPr lang="en-US" spc="70" dirty="0">
                <a:effectLst/>
                <a:latin typeface="Times New Roman" panose="02020603050405020304" pitchFamily="18" charset="0"/>
                <a:ea typeface="Symbol" panose="05050102010706020507" pitchFamily="18" charset="2"/>
                <a:cs typeface="Times New Roman" panose="02020603050405020304" pitchFamily="18" charset="0"/>
              </a:rPr>
              <a:t> </a:t>
            </a:r>
            <a:r>
              <a:rPr lang="en-US" b="1" dirty="0">
                <a:effectLst/>
                <a:latin typeface="Times New Roman" panose="02020603050405020304" pitchFamily="18" charset="0"/>
                <a:ea typeface="Symbol" panose="05050102010706020507" pitchFamily="18" charset="2"/>
                <a:cs typeface="Times New Roman" panose="02020603050405020304" pitchFamily="18" charset="0"/>
              </a:rPr>
              <a:t>storage</a:t>
            </a:r>
            <a:r>
              <a:rPr lang="en-US" b="1" spc="-2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b="1" dirty="0">
                <a:effectLst/>
                <a:latin typeface="Times New Roman" panose="02020603050405020304" pitchFamily="18" charset="0"/>
                <a:ea typeface="Symbol" panose="05050102010706020507" pitchFamily="18" charset="2"/>
                <a:cs typeface="Times New Roman" panose="02020603050405020304" pitchFamily="18" charset="0"/>
              </a:rPr>
              <a:t>structure.</a:t>
            </a:r>
          </a:p>
          <a:p>
            <a:pPr marL="342900" lvl="0" indent="-342900">
              <a:lnSpc>
                <a:spcPts val="1395"/>
              </a:lnSpc>
              <a:spcBef>
                <a:spcPts val="5"/>
              </a:spcBef>
              <a:spcAft>
                <a:spcPts val="0"/>
              </a:spcAft>
              <a:buSzPts val="1100"/>
              <a:buFont typeface="Symbol" panose="05050102010706020507" pitchFamily="18" charset="2"/>
              <a:buChar char=""/>
              <a:tabLst>
                <a:tab pos="558800" algn="l"/>
                <a:tab pos="559435" algn="l"/>
              </a:tabLst>
            </a:pPr>
            <a:endParaRPr lang="en-US"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lvl="0" indent="-342900">
              <a:lnSpc>
                <a:spcPts val="1395"/>
              </a:lnSpc>
              <a:spcBef>
                <a:spcPts val="5"/>
              </a:spcBef>
              <a:spcAft>
                <a:spcPts val="0"/>
              </a:spcAft>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The</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storage</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representation</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in</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auxiliary</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memory</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is</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called</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as</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b="1" dirty="0">
                <a:effectLst/>
                <a:latin typeface="Times New Roman" panose="02020603050405020304" pitchFamily="18" charset="0"/>
                <a:ea typeface="Symbol" panose="05050102010706020507" pitchFamily="18" charset="2"/>
                <a:cs typeface="Times New Roman" panose="02020603050405020304" pitchFamily="18" charset="0"/>
              </a:rPr>
              <a:t>file</a:t>
            </a:r>
            <a:r>
              <a:rPr lang="en-US" b="1" spc="-15" dirty="0">
                <a:effectLst/>
                <a:latin typeface="Times New Roman" panose="02020603050405020304" pitchFamily="18" charset="0"/>
                <a:ea typeface="Symbol" panose="05050102010706020507" pitchFamily="18" charset="2"/>
                <a:cs typeface="Times New Roman" panose="02020603050405020304" pitchFamily="18" charset="0"/>
              </a:rPr>
              <a:t> </a:t>
            </a:r>
          </a:p>
          <a:p>
            <a:pPr marL="342900" lvl="0" indent="-342900">
              <a:lnSpc>
                <a:spcPts val="1395"/>
              </a:lnSpc>
              <a:spcBef>
                <a:spcPts val="5"/>
              </a:spcBef>
              <a:spcAft>
                <a:spcPts val="0"/>
              </a:spcAft>
              <a:buSzPts val="1100"/>
              <a:buFont typeface="Symbol" panose="05050102010706020507" pitchFamily="18" charset="2"/>
              <a:buChar char=""/>
              <a:tabLst>
                <a:tab pos="558800" algn="l"/>
                <a:tab pos="559435" algn="l"/>
              </a:tabLst>
            </a:pPr>
            <a:endParaRPr lang="en-US" b="1" spc="-15" dirty="0">
              <a:latin typeface="Times New Roman" panose="02020603050405020304" pitchFamily="18" charset="0"/>
              <a:ea typeface="Symbol" panose="05050102010706020507" pitchFamily="18" charset="2"/>
              <a:cs typeface="Times New Roman" panose="02020603050405020304" pitchFamily="18" charset="0"/>
            </a:endParaRPr>
          </a:p>
          <a:p>
            <a:pPr marL="0" lvl="0" indent="0">
              <a:lnSpc>
                <a:spcPts val="1395"/>
              </a:lnSpc>
              <a:spcBef>
                <a:spcPts val="5"/>
              </a:spcBef>
              <a:spcAft>
                <a:spcPts val="0"/>
              </a:spcAft>
              <a:buSzPts val="1100"/>
              <a:buNone/>
              <a:tabLst>
                <a:tab pos="558800" algn="l"/>
                <a:tab pos="559435" algn="l"/>
              </a:tabLst>
            </a:pPr>
            <a:r>
              <a:rPr lang="en-US" b="1"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b="1"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dirty="0">
                <a:effectLst/>
                <a:latin typeface="Times New Roman" panose="02020603050405020304" pitchFamily="18" charset="0"/>
                <a:ea typeface="Symbol" panose="05050102010706020507" pitchFamily="18" charset="2"/>
                <a:cs typeface="Times New Roman" panose="02020603050405020304" pitchFamily="18" charset="0"/>
              </a:rPr>
              <a:t>.</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marR="429895" lvl="0" indent="-342900">
              <a:spcAft>
                <a:spcPts val="0"/>
              </a:spcAft>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It</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is</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defined</a:t>
            </a:r>
            <a:r>
              <a:rPr lang="en-US" spc="18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as</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the</a:t>
            </a:r>
            <a:r>
              <a:rPr lang="en-US" spc="18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way</a:t>
            </a:r>
            <a:r>
              <a:rPr lang="en-US" spc="17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of</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storing</a:t>
            </a:r>
            <a:r>
              <a:rPr lang="en-US" spc="17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and</a:t>
            </a:r>
            <a:r>
              <a:rPr lang="en-US" spc="16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manipulating</a:t>
            </a:r>
            <a:r>
              <a:rPr lang="en-US" spc="17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18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in</a:t>
            </a:r>
            <a:r>
              <a:rPr lang="en-US" spc="17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organized</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form</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so</a:t>
            </a:r>
            <a:r>
              <a:rPr lang="en-US" spc="18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that</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it</a:t>
            </a:r>
            <a:r>
              <a:rPr lang="en-US" spc="18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can</a:t>
            </a:r>
            <a:r>
              <a:rPr lang="en-US" spc="17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be</a:t>
            </a:r>
            <a:r>
              <a:rPr lang="en-US" spc="18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used</a:t>
            </a:r>
            <a:r>
              <a:rPr lang="en-US" spc="-23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efficiently</a:t>
            </a:r>
            <a:r>
              <a:rPr lang="en-US" dirty="0" smtClean="0">
                <a:effectLst/>
                <a:latin typeface="Times New Roman" panose="02020603050405020304" pitchFamily="18" charset="0"/>
                <a:ea typeface="Symbol" panose="05050102010706020507" pitchFamily="18" charset="2"/>
                <a:cs typeface="Times New Roman" panose="02020603050405020304" pitchFamily="18" charset="0"/>
              </a:rPr>
              <a:t>.</a:t>
            </a:r>
          </a:p>
          <a:p>
            <a:r>
              <a:rPr lang="en-IN" b="1" dirty="0" smtClean="0">
                <a:latin typeface="Times New Roman" panose="02020603050405020304" pitchFamily="18" charset="0"/>
                <a:cs typeface="Times New Roman" panose="02020603050405020304" pitchFamily="18" charset="0"/>
              </a:rPr>
              <a:t>Note</a:t>
            </a:r>
            <a:r>
              <a:rPr lang="en-IN" dirty="0" smtClean="0">
                <a:latin typeface="Times New Roman" panose="02020603050405020304" pitchFamily="18" charset="0"/>
                <a:cs typeface="Times New Roman" panose="02020603050405020304" pitchFamily="18" charset="0"/>
              </a:rPr>
              <a:t>: </a:t>
            </a:r>
            <a:r>
              <a:rPr lang="en-US" dirty="0"/>
              <a:t>Auxiliary memory </a:t>
            </a:r>
            <a:r>
              <a:rPr lang="en-US" b="1" dirty="0"/>
              <a:t>holds programs and data for future use</a:t>
            </a:r>
            <a:r>
              <a:rPr lang="en-US" dirty="0"/>
              <a:t>, and, because it is nonvolatile (like ROM), it is used to store inactive programs and to archive data. Early forms of auxiliary storage included punched paper tape, punched cards, and magnetic drums.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502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Data</a:t>
            </a:r>
            <a:r>
              <a:rPr lang="en-US"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Structure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54243"/>
            <a:ext cx="11746041" cy="5451057"/>
          </a:xfrm>
        </p:spPr>
        <p:txBody>
          <a:bodyPr>
            <a:normAutofit lnSpcReduction="10000"/>
          </a:bodyPr>
          <a:lstStyle/>
          <a:p>
            <a:pPr marL="342900" lvl="0" indent="-342900">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mainly</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specifies the</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following</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four</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things</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742950" lvl="1" indent="-285750">
              <a:lnSpc>
                <a:spcPts val="1360"/>
              </a:lnSpc>
              <a:buSzPts val="1100"/>
              <a:buFont typeface="Courier New" panose="02070309020205020404" pitchFamily="49" charset="0"/>
              <a:buChar char="o"/>
              <a:tabLst>
                <a:tab pos="8261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60"/>
              </a:lnSpc>
              <a:buSzPts val="1100"/>
              <a:buFont typeface="Courier New" panose="02070309020205020404" pitchFamily="49" charset="0"/>
              <a:buChar char="o"/>
              <a:tabLst>
                <a:tab pos="8261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Organization</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Data</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8261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8261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Accessing</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methods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8261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8261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Degree</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associativity</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0"/>
              </a:lnSpc>
              <a:buSzPts val="1100"/>
              <a:buFont typeface="Courier New" panose="02070309020205020404" pitchFamily="49" charset="0"/>
              <a:buChar char="o"/>
              <a:tabLst>
                <a:tab pos="8261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0"/>
              </a:lnSpc>
              <a:buSzPts val="1100"/>
              <a:buFont typeface="Courier New" panose="02070309020205020404" pitchFamily="49" charset="0"/>
              <a:buChar char="o"/>
              <a:tabLst>
                <a:tab pos="8261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Processing</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alternatives</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for</a:t>
            </a:r>
            <a:r>
              <a:rPr lang="en-US" sz="2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information</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342900" lvl="0" indent="-342900">
              <a:lnSpc>
                <a:spcPts val="1380"/>
              </a:lnSpc>
              <a:buSzPts val="1100"/>
              <a:buFont typeface="Symbol" panose="05050102010706020507" pitchFamily="18" charset="2"/>
              <a:buChar char=""/>
              <a:tabLst>
                <a:tab pos="558800" algn="l"/>
                <a:tab pos="559435" algn="l"/>
              </a:tabLst>
            </a:pPr>
            <a:endParaRPr lang="en-US"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lvl="0" indent="-342900">
              <a:lnSpc>
                <a:spcPts val="1380"/>
              </a:lnSpc>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Algorithm</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2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Program</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lvl="0" indent="-342900">
              <a:spcBef>
                <a:spcPts val="5"/>
              </a:spcBef>
              <a:spcAft>
                <a:spcPts val="0"/>
              </a:spcAft>
              <a:buSzPts val="1100"/>
              <a:buFont typeface="Symbol" panose="05050102010706020507" pitchFamily="18" charset="2"/>
              <a:buChar char=""/>
              <a:tabLst>
                <a:tab pos="558800" algn="l"/>
                <a:tab pos="559435" algn="l"/>
              </a:tabLst>
            </a:pPr>
            <a:endParaRPr lang="en-US" dirty="0">
              <a:effectLst/>
              <a:latin typeface="Times New Roman" panose="02020603050405020304" pitchFamily="18" charset="0"/>
              <a:ea typeface="Symbol" panose="05050102010706020507" pitchFamily="18" charset="2"/>
              <a:cs typeface="Times New Roman" panose="02020603050405020304" pitchFamily="18" charset="0"/>
            </a:endParaRPr>
          </a:p>
          <a:p>
            <a:pPr marL="342900" lvl="0" indent="-342900">
              <a:spcBef>
                <a:spcPts val="5"/>
              </a:spcBef>
              <a:spcAft>
                <a:spcPts val="0"/>
              </a:spcAft>
              <a:buSzPts val="1100"/>
              <a:buFont typeface="Symbol" panose="05050102010706020507" pitchFamily="18" charset="2"/>
              <a:buChar char=""/>
              <a:tabLst>
                <a:tab pos="558800" algn="l"/>
                <a:tab pos="559435" algn="l"/>
              </a:tabLst>
            </a:pPr>
            <a:r>
              <a:rPr lang="en-US" dirty="0">
                <a:effectLst/>
                <a:latin typeface="Times New Roman" panose="02020603050405020304" pitchFamily="18" charset="0"/>
                <a:ea typeface="Symbol" panose="05050102010706020507" pitchFamily="18" charset="2"/>
                <a:cs typeface="Times New Roman" panose="02020603050405020304" pitchFamily="18" charset="0"/>
              </a:rPr>
              <a:t>Data</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structure</a:t>
            </a:r>
            <a:r>
              <a:rPr lang="en-US" spc="-10"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study</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covers</a:t>
            </a:r>
            <a:r>
              <a:rPr lang="en-US"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the following</a:t>
            </a:r>
            <a:r>
              <a:rPr lang="en-US" spc="-15" dirty="0">
                <a:effectLst/>
                <a:latin typeface="Times New Roman" panose="02020603050405020304" pitchFamily="18" charset="0"/>
                <a:ea typeface="Symbol" panose="05050102010706020507" pitchFamily="18" charset="2"/>
                <a:cs typeface="Times New Roman" panose="02020603050405020304" pitchFamily="18" charset="0"/>
              </a:rPr>
              <a:t> </a:t>
            </a:r>
            <a:r>
              <a:rPr lang="en-US" dirty="0">
                <a:effectLst/>
                <a:latin typeface="Times New Roman" panose="02020603050405020304" pitchFamily="18" charset="0"/>
                <a:ea typeface="Symbol" panose="05050102010706020507" pitchFamily="18" charset="2"/>
                <a:cs typeface="Times New Roman" panose="02020603050405020304" pitchFamily="18" charset="0"/>
              </a:rPr>
              <a:t>points</a:t>
            </a:r>
            <a:endParaRPr lang="en-IN" dirty="0">
              <a:effectLst/>
              <a:latin typeface="Times New Roman" panose="02020603050405020304" pitchFamily="18" charset="0"/>
              <a:ea typeface="Symbol" panose="05050102010706020507" pitchFamily="18" charset="2"/>
              <a:cs typeface="Times New Roman" panose="02020603050405020304" pitchFamily="18" charset="0"/>
            </a:endParaRPr>
          </a:p>
          <a:p>
            <a:pPr marL="742950" lvl="1" indent="-285750">
              <a:lnSpc>
                <a:spcPts val="1360"/>
              </a:lnSpc>
              <a:buSzPts val="1100"/>
              <a:buFont typeface="Courier New" panose="02070309020205020404" pitchFamily="49" charset="0"/>
              <a:buChar char="o"/>
              <a:tabLst>
                <a:tab pos="7880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60"/>
              </a:lnSpc>
              <a:buSzPts val="1100"/>
              <a:buFont typeface="Courier New" panose="02070309020205020404" pitchFamily="49" charset="0"/>
              <a:buChar char="o"/>
              <a:tabLst>
                <a:tab pos="7880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Amount</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memory require to</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store.</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7880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7880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Amount</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time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require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to</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process.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788035" algn="l"/>
              </a:tabLst>
            </a:pPr>
            <a:endParaRPr lang="en-US"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7880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Representation</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data in</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memory.</a:t>
            </a:r>
          </a:p>
          <a:p>
            <a:pPr marL="742950" lvl="1" indent="-285750">
              <a:lnSpc>
                <a:spcPts val="1345"/>
              </a:lnSpc>
              <a:buSzPts val="1100"/>
              <a:buFont typeface="Courier New" panose="02070309020205020404" pitchFamily="49" charset="0"/>
              <a:buChar char="o"/>
              <a:tabLst>
                <a:tab pos="788035" algn="l"/>
              </a:tabLst>
            </a:pPr>
            <a:endParaRPr lang="en-US" sz="2800" dirty="0">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nSpc>
                <a:spcPts val="1345"/>
              </a:lnSpc>
              <a:buSzPts val="1100"/>
              <a:buFont typeface="Courier New" panose="02070309020205020404" pitchFamily="49" charset="0"/>
              <a:buChar char="o"/>
              <a:tabLst>
                <a:tab pos="7880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Operations performed on the data.</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260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40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Classification</a:t>
            </a:r>
            <a:r>
              <a:rPr lang="en-US" sz="4000" b="1" spc="-3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40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of</a:t>
            </a:r>
            <a:r>
              <a:rPr lang="en-US" sz="4000" b="1" spc="-1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40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Data</a:t>
            </a:r>
            <a:r>
              <a:rPr lang="en-US" sz="4000" b="1" spc="-1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40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Structure</a:t>
            </a:r>
            <a:endParaRPr lang="en-IN" sz="8000" b="1" dirty="0">
              <a:solidFill>
                <a:srgbClr val="FF0000"/>
              </a:solidFill>
            </a:endParaRPr>
          </a:p>
        </p:txBody>
      </p:sp>
      <p:grpSp>
        <p:nvGrpSpPr>
          <p:cNvPr id="4" name="Group 3">
            <a:extLst>
              <a:ext uri="{FF2B5EF4-FFF2-40B4-BE49-F238E27FC236}">
                <a16:creationId xmlns:a16="http://schemas.microsoft.com/office/drawing/2014/main" xmlns="" id="{8C097353-FDE9-66EE-8E1F-78A5032C43CE}"/>
              </a:ext>
            </a:extLst>
          </p:cNvPr>
          <p:cNvGrpSpPr>
            <a:grpSpLocks/>
          </p:cNvGrpSpPr>
          <p:nvPr/>
        </p:nvGrpSpPr>
        <p:grpSpPr bwMode="auto">
          <a:xfrm>
            <a:off x="1056807" y="1266669"/>
            <a:ext cx="10298241" cy="5338631"/>
            <a:chOff x="1091" y="327"/>
            <a:chExt cx="9893" cy="4891"/>
          </a:xfrm>
        </p:grpSpPr>
        <p:pic>
          <p:nvPicPr>
            <p:cNvPr id="5" name="Picture 4">
              <a:extLst>
                <a:ext uri="{FF2B5EF4-FFF2-40B4-BE49-F238E27FC236}">
                  <a16:creationId xmlns:a16="http://schemas.microsoft.com/office/drawing/2014/main" xmlns="" id="{94B29D84-F6C4-934B-97CA-E9B63E350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 y="327"/>
              <a:ext cx="9893" cy="4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xmlns="" id="{3F8FF56E-DCD4-4E40-6FBE-8EFA58F66412}"/>
                </a:ext>
              </a:extLst>
            </p:cNvPr>
            <p:cNvSpPr txBox="1">
              <a:spLocks noChangeArrowheads="1"/>
            </p:cNvSpPr>
            <p:nvPr/>
          </p:nvSpPr>
          <p:spPr bwMode="auto">
            <a:xfrm>
              <a:off x="5665" y="570"/>
              <a:ext cx="89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R="12700" algn="ctr">
                <a:lnSpc>
                  <a:spcPts val="865"/>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DATA</a:t>
              </a:r>
              <a:endParaRPr lang="en-IN" sz="1100">
                <a:effectLst/>
                <a:latin typeface="Calibri" panose="020F0502020204030204" pitchFamily="34" charset="0"/>
                <a:ea typeface="Calibri" panose="020F0502020204030204" pitchFamily="34" charset="0"/>
                <a:cs typeface="Shruti" panose="020B0502040204020203" pitchFamily="34" charset="0"/>
              </a:endParaRPr>
            </a:p>
            <a:p>
              <a:pPr marR="11430" algn="ctr">
                <a:lnSpc>
                  <a:spcPts val="103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STRUCTURE</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7" name="Text Box 5">
              <a:extLst>
                <a:ext uri="{FF2B5EF4-FFF2-40B4-BE49-F238E27FC236}">
                  <a16:creationId xmlns:a16="http://schemas.microsoft.com/office/drawing/2014/main" xmlns="" id="{7E06EEAC-3576-3F27-61FA-B43A295771B0}"/>
                </a:ext>
              </a:extLst>
            </p:cNvPr>
            <p:cNvSpPr txBox="1">
              <a:spLocks noChangeArrowheads="1"/>
            </p:cNvSpPr>
            <p:nvPr/>
          </p:nvSpPr>
          <p:spPr bwMode="auto">
            <a:xfrm>
              <a:off x="3391" y="1576"/>
              <a:ext cx="7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PRIMITIVE</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8" name="Text Box 6">
              <a:extLst>
                <a:ext uri="{FF2B5EF4-FFF2-40B4-BE49-F238E27FC236}">
                  <a16:creationId xmlns:a16="http://schemas.microsoft.com/office/drawing/2014/main" xmlns="" id="{07E6BA12-FB8A-CCF2-2E90-B8C8BEB67D70}"/>
                </a:ext>
              </a:extLst>
            </p:cNvPr>
            <p:cNvSpPr txBox="1">
              <a:spLocks noChangeArrowheads="1"/>
            </p:cNvSpPr>
            <p:nvPr/>
          </p:nvSpPr>
          <p:spPr bwMode="auto">
            <a:xfrm>
              <a:off x="8063" y="1593"/>
              <a:ext cx="780"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R="11430" algn="ctr">
                <a:lnSpc>
                  <a:spcPts val="865"/>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NON</a:t>
              </a:r>
              <a:endParaRPr lang="en-IN" sz="1100">
                <a:effectLst/>
                <a:latin typeface="Calibri" panose="020F0502020204030204" pitchFamily="34" charset="0"/>
                <a:ea typeface="Calibri" panose="020F0502020204030204" pitchFamily="34" charset="0"/>
                <a:cs typeface="Shruti" panose="020B0502040204020203" pitchFamily="34" charset="0"/>
              </a:endParaRPr>
            </a:p>
            <a:p>
              <a:pPr marR="11430" algn="ctr">
                <a:lnSpc>
                  <a:spcPts val="103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PRIMITIVE</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9" name="Text Box 7">
              <a:extLst>
                <a:ext uri="{FF2B5EF4-FFF2-40B4-BE49-F238E27FC236}">
                  <a16:creationId xmlns:a16="http://schemas.microsoft.com/office/drawing/2014/main" xmlns="" id="{D31DFEBE-ADF5-4A40-8863-42B37FE9D1C9}"/>
                </a:ext>
              </a:extLst>
            </p:cNvPr>
            <p:cNvSpPr txBox="1">
              <a:spLocks noChangeArrowheads="1"/>
            </p:cNvSpPr>
            <p:nvPr/>
          </p:nvSpPr>
          <p:spPr bwMode="auto">
            <a:xfrm>
              <a:off x="1457" y="2585"/>
              <a:ext cx="65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INTEGER</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0" name="Text Box 8">
              <a:extLst>
                <a:ext uri="{FF2B5EF4-FFF2-40B4-BE49-F238E27FC236}">
                  <a16:creationId xmlns:a16="http://schemas.microsoft.com/office/drawing/2014/main" xmlns="" id="{64714BE5-5ECF-B4E4-B56A-ECD6A8466009}"/>
                </a:ext>
              </a:extLst>
            </p:cNvPr>
            <p:cNvSpPr txBox="1">
              <a:spLocks noChangeArrowheads="1"/>
            </p:cNvSpPr>
            <p:nvPr/>
          </p:nvSpPr>
          <p:spPr bwMode="auto">
            <a:xfrm>
              <a:off x="2734" y="2587"/>
              <a:ext cx="765"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R="11430" algn="ctr">
                <a:lnSpc>
                  <a:spcPts val="855"/>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FLOATING</a:t>
              </a:r>
              <a:endParaRPr lang="en-IN" sz="1100">
                <a:effectLst/>
                <a:latin typeface="Calibri" panose="020F0502020204030204" pitchFamily="34" charset="0"/>
                <a:ea typeface="Calibri" panose="020F0502020204030204" pitchFamily="34" charset="0"/>
                <a:cs typeface="Shruti" panose="020B0502040204020203" pitchFamily="34" charset="0"/>
              </a:endParaRPr>
            </a:p>
            <a:p>
              <a:pPr marL="1270" marR="11430" algn="ctr">
                <a:lnSpc>
                  <a:spcPts val="102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POINT</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1" name="Text Box 9">
              <a:extLst>
                <a:ext uri="{FF2B5EF4-FFF2-40B4-BE49-F238E27FC236}">
                  <a16:creationId xmlns:a16="http://schemas.microsoft.com/office/drawing/2014/main" xmlns="" id="{757EE02E-BE8F-48A6-B925-985694353790}"/>
                </a:ext>
              </a:extLst>
            </p:cNvPr>
            <p:cNvSpPr txBox="1">
              <a:spLocks noChangeArrowheads="1"/>
            </p:cNvSpPr>
            <p:nvPr/>
          </p:nvSpPr>
          <p:spPr bwMode="auto">
            <a:xfrm>
              <a:off x="3994" y="2585"/>
              <a:ext cx="90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CHARACTER</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2" name="Text Box 10">
              <a:extLst>
                <a:ext uri="{FF2B5EF4-FFF2-40B4-BE49-F238E27FC236}">
                  <a16:creationId xmlns:a16="http://schemas.microsoft.com/office/drawing/2014/main" xmlns="" id="{8301670B-005F-13EE-9814-80909610DE25}"/>
                </a:ext>
              </a:extLst>
            </p:cNvPr>
            <p:cNvSpPr txBox="1">
              <a:spLocks noChangeArrowheads="1"/>
            </p:cNvSpPr>
            <p:nvPr/>
          </p:nvSpPr>
          <p:spPr bwMode="auto">
            <a:xfrm>
              <a:off x="5441" y="2585"/>
              <a:ext cx="6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POINTER</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3" name="Text Box 11">
              <a:extLst>
                <a:ext uri="{FF2B5EF4-FFF2-40B4-BE49-F238E27FC236}">
                  <a16:creationId xmlns:a16="http://schemas.microsoft.com/office/drawing/2014/main" xmlns="" id="{115AD996-ACDD-3048-DF69-AF9AC2026192}"/>
                </a:ext>
              </a:extLst>
            </p:cNvPr>
            <p:cNvSpPr txBox="1">
              <a:spLocks noChangeArrowheads="1"/>
            </p:cNvSpPr>
            <p:nvPr/>
          </p:nvSpPr>
          <p:spPr bwMode="auto">
            <a:xfrm>
              <a:off x="6848" y="2585"/>
              <a:ext cx="51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dirty="0">
                  <a:effectLst/>
                  <a:latin typeface="Calibri" panose="020F0502020204030204" pitchFamily="34" charset="0"/>
                  <a:ea typeface="Calibri" panose="020F0502020204030204" pitchFamily="34" charset="0"/>
                  <a:cs typeface="Shruti" panose="020B0502040204020203" pitchFamily="34" charset="0"/>
                </a:rPr>
                <a:t>ARRAY</a:t>
              </a:r>
              <a:endParaRPr lang="en-IN" sz="1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4" name="Text Box 12">
              <a:extLst>
                <a:ext uri="{FF2B5EF4-FFF2-40B4-BE49-F238E27FC236}">
                  <a16:creationId xmlns:a16="http://schemas.microsoft.com/office/drawing/2014/main" xmlns="" id="{199F7636-ACF2-1E48-CE13-AE40E6189944}"/>
                </a:ext>
              </a:extLst>
            </p:cNvPr>
            <p:cNvSpPr txBox="1">
              <a:spLocks noChangeArrowheads="1"/>
            </p:cNvSpPr>
            <p:nvPr/>
          </p:nvSpPr>
          <p:spPr bwMode="auto">
            <a:xfrm>
              <a:off x="8286" y="2585"/>
              <a:ext cx="3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LIST</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5" name="Text Box 13">
              <a:extLst>
                <a:ext uri="{FF2B5EF4-FFF2-40B4-BE49-F238E27FC236}">
                  <a16:creationId xmlns:a16="http://schemas.microsoft.com/office/drawing/2014/main" xmlns="" id="{2169E842-4860-5F17-7451-AACDFAF5FBFA}"/>
                </a:ext>
              </a:extLst>
            </p:cNvPr>
            <p:cNvSpPr txBox="1">
              <a:spLocks noChangeArrowheads="1"/>
            </p:cNvSpPr>
            <p:nvPr/>
          </p:nvSpPr>
          <p:spPr bwMode="auto">
            <a:xfrm>
              <a:off x="9609" y="2585"/>
              <a:ext cx="3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FILE</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6" name="Text Box 14">
              <a:extLst>
                <a:ext uri="{FF2B5EF4-FFF2-40B4-BE49-F238E27FC236}">
                  <a16:creationId xmlns:a16="http://schemas.microsoft.com/office/drawing/2014/main" xmlns="" id="{53D8FFC6-7087-6B70-F487-F83F493CEBB3}"/>
                </a:ext>
              </a:extLst>
            </p:cNvPr>
            <p:cNvSpPr txBox="1">
              <a:spLocks noChangeArrowheads="1"/>
            </p:cNvSpPr>
            <p:nvPr/>
          </p:nvSpPr>
          <p:spPr bwMode="auto">
            <a:xfrm>
              <a:off x="6666" y="3595"/>
              <a:ext cx="8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LINEAR</a:t>
              </a:r>
              <a:r>
                <a:rPr lang="en-US" sz="900" spc="-10">
                  <a:effectLst/>
                  <a:latin typeface="Calibri" panose="020F0502020204030204" pitchFamily="34" charset="0"/>
                  <a:ea typeface="Calibri" panose="020F0502020204030204" pitchFamily="34" charset="0"/>
                  <a:cs typeface="Shruti" panose="020B0502040204020203" pitchFamily="34" charset="0"/>
                </a:rPr>
                <a:t> </a:t>
              </a:r>
              <a:r>
                <a:rPr lang="en-US" sz="900">
                  <a:effectLst/>
                  <a:latin typeface="Calibri" panose="020F0502020204030204" pitchFamily="34" charset="0"/>
                  <a:ea typeface="Calibri" panose="020F0502020204030204" pitchFamily="34" charset="0"/>
                  <a:cs typeface="Shruti" panose="020B0502040204020203" pitchFamily="34" charset="0"/>
                </a:rPr>
                <a:t>LIST</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7" name="Text Box 15">
              <a:extLst>
                <a:ext uri="{FF2B5EF4-FFF2-40B4-BE49-F238E27FC236}">
                  <a16:creationId xmlns:a16="http://schemas.microsoft.com/office/drawing/2014/main" xmlns="" id="{0C1081A6-8DE3-BD14-E987-7C50B1561BC6}"/>
                </a:ext>
              </a:extLst>
            </p:cNvPr>
            <p:cNvSpPr txBox="1">
              <a:spLocks noChangeArrowheads="1"/>
            </p:cNvSpPr>
            <p:nvPr/>
          </p:nvSpPr>
          <p:spPr bwMode="auto">
            <a:xfrm>
              <a:off x="9326" y="3595"/>
              <a:ext cx="880"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R="10795" algn="ctr">
                <a:lnSpc>
                  <a:spcPts val="86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NON</a:t>
              </a:r>
              <a:endParaRPr lang="en-IN" sz="1100">
                <a:effectLst/>
                <a:latin typeface="Calibri" panose="020F0502020204030204" pitchFamily="34" charset="0"/>
                <a:ea typeface="Calibri" panose="020F0502020204030204" pitchFamily="34" charset="0"/>
                <a:cs typeface="Shruti" panose="020B0502040204020203" pitchFamily="34" charset="0"/>
              </a:endParaRPr>
            </a:p>
            <a:p>
              <a:pPr marR="11430" algn="ctr">
                <a:lnSpc>
                  <a:spcPts val="1025"/>
                </a:lnSpc>
                <a:spcAft>
                  <a:spcPts val="800"/>
                </a:spcAft>
              </a:pPr>
              <a:r>
                <a:rPr lang="en-US" sz="900" spc="-5">
                  <a:effectLst/>
                  <a:latin typeface="Calibri" panose="020F0502020204030204" pitchFamily="34" charset="0"/>
                  <a:ea typeface="Calibri" panose="020F0502020204030204" pitchFamily="34" charset="0"/>
                  <a:cs typeface="Shruti" panose="020B0502040204020203" pitchFamily="34" charset="0"/>
                </a:rPr>
                <a:t>LINEAR</a:t>
              </a:r>
              <a:r>
                <a:rPr lang="en-US" sz="900" spc="-40">
                  <a:effectLst/>
                  <a:latin typeface="Calibri" panose="020F0502020204030204" pitchFamily="34" charset="0"/>
                  <a:ea typeface="Calibri" panose="020F0502020204030204" pitchFamily="34" charset="0"/>
                  <a:cs typeface="Shruti" panose="020B0502040204020203" pitchFamily="34" charset="0"/>
                </a:rPr>
                <a:t> </a:t>
              </a:r>
              <a:r>
                <a:rPr lang="en-US" sz="900">
                  <a:effectLst/>
                  <a:latin typeface="Calibri" panose="020F0502020204030204" pitchFamily="34" charset="0"/>
                  <a:ea typeface="Calibri" panose="020F0502020204030204" pitchFamily="34" charset="0"/>
                  <a:cs typeface="Shruti" panose="020B0502040204020203" pitchFamily="34" charset="0"/>
                </a:rPr>
                <a:t>LIST</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8" name="Text Box 16">
              <a:extLst>
                <a:ext uri="{FF2B5EF4-FFF2-40B4-BE49-F238E27FC236}">
                  <a16:creationId xmlns:a16="http://schemas.microsoft.com/office/drawing/2014/main" xmlns="" id="{68E0C220-881B-EDEB-6CBA-D9AD7E71B63F}"/>
                </a:ext>
              </a:extLst>
            </p:cNvPr>
            <p:cNvSpPr txBox="1">
              <a:spLocks noChangeArrowheads="1"/>
            </p:cNvSpPr>
            <p:nvPr/>
          </p:nvSpPr>
          <p:spPr bwMode="auto">
            <a:xfrm>
              <a:off x="6126" y="4617"/>
              <a:ext cx="483"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STACK</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19" name="Text Box 17">
              <a:extLst>
                <a:ext uri="{FF2B5EF4-FFF2-40B4-BE49-F238E27FC236}">
                  <a16:creationId xmlns:a16="http://schemas.microsoft.com/office/drawing/2014/main" xmlns="" id="{467A2B87-E955-4F2A-A710-51A18845B981}"/>
                </a:ext>
              </a:extLst>
            </p:cNvPr>
            <p:cNvSpPr txBox="1">
              <a:spLocks noChangeArrowheads="1"/>
            </p:cNvSpPr>
            <p:nvPr/>
          </p:nvSpPr>
          <p:spPr bwMode="auto">
            <a:xfrm>
              <a:off x="7496" y="4603"/>
              <a:ext cx="54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QUEUE</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20" name="Text Box 18">
              <a:extLst>
                <a:ext uri="{FF2B5EF4-FFF2-40B4-BE49-F238E27FC236}">
                  <a16:creationId xmlns:a16="http://schemas.microsoft.com/office/drawing/2014/main" xmlns="" id="{DE828AD8-F8FF-140A-0801-1A21E9BE8731}"/>
                </a:ext>
              </a:extLst>
            </p:cNvPr>
            <p:cNvSpPr txBox="1">
              <a:spLocks noChangeArrowheads="1"/>
            </p:cNvSpPr>
            <p:nvPr/>
          </p:nvSpPr>
          <p:spPr bwMode="auto">
            <a:xfrm>
              <a:off x="8829" y="4603"/>
              <a:ext cx="54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GRAPH</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sp>
          <p:nvSpPr>
            <p:cNvPr id="21" name="Text Box 19">
              <a:extLst>
                <a:ext uri="{FF2B5EF4-FFF2-40B4-BE49-F238E27FC236}">
                  <a16:creationId xmlns:a16="http://schemas.microsoft.com/office/drawing/2014/main" xmlns="" id="{CD60CE3E-C4D8-918D-8F97-8F3899609298}"/>
                </a:ext>
              </a:extLst>
            </p:cNvPr>
            <p:cNvSpPr txBox="1">
              <a:spLocks noChangeArrowheads="1"/>
            </p:cNvSpPr>
            <p:nvPr/>
          </p:nvSpPr>
          <p:spPr bwMode="auto">
            <a:xfrm>
              <a:off x="10240" y="4603"/>
              <a:ext cx="384"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800"/>
                </a:spcAft>
              </a:pPr>
              <a:r>
                <a:rPr lang="en-US" sz="900">
                  <a:effectLst/>
                  <a:latin typeface="Calibri" panose="020F0502020204030204" pitchFamily="34" charset="0"/>
                  <a:ea typeface="Calibri" panose="020F0502020204030204" pitchFamily="34" charset="0"/>
                  <a:cs typeface="Shruti" panose="020B0502040204020203" pitchFamily="34" charset="0"/>
                </a:rPr>
                <a:t>TREE</a:t>
              </a:r>
              <a:endParaRPr lang="en-IN" sz="1100">
                <a:effectLst/>
                <a:latin typeface="Calibri" panose="020F0502020204030204" pitchFamily="34" charset="0"/>
                <a:ea typeface="Calibri" panose="020F0502020204030204" pitchFamily="34" charset="0"/>
                <a:cs typeface="Shruti" panose="020B0502040204020203" pitchFamily="34" charset="0"/>
              </a:endParaRPr>
            </a:p>
          </p:txBody>
        </p:sp>
      </p:grpSp>
    </p:spTree>
    <p:extLst>
      <p:ext uri="{BB962C8B-B14F-4D97-AF65-F5344CB8AC3E}">
        <p14:creationId xmlns:p14="http://schemas.microsoft.com/office/powerpoint/2010/main" val="132811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lnSpc>
                <a:spcPct val="107000"/>
              </a:lnSpc>
              <a:spcBef>
                <a:spcPts val="200"/>
              </a:spcBef>
            </a:pPr>
            <a:r>
              <a:rPr lang="en-US" sz="48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Data</a:t>
            </a:r>
            <a:r>
              <a:rPr lang="en-US" sz="4800" b="1" spc="-1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4800" b="1" dirty="0" smtClean="0">
                <a:solidFill>
                  <a:srgbClr val="FF0000"/>
                </a:solidFill>
                <a:latin typeface="Calibri Light" panose="020F0302020204030204" pitchFamily="34" charset="0"/>
                <a:ea typeface="Times New Roman" panose="02020603050405020304" pitchFamily="18" charset="0"/>
                <a:cs typeface="Shruti" panose="020B0502040204020203" pitchFamily="34" charset="0"/>
              </a:rPr>
              <a:t>structures</a:t>
            </a:r>
            <a:endParaRPr lang="en-IN" sz="48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63500">
              <a:spcBef>
                <a:spcPts val="1010"/>
              </a:spcBef>
              <a:spcAft>
                <a:spcPts val="0"/>
              </a:spcAft>
            </a:pPr>
            <a:r>
              <a:rPr lang="en-US" dirty="0">
                <a:solidFill>
                  <a:srgbClr val="212121"/>
                </a:solidFill>
                <a:latin typeface="Calibri" panose="020F0502020204030204" pitchFamily="34" charset="0"/>
                <a:cs typeface="Shruti" panose="020B0502040204020203" pitchFamily="34" charset="0"/>
              </a:rPr>
              <a:t>Data Structures are normally classified into two broad categories</a:t>
            </a:r>
            <a:endParaRPr lang="en-IN" dirty="0">
              <a:solidFill>
                <a:srgbClr val="212121"/>
              </a:solidFill>
              <a:latin typeface="Calibri" panose="020F0502020204030204" pitchFamily="34" charset="0"/>
              <a:cs typeface="Shruti" panose="020B0502040204020203" pitchFamily="34" charset="0"/>
            </a:endParaRPr>
          </a:p>
          <a:p>
            <a:pPr marL="0" lvl="0" indent="0">
              <a:buSzPts val="1100"/>
              <a:buNone/>
              <a:tabLst>
                <a:tab pos="333375" algn="l"/>
                <a:tab pos="334010" algn="l"/>
              </a:tabLst>
            </a:pPr>
            <a:r>
              <a:rPr lang="en-US" dirty="0">
                <a:solidFill>
                  <a:srgbClr val="212121"/>
                </a:solidFill>
                <a:latin typeface="Calibri" panose="020F0502020204030204" pitchFamily="34" charset="0"/>
                <a:cs typeface="Shruti" panose="020B0502040204020203" pitchFamily="34" charset="0"/>
              </a:rPr>
              <a:t>1) Primitive Data Structure</a:t>
            </a:r>
            <a:endParaRPr lang="en-IN" dirty="0">
              <a:solidFill>
                <a:srgbClr val="212121"/>
              </a:solidFill>
              <a:latin typeface="Calibri" panose="020F0502020204030204" pitchFamily="34" charset="0"/>
              <a:cs typeface="Shruti" panose="020B0502040204020203" pitchFamily="34" charset="0"/>
            </a:endParaRPr>
          </a:p>
          <a:p>
            <a:pPr marL="0" indent="0">
              <a:spcBef>
                <a:spcPts val="20"/>
              </a:spcBef>
              <a:buNone/>
            </a:pPr>
            <a:r>
              <a:rPr lang="en-US" dirty="0">
                <a:solidFill>
                  <a:srgbClr val="212121"/>
                </a:solidFill>
                <a:latin typeface="Calibri" panose="020F0502020204030204" pitchFamily="34" charset="0"/>
                <a:cs typeface="Shruti" panose="020B0502040204020203" pitchFamily="34" charset="0"/>
              </a:rPr>
              <a:t>2) Non-primitive data Structure</a:t>
            </a:r>
            <a:endParaRPr lang="en-IN" dirty="0">
              <a:solidFill>
                <a:srgbClr val="212121"/>
              </a:solidFill>
              <a:latin typeface="Calibri" panose="020F0502020204030204" pitchFamily="34" charset="0"/>
              <a:cs typeface="Shruti" panose="020B0502040204020203" pitchFamily="34" charset="0"/>
            </a:endParaRPr>
          </a:p>
          <a:p>
            <a:pPr marL="0" indent="0">
              <a:buNone/>
            </a:pPr>
            <a:r>
              <a:rPr lang="en-US" b="1" u="sng" dirty="0">
                <a:solidFill>
                  <a:srgbClr val="212121"/>
                </a:solidFill>
                <a:effectLst/>
                <a:latin typeface="Calibri" panose="020F0502020204030204" pitchFamily="34" charset="0"/>
                <a:ea typeface="Calibri" panose="020F0502020204030204" pitchFamily="34" charset="0"/>
                <a:cs typeface="Shruti" panose="020B0502040204020203" pitchFamily="34" charset="0"/>
              </a:rPr>
              <a:t>Data Types:</a:t>
            </a:r>
          </a:p>
          <a:p>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A</a:t>
            </a:r>
            <a:r>
              <a:rPr lang="en-US" spc="1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particular</a:t>
            </a:r>
            <a:r>
              <a:rPr lang="en-US" spc="3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kind</a:t>
            </a:r>
            <a:r>
              <a:rPr lang="en-US" spc="1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of</a:t>
            </a:r>
            <a:r>
              <a:rPr lang="en-US" spc="1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data</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item,</a:t>
            </a:r>
            <a:r>
              <a:rPr lang="en-US" spc="2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as</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defined</a:t>
            </a:r>
            <a:r>
              <a:rPr lang="en-US" spc="1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by</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the</a:t>
            </a:r>
            <a:r>
              <a:rPr lang="en-US" spc="2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values</a:t>
            </a:r>
            <a:r>
              <a:rPr lang="en-US" spc="2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it</a:t>
            </a:r>
            <a:r>
              <a:rPr lang="en-US" spc="2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can</a:t>
            </a:r>
            <a:r>
              <a:rPr lang="en-US" spc="2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take,</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the</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programming</a:t>
            </a:r>
            <a:r>
              <a:rPr lang="en-US" spc="1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language</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used,</a:t>
            </a:r>
            <a:r>
              <a:rPr lang="en-US" spc="2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or</a:t>
            </a:r>
            <a:r>
              <a:rPr lang="en-US" spc="-25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the</a:t>
            </a:r>
            <a:r>
              <a:rPr lang="en-US" spc="-1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operations</a:t>
            </a:r>
            <a:r>
              <a:rPr lang="en-US" spc="-10"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that</a:t>
            </a:r>
            <a:r>
              <a:rPr lang="en-US" spc="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can</a:t>
            </a:r>
            <a:r>
              <a:rPr lang="en-US" spc="-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be</a:t>
            </a:r>
            <a:r>
              <a:rPr lang="en-US" spc="-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performed</a:t>
            </a:r>
            <a:r>
              <a:rPr lang="en-US" spc="5" dirty="0">
                <a:solidFill>
                  <a:srgbClr val="212121"/>
                </a:solidFill>
                <a:effectLst/>
                <a:latin typeface="Calibri" panose="020F0502020204030204" pitchFamily="34" charset="0"/>
                <a:ea typeface="Calibri" panose="020F0502020204030204" pitchFamily="34" charset="0"/>
                <a:cs typeface="Shruti" panose="020B0502040204020203" pitchFamily="34" charset="0"/>
              </a:rPr>
              <a:t> </a:t>
            </a:r>
            <a:r>
              <a:rPr lang="en-US" dirty="0">
                <a:solidFill>
                  <a:srgbClr val="212121"/>
                </a:solidFill>
                <a:effectLst/>
                <a:latin typeface="Calibri" panose="020F0502020204030204" pitchFamily="34" charset="0"/>
                <a:ea typeface="Calibri" panose="020F0502020204030204" pitchFamily="34" charset="0"/>
                <a:cs typeface="Shruti" panose="020B0502040204020203" pitchFamily="34" charset="0"/>
              </a:rPr>
              <a:t>on it.</a:t>
            </a:r>
            <a:endParaRPr lang="en-IN" sz="4000" dirty="0"/>
          </a:p>
        </p:txBody>
      </p:sp>
    </p:spTree>
    <p:extLst>
      <p:ext uri="{BB962C8B-B14F-4D97-AF65-F5344CB8AC3E}">
        <p14:creationId xmlns:p14="http://schemas.microsoft.com/office/powerpoint/2010/main" val="1143758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lnSpc>
                <a:spcPct val="107000"/>
              </a:lnSpc>
              <a:spcBef>
                <a:spcPts val="1010"/>
              </a:spcBef>
            </a:pPr>
            <a:r>
              <a:rPr lang="en-US"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Primitive</a:t>
            </a:r>
            <a:r>
              <a:rPr lang="en-US" sz="5400" b="1" spc="-2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Data</a:t>
            </a:r>
            <a:r>
              <a:rPr lang="en-US" sz="5400" b="1" spc="-1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Structure</a:t>
            </a:r>
            <a:endParaRPr lang="en-IN"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a:spcBef>
                <a:spcPts val="220"/>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Primitive data</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 are basic</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directly</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operated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upon</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by</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machine instructions.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19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They have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different</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representations</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on</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different</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computers.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0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Integers,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floats,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character</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pointers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examples</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primitive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0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These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types</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available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most</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programming</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languages</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built</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type.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lvl="1">
              <a:spcBef>
                <a:spcPts val="195"/>
              </a:spcBef>
              <a:buSzPts val="1100"/>
              <a:tabLst>
                <a:tab pos="521335" algn="l"/>
              </a:tabLst>
            </a:pPr>
            <a:r>
              <a:rPr lang="en-US" sz="2800" b="1" dirty="0">
                <a:effectLst/>
                <a:latin typeface="Times New Roman" panose="02020603050405020304" pitchFamily="18" charset="0"/>
                <a:ea typeface="Courier New" panose="02070309020205020404" pitchFamily="49" charset="0"/>
                <a:cs typeface="Times New Roman" panose="02020603050405020304" pitchFamily="18" charset="0"/>
              </a:rPr>
              <a:t>Integer</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 It</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is a</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data</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type</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which</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allows</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all</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values</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without fraction</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part.</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We</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can</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use</a:t>
            </a:r>
            <a:r>
              <a:rPr lang="en-US" sz="2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it</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for</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whole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numbers.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1">
              <a:spcBef>
                <a:spcPts val="170"/>
              </a:spcBef>
              <a:buSzPts val="1100"/>
              <a:tabLst>
                <a:tab pos="521335" algn="l"/>
              </a:tabLst>
            </a:pPr>
            <a:r>
              <a:rPr lang="en-US" sz="2800" b="1" dirty="0">
                <a:effectLst/>
                <a:latin typeface="Times New Roman" panose="02020603050405020304" pitchFamily="18" charset="0"/>
                <a:ea typeface="Courier New" panose="02070309020205020404" pitchFamily="49" charset="0"/>
                <a:cs typeface="Times New Roman" panose="02020603050405020304" pitchFamily="18" charset="0"/>
              </a:rPr>
              <a:t>Float</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It</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 data</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type</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which</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use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for</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storing</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fractional</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numbers.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1">
              <a:spcBef>
                <a:spcPts val="180"/>
              </a:spcBef>
              <a:buSzPts val="1100"/>
              <a:tabLst>
                <a:tab pos="521335" algn="l"/>
              </a:tabLst>
            </a:pPr>
            <a:r>
              <a:rPr lang="en-US" sz="2800" b="1" dirty="0">
                <a:effectLst/>
                <a:latin typeface="Times New Roman" panose="02020603050405020304" pitchFamily="18" charset="0"/>
                <a:ea typeface="Courier New" panose="02070309020205020404" pitchFamily="49" charset="0"/>
                <a:cs typeface="Times New Roman" panose="02020603050405020304" pitchFamily="18" charset="0"/>
              </a:rPr>
              <a:t>Character</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It is</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 data</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type</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which</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is used</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for</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character</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values.</a:t>
            </a:r>
          </a:p>
          <a:p>
            <a:pPr lvl="1">
              <a:spcBef>
                <a:spcPts val="180"/>
              </a:spcBef>
              <a:buSzPts val="1100"/>
              <a:tabLst>
                <a:tab pos="521335" algn="l"/>
              </a:tabLst>
            </a:pPr>
            <a:r>
              <a:rPr lang="en-US" sz="2800" b="1" dirty="0">
                <a:latin typeface="Times New Roman" panose="02020603050405020304" pitchFamily="18" charset="0"/>
                <a:cs typeface="Times New Roman" panose="02020603050405020304" pitchFamily="18" charset="0"/>
              </a:rPr>
              <a:t>Pointer</a:t>
            </a:r>
            <a:r>
              <a:rPr lang="en-US" sz="2800" dirty="0">
                <a:latin typeface="Times New Roman" panose="02020603050405020304" pitchFamily="18" charset="0"/>
                <a:cs typeface="Times New Roman" panose="02020603050405020304" pitchFamily="18" charset="0"/>
              </a:rPr>
              <a:t>: A variable that holds memory address of another variable are called pointer.</a:t>
            </a:r>
            <a:endParaRPr lang="en-IN" sz="2800" dirty="0">
              <a:latin typeface="Times New Roman" panose="02020603050405020304" pitchFamily="18" charset="0"/>
              <a:cs typeface="Times New Roman" panose="02020603050405020304" pitchFamily="18" charset="0"/>
            </a:endParaRPr>
          </a:p>
          <a:p>
            <a:pPr lvl="1">
              <a:spcBef>
                <a:spcPts val="180"/>
              </a:spcBef>
              <a:buSzPts val="1100"/>
              <a:tabLst>
                <a:tab pos="521335" algn="l"/>
              </a:tabLst>
            </a:pPr>
            <a:endParaRPr lang="en-IN" sz="2800" dirty="0">
              <a:latin typeface="Times New Roman" panose="02020603050405020304" pitchFamily="18" charset="0"/>
              <a:cs typeface="Times New Roman" panose="02020603050405020304" pitchFamily="18" charset="0"/>
            </a:endParaRPr>
          </a:p>
          <a:p>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0990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6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Non</a:t>
            </a:r>
            <a:r>
              <a:rPr lang="en-US" sz="6000" b="1" spc="-2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6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primitive</a:t>
            </a:r>
            <a:r>
              <a:rPr lang="en-US" sz="6000" b="1" spc="-1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6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Data</a:t>
            </a:r>
            <a:r>
              <a:rPr lang="en-US" sz="6000" b="1" spc="-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6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Type</a:t>
            </a:r>
            <a:endParaRPr lang="en-IN" sz="138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44184"/>
            <a:ext cx="11746041" cy="5361116"/>
          </a:xfrm>
        </p:spPr>
        <p:txBody>
          <a:bodyPr>
            <a:noAutofit/>
          </a:bodyPr>
          <a:lstStyle/>
          <a:p>
            <a:pPr>
              <a:spcBef>
                <a:spcPts val="210"/>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These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more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sophisticated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19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These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derived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from</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primitive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R="429895">
              <a:lnSpc>
                <a:spcPct val="115000"/>
              </a:lnSpc>
              <a:spcBef>
                <a:spcPts val="210"/>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non-primitive</a:t>
            </a:r>
            <a:r>
              <a:rPr lang="en-US"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emphasize</a:t>
            </a:r>
            <a:r>
              <a:rPr lang="en-US" spc="7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on</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structuring</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group</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smtClean="0">
                <a:effectLst/>
                <a:latin typeface="Times New Roman" panose="02020603050405020304" pitchFamily="18" charset="0"/>
                <a:ea typeface="Calibri" panose="020F0502020204030204" pitchFamily="34" charset="0"/>
                <a:cs typeface="Times New Roman" panose="02020603050405020304" pitchFamily="18" charset="0"/>
              </a:rPr>
              <a:t>homogeneous (similar)</a:t>
            </a:r>
            <a:r>
              <a:rPr lang="en-US" spc="65"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or</a:t>
            </a:r>
            <a:r>
              <a:rPr lang="en-US"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smtClean="0">
                <a:effectLst/>
                <a:latin typeface="Times New Roman" panose="02020603050405020304" pitchFamily="18" charset="0"/>
                <a:ea typeface="Calibri" panose="020F0502020204030204" pitchFamily="34" charset="0"/>
                <a:cs typeface="Times New Roman" panose="02020603050405020304" pitchFamily="18" charset="0"/>
              </a:rPr>
              <a:t>heterogeneous (dissimilar)</a:t>
            </a:r>
            <a:r>
              <a:rPr lang="en-US" spc="-23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 items.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400"/>
              </a:lnSpc>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Non-primitive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type are</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Array,</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smtClean="0">
                <a:effectLst/>
                <a:latin typeface="Times New Roman" panose="02020603050405020304" pitchFamily="18" charset="0"/>
                <a:ea typeface="Calibri" panose="020F0502020204030204" pitchFamily="34" charset="0"/>
                <a:cs typeface="Times New Roman" panose="02020603050405020304" pitchFamily="18" charset="0"/>
              </a:rPr>
              <a:t>List</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File etc.</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0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Non-primitive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type is</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further</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divided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into Linear</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Non-Linear</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spcBef>
                <a:spcPts val="195"/>
              </a:spcBef>
              <a:buSzPts val="1100"/>
              <a:buFont typeface="Courier New" panose="02070309020205020404" pitchFamily="49" charset="0"/>
              <a:buChar char="o"/>
              <a:tabLst>
                <a:tab pos="521335" algn="l"/>
              </a:tabLst>
            </a:pPr>
            <a:r>
              <a:rPr lang="en-US" sz="2800" b="1" dirty="0">
                <a:effectLst/>
                <a:latin typeface="Times New Roman" panose="02020603050405020304" pitchFamily="18" charset="0"/>
                <a:ea typeface="Courier New" panose="02070309020205020404" pitchFamily="49" charset="0"/>
                <a:cs typeface="Times New Roman" panose="02020603050405020304" pitchFamily="18" charset="0"/>
              </a:rPr>
              <a:t>Array:</a:t>
            </a:r>
            <a:r>
              <a:rPr lang="en-US" sz="2800" b="1"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An</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array</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is a</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fixed-size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sequenced</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collection</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elements</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the same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data</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type.</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spcBef>
                <a:spcPts val="170"/>
              </a:spcBef>
              <a:buSzPts val="1100"/>
              <a:buFont typeface="Courier New" panose="02070309020205020404" pitchFamily="49" charset="0"/>
              <a:buChar char="o"/>
              <a:tabLst>
                <a:tab pos="521335" algn="l"/>
              </a:tabLst>
            </a:pPr>
            <a:r>
              <a:rPr lang="en-US" sz="2800" b="1" dirty="0">
                <a:effectLst/>
                <a:latin typeface="Times New Roman" panose="02020603050405020304" pitchFamily="18" charset="0"/>
                <a:ea typeface="Courier New" panose="02070309020205020404" pitchFamily="49" charset="0"/>
                <a:cs typeface="Times New Roman" panose="02020603050405020304" pitchFamily="18" charset="0"/>
              </a:rPr>
              <a:t>List:</a:t>
            </a:r>
            <a:r>
              <a:rPr lang="en-US" sz="2800" b="1"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An</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ordered</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set</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containing</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variable</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number</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elements</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called</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as</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Lists.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marR="431165" lvl="1" indent="-285750">
              <a:lnSpc>
                <a:spcPct val="111000"/>
              </a:lnSpc>
              <a:spcBef>
                <a:spcPts val="170"/>
              </a:spcBef>
              <a:spcAft>
                <a:spcPts val="0"/>
              </a:spcAft>
              <a:buSzPts val="1100"/>
              <a:buFont typeface="Courier New" panose="02070309020205020404" pitchFamily="49" charset="0"/>
              <a:buChar char="o"/>
              <a:tabLst>
                <a:tab pos="521335" algn="l"/>
              </a:tabLst>
            </a:pPr>
            <a:r>
              <a:rPr lang="en-US" sz="2800" b="1" dirty="0">
                <a:effectLst/>
                <a:latin typeface="Times New Roman" panose="02020603050405020304" pitchFamily="18" charset="0"/>
                <a:ea typeface="Courier New" panose="02070309020205020404" pitchFamily="49" charset="0"/>
                <a:cs typeface="Times New Roman" panose="02020603050405020304" pitchFamily="18" charset="0"/>
              </a:rPr>
              <a:t>File:</a:t>
            </a:r>
            <a:r>
              <a:rPr lang="en-US" sz="2800" b="1" spc="18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file</a:t>
            </a:r>
            <a:r>
              <a:rPr lang="en-US" sz="2800" spc="1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800" spc="17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collection</a:t>
            </a:r>
            <a:r>
              <a:rPr lang="en-US" sz="2800" spc="16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logically</a:t>
            </a:r>
            <a:r>
              <a:rPr lang="en-US" sz="2800" spc="18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related</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information.</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It</a:t>
            </a:r>
            <a:r>
              <a:rPr lang="en-US" sz="2800" spc="17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can</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be</a:t>
            </a:r>
            <a:r>
              <a:rPr lang="en-US" sz="2800" spc="16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viewed</a:t>
            </a:r>
            <a:r>
              <a:rPr lang="en-US" sz="2800" spc="17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as</a:t>
            </a:r>
            <a:r>
              <a:rPr lang="en-US" sz="2800" spc="17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a:t>
            </a:r>
            <a:r>
              <a:rPr lang="en-US" sz="2800" spc="1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large</a:t>
            </a:r>
            <a:r>
              <a:rPr lang="en-US" sz="2800" spc="1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list</a:t>
            </a:r>
            <a:r>
              <a:rPr lang="en-US" sz="2800" spc="1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6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records</a:t>
            </a:r>
            <a:r>
              <a:rPr lang="en-US" sz="2800" spc="-2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consisting</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various</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fields.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739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Non</a:t>
            </a:r>
            <a:r>
              <a:rPr lang="en-US" sz="4400" b="1" spc="-2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4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primitive</a:t>
            </a:r>
            <a:r>
              <a:rPr lang="en-US" sz="4400" b="1" spc="-1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4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Data</a:t>
            </a:r>
            <a:r>
              <a:rPr lang="en-US" sz="4400" b="1" spc="-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4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Type</a:t>
            </a:r>
            <a:endParaRPr lang="en-IN" b="1" dirty="0">
              <a:solidFill>
                <a:srgbClr val="FF0000"/>
              </a:solidFill>
            </a:endParaRPr>
          </a:p>
        </p:txBody>
      </p:sp>
      <p:pic>
        <p:nvPicPr>
          <p:cNvPr id="4" name="Picture 3">
            <a:extLst>
              <a:ext uri="{FF2B5EF4-FFF2-40B4-BE49-F238E27FC236}">
                <a16:creationId xmlns:a16="http://schemas.microsoft.com/office/drawing/2014/main" xmlns="" id="{6A2480DF-81A3-EBFC-139D-340589A394D7}"/>
              </a:ext>
            </a:extLst>
          </p:cNvPr>
          <p:cNvPicPr>
            <a:picLocks noChangeAspect="1"/>
          </p:cNvPicPr>
          <p:nvPr/>
        </p:nvPicPr>
        <p:blipFill>
          <a:blip r:embed="rId2"/>
          <a:stretch>
            <a:fillRect/>
          </a:stretch>
        </p:blipFill>
        <p:spPr>
          <a:xfrm>
            <a:off x="935245" y="1717545"/>
            <a:ext cx="9941403" cy="3184239"/>
          </a:xfrm>
          <a:prstGeom prst="rect">
            <a:avLst/>
          </a:prstGeom>
        </p:spPr>
      </p:pic>
    </p:spTree>
    <p:extLst>
      <p:ext uri="{BB962C8B-B14F-4D97-AF65-F5344CB8AC3E}">
        <p14:creationId xmlns:p14="http://schemas.microsoft.com/office/powerpoint/2010/main" val="401145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lnSpc>
                <a:spcPct val="107000"/>
              </a:lnSpc>
              <a:spcBef>
                <a:spcPts val="200"/>
              </a:spcBef>
            </a:pPr>
            <a:r>
              <a:rPr lang="en-US"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Linear</a:t>
            </a:r>
            <a:r>
              <a:rPr lang="en-US" sz="5400" b="1" spc="-2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data</a:t>
            </a:r>
            <a:r>
              <a:rPr lang="en-US" sz="5400" b="1" spc="-2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structures</a:t>
            </a:r>
            <a:endParaRPr lang="en-IN" sz="54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fontScale="92500" lnSpcReduction="20000"/>
          </a:bodyPr>
          <a:lstStyle/>
          <a:p>
            <a:pPr marR="428625">
              <a:lnSpc>
                <a:spcPct val="113000"/>
              </a:lnSpc>
              <a:spcBef>
                <a:spcPts val="230"/>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A data structure is said to be Linear, if its elements are connected in linear fashion by means of logically or in</a:t>
            </a:r>
            <a:r>
              <a:rPr lang="en-US"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sequence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memory</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locations.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0"/>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There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 two</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ways</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to represent</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linear</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 in</a:t>
            </a:r>
            <a:r>
              <a:rPr lang="en-US"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memory,</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lvl="1">
              <a:spcBef>
                <a:spcPts val="195"/>
              </a:spcBef>
              <a:buSzPts val="1100"/>
              <a:tabLst>
                <a:tab pos="5213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Static</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memory</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smtClean="0">
                <a:effectLst/>
                <a:latin typeface="Times New Roman" panose="02020603050405020304" pitchFamily="18" charset="0"/>
                <a:ea typeface="Courier New" panose="02070309020205020404" pitchFamily="49" charset="0"/>
                <a:cs typeface="Times New Roman" panose="02020603050405020304" pitchFamily="18" charset="0"/>
              </a:rPr>
              <a:t>allocation – </a:t>
            </a:r>
          </a:p>
          <a:p>
            <a:pPr lvl="1">
              <a:spcBef>
                <a:spcPts val="195"/>
              </a:spcBef>
              <a:buSzPts val="1100"/>
              <a:tabLst>
                <a:tab pos="521335" algn="l"/>
              </a:tabLst>
            </a:pPr>
            <a:r>
              <a:rPr lang="en-US" sz="2800" dirty="0"/>
              <a:t>Static data structure has a fixed memory size. It is easier to access the elements in a static data structure. </a:t>
            </a:r>
            <a:r>
              <a:rPr lang="en-US" sz="2800" i="1" dirty="0" smtClean="0"/>
              <a:t>An </a:t>
            </a:r>
            <a:r>
              <a:rPr lang="en-US" sz="2800" i="1" dirty="0"/>
              <a:t>example of this data structure is an array.</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1">
              <a:spcBef>
                <a:spcPts val="170"/>
              </a:spcBef>
              <a:buSzPts val="1100"/>
              <a:tabLst>
                <a:tab pos="5213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Dynamic</a:t>
            </a:r>
            <a:r>
              <a:rPr lang="en-US" sz="28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memory</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smtClean="0">
                <a:effectLst/>
                <a:latin typeface="Times New Roman" panose="02020603050405020304" pitchFamily="18" charset="0"/>
                <a:ea typeface="Courier New" panose="02070309020205020404" pitchFamily="49" charset="0"/>
                <a:cs typeface="Times New Roman" panose="02020603050405020304" pitchFamily="18" charset="0"/>
              </a:rPr>
              <a:t>allocation – </a:t>
            </a:r>
          </a:p>
          <a:p>
            <a:pPr lvl="1">
              <a:spcBef>
                <a:spcPts val="170"/>
              </a:spcBef>
              <a:buSzPts val="1100"/>
              <a:tabLst>
                <a:tab pos="521335" algn="l"/>
              </a:tabLst>
            </a:pPr>
            <a:r>
              <a:rPr lang="en-US" sz="2800" dirty="0"/>
              <a:t>In dynamic data structure, the size is not fixed. It can be randomly updated during the runtime which may be considered efficient concerning the memory (space) complexity of the code</a:t>
            </a:r>
            <a:r>
              <a:rPr lang="en-US" sz="2800" dirty="0" smtClean="0"/>
              <a:t>.</a:t>
            </a:r>
            <a:r>
              <a:rPr lang="en-US" sz="2800" i="1" dirty="0"/>
              <a:t> Examples of this data structure are queue, stack, etc.</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R="430530">
              <a:lnSpc>
                <a:spcPct val="113000"/>
              </a:lnSpc>
              <a:spcBef>
                <a:spcPts val="170"/>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possible</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operations</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on</a:t>
            </a:r>
            <a:r>
              <a:rPr lang="en-US"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linear</a:t>
            </a:r>
            <a:r>
              <a:rPr lang="en-US" spc="1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1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Traversal,</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Insertion,</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Deletion,</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Searching,</a:t>
            </a:r>
            <a:r>
              <a:rPr lang="en-US"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Sorting</a:t>
            </a:r>
            <a:r>
              <a:rPr lang="en-US"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Merging.</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Linear</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Stack and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Queue.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523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dirty="0">
                <a:solidFill>
                  <a:srgbClr val="FF0000"/>
                </a:solidFill>
                <a:effectLst/>
                <a:latin typeface="Calibri" panose="020F0502020204030204" pitchFamily="34" charset="0"/>
                <a:ea typeface="Calibri" panose="020F0502020204030204" pitchFamily="34" charset="0"/>
                <a:cs typeface="Shruti" panose="020B0502040204020203" pitchFamily="34" charset="0"/>
              </a:rPr>
              <a:t>Stack</a:t>
            </a:r>
            <a:endParaRPr lang="en-IN" sz="115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a:spcBef>
                <a:spcPts val="210"/>
              </a:spcBef>
              <a:tabLst>
                <a:tab pos="292100" algn="l"/>
                <a:tab pos="29273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Stack</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is</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data</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structure in</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which</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insertion</a:t>
            </a:r>
            <a:r>
              <a:rPr lang="en-US" sz="20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deletion</a:t>
            </a:r>
            <a:r>
              <a:rPr lang="en-US" sz="20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operations</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z="2000" spc="2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performed</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one</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end</a:t>
            </a:r>
            <a:r>
              <a:rPr lang="en-US" sz="20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only.</a:t>
            </a:r>
          </a:p>
          <a:p>
            <a:pPr>
              <a:spcBef>
                <a:spcPts val="210"/>
              </a:spcBef>
              <a:tabLst>
                <a:tab pos="292100" algn="l"/>
                <a:tab pos="292735" algn="l"/>
              </a:tabLst>
            </a:pP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The</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insertion</a:t>
            </a:r>
            <a:r>
              <a:rPr lang="en-US" sz="20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operation</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referred</a:t>
            </a:r>
            <a:r>
              <a:rPr lang="en-US" sz="20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to</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as</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‘PUSH’ and</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deletion</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operation</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is referred</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to as</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‘POP’</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operation.</a:t>
            </a:r>
          </a:p>
          <a:p>
            <a:pPr>
              <a:spcBef>
                <a:spcPts val="210"/>
              </a:spcBef>
              <a:tabLst>
                <a:tab pos="292100" algn="l"/>
                <a:tab pos="292735" algn="l"/>
              </a:tabLst>
            </a:pP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Stack</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0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also</a:t>
            </a:r>
            <a:r>
              <a:rPr lang="en-US" sz="20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called</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as</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Last in</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First out</a:t>
            </a:r>
            <a:r>
              <a:rPr lang="en-US" sz="20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(LIFO) data</a:t>
            </a:r>
            <a:r>
              <a:rPr lang="en-US" sz="20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structure</a:t>
            </a:r>
            <a:r>
              <a:rPr lang="en-US" sz="2000" dirty="0" smtClean="0">
                <a:effectLst/>
                <a:latin typeface="Times New Roman" panose="02020603050405020304" pitchFamily="18" charset="0"/>
                <a:ea typeface="Courier New" panose="02070309020205020404" pitchFamily="49" charset="0"/>
                <a:cs typeface="Times New Roman" panose="02020603050405020304" pitchFamily="18" charset="0"/>
              </a:rPr>
              <a:t>.</a:t>
            </a:r>
          </a:p>
          <a:p>
            <a:pPr>
              <a:spcBef>
                <a:spcPts val="210"/>
              </a:spcBef>
              <a:tabLst>
                <a:tab pos="292100" algn="l"/>
                <a:tab pos="292735" algn="l"/>
              </a:tabLst>
            </a:pPr>
            <a:r>
              <a:rPr lang="en-US" sz="2000" dirty="0"/>
              <a:t>There are many real-life examples of a stack. Consider an example of plates stacked over one another in the canteen. The plate which is at the top is the first one to be removed, i.e. the plate which has been placed at the bottommost position remains in the stack for the longest period of time. So, it can be simply seen to follow LIFO(Last In First Out)/FILO(First In Last Out) order</a:t>
            </a:r>
            <a:r>
              <a:rPr lang="en-US" sz="2000" dirty="0" smtClean="0"/>
              <a:t>.</a:t>
            </a:r>
          </a:p>
          <a:p>
            <a:pPr>
              <a:spcBef>
                <a:spcPts val="210"/>
              </a:spcBef>
              <a:tabLst>
                <a:tab pos="292100" algn="l"/>
                <a:tab pos="292735" algn="l"/>
              </a:tabLst>
            </a:pPr>
            <a:r>
              <a:rPr lang="en-US" sz="2000" dirty="0"/>
              <a:t>Application of stack in data structure: Evaluation of Arithmetic Expressions, Reverse a Data, Processing Function Calls</a:t>
            </a:r>
          </a:p>
          <a:p>
            <a:pPr>
              <a:spcBef>
                <a:spcPts val="210"/>
              </a:spcBef>
              <a:tabLst>
                <a:tab pos="292100" algn="l"/>
                <a:tab pos="292735" algn="l"/>
              </a:tabLst>
            </a:pPr>
            <a:endParaRPr lang="en-US" sz="2000" dirty="0"/>
          </a:p>
          <a:p>
            <a:pPr>
              <a:spcBef>
                <a:spcPts val="210"/>
              </a:spcBef>
              <a:tabLst>
                <a:tab pos="292100" algn="l"/>
                <a:tab pos="292735" algn="l"/>
              </a:tabLst>
            </a:pPr>
            <a:endParaRPr lang="en-US" sz="2000" dirty="0"/>
          </a:p>
          <a:p>
            <a:pPr>
              <a:spcBef>
                <a:spcPts val="210"/>
              </a:spcBef>
              <a:tabLst>
                <a:tab pos="292100" algn="l"/>
                <a:tab pos="292735" algn="l"/>
              </a:tabLst>
            </a:pPr>
            <a:endParaRPr lang="en-IN" sz="2000" dirty="0">
              <a:effectLst/>
              <a:latin typeface="Times New Roman" panose="02020603050405020304" pitchFamily="18" charset="0"/>
              <a:ea typeface="Courier New" panose="02070309020205020404" pitchFamily="49"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026" name="Picture 2" descr="Stack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6471" y="4081937"/>
            <a:ext cx="4685672" cy="2742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649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Queue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R="429895">
              <a:lnSpc>
                <a:spcPct val="115000"/>
              </a:lnSpc>
              <a:spcBef>
                <a:spcPts val="160"/>
              </a:spcBef>
              <a:tabLst>
                <a:tab pos="292100" algn="l"/>
                <a:tab pos="29273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2000" spc="8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20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z="2000" spc="8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which</a:t>
            </a:r>
            <a:r>
              <a:rPr lang="en-US" sz="2000"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permits</a:t>
            </a:r>
            <a:r>
              <a:rPr lang="en-US" sz="2000" spc="8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20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insertion</a:t>
            </a:r>
            <a:r>
              <a:rPr lang="en-US" sz="2000" spc="9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a:t>
            </a:r>
            <a:r>
              <a:rPr lang="en-US" sz="20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one</a:t>
            </a:r>
            <a:r>
              <a:rPr lang="en-US" sz="2000" spc="8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end</a:t>
            </a:r>
            <a:r>
              <a:rPr lang="en-US" sz="2000" spc="9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z="2000"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Deletion</a:t>
            </a:r>
            <a:r>
              <a:rPr lang="en-US" sz="2000" spc="9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a:t>
            </a:r>
            <a:r>
              <a:rPr lang="en-US" sz="20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another</a:t>
            </a:r>
            <a:r>
              <a:rPr lang="en-US" sz="2000" spc="8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end,</a:t>
            </a:r>
            <a:r>
              <a:rPr lang="en-US" sz="2000" spc="9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known</a:t>
            </a:r>
            <a:r>
              <a:rPr lang="en-US" sz="20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as</a:t>
            </a:r>
            <a:r>
              <a:rPr lang="en-US" sz="2000"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Queue.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R="429895">
              <a:lnSpc>
                <a:spcPct val="115000"/>
              </a:lnSpc>
              <a:spcBef>
                <a:spcPts val="160"/>
              </a:spcBef>
              <a:tabLst>
                <a:tab pos="292100" algn="l"/>
                <a:tab pos="292735" algn="l"/>
              </a:tabLst>
            </a:pP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End</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at</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which</a:t>
            </a:r>
            <a:r>
              <a:rPr lang="en-US" sz="2000" spc="1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deletion</a:t>
            </a:r>
            <a:r>
              <a:rPr lang="en-US" sz="2000" spc="1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occurs</a:t>
            </a:r>
            <a:r>
              <a:rPr lang="en-US" sz="2000" spc="1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known</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as</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FRONT</a:t>
            </a:r>
            <a:r>
              <a:rPr lang="en-US" sz="2000" spc="1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end</a:t>
            </a:r>
            <a:r>
              <a:rPr lang="en-US" sz="2000" spc="1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and</a:t>
            </a:r>
            <a:r>
              <a:rPr lang="en-US" sz="2000" spc="1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another</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end</a:t>
            </a:r>
            <a:r>
              <a:rPr lang="en-US" sz="2000" spc="1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at</a:t>
            </a:r>
            <a:r>
              <a:rPr lang="en-US" sz="2000" spc="1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which</a:t>
            </a:r>
            <a:r>
              <a:rPr lang="en-US" sz="2000" spc="1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insertion</a:t>
            </a:r>
            <a:r>
              <a:rPr lang="en-US" sz="2000" spc="1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occurs</a:t>
            </a:r>
            <a:r>
              <a:rPr lang="en-US" sz="2000" spc="1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is</a:t>
            </a:r>
            <a:r>
              <a:rPr lang="en-US" sz="2000" spc="-2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known</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as REAR end.</a:t>
            </a:r>
            <a:endParaRPr lang="en-IN" sz="2000" dirty="0">
              <a:latin typeface="Times New Roman" panose="02020603050405020304" pitchFamily="18" charset="0"/>
              <a:ea typeface="Courier New" panose="02070309020205020404" pitchFamily="49" charset="0"/>
              <a:cs typeface="Times New Roman" panose="02020603050405020304" pitchFamily="18" charset="0"/>
            </a:endParaRPr>
          </a:p>
          <a:p>
            <a:pPr marR="429895">
              <a:lnSpc>
                <a:spcPct val="115000"/>
              </a:lnSpc>
              <a:spcBef>
                <a:spcPts val="160"/>
              </a:spcBef>
              <a:tabLst>
                <a:tab pos="292100" algn="l"/>
                <a:tab pos="292735" algn="l"/>
              </a:tabLst>
            </a:pP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Queue is</a:t>
            </a:r>
            <a:r>
              <a:rPr lang="en-US" sz="20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also</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called</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as First</a:t>
            </a:r>
            <a:r>
              <a:rPr lang="en-US" sz="20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in</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First</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out</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(FIFO)</a:t>
            </a:r>
            <a:r>
              <a:rPr lang="en-US" sz="20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data</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structure</a:t>
            </a:r>
            <a:r>
              <a:rPr lang="en-US" sz="2000" dirty="0" smtClean="0">
                <a:effectLst/>
                <a:latin typeface="Times New Roman" panose="02020603050405020304" pitchFamily="18" charset="0"/>
                <a:ea typeface="Courier New" panose="02070309020205020404" pitchFamily="49" charset="0"/>
                <a:cs typeface="Times New Roman" panose="02020603050405020304" pitchFamily="18" charset="0"/>
              </a:rPr>
              <a:t>.</a:t>
            </a:r>
          </a:p>
          <a:p>
            <a:pPr marR="429895">
              <a:lnSpc>
                <a:spcPct val="115000"/>
              </a:lnSpc>
              <a:spcBef>
                <a:spcPts val="160"/>
              </a:spcBef>
              <a:tabLst>
                <a:tab pos="292100" algn="l"/>
                <a:tab pos="292735" algn="l"/>
              </a:tabLst>
            </a:pPr>
            <a:r>
              <a:rPr lang="en-US" sz="2000" dirty="0"/>
              <a:t>A Queue is like a line waiting to purchase tickets, where the first person in line is the first person served. (i.e. First come first serve).</a:t>
            </a:r>
          </a:p>
          <a:p>
            <a:pPr marR="429895">
              <a:lnSpc>
                <a:spcPct val="115000"/>
              </a:lnSpc>
              <a:spcBef>
                <a:spcPts val="160"/>
              </a:spcBef>
              <a:tabLst>
                <a:tab pos="292100" algn="l"/>
                <a:tab pos="292735" algn="l"/>
              </a:tabLst>
            </a:pPr>
            <a:endParaRPr lang="en-US" sz="2800" dirty="0" smtClean="0">
              <a:effectLst/>
              <a:latin typeface="Times New Roman" panose="02020603050405020304" pitchFamily="18" charset="0"/>
              <a:ea typeface="Courier New" panose="02070309020205020404" pitchFamily="49" charset="0"/>
              <a:cs typeface="Times New Roman" panose="02020603050405020304" pitchFamily="18" charset="0"/>
            </a:endParaRPr>
          </a:p>
          <a:p>
            <a:pPr marR="429895">
              <a:lnSpc>
                <a:spcPct val="115000"/>
              </a:lnSpc>
              <a:spcBef>
                <a:spcPts val="160"/>
              </a:spcBef>
              <a:tabLst>
                <a:tab pos="292100" algn="l"/>
                <a:tab pos="292735" algn="l"/>
              </a:tabLst>
            </a:pP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050" name="Picture 2" descr="Queue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5807" y="3650730"/>
            <a:ext cx="6301230" cy="3153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686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Queue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fontScale="77500" lnSpcReduction="20000"/>
          </a:bodyPr>
          <a:lstStyle/>
          <a:p>
            <a:r>
              <a:rPr lang="en-US" sz="2000" b="1" dirty="0"/>
              <a:t>Some of the Application of Queue in Data Structure</a:t>
            </a:r>
          </a:p>
          <a:p>
            <a:r>
              <a:rPr lang="en-US" dirty="0"/>
              <a:t>Here are some of the common application of queue in data structure:</a:t>
            </a:r>
          </a:p>
          <a:p>
            <a:r>
              <a:rPr lang="en-US" dirty="0"/>
              <a:t>Queues can be used to schedule jobs and ensure that they are executed in the correct order.</a:t>
            </a:r>
          </a:p>
          <a:p>
            <a:r>
              <a:rPr lang="en-US" dirty="0"/>
              <a:t>Queues can be used to manage the order in which print jobs are sent to the printer.</a:t>
            </a:r>
          </a:p>
          <a:p>
            <a:r>
              <a:rPr lang="en-US" dirty="0"/>
              <a:t>Queues are used to implement the breadth-first search algorithm.</a:t>
            </a:r>
          </a:p>
          <a:p>
            <a:r>
              <a:rPr lang="en-US" dirty="0"/>
              <a:t>Queues can be used to manage incoming calls and ensure that they are handled in the correct order.</a:t>
            </a:r>
          </a:p>
          <a:p>
            <a:r>
              <a:rPr lang="en-US" dirty="0"/>
              <a:t>Queues can be used to manage the order in which processes are executed on the CPU.</a:t>
            </a:r>
          </a:p>
          <a:p>
            <a:r>
              <a:rPr lang="en-US" dirty="0"/>
              <a:t>Queues can be used for buffering data while it is being transferred between two systems. When data is received, it is added to the back of the queue, and when data is sent, it is removed from the front of the queue.</a:t>
            </a:r>
          </a:p>
          <a:p>
            <a:r>
              <a:rPr lang="en-US" dirty="0"/>
              <a:t>Applied as buffers on playing music in the mp3 players or CD players.</a:t>
            </a:r>
          </a:p>
          <a:p>
            <a:r>
              <a:rPr lang="en-US" dirty="0"/>
              <a:t>Applied on handling the interruption in the operating system.</a:t>
            </a:r>
          </a:p>
          <a:p>
            <a:r>
              <a:rPr lang="en-US" dirty="0"/>
              <a:t>Applied to add a song at the end of the playlist.</a:t>
            </a:r>
          </a:p>
          <a:p>
            <a:r>
              <a:rPr lang="en-US" dirty="0"/>
              <a:t>Applied as the waiting queue for using the single shared resources like CPU, Printers, or Disk.</a:t>
            </a:r>
          </a:p>
          <a:p>
            <a:pPr marR="429895">
              <a:lnSpc>
                <a:spcPct val="115000"/>
              </a:lnSpc>
              <a:spcBef>
                <a:spcPts val="160"/>
              </a:spcBef>
              <a:tabLst>
                <a:tab pos="292100" algn="l"/>
                <a:tab pos="292735" algn="l"/>
              </a:tabLst>
            </a:pPr>
            <a:endParaRPr lang="en-US" sz="2800" dirty="0" smtClean="0">
              <a:effectLst/>
              <a:latin typeface="Times New Roman" panose="02020603050405020304" pitchFamily="18" charset="0"/>
              <a:ea typeface="Courier New" panose="02070309020205020404" pitchFamily="49" charset="0"/>
              <a:cs typeface="Times New Roman" panose="02020603050405020304" pitchFamily="18" charset="0"/>
            </a:endParaRPr>
          </a:p>
          <a:p>
            <a:pPr marR="429895">
              <a:lnSpc>
                <a:spcPct val="115000"/>
              </a:lnSpc>
              <a:spcBef>
                <a:spcPts val="160"/>
              </a:spcBef>
              <a:tabLst>
                <a:tab pos="292100" algn="l"/>
                <a:tab pos="292735" algn="l"/>
              </a:tabLst>
            </a:pP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9199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r>
              <a:rPr lang="en-US" b="0" i="0" dirty="0">
                <a:solidFill>
                  <a:srgbClr val="273239"/>
                </a:solidFill>
                <a:effectLst/>
                <a:latin typeface="urw-din"/>
              </a:rPr>
              <a:t>A linked list is a linear data structure, in which the elements are not stored at contiguous memory locations</a:t>
            </a:r>
            <a:r>
              <a:rPr lang="en-US" b="0" i="0" dirty="0" smtClean="0">
                <a:solidFill>
                  <a:srgbClr val="273239"/>
                </a:solidFill>
                <a:effectLst/>
                <a:latin typeface="urw-din"/>
              </a:rPr>
              <a:t>.</a:t>
            </a:r>
            <a:r>
              <a:rPr lang="en-US" dirty="0"/>
              <a:t> In simple words, a linked list consists of nodes where each node contains a data field and a reference(link) to the next node in the list.</a:t>
            </a:r>
            <a:endParaRPr lang="en-US" b="0" i="0" dirty="0">
              <a:solidFill>
                <a:srgbClr val="273239"/>
              </a:solidFill>
              <a:effectLst/>
              <a:latin typeface="urw-din"/>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690FA66C-0A36-3936-6E2D-6AF9003C20D7}"/>
              </a:ext>
            </a:extLst>
          </p:cNvPr>
          <p:cNvPicPr>
            <a:picLocks noChangeAspect="1"/>
          </p:cNvPicPr>
          <p:nvPr/>
        </p:nvPicPr>
        <p:blipFill>
          <a:blip r:embed="rId2"/>
          <a:stretch>
            <a:fillRect/>
          </a:stretch>
        </p:blipFill>
        <p:spPr>
          <a:xfrm>
            <a:off x="540815" y="2821351"/>
            <a:ext cx="11096625" cy="2924175"/>
          </a:xfrm>
          <a:prstGeom prst="rect">
            <a:avLst/>
          </a:prstGeom>
        </p:spPr>
      </p:pic>
    </p:spTree>
    <p:extLst>
      <p:ext uri="{BB962C8B-B14F-4D97-AF65-F5344CB8AC3E}">
        <p14:creationId xmlns:p14="http://schemas.microsoft.com/office/powerpoint/2010/main" val="215726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indent="0" algn="l" fontAlgn="base">
              <a:buNone/>
            </a:pPr>
            <a:r>
              <a:rPr lang="en-US" b="1" i="0" dirty="0">
                <a:effectLst/>
                <a:latin typeface="var(--font-din)"/>
              </a:rPr>
              <a:t>Types :</a:t>
            </a:r>
            <a:endParaRPr lang="en-US" b="0" i="0" dirty="0">
              <a:effectLst/>
              <a:latin typeface="var(--font-din)"/>
            </a:endParaRPr>
          </a:p>
          <a:p>
            <a:pPr algn="l" fontAlgn="base">
              <a:buFont typeface="Arial" panose="020B0604020202020204" pitchFamily="34" charset="0"/>
              <a:buChar char="•"/>
            </a:pPr>
            <a:r>
              <a:rPr lang="en-US" dirty="0">
                <a:latin typeface="var(--font-din)"/>
              </a:rPr>
              <a:t>Singly Linked List</a:t>
            </a:r>
            <a:endParaRPr lang="en-US" b="0" i="0" dirty="0">
              <a:effectLst/>
              <a:latin typeface="var(--font-din)"/>
            </a:endParaRPr>
          </a:p>
          <a:p>
            <a:pPr algn="l" fontAlgn="base">
              <a:buFont typeface="Arial" panose="020B0604020202020204" pitchFamily="34" charset="0"/>
              <a:buChar char="•"/>
            </a:pPr>
            <a:r>
              <a:rPr lang="en-US" dirty="0">
                <a:latin typeface="var(--font-din)"/>
              </a:rPr>
              <a:t>Circular Linked List</a:t>
            </a:r>
            <a:endParaRPr lang="en-US" b="0" i="0" dirty="0">
              <a:effectLst/>
              <a:latin typeface="var(--font-din)"/>
            </a:endParaRPr>
          </a:p>
          <a:p>
            <a:pPr algn="l" fontAlgn="base">
              <a:buFont typeface="Arial" panose="020B0604020202020204" pitchFamily="34" charset="0"/>
              <a:buChar char="•"/>
            </a:pPr>
            <a:r>
              <a:rPr lang="en-US" dirty="0">
                <a:latin typeface="var(--font-din)"/>
              </a:rPr>
              <a:t>Doubly Linked </a:t>
            </a:r>
            <a:r>
              <a:rPr lang="en-US" dirty="0" smtClean="0">
                <a:latin typeface="var(--font-din)"/>
              </a:rPr>
              <a:t>List</a:t>
            </a:r>
          </a:p>
          <a:p>
            <a:pPr fontAlgn="base"/>
            <a:r>
              <a:rPr lang="en-US" b="1" dirty="0"/>
              <a:t>Applications of Linked List in Computer Science</a:t>
            </a:r>
          </a:p>
          <a:p>
            <a:pPr fontAlgn="base"/>
            <a:r>
              <a:rPr lang="en-US" dirty="0">
                <a:latin typeface="var(--font-din)"/>
              </a:rPr>
              <a:t>Representing polynomials, Polynomial manipulation, Implementing stacks and queues, Implementing </a:t>
            </a:r>
            <a:r>
              <a:rPr lang="en-US" dirty="0" smtClean="0">
                <a:latin typeface="var(--font-din)"/>
              </a:rPr>
              <a:t>graphs</a:t>
            </a:r>
          </a:p>
          <a:p>
            <a:pPr fontAlgn="base"/>
            <a:r>
              <a:rPr lang="en-US" dirty="0">
                <a:latin typeface="var(--font-din)"/>
              </a:rPr>
              <a:t>Music players (play list), Image viewers, Web browsers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5437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lnSpc>
                <a:spcPct val="107000"/>
              </a:lnSpc>
              <a:spcBef>
                <a:spcPts val="200"/>
              </a:spcBef>
            </a:pPr>
            <a:r>
              <a:rPr lang="en-US" sz="4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Nonlinear</a:t>
            </a:r>
            <a:r>
              <a:rPr lang="en-US" sz="4000" b="1" spc="-1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4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data</a:t>
            </a:r>
            <a:r>
              <a:rPr lang="en-US" sz="4000" b="1" spc="-35"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sz="4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structures</a:t>
            </a:r>
            <a:endParaRPr lang="en-IN" sz="4000"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a:spcBef>
                <a:spcPts val="21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Nonlinear</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structures</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those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which</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items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not</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arranged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sequence.</a:t>
            </a:r>
          </a:p>
          <a:p>
            <a:pPr>
              <a:spcBef>
                <a:spcPts val="215"/>
              </a:spcBef>
              <a:tabLst>
                <a:tab pos="292100" algn="l"/>
                <a:tab pos="292735" algn="l"/>
              </a:tabLst>
            </a:pP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05"/>
              </a:spcBef>
              <a:tabLst>
                <a:tab pos="292100" algn="l"/>
                <a:tab pos="2927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Non-linear</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Tree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Graph.</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5244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Tree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R="429895">
              <a:lnSpc>
                <a:spcPct val="115000"/>
              </a:lnSpc>
              <a:spcBef>
                <a:spcPts val="195"/>
              </a:spcBef>
              <a:tabLst>
                <a:tab pos="292100" algn="l"/>
                <a:tab pos="29273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tree</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can</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be</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defined</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as</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finite</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set</a:t>
            </a:r>
            <a:r>
              <a:rPr lang="en-US" sz="20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0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items</a:t>
            </a:r>
            <a:r>
              <a:rPr lang="en-US" sz="20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(nodes)</a:t>
            </a:r>
            <a:r>
              <a:rPr lang="en-US" sz="20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z="20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which</a:t>
            </a:r>
            <a:r>
              <a:rPr lang="en-US" sz="20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items</a:t>
            </a:r>
            <a:r>
              <a:rPr lang="en-US" sz="20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arranged</a:t>
            </a:r>
            <a:r>
              <a:rPr lang="en-US" sz="2000"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branches</a:t>
            </a:r>
            <a:r>
              <a:rPr lang="en-US" sz="2000"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sub</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branches according</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a:t>
            </a:r>
            <a:r>
              <a:rPr lang="en-US" sz="2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requirement.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R="429895">
              <a:lnSpc>
                <a:spcPct val="115000"/>
              </a:lnSpc>
              <a:spcBef>
                <a:spcPts val="195"/>
              </a:spcBef>
              <a:tabLst>
                <a:tab pos="292100" algn="l"/>
                <a:tab pos="292735" algn="l"/>
              </a:tabLst>
            </a:pP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Trees</a:t>
            </a:r>
            <a:r>
              <a:rPr lang="en-US" sz="20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represent</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the</a:t>
            </a:r>
            <a:r>
              <a:rPr lang="en-US" sz="20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hierarchical</a:t>
            </a:r>
            <a:r>
              <a:rPr lang="en-US" sz="20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relationship</a:t>
            </a:r>
            <a:r>
              <a:rPr lang="en-US" sz="20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between</a:t>
            </a:r>
            <a:r>
              <a:rPr lang="en-US" sz="2000" spc="-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various</a:t>
            </a:r>
            <a:r>
              <a:rPr lang="en-US" sz="20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elements.</a:t>
            </a:r>
            <a:endParaRPr lang="en-IN" sz="2000" dirty="0">
              <a:latin typeface="Times New Roman" panose="02020603050405020304" pitchFamily="18" charset="0"/>
              <a:ea typeface="Courier New" panose="02070309020205020404" pitchFamily="49" charset="0"/>
              <a:cs typeface="Times New Roman" panose="02020603050405020304" pitchFamily="18" charset="0"/>
            </a:endParaRPr>
          </a:p>
          <a:p>
            <a:pPr marR="429895">
              <a:lnSpc>
                <a:spcPct val="115000"/>
              </a:lnSpc>
              <a:spcBef>
                <a:spcPts val="195"/>
              </a:spcBef>
              <a:tabLst>
                <a:tab pos="292100" algn="l"/>
                <a:tab pos="292735" algn="l"/>
              </a:tabLst>
            </a:pP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Tree</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consist</a:t>
            </a:r>
            <a:r>
              <a:rPr lang="en-US" sz="2000" spc="6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of</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nodes</a:t>
            </a:r>
            <a:r>
              <a:rPr lang="en-US" sz="2000" spc="8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connected</a:t>
            </a:r>
            <a:r>
              <a:rPr lang="en-US" sz="2000" spc="8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by</a:t>
            </a:r>
            <a:r>
              <a:rPr lang="en-US" sz="2000" spc="7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edge,</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the</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node</a:t>
            </a:r>
            <a:r>
              <a:rPr lang="en-US" sz="2000" spc="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represented</a:t>
            </a:r>
            <a:r>
              <a:rPr lang="en-US" sz="2000" spc="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by</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circle</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and</a:t>
            </a:r>
            <a:r>
              <a:rPr lang="en-US" sz="2000" spc="6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edge</a:t>
            </a:r>
            <a:r>
              <a:rPr lang="en-US" sz="2000" spc="8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lives</a:t>
            </a:r>
            <a:r>
              <a:rPr lang="en-US" sz="2000" spc="8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connecting</a:t>
            </a:r>
            <a:r>
              <a:rPr lang="en-US" sz="2000" spc="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to</a:t>
            </a:r>
            <a:r>
              <a:rPr lang="en-US" sz="2000" spc="-2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dirty="0">
                <a:effectLst/>
                <a:latin typeface="Times New Roman" panose="02020603050405020304" pitchFamily="18" charset="0"/>
                <a:ea typeface="Courier New" panose="02070309020205020404" pitchFamily="49" charset="0"/>
                <a:cs typeface="Times New Roman" panose="02020603050405020304" pitchFamily="18" charset="0"/>
              </a:rPr>
              <a:t>circle</a:t>
            </a:r>
            <a:r>
              <a:rPr lang="en-US" sz="2000" dirty="0" smtClean="0">
                <a:effectLst/>
                <a:latin typeface="Times New Roman" panose="02020603050405020304" pitchFamily="18" charset="0"/>
                <a:ea typeface="Courier New" panose="02070309020205020404" pitchFamily="49" charset="0"/>
                <a:cs typeface="Times New Roman" panose="02020603050405020304" pitchFamily="18" charset="0"/>
              </a:rPr>
              <a:t>.</a:t>
            </a:r>
          </a:p>
          <a:p>
            <a:pPr marR="429895">
              <a:lnSpc>
                <a:spcPct val="115000"/>
              </a:lnSpc>
              <a:spcBef>
                <a:spcPts val="195"/>
              </a:spcBef>
              <a:tabLst>
                <a:tab pos="292100" algn="l"/>
                <a:tab pos="292735" algn="l"/>
              </a:tabLst>
            </a:pPr>
            <a:r>
              <a:rPr lang="en-US" sz="2000" dirty="0">
                <a:latin typeface="Times New Roman" panose="02020603050405020304" pitchFamily="18" charset="0"/>
                <a:ea typeface="Courier New" panose="02070309020205020404" pitchFamily="49" charset="0"/>
                <a:cs typeface="Times New Roman" panose="02020603050405020304" pitchFamily="18" charset="0"/>
              </a:rPr>
              <a:t>Another example of a tree structure that you probably use every day is a file system. In a file system, directories, or folders, are structured as a tree.</a:t>
            </a:r>
            <a:endParaRPr lang="en-IN" sz="2000" dirty="0">
              <a:latin typeface="Times New Roman" panose="02020603050405020304" pitchFamily="18" charset="0"/>
              <a:ea typeface="Courier New" panose="02070309020205020404" pitchFamily="49" charset="0"/>
              <a:cs typeface="Times New Roman" panose="02020603050405020304" pitchFamily="18" charset="0"/>
            </a:endParaRPr>
          </a:p>
          <a:p>
            <a:endParaRPr lang="en-IN" sz="2000" dirty="0">
              <a:latin typeface="Times New Roman" panose="02020603050405020304" pitchFamily="18" charset="0"/>
              <a:ea typeface="Courier New" panose="02070309020205020404" pitchFamily="49" charset="0"/>
              <a:cs typeface="Times New Roman" panose="02020603050405020304" pitchFamily="18" charset="0"/>
            </a:endParaRPr>
          </a:p>
        </p:txBody>
      </p:sp>
      <p:pic>
        <p:nvPicPr>
          <p:cNvPr id="3074" name="Picture 2" descr="Binary Tree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835" y="3955537"/>
            <a:ext cx="3544269" cy="2649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467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Graph</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a:spcBef>
                <a:spcPts val="505"/>
              </a:spcBef>
              <a:tabLst>
                <a:tab pos="292100" algn="l"/>
                <a:tab pos="292735" algn="l"/>
              </a:tabLst>
            </a:pPr>
            <a:r>
              <a:rPr lang="en-US" dirty="0"/>
              <a:t>A Graph is a non-linear data structure consisting of vertices and edges. </a:t>
            </a:r>
            <a:endParaRPr lang="en-US" dirty="0" smtClean="0"/>
          </a:p>
          <a:p>
            <a:pPr>
              <a:spcBef>
                <a:spcPts val="505"/>
              </a:spcBef>
              <a:tabLst>
                <a:tab pos="292100" algn="l"/>
                <a:tab pos="292735" algn="l"/>
              </a:tabLst>
            </a:pPr>
            <a:r>
              <a:rPr lang="en-US" dirty="0" smtClean="0"/>
              <a:t>The </a:t>
            </a:r>
            <a:r>
              <a:rPr lang="en-US" dirty="0"/>
              <a:t>vertices are sometimes also referred to as nodes and the edges are lines or arcs that connect any two nodes in the graph. </a:t>
            </a:r>
            <a:endParaRPr lang="en-US" dirty="0" smtClean="0"/>
          </a:p>
          <a:p>
            <a:pPr>
              <a:spcBef>
                <a:spcPts val="505"/>
              </a:spcBef>
              <a:tabLst>
                <a:tab pos="292100" algn="l"/>
                <a:tab pos="292735" algn="l"/>
              </a:tabLst>
            </a:pPr>
            <a:r>
              <a:rPr lang="en-US" dirty="0" smtClean="0"/>
              <a:t>More </a:t>
            </a:r>
            <a:r>
              <a:rPr lang="en-US" dirty="0"/>
              <a:t>formally a Graph is composed of a set of vertices( V ) and a set of edges( E ). The graph is denoted by G(E, V).</a:t>
            </a:r>
            <a:endParaRPr lang="en-IN" dirty="0">
              <a:latin typeface="Times New Roman" panose="02020603050405020304" pitchFamily="18" charset="0"/>
              <a:cs typeface="Times New Roman" panose="02020603050405020304" pitchFamily="18" charset="0"/>
            </a:endParaRPr>
          </a:p>
        </p:txBody>
      </p:sp>
      <p:pic>
        <p:nvPicPr>
          <p:cNvPr id="409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8928" y="4116986"/>
            <a:ext cx="4957338" cy="2488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704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Graph</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fontScale="92500" lnSpcReduction="20000"/>
          </a:bodyPr>
          <a:lstStyle/>
          <a:p>
            <a:pPr>
              <a:spcBef>
                <a:spcPts val="505"/>
              </a:spcBef>
              <a:tabLst>
                <a:tab pos="292100" algn="l"/>
                <a:tab pos="292735" algn="l"/>
              </a:tabLst>
            </a:pPr>
            <a:r>
              <a:rPr lang="en-US" dirty="0"/>
              <a:t>Graphs are used to solve many real-life problems. </a:t>
            </a:r>
            <a:endParaRPr lang="en-US" dirty="0" smtClean="0"/>
          </a:p>
          <a:p>
            <a:pPr>
              <a:spcBef>
                <a:spcPts val="505"/>
              </a:spcBef>
              <a:tabLst>
                <a:tab pos="292100" algn="l"/>
                <a:tab pos="292735" algn="l"/>
              </a:tabLst>
            </a:pPr>
            <a:r>
              <a:rPr lang="en-US" dirty="0" smtClean="0"/>
              <a:t>Graphs </a:t>
            </a:r>
            <a:r>
              <a:rPr lang="en-US" dirty="0"/>
              <a:t>are used to represent networks. </a:t>
            </a:r>
            <a:endParaRPr lang="en-US" dirty="0" smtClean="0"/>
          </a:p>
          <a:p>
            <a:pPr>
              <a:spcBef>
                <a:spcPts val="505"/>
              </a:spcBef>
              <a:tabLst>
                <a:tab pos="292100" algn="l"/>
                <a:tab pos="292735" algn="l"/>
              </a:tabLst>
            </a:pPr>
            <a:r>
              <a:rPr lang="en-US" dirty="0" smtClean="0"/>
              <a:t>The </a:t>
            </a:r>
            <a:r>
              <a:rPr lang="en-US" dirty="0"/>
              <a:t>networks may include paths in a city or telephone network or circuit network. Graphs are also used in social networks like </a:t>
            </a:r>
            <a:r>
              <a:rPr lang="en-US" dirty="0" err="1"/>
              <a:t>linkedIn</a:t>
            </a:r>
            <a:r>
              <a:rPr lang="en-US" dirty="0"/>
              <a:t>, Facebook. </a:t>
            </a:r>
            <a:endParaRPr lang="en-US" dirty="0" smtClean="0"/>
          </a:p>
          <a:p>
            <a:pPr>
              <a:spcBef>
                <a:spcPts val="505"/>
              </a:spcBef>
              <a:tabLst>
                <a:tab pos="292100" algn="l"/>
                <a:tab pos="292735" algn="l"/>
              </a:tabLst>
            </a:pPr>
            <a:r>
              <a:rPr lang="en-US" dirty="0" smtClean="0"/>
              <a:t>For </a:t>
            </a:r>
            <a:r>
              <a:rPr lang="en-US" dirty="0"/>
              <a:t>example, in Facebook, each person is represented with a vertex(or node). Each node is a structure and contains information like person id, name, gender, locale etc</a:t>
            </a:r>
            <a:r>
              <a:rPr lang="en-US" dirty="0" smtClean="0"/>
              <a:t>.</a:t>
            </a:r>
          </a:p>
          <a:p>
            <a:pPr>
              <a:spcBef>
                <a:spcPts val="505"/>
              </a:spcBef>
              <a:tabLst>
                <a:tab pos="292100" algn="l"/>
                <a:tab pos="292735" algn="l"/>
              </a:tabLst>
            </a:pPr>
            <a:r>
              <a:rPr lang="en-US" sz="2800" dirty="0" smtClean="0">
                <a:effectLst/>
                <a:latin typeface="Times New Roman" panose="02020603050405020304" pitchFamily="18" charset="0"/>
                <a:ea typeface="Courier New" panose="02070309020205020404" pitchFamily="49" charset="0"/>
                <a:cs typeface="Times New Roman" panose="02020603050405020304" pitchFamily="18" charset="0"/>
              </a:rPr>
              <a:t>A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tree</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can</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be</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viewed</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as restricted</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graph.</a:t>
            </a:r>
          </a:p>
          <a:p>
            <a:pPr>
              <a:spcBef>
                <a:spcPts val="505"/>
              </a:spcBef>
              <a:tabLst>
                <a:tab pos="292100" algn="l"/>
                <a:tab pos="292735" algn="l"/>
              </a:tabLst>
            </a:pP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Graphs</a:t>
            </a:r>
            <a:r>
              <a:rPr lang="en-US" sz="2800" spc="-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have</a:t>
            </a:r>
            <a:r>
              <a:rPr lang="en-US" sz="2800"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many</a:t>
            </a:r>
            <a:r>
              <a:rPr lang="en-US" sz="2800"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sz="2800" dirty="0">
                <a:effectLst/>
                <a:latin typeface="Times New Roman" panose="02020603050405020304" pitchFamily="18" charset="0"/>
                <a:ea typeface="Courier New" panose="02070309020205020404" pitchFamily="49" charset="0"/>
                <a:cs typeface="Times New Roman" panose="02020603050405020304" pitchFamily="18" charset="0"/>
              </a:rPr>
              <a:t>types:</a:t>
            </a:r>
            <a:endParaRPr lang="en-IN" sz="2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2">
              <a:spcBef>
                <a:spcPts val="170"/>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Un-directed</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lvl="2">
              <a:spcBef>
                <a:spcPts val="195"/>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Directed</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lvl="2">
              <a:spcBef>
                <a:spcPts val="205"/>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Mixed</a:t>
            </a:r>
            <a:r>
              <a:rPr lang="en-US" sz="2800"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lvl="2">
              <a:spcBef>
                <a:spcPts val="205"/>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Multi 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lvl="2">
              <a:spcBef>
                <a:spcPts val="195"/>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Simple 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lvl="2">
              <a:spcBef>
                <a:spcPts val="205"/>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Null</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lvl="2">
              <a:spcBef>
                <a:spcPts val="205"/>
              </a:spcBef>
              <a:buSzPts val="1100"/>
              <a:tabLst>
                <a:tab pos="749300" algn="l"/>
                <a:tab pos="7499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Weighted</a:t>
            </a:r>
            <a:r>
              <a:rPr lang="en-US" sz="2800"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Graph</a:t>
            </a:r>
            <a:endParaRPr lang="en-IN" sz="2800" dirty="0">
              <a:effectLst/>
              <a:latin typeface="Times New Roman" panose="02020603050405020304" pitchFamily="18" charset="0"/>
              <a:ea typeface="Wingdings" panose="05000000000000000000" pitchFamily="2" charset="2"/>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0096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99232" y="349540"/>
            <a:ext cx="11577608" cy="6180047"/>
          </a:xfrm>
          <a:prstGeom prst="rect">
            <a:avLst/>
          </a:prstGeom>
        </p:spPr>
      </p:pic>
    </p:spTree>
    <p:extLst>
      <p:ext uri="{BB962C8B-B14F-4D97-AF65-F5344CB8AC3E}">
        <p14:creationId xmlns:p14="http://schemas.microsoft.com/office/powerpoint/2010/main" val="3632366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Linear – Non Linear Data types</a:t>
            </a:r>
            <a:endParaRPr lang="en-IN" b="1" dirty="0">
              <a:solidFill>
                <a:srgbClr val="FF0000"/>
              </a:solidFill>
            </a:endParaRPr>
          </a:p>
        </p:txBody>
      </p:sp>
      <p:pic>
        <p:nvPicPr>
          <p:cNvPr id="4" name="Picture 3">
            <a:extLst>
              <a:ext uri="{FF2B5EF4-FFF2-40B4-BE49-F238E27FC236}">
                <a16:creationId xmlns:a16="http://schemas.microsoft.com/office/drawing/2014/main" xmlns="" id="{C1E8075A-D0C6-1EB5-08A9-E3876950663B}"/>
              </a:ext>
            </a:extLst>
          </p:cNvPr>
          <p:cNvPicPr>
            <a:picLocks noChangeAspect="1"/>
          </p:cNvPicPr>
          <p:nvPr/>
        </p:nvPicPr>
        <p:blipFill>
          <a:blip r:embed="rId2"/>
          <a:stretch>
            <a:fillRect/>
          </a:stretch>
        </p:blipFill>
        <p:spPr>
          <a:xfrm>
            <a:off x="645184" y="2133390"/>
            <a:ext cx="10901631" cy="2835849"/>
          </a:xfrm>
          <a:prstGeom prst="rect">
            <a:avLst/>
          </a:prstGeom>
        </p:spPr>
      </p:pic>
    </p:spTree>
    <p:extLst>
      <p:ext uri="{BB962C8B-B14F-4D97-AF65-F5344CB8AC3E}">
        <p14:creationId xmlns:p14="http://schemas.microsoft.com/office/powerpoint/2010/main" val="921279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Difference</a:t>
            </a:r>
            <a:r>
              <a:rPr lang="en-US" sz="3200" b="1" spc="-3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between</a:t>
            </a:r>
            <a:r>
              <a:rPr lang="en-US" sz="3200" b="1" spc="-1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Linear</a:t>
            </a:r>
            <a:r>
              <a:rPr lang="en-US" sz="3200" b="1" spc="-3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and</a:t>
            </a:r>
            <a:r>
              <a:rPr lang="en-US" sz="3200" b="1" spc="-1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Non</a:t>
            </a:r>
            <a:r>
              <a:rPr lang="en-US" sz="3200" b="1" spc="-2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Linear</a:t>
            </a:r>
            <a:r>
              <a:rPr lang="en-US" sz="3200"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Data</a:t>
            </a:r>
            <a:r>
              <a:rPr lang="en-US" sz="3200"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2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Structure</a:t>
            </a:r>
            <a:endParaRPr lang="en-IN" sz="6600" b="1" dirty="0">
              <a:solidFill>
                <a:srgbClr val="FF0000"/>
              </a:solidFill>
            </a:endParaRPr>
          </a:p>
        </p:txBody>
      </p:sp>
      <p:graphicFrame>
        <p:nvGraphicFramePr>
          <p:cNvPr id="4" name="Table 3">
            <a:extLst>
              <a:ext uri="{FF2B5EF4-FFF2-40B4-BE49-F238E27FC236}">
                <a16:creationId xmlns:a16="http://schemas.microsoft.com/office/drawing/2014/main" xmlns="" id="{6AD3FF31-6F6E-B906-ED72-CD0431E9A98B}"/>
              </a:ext>
            </a:extLst>
          </p:cNvPr>
          <p:cNvGraphicFramePr>
            <a:graphicFrameLocks noGrp="1"/>
          </p:cNvGraphicFramePr>
          <p:nvPr>
            <p:extLst>
              <p:ext uri="{D42A27DB-BD31-4B8C-83A1-F6EECF244321}">
                <p14:modId xmlns:p14="http://schemas.microsoft.com/office/powerpoint/2010/main" val="2518355053"/>
              </p:ext>
            </p:extLst>
          </p:nvPr>
        </p:nvGraphicFramePr>
        <p:xfrm>
          <a:off x="479685" y="1476531"/>
          <a:ext cx="10867869" cy="4350376"/>
        </p:xfrm>
        <a:graphic>
          <a:graphicData uri="http://schemas.openxmlformats.org/drawingml/2006/table">
            <a:tbl>
              <a:tblPr firstRow="1" firstCol="1" lastRow="1" lastCol="1" bandRow="1" bandCol="1">
                <a:tableStyleId>{5C22544A-7EE6-4342-B048-85BDC9FD1C3A}</a:tableStyleId>
              </a:tblPr>
              <a:tblGrid>
                <a:gridCol w="5843685">
                  <a:extLst>
                    <a:ext uri="{9D8B030D-6E8A-4147-A177-3AD203B41FA5}">
                      <a16:colId xmlns:a16="http://schemas.microsoft.com/office/drawing/2014/main" xmlns="" val="1510970204"/>
                    </a:ext>
                  </a:extLst>
                </a:gridCol>
                <a:gridCol w="5024184">
                  <a:extLst>
                    <a:ext uri="{9D8B030D-6E8A-4147-A177-3AD203B41FA5}">
                      <a16:colId xmlns:a16="http://schemas.microsoft.com/office/drawing/2014/main" xmlns="" val="2902215228"/>
                    </a:ext>
                  </a:extLst>
                </a:gridCol>
              </a:tblGrid>
              <a:tr h="770633">
                <a:tc>
                  <a:txBody>
                    <a:bodyPr/>
                    <a:lstStyle/>
                    <a:p>
                      <a:pPr marL="67945">
                        <a:lnSpc>
                          <a:spcPct val="107000"/>
                        </a:lnSpc>
                        <a:spcBef>
                          <a:spcPts val="5"/>
                        </a:spcBef>
                        <a:spcAft>
                          <a:spcPts val="0"/>
                        </a:spcAft>
                      </a:pPr>
                      <a:r>
                        <a:rPr lang="en-US" sz="2400" u="sng" dirty="0">
                          <a:solidFill>
                            <a:schemeClr val="bg1"/>
                          </a:solidFill>
                          <a:effectLst/>
                        </a:rPr>
                        <a:t>Linear</a:t>
                      </a:r>
                      <a:r>
                        <a:rPr lang="en-US" sz="2400" u="sng" spc="-10" dirty="0">
                          <a:solidFill>
                            <a:schemeClr val="bg1"/>
                          </a:solidFill>
                          <a:effectLst/>
                        </a:rPr>
                        <a:t> </a:t>
                      </a:r>
                      <a:r>
                        <a:rPr lang="en-US" sz="2400" u="sng" dirty="0">
                          <a:solidFill>
                            <a:schemeClr val="bg1"/>
                          </a:solidFill>
                          <a:effectLst/>
                        </a:rPr>
                        <a:t>Data</a:t>
                      </a:r>
                      <a:r>
                        <a:rPr lang="en-US" sz="2400" u="sng" spc="-15" dirty="0">
                          <a:solidFill>
                            <a:schemeClr val="bg1"/>
                          </a:solidFill>
                          <a:effectLst/>
                        </a:rPr>
                        <a:t> </a:t>
                      </a:r>
                      <a:r>
                        <a:rPr lang="en-US" sz="2400" u="sng" dirty="0">
                          <a:solidFill>
                            <a:schemeClr val="bg1"/>
                          </a:solidFill>
                          <a:effectLst/>
                        </a:rPr>
                        <a:t>Structure</a:t>
                      </a:r>
                      <a:endParaRPr lang="en-IN" sz="2000" u="sng" dirty="0">
                        <a:solidFill>
                          <a:schemeClr val="bg1"/>
                        </a:solidFill>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tc>
                  <a:txBody>
                    <a:bodyPr/>
                    <a:lstStyle/>
                    <a:p>
                      <a:pPr marL="67945">
                        <a:lnSpc>
                          <a:spcPct val="107000"/>
                        </a:lnSpc>
                        <a:spcBef>
                          <a:spcPts val="5"/>
                        </a:spcBef>
                        <a:spcAft>
                          <a:spcPts val="0"/>
                        </a:spcAft>
                      </a:pPr>
                      <a:r>
                        <a:rPr lang="en-US" sz="2400" u="sng" dirty="0">
                          <a:solidFill>
                            <a:schemeClr val="bg1"/>
                          </a:solidFill>
                          <a:effectLst/>
                        </a:rPr>
                        <a:t>Non-Linear</a:t>
                      </a:r>
                      <a:r>
                        <a:rPr lang="en-US" sz="2400" u="sng" spc="-15" dirty="0">
                          <a:solidFill>
                            <a:schemeClr val="bg1"/>
                          </a:solidFill>
                          <a:effectLst/>
                        </a:rPr>
                        <a:t> </a:t>
                      </a:r>
                      <a:r>
                        <a:rPr lang="en-US" sz="2400" u="sng" dirty="0">
                          <a:solidFill>
                            <a:schemeClr val="bg1"/>
                          </a:solidFill>
                          <a:effectLst/>
                        </a:rPr>
                        <a:t>Data</a:t>
                      </a:r>
                      <a:r>
                        <a:rPr lang="en-US" sz="2400" u="sng" spc="-15" dirty="0">
                          <a:solidFill>
                            <a:schemeClr val="bg1"/>
                          </a:solidFill>
                          <a:effectLst/>
                        </a:rPr>
                        <a:t> </a:t>
                      </a:r>
                      <a:r>
                        <a:rPr lang="en-US" sz="2400" u="sng" dirty="0">
                          <a:solidFill>
                            <a:schemeClr val="bg1"/>
                          </a:solidFill>
                          <a:effectLst/>
                        </a:rPr>
                        <a:t>Structure</a:t>
                      </a:r>
                      <a:endParaRPr lang="en-IN" sz="2000" u="sng" dirty="0">
                        <a:solidFill>
                          <a:schemeClr val="bg1"/>
                        </a:solidFill>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extLst>
                  <a:ext uri="{0D108BD9-81ED-4DB2-BD59-A6C34878D82A}">
                    <a16:rowId xmlns:a16="http://schemas.microsoft.com/office/drawing/2014/main" xmlns="" val="1417384386"/>
                  </a:ext>
                </a:extLst>
              </a:tr>
              <a:tr h="764482">
                <a:tc>
                  <a:txBody>
                    <a:bodyPr/>
                    <a:lstStyle/>
                    <a:p>
                      <a:pPr marL="67945">
                        <a:lnSpc>
                          <a:spcPct val="107000"/>
                        </a:lnSpc>
                        <a:spcBef>
                          <a:spcPts val="5"/>
                        </a:spcBef>
                        <a:spcAft>
                          <a:spcPts val="0"/>
                        </a:spcAft>
                      </a:pPr>
                      <a:r>
                        <a:rPr lang="en-US" sz="2400" dirty="0">
                          <a:effectLst/>
                        </a:rPr>
                        <a:t>Every</a:t>
                      </a:r>
                      <a:r>
                        <a:rPr lang="en-US" sz="2400" spc="-10" dirty="0">
                          <a:effectLst/>
                        </a:rPr>
                        <a:t> </a:t>
                      </a:r>
                      <a:r>
                        <a:rPr lang="en-US" sz="2400" dirty="0">
                          <a:effectLst/>
                        </a:rPr>
                        <a:t>item</a:t>
                      </a:r>
                      <a:r>
                        <a:rPr lang="en-US" sz="2400" spc="-15" dirty="0">
                          <a:effectLst/>
                        </a:rPr>
                        <a:t> </a:t>
                      </a:r>
                      <a:r>
                        <a:rPr lang="en-US" sz="2400" dirty="0">
                          <a:effectLst/>
                        </a:rPr>
                        <a:t>is</a:t>
                      </a:r>
                      <a:r>
                        <a:rPr lang="en-US" sz="2400" spc="-10" dirty="0">
                          <a:effectLst/>
                        </a:rPr>
                        <a:t> </a:t>
                      </a:r>
                      <a:r>
                        <a:rPr lang="en-US" sz="2400" dirty="0">
                          <a:effectLst/>
                        </a:rPr>
                        <a:t>related</a:t>
                      </a:r>
                      <a:r>
                        <a:rPr lang="en-US" sz="2400" spc="-10" dirty="0">
                          <a:effectLst/>
                        </a:rPr>
                        <a:t> </a:t>
                      </a:r>
                      <a:r>
                        <a:rPr lang="en-US" sz="2400" dirty="0">
                          <a:effectLst/>
                        </a:rPr>
                        <a:t>to</a:t>
                      </a:r>
                      <a:r>
                        <a:rPr lang="en-US" sz="2400" spc="-5" dirty="0">
                          <a:effectLst/>
                        </a:rPr>
                        <a:t> </a:t>
                      </a:r>
                      <a:r>
                        <a:rPr lang="en-US" sz="2400" dirty="0">
                          <a:effectLst/>
                        </a:rPr>
                        <a:t>its</a:t>
                      </a:r>
                      <a:r>
                        <a:rPr lang="en-US" sz="2400" spc="-5" dirty="0">
                          <a:effectLst/>
                        </a:rPr>
                        <a:t> </a:t>
                      </a:r>
                      <a:r>
                        <a:rPr lang="en-US" sz="2400" dirty="0">
                          <a:effectLst/>
                        </a:rPr>
                        <a:t>previous</a:t>
                      </a:r>
                      <a:r>
                        <a:rPr lang="en-US" sz="2400" spc="-10" dirty="0">
                          <a:effectLst/>
                        </a:rPr>
                        <a:t> </a:t>
                      </a:r>
                      <a:r>
                        <a:rPr lang="en-US" sz="2400" dirty="0">
                          <a:effectLst/>
                        </a:rPr>
                        <a:t>and</a:t>
                      </a:r>
                      <a:r>
                        <a:rPr lang="en-US" sz="2400" spc="-15" dirty="0">
                          <a:effectLst/>
                        </a:rPr>
                        <a:t> </a:t>
                      </a:r>
                      <a:r>
                        <a:rPr lang="en-US" sz="2400">
                          <a:effectLst/>
                        </a:rPr>
                        <a:t>next</a:t>
                      </a:r>
                      <a:r>
                        <a:rPr lang="en-US" sz="2400" spc="-15">
                          <a:effectLst/>
                        </a:rPr>
                        <a:t> </a:t>
                      </a:r>
                      <a:r>
                        <a:rPr lang="en-US" sz="2400" spc="0" smtClean="0">
                          <a:effectLst/>
                        </a:rPr>
                        <a:t>items</a:t>
                      </a:r>
                      <a:r>
                        <a:rPr lang="en-US" sz="2400" smtClean="0">
                          <a:effectLst/>
                        </a:rPr>
                        <a:t>.</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tc>
                  <a:txBody>
                    <a:bodyPr/>
                    <a:lstStyle/>
                    <a:p>
                      <a:pPr marL="67945">
                        <a:lnSpc>
                          <a:spcPct val="107000"/>
                        </a:lnSpc>
                        <a:spcBef>
                          <a:spcPts val="5"/>
                        </a:spcBef>
                        <a:spcAft>
                          <a:spcPts val="0"/>
                        </a:spcAft>
                      </a:pPr>
                      <a:r>
                        <a:rPr lang="en-US" sz="2400" dirty="0">
                          <a:effectLst/>
                        </a:rPr>
                        <a:t>Every</a:t>
                      </a:r>
                      <a:r>
                        <a:rPr lang="en-US" sz="2400" spc="-15" dirty="0">
                          <a:effectLst/>
                        </a:rPr>
                        <a:t> </a:t>
                      </a:r>
                      <a:r>
                        <a:rPr lang="en-US" sz="2400" dirty="0">
                          <a:effectLst/>
                        </a:rPr>
                        <a:t>item</a:t>
                      </a:r>
                      <a:r>
                        <a:rPr lang="en-US" sz="2400" spc="-15" dirty="0">
                          <a:effectLst/>
                        </a:rPr>
                        <a:t> </a:t>
                      </a:r>
                      <a:r>
                        <a:rPr lang="en-US" sz="2400" dirty="0">
                          <a:effectLst/>
                        </a:rPr>
                        <a:t>is</a:t>
                      </a:r>
                      <a:r>
                        <a:rPr lang="en-US" sz="2400" spc="-10" dirty="0">
                          <a:effectLst/>
                        </a:rPr>
                        <a:t> </a:t>
                      </a:r>
                      <a:r>
                        <a:rPr lang="en-US" sz="2400" dirty="0">
                          <a:effectLst/>
                        </a:rPr>
                        <a:t>attached</a:t>
                      </a:r>
                      <a:r>
                        <a:rPr lang="en-US" sz="2400" spc="-10" dirty="0">
                          <a:effectLst/>
                        </a:rPr>
                        <a:t> </a:t>
                      </a:r>
                      <a:r>
                        <a:rPr lang="en-US" sz="2400" dirty="0">
                          <a:effectLst/>
                        </a:rPr>
                        <a:t>with</a:t>
                      </a:r>
                      <a:r>
                        <a:rPr lang="en-US" sz="2400" spc="-10" dirty="0">
                          <a:effectLst/>
                        </a:rPr>
                        <a:t> </a:t>
                      </a:r>
                      <a:r>
                        <a:rPr lang="en-US" sz="2400" dirty="0">
                          <a:effectLst/>
                        </a:rPr>
                        <a:t>many</a:t>
                      </a:r>
                      <a:r>
                        <a:rPr lang="en-US" sz="2400" spc="-10" dirty="0">
                          <a:effectLst/>
                        </a:rPr>
                        <a:t> </a:t>
                      </a:r>
                      <a:r>
                        <a:rPr lang="en-US" sz="2400" dirty="0">
                          <a:effectLst/>
                        </a:rPr>
                        <a:t>other</a:t>
                      </a:r>
                      <a:r>
                        <a:rPr lang="en-US" sz="2400" spc="-5" dirty="0">
                          <a:effectLst/>
                        </a:rPr>
                        <a:t> </a:t>
                      </a:r>
                      <a:r>
                        <a:rPr lang="en-US" sz="2400" dirty="0">
                          <a:effectLst/>
                        </a:rPr>
                        <a:t>items.</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extLst>
                  <a:ext uri="{0D108BD9-81ED-4DB2-BD59-A6C34878D82A}">
                    <a16:rowId xmlns:a16="http://schemas.microsoft.com/office/drawing/2014/main" xmlns="" val="4285785357"/>
                  </a:ext>
                </a:extLst>
              </a:tr>
              <a:tr h="682790">
                <a:tc>
                  <a:txBody>
                    <a:bodyPr/>
                    <a:lstStyle/>
                    <a:p>
                      <a:pPr marL="67945">
                        <a:lnSpc>
                          <a:spcPct val="107000"/>
                        </a:lnSpc>
                        <a:spcBef>
                          <a:spcPts val="5"/>
                        </a:spcBef>
                        <a:spcAft>
                          <a:spcPts val="0"/>
                        </a:spcAft>
                      </a:pPr>
                      <a:r>
                        <a:rPr lang="en-US" sz="2400">
                          <a:effectLst/>
                        </a:rPr>
                        <a:t>Data</a:t>
                      </a:r>
                      <a:r>
                        <a:rPr lang="en-US" sz="2400" spc="-15">
                          <a:effectLst/>
                        </a:rPr>
                        <a:t> </a:t>
                      </a:r>
                      <a:r>
                        <a:rPr lang="en-US" sz="2400">
                          <a:effectLst/>
                        </a:rPr>
                        <a:t>is</a:t>
                      </a:r>
                      <a:r>
                        <a:rPr lang="en-US" sz="2400" spc="-5">
                          <a:effectLst/>
                        </a:rPr>
                        <a:t> </a:t>
                      </a:r>
                      <a:r>
                        <a:rPr lang="en-US" sz="2400">
                          <a:effectLst/>
                        </a:rPr>
                        <a:t>arranged</a:t>
                      </a:r>
                      <a:r>
                        <a:rPr lang="en-US" sz="2400" spc="-10">
                          <a:effectLst/>
                        </a:rPr>
                        <a:t> </a:t>
                      </a:r>
                      <a:r>
                        <a:rPr lang="en-US" sz="2400">
                          <a:effectLst/>
                        </a:rPr>
                        <a:t>in</a:t>
                      </a:r>
                      <a:r>
                        <a:rPr lang="en-US" sz="2400" spc="-10">
                          <a:effectLst/>
                        </a:rPr>
                        <a:t> </a:t>
                      </a:r>
                      <a:r>
                        <a:rPr lang="en-US" sz="2400">
                          <a:effectLst/>
                        </a:rPr>
                        <a:t>linear</a:t>
                      </a:r>
                      <a:r>
                        <a:rPr lang="en-US" sz="2400" spc="-15">
                          <a:effectLst/>
                        </a:rPr>
                        <a:t> </a:t>
                      </a:r>
                      <a:r>
                        <a:rPr lang="en-US" sz="2400">
                          <a:effectLst/>
                        </a:rPr>
                        <a:t>sequence.</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tc>
                  <a:txBody>
                    <a:bodyPr/>
                    <a:lstStyle/>
                    <a:p>
                      <a:pPr marL="67945">
                        <a:lnSpc>
                          <a:spcPct val="107000"/>
                        </a:lnSpc>
                        <a:spcBef>
                          <a:spcPts val="5"/>
                        </a:spcBef>
                        <a:spcAft>
                          <a:spcPts val="0"/>
                        </a:spcAft>
                      </a:pPr>
                      <a:r>
                        <a:rPr lang="en-US" sz="2400" dirty="0">
                          <a:effectLst/>
                        </a:rPr>
                        <a:t>Data</a:t>
                      </a:r>
                      <a:r>
                        <a:rPr lang="en-US" sz="2400" spc="-20" dirty="0">
                          <a:effectLst/>
                        </a:rPr>
                        <a:t> </a:t>
                      </a:r>
                      <a:r>
                        <a:rPr lang="en-US" sz="2400" dirty="0">
                          <a:effectLst/>
                        </a:rPr>
                        <a:t>is</a:t>
                      </a:r>
                      <a:r>
                        <a:rPr lang="en-US" sz="2400" spc="-10" dirty="0">
                          <a:effectLst/>
                        </a:rPr>
                        <a:t> </a:t>
                      </a:r>
                      <a:r>
                        <a:rPr lang="en-US" sz="2400" dirty="0">
                          <a:effectLst/>
                        </a:rPr>
                        <a:t>not</a:t>
                      </a:r>
                      <a:r>
                        <a:rPr lang="en-US" sz="2400" spc="-15" dirty="0">
                          <a:effectLst/>
                        </a:rPr>
                        <a:t> </a:t>
                      </a:r>
                      <a:r>
                        <a:rPr lang="en-US" sz="2400" dirty="0">
                          <a:effectLst/>
                        </a:rPr>
                        <a:t>arranged in</a:t>
                      </a:r>
                      <a:r>
                        <a:rPr lang="en-US" sz="2400" spc="-5" dirty="0">
                          <a:effectLst/>
                        </a:rPr>
                        <a:t> </a:t>
                      </a:r>
                      <a:r>
                        <a:rPr lang="en-US" sz="2400" dirty="0">
                          <a:effectLst/>
                        </a:rPr>
                        <a:t>sequence.</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extLst>
                  <a:ext uri="{0D108BD9-81ED-4DB2-BD59-A6C34878D82A}">
                    <a16:rowId xmlns:a16="http://schemas.microsoft.com/office/drawing/2014/main" xmlns="" val="2690498310"/>
                  </a:ext>
                </a:extLst>
              </a:tr>
              <a:tr h="698761">
                <a:tc>
                  <a:txBody>
                    <a:bodyPr/>
                    <a:lstStyle/>
                    <a:p>
                      <a:pPr marL="67945">
                        <a:lnSpc>
                          <a:spcPts val="1460"/>
                        </a:lnSpc>
                      </a:pPr>
                      <a:endParaRPr lang="en-US" sz="2400" dirty="0">
                        <a:effectLst/>
                      </a:endParaRPr>
                    </a:p>
                    <a:p>
                      <a:pPr marL="67945">
                        <a:lnSpc>
                          <a:spcPts val="1460"/>
                        </a:lnSpc>
                      </a:pPr>
                      <a:r>
                        <a:rPr lang="en-US" sz="2400" dirty="0">
                          <a:effectLst/>
                        </a:rPr>
                        <a:t>Data</a:t>
                      </a:r>
                      <a:r>
                        <a:rPr lang="en-US" sz="2400" spc="-20" dirty="0">
                          <a:effectLst/>
                        </a:rPr>
                        <a:t> </a:t>
                      </a:r>
                      <a:r>
                        <a:rPr lang="en-US" sz="2400" dirty="0">
                          <a:effectLst/>
                        </a:rPr>
                        <a:t>items</a:t>
                      </a:r>
                      <a:r>
                        <a:rPr lang="en-US" sz="2400" spc="-15" dirty="0">
                          <a:effectLst/>
                        </a:rPr>
                        <a:t> </a:t>
                      </a:r>
                      <a:r>
                        <a:rPr lang="en-US" sz="2400" dirty="0">
                          <a:effectLst/>
                        </a:rPr>
                        <a:t>can</a:t>
                      </a:r>
                      <a:r>
                        <a:rPr lang="en-US" sz="2400" spc="-10" dirty="0">
                          <a:effectLst/>
                        </a:rPr>
                        <a:t> </a:t>
                      </a:r>
                      <a:r>
                        <a:rPr lang="en-US" sz="2400" dirty="0">
                          <a:effectLst/>
                        </a:rPr>
                        <a:t>be</a:t>
                      </a:r>
                      <a:r>
                        <a:rPr lang="en-US" sz="2400" spc="-10" dirty="0">
                          <a:effectLst/>
                        </a:rPr>
                        <a:t> </a:t>
                      </a:r>
                      <a:r>
                        <a:rPr lang="en-US" sz="2400" dirty="0">
                          <a:effectLst/>
                        </a:rPr>
                        <a:t>traversed in</a:t>
                      </a:r>
                      <a:r>
                        <a:rPr lang="en-US" sz="2400" spc="-10" dirty="0">
                          <a:effectLst/>
                        </a:rPr>
                        <a:t> </a:t>
                      </a:r>
                      <a:r>
                        <a:rPr lang="en-US" sz="2400" dirty="0">
                          <a:effectLst/>
                        </a:rPr>
                        <a:t>a</a:t>
                      </a:r>
                      <a:r>
                        <a:rPr lang="en-US" sz="2400" spc="-5" dirty="0">
                          <a:effectLst/>
                        </a:rPr>
                        <a:t> </a:t>
                      </a:r>
                      <a:r>
                        <a:rPr lang="en-US" sz="2400" dirty="0">
                          <a:effectLst/>
                        </a:rPr>
                        <a:t>single run.</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tc>
                  <a:txBody>
                    <a:bodyPr/>
                    <a:lstStyle/>
                    <a:p>
                      <a:pPr marL="67945">
                        <a:lnSpc>
                          <a:spcPts val="1460"/>
                        </a:lnSpc>
                      </a:pPr>
                      <a:endParaRPr lang="en-US" sz="2400" dirty="0">
                        <a:effectLst/>
                      </a:endParaRPr>
                    </a:p>
                    <a:p>
                      <a:pPr marL="67945">
                        <a:lnSpc>
                          <a:spcPts val="1460"/>
                        </a:lnSpc>
                      </a:pPr>
                      <a:r>
                        <a:rPr lang="en-US" sz="2400" dirty="0">
                          <a:effectLst/>
                        </a:rPr>
                        <a:t>Data</a:t>
                      </a:r>
                      <a:r>
                        <a:rPr lang="en-US" sz="2400" spc="-20" dirty="0">
                          <a:effectLst/>
                        </a:rPr>
                        <a:t> </a:t>
                      </a:r>
                      <a:r>
                        <a:rPr lang="en-US" sz="2400" dirty="0">
                          <a:effectLst/>
                        </a:rPr>
                        <a:t>cannot</a:t>
                      </a:r>
                      <a:r>
                        <a:rPr lang="en-US" sz="2400" spc="-10" dirty="0">
                          <a:effectLst/>
                        </a:rPr>
                        <a:t> </a:t>
                      </a:r>
                      <a:r>
                        <a:rPr lang="en-US" sz="2400" dirty="0">
                          <a:effectLst/>
                        </a:rPr>
                        <a:t>be</a:t>
                      </a:r>
                      <a:r>
                        <a:rPr lang="en-US" sz="2400" spc="-20" dirty="0">
                          <a:effectLst/>
                        </a:rPr>
                        <a:t> </a:t>
                      </a:r>
                      <a:r>
                        <a:rPr lang="en-US" sz="2400" dirty="0">
                          <a:effectLst/>
                        </a:rPr>
                        <a:t>traversed</a:t>
                      </a:r>
                      <a:r>
                        <a:rPr lang="en-US" sz="2400" spc="-5" dirty="0">
                          <a:effectLst/>
                        </a:rPr>
                        <a:t> </a:t>
                      </a:r>
                      <a:r>
                        <a:rPr lang="en-US" sz="2400" dirty="0">
                          <a:effectLst/>
                        </a:rPr>
                        <a:t>in</a:t>
                      </a:r>
                      <a:r>
                        <a:rPr lang="en-US" sz="2400" spc="-10" dirty="0">
                          <a:effectLst/>
                        </a:rPr>
                        <a:t> </a:t>
                      </a:r>
                      <a:r>
                        <a:rPr lang="en-US" sz="2400" dirty="0">
                          <a:effectLst/>
                        </a:rPr>
                        <a:t>a</a:t>
                      </a:r>
                      <a:r>
                        <a:rPr lang="en-US" sz="2400" spc="-10" dirty="0">
                          <a:effectLst/>
                        </a:rPr>
                        <a:t> </a:t>
                      </a:r>
                      <a:r>
                        <a:rPr lang="en-US" sz="2400" dirty="0">
                          <a:effectLst/>
                        </a:rPr>
                        <a:t>single run.</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extLst>
                  <a:ext uri="{0D108BD9-81ED-4DB2-BD59-A6C34878D82A}">
                    <a16:rowId xmlns:a16="http://schemas.microsoft.com/office/drawing/2014/main" xmlns="" val="814370664"/>
                  </a:ext>
                </a:extLst>
              </a:tr>
              <a:tr h="712737">
                <a:tc>
                  <a:txBody>
                    <a:bodyPr/>
                    <a:lstStyle/>
                    <a:p>
                      <a:pPr marL="67945">
                        <a:lnSpc>
                          <a:spcPts val="1460"/>
                        </a:lnSpc>
                      </a:pPr>
                      <a:endParaRPr lang="en-US" sz="2400" dirty="0">
                        <a:effectLst/>
                      </a:endParaRPr>
                    </a:p>
                    <a:p>
                      <a:pPr marL="67945">
                        <a:lnSpc>
                          <a:spcPts val="1460"/>
                        </a:lnSpc>
                      </a:pPr>
                      <a:r>
                        <a:rPr lang="en-US" sz="2400" dirty="0" err="1">
                          <a:effectLst/>
                        </a:rPr>
                        <a:t>Eg.</a:t>
                      </a:r>
                      <a:r>
                        <a:rPr lang="en-US" sz="2400" spc="-15" dirty="0">
                          <a:effectLst/>
                        </a:rPr>
                        <a:t> </a:t>
                      </a:r>
                      <a:r>
                        <a:rPr lang="en-US" sz="2400" dirty="0">
                          <a:effectLst/>
                        </a:rPr>
                        <a:t>Array,</a:t>
                      </a:r>
                      <a:r>
                        <a:rPr lang="en-US" sz="2400" spc="-5" dirty="0">
                          <a:effectLst/>
                        </a:rPr>
                        <a:t> </a:t>
                      </a:r>
                      <a:r>
                        <a:rPr lang="en-US" sz="2400" dirty="0">
                          <a:effectLst/>
                        </a:rPr>
                        <a:t>Stacks,</a:t>
                      </a:r>
                      <a:r>
                        <a:rPr lang="en-US" sz="2400" spc="-15" dirty="0">
                          <a:effectLst/>
                        </a:rPr>
                        <a:t> </a:t>
                      </a:r>
                      <a:r>
                        <a:rPr lang="en-US" sz="2400" dirty="0">
                          <a:effectLst/>
                        </a:rPr>
                        <a:t>linked</a:t>
                      </a:r>
                      <a:r>
                        <a:rPr lang="en-US" sz="2400" spc="-5" dirty="0">
                          <a:effectLst/>
                        </a:rPr>
                        <a:t> </a:t>
                      </a:r>
                      <a:r>
                        <a:rPr lang="en-US" sz="2400" dirty="0">
                          <a:effectLst/>
                        </a:rPr>
                        <a:t>list,</a:t>
                      </a:r>
                      <a:r>
                        <a:rPr lang="en-US" sz="2400" spc="-10" dirty="0">
                          <a:effectLst/>
                        </a:rPr>
                        <a:t> </a:t>
                      </a:r>
                      <a:r>
                        <a:rPr lang="en-US" sz="2400" dirty="0">
                          <a:effectLst/>
                        </a:rPr>
                        <a:t>queue.</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tc>
                  <a:txBody>
                    <a:bodyPr/>
                    <a:lstStyle/>
                    <a:p>
                      <a:pPr marL="67945">
                        <a:lnSpc>
                          <a:spcPts val="1460"/>
                        </a:lnSpc>
                      </a:pPr>
                      <a:endParaRPr lang="en-US" sz="2400" dirty="0">
                        <a:effectLst/>
                      </a:endParaRPr>
                    </a:p>
                    <a:p>
                      <a:pPr marL="67945">
                        <a:lnSpc>
                          <a:spcPts val="1460"/>
                        </a:lnSpc>
                      </a:pPr>
                      <a:r>
                        <a:rPr lang="en-US" sz="2400" dirty="0" err="1">
                          <a:effectLst/>
                        </a:rPr>
                        <a:t>Eg.</a:t>
                      </a:r>
                      <a:r>
                        <a:rPr lang="en-US" sz="2400" spc="-5" dirty="0">
                          <a:effectLst/>
                        </a:rPr>
                        <a:t> </a:t>
                      </a:r>
                      <a:r>
                        <a:rPr lang="en-US" sz="2400" dirty="0">
                          <a:effectLst/>
                        </a:rPr>
                        <a:t>tree,</a:t>
                      </a:r>
                      <a:r>
                        <a:rPr lang="en-US" sz="2400" spc="-15" dirty="0">
                          <a:effectLst/>
                        </a:rPr>
                        <a:t> </a:t>
                      </a:r>
                      <a:r>
                        <a:rPr lang="en-US" sz="2400" dirty="0">
                          <a:effectLst/>
                        </a:rPr>
                        <a:t>graph.</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extLst>
                  <a:ext uri="{0D108BD9-81ED-4DB2-BD59-A6C34878D82A}">
                    <a16:rowId xmlns:a16="http://schemas.microsoft.com/office/drawing/2014/main" xmlns="" val="2378626776"/>
                  </a:ext>
                </a:extLst>
              </a:tr>
              <a:tr h="702754">
                <a:tc>
                  <a:txBody>
                    <a:bodyPr/>
                    <a:lstStyle/>
                    <a:p>
                      <a:pPr marL="67945">
                        <a:lnSpc>
                          <a:spcPct val="107000"/>
                        </a:lnSpc>
                        <a:spcBef>
                          <a:spcPts val="10"/>
                        </a:spcBef>
                        <a:spcAft>
                          <a:spcPts val="0"/>
                        </a:spcAft>
                      </a:pPr>
                      <a:r>
                        <a:rPr lang="en-US" sz="2400">
                          <a:effectLst/>
                        </a:rPr>
                        <a:t>Implementation</a:t>
                      </a:r>
                      <a:r>
                        <a:rPr lang="en-US" sz="2400" spc="-10">
                          <a:effectLst/>
                        </a:rPr>
                        <a:t> </a:t>
                      </a:r>
                      <a:r>
                        <a:rPr lang="en-US" sz="2400">
                          <a:effectLst/>
                        </a:rPr>
                        <a:t>is</a:t>
                      </a:r>
                      <a:r>
                        <a:rPr lang="en-US" sz="2400" spc="-5">
                          <a:effectLst/>
                        </a:rPr>
                        <a:t> </a:t>
                      </a:r>
                      <a:r>
                        <a:rPr lang="en-US" sz="2400">
                          <a:effectLst/>
                        </a:rPr>
                        <a:t>easy.</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tc>
                  <a:txBody>
                    <a:bodyPr/>
                    <a:lstStyle/>
                    <a:p>
                      <a:pPr marL="67945">
                        <a:lnSpc>
                          <a:spcPct val="107000"/>
                        </a:lnSpc>
                        <a:spcBef>
                          <a:spcPts val="10"/>
                        </a:spcBef>
                        <a:spcAft>
                          <a:spcPts val="0"/>
                        </a:spcAft>
                      </a:pPr>
                      <a:r>
                        <a:rPr lang="en-US" sz="2400" dirty="0">
                          <a:effectLst/>
                        </a:rPr>
                        <a:t>Implementation</a:t>
                      </a:r>
                      <a:r>
                        <a:rPr lang="en-US" sz="2400" spc="-15" dirty="0">
                          <a:effectLst/>
                        </a:rPr>
                        <a:t> </a:t>
                      </a:r>
                      <a:r>
                        <a:rPr lang="en-US" sz="2400" dirty="0">
                          <a:effectLst/>
                        </a:rPr>
                        <a:t>is</a:t>
                      </a:r>
                      <a:r>
                        <a:rPr lang="en-US" sz="2400" spc="-15" dirty="0">
                          <a:effectLst/>
                        </a:rPr>
                        <a:t> </a:t>
                      </a:r>
                      <a:r>
                        <a:rPr lang="en-US" sz="2400" dirty="0">
                          <a:effectLst/>
                        </a:rPr>
                        <a:t>difficult.</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0" marR="0" marT="0" marB="0">
                    <a:solidFill>
                      <a:schemeClr val="tx2"/>
                    </a:solidFill>
                  </a:tcPr>
                </a:tc>
                <a:extLst>
                  <a:ext uri="{0D108BD9-81ED-4DB2-BD59-A6C34878D82A}">
                    <a16:rowId xmlns:a16="http://schemas.microsoft.com/office/drawing/2014/main" xmlns="" val="1739234640"/>
                  </a:ext>
                </a:extLst>
              </a:tr>
            </a:tbl>
          </a:graphicData>
        </a:graphic>
      </p:graphicFrame>
    </p:spTree>
    <p:extLst>
      <p:ext uri="{BB962C8B-B14F-4D97-AF65-F5344CB8AC3E}">
        <p14:creationId xmlns:p14="http://schemas.microsoft.com/office/powerpoint/2010/main" val="3536275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40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Operation</a:t>
            </a:r>
            <a:r>
              <a:rPr lang="en-US" sz="4000" b="1" spc="-25"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0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on</a:t>
            </a:r>
            <a:r>
              <a:rPr lang="en-US" sz="4000" b="1" spc="-20"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0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Data</a:t>
            </a:r>
            <a:r>
              <a:rPr lang="en-US" sz="4000" b="1" spc="-20"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0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Structures</a:t>
            </a:r>
            <a:endParaRPr lang="en-IN" sz="80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Autofit/>
          </a:bodyPr>
          <a:lstStyle/>
          <a:p>
            <a:r>
              <a:rPr lang="en-US" dirty="0">
                <a:effectLst/>
                <a:latin typeface="Times New Roman" panose="02020603050405020304" pitchFamily="18" charset="0"/>
                <a:ea typeface="Calibri" panose="020F0502020204030204" pitchFamily="34" charset="0"/>
                <a:cs typeface="Times New Roman" panose="02020603050405020304" pitchFamily="18" charset="0"/>
              </a:rPr>
              <a:t>Design of efficient data structure must take operations to be performed on the data structures into account. The</a:t>
            </a:r>
            <a:r>
              <a:rPr lang="en-US"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most commonly used</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operations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on</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are broadly categorized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into</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following</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types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07000"/>
              </a:lnSpc>
              <a:spcBef>
                <a:spcPts val="980"/>
              </a:spcBef>
              <a:spcAft>
                <a:spcPts val="0"/>
              </a:spcAft>
              <a:buSzPts val="1100"/>
              <a:buNone/>
              <a:tabLst>
                <a:tab pos="334010" algn="l"/>
              </a:tabLst>
            </a:pPr>
            <a:r>
              <a:rPr lang="en-US" b="1" dirty="0">
                <a:solidFill>
                  <a:srgbClr val="2E74B5"/>
                </a:solidFill>
                <a:latin typeface="Times New Roman" panose="02020603050405020304" pitchFamily="18" charset="0"/>
                <a:ea typeface="Calibri" panose="020F0502020204030204" pitchFamily="34" charset="0"/>
                <a:cs typeface="Times New Roman" panose="02020603050405020304" pitchFamily="18" charset="0"/>
              </a:rPr>
              <a:t>1) </a:t>
            </a:r>
            <a:r>
              <a:rPr lang="en-US"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Create</a:t>
            </a:r>
            <a:endParaRPr lang="en-IN"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marR="428625" algn="just">
              <a:spcAft>
                <a:spcPts val="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create operation results in reserving memory for program elements. This can be done by declaration</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statement. Creation of data structure may take place either during compile-time or run-time. malloc()</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function</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 C language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is used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for</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creation.</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25"/>
              </a:spcBef>
              <a:buNone/>
            </a:pPr>
            <a:r>
              <a:rPr lang="en-US" dirty="0">
                <a:latin typeface="Times New Roman" panose="02020603050405020304" pitchFamily="18" charset="0"/>
                <a:ea typeface="Calibri" panose="020F0502020204030204" pitchFamily="34" charset="0"/>
                <a:cs typeface="Times New Roman" panose="02020603050405020304" pitchFamily="18" charset="0"/>
              </a:rPr>
              <a:t>2) </a:t>
            </a:r>
            <a:r>
              <a:rPr lang="en-US"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Destroy</a:t>
            </a:r>
            <a:endParaRPr lang="en-IN"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marR="431165" algn="just">
              <a:lnSpc>
                <a:spcPct val="100000"/>
              </a:lnSpc>
              <a:spcAft>
                <a:spcPts val="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Destroy</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operation</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destroys</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memory</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space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allocated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for</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specified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free()</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function</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language is used</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to</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destroy</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 structure.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2362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Operation</a:t>
            </a:r>
            <a:r>
              <a:rPr lang="en-US" sz="4400" b="1" spc="-25"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on</a:t>
            </a:r>
            <a:r>
              <a:rPr lang="en-US" sz="4400" b="1" spc="-20"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Data</a:t>
            </a:r>
            <a:r>
              <a:rPr lang="en-US" sz="4400" b="1" spc="-20"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Structures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lvl="0" indent="0">
              <a:lnSpc>
                <a:spcPct val="107000"/>
              </a:lnSpc>
              <a:spcBef>
                <a:spcPts val="975"/>
              </a:spcBef>
              <a:spcAft>
                <a:spcPts val="0"/>
              </a:spcAft>
              <a:buSzPts val="1100"/>
              <a:buNone/>
              <a:tabLst>
                <a:tab pos="333375" algn="l"/>
                <a:tab pos="334010" algn="l"/>
              </a:tabLst>
            </a:pPr>
            <a:r>
              <a:rPr lang="en-US"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3) Selection</a:t>
            </a:r>
            <a:endParaRPr lang="en-IN"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algn="just">
              <a:spcBef>
                <a:spcPts val="10"/>
              </a:spcBef>
              <a:spcAft>
                <a:spcPts val="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Selection</a:t>
            </a:r>
            <a:r>
              <a:rPr lang="en-US"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operation</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deals</a:t>
            </a:r>
            <a:r>
              <a:rPr lang="en-US"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with accessing</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particular</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 within</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 structure.</a:t>
            </a:r>
          </a:p>
          <a:p>
            <a:pPr marL="0" lvl="0" indent="0">
              <a:lnSpc>
                <a:spcPct val="107000"/>
              </a:lnSpc>
              <a:spcBef>
                <a:spcPts val="280"/>
              </a:spcBef>
              <a:spcAft>
                <a:spcPts val="0"/>
              </a:spcAft>
              <a:buSzPts val="1100"/>
              <a:buNone/>
              <a:tabLst>
                <a:tab pos="333375" algn="l"/>
                <a:tab pos="334010" algn="l"/>
              </a:tabLst>
            </a:pPr>
            <a:r>
              <a:rPr lang="en-US"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4) </a:t>
            </a:r>
            <a:r>
              <a:rPr lang="en-US" b="1" dirty="0" err="1">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Updation</a:t>
            </a:r>
            <a:endParaRPr lang="en-IN"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a:spcBef>
                <a:spcPts val="15"/>
              </a:spcBef>
              <a:spcAft>
                <a:spcPts val="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It</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updates</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or</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modifies the</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 in</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data</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structure.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Bef>
                <a:spcPts val="985"/>
              </a:spcBef>
              <a:spcAft>
                <a:spcPts val="0"/>
              </a:spcAft>
              <a:buSzPts val="1100"/>
              <a:buNone/>
              <a:tabLst>
                <a:tab pos="333375" algn="l"/>
                <a:tab pos="334010" algn="l"/>
              </a:tabLst>
            </a:pPr>
            <a:r>
              <a:rPr lang="en-US"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5) Searching</a:t>
            </a:r>
            <a:endParaRPr lang="en-IN"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a:lnSpc>
                <a:spcPct val="100000"/>
              </a:lnSpc>
            </a:pPr>
            <a:r>
              <a:rPr lang="en-US" dirty="0">
                <a:effectLst/>
                <a:latin typeface="Times New Roman" panose="02020603050405020304" pitchFamily="18" charset="0"/>
                <a:ea typeface="Calibri" panose="020F0502020204030204" pitchFamily="34" charset="0"/>
                <a:cs typeface="Times New Roman" panose="02020603050405020304" pitchFamily="18" charset="0"/>
              </a:rPr>
              <a:t>It</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finds</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presence</a:t>
            </a:r>
            <a:r>
              <a:rPr lang="en-US" spc="1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desired</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item</a:t>
            </a:r>
            <a:r>
              <a:rPr lang="en-US" spc="1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pc="1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pc="1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list</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17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items,</a:t>
            </a:r>
            <a:r>
              <a:rPr lang="en-US" spc="1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it</a:t>
            </a:r>
            <a:r>
              <a:rPr lang="en-US" spc="1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may</a:t>
            </a:r>
            <a:r>
              <a:rPr lang="en-US" spc="1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also</a:t>
            </a:r>
            <a:r>
              <a:rPr lang="en-US" spc="17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find</a:t>
            </a:r>
            <a:r>
              <a:rPr lang="en-US" spc="1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locations</a:t>
            </a:r>
            <a:r>
              <a:rPr lang="en-US" spc="1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all</a:t>
            </a:r>
            <a:r>
              <a:rPr lang="en-US"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elements</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that satisfy</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certain</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conditions.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04775" indent="0" algn="just">
              <a:spcBef>
                <a:spcPts val="10"/>
              </a:spcBef>
              <a:spcAft>
                <a:spcPts val="0"/>
              </a:spcAft>
              <a:buNone/>
            </a:pP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4845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Operation</a:t>
            </a:r>
            <a:r>
              <a:rPr lang="en-US" sz="4400" b="1" spc="-25"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on</a:t>
            </a:r>
            <a:r>
              <a:rPr lang="en-US" sz="4400" b="1" spc="-20"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Data</a:t>
            </a:r>
            <a:r>
              <a:rPr lang="en-US" sz="4400" b="1" spc="-20" dirty="0">
                <a:solidFill>
                  <a:srgbClr val="FF0000"/>
                </a:solidFill>
                <a:effectLst/>
                <a:latin typeface="Cambria" panose="02040503050406030204" pitchFamily="18" charset="0"/>
                <a:ea typeface="Calibri" panose="020F0502020204030204" pitchFamily="34" charset="0"/>
                <a:cs typeface="Shruti" panose="020B0502040204020203" pitchFamily="34" charset="0"/>
              </a:rPr>
              <a:t> </a:t>
            </a:r>
            <a:r>
              <a:rPr lang="en-US" sz="4400" b="1" dirty="0">
                <a:solidFill>
                  <a:srgbClr val="FF0000"/>
                </a:solidFill>
                <a:effectLst/>
                <a:latin typeface="Cambria" panose="02040503050406030204" pitchFamily="18" charset="0"/>
                <a:ea typeface="Calibri" panose="020F0502020204030204" pitchFamily="34" charset="0"/>
                <a:cs typeface="Shruti" panose="020B0502040204020203" pitchFamily="34" charset="0"/>
              </a:rPr>
              <a:t>Structures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lvl="0" indent="0">
              <a:lnSpc>
                <a:spcPct val="107000"/>
              </a:lnSpc>
              <a:spcBef>
                <a:spcPts val="975"/>
              </a:spcBef>
              <a:spcAft>
                <a:spcPts val="0"/>
              </a:spcAft>
              <a:buSzPts val="1100"/>
              <a:buNone/>
              <a:tabLst>
                <a:tab pos="333375" algn="l"/>
                <a:tab pos="334010" algn="l"/>
              </a:tabLst>
            </a:pPr>
            <a:r>
              <a:rPr lang="en-US" sz="2400" b="1" dirty="0">
                <a:solidFill>
                  <a:srgbClr val="2E74B5"/>
                </a:solidFill>
                <a:latin typeface="Times New Roman" panose="02020603050405020304" pitchFamily="18" charset="0"/>
                <a:ea typeface="Calibri" panose="020F0502020204030204" pitchFamily="34" charset="0"/>
                <a:cs typeface="Times New Roman" panose="02020603050405020304" pitchFamily="18" charset="0"/>
              </a:rPr>
              <a:t>6) </a:t>
            </a:r>
            <a:r>
              <a:rPr lang="en-US"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Sorting</a:t>
            </a:r>
            <a:endParaRPr lang="en-IN"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marR="357505">
              <a:lnSpc>
                <a:spcPct val="100000"/>
              </a:lnSpc>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Sorting</a:t>
            </a:r>
            <a:r>
              <a:rPr lang="en-US" sz="2400"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is</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process</a:t>
            </a:r>
            <a:r>
              <a:rPr lang="en-US" sz="2400" spc="10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arranging</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all</a:t>
            </a:r>
            <a:r>
              <a:rPr lang="en-US" sz="2400"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items</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particular</a:t>
            </a:r>
            <a:r>
              <a:rPr lang="en-US" sz="24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order,</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say</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for</a:t>
            </a:r>
            <a:r>
              <a:rPr lang="en-US" sz="24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US" sz="2400"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either</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 ascending</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order</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or in</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descending</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order.</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Bef>
                <a:spcPts val="970"/>
              </a:spcBef>
              <a:spcAft>
                <a:spcPts val="0"/>
              </a:spcAft>
              <a:buSzPts val="1100"/>
              <a:buNone/>
              <a:tabLst>
                <a:tab pos="333375" algn="l"/>
                <a:tab pos="334010" algn="l"/>
              </a:tabLst>
            </a:pPr>
            <a:r>
              <a:rPr lang="en-US"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7) Merging</a:t>
            </a:r>
            <a:endParaRPr lang="en-IN"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a:spcBef>
                <a:spcPts val="15"/>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Merging</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is a</a:t>
            </a:r>
            <a:r>
              <a:rPr lang="en-US" sz="24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process</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 combining</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items</a:t>
            </a:r>
            <a:r>
              <a:rPr lang="en-US" sz="24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two</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different</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sorted</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list</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into</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single sorted</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list.</a:t>
            </a:r>
          </a:p>
          <a:p>
            <a:pPr marL="0" lvl="0" indent="0">
              <a:lnSpc>
                <a:spcPct val="107000"/>
              </a:lnSpc>
              <a:spcBef>
                <a:spcPts val="985"/>
              </a:spcBef>
              <a:spcAft>
                <a:spcPts val="0"/>
              </a:spcAft>
              <a:buSzPts val="1100"/>
              <a:buNone/>
              <a:tabLst>
                <a:tab pos="333375" algn="l"/>
                <a:tab pos="334010" algn="l"/>
              </a:tabLst>
            </a:pPr>
            <a:r>
              <a:rPr lang="en-US"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8) Splitting</a:t>
            </a:r>
            <a:endParaRPr lang="en-IN"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a:spcBef>
                <a:spcPts val="15"/>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Splitting</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is</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process</a:t>
            </a:r>
            <a:r>
              <a:rPr lang="en-US" sz="24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4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partitioning</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single</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list</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to</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multiple</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list.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Bef>
                <a:spcPts val="985"/>
              </a:spcBef>
              <a:spcAft>
                <a:spcPts val="0"/>
              </a:spcAft>
              <a:buSzPts val="1100"/>
              <a:buNone/>
              <a:tabLst>
                <a:tab pos="333375" algn="l"/>
                <a:tab pos="334010" algn="l"/>
              </a:tabLst>
            </a:pPr>
            <a:r>
              <a:rPr lang="en-US"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rPr>
              <a:t>9) Traversal</a:t>
            </a:r>
            <a:endParaRPr lang="en-IN" sz="2400" b="1" dirty="0">
              <a:solidFill>
                <a:srgbClr val="2E74B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33375">
              <a:spcBef>
                <a:spcPts val="15"/>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Traversal</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is</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process</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visiting</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each</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and</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every</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node</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list</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systematic</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manner.</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104775" indent="0">
              <a:spcBef>
                <a:spcPts val="15"/>
              </a:spcBef>
              <a:spcAft>
                <a:spcPts val="0"/>
              </a:spcAft>
              <a:buNone/>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9567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36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Time</a:t>
            </a:r>
            <a:r>
              <a:rPr lang="en-US" sz="3600" b="1" spc="-2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6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and</a:t>
            </a:r>
            <a:r>
              <a:rPr lang="en-US" sz="3600" b="1" spc="-1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6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space</a:t>
            </a:r>
            <a:r>
              <a:rPr lang="en-US" sz="3600" b="1" spc="-1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6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analysis</a:t>
            </a:r>
            <a:r>
              <a:rPr lang="en-US" sz="3600" b="1" spc="-15"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6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of</a:t>
            </a:r>
            <a:r>
              <a:rPr lang="en-US" sz="3600" b="1" spc="-20"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 </a:t>
            </a:r>
            <a:r>
              <a:rPr lang="en-US" sz="3600" b="1" dirty="0">
                <a:solidFill>
                  <a:srgbClr val="FF0000"/>
                </a:solidFill>
                <a:effectLst/>
                <a:latin typeface="Cambria" panose="02040503050406030204" pitchFamily="18" charset="0"/>
                <a:ea typeface="Cambria" panose="02040503050406030204" pitchFamily="18" charset="0"/>
                <a:cs typeface="Cambria" panose="02040503050406030204" pitchFamily="18" charset="0"/>
              </a:rPr>
              <a:t>algorithms</a:t>
            </a:r>
            <a:endParaRPr lang="en-IN" sz="72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indent="0">
              <a:buSzPts val="800"/>
              <a:buNone/>
              <a:tabLst>
                <a:tab pos="330200" algn="l"/>
                <a:tab pos="330835" algn="l"/>
              </a:tabLst>
            </a:pPr>
            <a:r>
              <a:rPr lang="en-IN" b="1" dirty="0">
                <a:effectLst/>
                <a:latin typeface="Times New Roman" panose="02020603050405020304" pitchFamily="18" charset="0"/>
                <a:ea typeface="Wingdings" panose="05000000000000000000" pitchFamily="2" charset="2"/>
                <a:cs typeface="Times New Roman" panose="02020603050405020304" pitchFamily="18" charset="0"/>
              </a:rPr>
              <a:t>Algorithm:</a:t>
            </a:r>
          </a:p>
          <a:p>
            <a:pPr>
              <a:spcBef>
                <a:spcPts val="20"/>
              </a:spcBef>
            </a:pPr>
            <a:r>
              <a:rPr lang="en-US" dirty="0">
                <a:effectLst/>
                <a:latin typeface="Times New Roman" panose="02020603050405020304" pitchFamily="18" charset="0"/>
                <a:ea typeface="Wingdings" panose="05000000000000000000" pitchFamily="2" charset="2"/>
                <a:cs typeface="Times New Roman" panose="02020603050405020304" pitchFamily="18" charset="0"/>
              </a:rPr>
              <a:t>An</a:t>
            </a:r>
            <a:r>
              <a:rPr lang="en-US" spc="-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essential</a:t>
            </a:r>
            <a:r>
              <a:rPr lang="en-US" spc="-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aspect</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to</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data</a:t>
            </a:r>
            <a:r>
              <a:rPr lang="en-US" spc="-4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structures</a:t>
            </a:r>
            <a:r>
              <a:rPr lang="en-US" spc="-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is</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a:spcBef>
                <a:spcPts val="20"/>
              </a:spcBef>
            </a:pPr>
            <a:r>
              <a:rPr lang="en-US" dirty="0">
                <a:effectLst/>
                <a:latin typeface="Times New Roman" panose="02020603050405020304" pitchFamily="18" charset="0"/>
                <a:ea typeface="Wingdings" panose="05000000000000000000" pitchFamily="2" charset="2"/>
                <a:cs typeface="Times New Roman" panose="02020603050405020304" pitchFamily="18" charset="0"/>
              </a:rPr>
              <a:t>Data</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structures</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are</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implemented</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using</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algorithms.</a:t>
            </a:r>
            <a:endParaRPr lang="en-IN" dirty="0">
              <a:effectLst/>
              <a:latin typeface="Times New Roman" panose="02020603050405020304" pitchFamily="18" charset="0"/>
              <a:ea typeface="Wingdings" panose="05000000000000000000" pitchFamily="2" charset="2"/>
              <a:cs typeface="Times New Roman" panose="02020603050405020304" pitchFamily="18" charset="0"/>
            </a:endParaRPr>
          </a:p>
          <a:p>
            <a:pPr>
              <a:spcBef>
                <a:spcPts val="20"/>
              </a:spcBef>
            </a:pPr>
            <a:r>
              <a:rPr lang="en-US" dirty="0">
                <a:effectLst/>
                <a:latin typeface="Times New Roman" panose="02020603050405020304" pitchFamily="18" charset="0"/>
                <a:ea typeface="Wingdings" panose="05000000000000000000" pitchFamily="2" charset="2"/>
                <a:cs typeface="Times New Roman" panose="02020603050405020304" pitchFamily="18" charset="0"/>
              </a:rPr>
              <a:t>An</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is</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procedure that</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you</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can</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write</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as</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C</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function</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or program,</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or</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any other language.</a:t>
            </a:r>
            <a:endParaRPr lang="en-IN" dirty="0">
              <a:effectLst/>
              <a:latin typeface="Times New Roman" panose="02020603050405020304" pitchFamily="18" charset="0"/>
              <a:ea typeface="Wingdings" panose="05000000000000000000" pitchFamily="2" charset="2"/>
              <a:cs typeface="Times New Roman" panose="02020603050405020304" pitchFamily="18" charset="0"/>
            </a:endParaRPr>
          </a:p>
          <a:p>
            <a:pPr>
              <a:spcBef>
                <a:spcPts val="30"/>
              </a:spcBef>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An</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 states</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explicitly how the</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data</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will</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be</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manipulated.</a:t>
            </a:r>
            <a:endParaRPr lang="en-IN" dirty="0">
              <a:effectLst/>
              <a:latin typeface="Times New Roman" panose="02020603050405020304" pitchFamily="18" charset="0"/>
              <a:ea typeface="Wingdings" panose="05000000000000000000" pitchFamily="2" charset="2"/>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041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Algorithm</a:t>
            </a:r>
            <a:r>
              <a:rPr lang="en-US" b="1" spc="-20"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 </a:t>
            </a:r>
            <a:r>
              <a:rPr lang="en-US" b="1" dirty="0">
                <a:solidFill>
                  <a:srgbClr val="FF0000"/>
                </a:solidFill>
                <a:effectLst/>
                <a:latin typeface="Calibri Light" panose="020F0302020204030204" pitchFamily="34" charset="0"/>
                <a:ea typeface="Times New Roman" panose="02020603050405020304" pitchFamily="18" charset="0"/>
                <a:cs typeface="Shruti" panose="020B0502040204020203" pitchFamily="34" charset="0"/>
              </a:rPr>
              <a:t>Efficiency</a:t>
            </a:r>
            <a:endParaRPr lang="en-IN" sz="88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342900" marR="429895" lvl="0" indent="-342900">
              <a:lnSpc>
                <a:spcPct val="100000"/>
              </a:lnSpc>
              <a:spcBef>
                <a:spcPts val="5"/>
              </a:spcBef>
              <a:spcAft>
                <a:spcPts val="0"/>
              </a:spcAft>
              <a:buSzPts val="800"/>
              <a:buFont typeface="Wingdings" panose="05000000000000000000" pitchFamily="2" charset="2"/>
              <a:buChar char=""/>
              <a:tabLst>
                <a:tab pos="330200" algn="l"/>
                <a:tab pos="330835" algn="l"/>
              </a:tabLst>
            </a:pPr>
            <a:r>
              <a:rPr lang="en-US" dirty="0">
                <a:effectLst/>
                <a:latin typeface="Times New Roman" panose="02020603050405020304" pitchFamily="18" charset="0"/>
                <a:ea typeface="Wingdings" panose="05000000000000000000" pitchFamily="2" charset="2"/>
                <a:cs typeface="Times New Roman" panose="02020603050405020304" pitchFamily="18" charset="0"/>
              </a:rPr>
              <a:t>Some</a:t>
            </a:r>
            <a:r>
              <a:rPr lang="en-US" spc="1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algorithms</a:t>
            </a:r>
            <a:r>
              <a:rPr lang="en-US" spc="13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are</a:t>
            </a:r>
            <a:r>
              <a:rPr lang="en-US" spc="1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more</a:t>
            </a:r>
            <a:r>
              <a:rPr lang="en-US" spc="1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efficient</a:t>
            </a:r>
            <a:r>
              <a:rPr lang="en-US" spc="1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than</a:t>
            </a:r>
            <a:r>
              <a:rPr lang="en-US" spc="1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others.</a:t>
            </a:r>
            <a:r>
              <a:rPr lang="en-US" spc="120" dirty="0">
                <a:effectLst/>
                <a:latin typeface="Times New Roman" panose="02020603050405020304" pitchFamily="18" charset="0"/>
                <a:ea typeface="Wingdings" panose="05000000000000000000" pitchFamily="2" charset="2"/>
                <a:cs typeface="Times New Roman" panose="02020603050405020304" pitchFamily="18" charset="0"/>
              </a:rPr>
              <a:t> </a:t>
            </a:r>
          </a:p>
          <a:p>
            <a:pPr marL="342900" marR="429895" lvl="0" indent="-342900">
              <a:lnSpc>
                <a:spcPct val="100000"/>
              </a:lnSpc>
              <a:spcBef>
                <a:spcPts val="5"/>
              </a:spcBef>
              <a:spcAft>
                <a:spcPts val="0"/>
              </a:spcAft>
              <a:buSzPts val="800"/>
              <a:buFont typeface="Wingdings" panose="05000000000000000000" pitchFamily="2" charset="2"/>
              <a:buChar char=""/>
              <a:tabLst>
                <a:tab pos="330200" algn="l"/>
                <a:tab pos="330835" algn="l"/>
              </a:tabLst>
            </a:pPr>
            <a:r>
              <a:rPr lang="en-US" dirty="0">
                <a:effectLst/>
                <a:latin typeface="Times New Roman" panose="02020603050405020304" pitchFamily="18" charset="0"/>
                <a:ea typeface="Wingdings" panose="05000000000000000000" pitchFamily="2" charset="2"/>
                <a:cs typeface="Times New Roman" panose="02020603050405020304" pitchFamily="18" charset="0"/>
              </a:rPr>
              <a:t>We</a:t>
            </a:r>
            <a:r>
              <a:rPr lang="en-US" spc="1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would</a:t>
            </a:r>
            <a:r>
              <a:rPr lang="en-US" spc="1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prefer</a:t>
            </a:r>
            <a:r>
              <a:rPr lang="en-US" spc="13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to</a:t>
            </a:r>
            <a:r>
              <a:rPr lang="en-US" spc="1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choose</a:t>
            </a:r>
            <a:r>
              <a:rPr lang="en-US" spc="13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an</a:t>
            </a:r>
            <a:r>
              <a:rPr lang="en-US" spc="1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efficient</a:t>
            </a:r>
            <a:r>
              <a:rPr lang="en-US" spc="1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a:t>
            </a:r>
            <a:endParaRPr lang="en-IN" dirty="0">
              <a:effectLst/>
              <a:latin typeface="Times New Roman" panose="02020603050405020304" pitchFamily="18" charset="0"/>
              <a:ea typeface="Wingdings" panose="05000000000000000000" pitchFamily="2" charset="2"/>
              <a:cs typeface="Times New Roman" panose="02020603050405020304" pitchFamily="18" charset="0"/>
            </a:endParaRPr>
          </a:p>
          <a:p>
            <a:pPr marL="342900" marR="432435" lvl="0" indent="-342900">
              <a:lnSpc>
                <a:spcPct val="100000"/>
              </a:lnSpc>
              <a:spcBef>
                <a:spcPts val="970"/>
              </a:spcBef>
              <a:spcAft>
                <a:spcPts val="0"/>
              </a:spcAft>
              <a:buSzPts val="800"/>
              <a:buFont typeface="Wingdings" panose="05000000000000000000" pitchFamily="2" charset="2"/>
              <a:buChar char=""/>
              <a:tabLst>
                <a:tab pos="330200" algn="l"/>
                <a:tab pos="330835" algn="l"/>
              </a:tabLst>
            </a:pPr>
            <a:r>
              <a:rPr lang="en-US"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complexity</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an</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algorithm</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is a</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function</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describing</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efficiency</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of the algorithm</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in</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terms of</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pc="-23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amount</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data</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the algorithm</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must</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process.</a:t>
            </a:r>
            <a:endParaRPr lang="en-IN" dirty="0">
              <a:effectLst/>
              <a:latin typeface="Times New Roman" panose="02020603050405020304" pitchFamily="18" charset="0"/>
              <a:ea typeface="Wingdings" panose="05000000000000000000" pitchFamily="2" charset="2"/>
              <a:cs typeface="Times New Roman" panose="02020603050405020304" pitchFamily="18" charset="0"/>
            </a:endParaRPr>
          </a:p>
          <a:p>
            <a:pPr marL="342900" marR="431800" lvl="0" indent="-342900">
              <a:lnSpc>
                <a:spcPct val="100000"/>
              </a:lnSpc>
              <a:spcBef>
                <a:spcPts val="975"/>
              </a:spcBef>
              <a:spcAft>
                <a:spcPts val="0"/>
              </a:spcAft>
              <a:buSzPts val="800"/>
              <a:buFont typeface="Wingdings" panose="05000000000000000000" pitchFamily="2" charset="2"/>
              <a:buChar char=""/>
              <a:tabLst>
                <a:tab pos="330200" algn="l"/>
                <a:tab pos="330835" algn="l"/>
              </a:tabLst>
            </a:pPr>
            <a:r>
              <a:rPr lang="en-US" dirty="0">
                <a:effectLst/>
                <a:latin typeface="Times New Roman" panose="02020603050405020304" pitchFamily="18" charset="0"/>
                <a:ea typeface="Wingdings" panose="05000000000000000000" pitchFamily="2" charset="2"/>
                <a:cs typeface="Times New Roman" panose="02020603050405020304" pitchFamily="18" charset="0"/>
              </a:rPr>
              <a:t>Usually</a:t>
            </a:r>
            <a:r>
              <a:rPr lang="en-US" spc="9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there</a:t>
            </a:r>
            <a:r>
              <a:rPr lang="en-US" spc="9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are</a:t>
            </a:r>
            <a:r>
              <a:rPr lang="en-US" spc="9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natural</a:t>
            </a:r>
            <a:r>
              <a:rPr lang="en-US" spc="7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units</a:t>
            </a:r>
            <a:r>
              <a:rPr lang="en-US" spc="9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for</a:t>
            </a:r>
            <a:r>
              <a:rPr lang="en-US" spc="8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pc="9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domain</a:t>
            </a:r>
            <a:r>
              <a:rPr lang="en-US" spc="8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and</a:t>
            </a:r>
            <a:r>
              <a:rPr lang="en-US" spc="8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range</a:t>
            </a:r>
            <a:r>
              <a:rPr lang="en-US" spc="9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pc="8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this</a:t>
            </a:r>
            <a:r>
              <a:rPr lang="en-US" spc="9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function.</a:t>
            </a:r>
            <a:endParaRPr lang="en-US" spc="85" dirty="0">
              <a:latin typeface="Times New Roman" panose="02020603050405020304" pitchFamily="18" charset="0"/>
              <a:ea typeface="Wingdings" panose="05000000000000000000" pitchFamily="2" charset="2"/>
              <a:cs typeface="Times New Roman" panose="02020603050405020304" pitchFamily="18" charset="0"/>
            </a:endParaRPr>
          </a:p>
          <a:p>
            <a:pPr marL="342900" marR="431800" lvl="0" indent="-342900">
              <a:lnSpc>
                <a:spcPct val="100000"/>
              </a:lnSpc>
              <a:spcBef>
                <a:spcPts val="975"/>
              </a:spcBef>
              <a:spcAft>
                <a:spcPts val="0"/>
              </a:spcAft>
              <a:buSzPts val="800"/>
              <a:buFont typeface="Wingdings" panose="05000000000000000000" pitchFamily="2" charset="2"/>
              <a:buChar char=""/>
              <a:tabLst>
                <a:tab pos="330200" algn="l"/>
                <a:tab pos="330835" algn="l"/>
              </a:tabLst>
            </a:pPr>
            <a:r>
              <a:rPr lang="en-US" dirty="0">
                <a:effectLst/>
                <a:latin typeface="Times New Roman" panose="02020603050405020304" pitchFamily="18" charset="0"/>
                <a:ea typeface="Wingdings" panose="05000000000000000000" pitchFamily="2" charset="2"/>
                <a:cs typeface="Times New Roman" panose="02020603050405020304" pitchFamily="18" charset="0"/>
              </a:rPr>
              <a:t>There</a:t>
            </a:r>
            <a:r>
              <a:rPr lang="en-US" spc="9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are</a:t>
            </a:r>
            <a:r>
              <a:rPr lang="en-US" spc="8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two</a:t>
            </a:r>
            <a:r>
              <a:rPr lang="en-US" spc="8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main</a:t>
            </a:r>
            <a:r>
              <a:rPr lang="en-US" spc="8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complexity</a:t>
            </a:r>
            <a:r>
              <a:rPr lang="en-US" spc="-23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measures</a:t>
            </a:r>
            <a:r>
              <a:rPr lang="en-US"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of the</a:t>
            </a:r>
            <a:r>
              <a:rPr lang="en-US"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efficiency</a:t>
            </a:r>
            <a:r>
              <a:rPr lang="en-US" spc="-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dirty="0">
                <a:effectLst/>
                <a:latin typeface="Times New Roman" panose="02020603050405020304" pitchFamily="18" charset="0"/>
                <a:ea typeface="Wingdings" panose="05000000000000000000" pitchFamily="2" charset="2"/>
                <a:cs typeface="Times New Roman" panose="02020603050405020304" pitchFamily="18" charset="0"/>
              </a:rPr>
              <a:t>of an algorithm</a:t>
            </a:r>
          </a:p>
          <a:p>
            <a:pPr marL="0" marR="431800" lvl="0" indent="0">
              <a:lnSpc>
                <a:spcPct val="100000"/>
              </a:lnSpc>
              <a:spcBef>
                <a:spcPts val="975"/>
              </a:spcBef>
              <a:spcAft>
                <a:spcPts val="0"/>
              </a:spcAft>
              <a:buSzPts val="800"/>
              <a:buNone/>
              <a:tabLst>
                <a:tab pos="330200" algn="l"/>
                <a:tab pos="330835" algn="l"/>
              </a:tabLst>
            </a:pPr>
            <a:r>
              <a:rPr lang="en-US" dirty="0">
                <a:latin typeface="Times New Roman" panose="02020603050405020304" pitchFamily="18" charset="0"/>
                <a:ea typeface="Wingdings" panose="05000000000000000000" pitchFamily="2" charset="2"/>
                <a:cs typeface="Times New Roman" panose="02020603050405020304" pitchFamily="18" charset="0"/>
              </a:rPr>
              <a:t>1) Time complexity - </a:t>
            </a:r>
            <a:r>
              <a:rPr lang="en-US" b="0" i="0" dirty="0">
                <a:solidFill>
                  <a:srgbClr val="000000"/>
                </a:solidFill>
                <a:effectLst/>
                <a:latin typeface="Times New Roman" panose="02020603050405020304" pitchFamily="18" charset="0"/>
              </a:rPr>
              <a:t>a measure of amount of time for an algorithm to execute.</a:t>
            </a:r>
            <a:endParaRPr lang="en-US" dirty="0">
              <a:latin typeface="Times New Roman" panose="02020603050405020304" pitchFamily="18" charset="0"/>
              <a:ea typeface="Wingdings" panose="05000000000000000000" pitchFamily="2" charset="2"/>
              <a:cs typeface="Times New Roman" panose="02020603050405020304" pitchFamily="18" charset="0"/>
            </a:endParaRPr>
          </a:p>
          <a:p>
            <a:pPr marL="0" marR="431800" lvl="0" indent="0">
              <a:lnSpc>
                <a:spcPct val="100000"/>
              </a:lnSpc>
              <a:spcBef>
                <a:spcPts val="975"/>
              </a:spcBef>
              <a:spcAft>
                <a:spcPts val="0"/>
              </a:spcAft>
              <a:buSzPts val="800"/>
              <a:buNone/>
              <a:tabLst>
                <a:tab pos="330200" algn="l"/>
                <a:tab pos="330835" algn="l"/>
              </a:tabLst>
            </a:pPr>
            <a:r>
              <a:rPr lang="en-IN" dirty="0">
                <a:effectLst/>
                <a:latin typeface="Times New Roman" panose="02020603050405020304" pitchFamily="18" charset="0"/>
                <a:ea typeface="Wingdings" panose="05000000000000000000" pitchFamily="2" charset="2"/>
                <a:cs typeface="Times New Roman" panose="02020603050405020304" pitchFamily="18" charset="0"/>
              </a:rPr>
              <a:t>2) Space Complexity - </a:t>
            </a:r>
            <a:r>
              <a:rPr lang="en-US" b="0" i="0" dirty="0">
                <a:solidFill>
                  <a:srgbClr val="000000"/>
                </a:solidFill>
                <a:effectLst/>
                <a:latin typeface="Times New Roman" panose="02020603050405020304" pitchFamily="18" charset="0"/>
              </a:rPr>
              <a:t>a measure of the amount of memory needed for an algorithm to execute.</a:t>
            </a:r>
            <a:endParaRPr lang="en-IN" dirty="0">
              <a:effectLst/>
              <a:latin typeface="Times New Roman" panose="02020603050405020304" pitchFamily="18" charset="0"/>
              <a:ea typeface="Wingdings" panose="05000000000000000000" pitchFamily="2" charset="2"/>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310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Space</a:t>
            </a:r>
            <a:r>
              <a:rPr lang="en-US" b="1" spc="-20"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88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14203"/>
            <a:ext cx="11746041" cy="5391097"/>
          </a:xfrm>
        </p:spPr>
        <p:txBody>
          <a:bodyPr>
            <a:noAutofit/>
          </a:bodyPr>
          <a:lstStyle/>
          <a:p>
            <a:r>
              <a:rPr lang="en-US" sz="2400" dirty="0"/>
              <a:t>Whenever we say that our algorithm is sufficient then it means that the algorithm is solving the problem in less amount of time while taking the least amount of space.</a:t>
            </a:r>
          </a:p>
          <a:p>
            <a:r>
              <a:rPr lang="en-US" sz="2400" dirty="0"/>
              <a:t>Let's take an example of sorting </a:t>
            </a:r>
            <a:r>
              <a:rPr lang="en-US" sz="2400" dirty="0" smtClean="0"/>
              <a:t>algorithms </a:t>
            </a:r>
            <a:r>
              <a:rPr lang="en-US" sz="2400" dirty="0"/>
              <a:t>like insertion and heap sort doesn't creates a new array during sorting as they are in-place sorting techniques but merge sort creates an array during sorting of elements which takes an extra space so if there is a concern of space then obviously one will prefer the insertion or heap sort.</a:t>
            </a:r>
          </a:p>
          <a:p>
            <a:r>
              <a:rPr lang="en-US" sz="2400" dirty="0"/>
              <a:t>Suppose you are provided with a task to sort the given array, so there are many sorting algorithms but you will choose the </a:t>
            </a:r>
            <a:r>
              <a:rPr lang="en-US" sz="2400" dirty="0" smtClean="0"/>
              <a:t>optimized </a:t>
            </a:r>
            <a:r>
              <a:rPr lang="en-US" sz="2400" dirty="0"/>
              <a:t>and efficient one always and for choosing that you have to analyze different algorithms on the basis of their space and time complexity</a:t>
            </a:r>
            <a:r>
              <a:rPr lang="en-US" sz="2400" dirty="0" smtClean="0"/>
              <a:t>.</a:t>
            </a:r>
          </a:p>
          <a:p>
            <a:r>
              <a:rPr lang="en-US" sz="2400" dirty="0"/>
              <a:t>So as we know that analyzing the algorithm is a much-needed task after designing an algorithm so as to increase the efficiency of an algorithm.</a:t>
            </a:r>
          </a:p>
          <a:p>
            <a:r>
              <a:rPr lang="en-US" sz="2400" dirty="0"/>
              <a:t>During analyzing any problem or algorithm you all may have encountered time complexity and space complexity.</a:t>
            </a:r>
          </a:p>
          <a:p>
            <a:endParaRPr lang="en-US"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5473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Space</a:t>
            </a:r>
            <a:r>
              <a:rPr lang="en-US" b="1" spc="-20"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88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14203"/>
            <a:ext cx="11746041" cy="5391097"/>
          </a:xfrm>
        </p:spPr>
        <p:txBody>
          <a:bodyPr>
            <a:noAutofit/>
          </a:bodyPr>
          <a:lstStyle/>
          <a:p>
            <a:r>
              <a:rPr lang="en-US" sz="2600" dirty="0"/>
              <a:t>Space complexity is nothing but the amount of memory space that an algorithm or a problem takes during the execution of that particular problem/</a:t>
            </a:r>
            <a:r>
              <a:rPr lang="en-US" sz="2600" dirty="0" err="1"/>
              <a:t>algo</a:t>
            </a:r>
            <a:r>
              <a:rPr lang="en-US" sz="2600" dirty="0"/>
              <a:t>.</a:t>
            </a:r>
          </a:p>
          <a:p>
            <a:r>
              <a:rPr lang="en-US" sz="2600" dirty="0"/>
              <a:t>The space complexity is not only calculated by the space used by the variables in the problem/</a:t>
            </a:r>
            <a:r>
              <a:rPr lang="en-US" sz="2600" dirty="0" err="1"/>
              <a:t>algo</a:t>
            </a:r>
            <a:r>
              <a:rPr lang="en-US" sz="2600" dirty="0"/>
              <a:t> it also includes and considers the space for input values with it.</a:t>
            </a:r>
          </a:p>
          <a:p>
            <a:r>
              <a:rPr lang="en-US" sz="2600" dirty="0"/>
              <a:t>There is a sort of confusion among people between the space complexity and the auxiliary space. </a:t>
            </a:r>
            <a:endParaRPr lang="en-US" sz="2600" dirty="0" smtClean="0"/>
          </a:p>
          <a:p>
            <a:r>
              <a:rPr lang="en-US" sz="2600" dirty="0" smtClean="0"/>
              <a:t>So </a:t>
            </a:r>
            <a:r>
              <a:rPr lang="en-US" sz="2600" dirty="0"/>
              <a:t>let’s be clear about that, so auxiliary space is nothing but the space required by an algorithm/problem during the execution of that algorithm/problem and it is not equal to the space complexity because space complexity includes space for input values along with it also.</a:t>
            </a:r>
          </a:p>
          <a:p>
            <a:r>
              <a:rPr lang="en-US" sz="2600" dirty="0"/>
              <a:t>So we can say that space complexity is the combination or sum up of the auxiliary space and the space used by input values.</a:t>
            </a:r>
          </a:p>
          <a:p>
            <a:r>
              <a:rPr lang="en-US" sz="2600" b="1" dirty="0"/>
              <a:t>Space Complexity = Auxiliary Space + Space used for input </a:t>
            </a:r>
            <a:r>
              <a:rPr lang="en-US" sz="2600" b="1" dirty="0" smtClean="0"/>
              <a:t>values</a:t>
            </a:r>
          </a:p>
          <a:p>
            <a:r>
              <a:rPr lang="en-US" sz="2600" dirty="0" smtClean="0"/>
              <a:t>Space complexity depends on variables, data structures, allocations, function call</a:t>
            </a:r>
            <a:endParaRPr lang="en-US" sz="2600"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6302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742950" marR="430530" lvl="1" indent="-285750">
              <a:lnSpc>
                <a:spcPct val="100000"/>
              </a:lnSpc>
              <a:spcBef>
                <a:spcPts val="985"/>
              </a:spcBef>
              <a:spcAft>
                <a:spcPts val="0"/>
              </a:spcAft>
              <a:buSzPts val="800"/>
              <a:buFont typeface="Wingdings" panose="05000000000000000000" pitchFamily="2" charset="2"/>
              <a:buChar char=""/>
              <a:tabLst>
                <a:tab pos="596900" algn="l"/>
                <a:tab pos="597535" algn="l"/>
              </a:tabLst>
            </a:pPr>
            <a:r>
              <a:rPr lang="en-US" sz="2800" b="1" dirty="0">
                <a:effectLst/>
                <a:latin typeface="Times New Roman" panose="02020603050405020304" pitchFamily="18" charset="0"/>
                <a:ea typeface="Wingdings" panose="05000000000000000000" pitchFamily="2" charset="2"/>
                <a:cs typeface="Times New Roman" panose="02020603050405020304" pitchFamily="18" charset="0"/>
              </a:rPr>
              <a:t>Time</a:t>
            </a:r>
            <a:r>
              <a:rPr lang="en-US" sz="2800" b="1" spc="23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b="1" dirty="0">
                <a:effectLst/>
                <a:latin typeface="Times New Roman" panose="02020603050405020304" pitchFamily="18" charset="0"/>
                <a:ea typeface="Wingdings" panose="05000000000000000000" pitchFamily="2" charset="2"/>
                <a:cs typeface="Times New Roman" panose="02020603050405020304" pitchFamily="18" charset="0"/>
              </a:rPr>
              <a:t>Complexity</a:t>
            </a:r>
            <a:r>
              <a:rPr lang="en-US" sz="2800" b="1" spc="24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is</a:t>
            </a:r>
            <a:r>
              <a:rPr lang="en-US" sz="2800" spc="2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a:t>
            </a:r>
            <a:r>
              <a:rPr lang="en-US" sz="2800" spc="2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function</a:t>
            </a:r>
            <a:r>
              <a:rPr lang="en-US" sz="2800" spc="2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describing</a:t>
            </a:r>
            <a:r>
              <a:rPr lang="en-US" sz="2800" spc="2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z="2800" spc="2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amount</a:t>
            </a:r>
            <a:r>
              <a:rPr lang="en-US" sz="2800" spc="2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z="2800" spc="2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time</a:t>
            </a:r>
            <a:r>
              <a:rPr lang="en-US" sz="2800" spc="2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an</a:t>
            </a:r>
            <a:r>
              <a:rPr lang="en-US" sz="2800" spc="22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algorithm</a:t>
            </a:r>
            <a:r>
              <a:rPr lang="en-US" sz="2800" spc="2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takes</a:t>
            </a:r>
            <a:r>
              <a:rPr lang="en-US" sz="2800" spc="23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in</a:t>
            </a:r>
            <a:r>
              <a:rPr lang="en-US" sz="2800" spc="20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terms</a:t>
            </a:r>
            <a:r>
              <a:rPr lang="en-US" sz="2800" spc="20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z="2800" spc="2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z="2800" spc="-23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amount</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z="2800"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input to</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z="2800"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algorithm.</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426720" lvl="1" indent="-285750" algn="just">
              <a:spcBef>
                <a:spcPts val="280"/>
              </a:spcBef>
              <a:spcAft>
                <a:spcPts val="0"/>
              </a:spcAft>
              <a:buSzPts val="800"/>
              <a:buFont typeface="Wingdings" panose="05000000000000000000" pitchFamily="2" charset="2"/>
              <a:buChar char=""/>
              <a:tabLst>
                <a:tab pos="597535" algn="l"/>
              </a:tabLst>
            </a:pP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"Time" can mean the number of memory accesses performed, the number of comparisons between</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integers, the number of times some inner loop is executed, or some other natural unit related to the</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amount</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of</a:t>
            </a:r>
            <a:r>
              <a:rPr lang="en-US" sz="2800"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real</a:t>
            </a:r>
            <a:r>
              <a:rPr lang="en-US" sz="2800" spc="-1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time</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the</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algorithm</a:t>
            </a:r>
            <a:r>
              <a:rPr lang="en-US" sz="2800" spc="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will</a:t>
            </a:r>
            <a:r>
              <a:rPr lang="en-US" sz="2800"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dirty="0">
                <a:effectLst/>
                <a:latin typeface="Times New Roman" panose="02020603050405020304" pitchFamily="18" charset="0"/>
                <a:ea typeface="Wingdings" panose="05000000000000000000" pitchFamily="2" charset="2"/>
                <a:cs typeface="Times New Roman" panose="02020603050405020304" pitchFamily="18" charset="0"/>
              </a:rPr>
              <a:t>take</a:t>
            </a:r>
            <a:r>
              <a:rPr lang="en-US" sz="2800" dirty="0" smtClean="0">
                <a:effectLst/>
                <a:latin typeface="Times New Roman" panose="02020603050405020304" pitchFamily="18" charset="0"/>
                <a:ea typeface="Wingdings" panose="05000000000000000000" pitchFamily="2" charset="2"/>
                <a:cs typeface="Times New Roman" panose="02020603050405020304" pitchFamily="18" charset="0"/>
              </a:rPr>
              <a:t>.</a:t>
            </a:r>
            <a:endParaRPr lang="en-IN" sz="2800" dirty="0" smtClean="0">
              <a:effectLst/>
              <a:latin typeface="Times New Roman" panose="02020603050405020304" pitchFamily="18" charset="0"/>
              <a:ea typeface="Wingdings" panose="05000000000000000000" pitchFamily="2" charset="2"/>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So time complexity depends on operations, comparisons, loops, pointer reference, function call to outside.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9004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8487177" y="638119"/>
            <a:ext cx="3416448" cy="3354331"/>
          </a:xfrm>
          <a:prstGeom prst="rect">
            <a:avLst/>
          </a:prstGeom>
        </p:spPr>
      </p:pic>
      <p:pic>
        <p:nvPicPr>
          <p:cNvPr id="4" name="Picture 3"/>
          <p:cNvPicPr>
            <a:picLocks noChangeAspect="1"/>
          </p:cNvPicPr>
          <p:nvPr/>
        </p:nvPicPr>
        <p:blipFill>
          <a:blip r:embed="rId3"/>
          <a:stretch>
            <a:fillRect/>
          </a:stretch>
        </p:blipFill>
        <p:spPr>
          <a:xfrm>
            <a:off x="216109" y="1064789"/>
            <a:ext cx="6390754" cy="1635686"/>
          </a:xfrm>
          <a:prstGeom prst="rect">
            <a:avLst/>
          </a:prstGeom>
        </p:spPr>
      </p:pic>
      <p:pic>
        <p:nvPicPr>
          <p:cNvPr id="6" name="Picture 5"/>
          <p:cNvPicPr>
            <a:picLocks noChangeAspect="1"/>
          </p:cNvPicPr>
          <p:nvPr/>
        </p:nvPicPr>
        <p:blipFill>
          <a:blip r:embed="rId4"/>
          <a:stretch>
            <a:fillRect/>
          </a:stretch>
        </p:blipFill>
        <p:spPr>
          <a:xfrm>
            <a:off x="216109" y="2700475"/>
            <a:ext cx="8271068" cy="2051829"/>
          </a:xfrm>
          <a:prstGeom prst="rect">
            <a:avLst/>
          </a:prstGeom>
        </p:spPr>
      </p:pic>
      <p:pic>
        <p:nvPicPr>
          <p:cNvPr id="7" name="Picture 6"/>
          <p:cNvPicPr>
            <a:picLocks noChangeAspect="1"/>
          </p:cNvPicPr>
          <p:nvPr/>
        </p:nvPicPr>
        <p:blipFill>
          <a:blip r:embed="rId5"/>
          <a:stretch>
            <a:fillRect/>
          </a:stretch>
        </p:blipFill>
        <p:spPr>
          <a:xfrm>
            <a:off x="216108" y="4753768"/>
            <a:ext cx="8657435" cy="1786248"/>
          </a:xfrm>
          <a:prstGeom prst="rect">
            <a:avLst/>
          </a:prstGeom>
        </p:spPr>
      </p:pic>
    </p:spTree>
    <p:extLst>
      <p:ext uri="{BB962C8B-B14F-4D97-AF65-F5344CB8AC3E}">
        <p14:creationId xmlns:p14="http://schemas.microsoft.com/office/powerpoint/2010/main" val="195979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a:bodyPr>
          <a:lstStyle/>
          <a:p>
            <a:pPr marL="0" indent="0">
              <a:buNone/>
            </a:pPr>
            <a:endParaRPr lang="en-US" dirty="0" smtClean="0"/>
          </a:p>
          <a:p>
            <a:pPr marL="0" indent="0">
              <a:buNone/>
            </a:pPr>
            <a:endParaRPr lang="en-US" dirty="0"/>
          </a:p>
          <a:p>
            <a:pPr marL="0" indent="0">
              <a:buNone/>
            </a:pPr>
            <a:endParaRPr lang="en-US" dirty="0" smtClean="0"/>
          </a:p>
          <a:p>
            <a:pPr marL="514350" indent="-514350">
              <a:buAutoNum type="arabicPeriod"/>
            </a:pPr>
            <a:r>
              <a:rPr lang="en-US" dirty="0" smtClean="0"/>
              <a:t>Worst case(longest time)                Big O (upper bound)</a:t>
            </a:r>
          </a:p>
          <a:p>
            <a:pPr marL="514350" indent="-514350">
              <a:buAutoNum type="arabicPeriod"/>
            </a:pPr>
            <a:r>
              <a:rPr lang="en-US" dirty="0" smtClean="0"/>
              <a:t>Average case (average time) 	      Theta (tighter bound)</a:t>
            </a:r>
          </a:p>
          <a:p>
            <a:pPr marL="514350" indent="-514350">
              <a:buAutoNum type="arabicPeriod"/>
            </a:pPr>
            <a:r>
              <a:rPr lang="en-US" dirty="0" smtClean="0"/>
              <a:t>Best Case(shorter time) 	     Omega (lower bound)</a:t>
            </a:r>
            <a:endParaRPr lang="en-US" dirty="0"/>
          </a:p>
        </p:txBody>
      </p:sp>
      <p:pic>
        <p:nvPicPr>
          <p:cNvPr id="8" name="Picture 7"/>
          <p:cNvPicPr>
            <a:picLocks noChangeAspect="1"/>
          </p:cNvPicPr>
          <p:nvPr/>
        </p:nvPicPr>
        <p:blipFill rotWithShape="1">
          <a:blip r:embed="rId2"/>
          <a:srcRect b="65085"/>
          <a:stretch/>
        </p:blipFill>
        <p:spPr>
          <a:xfrm>
            <a:off x="838201" y="1394087"/>
            <a:ext cx="10515600" cy="1374872"/>
          </a:xfrm>
          <a:prstGeom prst="rect">
            <a:avLst/>
          </a:prstGeom>
        </p:spPr>
      </p:pic>
    </p:spTree>
    <p:extLst>
      <p:ext uri="{BB962C8B-B14F-4D97-AF65-F5344CB8AC3E}">
        <p14:creationId xmlns:p14="http://schemas.microsoft.com/office/powerpoint/2010/main" val="1002510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38100" y="1160104"/>
            <a:ext cx="12153900" cy="4486275"/>
          </a:xfrm>
          <a:prstGeom prst="rect">
            <a:avLst/>
          </a:prstGeom>
        </p:spPr>
      </p:pic>
      <p:pic>
        <p:nvPicPr>
          <p:cNvPr id="5" name="Picture 4"/>
          <p:cNvPicPr>
            <a:picLocks noChangeAspect="1"/>
          </p:cNvPicPr>
          <p:nvPr/>
        </p:nvPicPr>
        <p:blipFill>
          <a:blip r:embed="rId3"/>
          <a:stretch>
            <a:fillRect/>
          </a:stretch>
        </p:blipFill>
        <p:spPr>
          <a:xfrm>
            <a:off x="38100" y="5646379"/>
            <a:ext cx="8763000" cy="352425"/>
          </a:xfrm>
          <a:prstGeom prst="rect">
            <a:avLst/>
          </a:prstGeom>
        </p:spPr>
      </p:pic>
    </p:spTree>
    <p:extLst>
      <p:ext uri="{BB962C8B-B14F-4D97-AF65-F5344CB8AC3E}">
        <p14:creationId xmlns:p14="http://schemas.microsoft.com/office/powerpoint/2010/main" val="2718674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lstStyle/>
          <a:p>
            <a:endParaRPr lang="en-US" dirty="0"/>
          </a:p>
        </p:txBody>
      </p:sp>
      <p:pic>
        <p:nvPicPr>
          <p:cNvPr id="6" name="Picture 5"/>
          <p:cNvPicPr>
            <a:picLocks noChangeAspect="1"/>
          </p:cNvPicPr>
          <p:nvPr/>
        </p:nvPicPr>
        <p:blipFill>
          <a:blip r:embed="rId2"/>
          <a:stretch>
            <a:fillRect/>
          </a:stretch>
        </p:blipFill>
        <p:spPr>
          <a:xfrm>
            <a:off x="838200" y="1709000"/>
            <a:ext cx="7670604" cy="4099372"/>
          </a:xfrm>
          <a:prstGeom prst="rect">
            <a:avLst/>
          </a:prstGeom>
        </p:spPr>
      </p:pic>
    </p:spTree>
    <p:extLst>
      <p:ext uri="{BB962C8B-B14F-4D97-AF65-F5344CB8AC3E}">
        <p14:creationId xmlns:p14="http://schemas.microsoft.com/office/powerpoint/2010/main" val="683962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8200" y="1197869"/>
            <a:ext cx="6657975" cy="4591050"/>
          </a:xfrm>
          <a:prstGeom prst="rect">
            <a:avLst/>
          </a:prstGeom>
        </p:spPr>
      </p:pic>
      <p:pic>
        <p:nvPicPr>
          <p:cNvPr id="5" name="Picture 4"/>
          <p:cNvPicPr>
            <a:picLocks noChangeAspect="1"/>
          </p:cNvPicPr>
          <p:nvPr/>
        </p:nvPicPr>
        <p:blipFill>
          <a:blip r:embed="rId3"/>
          <a:stretch>
            <a:fillRect/>
          </a:stretch>
        </p:blipFill>
        <p:spPr>
          <a:xfrm>
            <a:off x="838200" y="5771185"/>
            <a:ext cx="1762125" cy="381000"/>
          </a:xfrm>
          <a:prstGeom prst="rect">
            <a:avLst/>
          </a:prstGeom>
        </p:spPr>
      </p:pic>
    </p:spTree>
    <p:extLst>
      <p:ext uri="{BB962C8B-B14F-4D97-AF65-F5344CB8AC3E}">
        <p14:creationId xmlns:p14="http://schemas.microsoft.com/office/powerpoint/2010/main" val="40301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lnSpcReduction="1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Probability of an unsuccessful search =1-p</a:t>
            </a:r>
            <a:endParaRPr lang="en-US" dirty="0"/>
          </a:p>
        </p:txBody>
      </p:sp>
      <p:pic>
        <p:nvPicPr>
          <p:cNvPr id="6" name="Picture 5"/>
          <p:cNvPicPr>
            <a:picLocks noChangeAspect="1"/>
          </p:cNvPicPr>
          <p:nvPr/>
        </p:nvPicPr>
        <p:blipFill>
          <a:blip r:embed="rId2"/>
          <a:stretch>
            <a:fillRect/>
          </a:stretch>
        </p:blipFill>
        <p:spPr>
          <a:xfrm>
            <a:off x="620734" y="1616164"/>
            <a:ext cx="8136899" cy="3891560"/>
          </a:xfrm>
          <a:prstGeom prst="rect">
            <a:avLst/>
          </a:prstGeom>
        </p:spPr>
      </p:pic>
    </p:spTree>
    <p:extLst>
      <p:ext uri="{BB962C8B-B14F-4D97-AF65-F5344CB8AC3E}">
        <p14:creationId xmlns:p14="http://schemas.microsoft.com/office/powerpoint/2010/main" val="1096169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118195" y="1215231"/>
            <a:ext cx="11941869" cy="5572125"/>
          </a:xfrm>
          <a:prstGeom prst="rect">
            <a:avLst/>
          </a:prstGeom>
        </p:spPr>
      </p:pic>
    </p:spTree>
    <p:extLst>
      <p:ext uri="{BB962C8B-B14F-4D97-AF65-F5344CB8AC3E}">
        <p14:creationId xmlns:p14="http://schemas.microsoft.com/office/powerpoint/2010/main" val="1096816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pic>
        <p:nvPicPr>
          <p:cNvPr id="5" name="Picture 4"/>
          <p:cNvPicPr>
            <a:picLocks noChangeAspect="1"/>
          </p:cNvPicPr>
          <p:nvPr/>
        </p:nvPicPr>
        <p:blipFill>
          <a:blip r:embed="rId2"/>
          <a:stretch>
            <a:fillRect/>
          </a:stretch>
        </p:blipFill>
        <p:spPr>
          <a:xfrm>
            <a:off x="1" y="1271587"/>
            <a:ext cx="12192000" cy="4314825"/>
          </a:xfrm>
          <a:prstGeom prst="rect">
            <a:avLst/>
          </a:prstGeom>
        </p:spPr>
      </p:pic>
      <p:pic>
        <p:nvPicPr>
          <p:cNvPr id="6" name="Picture 5"/>
          <p:cNvPicPr>
            <a:picLocks noChangeAspect="1"/>
          </p:cNvPicPr>
          <p:nvPr/>
        </p:nvPicPr>
        <p:blipFill>
          <a:blip r:embed="rId3"/>
          <a:stretch>
            <a:fillRect/>
          </a:stretch>
        </p:blipFill>
        <p:spPr>
          <a:xfrm>
            <a:off x="0" y="5586412"/>
            <a:ext cx="8524875" cy="952500"/>
          </a:xfrm>
          <a:prstGeom prst="rect">
            <a:avLst/>
          </a:prstGeom>
        </p:spPr>
      </p:pic>
      <p:pic>
        <p:nvPicPr>
          <p:cNvPr id="7" name="Picture 6"/>
          <p:cNvPicPr>
            <a:picLocks noChangeAspect="1"/>
          </p:cNvPicPr>
          <p:nvPr/>
        </p:nvPicPr>
        <p:blipFill>
          <a:blip r:embed="rId4"/>
          <a:stretch>
            <a:fillRect/>
          </a:stretch>
        </p:blipFill>
        <p:spPr>
          <a:xfrm>
            <a:off x="8618985" y="5286375"/>
            <a:ext cx="3248025" cy="1190625"/>
          </a:xfrm>
          <a:prstGeom prst="rect">
            <a:avLst/>
          </a:prstGeom>
        </p:spPr>
      </p:pic>
    </p:spTree>
    <p:extLst>
      <p:ext uri="{BB962C8B-B14F-4D97-AF65-F5344CB8AC3E}">
        <p14:creationId xmlns:p14="http://schemas.microsoft.com/office/powerpoint/2010/main" val="384068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p:txBody>
      </p:sp>
      <p:pic>
        <p:nvPicPr>
          <p:cNvPr id="4" name="Picture 3"/>
          <p:cNvPicPr>
            <a:picLocks noChangeAspect="1"/>
          </p:cNvPicPr>
          <p:nvPr/>
        </p:nvPicPr>
        <p:blipFill>
          <a:blip r:embed="rId2"/>
          <a:stretch>
            <a:fillRect/>
          </a:stretch>
        </p:blipFill>
        <p:spPr>
          <a:xfrm>
            <a:off x="1294259" y="1253678"/>
            <a:ext cx="8753475" cy="5200650"/>
          </a:xfrm>
          <a:prstGeom prst="rect">
            <a:avLst/>
          </a:prstGeom>
        </p:spPr>
      </p:pic>
    </p:spTree>
    <p:extLst>
      <p:ext uri="{BB962C8B-B14F-4D97-AF65-F5344CB8AC3E}">
        <p14:creationId xmlns:p14="http://schemas.microsoft.com/office/powerpoint/2010/main" val="2766697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p:txBody>
      </p:sp>
      <p:pic>
        <p:nvPicPr>
          <p:cNvPr id="5" name="Picture 4"/>
          <p:cNvPicPr>
            <a:picLocks noChangeAspect="1"/>
          </p:cNvPicPr>
          <p:nvPr/>
        </p:nvPicPr>
        <p:blipFill>
          <a:blip r:embed="rId2"/>
          <a:stretch>
            <a:fillRect/>
          </a:stretch>
        </p:blipFill>
        <p:spPr>
          <a:xfrm>
            <a:off x="1248781" y="1200944"/>
            <a:ext cx="9153525" cy="5600700"/>
          </a:xfrm>
          <a:prstGeom prst="rect">
            <a:avLst/>
          </a:prstGeom>
        </p:spPr>
      </p:pic>
    </p:spTree>
    <p:extLst>
      <p:ext uri="{BB962C8B-B14F-4D97-AF65-F5344CB8AC3E}">
        <p14:creationId xmlns:p14="http://schemas.microsoft.com/office/powerpoint/2010/main" val="30377357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p:txBody>
      </p:sp>
      <p:pic>
        <p:nvPicPr>
          <p:cNvPr id="4" name="Picture 3"/>
          <p:cNvPicPr>
            <a:picLocks noChangeAspect="1"/>
          </p:cNvPicPr>
          <p:nvPr/>
        </p:nvPicPr>
        <p:blipFill>
          <a:blip r:embed="rId2"/>
          <a:stretch>
            <a:fillRect/>
          </a:stretch>
        </p:blipFill>
        <p:spPr>
          <a:xfrm>
            <a:off x="1588567" y="1267619"/>
            <a:ext cx="9001125" cy="5467350"/>
          </a:xfrm>
          <a:prstGeom prst="rect">
            <a:avLst/>
          </a:prstGeom>
        </p:spPr>
      </p:pic>
    </p:spTree>
    <p:extLst>
      <p:ext uri="{BB962C8B-B14F-4D97-AF65-F5344CB8AC3E}">
        <p14:creationId xmlns:p14="http://schemas.microsoft.com/office/powerpoint/2010/main" val="1865532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lnSpcReduction="10000"/>
          </a:bodyPr>
          <a:lstStyle/>
          <a:p>
            <a:pPr fontAlgn="base"/>
            <a:r>
              <a:rPr lang="en-US" b="1" dirty="0"/>
              <a:t>Q. Imagine a classroom of 100 students in which you gave your pen to one person. You have to find that pen without knowing to whom you gave it.</a:t>
            </a:r>
            <a:r>
              <a:rPr lang="en-US" dirty="0"/>
              <a:t> </a:t>
            </a:r>
          </a:p>
          <a:p>
            <a:pPr fontAlgn="base"/>
            <a:r>
              <a:rPr lang="en-US" dirty="0"/>
              <a:t>Here are some ways to find the pen and what the O order is.</a:t>
            </a:r>
          </a:p>
          <a:p>
            <a:pPr fontAlgn="base"/>
            <a:r>
              <a:rPr lang="en-US" b="1" dirty="0"/>
              <a:t>O(n</a:t>
            </a:r>
            <a:r>
              <a:rPr lang="en-US" b="1" baseline="30000" dirty="0"/>
              <a:t>2</a:t>
            </a:r>
            <a:r>
              <a:rPr lang="en-US" b="1" dirty="0"/>
              <a:t>):</a:t>
            </a:r>
            <a:r>
              <a:rPr lang="en-US" dirty="0"/>
              <a:t> You go and ask the first person in the class if he has the pen. Also, you ask this person about the other 99 people in the classroom if they have that pen and so on, </a:t>
            </a:r>
            <a:br>
              <a:rPr lang="en-US" dirty="0"/>
            </a:br>
            <a:r>
              <a:rPr lang="en-US" dirty="0"/>
              <a:t>This is what we call O(n</a:t>
            </a:r>
            <a:r>
              <a:rPr lang="en-US" baseline="30000" dirty="0"/>
              <a:t>2</a:t>
            </a:r>
            <a:r>
              <a:rPr lang="en-US" dirty="0"/>
              <a:t>). </a:t>
            </a:r>
            <a:r>
              <a:rPr lang="en-US" dirty="0" smtClean="0"/>
              <a:t> // nested loop</a:t>
            </a:r>
            <a:endParaRPr lang="en-US" dirty="0"/>
          </a:p>
          <a:p>
            <a:pPr fontAlgn="base"/>
            <a:r>
              <a:rPr lang="en-US" b="1" dirty="0"/>
              <a:t>O(n):</a:t>
            </a:r>
            <a:r>
              <a:rPr lang="en-US" dirty="0"/>
              <a:t> Going and asking each student individually is O(N). </a:t>
            </a:r>
            <a:r>
              <a:rPr lang="en-US" dirty="0" smtClean="0"/>
              <a:t>// </a:t>
            </a:r>
            <a:r>
              <a:rPr lang="en-US" smtClean="0"/>
              <a:t>single loop</a:t>
            </a:r>
            <a:endParaRPr lang="en-US" dirty="0"/>
          </a:p>
          <a:p>
            <a:pPr fontAlgn="base"/>
            <a:r>
              <a:rPr lang="en-US" b="1" dirty="0"/>
              <a:t>O(log n):</a:t>
            </a:r>
            <a:r>
              <a:rPr lang="en-US" dirty="0"/>
              <a:t> Now I divide the class into two groups, then ask: “Is it on the left side, or the right side of the classroom?” Then I take that group and divide it into two and ask again, and so on. Repeat the process till you are left with one student who has your pen. This is what you mean by O(log n).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67241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5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5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sz="115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fontAlgn="base"/>
            <a:r>
              <a:rPr lang="en-US" dirty="0"/>
              <a:t>I might need to do</a:t>
            </a:r>
            <a:r>
              <a:rPr lang="en-US" dirty="0" smtClean="0"/>
              <a:t>:</a:t>
            </a:r>
          </a:p>
          <a:p>
            <a:pPr fontAlgn="base"/>
            <a:r>
              <a:rPr lang="en-US" dirty="0"/>
              <a:t>The </a:t>
            </a:r>
            <a:r>
              <a:rPr lang="en-US" b="1" dirty="0"/>
              <a:t>O(n</a:t>
            </a:r>
            <a:r>
              <a:rPr lang="en-US" b="1" baseline="30000" dirty="0"/>
              <a:t>2</a:t>
            </a:r>
            <a:r>
              <a:rPr lang="en-US" b="1" dirty="0"/>
              <a:t>)</a:t>
            </a:r>
            <a:r>
              <a:rPr lang="en-US" dirty="0"/>
              <a:t> searches if </a:t>
            </a:r>
            <a:r>
              <a:rPr lang="en-US" b="1" dirty="0"/>
              <a:t>only one student knows on which student the pen is hidden</a:t>
            </a:r>
            <a:r>
              <a:rPr lang="en-US" dirty="0"/>
              <a:t>. </a:t>
            </a:r>
          </a:p>
          <a:p>
            <a:pPr fontAlgn="base"/>
            <a:r>
              <a:rPr lang="en-US" dirty="0"/>
              <a:t>The </a:t>
            </a:r>
            <a:r>
              <a:rPr lang="en-US" b="1" dirty="0"/>
              <a:t>O(n)</a:t>
            </a:r>
            <a:r>
              <a:rPr lang="en-US" dirty="0"/>
              <a:t> if </a:t>
            </a:r>
            <a:r>
              <a:rPr lang="en-US" b="1" dirty="0"/>
              <a:t>one student had the pen and only they knew it</a:t>
            </a:r>
            <a:r>
              <a:rPr lang="en-US" dirty="0"/>
              <a:t>. </a:t>
            </a:r>
          </a:p>
          <a:p>
            <a:pPr fontAlgn="base"/>
            <a:r>
              <a:rPr lang="en-US" dirty="0"/>
              <a:t>The </a:t>
            </a:r>
            <a:r>
              <a:rPr lang="en-US" b="1" dirty="0"/>
              <a:t>O(log n)</a:t>
            </a:r>
            <a:r>
              <a:rPr lang="en-US" dirty="0"/>
              <a:t> search if </a:t>
            </a:r>
            <a:r>
              <a:rPr lang="en-US" b="1" dirty="0"/>
              <a:t>all the students knew</a:t>
            </a:r>
            <a:r>
              <a:rPr lang="en-US" dirty="0"/>
              <a:t>, but would only tell me if I guessed the right side. </a:t>
            </a:r>
          </a:p>
          <a:p>
            <a:pPr fontAlgn="base"/>
            <a:r>
              <a:rPr lang="en-US" dirty="0" err="1" smtClean="0">
                <a:latin typeface="Times New Roman" panose="02020603050405020304" pitchFamily="18" charset="0"/>
                <a:cs typeface="Times New Roman" panose="02020603050405020304" pitchFamily="18" charset="0"/>
              </a:rPr>
              <a:t>Note:</a:t>
            </a:r>
            <a:r>
              <a:rPr lang="en-US" b="1" i="1" dirty="0" err="1"/>
              <a:t>Time</a:t>
            </a:r>
            <a:r>
              <a:rPr lang="en-US" b="1" i="1" dirty="0"/>
              <a:t> Complexity considers how many times each statement executes.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1041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Big O Notation</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algn="l"/>
            <a:r>
              <a:rPr lang="en-US" b="0" i="0" dirty="0">
                <a:solidFill>
                  <a:srgbClr val="202124"/>
                </a:solidFill>
                <a:effectLst/>
                <a:latin typeface="arial" panose="020B0604020202020204" pitchFamily="34" charset="0"/>
              </a:rPr>
              <a:t>Big O Notation is </a:t>
            </a:r>
            <a:r>
              <a:rPr lang="en-US" b="1" i="0" dirty="0">
                <a:solidFill>
                  <a:srgbClr val="202124"/>
                </a:solidFill>
                <a:effectLst/>
                <a:latin typeface="arial" panose="020B0604020202020204" pitchFamily="34" charset="0"/>
              </a:rPr>
              <a:t>a tool used to describe the time complexity of algorithms</a:t>
            </a:r>
            <a:r>
              <a:rPr lang="en-US" b="0" i="0" dirty="0">
                <a:solidFill>
                  <a:srgbClr val="202124"/>
                </a:solidFill>
                <a:effectLst/>
                <a:latin typeface="arial" panose="020B0604020202020204" pitchFamily="34" charset="0"/>
              </a:rPr>
              <a:t>. </a:t>
            </a:r>
          </a:p>
          <a:p>
            <a:pPr algn="l"/>
            <a:r>
              <a:rPr lang="en-US" b="0" i="0" dirty="0">
                <a:solidFill>
                  <a:srgbClr val="202124"/>
                </a:solidFill>
                <a:effectLst/>
                <a:latin typeface="arial" panose="020B0604020202020204" pitchFamily="34" charset="0"/>
              </a:rPr>
              <a:t>It calculates the time taken to run an algorithm as the input grows.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3405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4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1)Example: </a:t>
            </a:r>
          </a:p>
          <a:p>
            <a:pPr marL="0" indent="0">
              <a:buNone/>
            </a:pPr>
            <a:r>
              <a:rPr lang="en-IN" dirty="0">
                <a:latin typeface="Times New Roman" panose="02020603050405020304" pitchFamily="18" charset="0"/>
                <a:cs typeface="Times New Roman" panose="02020603050405020304" pitchFamily="18" charset="0"/>
              </a:rPr>
              <a:t>	print("Hello World") - &gt; </a:t>
            </a:r>
            <a:r>
              <a:rPr lang="en-IN" b="1" i="0" dirty="0">
                <a:solidFill>
                  <a:srgbClr val="273239"/>
                </a:solidFill>
                <a:effectLst/>
                <a:latin typeface="urw-din"/>
              </a:rPr>
              <a:t>O(1)</a:t>
            </a:r>
          </a:p>
          <a:p>
            <a:pPr marL="0" indent="0">
              <a:buNone/>
            </a:pPr>
            <a:r>
              <a:rPr lang="en-US" dirty="0">
                <a:latin typeface="Times New Roman" panose="02020603050405020304" pitchFamily="18" charset="0"/>
                <a:cs typeface="Times New Roman" panose="02020603050405020304" pitchFamily="18" charset="0"/>
              </a:rPr>
              <a:t>2) Example:</a:t>
            </a:r>
          </a:p>
          <a:p>
            <a:pPr marL="0" indent="0">
              <a:buNone/>
            </a:pPr>
            <a:r>
              <a:rPr lang="en-US" dirty="0">
                <a:latin typeface="Times New Roman" panose="02020603050405020304" pitchFamily="18" charset="0"/>
                <a:cs typeface="Times New Roman" panose="02020603050405020304" pitchFamily="18" charset="0"/>
              </a:rPr>
              <a:t>	</a:t>
            </a:r>
            <a:r>
              <a:rPr lang="nn-NO" dirty="0">
                <a:latin typeface="Times New Roman" panose="02020603050405020304" pitchFamily="18" charset="0"/>
                <a:cs typeface="Times New Roman" panose="02020603050405020304" pitchFamily="18" charset="0"/>
              </a:rPr>
              <a:t>int i, n = 8;</a:t>
            </a:r>
          </a:p>
          <a:p>
            <a:pPr marL="0" indent="0">
              <a:buNone/>
            </a:pPr>
            <a:r>
              <a:rPr lang="nn-NO" dirty="0">
                <a:latin typeface="Times New Roman" panose="02020603050405020304" pitchFamily="18" charset="0"/>
                <a:cs typeface="Times New Roman" panose="02020603050405020304" pitchFamily="18" charset="0"/>
              </a:rPr>
              <a:t>    	for (i = 1; i &lt;= n; i++) {</a:t>
            </a:r>
          </a:p>
          <a:p>
            <a:pPr marL="0" indent="0">
              <a:buNone/>
            </a:pPr>
            <a:r>
              <a:rPr lang="nn-NO" dirty="0">
                <a:latin typeface="Times New Roman" panose="02020603050405020304" pitchFamily="18" charset="0"/>
                <a:cs typeface="Times New Roman" panose="02020603050405020304" pitchFamily="18" charset="0"/>
              </a:rPr>
              <a:t>        		printf("Hello World !!!\n");</a:t>
            </a:r>
          </a:p>
          <a:p>
            <a:pPr marL="0" indent="0">
              <a:buNone/>
            </a:pPr>
            <a:r>
              <a:rPr lang="nn-NO" dirty="0">
                <a:latin typeface="Times New Roman" panose="02020603050405020304" pitchFamily="18" charset="0"/>
                <a:cs typeface="Times New Roman" panose="02020603050405020304" pitchFamily="18" charset="0"/>
              </a:rPr>
              <a:t>    	}</a:t>
            </a:r>
          </a:p>
          <a:p>
            <a:pPr marL="0" indent="0">
              <a:buNone/>
            </a:pPr>
            <a:r>
              <a:rPr lang="nn-NO" dirty="0">
                <a:latin typeface="Times New Roman" panose="02020603050405020304" pitchFamily="18" charset="0"/>
                <a:cs typeface="Times New Roman" panose="02020603050405020304" pitchFamily="18" charset="0"/>
              </a:rPr>
              <a:t>Complexity: 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85524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4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b="1" dirty="0">
              <a:solidFill>
                <a:srgbClr val="FF0000"/>
              </a:solidFill>
            </a:endParaRPr>
          </a:p>
        </p:txBody>
      </p:sp>
      <p:pic>
        <p:nvPicPr>
          <p:cNvPr id="1026" name="Picture 2" descr="https://lh4.googleusercontent.com/JgI8EESVOdIg6HWlL1ObPmAW20o_g8nlRhYEQRGUyLpxUhUTr_kGEQSJjdx3XyF9LUBjr5lqcmjKUHkJlavAAFs892SO_8KvDNexyWjBLCupQ_rsLXRLNcLqUizdyQ"/>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1562" y="1297636"/>
            <a:ext cx="7923655" cy="4366936"/>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xmlns="" id="{806FE3FC-31AD-FA4D-2E69-DCE31E155D1B}"/>
              </a:ext>
            </a:extLst>
          </p:cNvPr>
          <p:cNvSpPr txBox="1">
            <a:spLocks/>
          </p:cNvSpPr>
          <p:nvPr/>
        </p:nvSpPr>
        <p:spPr>
          <a:xfrm>
            <a:off x="216108" y="5664572"/>
            <a:ext cx="11746041" cy="94072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latin typeface="Times New Roman" panose="02020603050405020304" pitchFamily="18" charset="0"/>
                <a:cs typeface="Times New Roman" panose="02020603050405020304" pitchFamily="18" charset="0"/>
              </a:rPr>
              <a:t>There are three separate statements inside the main() function, the overall time complexity is </a:t>
            </a:r>
            <a:r>
              <a:rPr lang="en-US" b="1" dirty="0" smtClean="0">
                <a:latin typeface="Times New Roman" panose="02020603050405020304" pitchFamily="18" charset="0"/>
                <a:cs typeface="Times New Roman" panose="02020603050405020304" pitchFamily="18" charset="0"/>
              </a:rPr>
              <a:t>O(1) </a:t>
            </a:r>
            <a:r>
              <a:rPr lang="en-US" dirty="0" smtClean="0">
                <a:latin typeface="Times New Roman" panose="02020603050405020304" pitchFamily="18" charset="0"/>
                <a:cs typeface="Times New Roman" panose="02020603050405020304" pitchFamily="18" charset="0"/>
              </a:rPr>
              <a:t>because each statement only takes unit time to complete execution.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1853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4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b="1" dirty="0">
              <a:solidFill>
                <a:srgbClr val="FF0000"/>
              </a:solidFill>
            </a:endParaRPr>
          </a:p>
        </p:txBody>
      </p:sp>
      <p:pic>
        <p:nvPicPr>
          <p:cNvPr id="2050" name="Picture 2" descr="https://lh5.googleusercontent.com/d5S9csCx6E8Omt8_oU6VAwySARDgrVt43F53FyK42Iw8pIx5TJNf1ow0fE8_ECMXDI3E4ZKhB0Y0WdJLagYra9Vd9j5r1MlCgsfrT8HK1gWG9u0qI9dcj_aQLnLsy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347" y="1127833"/>
            <a:ext cx="7017957" cy="453673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1197265" y="5849960"/>
            <a:ext cx="10033112" cy="876300"/>
          </a:xfrm>
          <a:prstGeom prst="rect">
            <a:avLst/>
          </a:prstGeom>
        </p:spPr>
      </p:pic>
    </p:spTree>
    <p:extLst>
      <p:ext uri="{BB962C8B-B14F-4D97-AF65-F5344CB8AC3E}">
        <p14:creationId xmlns:p14="http://schemas.microsoft.com/office/powerpoint/2010/main" val="3653968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4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b="1" dirty="0">
              <a:solidFill>
                <a:srgbClr val="FF0000"/>
              </a:solidFill>
            </a:endParaRPr>
          </a:p>
        </p:txBody>
      </p:sp>
      <p:pic>
        <p:nvPicPr>
          <p:cNvPr id="3" name="Picture 2"/>
          <p:cNvPicPr>
            <a:picLocks noChangeAspect="1"/>
          </p:cNvPicPr>
          <p:nvPr/>
        </p:nvPicPr>
        <p:blipFill>
          <a:blip r:embed="rId2"/>
          <a:stretch>
            <a:fillRect/>
          </a:stretch>
        </p:blipFill>
        <p:spPr>
          <a:xfrm>
            <a:off x="827337" y="1506083"/>
            <a:ext cx="10909527" cy="3927308"/>
          </a:xfrm>
          <a:prstGeom prst="rect">
            <a:avLst/>
          </a:prstGeom>
        </p:spPr>
      </p:pic>
    </p:spTree>
    <p:extLst>
      <p:ext uri="{BB962C8B-B14F-4D97-AF65-F5344CB8AC3E}">
        <p14:creationId xmlns:p14="http://schemas.microsoft.com/office/powerpoint/2010/main" val="21700128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4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Sum(a, b) { return a + b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Time Complexity =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O(1</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3401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Time</a:t>
            </a:r>
            <a:r>
              <a:rPr lang="en-US" sz="4400" b="1" spc="-25"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 </a:t>
            </a:r>
            <a:r>
              <a:rPr lang="en-US" sz="4400" b="1" dirty="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complexity</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total =0                   // no of times=1</a:t>
            </a:r>
          </a:p>
          <a:p>
            <a:pPr marL="0" indent="0">
              <a:buNone/>
            </a:pPr>
            <a:r>
              <a:rPr lang="en-US" dirty="0">
                <a:latin typeface="Times New Roman" panose="02020603050405020304" pitchFamily="18" charset="0"/>
                <a:cs typeface="Times New Roman" panose="02020603050405020304" pitchFamily="18" charset="0"/>
              </a:rPr>
              <a:t>for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=0 to n-1             // no of times=n+1 (+1 for the end false condition)</a:t>
            </a:r>
          </a:p>
          <a:p>
            <a:pPr marL="0" indent="0">
              <a:buNone/>
            </a:pPr>
            <a:r>
              <a:rPr lang="en-US" dirty="0">
                <a:latin typeface="Times New Roman" panose="02020603050405020304" pitchFamily="18" charset="0"/>
                <a:cs typeface="Times New Roman" panose="02020603050405020304" pitchFamily="18" charset="0"/>
              </a:rPr>
              <a:t>    sum = sum + A[</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no of times=n</a:t>
            </a:r>
          </a:p>
          <a:p>
            <a:pPr marL="0" indent="0">
              <a:buNone/>
            </a:pPr>
            <a:r>
              <a:rPr lang="en-US" dirty="0">
                <a:latin typeface="Times New Roman" panose="02020603050405020304" pitchFamily="18" charset="0"/>
                <a:cs typeface="Times New Roman" panose="02020603050405020304" pitchFamily="18" charset="0"/>
              </a:rPr>
              <a:t>return sum 		// no of times = 1</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Time </a:t>
            </a:r>
            <a:r>
              <a:rPr lang="en-US" dirty="0">
                <a:latin typeface="Times New Roman" panose="02020603050405020304" pitchFamily="18" charset="0"/>
                <a:cs typeface="Times New Roman" panose="02020603050405020304" pitchFamily="18" charset="0"/>
              </a:rPr>
              <a:t>complexity = </a:t>
            </a:r>
            <a:r>
              <a:rPr lang="en-IN" b="0" i="1" dirty="0">
                <a:solidFill>
                  <a:srgbClr val="273239"/>
                </a:solidFill>
                <a:effectLst/>
                <a:latin typeface="urw-din"/>
              </a:rPr>
              <a:t>O(n)</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7304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smtClean="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Day 1 Programs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r>
              <a:rPr lang="en-US" b="1" dirty="0"/>
              <a:t>Sum of digits algorithm</a:t>
            </a:r>
          </a:p>
          <a:p>
            <a:r>
              <a:rPr lang="en-US" dirty="0"/>
              <a:t>To get sum of each digits by c program, use the following algorithm:</a:t>
            </a:r>
          </a:p>
          <a:p>
            <a:r>
              <a:rPr lang="en-US" dirty="0"/>
              <a:t>Step 1: Get number by user</a:t>
            </a:r>
          </a:p>
          <a:p>
            <a:r>
              <a:rPr lang="en-US" dirty="0"/>
              <a:t>Step 2: Get the modulus/remainder of the number</a:t>
            </a:r>
          </a:p>
          <a:p>
            <a:r>
              <a:rPr lang="en-US" dirty="0"/>
              <a:t>Step 3: sum the remainder of the number</a:t>
            </a:r>
          </a:p>
          <a:p>
            <a:r>
              <a:rPr lang="en-US" dirty="0"/>
              <a:t>Step 4: Divide the number by 10</a:t>
            </a:r>
          </a:p>
          <a:p>
            <a:r>
              <a:rPr lang="en-US" dirty="0"/>
              <a:t>Step 5: Repeat the step 2 while number is greater than 0.</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0188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smtClean="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Day 1 Programs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012022"/>
          </a:xfrm>
        </p:spPr>
        <p:txBody>
          <a:bodyPr>
            <a:normAutofit/>
          </a:bodyPr>
          <a:lstStyle/>
          <a:p>
            <a:r>
              <a:rPr lang="en-US" b="1" dirty="0" smtClean="0"/>
              <a:t> </a:t>
            </a:r>
            <a:r>
              <a:rPr lang="en-US" b="1" dirty="0"/>
              <a:t>Write a program to find the total of each rows and columns in a given matrix.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3421754" y="2495198"/>
            <a:ext cx="4125265" cy="3777630"/>
          </a:xfrm>
          <a:prstGeom prst="rect">
            <a:avLst/>
          </a:prstGeom>
        </p:spPr>
      </p:pic>
    </p:spTree>
    <p:extLst>
      <p:ext uri="{BB962C8B-B14F-4D97-AF65-F5344CB8AC3E}">
        <p14:creationId xmlns:p14="http://schemas.microsoft.com/office/powerpoint/2010/main" val="373875965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smtClean="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Day 1 Programs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155252"/>
          </a:xfrm>
        </p:spPr>
        <p:txBody>
          <a:bodyPr>
            <a:normAutofit fontScale="77500" lnSpcReduction="20000"/>
          </a:bodyPr>
          <a:lstStyle/>
          <a:p>
            <a:r>
              <a:rPr lang="en-US" sz="4300" b="1" dirty="0" smtClean="0"/>
              <a:t> Algorithm to </a:t>
            </a:r>
            <a:r>
              <a:rPr lang="en-US" sz="4300" b="1" dirty="0"/>
              <a:t>find the total of each rows and columns in a given matrix. </a:t>
            </a:r>
            <a:endParaRPr lang="en-US" sz="4300" b="1" dirty="0" smtClean="0"/>
          </a:p>
          <a:p>
            <a:r>
              <a:rPr lang="en-US" sz="4300" dirty="0"/>
              <a:t>Algorithm</a:t>
            </a:r>
          </a:p>
          <a:p>
            <a:r>
              <a:rPr lang="en-US" sz="2300" b="1" dirty="0"/>
              <a:t>STEP 1:</a:t>
            </a:r>
            <a:r>
              <a:rPr lang="en-US" sz="2300" dirty="0"/>
              <a:t> START</a:t>
            </a:r>
          </a:p>
          <a:p>
            <a:r>
              <a:rPr lang="en-US" sz="2300" b="1" dirty="0"/>
              <a:t>STEP 2:</a:t>
            </a:r>
            <a:r>
              <a:rPr lang="en-US" sz="2300" dirty="0"/>
              <a:t> DEFINE </a:t>
            </a:r>
            <a:r>
              <a:rPr lang="en-US" sz="2300" dirty="0" smtClean="0"/>
              <a:t>rows (m) , cols (n), sum</a:t>
            </a:r>
            <a:endParaRPr lang="en-US" sz="2300" dirty="0"/>
          </a:p>
          <a:p>
            <a:r>
              <a:rPr lang="en-US" sz="2300" b="1" dirty="0"/>
              <a:t>STEP 3:</a:t>
            </a:r>
            <a:r>
              <a:rPr lang="en-US" sz="2300" dirty="0"/>
              <a:t> </a:t>
            </a:r>
            <a:r>
              <a:rPr lang="en-US" sz="2300" dirty="0" smtClean="0"/>
              <a:t>input the order of matrix // enter m and n</a:t>
            </a:r>
          </a:p>
          <a:p>
            <a:r>
              <a:rPr lang="en-US" sz="2300" b="1" dirty="0"/>
              <a:t>STEP </a:t>
            </a:r>
            <a:r>
              <a:rPr lang="en-US" sz="2300" b="1" dirty="0" smtClean="0"/>
              <a:t>4:</a:t>
            </a:r>
            <a:r>
              <a:rPr lang="en-US" sz="2300" dirty="0"/>
              <a:t> input </a:t>
            </a:r>
            <a:r>
              <a:rPr lang="en-US" sz="2300" dirty="0" smtClean="0"/>
              <a:t> the coefficient of the matrix // for loop nested : outer loop </a:t>
            </a:r>
            <a:r>
              <a:rPr lang="en-US" sz="2300" dirty="0" err="1" smtClean="0"/>
              <a:t>i</a:t>
            </a:r>
            <a:r>
              <a:rPr lang="en-US" sz="2300" dirty="0" smtClean="0"/>
              <a:t>=0;i&lt;m (rows) &amp; inner loop j=0;j&lt;n (cols)</a:t>
            </a:r>
            <a:endParaRPr lang="en-US" sz="2300" dirty="0"/>
          </a:p>
          <a:p>
            <a:r>
              <a:rPr lang="en-US" sz="2300" b="1" dirty="0" smtClean="0"/>
              <a:t>STEP 5: </a:t>
            </a:r>
            <a:r>
              <a:rPr lang="en-US" sz="2300" dirty="0" smtClean="0"/>
              <a:t>calculate sum of the row // nested for loop :</a:t>
            </a:r>
            <a:r>
              <a:rPr lang="en-US" sz="2300" dirty="0"/>
              <a:t>outer loop </a:t>
            </a:r>
            <a:r>
              <a:rPr lang="en-US" sz="2300" dirty="0" err="1"/>
              <a:t>i</a:t>
            </a:r>
            <a:r>
              <a:rPr lang="en-US" sz="2300" dirty="0"/>
              <a:t>=0;i&lt;m (rows) &amp; inner loop j=0;j&lt;n (cols</a:t>
            </a:r>
            <a:r>
              <a:rPr lang="en-US" sz="2300" dirty="0" smtClean="0"/>
              <a:t>) {sum=</a:t>
            </a:r>
            <a:r>
              <a:rPr lang="en-US" sz="2300" dirty="0" err="1" smtClean="0"/>
              <a:t>sum+a</a:t>
            </a:r>
            <a:r>
              <a:rPr lang="en-US" sz="2300" dirty="0" smtClean="0"/>
              <a:t>[</a:t>
            </a:r>
            <a:r>
              <a:rPr lang="en-US" sz="2300" dirty="0" err="1" smtClean="0"/>
              <a:t>i</a:t>
            </a:r>
            <a:r>
              <a:rPr lang="en-US" sz="2300" dirty="0" smtClean="0"/>
              <a:t>][j]} </a:t>
            </a:r>
          </a:p>
          <a:p>
            <a:r>
              <a:rPr lang="en-US" sz="2300" b="1" dirty="0"/>
              <a:t>STEP 5: </a:t>
            </a:r>
            <a:r>
              <a:rPr lang="en-US" sz="2300" dirty="0" smtClean="0"/>
              <a:t>Print sum </a:t>
            </a:r>
          </a:p>
          <a:p>
            <a:r>
              <a:rPr lang="en-US" sz="2300" b="1" dirty="0" smtClean="0"/>
              <a:t>STEP 6:</a:t>
            </a:r>
            <a:r>
              <a:rPr lang="en-US" sz="2300" dirty="0"/>
              <a:t> </a:t>
            </a:r>
            <a:r>
              <a:rPr lang="en-US" sz="2300" dirty="0" smtClean="0"/>
              <a:t>Set sum =0</a:t>
            </a:r>
          </a:p>
          <a:p>
            <a:r>
              <a:rPr lang="en-US" sz="2300" b="1" dirty="0"/>
              <a:t>STEP </a:t>
            </a:r>
            <a:r>
              <a:rPr lang="en-US" sz="2300" b="1" dirty="0" smtClean="0"/>
              <a:t>7: </a:t>
            </a:r>
            <a:r>
              <a:rPr lang="en-US" sz="2300" dirty="0"/>
              <a:t>calculate sum of the </a:t>
            </a:r>
            <a:r>
              <a:rPr lang="en-US" sz="2300" dirty="0" smtClean="0"/>
              <a:t>col// </a:t>
            </a:r>
            <a:r>
              <a:rPr lang="en-US" sz="2300" dirty="0"/>
              <a:t>nested for loop :outer loop </a:t>
            </a:r>
            <a:r>
              <a:rPr lang="en-US" sz="2300" dirty="0" err="1" smtClean="0"/>
              <a:t>i</a:t>
            </a:r>
            <a:r>
              <a:rPr lang="en-US" sz="2300" dirty="0" smtClean="0"/>
              <a:t>=0;i&lt;n (cols) </a:t>
            </a:r>
            <a:r>
              <a:rPr lang="en-US" sz="2300" dirty="0"/>
              <a:t>&amp; inner loop j=0;j&lt;n </a:t>
            </a:r>
            <a:r>
              <a:rPr lang="en-US" sz="2300" dirty="0" smtClean="0"/>
              <a:t>(rows) </a:t>
            </a:r>
            <a:r>
              <a:rPr lang="en-US" sz="2300" dirty="0"/>
              <a:t>{sum=</a:t>
            </a:r>
            <a:r>
              <a:rPr lang="en-US" sz="2300" dirty="0" err="1"/>
              <a:t>sum+a</a:t>
            </a:r>
            <a:r>
              <a:rPr lang="en-US" sz="2300" dirty="0"/>
              <a:t>[</a:t>
            </a:r>
            <a:r>
              <a:rPr lang="en-US" sz="2300" dirty="0" err="1"/>
              <a:t>i</a:t>
            </a:r>
            <a:r>
              <a:rPr lang="en-US" sz="2300" dirty="0"/>
              <a:t>][j]}</a:t>
            </a:r>
          </a:p>
          <a:p>
            <a:r>
              <a:rPr lang="en-US" sz="2300" b="1" dirty="0"/>
              <a:t>STEP </a:t>
            </a:r>
            <a:r>
              <a:rPr lang="en-US" sz="2300" b="1" dirty="0" smtClean="0"/>
              <a:t>8: </a:t>
            </a:r>
            <a:r>
              <a:rPr lang="en-US" sz="2300" dirty="0"/>
              <a:t>Print sum</a:t>
            </a:r>
          </a:p>
          <a:p>
            <a:r>
              <a:rPr lang="en-US" sz="2300" b="1" dirty="0"/>
              <a:t>STEP </a:t>
            </a:r>
            <a:r>
              <a:rPr lang="en-US" sz="2300" b="1" dirty="0" smtClean="0"/>
              <a:t>9:</a:t>
            </a:r>
            <a:r>
              <a:rPr lang="en-US" sz="2300" dirty="0"/>
              <a:t> Set sum =0</a:t>
            </a:r>
          </a:p>
          <a:p>
            <a:r>
              <a:rPr lang="en-US" sz="2300" b="1" dirty="0" smtClean="0"/>
              <a:t>STEP 10:</a:t>
            </a:r>
            <a:r>
              <a:rPr lang="en-US" sz="2300" dirty="0"/>
              <a:t> END</a:t>
            </a:r>
          </a:p>
          <a:p>
            <a:endParaRPr lang="en-US" b="1" dirty="0"/>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6207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sz="4400" b="1" dirty="0" smtClean="0">
                <a:solidFill>
                  <a:srgbClr val="FF0000"/>
                </a:solidFill>
                <a:effectLst/>
                <a:latin typeface="Calibri Light" panose="020F0302020204030204" pitchFamily="34" charset="0"/>
                <a:ea typeface="Wingdings" panose="05000000000000000000" pitchFamily="2" charset="2"/>
                <a:cs typeface="Wingdings" panose="05000000000000000000" pitchFamily="2" charset="2"/>
              </a:rPr>
              <a:t>Day 1 Programs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593278"/>
            <a:ext cx="11746041" cy="5155252"/>
          </a:xfrm>
        </p:spPr>
        <p:txBody>
          <a:bodyPr>
            <a:normAutofit fontScale="92500" lnSpcReduction="20000"/>
          </a:bodyPr>
          <a:lstStyle/>
          <a:p>
            <a:pPr marL="0" indent="0">
              <a:buNone/>
            </a:pPr>
            <a:r>
              <a:rPr lang="en-US" dirty="0" smtClean="0"/>
              <a:t>Find second highest element from array. (23,12,43,40)</a:t>
            </a:r>
          </a:p>
          <a:p>
            <a:pPr marL="514350" indent="-514350">
              <a:buFont typeface="+mj-lt"/>
              <a:buAutoNum type="arabicPeriod"/>
            </a:pPr>
            <a:r>
              <a:rPr lang="en-US" dirty="0" smtClean="0"/>
              <a:t>Input </a:t>
            </a:r>
            <a:r>
              <a:rPr lang="en-US" dirty="0"/>
              <a:t>size and elements in array, store it in some variable say size and arr.</a:t>
            </a:r>
          </a:p>
          <a:p>
            <a:pPr marL="514350" indent="-514350">
              <a:buFont typeface="+mj-lt"/>
              <a:buAutoNum type="arabicPeriod"/>
            </a:pPr>
            <a:r>
              <a:rPr lang="en-US" dirty="0"/>
              <a:t>Declare two variables max1 and max2 to store first and second largest elements. Store minimum integer value in both i.e. max1 = max2 = INT_MIN</a:t>
            </a:r>
            <a:r>
              <a:rPr lang="en-US" dirty="0" smtClean="0"/>
              <a:t>.</a:t>
            </a:r>
          </a:p>
          <a:p>
            <a:pPr marL="0" indent="0">
              <a:buNone/>
            </a:pPr>
            <a:r>
              <a:rPr lang="en-US" dirty="0" smtClean="0"/>
              <a:t>Note: </a:t>
            </a:r>
            <a:r>
              <a:rPr lang="en-US" dirty="0"/>
              <a:t>INT_MIN </a:t>
            </a:r>
            <a:r>
              <a:rPr lang="en-US" b="1" dirty="0"/>
              <a:t>specifies that an integer variable cannot store any value below this limit</a:t>
            </a:r>
            <a:r>
              <a:rPr lang="en-US" dirty="0"/>
              <a:t>. Values of INT_MAX and INT_MIN may vary from compiler to compiler. Following are typical values in a compiler where integers are stored using 32 bits. Value of INT_MAX is +2147483647. Value of INT_MIN is -2147483648.</a:t>
            </a:r>
          </a:p>
          <a:p>
            <a:pPr marL="0" indent="0">
              <a:buNone/>
            </a:pPr>
            <a:r>
              <a:rPr lang="en-US" dirty="0" smtClean="0"/>
              <a:t>3. Iterate </a:t>
            </a:r>
            <a:r>
              <a:rPr lang="en-US" dirty="0"/>
              <a:t>though all array elements, run a loop from 0 to size - 1. Loop structure should look like for(</a:t>
            </a:r>
            <a:r>
              <a:rPr lang="en-US" dirty="0" err="1"/>
              <a:t>i</a:t>
            </a:r>
            <a:r>
              <a:rPr lang="en-US" dirty="0"/>
              <a:t>=0; </a:t>
            </a:r>
            <a:r>
              <a:rPr lang="en-US" dirty="0" err="1"/>
              <a:t>i</a:t>
            </a:r>
            <a:r>
              <a:rPr lang="en-US" dirty="0"/>
              <a:t>&lt;size; </a:t>
            </a:r>
            <a:r>
              <a:rPr lang="en-US" dirty="0" err="1"/>
              <a:t>i</a:t>
            </a:r>
            <a:r>
              <a:rPr lang="en-US" dirty="0" smtClean="0"/>
              <a:t>++).</a:t>
            </a:r>
          </a:p>
          <a:p>
            <a:pPr marL="0" indent="0">
              <a:buNone/>
            </a:pPr>
            <a:r>
              <a:rPr lang="en-US" dirty="0" smtClean="0"/>
              <a:t>4. Inside </a:t>
            </a:r>
            <a:r>
              <a:rPr lang="en-US" dirty="0"/>
              <a:t>loop, check if current array element is greater than max1, then make largest element as second largest and current array element as largest. Say, max2 = max1 and max1 = </a:t>
            </a:r>
            <a:r>
              <a:rPr lang="en-US" dirty="0" err="1"/>
              <a:t>arr</a:t>
            </a:r>
            <a:r>
              <a:rPr lang="en-US" dirty="0"/>
              <a:t>[</a:t>
            </a:r>
            <a:r>
              <a:rPr lang="en-US" dirty="0" err="1"/>
              <a:t>i</a:t>
            </a:r>
            <a:r>
              <a:rPr lang="en-US" dirty="0" smtClean="0"/>
              <a:t>].</a:t>
            </a:r>
          </a:p>
          <a:p>
            <a:pPr marL="0" indent="0">
              <a:buNone/>
            </a:pPr>
            <a:r>
              <a:rPr lang="en-US" dirty="0" smtClean="0"/>
              <a:t>5. Else </a:t>
            </a:r>
            <a:r>
              <a:rPr lang="en-US" dirty="0"/>
              <a:t>if the current array element is greater than max2 but less than max1 then make current array element as second largest i.e. max2 = </a:t>
            </a:r>
            <a:r>
              <a:rPr lang="en-US" dirty="0" err="1"/>
              <a:t>arr</a:t>
            </a:r>
            <a:r>
              <a:rPr lang="en-US" dirty="0"/>
              <a:t>[</a:t>
            </a:r>
            <a:r>
              <a:rPr lang="en-US" dirty="0" err="1"/>
              <a:t>i</a:t>
            </a:r>
            <a:r>
              <a:rPr lang="en-US" dirty="0"/>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802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542</TotalTime>
  <Words>2730</Words>
  <Application>Microsoft Office PowerPoint</Application>
  <PresentationFormat>Widescreen</PresentationFormat>
  <Paragraphs>370</Paragraphs>
  <Slides>55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55</vt:i4>
      </vt:variant>
    </vt:vector>
  </HeadingPairs>
  <TitlesOfParts>
    <vt:vector size="68" baseType="lpstr">
      <vt:lpstr>Arial</vt:lpstr>
      <vt:lpstr>Arial</vt:lpstr>
      <vt:lpstr>Calibri</vt:lpstr>
      <vt:lpstr>Calibri Light</vt:lpstr>
      <vt:lpstr>Cambria</vt:lpstr>
      <vt:lpstr>Courier New</vt:lpstr>
      <vt:lpstr>Shruti</vt:lpstr>
      <vt:lpstr>Symbol</vt:lpstr>
      <vt:lpstr>Times New Roman</vt:lpstr>
      <vt:lpstr>urw-din</vt:lpstr>
      <vt:lpstr>var(--font-din)</vt:lpstr>
      <vt:lpstr>Wingdings</vt:lpstr>
      <vt:lpstr>Office Theme</vt:lpstr>
      <vt:lpstr>DATA STRUCTURES</vt:lpstr>
      <vt:lpstr>DATA</vt:lpstr>
      <vt:lpstr>Introduction to Data Structure</vt:lpstr>
      <vt:lpstr>Introduction to Data Structure</vt:lpstr>
      <vt:lpstr>Data Structure</vt:lpstr>
      <vt:lpstr>Classification of Data Structure</vt:lpstr>
      <vt:lpstr>Data structures</vt:lpstr>
      <vt:lpstr>Primitive Data Structure</vt:lpstr>
      <vt:lpstr>Non primitive Data Type</vt:lpstr>
      <vt:lpstr>Non primitive Data Type</vt:lpstr>
      <vt:lpstr>Linear data structures</vt:lpstr>
      <vt:lpstr>Stack</vt:lpstr>
      <vt:lpstr>Queue</vt:lpstr>
      <vt:lpstr>Queue</vt:lpstr>
      <vt:lpstr>Linked List</vt:lpstr>
      <vt:lpstr>Linked List</vt:lpstr>
      <vt:lpstr>Nonlinear data structures</vt:lpstr>
      <vt:lpstr>Tree</vt:lpstr>
      <vt:lpstr>Graph</vt:lpstr>
      <vt:lpstr>Graph</vt:lpstr>
      <vt:lpstr>PowerPoint Presentation</vt:lpstr>
      <vt:lpstr>Linear – Non Linear Data types</vt:lpstr>
      <vt:lpstr>Difference between Linear and Non Linear Data Structure</vt:lpstr>
      <vt:lpstr>Operation on Data Structures</vt:lpstr>
      <vt:lpstr>Operation on Data Structures</vt:lpstr>
      <vt:lpstr>Operation on Data Structures</vt:lpstr>
      <vt:lpstr>Time and space analysis of algorithms</vt:lpstr>
      <vt:lpstr>Algorithm Efficiency</vt:lpstr>
      <vt:lpstr>Space complexity</vt:lpstr>
      <vt:lpstr>Space complexity</vt:lpstr>
      <vt:lpstr>Time complexity</vt:lpstr>
      <vt:lpstr>Time complexity</vt:lpstr>
      <vt:lpstr>Time complexity</vt:lpstr>
      <vt:lpstr>Time complexity</vt:lpstr>
      <vt:lpstr>Time complexity</vt:lpstr>
      <vt:lpstr>Time complexity</vt:lpstr>
      <vt:lpstr>Time complexity</vt:lpstr>
      <vt:lpstr>Time complexity</vt:lpstr>
      <vt:lpstr>Time complexity</vt:lpstr>
      <vt:lpstr>Time complexity</vt:lpstr>
      <vt:lpstr>Time complexity</vt:lpstr>
      <vt:lpstr>Time complexity</vt:lpstr>
      <vt:lpstr>Time complexity</vt:lpstr>
      <vt:lpstr>Time complexity</vt:lpstr>
      <vt:lpstr>Big O Notation</vt:lpstr>
      <vt:lpstr>Time complexity</vt:lpstr>
      <vt:lpstr>Time complexity</vt:lpstr>
      <vt:lpstr>Time complexity</vt:lpstr>
      <vt:lpstr>Time complexity</vt:lpstr>
      <vt:lpstr>Time complexity</vt:lpstr>
      <vt:lpstr>Time complexity</vt:lpstr>
      <vt:lpstr>Day 1 Programs</vt:lpstr>
      <vt:lpstr>Day 1 Programs</vt:lpstr>
      <vt:lpstr>Day 1 Programs</vt:lpstr>
      <vt:lpstr>Day 1 Programs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SutariaVidhi</dc:creator>
  <cp:lastModifiedBy>HP</cp:lastModifiedBy>
  <cp:revision>216</cp:revision>
  <dcterms:created xsi:type="dcterms:W3CDTF">2022-12-04T14:11:35Z</dcterms:created>
  <dcterms:modified xsi:type="dcterms:W3CDTF">2025-01-03T04:35:28Z</dcterms:modified>
</cp:coreProperties>
</file>