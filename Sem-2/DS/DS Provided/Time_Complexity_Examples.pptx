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3" r:id="rId16"/>
    <p:sldId id="270" r:id="rId17"/>
    <p:sldId id="271" r:id="rId18"/>
    <p:sldId id="272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49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Single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for(i=0;i&lt;n;i++)</a:t>
            </a:r>
          </a:p>
          <a:p>
            <a:r>
              <a:t> printf("Hello");</a:t>
            </a:r>
          </a:p>
          <a:p>
            <a:endParaRPr/>
          </a:p>
          <a:p>
            <a:r>
              <a:t>Time Complexity: O(n)</a:t>
            </a:r>
          </a:p>
          <a:p>
            <a:r>
              <a:t>Explanation: Loop runs n times.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2: Constant Work in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for(i=0;i&lt;n;i++)</a:t>
            </a:r>
          </a:p>
          <a:p>
            <a:r>
              <a:t> a=b+c;</a:t>
            </a:r>
          </a:p>
          <a:p>
            <a:endParaRPr/>
          </a:p>
          <a:p>
            <a:r>
              <a:t>Time Complexity: O(n)</a:t>
            </a:r>
          </a:p>
          <a:p>
            <a:r>
              <a:t>Explanation: Constant work n 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 3: Two Independent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Two loops each run n times.</a:t>
            </a:r>
          </a:p>
          <a:p>
            <a:endParaRPr dirty="0"/>
          </a:p>
          <a:p>
            <a:r>
              <a:rPr dirty="0"/>
              <a:t>Time Complexity: O(n)</a:t>
            </a:r>
          </a:p>
          <a:p>
            <a:r>
              <a:rPr dirty="0"/>
              <a:t>Explanation: n + n = 2n → O(n).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951" y="1600200"/>
            <a:ext cx="2580644" cy="30368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026791" y="3901607"/>
            <a:ext cx="2272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(constant 2 is ignored)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4: Nested 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4838"/>
            <a:ext cx="8229600" cy="4525963"/>
          </a:xfrm>
        </p:spPr>
        <p:txBody>
          <a:bodyPr/>
          <a:lstStyle/>
          <a:p>
            <a:r>
              <a:rPr dirty="0"/>
              <a:t>Outer loop n times</a:t>
            </a:r>
          </a:p>
          <a:p>
            <a:r>
              <a:rPr dirty="0"/>
              <a:t>Inner loop n times</a:t>
            </a:r>
          </a:p>
          <a:p>
            <a:endParaRPr lang="en-US" dirty="0" smtClean="0"/>
          </a:p>
          <a:p>
            <a:endParaRPr dirty="0"/>
          </a:p>
          <a:p>
            <a:r>
              <a:rPr dirty="0"/>
              <a:t>Time Complexity: O(n²).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804232" y="3285385"/>
            <a:ext cx="387150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Outer loop runs n times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Inner loop runs n times for each outer loop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Total operations = n × 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163" y="1943100"/>
            <a:ext cx="3300514" cy="27831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5: Triangular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dirty="0" smtClean="0"/>
              <a:t>Time </a:t>
            </a:r>
            <a:r>
              <a:rPr dirty="0"/>
              <a:t>Complexity: O(n²).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704" y="2064342"/>
            <a:ext cx="2929002" cy="2265287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94911" y="2166635"/>
            <a:ext cx="420844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Inner loop runs 1, 2, 3, … n times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operations =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n(n+1)/2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6: Increment by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Loop runs n/2 times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dirty="0"/>
          </a:p>
          <a:p>
            <a:r>
              <a:rPr dirty="0"/>
              <a:t>Time Complexity: O(n).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318" y="2417972"/>
            <a:ext cx="2962161" cy="1261661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43318" y="4105616"/>
            <a:ext cx="253466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 runs </a:t>
            </a:r>
            <a:r>
              <a:rPr lang="en-US" dirty="0">
                <a:latin typeface="Arial" panose="020B0604020202020204" pitchFamily="34" charset="0"/>
              </a:rPr>
              <a:t>n/2 times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Constants are ignored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682168" y="1513196"/>
            <a:ext cx="287174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does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change?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Starts at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Then: 3, 5, 7, 9,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Increases by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 each time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Number of iterations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loop runs until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&lt;=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So roughly: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n/2 iterations​ 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iterations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Time Complexity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Constants are ignored in Big-O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n/2 becomes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O(n)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7: Logarithmic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i</a:t>
            </a:r>
            <a:r>
              <a:rPr dirty="0"/>
              <a:t> doubles each time</a:t>
            </a:r>
          </a:p>
          <a:p>
            <a:endParaRPr lang="en-US" dirty="0" smtClean="0"/>
          </a:p>
          <a:p>
            <a:endParaRPr lang="en-US" sz="1800" dirty="0">
              <a:latin typeface="Arial" panose="020B0604020202020204" pitchFamily="34" charset="0"/>
            </a:endParaRPr>
          </a:p>
          <a:p>
            <a:endParaRPr lang="en-US" sz="1800" dirty="0">
              <a:latin typeface="Arial" panose="020B0604020202020204" pitchFamily="34" charset="0"/>
            </a:endParaRPr>
          </a:p>
          <a:p>
            <a:endParaRPr dirty="0"/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646" y="1600200"/>
            <a:ext cx="2887055" cy="1197396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27113" y="2882743"/>
            <a:ext cx="301742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i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doubles every iteration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Number of iterations = log₂ n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825388" y="2983861"/>
            <a:ext cx="239418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does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change?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Starts at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Then: 2, 4, 8, 16, 32, 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Multiplies by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 each time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275" y="4125405"/>
            <a:ext cx="3819525" cy="24288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82197" y="412540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Time Complexity</a:t>
            </a:r>
          </a:p>
          <a:p>
            <a:r>
              <a:rPr lang="en-US" dirty="0" smtClean="0"/>
              <a:t>Number </a:t>
            </a:r>
            <a:r>
              <a:rPr lang="en-US" dirty="0"/>
              <a:t>of iterations = </a:t>
            </a:r>
            <a:r>
              <a:rPr lang="en-US" b="1" dirty="0"/>
              <a:t>log₂ n</a:t>
            </a:r>
            <a:endParaRPr lang="en-US" dirty="0"/>
          </a:p>
          <a:p>
            <a:r>
              <a:rPr lang="en-US" b="1" dirty="0" smtClean="0"/>
              <a:t>Time </a:t>
            </a:r>
            <a:r>
              <a:rPr lang="en-US" b="1" dirty="0"/>
              <a:t>Complexity = O(log n)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8: 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Search space halves each time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dirty="0"/>
          </a:p>
          <a:p>
            <a:r>
              <a:rPr dirty="0"/>
              <a:t>Time Complexity: O(log n).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42" y="2131763"/>
            <a:ext cx="2206541" cy="2429219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00742" y="50457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 size reduces to half each step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searching method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9: n log 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Outer loop n</a:t>
            </a:r>
          </a:p>
          <a:p>
            <a:r>
              <a:rPr dirty="0"/>
              <a:t>Inner loop log n</a:t>
            </a:r>
          </a:p>
          <a:p>
            <a:endParaRPr dirty="0"/>
          </a:p>
          <a:p>
            <a:r>
              <a:rPr dirty="0"/>
              <a:t>Time Complexity: O(n log n).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215" y="1600200"/>
            <a:ext cx="3026541" cy="179350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10: Constant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Single statement</a:t>
            </a:r>
          </a:p>
          <a:p>
            <a:endParaRPr lang="en-US" dirty="0" smtClean="0"/>
          </a:p>
          <a:p>
            <a:endParaRPr lang="en-US" dirty="0"/>
          </a:p>
          <a:p>
            <a:endParaRPr dirty="0"/>
          </a:p>
          <a:p>
            <a:r>
              <a:rPr dirty="0"/>
              <a:t>Time Complexity: O(1).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19" y="2270508"/>
            <a:ext cx="2226267" cy="494726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27113" y="336014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Executes only once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dependency on input size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O(n!)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Example: Arranging Students in a Line</a:t>
            </a:r>
          </a:p>
          <a:p>
            <a:r>
              <a:rPr lang="en-US" b="1" dirty="0"/>
              <a:t>Problem</a:t>
            </a:r>
          </a:p>
          <a:p>
            <a:r>
              <a:rPr lang="en-US" dirty="0"/>
              <a:t>Suppose there are </a:t>
            </a:r>
            <a:r>
              <a:rPr lang="en-US" b="1" dirty="0"/>
              <a:t>n students</a:t>
            </a:r>
            <a:r>
              <a:rPr lang="en-US" dirty="0"/>
              <a:t> and you want to find </a:t>
            </a:r>
            <a:r>
              <a:rPr lang="en-US" b="1" dirty="0"/>
              <a:t>all possible seating arrangements</a:t>
            </a:r>
            <a:r>
              <a:rPr lang="en-US" dirty="0"/>
              <a:t> in a straight line.</a:t>
            </a:r>
          </a:p>
          <a:p>
            <a:r>
              <a:rPr lang="en-US" dirty="0"/>
              <a:t>Think of </a:t>
            </a:r>
            <a:r>
              <a:rPr lang="en-US" b="1" dirty="0"/>
              <a:t>3 students: A, B, C</a:t>
            </a:r>
            <a:endParaRPr lang="en-US" dirty="0"/>
          </a:p>
          <a:p>
            <a:r>
              <a:rPr lang="en-US" dirty="0"/>
              <a:t>Possible arrangements:</a:t>
            </a:r>
          </a:p>
          <a:p>
            <a:r>
              <a:rPr lang="en-IN" dirty="0"/>
              <a:t>ABC</a:t>
            </a:r>
          </a:p>
          <a:p>
            <a:r>
              <a:rPr lang="en-IN" dirty="0"/>
              <a:t>ACB</a:t>
            </a:r>
          </a:p>
          <a:p>
            <a:r>
              <a:rPr lang="en-IN" dirty="0"/>
              <a:t>BAC</a:t>
            </a:r>
          </a:p>
          <a:p>
            <a:r>
              <a:rPr lang="en-IN" dirty="0"/>
              <a:t>BCA</a:t>
            </a:r>
          </a:p>
          <a:p>
            <a:r>
              <a:rPr lang="en-IN" dirty="0"/>
              <a:t>CAB</a:t>
            </a:r>
          </a:p>
          <a:p>
            <a:r>
              <a:rPr lang="en-IN" dirty="0" smtClean="0"/>
              <a:t>CBA</a:t>
            </a:r>
          </a:p>
          <a:p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886419" y="5700440"/>
            <a:ext cx="192822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Total = 3! = 6 arrangements </a:t>
            </a:r>
          </a:p>
        </p:txBody>
      </p:sp>
    </p:spTree>
    <p:extLst>
      <p:ext uri="{BB962C8B-B14F-4D97-AF65-F5344CB8AC3E}">
        <p14:creationId xmlns:p14="http://schemas.microsoft.com/office/powerpoint/2010/main" val="347141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6015" y="312270"/>
            <a:ext cx="85656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 programs</a:t>
            </a:r>
            <a:r>
              <a:rPr lang="en-US" dirty="0"/>
              <a:t> to check a </a:t>
            </a:r>
            <a:r>
              <a:rPr lang="en-US" b="1" dirty="0"/>
              <a:t>prime number using a User-Defined Function (UDF)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Each method uses a </a:t>
            </a:r>
            <a:r>
              <a:rPr lang="en-US" b="1" dirty="0"/>
              <a:t>different logic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36015" y="864691"/>
            <a:ext cx="43331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Method 1: Normal Approach (Check till n−1)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435166" y="1511022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isPrime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n) {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if (n &lt;= 1)</a:t>
            </a:r>
          </a:p>
          <a:p>
            <a:r>
              <a:rPr lang="en-IN" dirty="0"/>
              <a:t>        return 0;</a:t>
            </a:r>
          </a:p>
          <a:p>
            <a:endParaRPr lang="en-IN" dirty="0"/>
          </a:p>
          <a:p>
            <a:r>
              <a:rPr lang="en-IN" dirty="0"/>
              <a:t>    for (</a:t>
            </a:r>
            <a:r>
              <a:rPr lang="en-IN" dirty="0" err="1"/>
              <a:t>i</a:t>
            </a:r>
            <a:r>
              <a:rPr lang="en-IN" dirty="0"/>
              <a:t> = 2; </a:t>
            </a:r>
            <a:r>
              <a:rPr lang="en-IN" dirty="0" err="1"/>
              <a:t>i</a:t>
            </a:r>
            <a:r>
              <a:rPr lang="en-IN" dirty="0"/>
              <a:t> &lt; n;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    if (n % </a:t>
            </a:r>
            <a:r>
              <a:rPr lang="en-IN" dirty="0" err="1"/>
              <a:t>i</a:t>
            </a:r>
            <a:r>
              <a:rPr lang="en-IN" dirty="0"/>
              <a:t> == 0)</a:t>
            </a:r>
          </a:p>
          <a:p>
            <a:r>
              <a:rPr lang="en-IN" dirty="0"/>
              <a:t>            return 0;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return 1;</a:t>
            </a:r>
          </a:p>
          <a:p>
            <a:r>
              <a:rPr lang="en-IN" dirty="0"/>
              <a:t>}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3751243" y="1510035"/>
            <a:ext cx="3902800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Many Times Does the Loop Run?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 the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worst case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when n is prime</a:t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loop runs from 2 to n−1</a:t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total iterations ≈ n − 2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Time Complexity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Worst Case: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O(n)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Best Case: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O(1)</a:t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(if n is divisible by 2, loop stops immediately)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Average Case: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O(n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number 13 :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51243" y="4625240"/>
            <a:ext cx="20617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for (</a:t>
            </a:r>
            <a:r>
              <a:rPr lang="en-IN" dirty="0" err="1"/>
              <a:t>i</a:t>
            </a:r>
            <a:r>
              <a:rPr lang="en-IN" dirty="0"/>
              <a:t> = 2; </a:t>
            </a:r>
            <a:r>
              <a:rPr lang="en-IN" dirty="0" err="1"/>
              <a:t>i</a:t>
            </a:r>
            <a:r>
              <a:rPr lang="en-IN" dirty="0"/>
              <a:t> &lt; 13;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751243" y="4993327"/>
            <a:ext cx="292900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Values of 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2, 3, 4, 5, 6, 7, 8, 9, 10, 11, 12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751243" y="5611021"/>
            <a:ext cx="218322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Number of iterations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11 times</a:t>
            </a:r>
          </a:p>
        </p:txBody>
      </p:sp>
    </p:spTree>
    <p:extLst>
      <p:ext uri="{BB962C8B-B14F-4D97-AF65-F5344CB8AC3E}">
        <p14:creationId xmlns:p14="http://schemas.microsoft.com/office/powerpoint/2010/main" val="1766641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1873" y="346898"/>
            <a:ext cx="4572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Method 2: Optimized Approach (Check till n/2)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91873" y="1169996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isPrime</a:t>
            </a:r>
            <a:r>
              <a:rPr lang="en-IN" dirty="0"/>
              <a:t>(</a:t>
            </a:r>
            <a:r>
              <a:rPr lang="en-IN" dirty="0" err="1"/>
              <a:t>int</a:t>
            </a:r>
            <a:r>
              <a:rPr lang="en-IN" dirty="0"/>
              <a:t> n) {</a:t>
            </a:r>
          </a:p>
          <a:p>
            <a:r>
              <a:rPr lang="en-IN" dirty="0"/>
              <a:t>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if (n &lt;= 1)</a:t>
            </a:r>
          </a:p>
          <a:p>
            <a:r>
              <a:rPr lang="en-IN" dirty="0"/>
              <a:t>        return 0;</a:t>
            </a:r>
          </a:p>
          <a:p>
            <a:endParaRPr lang="en-IN" dirty="0"/>
          </a:p>
          <a:p>
            <a:r>
              <a:rPr lang="en-IN" dirty="0"/>
              <a:t>    for (</a:t>
            </a:r>
            <a:r>
              <a:rPr lang="en-IN" dirty="0" err="1"/>
              <a:t>i</a:t>
            </a:r>
            <a:r>
              <a:rPr lang="en-IN" dirty="0"/>
              <a:t> = 2; </a:t>
            </a:r>
            <a:r>
              <a:rPr lang="en-IN" dirty="0" err="1"/>
              <a:t>i</a:t>
            </a:r>
            <a:r>
              <a:rPr lang="en-IN" dirty="0"/>
              <a:t> &lt;= n / 2;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r>
              <a:rPr lang="en-IN" dirty="0"/>
              <a:t>        if (n % </a:t>
            </a:r>
            <a:r>
              <a:rPr lang="en-IN" dirty="0" err="1"/>
              <a:t>i</a:t>
            </a:r>
            <a:r>
              <a:rPr lang="en-IN" dirty="0"/>
              <a:t> == 0)</a:t>
            </a:r>
          </a:p>
          <a:p>
            <a:r>
              <a:rPr lang="en-IN" dirty="0"/>
              <a:t>            return 0;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return 1;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437262" y="851550"/>
            <a:ext cx="340099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Many Times Does the Loop Run?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 the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worst case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when n is prime</a:t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→ loop runs approximately n/2 times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Time Complexity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n/2 → ignore constant 1/2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536414" y="2556530"/>
            <a:ext cx="5021118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Time Complexity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Worst Case: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O(n)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Best Case: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Average Case: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O(n)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Explanation (Exam Line)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Although the loop runs up to n/2, constants are ignored 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time complexity, so it is still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O(n)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3536414" y="4721636"/>
            <a:ext cx="2383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for (</a:t>
            </a:r>
            <a:r>
              <a:rPr lang="en-IN" dirty="0" err="1"/>
              <a:t>i</a:t>
            </a:r>
            <a:r>
              <a:rPr lang="en-IN" dirty="0"/>
              <a:t> = 2; </a:t>
            </a:r>
            <a:r>
              <a:rPr lang="en-IN" dirty="0" err="1"/>
              <a:t>i</a:t>
            </a:r>
            <a:r>
              <a:rPr lang="en-IN" dirty="0"/>
              <a:t> &lt;= 13/2;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6395" y="4738028"/>
            <a:ext cx="963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13/2 = 6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613533" y="5022155"/>
            <a:ext cx="196470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Values of 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2, 3, 4, 5, 6 </a:t>
            </a: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Number of iterations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5 times</a:t>
            </a:r>
          </a:p>
        </p:txBody>
      </p:sp>
    </p:spTree>
    <p:extLst>
      <p:ext uri="{BB962C8B-B14F-4D97-AF65-F5344CB8AC3E}">
        <p14:creationId xmlns:p14="http://schemas.microsoft.com/office/powerpoint/2010/main" val="2500758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1098" y="384669"/>
            <a:ext cx="68249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Method 3: Best Optimized Approach (Check till √n)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67369" y="949659"/>
            <a:ext cx="4572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isPrime</a:t>
            </a:r>
            <a:r>
              <a:rPr lang="en-IN" dirty="0" smtClean="0"/>
              <a:t>(</a:t>
            </a:r>
            <a:r>
              <a:rPr lang="en-IN" dirty="0" err="1" smtClean="0"/>
              <a:t>int</a:t>
            </a:r>
            <a:r>
              <a:rPr lang="en-IN" dirty="0" smtClean="0"/>
              <a:t> n) {</a:t>
            </a:r>
          </a:p>
          <a:p>
            <a:r>
              <a:rPr lang="en-IN" dirty="0" smtClean="0"/>
              <a:t>    </a:t>
            </a:r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i</a:t>
            </a:r>
            <a:r>
              <a:rPr lang="en-IN" dirty="0" smtClean="0"/>
              <a:t>;</a:t>
            </a:r>
          </a:p>
          <a:p>
            <a:endParaRPr lang="en-IN" dirty="0" smtClean="0"/>
          </a:p>
          <a:p>
            <a:r>
              <a:rPr lang="en-IN" dirty="0" smtClean="0"/>
              <a:t>    if (n &lt;= 1)</a:t>
            </a:r>
          </a:p>
          <a:p>
            <a:r>
              <a:rPr lang="en-IN" dirty="0" smtClean="0"/>
              <a:t>        return 0;</a:t>
            </a:r>
          </a:p>
          <a:p>
            <a:endParaRPr lang="en-IN" dirty="0" smtClean="0"/>
          </a:p>
          <a:p>
            <a:r>
              <a:rPr lang="en-IN" dirty="0" smtClean="0"/>
              <a:t>    for (</a:t>
            </a:r>
            <a:r>
              <a:rPr lang="en-IN" dirty="0" err="1" smtClean="0"/>
              <a:t>i</a:t>
            </a:r>
            <a:r>
              <a:rPr lang="en-IN" dirty="0" smtClean="0"/>
              <a:t> = 2; </a:t>
            </a:r>
            <a:r>
              <a:rPr lang="en-IN" dirty="0" err="1" smtClean="0"/>
              <a:t>i</a:t>
            </a:r>
            <a:r>
              <a:rPr lang="en-IN" dirty="0" smtClean="0"/>
              <a:t> * </a:t>
            </a:r>
            <a:r>
              <a:rPr lang="en-IN" dirty="0" err="1" smtClean="0"/>
              <a:t>i</a:t>
            </a:r>
            <a:r>
              <a:rPr lang="en-IN" dirty="0" smtClean="0"/>
              <a:t> &lt;= n; </a:t>
            </a:r>
            <a:r>
              <a:rPr lang="en-IN" dirty="0" err="1" smtClean="0"/>
              <a:t>i</a:t>
            </a:r>
            <a:r>
              <a:rPr lang="en-IN" dirty="0" smtClean="0"/>
              <a:t>++) {</a:t>
            </a:r>
          </a:p>
          <a:p>
            <a:r>
              <a:rPr lang="en-IN" dirty="0" smtClean="0"/>
              <a:t>        if (n % </a:t>
            </a:r>
            <a:r>
              <a:rPr lang="en-IN" dirty="0" err="1" smtClean="0"/>
              <a:t>i</a:t>
            </a:r>
            <a:r>
              <a:rPr lang="en-IN" dirty="0" smtClean="0"/>
              <a:t> == 0)</a:t>
            </a:r>
          </a:p>
          <a:p>
            <a:r>
              <a:rPr lang="en-IN" dirty="0" smtClean="0"/>
              <a:t>            return 0;</a:t>
            </a:r>
          </a:p>
          <a:p>
            <a:r>
              <a:rPr lang="en-IN" dirty="0" smtClean="0"/>
              <a:t>    }</a:t>
            </a:r>
          </a:p>
          <a:p>
            <a:r>
              <a:rPr lang="en-IN" dirty="0" smtClean="0"/>
              <a:t>    return 1;</a:t>
            </a:r>
          </a:p>
          <a:p>
            <a:r>
              <a:rPr lang="en-IN" dirty="0" smtClean="0"/>
              <a:t>}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4180902" y="145749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Time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Worst Case:</a:t>
            </a:r>
            <a:r>
              <a:rPr lang="en-US" dirty="0"/>
              <a:t> O(√n)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Best Case:</a:t>
            </a:r>
            <a:r>
              <a:rPr lang="en-US" dirty="0"/>
              <a:t> O(1)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Average Case:</a:t>
            </a:r>
            <a:r>
              <a:rPr lang="en-US" dirty="0"/>
              <a:t> O(√n)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80902" y="2952259"/>
            <a:ext cx="24513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for (</a:t>
            </a:r>
            <a:r>
              <a:rPr lang="en-IN" dirty="0" err="1"/>
              <a:t>i</a:t>
            </a:r>
            <a:r>
              <a:rPr lang="en-IN" dirty="0"/>
              <a:t> = 2; </a:t>
            </a:r>
            <a:r>
              <a:rPr lang="en-IN" dirty="0" err="1"/>
              <a:t>i</a:t>
            </a:r>
            <a:r>
              <a:rPr lang="en-IN" dirty="0"/>
              <a:t> * </a:t>
            </a:r>
            <a:r>
              <a:rPr lang="en-IN" dirty="0" err="1"/>
              <a:t>i</a:t>
            </a:r>
            <a:r>
              <a:rPr lang="en-IN" dirty="0"/>
              <a:t> &lt;= 13;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0902" y="3388717"/>
            <a:ext cx="1047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√13 ≈ 3.6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4211102" y="3825993"/>
            <a:ext cx="2390911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Values of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</a:t>
            </a: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2, 3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 × 2 = 4 ≤ 13 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3 × 3 = 9 ≤ 13 ✔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4 × 4 = 16 &gt; 13 ❌ → stop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Number of iterations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2 times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8302" y="5969255"/>
            <a:ext cx="48474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For number </a:t>
            </a:r>
            <a:r>
              <a:rPr lang="en-US" b="1" dirty="0"/>
              <a:t>13</a:t>
            </a:r>
            <a:r>
              <a:rPr lang="en-US" dirty="0"/>
              <a:t>, the √n method checks divisibility only </a:t>
            </a:r>
            <a:r>
              <a:rPr lang="en-US" b="1" dirty="0"/>
              <a:t>2 times</a:t>
            </a:r>
            <a:r>
              <a:rPr lang="en-US" dirty="0"/>
              <a:t>, making it the most efficient.</a:t>
            </a:r>
            <a:endParaRPr lang="en-IN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75421" y="47703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program runs only </a:t>
            </a: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√n times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is </a:t>
            </a:r>
            <a:r>
              <a: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 slower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6015" y="500411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 = 100 → 10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 = 10,000 → 100 steps</a:t>
            </a:r>
          </a:p>
        </p:txBody>
      </p:sp>
    </p:spTree>
    <p:extLst>
      <p:ext uri="{BB962C8B-B14F-4D97-AF65-F5344CB8AC3E}">
        <p14:creationId xmlns:p14="http://schemas.microsoft.com/office/powerpoint/2010/main" val="654484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Finding a factor of a number:</a:t>
            </a:r>
          </a:p>
          <a:p>
            <a:r>
              <a:rPr lang="en-US" b="1" dirty="0"/>
              <a:t>O(n)</a:t>
            </a:r>
            <a:r>
              <a:rPr lang="en-US" dirty="0"/>
              <a:t>: Check </a:t>
            </a:r>
            <a:r>
              <a:rPr lang="en-US" b="1" dirty="0"/>
              <a:t>every number</a:t>
            </a:r>
            <a:r>
              <a:rPr lang="en-US" dirty="0"/>
              <a:t> from 1 to n</a:t>
            </a:r>
          </a:p>
          <a:p>
            <a:r>
              <a:rPr lang="en-US" b="1" dirty="0"/>
              <a:t>O(√n)</a:t>
            </a:r>
            <a:r>
              <a:rPr lang="en-US" dirty="0"/>
              <a:t>: Stop checking at √n because factors repeat after that</a:t>
            </a:r>
          </a:p>
          <a:p>
            <a:r>
              <a:rPr lang="en-US" dirty="0"/>
              <a:t>✔ Same result</a:t>
            </a:r>
            <a:br>
              <a:rPr lang="en-US" dirty="0"/>
            </a:br>
            <a:r>
              <a:rPr lang="en-US" dirty="0"/>
              <a:t>✔ Less work</a:t>
            </a:r>
            <a:br>
              <a:rPr lang="en-US" dirty="0"/>
            </a:br>
            <a:r>
              <a:rPr lang="en-US" dirty="0"/>
              <a:t>✔ Faster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890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09320" y="178891"/>
            <a:ext cx="912474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“Time complexity tells us how fast the number of operations grows as input size n increases.” 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41523" y="715952"/>
            <a:ext cx="489149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is </a:t>
            </a:r>
            <a:r>
              <a:rPr kumimoji="0" lang="en-US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input size (n)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 represents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much data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the program is working 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Number of elements in an array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Value of a number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Number of nodes in a tree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Example:</a:t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an array has 10 elements → n = 10</a:t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it has 1,000 elements → n = 1000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297456" y="3192005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What are </a:t>
            </a:r>
            <a:r>
              <a:rPr lang="en-US" b="1" i="1" dirty="0"/>
              <a:t>operations</a:t>
            </a:r>
            <a:r>
              <a:rPr lang="en-US" b="1" dirty="0"/>
              <a:t>?</a:t>
            </a:r>
          </a:p>
          <a:p>
            <a:r>
              <a:rPr lang="en-US" dirty="0"/>
              <a:t>Operations are the </a:t>
            </a:r>
            <a:r>
              <a:rPr lang="en-US" b="1" dirty="0"/>
              <a:t>basic steps</a:t>
            </a:r>
            <a:r>
              <a:rPr lang="en-US" dirty="0"/>
              <a:t> a program performs,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Comparisons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Loop iterations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Arithmetic calculations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9490" y="4929394"/>
            <a:ext cx="1039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Example: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9490" y="5298726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for(</a:t>
            </a:r>
            <a:r>
              <a:rPr lang="en-IN" dirty="0" err="1"/>
              <a:t>i</a:t>
            </a:r>
            <a:r>
              <a:rPr lang="en-IN" dirty="0"/>
              <a:t> = 1; </a:t>
            </a:r>
            <a:r>
              <a:rPr lang="en-IN" dirty="0" err="1"/>
              <a:t>i</a:t>
            </a:r>
            <a:r>
              <a:rPr lang="en-IN" dirty="0"/>
              <a:t> &lt;= n;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("Hello");</a:t>
            </a:r>
          </a:p>
          <a:p>
            <a:r>
              <a:rPr lang="en-IN" dirty="0"/>
              <a:t>}</a:t>
            </a:r>
          </a:p>
        </p:txBody>
      </p:sp>
      <p:sp>
        <p:nvSpPr>
          <p:cNvPr id="14" name="Rectangle 3"/>
          <p:cNvSpPr>
            <a:spLocks noChangeArrowheads="1"/>
          </p:cNvSpPr>
          <p:nvPr/>
        </p:nvSpPr>
        <p:spPr bwMode="auto">
          <a:xfrm>
            <a:off x="209320" y="6473894"/>
            <a:ext cx="417236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Here, printf is executed </a:t>
            </a:r>
            <a:r>
              <a:rPr kumimoji="0" 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 times</a:t>
            </a:r>
            <a:r>
              <a:rPr kumimoji="0" lang="en-US" sz="1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→ n operations </a:t>
            </a:r>
          </a:p>
        </p:txBody>
      </p:sp>
    </p:spTree>
    <p:extLst>
      <p:ext uri="{BB962C8B-B14F-4D97-AF65-F5344CB8AC3E}">
        <p14:creationId xmlns:p14="http://schemas.microsoft.com/office/powerpoint/2010/main" val="1401374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53388" y="24081"/>
            <a:ext cx="326307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What does </a:t>
            </a:r>
            <a:r>
              <a:rPr kumimoji="0" lang="en-US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grows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mean?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means: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How the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number of steps increases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When n becomes larger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Example: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88" y="1332614"/>
            <a:ext cx="4572000" cy="189762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53388" y="3193524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What does </a:t>
            </a:r>
            <a:r>
              <a:rPr lang="en-US" b="1" i="1" dirty="0"/>
              <a:t>how fast</a:t>
            </a:r>
            <a:r>
              <a:rPr lang="en-US" b="1" dirty="0"/>
              <a:t> mean?</a:t>
            </a:r>
          </a:p>
          <a:p>
            <a:r>
              <a:rPr lang="en-US" dirty="0"/>
              <a:t>It compares </a:t>
            </a:r>
            <a:r>
              <a:rPr lang="en-US" b="1" dirty="0"/>
              <a:t>rate of increase</a:t>
            </a:r>
            <a:r>
              <a:rPr lang="en-US" dirty="0"/>
              <a:t>, not exact time.</a:t>
            </a:r>
          </a:p>
          <a:p>
            <a:r>
              <a:rPr lang="en-US" dirty="0" smtClean="0"/>
              <a:t>Compare </a:t>
            </a:r>
            <a:r>
              <a:rPr lang="en-US" dirty="0"/>
              <a:t>two programs:</a:t>
            </a:r>
          </a:p>
          <a:p>
            <a:r>
              <a:rPr lang="en-US" b="1" dirty="0"/>
              <a:t>Program A (O(n))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Operations increase linearly</a:t>
            </a:r>
          </a:p>
          <a:p>
            <a:r>
              <a:rPr lang="en-US" b="1" dirty="0"/>
              <a:t>Program B (O(n²))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Operations increase very fast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52" y="5224849"/>
            <a:ext cx="6642857" cy="128611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53387" y="6424522"/>
            <a:ext cx="78880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Program A is </a:t>
            </a:r>
            <a:r>
              <a:rPr lang="en-US" b="1" dirty="0"/>
              <a:t>faster</a:t>
            </a:r>
            <a:r>
              <a:rPr lang="en-US" dirty="0"/>
              <a:t> because its operations grow slowly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572000" y="1873382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Suppose you are checking notebooks: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O(n)</a:t>
            </a:r>
            <a:r>
              <a:rPr lang="en-US" dirty="0"/>
              <a:t>: Check notebooks one by 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O(n²)</a:t>
            </a:r>
            <a:r>
              <a:rPr lang="en-US" dirty="0"/>
              <a:t>: Check every notebook with every other notebook</a:t>
            </a:r>
          </a:p>
          <a:p>
            <a:r>
              <a:rPr lang="en-US" dirty="0"/>
              <a:t>As notebooks increase, the second method becomes </a:t>
            </a:r>
            <a:r>
              <a:rPr lang="en-US" b="1" dirty="0"/>
              <a:t>very slow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503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Time complexity describes how the number of operations performed by an algorithm increases as the input size n increases.</a:t>
            </a:r>
          </a:p>
          <a:p>
            <a:r>
              <a:rPr lang="en-US" dirty="0"/>
              <a:t>Time complexity is about </a:t>
            </a:r>
            <a:r>
              <a:rPr lang="en-US" b="1" dirty="0"/>
              <a:t>growth</a:t>
            </a:r>
            <a:r>
              <a:rPr lang="en-US" dirty="0"/>
              <a:t>, not exact time</a:t>
            </a:r>
            <a:br>
              <a:rPr lang="en-US" dirty="0"/>
            </a:br>
            <a:r>
              <a:rPr lang="en-US" dirty="0"/>
              <a:t>✔ It helps compare algorithms</a:t>
            </a:r>
            <a:br>
              <a:rPr lang="en-US" dirty="0"/>
            </a:br>
            <a:r>
              <a:rPr lang="en-US" dirty="0"/>
              <a:t>✔ Slower growth = better algorithm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10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1148</Words>
  <Application>Microsoft Office PowerPoint</Application>
  <PresentationFormat>On-screen Show (4:3)</PresentationFormat>
  <Paragraphs>245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 Unicode MS</vt:lpstr>
      <vt:lpstr>Arial</vt:lpstr>
      <vt:lpstr>Calibri</vt:lpstr>
      <vt:lpstr>Office Theme</vt:lpstr>
      <vt:lpstr>Example 1: Single Loop</vt:lpstr>
      <vt:lpstr>Example 2: Constant Work in Loop</vt:lpstr>
      <vt:lpstr>Example 3: Two Independent Loops</vt:lpstr>
      <vt:lpstr>Example 4: Nested Loops</vt:lpstr>
      <vt:lpstr>Example 5: Triangular Loop</vt:lpstr>
      <vt:lpstr>Example 6: Increment by 2</vt:lpstr>
      <vt:lpstr>Example 7: Logarithmic Loop</vt:lpstr>
      <vt:lpstr>Example 8: Binary Search</vt:lpstr>
      <vt:lpstr>Example 9: n log n</vt:lpstr>
      <vt:lpstr>Example 10: Constant Time</vt:lpstr>
      <vt:lpstr>O(n!)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1: Single Loop</dc:title>
  <dc:subject/>
  <dc:creator/>
  <cp:keywords/>
  <dc:description>generated using python-pptx</dc:description>
  <cp:lastModifiedBy>HP</cp:lastModifiedBy>
  <cp:revision>21</cp:revision>
  <dcterms:created xsi:type="dcterms:W3CDTF">2013-01-27T09:14:16Z</dcterms:created>
  <dcterms:modified xsi:type="dcterms:W3CDTF">2026-01-09T04:09:23Z</dcterms:modified>
  <cp:category/>
</cp:coreProperties>
</file>