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1" r:id="rId19"/>
    <p:sldId id="312" r:id="rId20"/>
    <p:sldId id="274" r:id="rId21"/>
    <p:sldId id="275" r:id="rId22"/>
    <p:sldId id="276" r:id="rId23"/>
    <p:sldId id="294" r:id="rId24"/>
    <p:sldId id="295" r:id="rId25"/>
    <p:sldId id="296" r:id="rId26"/>
    <p:sldId id="277" r:id="rId27"/>
    <p:sldId id="278" r:id="rId28"/>
    <p:sldId id="279" r:id="rId29"/>
    <p:sldId id="280" r:id="rId30"/>
    <p:sldId id="308" r:id="rId31"/>
    <p:sldId id="281" r:id="rId32"/>
    <p:sldId id="282" r:id="rId33"/>
    <p:sldId id="283" r:id="rId34"/>
    <p:sldId id="284" r:id="rId35"/>
    <p:sldId id="285" r:id="rId36"/>
    <p:sldId id="286" r:id="rId37"/>
    <p:sldId id="287" r:id="rId38"/>
    <p:sldId id="288" r:id="rId39"/>
    <p:sldId id="289" r:id="rId40"/>
    <p:sldId id="290" r:id="rId41"/>
    <p:sldId id="292" r:id="rId42"/>
    <p:sldId id="293" r:id="rId43"/>
    <p:sldId id="291" r:id="rId44"/>
    <p:sldId id="297" r:id="rId45"/>
    <p:sldId id="306" r:id="rId46"/>
    <p:sldId id="307" r:id="rId47"/>
    <p:sldId id="298" r:id="rId48"/>
    <p:sldId id="299" r:id="rId49"/>
    <p:sldId id="300" r:id="rId50"/>
    <p:sldId id="301" r:id="rId51"/>
    <p:sldId id="302" r:id="rId52"/>
    <p:sldId id="303" r:id="rId53"/>
    <p:sldId id="304" r:id="rId54"/>
    <p:sldId id="305" r:id="rId55"/>
    <p:sldId id="313" r:id="rId56"/>
    <p:sldId id="31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43" autoAdjust="0"/>
    <p:restoredTop sz="94660"/>
  </p:normalViewPr>
  <p:slideViewPr>
    <p:cSldViewPr snapToGrid="0">
      <p:cViewPr varScale="1">
        <p:scale>
          <a:sx n="71" d="100"/>
          <a:sy n="71" d="100"/>
        </p:scale>
        <p:origin x="4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15722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4075439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518513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D6F1DEC-2BDE-466A-9C25-D076D606F219}"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653813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D6F1DEC-2BDE-466A-9C25-D076D606F219}" type="datetimeFigureOut">
              <a:rPr lang="en-IN" smtClean="0"/>
              <a:t>31-12-2024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3772411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D6F1DEC-2BDE-466A-9C25-D076D606F219}" type="datetimeFigureOut">
              <a:rPr lang="en-IN" smtClean="0"/>
              <a:t>31-12-2024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4104784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6F1DEC-2BDE-466A-9C25-D076D606F219}" type="datetimeFigureOut">
              <a:rPr lang="en-IN" smtClean="0"/>
              <a:t>31-12-2024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50411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6F1DEC-2BDE-466A-9C25-D076D606F219}"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47865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6F1DEC-2BDE-466A-9C25-D076D606F219}" type="datetimeFigureOut">
              <a:rPr lang="en-IN" smtClean="0"/>
              <a:t>31-12-2024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7075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4056373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694188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318624421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6108548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86048847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3629313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7699987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6474228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207643844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76900325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3595433370"/>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388785559"/>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6F1DEC-2BDE-466A-9C25-D076D606F219}" type="datetimeFigureOut">
              <a:rPr lang="en-IN" smtClean="0"/>
              <a:t>31-12-2024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900074-13FF-4051-AC22-CC0903B94065}" type="slidenum">
              <a:rPr lang="en-IN" smtClean="0"/>
              <a:t>‹#›</a:t>
            </a:fld>
            <a:endParaRPr lang="en-IN"/>
          </a:p>
        </p:txBody>
      </p:sp>
    </p:spTree>
    <p:extLst>
      <p:ext uri="{BB962C8B-B14F-4D97-AF65-F5344CB8AC3E}">
        <p14:creationId xmlns:p14="http://schemas.microsoft.com/office/powerpoint/2010/main" val="168039542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6F1DEC-2BDE-466A-9C25-D076D606F219}" type="datetimeFigureOut">
              <a:rPr lang="en-IN" smtClean="0"/>
              <a:t>31-12-2024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900074-13FF-4051-AC22-CC0903B94065}" type="slidenum">
              <a:rPr lang="en-IN" smtClean="0"/>
              <a:t>‹#›</a:t>
            </a:fld>
            <a:endParaRPr lang="en-IN"/>
          </a:p>
        </p:txBody>
      </p:sp>
    </p:spTree>
    <p:extLst>
      <p:ext uri="{BB962C8B-B14F-4D97-AF65-F5344CB8AC3E}">
        <p14:creationId xmlns:p14="http://schemas.microsoft.com/office/powerpoint/2010/main" val="25226852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Functions, Scoping and </a:t>
            </a:r>
            <a:r>
              <a:rPr lang="en-US" b="1" dirty="0" smtClean="0"/>
              <a:t>Abstraction</a:t>
            </a:r>
            <a:r>
              <a:rPr lang="en-IN" dirty="0"/>
              <a:t/>
            </a:r>
            <a:br>
              <a:rPr lang="en-IN" dirty="0"/>
            </a:br>
            <a:endParaRPr lang="en-IN" dirty="0"/>
          </a:p>
        </p:txBody>
      </p:sp>
      <p:sp>
        <p:nvSpPr>
          <p:cNvPr id="3" name="Subtitle 2"/>
          <p:cNvSpPr>
            <a:spLocks noGrp="1"/>
          </p:cNvSpPr>
          <p:nvPr>
            <p:ph type="subTitle" idx="1"/>
          </p:nvPr>
        </p:nvSpPr>
        <p:spPr/>
        <p:txBody>
          <a:bodyPr>
            <a:normAutofit/>
          </a:bodyPr>
          <a:lstStyle/>
          <a:p>
            <a:r>
              <a:rPr lang="en-US" sz="6000" b="1" u="sng" dirty="0" smtClean="0"/>
              <a:t>Unit-2</a:t>
            </a:r>
            <a:endParaRPr lang="en-IN" sz="6000" b="1" u="sng" dirty="0"/>
          </a:p>
        </p:txBody>
      </p:sp>
    </p:spTree>
    <p:extLst>
      <p:ext uri="{BB962C8B-B14F-4D97-AF65-F5344CB8AC3E}">
        <p14:creationId xmlns:p14="http://schemas.microsoft.com/office/powerpoint/2010/main" val="37217415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smtClean="0"/>
              <a:t>Content-</a:t>
            </a:r>
            <a:endParaRPr lang="en-IN" dirty="0"/>
          </a:p>
        </p:txBody>
      </p:sp>
      <p:sp>
        <p:nvSpPr>
          <p:cNvPr id="3" name="Content Placeholder 2"/>
          <p:cNvSpPr>
            <a:spLocks noGrp="1"/>
          </p:cNvSpPr>
          <p:nvPr>
            <p:ph idx="4294967295"/>
          </p:nvPr>
        </p:nvSpPr>
        <p:spPr>
          <a:xfrm>
            <a:off x="2133600" y="1846263"/>
            <a:ext cx="10058400" cy="4022725"/>
          </a:xfrm>
        </p:spPr>
        <p:txBody>
          <a:bodyPr/>
          <a:lstStyle/>
          <a:p>
            <a:r>
              <a:rPr lang="en-US" dirty="0"/>
              <a:t>Declaring, Defining and Invoking a Function, </a:t>
            </a:r>
            <a:endParaRPr lang="en-US" dirty="0" smtClean="0"/>
          </a:p>
          <a:p>
            <a:r>
              <a:rPr lang="en-US" dirty="0" smtClean="0"/>
              <a:t>Function </a:t>
            </a:r>
            <a:r>
              <a:rPr lang="en-US" dirty="0"/>
              <a:t>Specification, Function arguments: keyword, default, positional, </a:t>
            </a:r>
            <a:r>
              <a:rPr lang="en-US" dirty="0" smtClean="0"/>
              <a:t>variable-length</a:t>
            </a:r>
          </a:p>
          <a:p>
            <a:r>
              <a:rPr lang="en-US" dirty="0" smtClean="0"/>
              <a:t>Local </a:t>
            </a:r>
            <a:r>
              <a:rPr lang="en-US" dirty="0"/>
              <a:t>v/s Global variables</a:t>
            </a:r>
            <a:endParaRPr lang="en-IN" dirty="0"/>
          </a:p>
          <a:p>
            <a:endParaRPr lang="en-IN" dirty="0"/>
          </a:p>
        </p:txBody>
      </p:sp>
    </p:spTree>
    <p:extLst>
      <p:ext uri="{BB962C8B-B14F-4D97-AF65-F5344CB8AC3E}">
        <p14:creationId xmlns:p14="http://schemas.microsoft.com/office/powerpoint/2010/main" val="5195885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smtClean="0"/>
              <a:t>Types of functions in python-</a:t>
            </a:r>
            <a:endParaRPr lang="en-IN" dirty="0"/>
          </a:p>
        </p:txBody>
      </p:sp>
      <p:sp>
        <p:nvSpPr>
          <p:cNvPr id="3" name="Content Placeholder 2"/>
          <p:cNvSpPr>
            <a:spLocks noGrp="1"/>
          </p:cNvSpPr>
          <p:nvPr>
            <p:ph idx="4294967295"/>
          </p:nvPr>
        </p:nvSpPr>
        <p:spPr>
          <a:xfrm>
            <a:off x="2133600" y="1846263"/>
            <a:ext cx="10058400" cy="4022725"/>
          </a:xfrm>
        </p:spPr>
        <p:txBody>
          <a:bodyPr/>
          <a:lstStyle/>
          <a:p>
            <a:pPr marL="0" indent="0">
              <a:buNone/>
            </a:pPr>
            <a:r>
              <a:rPr lang="en-IN" dirty="0" smtClean="0"/>
              <a:t>There are three types of functions in Python:</a:t>
            </a:r>
          </a:p>
          <a:p>
            <a:r>
              <a:rPr lang="en-IN" dirty="0" smtClean="0"/>
              <a:t>Built-in functions, such as help() to ask for help, min() to get the minimum value, print() to print an object to the terminal etc.</a:t>
            </a:r>
          </a:p>
          <a:p>
            <a:r>
              <a:rPr lang="en-IN" dirty="0" smtClean="0"/>
              <a:t>User-Defined Functions (UDFs), which are functions that users create to help them out; </a:t>
            </a:r>
          </a:p>
          <a:p>
            <a:r>
              <a:rPr lang="en-IN" dirty="0" smtClean="0"/>
              <a:t>Anonymous functions, which are also called lambda functions because they are not declared with the standard </a:t>
            </a:r>
            <a:r>
              <a:rPr lang="en-IN" dirty="0" err="1" smtClean="0"/>
              <a:t>def</a:t>
            </a:r>
            <a:r>
              <a:rPr lang="en-IN" dirty="0" smtClean="0"/>
              <a:t> keyword.</a:t>
            </a:r>
          </a:p>
          <a:p>
            <a:endParaRPr lang="en-IN" dirty="0"/>
          </a:p>
        </p:txBody>
      </p:sp>
    </p:spTree>
    <p:extLst>
      <p:ext uri="{BB962C8B-B14F-4D97-AF65-F5344CB8AC3E}">
        <p14:creationId xmlns:p14="http://schemas.microsoft.com/office/powerpoint/2010/main" val="13879521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smtClean="0"/>
              <a:t>Declaring, Defining and Invoking a Function-</a:t>
            </a:r>
            <a:endParaRPr lang="en-IN" dirty="0"/>
          </a:p>
        </p:txBody>
      </p:sp>
      <p:sp>
        <p:nvSpPr>
          <p:cNvPr id="3" name="Content Placeholder 2"/>
          <p:cNvSpPr>
            <a:spLocks noGrp="1"/>
          </p:cNvSpPr>
          <p:nvPr>
            <p:ph idx="4294967295"/>
          </p:nvPr>
        </p:nvSpPr>
        <p:spPr>
          <a:xfrm>
            <a:off x="2133600" y="1846263"/>
            <a:ext cx="10058400" cy="4022725"/>
          </a:xfrm>
        </p:spPr>
        <p:txBody>
          <a:bodyPr>
            <a:normAutofit fontScale="92500" lnSpcReduction="10000"/>
          </a:bodyPr>
          <a:lstStyle/>
          <a:p>
            <a:pPr marL="0" indent="0">
              <a:buNone/>
            </a:pPr>
            <a:r>
              <a:rPr lang="en-IN" dirty="0" smtClean="0"/>
              <a:t>The four steps to defining a function in Python are the following:</a:t>
            </a:r>
          </a:p>
          <a:p>
            <a:endParaRPr lang="en-IN" dirty="0" smtClean="0"/>
          </a:p>
          <a:p>
            <a:r>
              <a:rPr lang="en-IN" dirty="0" smtClean="0"/>
              <a:t>Use the keyword </a:t>
            </a:r>
            <a:r>
              <a:rPr lang="en-IN" dirty="0" err="1" smtClean="0">
                <a:solidFill>
                  <a:srgbClr val="FF0000"/>
                </a:solidFill>
              </a:rPr>
              <a:t>def</a:t>
            </a:r>
            <a:r>
              <a:rPr lang="en-IN" dirty="0" smtClean="0"/>
              <a:t> to declare the function and follow this up with the function name.</a:t>
            </a:r>
          </a:p>
          <a:p>
            <a:r>
              <a:rPr lang="en-IN" dirty="0" smtClean="0"/>
              <a:t>Add parameters to the function: they should be within the parentheses of the function. End your line with a colon.</a:t>
            </a:r>
          </a:p>
          <a:p>
            <a:r>
              <a:rPr lang="en-IN" dirty="0" smtClean="0"/>
              <a:t>Add statements that the functions should execute.</a:t>
            </a:r>
          </a:p>
          <a:p>
            <a:r>
              <a:rPr lang="en-IN" dirty="0" smtClean="0"/>
              <a:t>End your function with a return statement if the function should output something. Without the return statement, your function will return an object None.</a:t>
            </a:r>
            <a:endParaRPr lang="en-IN" dirty="0"/>
          </a:p>
        </p:txBody>
      </p:sp>
    </p:spTree>
    <p:extLst>
      <p:ext uri="{BB962C8B-B14F-4D97-AF65-F5344CB8AC3E}">
        <p14:creationId xmlns:p14="http://schemas.microsoft.com/office/powerpoint/2010/main" val="89781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smtClean="0"/>
              <a:t>Continue..</a:t>
            </a:r>
            <a:endParaRPr lang="en-IN" dirty="0"/>
          </a:p>
        </p:txBody>
      </p:sp>
      <p:sp>
        <p:nvSpPr>
          <p:cNvPr id="3" name="Content Placeholder 2"/>
          <p:cNvSpPr>
            <a:spLocks noGrp="1"/>
          </p:cNvSpPr>
          <p:nvPr>
            <p:ph idx="4294967295"/>
          </p:nvPr>
        </p:nvSpPr>
        <p:spPr>
          <a:xfrm>
            <a:off x="2133600" y="1846263"/>
            <a:ext cx="10058400" cy="4022725"/>
          </a:xfrm>
        </p:spPr>
        <p:txBody>
          <a:bodyPr/>
          <a:lstStyle/>
          <a:p>
            <a:pPr marL="0" indent="0">
              <a:buNone/>
            </a:pPr>
            <a:r>
              <a:rPr lang="en-IN" dirty="0" smtClean="0"/>
              <a:t>Syntax of Python Function</a:t>
            </a:r>
          </a:p>
          <a:p>
            <a:endParaRPr lang="en-IN" dirty="0" smtClean="0"/>
          </a:p>
          <a:p>
            <a:pPr marL="0" indent="0">
              <a:buNone/>
            </a:pPr>
            <a:r>
              <a:rPr lang="en-IN" dirty="0" err="1" smtClean="0"/>
              <a:t>def</a:t>
            </a:r>
            <a:r>
              <a:rPr lang="en-IN" dirty="0" smtClean="0"/>
              <a:t> </a:t>
            </a:r>
            <a:r>
              <a:rPr lang="en-IN" dirty="0" err="1" smtClean="0"/>
              <a:t>name_of_function</a:t>
            </a:r>
            <a:r>
              <a:rPr lang="en-IN" dirty="0" smtClean="0"/>
              <a:t>( parameters ):  </a:t>
            </a:r>
          </a:p>
          <a:p>
            <a:pPr marL="0" indent="0">
              <a:buNone/>
            </a:pPr>
            <a:r>
              <a:rPr lang="en-IN" dirty="0" smtClean="0"/>
              <a:t>    ""“Python Programming"""  </a:t>
            </a:r>
          </a:p>
          <a:p>
            <a:pPr marL="0" indent="0">
              <a:buNone/>
            </a:pPr>
            <a:r>
              <a:rPr lang="en-IN" dirty="0" smtClean="0"/>
              <a:t>    # code block </a:t>
            </a:r>
            <a:endParaRPr lang="en-IN" dirty="0"/>
          </a:p>
        </p:txBody>
      </p:sp>
    </p:spTree>
    <p:extLst>
      <p:ext uri="{BB962C8B-B14F-4D97-AF65-F5344CB8AC3E}">
        <p14:creationId xmlns:p14="http://schemas.microsoft.com/office/powerpoint/2010/main" val="28002739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87338"/>
            <a:ext cx="10717213" cy="1449387"/>
          </a:xfrm>
        </p:spPr>
        <p:txBody>
          <a:bodyPr>
            <a:normAutofit fontScale="90000"/>
          </a:bodyPr>
          <a:lstStyle/>
          <a:p>
            <a:r>
              <a:rPr lang="en-IN" dirty="0" smtClean="0"/>
              <a:t>Declaring and defining a user-defined </a:t>
            </a:r>
            <a:r>
              <a:rPr lang="en-IN" dirty="0"/>
              <a:t>f</a:t>
            </a:r>
            <a:r>
              <a:rPr lang="en-IN" dirty="0" smtClean="0"/>
              <a:t>unction-</a:t>
            </a:r>
            <a:br>
              <a:rPr lang="en-IN" dirty="0" smtClean="0"/>
            </a:br>
            <a:endParaRPr lang="en-IN" dirty="0"/>
          </a:p>
        </p:txBody>
      </p:sp>
      <p:sp>
        <p:nvSpPr>
          <p:cNvPr id="3" name="Content Placeholder 2"/>
          <p:cNvSpPr>
            <a:spLocks noGrp="1"/>
          </p:cNvSpPr>
          <p:nvPr>
            <p:ph idx="4294967295"/>
          </p:nvPr>
        </p:nvSpPr>
        <p:spPr>
          <a:xfrm>
            <a:off x="2133600" y="1846263"/>
            <a:ext cx="10058400" cy="4022725"/>
          </a:xfrm>
        </p:spPr>
        <p:txBody>
          <a:bodyPr>
            <a:normAutofit/>
          </a:bodyPr>
          <a:lstStyle/>
          <a:p>
            <a:pPr marL="0" indent="0">
              <a:buNone/>
            </a:pPr>
            <a:r>
              <a:rPr lang="en-IN" dirty="0" smtClean="0"/>
              <a:t>We </a:t>
            </a:r>
            <a:r>
              <a:rPr lang="en-IN" dirty="0"/>
              <a:t>will define a function that when called will return the square of the number passed to it as an argument.</a:t>
            </a:r>
          </a:p>
          <a:p>
            <a:pPr marL="0" indent="0">
              <a:buNone/>
            </a:pPr>
            <a:endParaRPr lang="en-IN" dirty="0"/>
          </a:p>
          <a:p>
            <a:pPr marL="0" indent="0">
              <a:buNone/>
            </a:pPr>
            <a:r>
              <a:rPr lang="en-IN" b="1" dirty="0" err="1"/>
              <a:t>def</a:t>
            </a:r>
            <a:r>
              <a:rPr lang="en-IN" dirty="0"/>
              <a:t> square( </a:t>
            </a:r>
            <a:r>
              <a:rPr lang="en-IN" dirty="0" err="1"/>
              <a:t>num</a:t>
            </a:r>
            <a:r>
              <a:rPr lang="en-IN" dirty="0"/>
              <a:t> ):  </a:t>
            </a:r>
          </a:p>
          <a:p>
            <a:pPr marL="0" indent="0">
              <a:buNone/>
            </a:pPr>
            <a:r>
              <a:rPr lang="en-IN" dirty="0"/>
              <a:t>    </a:t>
            </a:r>
            <a:r>
              <a:rPr lang="en-IN" dirty="0" smtClean="0"/>
              <a:t>"""This</a:t>
            </a:r>
            <a:r>
              <a:rPr lang="en-IN" dirty="0"/>
              <a:t> function computes the square of the number. </a:t>
            </a:r>
            <a:r>
              <a:rPr lang="en-IN" dirty="0" smtClean="0"/>
              <a:t>"""</a:t>
            </a:r>
            <a:r>
              <a:rPr lang="en-IN" dirty="0"/>
              <a:t>  </a:t>
            </a:r>
          </a:p>
          <a:p>
            <a:pPr marL="0" indent="0">
              <a:buNone/>
            </a:pPr>
            <a:r>
              <a:rPr lang="en-IN" dirty="0"/>
              <a:t>    </a:t>
            </a:r>
            <a:r>
              <a:rPr lang="en-IN" b="1" dirty="0"/>
              <a:t>return</a:t>
            </a:r>
            <a:r>
              <a:rPr lang="en-IN" dirty="0"/>
              <a:t> </a:t>
            </a:r>
            <a:r>
              <a:rPr lang="en-IN" dirty="0" err="1"/>
              <a:t>num</a:t>
            </a:r>
            <a:r>
              <a:rPr lang="en-IN" dirty="0"/>
              <a:t>**2   </a:t>
            </a:r>
          </a:p>
          <a:p>
            <a:pPr marL="0" indent="0">
              <a:buNone/>
            </a:pPr>
            <a:r>
              <a:rPr lang="en-IN" dirty="0" err="1" smtClean="0"/>
              <a:t>ans</a:t>
            </a:r>
            <a:r>
              <a:rPr lang="en-IN" dirty="0" smtClean="0"/>
              <a:t>=</a:t>
            </a:r>
            <a:r>
              <a:rPr lang="en-IN" dirty="0"/>
              <a:t> square(9)  </a:t>
            </a:r>
          </a:p>
          <a:p>
            <a:pPr marL="0" indent="0">
              <a:buNone/>
            </a:pPr>
            <a:r>
              <a:rPr lang="en-IN" b="1" dirty="0"/>
              <a:t>print</a:t>
            </a:r>
            <a:r>
              <a:rPr lang="en-IN" dirty="0"/>
              <a:t>( "The square of the number is: ", </a:t>
            </a:r>
            <a:r>
              <a:rPr lang="en-IN" dirty="0" err="1" smtClean="0"/>
              <a:t>ans</a:t>
            </a:r>
            <a:r>
              <a:rPr lang="en-IN" dirty="0" smtClean="0"/>
              <a:t>)</a:t>
            </a:r>
            <a:r>
              <a:rPr lang="en-IN" dirty="0"/>
              <a:t>  </a:t>
            </a:r>
          </a:p>
          <a:p>
            <a:pPr marL="0" indent="0">
              <a:buNone/>
            </a:pPr>
            <a:endParaRPr lang="en-IN" dirty="0"/>
          </a:p>
        </p:txBody>
      </p:sp>
    </p:spTree>
    <p:extLst>
      <p:ext uri="{BB962C8B-B14F-4D97-AF65-F5344CB8AC3E}">
        <p14:creationId xmlns:p14="http://schemas.microsoft.com/office/powerpoint/2010/main" val="37542087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IN" dirty="0"/>
              <a:t>Calling a Function</a:t>
            </a:r>
            <a:br>
              <a:rPr lang="en-IN" dirty="0"/>
            </a:br>
            <a:endParaRPr lang="en-IN" dirty="0"/>
          </a:p>
        </p:txBody>
      </p:sp>
      <p:sp>
        <p:nvSpPr>
          <p:cNvPr id="3" name="Content Placeholder 2"/>
          <p:cNvSpPr>
            <a:spLocks noGrp="1"/>
          </p:cNvSpPr>
          <p:nvPr>
            <p:ph idx="4294967295"/>
          </p:nvPr>
        </p:nvSpPr>
        <p:spPr>
          <a:xfrm>
            <a:off x="2133600" y="1846263"/>
            <a:ext cx="10058400" cy="4022725"/>
          </a:xfrm>
        </p:spPr>
        <p:txBody>
          <a:bodyPr/>
          <a:lstStyle/>
          <a:p>
            <a:r>
              <a:rPr lang="en-IN" dirty="0" smtClean="0"/>
              <a:t>A </a:t>
            </a:r>
            <a:r>
              <a:rPr lang="en-IN" dirty="0"/>
              <a:t>function is defined by using the </a:t>
            </a:r>
            <a:r>
              <a:rPr lang="en-IN" dirty="0" err="1"/>
              <a:t>def</a:t>
            </a:r>
            <a:r>
              <a:rPr lang="en-IN" dirty="0"/>
              <a:t> keyword and giving it a name, specifying the arguments that must be passed to the function, and structuring the code block.</a:t>
            </a:r>
          </a:p>
          <a:p>
            <a:r>
              <a:rPr lang="en-IN" dirty="0"/>
              <a:t>After a function's fundamental framework is complete, we can call it from anywhere in the program. </a:t>
            </a:r>
          </a:p>
        </p:txBody>
      </p:sp>
    </p:spTree>
    <p:extLst>
      <p:ext uri="{BB962C8B-B14F-4D97-AF65-F5344CB8AC3E}">
        <p14:creationId xmlns:p14="http://schemas.microsoft.com/office/powerpoint/2010/main" val="1569852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smtClean="0"/>
              <a:t>Example-</a:t>
            </a:r>
            <a:endParaRPr lang="en-IN" dirty="0"/>
          </a:p>
        </p:txBody>
      </p:sp>
      <p:sp>
        <p:nvSpPr>
          <p:cNvPr id="3" name="Content Placeholder 2"/>
          <p:cNvSpPr>
            <a:spLocks noGrp="1"/>
          </p:cNvSpPr>
          <p:nvPr>
            <p:ph idx="4294967295"/>
          </p:nvPr>
        </p:nvSpPr>
        <p:spPr>
          <a:xfrm>
            <a:off x="2133600" y="1846263"/>
            <a:ext cx="10058400" cy="4022725"/>
          </a:xfrm>
        </p:spPr>
        <p:txBody>
          <a:bodyPr>
            <a:normAutofit fontScale="92500"/>
          </a:bodyPr>
          <a:lstStyle/>
          <a:p>
            <a:pPr marL="0" indent="0">
              <a:buNone/>
            </a:pPr>
            <a:r>
              <a:rPr lang="en-IN" dirty="0"/>
              <a:t># Defining a function  </a:t>
            </a:r>
          </a:p>
          <a:p>
            <a:pPr marL="0" indent="0">
              <a:buNone/>
            </a:pPr>
            <a:r>
              <a:rPr lang="en-IN" b="1" dirty="0" err="1"/>
              <a:t>def</a:t>
            </a:r>
            <a:r>
              <a:rPr lang="en-IN" dirty="0"/>
              <a:t> </a:t>
            </a:r>
            <a:r>
              <a:rPr lang="en-IN" dirty="0" err="1"/>
              <a:t>a_function</a:t>
            </a:r>
            <a:r>
              <a:rPr lang="en-IN" dirty="0"/>
              <a:t>( string ):  </a:t>
            </a:r>
          </a:p>
          <a:p>
            <a:pPr marL="0" indent="0">
              <a:buNone/>
            </a:pPr>
            <a:r>
              <a:rPr lang="en-IN" dirty="0"/>
              <a:t>    "This prints the value of length of string"  </a:t>
            </a:r>
          </a:p>
          <a:p>
            <a:pPr marL="0" indent="0">
              <a:buNone/>
            </a:pPr>
            <a:r>
              <a:rPr lang="en-IN" dirty="0"/>
              <a:t>    </a:t>
            </a:r>
            <a:r>
              <a:rPr lang="en-IN" b="1" dirty="0"/>
              <a:t>return</a:t>
            </a:r>
            <a:r>
              <a:rPr lang="en-IN" dirty="0"/>
              <a:t> </a:t>
            </a:r>
            <a:r>
              <a:rPr lang="en-IN" dirty="0" err="1"/>
              <a:t>len</a:t>
            </a:r>
            <a:r>
              <a:rPr lang="en-IN" dirty="0"/>
              <a:t>(string)  </a:t>
            </a:r>
          </a:p>
          <a:p>
            <a:pPr marL="0" indent="0">
              <a:buNone/>
            </a:pPr>
            <a:r>
              <a:rPr lang="en-IN" dirty="0"/>
              <a:t>  </a:t>
            </a:r>
          </a:p>
          <a:p>
            <a:pPr marL="0" indent="0">
              <a:buNone/>
            </a:pPr>
            <a:r>
              <a:rPr lang="en-IN" dirty="0"/>
              <a:t># Calling the function we defined  </a:t>
            </a:r>
          </a:p>
          <a:p>
            <a:pPr marL="0" indent="0">
              <a:buNone/>
            </a:pPr>
            <a:r>
              <a:rPr lang="en-IN" b="1" dirty="0"/>
              <a:t>print</a:t>
            </a:r>
            <a:r>
              <a:rPr lang="en-IN" dirty="0"/>
              <a:t>( "Length of the string Functions is: ", </a:t>
            </a:r>
            <a:r>
              <a:rPr lang="en-IN" dirty="0" err="1"/>
              <a:t>a_function</a:t>
            </a:r>
            <a:r>
              <a:rPr lang="en-IN" dirty="0"/>
              <a:t>( "Functions" ) )  </a:t>
            </a:r>
          </a:p>
          <a:p>
            <a:pPr marL="0" indent="0">
              <a:buNone/>
            </a:pPr>
            <a:r>
              <a:rPr lang="en-IN" b="1" dirty="0"/>
              <a:t>print</a:t>
            </a:r>
            <a:r>
              <a:rPr lang="en-IN" dirty="0"/>
              <a:t>( "Length of the string Python is: ", </a:t>
            </a:r>
            <a:r>
              <a:rPr lang="en-IN" dirty="0" err="1"/>
              <a:t>a_function</a:t>
            </a:r>
            <a:r>
              <a:rPr lang="en-IN" dirty="0"/>
              <a:t>( "Python" ) )  </a:t>
            </a:r>
          </a:p>
          <a:p>
            <a:endParaRPr lang="en-IN" dirty="0"/>
          </a:p>
        </p:txBody>
      </p:sp>
    </p:spTree>
    <p:extLst>
      <p:ext uri="{BB962C8B-B14F-4D97-AF65-F5344CB8AC3E}">
        <p14:creationId xmlns:p14="http://schemas.microsoft.com/office/powerpoint/2010/main" val="26451446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IN" dirty="0"/>
              <a:t>Function Arguments</a:t>
            </a:r>
            <a:br>
              <a:rPr lang="en-IN" dirty="0"/>
            </a:br>
            <a:endParaRPr lang="en-IN" dirty="0"/>
          </a:p>
        </p:txBody>
      </p:sp>
      <p:sp>
        <p:nvSpPr>
          <p:cNvPr id="3" name="Content Placeholder 2"/>
          <p:cNvSpPr>
            <a:spLocks noGrp="1"/>
          </p:cNvSpPr>
          <p:nvPr>
            <p:ph idx="4294967295"/>
          </p:nvPr>
        </p:nvSpPr>
        <p:spPr>
          <a:xfrm>
            <a:off x="2133600" y="1846263"/>
            <a:ext cx="10058400" cy="4022725"/>
          </a:xfrm>
        </p:spPr>
        <p:txBody>
          <a:bodyPr/>
          <a:lstStyle/>
          <a:p>
            <a:pPr marL="0" indent="0">
              <a:buNone/>
            </a:pPr>
            <a:r>
              <a:rPr lang="en-IN" dirty="0" smtClean="0"/>
              <a:t>The </a:t>
            </a:r>
            <a:r>
              <a:rPr lang="en-IN" dirty="0"/>
              <a:t>following are the types of arguments that we can use to call a function:</a:t>
            </a:r>
          </a:p>
          <a:p>
            <a:r>
              <a:rPr lang="en-IN" dirty="0"/>
              <a:t>Default arguments</a:t>
            </a:r>
          </a:p>
          <a:p>
            <a:r>
              <a:rPr lang="en-IN" dirty="0"/>
              <a:t>Keyword arguments</a:t>
            </a:r>
          </a:p>
          <a:p>
            <a:r>
              <a:rPr lang="en-IN" dirty="0"/>
              <a:t>Required arguments</a:t>
            </a:r>
          </a:p>
          <a:p>
            <a:r>
              <a:rPr lang="en-IN" dirty="0"/>
              <a:t>Variable-length arguments</a:t>
            </a:r>
          </a:p>
          <a:p>
            <a:endParaRPr lang="en-IN" dirty="0"/>
          </a:p>
        </p:txBody>
      </p:sp>
    </p:spTree>
    <p:extLst>
      <p:ext uri="{BB962C8B-B14F-4D97-AF65-F5344CB8AC3E}">
        <p14:creationId xmlns:p14="http://schemas.microsoft.com/office/powerpoint/2010/main" val="798205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25002" y="901700"/>
            <a:ext cx="10753860" cy="5275263"/>
          </a:xfrm>
        </p:spPr>
        <p:txBody>
          <a:bodyPr>
            <a:noAutofit/>
          </a:bodyPr>
          <a:lstStyle/>
          <a:p>
            <a:pPr marL="0" indent="0">
              <a:buNone/>
            </a:pPr>
            <a:r>
              <a:rPr lang="en-IN" sz="3600" dirty="0" smtClean="0"/>
              <a:t>Default Arguments</a:t>
            </a:r>
          </a:p>
          <a:p>
            <a:pPr marL="0" indent="0">
              <a:buNone/>
            </a:pPr>
            <a:endParaRPr lang="en-IN" sz="3600" dirty="0" smtClean="0"/>
          </a:p>
          <a:p>
            <a:pPr marL="0" indent="0">
              <a:buNone/>
            </a:pPr>
            <a:r>
              <a:rPr lang="en-IN" sz="2000" dirty="0" smtClean="0"/>
              <a:t>A </a:t>
            </a:r>
            <a:r>
              <a:rPr lang="en-IN" sz="2000" dirty="0"/>
              <a:t>default argument is a kind of parameter that takes as input a default value if no value is supplied for the argument when the function is called. Default arguments are demonstrated in the following instance</a:t>
            </a:r>
            <a:r>
              <a:rPr lang="en-IN" sz="2000" dirty="0" smtClean="0"/>
              <a:t>.</a:t>
            </a:r>
          </a:p>
          <a:p>
            <a:pPr marL="0" indent="0">
              <a:buNone/>
            </a:pPr>
            <a:endParaRPr lang="en-IN" sz="2000" dirty="0"/>
          </a:p>
          <a:p>
            <a:pPr marL="0" indent="0">
              <a:buNone/>
            </a:pPr>
            <a:r>
              <a:rPr lang="en-IN" sz="2000" dirty="0" smtClean="0"/>
              <a:t># </a:t>
            </a:r>
            <a:r>
              <a:rPr lang="en-IN" sz="2000" dirty="0"/>
              <a:t>defining a function  </a:t>
            </a:r>
          </a:p>
          <a:p>
            <a:pPr marL="0" indent="0">
              <a:buNone/>
            </a:pPr>
            <a:r>
              <a:rPr lang="en-IN" sz="2000" dirty="0" err="1"/>
              <a:t>def</a:t>
            </a:r>
            <a:r>
              <a:rPr lang="en-IN" sz="2000" dirty="0"/>
              <a:t> function( num1, num2 = 40 ):  </a:t>
            </a:r>
          </a:p>
          <a:p>
            <a:pPr marL="0" indent="0">
              <a:buNone/>
            </a:pPr>
            <a:r>
              <a:rPr lang="en-IN" sz="2000" dirty="0"/>
              <a:t>    print("num1 is: ", num1)  </a:t>
            </a:r>
          </a:p>
          <a:p>
            <a:pPr marL="0" indent="0">
              <a:buNone/>
            </a:pPr>
            <a:r>
              <a:rPr lang="en-IN" sz="2000" dirty="0"/>
              <a:t>    print("num2 is: ", num2)  </a:t>
            </a:r>
          </a:p>
          <a:p>
            <a:pPr marL="0" indent="0">
              <a:buNone/>
            </a:pPr>
            <a:r>
              <a:rPr lang="en-IN" sz="2000" dirty="0"/>
              <a:t># Calling the function and passing only one argument  </a:t>
            </a:r>
          </a:p>
          <a:p>
            <a:pPr marL="0" indent="0">
              <a:buNone/>
            </a:pPr>
            <a:r>
              <a:rPr lang="en-IN" sz="2000" dirty="0"/>
              <a:t>print( "Passing one argument" )  </a:t>
            </a:r>
          </a:p>
          <a:p>
            <a:pPr marL="0" indent="0">
              <a:buNone/>
            </a:pPr>
            <a:r>
              <a:rPr lang="en-IN" sz="2000" dirty="0"/>
              <a:t>function(10)  </a:t>
            </a:r>
          </a:p>
          <a:p>
            <a:pPr marL="0" indent="0">
              <a:buNone/>
            </a:pPr>
            <a:endParaRPr lang="en-IN" sz="1400" dirty="0"/>
          </a:p>
        </p:txBody>
      </p:sp>
    </p:spTree>
    <p:extLst>
      <p:ext uri="{BB962C8B-B14F-4D97-AF65-F5344CB8AC3E}">
        <p14:creationId xmlns:p14="http://schemas.microsoft.com/office/powerpoint/2010/main" val="3858361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284287"/>
          </a:xfrm>
        </p:spPr>
        <p:txBody>
          <a:bodyPr/>
          <a:lstStyle/>
          <a:p>
            <a:r>
              <a:rPr lang="en-US" dirty="0" smtClean="0"/>
              <a:t>Continue..</a:t>
            </a:r>
            <a:endParaRPr lang="en-IN" dirty="0"/>
          </a:p>
        </p:txBody>
      </p:sp>
      <p:sp>
        <p:nvSpPr>
          <p:cNvPr id="3" name="Content Placeholder 2"/>
          <p:cNvSpPr>
            <a:spLocks noGrp="1"/>
          </p:cNvSpPr>
          <p:nvPr>
            <p:ph idx="4294967295"/>
          </p:nvPr>
        </p:nvSpPr>
        <p:spPr>
          <a:xfrm>
            <a:off x="386366" y="1854200"/>
            <a:ext cx="10129234" cy="4322763"/>
          </a:xfrm>
        </p:spPr>
        <p:txBody>
          <a:bodyPr>
            <a:normAutofit fontScale="85000" lnSpcReduction="20000"/>
          </a:bodyPr>
          <a:lstStyle/>
          <a:p>
            <a:pPr marL="0" indent="0">
              <a:buNone/>
            </a:pPr>
            <a:r>
              <a:rPr lang="en-IN" dirty="0"/>
              <a:t># Now giving two arguments to the function  </a:t>
            </a:r>
          </a:p>
          <a:p>
            <a:pPr marL="0" indent="0">
              <a:buNone/>
            </a:pPr>
            <a:r>
              <a:rPr lang="en-IN" dirty="0"/>
              <a:t>print( "Passing two arguments" )  </a:t>
            </a:r>
          </a:p>
          <a:p>
            <a:pPr marL="0" indent="0">
              <a:buNone/>
            </a:pPr>
            <a:r>
              <a:rPr lang="en-IN" dirty="0"/>
              <a:t>function(10,30)  </a:t>
            </a:r>
            <a:endParaRPr lang="en-IN" dirty="0" smtClean="0"/>
          </a:p>
          <a:p>
            <a:pPr marL="0" indent="0">
              <a:buNone/>
            </a:pPr>
            <a:endParaRPr lang="en-IN" dirty="0"/>
          </a:p>
          <a:p>
            <a:pPr marL="0" indent="0">
              <a:buNone/>
            </a:pPr>
            <a:r>
              <a:rPr lang="en-US" dirty="0" smtClean="0"/>
              <a:t>Output-</a:t>
            </a:r>
          </a:p>
          <a:p>
            <a:pPr marL="0" indent="0">
              <a:buNone/>
            </a:pPr>
            <a:r>
              <a:rPr lang="en-IN" dirty="0" smtClean="0"/>
              <a:t>Passing </a:t>
            </a:r>
            <a:r>
              <a:rPr lang="en-IN" dirty="0"/>
              <a:t>one argument</a:t>
            </a:r>
          </a:p>
          <a:p>
            <a:pPr marL="0" indent="0">
              <a:buNone/>
            </a:pPr>
            <a:r>
              <a:rPr lang="en-IN" dirty="0"/>
              <a:t>num1 is:  10</a:t>
            </a:r>
          </a:p>
          <a:p>
            <a:pPr marL="0" indent="0">
              <a:buNone/>
            </a:pPr>
            <a:r>
              <a:rPr lang="en-IN" dirty="0"/>
              <a:t>num2 is:  40</a:t>
            </a:r>
          </a:p>
          <a:p>
            <a:pPr marL="0" indent="0">
              <a:buNone/>
            </a:pPr>
            <a:r>
              <a:rPr lang="en-IN" dirty="0"/>
              <a:t>Passing two arguments</a:t>
            </a:r>
          </a:p>
          <a:p>
            <a:pPr marL="0" indent="0">
              <a:buNone/>
            </a:pPr>
            <a:r>
              <a:rPr lang="en-IN" dirty="0"/>
              <a:t>num1 is:  10</a:t>
            </a:r>
          </a:p>
          <a:p>
            <a:pPr marL="0" indent="0">
              <a:buNone/>
            </a:pPr>
            <a:r>
              <a:rPr lang="en-IN" dirty="0"/>
              <a:t>num2 is:  30</a:t>
            </a:r>
          </a:p>
          <a:p>
            <a:endParaRPr lang="en-IN" dirty="0"/>
          </a:p>
        </p:txBody>
      </p:sp>
    </p:spTree>
    <p:extLst>
      <p:ext uri="{BB962C8B-B14F-4D97-AF65-F5344CB8AC3E}">
        <p14:creationId xmlns:p14="http://schemas.microsoft.com/office/powerpoint/2010/main" val="42711646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24248" y="395288"/>
            <a:ext cx="11367752" cy="918357"/>
          </a:xfrm>
        </p:spPr>
        <p:txBody>
          <a:bodyPr/>
          <a:lstStyle/>
          <a:p>
            <a:r>
              <a:rPr lang="en-IN" dirty="0"/>
              <a:t>Keyword </a:t>
            </a:r>
            <a:r>
              <a:rPr lang="en-IN" dirty="0" smtClean="0"/>
              <a:t>Arguments</a:t>
            </a:r>
            <a:endParaRPr lang="en-IN" dirty="0"/>
          </a:p>
        </p:txBody>
      </p:sp>
      <p:sp>
        <p:nvSpPr>
          <p:cNvPr id="3" name="Content Placeholder 2"/>
          <p:cNvSpPr>
            <a:spLocks noGrp="1"/>
          </p:cNvSpPr>
          <p:nvPr>
            <p:ph idx="4294967295"/>
          </p:nvPr>
        </p:nvSpPr>
        <p:spPr>
          <a:xfrm>
            <a:off x="824248" y="1545465"/>
            <a:ext cx="11367752" cy="4945823"/>
          </a:xfrm>
        </p:spPr>
        <p:txBody>
          <a:bodyPr>
            <a:normAutofit fontScale="70000" lnSpcReduction="20000"/>
          </a:bodyPr>
          <a:lstStyle/>
          <a:p>
            <a:pPr marL="0" indent="0">
              <a:buNone/>
            </a:pPr>
            <a:r>
              <a:rPr lang="en-IN" sz="2800" dirty="0"/>
              <a:t>The arguments in a function called are connected to keyword arguments. If we provide keyword arguments while calling a function, the user uses the parameter label to identify which parameters value it is</a:t>
            </a:r>
            <a:r>
              <a:rPr lang="en-IN" sz="2800" dirty="0" smtClean="0"/>
              <a:t>.</a:t>
            </a:r>
          </a:p>
          <a:p>
            <a:pPr marL="0" indent="0">
              <a:buNone/>
            </a:pPr>
            <a:r>
              <a:rPr lang="en-IN" sz="2800" dirty="0" smtClean="0"/>
              <a:t># Defining</a:t>
            </a:r>
            <a:r>
              <a:rPr lang="en-IN" sz="2800" dirty="0"/>
              <a:t> a function  </a:t>
            </a:r>
          </a:p>
          <a:p>
            <a:pPr marL="0" indent="0">
              <a:buNone/>
            </a:pPr>
            <a:r>
              <a:rPr lang="en-IN" sz="2800" b="1" dirty="0" err="1"/>
              <a:t>def</a:t>
            </a:r>
            <a:r>
              <a:rPr lang="en-IN" sz="2800" dirty="0"/>
              <a:t> function( num1, num2 ):  </a:t>
            </a:r>
          </a:p>
          <a:p>
            <a:pPr marL="0" indent="0">
              <a:buNone/>
            </a:pPr>
            <a:r>
              <a:rPr lang="en-IN" sz="2800" dirty="0"/>
              <a:t>    </a:t>
            </a:r>
            <a:r>
              <a:rPr lang="en-IN" sz="2800" b="1" dirty="0"/>
              <a:t>print</a:t>
            </a:r>
            <a:r>
              <a:rPr lang="en-IN" sz="2800" dirty="0"/>
              <a:t>("num1 is: ", num1)  </a:t>
            </a:r>
          </a:p>
          <a:p>
            <a:pPr marL="0" indent="0">
              <a:buNone/>
            </a:pPr>
            <a:r>
              <a:rPr lang="en-IN" sz="2800" dirty="0"/>
              <a:t>    </a:t>
            </a:r>
            <a:r>
              <a:rPr lang="en-IN" sz="2800" b="1" dirty="0"/>
              <a:t>print</a:t>
            </a:r>
            <a:r>
              <a:rPr lang="en-IN" sz="2800" dirty="0"/>
              <a:t>("num2 is: ", num2)  </a:t>
            </a:r>
          </a:p>
          <a:p>
            <a:pPr marL="0" indent="0">
              <a:buNone/>
            </a:pPr>
            <a:r>
              <a:rPr lang="en-IN" sz="2800" dirty="0"/>
              <a:t>  </a:t>
            </a:r>
          </a:p>
          <a:p>
            <a:pPr marL="0" indent="0">
              <a:buNone/>
            </a:pPr>
            <a:r>
              <a:rPr lang="en-IN" sz="2800" dirty="0"/>
              <a:t># Calling function and passing arguments without using keyword  </a:t>
            </a:r>
          </a:p>
          <a:p>
            <a:pPr marL="0" indent="0">
              <a:buNone/>
            </a:pPr>
            <a:r>
              <a:rPr lang="en-IN" sz="2800" b="1" dirty="0"/>
              <a:t>print</a:t>
            </a:r>
            <a:r>
              <a:rPr lang="en-IN" sz="2800" dirty="0"/>
              <a:t>( "Without using keyword" )  </a:t>
            </a:r>
          </a:p>
          <a:p>
            <a:pPr marL="0" indent="0">
              <a:buNone/>
            </a:pPr>
            <a:r>
              <a:rPr lang="en-IN" sz="2800" dirty="0"/>
              <a:t>function( 50, 30)     </a:t>
            </a:r>
          </a:p>
          <a:p>
            <a:pPr marL="0" indent="0">
              <a:buNone/>
            </a:pPr>
            <a:r>
              <a:rPr lang="en-IN" sz="2800" dirty="0"/>
              <a:t>      </a:t>
            </a:r>
          </a:p>
          <a:p>
            <a:pPr marL="0" indent="0">
              <a:buNone/>
            </a:pPr>
            <a:r>
              <a:rPr lang="en-IN" sz="2800" dirty="0"/>
              <a:t># Calling function and passing arguments using keyword  </a:t>
            </a:r>
          </a:p>
          <a:p>
            <a:pPr marL="0" indent="0">
              <a:buNone/>
            </a:pPr>
            <a:r>
              <a:rPr lang="en-IN" sz="2800" b="1" dirty="0"/>
              <a:t>print</a:t>
            </a:r>
            <a:r>
              <a:rPr lang="en-IN" sz="2800" dirty="0"/>
              <a:t>( "With using keyword" )  </a:t>
            </a:r>
          </a:p>
          <a:p>
            <a:pPr marL="0" indent="0">
              <a:buNone/>
            </a:pPr>
            <a:r>
              <a:rPr lang="en-IN" sz="2800" dirty="0"/>
              <a:t>function( num2 = 50, num1 = 30)  </a:t>
            </a:r>
          </a:p>
          <a:p>
            <a:endParaRPr lang="en-IN" dirty="0"/>
          </a:p>
        </p:txBody>
      </p:sp>
    </p:spTree>
    <p:extLst>
      <p:ext uri="{BB962C8B-B14F-4D97-AF65-F5344CB8AC3E}">
        <p14:creationId xmlns:p14="http://schemas.microsoft.com/office/powerpoint/2010/main" val="1837622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idx="1"/>
          </p:nvPr>
        </p:nvSpPr>
        <p:spPr/>
        <p:txBody>
          <a:bodyPr/>
          <a:lstStyle/>
          <a:p>
            <a:pPr marL="0" indent="0">
              <a:buNone/>
            </a:pPr>
            <a:r>
              <a:rPr lang="en-IN" dirty="0" smtClean="0"/>
              <a:t>Output:</a:t>
            </a:r>
          </a:p>
          <a:p>
            <a:pPr marL="0" indent="0">
              <a:buNone/>
            </a:pPr>
            <a:endParaRPr lang="en-IN" dirty="0" smtClean="0"/>
          </a:p>
          <a:p>
            <a:pPr marL="0" indent="0">
              <a:buNone/>
            </a:pPr>
            <a:r>
              <a:rPr lang="en-IN" dirty="0" smtClean="0"/>
              <a:t>Without using keyword</a:t>
            </a:r>
          </a:p>
          <a:p>
            <a:pPr marL="0" indent="0">
              <a:buNone/>
            </a:pPr>
            <a:r>
              <a:rPr lang="en-IN" dirty="0" smtClean="0"/>
              <a:t>num1 is:  50</a:t>
            </a:r>
          </a:p>
          <a:p>
            <a:pPr marL="0" indent="0">
              <a:buNone/>
            </a:pPr>
            <a:r>
              <a:rPr lang="en-IN" dirty="0" smtClean="0"/>
              <a:t>num2 is:  30</a:t>
            </a:r>
          </a:p>
          <a:p>
            <a:pPr marL="0" indent="0">
              <a:buNone/>
            </a:pPr>
            <a:r>
              <a:rPr lang="en-IN" dirty="0" smtClean="0"/>
              <a:t>With using keyword</a:t>
            </a:r>
          </a:p>
          <a:p>
            <a:pPr marL="0" indent="0">
              <a:buNone/>
            </a:pPr>
            <a:r>
              <a:rPr lang="en-IN" dirty="0" smtClean="0"/>
              <a:t>num1 is:  30</a:t>
            </a:r>
          </a:p>
          <a:p>
            <a:pPr marL="0" indent="0">
              <a:buNone/>
            </a:pPr>
            <a:r>
              <a:rPr lang="en-IN" dirty="0" smtClean="0"/>
              <a:t>num2 is:  50</a:t>
            </a:r>
            <a:endParaRPr lang="en-IN" dirty="0"/>
          </a:p>
        </p:txBody>
      </p:sp>
    </p:spTree>
    <p:extLst>
      <p:ext uri="{BB962C8B-B14F-4D97-AF65-F5344CB8AC3E}">
        <p14:creationId xmlns:p14="http://schemas.microsoft.com/office/powerpoint/2010/main" val="31592356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Required Arguments</a:t>
            </a:r>
            <a:br>
              <a:rPr lang="en-IN" dirty="0" smtClean="0"/>
            </a:br>
            <a:endParaRPr lang="en-IN" dirty="0"/>
          </a:p>
        </p:txBody>
      </p:sp>
      <p:sp>
        <p:nvSpPr>
          <p:cNvPr id="3" name="Content Placeholder 2"/>
          <p:cNvSpPr>
            <a:spLocks noGrp="1"/>
          </p:cNvSpPr>
          <p:nvPr>
            <p:ph idx="1"/>
          </p:nvPr>
        </p:nvSpPr>
        <p:spPr/>
        <p:txBody>
          <a:bodyPr/>
          <a:lstStyle/>
          <a:p>
            <a:pPr algn="just"/>
            <a:r>
              <a:rPr lang="en-IN" dirty="0" smtClean="0"/>
              <a:t>The </a:t>
            </a:r>
            <a:r>
              <a:rPr lang="en-IN" dirty="0"/>
              <a:t>arguments given to a function while calling in a pre-defined positional sequence are required arguments. The count of required arguments in the method call must be equal to the count of arguments provided while defining the function</a:t>
            </a:r>
            <a:r>
              <a:rPr lang="en-IN" dirty="0" smtClean="0"/>
              <a:t>.</a:t>
            </a:r>
          </a:p>
          <a:p>
            <a:pPr marL="0" indent="0" algn="just">
              <a:buNone/>
            </a:pPr>
            <a:endParaRPr lang="en-IN" dirty="0" smtClean="0"/>
          </a:p>
          <a:p>
            <a:pPr algn="just"/>
            <a:r>
              <a:rPr lang="en-IN" dirty="0" smtClean="0"/>
              <a:t>We </a:t>
            </a:r>
            <a:r>
              <a:rPr lang="en-IN" dirty="0"/>
              <a:t>must send two arguments to the function function() in the correct order, or it will return a syntax error, as seen below.</a:t>
            </a:r>
          </a:p>
          <a:p>
            <a:endParaRPr lang="en-IN" dirty="0"/>
          </a:p>
        </p:txBody>
      </p:sp>
    </p:spTree>
    <p:extLst>
      <p:ext uri="{BB962C8B-B14F-4D97-AF65-F5344CB8AC3E}">
        <p14:creationId xmlns:p14="http://schemas.microsoft.com/office/powerpoint/2010/main" val="33913553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smtClean="0"/>
              <a:t># Function definition is here</a:t>
            </a:r>
          </a:p>
          <a:p>
            <a:pPr marL="0" indent="0">
              <a:buNone/>
            </a:pPr>
            <a:r>
              <a:rPr lang="en-IN" dirty="0" err="1" smtClean="0"/>
              <a:t>def</a:t>
            </a:r>
            <a:r>
              <a:rPr lang="en-IN" dirty="0" smtClean="0"/>
              <a:t> </a:t>
            </a:r>
            <a:r>
              <a:rPr lang="en-IN" dirty="0" err="1" smtClean="0"/>
              <a:t>printme</a:t>
            </a:r>
            <a:r>
              <a:rPr lang="en-IN" dirty="0" smtClean="0"/>
              <a:t>( </a:t>
            </a:r>
            <a:r>
              <a:rPr lang="en-IN" dirty="0" err="1" smtClean="0"/>
              <a:t>str</a:t>
            </a:r>
            <a:r>
              <a:rPr lang="en-IN" dirty="0" smtClean="0"/>
              <a:t> ):</a:t>
            </a:r>
          </a:p>
          <a:p>
            <a:pPr marL="0" indent="0">
              <a:buNone/>
            </a:pPr>
            <a:r>
              <a:rPr lang="en-IN" dirty="0" smtClean="0"/>
              <a:t>"This prints a passed string into this function"</a:t>
            </a:r>
          </a:p>
          <a:p>
            <a:pPr marL="0" indent="0">
              <a:buNone/>
            </a:pPr>
            <a:r>
              <a:rPr lang="en-IN" dirty="0" smtClean="0"/>
              <a:t>print </a:t>
            </a:r>
            <a:r>
              <a:rPr lang="en-IN" dirty="0" err="1" smtClean="0"/>
              <a:t>str</a:t>
            </a:r>
            <a:endParaRPr lang="en-IN" dirty="0" smtClean="0"/>
          </a:p>
          <a:p>
            <a:pPr marL="0" indent="0">
              <a:buNone/>
            </a:pPr>
            <a:r>
              <a:rPr lang="en-IN" dirty="0" smtClean="0"/>
              <a:t>return;</a:t>
            </a:r>
          </a:p>
          <a:p>
            <a:pPr marL="0" indent="0">
              <a:buNone/>
            </a:pPr>
            <a:r>
              <a:rPr lang="en-IN" dirty="0" smtClean="0"/>
              <a:t># Now you can call </a:t>
            </a:r>
            <a:r>
              <a:rPr lang="en-IN" dirty="0" err="1" smtClean="0"/>
              <a:t>printme</a:t>
            </a:r>
            <a:r>
              <a:rPr lang="en-IN" dirty="0" smtClean="0"/>
              <a:t> function</a:t>
            </a:r>
          </a:p>
          <a:p>
            <a:pPr marL="0" indent="0">
              <a:buNone/>
            </a:pPr>
            <a:r>
              <a:rPr lang="en-IN" dirty="0" err="1" smtClean="0"/>
              <a:t>printme</a:t>
            </a:r>
            <a:r>
              <a:rPr lang="en-IN" dirty="0" smtClean="0"/>
              <a:t>()</a:t>
            </a:r>
          </a:p>
          <a:p>
            <a:pPr marL="0" indent="0">
              <a:buNone/>
            </a:pPr>
            <a:endParaRPr lang="en-US" dirty="0"/>
          </a:p>
          <a:p>
            <a:pPr marL="0" indent="0">
              <a:buNone/>
            </a:pPr>
            <a:r>
              <a:rPr lang="en-US" dirty="0" smtClean="0"/>
              <a:t>Output-</a:t>
            </a:r>
            <a:r>
              <a:rPr lang="en-IN" dirty="0" err="1" smtClean="0"/>
              <a:t>TypeError</a:t>
            </a:r>
            <a:r>
              <a:rPr lang="en-IN" dirty="0" smtClean="0"/>
              <a:t>: </a:t>
            </a:r>
            <a:r>
              <a:rPr lang="en-IN" dirty="0" err="1" smtClean="0"/>
              <a:t>printme</a:t>
            </a:r>
            <a:r>
              <a:rPr lang="en-IN" dirty="0" smtClean="0"/>
              <a:t>() takes exactly 1 argument (0 given)</a:t>
            </a:r>
            <a:endParaRPr lang="en-IN" dirty="0"/>
          </a:p>
        </p:txBody>
      </p:sp>
    </p:spTree>
    <p:extLst>
      <p:ext uri="{BB962C8B-B14F-4D97-AF65-F5344CB8AC3E}">
        <p14:creationId xmlns:p14="http://schemas.microsoft.com/office/powerpoint/2010/main" val="8774585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Variable-Length Arguments</a:t>
            </a:r>
            <a:br>
              <a:rPr lang="en-IN" dirty="0" smtClean="0"/>
            </a:br>
            <a:endParaRPr lang="en-IN" dirty="0"/>
          </a:p>
        </p:txBody>
      </p:sp>
      <p:sp>
        <p:nvSpPr>
          <p:cNvPr id="3" name="Content Placeholder 2"/>
          <p:cNvSpPr>
            <a:spLocks noGrp="1"/>
          </p:cNvSpPr>
          <p:nvPr>
            <p:ph idx="1"/>
          </p:nvPr>
        </p:nvSpPr>
        <p:spPr>
          <a:xfrm>
            <a:off x="838200" y="1339403"/>
            <a:ext cx="10515600" cy="4837560"/>
          </a:xfrm>
        </p:spPr>
        <p:txBody>
          <a:bodyPr>
            <a:normAutofit/>
          </a:bodyPr>
          <a:lstStyle/>
          <a:p>
            <a:pPr marL="0" indent="0">
              <a:buNone/>
            </a:pPr>
            <a:r>
              <a:rPr lang="en-IN" dirty="0" smtClean="0"/>
              <a:t>We can use special characters in Python functions to pass as many arguments as we want in a function. There are two types of characters that we can use for this purpose:</a:t>
            </a:r>
          </a:p>
          <a:p>
            <a:pPr marL="0" indent="0">
              <a:buNone/>
            </a:pPr>
            <a:endParaRPr lang="en-IN" dirty="0" smtClean="0"/>
          </a:p>
          <a:p>
            <a:pPr marL="0" indent="0">
              <a:buNone/>
            </a:pPr>
            <a:r>
              <a:rPr lang="en-IN" dirty="0" smtClean="0"/>
              <a:t>*</a:t>
            </a:r>
            <a:r>
              <a:rPr lang="en-IN" dirty="0" err="1" smtClean="0"/>
              <a:t>args</a:t>
            </a:r>
            <a:r>
              <a:rPr lang="en-IN" dirty="0" smtClean="0"/>
              <a:t> -These are Non-Keyword Arguments below is example-</a:t>
            </a:r>
          </a:p>
          <a:p>
            <a:pPr marL="0" indent="0">
              <a:buNone/>
            </a:pPr>
            <a:r>
              <a:rPr lang="en-IN" dirty="0" err="1"/>
              <a:t>def</a:t>
            </a:r>
            <a:r>
              <a:rPr lang="en-IN" dirty="0"/>
              <a:t> </a:t>
            </a:r>
            <a:r>
              <a:rPr lang="en-IN" dirty="0" err="1"/>
              <a:t>func</a:t>
            </a:r>
            <a:r>
              <a:rPr lang="en-IN" dirty="0"/>
              <a:t>(*</a:t>
            </a:r>
            <a:r>
              <a:rPr lang="en-IN" dirty="0" err="1"/>
              <a:t>args</a:t>
            </a:r>
            <a:r>
              <a:rPr lang="en-IN" dirty="0"/>
              <a:t>):</a:t>
            </a:r>
          </a:p>
          <a:p>
            <a:pPr marL="0" indent="0">
              <a:buNone/>
            </a:pPr>
            <a:r>
              <a:rPr lang="en-IN" dirty="0"/>
              <a:t>  #</a:t>
            </a:r>
          </a:p>
          <a:p>
            <a:pPr marL="0" indent="0">
              <a:buNone/>
            </a:pPr>
            <a:r>
              <a:rPr lang="en-IN" dirty="0"/>
              <a:t>  # here is the body of the function</a:t>
            </a:r>
          </a:p>
          <a:p>
            <a:pPr marL="0" indent="0">
              <a:buNone/>
            </a:pPr>
            <a:r>
              <a:rPr lang="en-IN" dirty="0"/>
              <a:t>  #</a:t>
            </a:r>
            <a:endParaRPr lang="en-IN" dirty="0" smtClean="0"/>
          </a:p>
          <a:p>
            <a:pPr marL="0" indent="0">
              <a:buNone/>
            </a:pPr>
            <a:r>
              <a:rPr lang="en-IN" dirty="0" smtClean="0"/>
              <a:t>**</a:t>
            </a:r>
            <a:r>
              <a:rPr lang="en-IN" dirty="0" err="1" smtClean="0"/>
              <a:t>kwargs</a:t>
            </a:r>
            <a:r>
              <a:rPr lang="en-IN" dirty="0" smtClean="0"/>
              <a:t> - These are Keyword Arguments.</a:t>
            </a:r>
            <a:endParaRPr lang="en-IN" dirty="0"/>
          </a:p>
        </p:txBody>
      </p:sp>
    </p:spTree>
    <p:extLst>
      <p:ext uri="{BB962C8B-B14F-4D97-AF65-F5344CB8AC3E}">
        <p14:creationId xmlns:p14="http://schemas.microsoft.com/office/powerpoint/2010/main" val="24224036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9427"/>
          </a:xfrm>
        </p:spPr>
        <p:txBody>
          <a:bodyPr>
            <a:normAutofit fontScale="90000"/>
          </a:bodyPr>
          <a:lstStyle/>
          <a:p>
            <a:r>
              <a:rPr lang="en-US" dirty="0" smtClean="0"/>
              <a:t>Example-</a:t>
            </a:r>
            <a:endParaRPr lang="en-IN" dirty="0"/>
          </a:p>
        </p:txBody>
      </p:sp>
      <p:sp>
        <p:nvSpPr>
          <p:cNvPr id="3" name="Content Placeholder 2"/>
          <p:cNvSpPr>
            <a:spLocks noGrp="1"/>
          </p:cNvSpPr>
          <p:nvPr>
            <p:ph idx="1"/>
          </p:nvPr>
        </p:nvSpPr>
        <p:spPr>
          <a:xfrm>
            <a:off x="838200" y="1236372"/>
            <a:ext cx="10515600" cy="4940591"/>
          </a:xfrm>
        </p:spPr>
        <p:txBody>
          <a:bodyPr>
            <a:normAutofit fontScale="92500" lnSpcReduction="10000"/>
          </a:bodyPr>
          <a:lstStyle/>
          <a:p>
            <a:pPr marL="0" indent="0">
              <a:buNone/>
            </a:pPr>
            <a:r>
              <a:rPr lang="en-IN" dirty="0" err="1"/>
              <a:t>def</a:t>
            </a:r>
            <a:r>
              <a:rPr lang="en-IN" dirty="0"/>
              <a:t> sum(*</a:t>
            </a:r>
            <a:r>
              <a:rPr lang="en-IN" dirty="0" err="1"/>
              <a:t>args</a:t>
            </a:r>
            <a:r>
              <a:rPr lang="en-IN" dirty="0"/>
              <a:t>):</a:t>
            </a:r>
          </a:p>
          <a:p>
            <a:pPr marL="0" indent="0">
              <a:buNone/>
            </a:pPr>
            <a:r>
              <a:rPr lang="en-IN" dirty="0"/>
              <a:t>    </a:t>
            </a:r>
            <a:r>
              <a:rPr lang="en-IN" dirty="0" err="1"/>
              <a:t>resultfinal</a:t>
            </a:r>
            <a:r>
              <a:rPr lang="en-IN" dirty="0"/>
              <a:t> = 0</a:t>
            </a:r>
          </a:p>
          <a:p>
            <a:pPr marL="0" indent="0">
              <a:buNone/>
            </a:pPr>
            <a:r>
              <a:rPr lang="en-IN" dirty="0"/>
              <a:t>#beginning of for loop</a:t>
            </a:r>
          </a:p>
          <a:p>
            <a:pPr marL="0" indent="0">
              <a:buNone/>
            </a:pPr>
            <a:r>
              <a:rPr lang="en-IN" dirty="0"/>
              <a:t>    for </a:t>
            </a:r>
            <a:r>
              <a:rPr lang="en-IN" dirty="0" err="1"/>
              <a:t>arg</a:t>
            </a:r>
            <a:r>
              <a:rPr lang="en-IN" dirty="0"/>
              <a:t> in </a:t>
            </a:r>
            <a:r>
              <a:rPr lang="en-IN" dirty="0" err="1"/>
              <a:t>args</a:t>
            </a:r>
            <a:r>
              <a:rPr lang="en-IN" dirty="0"/>
              <a:t>:</a:t>
            </a:r>
          </a:p>
          <a:p>
            <a:pPr marL="0" indent="0">
              <a:buNone/>
            </a:pPr>
            <a:r>
              <a:rPr lang="en-IN" dirty="0"/>
              <a:t>        </a:t>
            </a:r>
            <a:r>
              <a:rPr lang="en-IN" dirty="0" err="1"/>
              <a:t>resultfinal</a:t>
            </a:r>
            <a:r>
              <a:rPr lang="en-IN" dirty="0"/>
              <a:t> = </a:t>
            </a:r>
            <a:r>
              <a:rPr lang="en-IN" dirty="0" err="1"/>
              <a:t>resultfinal</a:t>
            </a:r>
            <a:r>
              <a:rPr lang="en-IN" dirty="0"/>
              <a:t> + </a:t>
            </a:r>
            <a:r>
              <a:rPr lang="en-IN" dirty="0" err="1"/>
              <a:t>arg</a:t>
            </a:r>
            <a:endParaRPr lang="en-IN" dirty="0"/>
          </a:p>
          <a:p>
            <a:pPr marL="0" indent="0">
              <a:buNone/>
            </a:pPr>
            <a:endParaRPr lang="en-IN" dirty="0"/>
          </a:p>
          <a:p>
            <a:pPr marL="0" indent="0">
              <a:buNone/>
            </a:pPr>
            <a:r>
              <a:rPr lang="en-IN" dirty="0"/>
              <a:t>    return </a:t>
            </a:r>
            <a:r>
              <a:rPr lang="en-IN" dirty="0" err="1"/>
              <a:t>resultfinal</a:t>
            </a:r>
            <a:endParaRPr lang="en-IN" dirty="0"/>
          </a:p>
          <a:p>
            <a:pPr marL="0" indent="0">
              <a:buNone/>
            </a:pPr>
            <a:r>
              <a:rPr lang="en-IN" dirty="0"/>
              <a:t>#printing the values</a:t>
            </a:r>
          </a:p>
          <a:p>
            <a:pPr marL="0" indent="0">
              <a:buNone/>
            </a:pPr>
            <a:r>
              <a:rPr lang="en-IN" dirty="0"/>
              <a:t>print(sum(10, 20))            # 30</a:t>
            </a:r>
          </a:p>
          <a:p>
            <a:pPr marL="0" indent="0">
              <a:buNone/>
            </a:pPr>
            <a:r>
              <a:rPr lang="en-IN" dirty="0"/>
              <a:t>print(sum(10, 20, 30))        # 60</a:t>
            </a:r>
          </a:p>
          <a:p>
            <a:pPr marL="0" indent="0">
              <a:buNone/>
            </a:pPr>
            <a:r>
              <a:rPr lang="en-IN" dirty="0"/>
              <a:t>print(sum(10, 20, 2))         # 32</a:t>
            </a:r>
            <a:endParaRPr lang="en-IN" dirty="0" smtClean="0"/>
          </a:p>
        </p:txBody>
      </p:sp>
    </p:spTree>
    <p:extLst>
      <p:ext uri="{BB962C8B-B14F-4D97-AF65-F5344CB8AC3E}">
        <p14:creationId xmlns:p14="http://schemas.microsoft.com/office/powerpoint/2010/main" val="31021903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Lamda</a:t>
            </a:r>
            <a:r>
              <a:rPr lang="en-US" dirty="0" smtClean="0"/>
              <a:t> Function-</a:t>
            </a:r>
            <a:endParaRPr lang="en-IN" dirty="0"/>
          </a:p>
        </p:txBody>
      </p:sp>
      <p:sp>
        <p:nvSpPr>
          <p:cNvPr id="3" name="Content Placeholder 2"/>
          <p:cNvSpPr>
            <a:spLocks noGrp="1"/>
          </p:cNvSpPr>
          <p:nvPr>
            <p:ph idx="1"/>
          </p:nvPr>
        </p:nvSpPr>
        <p:spPr/>
        <p:txBody>
          <a:bodyPr/>
          <a:lstStyle/>
          <a:p>
            <a:pPr marL="0" indent="0">
              <a:buNone/>
            </a:pPr>
            <a:r>
              <a:rPr lang="en-IN" dirty="0"/>
              <a:t>Lambda Functions in Python are anonymous functions, implying they don't have a name. The </a:t>
            </a:r>
            <a:r>
              <a:rPr lang="en-IN" dirty="0" err="1"/>
              <a:t>def</a:t>
            </a:r>
            <a:r>
              <a:rPr lang="en-IN" dirty="0"/>
              <a:t> keyword is needed to create a typical function in Python, as we already know. We can also use the lambda keyword in Python to define an unnamed function.</a:t>
            </a:r>
          </a:p>
          <a:p>
            <a:pPr marL="0" indent="0">
              <a:buNone/>
            </a:pPr>
            <a:r>
              <a:rPr lang="en-IN" dirty="0"/>
              <a:t>Syntax of Python Lambda Function</a:t>
            </a:r>
          </a:p>
          <a:p>
            <a:pPr marL="0" indent="0">
              <a:buNone/>
            </a:pPr>
            <a:r>
              <a:rPr lang="en-IN" b="1" dirty="0"/>
              <a:t>lambda</a:t>
            </a:r>
            <a:r>
              <a:rPr lang="en-IN" dirty="0"/>
              <a:t> arguments: expression       </a:t>
            </a:r>
          </a:p>
          <a:p>
            <a:pPr marL="0" indent="0">
              <a:buNone/>
            </a:pPr>
            <a:endParaRPr lang="en-IN" dirty="0"/>
          </a:p>
        </p:txBody>
      </p:sp>
    </p:spTree>
    <p:extLst>
      <p:ext uri="{BB962C8B-B14F-4D97-AF65-F5344CB8AC3E}">
        <p14:creationId xmlns:p14="http://schemas.microsoft.com/office/powerpoint/2010/main" val="10355776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Lambda Function in Python</a:t>
            </a:r>
            <a:br>
              <a:rPr lang="en-IN" dirty="0"/>
            </a:br>
            <a:endParaRPr lang="en-IN" dirty="0"/>
          </a:p>
        </p:txBody>
      </p:sp>
      <p:sp>
        <p:nvSpPr>
          <p:cNvPr id="3" name="Content Placeholder 2"/>
          <p:cNvSpPr>
            <a:spLocks noGrp="1"/>
          </p:cNvSpPr>
          <p:nvPr>
            <p:ph idx="1"/>
          </p:nvPr>
        </p:nvSpPr>
        <p:spPr/>
        <p:txBody>
          <a:bodyPr/>
          <a:lstStyle/>
          <a:p>
            <a:pPr marL="0" indent="0">
              <a:buNone/>
            </a:pPr>
            <a:r>
              <a:rPr lang="pt-BR" dirty="0"/>
              <a:t>add = </a:t>
            </a:r>
            <a:r>
              <a:rPr lang="pt-BR" b="1" dirty="0"/>
              <a:t>lambda</a:t>
            </a:r>
            <a:r>
              <a:rPr lang="pt-BR" dirty="0"/>
              <a:t> num: num + 4  </a:t>
            </a:r>
          </a:p>
          <a:p>
            <a:pPr marL="0" indent="0">
              <a:buNone/>
            </a:pPr>
            <a:r>
              <a:rPr lang="pt-BR" b="1" dirty="0"/>
              <a:t>print</a:t>
            </a:r>
            <a:r>
              <a:rPr lang="pt-BR" dirty="0"/>
              <a:t>( add(6) )  </a:t>
            </a:r>
          </a:p>
          <a:p>
            <a:pPr marL="0" indent="0">
              <a:buNone/>
            </a:pPr>
            <a:endParaRPr lang="en-US" dirty="0" smtClean="0"/>
          </a:p>
          <a:p>
            <a:r>
              <a:rPr lang="en-IN" dirty="0"/>
              <a:t>The lambda function is "lambda </a:t>
            </a:r>
            <a:r>
              <a:rPr lang="en-IN" dirty="0" err="1"/>
              <a:t>num</a:t>
            </a:r>
            <a:r>
              <a:rPr lang="en-IN" dirty="0"/>
              <a:t>: num+4" in the given programme. The parameter is </a:t>
            </a:r>
            <a:r>
              <a:rPr lang="en-IN" dirty="0" err="1"/>
              <a:t>num</a:t>
            </a:r>
            <a:r>
              <a:rPr lang="en-IN" dirty="0"/>
              <a:t>, and the computed and returned equation is </a:t>
            </a:r>
            <a:r>
              <a:rPr lang="en-IN" dirty="0" err="1"/>
              <a:t>num</a:t>
            </a:r>
            <a:r>
              <a:rPr lang="en-IN" dirty="0"/>
              <a:t> +</a:t>
            </a:r>
            <a:r>
              <a:rPr lang="en-IN" dirty="0" smtClean="0"/>
              <a:t>4</a:t>
            </a:r>
            <a:r>
              <a:rPr lang="en-IN" dirty="0"/>
              <a:t>.</a:t>
            </a:r>
          </a:p>
          <a:p>
            <a:r>
              <a:rPr lang="en-IN" dirty="0"/>
              <a:t>There is no label for this function. It generates a function object associated with the "add" identifier. We can now refer to it as a standard function. </a:t>
            </a:r>
          </a:p>
          <a:p>
            <a:pPr marL="0" indent="0">
              <a:buNone/>
            </a:pPr>
            <a:endParaRPr lang="en-IN" dirty="0"/>
          </a:p>
        </p:txBody>
      </p:sp>
    </p:spTree>
    <p:extLst>
      <p:ext uri="{BB962C8B-B14F-4D97-AF65-F5344CB8AC3E}">
        <p14:creationId xmlns:p14="http://schemas.microsoft.com/office/powerpoint/2010/main" val="16758822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and Global variables-</a:t>
            </a:r>
            <a:endParaRPr lang="en-IN" dirty="0"/>
          </a:p>
        </p:txBody>
      </p:sp>
      <p:sp>
        <p:nvSpPr>
          <p:cNvPr id="3" name="Content Placeholder 2"/>
          <p:cNvSpPr>
            <a:spLocks noGrp="1"/>
          </p:cNvSpPr>
          <p:nvPr>
            <p:ph idx="1"/>
          </p:nvPr>
        </p:nvSpPr>
        <p:spPr/>
        <p:txBody>
          <a:bodyPr/>
          <a:lstStyle/>
          <a:p>
            <a:pPr algn="just"/>
            <a:endParaRPr lang="en-IN" dirty="0" smtClean="0">
              <a:solidFill>
                <a:srgbClr val="FF0000"/>
              </a:solidFill>
            </a:endParaRPr>
          </a:p>
          <a:p>
            <a:pPr algn="just"/>
            <a:r>
              <a:rPr lang="en-IN" dirty="0" smtClean="0">
                <a:solidFill>
                  <a:srgbClr val="FF0000"/>
                </a:solidFill>
              </a:rPr>
              <a:t>Global variables </a:t>
            </a:r>
            <a:r>
              <a:rPr lang="en-IN" dirty="0" smtClean="0"/>
              <a:t>are those which are not defined inside any function and have a global scope whereas local variables are those which are defined inside a function and its scope is limited to that function only.</a:t>
            </a:r>
          </a:p>
          <a:p>
            <a:pPr marL="0" indent="0" algn="just">
              <a:buNone/>
            </a:pPr>
            <a:r>
              <a:rPr lang="en-IN" dirty="0" smtClean="0"/>
              <a:t> </a:t>
            </a:r>
          </a:p>
          <a:p>
            <a:pPr algn="just"/>
            <a:r>
              <a:rPr lang="en-IN" dirty="0" smtClean="0"/>
              <a:t>In other words, we can say that </a:t>
            </a:r>
            <a:r>
              <a:rPr lang="en-IN" dirty="0" smtClean="0">
                <a:solidFill>
                  <a:srgbClr val="FF0000"/>
                </a:solidFill>
              </a:rPr>
              <a:t>local variables </a:t>
            </a:r>
            <a:r>
              <a:rPr lang="en-IN" dirty="0" smtClean="0"/>
              <a:t>are accessible only inside the function in which it was initialized whereas the global variables are accessible throughout the program and inside every function.</a:t>
            </a:r>
            <a:endParaRPr lang="en-IN" dirty="0"/>
          </a:p>
        </p:txBody>
      </p:sp>
    </p:spTree>
    <p:extLst>
      <p:ext uri="{BB962C8B-B14F-4D97-AF65-F5344CB8AC3E}">
        <p14:creationId xmlns:p14="http://schemas.microsoft.com/office/powerpoint/2010/main" val="1421473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(local Variable)-</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err="1" smtClean="0"/>
              <a:t>def</a:t>
            </a:r>
            <a:r>
              <a:rPr lang="en-IN" dirty="0" smtClean="0"/>
              <a:t> f():</a:t>
            </a:r>
          </a:p>
          <a:p>
            <a:pPr marL="0" indent="0">
              <a:buNone/>
            </a:pPr>
            <a:r>
              <a:rPr lang="en-IN" dirty="0" smtClean="0"/>
              <a:t>  </a:t>
            </a:r>
          </a:p>
          <a:p>
            <a:pPr marL="0" indent="0">
              <a:buNone/>
            </a:pPr>
            <a:r>
              <a:rPr lang="en-IN" dirty="0" smtClean="0"/>
              <a:t>    # local variable</a:t>
            </a:r>
          </a:p>
          <a:p>
            <a:pPr marL="0" indent="0">
              <a:buNone/>
            </a:pPr>
            <a:r>
              <a:rPr lang="en-IN" dirty="0" smtClean="0"/>
              <a:t>    s = “Python Programming"</a:t>
            </a:r>
          </a:p>
          <a:p>
            <a:pPr marL="0" indent="0">
              <a:buNone/>
            </a:pPr>
            <a:r>
              <a:rPr lang="en-IN" dirty="0" smtClean="0"/>
              <a:t>    print(s)</a:t>
            </a:r>
          </a:p>
          <a:p>
            <a:pPr marL="0" indent="0">
              <a:buNone/>
            </a:pPr>
            <a:r>
              <a:rPr lang="en-IN" dirty="0" smtClean="0"/>
              <a:t>  </a:t>
            </a:r>
          </a:p>
          <a:p>
            <a:pPr marL="0" indent="0">
              <a:buNone/>
            </a:pPr>
            <a:r>
              <a:rPr lang="en-IN" dirty="0" smtClean="0"/>
              <a:t>  </a:t>
            </a:r>
          </a:p>
          <a:p>
            <a:pPr marL="0" indent="0">
              <a:buNone/>
            </a:pPr>
            <a:r>
              <a:rPr lang="en-IN" dirty="0" smtClean="0"/>
              <a:t># Driver code</a:t>
            </a:r>
          </a:p>
          <a:p>
            <a:pPr marL="0" indent="0">
              <a:buNone/>
            </a:pPr>
            <a:r>
              <a:rPr lang="en-IN" dirty="0" smtClean="0"/>
              <a:t>f()</a:t>
            </a:r>
            <a:endParaRPr lang="en-IN" dirty="0"/>
          </a:p>
        </p:txBody>
      </p:sp>
    </p:spTree>
    <p:extLst>
      <p:ext uri="{BB962C8B-B14F-4D97-AF65-F5344CB8AC3E}">
        <p14:creationId xmlns:p14="http://schemas.microsoft.com/office/powerpoint/2010/main" val="2524300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(global Variable)-</a:t>
            </a:r>
            <a:endParaRPr lang="en-IN" dirty="0"/>
          </a:p>
        </p:txBody>
      </p:sp>
      <p:sp>
        <p:nvSpPr>
          <p:cNvPr id="3" name="Content Placeholder 2"/>
          <p:cNvSpPr>
            <a:spLocks noGrp="1"/>
          </p:cNvSpPr>
          <p:nvPr>
            <p:ph idx="1"/>
          </p:nvPr>
        </p:nvSpPr>
        <p:spPr/>
        <p:txBody>
          <a:bodyPr/>
          <a:lstStyle/>
          <a:p>
            <a:pPr marL="0" indent="0">
              <a:buNone/>
            </a:pPr>
            <a:r>
              <a:rPr lang="en-IN" dirty="0" smtClean="0"/>
              <a:t># This function uses global variable s</a:t>
            </a:r>
          </a:p>
          <a:p>
            <a:pPr marL="0" indent="0">
              <a:buNone/>
            </a:pPr>
            <a:r>
              <a:rPr lang="en-IN" dirty="0" err="1" smtClean="0"/>
              <a:t>def</a:t>
            </a:r>
            <a:r>
              <a:rPr lang="en-IN" dirty="0" smtClean="0"/>
              <a:t> f():</a:t>
            </a:r>
          </a:p>
          <a:p>
            <a:pPr marL="0" indent="0">
              <a:buNone/>
            </a:pPr>
            <a:r>
              <a:rPr lang="en-IN" dirty="0" smtClean="0"/>
              <a:t>    print("Inside Function", s)</a:t>
            </a:r>
          </a:p>
          <a:p>
            <a:pPr marL="0" indent="0">
              <a:buNone/>
            </a:pPr>
            <a:r>
              <a:rPr lang="en-IN" dirty="0" smtClean="0"/>
              <a:t>  </a:t>
            </a:r>
          </a:p>
          <a:p>
            <a:pPr marL="0" indent="0">
              <a:buNone/>
            </a:pPr>
            <a:r>
              <a:rPr lang="en-IN" dirty="0" smtClean="0"/>
              <a:t># Global scope</a:t>
            </a:r>
          </a:p>
          <a:p>
            <a:pPr marL="0" indent="0">
              <a:buNone/>
            </a:pPr>
            <a:r>
              <a:rPr lang="en-IN" dirty="0" smtClean="0"/>
              <a:t>s = “Python Programming"</a:t>
            </a:r>
          </a:p>
          <a:p>
            <a:pPr marL="0" indent="0">
              <a:buNone/>
            </a:pPr>
            <a:r>
              <a:rPr lang="en-IN" dirty="0" smtClean="0"/>
              <a:t>f()</a:t>
            </a:r>
          </a:p>
          <a:p>
            <a:pPr marL="0" indent="0">
              <a:buNone/>
            </a:pPr>
            <a:r>
              <a:rPr lang="en-IN" dirty="0" smtClean="0"/>
              <a:t>print("Outside Function", s)</a:t>
            </a:r>
            <a:endParaRPr lang="en-IN" dirty="0"/>
          </a:p>
        </p:txBody>
      </p:sp>
    </p:spTree>
    <p:extLst>
      <p:ext uri="{BB962C8B-B14F-4D97-AF65-F5344CB8AC3E}">
        <p14:creationId xmlns:p14="http://schemas.microsoft.com/office/powerpoint/2010/main" val="20130853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a:t>
            </a:r>
            <a:r>
              <a:rPr lang="en-US" dirty="0" err="1" smtClean="0"/>
              <a:t>Datatype</a:t>
            </a:r>
            <a:r>
              <a:rPr lang="en-US" dirty="0" smtClean="0"/>
              <a:t>-</a:t>
            </a:r>
            <a:endParaRPr lang="en-IN" dirty="0"/>
          </a:p>
        </p:txBody>
      </p:sp>
      <p:pic>
        <p:nvPicPr>
          <p:cNvPr id="4" name="Content Placeholder 3"/>
          <p:cNvPicPr>
            <a:picLocks noGrp="1" noChangeAspect="1"/>
          </p:cNvPicPr>
          <p:nvPr>
            <p:ph idx="1"/>
          </p:nvPr>
        </p:nvPicPr>
        <p:blipFill rotWithShape="1">
          <a:blip r:embed="rId2"/>
          <a:srcRect l="11672" t="37662" r="44730" b="12614"/>
          <a:stretch/>
        </p:blipFill>
        <p:spPr>
          <a:xfrm>
            <a:off x="1969494" y="1365158"/>
            <a:ext cx="8253012" cy="5292000"/>
          </a:xfrm>
          <a:prstGeom prst="rect">
            <a:avLst/>
          </a:prstGeom>
        </p:spPr>
      </p:pic>
    </p:spTree>
    <p:extLst>
      <p:ext uri="{BB962C8B-B14F-4D97-AF65-F5344CB8AC3E}">
        <p14:creationId xmlns:p14="http://schemas.microsoft.com/office/powerpoint/2010/main" val="22690855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Immutable data structure-</a:t>
            </a:r>
            <a:endParaRPr lang="en-IN" dirty="0"/>
          </a:p>
        </p:txBody>
      </p:sp>
      <p:sp>
        <p:nvSpPr>
          <p:cNvPr id="3" name="Content Placeholder 2"/>
          <p:cNvSpPr>
            <a:spLocks noGrp="1"/>
          </p:cNvSpPr>
          <p:nvPr>
            <p:ph idx="1"/>
          </p:nvPr>
        </p:nvSpPr>
        <p:spPr/>
        <p:txBody>
          <a:bodyPr/>
          <a:lstStyle/>
          <a:p>
            <a:pPr marL="0" indent="0">
              <a:buNone/>
            </a:pPr>
            <a:r>
              <a:rPr lang="en-IN" dirty="0" smtClean="0"/>
              <a:t>These </a:t>
            </a:r>
            <a:r>
              <a:rPr lang="en-IN" dirty="0" err="1"/>
              <a:t>datatypes</a:t>
            </a:r>
            <a:r>
              <a:rPr lang="en-IN" dirty="0"/>
              <a:t> cannot be changed once declared. They consist of Numbers, Strings, </a:t>
            </a:r>
            <a:r>
              <a:rPr lang="en-IN" dirty="0" smtClean="0"/>
              <a:t>Tuples.</a:t>
            </a:r>
          </a:p>
          <a:p>
            <a:pPr marL="0" indent="0">
              <a:buNone/>
            </a:pPr>
            <a:endParaRPr lang="en-IN" dirty="0" smtClean="0"/>
          </a:p>
          <a:p>
            <a:pPr marL="0" indent="0">
              <a:buNone/>
            </a:pPr>
            <a:r>
              <a:rPr lang="en-IN" dirty="0"/>
              <a:t>Numbers</a:t>
            </a:r>
          </a:p>
          <a:p>
            <a:r>
              <a:rPr lang="en-IN" dirty="0" smtClean="0"/>
              <a:t>Python </a:t>
            </a:r>
            <a:r>
              <a:rPr lang="en-IN" dirty="0"/>
              <a:t>has four types of literals: Integer, Long Integer, Floating number and Complex. Even Python does not require the </a:t>
            </a:r>
            <a:r>
              <a:rPr lang="en-IN" dirty="0" err="1"/>
              <a:t>datatype</a:t>
            </a:r>
            <a:r>
              <a:rPr lang="en-IN" dirty="0"/>
              <a:t> to the variable in the declaration. Python will automatically convert one type to another </a:t>
            </a:r>
            <a:r>
              <a:rPr lang="en-IN" dirty="0" err="1"/>
              <a:t>datatype</a:t>
            </a:r>
            <a:r>
              <a:rPr lang="en-IN" dirty="0"/>
              <a:t>.</a:t>
            </a:r>
          </a:p>
          <a:p>
            <a:endParaRPr lang="en-US" dirty="0"/>
          </a:p>
          <a:p>
            <a:endParaRPr lang="en-IN" dirty="0"/>
          </a:p>
        </p:txBody>
      </p:sp>
    </p:spTree>
    <p:extLst>
      <p:ext uri="{BB962C8B-B14F-4D97-AF65-F5344CB8AC3E}">
        <p14:creationId xmlns:p14="http://schemas.microsoft.com/office/powerpoint/2010/main" val="479064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a:t>Let’s see with </a:t>
            </a:r>
            <a:r>
              <a:rPr lang="en-IN" dirty="0" smtClean="0"/>
              <a:t>an example</a:t>
            </a:r>
          </a:p>
          <a:p>
            <a:pPr marL="0" indent="0">
              <a:buNone/>
            </a:pPr>
            <a:endParaRPr lang="en-US" dirty="0"/>
          </a:p>
          <a:p>
            <a:pPr marL="0" indent="0">
              <a:buNone/>
            </a:pPr>
            <a:endParaRPr lang="en-IN" dirty="0"/>
          </a:p>
        </p:txBody>
      </p:sp>
      <p:pic>
        <p:nvPicPr>
          <p:cNvPr id="6" name="Picture 5"/>
          <p:cNvPicPr>
            <a:picLocks noChangeAspect="1"/>
          </p:cNvPicPr>
          <p:nvPr/>
        </p:nvPicPr>
        <p:blipFill rotWithShape="1">
          <a:blip r:embed="rId2"/>
          <a:srcRect l="15572" t="44274" r="51676" b="27444"/>
          <a:stretch/>
        </p:blipFill>
        <p:spPr>
          <a:xfrm>
            <a:off x="2091688" y="2176528"/>
            <a:ext cx="8008624" cy="3888000"/>
          </a:xfrm>
          <a:prstGeom prst="rect">
            <a:avLst/>
          </a:prstGeom>
        </p:spPr>
      </p:pic>
    </p:spTree>
    <p:extLst>
      <p:ext uri="{BB962C8B-B14F-4D97-AF65-F5344CB8AC3E}">
        <p14:creationId xmlns:p14="http://schemas.microsoft.com/office/powerpoint/2010/main" val="29734883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Immutable data structure-</a:t>
            </a:r>
            <a:endParaRPr lang="en-IN"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IN" dirty="0"/>
              <a:t>Immutable data </a:t>
            </a:r>
            <a:r>
              <a:rPr lang="en-IN" dirty="0" smtClean="0"/>
              <a:t>types </a:t>
            </a:r>
            <a:r>
              <a:rPr lang="en-IN" dirty="0" err="1" smtClean="0"/>
              <a:t>e.g</a:t>
            </a:r>
            <a:r>
              <a:rPr lang="en-IN" dirty="0" smtClean="0"/>
              <a:t> tuples and string </a:t>
            </a:r>
            <a:r>
              <a:rPr lang="en-IN" dirty="0"/>
              <a:t>are the data types that cannot be further changed or modified once executed in the program. </a:t>
            </a:r>
            <a:endParaRPr lang="en-IN" dirty="0" smtClean="0"/>
          </a:p>
          <a:p>
            <a:pPr marL="0" indent="0" algn="just">
              <a:buNone/>
            </a:pPr>
            <a:r>
              <a:rPr lang="en-IN" dirty="0"/>
              <a:t>Immutable data structures are very handy when you want to prevent multiple people from modifying a piece of data in parallel programming at the same time. </a:t>
            </a:r>
            <a:endParaRPr lang="en-IN" dirty="0" smtClean="0"/>
          </a:p>
          <a:p>
            <a:pPr marL="0" indent="0" algn="just">
              <a:buNone/>
            </a:pPr>
            <a:endParaRPr lang="en-US" dirty="0"/>
          </a:p>
          <a:p>
            <a:pPr marL="0" indent="0">
              <a:buNone/>
            </a:pPr>
            <a:r>
              <a:rPr lang="en-IN" dirty="0"/>
              <a:t>Tuples in python</a:t>
            </a:r>
          </a:p>
          <a:p>
            <a:r>
              <a:rPr lang="en-IN" dirty="0"/>
              <a:t>Tuples are the collection of python objects separated by commas. Tuples are similar to the list in terms of </a:t>
            </a:r>
            <a:r>
              <a:rPr lang="en-IN" b="1" dirty="0"/>
              <a:t>indexing, repetition</a:t>
            </a:r>
            <a:r>
              <a:rPr lang="en-IN" dirty="0"/>
              <a:t>, and </a:t>
            </a:r>
            <a:r>
              <a:rPr lang="en-IN" b="1" dirty="0"/>
              <a:t>nested objects</a:t>
            </a:r>
            <a:r>
              <a:rPr lang="en-IN" dirty="0"/>
              <a:t>. But here, the list is mutable and can be changed further according to the need of the programmer.</a:t>
            </a:r>
          </a:p>
          <a:p>
            <a:pPr marL="0" indent="0" algn="just">
              <a:buNone/>
            </a:pPr>
            <a:endParaRPr lang="en-IN" dirty="0"/>
          </a:p>
        </p:txBody>
      </p:sp>
    </p:spTree>
    <p:extLst>
      <p:ext uri="{BB962C8B-B14F-4D97-AF65-F5344CB8AC3E}">
        <p14:creationId xmlns:p14="http://schemas.microsoft.com/office/powerpoint/2010/main" val="18255868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b="1" dirty="0"/>
              <a:t>Python program to change the value inside the tuple </a:t>
            </a:r>
            <a:endParaRPr lang="en-IN" b="1" dirty="0" smtClean="0"/>
          </a:p>
          <a:p>
            <a:pPr marL="0" indent="0">
              <a:buNone/>
            </a:pPr>
            <a:r>
              <a:rPr lang="fr-FR" dirty="0" smtClean="0"/>
              <a:t>#</a:t>
            </a:r>
            <a:r>
              <a:rPr lang="fr-FR" dirty="0"/>
              <a:t> Python </a:t>
            </a:r>
            <a:r>
              <a:rPr lang="fr-FR" dirty="0" err="1"/>
              <a:t>contains</a:t>
            </a:r>
            <a:r>
              <a:rPr lang="fr-FR" dirty="0"/>
              <a:t> the immutable </a:t>
            </a:r>
            <a:r>
              <a:rPr lang="fr-FR" dirty="0" err="1"/>
              <a:t>tuple</a:t>
            </a:r>
            <a:r>
              <a:rPr lang="fr-FR" dirty="0"/>
              <a:t>  </a:t>
            </a:r>
          </a:p>
          <a:p>
            <a:pPr marL="0" indent="0">
              <a:buNone/>
            </a:pPr>
            <a:r>
              <a:rPr lang="fr-FR" dirty="0"/>
              <a:t>  </a:t>
            </a:r>
          </a:p>
          <a:p>
            <a:pPr marL="0" indent="0">
              <a:buNone/>
            </a:pPr>
            <a:r>
              <a:rPr lang="fr-FR" dirty="0"/>
              <a:t>t = ( 0, 1, 2, 3, 4, 5 )  </a:t>
            </a:r>
          </a:p>
          <a:p>
            <a:pPr marL="0" indent="0">
              <a:buNone/>
            </a:pPr>
            <a:r>
              <a:rPr lang="fr-FR" dirty="0" err="1"/>
              <a:t>print</a:t>
            </a:r>
            <a:r>
              <a:rPr lang="fr-FR" dirty="0"/>
              <a:t>(t)  </a:t>
            </a:r>
          </a:p>
          <a:p>
            <a:pPr marL="0" indent="0">
              <a:buNone/>
            </a:pPr>
            <a:r>
              <a:rPr lang="fr-FR" dirty="0"/>
              <a:t>t[0]=3  </a:t>
            </a:r>
          </a:p>
          <a:p>
            <a:pPr marL="0" indent="0">
              <a:buNone/>
            </a:pPr>
            <a:r>
              <a:rPr lang="fr-FR" dirty="0" err="1"/>
              <a:t>print</a:t>
            </a:r>
            <a:r>
              <a:rPr lang="fr-FR" dirty="0"/>
              <a:t>(t)  </a:t>
            </a:r>
            <a:endParaRPr lang="fr-FR" dirty="0" smtClean="0"/>
          </a:p>
          <a:p>
            <a:pPr marL="0" indent="0">
              <a:buNone/>
            </a:pPr>
            <a:endParaRPr lang="fr-FR" dirty="0"/>
          </a:p>
          <a:p>
            <a:pPr marL="0" indent="0">
              <a:buNone/>
            </a:pPr>
            <a:r>
              <a:rPr lang="fr-FR" dirty="0" smtClean="0"/>
              <a:t>Output-</a:t>
            </a:r>
            <a:r>
              <a:rPr lang="en-IN" dirty="0" err="1" smtClean="0"/>
              <a:t>TypeError</a:t>
            </a:r>
            <a:r>
              <a:rPr lang="en-IN" dirty="0" smtClean="0"/>
              <a:t>: 'tuple' object does not support item assignment.</a:t>
            </a:r>
            <a:endParaRPr lang="fr-FR" dirty="0"/>
          </a:p>
          <a:p>
            <a:endParaRPr lang="en-IN" dirty="0"/>
          </a:p>
        </p:txBody>
      </p:sp>
    </p:spTree>
    <p:extLst>
      <p:ext uri="{BB962C8B-B14F-4D97-AF65-F5344CB8AC3E}">
        <p14:creationId xmlns:p14="http://schemas.microsoft.com/office/powerpoint/2010/main" val="30956582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buNone/>
            </a:pPr>
            <a:r>
              <a:rPr lang="en-IN" b="1" dirty="0"/>
              <a:t>Python program to delete the value inside the tuple</a:t>
            </a:r>
            <a:r>
              <a:rPr lang="en-IN" dirty="0"/>
              <a:t/>
            </a:r>
            <a:br>
              <a:rPr lang="en-IN" dirty="0"/>
            </a:br>
            <a:r>
              <a:rPr lang="en-IN" dirty="0"/>
              <a:t> </a:t>
            </a:r>
            <a:endParaRPr lang="en-IN" dirty="0" smtClean="0"/>
          </a:p>
          <a:p>
            <a:pPr marL="0" indent="0">
              <a:buNone/>
            </a:pPr>
            <a:r>
              <a:rPr lang="fr-FR" dirty="0" smtClean="0"/>
              <a:t>#</a:t>
            </a:r>
            <a:r>
              <a:rPr lang="fr-FR" dirty="0"/>
              <a:t> Python </a:t>
            </a:r>
            <a:r>
              <a:rPr lang="fr-FR" dirty="0" err="1"/>
              <a:t>contains</a:t>
            </a:r>
            <a:r>
              <a:rPr lang="fr-FR" dirty="0"/>
              <a:t> the immutable </a:t>
            </a:r>
            <a:r>
              <a:rPr lang="fr-FR" dirty="0" err="1"/>
              <a:t>tuples</a:t>
            </a:r>
            <a:r>
              <a:rPr lang="fr-FR" dirty="0"/>
              <a:t>  </a:t>
            </a:r>
          </a:p>
          <a:p>
            <a:pPr marL="0" indent="0">
              <a:buNone/>
            </a:pPr>
            <a:r>
              <a:rPr lang="fr-FR" dirty="0"/>
              <a:t>  </a:t>
            </a:r>
          </a:p>
          <a:p>
            <a:pPr marL="0" indent="0">
              <a:buNone/>
            </a:pPr>
            <a:r>
              <a:rPr lang="fr-FR" dirty="0"/>
              <a:t>t=(12, 13, 15, 2, 7, 9)  </a:t>
            </a:r>
          </a:p>
          <a:p>
            <a:pPr marL="0" indent="0">
              <a:buNone/>
            </a:pPr>
            <a:r>
              <a:rPr lang="fr-FR" dirty="0" err="1"/>
              <a:t>print</a:t>
            </a:r>
            <a:r>
              <a:rPr lang="fr-FR" dirty="0"/>
              <a:t>(type(t))  </a:t>
            </a:r>
          </a:p>
          <a:p>
            <a:pPr marL="0" indent="0">
              <a:buNone/>
            </a:pPr>
            <a:r>
              <a:rPr lang="fr-FR" dirty="0" err="1"/>
              <a:t>print</a:t>
            </a:r>
            <a:r>
              <a:rPr lang="fr-FR" dirty="0"/>
              <a:t>(t)  </a:t>
            </a:r>
          </a:p>
          <a:p>
            <a:pPr marL="0" indent="0">
              <a:buNone/>
            </a:pPr>
            <a:r>
              <a:rPr lang="fr-FR" dirty="0" err="1"/>
              <a:t>del</a:t>
            </a:r>
            <a:r>
              <a:rPr lang="fr-FR" dirty="0"/>
              <a:t> t[0]  </a:t>
            </a:r>
          </a:p>
          <a:p>
            <a:pPr marL="0" indent="0">
              <a:buNone/>
            </a:pPr>
            <a:r>
              <a:rPr lang="fr-FR" dirty="0" err="1"/>
              <a:t>print</a:t>
            </a:r>
            <a:r>
              <a:rPr lang="fr-FR" dirty="0"/>
              <a:t>(t)  </a:t>
            </a:r>
            <a:endParaRPr lang="fr-FR" dirty="0" smtClean="0"/>
          </a:p>
          <a:p>
            <a:pPr marL="0" indent="0">
              <a:buNone/>
            </a:pPr>
            <a:endParaRPr lang="fr-FR" dirty="0"/>
          </a:p>
          <a:p>
            <a:pPr marL="0" indent="0">
              <a:buNone/>
            </a:pPr>
            <a:r>
              <a:rPr lang="fr-FR" dirty="0" smtClean="0"/>
              <a:t>Output-</a:t>
            </a:r>
            <a:r>
              <a:rPr lang="en-IN" dirty="0" err="1" smtClean="0"/>
              <a:t>TypeError</a:t>
            </a:r>
            <a:r>
              <a:rPr lang="en-IN" dirty="0" smtClean="0"/>
              <a:t>: 'tuple' object doesn't support item deletion.</a:t>
            </a:r>
            <a:endParaRPr lang="fr-FR" dirty="0"/>
          </a:p>
          <a:p>
            <a:endParaRPr lang="en-IN" dirty="0"/>
          </a:p>
        </p:txBody>
      </p:sp>
    </p:spTree>
    <p:extLst>
      <p:ext uri="{BB962C8B-B14F-4D97-AF65-F5344CB8AC3E}">
        <p14:creationId xmlns:p14="http://schemas.microsoft.com/office/powerpoint/2010/main" val="3578045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b="1" dirty="0"/>
              <a:t>Python program to delete the whole </a:t>
            </a:r>
            <a:r>
              <a:rPr lang="en-IN" b="1" dirty="0" smtClean="0"/>
              <a:t>tuple</a:t>
            </a:r>
          </a:p>
          <a:p>
            <a:pPr marL="0" indent="0">
              <a:buNone/>
            </a:pPr>
            <a:endParaRPr lang="en-IN" b="1" dirty="0" smtClean="0"/>
          </a:p>
          <a:p>
            <a:pPr marL="0" indent="0">
              <a:buNone/>
            </a:pPr>
            <a:r>
              <a:rPr lang="fr-FR" dirty="0"/>
              <a:t>t=(12, 13, 15, 2, 7, 9)  </a:t>
            </a:r>
          </a:p>
          <a:p>
            <a:pPr marL="0" indent="0">
              <a:buNone/>
            </a:pPr>
            <a:r>
              <a:rPr lang="fr-FR" dirty="0" err="1"/>
              <a:t>print</a:t>
            </a:r>
            <a:r>
              <a:rPr lang="fr-FR" dirty="0"/>
              <a:t>(type(t))  </a:t>
            </a:r>
          </a:p>
          <a:p>
            <a:pPr marL="0" indent="0">
              <a:buNone/>
            </a:pPr>
            <a:r>
              <a:rPr lang="fr-FR" dirty="0" err="1"/>
              <a:t>print</a:t>
            </a:r>
            <a:r>
              <a:rPr lang="fr-FR" dirty="0"/>
              <a:t>(t)  </a:t>
            </a:r>
          </a:p>
          <a:p>
            <a:pPr marL="0" indent="0">
              <a:buNone/>
            </a:pPr>
            <a:r>
              <a:rPr lang="fr-FR" dirty="0" err="1"/>
              <a:t>del</a:t>
            </a:r>
            <a:r>
              <a:rPr lang="fr-FR" dirty="0"/>
              <a:t> t  </a:t>
            </a:r>
          </a:p>
          <a:p>
            <a:pPr marL="0" indent="0">
              <a:buNone/>
            </a:pPr>
            <a:r>
              <a:rPr lang="fr-FR" dirty="0" err="1"/>
              <a:t>print</a:t>
            </a:r>
            <a:r>
              <a:rPr lang="fr-FR" dirty="0"/>
              <a:t>(t)  </a:t>
            </a:r>
          </a:p>
          <a:p>
            <a:endParaRPr lang="en-IN" dirty="0"/>
          </a:p>
        </p:txBody>
      </p:sp>
    </p:spTree>
    <p:extLst>
      <p:ext uri="{BB962C8B-B14F-4D97-AF65-F5344CB8AC3E}">
        <p14:creationId xmlns:p14="http://schemas.microsoft.com/office/powerpoint/2010/main" val="29965687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2171" t="40029" r="40903" b="9950"/>
          <a:stretch/>
        </p:blipFill>
        <p:spPr>
          <a:xfrm>
            <a:off x="2491741" y="1938701"/>
            <a:ext cx="7208519" cy="4320000"/>
          </a:xfrm>
          <a:prstGeom prst="rect">
            <a:avLst/>
          </a:prstGeom>
        </p:spPr>
      </p:pic>
    </p:spTree>
    <p:extLst>
      <p:ext uri="{BB962C8B-B14F-4D97-AF65-F5344CB8AC3E}">
        <p14:creationId xmlns:p14="http://schemas.microsoft.com/office/powerpoint/2010/main" val="1525839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Immutable data Structure-</a:t>
            </a:r>
            <a:endParaRPr lang="en-IN" dirty="0"/>
          </a:p>
        </p:txBody>
      </p:sp>
      <p:sp>
        <p:nvSpPr>
          <p:cNvPr id="3" name="Content Placeholder 2"/>
          <p:cNvSpPr>
            <a:spLocks noGrp="1"/>
          </p:cNvSpPr>
          <p:nvPr>
            <p:ph idx="1"/>
          </p:nvPr>
        </p:nvSpPr>
        <p:spPr>
          <a:xfrm>
            <a:off x="838200" y="1545465"/>
            <a:ext cx="10515600" cy="4631498"/>
          </a:xfrm>
        </p:spPr>
        <p:txBody>
          <a:bodyPr>
            <a:normAutofit fontScale="92500"/>
          </a:bodyPr>
          <a:lstStyle/>
          <a:p>
            <a:pPr marL="0" indent="0">
              <a:buNone/>
            </a:pPr>
            <a:r>
              <a:rPr lang="en-US" sz="3000" dirty="0"/>
              <a:t>String in </a:t>
            </a:r>
            <a:r>
              <a:rPr lang="en-US" sz="3000" dirty="0" smtClean="0"/>
              <a:t>Python-</a:t>
            </a:r>
          </a:p>
          <a:p>
            <a:pPr marL="0" indent="0">
              <a:buNone/>
            </a:pPr>
            <a:endParaRPr lang="en-IN" dirty="0" smtClean="0"/>
          </a:p>
          <a:p>
            <a:r>
              <a:rPr lang="en-IN" dirty="0" smtClean="0"/>
              <a:t>Python </a:t>
            </a:r>
            <a:r>
              <a:rPr lang="en-IN" dirty="0"/>
              <a:t>string is the collection of the characters surrounded by single quotes, double quotes, or triple quotes. The computer does not understand the characters; internally, it stores manipulated character as the combination of the 0's and 1's</a:t>
            </a:r>
            <a:r>
              <a:rPr lang="en-IN" dirty="0" smtClean="0"/>
              <a:t>.</a:t>
            </a:r>
          </a:p>
          <a:p>
            <a:r>
              <a:rPr lang="en-IN" dirty="0"/>
              <a:t>Each character is encoded in the ASCII or Unicode character. So we can say that Python strings are also called the collection of Unicode characters.</a:t>
            </a:r>
          </a:p>
          <a:p>
            <a:r>
              <a:rPr lang="en-IN" dirty="0"/>
              <a:t>In Python, strings can be created by enclosing the character or the sequence of characters in the quotes. Python allows us to use single quotes, double quotes, or triple quotes to create the </a:t>
            </a:r>
            <a:r>
              <a:rPr lang="en-IN" dirty="0" smtClean="0"/>
              <a:t>string.</a:t>
            </a:r>
            <a:endParaRPr lang="en-IN" dirty="0"/>
          </a:p>
          <a:p>
            <a:endParaRPr lang="en-IN" dirty="0"/>
          </a:p>
        </p:txBody>
      </p:sp>
    </p:spTree>
    <p:extLst>
      <p:ext uri="{BB962C8B-B14F-4D97-AF65-F5344CB8AC3E}">
        <p14:creationId xmlns:p14="http://schemas.microsoft.com/office/powerpoint/2010/main" val="451938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err="1"/>
              <a:t>str</a:t>
            </a:r>
            <a:r>
              <a:rPr lang="en-IN" dirty="0"/>
              <a:t> = "Hi Python !"    </a:t>
            </a:r>
          </a:p>
          <a:p>
            <a:pPr marL="0" indent="0">
              <a:buNone/>
            </a:pPr>
            <a:r>
              <a:rPr lang="en-IN" dirty="0"/>
              <a:t>Here, if we check the type of the variable </a:t>
            </a:r>
            <a:r>
              <a:rPr lang="en-IN" b="1" dirty="0" err="1"/>
              <a:t>str</a:t>
            </a:r>
            <a:r>
              <a:rPr lang="en-IN" dirty="0"/>
              <a:t> using a Python script</a:t>
            </a:r>
          </a:p>
          <a:p>
            <a:pPr marL="0" indent="0">
              <a:buNone/>
            </a:pPr>
            <a:r>
              <a:rPr lang="en-IN" b="1" dirty="0"/>
              <a:t>print</a:t>
            </a:r>
            <a:r>
              <a:rPr lang="en-IN" dirty="0"/>
              <a:t>(type(</a:t>
            </a:r>
            <a:r>
              <a:rPr lang="en-IN" dirty="0" err="1"/>
              <a:t>str</a:t>
            </a:r>
            <a:r>
              <a:rPr lang="en-IN" dirty="0"/>
              <a:t>)), then it will </a:t>
            </a:r>
            <a:r>
              <a:rPr lang="en-IN" b="1" dirty="0"/>
              <a:t>print</a:t>
            </a:r>
            <a:r>
              <a:rPr lang="en-IN" dirty="0"/>
              <a:t> a string (</a:t>
            </a:r>
            <a:r>
              <a:rPr lang="en-IN" dirty="0" err="1"/>
              <a:t>str</a:t>
            </a:r>
            <a:r>
              <a:rPr lang="en-IN" dirty="0"/>
              <a:t>).    </a:t>
            </a:r>
          </a:p>
          <a:p>
            <a:pPr marL="0" indent="0">
              <a:buNone/>
            </a:pPr>
            <a:endParaRPr lang="en-IN" dirty="0"/>
          </a:p>
        </p:txBody>
      </p:sp>
    </p:spTree>
    <p:extLst>
      <p:ext uri="{BB962C8B-B14F-4D97-AF65-F5344CB8AC3E}">
        <p14:creationId xmlns:p14="http://schemas.microsoft.com/office/powerpoint/2010/main" val="18635809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a:t>#Using single quotes  </a:t>
            </a:r>
          </a:p>
          <a:p>
            <a:pPr marL="0" indent="0">
              <a:buNone/>
            </a:pPr>
            <a:r>
              <a:rPr lang="en-IN" dirty="0"/>
              <a:t>str1 = 'Hello Python'  </a:t>
            </a:r>
          </a:p>
          <a:p>
            <a:pPr marL="0" indent="0">
              <a:buNone/>
            </a:pPr>
            <a:r>
              <a:rPr lang="en-IN" dirty="0"/>
              <a:t>print(str1)  </a:t>
            </a:r>
          </a:p>
          <a:p>
            <a:pPr marL="0" indent="0">
              <a:buNone/>
            </a:pPr>
            <a:r>
              <a:rPr lang="en-IN" dirty="0"/>
              <a:t>#Using double quotes  </a:t>
            </a:r>
          </a:p>
          <a:p>
            <a:pPr marL="0" indent="0">
              <a:buNone/>
            </a:pPr>
            <a:r>
              <a:rPr lang="en-IN" dirty="0"/>
              <a:t>str2 = "Hello Python"  </a:t>
            </a:r>
          </a:p>
          <a:p>
            <a:pPr marL="0" indent="0">
              <a:buNone/>
            </a:pPr>
            <a:r>
              <a:rPr lang="en-IN" dirty="0"/>
              <a:t>print(str2)  </a:t>
            </a:r>
          </a:p>
          <a:p>
            <a:pPr marL="0" indent="0">
              <a:buNone/>
            </a:pPr>
            <a:r>
              <a:rPr lang="en-IN" dirty="0"/>
              <a:t>  </a:t>
            </a:r>
          </a:p>
          <a:p>
            <a:pPr marL="0" indent="0">
              <a:buNone/>
            </a:pPr>
            <a:r>
              <a:rPr lang="en-IN" dirty="0"/>
              <a:t>#Using triple quotes  </a:t>
            </a:r>
          </a:p>
          <a:p>
            <a:pPr marL="0" indent="0">
              <a:buNone/>
            </a:pPr>
            <a:r>
              <a:rPr lang="en-IN" dirty="0"/>
              <a:t>str3 = '''''Triple quotes are generally used for  </a:t>
            </a:r>
          </a:p>
          <a:p>
            <a:pPr marL="0" indent="0">
              <a:buNone/>
            </a:pPr>
            <a:r>
              <a:rPr lang="en-IN" dirty="0"/>
              <a:t>    represent the multiline or </a:t>
            </a:r>
          </a:p>
          <a:p>
            <a:pPr marL="0" indent="0">
              <a:buNone/>
            </a:pPr>
            <a:r>
              <a:rPr lang="en-IN" dirty="0"/>
              <a:t>    </a:t>
            </a:r>
            <a:r>
              <a:rPr lang="en-IN" dirty="0" err="1"/>
              <a:t>docstring</a:t>
            </a:r>
            <a:r>
              <a:rPr lang="en-IN" dirty="0"/>
              <a:t>'''   </a:t>
            </a:r>
          </a:p>
          <a:p>
            <a:pPr marL="0" indent="0">
              <a:buNone/>
            </a:pPr>
            <a:r>
              <a:rPr lang="en-IN" dirty="0"/>
              <a:t>print(str3) </a:t>
            </a:r>
          </a:p>
        </p:txBody>
      </p:sp>
    </p:spTree>
    <p:extLst>
      <p:ext uri="{BB962C8B-B14F-4D97-AF65-F5344CB8AC3E}">
        <p14:creationId xmlns:p14="http://schemas.microsoft.com/office/powerpoint/2010/main" val="3907092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a:t>
            </a:r>
            <a:br>
              <a:rPr lang="en-IN" dirty="0"/>
            </a:br>
            <a:endParaRPr lang="en-IN" dirty="0"/>
          </a:p>
        </p:txBody>
      </p:sp>
      <p:sp>
        <p:nvSpPr>
          <p:cNvPr id="3" name="Content Placeholder 2"/>
          <p:cNvSpPr>
            <a:spLocks noGrp="1"/>
          </p:cNvSpPr>
          <p:nvPr>
            <p:ph idx="1"/>
          </p:nvPr>
        </p:nvSpPr>
        <p:spPr/>
        <p:txBody>
          <a:bodyPr/>
          <a:lstStyle/>
          <a:p>
            <a:pPr marL="0" indent="0">
              <a:buNone/>
            </a:pPr>
            <a:endParaRPr lang="en-IN" dirty="0"/>
          </a:p>
          <a:p>
            <a:pPr marL="0" indent="0">
              <a:buNone/>
            </a:pPr>
            <a:r>
              <a:rPr lang="en-IN" dirty="0"/>
              <a:t>Hello Python</a:t>
            </a:r>
          </a:p>
          <a:p>
            <a:pPr marL="0" indent="0">
              <a:buNone/>
            </a:pPr>
            <a:r>
              <a:rPr lang="en-IN" dirty="0"/>
              <a:t>Hello Python</a:t>
            </a:r>
          </a:p>
          <a:p>
            <a:pPr marL="0" indent="0">
              <a:buNone/>
            </a:pPr>
            <a:r>
              <a:rPr lang="en-IN" dirty="0"/>
              <a:t>Triple quotes are generally used for </a:t>
            </a:r>
          </a:p>
          <a:p>
            <a:pPr marL="0" indent="0">
              <a:buNone/>
            </a:pPr>
            <a:r>
              <a:rPr lang="en-IN" dirty="0"/>
              <a:t>    represent the multiline or</a:t>
            </a:r>
          </a:p>
          <a:p>
            <a:pPr marL="0" indent="0">
              <a:buNone/>
            </a:pPr>
            <a:r>
              <a:rPr lang="en-IN" dirty="0"/>
              <a:t>    </a:t>
            </a:r>
            <a:r>
              <a:rPr lang="en-IN" dirty="0" err="1"/>
              <a:t>docstring</a:t>
            </a:r>
            <a:endParaRPr lang="en-IN" dirty="0"/>
          </a:p>
        </p:txBody>
      </p:sp>
    </p:spTree>
    <p:extLst>
      <p:ext uri="{BB962C8B-B14F-4D97-AF65-F5344CB8AC3E}">
        <p14:creationId xmlns:p14="http://schemas.microsoft.com/office/powerpoint/2010/main" val="28915333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a:xfrm>
            <a:off x="838200" y="1468192"/>
            <a:ext cx="10515600" cy="4708771"/>
          </a:xfrm>
        </p:spPr>
        <p:txBody>
          <a:bodyPr/>
          <a:lstStyle/>
          <a:p>
            <a:pPr marL="0" indent="0">
              <a:buNone/>
            </a:pPr>
            <a:r>
              <a:rPr lang="en-IN" dirty="0"/>
              <a:t>I</a:t>
            </a:r>
            <a:r>
              <a:rPr lang="en-IN" dirty="0" smtClean="0"/>
              <a:t>n </a:t>
            </a:r>
            <a:r>
              <a:rPr lang="en-IN" dirty="0"/>
              <a:t>Python, the slice operator [] is used to access the individual characters of the string. However, we can use the : (colon) operator in Python to access the substring from the given string. Consider the following example.</a:t>
            </a:r>
          </a:p>
          <a:p>
            <a:pPr marL="0" indent="0">
              <a:buNone/>
            </a:pPr>
            <a:r>
              <a:rPr lang="en-IN" dirty="0"/>
              <a:t/>
            </a:r>
            <a:br>
              <a:rPr lang="en-IN" dirty="0"/>
            </a:br>
            <a:endParaRPr lang="en-IN" dirty="0"/>
          </a:p>
        </p:txBody>
      </p:sp>
      <p:pic>
        <p:nvPicPr>
          <p:cNvPr id="8" name="Picture 2" descr="Python St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4421" y="3121850"/>
            <a:ext cx="2692579" cy="3407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3342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8" name="Picture 4" descr="Python Str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33761" y="2424685"/>
            <a:ext cx="4524479" cy="374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0205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a:t>Reassigning Strings</a:t>
            </a:r>
          </a:p>
          <a:p>
            <a:r>
              <a:rPr lang="en-IN" dirty="0" smtClean="0"/>
              <a:t>A </a:t>
            </a:r>
            <a:r>
              <a:rPr lang="en-IN" dirty="0"/>
              <a:t>string can only be replaced with new string since its content cannot be partially replaced. Strings are immutable in Python.</a:t>
            </a:r>
          </a:p>
          <a:p>
            <a:pPr marL="0" indent="0">
              <a:buNone/>
            </a:pPr>
            <a:r>
              <a:rPr lang="en-IN" dirty="0" err="1"/>
              <a:t>str</a:t>
            </a:r>
            <a:r>
              <a:rPr lang="en-IN" dirty="0"/>
              <a:t> = "HELLO"    </a:t>
            </a:r>
          </a:p>
          <a:p>
            <a:pPr marL="0" indent="0">
              <a:buNone/>
            </a:pPr>
            <a:r>
              <a:rPr lang="en-IN" dirty="0" err="1"/>
              <a:t>str</a:t>
            </a:r>
            <a:r>
              <a:rPr lang="en-IN" dirty="0"/>
              <a:t>[0] = "h"    </a:t>
            </a:r>
          </a:p>
          <a:p>
            <a:pPr marL="0" indent="0">
              <a:buNone/>
            </a:pPr>
            <a:r>
              <a:rPr lang="en-IN" b="1" dirty="0"/>
              <a:t>print</a:t>
            </a:r>
            <a:r>
              <a:rPr lang="en-IN" dirty="0"/>
              <a:t>(</a:t>
            </a:r>
            <a:r>
              <a:rPr lang="en-IN" dirty="0" err="1"/>
              <a:t>str</a:t>
            </a:r>
            <a:r>
              <a:rPr lang="en-IN" dirty="0"/>
              <a:t>)    </a:t>
            </a:r>
          </a:p>
          <a:p>
            <a:pPr marL="0" indent="0">
              <a:buNone/>
            </a:pPr>
            <a:r>
              <a:rPr lang="en-IN" dirty="0" err="1"/>
              <a:t>TypeError</a:t>
            </a:r>
            <a:r>
              <a:rPr lang="en-IN" dirty="0"/>
              <a:t>: '</a:t>
            </a:r>
            <a:r>
              <a:rPr lang="en-IN" dirty="0" err="1"/>
              <a:t>str</a:t>
            </a:r>
            <a:r>
              <a:rPr lang="en-IN" dirty="0"/>
              <a:t>' object does not support item assignment</a:t>
            </a:r>
          </a:p>
        </p:txBody>
      </p:sp>
    </p:spTree>
    <p:extLst>
      <p:ext uri="{BB962C8B-B14F-4D97-AF65-F5344CB8AC3E}">
        <p14:creationId xmlns:p14="http://schemas.microsoft.com/office/powerpoint/2010/main" val="31226162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dirty="0" err="1"/>
              <a:t>str</a:t>
            </a:r>
            <a:r>
              <a:rPr lang="en-IN" dirty="0"/>
              <a:t> = "HELLO"    </a:t>
            </a:r>
          </a:p>
          <a:p>
            <a:pPr marL="0" indent="0">
              <a:buNone/>
            </a:pPr>
            <a:r>
              <a:rPr lang="en-IN" b="1" dirty="0"/>
              <a:t>print</a:t>
            </a:r>
            <a:r>
              <a:rPr lang="en-IN" dirty="0"/>
              <a:t>(</a:t>
            </a:r>
            <a:r>
              <a:rPr lang="en-IN" dirty="0" err="1"/>
              <a:t>str</a:t>
            </a:r>
            <a:r>
              <a:rPr lang="en-IN" dirty="0"/>
              <a:t>)    </a:t>
            </a:r>
          </a:p>
          <a:p>
            <a:pPr marL="0" indent="0">
              <a:buNone/>
            </a:pPr>
            <a:r>
              <a:rPr lang="en-IN" dirty="0" err="1"/>
              <a:t>str</a:t>
            </a:r>
            <a:r>
              <a:rPr lang="en-IN" dirty="0"/>
              <a:t> = "hello"    </a:t>
            </a:r>
          </a:p>
          <a:p>
            <a:pPr marL="0" indent="0">
              <a:buNone/>
            </a:pPr>
            <a:r>
              <a:rPr lang="en-IN" b="1" dirty="0"/>
              <a:t>print</a:t>
            </a:r>
            <a:r>
              <a:rPr lang="en-IN" dirty="0"/>
              <a:t>(</a:t>
            </a:r>
            <a:r>
              <a:rPr lang="en-IN" dirty="0" err="1"/>
              <a:t>str</a:t>
            </a:r>
            <a:r>
              <a:rPr lang="en-IN" dirty="0"/>
              <a:t>)  </a:t>
            </a:r>
            <a:endParaRPr lang="en-IN" dirty="0" smtClean="0"/>
          </a:p>
          <a:p>
            <a:pPr marL="0" indent="0">
              <a:buNone/>
            </a:pPr>
            <a:endParaRPr lang="en-US" dirty="0" smtClean="0"/>
          </a:p>
          <a:p>
            <a:pPr marL="0" indent="0">
              <a:buNone/>
            </a:pPr>
            <a:r>
              <a:rPr lang="en-IN" dirty="0"/>
              <a:t>Output:</a:t>
            </a:r>
          </a:p>
          <a:p>
            <a:pPr marL="0" indent="0">
              <a:buNone/>
            </a:pPr>
            <a:endParaRPr lang="en-IN" dirty="0"/>
          </a:p>
          <a:p>
            <a:pPr marL="0" indent="0">
              <a:buNone/>
            </a:pPr>
            <a:r>
              <a:rPr lang="en-IN" dirty="0"/>
              <a:t>HELLO</a:t>
            </a:r>
          </a:p>
          <a:p>
            <a:pPr marL="0" indent="0">
              <a:buNone/>
            </a:pPr>
            <a:r>
              <a:rPr lang="en-IN" dirty="0"/>
              <a:t>hello </a:t>
            </a:r>
            <a:endParaRPr lang="en-IN" dirty="0" smtClean="0"/>
          </a:p>
          <a:p>
            <a:pPr marL="0" indent="0">
              <a:buNone/>
            </a:pPr>
            <a:endParaRPr lang="en-IN" dirty="0"/>
          </a:p>
          <a:p>
            <a:pPr marL="0" indent="0">
              <a:buNone/>
            </a:pPr>
            <a:r>
              <a:rPr lang="en-IN" dirty="0"/>
              <a:t>  </a:t>
            </a:r>
          </a:p>
          <a:p>
            <a:endParaRPr lang="en-IN" dirty="0"/>
          </a:p>
        </p:txBody>
      </p:sp>
    </p:spTree>
    <p:extLst>
      <p:ext uri="{BB962C8B-B14F-4D97-AF65-F5344CB8AC3E}">
        <p14:creationId xmlns:p14="http://schemas.microsoft.com/office/powerpoint/2010/main" val="4353139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Deleting the String</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str1 = </a:t>
            </a:r>
            <a:r>
              <a:rPr lang="en-IN" dirty="0" smtClean="0"/>
              <a:t>“Python"</a:t>
            </a:r>
            <a:r>
              <a:rPr lang="en-IN" dirty="0"/>
              <a:t>  </a:t>
            </a:r>
          </a:p>
          <a:p>
            <a:pPr marL="0" indent="0">
              <a:buNone/>
            </a:pPr>
            <a:r>
              <a:rPr lang="en-IN" b="1" dirty="0"/>
              <a:t>del</a:t>
            </a:r>
            <a:r>
              <a:rPr lang="en-IN" dirty="0"/>
              <a:t> str1  </a:t>
            </a:r>
          </a:p>
          <a:p>
            <a:pPr marL="0" indent="0">
              <a:buNone/>
            </a:pPr>
            <a:r>
              <a:rPr lang="en-IN" b="1" dirty="0"/>
              <a:t>print</a:t>
            </a:r>
            <a:r>
              <a:rPr lang="en-IN" dirty="0"/>
              <a:t>(str1)  </a:t>
            </a:r>
          </a:p>
          <a:p>
            <a:pPr marL="0" indent="0">
              <a:buNone/>
            </a:pPr>
            <a:endParaRPr lang="en-US" dirty="0" smtClean="0"/>
          </a:p>
          <a:p>
            <a:pPr marL="0" indent="0">
              <a:buNone/>
            </a:pPr>
            <a:r>
              <a:rPr lang="en-IN" dirty="0"/>
              <a:t>Output</a:t>
            </a:r>
            <a:r>
              <a:rPr lang="en-IN" dirty="0" smtClean="0"/>
              <a:t>:</a:t>
            </a:r>
            <a:endParaRPr lang="en-IN" dirty="0"/>
          </a:p>
          <a:p>
            <a:pPr marL="0" indent="0">
              <a:buNone/>
            </a:pPr>
            <a:r>
              <a:rPr lang="en-IN" dirty="0" err="1"/>
              <a:t>NameError</a:t>
            </a:r>
            <a:r>
              <a:rPr lang="en-IN" dirty="0"/>
              <a:t>: name 'str1' is not defined</a:t>
            </a:r>
          </a:p>
        </p:txBody>
      </p:sp>
    </p:spTree>
    <p:extLst>
      <p:ext uri="{BB962C8B-B14F-4D97-AF65-F5344CB8AC3E}">
        <p14:creationId xmlns:p14="http://schemas.microsoft.com/office/powerpoint/2010/main" val="40540373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Operators</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0281437"/>
              </p:ext>
            </p:extLst>
          </p:nvPr>
        </p:nvGraphicFramePr>
        <p:xfrm>
          <a:off x="1275008" y="1223493"/>
          <a:ext cx="10078792" cy="5587769"/>
        </p:xfrm>
        <a:graphic>
          <a:graphicData uri="http://schemas.openxmlformats.org/drawingml/2006/table">
            <a:tbl>
              <a:tblPr/>
              <a:tblGrid>
                <a:gridCol w="1287888"/>
                <a:gridCol w="8790904"/>
              </a:tblGrid>
              <a:tr h="203108">
                <a:tc>
                  <a:txBody>
                    <a:bodyPr/>
                    <a:lstStyle/>
                    <a:p>
                      <a:pPr algn="l" fontAlgn="t"/>
                      <a:r>
                        <a:rPr lang="en-IN" sz="1800">
                          <a:solidFill>
                            <a:srgbClr val="000000"/>
                          </a:solidFill>
                          <a:effectLst/>
                          <a:latin typeface="+mn-lt"/>
                        </a:rPr>
                        <a:t>Operator</a:t>
                      </a:r>
                    </a:p>
                  </a:txBody>
                  <a:tcPr marL="41893" marR="41893" marT="41893" marB="41893">
                    <a:lnL w="9525" cap="flat" cmpd="sng" algn="ctr">
                      <a:solidFill>
                        <a:srgbClr val="1039EA"/>
                      </a:solidFill>
                      <a:prstDash val="solid"/>
                      <a:round/>
                      <a:headEnd type="none" w="med" len="med"/>
                      <a:tailEnd type="none" w="med" len="med"/>
                    </a:lnL>
                    <a:lnR w="9525" cap="flat" cmpd="sng" algn="ctr">
                      <a:solidFill>
                        <a:srgbClr val="1039EA"/>
                      </a:solidFill>
                      <a:prstDash val="solid"/>
                      <a:round/>
                      <a:headEnd type="none" w="med" len="med"/>
                      <a:tailEnd type="none" w="med" len="med"/>
                    </a:lnR>
                    <a:lnT w="9525" cap="flat" cmpd="sng" algn="ctr">
                      <a:solidFill>
                        <a:srgbClr val="1039E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800">
                          <a:solidFill>
                            <a:srgbClr val="000000"/>
                          </a:solidFill>
                          <a:effectLst/>
                          <a:latin typeface="+mn-lt"/>
                        </a:rPr>
                        <a:t>Description</a:t>
                      </a:r>
                    </a:p>
                  </a:txBody>
                  <a:tcPr marL="41893" marR="41893" marT="41893" marB="41893">
                    <a:lnL w="9525" cap="flat" cmpd="sng" algn="ctr">
                      <a:solidFill>
                        <a:srgbClr val="1039EA"/>
                      </a:solidFill>
                      <a:prstDash val="solid"/>
                      <a:round/>
                      <a:headEnd type="none" w="med" len="med"/>
                      <a:tailEnd type="none" w="med" len="med"/>
                    </a:lnL>
                    <a:lnR w="9525" cap="flat" cmpd="sng" algn="ctr">
                      <a:solidFill>
                        <a:srgbClr val="1039EA"/>
                      </a:solidFill>
                      <a:prstDash val="solid"/>
                      <a:round/>
                      <a:headEnd type="none" w="med" len="med"/>
                      <a:tailEnd type="none" w="med" len="med"/>
                    </a:lnR>
                    <a:lnT w="9525" cap="flat" cmpd="sng" algn="ctr">
                      <a:solidFill>
                        <a:srgbClr val="1039E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r>
              <a:tr h="514609">
                <a:tc>
                  <a:txBody>
                    <a:bodyPr/>
                    <a:lstStyle/>
                    <a:p>
                      <a:pPr algn="just" fontAlgn="t"/>
                      <a:r>
                        <a:rPr lang="en-IN" sz="1800">
                          <a:solidFill>
                            <a:srgbClr val="333333"/>
                          </a:solidFill>
                          <a:effectLst/>
                          <a:latin typeface="+mn-lt"/>
                        </a:rPr>
                        <a:t>+</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mn-lt"/>
                        </a:rPr>
                        <a:t>It is known as concatenation operator used to join the strings given either side of the operator.</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514609">
                <a:tc>
                  <a:txBody>
                    <a:bodyPr/>
                    <a:lstStyle/>
                    <a:p>
                      <a:pPr algn="just" fontAlgn="t"/>
                      <a:r>
                        <a:rPr lang="en-IN" sz="1800">
                          <a:solidFill>
                            <a:srgbClr val="333333"/>
                          </a:solidFill>
                          <a:effectLst/>
                          <a:latin typeface="+mn-lt"/>
                        </a:rPr>
                        <a:t>*</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a:solidFill>
                            <a:srgbClr val="333333"/>
                          </a:solidFill>
                          <a:effectLst/>
                          <a:latin typeface="+mn-lt"/>
                        </a:rPr>
                        <a:t>It is known as repetition operator. It concatenates the multiple copies of the same string.</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400848">
                <a:tc>
                  <a:txBody>
                    <a:bodyPr/>
                    <a:lstStyle/>
                    <a:p>
                      <a:pPr algn="just" fontAlgn="t"/>
                      <a:r>
                        <a:rPr lang="en-IN" sz="1800">
                          <a:solidFill>
                            <a:srgbClr val="333333"/>
                          </a:solidFill>
                          <a:effectLst/>
                          <a:latin typeface="+mn-lt"/>
                        </a:rPr>
                        <a:t>[]</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mn-lt"/>
                        </a:rPr>
                        <a:t>It is known as slice operator. It is used to access the sub-strings of a particular string.</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514609">
                <a:tc>
                  <a:txBody>
                    <a:bodyPr/>
                    <a:lstStyle/>
                    <a:p>
                      <a:pPr algn="just" fontAlgn="t"/>
                      <a:r>
                        <a:rPr lang="en-IN" sz="1800">
                          <a:solidFill>
                            <a:srgbClr val="333333"/>
                          </a:solidFill>
                          <a:effectLst/>
                          <a:latin typeface="+mn-lt"/>
                        </a:rPr>
                        <a:t>[:]</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a:solidFill>
                            <a:srgbClr val="333333"/>
                          </a:solidFill>
                          <a:effectLst/>
                          <a:latin typeface="+mn-lt"/>
                        </a:rPr>
                        <a:t>It is known as range slice operator. It is used to access the characters from the specified range.</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514609">
                <a:tc>
                  <a:txBody>
                    <a:bodyPr/>
                    <a:lstStyle/>
                    <a:p>
                      <a:pPr algn="just" fontAlgn="t"/>
                      <a:r>
                        <a:rPr lang="en-IN" sz="1800">
                          <a:solidFill>
                            <a:srgbClr val="333333"/>
                          </a:solidFill>
                          <a:effectLst/>
                          <a:latin typeface="+mn-lt"/>
                        </a:rPr>
                        <a:t>in</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mn-lt"/>
                        </a:rPr>
                        <a:t>It is known as membership operator. It returns if a particular sub-string is present in the specified string.</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628370">
                <a:tc>
                  <a:txBody>
                    <a:bodyPr/>
                    <a:lstStyle/>
                    <a:p>
                      <a:pPr algn="just" fontAlgn="t"/>
                      <a:r>
                        <a:rPr lang="en-IN" sz="1800">
                          <a:solidFill>
                            <a:srgbClr val="333333"/>
                          </a:solidFill>
                          <a:effectLst/>
                          <a:latin typeface="+mn-lt"/>
                        </a:rPr>
                        <a:t>not in</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a:solidFill>
                            <a:srgbClr val="333333"/>
                          </a:solidFill>
                          <a:effectLst/>
                          <a:latin typeface="+mn-lt"/>
                        </a:rPr>
                        <a:t>It is also a membership operator and does the exact reverse of in. It returns true if a particular substring is not present in the specified string.</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1083413">
                <a:tc>
                  <a:txBody>
                    <a:bodyPr/>
                    <a:lstStyle/>
                    <a:p>
                      <a:pPr algn="just" fontAlgn="t"/>
                      <a:r>
                        <a:rPr lang="en-IN" sz="1800">
                          <a:solidFill>
                            <a:srgbClr val="333333"/>
                          </a:solidFill>
                          <a:effectLst/>
                          <a:latin typeface="+mn-lt"/>
                        </a:rPr>
                        <a:t>r/R</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800">
                          <a:solidFill>
                            <a:srgbClr val="333333"/>
                          </a:solidFill>
                          <a:effectLst/>
                          <a:latin typeface="+mn-lt"/>
                        </a:rPr>
                        <a:t>It is used to specify the raw string. Raw strings are used in the cases where we need to print the actual meaning of escape characters such as "C://python". To define any string as a raw string, the character r or R is followed by the string.</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855891">
                <a:tc>
                  <a:txBody>
                    <a:bodyPr/>
                    <a:lstStyle/>
                    <a:p>
                      <a:pPr algn="just" fontAlgn="t"/>
                      <a:r>
                        <a:rPr lang="en-IN" sz="1800">
                          <a:solidFill>
                            <a:srgbClr val="333333"/>
                          </a:solidFill>
                          <a:effectLst/>
                          <a:latin typeface="+mn-lt"/>
                        </a:rPr>
                        <a:t>%</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800" dirty="0">
                          <a:solidFill>
                            <a:srgbClr val="333333"/>
                          </a:solidFill>
                          <a:effectLst/>
                          <a:latin typeface="+mn-lt"/>
                        </a:rPr>
                        <a:t>It is used to perform string formatting. It makes use of the format </a:t>
                      </a:r>
                      <a:r>
                        <a:rPr lang="en-IN" sz="1800" dirty="0" err="1">
                          <a:solidFill>
                            <a:srgbClr val="333333"/>
                          </a:solidFill>
                          <a:effectLst/>
                          <a:latin typeface="+mn-lt"/>
                        </a:rPr>
                        <a:t>specifiers</a:t>
                      </a:r>
                      <a:r>
                        <a:rPr lang="en-IN" sz="1800" dirty="0">
                          <a:solidFill>
                            <a:srgbClr val="333333"/>
                          </a:solidFill>
                          <a:effectLst/>
                          <a:latin typeface="+mn-lt"/>
                        </a:rPr>
                        <a:t> used in C programming like %d or %f to map their values in python. We will discuss how formatting is done in python.</a:t>
                      </a:r>
                    </a:p>
                  </a:txBody>
                  <a:tcPr marL="27929" marR="27929" marT="27929" marB="2792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27178474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Python String </a:t>
            </a:r>
            <a:r>
              <a:rPr lang="en-IN" dirty="0" smtClean="0"/>
              <a:t>functions-</a:t>
            </a:r>
            <a:r>
              <a:rPr lang="en-IN" dirty="0"/>
              <a:t/>
            </a:r>
            <a:br>
              <a:rPr lang="en-IN" dirty="0"/>
            </a:br>
            <a:endParaRPr lang="en-IN" dirty="0"/>
          </a:p>
        </p:txBody>
      </p:sp>
      <p:sp>
        <p:nvSpPr>
          <p:cNvPr id="5" name="Rectangle 1"/>
          <p:cNvSpPr>
            <a:spLocks noChangeArrowheads="1"/>
          </p:cNvSpPr>
          <p:nvPr/>
        </p:nvSpPr>
        <p:spPr bwMode="auto">
          <a:xfrm>
            <a:off x="-88058083" y="-323165"/>
            <a:ext cx="1002500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pic>
        <p:nvPicPr>
          <p:cNvPr id="6" name="Content Placeholder 5"/>
          <p:cNvPicPr>
            <a:picLocks noGrp="1" noChangeAspect="1"/>
          </p:cNvPicPr>
          <p:nvPr>
            <p:ph idx="1"/>
          </p:nvPr>
        </p:nvPicPr>
        <p:blipFill rotWithShape="1">
          <a:blip r:embed="rId2"/>
          <a:srcRect l="21234" t="21088" r="52055" b="5514"/>
          <a:stretch/>
        </p:blipFill>
        <p:spPr>
          <a:xfrm>
            <a:off x="6597498" y="79271"/>
            <a:ext cx="4264423" cy="6588000"/>
          </a:xfrm>
          <a:prstGeom prst="rect">
            <a:avLst/>
          </a:prstGeom>
        </p:spPr>
      </p:pic>
    </p:spTree>
    <p:extLst>
      <p:ext uri="{BB962C8B-B14F-4D97-AF65-F5344CB8AC3E}">
        <p14:creationId xmlns:p14="http://schemas.microsoft.com/office/powerpoint/2010/main" val="9360810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Mutable Data Structure-</a:t>
            </a:r>
            <a:r>
              <a:rPr lang="en-IN" dirty="0"/>
              <a:t/>
            </a:r>
            <a:br>
              <a:rPr lang="en-IN" dirty="0"/>
            </a:br>
            <a:endParaRPr lang="en-IN" dirty="0"/>
          </a:p>
        </p:txBody>
      </p:sp>
      <p:sp>
        <p:nvSpPr>
          <p:cNvPr id="5" name="Rectangle 1"/>
          <p:cNvSpPr>
            <a:spLocks noChangeArrowheads="1"/>
          </p:cNvSpPr>
          <p:nvPr/>
        </p:nvSpPr>
        <p:spPr bwMode="auto">
          <a:xfrm>
            <a:off x="-88058083" y="-323165"/>
            <a:ext cx="1002500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3" name="Content Placeholder 2"/>
          <p:cNvSpPr>
            <a:spLocks noGrp="1"/>
          </p:cNvSpPr>
          <p:nvPr>
            <p:ph idx="1"/>
          </p:nvPr>
        </p:nvSpPr>
        <p:spPr>
          <a:xfrm>
            <a:off x="838200" y="1205948"/>
            <a:ext cx="10515600" cy="4971015"/>
          </a:xfrm>
        </p:spPr>
        <p:txBody>
          <a:bodyPr>
            <a:normAutofit fontScale="92500" lnSpcReduction="20000"/>
          </a:bodyPr>
          <a:lstStyle/>
          <a:p>
            <a:pPr marL="0" indent="0">
              <a:buNone/>
            </a:pPr>
            <a:endParaRPr lang="en-IN" dirty="0" smtClean="0"/>
          </a:p>
          <a:p>
            <a:pPr marL="0" indent="0">
              <a:buNone/>
            </a:pPr>
            <a:r>
              <a:rPr lang="en-IN" dirty="0" smtClean="0"/>
              <a:t>These data types </a:t>
            </a:r>
            <a:r>
              <a:rPr lang="en-IN" dirty="0"/>
              <a:t>can be changed anytime. They consist of Lists, Dictionary, and Sets</a:t>
            </a:r>
            <a:r>
              <a:rPr lang="en-IN" dirty="0" smtClean="0"/>
              <a:t>.</a:t>
            </a:r>
          </a:p>
          <a:p>
            <a:endParaRPr lang="en-US" dirty="0"/>
          </a:p>
          <a:p>
            <a:pPr marL="0" indent="0">
              <a:buNone/>
            </a:pPr>
            <a:r>
              <a:rPr lang="en-IN" sz="3600" b="1" dirty="0" smtClean="0"/>
              <a:t>Lists in python-</a:t>
            </a:r>
            <a:endParaRPr lang="en-IN" sz="3600" b="1" dirty="0"/>
          </a:p>
          <a:p>
            <a:pPr marL="0" indent="0">
              <a:buNone/>
            </a:pPr>
            <a:r>
              <a:rPr lang="en-IN" dirty="0"/>
              <a:t> </a:t>
            </a:r>
          </a:p>
          <a:p>
            <a:pPr marL="0" indent="0">
              <a:buNone/>
            </a:pPr>
            <a:r>
              <a:rPr lang="en-IN" dirty="0"/>
              <a:t>A list is a mutable Python data type that is defined within the []-square brackets. This group of values can be easily changed. First, we will define a list variable having multiple </a:t>
            </a:r>
            <a:r>
              <a:rPr lang="en-IN" dirty="0" err="1"/>
              <a:t>datatypes</a:t>
            </a:r>
            <a:r>
              <a:rPr lang="en-IN" dirty="0"/>
              <a:t> of values in it. Check-in In[28].</a:t>
            </a:r>
          </a:p>
          <a:p>
            <a:pPr marL="0" indent="0">
              <a:buNone/>
            </a:pPr>
            <a:r>
              <a:rPr lang="en-IN" dirty="0"/>
              <a:t> </a:t>
            </a:r>
          </a:p>
          <a:p>
            <a:pPr marL="0" indent="0">
              <a:buNone/>
            </a:pPr>
            <a:r>
              <a:rPr lang="en-IN" dirty="0"/>
              <a:t>There are also some operations applied on the list,</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5684340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List functions-</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a:t>There are also some operations applied on the list</a:t>
            </a:r>
            <a:r>
              <a:rPr lang="en-IN" dirty="0" smtClean="0"/>
              <a:t>,</a:t>
            </a:r>
            <a:endParaRPr lang="en-IN" dirty="0"/>
          </a:p>
          <a:p>
            <a:pPr marL="0" indent="0">
              <a:buNone/>
            </a:pPr>
            <a:r>
              <a:rPr lang="en-IN" b="1" i="1" dirty="0" smtClean="0"/>
              <a:t>Concatenation</a:t>
            </a:r>
            <a:endParaRPr lang="en-IN" dirty="0"/>
          </a:p>
          <a:p>
            <a:pPr marL="0" indent="0">
              <a:buNone/>
            </a:pPr>
            <a:r>
              <a:rPr lang="en-IN" dirty="0"/>
              <a:t>Used to add two or more lists/elements together, as we learned in tuples. </a:t>
            </a:r>
            <a:endParaRPr lang="en-IN" dirty="0" smtClean="0"/>
          </a:p>
          <a:p>
            <a:pPr marL="0" indent="0">
              <a:buNone/>
            </a:pPr>
            <a:endParaRPr lang="en-IN" dirty="0"/>
          </a:p>
          <a:p>
            <a:pPr marL="0" indent="0">
              <a:buNone/>
            </a:pPr>
            <a:r>
              <a:rPr lang="en-IN" b="1" i="1" dirty="0" smtClean="0"/>
              <a:t>Repetition</a:t>
            </a:r>
            <a:endParaRPr lang="en-IN" dirty="0"/>
          </a:p>
          <a:p>
            <a:pPr marL="0" indent="0">
              <a:buNone/>
            </a:pPr>
            <a:r>
              <a:rPr lang="en-IN" dirty="0"/>
              <a:t>It’s used to duplicate a list a given number of </a:t>
            </a:r>
            <a:r>
              <a:rPr lang="en-IN" dirty="0" smtClean="0"/>
              <a:t>times.</a:t>
            </a:r>
            <a:endParaRPr lang="en-IN" dirty="0"/>
          </a:p>
          <a:p>
            <a:pPr marL="0" indent="0">
              <a:buNone/>
            </a:pPr>
            <a:r>
              <a:rPr lang="en-IN" dirty="0"/>
              <a:t> </a:t>
            </a:r>
          </a:p>
          <a:p>
            <a:pPr marL="0" indent="0">
              <a:buNone/>
            </a:pPr>
            <a:r>
              <a:rPr lang="en-IN" b="1" i="1" dirty="0" smtClean="0"/>
              <a:t>Slicing</a:t>
            </a:r>
            <a:endParaRPr lang="en-IN" dirty="0"/>
          </a:p>
          <a:p>
            <a:pPr marL="0" indent="0">
              <a:buNone/>
            </a:pPr>
            <a:r>
              <a:rPr lang="en-IN" dirty="0"/>
              <a:t>Same as tuples, if you want the specific set of the list mentioned the starting index number and ending number+1, and it will return the sliced list</a:t>
            </a:r>
          </a:p>
          <a:p>
            <a:pPr marL="0" indent="0">
              <a:buNone/>
            </a:pPr>
            <a:endParaRPr lang="en-IN" dirty="0"/>
          </a:p>
        </p:txBody>
      </p:sp>
    </p:spTree>
    <p:extLst>
      <p:ext uri="{BB962C8B-B14F-4D97-AF65-F5344CB8AC3E}">
        <p14:creationId xmlns:p14="http://schemas.microsoft.com/office/powerpoint/2010/main" val="39210193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List functions-</a:t>
            </a:r>
            <a:endParaRPr lang="en-IN" dirty="0"/>
          </a:p>
        </p:txBody>
      </p:sp>
      <p:sp>
        <p:nvSpPr>
          <p:cNvPr id="3" name="Content Placeholder 2"/>
          <p:cNvSpPr>
            <a:spLocks noGrp="1"/>
          </p:cNvSpPr>
          <p:nvPr>
            <p:ph idx="1"/>
          </p:nvPr>
        </p:nvSpPr>
        <p:spPr/>
        <p:txBody>
          <a:bodyPr>
            <a:normAutofit/>
          </a:bodyPr>
          <a:lstStyle/>
          <a:p>
            <a:pPr marL="0" indent="0">
              <a:buNone/>
            </a:pPr>
            <a:r>
              <a:rPr lang="en-IN" b="1" i="1" dirty="0" smtClean="0"/>
              <a:t>Append</a:t>
            </a:r>
            <a:endParaRPr lang="en-IN" dirty="0"/>
          </a:p>
          <a:p>
            <a:pPr marL="0" indent="0">
              <a:buNone/>
            </a:pPr>
            <a:r>
              <a:rPr lang="en-IN" dirty="0"/>
              <a:t>For adding value to a </a:t>
            </a:r>
            <a:r>
              <a:rPr lang="en-IN" dirty="0" smtClean="0"/>
              <a:t>list.</a:t>
            </a:r>
            <a:endParaRPr lang="en-IN" dirty="0"/>
          </a:p>
          <a:p>
            <a:pPr marL="0" indent="0">
              <a:buNone/>
            </a:pPr>
            <a:r>
              <a:rPr lang="en-IN" dirty="0"/>
              <a:t> </a:t>
            </a:r>
          </a:p>
          <a:p>
            <a:pPr marL="0" indent="0">
              <a:buNone/>
            </a:pPr>
            <a:r>
              <a:rPr lang="en-IN" b="1" i="1" dirty="0" smtClean="0"/>
              <a:t>Extend</a:t>
            </a:r>
            <a:endParaRPr lang="en-IN" dirty="0"/>
          </a:p>
          <a:p>
            <a:pPr marL="0" indent="0">
              <a:buNone/>
            </a:pPr>
            <a:r>
              <a:rPr lang="en-IN" dirty="0"/>
              <a:t>It’s another function as </a:t>
            </a:r>
            <a:r>
              <a:rPr lang="en-IN" dirty="0" smtClean="0"/>
              <a:t>concatenation</a:t>
            </a:r>
            <a:r>
              <a:rPr lang="en-IN" dirty="0"/>
              <a:t>.</a:t>
            </a:r>
          </a:p>
          <a:p>
            <a:pPr marL="0" indent="0">
              <a:buNone/>
            </a:pPr>
            <a:r>
              <a:rPr lang="en-IN" dirty="0"/>
              <a:t> </a:t>
            </a:r>
          </a:p>
          <a:p>
            <a:pPr marL="0" indent="0">
              <a:buNone/>
            </a:pPr>
            <a:r>
              <a:rPr lang="en-IN" b="1" i="1" dirty="0" smtClean="0"/>
              <a:t>Insert</a:t>
            </a:r>
            <a:endParaRPr lang="en-IN" dirty="0"/>
          </a:p>
          <a:p>
            <a:pPr marL="0" indent="0">
              <a:buNone/>
            </a:pPr>
            <a:r>
              <a:rPr lang="en-IN" dirty="0"/>
              <a:t>By using the index value you can specify any value in between the list</a:t>
            </a:r>
            <a:r>
              <a:rPr lang="en-IN" dirty="0" smtClean="0"/>
              <a:t>.</a:t>
            </a:r>
            <a:endParaRPr lang="en-IN" dirty="0"/>
          </a:p>
          <a:p>
            <a:endParaRPr lang="en-IN" dirty="0"/>
          </a:p>
        </p:txBody>
      </p:sp>
    </p:spTree>
    <p:extLst>
      <p:ext uri="{BB962C8B-B14F-4D97-AF65-F5344CB8AC3E}">
        <p14:creationId xmlns:p14="http://schemas.microsoft.com/office/powerpoint/2010/main" val="5496176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3002" t="25230" r="47560" b="14686"/>
          <a:stretch/>
        </p:blipFill>
        <p:spPr>
          <a:xfrm>
            <a:off x="3006812" y="1620130"/>
            <a:ext cx="5842137" cy="5004000"/>
          </a:xfrm>
          <a:prstGeom prst="rect">
            <a:avLst/>
          </a:prstGeom>
        </p:spPr>
      </p:pic>
    </p:spTree>
    <p:extLst>
      <p:ext uri="{BB962C8B-B14F-4D97-AF65-F5344CB8AC3E}">
        <p14:creationId xmlns:p14="http://schemas.microsoft.com/office/powerpoint/2010/main" val="5807067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3169" t="29287" r="43399" b="18736"/>
          <a:stretch/>
        </p:blipFill>
        <p:spPr>
          <a:xfrm>
            <a:off x="2816698" y="1908313"/>
            <a:ext cx="6558605" cy="4412974"/>
          </a:xfrm>
          <a:prstGeom prst="rect">
            <a:avLst/>
          </a:prstGeom>
        </p:spPr>
      </p:pic>
    </p:spTree>
    <p:extLst>
      <p:ext uri="{BB962C8B-B14F-4D97-AF65-F5344CB8AC3E}">
        <p14:creationId xmlns:p14="http://schemas.microsoft.com/office/powerpoint/2010/main" val="2151979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Mutable Data Structure-</a:t>
            </a:r>
          </a:p>
        </p:txBody>
      </p:sp>
      <p:sp>
        <p:nvSpPr>
          <p:cNvPr id="3" name="Content Placeholder 2"/>
          <p:cNvSpPr>
            <a:spLocks noGrp="1"/>
          </p:cNvSpPr>
          <p:nvPr>
            <p:ph idx="1"/>
          </p:nvPr>
        </p:nvSpPr>
        <p:spPr/>
        <p:txBody>
          <a:bodyPr/>
          <a:lstStyle/>
          <a:p>
            <a:pPr marL="0" indent="0">
              <a:buNone/>
            </a:pPr>
            <a:r>
              <a:rPr lang="en-IN" dirty="0" smtClean="0"/>
              <a:t>Dictionary in python-</a:t>
            </a:r>
            <a:endParaRPr lang="en-IN" dirty="0"/>
          </a:p>
          <a:p>
            <a:pPr marL="0" indent="0">
              <a:buNone/>
            </a:pPr>
            <a:r>
              <a:rPr lang="en-IN" dirty="0"/>
              <a:t> </a:t>
            </a:r>
          </a:p>
          <a:p>
            <a:pPr marL="0" indent="0">
              <a:buNone/>
            </a:pPr>
            <a:r>
              <a:rPr lang="en-IN" dirty="0"/>
              <a:t>Python Dictionary is a group of values within a {} -curly braces. While defining a value, there are two elements: Key, and its Value, or we can say like we define an index for each element.</a:t>
            </a:r>
          </a:p>
          <a:p>
            <a:pPr marL="0" indent="0">
              <a:buNone/>
            </a:pPr>
            <a:endParaRPr lang="en-IN" dirty="0"/>
          </a:p>
        </p:txBody>
      </p:sp>
    </p:spTree>
    <p:extLst>
      <p:ext uri="{BB962C8B-B14F-4D97-AF65-F5344CB8AC3E}">
        <p14:creationId xmlns:p14="http://schemas.microsoft.com/office/powerpoint/2010/main" val="27890731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Dictionary Functions-</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b="1" i="1" dirty="0" err="1" smtClean="0"/>
              <a:t>emptyDictionary</a:t>
            </a:r>
            <a:endParaRPr lang="en-IN" dirty="0"/>
          </a:p>
          <a:p>
            <a:pPr marL="0" indent="0">
              <a:buNone/>
            </a:pPr>
            <a:r>
              <a:rPr lang="en-IN" dirty="0"/>
              <a:t>There is no value inside the dictionary.</a:t>
            </a:r>
          </a:p>
          <a:p>
            <a:pPr marL="0" indent="0">
              <a:buNone/>
            </a:pPr>
            <a:r>
              <a:rPr lang="en-IN" dirty="0"/>
              <a:t> </a:t>
            </a:r>
          </a:p>
          <a:p>
            <a:pPr marL="0" indent="0">
              <a:buNone/>
            </a:pPr>
            <a:r>
              <a:rPr lang="en-IN" b="1" i="1" dirty="0"/>
              <a:t>Integer </a:t>
            </a:r>
            <a:r>
              <a:rPr lang="en-IN" b="1" i="1" dirty="0" smtClean="0"/>
              <a:t>key</a:t>
            </a:r>
            <a:endParaRPr lang="en-IN" dirty="0"/>
          </a:p>
          <a:p>
            <a:pPr marL="0" indent="0">
              <a:buNone/>
            </a:pPr>
            <a:r>
              <a:rPr lang="en-IN" dirty="0"/>
              <a:t>Key values in the dictionary are integer only.</a:t>
            </a:r>
          </a:p>
          <a:p>
            <a:pPr marL="0" indent="0">
              <a:buNone/>
            </a:pPr>
            <a:r>
              <a:rPr lang="en-IN" dirty="0"/>
              <a:t> </a:t>
            </a:r>
          </a:p>
          <a:p>
            <a:pPr marL="0" indent="0">
              <a:buNone/>
            </a:pPr>
            <a:r>
              <a:rPr lang="en-IN" b="1" i="1" dirty="0"/>
              <a:t>Mixed </a:t>
            </a:r>
            <a:r>
              <a:rPr lang="en-IN" b="1" i="1" dirty="0" smtClean="0"/>
              <a:t>key</a:t>
            </a:r>
            <a:endParaRPr lang="en-IN" dirty="0"/>
          </a:p>
          <a:p>
            <a:pPr marL="0" indent="0">
              <a:buNone/>
            </a:pPr>
            <a:r>
              <a:rPr lang="en-IN" dirty="0"/>
              <a:t>There are mixed types of keys used in the Dictionary.</a:t>
            </a:r>
          </a:p>
          <a:p>
            <a:pPr marL="0" indent="0">
              <a:buNone/>
            </a:pPr>
            <a:r>
              <a:rPr lang="en-IN" dirty="0"/>
              <a:t> </a:t>
            </a:r>
          </a:p>
          <a:p>
            <a:pPr marL="0" indent="0">
              <a:buNone/>
            </a:pPr>
            <a:r>
              <a:rPr lang="en-IN" b="1" i="1" dirty="0" smtClean="0"/>
              <a:t>Pairing</a:t>
            </a:r>
            <a:endParaRPr lang="en-IN" dirty="0"/>
          </a:p>
          <a:p>
            <a:pPr marL="0" indent="0">
              <a:buNone/>
            </a:pPr>
            <a:r>
              <a:rPr lang="en-IN" dirty="0"/>
              <a:t>This is a sequence where each item has a pair.</a:t>
            </a:r>
          </a:p>
          <a:p>
            <a:pPr marL="0" indent="0">
              <a:buNone/>
            </a:pPr>
            <a:r>
              <a:rPr lang="en-IN" dirty="0"/>
              <a:t> </a:t>
            </a:r>
          </a:p>
        </p:txBody>
      </p:sp>
    </p:spTree>
    <p:extLst>
      <p:ext uri="{BB962C8B-B14F-4D97-AF65-F5344CB8AC3E}">
        <p14:creationId xmlns:p14="http://schemas.microsoft.com/office/powerpoint/2010/main" val="22891477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b="1" i="1" dirty="0"/>
              <a:t>Accessing dictionary</a:t>
            </a:r>
            <a:r>
              <a:rPr lang="en-IN" dirty="0"/>
              <a:t> </a:t>
            </a:r>
          </a:p>
          <a:p>
            <a:pPr marL="0" indent="0">
              <a:buNone/>
            </a:pPr>
            <a:r>
              <a:rPr lang="en-IN" dirty="0"/>
              <a:t>You can access the dictionary by directly using a key.</a:t>
            </a:r>
          </a:p>
          <a:p>
            <a:pPr marL="0" indent="0">
              <a:buNone/>
            </a:pPr>
            <a:r>
              <a:rPr lang="en-IN" dirty="0"/>
              <a:t> </a:t>
            </a:r>
          </a:p>
          <a:p>
            <a:pPr marL="0" indent="0">
              <a:buNone/>
            </a:pPr>
            <a:r>
              <a:rPr lang="en-IN" b="1" i="1" dirty="0" err="1"/>
              <a:t>len</a:t>
            </a:r>
            <a:r>
              <a:rPr lang="en-IN" b="1" i="1" dirty="0"/>
              <a:t>()</a:t>
            </a:r>
            <a:endParaRPr lang="en-IN" dirty="0"/>
          </a:p>
          <a:p>
            <a:pPr marL="0" indent="0">
              <a:buNone/>
            </a:pPr>
            <a:r>
              <a:rPr lang="en-IN" dirty="0"/>
              <a:t>If I want to find the Length of the Dictionary, I will use this function. It will return the output in numeric as the number of elements is there in Dictionary. </a:t>
            </a:r>
          </a:p>
          <a:p>
            <a:pPr marL="0" indent="0">
              <a:buNone/>
            </a:pPr>
            <a:r>
              <a:rPr lang="en-IN" dirty="0"/>
              <a:t> </a:t>
            </a:r>
          </a:p>
          <a:p>
            <a:pPr marL="0" indent="0">
              <a:buNone/>
            </a:pPr>
            <a:r>
              <a:rPr lang="en-IN" b="1" i="1" dirty="0"/>
              <a:t>value</a:t>
            </a:r>
            <a:r>
              <a:rPr lang="en-IN" b="1" i="1" dirty="0" smtClean="0"/>
              <a:t>()</a:t>
            </a:r>
            <a:endParaRPr lang="en-IN" dirty="0"/>
          </a:p>
          <a:p>
            <a:pPr marL="0" indent="0">
              <a:buNone/>
            </a:pPr>
            <a:r>
              <a:rPr lang="en-IN" dirty="0"/>
              <a:t>Returns all the values inside the dictionary. </a:t>
            </a:r>
          </a:p>
          <a:p>
            <a:pPr marL="0" indent="0">
              <a:buNone/>
            </a:pPr>
            <a:r>
              <a:rPr lang="en-IN" dirty="0"/>
              <a:t> </a:t>
            </a:r>
          </a:p>
          <a:p>
            <a:pPr marL="0" indent="0">
              <a:buNone/>
            </a:pPr>
            <a:r>
              <a:rPr lang="en-IN" b="1" i="1" dirty="0"/>
              <a:t>key</a:t>
            </a:r>
            <a:r>
              <a:rPr lang="en-IN" b="1" i="1" dirty="0" smtClean="0"/>
              <a:t>()</a:t>
            </a:r>
            <a:endParaRPr lang="en-IN" dirty="0"/>
          </a:p>
          <a:p>
            <a:pPr marL="0" indent="0">
              <a:buNone/>
            </a:pPr>
            <a:r>
              <a:rPr lang="en-IN" dirty="0"/>
              <a:t>If I want to find the key to my dictionary, then I will choose this function.</a:t>
            </a:r>
          </a:p>
          <a:p>
            <a:pPr marL="0" indent="0">
              <a:buNone/>
            </a:pPr>
            <a:endParaRPr lang="en-IN" dirty="0"/>
          </a:p>
          <a:p>
            <a:endParaRPr lang="en-IN" dirty="0"/>
          </a:p>
        </p:txBody>
      </p:sp>
    </p:spTree>
    <p:extLst>
      <p:ext uri="{BB962C8B-B14F-4D97-AF65-F5344CB8AC3E}">
        <p14:creationId xmlns:p14="http://schemas.microsoft.com/office/powerpoint/2010/main" val="23369791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2670" t="17832" r="37908" b="30965"/>
          <a:stretch/>
        </p:blipFill>
        <p:spPr>
          <a:xfrm>
            <a:off x="1893382" y="1805253"/>
            <a:ext cx="8405236" cy="4896000"/>
          </a:xfrm>
          <a:prstGeom prst="rect">
            <a:avLst/>
          </a:prstGeom>
        </p:spPr>
      </p:pic>
    </p:spTree>
    <p:extLst>
      <p:ext uri="{BB962C8B-B14F-4D97-AF65-F5344CB8AC3E}">
        <p14:creationId xmlns:p14="http://schemas.microsoft.com/office/powerpoint/2010/main" val="33814820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3835" t="21382" r="40737" b="6104"/>
          <a:stretch/>
        </p:blipFill>
        <p:spPr>
          <a:xfrm>
            <a:off x="3296992" y="399241"/>
            <a:ext cx="7019975" cy="6300000"/>
          </a:xfrm>
          <a:prstGeom prst="rect">
            <a:avLst/>
          </a:prstGeom>
        </p:spPr>
      </p:pic>
    </p:spTree>
    <p:extLst>
      <p:ext uri="{BB962C8B-B14F-4D97-AF65-F5344CB8AC3E}">
        <p14:creationId xmlns:p14="http://schemas.microsoft.com/office/powerpoint/2010/main" val="27078648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Mutable data structure- Sets</a:t>
            </a:r>
            <a:endParaRPr lang="en-IN" dirty="0"/>
          </a:p>
        </p:txBody>
      </p:sp>
      <p:sp>
        <p:nvSpPr>
          <p:cNvPr id="3" name="Content Placeholder 2"/>
          <p:cNvSpPr>
            <a:spLocks noGrp="1"/>
          </p:cNvSpPr>
          <p:nvPr>
            <p:ph idx="1"/>
          </p:nvPr>
        </p:nvSpPr>
        <p:spPr/>
        <p:txBody>
          <a:bodyPr/>
          <a:lstStyle/>
          <a:p>
            <a:pPr marL="0" indent="0">
              <a:buNone/>
            </a:pPr>
            <a:r>
              <a:rPr lang="en-IN" dirty="0" smtClean="0"/>
              <a:t>Sets-</a:t>
            </a:r>
            <a:endParaRPr lang="en-IN" dirty="0"/>
          </a:p>
          <a:p>
            <a:pPr marL="0" indent="0">
              <a:buNone/>
            </a:pPr>
            <a:r>
              <a:rPr lang="en-IN" dirty="0"/>
              <a:t> </a:t>
            </a:r>
          </a:p>
          <a:p>
            <a:pPr marL="0" indent="0">
              <a:buNone/>
            </a:pPr>
            <a:r>
              <a:rPr lang="en-IN" dirty="0"/>
              <a:t>Sets are the unordered collection of items within the curly braces {}. Every element in the set is unique and we don’t need to define the key-value to that element.</a:t>
            </a:r>
          </a:p>
          <a:p>
            <a:pPr marL="0" indent="0">
              <a:buNone/>
            </a:pPr>
            <a:r>
              <a:rPr lang="en-IN" dirty="0"/>
              <a:t> </a:t>
            </a:r>
          </a:p>
          <a:p>
            <a:pPr marL="0" indent="0">
              <a:buNone/>
            </a:pPr>
            <a:r>
              <a:rPr lang="en-IN" dirty="0"/>
              <a:t>For example, </a:t>
            </a:r>
            <a:r>
              <a:rPr lang="en-IN" dirty="0" err="1"/>
              <a:t>pySet</a:t>
            </a:r>
            <a:r>
              <a:rPr lang="en-IN" dirty="0"/>
              <a:t>={1,2,3}: All the elements are different and they don’t consist of any key-value. It’s the only difference between set and dictionary.</a:t>
            </a:r>
          </a:p>
        </p:txBody>
      </p:sp>
    </p:spTree>
    <p:extLst>
      <p:ext uri="{BB962C8B-B14F-4D97-AF65-F5344CB8AC3E}">
        <p14:creationId xmlns:p14="http://schemas.microsoft.com/office/powerpoint/2010/main" val="106691732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Sets Functions-</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b="1" i="1" dirty="0" smtClean="0"/>
              <a:t>Creating </a:t>
            </a:r>
            <a:r>
              <a:rPr lang="en-IN" b="1" i="1" dirty="0"/>
              <a:t>a set</a:t>
            </a:r>
            <a:endParaRPr lang="en-IN" dirty="0"/>
          </a:p>
          <a:p>
            <a:pPr marL="0" indent="0">
              <a:buNone/>
            </a:pPr>
            <a:r>
              <a:rPr lang="en-IN" dirty="0"/>
              <a:t> </a:t>
            </a:r>
          </a:p>
          <a:p>
            <a:pPr marL="0" indent="0">
              <a:buNone/>
            </a:pPr>
            <a:r>
              <a:rPr lang="en-IN" b="1" i="1" dirty="0" smtClean="0"/>
              <a:t>Union</a:t>
            </a:r>
            <a:endParaRPr lang="en-IN" dirty="0"/>
          </a:p>
          <a:p>
            <a:pPr marL="0" indent="0">
              <a:buNone/>
            </a:pPr>
            <a:r>
              <a:rPr lang="en-IN" dirty="0"/>
              <a:t>When we create two sets, it returns a common value from both sets. </a:t>
            </a:r>
          </a:p>
          <a:p>
            <a:pPr marL="0" indent="0">
              <a:buNone/>
            </a:pPr>
            <a:r>
              <a:rPr lang="en-IN" dirty="0"/>
              <a:t> </a:t>
            </a:r>
          </a:p>
          <a:p>
            <a:pPr marL="0" indent="0">
              <a:buNone/>
            </a:pPr>
            <a:r>
              <a:rPr lang="en-IN" b="1" i="1" dirty="0" smtClean="0"/>
              <a:t>Intersection</a:t>
            </a:r>
            <a:endParaRPr lang="en-IN" dirty="0"/>
          </a:p>
          <a:p>
            <a:pPr marL="0" indent="0">
              <a:buNone/>
            </a:pPr>
            <a:r>
              <a:rPr lang="en-IN" dirty="0"/>
              <a:t>Returns the common element from both sets</a:t>
            </a:r>
            <a:r>
              <a:rPr lang="en-IN" dirty="0" smtClean="0"/>
              <a:t>.</a:t>
            </a:r>
            <a:endParaRPr lang="en-IN" dirty="0"/>
          </a:p>
          <a:p>
            <a:pPr marL="0" indent="0">
              <a:buNone/>
            </a:pPr>
            <a:r>
              <a:rPr lang="en-IN" dirty="0"/>
              <a:t> </a:t>
            </a:r>
          </a:p>
          <a:p>
            <a:pPr marL="0" indent="0">
              <a:buNone/>
            </a:pPr>
            <a:r>
              <a:rPr lang="en-IN" b="1" i="1" dirty="0" smtClean="0"/>
              <a:t>Difference</a:t>
            </a:r>
            <a:endParaRPr lang="en-IN" dirty="0"/>
          </a:p>
          <a:p>
            <a:pPr marL="0" indent="0">
              <a:buNone/>
            </a:pPr>
            <a:r>
              <a:rPr lang="en-IN" dirty="0"/>
              <a:t>Omits all common values from both sets. It will return only that value which is unique and written in the first set.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32492008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8216"/>
          </a:xfrm>
        </p:spPr>
        <p:txBody>
          <a:bodyPr/>
          <a:lstStyle/>
          <a:p>
            <a:r>
              <a:rPr lang="en-US" dirty="0" smtClean="0"/>
              <a:t>Example-</a:t>
            </a:r>
            <a:endParaRPr lang="en-IN" dirty="0"/>
          </a:p>
        </p:txBody>
      </p:sp>
      <p:pic>
        <p:nvPicPr>
          <p:cNvPr id="4" name="Content Placeholder 3"/>
          <p:cNvPicPr>
            <a:picLocks noGrp="1" noChangeAspect="1"/>
          </p:cNvPicPr>
          <p:nvPr>
            <p:ph idx="1"/>
          </p:nvPr>
        </p:nvPicPr>
        <p:blipFill rotWithShape="1">
          <a:blip r:embed="rId2"/>
          <a:srcRect l="11005" t="29966" r="38740" b="12023"/>
          <a:stretch/>
        </p:blipFill>
        <p:spPr>
          <a:xfrm>
            <a:off x="1826872" y="1099934"/>
            <a:ext cx="8538256" cy="5541407"/>
          </a:xfrm>
          <a:prstGeom prst="rect">
            <a:avLst/>
          </a:prstGeom>
        </p:spPr>
      </p:pic>
    </p:spTree>
    <p:extLst>
      <p:ext uri="{BB962C8B-B14F-4D97-AF65-F5344CB8AC3E}">
        <p14:creationId xmlns:p14="http://schemas.microsoft.com/office/powerpoint/2010/main" val="30441871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length keyword arguments</a:t>
            </a:r>
            <a:endParaRPr lang="en-IN" dirty="0"/>
          </a:p>
        </p:txBody>
      </p:sp>
      <p:sp>
        <p:nvSpPr>
          <p:cNvPr id="3" name="Content Placeholder 2"/>
          <p:cNvSpPr>
            <a:spLocks noGrp="1"/>
          </p:cNvSpPr>
          <p:nvPr>
            <p:ph idx="1"/>
          </p:nvPr>
        </p:nvSpPr>
        <p:spPr/>
        <p:txBody>
          <a:bodyPr/>
          <a:lstStyle/>
          <a:p>
            <a:pPr marL="0" indent="0">
              <a:buNone/>
            </a:pPr>
            <a:r>
              <a:rPr lang="en-IN" dirty="0" smtClean="0"/>
              <a:t>#program to demonstrate **</a:t>
            </a:r>
            <a:r>
              <a:rPr lang="en-IN" dirty="0" err="1" smtClean="0"/>
              <a:t>kwargs</a:t>
            </a:r>
            <a:r>
              <a:rPr lang="en-IN" dirty="0" smtClean="0"/>
              <a:t> in python  </a:t>
            </a:r>
          </a:p>
          <a:p>
            <a:pPr marL="0" indent="0">
              <a:buNone/>
            </a:pPr>
            <a:r>
              <a:rPr lang="en-IN" dirty="0" err="1" smtClean="0"/>
              <a:t>def</a:t>
            </a:r>
            <a:r>
              <a:rPr lang="en-IN" dirty="0" smtClean="0"/>
              <a:t> </a:t>
            </a:r>
            <a:r>
              <a:rPr lang="en-IN" dirty="0" err="1" smtClean="0"/>
              <a:t>my_func</a:t>
            </a:r>
            <a:r>
              <a:rPr lang="en-IN" dirty="0" smtClean="0"/>
              <a:t>(**</a:t>
            </a:r>
            <a:r>
              <a:rPr lang="en-IN" dirty="0" err="1" smtClean="0"/>
              <a:t>kwargs</a:t>
            </a:r>
            <a:r>
              <a:rPr lang="en-IN" dirty="0" smtClean="0"/>
              <a:t>):  </a:t>
            </a:r>
          </a:p>
          <a:p>
            <a:pPr marL="0" indent="0">
              <a:buNone/>
            </a:pPr>
            <a:r>
              <a:rPr lang="en-IN" dirty="0" smtClean="0"/>
              <a:t>    for </a:t>
            </a:r>
            <a:r>
              <a:rPr lang="en-IN" dirty="0" err="1" smtClean="0"/>
              <a:t>k,v</a:t>
            </a:r>
            <a:r>
              <a:rPr lang="en-IN" dirty="0" smtClean="0"/>
              <a:t> in </a:t>
            </a:r>
            <a:r>
              <a:rPr lang="en-IN" dirty="0" err="1" smtClean="0"/>
              <a:t>kwargs.items</a:t>
            </a:r>
            <a:r>
              <a:rPr lang="en-IN" dirty="0" smtClean="0"/>
              <a:t>():  </a:t>
            </a:r>
          </a:p>
          <a:p>
            <a:pPr marL="0" indent="0">
              <a:buNone/>
            </a:pPr>
            <a:r>
              <a:rPr lang="en-IN" dirty="0" smtClean="0"/>
              <a:t>        print("%s=%s"%(</a:t>
            </a:r>
            <a:r>
              <a:rPr lang="en-IN" dirty="0" err="1" smtClean="0"/>
              <a:t>k,v</a:t>
            </a:r>
            <a:r>
              <a:rPr lang="en-IN" dirty="0" smtClean="0"/>
              <a:t>))  </a:t>
            </a:r>
          </a:p>
          <a:p>
            <a:pPr marL="0" indent="0">
              <a:buNone/>
            </a:pPr>
            <a:r>
              <a:rPr lang="en-IN" dirty="0" smtClean="0"/>
              <a:t>#passing the parameters in function  </a:t>
            </a:r>
          </a:p>
          <a:p>
            <a:pPr marL="0" indent="0">
              <a:buNone/>
            </a:pPr>
            <a:r>
              <a:rPr lang="en-IN" dirty="0" err="1" smtClean="0"/>
              <a:t>my_func</a:t>
            </a:r>
            <a:r>
              <a:rPr lang="en-IN" dirty="0" smtClean="0"/>
              <a:t>(</a:t>
            </a:r>
            <a:r>
              <a:rPr lang="en-IN" dirty="0" err="1" smtClean="0"/>
              <a:t>a_key</a:t>
            </a:r>
            <a:r>
              <a:rPr lang="en-IN" dirty="0" smtClean="0"/>
              <a:t>="Let",</a:t>
            </a:r>
            <a:r>
              <a:rPr lang="en-IN" dirty="0" err="1" smtClean="0"/>
              <a:t>b_key</a:t>
            </a:r>
            <a:r>
              <a:rPr lang="en-IN" dirty="0" smtClean="0"/>
              <a:t>="us",</a:t>
            </a:r>
            <a:r>
              <a:rPr lang="en-IN" dirty="0" err="1" smtClean="0"/>
              <a:t>c_key</a:t>
            </a:r>
            <a:r>
              <a:rPr lang="en-IN" dirty="0" smtClean="0"/>
              <a:t>="study",</a:t>
            </a:r>
            <a:r>
              <a:rPr lang="en-IN" dirty="0" err="1" smtClean="0"/>
              <a:t>d_key</a:t>
            </a:r>
            <a:r>
              <a:rPr lang="en-IN" dirty="0" smtClean="0"/>
              <a:t>="Data Science",</a:t>
            </a:r>
            <a:r>
              <a:rPr lang="en-IN" dirty="0" err="1" smtClean="0"/>
              <a:t>e_key</a:t>
            </a:r>
            <a:r>
              <a:rPr lang="en-IN" dirty="0" smtClean="0"/>
              <a:t>="and",</a:t>
            </a:r>
            <a:r>
              <a:rPr lang="en-IN" dirty="0" err="1" smtClean="0"/>
              <a:t>f_key</a:t>
            </a:r>
            <a:r>
              <a:rPr lang="en-IN" dirty="0" smtClean="0"/>
              <a:t>="</a:t>
            </a:r>
            <a:r>
              <a:rPr lang="en-IN" dirty="0" err="1" smtClean="0"/>
              <a:t>Blockchain</a:t>
            </a:r>
            <a:r>
              <a:rPr lang="en-IN" dirty="0" smtClean="0"/>
              <a:t>") </a:t>
            </a:r>
            <a:endParaRPr lang="en-IN" dirty="0"/>
          </a:p>
        </p:txBody>
      </p:sp>
    </p:spTree>
    <p:extLst>
      <p:ext uri="{BB962C8B-B14F-4D97-AF65-F5344CB8AC3E}">
        <p14:creationId xmlns:p14="http://schemas.microsoft.com/office/powerpoint/2010/main" val="78320202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0006"/>
            <a:ext cx="10515600" cy="5326957"/>
          </a:xfrm>
        </p:spPr>
        <p:txBody>
          <a:bodyPr>
            <a:normAutofit/>
          </a:bodyPr>
          <a:lstStyle/>
          <a:p>
            <a:pPr marL="0" indent="0">
              <a:buNone/>
            </a:pPr>
            <a:r>
              <a:rPr lang="en-IN" dirty="0" smtClean="0"/>
              <a:t>Output:</a:t>
            </a:r>
          </a:p>
          <a:p>
            <a:pPr marL="0" indent="0">
              <a:buNone/>
            </a:pPr>
            <a:endParaRPr lang="en-IN" dirty="0" smtClean="0"/>
          </a:p>
          <a:p>
            <a:pPr marL="0" indent="0">
              <a:buNone/>
            </a:pPr>
            <a:endParaRPr lang="en-IN" dirty="0" smtClean="0"/>
          </a:p>
          <a:p>
            <a:pPr marL="0" indent="0">
              <a:buNone/>
            </a:pPr>
            <a:r>
              <a:rPr lang="en-IN" dirty="0" err="1" smtClean="0"/>
              <a:t>a_key</a:t>
            </a:r>
            <a:r>
              <a:rPr lang="en-IN" dirty="0" smtClean="0"/>
              <a:t>=Let</a:t>
            </a:r>
          </a:p>
          <a:p>
            <a:pPr marL="0" indent="0">
              <a:buNone/>
            </a:pPr>
            <a:r>
              <a:rPr lang="en-IN" dirty="0" err="1" smtClean="0"/>
              <a:t>b_key</a:t>
            </a:r>
            <a:r>
              <a:rPr lang="en-IN" dirty="0" smtClean="0"/>
              <a:t>=us</a:t>
            </a:r>
          </a:p>
          <a:p>
            <a:pPr marL="0" indent="0">
              <a:buNone/>
            </a:pPr>
            <a:r>
              <a:rPr lang="en-IN" dirty="0" err="1" smtClean="0"/>
              <a:t>c_key</a:t>
            </a:r>
            <a:r>
              <a:rPr lang="en-IN" dirty="0" smtClean="0"/>
              <a:t>=study</a:t>
            </a:r>
          </a:p>
          <a:p>
            <a:pPr marL="0" indent="0">
              <a:buNone/>
            </a:pPr>
            <a:r>
              <a:rPr lang="en-IN" dirty="0" err="1" smtClean="0"/>
              <a:t>d_key</a:t>
            </a:r>
            <a:r>
              <a:rPr lang="en-IN" dirty="0" smtClean="0"/>
              <a:t>=Data Science</a:t>
            </a:r>
          </a:p>
          <a:p>
            <a:pPr marL="0" indent="0">
              <a:buNone/>
            </a:pPr>
            <a:r>
              <a:rPr lang="en-IN" dirty="0" err="1" smtClean="0"/>
              <a:t>e_key</a:t>
            </a:r>
            <a:r>
              <a:rPr lang="en-IN" dirty="0" smtClean="0"/>
              <a:t>=and</a:t>
            </a:r>
          </a:p>
          <a:p>
            <a:pPr marL="0" indent="0">
              <a:buNone/>
            </a:pPr>
            <a:r>
              <a:rPr lang="en-IN" dirty="0" err="1" smtClean="0"/>
              <a:t>f_key</a:t>
            </a:r>
            <a:r>
              <a:rPr lang="en-IN" dirty="0" smtClean="0"/>
              <a:t>=</a:t>
            </a:r>
            <a:r>
              <a:rPr lang="en-IN" dirty="0" err="1" smtClean="0"/>
              <a:t>Blockchain</a:t>
            </a:r>
            <a:endParaRPr lang="en-IN" dirty="0"/>
          </a:p>
        </p:txBody>
      </p:sp>
    </p:spTree>
    <p:extLst>
      <p:ext uri="{BB962C8B-B14F-4D97-AF65-F5344CB8AC3E}">
        <p14:creationId xmlns:p14="http://schemas.microsoft.com/office/powerpoint/2010/main" val="18851171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867</TotalTime>
  <Words>1857</Words>
  <Application>Microsoft Office PowerPoint</Application>
  <PresentationFormat>Widescreen</PresentationFormat>
  <Paragraphs>388</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Functions, Scoping and Abstraction </vt:lpstr>
      <vt:lpstr>Content-</vt:lpstr>
      <vt:lpstr>Types of functions in python-</vt:lpstr>
      <vt:lpstr>Declaring, Defining and Invoking a Function-</vt:lpstr>
      <vt:lpstr>Continue..</vt:lpstr>
      <vt:lpstr>Declaring and defining a user-defined function- </vt:lpstr>
      <vt:lpstr>Calling a Function </vt:lpstr>
      <vt:lpstr>Example-</vt:lpstr>
      <vt:lpstr>Function Arguments </vt:lpstr>
      <vt:lpstr>PowerPoint Presentation</vt:lpstr>
      <vt:lpstr>Continue..</vt:lpstr>
      <vt:lpstr>Keyword Arguments</vt:lpstr>
      <vt:lpstr>Continue..</vt:lpstr>
      <vt:lpstr>Required Arguments </vt:lpstr>
      <vt:lpstr>Example-</vt:lpstr>
      <vt:lpstr>Variable-Length Arguments </vt:lpstr>
      <vt:lpstr>Example-</vt:lpstr>
      <vt:lpstr>Lamda Function-</vt:lpstr>
      <vt:lpstr>Example of Lambda Function in Python </vt:lpstr>
      <vt:lpstr>Local and Global variables-</vt:lpstr>
      <vt:lpstr>Example (local Variable)-</vt:lpstr>
      <vt:lpstr>Example (global Variable)-</vt:lpstr>
      <vt:lpstr>Python Datatype-</vt:lpstr>
      <vt:lpstr>Immutable data structure-</vt:lpstr>
      <vt:lpstr>Example-</vt:lpstr>
      <vt:lpstr>Immutable data structure-</vt:lpstr>
      <vt:lpstr>Example-</vt:lpstr>
      <vt:lpstr>Example-</vt:lpstr>
      <vt:lpstr>Example-</vt:lpstr>
      <vt:lpstr>Example-</vt:lpstr>
      <vt:lpstr>Immutable data Structure-</vt:lpstr>
      <vt:lpstr>Example-</vt:lpstr>
      <vt:lpstr>Example-</vt:lpstr>
      <vt:lpstr>Output: </vt:lpstr>
      <vt:lpstr>Example-</vt:lpstr>
      <vt:lpstr>Example-</vt:lpstr>
      <vt:lpstr>Example-</vt:lpstr>
      <vt:lpstr>Example-</vt:lpstr>
      <vt:lpstr>Deleting the String </vt:lpstr>
      <vt:lpstr>String Operators </vt:lpstr>
      <vt:lpstr>Python String functions- </vt:lpstr>
      <vt:lpstr>Mutable Data Structure- </vt:lpstr>
      <vt:lpstr>Python List functions-</vt:lpstr>
      <vt:lpstr>Python List functions-</vt:lpstr>
      <vt:lpstr>Example-</vt:lpstr>
      <vt:lpstr>Example-</vt:lpstr>
      <vt:lpstr>Mutable Data Structure-</vt:lpstr>
      <vt:lpstr>Dictionary Functions-</vt:lpstr>
      <vt:lpstr>Continue..</vt:lpstr>
      <vt:lpstr>Example-</vt:lpstr>
      <vt:lpstr>Example-</vt:lpstr>
      <vt:lpstr>Mutable data structure- Sets</vt:lpstr>
      <vt:lpstr>Sets Functions-</vt:lpstr>
      <vt:lpstr>Example-</vt:lpstr>
      <vt:lpstr>Variable length keyword arguments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Scoping and Abstraction </dc:title>
  <dc:creator>LJMCA</dc:creator>
  <cp:lastModifiedBy>Admin</cp:lastModifiedBy>
  <cp:revision>105</cp:revision>
  <dcterms:created xsi:type="dcterms:W3CDTF">2022-12-17T07:11:51Z</dcterms:created>
  <dcterms:modified xsi:type="dcterms:W3CDTF">2024-12-31T04:38:20Z</dcterms:modified>
</cp:coreProperties>
</file>