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381"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1"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8" r:id="rId44"/>
    <p:sldId id="299" r:id="rId45"/>
    <p:sldId id="300" r:id="rId46"/>
    <p:sldId id="382" r:id="rId47"/>
    <p:sldId id="302" r:id="rId48"/>
    <p:sldId id="303" r:id="rId49"/>
    <p:sldId id="304" r:id="rId50"/>
    <p:sldId id="305" r:id="rId51"/>
    <p:sldId id="307" r:id="rId52"/>
    <p:sldId id="306"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9" r:id="rId104"/>
    <p:sldId id="364" r:id="rId105"/>
    <p:sldId id="365" r:id="rId106"/>
    <p:sldId id="366" r:id="rId107"/>
    <p:sldId id="367" r:id="rId108"/>
    <p:sldId id="368" r:id="rId109"/>
    <p:sldId id="369" r:id="rId110"/>
    <p:sldId id="370" r:id="rId111"/>
    <p:sldId id="371" r:id="rId112"/>
    <p:sldId id="372" r:id="rId113"/>
    <p:sldId id="373" r:id="rId114"/>
    <p:sldId id="374" r:id="rId115"/>
    <p:sldId id="375" r:id="rId116"/>
    <p:sldId id="376" r:id="rId117"/>
    <p:sldId id="377" r:id="rId118"/>
    <p:sldId id="378" r:id="rId119"/>
    <p:sldId id="379" r:id="rId120"/>
    <p:sldId id="380" r:id="rId1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50" autoAdjust="0"/>
    <p:restoredTop sz="94660"/>
  </p:normalViewPr>
  <p:slideViewPr>
    <p:cSldViewPr>
      <p:cViewPr varScale="1">
        <p:scale>
          <a:sx n="74" d="100"/>
          <a:sy n="74" d="100"/>
        </p:scale>
        <p:origin x="123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2EE44503-FE7E-4C0C-8245-C02E3AB3C728}" type="datetimeFigureOut">
              <a:rPr lang="en-US" smtClean="0"/>
              <a:t>3/24/2026</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38EBE090-F79D-4A56-8956-121B71D70E5E}"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2EE44503-FE7E-4C0C-8245-C02E3AB3C728}" type="datetimeFigureOut">
              <a:rPr lang="en-US" smtClean="0"/>
              <a:t>3/24/2026</a:t>
            </a:fld>
            <a:endParaRPr lang="en-US"/>
          </a:p>
        </p:txBody>
      </p:sp>
      <p:sp>
        <p:nvSpPr>
          <p:cNvPr id="9" name="Slide Number Placeholder 8"/>
          <p:cNvSpPr>
            <a:spLocks noGrp="1"/>
          </p:cNvSpPr>
          <p:nvPr>
            <p:ph type="sldNum" sz="quarter" idx="15"/>
          </p:nvPr>
        </p:nvSpPr>
        <p:spPr/>
        <p:txBody>
          <a:bodyPr rtlCol="0"/>
          <a:lstStyle/>
          <a:p>
            <a:fld id="{38EBE090-F79D-4A56-8956-121B71D70E5E}"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2EE44503-FE7E-4C0C-8245-C02E3AB3C728}" type="datetimeFigureOut">
              <a:rPr lang="en-US" smtClean="0"/>
              <a:t>3/24/2026</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38EBE090-F79D-4A56-8956-121B71D70E5E}"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2EE44503-FE7E-4C0C-8245-C02E3AB3C728}"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EBE090-F79D-4A56-8956-121B71D70E5E}" type="slidenum">
              <a:rPr lang="en-US" smtClean="0"/>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2EE44503-FE7E-4C0C-8245-C02E3AB3C728}"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EBE090-F79D-4A56-8956-121B71D70E5E}" type="slidenum">
              <a:rPr lang="en-US" smtClean="0"/>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2EE44503-FE7E-4C0C-8245-C02E3AB3C728}" type="datetimeFigureOut">
              <a:rPr lang="en-US" smtClean="0"/>
              <a:t>3/24/2026</a:t>
            </a:fld>
            <a:endParaRPr lang="en-US"/>
          </a:p>
        </p:txBody>
      </p:sp>
      <p:sp>
        <p:nvSpPr>
          <p:cNvPr id="7" name="Slide Number Placeholder 6"/>
          <p:cNvSpPr>
            <a:spLocks noGrp="1"/>
          </p:cNvSpPr>
          <p:nvPr>
            <p:ph type="sldNum" sz="quarter" idx="11"/>
          </p:nvPr>
        </p:nvSpPr>
        <p:spPr/>
        <p:txBody>
          <a:bodyPr rtlCol="0"/>
          <a:lstStyle/>
          <a:p>
            <a:fld id="{38EBE090-F79D-4A56-8956-121B71D70E5E}"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E44503-FE7E-4C0C-8245-C02E3AB3C728}"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EBE090-F79D-4A56-8956-121B71D70E5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2EE44503-FE7E-4C0C-8245-C02E3AB3C728}" type="datetimeFigureOut">
              <a:rPr lang="en-US" smtClean="0"/>
              <a:t>3/24/2026</a:t>
            </a:fld>
            <a:endParaRPr lang="en-US"/>
          </a:p>
        </p:txBody>
      </p:sp>
      <p:sp>
        <p:nvSpPr>
          <p:cNvPr id="22" name="Slide Number Placeholder 21"/>
          <p:cNvSpPr>
            <a:spLocks noGrp="1"/>
          </p:cNvSpPr>
          <p:nvPr>
            <p:ph type="sldNum" sz="quarter" idx="15"/>
          </p:nvPr>
        </p:nvSpPr>
        <p:spPr/>
        <p:txBody>
          <a:bodyPr rtlCol="0"/>
          <a:lstStyle/>
          <a:p>
            <a:fld id="{38EBE090-F79D-4A56-8956-121B71D70E5E}"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2EE44503-FE7E-4C0C-8245-C02E3AB3C728}" type="datetimeFigureOut">
              <a:rPr lang="en-US" smtClean="0"/>
              <a:t>3/24/2026</a:t>
            </a:fld>
            <a:endParaRPr lang="en-US"/>
          </a:p>
        </p:txBody>
      </p:sp>
      <p:sp>
        <p:nvSpPr>
          <p:cNvPr id="18" name="Slide Number Placeholder 17"/>
          <p:cNvSpPr>
            <a:spLocks noGrp="1"/>
          </p:cNvSpPr>
          <p:nvPr>
            <p:ph type="sldNum" sz="quarter" idx="11"/>
          </p:nvPr>
        </p:nvSpPr>
        <p:spPr/>
        <p:txBody>
          <a:bodyPr rtlCol="0"/>
          <a:lstStyle/>
          <a:p>
            <a:fld id="{38EBE090-F79D-4A56-8956-121B71D70E5E}"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EE44503-FE7E-4C0C-8245-C02E3AB3C728}"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EBE090-F79D-4A56-8956-121B71D70E5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EE44503-FE7E-4C0C-8245-C02E3AB3C728}"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EBE090-F79D-4A56-8956-121B71D70E5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2EE44503-FE7E-4C0C-8245-C02E3AB3C728}" type="datetimeFigureOut">
              <a:rPr lang="en-US" smtClean="0"/>
              <a:t>3/24/2026</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38EBE090-F79D-4A56-8956-121B71D70E5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81200" y="-76200"/>
            <a:ext cx="7543800" cy="1524000"/>
          </a:xfrm>
        </p:spPr>
        <p:txBody>
          <a:bodyPr>
            <a:normAutofit/>
          </a:bodyPr>
          <a:lstStyle/>
          <a:p>
            <a:r>
              <a:rPr lang="en-US" sz="4400" dirty="0" smtClean="0"/>
              <a:t>Python Programming</a:t>
            </a:r>
            <a:endParaRPr lang="en-US" sz="4400" dirty="0"/>
          </a:p>
        </p:txBody>
      </p:sp>
      <p:sp>
        <p:nvSpPr>
          <p:cNvPr id="3" name="Subtitle 2"/>
          <p:cNvSpPr>
            <a:spLocks noGrp="1"/>
          </p:cNvSpPr>
          <p:nvPr>
            <p:ph type="subTitle" idx="1"/>
          </p:nvPr>
        </p:nvSpPr>
        <p:spPr>
          <a:xfrm>
            <a:off x="2209800" y="2057400"/>
            <a:ext cx="6172200" cy="4495800"/>
          </a:xfrm>
        </p:spPr>
        <p:txBody>
          <a:bodyPr>
            <a:normAutofit/>
          </a:bodyPr>
          <a:lstStyle/>
          <a:p>
            <a:r>
              <a:rPr lang="en-US" sz="2000" u="sng" smtClean="0"/>
              <a:t>Unit -4 </a:t>
            </a:r>
            <a:r>
              <a:rPr lang="en-US" sz="2000" u="sng" dirty="0" smtClean="0"/>
              <a:t>:  Introduction to </a:t>
            </a:r>
            <a:r>
              <a:rPr lang="en-US" sz="2000" u="sng" dirty="0" err="1" smtClean="0"/>
              <a:t>Numpy</a:t>
            </a:r>
            <a:r>
              <a:rPr lang="en-US" sz="2000" u="sng" dirty="0" smtClean="0"/>
              <a:t> and </a:t>
            </a:r>
            <a:r>
              <a:rPr lang="en-US" sz="2000" u="sng" dirty="0" err="1" smtClean="0"/>
              <a:t>Matplotlib</a:t>
            </a:r>
            <a:endParaRPr lang="en-US" sz="2000" u="sng" dirty="0" smtClean="0"/>
          </a:p>
          <a:p>
            <a:endParaRPr lang="en-US" sz="2000" u="sng" dirty="0" smtClean="0"/>
          </a:p>
          <a:p>
            <a:r>
              <a:rPr lang="en-US" dirty="0"/>
              <a:t>Topics : Arrays -Creating a </a:t>
            </a:r>
            <a:r>
              <a:rPr lang="en-US" dirty="0" err="1"/>
              <a:t>NumPy</a:t>
            </a:r>
            <a:r>
              <a:rPr lang="en-US" dirty="0"/>
              <a:t> </a:t>
            </a:r>
            <a:r>
              <a:rPr lang="en-US" dirty="0" err="1"/>
              <a:t>ndarray</a:t>
            </a:r>
            <a:r>
              <a:rPr lang="en-US" dirty="0"/>
              <a:t> Object, 1D, 2D and 3D Arrays, Array Indexing, Slicing, Shape, Reshaping, Iteration, Built-in functions -concatenate, </a:t>
            </a:r>
            <a:r>
              <a:rPr lang="en-US" dirty="0" err="1"/>
              <a:t>array_split</a:t>
            </a:r>
            <a:r>
              <a:rPr lang="en-US" dirty="0"/>
              <a:t>, where, </a:t>
            </a:r>
            <a:r>
              <a:rPr lang="en-US" dirty="0" smtClean="0"/>
              <a:t>sort</a:t>
            </a:r>
            <a:r>
              <a:rPr lang="en-US" dirty="0"/>
              <a:t>, Basic Methods -Plot() with different markers, colors, and </a:t>
            </a:r>
            <a:r>
              <a:rPr lang="en-US" dirty="0" err="1"/>
              <a:t>linestyles</a:t>
            </a:r>
            <a:r>
              <a:rPr lang="en-US" dirty="0"/>
              <a:t>, show() Describing the plot -</a:t>
            </a:r>
            <a:r>
              <a:rPr lang="en-US" dirty="0" err="1"/>
              <a:t>xlabel</a:t>
            </a:r>
            <a:r>
              <a:rPr lang="en-US" dirty="0"/>
              <a:t>, </a:t>
            </a:r>
            <a:r>
              <a:rPr lang="en-US" dirty="0" err="1"/>
              <a:t>ylabel</a:t>
            </a:r>
            <a:r>
              <a:rPr lang="en-US" dirty="0"/>
              <a:t>, title with different fonts, colors and positions Grids and </a:t>
            </a:r>
            <a:r>
              <a:rPr lang="en-US" dirty="0" err="1"/>
              <a:t>subplotsSimple</a:t>
            </a:r>
            <a:r>
              <a:rPr lang="en-US" dirty="0"/>
              <a:t> Scatterplots with color, size and alpha, Simple Bar charts bar() and </a:t>
            </a:r>
            <a:r>
              <a:rPr lang="en-US" dirty="0" err="1"/>
              <a:t>barh</a:t>
            </a:r>
            <a:r>
              <a:rPr lang="en-US" dirty="0"/>
              <a:t>(), Simple Histogram with </a:t>
            </a:r>
            <a:r>
              <a:rPr lang="en-US" dirty="0" err="1"/>
              <a:t>hist</a:t>
            </a:r>
            <a:r>
              <a:rPr lang="en-US" dirty="0"/>
              <a:t>(), Simple pie charts with pie along with </a:t>
            </a:r>
            <a:r>
              <a:rPr lang="en-US" dirty="0" err="1"/>
              <a:t>labelling</a:t>
            </a:r>
            <a:r>
              <a:rPr lang="en-US" dirty="0"/>
              <a:t> and </a:t>
            </a:r>
            <a:r>
              <a:rPr lang="en-US" dirty="0" smtClean="0"/>
              <a:t>coloring.</a:t>
            </a:r>
            <a:endParaRPr lang="en-US" dirty="0"/>
          </a:p>
        </p:txBody>
      </p:sp>
    </p:spTree>
    <p:extLst>
      <p:ext uri="{BB962C8B-B14F-4D97-AF65-F5344CB8AC3E}">
        <p14:creationId xmlns:p14="http://schemas.microsoft.com/office/powerpoint/2010/main" val="21627856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normAutofit/>
          </a:bodyPr>
          <a:lstStyle/>
          <a:p>
            <a:pPr algn="ctr"/>
            <a:r>
              <a:rPr lang="en-US" sz="3600" b="1" dirty="0" err="1" smtClean="0"/>
              <a:t>Numpy</a:t>
            </a:r>
            <a:r>
              <a:rPr lang="en-US" sz="3600" b="1" dirty="0" smtClean="0"/>
              <a:t> Introduction</a:t>
            </a:r>
            <a:endParaRPr lang="en-US" sz="3600" b="1" dirty="0"/>
          </a:p>
        </p:txBody>
      </p:sp>
      <p:sp>
        <p:nvSpPr>
          <p:cNvPr id="3" name="Content Placeholder 2"/>
          <p:cNvSpPr>
            <a:spLocks noGrp="1"/>
          </p:cNvSpPr>
          <p:nvPr>
            <p:ph sz="quarter" idx="1"/>
          </p:nvPr>
        </p:nvSpPr>
        <p:spPr>
          <a:xfrm>
            <a:off x="457200" y="1143000"/>
            <a:ext cx="7467600" cy="5486400"/>
          </a:xfrm>
        </p:spPr>
        <p:txBody>
          <a:bodyPr>
            <a:normAutofit fontScale="92500"/>
          </a:bodyPr>
          <a:lstStyle/>
          <a:p>
            <a:r>
              <a:rPr lang="en-US" dirty="0" err="1"/>
              <a:t>NumPy</a:t>
            </a:r>
            <a:r>
              <a:rPr lang="en-US" dirty="0"/>
              <a:t> stands for numeric python which is a python package for the computation and processing of the multidimensional and single dimensional array elements</a:t>
            </a:r>
            <a:r>
              <a:rPr lang="en-US" dirty="0" smtClean="0"/>
              <a:t>.</a:t>
            </a:r>
          </a:p>
          <a:p>
            <a:r>
              <a:rPr lang="en-US" b="1" dirty="0"/>
              <a:t>Travis Oliphant</a:t>
            </a:r>
            <a:r>
              <a:rPr lang="en-US" dirty="0"/>
              <a:t> created </a:t>
            </a:r>
            <a:r>
              <a:rPr lang="en-US" dirty="0" err="1"/>
              <a:t>NumPy</a:t>
            </a:r>
            <a:r>
              <a:rPr lang="en-US" dirty="0"/>
              <a:t> package in 2005 by injecting the features of the ancestor module Numeric into another module </a:t>
            </a:r>
            <a:r>
              <a:rPr lang="en-US" dirty="0" err="1"/>
              <a:t>Numarray</a:t>
            </a:r>
            <a:r>
              <a:rPr lang="en-US" dirty="0" smtClean="0"/>
              <a:t>.</a:t>
            </a:r>
          </a:p>
          <a:p>
            <a:r>
              <a:rPr lang="en-US" dirty="0"/>
              <a:t>It is an extension module of Python which is mostly written in C. It provides various functions which are capable of performing the numeric computations with a high speed</a:t>
            </a:r>
            <a:r>
              <a:rPr lang="en-US" dirty="0" smtClean="0"/>
              <a:t>.</a:t>
            </a:r>
          </a:p>
          <a:p>
            <a:r>
              <a:rPr lang="en-US" dirty="0" err="1"/>
              <a:t>NumPy</a:t>
            </a:r>
            <a:r>
              <a:rPr lang="en-US" dirty="0"/>
              <a:t> provides various powerful data structures, implementing multi-dimensional arrays and matrices. These data structures are used for the optimal computations regarding arrays and matrices.</a:t>
            </a:r>
          </a:p>
          <a:p>
            <a:endParaRPr lang="en-US" dirty="0"/>
          </a:p>
        </p:txBody>
      </p:sp>
    </p:spTree>
    <p:extLst>
      <p:ext uri="{BB962C8B-B14F-4D97-AF65-F5344CB8AC3E}">
        <p14:creationId xmlns:p14="http://schemas.microsoft.com/office/powerpoint/2010/main" val="7112349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762000"/>
          </a:xfrm>
        </p:spPr>
        <p:txBody>
          <a:bodyPr>
            <a:normAutofit/>
          </a:bodyPr>
          <a:lstStyle/>
          <a:p>
            <a:pPr algn="ctr"/>
            <a:r>
              <a:rPr lang="en-US" sz="3600" b="1" dirty="0" smtClean="0"/>
              <a:t>Advantages of </a:t>
            </a:r>
            <a:r>
              <a:rPr lang="en-US" sz="3600" b="1" dirty="0" err="1" smtClean="0"/>
              <a:t>Numpy</a:t>
            </a:r>
            <a:endParaRPr lang="en-US" sz="3600" b="1" dirty="0"/>
          </a:p>
        </p:txBody>
      </p:sp>
      <p:sp>
        <p:nvSpPr>
          <p:cNvPr id="3" name="Content Placeholder 2"/>
          <p:cNvSpPr>
            <a:spLocks noGrp="1"/>
          </p:cNvSpPr>
          <p:nvPr>
            <p:ph sz="quarter" idx="1"/>
          </p:nvPr>
        </p:nvSpPr>
        <p:spPr>
          <a:xfrm>
            <a:off x="457200" y="1066800"/>
            <a:ext cx="7467600" cy="5562600"/>
          </a:xfrm>
        </p:spPr>
        <p:txBody>
          <a:bodyPr>
            <a:normAutofit lnSpcReduction="10000"/>
          </a:bodyPr>
          <a:lstStyle/>
          <a:p>
            <a:r>
              <a:rPr lang="en-US" dirty="0" err="1"/>
              <a:t>NumPy</a:t>
            </a:r>
            <a:r>
              <a:rPr lang="en-US" dirty="0"/>
              <a:t> provides various powerful data structures, implementing multi-dimensional arrays and matrices. These data structures are used for the optimal computations regarding arrays and matrices</a:t>
            </a:r>
            <a:r>
              <a:rPr lang="en-US" dirty="0" smtClean="0"/>
              <a:t>. Advantages are:</a:t>
            </a:r>
            <a:endParaRPr lang="en-US" dirty="0"/>
          </a:p>
          <a:p>
            <a:pPr marL="457200" indent="-457200">
              <a:buFont typeface="+mj-lt"/>
              <a:buAutoNum type="arabicPeriod"/>
            </a:pPr>
            <a:r>
              <a:rPr lang="en-US" dirty="0" err="1"/>
              <a:t>NumPy</a:t>
            </a:r>
            <a:r>
              <a:rPr lang="en-US" dirty="0"/>
              <a:t> performs array-oriented computing.</a:t>
            </a:r>
          </a:p>
          <a:p>
            <a:pPr marL="457200" indent="-457200">
              <a:buFont typeface="+mj-lt"/>
              <a:buAutoNum type="arabicPeriod"/>
            </a:pPr>
            <a:r>
              <a:rPr lang="en-US" dirty="0"/>
              <a:t>It efficiently implements the multidimensional arrays.</a:t>
            </a:r>
          </a:p>
          <a:p>
            <a:pPr marL="457200" indent="-457200">
              <a:buFont typeface="+mj-lt"/>
              <a:buAutoNum type="arabicPeriod"/>
            </a:pPr>
            <a:r>
              <a:rPr lang="en-US" dirty="0"/>
              <a:t>It performs scientific computations.</a:t>
            </a:r>
          </a:p>
          <a:p>
            <a:pPr marL="457200" indent="-457200">
              <a:buFont typeface="+mj-lt"/>
              <a:buAutoNum type="arabicPeriod"/>
            </a:pPr>
            <a:r>
              <a:rPr lang="en-US" dirty="0"/>
              <a:t>It is capable of performing Fourier Transform and reshaping the data stored in multidimensional arrays.</a:t>
            </a:r>
          </a:p>
          <a:p>
            <a:pPr marL="457200" indent="-457200">
              <a:buFont typeface="+mj-lt"/>
              <a:buAutoNum type="arabicPeriod"/>
            </a:pPr>
            <a:r>
              <a:rPr lang="en-US" dirty="0" err="1"/>
              <a:t>NumPy</a:t>
            </a:r>
            <a:r>
              <a:rPr lang="en-US" dirty="0"/>
              <a:t> provides the in-built functions for linear algebra and random number generation</a:t>
            </a:r>
            <a:r>
              <a:rPr lang="en-US" dirty="0" smtClean="0"/>
              <a:t>.</a:t>
            </a:r>
          </a:p>
        </p:txBody>
      </p:sp>
    </p:spTree>
    <p:extLst>
      <p:ext uri="{BB962C8B-B14F-4D97-AF65-F5344CB8AC3E}">
        <p14:creationId xmlns:p14="http://schemas.microsoft.com/office/powerpoint/2010/main" val="10614096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4153500643"/>
              </p:ext>
            </p:extLst>
          </p:nvPr>
        </p:nvGraphicFramePr>
        <p:xfrm>
          <a:off x="874227" y="1295400"/>
          <a:ext cx="6633546" cy="4876332"/>
        </p:xfrm>
        <a:graphic>
          <a:graphicData uri="http://schemas.openxmlformats.org/drawingml/2006/table">
            <a:tbl>
              <a:tblPr>
                <a:tableStyleId>{3C2FFA5D-87B4-456A-9821-1D502468CF0F}</a:tableStyleId>
              </a:tblPr>
              <a:tblGrid>
                <a:gridCol w="2211182"/>
                <a:gridCol w="2211182"/>
                <a:gridCol w="2211182"/>
              </a:tblGrid>
              <a:tr h="324908">
                <a:tc>
                  <a:txBody>
                    <a:bodyPr/>
                    <a:lstStyle/>
                    <a:p>
                      <a:r>
                        <a:rPr lang="en-IN" sz="1600" dirty="0"/>
                        <a:t>Feature</a:t>
                      </a:r>
                    </a:p>
                  </a:txBody>
                  <a:tcPr marL="81227" marR="81227" marT="40614" marB="40614" anchor="ctr"/>
                </a:tc>
                <a:tc>
                  <a:txBody>
                    <a:bodyPr/>
                    <a:lstStyle/>
                    <a:p>
                      <a:r>
                        <a:rPr lang="en-IN" sz="1600"/>
                        <a:t>NumPy Array</a:t>
                      </a:r>
                    </a:p>
                  </a:txBody>
                  <a:tcPr marL="81227" marR="81227" marT="40614" marB="40614" anchor="ctr"/>
                </a:tc>
                <a:tc>
                  <a:txBody>
                    <a:bodyPr/>
                    <a:lstStyle/>
                    <a:p>
                      <a:r>
                        <a:rPr lang="en-IN" sz="1600"/>
                        <a:t>Python List</a:t>
                      </a:r>
                    </a:p>
                  </a:txBody>
                  <a:tcPr marL="81227" marR="81227" marT="40614" marB="40614" anchor="ctr"/>
                </a:tc>
              </a:tr>
              <a:tr h="568590">
                <a:tc>
                  <a:txBody>
                    <a:bodyPr/>
                    <a:lstStyle/>
                    <a:p>
                      <a:r>
                        <a:rPr lang="en-IN" sz="1600" dirty="0"/>
                        <a:t>Speed</a:t>
                      </a:r>
                    </a:p>
                  </a:txBody>
                  <a:tcPr marL="81227" marR="81227" marT="40614" marB="40614" anchor="ctr"/>
                </a:tc>
                <a:tc>
                  <a:txBody>
                    <a:bodyPr/>
                    <a:lstStyle/>
                    <a:p>
                      <a:r>
                        <a:rPr lang="en-IN" sz="1600"/>
                        <a:t>Very fast (uses C internally)</a:t>
                      </a:r>
                    </a:p>
                  </a:txBody>
                  <a:tcPr marL="81227" marR="81227" marT="40614" marB="40614" anchor="ctr"/>
                </a:tc>
                <a:tc>
                  <a:txBody>
                    <a:bodyPr/>
                    <a:lstStyle/>
                    <a:p>
                      <a:r>
                        <a:rPr lang="en-IN" sz="1600"/>
                        <a:t>Slower</a:t>
                      </a:r>
                    </a:p>
                  </a:txBody>
                  <a:tcPr marL="81227" marR="81227" marT="40614" marB="40614" anchor="ctr"/>
                </a:tc>
              </a:tr>
              <a:tr h="568590">
                <a:tc>
                  <a:txBody>
                    <a:bodyPr/>
                    <a:lstStyle/>
                    <a:p>
                      <a:r>
                        <a:rPr lang="en-IN" sz="1600"/>
                        <a:t>Data Type</a:t>
                      </a:r>
                    </a:p>
                  </a:txBody>
                  <a:tcPr marL="81227" marR="81227" marT="40614" marB="40614" anchor="ctr"/>
                </a:tc>
                <a:tc>
                  <a:txBody>
                    <a:bodyPr/>
                    <a:lstStyle/>
                    <a:p>
                      <a:r>
                        <a:rPr lang="en-IN" sz="1600"/>
                        <a:t>Same data type (homogeneous)</a:t>
                      </a:r>
                    </a:p>
                  </a:txBody>
                  <a:tcPr marL="81227" marR="81227" marT="40614" marB="40614" anchor="ctr"/>
                </a:tc>
                <a:tc>
                  <a:txBody>
                    <a:bodyPr/>
                    <a:lstStyle/>
                    <a:p>
                      <a:r>
                        <a:rPr lang="en-IN" sz="1600"/>
                        <a:t>Different data types allowed</a:t>
                      </a:r>
                    </a:p>
                  </a:txBody>
                  <a:tcPr marL="81227" marR="81227" marT="40614" marB="40614" anchor="ctr"/>
                </a:tc>
              </a:tr>
              <a:tr h="324908">
                <a:tc>
                  <a:txBody>
                    <a:bodyPr/>
                    <a:lstStyle/>
                    <a:p>
                      <a:r>
                        <a:rPr lang="en-IN" sz="1600"/>
                        <a:t>Memory Usage</a:t>
                      </a:r>
                    </a:p>
                  </a:txBody>
                  <a:tcPr marL="81227" marR="81227" marT="40614" marB="40614" anchor="ctr"/>
                </a:tc>
                <a:tc>
                  <a:txBody>
                    <a:bodyPr/>
                    <a:lstStyle/>
                    <a:p>
                      <a:r>
                        <a:rPr lang="en-IN" sz="1600"/>
                        <a:t>Less memory</a:t>
                      </a:r>
                    </a:p>
                  </a:txBody>
                  <a:tcPr marL="81227" marR="81227" marT="40614" marB="40614" anchor="ctr"/>
                </a:tc>
                <a:tc>
                  <a:txBody>
                    <a:bodyPr/>
                    <a:lstStyle/>
                    <a:p>
                      <a:r>
                        <a:rPr lang="en-IN" sz="1600"/>
                        <a:t>More memory</a:t>
                      </a:r>
                    </a:p>
                  </a:txBody>
                  <a:tcPr marL="81227" marR="81227" marT="40614" marB="40614" anchor="ctr"/>
                </a:tc>
              </a:tr>
              <a:tr h="812271">
                <a:tc>
                  <a:txBody>
                    <a:bodyPr/>
                    <a:lstStyle/>
                    <a:p>
                      <a:r>
                        <a:rPr lang="en-IN" sz="1600"/>
                        <a:t>Operations</a:t>
                      </a:r>
                    </a:p>
                  </a:txBody>
                  <a:tcPr marL="81227" marR="81227" marT="40614" marB="40614" anchor="ctr"/>
                </a:tc>
                <a:tc>
                  <a:txBody>
                    <a:bodyPr/>
                    <a:lstStyle/>
                    <a:p>
                      <a:r>
                        <a:rPr lang="en-IN" sz="1600"/>
                        <a:t>Supports vectorized operations (no loop needed)</a:t>
                      </a:r>
                    </a:p>
                  </a:txBody>
                  <a:tcPr marL="81227" marR="81227" marT="40614" marB="40614" anchor="ctr"/>
                </a:tc>
                <a:tc>
                  <a:txBody>
                    <a:bodyPr/>
                    <a:lstStyle/>
                    <a:p>
                      <a:r>
                        <a:rPr lang="en-IN" sz="1600"/>
                        <a:t>Requires loops</a:t>
                      </a:r>
                    </a:p>
                  </a:txBody>
                  <a:tcPr marL="81227" marR="81227" marT="40614" marB="40614" anchor="ctr"/>
                </a:tc>
              </a:tr>
              <a:tr h="568590">
                <a:tc>
                  <a:txBody>
                    <a:bodyPr/>
                    <a:lstStyle/>
                    <a:p>
                      <a:r>
                        <a:rPr lang="en-IN" sz="1600"/>
                        <a:t>Syntax</a:t>
                      </a:r>
                    </a:p>
                  </a:txBody>
                  <a:tcPr marL="81227" marR="81227" marT="40614" marB="40614" anchor="ctr"/>
                </a:tc>
                <a:tc>
                  <a:txBody>
                    <a:bodyPr/>
                    <a:lstStyle/>
                    <a:p>
                      <a:r>
                        <a:rPr lang="en-IN" sz="1600"/>
                        <a:t>Simple for math operations</a:t>
                      </a:r>
                    </a:p>
                  </a:txBody>
                  <a:tcPr marL="81227" marR="81227" marT="40614" marB="40614" anchor="ctr"/>
                </a:tc>
                <a:tc>
                  <a:txBody>
                    <a:bodyPr/>
                    <a:lstStyle/>
                    <a:p>
                      <a:r>
                        <a:rPr lang="en-IN" sz="1600"/>
                        <a:t>More code required</a:t>
                      </a:r>
                    </a:p>
                  </a:txBody>
                  <a:tcPr marL="81227" marR="81227" marT="40614" marB="40614" anchor="ctr"/>
                </a:tc>
              </a:tr>
              <a:tr h="568590">
                <a:tc>
                  <a:txBody>
                    <a:bodyPr/>
                    <a:lstStyle/>
                    <a:p>
                      <a:r>
                        <a:rPr lang="en-IN" sz="1600"/>
                        <a:t>Multidimensional Support</a:t>
                      </a:r>
                    </a:p>
                  </a:txBody>
                  <a:tcPr marL="81227" marR="81227" marT="40614" marB="40614" anchor="ctr"/>
                </a:tc>
                <a:tc>
                  <a:txBody>
                    <a:bodyPr/>
                    <a:lstStyle/>
                    <a:p>
                      <a:r>
                        <a:rPr lang="en-IN" sz="1600"/>
                        <a:t>Easy (2D, 3D arrays)</a:t>
                      </a:r>
                    </a:p>
                  </a:txBody>
                  <a:tcPr marL="81227" marR="81227" marT="40614" marB="40614" anchor="ctr"/>
                </a:tc>
                <a:tc>
                  <a:txBody>
                    <a:bodyPr/>
                    <a:lstStyle/>
                    <a:p>
                      <a:r>
                        <a:rPr lang="en-IN" sz="1600"/>
                        <a:t>Complex to manage</a:t>
                      </a:r>
                    </a:p>
                  </a:txBody>
                  <a:tcPr marL="81227" marR="81227" marT="40614" marB="40614" anchor="ctr"/>
                </a:tc>
              </a:tr>
              <a:tr h="568590">
                <a:tc>
                  <a:txBody>
                    <a:bodyPr/>
                    <a:lstStyle/>
                    <a:p>
                      <a:r>
                        <a:rPr lang="en-IN" sz="1600"/>
                        <a:t>Built-in Functions</a:t>
                      </a:r>
                    </a:p>
                  </a:txBody>
                  <a:tcPr marL="81227" marR="81227" marT="40614" marB="40614" anchor="ctr"/>
                </a:tc>
                <a:tc>
                  <a:txBody>
                    <a:bodyPr/>
                    <a:lstStyle/>
                    <a:p>
                      <a:r>
                        <a:rPr lang="en-IN" sz="1600"/>
                        <a:t>Powerful math functions available</a:t>
                      </a:r>
                    </a:p>
                  </a:txBody>
                  <a:tcPr marL="81227" marR="81227" marT="40614" marB="40614" anchor="ctr"/>
                </a:tc>
                <a:tc>
                  <a:txBody>
                    <a:bodyPr/>
                    <a:lstStyle/>
                    <a:p>
                      <a:r>
                        <a:rPr lang="en-IN" sz="1600"/>
                        <a:t>Limited</a:t>
                      </a:r>
                    </a:p>
                  </a:txBody>
                  <a:tcPr marL="81227" marR="81227" marT="40614" marB="40614" anchor="ctr"/>
                </a:tc>
              </a:tr>
              <a:tr h="568590">
                <a:tc>
                  <a:txBody>
                    <a:bodyPr/>
                    <a:lstStyle/>
                    <a:p>
                      <a:r>
                        <a:rPr lang="en-IN" sz="1600"/>
                        <a:t>Use Case</a:t>
                      </a:r>
                    </a:p>
                  </a:txBody>
                  <a:tcPr marL="81227" marR="81227" marT="40614" marB="40614" anchor="ctr"/>
                </a:tc>
                <a:tc>
                  <a:txBody>
                    <a:bodyPr/>
                    <a:lstStyle/>
                    <a:p>
                      <a:r>
                        <a:rPr lang="it-IT" sz="1600"/>
                        <a:t>Data Science, AI, Scientific computing</a:t>
                      </a:r>
                    </a:p>
                  </a:txBody>
                  <a:tcPr marL="81227" marR="81227" marT="40614" marB="40614" anchor="ctr"/>
                </a:tc>
                <a:tc>
                  <a:txBody>
                    <a:bodyPr/>
                    <a:lstStyle/>
                    <a:p>
                      <a:r>
                        <a:rPr lang="en-IN" sz="1600" dirty="0"/>
                        <a:t>General-purpose programming</a:t>
                      </a:r>
                    </a:p>
                  </a:txBody>
                  <a:tcPr marL="81227" marR="81227" marT="40614" marB="40614" anchor="ctr"/>
                </a:tc>
              </a:tr>
            </a:tbl>
          </a:graphicData>
        </a:graphic>
      </p:graphicFrame>
      <p:sp>
        <p:nvSpPr>
          <p:cNvPr id="5" name="Rectangle 1"/>
          <p:cNvSpPr>
            <a:spLocks noChangeArrowheads="1"/>
          </p:cNvSpPr>
          <p:nvPr/>
        </p:nvSpPr>
        <p:spPr bwMode="auto">
          <a:xfrm>
            <a:off x="381000" y="367844"/>
            <a:ext cx="77724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1" cap="small" dirty="0">
                <a:solidFill>
                  <a:schemeClr val="tx2"/>
                </a:solidFill>
                <a:latin typeface="+mj-lt"/>
                <a:ea typeface="+mj-ea"/>
                <a:cs typeface="+mj-cs"/>
              </a:rPr>
              <a:t>Comparison: </a:t>
            </a:r>
            <a:r>
              <a:rPr lang="en-US" altLang="en-US" sz="2800" b="1" cap="small" dirty="0" err="1">
                <a:solidFill>
                  <a:schemeClr val="tx2"/>
                </a:solidFill>
                <a:latin typeface="+mj-lt"/>
                <a:ea typeface="+mj-ea"/>
                <a:cs typeface="+mj-cs"/>
              </a:rPr>
              <a:t>NumPy</a:t>
            </a:r>
            <a:r>
              <a:rPr lang="en-US" altLang="en-US" sz="2800" b="1" cap="small" dirty="0">
                <a:solidFill>
                  <a:schemeClr val="tx2"/>
                </a:solidFill>
                <a:latin typeface="+mj-lt"/>
                <a:ea typeface="+mj-ea"/>
                <a:cs typeface="+mj-cs"/>
              </a:rPr>
              <a:t> vs Python </a:t>
            </a:r>
            <a:r>
              <a:rPr lang="en-US" altLang="en-US" sz="2800" b="1" cap="small" dirty="0" smtClean="0">
                <a:solidFill>
                  <a:schemeClr val="tx2"/>
                </a:solidFill>
                <a:latin typeface="+mj-lt"/>
                <a:ea typeface="+mj-ea"/>
                <a:cs typeface="+mj-cs"/>
              </a:rPr>
              <a:t>Lists</a:t>
            </a:r>
            <a:endParaRPr lang="en-US" altLang="en-US" sz="2800" b="1" cap="small" dirty="0">
              <a:solidFill>
                <a:schemeClr val="tx2"/>
              </a:solidFill>
              <a:latin typeface="+mj-lt"/>
              <a:ea typeface="+mj-ea"/>
              <a:cs typeface="+mj-cs"/>
            </a:endParaRPr>
          </a:p>
        </p:txBody>
      </p:sp>
    </p:spTree>
    <p:extLst>
      <p:ext uri="{BB962C8B-B14F-4D97-AF65-F5344CB8AC3E}">
        <p14:creationId xmlns:p14="http://schemas.microsoft.com/office/powerpoint/2010/main" val="1289328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762000"/>
          </a:xfrm>
        </p:spPr>
        <p:txBody>
          <a:bodyPr>
            <a:normAutofit/>
          </a:bodyPr>
          <a:lstStyle/>
          <a:p>
            <a:pPr algn="ctr"/>
            <a:r>
              <a:rPr lang="en-US" sz="3600" b="1" dirty="0" err="1" smtClean="0"/>
              <a:t>Numpy</a:t>
            </a:r>
            <a:endParaRPr lang="en-US" sz="3600" b="1" dirty="0"/>
          </a:p>
        </p:txBody>
      </p:sp>
      <p:sp>
        <p:nvSpPr>
          <p:cNvPr id="3" name="Content Placeholder 2"/>
          <p:cNvSpPr>
            <a:spLocks noGrp="1"/>
          </p:cNvSpPr>
          <p:nvPr>
            <p:ph sz="quarter" idx="1"/>
          </p:nvPr>
        </p:nvSpPr>
        <p:spPr>
          <a:xfrm>
            <a:off x="457200" y="1066800"/>
            <a:ext cx="7467600" cy="5562600"/>
          </a:xfrm>
        </p:spPr>
        <p:txBody>
          <a:bodyPr>
            <a:normAutofit/>
          </a:bodyPr>
          <a:lstStyle/>
          <a:p>
            <a:r>
              <a:rPr lang="en-US" dirty="0"/>
              <a:t>Once </a:t>
            </a:r>
            <a:r>
              <a:rPr lang="en-US" dirty="0" err="1"/>
              <a:t>NumPy</a:t>
            </a:r>
            <a:r>
              <a:rPr lang="en-US" dirty="0"/>
              <a:t> is installed, import it in your applications by adding the import keyword</a:t>
            </a:r>
            <a:r>
              <a:rPr lang="en-US" dirty="0" smtClean="0"/>
              <a:t>:</a:t>
            </a:r>
          </a:p>
          <a:p>
            <a:endParaRPr lang="en-US" dirty="0" smtClean="0"/>
          </a:p>
          <a:p>
            <a:r>
              <a:rPr lang="en-US" dirty="0" smtClean="0"/>
              <a:t>Example:</a:t>
            </a:r>
          </a:p>
          <a:p>
            <a:pPr marL="0" indent="0">
              <a:buNone/>
            </a:pPr>
            <a:r>
              <a:rPr lang="en-US" dirty="0"/>
              <a:t>import </a:t>
            </a:r>
            <a:r>
              <a:rPr lang="en-US" dirty="0" err="1" smtClean="0"/>
              <a:t>numpy</a:t>
            </a:r>
            <a:endParaRPr lang="en-US" dirty="0" smtClean="0"/>
          </a:p>
          <a:p>
            <a:pPr marL="0" indent="0">
              <a:buNone/>
            </a:pPr>
            <a:endParaRPr lang="en-US" dirty="0" smtClean="0"/>
          </a:p>
          <a:p>
            <a:r>
              <a:rPr lang="en-US" dirty="0" err="1"/>
              <a:t>NumPy</a:t>
            </a:r>
            <a:r>
              <a:rPr lang="en-US" dirty="0"/>
              <a:t> is usually imported under the </a:t>
            </a:r>
            <a:r>
              <a:rPr lang="en-US" dirty="0" err="1"/>
              <a:t>np</a:t>
            </a:r>
            <a:r>
              <a:rPr lang="en-US" dirty="0"/>
              <a:t> </a:t>
            </a:r>
            <a:r>
              <a:rPr lang="en-US" b="1" dirty="0"/>
              <a:t>alias</a:t>
            </a:r>
            <a:r>
              <a:rPr lang="en-US" dirty="0" smtClean="0"/>
              <a:t>.</a:t>
            </a:r>
          </a:p>
          <a:p>
            <a:endParaRPr lang="en-US" dirty="0" smtClean="0"/>
          </a:p>
          <a:p>
            <a:r>
              <a:rPr lang="en-US" b="1" dirty="0"/>
              <a:t>alias:</a:t>
            </a:r>
            <a:r>
              <a:rPr lang="en-US" dirty="0"/>
              <a:t> In Python alias are an alternate name for referring to the same thing.</a:t>
            </a:r>
            <a:endParaRPr lang="en-US" dirty="0" smtClean="0"/>
          </a:p>
          <a:p>
            <a:pPr marL="0" indent="0">
              <a:buNone/>
            </a:pPr>
            <a:endParaRPr lang="en-US" dirty="0" smtClean="0"/>
          </a:p>
        </p:txBody>
      </p:sp>
    </p:spTree>
    <p:extLst>
      <p:ext uri="{BB962C8B-B14F-4D97-AF65-F5344CB8AC3E}">
        <p14:creationId xmlns:p14="http://schemas.microsoft.com/office/powerpoint/2010/main" val="32701989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762000"/>
          </a:xfrm>
        </p:spPr>
        <p:txBody>
          <a:bodyPr>
            <a:normAutofit/>
          </a:bodyPr>
          <a:lstStyle/>
          <a:p>
            <a:pPr algn="ctr"/>
            <a:r>
              <a:rPr lang="en-US" sz="3600" b="1" dirty="0" err="1" smtClean="0"/>
              <a:t>Numpy</a:t>
            </a:r>
            <a:endParaRPr lang="en-US" sz="3600" b="1" dirty="0"/>
          </a:p>
        </p:txBody>
      </p:sp>
      <p:sp>
        <p:nvSpPr>
          <p:cNvPr id="3" name="Content Placeholder 2"/>
          <p:cNvSpPr>
            <a:spLocks noGrp="1"/>
          </p:cNvSpPr>
          <p:nvPr>
            <p:ph sz="quarter" idx="1"/>
          </p:nvPr>
        </p:nvSpPr>
        <p:spPr>
          <a:xfrm>
            <a:off x="457200" y="1066800"/>
            <a:ext cx="7467600" cy="5562600"/>
          </a:xfrm>
        </p:spPr>
        <p:txBody>
          <a:bodyPr>
            <a:normAutofit/>
          </a:bodyPr>
          <a:lstStyle/>
          <a:p>
            <a:r>
              <a:rPr lang="en-US" dirty="0"/>
              <a:t>Create an alias with the as keyword while importing</a:t>
            </a:r>
            <a:r>
              <a:rPr lang="en-US" dirty="0" smtClean="0"/>
              <a:t>:</a:t>
            </a:r>
          </a:p>
          <a:p>
            <a:endParaRPr lang="en-US" dirty="0" smtClean="0"/>
          </a:p>
          <a:p>
            <a:r>
              <a:rPr lang="en-US" dirty="0"/>
              <a:t>Now the </a:t>
            </a:r>
            <a:r>
              <a:rPr lang="en-US" dirty="0" err="1"/>
              <a:t>NumPy</a:t>
            </a:r>
            <a:r>
              <a:rPr lang="en-US" dirty="0"/>
              <a:t> </a:t>
            </a:r>
            <a:r>
              <a:rPr lang="en-US" dirty="0" smtClean="0"/>
              <a:t>package </a:t>
            </a:r>
            <a:r>
              <a:rPr lang="en-US" dirty="0"/>
              <a:t>can be referred to as </a:t>
            </a:r>
            <a:r>
              <a:rPr lang="en-US" dirty="0" err="1"/>
              <a:t>np</a:t>
            </a:r>
            <a:r>
              <a:rPr lang="en-US" dirty="0"/>
              <a:t> instead of </a:t>
            </a:r>
            <a:r>
              <a:rPr lang="en-US" dirty="0" err="1"/>
              <a:t>numpy</a:t>
            </a:r>
            <a:r>
              <a:rPr lang="en-US" dirty="0" smtClean="0"/>
              <a:t>.</a:t>
            </a:r>
          </a:p>
          <a:p>
            <a:endParaRPr lang="en-US" dirty="0"/>
          </a:p>
          <a:p>
            <a:r>
              <a:rPr lang="en-US" dirty="0" smtClean="0"/>
              <a:t>Example:</a:t>
            </a:r>
          </a:p>
          <a:p>
            <a:pPr marL="0" indent="0">
              <a:buNone/>
            </a:pPr>
            <a:r>
              <a:rPr lang="en-US" dirty="0"/>
              <a:t>import </a:t>
            </a:r>
            <a:r>
              <a:rPr lang="en-US" dirty="0" err="1"/>
              <a:t>numpy</a:t>
            </a:r>
            <a:r>
              <a:rPr lang="en-US" dirty="0"/>
              <a:t> as </a:t>
            </a:r>
            <a:r>
              <a:rPr lang="en-US" dirty="0" err="1"/>
              <a:t>np</a:t>
            </a:r>
            <a:r>
              <a:rPr lang="en-US" dirty="0"/>
              <a:t/>
            </a:r>
            <a:br>
              <a:rPr lang="en-US" dirty="0"/>
            </a:br>
            <a:endParaRPr lang="en-US" dirty="0" smtClean="0"/>
          </a:p>
          <a:p>
            <a:pPr marL="0" indent="0">
              <a:buNone/>
            </a:pPr>
            <a:endParaRPr lang="en-US" dirty="0" smtClean="0"/>
          </a:p>
          <a:p>
            <a:pPr marL="0" indent="0">
              <a:buNone/>
            </a:pPr>
            <a:endParaRPr lang="en-US" dirty="0" smtClean="0"/>
          </a:p>
        </p:txBody>
      </p:sp>
    </p:spTree>
    <p:extLst>
      <p:ext uri="{BB962C8B-B14F-4D97-AF65-F5344CB8AC3E}">
        <p14:creationId xmlns:p14="http://schemas.microsoft.com/office/powerpoint/2010/main" val="202126570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762000"/>
          </a:xfrm>
        </p:spPr>
        <p:txBody>
          <a:bodyPr>
            <a:normAutofit/>
          </a:bodyPr>
          <a:lstStyle/>
          <a:p>
            <a:pPr algn="ctr"/>
            <a:r>
              <a:rPr lang="en-US" sz="3600" b="1" dirty="0"/>
              <a:t> </a:t>
            </a:r>
            <a:r>
              <a:rPr lang="en-US" sz="3600" b="1" dirty="0" err="1"/>
              <a:t>NumPy</a:t>
            </a:r>
            <a:r>
              <a:rPr lang="en-US" sz="3600" b="1" dirty="0"/>
              <a:t> </a:t>
            </a:r>
            <a:r>
              <a:rPr lang="en-US" sz="3600" b="1" dirty="0" err="1"/>
              <a:t>ndarray</a:t>
            </a:r>
            <a:r>
              <a:rPr lang="en-US" sz="3600" b="1" dirty="0"/>
              <a:t> Object</a:t>
            </a:r>
          </a:p>
        </p:txBody>
      </p:sp>
      <p:sp>
        <p:nvSpPr>
          <p:cNvPr id="3" name="Content Placeholder 2"/>
          <p:cNvSpPr>
            <a:spLocks noGrp="1"/>
          </p:cNvSpPr>
          <p:nvPr>
            <p:ph sz="quarter" idx="1"/>
          </p:nvPr>
        </p:nvSpPr>
        <p:spPr>
          <a:xfrm>
            <a:off x="457200" y="1066800"/>
            <a:ext cx="7467600" cy="5562600"/>
          </a:xfrm>
        </p:spPr>
        <p:txBody>
          <a:bodyPr>
            <a:normAutofit lnSpcReduction="10000"/>
          </a:bodyPr>
          <a:lstStyle/>
          <a:p>
            <a:r>
              <a:rPr lang="en-US" dirty="0" err="1"/>
              <a:t>Ndarray</a:t>
            </a:r>
            <a:r>
              <a:rPr lang="en-US" dirty="0"/>
              <a:t> is the n-dimensional array object defined in the </a:t>
            </a:r>
            <a:r>
              <a:rPr lang="en-US" dirty="0" err="1"/>
              <a:t>numpy</a:t>
            </a:r>
            <a:r>
              <a:rPr lang="en-US" dirty="0"/>
              <a:t> which stores the collection of the similar type of elements. In other words, we can define a </a:t>
            </a:r>
            <a:r>
              <a:rPr lang="en-US" dirty="0" err="1"/>
              <a:t>ndarray</a:t>
            </a:r>
            <a:r>
              <a:rPr lang="en-US" dirty="0"/>
              <a:t> as the collection of the data type (</a:t>
            </a:r>
            <a:r>
              <a:rPr lang="en-US" dirty="0" err="1"/>
              <a:t>dtype</a:t>
            </a:r>
            <a:r>
              <a:rPr lang="en-US" dirty="0"/>
              <a:t>) objects</a:t>
            </a:r>
            <a:r>
              <a:rPr lang="en-US" dirty="0" smtClean="0"/>
              <a:t>.</a:t>
            </a:r>
          </a:p>
          <a:p>
            <a:endParaRPr lang="en-US" dirty="0" smtClean="0"/>
          </a:p>
          <a:p>
            <a:r>
              <a:rPr lang="en-US" dirty="0"/>
              <a:t>The </a:t>
            </a:r>
            <a:r>
              <a:rPr lang="en-US" dirty="0" err="1"/>
              <a:t>ndarray</a:t>
            </a:r>
            <a:r>
              <a:rPr lang="en-US" dirty="0"/>
              <a:t> object can be accessed by using the 0 based indexing. Each element of the Array object contains the same size in the memory</a:t>
            </a:r>
            <a:r>
              <a:rPr lang="en-US" dirty="0" smtClean="0"/>
              <a:t>.</a:t>
            </a:r>
          </a:p>
          <a:p>
            <a:endParaRPr lang="en-US" dirty="0" smtClean="0"/>
          </a:p>
          <a:p>
            <a:r>
              <a:rPr lang="en-US" dirty="0"/>
              <a:t>The </a:t>
            </a:r>
            <a:r>
              <a:rPr lang="en-US" dirty="0" err="1"/>
              <a:t>ndarray</a:t>
            </a:r>
            <a:r>
              <a:rPr lang="en-US" dirty="0"/>
              <a:t> object can be created by using the array routine of the </a:t>
            </a:r>
            <a:r>
              <a:rPr lang="en-US" dirty="0" err="1"/>
              <a:t>numpy</a:t>
            </a:r>
            <a:r>
              <a:rPr lang="en-US" dirty="0"/>
              <a:t> module</a:t>
            </a:r>
            <a:r>
              <a:rPr lang="en-US" dirty="0" smtClean="0"/>
              <a:t>.</a:t>
            </a:r>
          </a:p>
          <a:p>
            <a:endParaRPr lang="en-US" dirty="0" smtClean="0"/>
          </a:p>
          <a:p>
            <a:r>
              <a:rPr lang="en-US" dirty="0"/>
              <a:t>a = </a:t>
            </a:r>
            <a:r>
              <a:rPr lang="en-US" dirty="0" err="1"/>
              <a:t>numpy.array</a:t>
            </a:r>
            <a:endParaRPr lang="en-US" dirty="0" smtClean="0"/>
          </a:p>
          <a:p>
            <a:pPr marL="0" indent="0">
              <a:buNone/>
            </a:pPr>
            <a:endParaRPr lang="en-US" dirty="0" smtClean="0"/>
          </a:p>
        </p:txBody>
      </p:sp>
    </p:spTree>
    <p:extLst>
      <p:ext uri="{BB962C8B-B14F-4D97-AF65-F5344CB8AC3E}">
        <p14:creationId xmlns:p14="http://schemas.microsoft.com/office/powerpoint/2010/main" val="18669433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762000"/>
          </a:xfrm>
        </p:spPr>
        <p:txBody>
          <a:bodyPr>
            <a:normAutofit/>
          </a:bodyPr>
          <a:lstStyle/>
          <a:p>
            <a:pPr algn="ctr"/>
            <a:r>
              <a:rPr lang="en-US" sz="3600" b="1" dirty="0"/>
              <a:t> 1</a:t>
            </a:r>
            <a:r>
              <a:rPr lang="en-US" sz="3600" b="1" dirty="0" smtClean="0"/>
              <a:t>-D Array</a:t>
            </a:r>
            <a:endParaRPr lang="en-US" sz="3600" b="1" dirty="0"/>
          </a:p>
        </p:txBody>
      </p:sp>
      <p:sp>
        <p:nvSpPr>
          <p:cNvPr id="3" name="Content Placeholder 2"/>
          <p:cNvSpPr>
            <a:spLocks noGrp="1"/>
          </p:cNvSpPr>
          <p:nvPr>
            <p:ph sz="quarter" idx="1"/>
          </p:nvPr>
        </p:nvSpPr>
        <p:spPr>
          <a:xfrm>
            <a:off x="457200" y="1066800"/>
            <a:ext cx="7467600" cy="5562600"/>
          </a:xfrm>
        </p:spPr>
        <p:txBody>
          <a:bodyPr>
            <a:normAutofit lnSpcReduction="10000"/>
          </a:bodyPr>
          <a:lstStyle/>
          <a:p>
            <a:r>
              <a:rPr lang="en-US" dirty="0" smtClean="0"/>
              <a:t>To create an array using the list, use the following syntax.</a:t>
            </a:r>
          </a:p>
          <a:p>
            <a:r>
              <a:rPr lang="en-US" dirty="0" smtClean="0"/>
              <a:t>This </a:t>
            </a:r>
            <a:r>
              <a:rPr lang="en-US" dirty="0"/>
              <a:t>is </a:t>
            </a:r>
            <a:r>
              <a:rPr lang="en-US" dirty="0" smtClean="0"/>
              <a:t>an example of </a:t>
            </a:r>
            <a:r>
              <a:rPr lang="en-US" b="1" dirty="0" err="1" smtClean="0"/>
              <a:t>uni</a:t>
            </a:r>
            <a:r>
              <a:rPr lang="en-US" b="1" dirty="0" smtClean="0"/>
              <a:t>-dimensional</a:t>
            </a:r>
            <a:r>
              <a:rPr lang="en-US" dirty="0" smtClean="0"/>
              <a:t> </a:t>
            </a:r>
            <a:r>
              <a:rPr lang="en-US" dirty="0"/>
              <a:t>or </a:t>
            </a:r>
            <a:r>
              <a:rPr lang="en-US" b="1" dirty="0"/>
              <a:t>1-D array</a:t>
            </a:r>
            <a:r>
              <a:rPr lang="en-US" dirty="0"/>
              <a:t>.</a:t>
            </a:r>
            <a:endParaRPr lang="en-US" dirty="0" smtClean="0"/>
          </a:p>
          <a:p>
            <a:endParaRPr lang="en-US" dirty="0" smtClean="0"/>
          </a:p>
          <a:p>
            <a:r>
              <a:rPr lang="en-US" dirty="0" smtClean="0"/>
              <a:t>Example:</a:t>
            </a:r>
          </a:p>
          <a:p>
            <a:pPr marL="0" indent="0">
              <a:buNone/>
            </a:pPr>
            <a:r>
              <a:rPr lang="en-US" dirty="0"/>
              <a:t>import </a:t>
            </a:r>
            <a:r>
              <a:rPr lang="en-US" dirty="0" err="1"/>
              <a:t>numpy</a:t>
            </a:r>
            <a:r>
              <a:rPr lang="en-US" dirty="0"/>
              <a:t> as </a:t>
            </a:r>
            <a:r>
              <a:rPr lang="en-US" dirty="0" err="1" smtClean="0"/>
              <a:t>np</a:t>
            </a:r>
            <a:r>
              <a:rPr lang="en-US" dirty="0"/>
              <a:t/>
            </a:r>
            <a:br>
              <a:rPr lang="en-US" dirty="0"/>
            </a:br>
            <a:r>
              <a:rPr lang="en-US" dirty="0" err="1"/>
              <a:t>arr</a:t>
            </a:r>
            <a:r>
              <a:rPr lang="en-US" dirty="0"/>
              <a:t> = </a:t>
            </a:r>
            <a:r>
              <a:rPr lang="en-US" dirty="0" err="1"/>
              <a:t>np.array</a:t>
            </a:r>
            <a:r>
              <a:rPr lang="en-US" dirty="0"/>
              <a:t>([1, 2, 3, 4, 5</a:t>
            </a:r>
            <a:r>
              <a:rPr lang="en-US" dirty="0" smtClean="0"/>
              <a:t>])</a:t>
            </a:r>
            <a:r>
              <a:rPr lang="en-US" dirty="0"/>
              <a:t/>
            </a:r>
            <a:br>
              <a:rPr lang="en-US" dirty="0"/>
            </a:br>
            <a:r>
              <a:rPr lang="en-US" dirty="0"/>
              <a:t>print(</a:t>
            </a:r>
            <a:r>
              <a:rPr lang="en-US" dirty="0" err="1"/>
              <a:t>arr</a:t>
            </a:r>
            <a:r>
              <a:rPr lang="en-US" dirty="0" smtClean="0"/>
              <a:t>)</a:t>
            </a:r>
            <a:r>
              <a:rPr lang="en-US" dirty="0"/>
              <a:t/>
            </a:r>
            <a:br>
              <a:rPr lang="en-US" dirty="0"/>
            </a:br>
            <a:r>
              <a:rPr lang="en-US" dirty="0"/>
              <a:t>print(type(</a:t>
            </a:r>
            <a:r>
              <a:rPr lang="en-US" dirty="0" err="1"/>
              <a:t>arr</a:t>
            </a:r>
            <a:r>
              <a:rPr lang="en-US" dirty="0" smtClean="0"/>
              <a:t>))</a:t>
            </a:r>
          </a:p>
          <a:p>
            <a:pPr marL="0" indent="0">
              <a:buNone/>
            </a:pPr>
            <a:endParaRPr lang="en-US" dirty="0" smtClean="0"/>
          </a:p>
          <a:p>
            <a:r>
              <a:rPr lang="en-US" dirty="0" smtClean="0"/>
              <a:t>Output: [1 2 3 4 5]</a:t>
            </a:r>
          </a:p>
          <a:p>
            <a:pPr marL="0" indent="0">
              <a:buNone/>
            </a:pPr>
            <a:r>
              <a:rPr lang="en-US" dirty="0" smtClean="0"/>
              <a:t>                  &lt;class ‘</a:t>
            </a:r>
            <a:r>
              <a:rPr lang="en-US" dirty="0" err="1" smtClean="0"/>
              <a:t>numpy.ndarray</a:t>
            </a:r>
            <a:r>
              <a:rPr lang="en-US" dirty="0" smtClean="0"/>
              <a:t>’&gt;</a:t>
            </a:r>
          </a:p>
          <a:p>
            <a:pPr marL="0" indent="0">
              <a:buNone/>
            </a:pPr>
            <a:r>
              <a:rPr lang="en-US" dirty="0" smtClean="0"/>
              <a:t>	       </a:t>
            </a:r>
          </a:p>
          <a:p>
            <a:pPr marL="0" indent="0">
              <a:buNone/>
            </a:pPr>
            <a:endParaRPr lang="en-US" dirty="0" smtClean="0"/>
          </a:p>
          <a:p>
            <a:pPr marL="0" indent="0">
              <a:buNone/>
            </a:pPr>
            <a:endParaRPr lang="en-US" dirty="0" smtClean="0"/>
          </a:p>
        </p:txBody>
      </p:sp>
    </p:spTree>
    <p:extLst>
      <p:ext uri="{BB962C8B-B14F-4D97-AF65-F5344CB8AC3E}">
        <p14:creationId xmlns:p14="http://schemas.microsoft.com/office/powerpoint/2010/main" val="780277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762000"/>
          </a:xfrm>
        </p:spPr>
        <p:txBody>
          <a:bodyPr>
            <a:normAutofit/>
          </a:bodyPr>
          <a:lstStyle/>
          <a:p>
            <a:pPr algn="ctr"/>
            <a:r>
              <a:rPr lang="en-US" sz="3600" b="1" dirty="0"/>
              <a:t> </a:t>
            </a:r>
            <a:r>
              <a:rPr lang="en-US" sz="3600" b="1" dirty="0" smtClean="0"/>
              <a:t>2-D Array</a:t>
            </a:r>
            <a:endParaRPr lang="en-US" sz="3600" b="1" dirty="0"/>
          </a:p>
        </p:txBody>
      </p:sp>
      <p:sp>
        <p:nvSpPr>
          <p:cNvPr id="3" name="Content Placeholder 2"/>
          <p:cNvSpPr>
            <a:spLocks noGrp="1"/>
          </p:cNvSpPr>
          <p:nvPr>
            <p:ph sz="quarter" idx="1"/>
          </p:nvPr>
        </p:nvSpPr>
        <p:spPr>
          <a:xfrm>
            <a:off x="457200" y="1066800"/>
            <a:ext cx="7467600" cy="5562600"/>
          </a:xfrm>
        </p:spPr>
        <p:txBody>
          <a:bodyPr>
            <a:normAutofit/>
          </a:bodyPr>
          <a:lstStyle/>
          <a:p>
            <a:r>
              <a:rPr lang="en-US" dirty="0"/>
              <a:t>A</a:t>
            </a:r>
            <a:r>
              <a:rPr lang="en-US" dirty="0" smtClean="0"/>
              <a:t>rray </a:t>
            </a:r>
            <a:r>
              <a:rPr lang="en-US" dirty="0"/>
              <a:t>containing two </a:t>
            </a:r>
            <a:r>
              <a:rPr lang="en-US" dirty="0" smtClean="0"/>
              <a:t>arrays are known as </a:t>
            </a:r>
            <a:r>
              <a:rPr lang="en-US" b="1" dirty="0" smtClean="0"/>
              <a:t>2-D Array</a:t>
            </a:r>
            <a:r>
              <a:rPr lang="en-US" dirty="0" smtClean="0"/>
              <a:t>.</a:t>
            </a:r>
          </a:p>
          <a:p>
            <a:endParaRPr lang="en-US" dirty="0" smtClean="0"/>
          </a:p>
          <a:p>
            <a:r>
              <a:rPr lang="en-US" dirty="0" smtClean="0"/>
              <a:t>Example:</a:t>
            </a:r>
          </a:p>
          <a:p>
            <a:pPr marL="0" indent="0">
              <a:buNone/>
            </a:pPr>
            <a:r>
              <a:rPr lang="en-US" dirty="0"/>
              <a:t>import </a:t>
            </a:r>
            <a:r>
              <a:rPr lang="en-US" dirty="0" err="1"/>
              <a:t>numpy</a:t>
            </a:r>
            <a:r>
              <a:rPr lang="en-US" dirty="0"/>
              <a:t> as </a:t>
            </a:r>
            <a:r>
              <a:rPr lang="en-US" dirty="0" err="1" smtClean="0"/>
              <a:t>np</a:t>
            </a:r>
            <a:r>
              <a:rPr lang="en-US" dirty="0"/>
              <a:t/>
            </a:r>
            <a:br>
              <a:rPr lang="en-US" dirty="0"/>
            </a:br>
            <a:r>
              <a:rPr lang="en-US" dirty="0" err="1"/>
              <a:t>arr</a:t>
            </a:r>
            <a:r>
              <a:rPr lang="en-US" dirty="0"/>
              <a:t> = </a:t>
            </a:r>
            <a:r>
              <a:rPr lang="en-US" dirty="0" err="1"/>
              <a:t>np.array</a:t>
            </a:r>
            <a:r>
              <a:rPr lang="en-US" dirty="0"/>
              <a:t>([[1, 2, 3], [4, 5, 6</a:t>
            </a:r>
            <a:r>
              <a:rPr lang="en-US" dirty="0" smtClean="0"/>
              <a:t>]])</a:t>
            </a:r>
          </a:p>
          <a:p>
            <a:pPr marL="0" indent="0">
              <a:buNone/>
            </a:pPr>
            <a:r>
              <a:rPr lang="en-US" dirty="0" smtClean="0"/>
              <a:t>print(</a:t>
            </a:r>
            <a:r>
              <a:rPr lang="en-US" dirty="0" err="1" smtClean="0"/>
              <a:t>arr</a:t>
            </a:r>
            <a:r>
              <a:rPr lang="en-US" dirty="0" smtClean="0"/>
              <a:t>)</a:t>
            </a:r>
            <a:r>
              <a:rPr lang="en-US" dirty="0"/>
              <a:t/>
            </a:r>
            <a:br>
              <a:rPr lang="en-US" dirty="0"/>
            </a:br>
            <a:r>
              <a:rPr lang="en-US" dirty="0"/>
              <a:t>print(type(</a:t>
            </a:r>
            <a:r>
              <a:rPr lang="en-US" dirty="0" err="1"/>
              <a:t>arr</a:t>
            </a:r>
            <a:r>
              <a:rPr lang="en-US" dirty="0" smtClean="0"/>
              <a:t>))</a:t>
            </a:r>
          </a:p>
          <a:p>
            <a:pPr marL="0" indent="0">
              <a:buNone/>
            </a:pPr>
            <a:endParaRPr lang="en-US" dirty="0" smtClean="0"/>
          </a:p>
          <a:p>
            <a:r>
              <a:rPr lang="en-US" dirty="0" smtClean="0"/>
              <a:t>Output: [[1 2 3]</a:t>
            </a:r>
          </a:p>
          <a:p>
            <a:pPr marL="0" indent="0">
              <a:buNone/>
            </a:pPr>
            <a:r>
              <a:rPr lang="en-US" dirty="0"/>
              <a:t> </a:t>
            </a:r>
            <a:r>
              <a:rPr lang="en-US" dirty="0" smtClean="0"/>
              <a:t>                  [4 5 6]]</a:t>
            </a:r>
          </a:p>
          <a:p>
            <a:pPr marL="0" indent="0">
              <a:buNone/>
            </a:pPr>
            <a:r>
              <a:rPr lang="en-US" dirty="0" smtClean="0"/>
              <a:t>                  &lt;class ‘</a:t>
            </a:r>
            <a:r>
              <a:rPr lang="en-US" dirty="0" err="1" smtClean="0"/>
              <a:t>numpy.ndarray</a:t>
            </a:r>
            <a:r>
              <a:rPr lang="en-US" dirty="0" smtClean="0"/>
              <a:t>’&gt;</a:t>
            </a:r>
          </a:p>
          <a:p>
            <a:pPr marL="0" indent="0">
              <a:buNone/>
            </a:pPr>
            <a:r>
              <a:rPr lang="en-US" dirty="0" smtClean="0"/>
              <a:t>	       </a:t>
            </a:r>
          </a:p>
          <a:p>
            <a:pPr marL="0" indent="0">
              <a:buNone/>
            </a:pPr>
            <a:endParaRPr lang="en-US" dirty="0" smtClean="0"/>
          </a:p>
          <a:p>
            <a:pPr marL="0" indent="0">
              <a:buNone/>
            </a:pPr>
            <a:endParaRPr lang="en-US" dirty="0" smtClean="0"/>
          </a:p>
        </p:txBody>
      </p:sp>
    </p:spTree>
    <p:extLst>
      <p:ext uri="{BB962C8B-B14F-4D97-AF65-F5344CB8AC3E}">
        <p14:creationId xmlns:p14="http://schemas.microsoft.com/office/powerpoint/2010/main" val="61097636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 3</a:t>
            </a:r>
            <a:r>
              <a:rPr lang="en-US" sz="3600" b="1" dirty="0" smtClean="0"/>
              <a:t>-D Array</a:t>
            </a:r>
            <a:endParaRPr lang="en-US" sz="3600" b="1" dirty="0"/>
          </a:p>
        </p:txBody>
      </p:sp>
      <p:sp>
        <p:nvSpPr>
          <p:cNvPr id="3" name="Content Placeholder 2"/>
          <p:cNvSpPr>
            <a:spLocks noGrp="1"/>
          </p:cNvSpPr>
          <p:nvPr>
            <p:ph sz="quarter" idx="1"/>
          </p:nvPr>
        </p:nvSpPr>
        <p:spPr>
          <a:xfrm>
            <a:off x="457200" y="914400"/>
            <a:ext cx="7467600" cy="5867400"/>
          </a:xfrm>
        </p:spPr>
        <p:txBody>
          <a:bodyPr>
            <a:normAutofit fontScale="85000" lnSpcReduction="10000"/>
          </a:bodyPr>
          <a:lstStyle/>
          <a:p>
            <a:r>
              <a:rPr lang="en-US" dirty="0"/>
              <a:t>An array that has 2-D arrays (matrices) as its elements is called </a:t>
            </a:r>
            <a:r>
              <a:rPr lang="en-US" b="1" dirty="0"/>
              <a:t>3-D array</a:t>
            </a:r>
            <a:r>
              <a:rPr lang="en-US" dirty="0" smtClean="0"/>
              <a:t>.</a:t>
            </a:r>
          </a:p>
          <a:p>
            <a:endParaRPr lang="en-US" dirty="0"/>
          </a:p>
          <a:p>
            <a:r>
              <a:rPr lang="en-US" dirty="0"/>
              <a:t>These are often used to represent a </a:t>
            </a:r>
            <a:r>
              <a:rPr lang="en-US" b="1" dirty="0"/>
              <a:t>3rd order </a:t>
            </a:r>
            <a:r>
              <a:rPr lang="en-US" b="1" dirty="0" smtClean="0"/>
              <a:t>tensor</a:t>
            </a:r>
            <a:r>
              <a:rPr lang="en-US" dirty="0" smtClean="0"/>
              <a:t>.</a:t>
            </a:r>
          </a:p>
          <a:p>
            <a:endParaRPr lang="en-US" dirty="0" smtClean="0"/>
          </a:p>
          <a:p>
            <a:r>
              <a:rPr lang="en-US" dirty="0" smtClean="0"/>
              <a:t>Example:</a:t>
            </a:r>
          </a:p>
          <a:p>
            <a:pPr marL="0" indent="0">
              <a:buNone/>
            </a:pPr>
            <a:r>
              <a:rPr lang="en-US" dirty="0"/>
              <a:t>import </a:t>
            </a:r>
            <a:r>
              <a:rPr lang="en-US" dirty="0" err="1"/>
              <a:t>numpy</a:t>
            </a:r>
            <a:r>
              <a:rPr lang="en-US" dirty="0"/>
              <a:t> as </a:t>
            </a:r>
            <a:r>
              <a:rPr lang="en-US" dirty="0" err="1" smtClean="0"/>
              <a:t>np</a:t>
            </a:r>
            <a:r>
              <a:rPr lang="en-US" dirty="0"/>
              <a:t/>
            </a:r>
            <a:br>
              <a:rPr lang="en-US" dirty="0"/>
            </a:br>
            <a:r>
              <a:rPr lang="en-US" dirty="0" err="1"/>
              <a:t>arr</a:t>
            </a:r>
            <a:r>
              <a:rPr lang="en-US" dirty="0"/>
              <a:t> = </a:t>
            </a:r>
            <a:r>
              <a:rPr lang="en-US" dirty="0" err="1"/>
              <a:t>np.array</a:t>
            </a:r>
            <a:r>
              <a:rPr lang="en-US" dirty="0"/>
              <a:t>([[[1, 2, 3], [4, 5, 6]], [[1, 2, 3], [4, 5, 6]]])</a:t>
            </a:r>
            <a:endParaRPr lang="en-US" dirty="0" smtClean="0"/>
          </a:p>
          <a:p>
            <a:pPr marL="0" indent="0">
              <a:buNone/>
            </a:pPr>
            <a:r>
              <a:rPr lang="en-US" dirty="0" smtClean="0"/>
              <a:t>print(</a:t>
            </a:r>
            <a:r>
              <a:rPr lang="en-US" dirty="0" err="1" smtClean="0"/>
              <a:t>arr</a:t>
            </a:r>
            <a:r>
              <a:rPr lang="en-US" dirty="0" smtClean="0"/>
              <a:t>)</a:t>
            </a:r>
            <a:r>
              <a:rPr lang="en-US" dirty="0"/>
              <a:t/>
            </a:r>
            <a:br>
              <a:rPr lang="en-US" dirty="0"/>
            </a:br>
            <a:r>
              <a:rPr lang="en-US" dirty="0"/>
              <a:t>print(type(</a:t>
            </a:r>
            <a:r>
              <a:rPr lang="en-US" dirty="0" err="1"/>
              <a:t>arr</a:t>
            </a:r>
            <a:r>
              <a:rPr lang="en-US" dirty="0" smtClean="0"/>
              <a:t>))</a:t>
            </a:r>
          </a:p>
          <a:p>
            <a:pPr marL="0" indent="0">
              <a:buNone/>
            </a:pPr>
            <a:endParaRPr lang="en-US" dirty="0" smtClean="0"/>
          </a:p>
          <a:p>
            <a:r>
              <a:rPr lang="en-US" dirty="0" smtClean="0"/>
              <a:t>Output: [[1 2 3]</a:t>
            </a:r>
          </a:p>
          <a:p>
            <a:pPr marL="0" indent="0">
              <a:buNone/>
            </a:pPr>
            <a:r>
              <a:rPr lang="en-US" dirty="0"/>
              <a:t> </a:t>
            </a:r>
            <a:r>
              <a:rPr lang="en-US" dirty="0" smtClean="0"/>
              <a:t>                  [4 5 6]]</a:t>
            </a:r>
          </a:p>
          <a:p>
            <a:pPr marL="0" indent="0">
              <a:buNone/>
            </a:pPr>
            <a:endParaRPr lang="en-US" dirty="0"/>
          </a:p>
          <a:p>
            <a:pPr marL="0" indent="0">
              <a:buNone/>
            </a:pPr>
            <a:r>
              <a:rPr lang="en-US" dirty="0"/>
              <a:t>	 </a:t>
            </a:r>
            <a:r>
              <a:rPr lang="en-US" dirty="0" smtClean="0"/>
              <a:t>     [[</a:t>
            </a:r>
            <a:r>
              <a:rPr lang="en-US" dirty="0"/>
              <a:t>1 2 3]</a:t>
            </a:r>
          </a:p>
          <a:p>
            <a:pPr marL="0" indent="0">
              <a:buNone/>
            </a:pPr>
            <a:r>
              <a:rPr lang="en-US" dirty="0"/>
              <a:t>                   [4 5 6</a:t>
            </a:r>
            <a:r>
              <a:rPr lang="en-US" dirty="0" smtClean="0"/>
              <a:t>]]</a:t>
            </a:r>
          </a:p>
          <a:p>
            <a:pPr marL="0" indent="0">
              <a:buNone/>
            </a:pPr>
            <a:r>
              <a:rPr lang="en-US" dirty="0" smtClean="0"/>
              <a:t>                  &lt;class ‘</a:t>
            </a:r>
            <a:r>
              <a:rPr lang="en-US" dirty="0" err="1" smtClean="0"/>
              <a:t>numpy.ndarray</a:t>
            </a:r>
            <a:r>
              <a:rPr lang="en-US" dirty="0" smtClean="0"/>
              <a:t>’&gt;</a:t>
            </a:r>
          </a:p>
          <a:p>
            <a:pPr marL="0" indent="0">
              <a:buNone/>
            </a:pPr>
            <a:endParaRPr lang="en-US" dirty="0" smtClean="0"/>
          </a:p>
          <a:p>
            <a:pPr marL="0" indent="0">
              <a:buNone/>
            </a:pPr>
            <a:endParaRPr lang="en-US" dirty="0" smtClean="0"/>
          </a:p>
        </p:txBody>
      </p:sp>
    </p:spTree>
    <p:extLst>
      <p:ext uri="{BB962C8B-B14F-4D97-AF65-F5344CB8AC3E}">
        <p14:creationId xmlns:p14="http://schemas.microsoft.com/office/powerpoint/2010/main" val="1539451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 </a:t>
            </a:r>
            <a:r>
              <a:rPr lang="en-US" sz="3600" b="1" dirty="0" smtClean="0"/>
              <a:t>Array Indexing</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a:t>Array indexing is the same as accessing an array element</a:t>
            </a:r>
            <a:r>
              <a:rPr lang="en-US" dirty="0" smtClean="0"/>
              <a:t>.</a:t>
            </a:r>
            <a:endParaRPr lang="en-US" dirty="0"/>
          </a:p>
          <a:p>
            <a:r>
              <a:rPr lang="en-US" dirty="0"/>
              <a:t>You can access an array element by referring to its index number</a:t>
            </a:r>
            <a:r>
              <a:rPr lang="en-US" dirty="0" smtClean="0"/>
              <a:t>.</a:t>
            </a:r>
            <a:endParaRPr lang="en-US" dirty="0"/>
          </a:p>
          <a:p>
            <a:r>
              <a:rPr lang="en-US" dirty="0"/>
              <a:t>The indexes in </a:t>
            </a:r>
            <a:r>
              <a:rPr lang="en-US" dirty="0" err="1"/>
              <a:t>NumPy</a:t>
            </a:r>
            <a:r>
              <a:rPr lang="en-US" dirty="0"/>
              <a:t> arrays start with 0, meaning that the first element has index 0, and the second has index 1 etc</a:t>
            </a:r>
            <a:r>
              <a:rPr lang="en-US" dirty="0" smtClean="0"/>
              <a:t>.</a:t>
            </a:r>
          </a:p>
          <a:p>
            <a:endParaRPr lang="en-US" dirty="0"/>
          </a:p>
          <a:p>
            <a:r>
              <a:rPr lang="en-US" dirty="0" smtClean="0"/>
              <a:t>Example:</a:t>
            </a:r>
          </a:p>
          <a:p>
            <a:pPr marL="0" indent="0">
              <a:buNone/>
            </a:pPr>
            <a:r>
              <a:rPr lang="en-US" dirty="0" smtClean="0"/>
              <a:t>import</a:t>
            </a:r>
            <a:r>
              <a:rPr lang="en-US" dirty="0"/>
              <a:t> </a:t>
            </a:r>
            <a:r>
              <a:rPr lang="en-US" dirty="0" err="1"/>
              <a:t>numpy</a:t>
            </a:r>
            <a:r>
              <a:rPr lang="en-US" dirty="0"/>
              <a:t> as </a:t>
            </a:r>
            <a:r>
              <a:rPr lang="en-US" dirty="0" err="1" smtClean="0"/>
              <a:t>np</a:t>
            </a:r>
            <a:r>
              <a:rPr lang="en-US" dirty="0"/>
              <a:t/>
            </a:r>
            <a:br>
              <a:rPr lang="en-US" dirty="0"/>
            </a:br>
            <a:r>
              <a:rPr lang="en-US" dirty="0" err="1"/>
              <a:t>arr</a:t>
            </a:r>
            <a:r>
              <a:rPr lang="en-US" dirty="0"/>
              <a:t> = </a:t>
            </a:r>
            <a:r>
              <a:rPr lang="en-US" dirty="0" err="1"/>
              <a:t>np.array</a:t>
            </a:r>
            <a:r>
              <a:rPr lang="en-US" dirty="0"/>
              <a:t>([1, 2, 3, 4</a:t>
            </a:r>
            <a:r>
              <a:rPr lang="en-US" dirty="0" smtClean="0"/>
              <a:t>])</a:t>
            </a:r>
            <a:r>
              <a:rPr lang="en-US" dirty="0"/>
              <a:t/>
            </a:r>
            <a:br>
              <a:rPr lang="en-US" dirty="0"/>
            </a:br>
            <a:r>
              <a:rPr lang="en-US" dirty="0"/>
              <a:t>print(</a:t>
            </a:r>
            <a:r>
              <a:rPr lang="en-US" dirty="0" err="1"/>
              <a:t>arr</a:t>
            </a:r>
            <a:r>
              <a:rPr lang="en-US" dirty="0"/>
              <a:t>[0</a:t>
            </a:r>
            <a:r>
              <a:rPr lang="en-US" dirty="0" smtClean="0"/>
              <a:t>])</a:t>
            </a:r>
          </a:p>
          <a:p>
            <a:pPr marL="0" indent="0">
              <a:buNone/>
            </a:pPr>
            <a:endParaRPr lang="en-US" dirty="0" smtClean="0"/>
          </a:p>
          <a:p>
            <a:r>
              <a:rPr lang="en-US" dirty="0" smtClean="0"/>
              <a:t>Output: 1</a:t>
            </a:r>
          </a:p>
        </p:txBody>
      </p:sp>
    </p:spTree>
    <p:extLst>
      <p:ext uri="{BB962C8B-B14F-4D97-AF65-F5344CB8AC3E}">
        <p14:creationId xmlns:p14="http://schemas.microsoft.com/office/powerpoint/2010/main" val="11543739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 </a:t>
            </a:r>
            <a:r>
              <a:rPr lang="en-US" sz="3600" b="1" dirty="0" smtClean="0"/>
              <a:t>Array Indexing</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smtClean="0"/>
              <a:t>Example -1:</a:t>
            </a:r>
          </a:p>
          <a:p>
            <a:pPr marL="0" indent="0">
              <a:buNone/>
            </a:pPr>
            <a:r>
              <a:rPr lang="en-US" dirty="0"/>
              <a:t>import </a:t>
            </a:r>
            <a:r>
              <a:rPr lang="en-US" dirty="0" err="1"/>
              <a:t>numpy</a:t>
            </a:r>
            <a:r>
              <a:rPr lang="en-US" dirty="0"/>
              <a:t> as </a:t>
            </a:r>
            <a:r>
              <a:rPr lang="en-US" dirty="0" err="1" smtClean="0"/>
              <a:t>np</a:t>
            </a:r>
            <a:r>
              <a:rPr lang="en-US" dirty="0"/>
              <a:t/>
            </a:r>
            <a:br>
              <a:rPr lang="en-US" dirty="0"/>
            </a:br>
            <a:r>
              <a:rPr lang="en-US" dirty="0" err="1"/>
              <a:t>arr</a:t>
            </a:r>
            <a:r>
              <a:rPr lang="en-US" dirty="0"/>
              <a:t> = </a:t>
            </a:r>
            <a:r>
              <a:rPr lang="en-US" dirty="0" err="1"/>
              <a:t>np.array</a:t>
            </a:r>
            <a:r>
              <a:rPr lang="en-US" dirty="0"/>
              <a:t>([1, 2, 3, 4</a:t>
            </a:r>
            <a:r>
              <a:rPr lang="en-US" dirty="0" smtClean="0"/>
              <a:t>])</a:t>
            </a:r>
            <a:r>
              <a:rPr lang="en-US" dirty="0"/>
              <a:t/>
            </a:r>
            <a:br>
              <a:rPr lang="en-US" dirty="0"/>
            </a:br>
            <a:r>
              <a:rPr lang="en-US" dirty="0"/>
              <a:t>print(</a:t>
            </a:r>
            <a:r>
              <a:rPr lang="en-US" dirty="0" err="1"/>
              <a:t>arr</a:t>
            </a:r>
            <a:r>
              <a:rPr lang="en-US" dirty="0"/>
              <a:t>[2] + </a:t>
            </a:r>
            <a:r>
              <a:rPr lang="en-US" dirty="0" err="1"/>
              <a:t>arr</a:t>
            </a:r>
            <a:r>
              <a:rPr lang="en-US" dirty="0"/>
              <a:t>[3</a:t>
            </a:r>
            <a:r>
              <a:rPr lang="en-US" dirty="0" smtClean="0"/>
              <a:t>])</a:t>
            </a:r>
          </a:p>
          <a:p>
            <a:pPr marL="0" indent="0">
              <a:buNone/>
            </a:pPr>
            <a:endParaRPr lang="en-US" dirty="0" smtClean="0"/>
          </a:p>
          <a:p>
            <a:r>
              <a:rPr lang="en-US" dirty="0" smtClean="0"/>
              <a:t>Output: 7</a:t>
            </a:r>
          </a:p>
          <a:p>
            <a:endParaRPr lang="en-US" dirty="0" smtClean="0"/>
          </a:p>
          <a:p>
            <a:r>
              <a:rPr lang="en-US" dirty="0" smtClean="0"/>
              <a:t>Example - 2:</a:t>
            </a:r>
          </a:p>
          <a:p>
            <a:pPr marL="0" indent="0">
              <a:buNone/>
            </a:pPr>
            <a:r>
              <a:rPr lang="en-US" dirty="0"/>
              <a:t>import </a:t>
            </a:r>
            <a:r>
              <a:rPr lang="en-US" dirty="0" err="1"/>
              <a:t>numpy</a:t>
            </a:r>
            <a:r>
              <a:rPr lang="en-US" dirty="0"/>
              <a:t> as </a:t>
            </a:r>
            <a:r>
              <a:rPr lang="en-US" dirty="0" err="1" smtClean="0"/>
              <a:t>np</a:t>
            </a:r>
            <a:r>
              <a:rPr lang="en-US" dirty="0"/>
              <a:t/>
            </a:r>
            <a:br>
              <a:rPr lang="en-US" dirty="0"/>
            </a:br>
            <a:r>
              <a:rPr lang="en-US" dirty="0" err="1"/>
              <a:t>arr</a:t>
            </a:r>
            <a:r>
              <a:rPr lang="en-US" dirty="0"/>
              <a:t> = </a:t>
            </a:r>
            <a:r>
              <a:rPr lang="en-US" dirty="0" err="1"/>
              <a:t>np.array</a:t>
            </a:r>
            <a:r>
              <a:rPr lang="en-US" dirty="0"/>
              <a:t>([[1,2,3,4,5], [6,7,8,9,10</a:t>
            </a:r>
            <a:r>
              <a:rPr lang="en-US" dirty="0" smtClean="0"/>
              <a:t>]])</a:t>
            </a:r>
            <a:r>
              <a:rPr lang="en-US" dirty="0"/>
              <a:t/>
            </a:r>
            <a:br>
              <a:rPr lang="en-US" dirty="0"/>
            </a:br>
            <a:r>
              <a:rPr lang="en-US" dirty="0"/>
              <a:t>print('5th element on 2nd row: ', </a:t>
            </a:r>
            <a:r>
              <a:rPr lang="en-US" dirty="0" err="1"/>
              <a:t>arr</a:t>
            </a:r>
            <a:r>
              <a:rPr lang="en-US" dirty="0"/>
              <a:t>[1, 4])</a:t>
            </a:r>
            <a:endParaRPr lang="en-US" dirty="0" smtClean="0"/>
          </a:p>
          <a:p>
            <a:endParaRPr lang="en-US" dirty="0" smtClean="0"/>
          </a:p>
          <a:p>
            <a:r>
              <a:rPr lang="en-US" dirty="0" smtClean="0"/>
              <a:t>Output: 10</a:t>
            </a:r>
          </a:p>
        </p:txBody>
      </p:sp>
    </p:spTree>
    <p:extLst>
      <p:ext uri="{BB962C8B-B14F-4D97-AF65-F5344CB8AC3E}">
        <p14:creationId xmlns:p14="http://schemas.microsoft.com/office/powerpoint/2010/main" val="28301824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 </a:t>
            </a:r>
            <a:r>
              <a:rPr lang="en-US" sz="3600" b="1" dirty="0" smtClean="0"/>
              <a:t>Array Slicing</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a:t>Slicing in python means taking elements from one given index to another given index.</a:t>
            </a:r>
          </a:p>
          <a:p>
            <a:r>
              <a:rPr lang="en-US" dirty="0"/>
              <a:t>We pass slice instead of index like this: [</a:t>
            </a:r>
            <a:r>
              <a:rPr lang="en-US" i="1" dirty="0" err="1"/>
              <a:t>start</a:t>
            </a:r>
            <a:r>
              <a:rPr lang="en-US" dirty="0" err="1"/>
              <a:t>:</a:t>
            </a:r>
            <a:r>
              <a:rPr lang="en-US" i="1" dirty="0" err="1"/>
              <a:t>end</a:t>
            </a:r>
            <a:r>
              <a:rPr lang="en-US" dirty="0"/>
              <a:t>].</a:t>
            </a:r>
          </a:p>
          <a:p>
            <a:r>
              <a:rPr lang="en-US" dirty="0"/>
              <a:t>We can also define the step, like this: [</a:t>
            </a:r>
            <a:r>
              <a:rPr lang="en-US" i="1" dirty="0" err="1"/>
              <a:t>start</a:t>
            </a:r>
            <a:r>
              <a:rPr lang="en-US" dirty="0" err="1"/>
              <a:t>:</a:t>
            </a:r>
            <a:r>
              <a:rPr lang="en-US" i="1" dirty="0" err="1"/>
              <a:t>end</a:t>
            </a:r>
            <a:r>
              <a:rPr lang="en-US" dirty="0" err="1"/>
              <a:t>:</a:t>
            </a:r>
            <a:r>
              <a:rPr lang="en-US" i="1" dirty="0" err="1"/>
              <a:t>step</a:t>
            </a:r>
            <a:r>
              <a:rPr lang="en-US" dirty="0"/>
              <a:t>].</a:t>
            </a:r>
          </a:p>
          <a:p>
            <a:r>
              <a:rPr lang="en-US" dirty="0"/>
              <a:t>If we don't pass start its considered </a:t>
            </a:r>
            <a:r>
              <a:rPr lang="en-US" dirty="0" smtClean="0"/>
              <a:t>0.</a:t>
            </a:r>
            <a:endParaRPr lang="en-US" dirty="0"/>
          </a:p>
          <a:p>
            <a:r>
              <a:rPr lang="en-US" dirty="0"/>
              <a:t>If we don't pass end its considered length of array in that </a:t>
            </a:r>
            <a:r>
              <a:rPr lang="en-US" dirty="0" smtClean="0"/>
              <a:t>dimension.</a:t>
            </a:r>
            <a:endParaRPr lang="en-US" dirty="0"/>
          </a:p>
          <a:p>
            <a:r>
              <a:rPr lang="en-US" dirty="0"/>
              <a:t>If we don't pass step its considered </a:t>
            </a:r>
            <a:r>
              <a:rPr lang="en-US" dirty="0" smtClean="0"/>
              <a:t>1.</a:t>
            </a:r>
            <a:endParaRPr lang="en-US" dirty="0"/>
          </a:p>
        </p:txBody>
      </p:sp>
    </p:spTree>
    <p:extLst>
      <p:ext uri="{BB962C8B-B14F-4D97-AF65-F5344CB8AC3E}">
        <p14:creationId xmlns:p14="http://schemas.microsoft.com/office/powerpoint/2010/main" val="23134052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 </a:t>
            </a:r>
            <a:r>
              <a:rPr lang="en-US" sz="3600" b="1" dirty="0" smtClean="0"/>
              <a:t>Array Slicing</a:t>
            </a:r>
            <a:endParaRPr lang="en-US" sz="3600" b="1" dirty="0"/>
          </a:p>
        </p:txBody>
      </p:sp>
      <p:sp>
        <p:nvSpPr>
          <p:cNvPr id="3" name="Content Placeholder 2"/>
          <p:cNvSpPr>
            <a:spLocks noGrp="1"/>
          </p:cNvSpPr>
          <p:nvPr>
            <p:ph sz="quarter" idx="1"/>
          </p:nvPr>
        </p:nvSpPr>
        <p:spPr>
          <a:xfrm>
            <a:off x="457200" y="838200"/>
            <a:ext cx="7467600" cy="6019800"/>
          </a:xfrm>
        </p:spPr>
        <p:txBody>
          <a:bodyPr>
            <a:normAutofit/>
          </a:bodyPr>
          <a:lstStyle/>
          <a:p>
            <a:r>
              <a:rPr lang="en-US" dirty="0" smtClean="0"/>
              <a:t>Example - 1:</a:t>
            </a:r>
          </a:p>
          <a:p>
            <a:pPr marL="0" indent="0">
              <a:buNone/>
            </a:pPr>
            <a:r>
              <a:rPr lang="en-US" dirty="0" smtClean="0"/>
              <a:t>import</a:t>
            </a:r>
            <a:r>
              <a:rPr lang="en-US" dirty="0"/>
              <a:t> </a:t>
            </a:r>
            <a:r>
              <a:rPr lang="en-US" dirty="0" err="1"/>
              <a:t>numpy</a:t>
            </a:r>
            <a:r>
              <a:rPr lang="en-US" dirty="0"/>
              <a:t> as </a:t>
            </a:r>
            <a:r>
              <a:rPr lang="en-US" dirty="0" err="1"/>
              <a:t>np</a:t>
            </a:r>
            <a:r>
              <a:rPr lang="en-US" dirty="0"/>
              <a:t/>
            </a:r>
            <a:br>
              <a:rPr lang="en-US" dirty="0"/>
            </a:br>
            <a:r>
              <a:rPr lang="en-US" dirty="0" err="1"/>
              <a:t>arr</a:t>
            </a:r>
            <a:r>
              <a:rPr lang="en-US" dirty="0"/>
              <a:t> = </a:t>
            </a:r>
            <a:r>
              <a:rPr lang="en-US" dirty="0" err="1"/>
              <a:t>np.array</a:t>
            </a:r>
            <a:r>
              <a:rPr lang="en-US" dirty="0"/>
              <a:t>([1, 2, 3, 4, 5, 6, 7])</a:t>
            </a:r>
            <a:br>
              <a:rPr lang="en-US" dirty="0"/>
            </a:br>
            <a:r>
              <a:rPr lang="en-US" dirty="0"/>
              <a:t>print(</a:t>
            </a:r>
            <a:r>
              <a:rPr lang="en-US" dirty="0" err="1"/>
              <a:t>arr</a:t>
            </a:r>
            <a:r>
              <a:rPr lang="en-US" dirty="0"/>
              <a:t>[1:5</a:t>
            </a:r>
            <a:r>
              <a:rPr lang="en-US" dirty="0" smtClean="0"/>
              <a:t>])</a:t>
            </a:r>
          </a:p>
          <a:p>
            <a:r>
              <a:rPr lang="en-US" dirty="0" err="1" smtClean="0"/>
              <a:t>Ouput</a:t>
            </a:r>
            <a:r>
              <a:rPr lang="en-US" dirty="0" smtClean="0"/>
              <a:t>: [2 3 4 5]</a:t>
            </a:r>
          </a:p>
          <a:p>
            <a:endParaRPr lang="en-US" b="1" dirty="0" smtClean="0"/>
          </a:p>
          <a:p>
            <a:r>
              <a:rPr lang="en-US" b="1" dirty="0" smtClean="0"/>
              <a:t>Note</a:t>
            </a:r>
            <a:r>
              <a:rPr lang="en-US" b="1" dirty="0"/>
              <a:t>:</a:t>
            </a:r>
            <a:r>
              <a:rPr lang="en-US" dirty="0"/>
              <a:t> </a:t>
            </a:r>
            <a:r>
              <a:rPr lang="en-US" b="1" dirty="0"/>
              <a:t>The result </a:t>
            </a:r>
            <a:r>
              <a:rPr lang="en-US" b="1" i="1" dirty="0"/>
              <a:t>includes</a:t>
            </a:r>
            <a:r>
              <a:rPr lang="en-US" b="1" dirty="0"/>
              <a:t> the start index, but </a:t>
            </a:r>
            <a:r>
              <a:rPr lang="en-US" b="1" i="1" dirty="0"/>
              <a:t>excludes</a:t>
            </a:r>
            <a:r>
              <a:rPr lang="en-US" b="1" dirty="0"/>
              <a:t> the end index</a:t>
            </a:r>
            <a:r>
              <a:rPr lang="en-US" b="1" dirty="0" smtClean="0"/>
              <a:t>.</a:t>
            </a:r>
          </a:p>
          <a:p>
            <a:endParaRPr lang="en-US" b="1" dirty="0" smtClean="0"/>
          </a:p>
          <a:p>
            <a:r>
              <a:rPr lang="en-US" dirty="0"/>
              <a:t>Example - </a:t>
            </a:r>
            <a:r>
              <a:rPr lang="en-US" dirty="0" smtClean="0"/>
              <a:t>2:</a:t>
            </a:r>
            <a:endParaRPr lang="en-US" dirty="0"/>
          </a:p>
          <a:p>
            <a:pPr marL="0" indent="0">
              <a:buNone/>
            </a:pPr>
            <a:r>
              <a:rPr lang="en-US" dirty="0"/>
              <a:t>import </a:t>
            </a:r>
            <a:r>
              <a:rPr lang="en-US" dirty="0" err="1"/>
              <a:t>numpy</a:t>
            </a:r>
            <a:r>
              <a:rPr lang="en-US" dirty="0"/>
              <a:t> as </a:t>
            </a:r>
            <a:r>
              <a:rPr lang="en-US" dirty="0" err="1"/>
              <a:t>np</a:t>
            </a:r>
            <a:r>
              <a:rPr lang="en-US" dirty="0"/>
              <a:t/>
            </a:r>
            <a:br>
              <a:rPr lang="en-US" dirty="0"/>
            </a:br>
            <a:r>
              <a:rPr lang="en-US" dirty="0" err="1"/>
              <a:t>arr</a:t>
            </a:r>
            <a:r>
              <a:rPr lang="en-US" dirty="0"/>
              <a:t> = </a:t>
            </a:r>
            <a:r>
              <a:rPr lang="en-US" dirty="0" err="1"/>
              <a:t>np.array</a:t>
            </a:r>
            <a:r>
              <a:rPr lang="en-US" dirty="0"/>
              <a:t>([1, 2, 3, 4, 5, 6, 7])</a:t>
            </a:r>
            <a:br>
              <a:rPr lang="en-US" dirty="0"/>
            </a:br>
            <a:r>
              <a:rPr lang="en-US" dirty="0" smtClean="0"/>
              <a:t>print(</a:t>
            </a:r>
            <a:r>
              <a:rPr lang="en-US" dirty="0" err="1" smtClean="0"/>
              <a:t>arr</a:t>
            </a:r>
            <a:r>
              <a:rPr lang="en-US" dirty="0" smtClean="0"/>
              <a:t>[4:])</a:t>
            </a:r>
          </a:p>
          <a:p>
            <a:r>
              <a:rPr lang="en-US" dirty="0" err="1" smtClean="0"/>
              <a:t>Ouput</a:t>
            </a:r>
            <a:r>
              <a:rPr lang="en-US" dirty="0" smtClean="0"/>
              <a:t>: [5 6 7]</a:t>
            </a:r>
            <a:endParaRPr lang="en-US" b="1" dirty="0" smtClean="0"/>
          </a:p>
          <a:p>
            <a:endParaRPr lang="en-US" b="1" dirty="0" smtClean="0"/>
          </a:p>
          <a:p>
            <a:pPr marL="0" indent="0">
              <a:buNone/>
            </a:pPr>
            <a:endParaRPr lang="en-US" dirty="0" smtClean="0"/>
          </a:p>
          <a:p>
            <a:pPr marL="0" indent="0">
              <a:buNone/>
            </a:pPr>
            <a:endParaRPr lang="en-US" dirty="0" smtClean="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8713241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 </a:t>
            </a:r>
            <a:r>
              <a:rPr lang="en-US" sz="3600" b="1" dirty="0" smtClean="0"/>
              <a:t>Array Slicing</a:t>
            </a:r>
            <a:endParaRPr lang="en-US" sz="3600" b="1" dirty="0"/>
          </a:p>
        </p:txBody>
      </p:sp>
      <p:sp>
        <p:nvSpPr>
          <p:cNvPr id="3" name="Content Placeholder 2"/>
          <p:cNvSpPr>
            <a:spLocks noGrp="1"/>
          </p:cNvSpPr>
          <p:nvPr>
            <p:ph sz="quarter" idx="1"/>
          </p:nvPr>
        </p:nvSpPr>
        <p:spPr>
          <a:xfrm>
            <a:off x="457200" y="812800"/>
            <a:ext cx="7467600" cy="4978400"/>
          </a:xfrm>
        </p:spPr>
        <p:txBody>
          <a:bodyPr>
            <a:normAutofit/>
          </a:bodyPr>
          <a:lstStyle/>
          <a:p>
            <a:r>
              <a:rPr lang="en-US" dirty="0" smtClean="0"/>
              <a:t>Example - 3:</a:t>
            </a:r>
          </a:p>
          <a:p>
            <a:pPr marL="0" indent="0">
              <a:buNone/>
            </a:pPr>
            <a:r>
              <a:rPr lang="en-US" dirty="0" smtClean="0"/>
              <a:t>import</a:t>
            </a:r>
            <a:r>
              <a:rPr lang="en-US" dirty="0"/>
              <a:t> </a:t>
            </a:r>
            <a:r>
              <a:rPr lang="en-US" dirty="0" err="1"/>
              <a:t>numpy</a:t>
            </a:r>
            <a:r>
              <a:rPr lang="en-US" dirty="0"/>
              <a:t> as </a:t>
            </a:r>
            <a:r>
              <a:rPr lang="en-US" dirty="0" err="1"/>
              <a:t>np</a:t>
            </a:r>
            <a:r>
              <a:rPr lang="en-US" dirty="0"/>
              <a:t/>
            </a:r>
            <a:br>
              <a:rPr lang="en-US" dirty="0"/>
            </a:br>
            <a:r>
              <a:rPr lang="en-US" dirty="0" err="1"/>
              <a:t>arr</a:t>
            </a:r>
            <a:r>
              <a:rPr lang="en-US" dirty="0"/>
              <a:t> = </a:t>
            </a:r>
            <a:r>
              <a:rPr lang="en-US" dirty="0" err="1"/>
              <a:t>np.array</a:t>
            </a:r>
            <a:r>
              <a:rPr lang="en-US" dirty="0"/>
              <a:t>([1, 2, 3, 4, 5, 6, 7])</a:t>
            </a:r>
            <a:br>
              <a:rPr lang="en-US" dirty="0"/>
            </a:br>
            <a:r>
              <a:rPr lang="en-US" dirty="0"/>
              <a:t>print(</a:t>
            </a:r>
            <a:r>
              <a:rPr lang="en-US" dirty="0" err="1"/>
              <a:t>arr</a:t>
            </a:r>
            <a:r>
              <a:rPr lang="en-US" dirty="0" smtClean="0"/>
              <a:t>[:4])</a:t>
            </a:r>
          </a:p>
          <a:p>
            <a:r>
              <a:rPr lang="en-US" dirty="0" err="1" smtClean="0"/>
              <a:t>Ouput</a:t>
            </a:r>
            <a:r>
              <a:rPr lang="en-US" dirty="0" smtClean="0"/>
              <a:t>: [1 2 3 4]</a:t>
            </a:r>
          </a:p>
          <a:p>
            <a:pPr marL="0" indent="0">
              <a:buNone/>
            </a:pPr>
            <a:endParaRPr lang="en-US" b="1" dirty="0" smtClean="0"/>
          </a:p>
          <a:p>
            <a:r>
              <a:rPr lang="en-US" dirty="0"/>
              <a:t>Example - 4</a:t>
            </a:r>
            <a:r>
              <a:rPr lang="en-US" dirty="0" smtClean="0"/>
              <a:t>:</a:t>
            </a:r>
            <a:endParaRPr lang="en-US" dirty="0"/>
          </a:p>
          <a:p>
            <a:pPr marL="0" indent="0">
              <a:buNone/>
            </a:pPr>
            <a:r>
              <a:rPr lang="en-US" dirty="0"/>
              <a:t>import </a:t>
            </a:r>
            <a:r>
              <a:rPr lang="en-US" dirty="0" err="1"/>
              <a:t>numpy</a:t>
            </a:r>
            <a:r>
              <a:rPr lang="en-US" dirty="0"/>
              <a:t> as </a:t>
            </a:r>
            <a:r>
              <a:rPr lang="en-US" dirty="0" err="1"/>
              <a:t>np</a:t>
            </a:r>
            <a:r>
              <a:rPr lang="en-US" dirty="0"/>
              <a:t/>
            </a:r>
            <a:br>
              <a:rPr lang="en-US" dirty="0"/>
            </a:br>
            <a:r>
              <a:rPr lang="en-US" dirty="0" err="1"/>
              <a:t>arr</a:t>
            </a:r>
            <a:r>
              <a:rPr lang="en-US" dirty="0"/>
              <a:t> = </a:t>
            </a:r>
            <a:r>
              <a:rPr lang="en-US" dirty="0" err="1"/>
              <a:t>np.array</a:t>
            </a:r>
            <a:r>
              <a:rPr lang="en-US" dirty="0"/>
              <a:t>([1, 2, 3, 4, 5, 6, 7])</a:t>
            </a:r>
            <a:br>
              <a:rPr lang="en-US" dirty="0"/>
            </a:br>
            <a:r>
              <a:rPr lang="en-US" dirty="0" smtClean="0"/>
              <a:t>print(</a:t>
            </a:r>
            <a:r>
              <a:rPr lang="en-US" dirty="0" err="1" smtClean="0"/>
              <a:t>arr</a:t>
            </a:r>
            <a:r>
              <a:rPr lang="en-US" dirty="0" smtClean="0"/>
              <a:t>[-3:-1])</a:t>
            </a:r>
          </a:p>
          <a:p>
            <a:r>
              <a:rPr lang="en-US" dirty="0" err="1" smtClean="0"/>
              <a:t>Ouput</a:t>
            </a:r>
            <a:r>
              <a:rPr lang="en-US" dirty="0" smtClean="0"/>
              <a:t>: [5 6]</a:t>
            </a:r>
            <a:endParaRPr lang="en-US" b="1" dirty="0" smtClean="0"/>
          </a:p>
          <a:p>
            <a:endParaRPr lang="en-US" b="1" dirty="0" smtClean="0"/>
          </a:p>
          <a:p>
            <a:pPr marL="0" indent="0">
              <a:buNone/>
            </a:pPr>
            <a:endParaRPr lang="en-US" dirty="0" smtClean="0"/>
          </a:p>
          <a:p>
            <a:pPr marL="0" indent="0">
              <a:buNone/>
            </a:pPr>
            <a:endParaRPr lang="en-US" dirty="0" smtClean="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5052704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 </a:t>
            </a:r>
            <a:r>
              <a:rPr lang="en-US" sz="3600" b="1" dirty="0" smtClean="0"/>
              <a:t>Array Slicing</a:t>
            </a:r>
            <a:endParaRPr lang="en-US" sz="3600" b="1" dirty="0"/>
          </a:p>
        </p:txBody>
      </p:sp>
      <p:sp>
        <p:nvSpPr>
          <p:cNvPr id="3" name="Content Placeholder 2"/>
          <p:cNvSpPr>
            <a:spLocks noGrp="1"/>
          </p:cNvSpPr>
          <p:nvPr>
            <p:ph sz="quarter" idx="1"/>
          </p:nvPr>
        </p:nvSpPr>
        <p:spPr>
          <a:xfrm>
            <a:off x="457200" y="812800"/>
            <a:ext cx="7467600" cy="5892800"/>
          </a:xfrm>
        </p:spPr>
        <p:txBody>
          <a:bodyPr>
            <a:normAutofit/>
          </a:bodyPr>
          <a:lstStyle/>
          <a:p>
            <a:r>
              <a:rPr lang="en-US" dirty="0"/>
              <a:t>Use the step value to determine the step of the slicing</a:t>
            </a:r>
            <a:r>
              <a:rPr lang="en-US" dirty="0" smtClean="0"/>
              <a:t>:</a:t>
            </a:r>
          </a:p>
          <a:p>
            <a:endParaRPr lang="en-US" dirty="0" smtClean="0"/>
          </a:p>
          <a:p>
            <a:r>
              <a:rPr lang="en-US" dirty="0" smtClean="0"/>
              <a:t>Example - 3:</a:t>
            </a:r>
          </a:p>
          <a:p>
            <a:pPr marL="0" indent="0">
              <a:buNone/>
            </a:pPr>
            <a:r>
              <a:rPr lang="en-US" dirty="0" smtClean="0"/>
              <a:t>import</a:t>
            </a:r>
            <a:r>
              <a:rPr lang="en-US" dirty="0"/>
              <a:t> </a:t>
            </a:r>
            <a:r>
              <a:rPr lang="en-US" dirty="0" err="1"/>
              <a:t>numpy</a:t>
            </a:r>
            <a:r>
              <a:rPr lang="en-US" dirty="0"/>
              <a:t> as </a:t>
            </a:r>
            <a:r>
              <a:rPr lang="en-US" dirty="0" err="1"/>
              <a:t>np</a:t>
            </a:r>
            <a:r>
              <a:rPr lang="en-US" dirty="0"/>
              <a:t/>
            </a:r>
            <a:br>
              <a:rPr lang="en-US" dirty="0"/>
            </a:br>
            <a:r>
              <a:rPr lang="en-US" dirty="0" err="1"/>
              <a:t>arr</a:t>
            </a:r>
            <a:r>
              <a:rPr lang="en-US" dirty="0"/>
              <a:t> = </a:t>
            </a:r>
            <a:r>
              <a:rPr lang="en-US" dirty="0" err="1"/>
              <a:t>np.array</a:t>
            </a:r>
            <a:r>
              <a:rPr lang="en-US" dirty="0"/>
              <a:t>([1, 2, 3, 4, 5, 6, 7])</a:t>
            </a:r>
            <a:br>
              <a:rPr lang="en-US" dirty="0"/>
            </a:br>
            <a:r>
              <a:rPr lang="en-US" dirty="0" smtClean="0"/>
              <a:t>print(</a:t>
            </a:r>
            <a:r>
              <a:rPr lang="en-US" dirty="0" err="1" smtClean="0"/>
              <a:t>arr</a:t>
            </a:r>
            <a:r>
              <a:rPr lang="en-US" dirty="0" smtClean="0"/>
              <a:t>[1:5:2])</a:t>
            </a:r>
          </a:p>
          <a:p>
            <a:r>
              <a:rPr lang="en-US" dirty="0" err="1" smtClean="0"/>
              <a:t>Ouput</a:t>
            </a:r>
            <a:r>
              <a:rPr lang="en-US" dirty="0" smtClean="0"/>
              <a:t>: [2 4]</a:t>
            </a:r>
          </a:p>
          <a:p>
            <a:pPr marL="0" indent="0">
              <a:buNone/>
            </a:pPr>
            <a:endParaRPr lang="en-US" b="1" dirty="0" smtClean="0"/>
          </a:p>
          <a:p>
            <a:r>
              <a:rPr lang="en-US" dirty="0"/>
              <a:t>Example - 4</a:t>
            </a:r>
            <a:r>
              <a:rPr lang="en-US" dirty="0" smtClean="0"/>
              <a:t>:</a:t>
            </a:r>
            <a:endParaRPr lang="en-US" dirty="0"/>
          </a:p>
          <a:p>
            <a:pPr marL="0" indent="0">
              <a:buNone/>
            </a:pPr>
            <a:r>
              <a:rPr lang="en-US" dirty="0"/>
              <a:t>import </a:t>
            </a:r>
            <a:r>
              <a:rPr lang="en-US" dirty="0" err="1"/>
              <a:t>numpy</a:t>
            </a:r>
            <a:r>
              <a:rPr lang="en-US" dirty="0"/>
              <a:t> as </a:t>
            </a:r>
            <a:r>
              <a:rPr lang="en-US" dirty="0" err="1"/>
              <a:t>np</a:t>
            </a:r>
            <a:r>
              <a:rPr lang="en-US" dirty="0"/>
              <a:t/>
            </a:r>
            <a:br>
              <a:rPr lang="en-US" dirty="0"/>
            </a:br>
            <a:r>
              <a:rPr lang="en-US" dirty="0" err="1"/>
              <a:t>arr</a:t>
            </a:r>
            <a:r>
              <a:rPr lang="en-US" dirty="0"/>
              <a:t> = </a:t>
            </a:r>
            <a:r>
              <a:rPr lang="en-US" dirty="0" err="1"/>
              <a:t>np.array</a:t>
            </a:r>
            <a:r>
              <a:rPr lang="en-US" dirty="0"/>
              <a:t>([1, 2, 3, 4, 5, 6, 7])</a:t>
            </a:r>
            <a:br>
              <a:rPr lang="en-US" dirty="0"/>
            </a:br>
            <a:r>
              <a:rPr lang="en-US" dirty="0" smtClean="0"/>
              <a:t>print(</a:t>
            </a:r>
            <a:r>
              <a:rPr lang="en-US" dirty="0" err="1" smtClean="0"/>
              <a:t>arr</a:t>
            </a:r>
            <a:r>
              <a:rPr lang="en-US" dirty="0" smtClean="0"/>
              <a:t>[ : :2])</a:t>
            </a:r>
          </a:p>
          <a:p>
            <a:r>
              <a:rPr lang="en-US" dirty="0" err="1" smtClean="0"/>
              <a:t>Ouput</a:t>
            </a:r>
            <a:r>
              <a:rPr lang="en-US" dirty="0" smtClean="0"/>
              <a:t>: [1 3 5 7]</a:t>
            </a:r>
            <a:endParaRPr lang="en-US" b="1" dirty="0" smtClean="0"/>
          </a:p>
          <a:p>
            <a:endParaRPr lang="en-US" b="1" dirty="0" smtClean="0"/>
          </a:p>
          <a:p>
            <a:pPr marL="0" indent="0">
              <a:buNone/>
            </a:pPr>
            <a:endParaRPr lang="en-US" dirty="0" smtClean="0"/>
          </a:p>
          <a:p>
            <a:pPr marL="0" indent="0">
              <a:buNone/>
            </a:pPr>
            <a:endParaRPr lang="en-US" dirty="0" smtClean="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67584981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 Shape and Size of </a:t>
            </a:r>
            <a:r>
              <a:rPr lang="en-US" sz="3600" b="1" dirty="0" smtClean="0"/>
              <a:t>Array</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a:t>To get the shape and size of the array, the size and shape function associated with the </a:t>
            </a:r>
            <a:r>
              <a:rPr lang="en-US" dirty="0" err="1"/>
              <a:t>numpy</a:t>
            </a:r>
            <a:r>
              <a:rPr lang="en-US" dirty="0"/>
              <a:t> array is used</a:t>
            </a:r>
            <a:r>
              <a:rPr lang="en-US" dirty="0" smtClean="0"/>
              <a:t>.</a:t>
            </a:r>
          </a:p>
          <a:p>
            <a:r>
              <a:rPr lang="en-US" dirty="0" smtClean="0"/>
              <a:t>Example:</a:t>
            </a:r>
          </a:p>
          <a:p>
            <a:pPr marL="0" indent="0">
              <a:buNone/>
            </a:pPr>
            <a:r>
              <a:rPr lang="en-US" dirty="0"/>
              <a:t>import </a:t>
            </a:r>
            <a:r>
              <a:rPr lang="en-US" dirty="0" err="1"/>
              <a:t>numpy</a:t>
            </a:r>
            <a:r>
              <a:rPr lang="en-US" dirty="0"/>
              <a:t> as </a:t>
            </a:r>
            <a:r>
              <a:rPr lang="en-US" dirty="0" err="1"/>
              <a:t>np</a:t>
            </a:r>
            <a:r>
              <a:rPr lang="en-US" dirty="0"/>
              <a:t>  </a:t>
            </a:r>
          </a:p>
          <a:p>
            <a:pPr marL="0" indent="0">
              <a:buNone/>
            </a:pPr>
            <a:r>
              <a:rPr lang="en-US" dirty="0"/>
              <a:t>a = </a:t>
            </a:r>
            <a:r>
              <a:rPr lang="en-US" dirty="0" err="1"/>
              <a:t>np.array</a:t>
            </a:r>
            <a:r>
              <a:rPr lang="en-US" dirty="0"/>
              <a:t>([[1,2,3,4,5,6,7]])  </a:t>
            </a:r>
          </a:p>
          <a:p>
            <a:pPr marL="0" indent="0">
              <a:buNone/>
            </a:pPr>
            <a:r>
              <a:rPr lang="en-US" dirty="0"/>
              <a:t>print("Array Size:",</a:t>
            </a:r>
            <a:r>
              <a:rPr lang="en-US" dirty="0" err="1"/>
              <a:t>a.size</a:t>
            </a:r>
            <a:r>
              <a:rPr lang="en-US" dirty="0"/>
              <a:t>)  </a:t>
            </a:r>
          </a:p>
          <a:p>
            <a:pPr marL="0" indent="0">
              <a:buNone/>
            </a:pPr>
            <a:r>
              <a:rPr lang="en-US" dirty="0" smtClean="0"/>
              <a:t>print("Shape:",</a:t>
            </a:r>
            <a:r>
              <a:rPr lang="en-US" dirty="0" err="1" smtClean="0"/>
              <a:t>a.shape</a:t>
            </a:r>
            <a:r>
              <a:rPr lang="en-US" dirty="0" smtClean="0"/>
              <a:t>)  </a:t>
            </a:r>
          </a:p>
          <a:p>
            <a:endParaRPr lang="en-US" dirty="0" smtClean="0"/>
          </a:p>
          <a:p>
            <a:r>
              <a:rPr lang="en-US" dirty="0" smtClean="0"/>
              <a:t>Output: </a:t>
            </a:r>
          </a:p>
          <a:p>
            <a:pPr marL="0" indent="0">
              <a:buNone/>
            </a:pPr>
            <a:r>
              <a:rPr lang="en-US" dirty="0" smtClean="0"/>
              <a:t>Array Size: 7</a:t>
            </a:r>
          </a:p>
          <a:p>
            <a:pPr marL="0" indent="0">
              <a:buNone/>
            </a:pPr>
            <a:r>
              <a:rPr lang="en-US" dirty="0" smtClean="0"/>
              <a:t>Shape: (1, 7)</a:t>
            </a:r>
            <a:endParaRPr lang="en-US" dirty="0"/>
          </a:p>
        </p:txBody>
      </p:sp>
    </p:spTree>
    <p:extLst>
      <p:ext uri="{BB962C8B-B14F-4D97-AF65-F5344CB8AC3E}">
        <p14:creationId xmlns:p14="http://schemas.microsoft.com/office/powerpoint/2010/main" val="9525671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Reshaping the Array</a:t>
            </a:r>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a:t>By the shape of the array, we mean the number of rows and columns of a multi-dimensional array. However, the </a:t>
            </a:r>
            <a:r>
              <a:rPr lang="en-US" dirty="0" err="1"/>
              <a:t>numpy</a:t>
            </a:r>
            <a:r>
              <a:rPr lang="en-US" dirty="0"/>
              <a:t> module provides us the way to reshape the array by changing the number of rows and columns of the multi-dimensional array</a:t>
            </a:r>
            <a:r>
              <a:rPr lang="en-US" dirty="0" smtClean="0"/>
              <a:t>.</a:t>
            </a:r>
          </a:p>
          <a:p>
            <a:r>
              <a:rPr lang="en-US" dirty="0"/>
              <a:t>The reshape() function associated with the </a:t>
            </a:r>
            <a:r>
              <a:rPr lang="en-US" dirty="0" err="1"/>
              <a:t>ndarray</a:t>
            </a:r>
            <a:r>
              <a:rPr lang="en-US" dirty="0"/>
              <a:t> object is used to reshape the array. It accepts the two parameters indicating the row and columns of the </a:t>
            </a:r>
            <a:r>
              <a:rPr lang="en-US" dirty="0" smtClean="0"/>
              <a:t>new </a:t>
            </a:r>
            <a:r>
              <a:rPr lang="en-US" dirty="0"/>
              <a:t>shape of the array.</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953000"/>
            <a:ext cx="5743575"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879422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Reshaping the Array</a:t>
            </a:r>
          </a:p>
        </p:txBody>
      </p:sp>
      <p:sp>
        <p:nvSpPr>
          <p:cNvPr id="3" name="Content Placeholder 2"/>
          <p:cNvSpPr>
            <a:spLocks noGrp="1"/>
          </p:cNvSpPr>
          <p:nvPr>
            <p:ph sz="quarter" idx="1"/>
          </p:nvPr>
        </p:nvSpPr>
        <p:spPr>
          <a:xfrm>
            <a:off x="457200" y="914400"/>
            <a:ext cx="7467600" cy="5791200"/>
          </a:xfrm>
        </p:spPr>
        <p:txBody>
          <a:bodyPr>
            <a:normAutofit fontScale="92500" lnSpcReduction="20000"/>
          </a:bodyPr>
          <a:lstStyle/>
          <a:p>
            <a:r>
              <a:rPr lang="en-US" dirty="0" smtClean="0"/>
              <a:t>Example:</a:t>
            </a:r>
          </a:p>
          <a:p>
            <a:pPr marL="0" indent="0">
              <a:buNone/>
            </a:pPr>
            <a:r>
              <a:rPr lang="en-US" dirty="0" smtClean="0"/>
              <a:t>import</a:t>
            </a:r>
            <a:r>
              <a:rPr lang="en-US" dirty="0"/>
              <a:t> </a:t>
            </a:r>
            <a:r>
              <a:rPr lang="en-US" dirty="0" err="1"/>
              <a:t>numpy</a:t>
            </a:r>
            <a:r>
              <a:rPr lang="en-US" dirty="0"/>
              <a:t> as </a:t>
            </a:r>
            <a:r>
              <a:rPr lang="en-US" dirty="0" err="1"/>
              <a:t>np</a:t>
            </a:r>
            <a:r>
              <a:rPr lang="en-US" dirty="0"/>
              <a:t>  </a:t>
            </a:r>
          </a:p>
          <a:p>
            <a:pPr marL="0" indent="0">
              <a:buNone/>
            </a:pPr>
            <a:r>
              <a:rPr lang="en-US" dirty="0"/>
              <a:t>a = </a:t>
            </a:r>
            <a:r>
              <a:rPr lang="en-US" dirty="0" err="1"/>
              <a:t>np.array</a:t>
            </a:r>
            <a:r>
              <a:rPr lang="en-US" dirty="0"/>
              <a:t>([[1,2],[3,4],[5,6]])  </a:t>
            </a:r>
          </a:p>
          <a:p>
            <a:pPr marL="0" indent="0">
              <a:buNone/>
            </a:pPr>
            <a:r>
              <a:rPr lang="en-US" dirty="0"/>
              <a:t>print("printing the original array..")  </a:t>
            </a:r>
          </a:p>
          <a:p>
            <a:pPr marL="0" indent="0">
              <a:buNone/>
            </a:pPr>
            <a:r>
              <a:rPr lang="en-US" dirty="0"/>
              <a:t>print(a)  </a:t>
            </a:r>
          </a:p>
          <a:p>
            <a:pPr marL="0" indent="0">
              <a:buNone/>
            </a:pPr>
            <a:r>
              <a:rPr lang="en-US" dirty="0"/>
              <a:t>a=</a:t>
            </a:r>
            <a:r>
              <a:rPr lang="en-US" dirty="0" err="1"/>
              <a:t>a.reshape</a:t>
            </a:r>
            <a:r>
              <a:rPr lang="en-US" dirty="0"/>
              <a:t>(2,3)  </a:t>
            </a:r>
          </a:p>
          <a:p>
            <a:pPr marL="0" indent="0">
              <a:buNone/>
            </a:pPr>
            <a:r>
              <a:rPr lang="en-US" dirty="0"/>
              <a:t>print("printing the reshaped array..")  </a:t>
            </a:r>
          </a:p>
          <a:p>
            <a:pPr marL="0" indent="0">
              <a:buNone/>
            </a:pPr>
            <a:r>
              <a:rPr lang="en-US" dirty="0"/>
              <a:t>print(a) </a:t>
            </a:r>
            <a:endParaRPr lang="en-US" dirty="0" smtClean="0"/>
          </a:p>
          <a:p>
            <a:pPr marL="0" indent="0">
              <a:buNone/>
            </a:pPr>
            <a:endParaRPr lang="en-US" dirty="0"/>
          </a:p>
          <a:p>
            <a:r>
              <a:rPr lang="en-US" dirty="0"/>
              <a:t>Output</a:t>
            </a:r>
            <a:r>
              <a:rPr lang="en-US" dirty="0" smtClean="0"/>
              <a:t>: printing </a:t>
            </a:r>
            <a:r>
              <a:rPr lang="en-US" dirty="0"/>
              <a:t>the original array.. </a:t>
            </a:r>
            <a:endParaRPr lang="en-US" dirty="0" smtClean="0"/>
          </a:p>
          <a:p>
            <a:pPr marL="0" indent="0">
              <a:buNone/>
            </a:pPr>
            <a:r>
              <a:rPr lang="en-US" dirty="0" smtClean="0"/>
              <a:t>[[</a:t>
            </a:r>
            <a:r>
              <a:rPr lang="en-US" dirty="0"/>
              <a:t>1 2] </a:t>
            </a:r>
            <a:endParaRPr lang="en-US" dirty="0" smtClean="0"/>
          </a:p>
          <a:p>
            <a:pPr marL="0" indent="0">
              <a:buNone/>
            </a:pPr>
            <a:r>
              <a:rPr lang="en-US" dirty="0" smtClean="0"/>
              <a:t> [3 </a:t>
            </a:r>
            <a:r>
              <a:rPr lang="en-US" dirty="0"/>
              <a:t>4] </a:t>
            </a:r>
            <a:endParaRPr lang="en-US" dirty="0" smtClean="0"/>
          </a:p>
          <a:p>
            <a:pPr marL="0" indent="0">
              <a:buNone/>
            </a:pPr>
            <a:r>
              <a:rPr lang="en-US" dirty="0"/>
              <a:t> </a:t>
            </a:r>
            <a:r>
              <a:rPr lang="en-US" dirty="0" smtClean="0"/>
              <a:t>[</a:t>
            </a:r>
            <a:r>
              <a:rPr lang="en-US" dirty="0"/>
              <a:t>5 6]] </a:t>
            </a:r>
            <a:endParaRPr lang="en-US" dirty="0" smtClean="0"/>
          </a:p>
          <a:p>
            <a:pPr marL="0" indent="0">
              <a:buNone/>
            </a:pPr>
            <a:r>
              <a:rPr lang="en-US" dirty="0" smtClean="0"/>
              <a:t>printing </a:t>
            </a:r>
            <a:r>
              <a:rPr lang="en-US" dirty="0"/>
              <a:t>the reshaped array.. </a:t>
            </a:r>
            <a:endParaRPr lang="en-US" dirty="0" smtClean="0"/>
          </a:p>
          <a:p>
            <a:pPr marL="0" indent="0">
              <a:buNone/>
            </a:pPr>
            <a:r>
              <a:rPr lang="en-US" dirty="0" smtClean="0"/>
              <a:t>[[</a:t>
            </a:r>
            <a:r>
              <a:rPr lang="en-US" dirty="0"/>
              <a:t>1 2 3] </a:t>
            </a:r>
            <a:endParaRPr lang="en-US" dirty="0" smtClean="0"/>
          </a:p>
          <a:p>
            <a:pPr marL="0" indent="0">
              <a:buNone/>
            </a:pPr>
            <a:r>
              <a:rPr lang="en-US" dirty="0"/>
              <a:t> </a:t>
            </a:r>
            <a:r>
              <a:rPr lang="en-US" dirty="0" smtClean="0"/>
              <a:t>[</a:t>
            </a:r>
            <a:r>
              <a:rPr lang="en-US" dirty="0"/>
              <a:t>4 5 6</a:t>
            </a:r>
            <a:r>
              <a:rPr lang="en-US" dirty="0" smtClean="0"/>
              <a:t>]]</a:t>
            </a:r>
          </a:p>
        </p:txBody>
      </p:sp>
    </p:spTree>
    <p:extLst>
      <p:ext uri="{BB962C8B-B14F-4D97-AF65-F5344CB8AC3E}">
        <p14:creationId xmlns:p14="http://schemas.microsoft.com/office/powerpoint/2010/main" val="10849099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Iterating </a:t>
            </a:r>
            <a:r>
              <a:rPr lang="en-US" sz="3600" b="1" dirty="0"/>
              <a:t>Array</a:t>
            </a:r>
          </a:p>
        </p:txBody>
      </p:sp>
      <p:sp>
        <p:nvSpPr>
          <p:cNvPr id="3" name="Content Placeholder 2"/>
          <p:cNvSpPr>
            <a:spLocks noGrp="1"/>
          </p:cNvSpPr>
          <p:nvPr>
            <p:ph sz="quarter" idx="1"/>
          </p:nvPr>
        </p:nvSpPr>
        <p:spPr>
          <a:xfrm>
            <a:off x="457200" y="914400"/>
            <a:ext cx="7467600" cy="5791200"/>
          </a:xfrm>
        </p:spPr>
        <p:txBody>
          <a:bodyPr>
            <a:normAutofit lnSpcReduction="10000"/>
          </a:bodyPr>
          <a:lstStyle/>
          <a:p>
            <a:r>
              <a:rPr lang="en-US" dirty="0" smtClean="0"/>
              <a:t>Iterating means going through elements one by one.</a:t>
            </a:r>
          </a:p>
          <a:p>
            <a:endParaRPr lang="en-US" dirty="0" smtClean="0"/>
          </a:p>
          <a:p>
            <a:r>
              <a:rPr lang="en-US" dirty="0" smtClean="0"/>
              <a:t>As we deal with multi-dimensional arrays in </a:t>
            </a:r>
            <a:r>
              <a:rPr lang="en-US" dirty="0" err="1" smtClean="0"/>
              <a:t>numpy</a:t>
            </a:r>
            <a:r>
              <a:rPr lang="en-US" dirty="0" smtClean="0"/>
              <a:t>, we can do this using basic for loop of python.</a:t>
            </a:r>
          </a:p>
          <a:p>
            <a:endParaRPr lang="en-US" dirty="0" smtClean="0"/>
          </a:p>
          <a:p>
            <a:r>
              <a:rPr lang="en-US" dirty="0" smtClean="0"/>
              <a:t>If we iterate on a 1-D array it will go through each element one by one.</a:t>
            </a:r>
          </a:p>
          <a:p>
            <a:endParaRPr lang="en-US" dirty="0" smtClean="0"/>
          </a:p>
          <a:p>
            <a:r>
              <a:rPr lang="en-US" dirty="0" smtClean="0"/>
              <a:t>Example:</a:t>
            </a:r>
          </a:p>
          <a:p>
            <a:pPr marL="0" indent="0">
              <a:buNone/>
            </a:pPr>
            <a:r>
              <a:rPr lang="en-US" dirty="0" smtClean="0"/>
              <a:t>import </a:t>
            </a:r>
            <a:r>
              <a:rPr lang="en-US" dirty="0" err="1" smtClean="0"/>
              <a:t>numpy</a:t>
            </a:r>
            <a:r>
              <a:rPr lang="en-US" dirty="0" smtClean="0"/>
              <a:t> as </a:t>
            </a:r>
            <a:r>
              <a:rPr lang="en-US" dirty="0" err="1" smtClean="0"/>
              <a:t>np</a:t>
            </a:r>
            <a:r>
              <a:rPr lang="en-US" dirty="0" smtClean="0"/>
              <a:t/>
            </a:r>
            <a:br>
              <a:rPr lang="en-US" dirty="0" smtClean="0"/>
            </a:br>
            <a:r>
              <a:rPr lang="en-US" dirty="0" err="1" smtClean="0"/>
              <a:t>arr</a:t>
            </a:r>
            <a:r>
              <a:rPr lang="en-US" dirty="0" smtClean="0"/>
              <a:t> = </a:t>
            </a:r>
            <a:r>
              <a:rPr lang="en-US" dirty="0" err="1" smtClean="0"/>
              <a:t>np.array</a:t>
            </a:r>
            <a:r>
              <a:rPr lang="en-US" dirty="0" smtClean="0"/>
              <a:t>([1, 2, 3])</a:t>
            </a:r>
            <a:br>
              <a:rPr lang="en-US" dirty="0" smtClean="0"/>
            </a:br>
            <a:r>
              <a:rPr lang="en-US" dirty="0" smtClean="0"/>
              <a:t>for x in </a:t>
            </a:r>
            <a:r>
              <a:rPr lang="en-US" dirty="0" err="1" smtClean="0"/>
              <a:t>arr</a:t>
            </a:r>
            <a:r>
              <a:rPr lang="en-US" dirty="0" smtClean="0"/>
              <a:t>:</a:t>
            </a:r>
            <a:br>
              <a:rPr lang="en-US" dirty="0" smtClean="0"/>
            </a:br>
            <a:r>
              <a:rPr lang="en-US" dirty="0" smtClean="0"/>
              <a:t>	print(x)</a:t>
            </a:r>
          </a:p>
        </p:txBody>
      </p:sp>
    </p:spTree>
    <p:extLst>
      <p:ext uri="{BB962C8B-B14F-4D97-AF65-F5344CB8AC3E}">
        <p14:creationId xmlns:p14="http://schemas.microsoft.com/office/powerpoint/2010/main" val="18856952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Iterating </a:t>
            </a:r>
            <a:r>
              <a:rPr lang="en-US" sz="3600" b="1" dirty="0"/>
              <a:t>Array</a:t>
            </a:r>
          </a:p>
        </p:txBody>
      </p:sp>
      <p:sp>
        <p:nvSpPr>
          <p:cNvPr id="3" name="Content Placeholder 2"/>
          <p:cNvSpPr>
            <a:spLocks noGrp="1"/>
          </p:cNvSpPr>
          <p:nvPr>
            <p:ph sz="quarter" idx="1"/>
          </p:nvPr>
        </p:nvSpPr>
        <p:spPr>
          <a:xfrm>
            <a:off x="457200" y="914400"/>
            <a:ext cx="7467600" cy="5791200"/>
          </a:xfrm>
        </p:spPr>
        <p:txBody>
          <a:bodyPr>
            <a:normAutofit lnSpcReduction="10000"/>
          </a:bodyPr>
          <a:lstStyle/>
          <a:p>
            <a:r>
              <a:rPr lang="en-US" dirty="0" err="1" smtClean="0"/>
              <a:t>Ouput</a:t>
            </a:r>
            <a:r>
              <a:rPr lang="en-US" dirty="0" smtClean="0"/>
              <a:t>:</a:t>
            </a:r>
            <a:r>
              <a:rPr lang="en-US" dirty="0"/>
              <a:t> 1</a:t>
            </a:r>
          </a:p>
          <a:p>
            <a:pPr marL="0" indent="0">
              <a:buNone/>
            </a:pPr>
            <a:r>
              <a:rPr lang="en-US" dirty="0"/>
              <a:t>	     2</a:t>
            </a:r>
          </a:p>
          <a:p>
            <a:pPr marL="0" indent="0">
              <a:buNone/>
            </a:pPr>
            <a:r>
              <a:rPr lang="en-US" dirty="0"/>
              <a:t>                </a:t>
            </a:r>
            <a:r>
              <a:rPr lang="en-US" dirty="0" smtClean="0"/>
              <a:t>3</a:t>
            </a:r>
          </a:p>
          <a:p>
            <a:pPr marL="0" indent="0">
              <a:buNone/>
            </a:pPr>
            <a:endParaRPr lang="en-US" dirty="0" smtClean="0"/>
          </a:p>
          <a:p>
            <a:r>
              <a:rPr lang="en-US" dirty="0" smtClean="0"/>
              <a:t>Example:</a:t>
            </a:r>
            <a:r>
              <a:rPr lang="en-US" dirty="0"/>
              <a:t> </a:t>
            </a:r>
            <a:endParaRPr lang="en-US" dirty="0" smtClean="0"/>
          </a:p>
          <a:p>
            <a:pPr marL="0" indent="0">
              <a:buNone/>
            </a:pPr>
            <a:r>
              <a:rPr lang="en-US" dirty="0" smtClean="0"/>
              <a:t>import</a:t>
            </a:r>
            <a:r>
              <a:rPr lang="en-US" dirty="0"/>
              <a:t> </a:t>
            </a:r>
            <a:r>
              <a:rPr lang="en-US" dirty="0" err="1"/>
              <a:t>numpy</a:t>
            </a:r>
            <a:r>
              <a:rPr lang="en-US" dirty="0"/>
              <a:t> as </a:t>
            </a:r>
            <a:r>
              <a:rPr lang="en-US" dirty="0" err="1" smtClean="0"/>
              <a:t>np</a:t>
            </a:r>
            <a:r>
              <a:rPr lang="en-US" dirty="0"/>
              <a:t/>
            </a:r>
            <a:br>
              <a:rPr lang="en-US" dirty="0"/>
            </a:br>
            <a:r>
              <a:rPr lang="en-US" dirty="0" err="1"/>
              <a:t>arr</a:t>
            </a:r>
            <a:r>
              <a:rPr lang="en-US" dirty="0"/>
              <a:t> = </a:t>
            </a:r>
            <a:r>
              <a:rPr lang="en-US" dirty="0" err="1"/>
              <a:t>np.array</a:t>
            </a:r>
            <a:r>
              <a:rPr lang="en-US" dirty="0"/>
              <a:t>([[1, 2, 3], [4, 5, 6</a:t>
            </a:r>
            <a:r>
              <a:rPr lang="en-US" dirty="0" smtClean="0"/>
              <a:t>]])</a:t>
            </a:r>
            <a:r>
              <a:rPr lang="en-US" dirty="0"/>
              <a:t/>
            </a:r>
            <a:br>
              <a:rPr lang="en-US" dirty="0"/>
            </a:br>
            <a:r>
              <a:rPr lang="en-US" dirty="0"/>
              <a:t>for x in </a:t>
            </a:r>
            <a:r>
              <a:rPr lang="en-US" dirty="0" err="1"/>
              <a:t>arr</a:t>
            </a:r>
            <a:r>
              <a:rPr lang="en-US" dirty="0"/>
              <a:t>:</a:t>
            </a:r>
            <a:br>
              <a:rPr lang="en-US" dirty="0"/>
            </a:br>
            <a:r>
              <a:rPr lang="en-US" dirty="0"/>
              <a:t>	</a:t>
            </a:r>
            <a:r>
              <a:rPr lang="en-US" dirty="0" smtClean="0"/>
              <a:t>for</a:t>
            </a:r>
            <a:r>
              <a:rPr lang="en-US" dirty="0"/>
              <a:t> y in </a:t>
            </a:r>
            <a:r>
              <a:rPr lang="en-US" dirty="0" smtClean="0"/>
              <a:t>x:</a:t>
            </a:r>
          </a:p>
          <a:p>
            <a:pPr marL="0" indent="0">
              <a:buNone/>
            </a:pPr>
            <a:r>
              <a:rPr lang="en-US" dirty="0"/>
              <a:t>	</a:t>
            </a:r>
            <a:r>
              <a:rPr lang="en-US" dirty="0" smtClean="0"/>
              <a:t>	print(y)</a:t>
            </a:r>
          </a:p>
          <a:p>
            <a:pPr marL="0" indent="0">
              <a:buNone/>
            </a:pPr>
            <a:endParaRPr lang="en-US" dirty="0" smtClean="0"/>
          </a:p>
          <a:p>
            <a:r>
              <a:rPr lang="en-US" dirty="0" smtClean="0"/>
              <a:t>Output:</a:t>
            </a:r>
          </a:p>
          <a:p>
            <a:pPr marL="0" indent="0">
              <a:buNone/>
            </a:pPr>
            <a:r>
              <a:rPr lang="en-US" dirty="0"/>
              <a:t>[1 2 3]</a:t>
            </a:r>
            <a:br>
              <a:rPr lang="en-US" dirty="0"/>
            </a:br>
            <a:r>
              <a:rPr lang="en-US" dirty="0" smtClean="0"/>
              <a:t>[4 5 </a:t>
            </a:r>
            <a:r>
              <a:rPr lang="en-US" dirty="0"/>
              <a:t>6]</a:t>
            </a:r>
            <a:endParaRPr lang="en-US" dirty="0" smtClean="0"/>
          </a:p>
        </p:txBody>
      </p:sp>
    </p:spTree>
    <p:extLst>
      <p:ext uri="{BB962C8B-B14F-4D97-AF65-F5344CB8AC3E}">
        <p14:creationId xmlns:p14="http://schemas.microsoft.com/office/powerpoint/2010/main" val="351438769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smtClean="0"/>
              <a:t>Numpy</a:t>
            </a:r>
            <a:r>
              <a:rPr lang="en-US" sz="3600" b="1" dirty="0" smtClean="0"/>
              <a:t> Built-in Functions</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err="1" smtClean="0"/>
              <a:t>Numpy</a:t>
            </a:r>
            <a:r>
              <a:rPr lang="en-US" dirty="0" smtClean="0"/>
              <a:t> provides many built-in functions for easy and fast </a:t>
            </a:r>
            <a:r>
              <a:rPr lang="en-US" dirty="0" err="1" smtClean="0"/>
              <a:t>perfomance</a:t>
            </a:r>
            <a:r>
              <a:rPr lang="en-US" dirty="0" smtClean="0"/>
              <a:t>.</a:t>
            </a:r>
          </a:p>
          <a:p>
            <a:endParaRPr lang="en-US" dirty="0" smtClean="0"/>
          </a:p>
          <a:p>
            <a:r>
              <a:rPr lang="en-US" dirty="0" smtClean="0"/>
              <a:t>Functions like concatenate, append, where, random, clip, transpose, sort, floor, arrange, ceil, unique, zeros, sum, etc.</a:t>
            </a:r>
          </a:p>
          <a:p>
            <a:endParaRPr lang="en-US" dirty="0" smtClean="0"/>
          </a:p>
          <a:p>
            <a:r>
              <a:rPr lang="en-US" dirty="0" smtClean="0"/>
              <a:t>We will discuss few of the functions like concatenate, append, sort, where, random in this chapter.</a:t>
            </a:r>
          </a:p>
        </p:txBody>
      </p:sp>
    </p:spTree>
    <p:extLst>
      <p:ext uri="{BB962C8B-B14F-4D97-AF65-F5344CB8AC3E}">
        <p14:creationId xmlns:p14="http://schemas.microsoft.com/office/powerpoint/2010/main" val="42605209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Concatenate </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a:t>The concatenate() function is a function from the </a:t>
            </a:r>
            <a:r>
              <a:rPr lang="en-US" dirty="0" err="1"/>
              <a:t>NumPy</a:t>
            </a:r>
            <a:r>
              <a:rPr lang="en-US" dirty="0"/>
              <a:t> package. This function essentially combines </a:t>
            </a:r>
            <a:r>
              <a:rPr lang="en-US" dirty="0" err="1"/>
              <a:t>NumPy</a:t>
            </a:r>
            <a:r>
              <a:rPr lang="en-US" dirty="0"/>
              <a:t> arrays together. </a:t>
            </a:r>
            <a:endParaRPr lang="en-US" dirty="0" smtClean="0"/>
          </a:p>
          <a:p>
            <a:r>
              <a:rPr lang="en-US" dirty="0" smtClean="0"/>
              <a:t>This </a:t>
            </a:r>
            <a:r>
              <a:rPr lang="en-US" dirty="0"/>
              <a:t>function is basically used for joining two or more arrays of the same shape along a specified axis. </a:t>
            </a:r>
            <a:endParaRPr lang="en-US" dirty="0" smtClean="0"/>
          </a:p>
          <a:p>
            <a:r>
              <a:rPr lang="en-US" dirty="0" smtClean="0"/>
              <a:t>There </a:t>
            </a:r>
            <a:r>
              <a:rPr lang="en-US" dirty="0"/>
              <a:t>are the following things which are essential to keep in mind</a:t>
            </a:r>
            <a:r>
              <a:rPr lang="en-US" dirty="0" smtClean="0"/>
              <a:t>:</a:t>
            </a:r>
          </a:p>
          <a:p>
            <a:pPr marL="457200" indent="-457200">
              <a:buFont typeface="+mj-lt"/>
              <a:buAutoNum type="arabicPeriod"/>
            </a:pPr>
            <a:r>
              <a:rPr lang="en-US" dirty="0" err="1"/>
              <a:t>NumPy's</a:t>
            </a:r>
            <a:r>
              <a:rPr lang="en-US" dirty="0"/>
              <a:t> concatenate() is not like a traditional database join. It is like stacking </a:t>
            </a:r>
            <a:r>
              <a:rPr lang="en-US" dirty="0" err="1"/>
              <a:t>NumPy</a:t>
            </a:r>
            <a:r>
              <a:rPr lang="en-US" dirty="0"/>
              <a:t> arrays.</a:t>
            </a:r>
          </a:p>
          <a:p>
            <a:pPr marL="457200" indent="-457200">
              <a:buFont typeface="+mj-lt"/>
              <a:buAutoNum type="arabicPeriod"/>
            </a:pPr>
            <a:r>
              <a:rPr lang="en-US" dirty="0"/>
              <a:t>This function can operate both vertically and horizontally. This means we can concatenate arrays together horizontally or vertically</a:t>
            </a:r>
            <a:r>
              <a:rPr lang="en-US" dirty="0" smtClean="0"/>
              <a:t>.</a:t>
            </a:r>
            <a:endParaRPr lang="en-US" dirty="0"/>
          </a:p>
        </p:txBody>
      </p:sp>
    </p:spTree>
    <p:extLst>
      <p:ext uri="{BB962C8B-B14F-4D97-AF65-F5344CB8AC3E}">
        <p14:creationId xmlns:p14="http://schemas.microsoft.com/office/powerpoint/2010/main" val="36396465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Concatenate </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The </a:t>
            </a:r>
            <a:r>
              <a:rPr lang="en-US" dirty="0"/>
              <a:t>concatenate() function is usually written as </a:t>
            </a:r>
            <a:r>
              <a:rPr lang="en-US" b="1" dirty="0" err="1"/>
              <a:t>np.concatenate</a:t>
            </a:r>
            <a:r>
              <a:rPr lang="en-US" b="1" dirty="0"/>
              <a:t>()</a:t>
            </a:r>
            <a:r>
              <a:rPr lang="en-US" dirty="0"/>
              <a:t>, but we can also write it as </a:t>
            </a:r>
            <a:r>
              <a:rPr lang="en-US" b="1" dirty="0" err="1"/>
              <a:t>numpy.concatenate</a:t>
            </a:r>
            <a:r>
              <a:rPr lang="en-US" b="1" dirty="0"/>
              <a:t>()</a:t>
            </a:r>
            <a:r>
              <a:rPr lang="en-US" dirty="0"/>
              <a:t>. It depends on the way of importing the </a:t>
            </a:r>
            <a:r>
              <a:rPr lang="en-US" dirty="0" err="1"/>
              <a:t>numpy</a:t>
            </a:r>
            <a:r>
              <a:rPr lang="en-US" dirty="0"/>
              <a:t> package, either import </a:t>
            </a:r>
            <a:r>
              <a:rPr lang="en-US" dirty="0" err="1"/>
              <a:t>numpy</a:t>
            </a:r>
            <a:r>
              <a:rPr lang="en-US" dirty="0"/>
              <a:t> as </a:t>
            </a:r>
            <a:r>
              <a:rPr lang="en-US" dirty="0" err="1"/>
              <a:t>np</a:t>
            </a:r>
            <a:r>
              <a:rPr lang="en-US" dirty="0"/>
              <a:t> or import </a:t>
            </a:r>
            <a:r>
              <a:rPr lang="en-US" dirty="0" err="1"/>
              <a:t>numpy</a:t>
            </a:r>
            <a:r>
              <a:rPr lang="en-US" dirty="0"/>
              <a:t>, respectively.</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990600"/>
            <a:ext cx="5334000" cy="3319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2973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Concatenate </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smtClean="0"/>
              <a:t>Syntax:</a:t>
            </a:r>
          </a:p>
          <a:p>
            <a:pPr marL="0" indent="0">
              <a:buNone/>
            </a:pPr>
            <a:r>
              <a:rPr lang="en-US" dirty="0" err="1" smtClean="0"/>
              <a:t>numpy.concatenate</a:t>
            </a:r>
            <a:r>
              <a:rPr lang="en-US" dirty="0"/>
              <a:t>((a1, a2, ...), axis)  </a:t>
            </a:r>
          </a:p>
          <a:p>
            <a:endParaRPr lang="en-US" dirty="0" smtClean="0"/>
          </a:p>
          <a:p>
            <a:r>
              <a:rPr lang="en-US" b="1" dirty="0"/>
              <a:t>(a1, a2, </a:t>
            </a:r>
            <a:r>
              <a:rPr lang="en-US" b="1" dirty="0" smtClean="0"/>
              <a:t>...) - </a:t>
            </a:r>
            <a:r>
              <a:rPr lang="en-US" dirty="0" smtClean="0"/>
              <a:t>This </a:t>
            </a:r>
            <a:r>
              <a:rPr lang="en-US" dirty="0"/>
              <a:t>parameter defines the sequence of arrays. Here, a1, a2, a3 ... are the arrays which have the same shape, except in the dimension corresponding to the axis</a:t>
            </a:r>
            <a:r>
              <a:rPr lang="en-US" dirty="0" smtClean="0"/>
              <a:t>.</a:t>
            </a:r>
          </a:p>
          <a:p>
            <a:endParaRPr lang="en-US" dirty="0"/>
          </a:p>
          <a:p>
            <a:r>
              <a:rPr lang="en-US" b="1" dirty="0"/>
              <a:t>axis : </a:t>
            </a:r>
            <a:r>
              <a:rPr lang="en-US" b="1" dirty="0" err="1" smtClean="0"/>
              <a:t>int</a:t>
            </a:r>
            <a:r>
              <a:rPr lang="en-US" b="1" dirty="0" smtClean="0"/>
              <a:t>(optional)</a:t>
            </a:r>
            <a:r>
              <a:rPr lang="en-US" dirty="0"/>
              <a:t> </a:t>
            </a:r>
            <a:r>
              <a:rPr lang="en-US" dirty="0" smtClean="0"/>
              <a:t>- This </a:t>
            </a:r>
            <a:r>
              <a:rPr lang="en-US" dirty="0"/>
              <a:t>parameter defines the axis along which the array will be joined. By default, its value is 0.</a:t>
            </a:r>
          </a:p>
          <a:p>
            <a:endParaRPr lang="en-US" dirty="0" smtClean="0"/>
          </a:p>
          <a:p>
            <a:endParaRPr lang="en-US" dirty="0"/>
          </a:p>
        </p:txBody>
      </p:sp>
    </p:spTree>
    <p:extLst>
      <p:ext uri="{BB962C8B-B14F-4D97-AF65-F5344CB8AC3E}">
        <p14:creationId xmlns:p14="http://schemas.microsoft.com/office/powerpoint/2010/main" val="15896434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Concatenate </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smtClean="0"/>
              <a:t>Example - 1:</a:t>
            </a:r>
          </a:p>
          <a:p>
            <a:pPr marL="0" indent="0">
              <a:buNone/>
            </a:pPr>
            <a:r>
              <a:rPr lang="en-US" b="1" dirty="0"/>
              <a:t>import</a:t>
            </a:r>
            <a:r>
              <a:rPr lang="en-US" dirty="0"/>
              <a:t> </a:t>
            </a:r>
            <a:r>
              <a:rPr lang="en-US" dirty="0" err="1"/>
              <a:t>numpy</a:t>
            </a:r>
            <a:r>
              <a:rPr lang="en-US" dirty="0"/>
              <a:t> as </a:t>
            </a:r>
            <a:r>
              <a:rPr lang="en-US" dirty="0" err="1"/>
              <a:t>np</a:t>
            </a:r>
            <a:r>
              <a:rPr lang="en-US" dirty="0"/>
              <a:t>  </a:t>
            </a:r>
          </a:p>
          <a:p>
            <a:pPr marL="0" indent="0">
              <a:buNone/>
            </a:pPr>
            <a:r>
              <a:rPr lang="en-US" dirty="0"/>
              <a:t>x=</a:t>
            </a:r>
            <a:r>
              <a:rPr lang="en-US" dirty="0" err="1"/>
              <a:t>np.array</a:t>
            </a:r>
            <a:r>
              <a:rPr lang="en-US" dirty="0"/>
              <a:t>([[1,2],[3,4]])  </a:t>
            </a:r>
          </a:p>
          <a:p>
            <a:pPr marL="0" indent="0">
              <a:buNone/>
            </a:pPr>
            <a:r>
              <a:rPr lang="en-US" dirty="0"/>
              <a:t>y=</a:t>
            </a:r>
            <a:r>
              <a:rPr lang="en-US" dirty="0" err="1"/>
              <a:t>np.array</a:t>
            </a:r>
            <a:r>
              <a:rPr lang="en-US" dirty="0"/>
              <a:t>([[12,30]])  </a:t>
            </a:r>
          </a:p>
          <a:p>
            <a:pPr marL="0" indent="0">
              <a:buNone/>
            </a:pPr>
            <a:r>
              <a:rPr lang="en-US" dirty="0"/>
              <a:t>z=</a:t>
            </a:r>
            <a:r>
              <a:rPr lang="en-US" dirty="0" err="1"/>
              <a:t>np.concatenate</a:t>
            </a:r>
            <a:r>
              <a:rPr lang="en-US" dirty="0"/>
              <a:t>((</a:t>
            </a:r>
            <a:r>
              <a:rPr lang="en-US" dirty="0" err="1"/>
              <a:t>x,y</a:t>
            </a:r>
            <a:r>
              <a:rPr lang="en-US" dirty="0"/>
              <a:t>))  </a:t>
            </a:r>
          </a:p>
          <a:p>
            <a:pPr marL="0" indent="0">
              <a:buNone/>
            </a:pPr>
            <a:r>
              <a:rPr lang="en-US" dirty="0"/>
              <a:t>print(z) </a:t>
            </a:r>
          </a:p>
          <a:p>
            <a:endParaRPr lang="en-US" dirty="0" smtClean="0"/>
          </a:p>
          <a:p>
            <a:r>
              <a:rPr lang="en-US" dirty="0" smtClean="0"/>
              <a:t>Output:</a:t>
            </a:r>
          </a:p>
          <a:p>
            <a:pPr marL="0" indent="0">
              <a:buNone/>
            </a:pPr>
            <a:r>
              <a:rPr lang="en-US" dirty="0"/>
              <a:t>array([[ 1, 2], </a:t>
            </a:r>
            <a:endParaRPr lang="en-US" dirty="0" smtClean="0"/>
          </a:p>
          <a:p>
            <a:pPr marL="0" indent="0">
              <a:buNone/>
            </a:pPr>
            <a:r>
              <a:rPr lang="en-US" dirty="0" smtClean="0"/>
              <a:t>	 [ 3, 4], </a:t>
            </a:r>
          </a:p>
          <a:p>
            <a:pPr marL="0" indent="0">
              <a:buNone/>
            </a:pPr>
            <a:r>
              <a:rPr lang="en-US" dirty="0"/>
              <a:t>	</a:t>
            </a:r>
            <a:r>
              <a:rPr lang="en-US" dirty="0" smtClean="0"/>
              <a:t> [</a:t>
            </a:r>
            <a:r>
              <a:rPr lang="en-US" dirty="0"/>
              <a:t>12, 30]])</a:t>
            </a:r>
          </a:p>
          <a:p>
            <a:endParaRPr lang="en-US" dirty="0" smtClean="0"/>
          </a:p>
          <a:p>
            <a:endParaRPr lang="en-US" dirty="0"/>
          </a:p>
        </p:txBody>
      </p:sp>
    </p:spTree>
    <p:extLst>
      <p:ext uri="{BB962C8B-B14F-4D97-AF65-F5344CB8AC3E}">
        <p14:creationId xmlns:p14="http://schemas.microsoft.com/office/powerpoint/2010/main" val="35140324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Concatenate </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smtClean="0"/>
              <a:t>Example - 2:</a:t>
            </a:r>
          </a:p>
          <a:p>
            <a:pPr marL="0" indent="0">
              <a:buNone/>
            </a:pPr>
            <a:r>
              <a:rPr lang="en-US" b="1" dirty="0"/>
              <a:t>import</a:t>
            </a:r>
            <a:r>
              <a:rPr lang="en-US" dirty="0"/>
              <a:t> </a:t>
            </a:r>
            <a:r>
              <a:rPr lang="en-US" dirty="0" err="1"/>
              <a:t>numpy</a:t>
            </a:r>
            <a:r>
              <a:rPr lang="en-US" dirty="0"/>
              <a:t> as </a:t>
            </a:r>
            <a:r>
              <a:rPr lang="en-US" dirty="0" err="1"/>
              <a:t>np</a:t>
            </a:r>
            <a:r>
              <a:rPr lang="en-US" dirty="0"/>
              <a:t>  </a:t>
            </a:r>
          </a:p>
          <a:p>
            <a:pPr marL="0" indent="0">
              <a:buNone/>
            </a:pPr>
            <a:r>
              <a:rPr lang="en-US" dirty="0"/>
              <a:t>x=</a:t>
            </a:r>
            <a:r>
              <a:rPr lang="en-US" dirty="0" err="1"/>
              <a:t>np.array</a:t>
            </a:r>
            <a:r>
              <a:rPr lang="en-US" dirty="0"/>
              <a:t>([[1,2],[3,4]])  </a:t>
            </a:r>
          </a:p>
          <a:p>
            <a:pPr marL="0" indent="0">
              <a:buNone/>
            </a:pPr>
            <a:r>
              <a:rPr lang="en-US" dirty="0"/>
              <a:t>y=</a:t>
            </a:r>
            <a:r>
              <a:rPr lang="en-US" dirty="0" err="1"/>
              <a:t>np.array</a:t>
            </a:r>
            <a:r>
              <a:rPr lang="en-US" dirty="0"/>
              <a:t>([[12,30]])  </a:t>
            </a:r>
          </a:p>
          <a:p>
            <a:pPr marL="0" indent="0">
              <a:buNone/>
            </a:pPr>
            <a:r>
              <a:rPr lang="en-US" dirty="0"/>
              <a:t>z=</a:t>
            </a:r>
            <a:r>
              <a:rPr lang="en-US" dirty="0" err="1"/>
              <a:t>np.concatenate</a:t>
            </a:r>
            <a:r>
              <a:rPr lang="en-US" dirty="0"/>
              <a:t>((</a:t>
            </a:r>
            <a:r>
              <a:rPr lang="en-US" dirty="0" err="1"/>
              <a:t>x,y.T</a:t>
            </a:r>
            <a:r>
              <a:rPr lang="en-US" dirty="0"/>
              <a:t>), axis=1)   </a:t>
            </a:r>
          </a:p>
          <a:p>
            <a:pPr marL="0" indent="0">
              <a:buNone/>
            </a:pPr>
            <a:r>
              <a:rPr lang="en-US" dirty="0"/>
              <a:t>print(z)  </a:t>
            </a:r>
          </a:p>
          <a:p>
            <a:endParaRPr lang="en-US" dirty="0" smtClean="0"/>
          </a:p>
          <a:p>
            <a:r>
              <a:rPr lang="en-US" dirty="0" smtClean="0"/>
              <a:t>Output:</a:t>
            </a:r>
          </a:p>
          <a:p>
            <a:pPr marL="0" indent="0">
              <a:buNone/>
            </a:pPr>
            <a:r>
              <a:rPr lang="en-US" dirty="0"/>
              <a:t>array([[ 1, 2, 12], </a:t>
            </a:r>
            <a:endParaRPr lang="en-US" dirty="0" smtClean="0"/>
          </a:p>
          <a:p>
            <a:pPr marL="0" indent="0">
              <a:buNone/>
            </a:pPr>
            <a:r>
              <a:rPr lang="en-US" dirty="0"/>
              <a:t>	</a:t>
            </a:r>
            <a:r>
              <a:rPr lang="en-US" dirty="0" smtClean="0"/>
              <a:t> [ </a:t>
            </a:r>
            <a:r>
              <a:rPr lang="en-US" dirty="0"/>
              <a:t>3, 4, 30]])</a:t>
            </a:r>
            <a:endParaRPr lang="en-US" dirty="0" smtClean="0"/>
          </a:p>
          <a:p>
            <a:endParaRPr lang="en-US" dirty="0"/>
          </a:p>
        </p:txBody>
      </p:sp>
    </p:spTree>
    <p:extLst>
      <p:ext uri="{BB962C8B-B14F-4D97-AF65-F5344CB8AC3E}">
        <p14:creationId xmlns:p14="http://schemas.microsoft.com/office/powerpoint/2010/main" val="36588623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Concatenate </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smtClean="0"/>
              <a:t>Example - 3:</a:t>
            </a:r>
          </a:p>
          <a:p>
            <a:pPr marL="0" indent="0">
              <a:buNone/>
            </a:pPr>
            <a:r>
              <a:rPr lang="en-US" b="1" dirty="0"/>
              <a:t>import</a:t>
            </a:r>
            <a:r>
              <a:rPr lang="en-US" dirty="0"/>
              <a:t> </a:t>
            </a:r>
            <a:r>
              <a:rPr lang="en-US" dirty="0" err="1"/>
              <a:t>numpy</a:t>
            </a:r>
            <a:r>
              <a:rPr lang="en-US" dirty="0"/>
              <a:t> as </a:t>
            </a:r>
            <a:r>
              <a:rPr lang="en-US" dirty="0" err="1"/>
              <a:t>np</a:t>
            </a:r>
            <a:r>
              <a:rPr lang="en-US" dirty="0"/>
              <a:t>  </a:t>
            </a:r>
          </a:p>
          <a:p>
            <a:pPr marL="0" indent="0">
              <a:buNone/>
            </a:pPr>
            <a:r>
              <a:rPr lang="en-US" dirty="0"/>
              <a:t>x=</a:t>
            </a:r>
            <a:r>
              <a:rPr lang="en-US" dirty="0" err="1"/>
              <a:t>np.array</a:t>
            </a:r>
            <a:r>
              <a:rPr lang="en-US" dirty="0"/>
              <a:t>([[1,2],[3,4]])  </a:t>
            </a:r>
          </a:p>
          <a:p>
            <a:pPr marL="0" indent="0">
              <a:buNone/>
            </a:pPr>
            <a:r>
              <a:rPr lang="en-US" dirty="0"/>
              <a:t>y=</a:t>
            </a:r>
            <a:r>
              <a:rPr lang="en-US" dirty="0" err="1"/>
              <a:t>np.array</a:t>
            </a:r>
            <a:r>
              <a:rPr lang="en-US" dirty="0"/>
              <a:t>([[12,30]])  </a:t>
            </a:r>
          </a:p>
          <a:p>
            <a:pPr marL="0" indent="0">
              <a:buNone/>
            </a:pPr>
            <a:r>
              <a:rPr lang="en-US" dirty="0"/>
              <a:t>z=</a:t>
            </a:r>
            <a:r>
              <a:rPr lang="en-US" dirty="0" err="1"/>
              <a:t>np.concatenate</a:t>
            </a:r>
            <a:r>
              <a:rPr lang="en-US" dirty="0"/>
              <a:t>((</a:t>
            </a:r>
            <a:r>
              <a:rPr lang="en-US" dirty="0" err="1"/>
              <a:t>x,y</a:t>
            </a:r>
            <a:r>
              <a:rPr lang="en-US" dirty="0"/>
              <a:t>), axis=None)     </a:t>
            </a:r>
          </a:p>
          <a:p>
            <a:pPr marL="0" indent="0">
              <a:buNone/>
            </a:pPr>
            <a:r>
              <a:rPr lang="en-US" dirty="0" smtClean="0"/>
              <a:t>print(z)</a:t>
            </a:r>
            <a:r>
              <a:rPr lang="en-US" dirty="0"/>
              <a:t> </a:t>
            </a:r>
          </a:p>
          <a:p>
            <a:endParaRPr lang="en-US" dirty="0" smtClean="0"/>
          </a:p>
          <a:p>
            <a:r>
              <a:rPr lang="en-US" dirty="0" smtClean="0"/>
              <a:t>Output:</a:t>
            </a:r>
          </a:p>
          <a:p>
            <a:pPr marL="0" indent="0">
              <a:buNone/>
            </a:pPr>
            <a:r>
              <a:rPr lang="en-US" dirty="0"/>
              <a:t>array([ 1, 2, 3, 4, 12, 30])</a:t>
            </a:r>
          </a:p>
        </p:txBody>
      </p:sp>
    </p:spTree>
    <p:extLst>
      <p:ext uri="{BB962C8B-B14F-4D97-AF65-F5344CB8AC3E}">
        <p14:creationId xmlns:p14="http://schemas.microsoft.com/office/powerpoint/2010/main" val="36684840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Append</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a:t>The </a:t>
            </a:r>
            <a:r>
              <a:rPr lang="en-US" dirty="0" err="1"/>
              <a:t>numpy.append</a:t>
            </a:r>
            <a:r>
              <a:rPr lang="en-US" dirty="0"/>
              <a:t>() function is available in </a:t>
            </a:r>
            <a:r>
              <a:rPr lang="en-US" dirty="0" err="1"/>
              <a:t>NumPy</a:t>
            </a:r>
            <a:r>
              <a:rPr lang="en-US" dirty="0"/>
              <a:t> package. As the name suggests, append means adding something. The </a:t>
            </a:r>
            <a:r>
              <a:rPr lang="en-US" dirty="0" err="1"/>
              <a:t>numpy.append</a:t>
            </a:r>
            <a:r>
              <a:rPr lang="en-US" dirty="0"/>
              <a:t>() function is used to add or append new values to an existing </a:t>
            </a:r>
            <a:r>
              <a:rPr lang="en-US" dirty="0" err="1"/>
              <a:t>numpy</a:t>
            </a:r>
            <a:r>
              <a:rPr lang="en-US" dirty="0"/>
              <a:t> array. This function adds the new values at the end of the array.</a:t>
            </a:r>
          </a:p>
          <a:p>
            <a:endParaRPr lang="en-US" dirty="0"/>
          </a:p>
          <a:p>
            <a:r>
              <a:rPr lang="en-US" dirty="0"/>
              <a:t>The </a:t>
            </a:r>
            <a:r>
              <a:rPr lang="en-US" dirty="0" err="1"/>
              <a:t>numpy</a:t>
            </a:r>
            <a:r>
              <a:rPr lang="en-US" dirty="0"/>
              <a:t> append() function is used to merge two arrays. It returns a new array, and the original array remains unchanged</a:t>
            </a:r>
            <a:r>
              <a:rPr lang="en-US" dirty="0" smtClean="0"/>
              <a:t>.</a:t>
            </a:r>
          </a:p>
          <a:p>
            <a:endParaRPr lang="en-US" dirty="0"/>
          </a:p>
          <a:p>
            <a:r>
              <a:rPr lang="en-US" dirty="0" smtClean="0"/>
              <a:t>Syntax:</a:t>
            </a:r>
          </a:p>
          <a:p>
            <a:pPr marL="0" indent="0">
              <a:buNone/>
            </a:pPr>
            <a:r>
              <a:rPr lang="en-US" dirty="0" err="1"/>
              <a:t>numpy.append</a:t>
            </a:r>
            <a:r>
              <a:rPr lang="en-US" dirty="0"/>
              <a:t>(</a:t>
            </a:r>
            <a:r>
              <a:rPr lang="en-US" dirty="0" err="1"/>
              <a:t>arr</a:t>
            </a:r>
            <a:r>
              <a:rPr lang="en-US" dirty="0"/>
              <a:t>, values, axis=None)  </a:t>
            </a:r>
          </a:p>
          <a:p>
            <a:endParaRPr lang="en-US" dirty="0"/>
          </a:p>
        </p:txBody>
      </p:sp>
    </p:spTree>
    <p:extLst>
      <p:ext uri="{BB962C8B-B14F-4D97-AF65-F5344CB8AC3E}">
        <p14:creationId xmlns:p14="http://schemas.microsoft.com/office/powerpoint/2010/main" val="819878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Append</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fontScale="92500"/>
          </a:bodyPr>
          <a:lstStyle/>
          <a:p>
            <a:r>
              <a:rPr lang="en-US" b="1" dirty="0" err="1"/>
              <a:t>arr</a:t>
            </a:r>
            <a:r>
              <a:rPr lang="en-US" b="1" dirty="0"/>
              <a:t>: </a:t>
            </a:r>
            <a:r>
              <a:rPr lang="en-US" b="1" dirty="0" err="1" smtClean="0"/>
              <a:t>array_like</a:t>
            </a:r>
            <a:r>
              <a:rPr lang="en-US" b="1" dirty="0" smtClean="0"/>
              <a:t> - </a:t>
            </a:r>
            <a:r>
              <a:rPr lang="en-US" dirty="0"/>
              <a:t>This is a </a:t>
            </a:r>
            <a:r>
              <a:rPr lang="en-US" dirty="0" err="1"/>
              <a:t>ndarray</a:t>
            </a:r>
            <a:r>
              <a:rPr lang="en-US" dirty="0"/>
              <a:t>. The new values are appended to a copy of this array. This parameter is required and plays an important role in </a:t>
            </a:r>
            <a:r>
              <a:rPr lang="en-US" dirty="0" err="1"/>
              <a:t>numpy.append</a:t>
            </a:r>
            <a:r>
              <a:rPr lang="en-US" dirty="0"/>
              <a:t>() function</a:t>
            </a:r>
            <a:r>
              <a:rPr lang="en-US" dirty="0" smtClean="0"/>
              <a:t>.</a:t>
            </a:r>
          </a:p>
          <a:p>
            <a:endParaRPr lang="en-US" dirty="0"/>
          </a:p>
          <a:p>
            <a:r>
              <a:rPr lang="en-US" b="1" dirty="0"/>
              <a:t>values: </a:t>
            </a:r>
            <a:r>
              <a:rPr lang="en-US" b="1" dirty="0" err="1" smtClean="0"/>
              <a:t>array_like</a:t>
            </a:r>
            <a:r>
              <a:rPr lang="en-US" b="1" dirty="0" smtClean="0"/>
              <a:t> - </a:t>
            </a:r>
            <a:r>
              <a:rPr lang="en-US" dirty="0"/>
              <a:t>This parameter defines the values which are appended to a copy of a </a:t>
            </a:r>
            <a:r>
              <a:rPr lang="en-US" dirty="0" err="1"/>
              <a:t>ndarray</a:t>
            </a:r>
            <a:r>
              <a:rPr lang="en-US" dirty="0"/>
              <a:t>. One thing is to be noticed here that these values must be of the correct shape as the original </a:t>
            </a:r>
            <a:r>
              <a:rPr lang="en-US" dirty="0" err="1"/>
              <a:t>ndarray</a:t>
            </a:r>
            <a:r>
              <a:rPr lang="en-US" dirty="0"/>
              <a:t>, excluding the axis. If the axis is not defined, then the values can be in any shape and will flatten before use</a:t>
            </a:r>
            <a:r>
              <a:rPr lang="en-US" dirty="0" smtClean="0"/>
              <a:t>.</a:t>
            </a:r>
          </a:p>
          <a:p>
            <a:endParaRPr lang="en-US" dirty="0"/>
          </a:p>
          <a:p>
            <a:r>
              <a:rPr lang="en-US" b="1" dirty="0"/>
              <a:t>axis: </a:t>
            </a:r>
            <a:r>
              <a:rPr lang="en-US" b="1" dirty="0" err="1"/>
              <a:t>int</a:t>
            </a:r>
            <a:r>
              <a:rPr lang="en-US" b="1" dirty="0"/>
              <a:t>(optional</a:t>
            </a:r>
            <a:r>
              <a:rPr lang="en-US" b="1" dirty="0" smtClean="0"/>
              <a:t>) - </a:t>
            </a:r>
            <a:r>
              <a:rPr lang="en-US" dirty="0"/>
              <a:t>This parameter defines the axis along which values are appended. When the axis is not given to them, both </a:t>
            </a:r>
            <a:r>
              <a:rPr lang="en-US" dirty="0" err="1"/>
              <a:t>ndarray</a:t>
            </a:r>
            <a:r>
              <a:rPr lang="en-US" dirty="0"/>
              <a:t> and values are flattened before use.</a:t>
            </a:r>
          </a:p>
        </p:txBody>
      </p:sp>
    </p:spTree>
    <p:extLst>
      <p:ext uri="{BB962C8B-B14F-4D97-AF65-F5344CB8AC3E}">
        <p14:creationId xmlns:p14="http://schemas.microsoft.com/office/powerpoint/2010/main" val="10341467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Append</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lnSpcReduction="10000"/>
          </a:bodyPr>
          <a:lstStyle/>
          <a:p>
            <a:r>
              <a:rPr lang="en-US" dirty="0" smtClean="0"/>
              <a:t>Example -1:</a:t>
            </a:r>
          </a:p>
          <a:p>
            <a:pPr marL="0" indent="0">
              <a:buNone/>
            </a:pPr>
            <a:r>
              <a:rPr lang="en-US" dirty="0"/>
              <a:t>import </a:t>
            </a:r>
            <a:r>
              <a:rPr lang="en-US" dirty="0" err="1"/>
              <a:t>numpy</a:t>
            </a:r>
            <a:r>
              <a:rPr lang="en-US" dirty="0"/>
              <a:t> as </a:t>
            </a:r>
            <a:r>
              <a:rPr lang="en-US" dirty="0" err="1"/>
              <a:t>np</a:t>
            </a:r>
            <a:r>
              <a:rPr lang="en-US" dirty="0"/>
              <a:t>  </a:t>
            </a:r>
          </a:p>
          <a:p>
            <a:pPr marL="0" indent="0">
              <a:buNone/>
            </a:pPr>
            <a:r>
              <a:rPr lang="en-US" dirty="0"/>
              <a:t>a=</a:t>
            </a:r>
            <a:r>
              <a:rPr lang="en-US" dirty="0" err="1"/>
              <a:t>np.array</a:t>
            </a:r>
            <a:r>
              <a:rPr lang="en-US" dirty="0"/>
              <a:t>([[10, 20, 30], [40, 50, 60], [70, 80, 90</a:t>
            </a:r>
            <a:r>
              <a:rPr lang="en-US" dirty="0" smtClean="0"/>
              <a:t>]]</a:t>
            </a:r>
            <a:r>
              <a:rPr lang="en-US" dirty="0"/>
              <a:t> </a:t>
            </a:r>
          </a:p>
          <a:p>
            <a:pPr marL="0" indent="0">
              <a:buNone/>
            </a:pPr>
            <a:r>
              <a:rPr lang="en-US" dirty="0"/>
              <a:t>b=</a:t>
            </a:r>
            <a:r>
              <a:rPr lang="en-US" dirty="0" err="1"/>
              <a:t>np.array</a:t>
            </a:r>
            <a:r>
              <a:rPr lang="en-US" dirty="0"/>
              <a:t>([[11, 21, 31], [42, 52, 62], [73, 83, 93</a:t>
            </a:r>
            <a:r>
              <a:rPr lang="en-US" dirty="0" smtClean="0"/>
              <a:t>]]</a:t>
            </a:r>
            <a:r>
              <a:rPr lang="en-US" dirty="0"/>
              <a:t> </a:t>
            </a:r>
          </a:p>
          <a:p>
            <a:pPr marL="0" indent="0">
              <a:buNone/>
            </a:pPr>
            <a:r>
              <a:rPr lang="en-US" dirty="0" smtClean="0"/>
              <a:t>c=</a:t>
            </a:r>
            <a:r>
              <a:rPr lang="en-US" dirty="0" err="1" smtClean="0"/>
              <a:t>np.append</a:t>
            </a:r>
            <a:r>
              <a:rPr lang="en-US" dirty="0" smtClean="0"/>
              <a:t>(</a:t>
            </a:r>
            <a:r>
              <a:rPr lang="en-US" dirty="0" err="1" smtClean="0"/>
              <a:t>a,b,axis</a:t>
            </a:r>
            <a:r>
              <a:rPr lang="en-US" dirty="0" smtClean="0"/>
              <a:t>=0)</a:t>
            </a:r>
            <a:r>
              <a:rPr lang="en-US" dirty="0"/>
              <a:t>  </a:t>
            </a:r>
          </a:p>
          <a:p>
            <a:pPr marL="0" indent="0">
              <a:buNone/>
            </a:pPr>
            <a:r>
              <a:rPr lang="en-US" dirty="0"/>
              <a:t>print(c)</a:t>
            </a:r>
          </a:p>
          <a:p>
            <a:pPr marL="0" indent="0">
              <a:buNone/>
            </a:pPr>
            <a:endParaRPr lang="en-US" dirty="0" smtClean="0"/>
          </a:p>
          <a:p>
            <a:r>
              <a:rPr lang="en-US" dirty="0" smtClean="0"/>
              <a:t>Output:</a:t>
            </a:r>
          </a:p>
          <a:p>
            <a:pPr marL="0" indent="0">
              <a:buNone/>
            </a:pPr>
            <a:r>
              <a:rPr lang="en-US" dirty="0"/>
              <a:t>array([[ 10, 20, 30], </a:t>
            </a:r>
            <a:endParaRPr lang="en-US" dirty="0" smtClean="0"/>
          </a:p>
          <a:p>
            <a:pPr marL="0" indent="0">
              <a:buNone/>
            </a:pPr>
            <a:r>
              <a:rPr lang="en-US" dirty="0"/>
              <a:t>	 </a:t>
            </a:r>
            <a:r>
              <a:rPr lang="en-US" dirty="0" smtClean="0"/>
              <a:t>[ </a:t>
            </a:r>
            <a:r>
              <a:rPr lang="en-US" dirty="0"/>
              <a:t>40, 50, 60], </a:t>
            </a:r>
            <a:endParaRPr lang="en-US" dirty="0" smtClean="0"/>
          </a:p>
          <a:p>
            <a:pPr marL="0" indent="0">
              <a:buNone/>
            </a:pPr>
            <a:r>
              <a:rPr lang="en-US" dirty="0"/>
              <a:t>	</a:t>
            </a:r>
            <a:r>
              <a:rPr lang="en-US" dirty="0" smtClean="0"/>
              <a:t> [ </a:t>
            </a:r>
            <a:r>
              <a:rPr lang="en-US" dirty="0"/>
              <a:t>70, 80, 90], </a:t>
            </a:r>
            <a:endParaRPr lang="en-US" dirty="0" smtClean="0"/>
          </a:p>
          <a:p>
            <a:pPr marL="0" indent="0">
              <a:buNone/>
            </a:pPr>
            <a:r>
              <a:rPr lang="en-US" dirty="0"/>
              <a:t>	 </a:t>
            </a:r>
            <a:r>
              <a:rPr lang="en-US" dirty="0" smtClean="0"/>
              <a:t>[</a:t>
            </a:r>
            <a:r>
              <a:rPr lang="en-US" dirty="0"/>
              <a:t>11, 21, 31], </a:t>
            </a:r>
            <a:endParaRPr lang="en-US" dirty="0" smtClean="0"/>
          </a:p>
          <a:p>
            <a:pPr marL="0" indent="0">
              <a:buNone/>
            </a:pPr>
            <a:r>
              <a:rPr lang="en-US" dirty="0"/>
              <a:t>	</a:t>
            </a:r>
            <a:r>
              <a:rPr lang="en-US" dirty="0" smtClean="0"/>
              <a:t> [</a:t>
            </a:r>
            <a:r>
              <a:rPr lang="en-US" dirty="0"/>
              <a:t>42, 52, 62], </a:t>
            </a:r>
            <a:endParaRPr lang="en-US" dirty="0" smtClean="0"/>
          </a:p>
          <a:p>
            <a:pPr marL="0" indent="0">
              <a:buNone/>
            </a:pPr>
            <a:r>
              <a:rPr lang="en-US" dirty="0"/>
              <a:t>	</a:t>
            </a:r>
            <a:r>
              <a:rPr lang="en-US" dirty="0" smtClean="0"/>
              <a:t> [</a:t>
            </a:r>
            <a:r>
              <a:rPr lang="en-US" dirty="0"/>
              <a:t>73, 83, 93</a:t>
            </a:r>
            <a:r>
              <a:rPr lang="en-US" dirty="0" smtClean="0"/>
              <a:t>]])</a:t>
            </a:r>
          </a:p>
        </p:txBody>
      </p:sp>
    </p:spTree>
    <p:extLst>
      <p:ext uri="{BB962C8B-B14F-4D97-AF65-F5344CB8AC3E}">
        <p14:creationId xmlns:p14="http://schemas.microsoft.com/office/powerpoint/2010/main" val="2616690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Append</a:t>
            </a:r>
            <a:endParaRPr lang="en-US" sz="3600" b="1" dirty="0"/>
          </a:p>
        </p:txBody>
      </p:sp>
      <p:sp>
        <p:nvSpPr>
          <p:cNvPr id="3" name="Content Placeholder 2"/>
          <p:cNvSpPr>
            <a:spLocks noGrp="1"/>
          </p:cNvSpPr>
          <p:nvPr>
            <p:ph sz="quarter" idx="1"/>
          </p:nvPr>
        </p:nvSpPr>
        <p:spPr>
          <a:xfrm>
            <a:off x="457200" y="914400"/>
            <a:ext cx="7467600" cy="5791200"/>
          </a:xfrm>
        </p:spPr>
        <p:txBody>
          <a:bodyPr>
            <a:normAutofit/>
          </a:bodyPr>
          <a:lstStyle/>
          <a:p>
            <a:r>
              <a:rPr lang="en-US" dirty="0" smtClean="0"/>
              <a:t>Example -2:</a:t>
            </a:r>
          </a:p>
          <a:p>
            <a:pPr marL="0" indent="0">
              <a:buNone/>
            </a:pPr>
            <a:r>
              <a:rPr lang="en-US" dirty="0"/>
              <a:t>import </a:t>
            </a:r>
            <a:r>
              <a:rPr lang="en-US" dirty="0" err="1"/>
              <a:t>numpy</a:t>
            </a:r>
            <a:r>
              <a:rPr lang="en-US" dirty="0"/>
              <a:t> as </a:t>
            </a:r>
            <a:r>
              <a:rPr lang="en-US" dirty="0" err="1"/>
              <a:t>np</a:t>
            </a:r>
            <a:r>
              <a:rPr lang="en-US" dirty="0"/>
              <a:t>  </a:t>
            </a:r>
          </a:p>
          <a:p>
            <a:pPr marL="0" indent="0">
              <a:buNone/>
            </a:pPr>
            <a:r>
              <a:rPr lang="en-US" dirty="0"/>
              <a:t>a=</a:t>
            </a:r>
            <a:r>
              <a:rPr lang="en-US" dirty="0" err="1"/>
              <a:t>np.array</a:t>
            </a:r>
            <a:r>
              <a:rPr lang="en-US" dirty="0"/>
              <a:t>([[10, 20, 30], [40, 50, 60], [70, 80, 90</a:t>
            </a:r>
            <a:r>
              <a:rPr lang="en-US" dirty="0" smtClean="0"/>
              <a:t>]]</a:t>
            </a:r>
            <a:r>
              <a:rPr lang="en-US" dirty="0"/>
              <a:t> </a:t>
            </a:r>
          </a:p>
          <a:p>
            <a:pPr marL="0" indent="0">
              <a:buNone/>
            </a:pPr>
            <a:r>
              <a:rPr lang="en-US" dirty="0"/>
              <a:t>b=</a:t>
            </a:r>
            <a:r>
              <a:rPr lang="en-US" dirty="0" err="1"/>
              <a:t>np.array</a:t>
            </a:r>
            <a:r>
              <a:rPr lang="en-US" dirty="0"/>
              <a:t>([[11, 21, 31], [42, 52, 62], [73, 83, 93</a:t>
            </a:r>
            <a:r>
              <a:rPr lang="en-US" dirty="0" smtClean="0"/>
              <a:t>]]</a:t>
            </a:r>
            <a:r>
              <a:rPr lang="en-US" dirty="0"/>
              <a:t> </a:t>
            </a:r>
          </a:p>
          <a:p>
            <a:pPr marL="0" indent="0">
              <a:buNone/>
            </a:pPr>
            <a:r>
              <a:rPr lang="en-US" dirty="0" smtClean="0"/>
              <a:t>c=</a:t>
            </a:r>
            <a:r>
              <a:rPr lang="en-US" dirty="0" err="1" smtClean="0"/>
              <a:t>np.append</a:t>
            </a:r>
            <a:r>
              <a:rPr lang="en-US" dirty="0" smtClean="0"/>
              <a:t>(</a:t>
            </a:r>
            <a:r>
              <a:rPr lang="en-US" dirty="0" err="1" smtClean="0"/>
              <a:t>a,b,axis</a:t>
            </a:r>
            <a:r>
              <a:rPr lang="en-US" dirty="0" smtClean="0"/>
              <a:t>=1)</a:t>
            </a:r>
            <a:r>
              <a:rPr lang="en-US" dirty="0"/>
              <a:t>  </a:t>
            </a:r>
          </a:p>
          <a:p>
            <a:pPr marL="0" indent="0">
              <a:buNone/>
            </a:pPr>
            <a:r>
              <a:rPr lang="en-US" dirty="0" smtClean="0"/>
              <a:t>print(c)</a:t>
            </a:r>
            <a:endParaRPr lang="en-US" dirty="0"/>
          </a:p>
          <a:p>
            <a:pPr marL="0" indent="0">
              <a:buNone/>
            </a:pPr>
            <a:endParaRPr lang="en-US" dirty="0" smtClean="0"/>
          </a:p>
          <a:p>
            <a:r>
              <a:rPr lang="en-US" dirty="0" smtClean="0"/>
              <a:t>Output:</a:t>
            </a:r>
          </a:p>
          <a:p>
            <a:pPr marL="0" indent="0">
              <a:buNone/>
            </a:pPr>
            <a:r>
              <a:rPr lang="en-US" dirty="0"/>
              <a:t>array([[ 10, 20, 30, 11, 21, 31], </a:t>
            </a:r>
            <a:endParaRPr lang="en-US" dirty="0" smtClean="0"/>
          </a:p>
          <a:p>
            <a:pPr marL="0" indent="0">
              <a:buNone/>
            </a:pPr>
            <a:r>
              <a:rPr lang="en-US" dirty="0"/>
              <a:t>	</a:t>
            </a:r>
            <a:r>
              <a:rPr lang="en-US" dirty="0" smtClean="0"/>
              <a:t> [ </a:t>
            </a:r>
            <a:r>
              <a:rPr lang="en-US" dirty="0"/>
              <a:t>40, 50, 60, 42, 52, 62], </a:t>
            </a:r>
            <a:endParaRPr lang="en-US" dirty="0" smtClean="0"/>
          </a:p>
          <a:p>
            <a:pPr marL="0" indent="0">
              <a:buNone/>
            </a:pPr>
            <a:r>
              <a:rPr lang="en-US" dirty="0"/>
              <a:t>	</a:t>
            </a:r>
            <a:r>
              <a:rPr lang="en-US" dirty="0" smtClean="0"/>
              <a:t> [ </a:t>
            </a:r>
            <a:r>
              <a:rPr lang="en-US" dirty="0"/>
              <a:t>70, 80, 90, 73, 83, 93]])</a:t>
            </a:r>
            <a:endParaRPr lang="en-US" dirty="0" smtClean="0"/>
          </a:p>
        </p:txBody>
      </p:sp>
    </p:spTree>
    <p:extLst>
      <p:ext uri="{BB962C8B-B14F-4D97-AF65-F5344CB8AC3E}">
        <p14:creationId xmlns:p14="http://schemas.microsoft.com/office/powerpoint/2010/main" val="75436144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Sort</a:t>
            </a:r>
            <a:endParaRPr lang="en-US" sz="3600" b="1" dirty="0"/>
          </a:p>
        </p:txBody>
      </p:sp>
      <p:sp>
        <p:nvSpPr>
          <p:cNvPr id="3" name="Content Placeholder 2"/>
          <p:cNvSpPr>
            <a:spLocks noGrp="1"/>
          </p:cNvSpPr>
          <p:nvPr>
            <p:ph sz="quarter" idx="1"/>
          </p:nvPr>
        </p:nvSpPr>
        <p:spPr>
          <a:xfrm>
            <a:off x="457200" y="838200"/>
            <a:ext cx="7467600" cy="5867400"/>
          </a:xfrm>
        </p:spPr>
        <p:txBody>
          <a:bodyPr>
            <a:normAutofit/>
          </a:bodyPr>
          <a:lstStyle/>
          <a:p>
            <a:r>
              <a:rPr lang="en-US" dirty="0"/>
              <a:t>In some cases, we require a sorted array for computation. For this purpose, the </a:t>
            </a:r>
            <a:r>
              <a:rPr lang="en-US" dirty="0" err="1"/>
              <a:t>numpy</a:t>
            </a:r>
            <a:r>
              <a:rPr lang="en-US" dirty="0"/>
              <a:t> module of Python provides a function called </a:t>
            </a:r>
            <a:r>
              <a:rPr lang="en-US" b="1" dirty="0" err="1"/>
              <a:t>numpy.sort</a:t>
            </a:r>
            <a:r>
              <a:rPr lang="en-US" b="1" dirty="0"/>
              <a:t>()</a:t>
            </a:r>
            <a:r>
              <a:rPr lang="en-US" dirty="0"/>
              <a:t>. This function gives a sorted copy of the source array or input array</a:t>
            </a:r>
            <a:r>
              <a:rPr lang="en-US" dirty="0" smtClean="0"/>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743200"/>
            <a:ext cx="3810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114798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Sort</a:t>
            </a:r>
            <a:endParaRPr lang="en-US" sz="3600" b="1" dirty="0"/>
          </a:p>
        </p:txBody>
      </p:sp>
      <p:sp>
        <p:nvSpPr>
          <p:cNvPr id="3" name="Content Placeholder 2"/>
          <p:cNvSpPr>
            <a:spLocks noGrp="1"/>
          </p:cNvSpPr>
          <p:nvPr>
            <p:ph sz="quarter" idx="1"/>
          </p:nvPr>
        </p:nvSpPr>
        <p:spPr>
          <a:xfrm>
            <a:off x="457200" y="914400"/>
            <a:ext cx="8305800" cy="5791200"/>
          </a:xfrm>
        </p:spPr>
        <p:txBody>
          <a:bodyPr>
            <a:normAutofit/>
          </a:bodyPr>
          <a:lstStyle/>
          <a:p>
            <a:r>
              <a:rPr lang="en-US" dirty="0" smtClean="0"/>
              <a:t>Syntax:</a:t>
            </a:r>
          </a:p>
          <a:p>
            <a:pPr marL="0" indent="0">
              <a:buNone/>
            </a:pPr>
            <a:r>
              <a:rPr lang="en-US" dirty="0" err="1" smtClean="0"/>
              <a:t>numpy.sort</a:t>
            </a:r>
            <a:r>
              <a:rPr lang="en-US" dirty="0" smtClean="0"/>
              <a:t>(</a:t>
            </a:r>
            <a:r>
              <a:rPr lang="en-US" dirty="0" err="1" smtClean="0"/>
              <a:t>a,axis</a:t>
            </a:r>
            <a:r>
              <a:rPr lang="en-US" dirty="0" smtClean="0"/>
              <a:t>=-1,kind</a:t>
            </a:r>
            <a:r>
              <a:rPr lang="en-US" dirty="0"/>
              <a:t>='</a:t>
            </a:r>
            <a:r>
              <a:rPr lang="en-US" dirty="0" err="1"/>
              <a:t>quicksort</a:t>
            </a:r>
            <a:r>
              <a:rPr lang="en-US" dirty="0" err="1" smtClean="0"/>
              <a:t>',order</a:t>
            </a:r>
            <a:r>
              <a:rPr lang="en-US" dirty="0" smtClean="0"/>
              <a:t>=None</a:t>
            </a:r>
            <a:r>
              <a:rPr lang="en-US" dirty="0"/>
              <a:t>)  </a:t>
            </a:r>
            <a:endParaRPr lang="en-US" dirty="0" smtClean="0"/>
          </a:p>
          <a:p>
            <a:pPr marL="0" indent="0">
              <a:buNone/>
            </a:pPr>
            <a:endParaRPr lang="en-US" dirty="0"/>
          </a:p>
          <a:p>
            <a:r>
              <a:rPr lang="en-US" b="1" dirty="0"/>
              <a:t>a</a:t>
            </a:r>
            <a:r>
              <a:rPr lang="en-US" b="1" dirty="0" smtClean="0"/>
              <a:t>: </a:t>
            </a:r>
            <a:r>
              <a:rPr lang="en-US" b="1" dirty="0" err="1" smtClean="0"/>
              <a:t>array_like</a:t>
            </a:r>
            <a:r>
              <a:rPr lang="en-US" dirty="0"/>
              <a:t> </a:t>
            </a:r>
            <a:r>
              <a:rPr lang="en-US" dirty="0" smtClean="0"/>
              <a:t>- This </a:t>
            </a:r>
            <a:r>
              <a:rPr lang="en-US" dirty="0"/>
              <a:t>parameter defines the source array, which is going to be sorted</a:t>
            </a:r>
            <a:r>
              <a:rPr lang="en-US" dirty="0" smtClean="0"/>
              <a:t>.</a:t>
            </a:r>
          </a:p>
          <a:p>
            <a:endParaRPr lang="en-US" dirty="0"/>
          </a:p>
          <a:p>
            <a:r>
              <a:rPr lang="en-US" b="1" dirty="0"/>
              <a:t>axis: </a:t>
            </a:r>
            <a:r>
              <a:rPr lang="en-US" b="1" dirty="0" err="1"/>
              <a:t>int</a:t>
            </a:r>
            <a:r>
              <a:rPr lang="en-US" b="1" dirty="0"/>
              <a:t> or None(optional</a:t>
            </a:r>
            <a:r>
              <a:rPr lang="en-US" b="1" dirty="0" smtClean="0"/>
              <a:t>) </a:t>
            </a:r>
            <a:r>
              <a:rPr lang="en-US" b="1" dirty="0"/>
              <a:t>- </a:t>
            </a:r>
            <a:r>
              <a:rPr lang="en-US" dirty="0"/>
              <a:t>This parameter defines the axis along which the sorting is performed. If this parameter is None, the array will be flattened before sorting, and by default, this parameter is set to -1, which sorts the array along the last axis</a:t>
            </a:r>
            <a:r>
              <a:rPr lang="en-US" dirty="0" smtClean="0"/>
              <a:t>.</a:t>
            </a:r>
          </a:p>
        </p:txBody>
      </p:sp>
    </p:spTree>
    <p:extLst>
      <p:ext uri="{BB962C8B-B14F-4D97-AF65-F5344CB8AC3E}">
        <p14:creationId xmlns:p14="http://schemas.microsoft.com/office/powerpoint/2010/main" val="42617799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Sort</a:t>
            </a:r>
            <a:endParaRPr lang="en-US" sz="3600" b="1" dirty="0"/>
          </a:p>
        </p:txBody>
      </p:sp>
      <p:sp>
        <p:nvSpPr>
          <p:cNvPr id="3" name="Content Placeholder 2"/>
          <p:cNvSpPr>
            <a:spLocks noGrp="1"/>
          </p:cNvSpPr>
          <p:nvPr>
            <p:ph sz="quarter" idx="1"/>
          </p:nvPr>
        </p:nvSpPr>
        <p:spPr>
          <a:xfrm>
            <a:off x="457200" y="914400"/>
            <a:ext cx="8305800" cy="5791200"/>
          </a:xfrm>
        </p:spPr>
        <p:txBody>
          <a:bodyPr>
            <a:normAutofit/>
          </a:bodyPr>
          <a:lstStyle/>
          <a:p>
            <a:r>
              <a:rPr lang="en-US" b="1" dirty="0" smtClean="0"/>
              <a:t>kind</a:t>
            </a:r>
            <a:r>
              <a:rPr lang="en-US" b="1" dirty="0"/>
              <a:t>: {</a:t>
            </a:r>
            <a:r>
              <a:rPr lang="en-US" b="1" dirty="0" err="1" smtClean="0"/>
              <a:t>quicksort,heapsort</a:t>
            </a:r>
            <a:r>
              <a:rPr lang="en-US" b="1" dirty="0" smtClean="0"/>
              <a:t>, </a:t>
            </a:r>
            <a:r>
              <a:rPr lang="en-US" b="1" dirty="0" err="1" smtClean="0"/>
              <a:t>mergesort</a:t>
            </a:r>
            <a:r>
              <a:rPr lang="en-US" b="1" dirty="0" smtClean="0"/>
              <a:t>} (</a:t>
            </a:r>
            <a:r>
              <a:rPr lang="en-US" b="1" dirty="0"/>
              <a:t>optional) - </a:t>
            </a:r>
            <a:r>
              <a:rPr lang="en-US" dirty="0"/>
              <a:t>This parameter is used to define the sorting algorithm, and by default, the sorting is performed using 'quicksort</a:t>
            </a:r>
            <a:r>
              <a:rPr lang="en-US" dirty="0" smtClean="0"/>
              <a:t>'.</a:t>
            </a:r>
          </a:p>
          <a:p>
            <a:endParaRPr lang="en-US" dirty="0"/>
          </a:p>
          <a:p>
            <a:r>
              <a:rPr lang="en-US" b="1" dirty="0"/>
              <a:t>order: </a:t>
            </a:r>
            <a:r>
              <a:rPr lang="en-US" b="1" dirty="0" err="1"/>
              <a:t>str</a:t>
            </a:r>
            <a:r>
              <a:rPr lang="en-US" b="1" dirty="0"/>
              <a:t> or list of </a:t>
            </a:r>
            <a:r>
              <a:rPr lang="en-US" b="1" dirty="0" err="1"/>
              <a:t>str</a:t>
            </a:r>
            <a:r>
              <a:rPr lang="en-US" b="1" dirty="0"/>
              <a:t>(optional</a:t>
            </a:r>
            <a:r>
              <a:rPr lang="en-US" b="1" dirty="0" smtClean="0"/>
              <a:t>) - </a:t>
            </a:r>
            <a:r>
              <a:rPr lang="en-US" dirty="0"/>
              <a:t>When an array is defined with fields, its order defines the fields for making a comparison in first, second, etc. Only the single field can be specified as a string, and not necessarily for all fields. However, the unspecified fields will still be used, in the order in which they come up in the </a:t>
            </a:r>
            <a:r>
              <a:rPr lang="en-US" dirty="0" err="1"/>
              <a:t>dtype</a:t>
            </a:r>
            <a:r>
              <a:rPr lang="en-US" dirty="0"/>
              <a:t>, to break the ties.</a:t>
            </a:r>
            <a:endParaRPr lang="en-US" dirty="0" smtClean="0"/>
          </a:p>
        </p:txBody>
      </p:sp>
    </p:spTree>
    <p:extLst>
      <p:ext uri="{BB962C8B-B14F-4D97-AF65-F5344CB8AC3E}">
        <p14:creationId xmlns:p14="http://schemas.microsoft.com/office/powerpoint/2010/main" val="2836229038"/>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Sort</a:t>
            </a:r>
            <a:endParaRPr lang="en-US" sz="3600" b="1" dirty="0"/>
          </a:p>
        </p:txBody>
      </p:sp>
      <p:sp>
        <p:nvSpPr>
          <p:cNvPr id="3" name="Content Placeholder 2"/>
          <p:cNvSpPr>
            <a:spLocks noGrp="1"/>
          </p:cNvSpPr>
          <p:nvPr>
            <p:ph sz="quarter" idx="1"/>
          </p:nvPr>
        </p:nvSpPr>
        <p:spPr>
          <a:xfrm>
            <a:off x="457200" y="914400"/>
            <a:ext cx="8305800" cy="5791200"/>
          </a:xfrm>
        </p:spPr>
        <p:txBody>
          <a:bodyPr>
            <a:normAutofit lnSpcReduction="10000"/>
          </a:bodyPr>
          <a:lstStyle/>
          <a:p>
            <a:r>
              <a:rPr lang="en-US" dirty="0" smtClean="0"/>
              <a:t>Example - 1:</a:t>
            </a:r>
          </a:p>
          <a:p>
            <a:pPr marL="0" indent="0">
              <a:buNone/>
            </a:pPr>
            <a:r>
              <a:rPr lang="en-US" dirty="0"/>
              <a:t>import </a:t>
            </a:r>
            <a:r>
              <a:rPr lang="en-US" dirty="0" err="1"/>
              <a:t>numpy</a:t>
            </a:r>
            <a:r>
              <a:rPr lang="en-US" dirty="0"/>
              <a:t> as </a:t>
            </a:r>
            <a:r>
              <a:rPr lang="en-US" dirty="0" err="1"/>
              <a:t>np</a:t>
            </a:r>
            <a:r>
              <a:rPr lang="en-US" dirty="0"/>
              <a:t>  </a:t>
            </a:r>
            <a:endParaRPr lang="en-US" dirty="0" smtClean="0"/>
          </a:p>
          <a:p>
            <a:pPr marL="0" indent="0">
              <a:buNone/>
            </a:pPr>
            <a:r>
              <a:rPr lang="en-US" dirty="0" smtClean="0"/>
              <a:t>x=</a:t>
            </a:r>
            <a:r>
              <a:rPr lang="en-US" dirty="0" err="1" smtClean="0"/>
              <a:t>np.array</a:t>
            </a:r>
            <a:r>
              <a:rPr lang="en-US" dirty="0" smtClean="0"/>
              <a:t>([[1,4,2,3],[9,13,61,1],[43,24,88,22]])  </a:t>
            </a:r>
          </a:p>
          <a:p>
            <a:pPr marL="0" indent="0">
              <a:buNone/>
            </a:pPr>
            <a:r>
              <a:rPr lang="en-US" dirty="0" smtClean="0"/>
              <a:t>print(x)</a:t>
            </a:r>
            <a:r>
              <a:rPr lang="en-US" dirty="0"/>
              <a:t>  </a:t>
            </a:r>
          </a:p>
          <a:p>
            <a:pPr marL="0" indent="0">
              <a:buNone/>
            </a:pPr>
            <a:r>
              <a:rPr lang="en-US" dirty="0"/>
              <a:t>y=</a:t>
            </a:r>
            <a:r>
              <a:rPr lang="en-US" dirty="0" err="1"/>
              <a:t>np.sort</a:t>
            </a:r>
            <a:r>
              <a:rPr lang="en-US" dirty="0"/>
              <a:t>(x)  </a:t>
            </a:r>
          </a:p>
          <a:p>
            <a:pPr marL="0" indent="0">
              <a:buNone/>
            </a:pPr>
            <a:r>
              <a:rPr lang="en-US" dirty="0"/>
              <a:t>p</a:t>
            </a:r>
            <a:r>
              <a:rPr lang="en-US" dirty="0" smtClean="0"/>
              <a:t>rint(y)</a:t>
            </a:r>
            <a:endParaRPr lang="en-US" dirty="0"/>
          </a:p>
          <a:p>
            <a:pPr marL="0" indent="0">
              <a:buNone/>
            </a:pPr>
            <a:endParaRPr lang="en-US" dirty="0" smtClean="0"/>
          </a:p>
          <a:p>
            <a:r>
              <a:rPr lang="en-US" dirty="0" smtClean="0"/>
              <a:t>Output:</a:t>
            </a:r>
          </a:p>
          <a:p>
            <a:pPr marL="0" indent="0">
              <a:buNone/>
            </a:pPr>
            <a:r>
              <a:rPr lang="en-US" dirty="0" smtClean="0"/>
              <a:t>array</a:t>
            </a:r>
            <a:r>
              <a:rPr lang="en-US" dirty="0"/>
              <a:t>([[ 1, 4, 2, 3], </a:t>
            </a:r>
            <a:endParaRPr lang="en-US" dirty="0" smtClean="0"/>
          </a:p>
          <a:p>
            <a:pPr marL="0" indent="0">
              <a:buNone/>
            </a:pPr>
            <a:r>
              <a:rPr lang="en-US" dirty="0"/>
              <a:t>	</a:t>
            </a:r>
            <a:r>
              <a:rPr lang="en-US" dirty="0" smtClean="0"/>
              <a:t>[ </a:t>
            </a:r>
            <a:r>
              <a:rPr lang="en-US" dirty="0"/>
              <a:t>9, 13, 61, 1], </a:t>
            </a:r>
          </a:p>
          <a:p>
            <a:pPr marL="0" indent="0">
              <a:buNone/>
            </a:pPr>
            <a:r>
              <a:rPr lang="en-US" dirty="0" smtClean="0"/>
              <a:t>	[</a:t>
            </a:r>
            <a:r>
              <a:rPr lang="en-US" dirty="0"/>
              <a:t>43, 24, 88, 22]]) </a:t>
            </a:r>
            <a:endParaRPr lang="en-US" dirty="0" smtClean="0"/>
          </a:p>
          <a:p>
            <a:pPr marL="0" indent="0">
              <a:buNone/>
            </a:pPr>
            <a:r>
              <a:rPr lang="en-US" dirty="0" smtClean="0"/>
              <a:t>array</a:t>
            </a:r>
            <a:r>
              <a:rPr lang="en-US" dirty="0"/>
              <a:t>([[ 1, 2, 3, 4], </a:t>
            </a:r>
            <a:endParaRPr lang="en-US" dirty="0" smtClean="0"/>
          </a:p>
          <a:p>
            <a:pPr marL="0" indent="0">
              <a:buNone/>
            </a:pPr>
            <a:r>
              <a:rPr lang="en-US" dirty="0"/>
              <a:t>	</a:t>
            </a:r>
            <a:r>
              <a:rPr lang="en-US" dirty="0" smtClean="0"/>
              <a:t>[ </a:t>
            </a:r>
            <a:r>
              <a:rPr lang="en-US" dirty="0"/>
              <a:t>1, 9, 13, 61], </a:t>
            </a:r>
            <a:endParaRPr lang="en-US" dirty="0" smtClean="0"/>
          </a:p>
          <a:p>
            <a:pPr marL="0" indent="0">
              <a:buNone/>
            </a:pPr>
            <a:r>
              <a:rPr lang="en-US" dirty="0"/>
              <a:t>	</a:t>
            </a:r>
            <a:r>
              <a:rPr lang="en-US" dirty="0" smtClean="0"/>
              <a:t>[</a:t>
            </a:r>
            <a:r>
              <a:rPr lang="en-US" dirty="0"/>
              <a:t>22, 24, 43, 88]])</a:t>
            </a:r>
            <a:endParaRPr lang="en-US" dirty="0" smtClean="0"/>
          </a:p>
        </p:txBody>
      </p:sp>
    </p:spTree>
    <p:extLst>
      <p:ext uri="{BB962C8B-B14F-4D97-AF65-F5344CB8AC3E}">
        <p14:creationId xmlns:p14="http://schemas.microsoft.com/office/powerpoint/2010/main" val="39575334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Sort</a:t>
            </a:r>
            <a:endParaRPr lang="en-US" sz="3600" b="1" dirty="0"/>
          </a:p>
        </p:txBody>
      </p:sp>
      <p:sp>
        <p:nvSpPr>
          <p:cNvPr id="3" name="Content Placeholder 2"/>
          <p:cNvSpPr>
            <a:spLocks noGrp="1"/>
          </p:cNvSpPr>
          <p:nvPr>
            <p:ph sz="quarter" idx="1"/>
          </p:nvPr>
        </p:nvSpPr>
        <p:spPr>
          <a:xfrm>
            <a:off x="457200" y="914400"/>
            <a:ext cx="8305800" cy="5562600"/>
          </a:xfrm>
        </p:spPr>
        <p:txBody>
          <a:bodyPr>
            <a:normAutofit/>
          </a:bodyPr>
          <a:lstStyle/>
          <a:p>
            <a:r>
              <a:rPr lang="en-US" dirty="0" smtClean="0"/>
              <a:t>Example - 2:</a:t>
            </a:r>
          </a:p>
          <a:p>
            <a:pPr marL="0" indent="0">
              <a:buNone/>
            </a:pPr>
            <a:r>
              <a:rPr lang="en-US" dirty="0"/>
              <a:t>import </a:t>
            </a:r>
            <a:r>
              <a:rPr lang="en-US" dirty="0" err="1"/>
              <a:t>numpy</a:t>
            </a:r>
            <a:r>
              <a:rPr lang="en-US" dirty="0"/>
              <a:t> as </a:t>
            </a:r>
            <a:r>
              <a:rPr lang="en-US" dirty="0" err="1"/>
              <a:t>np</a:t>
            </a:r>
            <a:r>
              <a:rPr lang="en-US" dirty="0"/>
              <a:t>  </a:t>
            </a:r>
            <a:endParaRPr lang="en-US" dirty="0" smtClean="0"/>
          </a:p>
          <a:p>
            <a:pPr marL="0" indent="0">
              <a:buNone/>
            </a:pPr>
            <a:r>
              <a:rPr lang="en-US" dirty="0" smtClean="0"/>
              <a:t>x=</a:t>
            </a:r>
            <a:r>
              <a:rPr lang="en-US" dirty="0" err="1" smtClean="0"/>
              <a:t>np.array</a:t>
            </a:r>
            <a:r>
              <a:rPr lang="en-US" dirty="0" smtClean="0"/>
              <a:t>([[1,4,2,3],[9,13,61,1],[43,24,88,22]])  </a:t>
            </a:r>
          </a:p>
          <a:p>
            <a:pPr marL="0" indent="0">
              <a:buNone/>
            </a:pPr>
            <a:r>
              <a:rPr lang="en-US" dirty="0" smtClean="0"/>
              <a:t>print(x)</a:t>
            </a:r>
            <a:r>
              <a:rPr lang="en-US" dirty="0"/>
              <a:t>  </a:t>
            </a:r>
          </a:p>
          <a:p>
            <a:pPr marL="0" indent="0">
              <a:buNone/>
            </a:pPr>
            <a:r>
              <a:rPr lang="en-US" dirty="0" smtClean="0"/>
              <a:t>y=</a:t>
            </a:r>
            <a:r>
              <a:rPr lang="en-US" dirty="0" err="1" smtClean="0"/>
              <a:t>np.sort</a:t>
            </a:r>
            <a:r>
              <a:rPr lang="en-US" dirty="0" smtClean="0"/>
              <a:t>(x, axis=None)</a:t>
            </a:r>
            <a:r>
              <a:rPr lang="en-US" dirty="0"/>
              <a:t>  </a:t>
            </a:r>
          </a:p>
          <a:p>
            <a:pPr marL="0" indent="0">
              <a:buNone/>
            </a:pPr>
            <a:r>
              <a:rPr lang="en-US" dirty="0" smtClean="0"/>
              <a:t>print(y)</a:t>
            </a:r>
            <a:endParaRPr lang="en-US" dirty="0"/>
          </a:p>
          <a:p>
            <a:pPr marL="0" indent="0">
              <a:buNone/>
            </a:pPr>
            <a:endParaRPr lang="en-US" dirty="0" smtClean="0"/>
          </a:p>
          <a:p>
            <a:r>
              <a:rPr lang="en-US" dirty="0" smtClean="0"/>
              <a:t>Output:</a:t>
            </a:r>
          </a:p>
          <a:p>
            <a:pPr marL="0" indent="0">
              <a:buNone/>
            </a:pPr>
            <a:r>
              <a:rPr lang="en-US" dirty="0"/>
              <a:t>array([[ 1, 4, 2, 3], </a:t>
            </a:r>
            <a:endParaRPr lang="en-US" dirty="0" smtClean="0"/>
          </a:p>
          <a:p>
            <a:pPr marL="0" indent="0">
              <a:buNone/>
            </a:pPr>
            <a:r>
              <a:rPr lang="en-US" dirty="0" smtClean="0"/>
              <a:t>	[ </a:t>
            </a:r>
            <a:r>
              <a:rPr lang="en-US" dirty="0"/>
              <a:t>9, 13, 61, 1], </a:t>
            </a:r>
            <a:endParaRPr lang="en-US" dirty="0" smtClean="0"/>
          </a:p>
          <a:p>
            <a:pPr marL="0" indent="0">
              <a:buNone/>
            </a:pPr>
            <a:r>
              <a:rPr lang="en-US" dirty="0"/>
              <a:t>	</a:t>
            </a:r>
            <a:r>
              <a:rPr lang="en-US" dirty="0" smtClean="0"/>
              <a:t>[</a:t>
            </a:r>
            <a:r>
              <a:rPr lang="en-US" dirty="0"/>
              <a:t>43, 24, 88, 22]]) </a:t>
            </a:r>
            <a:endParaRPr lang="en-US" dirty="0" smtClean="0"/>
          </a:p>
          <a:p>
            <a:pPr marL="0" indent="0">
              <a:buNone/>
            </a:pPr>
            <a:r>
              <a:rPr lang="en-US" dirty="0" smtClean="0"/>
              <a:t>array</a:t>
            </a:r>
            <a:r>
              <a:rPr lang="en-US" dirty="0"/>
              <a:t>([ 1, 1, 2, 3, 4, 9, 13, 22, 24, 43, 61, 88])</a:t>
            </a:r>
            <a:endParaRPr lang="en-US" dirty="0" smtClean="0"/>
          </a:p>
        </p:txBody>
      </p:sp>
    </p:spTree>
    <p:extLst>
      <p:ext uri="{BB962C8B-B14F-4D97-AF65-F5344CB8AC3E}">
        <p14:creationId xmlns:p14="http://schemas.microsoft.com/office/powerpoint/2010/main" val="308379930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Where</a:t>
            </a:r>
            <a:endParaRPr lang="en-US" sz="3600" b="1" dirty="0"/>
          </a:p>
        </p:txBody>
      </p:sp>
      <p:sp>
        <p:nvSpPr>
          <p:cNvPr id="3" name="Content Placeholder 2"/>
          <p:cNvSpPr>
            <a:spLocks noGrp="1"/>
          </p:cNvSpPr>
          <p:nvPr>
            <p:ph sz="quarter" idx="1"/>
          </p:nvPr>
        </p:nvSpPr>
        <p:spPr>
          <a:xfrm>
            <a:off x="457200" y="914400"/>
            <a:ext cx="8305800" cy="5562600"/>
          </a:xfrm>
        </p:spPr>
        <p:txBody>
          <a:bodyPr>
            <a:normAutofit lnSpcReduction="10000"/>
          </a:bodyPr>
          <a:lstStyle/>
          <a:p>
            <a:r>
              <a:rPr lang="en-US" dirty="0"/>
              <a:t>The </a:t>
            </a:r>
            <a:r>
              <a:rPr lang="en-US" dirty="0" err="1"/>
              <a:t>NumPy</a:t>
            </a:r>
            <a:r>
              <a:rPr lang="en-US" dirty="0"/>
              <a:t> module provides a function </a:t>
            </a:r>
            <a:r>
              <a:rPr lang="en-US" dirty="0" err="1"/>
              <a:t>numpy.where</a:t>
            </a:r>
            <a:r>
              <a:rPr lang="en-US" dirty="0"/>
              <a:t>() for selecting elements based on a condition. It returns elements chosen from a or b depending on the condition.</a:t>
            </a:r>
          </a:p>
          <a:p>
            <a:endParaRPr lang="en-US" dirty="0"/>
          </a:p>
          <a:p>
            <a:r>
              <a:rPr lang="en-US" dirty="0"/>
              <a:t>For example, if all arguments -&gt; condition, a &amp; b are passed in </a:t>
            </a:r>
            <a:r>
              <a:rPr lang="en-US" dirty="0" err="1"/>
              <a:t>numpy.where</a:t>
            </a:r>
            <a:r>
              <a:rPr lang="en-US" dirty="0"/>
              <a:t>() then it will return elements selected from a &amp; b depending on values in </a:t>
            </a:r>
            <a:r>
              <a:rPr lang="en-US" dirty="0" err="1"/>
              <a:t>bool</a:t>
            </a:r>
            <a:r>
              <a:rPr lang="en-US" dirty="0"/>
              <a:t> array yielded by the condition.</a:t>
            </a:r>
          </a:p>
          <a:p>
            <a:endParaRPr lang="en-US" dirty="0"/>
          </a:p>
          <a:p>
            <a:r>
              <a:rPr lang="en-US" dirty="0"/>
              <a:t>If only the condition is provided, this function is a shorthand to the function </a:t>
            </a:r>
            <a:r>
              <a:rPr lang="en-US" dirty="0" err="1"/>
              <a:t>np.asarray</a:t>
            </a:r>
            <a:r>
              <a:rPr lang="en-US" dirty="0"/>
              <a:t> (condition).nonzero(). Although nonzero should be preferred directly, as it behaves correctly for subclasses.</a:t>
            </a:r>
            <a:endParaRPr lang="en-US" dirty="0" smtClean="0"/>
          </a:p>
        </p:txBody>
      </p:sp>
    </p:spTree>
    <p:extLst>
      <p:ext uri="{BB962C8B-B14F-4D97-AF65-F5344CB8AC3E}">
        <p14:creationId xmlns:p14="http://schemas.microsoft.com/office/powerpoint/2010/main" val="42709704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Where</a:t>
            </a:r>
            <a:endParaRPr lang="en-US" sz="3600" b="1" dirty="0"/>
          </a:p>
        </p:txBody>
      </p:sp>
      <p:sp>
        <p:nvSpPr>
          <p:cNvPr id="3" name="Content Placeholder 2"/>
          <p:cNvSpPr>
            <a:spLocks noGrp="1"/>
          </p:cNvSpPr>
          <p:nvPr>
            <p:ph sz="quarter" idx="1"/>
          </p:nvPr>
        </p:nvSpPr>
        <p:spPr>
          <a:xfrm>
            <a:off x="457200" y="914400"/>
            <a:ext cx="8305800" cy="5562600"/>
          </a:xfrm>
        </p:spPr>
        <p:txBody>
          <a:bodyPr>
            <a:normAutofit/>
          </a:bodyPr>
          <a:lstStyle/>
          <a:p>
            <a:r>
              <a:rPr lang="en-US" dirty="0" smtClean="0"/>
              <a:t>Syntax:</a:t>
            </a:r>
          </a:p>
          <a:p>
            <a:pPr marL="0" indent="0">
              <a:buNone/>
            </a:pPr>
            <a:r>
              <a:rPr lang="en-US" dirty="0" err="1" smtClean="0"/>
              <a:t>numpy.where</a:t>
            </a:r>
            <a:r>
              <a:rPr lang="en-US" dirty="0" smtClean="0"/>
              <a:t>(condition</a:t>
            </a:r>
            <a:r>
              <a:rPr lang="en-US" dirty="0"/>
              <a:t>[, x, y])  </a:t>
            </a:r>
          </a:p>
          <a:p>
            <a:endParaRPr lang="en-US" dirty="0" smtClean="0"/>
          </a:p>
          <a:p>
            <a:r>
              <a:rPr lang="en-US" b="1" dirty="0"/>
              <a:t>condition: </a:t>
            </a:r>
            <a:r>
              <a:rPr lang="en-US" b="1" dirty="0" err="1"/>
              <a:t>array_like</a:t>
            </a:r>
            <a:r>
              <a:rPr lang="en-US" b="1" dirty="0"/>
              <a:t>, </a:t>
            </a:r>
            <a:r>
              <a:rPr lang="en-US" b="1" dirty="0" err="1" smtClean="0"/>
              <a:t>bool</a:t>
            </a:r>
            <a:r>
              <a:rPr lang="en-US" b="1" dirty="0" smtClean="0"/>
              <a:t> - </a:t>
            </a:r>
            <a:r>
              <a:rPr lang="en-US" dirty="0"/>
              <a:t>If this parameter set to True, yield x otherwise yield y</a:t>
            </a:r>
            <a:r>
              <a:rPr lang="en-US" dirty="0" smtClean="0"/>
              <a:t>.</a:t>
            </a:r>
          </a:p>
          <a:p>
            <a:endParaRPr lang="en-US" dirty="0"/>
          </a:p>
          <a:p>
            <a:r>
              <a:rPr lang="en-US" b="1" dirty="0"/>
              <a:t>x, y: </a:t>
            </a:r>
            <a:r>
              <a:rPr lang="en-US" b="1" dirty="0" err="1"/>
              <a:t>array_like</a:t>
            </a:r>
            <a:r>
              <a:rPr lang="en-US" b="1" dirty="0" smtClean="0"/>
              <a:t>: - </a:t>
            </a:r>
            <a:r>
              <a:rPr lang="en-US" dirty="0"/>
              <a:t>This parameter defines the values from which to choose. The x, y, and condition need to be </a:t>
            </a:r>
            <a:r>
              <a:rPr lang="en-US" dirty="0" err="1"/>
              <a:t>broadcastable</a:t>
            </a:r>
            <a:r>
              <a:rPr lang="en-US" dirty="0"/>
              <a:t> to some shape.</a:t>
            </a:r>
            <a:endParaRPr lang="en-US" dirty="0" smtClean="0"/>
          </a:p>
        </p:txBody>
      </p:sp>
    </p:spTree>
    <p:extLst>
      <p:ext uri="{BB962C8B-B14F-4D97-AF65-F5344CB8AC3E}">
        <p14:creationId xmlns:p14="http://schemas.microsoft.com/office/powerpoint/2010/main" val="420928332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Where</a:t>
            </a:r>
            <a:endParaRPr lang="en-US" sz="3600" b="1" dirty="0"/>
          </a:p>
        </p:txBody>
      </p:sp>
      <p:sp>
        <p:nvSpPr>
          <p:cNvPr id="3" name="Content Placeholder 2"/>
          <p:cNvSpPr>
            <a:spLocks noGrp="1"/>
          </p:cNvSpPr>
          <p:nvPr>
            <p:ph sz="quarter" idx="1"/>
          </p:nvPr>
        </p:nvSpPr>
        <p:spPr>
          <a:xfrm>
            <a:off x="457200" y="914400"/>
            <a:ext cx="8305800" cy="5562600"/>
          </a:xfrm>
        </p:spPr>
        <p:txBody>
          <a:bodyPr>
            <a:normAutofit/>
          </a:bodyPr>
          <a:lstStyle/>
          <a:p>
            <a:r>
              <a:rPr lang="en-US" dirty="0" smtClean="0"/>
              <a:t>Example - 1:</a:t>
            </a:r>
          </a:p>
          <a:p>
            <a:pPr marL="0" indent="0">
              <a:buNone/>
            </a:pPr>
            <a:r>
              <a:rPr lang="en-US" dirty="0"/>
              <a:t>import </a:t>
            </a:r>
            <a:r>
              <a:rPr lang="en-US" dirty="0" err="1"/>
              <a:t>numpy</a:t>
            </a:r>
            <a:r>
              <a:rPr lang="en-US" dirty="0"/>
              <a:t> as </a:t>
            </a:r>
            <a:r>
              <a:rPr lang="en-US" dirty="0" err="1"/>
              <a:t>np</a:t>
            </a:r>
            <a:r>
              <a:rPr lang="en-US" dirty="0"/>
              <a:t>  </a:t>
            </a:r>
            <a:endParaRPr lang="en-US" dirty="0" smtClean="0"/>
          </a:p>
          <a:p>
            <a:pPr marL="0" indent="0">
              <a:buNone/>
            </a:pPr>
            <a:r>
              <a:rPr lang="en-US" dirty="0" smtClean="0"/>
              <a:t>a=</a:t>
            </a:r>
            <a:r>
              <a:rPr lang="en-US" dirty="0" err="1" smtClean="0"/>
              <a:t>np.arange</a:t>
            </a:r>
            <a:r>
              <a:rPr lang="en-US" dirty="0" smtClean="0"/>
              <a:t>(12</a:t>
            </a:r>
            <a:r>
              <a:rPr lang="en-US" dirty="0"/>
              <a:t>) </a:t>
            </a:r>
            <a:endParaRPr lang="en-US" dirty="0" smtClean="0"/>
          </a:p>
          <a:p>
            <a:pPr marL="0" indent="0">
              <a:buNone/>
            </a:pPr>
            <a:r>
              <a:rPr lang="en-US" dirty="0" smtClean="0"/>
              <a:t>print(a)</a:t>
            </a:r>
          </a:p>
          <a:p>
            <a:pPr marL="0" indent="0">
              <a:buNone/>
            </a:pPr>
            <a:r>
              <a:rPr lang="en-US" dirty="0" smtClean="0"/>
              <a:t>b=</a:t>
            </a:r>
            <a:r>
              <a:rPr lang="en-US" dirty="0" err="1" smtClean="0"/>
              <a:t>np.where</a:t>
            </a:r>
            <a:r>
              <a:rPr lang="en-US" dirty="0" smtClean="0"/>
              <a:t>(a&lt;6,a,5*a</a:t>
            </a:r>
            <a:r>
              <a:rPr lang="en-US" dirty="0"/>
              <a:t>)  </a:t>
            </a:r>
            <a:endParaRPr lang="en-US" dirty="0" smtClean="0"/>
          </a:p>
          <a:p>
            <a:pPr marL="0" indent="0">
              <a:buNone/>
            </a:pPr>
            <a:r>
              <a:rPr lang="en-US" dirty="0" smtClean="0"/>
              <a:t>print(b</a:t>
            </a:r>
            <a:r>
              <a:rPr lang="en-US" dirty="0"/>
              <a:t>) </a:t>
            </a:r>
          </a:p>
          <a:p>
            <a:endParaRPr lang="en-US" dirty="0" smtClean="0"/>
          </a:p>
          <a:p>
            <a:r>
              <a:rPr lang="en-US" dirty="0" smtClean="0"/>
              <a:t>Output:</a:t>
            </a:r>
          </a:p>
          <a:p>
            <a:pPr marL="0" indent="0">
              <a:buNone/>
            </a:pPr>
            <a:r>
              <a:rPr lang="en-US" dirty="0"/>
              <a:t>[ 0  1  2  3  4  5  6  7  8  9 10 11]</a:t>
            </a:r>
          </a:p>
          <a:p>
            <a:pPr marL="0" indent="0">
              <a:buNone/>
            </a:pPr>
            <a:r>
              <a:rPr lang="en-US" dirty="0"/>
              <a:t>[ 0  1  2  3  4  5 30 35 40 45 50 55</a:t>
            </a:r>
            <a:r>
              <a:rPr lang="en-US" dirty="0" smtClean="0"/>
              <a:t>]</a:t>
            </a:r>
          </a:p>
        </p:txBody>
      </p:sp>
    </p:spTree>
    <p:extLst>
      <p:ext uri="{BB962C8B-B14F-4D97-AF65-F5344CB8AC3E}">
        <p14:creationId xmlns:p14="http://schemas.microsoft.com/office/powerpoint/2010/main" val="82728748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Where</a:t>
            </a:r>
            <a:endParaRPr lang="en-US" sz="3600" b="1" dirty="0"/>
          </a:p>
        </p:txBody>
      </p:sp>
      <p:sp>
        <p:nvSpPr>
          <p:cNvPr id="3" name="Content Placeholder 2"/>
          <p:cNvSpPr>
            <a:spLocks noGrp="1"/>
          </p:cNvSpPr>
          <p:nvPr>
            <p:ph sz="quarter" idx="1"/>
          </p:nvPr>
        </p:nvSpPr>
        <p:spPr>
          <a:xfrm>
            <a:off x="457200" y="914400"/>
            <a:ext cx="8305800" cy="5562600"/>
          </a:xfrm>
        </p:spPr>
        <p:txBody>
          <a:bodyPr>
            <a:normAutofit/>
          </a:bodyPr>
          <a:lstStyle/>
          <a:p>
            <a:r>
              <a:rPr lang="en-US" dirty="0" smtClean="0"/>
              <a:t>Example - 2:</a:t>
            </a:r>
          </a:p>
          <a:p>
            <a:pPr marL="0" indent="0">
              <a:buNone/>
            </a:pPr>
            <a:r>
              <a:rPr lang="en-US" dirty="0"/>
              <a:t>import </a:t>
            </a:r>
            <a:r>
              <a:rPr lang="en-US" dirty="0" err="1"/>
              <a:t>numpy</a:t>
            </a:r>
            <a:r>
              <a:rPr lang="en-US" dirty="0"/>
              <a:t> as </a:t>
            </a:r>
            <a:r>
              <a:rPr lang="en-US" dirty="0" err="1" smtClean="0"/>
              <a:t>np</a:t>
            </a:r>
            <a:endParaRPr lang="en-US" dirty="0" smtClean="0"/>
          </a:p>
          <a:p>
            <a:pPr marL="0" indent="0">
              <a:buNone/>
            </a:pPr>
            <a:r>
              <a:rPr lang="en-US" dirty="0" smtClean="0"/>
              <a:t>a=</a:t>
            </a:r>
            <a:r>
              <a:rPr lang="en-US" dirty="0" err="1" smtClean="0"/>
              <a:t>np.arange</a:t>
            </a:r>
            <a:r>
              <a:rPr lang="en-US" dirty="0" smtClean="0"/>
              <a:t>(12)</a:t>
            </a:r>
          </a:p>
          <a:p>
            <a:pPr marL="0" indent="0">
              <a:buNone/>
            </a:pPr>
            <a:r>
              <a:rPr lang="en-US" dirty="0" smtClean="0"/>
              <a:t>print(a)</a:t>
            </a:r>
          </a:p>
          <a:p>
            <a:pPr marL="0" indent="0">
              <a:buNone/>
            </a:pPr>
            <a:r>
              <a:rPr lang="en-US" dirty="0" smtClean="0"/>
              <a:t>b=</a:t>
            </a:r>
            <a:r>
              <a:rPr lang="en-US" dirty="0" err="1" smtClean="0"/>
              <a:t>np.where</a:t>
            </a:r>
            <a:r>
              <a:rPr lang="en-US" dirty="0"/>
              <a:t>([[</a:t>
            </a:r>
            <a:r>
              <a:rPr lang="en-US" dirty="0" err="1"/>
              <a:t>True,False</a:t>
            </a:r>
            <a:r>
              <a:rPr lang="en-US" dirty="0"/>
              <a:t>],[</a:t>
            </a:r>
            <a:r>
              <a:rPr lang="en-US" dirty="0" err="1"/>
              <a:t>True,True</a:t>
            </a:r>
            <a:r>
              <a:rPr lang="en-US" dirty="0"/>
              <a:t>]],[[1,2],[3,4]],[[9,8],[7,6</a:t>
            </a:r>
            <a:r>
              <a:rPr lang="en-US" dirty="0" smtClean="0"/>
              <a:t>]])</a:t>
            </a:r>
          </a:p>
          <a:p>
            <a:pPr marL="0" indent="0">
              <a:buNone/>
            </a:pPr>
            <a:r>
              <a:rPr lang="en-US" dirty="0" smtClean="0"/>
              <a:t>print(b</a:t>
            </a:r>
            <a:r>
              <a:rPr lang="en-US" dirty="0"/>
              <a:t>)</a:t>
            </a:r>
            <a:endParaRPr lang="en-US" dirty="0" smtClean="0"/>
          </a:p>
          <a:p>
            <a:endParaRPr lang="en-US" dirty="0" smtClean="0"/>
          </a:p>
          <a:p>
            <a:r>
              <a:rPr lang="en-US" dirty="0" smtClean="0"/>
              <a:t>Output:</a:t>
            </a:r>
          </a:p>
          <a:p>
            <a:pPr marL="0" indent="0">
              <a:buNone/>
            </a:pPr>
            <a:r>
              <a:rPr lang="en-US" dirty="0"/>
              <a:t>[ 0  1  2  3  4  5  6  7  8  9 10 11]</a:t>
            </a:r>
          </a:p>
          <a:p>
            <a:pPr marL="0" indent="0">
              <a:buNone/>
            </a:pPr>
            <a:r>
              <a:rPr lang="en-US" dirty="0"/>
              <a:t>[[1 8]</a:t>
            </a:r>
          </a:p>
          <a:p>
            <a:pPr marL="0" indent="0">
              <a:buNone/>
            </a:pPr>
            <a:r>
              <a:rPr lang="en-US" dirty="0"/>
              <a:t> [3 4]]</a:t>
            </a:r>
            <a:endParaRPr lang="en-US" dirty="0" smtClean="0"/>
          </a:p>
        </p:txBody>
      </p:sp>
    </p:spTree>
    <p:extLst>
      <p:ext uri="{BB962C8B-B14F-4D97-AF65-F5344CB8AC3E}">
        <p14:creationId xmlns:p14="http://schemas.microsoft.com/office/powerpoint/2010/main" val="137351278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Random</a:t>
            </a:r>
            <a:endParaRPr lang="en-US" sz="3600" b="1" dirty="0"/>
          </a:p>
        </p:txBody>
      </p:sp>
      <p:sp>
        <p:nvSpPr>
          <p:cNvPr id="3" name="Content Placeholder 2"/>
          <p:cNvSpPr>
            <a:spLocks noGrp="1"/>
          </p:cNvSpPr>
          <p:nvPr>
            <p:ph sz="quarter" idx="1"/>
          </p:nvPr>
        </p:nvSpPr>
        <p:spPr>
          <a:xfrm>
            <a:off x="457200" y="914400"/>
            <a:ext cx="7772400" cy="5562600"/>
          </a:xfrm>
        </p:spPr>
        <p:txBody>
          <a:bodyPr>
            <a:normAutofit/>
          </a:bodyPr>
          <a:lstStyle/>
          <a:p>
            <a:r>
              <a:rPr lang="en-US" dirty="0"/>
              <a:t>The random is a module present in the </a:t>
            </a:r>
            <a:r>
              <a:rPr lang="en-US" dirty="0" err="1"/>
              <a:t>NumPy</a:t>
            </a:r>
            <a:r>
              <a:rPr lang="en-US" dirty="0"/>
              <a:t> library. This module contains the functions which are used for generating random numbers. </a:t>
            </a:r>
            <a:endParaRPr lang="en-US" dirty="0" smtClean="0"/>
          </a:p>
          <a:p>
            <a:endParaRPr lang="en-US" dirty="0" smtClean="0"/>
          </a:p>
          <a:p>
            <a:r>
              <a:rPr lang="en-US" dirty="0" smtClean="0"/>
              <a:t>This </a:t>
            </a:r>
            <a:r>
              <a:rPr lang="en-US" dirty="0"/>
              <a:t>module contains some simple random data generation methods, some permutation and distribution functions, and random generator functions.</a:t>
            </a:r>
            <a:endParaRPr lang="en-US" dirty="0" smtClean="0"/>
          </a:p>
        </p:txBody>
      </p:sp>
    </p:spTree>
    <p:extLst>
      <p:ext uri="{BB962C8B-B14F-4D97-AF65-F5344CB8AC3E}">
        <p14:creationId xmlns:p14="http://schemas.microsoft.com/office/powerpoint/2010/main" val="150442544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Random</a:t>
            </a:r>
            <a:endParaRPr lang="en-US" sz="3600" b="1" dirty="0"/>
          </a:p>
        </p:txBody>
      </p:sp>
      <p:sp>
        <p:nvSpPr>
          <p:cNvPr id="3" name="Content Placeholder 2"/>
          <p:cNvSpPr>
            <a:spLocks noGrp="1"/>
          </p:cNvSpPr>
          <p:nvPr>
            <p:ph sz="quarter" idx="1"/>
          </p:nvPr>
        </p:nvSpPr>
        <p:spPr>
          <a:xfrm>
            <a:off x="457200" y="914400"/>
            <a:ext cx="7696200" cy="5943600"/>
          </a:xfrm>
        </p:spPr>
        <p:txBody>
          <a:bodyPr>
            <a:normAutofit fontScale="92500" lnSpcReduction="10000"/>
          </a:bodyPr>
          <a:lstStyle/>
          <a:p>
            <a:pPr marL="457200" indent="-457200">
              <a:buFont typeface="+mj-lt"/>
              <a:buAutoNum type="arabicPeriod"/>
            </a:pPr>
            <a:r>
              <a:rPr lang="en-US" b="1" dirty="0" err="1" smtClean="0"/>
              <a:t>np.random.rand</a:t>
            </a:r>
            <a:r>
              <a:rPr lang="en-US" b="1" dirty="0" smtClean="0"/>
              <a:t>(d0</a:t>
            </a:r>
            <a:r>
              <a:rPr lang="en-US" b="1" dirty="0"/>
              <a:t>, d1, ..., </a:t>
            </a:r>
            <a:r>
              <a:rPr lang="en-US" b="1" dirty="0" err="1"/>
              <a:t>dn</a:t>
            </a:r>
            <a:r>
              <a:rPr lang="en-US" b="1" dirty="0" smtClean="0"/>
              <a:t>)</a:t>
            </a:r>
          </a:p>
          <a:p>
            <a:r>
              <a:rPr lang="en-US" dirty="0"/>
              <a:t>This function of random module is used to generate random numbers or values in a given shape.</a:t>
            </a:r>
            <a:endParaRPr lang="en-US" b="1" dirty="0" smtClean="0"/>
          </a:p>
          <a:p>
            <a:endParaRPr lang="en-US" b="1" dirty="0"/>
          </a:p>
          <a:p>
            <a:r>
              <a:rPr lang="en-US" dirty="0" smtClean="0"/>
              <a:t>Example:</a:t>
            </a:r>
          </a:p>
          <a:p>
            <a:pPr marL="0" indent="0">
              <a:buNone/>
            </a:pPr>
            <a:r>
              <a:rPr lang="en-US" dirty="0"/>
              <a:t>import </a:t>
            </a:r>
            <a:r>
              <a:rPr lang="en-US" dirty="0" err="1"/>
              <a:t>numpy</a:t>
            </a:r>
            <a:r>
              <a:rPr lang="en-US" dirty="0"/>
              <a:t> as </a:t>
            </a:r>
            <a:r>
              <a:rPr lang="en-US" dirty="0" err="1"/>
              <a:t>np</a:t>
            </a:r>
            <a:r>
              <a:rPr lang="en-US" dirty="0"/>
              <a:t>  </a:t>
            </a:r>
          </a:p>
          <a:p>
            <a:pPr marL="0" indent="0">
              <a:buNone/>
            </a:pPr>
            <a:r>
              <a:rPr lang="en-US" dirty="0"/>
              <a:t>a=</a:t>
            </a:r>
            <a:r>
              <a:rPr lang="en-US" dirty="0" err="1"/>
              <a:t>np.random.rand</a:t>
            </a:r>
            <a:r>
              <a:rPr lang="en-US" dirty="0"/>
              <a:t>(5,2)  </a:t>
            </a:r>
          </a:p>
          <a:p>
            <a:pPr marL="0" indent="0">
              <a:buNone/>
            </a:pPr>
            <a:r>
              <a:rPr lang="en-US" dirty="0"/>
              <a:t>a  </a:t>
            </a:r>
          </a:p>
          <a:p>
            <a:endParaRPr lang="en-US" dirty="0" smtClean="0"/>
          </a:p>
          <a:p>
            <a:r>
              <a:rPr lang="en-US" dirty="0" smtClean="0"/>
              <a:t>Output:</a:t>
            </a:r>
          </a:p>
          <a:p>
            <a:pPr marL="0" indent="0">
              <a:buNone/>
            </a:pPr>
            <a:r>
              <a:rPr lang="en-US" dirty="0"/>
              <a:t>array([[0.74710182, 0.13306399], </a:t>
            </a:r>
            <a:endParaRPr lang="en-US" dirty="0" smtClean="0"/>
          </a:p>
          <a:p>
            <a:pPr marL="0" indent="0">
              <a:buNone/>
            </a:pPr>
            <a:r>
              <a:rPr lang="en-US" dirty="0"/>
              <a:t>	</a:t>
            </a:r>
            <a:r>
              <a:rPr lang="en-US" dirty="0" smtClean="0"/>
              <a:t>[</a:t>
            </a:r>
            <a:r>
              <a:rPr lang="en-US" dirty="0"/>
              <a:t>0.01463718, 0.47618842], </a:t>
            </a:r>
            <a:endParaRPr lang="en-US" dirty="0" smtClean="0"/>
          </a:p>
          <a:p>
            <a:pPr marL="0" indent="0">
              <a:buNone/>
            </a:pPr>
            <a:r>
              <a:rPr lang="en-US" dirty="0"/>
              <a:t>	</a:t>
            </a:r>
            <a:r>
              <a:rPr lang="en-US" dirty="0" smtClean="0"/>
              <a:t>[</a:t>
            </a:r>
            <a:r>
              <a:rPr lang="en-US" dirty="0"/>
              <a:t>0.98980426, 0.48390004], </a:t>
            </a:r>
            <a:endParaRPr lang="en-US" dirty="0" smtClean="0"/>
          </a:p>
          <a:p>
            <a:pPr marL="0" indent="0">
              <a:buNone/>
            </a:pPr>
            <a:r>
              <a:rPr lang="en-US" dirty="0" smtClean="0"/>
              <a:t>	[</a:t>
            </a:r>
            <a:r>
              <a:rPr lang="en-US" dirty="0"/>
              <a:t>0.58661785, 0.62895758], </a:t>
            </a:r>
            <a:endParaRPr lang="en-US" dirty="0" smtClean="0"/>
          </a:p>
          <a:p>
            <a:pPr marL="0" indent="0">
              <a:buNone/>
            </a:pPr>
            <a:r>
              <a:rPr lang="en-US" dirty="0" smtClean="0"/>
              <a:t>	[</a:t>
            </a:r>
            <a:r>
              <a:rPr lang="en-US" dirty="0"/>
              <a:t>0.38432729, 0.90384119]])</a:t>
            </a:r>
            <a:endParaRPr lang="en-US" dirty="0" smtClean="0"/>
          </a:p>
          <a:p>
            <a:endParaRPr lang="en-US" dirty="0" smtClean="0"/>
          </a:p>
        </p:txBody>
      </p:sp>
    </p:spTree>
    <p:extLst>
      <p:ext uri="{BB962C8B-B14F-4D97-AF65-F5344CB8AC3E}">
        <p14:creationId xmlns:p14="http://schemas.microsoft.com/office/powerpoint/2010/main" val="47739076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Random</a:t>
            </a:r>
            <a:endParaRPr lang="en-US" sz="3600" b="1" dirty="0"/>
          </a:p>
        </p:txBody>
      </p:sp>
      <p:sp>
        <p:nvSpPr>
          <p:cNvPr id="3" name="Content Placeholder 2"/>
          <p:cNvSpPr>
            <a:spLocks noGrp="1"/>
          </p:cNvSpPr>
          <p:nvPr>
            <p:ph sz="quarter" idx="1"/>
          </p:nvPr>
        </p:nvSpPr>
        <p:spPr>
          <a:xfrm>
            <a:off x="457200" y="914400"/>
            <a:ext cx="7696200" cy="5943600"/>
          </a:xfrm>
        </p:spPr>
        <p:txBody>
          <a:bodyPr>
            <a:normAutofit fontScale="92500" lnSpcReduction="10000"/>
          </a:bodyPr>
          <a:lstStyle/>
          <a:p>
            <a:pPr marL="457200" indent="-457200">
              <a:buFont typeface="+mj-lt"/>
              <a:buAutoNum type="arabicPeriod" startAt="2"/>
            </a:pPr>
            <a:r>
              <a:rPr lang="en-US" b="1" dirty="0" err="1"/>
              <a:t>np.random.randn</a:t>
            </a:r>
            <a:r>
              <a:rPr lang="en-US" b="1" dirty="0"/>
              <a:t>(d0, d1, ..., </a:t>
            </a:r>
            <a:r>
              <a:rPr lang="en-US" b="1" dirty="0" err="1"/>
              <a:t>dn</a:t>
            </a:r>
            <a:r>
              <a:rPr lang="en-US" b="1" dirty="0"/>
              <a:t>)</a:t>
            </a:r>
            <a:endParaRPr lang="en-US" b="1" dirty="0" smtClean="0"/>
          </a:p>
          <a:p>
            <a:r>
              <a:rPr lang="en-US" dirty="0"/>
              <a:t>This function of random module return a sample from the "standard normal" distribution</a:t>
            </a:r>
            <a:r>
              <a:rPr lang="en-US" dirty="0" smtClean="0"/>
              <a:t>.</a:t>
            </a:r>
          </a:p>
          <a:p>
            <a:endParaRPr lang="en-US" b="1" dirty="0" smtClean="0"/>
          </a:p>
          <a:p>
            <a:r>
              <a:rPr lang="en-US" dirty="0" smtClean="0"/>
              <a:t>Example:</a:t>
            </a:r>
          </a:p>
          <a:p>
            <a:pPr marL="0" indent="0">
              <a:buNone/>
            </a:pPr>
            <a:r>
              <a:rPr lang="en-US" dirty="0"/>
              <a:t>import </a:t>
            </a:r>
            <a:r>
              <a:rPr lang="en-US" dirty="0" err="1"/>
              <a:t>numpy</a:t>
            </a:r>
            <a:r>
              <a:rPr lang="en-US" dirty="0"/>
              <a:t> as </a:t>
            </a:r>
            <a:r>
              <a:rPr lang="en-US" dirty="0" err="1"/>
              <a:t>np</a:t>
            </a:r>
            <a:r>
              <a:rPr lang="en-US" dirty="0"/>
              <a:t>  </a:t>
            </a:r>
            <a:endParaRPr lang="en-US" dirty="0" smtClean="0"/>
          </a:p>
          <a:p>
            <a:pPr marL="0" indent="0">
              <a:buNone/>
            </a:pPr>
            <a:r>
              <a:rPr lang="en-US" dirty="0" smtClean="0"/>
              <a:t>a=</a:t>
            </a:r>
            <a:r>
              <a:rPr lang="en-US" dirty="0" err="1" smtClean="0"/>
              <a:t>np.random.randn</a:t>
            </a:r>
            <a:r>
              <a:rPr lang="en-US" dirty="0" smtClean="0"/>
              <a:t>(2,2</a:t>
            </a:r>
            <a:r>
              <a:rPr lang="en-US" dirty="0"/>
              <a:t>)  </a:t>
            </a:r>
            <a:endParaRPr lang="en-US" dirty="0" smtClean="0"/>
          </a:p>
          <a:p>
            <a:pPr marL="0" indent="0">
              <a:buNone/>
            </a:pPr>
            <a:r>
              <a:rPr lang="en-US" dirty="0" smtClean="0"/>
              <a:t>print(a</a:t>
            </a:r>
            <a:r>
              <a:rPr lang="en-US" dirty="0"/>
              <a:t>)  </a:t>
            </a:r>
            <a:endParaRPr lang="en-US" dirty="0" smtClean="0"/>
          </a:p>
          <a:p>
            <a:pPr marL="0" indent="0">
              <a:buNone/>
            </a:pPr>
            <a:r>
              <a:rPr lang="en-US" dirty="0" smtClean="0"/>
              <a:t>b=</a:t>
            </a:r>
            <a:r>
              <a:rPr lang="en-US" dirty="0" err="1" smtClean="0"/>
              <a:t>np.random.randn</a:t>
            </a:r>
            <a:r>
              <a:rPr lang="en-US" dirty="0" smtClean="0"/>
              <a:t>()</a:t>
            </a:r>
          </a:p>
          <a:p>
            <a:pPr marL="0" indent="0">
              <a:buNone/>
            </a:pPr>
            <a:r>
              <a:rPr lang="en-US" dirty="0" smtClean="0"/>
              <a:t>print(b</a:t>
            </a:r>
            <a:r>
              <a:rPr lang="en-US" dirty="0"/>
              <a:t>) </a:t>
            </a:r>
          </a:p>
          <a:p>
            <a:endParaRPr lang="en-US" dirty="0" smtClean="0"/>
          </a:p>
          <a:p>
            <a:r>
              <a:rPr lang="en-US" dirty="0" smtClean="0"/>
              <a:t>Output:</a:t>
            </a:r>
          </a:p>
          <a:p>
            <a:pPr marL="0" indent="0">
              <a:buNone/>
            </a:pPr>
            <a:r>
              <a:rPr lang="en-US" dirty="0"/>
              <a:t>[[-0.41760217  0.29270737]</a:t>
            </a:r>
          </a:p>
          <a:p>
            <a:pPr marL="0" indent="0">
              <a:buNone/>
            </a:pPr>
            <a:r>
              <a:rPr lang="en-US" dirty="0"/>
              <a:t> [-0.30304224  1.94522069]]</a:t>
            </a:r>
          </a:p>
          <a:p>
            <a:pPr marL="0" indent="0">
              <a:buNone/>
            </a:pPr>
            <a:r>
              <a:rPr lang="en-US" dirty="0"/>
              <a:t>0.09426266198437167</a:t>
            </a:r>
            <a:endParaRPr lang="en-US" dirty="0" smtClean="0"/>
          </a:p>
        </p:txBody>
      </p:sp>
    </p:spTree>
    <p:extLst>
      <p:ext uri="{BB962C8B-B14F-4D97-AF65-F5344CB8AC3E}">
        <p14:creationId xmlns:p14="http://schemas.microsoft.com/office/powerpoint/2010/main" val="195732488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Random</a:t>
            </a:r>
            <a:endParaRPr lang="en-US" sz="3600" b="1" dirty="0"/>
          </a:p>
        </p:txBody>
      </p:sp>
      <p:sp>
        <p:nvSpPr>
          <p:cNvPr id="3" name="Content Placeholder 2"/>
          <p:cNvSpPr>
            <a:spLocks noGrp="1"/>
          </p:cNvSpPr>
          <p:nvPr>
            <p:ph sz="quarter" idx="1"/>
          </p:nvPr>
        </p:nvSpPr>
        <p:spPr>
          <a:xfrm>
            <a:off x="457200" y="914400"/>
            <a:ext cx="7696200" cy="5943600"/>
          </a:xfrm>
        </p:spPr>
        <p:txBody>
          <a:bodyPr>
            <a:normAutofit/>
          </a:bodyPr>
          <a:lstStyle/>
          <a:p>
            <a:pPr marL="457200" indent="-457200">
              <a:buFont typeface="+mj-lt"/>
              <a:buAutoNum type="arabicPeriod" startAt="3"/>
            </a:pPr>
            <a:r>
              <a:rPr lang="en-US" b="1" dirty="0" err="1" smtClean="0"/>
              <a:t>np.random.randint</a:t>
            </a:r>
            <a:r>
              <a:rPr lang="en-US" b="1" dirty="0" smtClean="0"/>
              <a:t>(low</a:t>
            </a:r>
            <a:r>
              <a:rPr lang="en-US" b="1" dirty="0"/>
              <a:t>[, high, size, </a:t>
            </a:r>
            <a:r>
              <a:rPr lang="en-US" b="1" dirty="0" err="1"/>
              <a:t>dtype</a:t>
            </a:r>
            <a:r>
              <a:rPr lang="en-US" b="1" dirty="0"/>
              <a:t>])</a:t>
            </a:r>
            <a:endParaRPr lang="en-US" b="1" dirty="0" smtClean="0"/>
          </a:p>
          <a:p>
            <a:r>
              <a:rPr lang="en-US" dirty="0"/>
              <a:t>This function of random module is used to generate random integers from inclusive(low) to exclusive(high</a:t>
            </a:r>
            <a:r>
              <a:rPr lang="en-US" dirty="0" smtClean="0"/>
              <a:t>).</a:t>
            </a:r>
          </a:p>
          <a:p>
            <a:endParaRPr lang="en-US" b="1" dirty="0" smtClean="0"/>
          </a:p>
          <a:p>
            <a:r>
              <a:rPr lang="en-US" dirty="0" smtClean="0"/>
              <a:t>Example:</a:t>
            </a:r>
          </a:p>
          <a:p>
            <a:pPr marL="0" indent="0">
              <a:buNone/>
            </a:pPr>
            <a:r>
              <a:rPr lang="en-US" dirty="0"/>
              <a:t>import </a:t>
            </a:r>
            <a:r>
              <a:rPr lang="en-US" dirty="0" err="1"/>
              <a:t>numpy</a:t>
            </a:r>
            <a:r>
              <a:rPr lang="en-US" dirty="0"/>
              <a:t> as </a:t>
            </a:r>
            <a:r>
              <a:rPr lang="en-US" dirty="0" err="1"/>
              <a:t>np</a:t>
            </a:r>
            <a:r>
              <a:rPr lang="en-US" dirty="0"/>
              <a:t>  </a:t>
            </a:r>
            <a:endParaRPr lang="en-US" dirty="0" smtClean="0"/>
          </a:p>
          <a:p>
            <a:pPr marL="0" indent="0">
              <a:buNone/>
            </a:pPr>
            <a:r>
              <a:rPr lang="en-US" dirty="0" smtClean="0"/>
              <a:t>a=</a:t>
            </a:r>
            <a:r>
              <a:rPr lang="en-US" dirty="0" err="1" smtClean="0"/>
              <a:t>np.random.randint</a:t>
            </a:r>
            <a:r>
              <a:rPr lang="en-US" dirty="0" smtClean="0"/>
              <a:t>(3</a:t>
            </a:r>
            <a:r>
              <a:rPr lang="en-US" dirty="0"/>
              <a:t>, size=10)  </a:t>
            </a:r>
            <a:endParaRPr lang="en-US" dirty="0" smtClean="0"/>
          </a:p>
          <a:p>
            <a:pPr marL="0" indent="0">
              <a:buNone/>
            </a:pPr>
            <a:r>
              <a:rPr lang="en-US" dirty="0" smtClean="0"/>
              <a:t>print(a)</a:t>
            </a:r>
          </a:p>
          <a:p>
            <a:pPr marL="0" indent="0">
              <a:buNone/>
            </a:pPr>
            <a:endParaRPr lang="en-US" dirty="0" smtClean="0"/>
          </a:p>
          <a:p>
            <a:r>
              <a:rPr lang="en-US" dirty="0" smtClean="0"/>
              <a:t>Output:</a:t>
            </a:r>
          </a:p>
          <a:p>
            <a:pPr marL="0" indent="0">
              <a:buNone/>
            </a:pPr>
            <a:r>
              <a:rPr lang="en-US" dirty="0"/>
              <a:t>[1 0 0 2 0 0 2 0 0 0]</a:t>
            </a:r>
            <a:endParaRPr lang="en-US" dirty="0" smtClean="0"/>
          </a:p>
        </p:txBody>
      </p:sp>
    </p:spTree>
    <p:extLst>
      <p:ext uri="{BB962C8B-B14F-4D97-AF65-F5344CB8AC3E}">
        <p14:creationId xmlns:p14="http://schemas.microsoft.com/office/powerpoint/2010/main" val="406087999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Differences-</a:t>
            </a:r>
            <a:endParaRPr lang="en-IN" dirty="0"/>
          </a:p>
        </p:txBody>
      </p:sp>
      <p:pic>
        <p:nvPicPr>
          <p:cNvPr id="11" name="Content Placeholder 10"/>
          <p:cNvPicPr>
            <a:picLocks noGrp="1" noChangeAspect="1"/>
          </p:cNvPicPr>
          <p:nvPr>
            <p:ph sz="quarter" idx="1"/>
          </p:nvPr>
        </p:nvPicPr>
        <p:blipFill rotWithShape="1">
          <a:blip r:embed="rId2"/>
          <a:srcRect l="31632" t="35518" r="25265" b="33628"/>
          <a:stretch/>
        </p:blipFill>
        <p:spPr>
          <a:xfrm>
            <a:off x="457201" y="1905000"/>
            <a:ext cx="8229600" cy="3312000"/>
          </a:xfrm>
          <a:prstGeom prst="rect">
            <a:avLst/>
          </a:prstGeom>
        </p:spPr>
      </p:pic>
    </p:spTree>
    <p:extLst>
      <p:ext uri="{BB962C8B-B14F-4D97-AF65-F5344CB8AC3E}">
        <p14:creationId xmlns:p14="http://schemas.microsoft.com/office/powerpoint/2010/main" val="26134971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Random</a:t>
            </a:r>
            <a:endParaRPr lang="en-US" sz="3600" b="1" dirty="0"/>
          </a:p>
        </p:txBody>
      </p:sp>
      <p:sp>
        <p:nvSpPr>
          <p:cNvPr id="3" name="Content Placeholder 2"/>
          <p:cNvSpPr>
            <a:spLocks noGrp="1"/>
          </p:cNvSpPr>
          <p:nvPr>
            <p:ph sz="quarter" idx="1"/>
          </p:nvPr>
        </p:nvSpPr>
        <p:spPr>
          <a:xfrm>
            <a:off x="457200" y="914400"/>
            <a:ext cx="7696200" cy="5943600"/>
          </a:xfrm>
        </p:spPr>
        <p:txBody>
          <a:bodyPr>
            <a:normAutofit/>
          </a:bodyPr>
          <a:lstStyle/>
          <a:p>
            <a:pPr marL="457200" indent="-457200">
              <a:buFont typeface="+mj-lt"/>
              <a:buAutoNum type="arabicPeriod" startAt="5"/>
            </a:pPr>
            <a:r>
              <a:rPr lang="en-US" b="1" dirty="0" err="1" smtClean="0"/>
              <a:t>np.random.random</a:t>
            </a:r>
            <a:r>
              <a:rPr lang="en-US" b="1" dirty="0"/>
              <a:t>([size</a:t>
            </a:r>
            <a:r>
              <a:rPr lang="en-US" b="1" dirty="0" smtClean="0"/>
              <a:t>])</a:t>
            </a:r>
          </a:p>
          <a:p>
            <a:r>
              <a:rPr lang="en-US" dirty="0"/>
              <a:t>This function of random module is used to generate random floats number in the half-open interval [0.0, 1.0</a:t>
            </a:r>
            <a:r>
              <a:rPr lang="en-US" dirty="0" smtClean="0"/>
              <a:t>).</a:t>
            </a:r>
          </a:p>
          <a:p>
            <a:endParaRPr lang="en-US" b="1" dirty="0" smtClean="0"/>
          </a:p>
          <a:p>
            <a:r>
              <a:rPr lang="en-US" dirty="0" smtClean="0"/>
              <a:t>Example:</a:t>
            </a:r>
          </a:p>
          <a:p>
            <a:pPr marL="0" indent="0">
              <a:buNone/>
            </a:pPr>
            <a:r>
              <a:rPr lang="en-US" dirty="0"/>
              <a:t>import </a:t>
            </a:r>
            <a:r>
              <a:rPr lang="en-US" dirty="0" err="1"/>
              <a:t>numpy</a:t>
            </a:r>
            <a:r>
              <a:rPr lang="en-US" dirty="0"/>
              <a:t> as </a:t>
            </a:r>
            <a:r>
              <a:rPr lang="en-US" dirty="0" err="1"/>
              <a:t>np</a:t>
            </a:r>
            <a:r>
              <a:rPr lang="en-US" dirty="0"/>
              <a:t>  </a:t>
            </a:r>
            <a:endParaRPr lang="en-US" dirty="0" smtClean="0"/>
          </a:p>
          <a:p>
            <a:pPr marL="0" indent="0">
              <a:buNone/>
            </a:pPr>
            <a:r>
              <a:rPr lang="en-US" dirty="0" smtClean="0"/>
              <a:t>a=</a:t>
            </a:r>
            <a:r>
              <a:rPr lang="en-US" dirty="0" err="1" smtClean="0"/>
              <a:t>np.random.random</a:t>
            </a:r>
            <a:r>
              <a:rPr lang="en-US" dirty="0"/>
              <a:t>()  </a:t>
            </a:r>
            <a:endParaRPr lang="en-US" dirty="0" smtClean="0"/>
          </a:p>
          <a:p>
            <a:pPr marL="0" indent="0">
              <a:buNone/>
            </a:pPr>
            <a:r>
              <a:rPr lang="en-US" dirty="0" smtClean="0"/>
              <a:t>print(a</a:t>
            </a:r>
            <a:r>
              <a:rPr lang="en-US" dirty="0"/>
              <a:t>)  </a:t>
            </a:r>
            <a:endParaRPr lang="en-US" dirty="0" smtClean="0"/>
          </a:p>
          <a:p>
            <a:pPr marL="0" indent="0">
              <a:buNone/>
            </a:pPr>
            <a:r>
              <a:rPr lang="en-US" dirty="0" smtClean="0"/>
              <a:t>b=type(</a:t>
            </a:r>
            <a:r>
              <a:rPr lang="en-US" dirty="0" err="1" smtClean="0"/>
              <a:t>np.random.random</a:t>
            </a:r>
            <a:r>
              <a:rPr lang="en-US" dirty="0"/>
              <a:t>())  </a:t>
            </a:r>
            <a:endParaRPr lang="en-US" dirty="0" smtClean="0"/>
          </a:p>
          <a:p>
            <a:pPr marL="0" indent="0">
              <a:buNone/>
            </a:pPr>
            <a:r>
              <a:rPr lang="en-US" dirty="0" smtClean="0"/>
              <a:t>print(b</a:t>
            </a:r>
            <a:r>
              <a:rPr lang="en-US" dirty="0"/>
              <a:t>)  </a:t>
            </a:r>
            <a:endParaRPr lang="en-US" dirty="0" smtClean="0"/>
          </a:p>
          <a:p>
            <a:pPr marL="0" indent="0">
              <a:buNone/>
            </a:pPr>
            <a:r>
              <a:rPr lang="en-US" dirty="0" smtClean="0"/>
              <a:t>c=</a:t>
            </a:r>
            <a:r>
              <a:rPr lang="en-US" dirty="0" err="1" smtClean="0"/>
              <a:t>np.random.random</a:t>
            </a:r>
            <a:r>
              <a:rPr lang="en-US" dirty="0"/>
              <a:t>((5,))  </a:t>
            </a:r>
            <a:endParaRPr lang="en-US" dirty="0" smtClean="0"/>
          </a:p>
          <a:p>
            <a:pPr marL="0" indent="0">
              <a:buNone/>
            </a:pPr>
            <a:r>
              <a:rPr lang="en-US" dirty="0" smtClean="0"/>
              <a:t>print(c</a:t>
            </a:r>
            <a:r>
              <a:rPr lang="en-US" dirty="0"/>
              <a:t>) </a:t>
            </a:r>
            <a:endParaRPr lang="en-US" dirty="0" smtClean="0"/>
          </a:p>
          <a:p>
            <a:endParaRPr lang="en-US" dirty="0" smtClean="0"/>
          </a:p>
        </p:txBody>
      </p:sp>
    </p:spTree>
    <p:extLst>
      <p:ext uri="{BB962C8B-B14F-4D97-AF65-F5344CB8AC3E}">
        <p14:creationId xmlns:p14="http://schemas.microsoft.com/office/powerpoint/2010/main" val="167860510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Random</a:t>
            </a:r>
            <a:endParaRPr lang="en-US" sz="3600" b="1" dirty="0"/>
          </a:p>
        </p:txBody>
      </p:sp>
      <p:sp>
        <p:nvSpPr>
          <p:cNvPr id="3" name="Content Placeholder 2"/>
          <p:cNvSpPr>
            <a:spLocks noGrp="1"/>
          </p:cNvSpPr>
          <p:nvPr>
            <p:ph sz="quarter" idx="1"/>
          </p:nvPr>
        </p:nvSpPr>
        <p:spPr>
          <a:xfrm>
            <a:off x="457200" y="914400"/>
            <a:ext cx="7696200" cy="5943600"/>
          </a:xfrm>
        </p:spPr>
        <p:txBody>
          <a:bodyPr>
            <a:normAutofit/>
          </a:bodyPr>
          <a:lstStyle/>
          <a:p>
            <a:pPr marL="457200" indent="-457200">
              <a:buFont typeface="+mj-lt"/>
              <a:buAutoNum type="arabicPeriod" startAt="5"/>
            </a:pPr>
            <a:r>
              <a:rPr lang="en-US" b="1" dirty="0" err="1" smtClean="0"/>
              <a:t>np.random.random</a:t>
            </a:r>
            <a:r>
              <a:rPr lang="en-US" b="1" dirty="0"/>
              <a:t>([size</a:t>
            </a:r>
            <a:r>
              <a:rPr lang="en-US" b="1" dirty="0" smtClean="0"/>
              <a:t>])</a:t>
            </a:r>
          </a:p>
          <a:p>
            <a:endParaRPr lang="en-US" dirty="0" smtClean="0"/>
          </a:p>
          <a:p>
            <a:r>
              <a:rPr lang="en-US" dirty="0" smtClean="0"/>
              <a:t>Output:</a:t>
            </a:r>
          </a:p>
          <a:p>
            <a:pPr marL="0" indent="0">
              <a:buNone/>
            </a:pPr>
            <a:r>
              <a:rPr lang="en-US" dirty="0"/>
              <a:t>0.3017357447992782</a:t>
            </a:r>
          </a:p>
          <a:p>
            <a:pPr marL="0" indent="0">
              <a:buNone/>
            </a:pPr>
            <a:r>
              <a:rPr lang="en-US" dirty="0"/>
              <a:t>&lt;class 'float'&gt;</a:t>
            </a:r>
          </a:p>
          <a:p>
            <a:pPr marL="0" indent="0">
              <a:buNone/>
            </a:pPr>
            <a:r>
              <a:rPr lang="en-US" dirty="0"/>
              <a:t>[0.73472103 0.20038042 0.97463732 0.23645754 0.61992921]</a:t>
            </a:r>
            <a:endParaRPr lang="en-US" dirty="0" smtClean="0"/>
          </a:p>
        </p:txBody>
      </p:sp>
    </p:spTree>
    <p:extLst>
      <p:ext uri="{BB962C8B-B14F-4D97-AF65-F5344CB8AC3E}">
        <p14:creationId xmlns:p14="http://schemas.microsoft.com/office/powerpoint/2010/main" val="328084699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715962"/>
          </a:xfrm>
        </p:spPr>
        <p:txBody>
          <a:bodyPr>
            <a:normAutofit/>
          </a:bodyPr>
          <a:lstStyle/>
          <a:p>
            <a:pPr algn="ctr"/>
            <a:r>
              <a:rPr lang="en-US" sz="3600" b="1" dirty="0" err="1" smtClean="0"/>
              <a:t>Matplotlib</a:t>
            </a:r>
            <a:r>
              <a:rPr lang="en-US" sz="3600" b="1" dirty="0" smtClean="0"/>
              <a:t> Introduction</a:t>
            </a:r>
            <a:endParaRPr lang="en-US" sz="3600" b="1" dirty="0"/>
          </a:p>
        </p:txBody>
      </p:sp>
      <p:sp>
        <p:nvSpPr>
          <p:cNvPr id="3" name="Content Placeholder 2"/>
          <p:cNvSpPr>
            <a:spLocks noGrp="1"/>
          </p:cNvSpPr>
          <p:nvPr>
            <p:ph sz="quarter" idx="1"/>
          </p:nvPr>
        </p:nvSpPr>
        <p:spPr>
          <a:xfrm>
            <a:off x="457200" y="990600"/>
            <a:ext cx="7467600" cy="5867400"/>
          </a:xfrm>
        </p:spPr>
        <p:txBody>
          <a:bodyPr>
            <a:normAutofit fontScale="92500"/>
          </a:bodyPr>
          <a:lstStyle/>
          <a:p>
            <a:r>
              <a:rPr lang="en-US" dirty="0" err="1"/>
              <a:t>Matplotlib</a:t>
            </a:r>
            <a:r>
              <a:rPr lang="en-US" dirty="0"/>
              <a:t> is an amazing visualization library in Python for 2D plots of arrays</a:t>
            </a:r>
            <a:r>
              <a:rPr lang="en-US" dirty="0" smtClean="0"/>
              <a:t>.</a:t>
            </a:r>
          </a:p>
          <a:p>
            <a:r>
              <a:rPr lang="en-US" dirty="0" err="1"/>
              <a:t>Matplotlib</a:t>
            </a:r>
            <a:r>
              <a:rPr lang="en-US" dirty="0"/>
              <a:t> is a multi-platform data visualization library built on </a:t>
            </a:r>
            <a:r>
              <a:rPr lang="en-US" dirty="0" err="1"/>
              <a:t>NumPy</a:t>
            </a:r>
            <a:r>
              <a:rPr lang="en-US" dirty="0"/>
              <a:t> arrays and designed to work with the broader </a:t>
            </a:r>
            <a:r>
              <a:rPr lang="en-US" dirty="0" err="1"/>
              <a:t>SciPy</a:t>
            </a:r>
            <a:r>
              <a:rPr lang="en-US" dirty="0"/>
              <a:t> stack</a:t>
            </a:r>
            <a:r>
              <a:rPr lang="en-US" dirty="0" smtClean="0"/>
              <a:t>.</a:t>
            </a:r>
          </a:p>
          <a:p>
            <a:r>
              <a:rPr lang="en-US" dirty="0"/>
              <a:t>It was introduced by John Hunter in the year 2002</a:t>
            </a:r>
            <a:r>
              <a:rPr lang="en-US" dirty="0" smtClean="0"/>
              <a:t>.</a:t>
            </a:r>
          </a:p>
          <a:p>
            <a:r>
              <a:rPr lang="en-US" dirty="0"/>
              <a:t>One of the greatest benefits of visualization is that it allows us visual access to huge amounts of data in easily digestible visuals. </a:t>
            </a:r>
            <a:endParaRPr lang="en-US" dirty="0" smtClean="0"/>
          </a:p>
          <a:p>
            <a:r>
              <a:rPr lang="en-US" dirty="0" err="1"/>
              <a:t>Matplotlib</a:t>
            </a:r>
            <a:r>
              <a:rPr lang="en-US" dirty="0"/>
              <a:t> consists of several plots like line, bar, scatter, histogram etc</a:t>
            </a:r>
            <a:r>
              <a:rPr lang="en-US" dirty="0" smtClean="0"/>
              <a:t>.</a:t>
            </a:r>
          </a:p>
          <a:p>
            <a:r>
              <a:rPr lang="en-US" dirty="0" err="1"/>
              <a:t>Matplotlib</a:t>
            </a:r>
            <a:r>
              <a:rPr lang="en-US" dirty="0"/>
              <a:t> comes with a wide variety of plots. Plots helps to understand trends, patterns, and to make correlations. They’re typically instruments for reasoning about quantitative information. </a:t>
            </a:r>
          </a:p>
        </p:txBody>
      </p:sp>
    </p:spTree>
    <p:extLst>
      <p:ext uri="{BB962C8B-B14F-4D97-AF65-F5344CB8AC3E}">
        <p14:creationId xmlns:p14="http://schemas.microsoft.com/office/powerpoint/2010/main" val="112177392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smtClean="0"/>
              <a:t>Pyplot</a:t>
            </a:r>
            <a:endParaRPr lang="en-US" sz="3600" b="1" dirty="0"/>
          </a:p>
        </p:txBody>
      </p:sp>
      <p:sp>
        <p:nvSpPr>
          <p:cNvPr id="3" name="Content Placeholder 2"/>
          <p:cNvSpPr>
            <a:spLocks noGrp="1"/>
          </p:cNvSpPr>
          <p:nvPr>
            <p:ph sz="quarter" idx="1"/>
          </p:nvPr>
        </p:nvSpPr>
        <p:spPr>
          <a:xfrm>
            <a:off x="457200" y="914400"/>
            <a:ext cx="7696200" cy="5638800"/>
          </a:xfrm>
        </p:spPr>
        <p:txBody>
          <a:bodyPr>
            <a:normAutofit/>
          </a:bodyPr>
          <a:lstStyle/>
          <a:p>
            <a:r>
              <a:rPr lang="en-US" dirty="0"/>
              <a:t>The plot() function is used to draw points (markers) in a diagram.</a:t>
            </a:r>
          </a:p>
          <a:p>
            <a:r>
              <a:rPr lang="en-US" dirty="0"/>
              <a:t>By default, the plot() function draws a line from point to point.</a:t>
            </a:r>
          </a:p>
          <a:p>
            <a:r>
              <a:rPr lang="en-US" dirty="0"/>
              <a:t>The function takes parameters for specifying points in the diagram.</a:t>
            </a:r>
          </a:p>
          <a:p>
            <a:r>
              <a:rPr lang="en-US" dirty="0"/>
              <a:t>Parameter 1 is an array containing the points on the </a:t>
            </a:r>
            <a:r>
              <a:rPr lang="en-US" b="1" dirty="0"/>
              <a:t>x-axis</a:t>
            </a:r>
            <a:r>
              <a:rPr lang="en-US" dirty="0"/>
              <a:t>.</a:t>
            </a:r>
          </a:p>
          <a:p>
            <a:r>
              <a:rPr lang="en-US" dirty="0"/>
              <a:t>Parameter 2 is an array containing the points on the </a:t>
            </a:r>
            <a:r>
              <a:rPr lang="en-US" b="1" dirty="0"/>
              <a:t>y-axis</a:t>
            </a:r>
            <a:r>
              <a:rPr lang="en-US" dirty="0"/>
              <a:t>.</a:t>
            </a:r>
          </a:p>
          <a:p>
            <a:r>
              <a:rPr lang="en-US" dirty="0"/>
              <a:t>If we need to plot a line from (1, 3) to (8, 10), we have to pass two arrays [1, 8] and [3, 10] to the plot function.</a:t>
            </a:r>
          </a:p>
        </p:txBody>
      </p:sp>
    </p:spTree>
    <p:extLst>
      <p:ext uri="{BB962C8B-B14F-4D97-AF65-F5344CB8AC3E}">
        <p14:creationId xmlns:p14="http://schemas.microsoft.com/office/powerpoint/2010/main" val="99221205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smtClean="0"/>
              <a:t>Pyplot</a:t>
            </a:r>
            <a:endParaRPr lang="en-US" sz="3600" b="1" dirty="0"/>
          </a:p>
        </p:txBody>
      </p:sp>
      <p:sp>
        <p:nvSpPr>
          <p:cNvPr id="3" name="Content Placeholder 2"/>
          <p:cNvSpPr>
            <a:spLocks noGrp="1"/>
          </p:cNvSpPr>
          <p:nvPr>
            <p:ph sz="quarter" idx="1"/>
          </p:nvPr>
        </p:nvSpPr>
        <p:spPr>
          <a:xfrm>
            <a:off x="457200" y="914400"/>
            <a:ext cx="7696200" cy="5638800"/>
          </a:xfrm>
        </p:spPr>
        <p:txBody>
          <a:bodyPr>
            <a:normAutofit/>
          </a:bodyPr>
          <a:lstStyle/>
          <a:p>
            <a:r>
              <a:rPr lang="en-US" dirty="0" smtClean="0"/>
              <a:t>Example to </a:t>
            </a:r>
            <a:r>
              <a:rPr lang="en-US" dirty="0"/>
              <a:t>d</a:t>
            </a:r>
            <a:r>
              <a:rPr lang="en-US" dirty="0" smtClean="0"/>
              <a:t>raw </a:t>
            </a:r>
            <a:r>
              <a:rPr lang="en-US" dirty="0"/>
              <a:t>a line in a diagram from position (1, 3) to position (8, 10):</a:t>
            </a:r>
            <a:endParaRPr lang="en-US" dirty="0" smtClean="0"/>
          </a:p>
          <a:p>
            <a:pPr marL="0" indent="0">
              <a:buNone/>
            </a:pPr>
            <a:endParaRPr lang="en-US" dirty="0" smtClean="0"/>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smtClean="0"/>
              <a:t>np</a:t>
            </a:r>
            <a:endParaRPr lang="en-US" dirty="0" smtClean="0"/>
          </a:p>
          <a:p>
            <a:pPr marL="0" indent="0">
              <a:buNone/>
            </a:pPr>
            <a:r>
              <a:rPr lang="en-US" dirty="0"/>
              <a:t/>
            </a:r>
            <a:br>
              <a:rPr lang="en-US" dirty="0"/>
            </a:br>
            <a:r>
              <a:rPr lang="en-US" dirty="0" err="1"/>
              <a:t>xpoints</a:t>
            </a:r>
            <a:r>
              <a:rPr lang="en-US" dirty="0"/>
              <a:t> = </a:t>
            </a:r>
            <a:r>
              <a:rPr lang="en-US" dirty="0" err="1"/>
              <a:t>np.array</a:t>
            </a:r>
            <a:r>
              <a:rPr lang="en-US" dirty="0"/>
              <a:t>([1, 8])</a:t>
            </a:r>
            <a:br>
              <a:rPr lang="en-US" dirty="0"/>
            </a:br>
            <a:r>
              <a:rPr lang="en-US" dirty="0" err="1"/>
              <a:t>ypoints</a:t>
            </a:r>
            <a:r>
              <a:rPr lang="en-US" dirty="0"/>
              <a:t> = </a:t>
            </a:r>
            <a:r>
              <a:rPr lang="en-US" dirty="0" err="1"/>
              <a:t>np.array</a:t>
            </a:r>
            <a:r>
              <a:rPr lang="en-US" dirty="0"/>
              <a:t>([3, 10</a:t>
            </a:r>
            <a:r>
              <a:rPr lang="en-US" dirty="0" smtClean="0"/>
              <a:t>])</a:t>
            </a:r>
            <a:r>
              <a:rPr lang="en-US" dirty="0"/>
              <a:t/>
            </a:r>
            <a:br>
              <a:rPr lang="en-US" dirty="0"/>
            </a:br>
            <a:endParaRPr lang="en-US" dirty="0" smtClean="0"/>
          </a:p>
          <a:p>
            <a:pPr marL="0" indent="0">
              <a:buNone/>
            </a:pPr>
            <a:r>
              <a:rPr lang="en-US" dirty="0" err="1" smtClean="0"/>
              <a:t>plt.plot</a:t>
            </a:r>
            <a:r>
              <a:rPr lang="en-US" dirty="0" smtClean="0"/>
              <a:t>(</a:t>
            </a:r>
            <a:r>
              <a:rPr lang="en-US" dirty="0" err="1" smtClean="0"/>
              <a:t>xpoints</a:t>
            </a:r>
            <a:r>
              <a:rPr lang="en-US" dirty="0"/>
              <a:t>, </a:t>
            </a:r>
            <a:r>
              <a:rPr lang="en-US" dirty="0" err="1"/>
              <a:t>ypoints</a:t>
            </a:r>
            <a:r>
              <a:rPr lang="en-US" dirty="0"/>
              <a:t>)</a:t>
            </a:r>
            <a:br>
              <a:rPr lang="en-US" dirty="0"/>
            </a:br>
            <a:r>
              <a:rPr lang="en-US" dirty="0" err="1"/>
              <a:t>plt.show</a:t>
            </a:r>
            <a:r>
              <a:rPr lang="en-US" dirty="0"/>
              <a:t>()</a:t>
            </a:r>
            <a:endParaRPr lang="en-US" dirty="0" smtClean="0"/>
          </a:p>
        </p:txBody>
      </p:sp>
    </p:spTree>
    <p:extLst>
      <p:ext uri="{BB962C8B-B14F-4D97-AF65-F5344CB8AC3E}">
        <p14:creationId xmlns:p14="http://schemas.microsoft.com/office/powerpoint/2010/main" val="96001156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smtClean="0"/>
              <a:t>Pyplot</a:t>
            </a:r>
            <a:endParaRPr lang="en-US" sz="3600" b="1" dirty="0"/>
          </a:p>
        </p:txBody>
      </p:sp>
      <p:pic>
        <p:nvPicPr>
          <p:cNvPr id="1026" name="Picture 2" descr="https://www.w3schools.com/python/img_matplotlib_plotting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38200"/>
            <a:ext cx="7467600" cy="5577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360950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Plotting Without Line</a:t>
            </a:r>
          </a:p>
        </p:txBody>
      </p:sp>
      <p:sp>
        <p:nvSpPr>
          <p:cNvPr id="3" name="Content Placeholder 2"/>
          <p:cNvSpPr>
            <a:spLocks noGrp="1"/>
          </p:cNvSpPr>
          <p:nvPr>
            <p:ph sz="quarter" idx="1"/>
          </p:nvPr>
        </p:nvSpPr>
        <p:spPr>
          <a:xfrm>
            <a:off x="457200" y="914400"/>
            <a:ext cx="7696200" cy="5638800"/>
          </a:xfrm>
        </p:spPr>
        <p:txBody>
          <a:bodyPr>
            <a:normAutofit/>
          </a:bodyPr>
          <a:lstStyle/>
          <a:p>
            <a:r>
              <a:rPr lang="en-US" dirty="0"/>
              <a:t>To plot only the markers, you can use shortcut string notation parameter 'o', which means 'rings'.</a:t>
            </a:r>
          </a:p>
          <a:p>
            <a:r>
              <a:rPr lang="en-US" dirty="0" smtClean="0"/>
              <a:t>Example to </a:t>
            </a:r>
            <a:r>
              <a:rPr lang="en-US" dirty="0"/>
              <a:t>d</a:t>
            </a:r>
            <a:r>
              <a:rPr lang="en-US" dirty="0" smtClean="0"/>
              <a:t>raw </a:t>
            </a:r>
            <a:r>
              <a:rPr lang="en-US" dirty="0"/>
              <a:t>a line in a diagram from position (1, 3) to position (8, 10):</a:t>
            </a:r>
            <a:endParaRPr lang="en-US" dirty="0" smtClean="0"/>
          </a:p>
          <a:p>
            <a:pPr marL="0" indent="0">
              <a:buNone/>
            </a:pPr>
            <a:endParaRPr lang="en-US" dirty="0" smtClean="0"/>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smtClean="0"/>
              <a:t>np</a:t>
            </a:r>
            <a:endParaRPr lang="en-US" dirty="0" smtClean="0"/>
          </a:p>
          <a:p>
            <a:pPr marL="0" indent="0">
              <a:buNone/>
            </a:pPr>
            <a:r>
              <a:rPr lang="en-US" dirty="0"/>
              <a:t/>
            </a:r>
            <a:br>
              <a:rPr lang="en-US" dirty="0"/>
            </a:br>
            <a:r>
              <a:rPr lang="en-US" dirty="0" err="1"/>
              <a:t>xpoints</a:t>
            </a:r>
            <a:r>
              <a:rPr lang="en-US" dirty="0"/>
              <a:t> = </a:t>
            </a:r>
            <a:r>
              <a:rPr lang="en-US" dirty="0" err="1"/>
              <a:t>np.array</a:t>
            </a:r>
            <a:r>
              <a:rPr lang="en-US" dirty="0"/>
              <a:t>([1, 8])</a:t>
            </a:r>
            <a:br>
              <a:rPr lang="en-US" dirty="0"/>
            </a:br>
            <a:r>
              <a:rPr lang="en-US" dirty="0" err="1"/>
              <a:t>ypoints</a:t>
            </a:r>
            <a:r>
              <a:rPr lang="en-US" dirty="0"/>
              <a:t> = </a:t>
            </a:r>
            <a:r>
              <a:rPr lang="en-US" dirty="0" err="1"/>
              <a:t>np.array</a:t>
            </a:r>
            <a:r>
              <a:rPr lang="en-US" dirty="0"/>
              <a:t>([3, 10</a:t>
            </a:r>
            <a:r>
              <a:rPr lang="en-US" dirty="0" smtClean="0"/>
              <a:t>])</a:t>
            </a:r>
            <a:r>
              <a:rPr lang="en-US" dirty="0"/>
              <a:t/>
            </a:r>
            <a:br>
              <a:rPr lang="en-US" dirty="0"/>
            </a:br>
            <a:endParaRPr lang="en-US" dirty="0" smtClean="0"/>
          </a:p>
          <a:p>
            <a:pPr marL="0" indent="0">
              <a:buNone/>
            </a:pPr>
            <a:r>
              <a:rPr lang="en-US" dirty="0" err="1" smtClean="0"/>
              <a:t>plt.plot</a:t>
            </a:r>
            <a:r>
              <a:rPr lang="en-US" dirty="0" smtClean="0"/>
              <a:t>(</a:t>
            </a:r>
            <a:r>
              <a:rPr lang="en-US" dirty="0" err="1" smtClean="0"/>
              <a:t>xpoints</a:t>
            </a:r>
            <a:r>
              <a:rPr lang="en-US" dirty="0"/>
              <a:t>, </a:t>
            </a:r>
            <a:r>
              <a:rPr lang="en-US" dirty="0" err="1" smtClean="0"/>
              <a:t>ypoints</a:t>
            </a:r>
            <a:r>
              <a:rPr lang="en-US" dirty="0" smtClean="0"/>
              <a:t>, ‘o’)</a:t>
            </a:r>
            <a:r>
              <a:rPr lang="en-US" dirty="0"/>
              <a:t/>
            </a:r>
            <a:br>
              <a:rPr lang="en-US" dirty="0"/>
            </a:br>
            <a:r>
              <a:rPr lang="en-US" dirty="0" err="1"/>
              <a:t>plt.show</a:t>
            </a:r>
            <a:r>
              <a:rPr lang="en-US" dirty="0"/>
              <a:t>()</a:t>
            </a:r>
            <a:endParaRPr lang="en-US" dirty="0" smtClean="0"/>
          </a:p>
        </p:txBody>
      </p:sp>
    </p:spTree>
    <p:extLst>
      <p:ext uri="{BB962C8B-B14F-4D97-AF65-F5344CB8AC3E}">
        <p14:creationId xmlns:p14="http://schemas.microsoft.com/office/powerpoint/2010/main" val="81350331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Plotting Without Line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838200"/>
            <a:ext cx="7315200" cy="5463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6376978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Multiple Points</a:t>
            </a:r>
          </a:p>
        </p:txBody>
      </p:sp>
      <p:sp>
        <p:nvSpPr>
          <p:cNvPr id="3" name="Content Placeholder 2"/>
          <p:cNvSpPr>
            <a:spLocks noGrp="1"/>
          </p:cNvSpPr>
          <p:nvPr>
            <p:ph sz="quarter" idx="1"/>
          </p:nvPr>
        </p:nvSpPr>
        <p:spPr>
          <a:xfrm>
            <a:off x="457200" y="914400"/>
            <a:ext cx="7696200" cy="5638800"/>
          </a:xfrm>
        </p:spPr>
        <p:txBody>
          <a:bodyPr>
            <a:normAutofit lnSpcReduction="10000"/>
          </a:bodyPr>
          <a:lstStyle/>
          <a:p>
            <a:r>
              <a:rPr lang="en-US" dirty="0" smtClean="0"/>
              <a:t>You </a:t>
            </a:r>
            <a:r>
              <a:rPr lang="en-US" dirty="0"/>
              <a:t>can plot as many points as you like, just make sure you have the same number of points in both axis</a:t>
            </a:r>
            <a:r>
              <a:rPr lang="en-US" dirty="0" smtClean="0"/>
              <a:t>.</a:t>
            </a:r>
          </a:p>
          <a:p>
            <a:r>
              <a:rPr lang="en-US" dirty="0" smtClean="0"/>
              <a:t>Example to </a:t>
            </a:r>
            <a:r>
              <a:rPr lang="en-US" dirty="0"/>
              <a:t>d</a:t>
            </a:r>
            <a:r>
              <a:rPr lang="en-US" dirty="0" smtClean="0"/>
              <a:t>raw </a:t>
            </a:r>
            <a:r>
              <a:rPr lang="en-US" dirty="0"/>
              <a:t>a line in a diagram from position (1, 3) to (2, 8) then to (6, 1) and finally to position (8, 10):</a:t>
            </a:r>
            <a:endParaRPr lang="en-US" dirty="0" smtClean="0"/>
          </a:p>
          <a:p>
            <a:pPr marL="0" indent="0">
              <a:buNone/>
            </a:pPr>
            <a:endParaRPr lang="en-US" dirty="0" smtClean="0"/>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smtClean="0"/>
              <a:t>np</a:t>
            </a:r>
            <a:endParaRPr lang="en-US" dirty="0" smtClean="0"/>
          </a:p>
          <a:p>
            <a:pPr marL="0" indent="0">
              <a:buNone/>
            </a:pPr>
            <a:r>
              <a:rPr lang="en-US" dirty="0"/>
              <a:t/>
            </a:r>
            <a:br>
              <a:rPr lang="en-US" dirty="0"/>
            </a:br>
            <a:r>
              <a:rPr lang="en-US" dirty="0" err="1"/>
              <a:t>xpoints</a:t>
            </a:r>
            <a:r>
              <a:rPr lang="en-US" dirty="0"/>
              <a:t> = </a:t>
            </a:r>
            <a:r>
              <a:rPr lang="en-US" dirty="0" err="1"/>
              <a:t>np.array</a:t>
            </a:r>
            <a:r>
              <a:rPr lang="en-US" dirty="0"/>
              <a:t>([1, 2, 6, 8])</a:t>
            </a:r>
            <a:br>
              <a:rPr lang="en-US" dirty="0"/>
            </a:br>
            <a:r>
              <a:rPr lang="en-US" dirty="0" err="1"/>
              <a:t>ypoints</a:t>
            </a:r>
            <a:r>
              <a:rPr lang="en-US" dirty="0"/>
              <a:t> = </a:t>
            </a:r>
            <a:r>
              <a:rPr lang="en-US" dirty="0" err="1"/>
              <a:t>np.array</a:t>
            </a:r>
            <a:r>
              <a:rPr lang="en-US" dirty="0"/>
              <a:t>([3, 8, 1, 10</a:t>
            </a:r>
            <a:r>
              <a:rPr lang="en-US" dirty="0" smtClean="0"/>
              <a:t>])</a:t>
            </a:r>
            <a:r>
              <a:rPr lang="en-US" dirty="0"/>
              <a:t/>
            </a:r>
            <a:br>
              <a:rPr lang="en-US" dirty="0"/>
            </a:br>
            <a:endParaRPr lang="en-US" dirty="0" smtClean="0"/>
          </a:p>
          <a:p>
            <a:pPr marL="0" indent="0">
              <a:buNone/>
            </a:pPr>
            <a:r>
              <a:rPr lang="en-US" dirty="0" err="1" smtClean="0"/>
              <a:t>plt.plot</a:t>
            </a:r>
            <a:r>
              <a:rPr lang="en-US" dirty="0" smtClean="0"/>
              <a:t>(</a:t>
            </a:r>
            <a:r>
              <a:rPr lang="en-US" dirty="0" err="1" smtClean="0"/>
              <a:t>xpoints</a:t>
            </a:r>
            <a:r>
              <a:rPr lang="en-US" dirty="0"/>
              <a:t>, </a:t>
            </a:r>
            <a:r>
              <a:rPr lang="en-US" dirty="0" err="1" smtClean="0"/>
              <a:t>ypoints</a:t>
            </a:r>
            <a:r>
              <a:rPr lang="en-US" dirty="0" smtClean="0"/>
              <a:t>)</a:t>
            </a:r>
            <a:r>
              <a:rPr lang="en-US" dirty="0"/>
              <a:t/>
            </a:r>
            <a:br>
              <a:rPr lang="en-US" dirty="0"/>
            </a:br>
            <a:r>
              <a:rPr lang="en-US" dirty="0" err="1"/>
              <a:t>plt.show</a:t>
            </a:r>
            <a:r>
              <a:rPr lang="en-US" dirty="0"/>
              <a:t>()</a:t>
            </a:r>
            <a:endParaRPr lang="en-US" dirty="0" smtClean="0"/>
          </a:p>
        </p:txBody>
      </p:sp>
    </p:spTree>
    <p:extLst>
      <p:ext uri="{BB962C8B-B14F-4D97-AF65-F5344CB8AC3E}">
        <p14:creationId xmlns:p14="http://schemas.microsoft.com/office/powerpoint/2010/main" val="37276023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Multiple Points</a:t>
            </a:r>
          </a:p>
        </p:txBody>
      </p:sp>
      <p:pic>
        <p:nvPicPr>
          <p:cNvPr id="4098" name="Picture 2" descr="https://www.w3schools.com/python/img_matplotlib_plotting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0"/>
            <a:ext cx="7651882"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066556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Default X-Points</a:t>
            </a:r>
          </a:p>
        </p:txBody>
      </p:sp>
      <p:sp>
        <p:nvSpPr>
          <p:cNvPr id="3" name="Content Placeholder 2"/>
          <p:cNvSpPr>
            <a:spLocks noGrp="1"/>
          </p:cNvSpPr>
          <p:nvPr>
            <p:ph sz="quarter" idx="1"/>
          </p:nvPr>
        </p:nvSpPr>
        <p:spPr>
          <a:xfrm>
            <a:off x="457200" y="914400"/>
            <a:ext cx="7696200" cy="5638800"/>
          </a:xfrm>
        </p:spPr>
        <p:txBody>
          <a:bodyPr>
            <a:normAutofit/>
          </a:bodyPr>
          <a:lstStyle/>
          <a:p>
            <a:r>
              <a:rPr lang="en-US" dirty="0"/>
              <a:t>If we do not specify the points on the x-axis, they will get the default values 0, 1, 2, 3 (etc., depending on the length of the y-points</a:t>
            </a:r>
            <a:r>
              <a:rPr lang="en-US" dirty="0" smtClean="0"/>
              <a:t>.</a:t>
            </a:r>
          </a:p>
          <a:p>
            <a:r>
              <a:rPr lang="en-US" dirty="0" smtClean="0"/>
              <a:t>Example to draw a line in a diagram from y-positions (3,8,1,10,5,7):</a:t>
            </a:r>
          </a:p>
          <a:p>
            <a:pPr marL="0" indent="0">
              <a:buNone/>
            </a:pPr>
            <a:endParaRPr lang="en-US" dirty="0" smtClean="0"/>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smtClean="0"/>
              <a:t>np</a:t>
            </a:r>
            <a:endParaRPr lang="en-US" dirty="0" smtClean="0"/>
          </a:p>
          <a:p>
            <a:pPr marL="0" indent="0">
              <a:buNone/>
            </a:pPr>
            <a:r>
              <a:rPr lang="en-US" dirty="0"/>
              <a:t/>
            </a:r>
            <a:br>
              <a:rPr lang="en-US" dirty="0"/>
            </a:br>
            <a:r>
              <a:rPr lang="en-US" dirty="0" err="1"/>
              <a:t>ypoints</a:t>
            </a:r>
            <a:r>
              <a:rPr lang="en-US" dirty="0"/>
              <a:t> = </a:t>
            </a:r>
            <a:r>
              <a:rPr lang="en-US" dirty="0" err="1"/>
              <a:t>np.array</a:t>
            </a:r>
            <a:r>
              <a:rPr lang="en-US" dirty="0"/>
              <a:t>([3, 8, 1, 10, 5, 7])</a:t>
            </a:r>
            <a:br>
              <a:rPr lang="en-US" dirty="0"/>
            </a:br>
            <a:endParaRPr lang="en-US" dirty="0" smtClean="0"/>
          </a:p>
          <a:p>
            <a:pPr marL="0" indent="0">
              <a:buNone/>
            </a:pPr>
            <a:r>
              <a:rPr lang="en-US" dirty="0" err="1" smtClean="0"/>
              <a:t>plt.plot</a:t>
            </a:r>
            <a:r>
              <a:rPr lang="en-US" dirty="0" smtClean="0"/>
              <a:t>(</a:t>
            </a:r>
            <a:r>
              <a:rPr lang="en-US" dirty="0" err="1" smtClean="0"/>
              <a:t>ypoints</a:t>
            </a:r>
            <a:r>
              <a:rPr lang="en-US" dirty="0" smtClean="0"/>
              <a:t>)</a:t>
            </a:r>
            <a:r>
              <a:rPr lang="en-US" dirty="0"/>
              <a:t/>
            </a:r>
            <a:br>
              <a:rPr lang="en-US" dirty="0"/>
            </a:br>
            <a:r>
              <a:rPr lang="en-US" dirty="0" err="1"/>
              <a:t>plt.show</a:t>
            </a:r>
            <a:r>
              <a:rPr lang="en-US" dirty="0"/>
              <a:t>()</a:t>
            </a:r>
            <a:endParaRPr lang="en-US" dirty="0" smtClean="0"/>
          </a:p>
        </p:txBody>
      </p:sp>
    </p:spTree>
    <p:extLst>
      <p:ext uri="{BB962C8B-B14F-4D97-AF65-F5344CB8AC3E}">
        <p14:creationId xmlns:p14="http://schemas.microsoft.com/office/powerpoint/2010/main" val="3387972407"/>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Default X-Points</a:t>
            </a:r>
          </a:p>
        </p:txBody>
      </p:sp>
      <p:pic>
        <p:nvPicPr>
          <p:cNvPr id="6146" name="Picture 2" descr="https://www.w3schools.com/python/img_matplotlib_plotting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 y="762000"/>
            <a:ext cx="7886700" cy="58903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56928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Markers</a:t>
            </a:r>
          </a:p>
        </p:txBody>
      </p:sp>
      <p:sp>
        <p:nvSpPr>
          <p:cNvPr id="3" name="Content Placeholder 2"/>
          <p:cNvSpPr>
            <a:spLocks noGrp="1"/>
          </p:cNvSpPr>
          <p:nvPr>
            <p:ph sz="quarter" idx="1"/>
          </p:nvPr>
        </p:nvSpPr>
        <p:spPr>
          <a:xfrm>
            <a:off x="457200" y="914400"/>
            <a:ext cx="7696200" cy="5638800"/>
          </a:xfrm>
        </p:spPr>
        <p:txBody>
          <a:bodyPr>
            <a:normAutofit/>
          </a:bodyPr>
          <a:lstStyle/>
          <a:p>
            <a:r>
              <a:rPr lang="en-US" dirty="0"/>
              <a:t>You can use the keyword argument </a:t>
            </a:r>
            <a:r>
              <a:rPr lang="en-US" b="1" dirty="0"/>
              <a:t>marker</a:t>
            </a:r>
            <a:r>
              <a:rPr lang="en-US" dirty="0"/>
              <a:t> to emphasize each point with a specified </a:t>
            </a:r>
            <a:r>
              <a:rPr lang="en-US" dirty="0" smtClean="0"/>
              <a:t>marker</a:t>
            </a:r>
            <a:r>
              <a:rPr lang="en-US" dirty="0"/>
              <a:t>.</a:t>
            </a:r>
            <a:endParaRPr lang="en-US" dirty="0" smtClean="0"/>
          </a:p>
          <a:p>
            <a:r>
              <a:rPr lang="en-US" dirty="0" smtClean="0"/>
              <a:t>Example to draw a line in a diagram from y-positions (3,8,1,10,5,7) </a:t>
            </a:r>
            <a:r>
              <a:rPr lang="en-US" dirty="0"/>
              <a:t>and </a:t>
            </a:r>
            <a:r>
              <a:rPr lang="en-US" dirty="0" smtClean="0"/>
              <a:t>mark </a:t>
            </a:r>
            <a:r>
              <a:rPr lang="en-US" dirty="0"/>
              <a:t>each point with a </a:t>
            </a:r>
            <a:r>
              <a:rPr lang="en-US" dirty="0" smtClean="0"/>
              <a:t>circle:</a:t>
            </a:r>
          </a:p>
          <a:p>
            <a:pPr marL="0" indent="0">
              <a:buNone/>
            </a:pPr>
            <a:endParaRPr lang="en-US" dirty="0" smtClean="0"/>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smtClean="0"/>
              <a:t>np</a:t>
            </a:r>
            <a:endParaRPr lang="en-US" dirty="0" smtClean="0"/>
          </a:p>
          <a:p>
            <a:pPr marL="0" indent="0">
              <a:buNone/>
            </a:pPr>
            <a:r>
              <a:rPr lang="en-US" dirty="0"/>
              <a:t/>
            </a:r>
            <a:br>
              <a:rPr lang="en-US" dirty="0"/>
            </a:br>
            <a:r>
              <a:rPr lang="en-US" dirty="0" err="1"/>
              <a:t>ypoints</a:t>
            </a:r>
            <a:r>
              <a:rPr lang="en-US" dirty="0"/>
              <a:t> = </a:t>
            </a:r>
            <a:r>
              <a:rPr lang="en-US" dirty="0" err="1"/>
              <a:t>np.array</a:t>
            </a:r>
            <a:r>
              <a:rPr lang="en-US" dirty="0"/>
              <a:t>([3, 8, 1, 10, 5, 7])</a:t>
            </a:r>
            <a:br>
              <a:rPr lang="en-US" dirty="0"/>
            </a:br>
            <a:endParaRPr lang="en-US" dirty="0" smtClean="0"/>
          </a:p>
          <a:p>
            <a:pPr marL="0" indent="0">
              <a:buNone/>
            </a:pPr>
            <a:r>
              <a:rPr lang="en-US" dirty="0" err="1" smtClean="0"/>
              <a:t>plt.plot</a:t>
            </a:r>
            <a:r>
              <a:rPr lang="en-US" dirty="0" smtClean="0"/>
              <a:t>(</a:t>
            </a:r>
            <a:r>
              <a:rPr lang="en-US" dirty="0" err="1" smtClean="0"/>
              <a:t>ypoints</a:t>
            </a:r>
            <a:r>
              <a:rPr lang="en-US" dirty="0" smtClean="0"/>
              <a:t>, </a:t>
            </a:r>
            <a:r>
              <a:rPr lang="en-US" dirty="0"/>
              <a:t>marker = 'o'</a:t>
            </a:r>
            <a:r>
              <a:rPr lang="en-US" dirty="0" smtClean="0"/>
              <a:t>)</a:t>
            </a:r>
            <a:r>
              <a:rPr lang="en-US" dirty="0"/>
              <a:t/>
            </a:r>
            <a:br>
              <a:rPr lang="en-US" dirty="0"/>
            </a:br>
            <a:r>
              <a:rPr lang="en-US" dirty="0" err="1"/>
              <a:t>plt.show</a:t>
            </a:r>
            <a:r>
              <a:rPr lang="en-US" dirty="0"/>
              <a:t>()</a:t>
            </a:r>
            <a:endParaRPr lang="en-US" dirty="0" smtClean="0"/>
          </a:p>
        </p:txBody>
      </p:sp>
    </p:spTree>
    <p:extLst>
      <p:ext uri="{BB962C8B-B14F-4D97-AF65-F5344CB8AC3E}">
        <p14:creationId xmlns:p14="http://schemas.microsoft.com/office/powerpoint/2010/main" val="361339830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Markers</a:t>
            </a:r>
          </a:p>
        </p:txBody>
      </p:sp>
      <p:pic>
        <p:nvPicPr>
          <p:cNvPr id="7170" name="Picture 2" descr="https://www.w3schools.com/python/img_matplotlib_marker_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81289"/>
            <a:ext cx="7626056" cy="5695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769431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Markers</a:t>
            </a:r>
          </a:p>
        </p:txBody>
      </p:sp>
      <p:sp>
        <p:nvSpPr>
          <p:cNvPr id="3" name="Content Placeholder 2"/>
          <p:cNvSpPr>
            <a:spLocks noGrp="1"/>
          </p:cNvSpPr>
          <p:nvPr>
            <p:ph sz="quarter" idx="1"/>
          </p:nvPr>
        </p:nvSpPr>
        <p:spPr>
          <a:xfrm>
            <a:off x="457200" y="914400"/>
            <a:ext cx="7696200" cy="5638800"/>
          </a:xfrm>
        </p:spPr>
        <p:txBody>
          <a:bodyPr>
            <a:normAutofit/>
          </a:bodyPr>
          <a:lstStyle/>
          <a:p>
            <a:r>
              <a:rPr lang="en-US" dirty="0"/>
              <a:t>You can use the keyword argument </a:t>
            </a:r>
            <a:r>
              <a:rPr lang="en-US" b="1" dirty="0"/>
              <a:t>marker</a:t>
            </a:r>
            <a:r>
              <a:rPr lang="en-US" dirty="0"/>
              <a:t> to emphasize each point with a specified </a:t>
            </a:r>
            <a:r>
              <a:rPr lang="en-US" dirty="0" smtClean="0"/>
              <a:t>marker</a:t>
            </a:r>
            <a:r>
              <a:rPr lang="en-US" dirty="0"/>
              <a:t>.</a:t>
            </a:r>
            <a:endParaRPr lang="en-US" dirty="0" smtClean="0"/>
          </a:p>
          <a:p>
            <a:r>
              <a:rPr lang="en-US" dirty="0" smtClean="0"/>
              <a:t>Example to draw a line in a diagram from y-positions (3,8,1,10,5,7) </a:t>
            </a:r>
            <a:r>
              <a:rPr lang="en-US" dirty="0"/>
              <a:t>and </a:t>
            </a:r>
            <a:r>
              <a:rPr lang="en-US" dirty="0" smtClean="0"/>
              <a:t>mark </a:t>
            </a:r>
            <a:r>
              <a:rPr lang="en-US" dirty="0"/>
              <a:t>each point with a </a:t>
            </a:r>
            <a:r>
              <a:rPr lang="en-US" dirty="0" smtClean="0"/>
              <a:t>star:</a:t>
            </a:r>
          </a:p>
          <a:p>
            <a:pPr marL="0" indent="0">
              <a:buNone/>
            </a:pPr>
            <a:endParaRPr lang="en-US" dirty="0" smtClean="0"/>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smtClean="0"/>
              <a:t>np</a:t>
            </a:r>
            <a:endParaRPr lang="en-US" dirty="0" smtClean="0"/>
          </a:p>
          <a:p>
            <a:pPr marL="0" indent="0">
              <a:buNone/>
            </a:pPr>
            <a:r>
              <a:rPr lang="en-US" dirty="0"/>
              <a:t/>
            </a:r>
            <a:br>
              <a:rPr lang="en-US" dirty="0"/>
            </a:br>
            <a:r>
              <a:rPr lang="en-US" dirty="0" err="1"/>
              <a:t>ypoints</a:t>
            </a:r>
            <a:r>
              <a:rPr lang="en-US" dirty="0"/>
              <a:t> = </a:t>
            </a:r>
            <a:r>
              <a:rPr lang="en-US" dirty="0" err="1"/>
              <a:t>np.array</a:t>
            </a:r>
            <a:r>
              <a:rPr lang="en-US" dirty="0"/>
              <a:t>([3, 8, 1, 10, 5, 7])</a:t>
            </a:r>
            <a:br>
              <a:rPr lang="en-US" dirty="0"/>
            </a:br>
            <a:endParaRPr lang="en-US" dirty="0" smtClean="0"/>
          </a:p>
          <a:p>
            <a:pPr marL="0" indent="0">
              <a:buNone/>
            </a:pPr>
            <a:r>
              <a:rPr lang="en-US" dirty="0" err="1" smtClean="0"/>
              <a:t>plt.plot</a:t>
            </a:r>
            <a:r>
              <a:rPr lang="en-US" dirty="0" smtClean="0"/>
              <a:t>(</a:t>
            </a:r>
            <a:r>
              <a:rPr lang="en-US" dirty="0" err="1" smtClean="0"/>
              <a:t>ypoints</a:t>
            </a:r>
            <a:r>
              <a:rPr lang="en-US" dirty="0" smtClean="0"/>
              <a:t>, </a:t>
            </a:r>
            <a:r>
              <a:rPr lang="en-US" dirty="0"/>
              <a:t>marker = </a:t>
            </a:r>
            <a:r>
              <a:rPr lang="en-US" dirty="0" smtClean="0"/>
              <a:t>‘*')</a:t>
            </a:r>
            <a:r>
              <a:rPr lang="en-US" dirty="0"/>
              <a:t/>
            </a:r>
            <a:br>
              <a:rPr lang="en-US" dirty="0"/>
            </a:br>
            <a:r>
              <a:rPr lang="en-US" dirty="0" err="1"/>
              <a:t>plt.show</a:t>
            </a:r>
            <a:r>
              <a:rPr lang="en-US" dirty="0"/>
              <a:t>()</a:t>
            </a:r>
            <a:endParaRPr lang="en-US" dirty="0" smtClean="0"/>
          </a:p>
        </p:txBody>
      </p:sp>
    </p:spTree>
    <p:extLst>
      <p:ext uri="{BB962C8B-B14F-4D97-AF65-F5344CB8AC3E}">
        <p14:creationId xmlns:p14="http://schemas.microsoft.com/office/powerpoint/2010/main" val="30358185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Markers</a:t>
            </a:r>
          </a:p>
        </p:txBody>
      </p:sp>
      <p:pic>
        <p:nvPicPr>
          <p:cNvPr id="8194" name="Picture 2" descr="https://www.w3schools.com/python/img_matplotlib_marker_star.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38198"/>
            <a:ext cx="7645400" cy="5710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031529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Marker Reference</a:t>
            </a:r>
            <a:endParaRPr lang="en-US" sz="3600" b="1"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2246953424"/>
              </p:ext>
            </p:extLst>
          </p:nvPr>
        </p:nvGraphicFramePr>
        <p:xfrm>
          <a:off x="381000" y="914400"/>
          <a:ext cx="7696200" cy="5491480"/>
        </p:xfrm>
        <a:graphic>
          <a:graphicData uri="http://schemas.openxmlformats.org/drawingml/2006/table">
            <a:tbl>
              <a:tblPr firstRow="1" bandRow="1">
                <a:tableStyleId>{5C22544A-7EE6-4342-B048-85BDC9FD1C3A}</a:tableStyleId>
              </a:tblPr>
              <a:tblGrid>
                <a:gridCol w="1143000"/>
                <a:gridCol w="2705100"/>
                <a:gridCol w="1104900"/>
                <a:gridCol w="2743200"/>
              </a:tblGrid>
              <a:tr h="370840">
                <a:tc>
                  <a:txBody>
                    <a:bodyPr/>
                    <a:lstStyle/>
                    <a:p>
                      <a:r>
                        <a:rPr lang="en-US" dirty="0" smtClean="0"/>
                        <a:t>Marker</a:t>
                      </a:r>
                      <a:endParaRPr lang="en-US" dirty="0"/>
                    </a:p>
                  </a:txBody>
                  <a:tcPr/>
                </a:tc>
                <a:tc>
                  <a:txBody>
                    <a:bodyPr/>
                    <a:lstStyle/>
                    <a:p>
                      <a:r>
                        <a:rPr lang="en-US" dirty="0" smtClean="0"/>
                        <a:t>Description</a:t>
                      </a:r>
                      <a:endParaRPr lang="en-US" dirty="0"/>
                    </a:p>
                  </a:txBody>
                  <a:tcPr/>
                </a:tc>
                <a:tc>
                  <a:txBody>
                    <a:bodyPr/>
                    <a:lstStyle/>
                    <a:p>
                      <a:r>
                        <a:rPr lang="en-US" dirty="0" smtClean="0"/>
                        <a:t>Marker</a:t>
                      </a:r>
                      <a:endParaRPr lang="en-US" dirty="0"/>
                    </a:p>
                  </a:txBody>
                  <a:tcPr/>
                </a:tc>
                <a:tc>
                  <a:txBody>
                    <a:bodyPr/>
                    <a:lstStyle/>
                    <a:p>
                      <a:r>
                        <a:rPr lang="en-US" dirty="0" smtClean="0"/>
                        <a:t>Description</a:t>
                      </a:r>
                    </a:p>
                  </a:txBody>
                  <a:tcPr/>
                </a:tc>
              </a:tr>
              <a:tr h="370840">
                <a:tc>
                  <a:txBody>
                    <a:bodyPr/>
                    <a:lstStyle/>
                    <a:p>
                      <a:pPr algn="l" fontAlgn="t"/>
                      <a:r>
                        <a:rPr lang="en-US">
                          <a:effectLst/>
                        </a:rPr>
                        <a:t>'o'</a:t>
                      </a:r>
                    </a:p>
                  </a:txBody>
                  <a:tcPr marL="152400" marR="76200" marT="76200" marB="76200"/>
                </a:tc>
                <a:tc>
                  <a:txBody>
                    <a:bodyPr/>
                    <a:lstStyle/>
                    <a:p>
                      <a:pPr algn="l" fontAlgn="t"/>
                      <a:r>
                        <a:rPr lang="en-US" dirty="0">
                          <a:effectLst/>
                        </a:rPr>
                        <a:t>Circle</a:t>
                      </a:r>
                    </a:p>
                  </a:txBody>
                  <a:tcPr marL="76200" marR="76200" marT="76200" marB="76200"/>
                </a:tc>
                <a:tc>
                  <a:txBody>
                    <a:bodyPr/>
                    <a:lstStyle/>
                    <a:p>
                      <a:pPr algn="l" fontAlgn="t"/>
                      <a:r>
                        <a:rPr lang="en-US" dirty="0">
                          <a:effectLst/>
                        </a:rPr>
                        <a:t>'H'</a:t>
                      </a:r>
                    </a:p>
                  </a:txBody>
                  <a:tcPr marL="152400" marR="76200" marT="76200" marB="76200"/>
                </a:tc>
                <a:tc>
                  <a:txBody>
                    <a:bodyPr/>
                    <a:lstStyle/>
                    <a:p>
                      <a:pPr algn="l" fontAlgn="t"/>
                      <a:r>
                        <a:rPr lang="en-US" dirty="0">
                          <a:effectLst/>
                        </a:rPr>
                        <a:t>Hexagon</a:t>
                      </a:r>
                    </a:p>
                  </a:txBody>
                  <a:tcPr marL="76200" marR="76200" marT="76200" marB="76200"/>
                </a:tc>
              </a:tr>
              <a:tr h="370840">
                <a:tc>
                  <a:txBody>
                    <a:bodyPr/>
                    <a:lstStyle/>
                    <a:p>
                      <a:pPr algn="l" fontAlgn="t"/>
                      <a:r>
                        <a:rPr lang="en-US">
                          <a:effectLst/>
                        </a:rPr>
                        <a:t>'*'</a:t>
                      </a:r>
                    </a:p>
                  </a:txBody>
                  <a:tcPr marL="152400" marR="76200" marT="76200" marB="76200"/>
                </a:tc>
                <a:tc>
                  <a:txBody>
                    <a:bodyPr/>
                    <a:lstStyle/>
                    <a:p>
                      <a:pPr algn="l" fontAlgn="t"/>
                      <a:r>
                        <a:rPr lang="en-US" dirty="0">
                          <a:effectLst/>
                        </a:rPr>
                        <a:t>Star</a:t>
                      </a:r>
                    </a:p>
                  </a:txBody>
                  <a:tcPr marL="76200" marR="76200" marT="76200" marB="76200"/>
                </a:tc>
                <a:tc>
                  <a:txBody>
                    <a:bodyPr/>
                    <a:lstStyle/>
                    <a:p>
                      <a:pPr algn="l" fontAlgn="t"/>
                      <a:r>
                        <a:rPr lang="en-US" dirty="0">
                          <a:effectLst/>
                        </a:rPr>
                        <a:t>'h'</a:t>
                      </a:r>
                    </a:p>
                  </a:txBody>
                  <a:tcPr marL="152400" marR="76200" marT="76200" marB="76200"/>
                </a:tc>
                <a:tc>
                  <a:txBody>
                    <a:bodyPr/>
                    <a:lstStyle/>
                    <a:p>
                      <a:pPr algn="l" fontAlgn="t"/>
                      <a:r>
                        <a:rPr lang="en-US" dirty="0">
                          <a:effectLst/>
                        </a:rPr>
                        <a:t>Hexagon</a:t>
                      </a:r>
                    </a:p>
                  </a:txBody>
                  <a:tcPr marL="76200" marR="76200" marT="76200" marB="76200"/>
                </a:tc>
              </a:tr>
              <a:tr h="370840">
                <a:tc>
                  <a:txBody>
                    <a:bodyPr/>
                    <a:lstStyle/>
                    <a:p>
                      <a:pPr algn="l" fontAlgn="t"/>
                      <a:r>
                        <a:rPr lang="en-US">
                          <a:effectLst/>
                        </a:rPr>
                        <a:t>'.'</a:t>
                      </a:r>
                    </a:p>
                  </a:txBody>
                  <a:tcPr marL="152400" marR="76200" marT="76200" marB="76200"/>
                </a:tc>
                <a:tc>
                  <a:txBody>
                    <a:bodyPr/>
                    <a:lstStyle/>
                    <a:p>
                      <a:pPr algn="l" fontAlgn="t"/>
                      <a:r>
                        <a:rPr lang="en-US" dirty="0">
                          <a:effectLst/>
                        </a:rPr>
                        <a:t>Point</a:t>
                      </a:r>
                    </a:p>
                  </a:txBody>
                  <a:tcPr marL="76200" marR="76200" marT="76200" marB="76200"/>
                </a:tc>
                <a:tc>
                  <a:txBody>
                    <a:bodyPr/>
                    <a:lstStyle/>
                    <a:p>
                      <a:pPr algn="l" fontAlgn="t"/>
                      <a:r>
                        <a:rPr lang="en-US" dirty="0">
                          <a:effectLst/>
                        </a:rPr>
                        <a:t>'v'</a:t>
                      </a:r>
                    </a:p>
                  </a:txBody>
                  <a:tcPr marL="152400" marR="76200" marT="76200" marB="76200"/>
                </a:tc>
                <a:tc>
                  <a:txBody>
                    <a:bodyPr/>
                    <a:lstStyle/>
                    <a:p>
                      <a:pPr algn="l" fontAlgn="t"/>
                      <a:r>
                        <a:rPr lang="en-US" dirty="0">
                          <a:effectLst/>
                        </a:rPr>
                        <a:t>Triangle Down</a:t>
                      </a:r>
                    </a:p>
                  </a:txBody>
                  <a:tcPr marL="76200" marR="76200" marT="76200" marB="76200"/>
                </a:tc>
              </a:tr>
              <a:tr h="370840">
                <a:tc>
                  <a:txBody>
                    <a:bodyPr/>
                    <a:lstStyle/>
                    <a:p>
                      <a:pPr algn="l" fontAlgn="t"/>
                      <a:r>
                        <a:rPr lang="en-US">
                          <a:effectLst/>
                        </a:rPr>
                        <a:t>','</a:t>
                      </a:r>
                    </a:p>
                  </a:txBody>
                  <a:tcPr marL="152400" marR="76200" marT="76200" marB="76200"/>
                </a:tc>
                <a:tc>
                  <a:txBody>
                    <a:bodyPr/>
                    <a:lstStyle/>
                    <a:p>
                      <a:pPr algn="l" fontAlgn="t"/>
                      <a:r>
                        <a:rPr lang="en-US" dirty="0">
                          <a:effectLst/>
                        </a:rPr>
                        <a:t>Pixel</a:t>
                      </a:r>
                    </a:p>
                  </a:txBody>
                  <a:tcPr marL="76200" marR="76200" marT="76200" marB="76200"/>
                </a:tc>
                <a:tc>
                  <a:txBody>
                    <a:bodyPr/>
                    <a:lstStyle/>
                    <a:p>
                      <a:pPr algn="l" fontAlgn="t"/>
                      <a:r>
                        <a:rPr lang="en-US" dirty="0">
                          <a:effectLst/>
                        </a:rPr>
                        <a:t>'^'</a:t>
                      </a:r>
                    </a:p>
                  </a:txBody>
                  <a:tcPr marL="152400" marR="76200" marT="76200" marB="76200"/>
                </a:tc>
                <a:tc>
                  <a:txBody>
                    <a:bodyPr/>
                    <a:lstStyle/>
                    <a:p>
                      <a:pPr algn="l" fontAlgn="t"/>
                      <a:r>
                        <a:rPr lang="en-US" dirty="0">
                          <a:effectLst/>
                        </a:rPr>
                        <a:t>Triangle Up</a:t>
                      </a:r>
                    </a:p>
                  </a:txBody>
                  <a:tcPr marL="76200" marR="76200" marT="76200" marB="76200"/>
                </a:tc>
              </a:tr>
              <a:tr h="370840">
                <a:tc>
                  <a:txBody>
                    <a:bodyPr/>
                    <a:lstStyle/>
                    <a:p>
                      <a:pPr algn="l" fontAlgn="t"/>
                      <a:r>
                        <a:rPr lang="en-US" dirty="0">
                          <a:effectLst/>
                        </a:rPr>
                        <a:t>'x'</a:t>
                      </a:r>
                    </a:p>
                  </a:txBody>
                  <a:tcPr marL="152400" marR="76200" marT="76200" marB="76200"/>
                </a:tc>
                <a:tc>
                  <a:txBody>
                    <a:bodyPr/>
                    <a:lstStyle/>
                    <a:p>
                      <a:pPr algn="l" fontAlgn="t"/>
                      <a:r>
                        <a:rPr lang="en-US" dirty="0">
                          <a:effectLst/>
                        </a:rPr>
                        <a:t>X</a:t>
                      </a:r>
                    </a:p>
                  </a:txBody>
                  <a:tcPr marL="76200" marR="76200" marT="76200" marB="76200"/>
                </a:tc>
                <a:tc>
                  <a:txBody>
                    <a:bodyPr/>
                    <a:lstStyle/>
                    <a:p>
                      <a:pPr algn="l" fontAlgn="t"/>
                      <a:r>
                        <a:rPr lang="en-US" dirty="0">
                          <a:effectLst/>
                        </a:rPr>
                        <a:t>'&lt;'</a:t>
                      </a:r>
                    </a:p>
                  </a:txBody>
                  <a:tcPr marL="152400" marR="76200" marT="76200" marB="76200"/>
                </a:tc>
                <a:tc>
                  <a:txBody>
                    <a:bodyPr/>
                    <a:lstStyle/>
                    <a:p>
                      <a:pPr algn="l" fontAlgn="t"/>
                      <a:r>
                        <a:rPr lang="en-US" dirty="0">
                          <a:effectLst/>
                        </a:rPr>
                        <a:t>Triangle Left</a:t>
                      </a:r>
                    </a:p>
                  </a:txBody>
                  <a:tcPr marL="76200" marR="76200" marT="76200" marB="76200"/>
                </a:tc>
              </a:tr>
              <a:tr h="370840">
                <a:tc>
                  <a:txBody>
                    <a:bodyPr/>
                    <a:lstStyle/>
                    <a:p>
                      <a:pPr algn="l" fontAlgn="t"/>
                      <a:r>
                        <a:rPr lang="en-US" dirty="0">
                          <a:effectLst/>
                        </a:rPr>
                        <a:t>'X'</a:t>
                      </a:r>
                    </a:p>
                  </a:txBody>
                  <a:tcPr marL="152400" marR="76200" marT="76200" marB="76200"/>
                </a:tc>
                <a:tc>
                  <a:txBody>
                    <a:bodyPr/>
                    <a:lstStyle/>
                    <a:p>
                      <a:pPr algn="l" fontAlgn="t"/>
                      <a:r>
                        <a:rPr lang="en-US" dirty="0">
                          <a:effectLst/>
                        </a:rPr>
                        <a:t>X (filled)</a:t>
                      </a:r>
                    </a:p>
                  </a:txBody>
                  <a:tcPr marL="76200" marR="76200" marT="76200" marB="76200"/>
                </a:tc>
                <a:tc>
                  <a:txBody>
                    <a:bodyPr/>
                    <a:lstStyle/>
                    <a:p>
                      <a:pPr algn="l" fontAlgn="t"/>
                      <a:r>
                        <a:rPr lang="en-US" dirty="0">
                          <a:effectLst/>
                        </a:rPr>
                        <a:t>'&gt;'</a:t>
                      </a:r>
                    </a:p>
                  </a:txBody>
                  <a:tcPr marL="152400" marR="76200" marT="76200" marB="76200"/>
                </a:tc>
                <a:tc>
                  <a:txBody>
                    <a:bodyPr/>
                    <a:lstStyle/>
                    <a:p>
                      <a:pPr algn="l" fontAlgn="t"/>
                      <a:r>
                        <a:rPr lang="en-US" dirty="0">
                          <a:effectLst/>
                        </a:rPr>
                        <a:t>Triangle Right</a:t>
                      </a:r>
                    </a:p>
                  </a:txBody>
                  <a:tcPr marL="76200" marR="76200" marT="76200" marB="76200"/>
                </a:tc>
              </a:tr>
              <a:tr h="370840">
                <a:tc>
                  <a:txBody>
                    <a:bodyPr/>
                    <a:lstStyle/>
                    <a:p>
                      <a:pPr algn="l" fontAlgn="t"/>
                      <a:r>
                        <a:rPr lang="en-US" dirty="0">
                          <a:effectLst/>
                        </a:rPr>
                        <a:t>'+'</a:t>
                      </a:r>
                    </a:p>
                  </a:txBody>
                  <a:tcPr marL="152400" marR="76200" marT="76200" marB="76200"/>
                </a:tc>
                <a:tc>
                  <a:txBody>
                    <a:bodyPr/>
                    <a:lstStyle/>
                    <a:p>
                      <a:pPr algn="l" fontAlgn="t"/>
                      <a:r>
                        <a:rPr lang="en-US" dirty="0">
                          <a:effectLst/>
                        </a:rPr>
                        <a:t>Plus</a:t>
                      </a:r>
                    </a:p>
                  </a:txBody>
                  <a:tcPr marL="76200" marR="76200" marT="76200" marB="76200"/>
                </a:tc>
                <a:tc>
                  <a:txBody>
                    <a:bodyPr/>
                    <a:lstStyle/>
                    <a:p>
                      <a:pPr algn="l" fontAlgn="t"/>
                      <a:r>
                        <a:rPr lang="en-US" dirty="0">
                          <a:effectLst/>
                        </a:rPr>
                        <a:t>'1'</a:t>
                      </a:r>
                    </a:p>
                  </a:txBody>
                  <a:tcPr marL="152400" marR="76200" marT="76200" marB="76200"/>
                </a:tc>
                <a:tc>
                  <a:txBody>
                    <a:bodyPr/>
                    <a:lstStyle/>
                    <a:p>
                      <a:pPr algn="l" fontAlgn="t"/>
                      <a:r>
                        <a:rPr lang="en-US" dirty="0">
                          <a:effectLst/>
                        </a:rPr>
                        <a:t>Tri Down</a:t>
                      </a:r>
                    </a:p>
                  </a:txBody>
                  <a:tcPr marL="76200" marR="76200" marT="76200" marB="76200"/>
                </a:tc>
              </a:tr>
              <a:tr h="370840">
                <a:tc>
                  <a:txBody>
                    <a:bodyPr/>
                    <a:lstStyle/>
                    <a:p>
                      <a:pPr algn="l" fontAlgn="t"/>
                      <a:r>
                        <a:rPr lang="en-US" dirty="0">
                          <a:effectLst/>
                        </a:rPr>
                        <a:t>'P'</a:t>
                      </a:r>
                    </a:p>
                  </a:txBody>
                  <a:tcPr marL="152400" marR="76200" marT="76200" marB="76200"/>
                </a:tc>
                <a:tc>
                  <a:txBody>
                    <a:bodyPr/>
                    <a:lstStyle/>
                    <a:p>
                      <a:pPr algn="l" fontAlgn="t"/>
                      <a:r>
                        <a:rPr lang="en-US" dirty="0">
                          <a:effectLst/>
                        </a:rPr>
                        <a:t>Plus (filled)</a:t>
                      </a:r>
                    </a:p>
                  </a:txBody>
                  <a:tcPr marL="76200" marR="76200" marT="76200" marB="76200"/>
                </a:tc>
                <a:tc>
                  <a:txBody>
                    <a:bodyPr/>
                    <a:lstStyle/>
                    <a:p>
                      <a:pPr algn="l" fontAlgn="t"/>
                      <a:r>
                        <a:rPr lang="en-US" dirty="0">
                          <a:effectLst/>
                        </a:rPr>
                        <a:t>'2'</a:t>
                      </a:r>
                    </a:p>
                  </a:txBody>
                  <a:tcPr marL="152400" marR="76200" marT="76200" marB="76200"/>
                </a:tc>
                <a:tc>
                  <a:txBody>
                    <a:bodyPr/>
                    <a:lstStyle/>
                    <a:p>
                      <a:pPr algn="l" fontAlgn="t"/>
                      <a:r>
                        <a:rPr lang="en-US" dirty="0">
                          <a:effectLst/>
                        </a:rPr>
                        <a:t>Tri Up</a:t>
                      </a:r>
                    </a:p>
                  </a:txBody>
                  <a:tcPr marL="76200" marR="76200" marT="76200" marB="76200"/>
                </a:tc>
              </a:tr>
              <a:tr h="370840">
                <a:tc>
                  <a:txBody>
                    <a:bodyPr/>
                    <a:lstStyle/>
                    <a:p>
                      <a:pPr algn="l" fontAlgn="t"/>
                      <a:r>
                        <a:rPr lang="en-US" dirty="0">
                          <a:effectLst/>
                        </a:rPr>
                        <a:t>'s'</a:t>
                      </a:r>
                    </a:p>
                  </a:txBody>
                  <a:tcPr marL="152400" marR="76200" marT="76200" marB="76200"/>
                </a:tc>
                <a:tc>
                  <a:txBody>
                    <a:bodyPr/>
                    <a:lstStyle/>
                    <a:p>
                      <a:pPr algn="l" fontAlgn="t"/>
                      <a:r>
                        <a:rPr lang="en-US" dirty="0">
                          <a:effectLst/>
                        </a:rPr>
                        <a:t>Square</a:t>
                      </a:r>
                    </a:p>
                  </a:txBody>
                  <a:tcPr marL="76200" marR="76200" marT="76200" marB="76200"/>
                </a:tc>
                <a:tc>
                  <a:txBody>
                    <a:bodyPr/>
                    <a:lstStyle/>
                    <a:p>
                      <a:pPr algn="l" fontAlgn="t"/>
                      <a:r>
                        <a:rPr lang="en-US" dirty="0">
                          <a:effectLst/>
                        </a:rPr>
                        <a:t>'3'</a:t>
                      </a:r>
                    </a:p>
                  </a:txBody>
                  <a:tcPr marL="152400" marR="76200" marT="76200" marB="76200"/>
                </a:tc>
                <a:tc>
                  <a:txBody>
                    <a:bodyPr/>
                    <a:lstStyle/>
                    <a:p>
                      <a:pPr algn="l" fontAlgn="t"/>
                      <a:r>
                        <a:rPr lang="en-US" dirty="0">
                          <a:effectLst/>
                        </a:rPr>
                        <a:t>Tri Left</a:t>
                      </a:r>
                    </a:p>
                  </a:txBody>
                  <a:tcPr marL="76200" marR="76200" marT="76200" marB="76200"/>
                </a:tc>
              </a:tr>
              <a:tr h="370840">
                <a:tc>
                  <a:txBody>
                    <a:bodyPr/>
                    <a:lstStyle/>
                    <a:p>
                      <a:pPr algn="l" fontAlgn="t"/>
                      <a:r>
                        <a:rPr lang="en-US" dirty="0">
                          <a:effectLst/>
                        </a:rPr>
                        <a:t>'D'</a:t>
                      </a:r>
                    </a:p>
                  </a:txBody>
                  <a:tcPr marL="152400" marR="76200" marT="76200" marB="76200"/>
                </a:tc>
                <a:tc>
                  <a:txBody>
                    <a:bodyPr/>
                    <a:lstStyle/>
                    <a:p>
                      <a:pPr algn="l" fontAlgn="t"/>
                      <a:r>
                        <a:rPr lang="en-US" dirty="0">
                          <a:effectLst/>
                        </a:rPr>
                        <a:t>Diamond</a:t>
                      </a:r>
                    </a:p>
                  </a:txBody>
                  <a:tcPr marL="76200" marR="76200" marT="76200" marB="76200"/>
                </a:tc>
                <a:tc>
                  <a:txBody>
                    <a:bodyPr/>
                    <a:lstStyle/>
                    <a:p>
                      <a:pPr algn="l" fontAlgn="t"/>
                      <a:r>
                        <a:rPr lang="en-US" dirty="0">
                          <a:effectLst/>
                        </a:rPr>
                        <a:t>'4'</a:t>
                      </a:r>
                    </a:p>
                  </a:txBody>
                  <a:tcPr marL="152400" marR="76200" marT="76200" marB="76200"/>
                </a:tc>
                <a:tc>
                  <a:txBody>
                    <a:bodyPr/>
                    <a:lstStyle/>
                    <a:p>
                      <a:pPr algn="l" fontAlgn="t"/>
                      <a:r>
                        <a:rPr lang="en-US" dirty="0">
                          <a:effectLst/>
                        </a:rPr>
                        <a:t>Tri Right</a:t>
                      </a:r>
                    </a:p>
                  </a:txBody>
                  <a:tcPr marL="76200" marR="76200" marT="76200" marB="76200"/>
                </a:tc>
              </a:tr>
              <a:tr h="370840">
                <a:tc>
                  <a:txBody>
                    <a:bodyPr/>
                    <a:lstStyle/>
                    <a:p>
                      <a:pPr algn="l" fontAlgn="t"/>
                      <a:r>
                        <a:rPr lang="en-US" dirty="0">
                          <a:effectLst/>
                        </a:rPr>
                        <a:t>'d'</a:t>
                      </a:r>
                    </a:p>
                  </a:txBody>
                  <a:tcPr marL="152400" marR="76200" marT="76200" marB="76200"/>
                </a:tc>
                <a:tc>
                  <a:txBody>
                    <a:bodyPr/>
                    <a:lstStyle/>
                    <a:p>
                      <a:pPr algn="l" fontAlgn="t"/>
                      <a:r>
                        <a:rPr lang="en-US" dirty="0">
                          <a:effectLst/>
                        </a:rPr>
                        <a:t>Diamond (thin)</a:t>
                      </a:r>
                    </a:p>
                  </a:txBody>
                  <a:tcPr marL="76200" marR="76200" marT="76200" marB="76200"/>
                </a:tc>
                <a:tc>
                  <a:txBody>
                    <a:bodyPr/>
                    <a:lstStyle/>
                    <a:p>
                      <a:pPr algn="l" fontAlgn="t"/>
                      <a:r>
                        <a:rPr lang="en-US" dirty="0">
                          <a:effectLst/>
                        </a:rPr>
                        <a:t>'|'</a:t>
                      </a:r>
                    </a:p>
                  </a:txBody>
                  <a:tcPr marL="152400" marR="76200" marT="76200" marB="76200"/>
                </a:tc>
                <a:tc>
                  <a:txBody>
                    <a:bodyPr/>
                    <a:lstStyle/>
                    <a:p>
                      <a:pPr algn="l" fontAlgn="t"/>
                      <a:r>
                        <a:rPr lang="en-US" dirty="0" err="1">
                          <a:effectLst/>
                        </a:rPr>
                        <a:t>Vline</a:t>
                      </a:r>
                      <a:endParaRPr lang="en-US" dirty="0">
                        <a:effectLst/>
                      </a:endParaRPr>
                    </a:p>
                  </a:txBody>
                  <a:tcPr marL="76200" marR="76200" marT="76200" marB="76200"/>
                </a:tc>
              </a:tr>
              <a:tr h="370840">
                <a:tc>
                  <a:txBody>
                    <a:bodyPr/>
                    <a:lstStyle/>
                    <a:p>
                      <a:pPr algn="l" fontAlgn="t"/>
                      <a:r>
                        <a:rPr lang="en-US" dirty="0">
                          <a:effectLst/>
                        </a:rPr>
                        <a:t>'p'</a:t>
                      </a:r>
                    </a:p>
                  </a:txBody>
                  <a:tcPr marL="152400" marR="76200" marT="76200" marB="76200"/>
                </a:tc>
                <a:tc>
                  <a:txBody>
                    <a:bodyPr/>
                    <a:lstStyle/>
                    <a:p>
                      <a:pPr algn="l" fontAlgn="t"/>
                      <a:r>
                        <a:rPr lang="en-US" dirty="0">
                          <a:effectLst/>
                        </a:rPr>
                        <a:t>Pentagon</a:t>
                      </a:r>
                    </a:p>
                  </a:txBody>
                  <a:tcPr marL="76200" marR="76200" marT="76200" marB="76200"/>
                </a:tc>
                <a:tc>
                  <a:txBody>
                    <a:bodyPr/>
                    <a:lstStyle/>
                    <a:p>
                      <a:pPr algn="l" fontAlgn="t"/>
                      <a:r>
                        <a:rPr lang="en-US" dirty="0">
                          <a:effectLst/>
                        </a:rPr>
                        <a:t>'_'</a:t>
                      </a:r>
                    </a:p>
                  </a:txBody>
                  <a:tcPr marL="152400" marR="76200" marT="76200" marB="76200"/>
                </a:tc>
                <a:tc>
                  <a:txBody>
                    <a:bodyPr/>
                    <a:lstStyle/>
                    <a:p>
                      <a:pPr algn="l" fontAlgn="t"/>
                      <a:r>
                        <a:rPr lang="en-US" dirty="0" err="1">
                          <a:effectLst/>
                        </a:rPr>
                        <a:t>Hline</a:t>
                      </a:r>
                      <a:endParaRPr lang="en-US" dirty="0">
                        <a:effectLst/>
                      </a:endParaRPr>
                    </a:p>
                  </a:txBody>
                  <a:tcPr marL="76200" marR="76200" marT="76200" marB="76200"/>
                </a:tc>
              </a:tr>
            </a:tbl>
          </a:graphicData>
        </a:graphic>
      </p:graphicFrame>
    </p:spTree>
    <p:extLst>
      <p:ext uri="{BB962C8B-B14F-4D97-AF65-F5344CB8AC3E}">
        <p14:creationId xmlns:p14="http://schemas.microsoft.com/office/powerpoint/2010/main" val="376876923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Markers</a:t>
            </a:r>
          </a:p>
        </p:txBody>
      </p:sp>
      <p:sp>
        <p:nvSpPr>
          <p:cNvPr id="3" name="Content Placeholder 2"/>
          <p:cNvSpPr>
            <a:spLocks noGrp="1"/>
          </p:cNvSpPr>
          <p:nvPr>
            <p:ph sz="quarter" idx="1"/>
          </p:nvPr>
        </p:nvSpPr>
        <p:spPr>
          <a:xfrm>
            <a:off x="457200" y="914400"/>
            <a:ext cx="7696200" cy="5638800"/>
          </a:xfrm>
        </p:spPr>
        <p:txBody>
          <a:bodyPr>
            <a:normAutofit/>
          </a:bodyPr>
          <a:lstStyle/>
          <a:p>
            <a:r>
              <a:rPr lang="en-US" dirty="0"/>
              <a:t>You can use also use the shortcut string notation parameter to specify the marker. This parameter is also called </a:t>
            </a:r>
            <a:r>
              <a:rPr lang="en-US" b="1" dirty="0" err="1"/>
              <a:t>fmt</a:t>
            </a:r>
            <a:r>
              <a:rPr lang="en-US" dirty="0"/>
              <a:t>, and is written with this </a:t>
            </a:r>
            <a:r>
              <a:rPr lang="en-US" dirty="0" smtClean="0"/>
              <a:t>syntax:</a:t>
            </a:r>
          </a:p>
          <a:p>
            <a:pPr marL="0" indent="0">
              <a:buNone/>
            </a:pPr>
            <a:r>
              <a:rPr lang="en-US" b="1" dirty="0" smtClean="0"/>
              <a:t>   </a:t>
            </a:r>
            <a:r>
              <a:rPr lang="en-US" b="1" dirty="0" err="1" smtClean="0"/>
              <a:t>marker|line|color</a:t>
            </a:r>
            <a:r>
              <a:rPr lang="en-US" b="1" dirty="0" smtClean="0"/>
              <a:t>.</a:t>
            </a:r>
          </a:p>
          <a:p>
            <a:pPr marL="0" indent="0">
              <a:buNone/>
            </a:pPr>
            <a:endParaRPr lang="en-US" dirty="0" smtClean="0"/>
          </a:p>
          <a:p>
            <a:r>
              <a:rPr lang="en-US" dirty="0" smtClean="0"/>
              <a:t>Example:</a:t>
            </a:r>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a:t>np</a:t>
            </a:r>
            <a:r>
              <a:rPr lang="en-US" dirty="0"/>
              <a:t/>
            </a:r>
            <a:br>
              <a:rPr lang="en-US" dirty="0"/>
            </a:br>
            <a:r>
              <a:rPr lang="en-US" dirty="0"/>
              <a:t/>
            </a:r>
            <a:br>
              <a:rPr lang="en-US" dirty="0"/>
            </a:br>
            <a:r>
              <a:rPr lang="en-US" dirty="0" err="1"/>
              <a:t>ypoints</a:t>
            </a:r>
            <a:r>
              <a:rPr lang="en-US" dirty="0"/>
              <a:t> = </a:t>
            </a:r>
            <a:r>
              <a:rPr lang="en-US" dirty="0" err="1"/>
              <a:t>np.array</a:t>
            </a:r>
            <a:r>
              <a:rPr lang="en-US" dirty="0"/>
              <a:t>([3, 8, 1, 10])</a:t>
            </a:r>
            <a:br>
              <a:rPr lang="en-US" dirty="0"/>
            </a:br>
            <a:r>
              <a:rPr lang="en-US" dirty="0"/>
              <a:t/>
            </a:r>
            <a:br>
              <a:rPr lang="en-US" dirty="0"/>
            </a:br>
            <a:r>
              <a:rPr lang="en-US" dirty="0" err="1"/>
              <a:t>plt.plot</a:t>
            </a:r>
            <a:r>
              <a:rPr lang="en-US" dirty="0"/>
              <a:t>(</a:t>
            </a:r>
            <a:r>
              <a:rPr lang="en-US" dirty="0" err="1"/>
              <a:t>ypoints</a:t>
            </a:r>
            <a:r>
              <a:rPr lang="en-US" dirty="0"/>
              <a:t>, '</a:t>
            </a:r>
            <a:r>
              <a:rPr lang="en-US" dirty="0" err="1"/>
              <a:t>o:r</a:t>
            </a:r>
            <a:r>
              <a:rPr lang="en-US" dirty="0"/>
              <a:t>')</a:t>
            </a:r>
            <a:br>
              <a:rPr lang="en-US" dirty="0"/>
            </a:br>
            <a:r>
              <a:rPr lang="en-US" dirty="0" err="1"/>
              <a:t>plt.show</a:t>
            </a:r>
            <a:r>
              <a:rPr lang="en-US" dirty="0"/>
              <a:t>()</a:t>
            </a:r>
            <a:endParaRPr lang="en-US" dirty="0" smtClean="0"/>
          </a:p>
          <a:p>
            <a:pPr marL="0" indent="0">
              <a:buNone/>
            </a:pPr>
            <a:r>
              <a:rPr lang="en-US" dirty="0"/>
              <a:t> </a:t>
            </a:r>
            <a:r>
              <a:rPr lang="en-US" dirty="0" smtClean="0"/>
              <a:t>  </a:t>
            </a:r>
            <a:endParaRPr lang="en-US" b="1" dirty="0" smtClean="0"/>
          </a:p>
        </p:txBody>
      </p:sp>
    </p:spTree>
    <p:extLst>
      <p:ext uri="{BB962C8B-B14F-4D97-AF65-F5344CB8AC3E}">
        <p14:creationId xmlns:p14="http://schemas.microsoft.com/office/powerpoint/2010/main" val="235962719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Markers</a:t>
            </a:r>
          </a:p>
        </p:txBody>
      </p:sp>
      <p:sp>
        <p:nvSpPr>
          <p:cNvPr id="3" name="Content Placeholder 2"/>
          <p:cNvSpPr>
            <a:spLocks noGrp="1"/>
          </p:cNvSpPr>
          <p:nvPr>
            <p:ph sz="quarter" idx="1"/>
          </p:nvPr>
        </p:nvSpPr>
        <p:spPr>
          <a:xfrm>
            <a:off x="457200" y="914400"/>
            <a:ext cx="7696200" cy="5638800"/>
          </a:xfrm>
        </p:spPr>
        <p:txBody>
          <a:bodyPr>
            <a:normAutofit lnSpcReduction="10000"/>
          </a:bodyPr>
          <a:lstStyle/>
          <a:p>
            <a:r>
              <a:rPr lang="en-US" dirty="0"/>
              <a:t>You can use the keyword argument </a:t>
            </a:r>
            <a:r>
              <a:rPr lang="en-US" b="1" dirty="0" err="1"/>
              <a:t>markersize</a:t>
            </a:r>
            <a:r>
              <a:rPr lang="en-US" dirty="0"/>
              <a:t> or the shorter version, </a:t>
            </a:r>
            <a:r>
              <a:rPr lang="en-US" b="1" dirty="0" err="1"/>
              <a:t>ms</a:t>
            </a:r>
            <a:r>
              <a:rPr lang="en-US" dirty="0"/>
              <a:t> to set the size of the </a:t>
            </a:r>
            <a:r>
              <a:rPr lang="en-US" dirty="0" smtClean="0"/>
              <a:t>markers</a:t>
            </a:r>
            <a:r>
              <a:rPr lang="en-US" dirty="0"/>
              <a:t>. You can use the keyword argument </a:t>
            </a:r>
            <a:r>
              <a:rPr lang="en-US" b="1" dirty="0" err="1"/>
              <a:t>markeredgecolor</a:t>
            </a:r>
            <a:r>
              <a:rPr lang="en-US" dirty="0"/>
              <a:t> or the shorter </a:t>
            </a:r>
            <a:r>
              <a:rPr lang="en-US" b="1" dirty="0" err="1"/>
              <a:t>mec</a:t>
            </a:r>
            <a:r>
              <a:rPr lang="en-US" dirty="0"/>
              <a:t> to set the color of the edge of the </a:t>
            </a:r>
            <a:r>
              <a:rPr lang="en-US" dirty="0" smtClean="0"/>
              <a:t>markers</a:t>
            </a:r>
            <a:r>
              <a:rPr lang="en-US" dirty="0"/>
              <a:t>.</a:t>
            </a:r>
            <a:endParaRPr lang="en-US" dirty="0" smtClean="0"/>
          </a:p>
          <a:p>
            <a:endParaRPr lang="en-US" dirty="0"/>
          </a:p>
          <a:p>
            <a:r>
              <a:rPr lang="en-US" dirty="0" smtClean="0"/>
              <a:t>Example:</a:t>
            </a:r>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a:t>np</a:t>
            </a:r>
            <a:r>
              <a:rPr lang="en-US" dirty="0"/>
              <a:t/>
            </a:r>
            <a:br>
              <a:rPr lang="en-US" dirty="0"/>
            </a:br>
            <a:r>
              <a:rPr lang="en-US" dirty="0"/>
              <a:t/>
            </a:r>
            <a:br>
              <a:rPr lang="en-US" dirty="0"/>
            </a:br>
            <a:r>
              <a:rPr lang="en-US" dirty="0" err="1"/>
              <a:t>ypoints</a:t>
            </a:r>
            <a:r>
              <a:rPr lang="en-US" dirty="0"/>
              <a:t> = </a:t>
            </a:r>
            <a:r>
              <a:rPr lang="en-US" dirty="0" err="1"/>
              <a:t>np.array</a:t>
            </a:r>
            <a:r>
              <a:rPr lang="en-US" dirty="0"/>
              <a:t>([3, 8, 1, 10])</a:t>
            </a:r>
            <a:br>
              <a:rPr lang="en-US" dirty="0"/>
            </a:br>
            <a:r>
              <a:rPr lang="en-US" dirty="0"/>
              <a:t/>
            </a:r>
            <a:br>
              <a:rPr lang="en-US" dirty="0"/>
            </a:br>
            <a:r>
              <a:rPr lang="en-US" dirty="0" err="1"/>
              <a:t>plt.plot</a:t>
            </a:r>
            <a:r>
              <a:rPr lang="en-US" dirty="0"/>
              <a:t>(</a:t>
            </a:r>
            <a:r>
              <a:rPr lang="en-US" dirty="0" err="1"/>
              <a:t>ypoints</a:t>
            </a:r>
            <a:r>
              <a:rPr lang="en-US" dirty="0"/>
              <a:t>, marker = 'o', </a:t>
            </a:r>
            <a:r>
              <a:rPr lang="en-US" dirty="0" err="1"/>
              <a:t>ms</a:t>
            </a:r>
            <a:r>
              <a:rPr lang="en-US" dirty="0"/>
              <a:t> = 20, </a:t>
            </a:r>
            <a:r>
              <a:rPr lang="en-US" dirty="0" err="1"/>
              <a:t>mec</a:t>
            </a:r>
            <a:r>
              <a:rPr lang="en-US" dirty="0"/>
              <a:t> = 'r')</a:t>
            </a:r>
            <a:br>
              <a:rPr lang="en-US" dirty="0"/>
            </a:br>
            <a:r>
              <a:rPr lang="en-US" dirty="0" err="1"/>
              <a:t>plt.show</a:t>
            </a:r>
            <a:r>
              <a:rPr lang="en-US" dirty="0"/>
              <a:t>()</a:t>
            </a:r>
            <a:endParaRPr lang="en-US" dirty="0" smtClean="0"/>
          </a:p>
          <a:p>
            <a:pPr marL="0" indent="0">
              <a:buNone/>
            </a:pPr>
            <a:r>
              <a:rPr lang="en-US" dirty="0"/>
              <a:t> </a:t>
            </a:r>
            <a:r>
              <a:rPr lang="en-US" dirty="0" smtClean="0"/>
              <a:t>  </a:t>
            </a:r>
            <a:endParaRPr lang="en-US" b="1" dirty="0" smtClean="0"/>
          </a:p>
        </p:txBody>
      </p:sp>
    </p:spTree>
    <p:extLst>
      <p:ext uri="{BB962C8B-B14F-4D97-AF65-F5344CB8AC3E}">
        <p14:creationId xmlns:p14="http://schemas.microsoft.com/office/powerpoint/2010/main" val="2483793123"/>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smtClean="0"/>
              <a:t>Linestyle</a:t>
            </a:r>
            <a:endParaRPr lang="en-US" sz="3600" b="1" dirty="0"/>
          </a:p>
        </p:txBody>
      </p:sp>
      <p:sp>
        <p:nvSpPr>
          <p:cNvPr id="3" name="Content Placeholder 2"/>
          <p:cNvSpPr>
            <a:spLocks noGrp="1"/>
          </p:cNvSpPr>
          <p:nvPr>
            <p:ph sz="quarter" idx="1"/>
          </p:nvPr>
        </p:nvSpPr>
        <p:spPr>
          <a:xfrm>
            <a:off x="457200" y="914400"/>
            <a:ext cx="7696200" cy="5638800"/>
          </a:xfrm>
        </p:spPr>
        <p:txBody>
          <a:bodyPr>
            <a:normAutofit/>
          </a:bodyPr>
          <a:lstStyle/>
          <a:p>
            <a:r>
              <a:rPr lang="en-US" dirty="0"/>
              <a:t>You can use the keyword argument </a:t>
            </a:r>
            <a:r>
              <a:rPr lang="en-US" b="1" dirty="0" err="1"/>
              <a:t>linestyle</a:t>
            </a:r>
            <a:r>
              <a:rPr lang="en-US" dirty="0"/>
              <a:t>, or shorter </a:t>
            </a:r>
            <a:r>
              <a:rPr lang="en-US" b="1" dirty="0" err="1"/>
              <a:t>ls</a:t>
            </a:r>
            <a:r>
              <a:rPr lang="en-US" dirty="0"/>
              <a:t>, to change the style of the plotted </a:t>
            </a:r>
            <a:r>
              <a:rPr lang="en-US" dirty="0" smtClean="0"/>
              <a:t>line.</a:t>
            </a:r>
          </a:p>
          <a:p>
            <a:endParaRPr lang="en-US" dirty="0"/>
          </a:p>
          <a:p>
            <a:r>
              <a:rPr lang="en-US" dirty="0" smtClean="0"/>
              <a:t>Example:</a:t>
            </a:r>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a:t>np</a:t>
            </a:r>
            <a:r>
              <a:rPr lang="en-US" dirty="0"/>
              <a:t/>
            </a:r>
            <a:br>
              <a:rPr lang="en-US" dirty="0"/>
            </a:br>
            <a:r>
              <a:rPr lang="en-US" dirty="0"/>
              <a:t/>
            </a:r>
            <a:br>
              <a:rPr lang="en-US" dirty="0"/>
            </a:br>
            <a:r>
              <a:rPr lang="en-US" dirty="0" err="1"/>
              <a:t>ypoints</a:t>
            </a:r>
            <a:r>
              <a:rPr lang="en-US" dirty="0"/>
              <a:t> = </a:t>
            </a:r>
            <a:r>
              <a:rPr lang="en-US" dirty="0" err="1"/>
              <a:t>np.array</a:t>
            </a:r>
            <a:r>
              <a:rPr lang="en-US" dirty="0"/>
              <a:t>([3, 8, 1, 10])</a:t>
            </a:r>
            <a:br>
              <a:rPr lang="en-US" dirty="0"/>
            </a:br>
            <a:r>
              <a:rPr lang="en-US" dirty="0"/>
              <a:t/>
            </a:r>
            <a:br>
              <a:rPr lang="en-US" dirty="0"/>
            </a:br>
            <a:r>
              <a:rPr lang="en-US" dirty="0" err="1"/>
              <a:t>plt.plot</a:t>
            </a:r>
            <a:r>
              <a:rPr lang="en-US" dirty="0"/>
              <a:t>(</a:t>
            </a:r>
            <a:r>
              <a:rPr lang="en-US" dirty="0" err="1"/>
              <a:t>ypoints</a:t>
            </a:r>
            <a:r>
              <a:rPr lang="en-US" dirty="0"/>
              <a:t>, </a:t>
            </a:r>
            <a:r>
              <a:rPr lang="en-US" dirty="0" err="1"/>
              <a:t>linestyle</a:t>
            </a:r>
            <a:r>
              <a:rPr lang="en-US" dirty="0"/>
              <a:t> = 'dotted</a:t>
            </a:r>
            <a:r>
              <a:rPr lang="en-US" dirty="0" smtClean="0"/>
              <a:t>')</a:t>
            </a:r>
          </a:p>
          <a:p>
            <a:pPr marL="0" indent="0">
              <a:buNone/>
            </a:pPr>
            <a:r>
              <a:rPr lang="en-US" dirty="0"/>
              <a:t>#</a:t>
            </a:r>
            <a:r>
              <a:rPr lang="en-US" dirty="0" err="1"/>
              <a:t>plt.plot</a:t>
            </a:r>
            <a:r>
              <a:rPr lang="en-US" dirty="0"/>
              <a:t>(</a:t>
            </a:r>
            <a:r>
              <a:rPr lang="en-US" dirty="0" err="1"/>
              <a:t>ypoints</a:t>
            </a:r>
            <a:r>
              <a:rPr lang="en-US" dirty="0"/>
              <a:t>, </a:t>
            </a:r>
            <a:r>
              <a:rPr lang="en-US" dirty="0" err="1"/>
              <a:t>linestyle</a:t>
            </a:r>
            <a:r>
              <a:rPr lang="en-US" dirty="0"/>
              <a:t> = </a:t>
            </a:r>
            <a:r>
              <a:rPr lang="en-US" dirty="0" smtClean="0"/>
              <a:t>‘:')</a:t>
            </a:r>
            <a:r>
              <a:rPr lang="en-US" dirty="0"/>
              <a:t/>
            </a:r>
            <a:br>
              <a:rPr lang="en-US" dirty="0"/>
            </a:br>
            <a:r>
              <a:rPr lang="en-US" dirty="0" err="1"/>
              <a:t>plt.show</a:t>
            </a:r>
            <a:r>
              <a:rPr lang="en-US" dirty="0"/>
              <a:t>()</a:t>
            </a:r>
            <a:endParaRPr lang="en-US" dirty="0" smtClean="0"/>
          </a:p>
          <a:p>
            <a:pPr marL="0" indent="0">
              <a:buNone/>
            </a:pPr>
            <a:r>
              <a:rPr lang="en-US" dirty="0"/>
              <a:t> </a:t>
            </a:r>
            <a:r>
              <a:rPr lang="en-US" dirty="0" smtClean="0"/>
              <a:t>  </a:t>
            </a:r>
            <a:endParaRPr lang="en-US" b="1" dirty="0" smtClean="0"/>
          </a:p>
        </p:txBody>
      </p:sp>
    </p:spTree>
    <p:extLst>
      <p:ext uri="{BB962C8B-B14F-4D97-AF65-F5344CB8AC3E}">
        <p14:creationId xmlns:p14="http://schemas.microsoft.com/office/powerpoint/2010/main" val="1396480314"/>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smtClean="0"/>
              <a:t>Linestyle</a:t>
            </a:r>
            <a:endParaRPr lang="en-US" sz="3600" b="1" dirty="0"/>
          </a:p>
        </p:txBody>
      </p:sp>
      <p:pic>
        <p:nvPicPr>
          <p:cNvPr id="1026" name="Picture 2" descr="https://www.w3schools.com/python/img_matplotlib_line_dott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400" y="838200"/>
            <a:ext cx="7670800" cy="5729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8189353"/>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smtClean="0"/>
              <a:t>Linestyle</a:t>
            </a:r>
            <a:r>
              <a:rPr lang="en-US" sz="3600" b="1" dirty="0" smtClean="0"/>
              <a:t> Reference</a:t>
            </a:r>
            <a:endParaRPr lang="en-US" sz="3600" b="1" dirty="0"/>
          </a:p>
        </p:txBody>
      </p:sp>
      <p:graphicFrame>
        <p:nvGraphicFramePr>
          <p:cNvPr id="4" name="Content Placeholder 3"/>
          <p:cNvGraphicFramePr>
            <a:graphicFrameLocks noGrp="1"/>
          </p:cNvGraphicFramePr>
          <p:nvPr>
            <p:ph sz="quarter" idx="1"/>
            <p:extLst>
              <p:ext uri="{D42A27DB-BD31-4B8C-83A1-F6EECF244321}">
                <p14:modId xmlns:p14="http://schemas.microsoft.com/office/powerpoint/2010/main" val="1437941035"/>
              </p:ext>
            </p:extLst>
          </p:nvPr>
        </p:nvGraphicFramePr>
        <p:xfrm>
          <a:off x="533400" y="1905001"/>
          <a:ext cx="7696200" cy="2961639"/>
        </p:xfrm>
        <a:graphic>
          <a:graphicData uri="http://schemas.openxmlformats.org/drawingml/2006/table">
            <a:tbl>
              <a:tblPr firstRow="1" bandRow="1">
                <a:tableStyleId>{5C22544A-7EE6-4342-B048-85BDC9FD1C3A}</a:tableStyleId>
              </a:tblPr>
              <a:tblGrid>
                <a:gridCol w="3848100"/>
                <a:gridCol w="3848100"/>
              </a:tblGrid>
              <a:tr h="438539">
                <a:tc>
                  <a:txBody>
                    <a:bodyPr/>
                    <a:lstStyle/>
                    <a:p>
                      <a:r>
                        <a:rPr lang="en-US" dirty="0" smtClean="0"/>
                        <a:t>Style</a:t>
                      </a:r>
                      <a:endParaRPr lang="en-US" dirty="0"/>
                    </a:p>
                  </a:txBody>
                  <a:tcPr/>
                </a:tc>
                <a:tc>
                  <a:txBody>
                    <a:bodyPr/>
                    <a:lstStyle/>
                    <a:p>
                      <a:r>
                        <a:rPr lang="en-US" dirty="0" smtClean="0"/>
                        <a:t>Or</a:t>
                      </a:r>
                    </a:p>
                  </a:txBody>
                  <a:tcPr/>
                </a:tc>
              </a:tr>
              <a:tr h="504620">
                <a:tc>
                  <a:txBody>
                    <a:bodyPr/>
                    <a:lstStyle/>
                    <a:p>
                      <a:pPr algn="l" fontAlgn="t"/>
                      <a:r>
                        <a:rPr lang="en-US">
                          <a:effectLst/>
                        </a:rPr>
                        <a:t>'solid' (default)</a:t>
                      </a:r>
                    </a:p>
                  </a:txBody>
                  <a:tcPr marL="152400" marR="76200" marT="76200" marB="76200"/>
                </a:tc>
                <a:tc>
                  <a:txBody>
                    <a:bodyPr/>
                    <a:lstStyle/>
                    <a:p>
                      <a:pPr algn="l" fontAlgn="t"/>
                      <a:r>
                        <a:rPr lang="en-US" dirty="0">
                          <a:effectLst/>
                        </a:rPr>
                        <a:t>'-'</a:t>
                      </a:r>
                    </a:p>
                  </a:txBody>
                  <a:tcPr marL="76200" marR="76200" marT="76200" marB="76200"/>
                </a:tc>
              </a:tr>
              <a:tr h="504620">
                <a:tc>
                  <a:txBody>
                    <a:bodyPr/>
                    <a:lstStyle/>
                    <a:p>
                      <a:pPr algn="l" fontAlgn="t"/>
                      <a:r>
                        <a:rPr lang="en-US" dirty="0">
                          <a:effectLst/>
                        </a:rPr>
                        <a:t>'dotted'</a:t>
                      </a:r>
                    </a:p>
                  </a:txBody>
                  <a:tcPr marL="152400" marR="76200" marT="76200" marB="76200"/>
                </a:tc>
                <a:tc>
                  <a:txBody>
                    <a:bodyPr/>
                    <a:lstStyle/>
                    <a:p>
                      <a:pPr algn="l" fontAlgn="t"/>
                      <a:r>
                        <a:rPr lang="en-US" dirty="0">
                          <a:effectLst/>
                        </a:rPr>
                        <a:t>':'</a:t>
                      </a:r>
                    </a:p>
                  </a:txBody>
                  <a:tcPr marL="76200" marR="76200" marT="76200" marB="76200"/>
                </a:tc>
              </a:tr>
              <a:tr h="504620">
                <a:tc>
                  <a:txBody>
                    <a:bodyPr/>
                    <a:lstStyle/>
                    <a:p>
                      <a:pPr algn="l" fontAlgn="t"/>
                      <a:r>
                        <a:rPr lang="en-US" dirty="0" smtClean="0">
                          <a:effectLst/>
                        </a:rPr>
                        <a:t>'dashed'</a:t>
                      </a:r>
                      <a:endParaRPr lang="en-US" dirty="0">
                        <a:effectLst/>
                      </a:endParaRPr>
                    </a:p>
                  </a:txBody>
                  <a:tcPr marL="152400" marR="76200" marT="76200" marB="76200"/>
                </a:tc>
                <a:tc>
                  <a:txBody>
                    <a:bodyPr/>
                    <a:lstStyle/>
                    <a:p>
                      <a:pPr algn="l" fontAlgn="t"/>
                      <a:r>
                        <a:rPr lang="en-US" dirty="0">
                          <a:effectLst/>
                        </a:rPr>
                        <a:t>'--'</a:t>
                      </a:r>
                    </a:p>
                  </a:txBody>
                  <a:tcPr marL="76200" marR="76200" marT="76200" marB="76200"/>
                </a:tc>
              </a:tr>
              <a:tr h="504620">
                <a:tc>
                  <a:txBody>
                    <a:bodyPr/>
                    <a:lstStyle/>
                    <a:p>
                      <a:pPr algn="l" fontAlgn="t"/>
                      <a:r>
                        <a:rPr lang="en-US" dirty="0">
                          <a:effectLst/>
                        </a:rPr>
                        <a:t>'</a:t>
                      </a:r>
                      <a:r>
                        <a:rPr lang="en-US" dirty="0" err="1">
                          <a:effectLst/>
                        </a:rPr>
                        <a:t>dashdot</a:t>
                      </a:r>
                      <a:r>
                        <a:rPr lang="en-US" dirty="0">
                          <a:effectLst/>
                        </a:rPr>
                        <a:t>'</a:t>
                      </a:r>
                    </a:p>
                  </a:txBody>
                  <a:tcPr marL="152400" marR="76200" marT="76200" marB="76200"/>
                </a:tc>
                <a:tc>
                  <a:txBody>
                    <a:bodyPr/>
                    <a:lstStyle/>
                    <a:p>
                      <a:pPr algn="l" fontAlgn="t"/>
                      <a:r>
                        <a:rPr lang="en-US" dirty="0">
                          <a:effectLst/>
                        </a:rPr>
                        <a:t>'-.'</a:t>
                      </a:r>
                    </a:p>
                  </a:txBody>
                  <a:tcPr marL="76200" marR="76200" marT="76200" marB="76200"/>
                </a:tc>
              </a:tr>
              <a:tr h="504620">
                <a:tc>
                  <a:txBody>
                    <a:bodyPr/>
                    <a:lstStyle/>
                    <a:p>
                      <a:pPr algn="l" fontAlgn="t"/>
                      <a:r>
                        <a:rPr lang="en-US" dirty="0">
                          <a:effectLst/>
                        </a:rPr>
                        <a:t>'None'</a:t>
                      </a:r>
                    </a:p>
                  </a:txBody>
                  <a:tcPr marL="152400" marR="76200" marT="76200" marB="76200"/>
                </a:tc>
                <a:tc>
                  <a:txBody>
                    <a:bodyPr/>
                    <a:lstStyle/>
                    <a:p>
                      <a:pPr algn="l" fontAlgn="t"/>
                      <a:r>
                        <a:rPr lang="en-US" dirty="0">
                          <a:effectLst/>
                        </a:rPr>
                        <a:t>'' or ' '</a:t>
                      </a:r>
                    </a:p>
                  </a:txBody>
                  <a:tcPr marL="76200" marR="76200" marT="76200" marB="76200"/>
                </a:tc>
              </a:tr>
            </a:tbl>
          </a:graphicData>
        </a:graphic>
      </p:graphicFrame>
    </p:spTree>
    <p:extLst>
      <p:ext uri="{BB962C8B-B14F-4D97-AF65-F5344CB8AC3E}">
        <p14:creationId xmlns:p14="http://schemas.microsoft.com/office/powerpoint/2010/main" val="264233191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smtClean="0"/>
              <a:t>Linecolor</a:t>
            </a:r>
            <a:endParaRPr lang="en-US" sz="3600" b="1" dirty="0"/>
          </a:p>
        </p:txBody>
      </p:sp>
      <p:sp>
        <p:nvSpPr>
          <p:cNvPr id="3" name="Content Placeholder 2"/>
          <p:cNvSpPr>
            <a:spLocks noGrp="1"/>
          </p:cNvSpPr>
          <p:nvPr>
            <p:ph sz="quarter" idx="1"/>
          </p:nvPr>
        </p:nvSpPr>
        <p:spPr>
          <a:xfrm>
            <a:off x="457200" y="914400"/>
            <a:ext cx="7696200" cy="5638800"/>
          </a:xfrm>
        </p:spPr>
        <p:txBody>
          <a:bodyPr>
            <a:normAutofit/>
          </a:bodyPr>
          <a:lstStyle/>
          <a:p>
            <a:r>
              <a:rPr lang="en-US" dirty="0"/>
              <a:t>You can use the keyword argument </a:t>
            </a:r>
            <a:r>
              <a:rPr lang="en-US" b="1" dirty="0"/>
              <a:t>color</a:t>
            </a:r>
            <a:r>
              <a:rPr lang="en-US" dirty="0"/>
              <a:t> or the shorter </a:t>
            </a:r>
            <a:r>
              <a:rPr lang="en-US" b="1" dirty="0"/>
              <a:t>c</a:t>
            </a:r>
            <a:r>
              <a:rPr lang="en-US" dirty="0"/>
              <a:t> to set the color of the </a:t>
            </a:r>
            <a:r>
              <a:rPr lang="en-US" dirty="0" smtClean="0"/>
              <a:t>line.</a:t>
            </a:r>
          </a:p>
          <a:p>
            <a:endParaRPr lang="en-US" dirty="0"/>
          </a:p>
          <a:p>
            <a:r>
              <a:rPr lang="en-US" dirty="0" smtClean="0"/>
              <a:t>Example:</a:t>
            </a:r>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a:t>np</a:t>
            </a:r>
            <a:r>
              <a:rPr lang="en-US" dirty="0"/>
              <a:t/>
            </a:r>
            <a:br>
              <a:rPr lang="en-US" dirty="0"/>
            </a:br>
            <a:r>
              <a:rPr lang="en-US" dirty="0"/>
              <a:t/>
            </a:r>
            <a:br>
              <a:rPr lang="en-US" dirty="0"/>
            </a:br>
            <a:r>
              <a:rPr lang="en-US" dirty="0" err="1"/>
              <a:t>ypoints</a:t>
            </a:r>
            <a:r>
              <a:rPr lang="en-US" dirty="0"/>
              <a:t> = </a:t>
            </a:r>
            <a:r>
              <a:rPr lang="en-US" dirty="0" err="1"/>
              <a:t>np.array</a:t>
            </a:r>
            <a:r>
              <a:rPr lang="en-US" dirty="0"/>
              <a:t>([3, 8, 1, 10])</a:t>
            </a:r>
            <a:br>
              <a:rPr lang="en-US" dirty="0"/>
            </a:br>
            <a:r>
              <a:rPr lang="en-US" dirty="0"/>
              <a:t/>
            </a:r>
            <a:br>
              <a:rPr lang="en-US" dirty="0"/>
            </a:br>
            <a:r>
              <a:rPr lang="en-US" dirty="0" err="1" smtClean="0"/>
              <a:t>plt.plot</a:t>
            </a:r>
            <a:r>
              <a:rPr lang="en-US" dirty="0" smtClean="0"/>
              <a:t>(</a:t>
            </a:r>
            <a:r>
              <a:rPr lang="en-US" dirty="0" err="1" smtClean="0"/>
              <a:t>ypoints</a:t>
            </a:r>
            <a:r>
              <a:rPr lang="en-US" dirty="0"/>
              <a:t>, color = 'r'</a:t>
            </a:r>
            <a:r>
              <a:rPr lang="en-US" dirty="0" smtClean="0"/>
              <a:t>)</a:t>
            </a:r>
            <a:r>
              <a:rPr lang="en-US" dirty="0"/>
              <a:t/>
            </a:r>
            <a:br>
              <a:rPr lang="en-US" dirty="0"/>
            </a:br>
            <a:r>
              <a:rPr lang="en-US" dirty="0" err="1"/>
              <a:t>plt.show</a:t>
            </a:r>
            <a:r>
              <a:rPr lang="en-US" dirty="0"/>
              <a:t>()</a:t>
            </a:r>
            <a:endParaRPr lang="en-US" dirty="0" smtClean="0"/>
          </a:p>
          <a:p>
            <a:pPr marL="0" indent="0">
              <a:buNone/>
            </a:pPr>
            <a:r>
              <a:rPr lang="en-US" dirty="0"/>
              <a:t> </a:t>
            </a:r>
            <a:r>
              <a:rPr lang="en-US" dirty="0" smtClean="0"/>
              <a:t>  </a:t>
            </a:r>
            <a:endParaRPr lang="en-US" b="1" dirty="0" smtClean="0"/>
          </a:p>
        </p:txBody>
      </p:sp>
    </p:spTree>
    <p:extLst>
      <p:ext uri="{BB962C8B-B14F-4D97-AF65-F5344CB8AC3E}">
        <p14:creationId xmlns:p14="http://schemas.microsoft.com/office/powerpoint/2010/main" val="155668118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a:t>Linecolor</a:t>
            </a:r>
            <a:endParaRPr lang="en-US" sz="3600" b="1" dirty="0"/>
          </a:p>
        </p:txBody>
      </p:sp>
      <p:pic>
        <p:nvPicPr>
          <p:cNvPr id="2050" name="Picture 2" descr="https://www.w3schools.com/python/img_matplotlib_line_r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38200"/>
            <a:ext cx="7696200" cy="5748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62134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smtClean="0"/>
              <a:t>Linewidth</a:t>
            </a:r>
            <a:endParaRPr lang="en-US" sz="3600" b="1" dirty="0"/>
          </a:p>
        </p:txBody>
      </p:sp>
      <p:sp>
        <p:nvSpPr>
          <p:cNvPr id="3" name="Content Placeholder 2"/>
          <p:cNvSpPr>
            <a:spLocks noGrp="1"/>
          </p:cNvSpPr>
          <p:nvPr>
            <p:ph sz="quarter" idx="1"/>
          </p:nvPr>
        </p:nvSpPr>
        <p:spPr>
          <a:xfrm>
            <a:off x="457200" y="914400"/>
            <a:ext cx="7696200" cy="5638800"/>
          </a:xfrm>
        </p:spPr>
        <p:txBody>
          <a:bodyPr>
            <a:normAutofit/>
          </a:bodyPr>
          <a:lstStyle/>
          <a:p>
            <a:r>
              <a:rPr lang="en-US" dirty="0"/>
              <a:t>You can use the keyword argument </a:t>
            </a:r>
            <a:r>
              <a:rPr lang="en-US" b="1" dirty="0" err="1"/>
              <a:t>linewidth</a:t>
            </a:r>
            <a:r>
              <a:rPr lang="en-US" dirty="0"/>
              <a:t> or the shorter </a:t>
            </a:r>
            <a:r>
              <a:rPr lang="en-US" b="1" dirty="0" err="1"/>
              <a:t>lw</a:t>
            </a:r>
            <a:r>
              <a:rPr lang="en-US" dirty="0"/>
              <a:t> to change the width of the line.</a:t>
            </a:r>
            <a:endParaRPr lang="en-US" dirty="0" smtClean="0"/>
          </a:p>
          <a:p>
            <a:endParaRPr lang="en-US" dirty="0"/>
          </a:p>
          <a:p>
            <a:r>
              <a:rPr lang="en-US" dirty="0" smtClean="0"/>
              <a:t>Example:</a:t>
            </a:r>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a:t>np</a:t>
            </a:r>
            <a:r>
              <a:rPr lang="en-US" dirty="0"/>
              <a:t/>
            </a:r>
            <a:br>
              <a:rPr lang="en-US" dirty="0"/>
            </a:br>
            <a:r>
              <a:rPr lang="en-US" dirty="0"/>
              <a:t/>
            </a:r>
            <a:br>
              <a:rPr lang="en-US" dirty="0"/>
            </a:br>
            <a:r>
              <a:rPr lang="en-US" dirty="0" err="1"/>
              <a:t>ypoints</a:t>
            </a:r>
            <a:r>
              <a:rPr lang="en-US" dirty="0"/>
              <a:t> = </a:t>
            </a:r>
            <a:r>
              <a:rPr lang="en-US" dirty="0" err="1"/>
              <a:t>np.array</a:t>
            </a:r>
            <a:r>
              <a:rPr lang="en-US" dirty="0"/>
              <a:t>([3, 8, 1, 10])</a:t>
            </a:r>
            <a:br>
              <a:rPr lang="en-US" dirty="0"/>
            </a:br>
            <a:r>
              <a:rPr lang="en-US" dirty="0"/>
              <a:t/>
            </a:r>
            <a:br>
              <a:rPr lang="en-US" dirty="0"/>
            </a:br>
            <a:r>
              <a:rPr lang="en-US" dirty="0" err="1" smtClean="0"/>
              <a:t>plt.plot</a:t>
            </a:r>
            <a:r>
              <a:rPr lang="en-US" dirty="0" smtClean="0"/>
              <a:t>(</a:t>
            </a:r>
            <a:r>
              <a:rPr lang="en-US" dirty="0" err="1" smtClean="0"/>
              <a:t>ypoints</a:t>
            </a:r>
            <a:r>
              <a:rPr lang="en-US" dirty="0"/>
              <a:t>, </a:t>
            </a:r>
            <a:r>
              <a:rPr lang="en-US" dirty="0" err="1"/>
              <a:t>linewidth</a:t>
            </a:r>
            <a:r>
              <a:rPr lang="en-US" dirty="0"/>
              <a:t> = '20.5'</a:t>
            </a:r>
            <a:r>
              <a:rPr lang="en-US" dirty="0" smtClean="0"/>
              <a:t>)</a:t>
            </a:r>
            <a:r>
              <a:rPr lang="en-US" dirty="0"/>
              <a:t/>
            </a:r>
            <a:br>
              <a:rPr lang="en-US" dirty="0"/>
            </a:br>
            <a:r>
              <a:rPr lang="en-US" dirty="0" err="1"/>
              <a:t>plt.show</a:t>
            </a:r>
            <a:r>
              <a:rPr lang="en-US" dirty="0"/>
              <a:t>()</a:t>
            </a:r>
            <a:endParaRPr lang="en-US" dirty="0" smtClean="0"/>
          </a:p>
          <a:p>
            <a:pPr marL="0" indent="0">
              <a:buNone/>
            </a:pPr>
            <a:r>
              <a:rPr lang="en-US" dirty="0"/>
              <a:t> </a:t>
            </a:r>
            <a:r>
              <a:rPr lang="en-US" dirty="0" smtClean="0"/>
              <a:t>  </a:t>
            </a:r>
            <a:endParaRPr lang="en-US" b="1" dirty="0" smtClean="0"/>
          </a:p>
        </p:txBody>
      </p:sp>
    </p:spTree>
    <p:extLst>
      <p:ext uri="{BB962C8B-B14F-4D97-AF65-F5344CB8AC3E}">
        <p14:creationId xmlns:p14="http://schemas.microsoft.com/office/powerpoint/2010/main" val="94853450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a:t>Linecolor</a:t>
            </a:r>
            <a:endParaRPr lang="en-US" sz="3600" b="1" dirty="0"/>
          </a:p>
        </p:txBody>
      </p:sp>
      <p:pic>
        <p:nvPicPr>
          <p:cNvPr id="3074" name="Picture 2" descr="https://www.w3schools.com/python/img_matplotlib_line_lw.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38199"/>
            <a:ext cx="7772400" cy="5805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95645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Multiple lines</a:t>
            </a:r>
            <a:endParaRPr lang="en-US" sz="3600" b="1" dirty="0"/>
          </a:p>
        </p:txBody>
      </p:sp>
      <p:sp>
        <p:nvSpPr>
          <p:cNvPr id="3" name="Content Placeholder 2"/>
          <p:cNvSpPr>
            <a:spLocks noGrp="1"/>
          </p:cNvSpPr>
          <p:nvPr>
            <p:ph sz="quarter" idx="1"/>
          </p:nvPr>
        </p:nvSpPr>
        <p:spPr>
          <a:xfrm>
            <a:off x="457200" y="914400"/>
            <a:ext cx="7696200" cy="5638800"/>
          </a:xfrm>
        </p:spPr>
        <p:txBody>
          <a:bodyPr>
            <a:normAutofit lnSpcReduction="10000"/>
          </a:bodyPr>
          <a:lstStyle/>
          <a:p>
            <a:r>
              <a:rPr lang="en-US" dirty="0" smtClean="0"/>
              <a:t>You </a:t>
            </a:r>
            <a:r>
              <a:rPr lang="en-US" dirty="0"/>
              <a:t>can plot as many lines as you like by simply adding more </a:t>
            </a:r>
            <a:r>
              <a:rPr lang="en-US" dirty="0" err="1"/>
              <a:t>plt.plot</a:t>
            </a:r>
            <a:r>
              <a:rPr lang="en-US" dirty="0"/>
              <a:t>() </a:t>
            </a:r>
            <a:r>
              <a:rPr lang="en-US" dirty="0" smtClean="0"/>
              <a:t>functions.</a:t>
            </a:r>
          </a:p>
          <a:p>
            <a:endParaRPr lang="en-US" dirty="0"/>
          </a:p>
          <a:p>
            <a:r>
              <a:rPr lang="en-US" dirty="0" smtClean="0"/>
              <a:t>Example:</a:t>
            </a:r>
          </a:p>
          <a:p>
            <a:pPr marL="0" indent="0">
              <a:buNone/>
            </a:pPr>
            <a:r>
              <a:rPr lang="en-US" dirty="0"/>
              <a:t>import </a:t>
            </a:r>
            <a:r>
              <a:rPr lang="en-US" dirty="0" err="1"/>
              <a:t>matplotlib.pyplot</a:t>
            </a:r>
            <a:r>
              <a:rPr lang="en-US" dirty="0"/>
              <a:t> as </a:t>
            </a:r>
            <a:r>
              <a:rPr lang="en-US" dirty="0" err="1"/>
              <a:t>plt</a:t>
            </a:r>
            <a:r>
              <a:rPr lang="en-US" dirty="0"/>
              <a:t/>
            </a:r>
            <a:br>
              <a:rPr lang="en-US" dirty="0"/>
            </a:br>
            <a:r>
              <a:rPr lang="en-US" dirty="0"/>
              <a:t>import </a:t>
            </a:r>
            <a:r>
              <a:rPr lang="en-US" dirty="0" err="1"/>
              <a:t>numpy</a:t>
            </a:r>
            <a:r>
              <a:rPr lang="en-US" dirty="0"/>
              <a:t> as </a:t>
            </a:r>
            <a:r>
              <a:rPr lang="en-US" dirty="0" err="1"/>
              <a:t>np</a:t>
            </a:r>
            <a:r>
              <a:rPr lang="en-US" dirty="0"/>
              <a:t/>
            </a:r>
            <a:br>
              <a:rPr lang="en-US" dirty="0"/>
            </a:br>
            <a:r>
              <a:rPr lang="en-US" dirty="0"/>
              <a:t/>
            </a:r>
            <a:br>
              <a:rPr lang="en-US" dirty="0"/>
            </a:br>
            <a:r>
              <a:rPr lang="es-ES" dirty="0"/>
              <a:t>y1 = </a:t>
            </a:r>
            <a:r>
              <a:rPr lang="es-ES" dirty="0" err="1"/>
              <a:t>np.array</a:t>
            </a:r>
            <a:r>
              <a:rPr lang="es-ES" dirty="0"/>
              <a:t>([3, 8, 1, 10])</a:t>
            </a:r>
            <a:br>
              <a:rPr lang="es-ES" dirty="0"/>
            </a:br>
            <a:r>
              <a:rPr lang="es-ES" dirty="0"/>
              <a:t>y2 = </a:t>
            </a:r>
            <a:r>
              <a:rPr lang="es-ES" dirty="0" err="1"/>
              <a:t>np.array</a:t>
            </a:r>
            <a:r>
              <a:rPr lang="es-ES" dirty="0"/>
              <a:t>([6, 2, 7, 11])</a:t>
            </a:r>
            <a:br>
              <a:rPr lang="es-ES" dirty="0"/>
            </a:br>
            <a:r>
              <a:rPr lang="es-ES" dirty="0"/>
              <a:t/>
            </a:r>
            <a:br>
              <a:rPr lang="es-ES" dirty="0"/>
            </a:br>
            <a:r>
              <a:rPr lang="es-ES" dirty="0" err="1"/>
              <a:t>plt.plot</a:t>
            </a:r>
            <a:r>
              <a:rPr lang="es-ES" dirty="0"/>
              <a:t>(y1)</a:t>
            </a:r>
            <a:br>
              <a:rPr lang="es-ES" dirty="0"/>
            </a:br>
            <a:r>
              <a:rPr lang="es-ES" dirty="0" err="1"/>
              <a:t>plt.plot</a:t>
            </a:r>
            <a:r>
              <a:rPr lang="es-ES" dirty="0"/>
              <a:t>(y2</a:t>
            </a:r>
            <a:r>
              <a:rPr lang="es-ES" dirty="0" smtClean="0"/>
              <a:t>)</a:t>
            </a:r>
          </a:p>
          <a:p>
            <a:pPr marL="0" indent="0">
              <a:buNone/>
            </a:pPr>
            <a:endParaRPr lang="es-ES" dirty="0" smtClean="0"/>
          </a:p>
          <a:p>
            <a:pPr marL="0" indent="0">
              <a:buNone/>
            </a:pPr>
            <a:r>
              <a:rPr lang="en-US" dirty="0" err="1" smtClean="0"/>
              <a:t>plt.show</a:t>
            </a:r>
            <a:r>
              <a:rPr lang="en-US" dirty="0"/>
              <a:t>()</a:t>
            </a:r>
            <a:endParaRPr lang="en-US" dirty="0" smtClean="0"/>
          </a:p>
          <a:p>
            <a:pPr marL="0" indent="0">
              <a:buNone/>
            </a:pPr>
            <a:r>
              <a:rPr lang="en-US" dirty="0"/>
              <a:t> </a:t>
            </a:r>
            <a:r>
              <a:rPr lang="en-US" dirty="0" smtClean="0"/>
              <a:t>  </a:t>
            </a:r>
            <a:endParaRPr lang="en-US" b="1" dirty="0" smtClean="0"/>
          </a:p>
        </p:txBody>
      </p:sp>
    </p:spTree>
    <p:extLst>
      <p:ext uri="{BB962C8B-B14F-4D97-AF65-F5344CB8AC3E}">
        <p14:creationId xmlns:p14="http://schemas.microsoft.com/office/powerpoint/2010/main" val="93376574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err="1"/>
              <a:t>Linecolor</a:t>
            </a:r>
            <a:endParaRPr lang="en-US" sz="3600" b="1" dirty="0"/>
          </a:p>
        </p:txBody>
      </p:sp>
      <p:pic>
        <p:nvPicPr>
          <p:cNvPr id="4098" name="Picture 2" descr="https://www.w3schools.com/python/img_matplotlib_line_tw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74700"/>
            <a:ext cx="7736902" cy="577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083219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Labels for Plot</a:t>
            </a:r>
            <a:endParaRPr lang="en-US" sz="3600" b="1" dirty="0"/>
          </a:p>
        </p:txBody>
      </p:sp>
      <p:sp>
        <p:nvSpPr>
          <p:cNvPr id="3" name="Content Placeholder 2"/>
          <p:cNvSpPr>
            <a:spLocks noGrp="1"/>
          </p:cNvSpPr>
          <p:nvPr>
            <p:ph sz="quarter" idx="1"/>
          </p:nvPr>
        </p:nvSpPr>
        <p:spPr>
          <a:xfrm>
            <a:off x="457200" y="914400"/>
            <a:ext cx="7696200" cy="5638800"/>
          </a:xfrm>
        </p:spPr>
        <p:txBody>
          <a:bodyPr>
            <a:normAutofit fontScale="92500"/>
          </a:bodyPr>
          <a:lstStyle/>
          <a:p>
            <a:r>
              <a:rPr lang="en-US" dirty="0"/>
              <a:t>With </a:t>
            </a:r>
            <a:r>
              <a:rPr lang="en-US" dirty="0" err="1"/>
              <a:t>Pyplot</a:t>
            </a:r>
            <a:r>
              <a:rPr lang="en-US" dirty="0"/>
              <a:t>, you can use the </a:t>
            </a:r>
            <a:r>
              <a:rPr lang="en-US" b="1" dirty="0" err="1"/>
              <a:t>xlabel</a:t>
            </a:r>
            <a:r>
              <a:rPr lang="en-US" b="1" dirty="0"/>
              <a:t>()</a:t>
            </a:r>
            <a:r>
              <a:rPr lang="en-US" dirty="0"/>
              <a:t> and </a:t>
            </a:r>
            <a:r>
              <a:rPr lang="en-US" b="1" dirty="0" err="1"/>
              <a:t>ylabel</a:t>
            </a:r>
            <a:r>
              <a:rPr lang="en-US" b="1" dirty="0"/>
              <a:t>()</a:t>
            </a:r>
            <a:r>
              <a:rPr lang="en-US" dirty="0"/>
              <a:t> functions to set a label for the x- and y-axis</a:t>
            </a:r>
            <a:r>
              <a:rPr lang="en-US" dirty="0" smtClean="0"/>
              <a:t>.</a:t>
            </a:r>
          </a:p>
          <a:p>
            <a:endParaRPr lang="en-US" dirty="0"/>
          </a:p>
          <a:p>
            <a:r>
              <a:rPr lang="en-US" dirty="0" smtClean="0"/>
              <a:t>Example:</a:t>
            </a:r>
          </a:p>
          <a:p>
            <a:pPr marL="0" indent="0">
              <a:buNone/>
            </a:pPr>
            <a:r>
              <a:rPr lang="en-US" dirty="0"/>
              <a:t>import </a:t>
            </a:r>
            <a:r>
              <a:rPr lang="en-US" dirty="0" err="1"/>
              <a:t>numpy</a:t>
            </a:r>
            <a:r>
              <a:rPr lang="en-US" dirty="0"/>
              <a:t> as </a:t>
            </a:r>
            <a:r>
              <a:rPr lang="en-US" dirty="0" err="1"/>
              <a:t>np</a:t>
            </a:r>
            <a:endParaRPr lang="en-US" dirty="0"/>
          </a:p>
          <a:p>
            <a:pPr marL="0" indent="0">
              <a:buNone/>
            </a:pPr>
            <a:r>
              <a:rPr lang="en-US" dirty="0"/>
              <a:t>import </a:t>
            </a:r>
            <a:r>
              <a:rPr lang="en-US" dirty="0" err="1"/>
              <a:t>matplotlib.pyplot</a:t>
            </a:r>
            <a:r>
              <a:rPr lang="en-US" dirty="0"/>
              <a:t> as </a:t>
            </a:r>
            <a:r>
              <a:rPr lang="en-US" dirty="0" err="1"/>
              <a:t>plt</a:t>
            </a:r>
            <a:endParaRPr lang="en-US" dirty="0"/>
          </a:p>
          <a:p>
            <a:pPr marL="0" indent="0">
              <a:buNone/>
            </a:pPr>
            <a:endParaRPr lang="en-US" dirty="0"/>
          </a:p>
          <a:p>
            <a:pPr marL="0" indent="0">
              <a:buNone/>
            </a:pPr>
            <a:r>
              <a:rPr lang="en-US" dirty="0"/>
              <a:t>x = </a:t>
            </a:r>
            <a:r>
              <a:rPr lang="en-US" dirty="0" err="1"/>
              <a:t>np.array</a:t>
            </a:r>
            <a:r>
              <a:rPr lang="en-US" dirty="0"/>
              <a:t>([80, 85, 90, 95, 100, 105, 110, 115, 120, 125])</a:t>
            </a:r>
          </a:p>
          <a:p>
            <a:pPr marL="0" indent="0">
              <a:buNone/>
            </a:pPr>
            <a:r>
              <a:rPr lang="en-US" dirty="0"/>
              <a:t>y = </a:t>
            </a:r>
            <a:r>
              <a:rPr lang="en-US" dirty="0" err="1"/>
              <a:t>np.array</a:t>
            </a:r>
            <a:r>
              <a:rPr lang="en-US" dirty="0"/>
              <a:t>([240, 250, 260, 270, 280, 290, 300, 310, 320, 330</a:t>
            </a:r>
            <a:r>
              <a:rPr lang="en-US" dirty="0" smtClean="0"/>
              <a:t>])</a:t>
            </a:r>
            <a:endParaRPr lang="en-US" dirty="0"/>
          </a:p>
          <a:p>
            <a:pPr marL="0" indent="0">
              <a:buNone/>
            </a:pPr>
            <a:r>
              <a:rPr lang="en-US" dirty="0" err="1"/>
              <a:t>plt.plot</a:t>
            </a:r>
            <a:r>
              <a:rPr lang="en-US" dirty="0"/>
              <a:t>(x, y</a:t>
            </a:r>
            <a:r>
              <a:rPr lang="en-US" dirty="0" smtClean="0"/>
              <a:t>)</a:t>
            </a:r>
            <a:endParaRPr lang="en-US" dirty="0"/>
          </a:p>
          <a:p>
            <a:pPr marL="0" indent="0">
              <a:buNone/>
            </a:pPr>
            <a:r>
              <a:rPr lang="en-US" dirty="0" err="1"/>
              <a:t>plt.xlabel</a:t>
            </a:r>
            <a:r>
              <a:rPr lang="en-US" dirty="0"/>
              <a:t>("Average Pulse")</a:t>
            </a:r>
          </a:p>
          <a:p>
            <a:pPr marL="0" indent="0">
              <a:buNone/>
            </a:pPr>
            <a:r>
              <a:rPr lang="en-US" dirty="0" err="1"/>
              <a:t>plt.ylabel</a:t>
            </a:r>
            <a:r>
              <a:rPr lang="en-US" dirty="0"/>
              <a:t>("Calorie </a:t>
            </a:r>
            <a:r>
              <a:rPr lang="en-US" dirty="0" err="1"/>
              <a:t>Burnage</a:t>
            </a:r>
            <a:r>
              <a:rPr lang="en-US" dirty="0" smtClean="0"/>
              <a:t>")</a:t>
            </a:r>
            <a:endParaRPr lang="en-US" dirty="0"/>
          </a:p>
          <a:p>
            <a:pPr marL="0" indent="0">
              <a:buNone/>
            </a:pPr>
            <a:r>
              <a:rPr lang="en-US" dirty="0" err="1"/>
              <a:t>plt.show</a:t>
            </a:r>
            <a:r>
              <a:rPr lang="en-US" dirty="0"/>
              <a:t>()</a:t>
            </a:r>
            <a:endParaRPr lang="en-US" b="1" dirty="0" smtClean="0"/>
          </a:p>
        </p:txBody>
      </p:sp>
    </p:spTree>
    <p:extLst>
      <p:ext uri="{BB962C8B-B14F-4D97-AF65-F5344CB8AC3E}">
        <p14:creationId xmlns:p14="http://schemas.microsoft.com/office/powerpoint/2010/main" val="395510667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Labels for Plot</a:t>
            </a:r>
          </a:p>
        </p:txBody>
      </p:sp>
      <p:pic>
        <p:nvPicPr>
          <p:cNvPr id="5122" name="Picture 2" descr="https://www.w3schools.com/python/img_matplotlib_label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762000"/>
            <a:ext cx="7848600" cy="588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14807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Title for Plot</a:t>
            </a:r>
            <a:endParaRPr lang="en-US" sz="3600" b="1" dirty="0"/>
          </a:p>
        </p:txBody>
      </p:sp>
      <p:sp>
        <p:nvSpPr>
          <p:cNvPr id="3" name="Content Placeholder 2"/>
          <p:cNvSpPr>
            <a:spLocks noGrp="1"/>
          </p:cNvSpPr>
          <p:nvPr>
            <p:ph sz="quarter" idx="1"/>
          </p:nvPr>
        </p:nvSpPr>
        <p:spPr>
          <a:xfrm>
            <a:off x="457200" y="914400"/>
            <a:ext cx="7696200" cy="5638800"/>
          </a:xfrm>
        </p:spPr>
        <p:txBody>
          <a:bodyPr>
            <a:normAutofit fontScale="92500" lnSpcReduction="10000"/>
          </a:bodyPr>
          <a:lstStyle/>
          <a:p>
            <a:r>
              <a:rPr lang="en-US" dirty="0"/>
              <a:t>With </a:t>
            </a:r>
            <a:r>
              <a:rPr lang="en-US" dirty="0" err="1"/>
              <a:t>Pyplot</a:t>
            </a:r>
            <a:r>
              <a:rPr lang="en-US" dirty="0"/>
              <a:t>, you can use the </a:t>
            </a:r>
            <a:r>
              <a:rPr lang="en-US" b="1" dirty="0"/>
              <a:t>title()</a:t>
            </a:r>
            <a:r>
              <a:rPr lang="en-US" dirty="0"/>
              <a:t> function to set a title for the plot.</a:t>
            </a:r>
            <a:endParaRPr lang="en-US" dirty="0" smtClean="0"/>
          </a:p>
          <a:p>
            <a:endParaRPr lang="en-US" dirty="0"/>
          </a:p>
          <a:p>
            <a:r>
              <a:rPr lang="en-US" dirty="0" smtClean="0"/>
              <a:t>Example:</a:t>
            </a:r>
          </a:p>
          <a:p>
            <a:pPr marL="0" indent="0">
              <a:buNone/>
            </a:pPr>
            <a:r>
              <a:rPr lang="en-US" dirty="0"/>
              <a:t>import </a:t>
            </a:r>
            <a:r>
              <a:rPr lang="en-US" dirty="0" err="1"/>
              <a:t>numpy</a:t>
            </a:r>
            <a:r>
              <a:rPr lang="en-US" dirty="0"/>
              <a:t> as </a:t>
            </a:r>
            <a:r>
              <a:rPr lang="en-US" dirty="0" err="1"/>
              <a:t>np</a:t>
            </a:r>
            <a:endParaRPr lang="en-US" dirty="0"/>
          </a:p>
          <a:p>
            <a:pPr marL="0" indent="0">
              <a:buNone/>
            </a:pPr>
            <a:r>
              <a:rPr lang="en-US" dirty="0"/>
              <a:t>import </a:t>
            </a:r>
            <a:r>
              <a:rPr lang="en-US" dirty="0" err="1"/>
              <a:t>matplotlib.pyplot</a:t>
            </a:r>
            <a:r>
              <a:rPr lang="en-US" dirty="0"/>
              <a:t> as </a:t>
            </a:r>
            <a:r>
              <a:rPr lang="en-US" dirty="0" err="1"/>
              <a:t>plt</a:t>
            </a:r>
            <a:endParaRPr lang="en-US" dirty="0"/>
          </a:p>
          <a:p>
            <a:pPr marL="0" indent="0">
              <a:buNone/>
            </a:pPr>
            <a:endParaRPr lang="en-US" dirty="0"/>
          </a:p>
          <a:p>
            <a:pPr marL="0" indent="0">
              <a:buNone/>
            </a:pPr>
            <a:r>
              <a:rPr lang="en-US" dirty="0"/>
              <a:t>x = </a:t>
            </a:r>
            <a:r>
              <a:rPr lang="en-US" dirty="0" err="1"/>
              <a:t>np.array</a:t>
            </a:r>
            <a:r>
              <a:rPr lang="en-US" dirty="0"/>
              <a:t>([80, 85, 90, 95, 100, 105, 110, 115, 120, 125])</a:t>
            </a:r>
          </a:p>
          <a:p>
            <a:pPr marL="0" indent="0">
              <a:buNone/>
            </a:pPr>
            <a:r>
              <a:rPr lang="en-US" dirty="0"/>
              <a:t>y = </a:t>
            </a:r>
            <a:r>
              <a:rPr lang="en-US" dirty="0" err="1"/>
              <a:t>np.array</a:t>
            </a:r>
            <a:r>
              <a:rPr lang="en-US" dirty="0"/>
              <a:t>([240, 250, 260, 270, 280, 290, 300, 310, 320, 330</a:t>
            </a:r>
            <a:r>
              <a:rPr lang="en-US" dirty="0" smtClean="0"/>
              <a:t>])</a:t>
            </a:r>
            <a:endParaRPr lang="en-US" dirty="0"/>
          </a:p>
          <a:p>
            <a:pPr marL="0" indent="0">
              <a:buNone/>
            </a:pPr>
            <a:r>
              <a:rPr lang="en-US" dirty="0" err="1"/>
              <a:t>plt.plot</a:t>
            </a:r>
            <a:r>
              <a:rPr lang="en-US" dirty="0"/>
              <a:t>(x, y</a:t>
            </a:r>
            <a:r>
              <a:rPr lang="en-US" dirty="0" smtClean="0"/>
              <a:t>)</a:t>
            </a:r>
          </a:p>
          <a:p>
            <a:pPr marL="0" indent="0">
              <a:buNone/>
            </a:pPr>
            <a:r>
              <a:rPr lang="en-US" dirty="0" err="1"/>
              <a:t>plt.title</a:t>
            </a:r>
            <a:r>
              <a:rPr lang="en-US" dirty="0"/>
              <a:t>("Sports Watch Data")</a:t>
            </a:r>
          </a:p>
          <a:p>
            <a:pPr marL="0" indent="0">
              <a:buNone/>
            </a:pPr>
            <a:r>
              <a:rPr lang="en-US" dirty="0" err="1"/>
              <a:t>plt.xlabel</a:t>
            </a:r>
            <a:r>
              <a:rPr lang="en-US" dirty="0"/>
              <a:t>("Average Pulse")</a:t>
            </a:r>
          </a:p>
          <a:p>
            <a:pPr marL="0" indent="0">
              <a:buNone/>
            </a:pPr>
            <a:r>
              <a:rPr lang="en-US" dirty="0" err="1"/>
              <a:t>plt.ylabel</a:t>
            </a:r>
            <a:r>
              <a:rPr lang="en-US" dirty="0"/>
              <a:t>("Calorie </a:t>
            </a:r>
            <a:r>
              <a:rPr lang="en-US" dirty="0" err="1"/>
              <a:t>Burnage</a:t>
            </a:r>
            <a:r>
              <a:rPr lang="en-US" dirty="0" smtClean="0"/>
              <a:t>")</a:t>
            </a:r>
            <a:endParaRPr lang="en-US" dirty="0"/>
          </a:p>
          <a:p>
            <a:pPr marL="0" indent="0">
              <a:buNone/>
            </a:pPr>
            <a:r>
              <a:rPr lang="en-US" dirty="0" err="1"/>
              <a:t>plt.show</a:t>
            </a:r>
            <a:r>
              <a:rPr lang="en-US" dirty="0"/>
              <a:t>()</a:t>
            </a:r>
            <a:endParaRPr lang="en-US" b="1" dirty="0" smtClean="0"/>
          </a:p>
        </p:txBody>
      </p:sp>
    </p:spTree>
    <p:extLst>
      <p:ext uri="{BB962C8B-B14F-4D97-AF65-F5344CB8AC3E}">
        <p14:creationId xmlns:p14="http://schemas.microsoft.com/office/powerpoint/2010/main" val="227690645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Title for Plot</a:t>
            </a:r>
          </a:p>
        </p:txBody>
      </p:sp>
      <p:pic>
        <p:nvPicPr>
          <p:cNvPr id="6146" name="Picture 2" descr="https://www.w3schools.com/python/img_matplotlib_tit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8300" y="761999"/>
            <a:ext cx="7861300" cy="589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346332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Font Properties</a:t>
            </a:r>
            <a:endParaRPr lang="en-US" sz="3600" b="1" dirty="0"/>
          </a:p>
        </p:txBody>
      </p:sp>
      <p:sp>
        <p:nvSpPr>
          <p:cNvPr id="3" name="Content Placeholder 2"/>
          <p:cNvSpPr>
            <a:spLocks noGrp="1"/>
          </p:cNvSpPr>
          <p:nvPr>
            <p:ph sz="quarter" idx="1"/>
          </p:nvPr>
        </p:nvSpPr>
        <p:spPr>
          <a:xfrm>
            <a:off x="457200" y="914400"/>
            <a:ext cx="7696200" cy="5638800"/>
          </a:xfrm>
        </p:spPr>
        <p:txBody>
          <a:bodyPr>
            <a:normAutofit/>
          </a:bodyPr>
          <a:lstStyle/>
          <a:p>
            <a:r>
              <a:rPr lang="en-US" dirty="0"/>
              <a:t>With </a:t>
            </a:r>
            <a:r>
              <a:rPr lang="en-US" dirty="0" err="1"/>
              <a:t>Pyplot</a:t>
            </a:r>
            <a:r>
              <a:rPr lang="en-US" dirty="0"/>
              <a:t>, you can use the </a:t>
            </a:r>
            <a:r>
              <a:rPr lang="en-US" b="1" dirty="0"/>
              <a:t>title()</a:t>
            </a:r>
            <a:r>
              <a:rPr lang="en-US" dirty="0"/>
              <a:t> function to set a title for the plot.</a:t>
            </a:r>
            <a:endParaRPr lang="en-US" dirty="0" smtClean="0"/>
          </a:p>
          <a:p>
            <a:endParaRPr lang="en-US" dirty="0"/>
          </a:p>
          <a:p>
            <a:r>
              <a:rPr lang="en-US" dirty="0" smtClean="0"/>
              <a:t>Example:</a:t>
            </a:r>
          </a:p>
          <a:p>
            <a:pPr marL="0" indent="0">
              <a:buNone/>
            </a:pPr>
            <a:r>
              <a:rPr lang="en-US" dirty="0" smtClean="0"/>
              <a:t>….</a:t>
            </a:r>
          </a:p>
          <a:p>
            <a:pPr marL="0" indent="0">
              <a:buNone/>
            </a:pPr>
            <a:r>
              <a:rPr lang="en-US" dirty="0"/>
              <a:t>font1 = {'family':'serif','color':'blue','size':20}</a:t>
            </a:r>
            <a:br>
              <a:rPr lang="en-US" dirty="0"/>
            </a:br>
            <a:r>
              <a:rPr lang="en-US" dirty="0"/>
              <a:t>font2 = {'family':'serif','color':'darkred','size':15}</a:t>
            </a:r>
            <a:br>
              <a:rPr lang="en-US" dirty="0"/>
            </a:br>
            <a:r>
              <a:rPr lang="en-US" dirty="0"/>
              <a:t/>
            </a:r>
            <a:br>
              <a:rPr lang="en-US" dirty="0"/>
            </a:br>
            <a:r>
              <a:rPr lang="en-US" dirty="0" err="1"/>
              <a:t>plt.title</a:t>
            </a:r>
            <a:r>
              <a:rPr lang="en-US" dirty="0"/>
              <a:t>("Sports Watch Data", </a:t>
            </a:r>
            <a:r>
              <a:rPr lang="en-US" dirty="0" err="1"/>
              <a:t>fontdict</a:t>
            </a:r>
            <a:r>
              <a:rPr lang="en-US" dirty="0"/>
              <a:t> = font1)</a:t>
            </a:r>
            <a:br>
              <a:rPr lang="en-US" dirty="0"/>
            </a:br>
            <a:r>
              <a:rPr lang="en-US" dirty="0" err="1"/>
              <a:t>plt.xlabel</a:t>
            </a:r>
            <a:r>
              <a:rPr lang="en-US" dirty="0"/>
              <a:t>("Average Pulse", </a:t>
            </a:r>
            <a:r>
              <a:rPr lang="en-US" dirty="0" err="1"/>
              <a:t>fontdict</a:t>
            </a:r>
            <a:r>
              <a:rPr lang="en-US" dirty="0"/>
              <a:t> = font2)</a:t>
            </a:r>
            <a:br>
              <a:rPr lang="en-US" dirty="0"/>
            </a:br>
            <a:r>
              <a:rPr lang="en-US" dirty="0" err="1"/>
              <a:t>plt.ylabel</a:t>
            </a:r>
            <a:r>
              <a:rPr lang="en-US" dirty="0"/>
              <a:t>("Calorie </a:t>
            </a:r>
            <a:r>
              <a:rPr lang="en-US" dirty="0" err="1"/>
              <a:t>Burnage</a:t>
            </a:r>
            <a:r>
              <a:rPr lang="en-US" dirty="0"/>
              <a:t>", </a:t>
            </a:r>
            <a:r>
              <a:rPr lang="en-US" dirty="0" err="1"/>
              <a:t>fontdict</a:t>
            </a:r>
            <a:r>
              <a:rPr lang="en-US" dirty="0"/>
              <a:t> = font2)</a:t>
            </a:r>
            <a:br>
              <a:rPr lang="en-US" dirty="0"/>
            </a:br>
            <a:r>
              <a:rPr lang="en-US" dirty="0" smtClean="0"/>
              <a:t>….</a:t>
            </a:r>
            <a:endParaRPr lang="en-US" b="1" dirty="0" smtClean="0"/>
          </a:p>
        </p:txBody>
      </p:sp>
    </p:spTree>
    <p:extLst>
      <p:ext uri="{BB962C8B-B14F-4D97-AF65-F5344CB8AC3E}">
        <p14:creationId xmlns:p14="http://schemas.microsoft.com/office/powerpoint/2010/main" val="119070490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Font Properties</a:t>
            </a:r>
          </a:p>
        </p:txBody>
      </p:sp>
      <p:pic>
        <p:nvPicPr>
          <p:cNvPr id="7170" name="Picture 2" descr="https://www.w3schools.com/python/img_matplotlib_title_fontdic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762000"/>
            <a:ext cx="7924800"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32498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Position the Title</a:t>
            </a:r>
            <a:endParaRPr lang="en-US" sz="3600" b="1" dirty="0"/>
          </a:p>
        </p:txBody>
      </p:sp>
      <p:sp>
        <p:nvSpPr>
          <p:cNvPr id="3" name="Content Placeholder 2"/>
          <p:cNvSpPr>
            <a:spLocks noGrp="1"/>
          </p:cNvSpPr>
          <p:nvPr>
            <p:ph sz="quarter" idx="1"/>
          </p:nvPr>
        </p:nvSpPr>
        <p:spPr>
          <a:xfrm>
            <a:off x="457200" y="914400"/>
            <a:ext cx="7696200" cy="5638800"/>
          </a:xfrm>
        </p:spPr>
        <p:txBody>
          <a:bodyPr>
            <a:normAutofit fontScale="92500" lnSpcReduction="10000"/>
          </a:bodyPr>
          <a:lstStyle/>
          <a:p>
            <a:r>
              <a:rPr lang="en-US" dirty="0"/>
              <a:t>You can use the </a:t>
            </a:r>
            <a:r>
              <a:rPr lang="en-US" b="1" dirty="0" err="1"/>
              <a:t>loc</a:t>
            </a:r>
            <a:r>
              <a:rPr lang="en-US" dirty="0"/>
              <a:t> parameter in </a:t>
            </a:r>
            <a:r>
              <a:rPr lang="en-US" b="1" dirty="0"/>
              <a:t>title()</a:t>
            </a:r>
            <a:r>
              <a:rPr lang="en-US" dirty="0"/>
              <a:t> to position the </a:t>
            </a:r>
            <a:r>
              <a:rPr lang="en-US" dirty="0" smtClean="0"/>
              <a:t>title. Legal </a:t>
            </a:r>
            <a:r>
              <a:rPr lang="en-US" dirty="0"/>
              <a:t>values are: 'left', 'right', and 'center'. Default value is 'center'.</a:t>
            </a:r>
          </a:p>
          <a:p>
            <a:r>
              <a:rPr lang="en-US" dirty="0" smtClean="0"/>
              <a:t>Example:</a:t>
            </a:r>
          </a:p>
          <a:p>
            <a:pPr marL="0" indent="0">
              <a:buNone/>
            </a:pPr>
            <a:r>
              <a:rPr lang="en-US" dirty="0"/>
              <a:t>import </a:t>
            </a:r>
            <a:r>
              <a:rPr lang="en-US" dirty="0" err="1"/>
              <a:t>numpy</a:t>
            </a:r>
            <a:r>
              <a:rPr lang="en-US" dirty="0"/>
              <a:t> as </a:t>
            </a:r>
            <a:r>
              <a:rPr lang="en-US" dirty="0" err="1"/>
              <a:t>np</a:t>
            </a:r>
            <a:endParaRPr lang="en-US" dirty="0"/>
          </a:p>
          <a:p>
            <a:pPr marL="0" indent="0">
              <a:buNone/>
            </a:pPr>
            <a:r>
              <a:rPr lang="en-US" dirty="0"/>
              <a:t>import </a:t>
            </a:r>
            <a:r>
              <a:rPr lang="en-US" dirty="0" err="1"/>
              <a:t>matplotlib.pyplot</a:t>
            </a:r>
            <a:r>
              <a:rPr lang="en-US" dirty="0"/>
              <a:t> as </a:t>
            </a:r>
            <a:r>
              <a:rPr lang="en-US" dirty="0" err="1"/>
              <a:t>plt</a:t>
            </a:r>
            <a:endParaRPr lang="en-US" dirty="0"/>
          </a:p>
          <a:p>
            <a:pPr marL="0" indent="0">
              <a:buNone/>
            </a:pPr>
            <a:endParaRPr lang="en-US" dirty="0"/>
          </a:p>
          <a:p>
            <a:pPr marL="0" indent="0">
              <a:buNone/>
            </a:pPr>
            <a:r>
              <a:rPr lang="en-US" dirty="0"/>
              <a:t>x = </a:t>
            </a:r>
            <a:r>
              <a:rPr lang="en-US" dirty="0" err="1"/>
              <a:t>np.array</a:t>
            </a:r>
            <a:r>
              <a:rPr lang="en-US" dirty="0"/>
              <a:t>([80, 85, 90, 95, 100, 105, 110, 115, 120, 125])</a:t>
            </a:r>
          </a:p>
          <a:p>
            <a:pPr marL="0" indent="0">
              <a:buNone/>
            </a:pPr>
            <a:r>
              <a:rPr lang="en-US" dirty="0"/>
              <a:t>y = </a:t>
            </a:r>
            <a:r>
              <a:rPr lang="en-US" dirty="0" err="1"/>
              <a:t>np.array</a:t>
            </a:r>
            <a:r>
              <a:rPr lang="en-US" dirty="0"/>
              <a:t>([240, 250, 260, 270, 280, 290, 300, 310, 320, 330</a:t>
            </a:r>
            <a:r>
              <a:rPr lang="en-US" dirty="0" smtClean="0"/>
              <a:t>])</a:t>
            </a:r>
            <a:endParaRPr lang="en-US" dirty="0"/>
          </a:p>
          <a:p>
            <a:pPr marL="0" indent="0">
              <a:buNone/>
            </a:pPr>
            <a:r>
              <a:rPr lang="en-US" dirty="0" err="1"/>
              <a:t>plt.title</a:t>
            </a:r>
            <a:r>
              <a:rPr lang="en-US" dirty="0"/>
              <a:t>("Sports Watch Data", </a:t>
            </a:r>
            <a:r>
              <a:rPr lang="en-US" dirty="0" err="1"/>
              <a:t>loc</a:t>
            </a:r>
            <a:r>
              <a:rPr lang="en-US" dirty="0"/>
              <a:t> = 'left')</a:t>
            </a:r>
          </a:p>
          <a:p>
            <a:pPr marL="0" indent="0">
              <a:buNone/>
            </a:pPr>
            <a:r>
              <a:rPr lang="en-US" dirty="0" err="1"/>
              <a:t>plt.xlabel</a:t>
            </a:r>
            <a:r>
              <a:rPr lang="en-US" dirty="0"/>
              <a:t>("Average Pulse")</a:t>
            </a:r>
          </a:p>
          <a:p>
            <a:pPr marL="0" indent="0">
              <a:buNone/>
            </a:pPr>
            <a:r>
              <a:rPr lang="en-US" dirty="0" err="1"/>
              <a:t>plt.ylabel</a:t>
            </a:r>
            <a:r>
              <a:rPr lang="en-US" dirty="0"/>
              <a:t>("Calorie </a:t>
            </a:r>
            <a:r>
              <a:rPr lang="en-US" dirty="0" err="1"/>
              <a:t>Burnage</a:t>
            </a:r>
            <a:r>
              <a:rPr lang="en-US" dirty="0" smtClean="0"/>
              <a:t>")</a:t>
            </a:r>
            <a:endParaRPr lang="en-US" dirty="0"/>
          </a:p>
          <a:p>
            <a:pPr marL="0" indent="0">
              <a:buNone/>
            </a:pPr>
            <a:r>
              <a:rPr lang="en-US" dirty="0" err="1"/>
              <a:t>plt.plot</a:t>
            </a:r>
            <a:r>
              <a:rPr lang="en-US" dirty="0"/>
              <a:t>(x, y)</a:t>
            </a:r>
          </a:p>
          <a:p>
            <a:pPr marL="0" indent="0">
              <a:buNone/>
            </a:pPr>
            <a:r>
              <a:rPr lang="en-US" dirty="0" err="1"/>
              <a:t>plt.show</a:t>
            </a:r>
            <a:r>
              <a:rPr lang="en-US" dirty="0"/>
              <a:t>()</a:t>
            </a:r>
            <a:endParaRPr lang="en-US" b="1" dirty="0" smtClean="0"/>
          </a:p>
        </p:txBody>
      </p:sp>
    </p:spTree>
    <p:extLst>
      <p:ext uri="{BB962C8B-B14F-4D97-AF65-F5344CB8AC3E}">
        <p14:creationId xmlns:p14="http://schemas.microsoft.com/office/powerpoint/2010/main" val="319326151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Position the Title</a:t>
            </a:r>
          </a:p>
        </p:txBody>
      </p:sp>
      <p:pic>
        <p:nvPicPr>
          <p:cNvPr id="8194" name="Picture 2" descr="https://www.w3schools.com/python/img_matplotlib_title_loc.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762000"/>
            <a:ext cx="7772400" cy="582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62408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Grid</a:t>
            </a:r>
            <a:endParaRPr lang="en-US" sz="3600" b="1" dirty="0"/>
          </a:p>
        </p:txBody>
      </p:sp>
      <p:sp>
        <p:nvSpPr>
          <p:cNvPr id="3" name="Content Placeholder 2"/>
          <p:cNvSpPr>
            <a:spLocks noGrp="1"/>
          </p:cNvSpPr>
          <p:nvPr>
            <p:ph sz="quarter" idx="1"/>
          </p:nvPr>
        </p:nvSpPr>
        <p:spPr>
          <a:xfrm>
            <a:off x="457200" y="914400"/>
            <a:ext cx="7696200" cy="5638800"/>
          </a:xfrm>
        </p:spPr>
        <p:txBody>
          <a:bodyPr>
            <a:normAutofit fontScale="92500"/>
          </a:bodyPr>
          <a:lstStyle/>
          <a:p>
            <a:r>
              <a:rPr lang="en-US" dirty="0"/>
              <a:t>With </a:t>
            </a:r>
            <a:r>
              <a:rPr lang="en-US" dirty="0" err="1"/>
              <a:t>Pyplot</a:t>
            </a:r>
            <a:r>
              <a:rPr lang="en-US" dirty="0"/>
              <a:t>, you can use the </a:t>
            </a:r>
            <a:r>
              <a:rPr lang="en-US" b="1" dirty="0"/>
              <a:t>grid()</a:t>
            </a:r>
            <a:r>
              <a:rPr lang="en-US" dirty="0"/>
              <a:t> function to add grid lines to the plot.</a:t>
            </a:r>
          </a:p>
          <a:p>
            <a:r>
              <a:rPr lang="en-US" dirty="0" smtClean="0"/>
              <a:t>Example</a:t>
            </a:r>
            <a:r>
              <a:rPr lang="en-US" dirty="0"/>
              <a:t>:</a:t>
            </a:r>
          </a:p>
          <a:p>
            <a:pPr marL="0" indent="0">
              <a:buNone/>
            </a:pPr>
            <a:r>
              <a:rPr lang="en-US" dirty="0"/>
              <a:t>import </a:t>
            </a:r>
            <a:r>
              <a:rPr lang="en-US" dirty="0" err="1"/>
              <a:t>numpy</a:t>
            </a:r>
            <a:r>
              <a:rPr lang="en-US" dirty="0"/>
              <a:t> as </a:t>
            </a:r>
            <a:r>
              <a:rPr lang="en-US" dirty="0" err="1"/>
              <a:t>np</a:t>
            </a:r>
            <a:endParaRPr lang="en-US" dirty="0"/>
          </a:p>
          <a:p>
            <a:pPr marL="0" indent="0">
              <a:buNone/>
            </a:pPr>
            <a:r>
              <a:rPr lang="en-US" dirty="0"/>
              <a:t>import </a:t>
            </a:r>
            <a:r>
              <a:rPr lang="en-US" dirty="0" err="1"/>
              <a:t>matplotlib.pyplot</a:t>
            </a:r>
            <a:r>
              <a:rPr lang="en-US" dirty="0"/>
              <a:t> as </a:t>
            </a:r>
            <a:r>
              <a:rPr lang="en-US" dirty="0" err="1" smtClean="0"/>
              <a:t>plt</a:t>
            </a:r>
            <a:endParaRPr lang="en-US" dirty="0"/>
          </a:p>
          <a:p>
            <a:pPr marL="0" indent="0">
              <a:buNone/>
            </a:pPr>
            <a:r>
              <a:rPr lang="en-US" dirty="0"/>
              <a:t>x = </a:t>
            </a:r>
            <a:r>
              <a:rPr lang="en-US" dirty="0" err="1"/>
              <a:t>np.array</a:t>
            </a:r>
            <a:r>
              <a:rPr lang="en-US" dirty="0"/>
              <a:t>([80, 85, 90, 95, 100, 105, 110, 115, </a:t>
            </a:r>
            <a:r>
              <a:rPr lang="en-US" dirty="0" smtClean="0"/>
              <a:t>120, 125</a:t>
            </a:r>
            <a:r>
              <a:rPr lang="en-US" dirty="0"/>
              <a:t>])</a:t>
            </a:r>
          </a:p>
          <a:p>
            <a:pPr marL="0" indent="0">
              <a:buNone/>
            </a:pPr>
            <a:r>
              <a:rPr lang="en-US" dirty="0"/>
              <a:t>y = </a:t>
            </a:r>
            <a:r>
              <a:rPr lang="en-US" dirty="0" err="1"/>
              <a:t>np.array</a:t>
            </a:r>
            <a:r>
              <a:rPr lang="en-US" dirty="0"/>
              <a:t>([240, 250, 260, 270, 280, 290, 300, 310, 320, 330])</a:t>
            </a:r>
          </a:p>
          <a:p>
            <a:pPr marL="0" indent="0">
              <a:buNone/>
            </a:pPr>
            <a:r>
              <a:rPr lang="en-US" dirty="0" err="1" smtClean="0"/>
              <a:t>plt.title</a:t>
            </a:r>
            <a:r>
              <a:rPr lang="en-US" dirty="0"/>
              <a:t>("Sports Watch Data")</a:t>
            </a:r>
          </a:p>
          <a:p>
            <a:pPr marL="0" indent="0">
              <a:buNone/>
            </a:pPr>
            <a:r>
              <a:rPr lang="en-US" dirty="0" err="1"/>
              <a:t>plt.xlabel</a:t>
            </a:r>
            <a:r>
              <a:rPr lang="en-US" dirty="0"/>
              <a:t>("Average Pulse")</a:t>
            </a:r>
          </a:p>
          <a:p>
            <a:pPr marL="0" indent="0">
              <a:buNone/>
            </a:pPr>
            <a:r>
              <a:rPr lang="en-US" dirty="0" err="1"/>
              <a:t>plt.ylabel</a:t>
            </a:r>
            <a:r>
              <a:rPr lang="en-US" dirty="0"/>
              <a:t>("Calorie </a:t>
            </a:r>
            <a:r>
              <a:rPr lang="en-US" dirty="0" err="1"/>
              <a:t>Burnage</a:t>
            </a:r>
            <a:r>
              <a:rPr lang="en-US" dirty="0"/>
              <a:t>")</a:t>
            </a:r>
          </a:p>
          <a:p>
            <a:pPr marL="0" indent="0">
              <a:buNone/>
            </a:pPr>
            <a:r>
              <a:rPr lang="en-US" dirty="0" err="1"/>
              <a:t>plt.plot</a:t>
            </a:r>
            <a:r>
              <a:rPr lang="en-US" dirty="0"/>
              <a:t>(x, y)</a:t>
            </a:r>
          </a:p>
          <a:p>
            <a:pPr marL="0" indent="0">
              <a:buNone/>
            </a:pPr>
            <a:r>
              <a:rPr lang="en-US" dirty="0" err="1"/>
              <a:t>plt.grid</a:t>
            </a:r>
            <a:r>
              <a:rPr lang="en-US" dirty="0"/>
              <a:t>()</a:t>
            </a:r>
          </a:p>
          <a:p>
            <a:pPr marL="0" indent="0">
              <a:buNone/>
            </a:pPr>
            <a:r>
              <a:rPr lang="en-US" dirty="0" err="1"/>
              <a:t>plt.show</a:t>
            </a:r>
            <a:r>
              <a:rPr lang="en-US" dirty="0"/>
              <a:t>()</a:t>
            </a:r>
            <a:endParaRPr lang="en-US" b="1" dirty="0" smtClean="0"/>
          </a:p>
        </p:txBody>
      </p:sp>
    </p:spTree>
    <p:extLst>
      <p:ext uri="{BB962C8B-B14F-4D97-AF65-F5344CB8AC3E}">
        <p14:creationId xmlns:p14="http://schemas.microsoft.com/office/powerpoint/2010/main" val="318636182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Grid</a:t>
            </a:r>
            <a:endParaRPr lang="en-US" sz="3600" b="1" dirty="0"/>
          </a:p>
        </p:txBody>
      </p:sp>
      <p:pic>
        <p:nvPicPr>
          <p:cNvPr id="4" name="Picture 3" descr="https://www.w3schools.com/python/img_matplotlib_grid.png"/>
          <p:cNvPicPr/>
          <p:nvPr/>
        </p:nvPicPr>
        <p:blipFill>
          <a:blip r:embed="rId2">
            <a:extLst>
              <a:ext uri="{28A0092B-C50C-407E-A947-70E740481C1C}">
                <a14:useLocalDpi xmlns:a14="http://schemas.microsoft.com/office/drawing/2010/main" val="0"/>
              </a:ext>
            </a:extLst>
          </a:blip>
          <a:srcRect/>
          <a:stretch>
            <a:fillRect/>
          </a:stretch>
        </p:blipFill>
        <p:spPr bwMode="auto">
          <a:xfrm>
            <a:off x="533400" y="838200"/>
            <a:ext cx="7543800" cy="5580380"/>
          </a:xfrm>
          <a:prstGeom prst="rect">
            <a:avLst/>
          </a:prstGeom>
          <a:noFill/>
          <a:ln>
            <a:noFill/>
          </a:ln>
        </p:spPr>
      </p:pic>
    </p:spTree>
    <p:extLst>
      <p:ext uri="{BB962C8B-B14F-4D97-AF65-F5344CB8AC3E}">
        <p14:creationId xmlns:p14="http://schemas.microsoft.com/office/powerpoint/2010/main" val="198648895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Specific Gridlines</a:t>
            </a:r>
            <a:endParaRPr lang="en-US" sz="3600" b="1" dirty="0"/>
          </a:p>
        </p:txBody>
      </p:sp>
      <p:sp>
        <p:nvSpPr>
          <p:cNvPr id="3" name="Content Placeholder 2"/>
          <p:cNvSpPr>
            <a:spLocks noGrp="1"/>
          </p:cNvSpPr>
          <p:nvPr>
            <p:ph sz="quarter" idx="1"/>
          </p:nvPr>
        </p:nvSpPr>
        <p:spPr>
          <a:xfrm>
            <a:off x="457200" y="914400"/>
            <a:ext cx="7696200" cy="2590800"/>
          </a:xfrm>
        </p:spPr>
        <p:txBody>
          <a:bodyPr>
            <a:normAutofit/>
          </a:bodyPr>
          <a:lstStyle/>
          <a:p>
            <a:r>
              <a:rPr lang="en-US" dirty="0"/>
              <a:t>You can use the axis parameter in the grid() function to specify which grid lines to display</a:t>
            </a:r>
            <a:r>
              <a:rPr lang="en-US" dirty="0" smtClean="0"/>
              <a:t>.</a:t>
            </a:r>
            <a:endParaRPr lang="en-US" dirty="0"/>
          </a:p>
          <a:p>
            <a:r>
              <a:rPr lang="en-US" dirty="0" smtClean="0"/>
              <a:t>Legal </a:t>
            </a:r>
            <a:r>
              <a:rPr lang="en-US" dirty="0"/>
              <a:t>values are: 'x', 'y', and 'both'. Default value is 'both</a:t>
            </a:r>
            <a:r>
              <a:rPr lang="en-US" dirty="0" smtClean="0"/>
              <a:t>'.</a:t>
            </a:r>
            <a:endParaRPr lang="en-US" dirty="0"/>
          </a:p>
          <a:p>
            <a:r>
              <a:rPr lang="en-US" dirty="0" smtClean="0"/>
              <a:t>Example:</a:t>
            </a:r>
          </a:p>
          <a:p>
            <a:pPr marL="0" indent="0">
              <a:buNone/>
            </a:pPr>
            <a:r>
              <a:rPr lang="en-US" dirty="0"/>
              <a:t> </a:t>
            </a:r>
            <a:r>
              <a:rPr lang="en-US" dirty="0" smtClean="0"/>
              <a:t>   </a:t>
            </a:r>
            <a:r>
              <a:rPr lang="en-US" dirty="0" err="1" smtClean="0"/>
              <a:t>plt.grid</a:t>
            </a:r>
            <a:r>
              <a:rPr lang="en-US" dirty="0" smtClean="0"/>
              <a:t>(axis </a:t>
            </a:r>
            <a:r>
              <a:rPr lang="en-US" dirty="0"/>
              <a:t>= 'x')</a:t>
            </a:r>
            <a:endParaRPr lang="en-US" b="1" dirty="0" smtClean="0"/>
          </a:p>
        </p:txBody>
      </p:sp>
      <p:sp>
        <p:nvSpPr>
          <p:cNvPr id="4" name="Title 1"/>
          <p:cNvSpPr txBox="1">
            <a:spLocks/>
          </p:cNvSpPr>
          <p:nvPr/>
        </p:nvSpPr>
        <p:spPr>
          <a:xfrm>
            <a:off x="647700" y="3505200"/>
            <a:ext cx="7467600" cy="685800"/>
          </a:xfrm>
          <a:prstGeom prst="rect">
            <a:avLst/>
          </a:prstGeom>
        </p:spPr>
        <p:txBody>
          <a:bodyPr vert="horz" anchor="b">
            <a:norm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sz="3600" b="1" dirty="0" smtClean="0"/>
              <a:t>Line Properties for the Grid</a:t>
            </a:r>
            <a:endParaRPr lang="en-US" sz="3600" b="1" dirty="0"/>
          </a:p>
        </p:txBody>
      </p:sp>
      <p:sp>
        <p:nvSpPr>
          <p:cNvPr id="6" name="Content Placeholder 2"/>
          <p:cNvSpPr txBox="1">
            <a:spLocks/>
          </p:cNvSpPr>
          <p:nvPr/>
        </p:nvSpPr>
        <p:spPr>
          <a:xfrm>
            <a:off x="457200" y="4191000"/>
            <a:ext cx="7696200" cy="23622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en-US" dirty="0"/>
              <a:t>You can also set the line properties of the grid, like this: grid(color = 'color', </a:t>
            </a:r>
            <a:r>
              <a:rPr lang="en-US" dirty="0" err="1"/>
              <a:t>linestyle</a:t>
            </a:r>
            <a:r>
              <a:rPr lang="en-US" dirty="0"/>
              <a:t> = '</a:t>
            </a:r>
            <a:r>
              <a:rPr lang="en-US" dirty="0" err="1"/>
              <a:t>linestyle</a:t>
            </a:r>
            <a:r>
              <a:rPr lang="en-US" dirty="0"/>
              <a:t>', </a:t>
            </a:r>
            <a:r>
              <a:rPr lang="en-US" dirty="0" err="1"/>
              <a:t>linewidth</a:t>
            </a:r>
            <a:r>
              <a:rPr lang="en-US" dirty="0"/>
              <a:t> = number</a:t>
            </a:r>
            <a:r>
              <a:rPr lang="en-US" dirty="0" smtClean="0"/>
              <a:t>).</a:t>
            </a:r>
            <a:endParaRPr lang="en-US" dirty="0"/>
          </a:p>
          <a:p>
            <a:r>
              <a:rPr lang="en-US" dirty="0" smtClean="0"/>
              <a:t>Example:</a:t>
            </a:r>
          </a:p>
          <a:p>
            <a:pPr marL="0" indent="0">
              <a:buNone/>
            </a:pPr>
            <a:r>
              <a:rPr lang="en-US" dirty="0" err="1" smtClean="0"/>
              <a:t>plt.grid</a:t>
            </a:r>
            <a:r>
              <a:rPr lang="en-US" dirty="0" smtClean="0"/>
              <a:t>(color </a:t>
            </a:r>
            <a:r>
              <a:rPr lang="en-US" dirty="0"/>
              <a:t>= 'green', </a:t>
            </a:r>
            <a:r>
              <a:rPr lang="en-US" dirty="0" err="1"/>
              <a:t>linestyle</a:t>
            </a:r>
            <a:r>
              <a:rPr lang="en-US" dirty="0"/>
              <a:t> = '--', </a:t>
            </a:r>
            <a:r>
              <a:rPr lang="en-US" dirty="0" err="1"/>
              <a:t>linewidth</a:t>
            </a:r>
            <a:r>
              <a:rPr lang="en-US" dirty="0"/>
              <a:t> = 0.5)</a:t>
            </a:r>
            <a:endParaRPr lang="en-US" b="1" dirty="0" smtClean="0"/>
          </a:p>
        </p:txBody>
      </p:sp>
    </p:spTree>
    <p:extLst>
      <p:ext uri="{BB962C8B-B14F-4D97-AF65-F5344CB8AC3E}">
        <p14:creationId xmlns:p14="http://schemas.microsoft.com/office/powerpoint/2010/main" val="413171758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Subplot</a:t>
            </a:r>
          </a:p>
        </p:txBody>
      </p:sp>
      <p:sp>
        <p:nvSpPr>
          <p:cNvPr id="3" name="Content Placeholder 2"/>
          <p:cNvSpPr>
            <a:spLocks noGrp="1"/>
          </p:cNvSpPr>
          <p:nvPr>
            <p:ph sz="quarter" idx="1"/>
          </p:nvPr>
        </p:nvSpPr>
        <p:spPr>
          <a:xfrm>
            <a:off x="457200" y="914400"/>
            <a:ext cx="7696200" cy="5638800"/>
          </a:xfrm>
        </p:spPr>
        <p:txBody>
          <a:bodyPr>
            <a:normAutofit fontScale="77500" lnSpcReduction="20000"/>
          </a:bodyPr>
          <a:lstStyle/>
          <a:p>
            <a:r>
              <a:rPr lang="en-US" dirty="0"/>
              <a:t>With the </a:t>
            </a:r>
            <a:r>
              <a:rPr lang="en-US" b="1" dirty="0"/>
              <a:t>subplot()</a:t>
            </a:r>
            <a:r>
              <a:rPr lang="en-US" dirty="0"/>
              <a:t> function you can draw multiple plots in one figure</a:t>
            </a:r>
            <a:r>
              <a:rPr lang="en-US" dirty="0" smtClean="0"/>
              <a:t>:</a:t>
            </a:r>
            <a:endParaRPr lang="en-US" dirty="0"/>
          </a:p>
          <a:p>
            <a:r>
              <a:rPr lang="en-US" dirty="0" smtClean="0"/>
              <a:t>Example</a:t>
            </a:r>
            <a:r>
              <a:rPr lang="en-US" dirty="0"/>
              <a:t>:</a:t>
            </a:r>
          </a:p>
          <a:p>
            <a:pPr marL="0" indent="0">
              <a:buNone/>
            </a:pPr>
            <a:r>
              <a:rPr lang="en-US" dirty="0"/>
              <a:t>import </a:t>
            </a:r>
            <a:r>
              <a:rPr lang="en-US" dirty="0" err="1"/>
              <a:t>matplotlib.pyplot</a:t>
            </a:r>
            <a:r>
              <a:rPr lang="en-US" dirty="0"/>
              <a:t> as </a:t>
            </a:r>
            <a:r>
              <a:rPr lang="en-US" dirty="0" err="1"/>
              <a:t>plt</a:t>
            </a:r>
            <a:endParaRPr lang="en-US" dirty="0"/>
          </a:p>
          <a:p>
            <a:pPr marL="0" indent="0">
              <a:buNone/>
            </a:pPr>
            <a:r>
              <a:rPr lang="en-US" dirty="0"/>
              <a:t>import </a:t>
            </a:r>
            <a:r>
              <a:rPr lang="en-US" dirty="0" err="1"/>
              <a:t>numpy</a:t>
            </a:r>
            <a:r>
              <a:rPr lang="en-US" dirty="0"/>
              <a:t> as </a:t>
            </a:r>
            <a:r>
              <a:rPr lang="en-US" dirty="0" err="1"/>
              <a:t>np</a:t>
            </a:r>
            <a:endParaRPr lang="en-US" dirty="0"/>
          </a:p>
          <a:p>
            <a:endParaRPr lang="en-US" dirty="0"/>
          </a:p>
          <a:p>
            <a:pPr marL="0" indent="0">
              <a:buNone/>
            </a:pPr>
            <a:r>
              <a:rPr lang="en-US" dirty="0"/>
              <a:t>#plot 1:</a:t>
            </a:r>
          </a:p>
          <a:p>
            <a:pPr marL="0" indent="0">
              <a:buNone/>
            </a:pPr>
            <a:r>
              <a:rPr lang="en-US" dirty="0"/>
              <a:t>x = </a:t>
            </a:r>
            <a:r>
              <a:rPr lang="en-US" dirty="0" err="1"/>
              <a:t>np.array</a:t>
            </a:r>
            <a:r>
              <a:rPr lang="en-US" dirty="0"/>
              <a:t>([0, 1, 2, 3])</a:t>
            </a:r>
          </a:p>
          <a:p>
            <a:pPr marL="0" indent="0">
              <a:buNone/>
            </a:pPr>
            <a:r>
              <a:rPr lang="en-US" dirty="0"/>
              <a:t>y = </a:t>
            </a:r>
            <a:r>
              <a:rPr lang="en-US" dirty="0" err="1"/>
              <a:t>np.array</a:t>
            </a:r>
            <a:r>
              <a:rPr lang="en-US" dirty="0"/>
              <a:t>([3, 8, 1, 10</a:t>
            </a:r>
            <a:r>
              <a:rPr lang="en-US" dirty="0" smtClean="0"/>
              <a:t>])</a:t>
            </a:r>
            <a:endParaRPr lang="en-US" dirty="0"/>
          </a:p>
          <a:p>
            <a:pPr marL="0" indent="0">
              <a:buNone/>
            </a:pPr>
            <a:r>
              <a:rPr lang="en-US" dirty="0" err="1"/>
              <a:t>plt.subplot</a:t>
            </a:r>
            <a:r>
              <a:rPr lang="en-US" dirty="0"/>
              <a:t>(1, 2, 1)</a:t>
            </a:r>
          </a:p>
          <a:p>
            <a:pPr marL="0" indent="0">
              <a:buNone/>
            </a:pPr>
            <a:r>
              <a:rPr lang="en-US" dirty="0" err="1"/>
              <a:t>plt.plot</a:t>
            </a:r>
            <a:r>
              <a:rPr lang="en-US" dirty="0"/>
              <a:t>(</a:t>
            </a:r>
            <a:r>
              <a:rPr lang="en-US" dirty="0" err="1"/>
              <a:t>x,y</a:t>
            </a:r>
            <a:r>
              <a:rPr lang="en-US" dirty="0"/>
              <a:t>)</a:t>
            </a:r>
          </a:p>
          <a:p>
            <a:endParaRPr lang="en-US" dirty="0"/>
          </a:p>
          <a:p>
            <a:pPr marL="0" indent="0">
              <a:buNone/>
            </a:pPr>
            <a:r>
              <a:rPr lang="en-US" dirty="0"/>
              <a:t>#plot 2:</a:t>
            </a:r>
          </a:p>
          <a:p>
            <a:pPr marL="0" indent="0">
              <a:buNone/>
            </a:pPr>
            <a:r>
              <a:rPr lang="en-US" dirty="0"/>
              <a:t>x = </a:t>
            </a:r>
            <a:r>
              <a:rPr lang="en-US" dirty="0" err="1"/>
              <a:t>np.array</a:t>
            </a:r>
            <a:r>
              <a:rPr lang="en-US" dirty="0"/>
              <a:t>([0, 1, 2, 3])</a:t>
            </a:r>
          </a:p>
          <a:p>
            <a:pPr marL="0" indent="0">
              <a:buNone/>
            </a:pPr>
            <a:r>
              <a:rPr lang="en-US" dirty="0"/>
              <a:t>y = </a:t>
            </a:r>
            <a:r>
              <a:rPr lang="en-US" dirty="0" err="1"/>
              <a:t>np.array</a:t>
            </a:r>
            <a:r>
              <a:rPr lang="en-US" dirty="0"/>
              <a:t>([10, 20, 30, 40</a:t>
            </a:r>
            <a:r>
              <a:rPr lang="en-US" dirty="0" smtClean="0"/>
              <a:t>])</a:t>
            </a:r>
            <a:endParaRPr lang="en-US" dirty="0"/>
          </a:p>
          <a:p>
            <a:pPr marL="0" indent="0">
              <a:buNone/>
            </a:pPr>
            <a:r>
              <a:rPr lang="en-US" dirty="0" err="1"/>
              <a:t>plt.subplot</a:t>
            </a:r>
            <a:r>
              <a:rPr lang="en-US" dirty="0"/>
              <a:t>(1, 2, </a:t>
            </a:r>
            <a:r>
              <a:rPr lang="en-US" dirty="0" smtClean="0"/>
              <a:t>2)</a:t>
            </a:r>
          </a:p>
          <a:p>
            <a:pPr marL="0" indent="0">
              <a:buNone/>
            </a:pPr>
            <a:r>
              <a:rPr lang="en-US" dirty="0" err="1" smtClean="0"/>
              <a:t>plt.plot</a:t>
            </a:r>
            <a:r>
              <a:rPr lang="en-US" dirty="0" smtClean="0"/>
              <a:t>(</a:t>
            </a:r>
            <a:r>
              <a:rPr lang="en-US" dirty="0" err="1" smtClean="0"/>
              <a:t>x,y</a:t>
            </a:r>
            <a:r>
              <a:rPr lang="en-US" dirty="0" smtClean="0"/>
              <a:t>)</a:t>
            </a:r>
          </a:p>
          <a:p>
            <a:pPr marL="0" indent="0">
              <a:buNone/>
            </a:pPr>
            <a:r>
              <a:rPr lang="en-US" dirty="0" err="1" smtClean="0"/>
              <a:t>plt.show</a:t>
            </a:r>
            <a:r>
              <a:rPr lang="en-US" dirty="0"/>
              <a:t>()</a:t>
            </a:r>
            <a:endParaRPr lang="en-US" b="1" dirty="0" smtClean="0"/>
          </a:p>
        </p:txBody>
      </p:sp>
    </p:spTree>
    <p:extLst>
      <p:ext uri="{BB962C8B-B14F-4D97-AF65-F5344CB8AC3E}">
        <p14:creationId xmlns:p14="http://schemas.microsoft.com/office/powerpoint/2010/main" val="354524729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Subplot</a:t>
            </a:r>
            <a:endParaRPr lang="en-US" sz="3600" b="1" dirty="0"/>
          </a:p>
        </p:txBody>
      </p:sp>
      <p:pic>
        <p:nvPicPr>
          <p:cNvPr id="5" name="Picture 4" descr="https://www.w3schools.com/python/img_matplotlib_subplots1.png"/>
          <p:cNvPicPr/>
          <p:nvPr/>
        </p:nvPicPr>
        <p:blipFill>
          <a:blip r:embed="rId2">
            <a:extLst>
              <a:ext uri="{28A0092B-C50C-407E-A947-70E740481C1C}">
                <a14:useLocalDpi xmlns:a14="http://schemas.microsoft.com/office/drawing/2010/main" val="0"/>
              </a:ext>
            </a:extLst>
          </a:blip>
          <a:srcRect/>
          <a:stretch>
            <a:fillRect/>
          </a:stretch>
        </p:blipFill>
        <p:spPr bwMode="auto">
          <a:xfrm>
            <a:off x="609600" y="762000"/>
            <a:ext cx="7543800" cy="5562600"/>
          </a:xfrm>
          <a:prstGeom prst="rect">
            <a:avLst/>
          </a:prstGeom>
          <a:noFill/>
          <a:ln>
            <a:noFill/>
          </a:ln>
        </p:spPr>
      </p:pic>
    </p:spTree>
    <p:extLst>
      <p:ext uri="{BB962C8B-B14F-4D97-AF65-F5344CB8AC3E}">
        <p14:creationId xmlns:p14="http://schemas.microsoft.com/office/powerpoint/2010/main" val="415648706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Subplot</a:t>
            </a:r>
          </a:p>
        </p:txBody>
      </p:sp>
      <p:sp>
        <p:nvSpPr>
          <p:cNvPr id="3" name="Content Placeholder 2"/>
          <p:cNvSpPr>
            <a:spLocks noGrp="1"/>
          </p:cNvSpPr>
          <p:nvPr>
            <p:ph sz="quarter" idx="1"/>
          </p:nvPr>
        </p:nvSpPr>
        <p:spPr>
          <a:xfrm>
            <a:off x="457200" y="914400"/>
            <a:ext cx="7696200" cy="5638800"/>
          </a:xfrm>
        </p:spPr>
        <p:txBody>
          <a:bodyPr>
            <a:normAutofit fontScale="92500" lnSpcReduction="20000"/>
          </a:bodyPr>
          <a:lstStyle/>
          <a:p>
            <a:r>
              <a:rPr lang="en-US" dirty="0"/>
              <a:t>The subplot() function takes three arguments that describes the layout of the figure.</a:t>
            </a:r>
          </a:p>
          <a:p>
            <a:endParaRPr lang="en-US" dirty="0"/>
          </a:p>
          <a:p>
            <a:r>
              <a:rPr lang="en-US" dirty="0" smtClean="0"/>
              <a:t>The </a:t>
            </a:r>
            <a:r>
              <a:rPr lang="en-US" dirty="0"/>
              <a:t>layout is organized in rows and columns, which are represented by the first and second argument.</a:t>
            </a:r>
          </a:p>
          <a:p>
            <a:endParaRPr lang="en-US" dirty="0"/>
          </a:p>
          <a:p>
            <a:r>
              <a:rPr lang="en-US" dirty="0" smtClean="0"/>
              <a:t>The </a:t>
            </a:r>
            <a:r>
              <a:rPr lang="en-US" dirty="0"/>
              <a:t>third argument represents the index of the current plot.</a:t>
            </a:r>
          </a:p>
          <a:p>
            <a:endParaRPr lang="en-US" dirty="0"/>
          </a:p>
          <a:p>
            <a:r>
              <a:rPr lang="en-US" dirty="0" err="1" smtClean="0"/>
              <a:t>plt.subplot</a:t>
            </a:r>
            <a:r>
              <a:rPr lang="en-US" dirty="0" smtClean="0"/>
              <a:t>(1</a:t>
            </a:r>
            <a:r>
              <a:rPr lang="en-US" dirty="0"/>
              <a:t>, 2, 1)</a:t>
            </a:r>
          </a:p>
          <a:p>
            <a:pPr marL="0" indent="0">
              <a:buNone/>
            </a:pPr>
            <a:r>
              <a:rPr lang="en-US" dirty="0"/>
              <a:t>#the figure has 1 row, 2 columns, and this plot is the first plot.</a:t>
            </a:r>
          </a:p>
          <a:p>
            <a:endParaRPr lang="en-US" dirty="0"/>
          </a:p>
          <a:p>
            <a:r>
              <a:rPr lang="en-US" dirty="0" err="1" smtClean="0"/>
              <a:t>plt.subplot</a:t>
            </a:r>
            <a:r>
              <a:rPr lang="en-US" dirty="0" smtClean="0"/>
              <a:t>(1</a:t>
            </a:r>
            <a:r>
              <a:rPr lang="en-US" dirty="0"/>
              <a:t>, 2, 2)</a:t>
            </a:r>
          </a:p>
          <a:p>
            <a:pPr marL="0" indent="0">
              <a:buNone/>
            </a:pPr>
            <a:r>
              <a:rPr lang="en-US" dirty="0"/>
              <a:t>#the figure has 1 row, 2 columns, and this plot is the second plot.</a:t>
            </a:r>
            <a:endParaRPr lang="en-US" b="1" dirty="0" smtClean="0"/>
          </a:p>
        </p:txBody>
      </p:sp>
    </p:spTree>
    <p:extLst>
      <p:ext uri="{BB962C8B-B14F-4D97-AF65-F5344CB8AC3E}">
        <p14:creationId xmlns:p14="http://schemas.microsoft.com/office/powerpoint/2010/main" val="38607727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467600" cy="685800"/>
          </a:xfrm>
        </p:spPr>
        <p:txBody>
          <a:bodyPr>
            <a:normAutofit/>
          </a:bodyPr>
          <a:lstStyle/>
          <a:p>
            <a:pPr algn="ctr"/>
            <a:r>
              <a:rPr lang="en-US" sz="3600" b="1" dirty="0"/>
              <a:t>Subplot</a:t>
            </a:r>
          </a:p>
        </p:txBody>
      </p:sp>
      <p:sp>
        <p:nvSpPr>
          <p:cNvPr id="3" name="Content Placeholder 2"/>
          <p:cNvSpPr>
            <a:spLocks noGrp="1"/>
          </p:cNvSpPr>
          <p:nvPr>
            <p:ph sz="quarter" idx="1"/>
          </p:nvPr>
        </p:nvSpPr>
        <p:spPr>
          <a:xfrm>
            <a:off x="457200" y="762000"/>
            <a:ext cx="7696200" cy="6096000"/>
          </a:xfrm>
        </p:spPr>
        <p:txBody>
          <a:bodyPr>
            <a:normAutofit fontScale="85000" lnSpcReduction="20000"/>
          </a:bodyPr>
          <a:lstStyle/>
          <a:p>
            <a:r>
              <a:rPr lang="en-US" dirty="0" smtClean="0"/>
              <a:t>If </a:t>
            </a:r>
            <a:r>
              <a:rPr lang="en-US" dirty="0"/>
              <a:t>we want a figure with 2 rows an 1 column (meaning that the two plots will be displayed on top of each other instead of side-by-side), we can write the syntax like this</a:t>
            </a:r>
            <a:r>
              <a:rPr lang="en-US" dirty="0" smtClean="0"/>
              <a:t>:</a:t>
            </a:r>
            <a:endParaRPr lang="en-US" dirty="0"/>
          </a:p>
          <a:p>
            <a:r>
              <a:rPr lang="en-US" dirty="0" smtClean="0"/>
              <a:t>Example</a:t>
            </a:r>
            <a:r>
              <a:rPr lang="en-US" dirty="0"/>
              <a:t>:</a:t>
            </a:r>
          </a:p>
          <a:p>
            <a:pPr marL="0" indent="0">
              <a:buNone/>
            </a:pPr>
            <a:r>
              <a:rPr lang="en-US" dirty="0"/>
              <a:t>import </a:t>
            </a:r>
            <a:r>
              <a:rPr lang="en-US" dirty="0" err="1"/>
              <a:t>matplotlib.pyplot</a:t>
            </a:r>
            <a:r>
              <a:rPr lang="en-US" dirty="0"/>
              <a:t> as </a:t>
            </a:r>
            <a:r>
              <a:rPr lang="en-US" dirty="0" err="1"/>
              <a:t>plt</a:t>
            </a:r>
            <a:endParaRPr lang="en-US" dirty="0"/>
          </a:p>
          <a:p>
            <a:pPr marL="0" indent="0">
              <a:buNone/>
            </a:pPr>
            <a:r>
              <a:rPr lang="en-US" dirty="0"/>
              <a:t>import </a:t>
            </a:r>
            <a:r>
              <a:rPr lang="en-US" dirty="0" err="1"/>
              <a:t>numpy</a:t>
            </a:r>
            <a:r>
              <a:rPr lang="en-US" dirty="0"/>
              <a:t> as </a:t>
            </a:r>
            <a:r>
              <a:rPr lang="en-US" dirty="0" err="1"/>
              <a:t>np</a:t>
            </a:r>
            <a:endParaRPr lang="en-US" dirty="0"/>
          </a:p>
          <a:p>
            <a:endParaRPr lang="en-US" dirty="0"/>
          </a:p>
          <a:p>
            <a:pPr marL="0" indent="0">
              <a:buNone/>
            </a:pPr>
            <a:r>
              <a:rPr lang="en-US" dirty="0"/>
              <a:t>#plot 1:</a:t>
            </a:r>
          </a:p>
          <a:p>
            <a:pPr marL="0" indent="0">
              <a:buNone/>
            </a:pPr>
            <a:r>
              <a:rPr lang="en-US" dirty="0"/>
              <a:t>x = </a:t>
            </a:r>
            <a:r>
              <a:rPr lang="en-US" dirty="0" err="1"/>
              <a:t>np.array</a:t>
            </a:r>
            <a:r>
              <a:rPr lang="en-US" dirty="0"/>
              <a:t>([0, 1, 2, 3])</a:t>
            </a:r>
          </a:p>
          <a:p>
            <a:pPr marL="0" indent="0">
              <a:buNone/>
            </a:pPr>
            <a:r>
              <a:rPr lang="en-US" dirty="0"/>
              <a:t>y = </a:t>
            </a:r>
            <a:r>
              <a:rPr lang="en-US" dirty="0" err="1"/>
              <a:t>np.array</a:t>
            </a:r>
            <a:r>
              <a:rPr lang="en-US" dirty="0"/>
              <a:t>([3, 8, 1, 10</a:t>
            </a:r>
            <a:r>
              <a:rPr lang="en-US" dirty="0" smtClean="0"/>
              <a:t>])</a:t>
            </a:r>
            <a:endParaRPr lang="en-US" dirty="0"/>
          </a:p>
          <a:p>
            <a:pPr marL="0" indent="0">
              <a:buNone/>
            </a:pPr>
            <a:r>
              <a:rPr lang="en-US" dirty="0" err="1"/>
              <a:t>plt.subplot</a:t>
            </a:r>
            <a:r>
              <a:rPr lang="en-US" dirty="0"/>
              <a:t>(2, 1, 1)</a:t>
            </a:r>
          </a:p>
          <a:p>
            <a:pPr marL="0" indent="0">
              <a:buNone/>
            </a:pPr>
            <a:r>
              <a:rPr lang="en-US" dirty="0" err="1"/>
              <a:t>plt.plot</a:t>
            </a:r>
            <a:r>
              <a:rPr lang="en-US" dirty="0"/>
              <a:t>(</a:t>
            </a:r>
            <a:r>
              <a:rPr lang="en-US" dirty="0" err="1"/>
              <a:t>x,y</a:t>
            </a:r>
            <a:r>
              <a:rPr lang="en-US" dirty="0"/>
              <a:t>)</a:t>
            </a:r>
          </a:p>
          <a:p>
            <a:pPr marL="0" indent="0">
              <a:buNone/>
            </a:pPr>
            <a:endParaRPr lang="en-US" dirty="0"/>
          </a:p>
          <a:p>
            <a:pPr marL="0" indent="0">
              <a:buNone/>
            </a:pPr>
            <a:r>
              <a:rPr lang="en-US" dirty="0"/>
              <a:t>#plot 2:</a:t>
            </a:r>
          </a:p>
          <a:p>
            <a:pPr marL="0" indent="0">
              <a:buNone/>
            </a:pPr>
            <a:r>
              <a:rPr lang="en-US" dirty="0"/>
              <a:t>x = </a:t>
            </a:r>
            <a:r>
              <a:rPr lang="en-US" dirty="0" err="1"/>
              <a:t>np.array</a:t>
            </a:r>
            <a:r>
              <a:rPr lang="en-US" dirty="0"/>
              <a:t>([0, 1, 2, 3])</a:t>
            </a:r>
          </a:p>
          <a:p>
            <a:pPr marL="0" indent="0">
              <a:buNone/>
            </a:pPr>
            <a:r>
              <a:rPr lang="en-US" dirty="0"/>
              <a:t>y = </a:t>
            </a:r>
            <a:r>
              <a:rPr lang="en-US" dirty="0" err="1"/>
              <a:t>np.array</a:t>
            </a:r>
            <a:r>
              <a:rPr lang="en-US" dirty="0"/>
              <a:t>([10, 20, 30, 40</a:t>
            </a:r>
            <a:r>
              <a:rPr lang="en-US" dirty="0" smtClean="0"/>
              <a:t>])</a:t>
            </a:r>
          </a:p>
          <a:p>
            <a:pPr marL="0" indent="0">
              <a:buNone/>
            </a:pPr>
            <a:r>
              <a:rPr lang="en-US" dirty="0" err="1" smtClean="0"/>
              <a:t>plt.subplot</a:t>
            </a:r>
            <a:r>
              <a:rPr lang="en-US" dirty="0" smtClean="0"/>
              <a:t>(2, 1, 2)</a:t>
            </a:r>
          </a:p>
          <a:p>
            <a:pPr marL="0" indent="0">
              <a:buNone/>
            </a:pPr>
            <a:r>
              <a:rPr lang="en-US" dirty="0" err="1" smtClean="0"/>
              <a:t>plt.plot</a:t>
            </a:r>
            <a:r>
              <a:rPr lang="en-US" dirty="0" smtClean="0"/>
              <a:t>(</a:t>
            </a:r>
            <a:r>
              <a:rPr lang="en-US" dirty="0" err="1" smtClean="0"/>
              <a:t>x,y</a:t>
            </a:r>
            <a:r>
              <a:rPr lang="en-US" dirty="0" smtClean="0"/>
              <a:t>)</a:t>
            </a:r>
            <a:endParaRPr lang="en-US" dirty="0"/>
          </a:p>
          <a:p>
            <a:pPr marL="0" indent="0">
              <a:buNone/>
            </a:pPr>
            <a:r>
              <a:rPr lang="en-US" dirty="0" err="1"/>
              <a:t>plt.show</a:t>
            </a:r>
            <a:r>
              <a:rPr lang="en-US" dirty="0"/>
              <a:t>()</a:t>
            </a:r>
            <a:endParaRPr lang="en-US" b="1" dirty="0" smtClean="0"/>
          </a:p>
        </p:txBody>
      </p:sp>
    </p:spTree>
    <p:extLst>
      <p:ext uri="{BB962C8B-B14F-4D97-AF65-F5344CB8AC3E}">
        <p14:creationId xmlns:p14="http://schemas.microsoft.com/office/powerpoint/2010/main" val="139026949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Subplot</a:t>
            </a:r>
            <a:endParaRPr lang="en-US" sz="3600" b="1" dirty="0"/>
          </a:p>
        </p:txBody>
      </p:sp>
      <p:pic>
        <p:nvPicPr>
          <p:cNvPr id="4" name="Picture 3" descr="https://www.w3schools.com/python/img_matplotlib_subplots2.png"/>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1"/>
            <a:ext cx="7543800" cy="5562600"/>
          </a:xfrm>
          <a:prstGeom prst="rect">
            <a:avLst/>
          </a:prstGeom>
          <a:noFill/>
          <a:ln>
            <a:noFill/>
          </a:ln>
        </p:spPr>
      </p:pic>
    </p:spTree>
    <p:extLst>
      <p:ext uri="{BB962C8B-B14F-4D97-AF65-F5344CB8AC3E}">
        <p14:creationId xmlns:p14="http://schemas.microsoft.com/office/powerpoint/2010/main" val="370752638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Super </a:t>
            </a:r>
            <a:r>
              <a:rPr lang="en-US" sz="3600" b="1" dirty="0" smtClean="0"/>
              <a:t>title in Subplot</a:t>
            </a:r>
            <a:endParaRPr lang="en-US" sz="3600" b="1" dirty="0"/>
          </a:p>
        </p:txBody>
      </p:sp>
      <p:sp>
        <p:nvSpPr>
          <p:cNvPr id="3" name="Content Placeholder 2"/>
          <p:cNvSpPr>
            <a:spLocks noGrp="1"/>
          </p:cNvSpPr>
          <p:nvPr>
            <p:ph sz="quarter" idx="1"/>
          </p:nvPr>
        </p:nvSpPr>
        <p:spPr>
          <a:xfrm>
            <a:off x="457200" y="914400"/>
            <a:ext cx="7696200" cy="1828800"/>
          </a:xfrm>
        </p:spPr>
        <p:txBody>
          <a:bodyPr>
            <a:normAutofit/>
          </a:bodyPr>
          <a:lstStyle/>
          <a:p>
            <a:r>
              <a:rPr lang="en-US" dirty="0"/>
              <a:t>You can add a title to the entire figure with the </a:t>
            </a:r>
            <a:r>
              <a:rPr lang="en-US" dirty="0" err="1"/>
              <a:t>suptitle</a:t>
            </a:r>
            <a:r>
              <a:rPr lang="en-US" dirty="0"/>
              <a:t>() function</a:t>
            </a:r>
            <a:r>
              <a:rPr lang="en-US" dirty="0" smtClean="0"/>
              <a:t>:</a:t>
            </a:r>
            <a:endParaRPr lang="en-US" dirty="0"/>
          </a:p>
          <a:p>
            <a:r>
              <a:rPr lang="en-US" dirty="0" smtClean="0"/>
              <a:t>Example:</a:t>
            </a:r>
          </a:p>
          <a:p>
            <a:pPr marL="0" indent="0">
              <a:buNone/>
            </a:pPr>
            <a:r>
              <a:rPr lang="en-US" dirty="0"/>
              <a:t> </a:t>
            </a:r>
            <a:r>
              <a:rPr lang="en-US" dirty="0" smtClean="0"/>
              <a:t>   </a:t>
            </a:r>
            <a:r>
              <a:rPr lang="en-US" dirty="0" err="1" smtClean="0"/>
              <a:t>plt.suptitle</a:t>
            </a:r>
            <a:r>
              <a:rPr lang="en-US" dirty="0"/>
              <a:t>("MY SHOP")</a:t>
            </a:r>
            <a:endParaRPr lang="en-US" b="1" dirty="0" smtClean="0"/>
          </a:p>
        </p:txBody>
      </p:sp>
      <p:pic>
        <p:nvPicPr>
          <p:cNvPr id="4" name="Picture 3" descr="https://www.w3schools.com/python/img_matplotlib_subplots5.png"/>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743200"/>
            <a:ext cx="5943600" cy="3886200"/>
          </a:xfrm>
          <a:prstGeom prst="rect">
            <a:avLst/>
          </a:prstGeom>
          <a:noFill/>
          <a:ln>
            <a:noFill/>
          </a:ln>
        </p:spPr>
      </p:pic>
    </p:spTree>
    <p:extLst>
      <p:ext uri="{BB962C8B-B14F-4D97-AF65-F5344CB8AC3E}">
        <p14:creationId xmlns:p14="http://schemas.microsoft.com/office/powerpoint/2010/main" val="255220006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Scatter Plot</a:t>
            </a:r>
          </a:p>
        </p:txBody>
      </p:sp>
      <p:sp>
        <p:nvSpPr>
          <p:cNvPr id="3" name="Content Placeholder 2"/>
          <p:cNvSpPr>
            <a:spLocks noGrp="1"/>
          </p:cNvSpPr>
          <p:nvPr>
            <p:ph sz="quarter" idx="1"/>
          </p:nvPr>
        </p:nvSpPr>
        <p:spPr>
          <a:xfrm>
            <a:off x="457200" y="914400"/>
            <a:ext cx="7696200" cy="5562600"/>
          </a:xfrm>
        </p:spPr>
        <p:txBody>
          <a:bodyPr>
            <a:normAutofit fontScale="92500" lnSpcReduction="10000"/>
          </a:bodyPr>
          <a:lstStyle/>
          <a:p>
            <a:r>
              <a:rPr lang="en-US" dirty="0"/>
              <a:t>With </a:t>
            </a:r>
            <a:r>
              <a:rPr lang="en-US" dirty="0" err="1"/>
              <a:t>Pyplot</a:t>
            </a:r>
            <a:r>
              <a:rPr lang="en-US" dirty="0"/>
              <a:t>, you can use the scatter() function to draw a scatter plot.</a:t>
            </a:r>
          </a:p>
          <a:p>
            <a:endParaRPr lang="en-US" dirty="0"/>
          </a:p>
          <a:p>
            <a:r>
              <a:rPr lang="en-US" dirty="0" smtClean="0"/>
              <a:t>The </a:t>
            </a:r>
            <a:r>
              <a:rPr lang="en-US" dirty="0"/>
              <a:t>scatter() function plots one dot for each observation. It needs two arrays of the same length, one for the values of the x-axis, and one for values on the y-axis</a:t>
            </a:r>
            <a:r>
              <a:rPr lang="en-US" dirty="0" smtClean="0"/>
              <a:t>:</a:t>
            </a:r>
          </a:p>
          <a:p>
            <a:endParaRPr lang="en-US" b="1" dirty="0"/>
          </a:p>
          <a:p>
            <a:r>
              <a:rPr lang="en-US" dirty="0"/>
              <a:t>Example:</a:t>
            </a:r>
          </a:p>
          <a:p>
            <a:pPr marL="0" indent="0">
              <a:buNone/>
            </a:pPr>
            <a:r>
              <a:rPr lang="en-US" dirty="0"/>
              <a:t>import </a:t>
            </a:r>
            <a:r>
              <a:rPr lang="en-US" dirty="0" err="1"/>
              <a:t>matplotlib.pyplot</a:t>
            </a:r>
            <a:r>
              <a:rPr lang="en-US" dirty="0"/>
              <a:t> as </a:t>
            </a:r>
            <a:r>
              <a:rPr lang="en-US" dirty="0" err="1"/>
              <a:t>plt</a:t>
            </a:r>
            <a:endParaRPr lang="en-US" dirty="0"/>
          </a:p>
          <a:p>
            <a:pPr marL="0" indent="0">
              <a:buNone/>
            </a:pPr>
            <a:r>
              <a:rPr lang="en-US" dirty="0"/>
              <a:t>import </a:t>
            </a:r>
            <a:r>
              <a:rPr lang="en-US" dirty="0" err="1"/>
              <a:t>numpy</a:t>
            </a:r>
            <a:r>
              <a:rPr lang="en-US" dirty="0"/>
              <a:t> as </a:t>
            </a:r>
            <a:r>
              <a:rPr lang="en-US" dirty="0" err="1" smtClean="0"/>
              <a:t>np</a:t>
            </a:r>
            <a:endParaRPr lang="en-US" dirty="0"/>
          </a:p>
          <a:p>
            <a:pPr marL="0" indent="0">
              <a:buNone/>
            </a:pPr>
            <a:r>
              <a:rPr lang="en-US" dirty="0"/>
              <a:t>x = </a:t>
            </a:r>
            <a:r>
              <a:rPr lang="en-US" dirty="0" err="1"/>
              <a:t>np.array</a:t>
            </a:r>
            <a:r>
              <a:rPr lang="en-US" dirty="0"/>
              <a:t>([5,7,8,7,2,17,2,9,4,11,12,9,6])</a:t>
            </a:r>
          </a:p>
          <a:p>
            <a:pPr marL="0" indent="0">
              <a:buNone/>
            </a:pPr>
            <a:r>
              <a:rPr lang="en-US" dirty="0"/>
              <a:t>y = </a:t>
            </a:r>
            <a:r>
              <a:rPr lang="en-US" dirty="0" err="1"/>
              <a:t>np.array</a:t>
            </a:r>
            <a:r>
              <a:rPr lang="en-US" dirty="0"/>
              <a:t>([99,86,87,88,111,86,103,87,94,78,77,85,86</a:t>
            </a:r>
            <a:r>
              <a:rPr lang="en-US" dirty="0" smtClean="0"/>
              <a:t>])</a:t>
            </a:r>
            <a:endParaRPr lang="en-US" dirty="0"/>
          </a:p>
          <a:p>
            <a:pPr marL="0" indent="0">
              <a:buNone/>
            </a:pPr>
            <a:r>
              <a:rPr lang="en-US" dirty="0" err="1"/>
              <a:t>plt.scatter</a:t>
            </a:r>
            <a:r>
              <a:rPr lang="en-US" dirty="0"/>
              <a:t>(x, y)</a:t>
            </a:r>
          </a:p>
          <a:p>
            <a:pPr marL="0" indent="0">
              <a:buNone/>
            </a:pPr>
            <a:r>
              <a:rPr lang="en-US" dirty="0" err="1"/>
              <a:t>plt.show</a:t>
            </a:r>
            <a:r>
              <a:rPr lang="en-US" dirty="0"/>
              <a:t>()</a:t>
            </a:r>
          </a:p>
          <a:p>
            <a:endParaRPr lang="en-US" b="1" dirty="0" smtClean="0"/>
          </a:p>
        </p:txBody>
      </p:sp>
    </p:spTree>
    <p:extLst>
      <p:ext uri="{BB962C8B-B14F-4D97-AF65-F5344CB8AC3E}">
        <p14:creationId xmlns:p14="http://schemas.microsoft.com/office/powerpoint/2010/main" val="85958870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Scatter Plot</a:t>
            </a:r>
            <a:endParaRPr lang="en-US" sz="3600" b="1" dirty="0"/>
          </a:p>
        </p:txBody>
      </p:sp>
      <p:pic>
        <p:nvPicPr>
          <p:cNvPr id="5" name="Picture 4" descr="https://www.w3schools.com/python/img_matplotlib_scatter.png"/>
          <p:cNvPicPr/>
          <p:nvPr/>
        </p:nvPicPr>
        <p:blipFill>
          <a:blip r:embed="rId2">
            <a:extLst>
              <a:ext uri="{28A0092B-C50C-407E-A947-70E740481C1C}">
                <a14:useLocalDpi xmlns:a14="http://schemas.microsoft.com/office/drawing/2010/main" val="0"/>
              </a:ext>
            </a:extLst>
          </a:blip>
          <a:srcRect/>
          <a:stretch>
            <a:fillRect/>
          </a:stretch>
        </p:blipFill>
        <p:spPr bwMode="auto">
          <a:xfrm>
            <a:off x="533400" y="762000"/>
            <a:ext cx="7620000" cy="5808980"/>
          </a:xfrm>
          <a:prstGeom prst="rect">
            <a:avLst/>
          </a:prstGeom>
          <a:noFill/>
          <a:ln>
            <a:noFill/>
          </a:ln>
        </p:spPr>
      </p:pic>
    </p:spTree>
    <p:extLst>
      <p:ext uri="{BB962C8B-B14F-4D97-AF65-F5344CB8AC3E}">
        <p14:creationId xmlns:p14="http://schemas.microsoft.com/office/powerpoint/2010/main" val="363120163"/>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Scatter Plot</a:t>
            </a:r>
          </a:p>
        </p:txBody>
      </p:sp>
      <p:sp>
        <p:nvSpPr>
          <p:cNvPr id="3" name="Content Placeholder 2"/>
          <p:cNvSpPr>
            <a:spLocks noGrp="1"/>
          </p:cNvSpPr>
          <p:nvPr>
            <p:ph sz="quarter" idx="1"/>
          </p:nvPr>
        </p:nvSpPr>
        <p:spPr>
          <a:xfrm>
            <a:off x="457200" y="914400"/>
            <a:ext cx="7696200" cy="5562600"/>
          </a:xfrm>
        </p:spPr>
        <p:txBody>
          <a:bodyPr>
            <a:normAutofit/>
          </a:bodyPr>
          <a:lstStyle/>
          <a:p>
            <a:r>
              <a:rPr lang="en-US" dirty="0"/>
              <a:t>The observation in the example above is the result of 13 cars passing by</a:t>
            </a:r>
            <a:r>
              <a:rPr lang="en-US" dirty="0" smtClean="0"/>
              <a:t>.</a:t>
            </a:r>
            <a:endParaRPr lang="en-US" dirty="0"/>
          </a:p>
          <a:p>
            <a:r>
              <a:rPr lang="en-US" dirty="0"/>
              <a:t>The X-axis shows how old the car is</a:t>
            </a:r>
            <a:r>
              <a:rPr lang="en-US" dirty="0" smtClean="0"/>
              <a:t>.</a:t>
            </a:r>
            <a:endParaRPr lang="en-US" dirty="0"/>
          </a:p>
          <a:p>
            <a:r>
              <a:rPr lang="en-US" dirty="0"/>
              <a:t>The Y-axis shows the speed of the car when it passes</a:t>
            </a:r>
            <a:r>
              <a:rPr lang="en-US" dirty="0" smtClean="0"/>
              <a:t>.</a:t>
            </a:r>
            <a:endParaRPr lang="en-US" dirty="0"/>
          </a:p>
          <a:p>
            <a:r>
              <a:rPr lang="en-US" dirty="0"/>
              <a:t>Are there any relationships between the observations</a:t>
            </a:r>
            <a:r>
              <a:rPr lang="en-US" dirty="0" smtClean="0"/>
              <a:t>?</a:t>
            </a:r>
            <a:endParaRPr lang="en-US" dirty="0"/>
          </a:p>
          <a:p>
            <a:r>
              <a:rPr lang="en-US" dirty="0"/>
              <a:t>It seems that the newer the car, the faster it drives, but that could be a coincidence, after all we only registered 13 cars.</a:t>
            </a:r>
            <a:endParaRPr lang="en-US" b="1" dirty="0" smtClean="0"/>
          </a:p>
        </p:txBody>
      </p:sp>
    </p:spTree>
    <p:extLst>
      <p:ext uri="{BB962C8B-B14F-4D97-AF65-F5344CB8AC3E}">
        <p14:creationId xmlns:p14="http://schemas.microsoft.com/office/powerpoint/2010/main" val="291572418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700"/>
            <a:ext cx="7467600" cy="685800"/>
          </a:xfrm>
        </p:spPr>
        <p:txBody>
          <a:bodyPr>
            <a:normAutofit/>
          </a:bodyPr>
          <a:lstStyle/>
          <a:p>
            <a:pPr algn="ctr"/>
            <a:r>
              <a:rPr lang="en-US" sz="3600" b="1" dirty="0"/>
              <a:t>Compare Plots</a:t>
            </a:r>
          </a:p>
        </p:txBody>
      </p:sp>
      <p:sp>
        <p:nvSpPr>
          <p:cNvPr id="3" name="Content Placeholder 2"/>
          <p:cNvSpPr>
            <a:spLocks noGrp="1"/>
          </p:cNvSpPr>
          <p:nvPr>
            <p:ph sz="quarter" idx="1"/>
          </p:nvPr>
        </p:nvSpPr>
        <p:spPr>
          <a:xfrm>
            <a:off x="457200" y="685800"/>
            <a:ext cx="7696200" cy="6019800"/>
          </a:xfrm>
        </p:spPr>
        <p:txBody>
          <a:bodyPr>
            <a:normAutofit fontScale="85000" lnSpcReduction="20000"/>
          </a:bodyPr>
          <a:lstStyle/>
          <a:p>
            <a:r>
              <a:rPr lang="en-US" dirty="0"/>
              <a:t>In the example above, there seems to be a relationship between speed and age, but what if we plot the observations from another day as well? Will the scatter plot tell us something else</a:t>
            </a:r>
            <a:r>
              <a:rPr lang="en-US" dirty="0" smtClean="0"/>
              <a:t>?</a:t>
            </a:r>
            <a:endParaRPr lang="en-US" dirty="0"/>
          </a:p>
          <a:p>
            <a:r>
              <a:rPr lang="en-US" dirty="0" smtClean="0"/>
              <a:t>Example</a:t>
            </a:r>
            <a:r>
              <a:rPr lang="en-US" dirty="0"/>
              <a:t>:</a:t>
            </a:r>
          </a:p>
          <a:p>
            <a:pPr marL="0" indent="0">
              <a:buNone/>
            </a:pPr>
            <a:r>
              <a:rPr lang="en-US" dirty="0"/>
              <a:t>import </a:t>
            </a:r>
            <a:r>
              <a:rPr lang="en-US" dirty="0" err="1"/>
              <a:t>matplotlib.pyplot</a:t>
            </a:r>
            <a:r>
              <a:rPr lang="en-US" dirty="0"/>
              <a:t> as </a:t>
            </a:r>
            <a:r>
              <a:rPr lang="en-US" dirty="0" err="1"/>
              <a:t>plt</a:t>
            </a:r>
            <a:endParaRPr lang="en-US" dirty="0"/>
          </a:p>
          <a:p>
            <a:pPr marL="0" indent="0">
              <a:buNone/>
            </a:pPr>
            <a:r>
              <a:rPr lang="en-US" dirty="0"/>
              <a:t>import </a:t>
            </a:r>
            <a:r>
              <a:rPr lang="en-US" dirty="0" err="1"/>
              <a:t>numpy</a:t>
            </a:r>
            <a:r>
              <a:rPr lang="en-US" dirty="0"/>
              <a:t> as </a:t>
            </a:r>
            <a:r>
              <a:rPr lang="en-US" dirty="0" err="1"/>
              <a:t>np</a:t>
            </a:r>
            <a:endParaRPr lang="en-US" dirty="0"/>
          </a:p>
          <a:p>
            <a:endParaRPr lang="en-US" dirty="0"/>
          </a:p>
          <a:p>
            <a:pPr marL="0" indent="0">
              <a:buNone/>
            </a:pPr>
            <a:r>
              <a:rPr lang="en-US" dirty="0"/>
              <a:t>#day one, the age and speed of 13 cars:</a:t>
            </a:r>
          </a:p>
          <a:p>
            <a:pPr marL="0" indent="0">
              <a:buNone/>
            </a:pPr>
            <a:r>
              <a:rPr lang="en-US" dirty="0"/>
              <a:t>x = </a:t>
            </a:r>
            <a:r>
              <a:rPr lang="en-US" dirty="0" err="1"/>
              <a:t>np.array</a:t>
            </a:r>
            <a:r>
              <a:rPr lang="en-US" dirty="0"/>
              <a:t>([5,7,8,7,2,17,2,9,4,11,12,9,6])</a:t>
            </a:r>
          </a:p>
          <a:p>
            <a:pPr marL="0" indent="0">
              <a:buNone/>
            </a:pPr>
            <a:r>
              <a:rPr lang="en-US" dirty="0"/>
              <a:t>y = </a:t>
            </a:r>
            <a:r>
              <a:rPr lang="en-US" dirty="0" err="1"/>
              <a:t>np.array</a:t>
            </a:r>
            <a:r>
              <a:rPr lang="en-US" dirty="0"/>
              <a:t>([99,86,87,88,111,86,103,87,94,78,77,85,86])</a:t>
            </a:r>
          </a:p>
          <a:p>
            <a:pPr marL="0" indent="0">
              <a:buNone/>
            </a:pPr>
            <a:r>
              <a:rPr lang="en-US" dirty="0" err="1"/>
              <a:t>plt.scatter</a:t>
            </a:r>
            <a:r>
              <a:rPr lang="en-US" dirty="0"/>
              <a:t>(x, y)</a:t>
            </a:r>
          </a:p>
          <a:p>
            <a:endParaRPr lang="en-US" dirty="0"/>
          </a:p>
          <a:p>
            <a:pPr marL="0" indent="0">
              <a:buNone/>
            </a:pPr>
            <a:r>
              <a:rPr lang="en-US" dirty="0"/>
              <a:t>#day two, the age and speed of 15 cars:</a:t>
            </a:r>
          </a:p>
          <a:p>
            <a:pPr marL="0" indent="0">
              <a:buNone/>
            </a:pPr>
            <a:r>
              <a:rPr lang="en-US" dirty="0"/>
              <a:t>x = </a:t>
            </a:r>
            <a:r>
              <a:rPr lang="en-US" dirty="0" err="1"/>
              <a:t>np.array</a:t>
            </a:r>
            <a:r>
              <a:rPr lang="en-US" dirty="0"/>
              <a:t>([2,2,8,1,15,8,12,9,7,3,11,4,7,14,12])</a:t>
            </a:r>
          </a:p>
          <a:p>
            <a:pPr marL="0" indent="0">
              <a:buNone/>
            </a:pPr>
            <a:r>
              <a:rPr lang="en-US" dirty="0"/>
              <a:t>y = </a:t>
            </a:r>
            <a:r>
              <a:rPr lang="en-US" dirty="0" err="1"/>
              <a:t>np.array</a:t>
            </a:r>
            <a:r>
              <a:rPr lang="en-US" dirty="0"/>
              <a:t>([100,105,84,105,90,99,90,95,94,100,79,112,91,80,85])</a:t>
            </a:r>
          </a:p>
          <a:p>
            <a:pPr marL="0" indent="0">
              <a:buNone/>
            </a:pPr>
            <a:r>
              <a:rPr lang="en-US" dirty="0" err="1"/>
              <a:t>plt.scatter</a:t>
            </a:r>
            <a:r>
              <a:rPr lang="en-US" dirty="0"/>
              <a:t>(x, y</a:t>
            </a:r>
            <a:r>
              <a:rPr lang="en-US" dirty="0" smtClean="0"/>
              <a:t>)</a:t>
            </a:r>
            <a:endParaRPr lang="en-US" dirty="0"/>
          </a:p>
          <a:p>
            <a:pPr marL="0" indent="0">
              <a:buNone/>
            </a:pPr>
            <a:r>
              <a:rPr lang="en-US" dirty="0" err="1"/>
              <a:t>plt.show</a:t>
            </a:r>
            <a:r>
              <a:rPr lang="en-US" dirty="0"/>
              <a:t>()</a:t>
            </a:r>
            <a:endParaRPr lang="en-US" b="1" dirty="0" smtClean="0"/>
          </a:p>
        </p:txBody>
      </p:sp>
    </p:spTree>
    <p:extLst>
      <p:ext uri="{BB962C8B-B14F-4D97-AF65-F5344CB8AC3E}">
        <p14:creationId xmlns:p14="http://schemas.microsoft.com/office/powerpoint/2010/main" val="340386771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Compare Plot</a:t>
            </a:r>
            <a:endParaRPr lang="en-US" sz="3600" b="1" dirty="0"/>
          </a:p>
        </p:txBody>
      </p:sp>
      <p:pic>
        <p:nvPicPr>
          <p:cNvPr id="4" name="Picture 3" descr="https://www.w3schools.com/python/img_matplotlib_scatter_compare.png"/>
          <p:cNvPicPr/>
          <p:nvPr/>
        </p:nvPicPr>
        <p:blipFill>
          <a:blip r:embed="rId2">
            <a:extLst>
              <a:ext uri="{28A0092B-C50C-407E-A947-70E740481C1C}">
                <a14:useLocalDpi xmlns:a14="http://schemas.microsoft.com/office/drawing/2010/main" val="0"/>
              </a:ext>
            </a:extLst>
          </a:blip>
          <a:srcRect/>
          <a:stretch>
            <a:fillRect/>
          </a:stretch>
        </p:blipFill>
        <p:spPr bwMode="auto">
          <a:xfrm>
            <a:off x="381000" y="762000"/>
            <a:ext cx="7772400" cy="5648325"/>
          </a:xfrm>
          <a:prstGeom prst="rect">
            <a:avLst/>
          </a:prstGeom>
          <a:noFill/>
          <a:ln>
            <a:noFill/>
          </a:ln>
        </p:spPr>
      </p:pic>
    </p:spTree>
    <p:extLst>
      <p:ext uri="{BB962C8B-B14F-4D97-AF65-F5344CB8AC3E}">
        <p14:creationId xmlns:p14="http://schemas.microsoft.com/office/powerpoint/2010/main" val="4171558045"/>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400"/>
            <a:ext cx="7467600" cy="685800"/>
          </a:xfrm>
        </p:spPr>
        <p:txBody>
          <a:bodyPr>
            <a:normAutofit/>
          </a:bodyPr>
          <a:lstStyle/>
          <a:p>
            <a:pPr algn="ctr"/>
            <a:r>
              <a:rPr lang="en-US" sz="3600" b="1" dirty="0"/>
              <a:t>Colors</a:t>
            </a:r>
          </a:p>
        </p:txBody>
      </p:sp>
      <p:sp>
        <p:nvSpPr>
          <p:cNvPr id="3" name="Content Placeholder 2"/>
          <p:cNvSpPr>
            <a:spLocks noGrp="1"/>
          </p:cNvSpPr>
          <p:nvPr>
            <p:ph sz="quarter" idx="1"/>
          </p:nvPr>
        </p:nvSpPr>
        <p:spPr>
          <a:xfrm>
            <a:off x="457200" y="685800"/>
            <a:ext cx="7696200" cy="1828800"/>
          </a:xfrm>
        </p:spPr>
        <p:txBody>
          <a:bodyPr>
            <a:normAutofit/>
          </a:bodyPr>
          <a:lstStyle/>
          <a:p>
            <a:r>
              <a:rPr lang="en-US" dirty="0"/>
              <a:t>You can set your own color for each scatter plot with the color or the c argument</a:t>
            </a:r>
            <a:r>
              <a:rPr lang="en-US" dirty="0" smtClean="0"/>
              <a:t>:</a:t>
            </a:r>
            <a:endParaRPr lang="en-US" dirty="0"/>
          </a:p>
          <a:p>
            <a:r>
              <a:rPr lang="en-US" dirty="0" err="1" smtClean="0"/>
              <a:t>plt.scatter</a:t>
            </a:r>
            <a:r>
              <a:rPr lang="en-US" dirty="0" smtClean="0"/>
              <a:t>(x</a:t>
            </a:r>
            <a:r>
              <a:rPr lang="en-US" dirty="0"/>
              <a:t>, y, color = '</a:t>
            </a:r>
            <a:r>
              <a:rPr lang="en-US" dirty="0" err="1"/>
              <a:t>hotpink</a:t>
            </a:r>
            <a:r>
              <a:rPr lang="en-US" dirty="0"/>
              <a:t>')</a:t>
            </a:r>
          </a:p>
          <a:p>
            <a:pPr marL="0" indent="0">
              <a:buNone/>
            </a:pPr>
            <a:r>
              <a:rPr lang="en-US" dirty="0" smtClean="0"/>
              <a:t>    </a:t>
            </a:r>
            <a:r>
              <a:rPr lang="en-US" dirty="0" err="1" smtClean="0"/>
              <a:t>plt.scatter</a:t>
            </a:r>
            <a:r>
              <a:rPr lang="en-US" dirty="0" smtClean="0"/>
              <a:t>(x</a:t>
            </a:r>
            <a:r>
              <a:rPr lang="en-US" dirty="0"/>
              <a:t>, y, color = '#88c999')</a:t>
            </a:r>
            <a:endParaRPr lang="en-US" dirty="0" smtClean="0"/>
          </a:p>
        </p:txBody>
      </p:sp>
      <p:sp>
        <p:nvSpPr>
          <p:cNvPr id="4" name="Title 1"/>
          <p:cNvSpPr txBox="1">
            <a:spLocks/>
          </p:cNvSpPr>
          <p:nvPr/>
        </p:nvSpPr>
        <p:spPr>
          <a:xfrm>
            <a:off x="609600" y="2590800"/>
            <a:ext cx="7467600" cy="685800"/>
          </a:xfrm>
          <a:prstGeom prst="rect">
            <a:avLst/>
          </a:prstGeom>
        </p:spPr>
        <p:txBody>
          <a:bodyPr vert="horz" anchor="b">
            <a:norm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sz="3600" b="1" dirty="0" smtClean="0"/>
              <a:t>Color </a:t>
            </a:r>
            <a:r>
              <a:rPr lang="en-US" sz="3600" b="1" dirty="0"/>
              <a:t>Each </a:t>
            </a:r>
            <a:r>
              <a:rPr lang="en-US" sz="3600" b="1" dirty="0" smtClean="0"/>
              <a:t>Dot</a:t>
            </a:r>
            <a:endParaRPr lang="en-US" sz="3600" b="1" dirty="0"/>
          </a:p>
        </p:txBody>
      </p:sp>
      <p:sp>
        <p:nvSpPr>
          <p:cNvPr id="5" name="Content Placeholder 2"/>
          <p:cNvSpPr txBox="1">
            <a:spLocks/>
          </p:cNvSpPr>
          <p:nvPr/>
        </p:nvSpPr>
        <p:spPr>
          <a:xfrm>
            <a:off x="609600" y="3352800"/>
            <a:ext cx="7696200" cy="3124200"/>
          </a:xfrm>
          <a:prstGeom prst="rect">
            <a:avLst/>
          </a:prstGeom>
        </p:spPr>
        <p:txBody>
          <a:bodyPr vert="horz">
            <a:normAutofit fontScale="92500" lnSpcReduction="2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en-US" dirty="0"/>
              <a:t>You can even set a specific color for each dot by using an array of colors as value for the c argument</a:t>
            </a:r>
            <a:r>
              <a:rPr lang="en-US" dirty="0" smtClean="0"/>
              <a:t>:</a:t>
            </a:r>
            <a:endParaRPr lang="en-US" dirty="0"/>
          </a:p>
          <a:p>
            <a:r>
              <a:rPr lang="en-US" dirty="0" smtClean="0"/>
              <a:t>Example</a:t>
            </a:r>
            <a:r>
              <a:rPr lang="en-US" dirty="0"/>
              <a:t>:</a:t>
            </a:r>
          </a:p>
          <a:p>
            <a:pPr marL="0" indent="0">
              <a:buNone/>
            </a:pPr>
            <a:r>
              <a:rPr lang="en-US" dirty="0"/>
              <a:t>x = </a:t>
            </a:r>
            <a:r>
              <a:rPr lang="en-US" dirty="0" err="1"/>
              <a:t>np.array</a:t>
            </a:r>
            <a:r>
              <a:rPr lang="en-US" dirty="0"/>
              <a:t>([5,7,8,7,2,17,2,9,4,11,12,9,6])</a:t>
            </a:r>
          </a:p>
          <a:p>
            <a:pPr marL="0" indent="0">
              <a:buNone/>
            </a:pPr>
            <a:r>
              <a:rPr lang="en-US" dirty="0"/>
              <a:t>y = </a:t>
            </a:r>
            <a:r>
              <a:rPr lang="en-US" dirty="0" err="1"/>
              <a:t>np.array</a:t>
            </a:r>
            <a:r>
              <a:rPr lang="en-US" dirty="0"/>
              <a:t>([99,86,87,88,111,86,103,87,94,78,77,85,86])</a:t>
            </a:r>
          </a:p>
          <a:p>
            <a:pPr marL="0" indent="0">
              <a:buNone/>
            </a:pPr>
            <a:r>
              <a:rPr lang="en-US" dirty="0"/>
              <a:t>colors = </a:t>
            </a:r>
            <a:r>
              <a:rPr lang="en-US" dirty="0" err="1"/>
              <a:t>np.array</a:t>
            </a:r>
            <a:r>
              <a:rPr lang="en-US" dirty="0"/>
              <a:t>(["red","green","blue","yellow","pink","black","orange","purple","beige","brown","gray","cyan","magenta</a:t>
            </a:r>
            <a:r>
              <a:rPr lang="en-US" dirty="0" smtClean="0"/>
              <a:t>"])</a:t>
            </a:r>
            <a:endParaRPr lang="en-US" dirty="0"/>
          </a:p>
          <a:p>
            <a:pPr marL="0" indent="0">
              <a:buNone/>
            </a:pPr>
            <a:r>
              <a:rPr lang="en-US" dirty="0" err="1"/>
              <a:t>plt.scatter</a:t>
            </a:r>
            <a:r>
              <a:rPr lang="en-US" dirty="0"/>
              <a:t>(x, y, c=colors)</a:t>
            </a:r>
            <a:endParaRPr lang="en-US" dirty="0" smtClean="0"/>
          </a:p>
        </p:txBody>
      </p:sp>
    </p:spTree>
    <p:extLst>
      <p:ext uri="{BB962C8B-B14F-4D97-AF65-F5344CB8AC3E}">
        <p14:creationId xmlns:p14="http://schemas.microsoft.com/office/powerpoint/2010/main" val="3973862930"/>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Bar Graph</a:t>
            </a:r>
          </a:p>
        </p:txBody>
      </p:sp>
      <p:sp>
        <p:nvSpPr>
          <p:cNvPr id="3" name="Content Placeholder 2"/>
          <p:cNvSpPr>
            <a:spLocks noGrp="1"/>
          </p:cNvSpPr>
          <p:nvPr>
            <p:ph sz="quarter" idx="1"/>
          </p:nvPr>
        </p:nvSpPr>
        <p:spPr>
          <a:xfrm>
            <a:off x="457200" y="914400"/>
            <a:ext cx="7696200" cy="5562600"/>
          </a:xfrm>
        </p:spPr>
        <p:txBody>
          <a:bodyPr>
            <a:normAutofit/>
          </a:bodyPr>
          <a:lstStyle/>
          <a:p>
            <a:r>
              <a:rPr lang="en-US" dirty="0"/>
              <a:t>With </a:t>
            </a:r>
            <a:r>
              <a:rPr lang="en-US" dirty="0" err="1"/>
              <a:t>Pyplot</a:t>
            </a:r>
            <a:r>
              <a:rPr lang="en-US" dirty="0"/>
              <a:t>, you can use the </a:t>
            </a:r>
            <a:r>
              <a:rPr lang="en-US" b="1" dirty="0"/>
              <a:t>bar()</a:t>
            </a:r>
            <a:r>
              <a:rPr lang="en-US" dirty="0"/>
              <a:t> function to draw bar graphs</a:t>
            </a:r>
            <a:r>
              <a:rPr lang="en-US" dirty="0" smtClean="0"/>
              <a:t>:</a:t>
            </a:r>
          </a:p>
          <a:p>
            <a:r>
              <a:rPr lang="en-US" dirty="0"/>
              <a:t>The bar() function takes arguments that describes the layout of the bars</a:t>
            </a:r>
            <a:r>
              <a:rPr lang="en-US" dirty="0" smtClean="0"/>
              <a:t>.</a:t>
            </a:r>
            <a:endParaRPr lang="en-US" dirty="0"/>
          </a:p>
          <a:p>
            <a:r>
              <a:rPr lang="en-US" dirty="0"/>
              <a:t>The categories and their values represented by the first and second argument as arrays</a:t>
            </a:r>
            <a:r>
              <a:rPr lang="en-US" dirty="0" smtClean="0"/>
              <a:t>.</a:t>
            </a:r>
            <a:endParaRPr lang="en-US" dirty="0"/>
          </a:p>
          <a:p>
            <a:r>
              <a:rPr lang="en-US" dirty="0" smtClean="0"/>
              <a:t>Example</a:t>
            </a:r>
            <a:r>
              <a:rPr lang="en-US" dirty="0"/>
              <a:t>:</a:t>
            </a:r>
          </a:p>
          <a:p>
            <a:pPr marL="0" indent="0">
              <a:buNone/>
            </a:pPr>
            <a:r>
              <a:rPr lang="en-US" dirty="0"/>
              <a:t>import </a:t>
            </a:r>
            <a:r>
              <a:rPr lang="en-US" dirty="0" err="1"/>
              <a:t>matplotlib.pyplot</a:t>
            </a:r>
            <a:r>
              <a:rPr lang="en-US" dirty="0"/>
              <a:t> as </a:t>
            </a:r>
            <a:r>
              <a:rPr lang="en-US" dirty="0" err="1"/>
              <a:t>plt</a:t>
            </a:r>
            <a:endParaRPr lang="en-US" dirty="0"/>
          </a:p>
          <a:p>
            <a:pPr marL="0" indent="0">
              <a:buNone/>
            </a:pPr>
            <a:r>
              <a:rPr lang="en-US" dirty="0"/>
              <a:t>import </a:t>
            </a:r>
            <a:r>
              <a:rPr lang="en-US" dirty="0" err="1"/>
              <a:t>numpy</a:t>
            </a:r>
            <a:r>
              <a:rPr lang="en-US" dirty="0"/>
              <a:t> as </a:t>
            </a:r>
            <a:r>
              <a:rPr lang="en-US" dirty="0" err="1" smtClean="0"/>
              <a:t>np</a:t>
            </a:r>
            <a:endParaRPr lang="en-US" dirty="0"/>
          </a:p>
          <a:p>
            <a:pPr marL="0" indent="0">
              <a:buNone/>
            </a:pPr>
            <a:r>
              <a:rPr lang="en-US" dirty="0"/>
              <a:t>x = </a:t>
            </a:r>
            <a:r>
              <a:rPr lang="en-US" dirty="0" err="1"/>
              <a:t>np.array</a:t>
            </a:r>
            <a:r>
              <a:rPr lang="en-US" dirty="0"/>
              <a:t>(["A", "B", "C", "D"])</a:t>
            </a:r>
          </a:p>
          <a:p>
            <a:pPr marL="0" indent="0">
              <a:buNone/>
            </a:pPr>
            <a:r>
              <a:rPr lang="en-US" dirty="0"/>
              <a:t>y = </a:t>
            </a:r>
            <a:r>
              <a:rPr lang="en-US" dirty="0" err="1"/>
              <a:t>np.array</a:t>
            </a:r>
            <a:r>
              <a:rPr lang="en-US" dirty="0"/>
              <a:t>([3, 8, 1, 10</a:t>
            </a:r>
            <a:r>
              <a:rPr lang="en-US" dirty="0" smtClean="0"/>
              <a:t>])</a:t>
            </a:r>
            <a:endParaRPr lang="en-US" dirty="0"/>
          </a:p>
          <a:p>
            <a:pPr marL="0" indent="0">
              <a:buNone/>
            </a:pPr>
            <a:r>
              <a:rPr lang="en-US" dirty="0" err="1"/>
              <a:t>plt.bar</a:t>
            </a:r>
            <a:r>
              <a:rPr lang="en-US" dirty="0"/>
              <a:t>(</a:t>
            </a:r>
            <a:r>
              <a:rPr lang="en-US" dirty="0" err="1"/>
              <a:t>x,y</a:t>
            </a:r>
            <a:r>
              <a:rPr lang="en-US" dirty="0"/>
              <a:t>)</a:t>
            </a:r>
          </a:p>
          <a:p>
            <a:pPr marL="0" indent="0">
              <a:buNone/>
            </a:pPr>
            <a:r>
              <a:rPr lang="en-US" dirty="0" err="1"/>
              <a:t>plt.show</a:t>
            </a:r>
            <a:r>
              <a:rPr lang="en-US" dirty="0"/>
              <a:t>()</a:t>
            </a:r>
            <a:endParaRPr lang="en-US" b="1" dirty="0" smtClean="0"/>
          </a:p>
        </p:txBody>
      </p:sp>
    </p:spTree>
    <p:extLst>
      <p:ext uri="{BB962C8B-B14F-4D97-AF65-F5344CB8AC3E}">
        <p14:creationId xmlns:p14="http://schemas.microsoft.com/office/powerpoint/2010/main" val="308859541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Bar Graph</a:t>
            </a:r>
            <a:endParaRPr lang="en-US" sz="3600" b="1" dirty="0"/>
          </a:p>
        </p:txBody>
      </p:sp>
      <p:pic>
        <p:nvPicPr>
          <p:cNvPr id="5" name="Picture 4" descr="https://www.w3schools.com/python/img_matplotlib_bars1.png"/>
          <p:cNvPicPr/>
          <p:nvPr/>
        </p:nvPicPr>
        <p:blipFill>
          <a:blip r:embed="rId2">
            <a:extLst>
              <a:ext uri="{28A0092B-C50C-407E-A947-70E740481C1C}">
                <a14:useLocalDpi xmlns:a14="http://schemas.microsoft.com/office/drawing/2010/main" val="0"/>
              </a:ext>
            </a:extLst>
          </a:blip>
          <a:srcRect/>
          <a:stretch>
            <a:fillRect/>
          </a:stretch>
        </p:blipFill>
        <p:spPr bwMode="auto">
          <a:xfrm>
            <a:off x="533400" y="762000"/>
            <a:ext cx="7543800" cy="5800725"/>
          </a:xfrm>
          <a:prstGeom prst="rect">
            <a:avLst/>
          </a:prstGeom>
          <a:noFill/>
          <a:ln>
            <a:noFill/>
          </a:ln>
        </p:spPr>
      </p:pic>
    </p:spTree>
    <p:extLst>
      <p:ext uri="{BB962C8B-B14F-4D97-AF65-F5344CB8AC3E}">
        <p14:creationId xmlns:p14="http://schemas.microsoft.com/office/powerpoint/2010/main" val="3231043541"/>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Horizontal Bar graph</a:t>
            </a:r>
          </a:p>
        </p:txBody>
      </p:sp>
      <p:sp>
        <p:nvSpPr>
          <p:cNvPr id="3" name="Content Placeholder 2"/>
          <p:cNvSpPr>
            <a:spLocks noGrp="1"/>
          </p:cNvSpPr>
          <p:nvPr>
            <p:ph sz="quarter" idx="1"/>
          </p:nvPr>
        </p:nvSpPr>
        <p:spPr>
          <a:xfrm>
            <a:off x="457200" y="914400"/>
            <a:ext cx="7696200" cy="5562600"/>
          </a:xfrm>
        </p:spPr>
        <p:txBody>
          <a:bodyPr>
            <a:normAutofit/>
          </a:bodyPr>
          <a:lstStyle/>
          <a:p>
            <a:r>
              <a:rPr lang="en-US" dirty="0"/>
              <a:t>If you want the bars to be displayed horizontally instead of vertically, use the </a:t>
            </a:r>
            <a:r>
              <a:rPr lang="en-US" b="1" dirty="0" err="1"/>
              <a:t>barh</a:t>
            </a:r>
            <a:r>
              <a:rPr lang="en-US" b="1" dirty="0"/>
              <a:t>()</a:t>
            </a:r>
            <a:r>
              <a:rPr lang="en-US" dirty="0"/>
              <a:t> function:</a:t>
            </a:r>
          </a:p>
          <a:p>
            <a:pPr marL="0" indent="0">
              <a:buNone/>
            </a:pPr>
            <a:endParaRPr lang="en-US" dirty="0"/>
          </a:p>
          <a:p>
            <a:r>
              <a:rPr lang="en-US" dirty="0" smtClean="0"/>
              <a:t>Example</a:t>
            </a:r>
            <a:r>
              <a:rPr lang="en-US" dirty="0"/>
              <a:t>:</a:t>
            </a:r>
          </a:p>
          <a:p>
            <a:pPr marL="0" indent="0">
              <a:buNone/>
            </a:pPr>
            <a:r>
              <a:rPr lang="en-US" dirty="0"/>
              <a:t>import </a:t>
            </a:r>
            <a:r>
              <a:rPr lang="en-US" dirty="0" err="1"/>
              <a:t>matplotlib.pyplot</a:t>
            </a:r>
            <a:r>
              <a:rPr lang="en-US" dirty="0"/>
              <a:t> as </a:t>
            </a:r>
            <a:r>
              <a:rPr lang="en-US" dirty="0" err="1"/>
              <a:t>plt</a:t>
            </a:r>
            <a:endParaRPr lang="en-US" dirty="0"/>
          </a:p>
          <a:p>
            <a:pPr marL="0" indent="0">
              <a:buNone/>
            </a:pPr>
            <a:r>
              <a:rPr lang="en-US" dirty="0"/>
              <a:t>import </a:t>
            </a:r>
            <a:r>
              <a:rPr lang="en-US" dirty="0" err="1"/>
              <a:t>numpy</a:t>
            </a:r>
            <a:r>
              <a:rPr lang="en-US" dirty="0"/>
              <a:t> as </a:t>
            </a:r>
            <a:r>
              <a:rPr lang="en-US" dirty="0" err="1" smtClean="0"/>
              <a:t>np</a:t>
            </a:r>
            <a:endParaRPr lang="en-US" dirty="0"/>
          </a:p>
          <a:p>
            <a:pPr marL="0" indent="0">
              <a:buNone/>
            </a:pPr>
            <a:r>
              <a:rPr lang="en-US" dirty="0"/>
              <a:t>x = </a:t>
            </a:r>
            <a:r>
              <a:rPr lang="en-US" dirty="0" err="1"/>
              <a:t>np.array</a:t>
            </a:r>
            <a:r>
              <a:rPr lang="en-US" dirty="0"/>
              <a:t>(["A", "B", "C", "D"])</a:t>
            </a:r>
          </a:p>
          <a:p>
            <a:pPr marL="0" indent="0">
              <a:buNone/>
            </a:pPr>
            <a:r>
              <a:rPr lang="en-US" dirty="0"/>
              <a:t>y = </a:t>
            </a:r>
            <a:r>
              <a:rPr lang="en-US" dirty="0" err="1"/>
              <a:t>np.array</a:t>
            </a:r>
            <a:r>
              <a:rPr lang="en-US" dirty="0"/>
              <a:t>([3, 8, 1, 10</a:t>
            </a:r>
            <a:r>
              <a:rPr lang="en-US" dirty="0" smtClean="0"/>
              <a:t>])</a:t>
            </a:r>
            <a:endParaRPr lang="en-US" dirty="0"/>
          </a:p>
          <a:p>
            <a:pPr marL="0" indent="0">
              <a:buNone/>
            </a:pPr>
            <a:r>
              <a:rPr lang="en-US" dirty="0" err="1"/>
              <a:t>plt.barh</a:t>
            </a:r>
            <a:r>
              <a:rPr lang="en-US" dirty="0"/>
              <a:t>(x, y)</a:t>
            </a:r>
          </a:p>
          <a:p>
            <a:pPr marL="0" indent="0">
              <a:buNone/>
            </a:pPr>
            <a:r>
              <a:rPr lang="en-US" dirty="0" err="1"/>
              <a:t>plt.show</a:t>
            </a:r>
            <a:r>
              <a:rPr lang="en-US" dirty="0"/>
              <a:t>()</a:t>
            </a:r>
            <a:endParaRPr lang="en-US" b="1" dirty="0" smtClean="0"/>
          </a:p>
        </p:txBody>
      </p:sp>
    </p:spTree>
    <p:extLst>
      <p:ext uri="{BB962C8B-B14F-4D97-AF65-F5344CB8AC3E}">
        <p14:creationId xmlns:p14="http://schemas.microsoft.com/office/powerpoint/2010/main" val="2607326019"/>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Horizontal Bar Graph</a:t>
            </a:r>
            <a:endParaRPr lang="en-US" sz="3600" b="1" dirty="0"/>
          </a:p>
        </p:txBody>
      </p:sp>
      <p:pic>
        <p:nvPicPr>
          <p:cNvPr id="4" name="Picture 3" descr="https://www.w3schools.com/python/img_matplotlib_bars2.png"/>
          <p:cNvPicPr/>
          <p:nvPr/>
        </p:nvPicPr>
        <p:blipFill>
          <a:blip r:embed="rId2">
            <a:extLst>
              <a:ext uri="{28A0092B-C50C-407E-A947-70E740481C1C}">
                <a14:useLocalDpi xmlns:a14="http://schemas.microsoft.com/office/drawing/2010/main" val="0"/>
              </a:ext>
            </a:extLst>
          </a:blip>
          <a:srcRect/>
          <a:stretch>
            <a:fillRect/>
          </a:stretch>
        </p:blipFill>
        <p:spPr bwMode="auto">
          <a:xfrm>
            <a:off x="533400" y="838200"/>
            <a:ext cx="7543800" cy="5648326"/>
          </a:xfrm>
          <a:prstGeom prst="rect">
            <a:avLst/>
          </a:prstGeom>
          <a:noFill/>
          <a:ln>
            <a:noFill/>
          </a:ln>
        </p:spPr>
      </p:pic>
    </p:spTree>
    <p:extLst>
      <p:ext uri="{BB962C8B-B14F-4D97-AF65-F5344CB8AC3E}">
        <p14:creationId xmlns:p14="http://schemas.microsoft.com/office/powerpoint/2010/main" val="318151050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400"/>
            <a:ext cx="7467600" cy="685800"/>
          </a:xfrm>
        </p:spPr>
        <p:txBody>
          <a:bodyPr>
            <a:normAutofit/>
          </a:bodyPr>
          <a:lstStyle/>
          <a:p>
            <a:pPr algn="ctr"/>
            <a:r>
              <a:rPr lang="en-US" sz="3600" b="1" dirty="0"/>
              <a:t>Bar Color</a:t>
            </a:r>
          </a:p>
        </p:txBody>
      </p:sp>
      <p:sp>
        <p:nvSpPr>
          <p:cNvPr id="3" name="Content Placeholder 2"/>
          <p:cNvSpPr>
            <a:spLocks noGrp="1"/>
          </p:cNvSpPr>
          <p:nvPr>
            <p:ph sz="quarter" idx="1"/>
          </p:nvPr>
        </p:nvSpPr>
        <p:spPr>
          <a:xfrm>
            <a:off x="457200" y="685800"/>
            <a:ext cx="7696200" cy="1828800"/>
          </a:xfrm>
        </p:spPr>
        <p:txBody>
          <a:bodyPr>
            <a:normAutofit/>
          </a:bodyPr>
          <a:lstStyle/>
          <a:p>
            <a:r>
              <a:rPr lang="en-US" dirty="0"/>
              <a:t>The </a:t>
            </a:r>
            <a:r>
              <a:rPr lang="en-US" b="1" dirty="0"/>
              <a:t>bar()</a:t>
            </a:r>
            <a:r>
              <a:rPr lang="en-US" dirty="0"/>
              <a:t> and </a:t>
            </a:r>
            <a:r>
              <a:rPr lang="en-US" b="1" dirty="0" err="1"/>
              <a:t>barh</a:t>
            </a:r>
            <a:r>
              <a:rPr lang="en-US" b="1" dirty="0"/>
              <a:t>()</a:t>
            </a:r>
            <a:r>
              <a:rPr lang="en-US" dirty="0"/>
              <a:t> take the keyword argument color to set the color of the bars</a:t>
            </a:r>
            <a:r>
              <a:rPr lang="en-US" dirty="0" smtClean="0"/>
              <a:t>:</a:t>
            </a:r>
            <a:endParaRPr lang="en-US" dirty="0"/>
          </a:p>
          <a:p>
            <a:r>
              <a:rPr lang="en-US" dirty="0" smtClean="0"/>
              <a:t>Example:  </a:t>
            </a:r>
            <a:r>
              <a:rPr lang="en-US" dirty="0" err="1" smtClean="0"/>
              <a:t>plt.bar</a:t>
            </a:r>
            <a:r>
              <a:rPr lang="en-US" dirty="0" smtClean="0"/>
              <a:t>(x</a:t>
            </a:r>
            <a:r>
              <a:rPr lang="en-US" dirty="0"/>
              <a:t>, y, color = "red")</a:t>
            </a:r>
          </a:p>
          <a:p>
            <a:pPr marL="0" indent="0">
              <a:buNone/>
            </a:pPr>
            <a:r>
              <a:rPr lang="en-US" dirty="0" smtClean="0"/>
              <a:t>                     </a:t>
            </a:r>
            <a:r>
              <a:rPr lang="en-US" dirty="0" err="1" smtClean="0"/>
              <a:t>plt.bar</a:t>
            </a:r>
            <a:r>
              <a:rPr lang="en-US" dirty="0" smtClean="0"/>
              <a:t>(x</a:t>
            </a:r>
            <a:r>
              <a:rPr lang="en-US" dirty="0"/>
              <a:t>, y, color = "#4CAF50")</a:t>
            </a:r>
            <a:endParaRPr lang="en-US" dirty="0" smtClean="0"/>
          </a:p>
        </p:txBody>
      </p:sp>
      <p:pic>
        <p:nvPicPr>
          <p:cNvPr id="6" name="Picture 5" descr="https://www.w3schools.com/python/img_matplotlib_bars_red.png"/>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393950"/>
            <a:ext cx="5943600" cy="4438650"/>
          </a:xfrm>
          <a:prstGeom prst="rect">
            <a:avLst/>
          </a:prstGeom>
          <a:noFill/>
          <a:ln>
            <a:noFill/>
          </a:ln>
        </p:spPr>
      </p:pic>
    </p:spTree>
    <p:extLst>
      <p:ext uri="{BB962C8B-B14F-4D97-AF65-F5344CB8AC3E}">
        <p14:creationId xmlns:p14="http://schemas.microsoft.com/office/powerpoint/2010/main" val="299822980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09600" y="304800"/>
            <a:ext cx="7467600" cy="685800"/>
          </a:xfrm>
          <a:prstGeom prst="rect">
            <a:avLst/>
          </a:prstGeom>
        </p:spPr>
        <p:txBody>
          <a:bodyPr vert="horz" anchor="b">
            <a:norm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pPr algn="ctr"/>
            <a:r>
              <a:rPr lang="en-US" sz="3600" b="1" dirty="0"/>
              <a:t>Bar Width</a:t>
            </a:r>
          </a:p>
        </p:txBody>
      </p:sp>
      <p:sp>
        <p:nvSpPr>
          <p:cNvPr id="5" name="Content Placeholder 2"/>
          <p:cNvSpPr txBox="1">
            <a:spLocks/>
          </p:cNvSpPr>
          <p:nvPr/>
        </p:nvSpPr>
        <p:spPr>
          <a:xfrm>
            <a:off x="609600" y="1003300"/>
            <a:ext cx="7696200" cy="1981200"/>
          </a:xfrm>
          <a:prstGeom prst="rect">
            <a:avLst/>
          </a:prstGeom>
        </p:spPr>
        <p:txBody>
          <a:bodyPr vert="horz">
            <a:normAutofit/>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en-US" dirty="0"/>
              <a:t>The bar() takes the keyword argument width to set the width of the bars</a:t>
            </a:r>
            <a:r>
              <a:rPr lang="en-US" dirty="0" smtClean="0"/>
              <a:t>:</a:t>
            </a:r>
            <a:endParaRPr lang="en-US" dirty="0"/>
          </a:p>
          <a:p>
            <a:r>
              <a:rPr lang="en-US" dirty="0" smtClean="0"/>
              <a:t>Example:</a:t>
            </a:r>
            <a:r>
              <a:rPr lang="en-US" dirty="0"/>
              <a:t> </a:t>
            </a:r>
            <a:r>
              <a:rPr lang="en-US" dirty="0" smtClean="0"/>
              <a:t> </a:t>
            </a:r>
            <a:r>
              <a:rPr lang="en-US" dirty="0" err="1" smtClean="0"/>
              <a:t>plt.bar</a:t>
            </a:r>
            <a:r>
              <a:rPr lang="en-US" dirty="0" smtClean="0"/>
              <a:t>(x</a:t>
            </a:r>
            <a:r>
              <a:rPr lang="en-US" dirty="0"/>
              <a:t>, y, width = 0.1</a:t>
            </a:r>
            <a:r>
              <a:rPr lang="en-US" dirty="0" smtClean="0"/>
              <a:t>)</a:t>
            </a:r>
          </a:p>
          <a:p>
            <a:r>
              <a:rPr lang="en-US" dirty="0"/>
              <a:t>The default width value is 0.8</a:t>
            </a:r>
          </a:p>
        </p:txBody>
      </p:sp>
      <p:pic>
        <p:nvPicPr>
          <p:cNvPr id="8" name="Picture 7" descr="https://www.w3schools.com/python/img_matplotlib_bars_thin.png"/>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724150"/>
            <a:ext cx="5562600" cy="4133850"/>
          </a:xfrm>
          <a:prstGeom prst="rect">
            <a:avLst/>
          </a:prstGeom>
          <a:noFill/>
          <a:ln>
            <a:noFill/>
          </a:ln>
        </p:spPr>
      </p:pic>
    </p:spTree>
    <p:extLst>
      <p:ext uri="{BB962C8B-B14F-4D97-AF65-F5344CB8AC3E}">
        <p14:creationId xmlns:p14="http://schemas.microsoft.com/office/powerpoint/2010/main" val="3007914723"/>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Pie Chart</a:t>
            </a:r>
          </a:p>
        </p:txBody>
      </p:sp>
      <p:sp>
        <p:nvSpPr>
          <p:cNvPr id="3" name="Content Placeholder 2"/>
          <p:cNvSpPr>
            <a:spLocks noGrp="1"/>
          </p:cNvSpPr>
          <p:nvPr>
            <p:ph sz="quarter" idx="1"/>
          </p:nvPr>
        </p:nvSpPr>
        <p:spPr>
          <a:xfrm>
            <a:off x="457200" y="838200"/>
            <a:ext cx="7696200" cy="5638800"/>
          </a:xfrm>
        </p:spPr>
        <p:txBody>
          <a:bodyPr>
            <a:normAutofit/>
          </a:bodyPr>
          <a:lstStyle/>
          <a:p>
            <a:r>
              <a:rPr lang="en-US" dirty="0"/>
              <a:t>With </a:t>
            </a:r>
            <a:r>
              <a:rPr lang="en-US" dirty="0" err="1"/>
              <a:t>Pyplot</a:t>
            </a:r>
            <a:r>
              <a:rPr lang="en-US" dirty="0"/>
              <a:t>, you can use the </a:t>
            </a:r>
            <a:r>
              <a:rPr lang="en-US" b="1" dirty="0"/>
              <a:t>pie()</a:t>
            </a:r>
            <a:r>
              <a:rPr lang="en-US" dirty="0"/>
              <a:t> function to draw pie charts:</a:t>
            </a:r>
          </a:p>
          <a:p>
            <a:endParaRPr lang="en-US" dirty="0"/>
          </a:p>
          <a:p>
            <a:r>
              <a:rPr lang="en-US" dirty="0" smtClean="0"/>
              <a:t>Example:</a:t>
            </a:r>
          </a:p>
          <a:p>
            <a:pPr marL="0" indent="0">
              <a:buNone/>
            </a:pPr>
            <a:r>
              <a:rPr lang="en-US" dirty="0" smtClean="0"/>
              <a:t>import </a:t>
            </a:r>
            <a:r>
              <a:rPr lang="en-US" dirty="0" err="1"/>
              <a:t>matplotlib.pyplot</a:t>
            </a:r>
            <a:r>
              <a:rPr lang="en-US" dirty="0"/>
              <a:t> as </a:t>
            </a:r>
            <a:r>
              <a:rPr lang="en-US" dirty="0" err="1"/>
              <a:t>plt</a:t>
            </a:r>
            <a:endParaRPr lang="en-US" dirty="0"/>
          </a:p>
          <a:p>
            <a:pPr marL="0" indent="0">
              <a:buNone/>
            </a:pPr>
            <a:r>
              <a:rPr lang="en-US" dirty="0"/>
              <a:t>import </a:t>
            </a:r>
            <a:r>
              <a:rPr lang="en-US" dirty="0" err="1"/>
              <a:t>numpy</a:t>
            </a:r>
            <a:r>
              <a:rPr lang="en-US" dirty="0"/>
              <a:t> as </a:t>
            </a:r>
            <a:r>
              <a:rPr lang="en-US" dirty="0" err="1" smtClean="0"/>
              <a:t>np</a:t>
            </a:r>
            <a:endParaRPr lang="en-US" dirty="0"/>
          </a:p>
          <a:p>
            <a:pPr marL="0" indent="0">
              <a:buNone/>
            </a:pPr>
            <a:r>
              <a:rPr lang="en-US" dirty="0"/>
              <a:t>y = </a:t>
            </a:r>
            <a:r>
              <a:rPr lang="en-US" dirty="0" err="1"/>
              <a:t>np.array</a:t>
            </a:r>
            <a:r>
              <a:rPr lang="en-US" dirty="0"/>
              <a:t>([35, 25, 25, 15</a:t>
            </a:r>
            <a:r>
              <a:rPr lang="en-US" dirty="0" smtClean="0"/>
              <a:t>])</a:t>
            </a:r>
            <a:endParaRPr lang="en-US" dirty="0"/>
          </a:p>
          <a:p>
            <a:pPr marL="0" indent="0">
              <a:buNone/>
            </a:pPr>
            <a:r>
              <a:rPr lang="en-US" dirty="0" err="1"/>
              <a:t>plt.pie</a:t>
            </a:r>
            <a:r>
              <a:rPr lang="en-US" dirty="0"/>
              <a:t>(y)</a:t>
            </a:r>
          </a:p>
          <a:p>
            <a:pPr marL="0" indent="0">
              <a:buNone/>
            </a:pPr>
            <a:r>
              <a:rPr lang="en-US" dirty="0" err="1"/>
              <a:t>plt.show</a:t>
            </a:r>
            <a:r>
              <a:rPr lang="en-US" dirty="0"/>
              <a:t>()</a:t>
            </a:r>
          </a:p>
        </p:txBody>
      </p:sp>
    </p:spTree>
    <p:extLst>
      <p:ext uri="{BB962C8B-B14F-4D97-AF65-F5344CB8AC3E}">
        <p14:creationId xmlns:p14="http://schemas.microsoft.com/office/powerpoint/2010/main" val="391348697"/>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Pie Chart</a:t>
            </a:r>
            <a:endParaRPr lang="en-US" sz="3600" b="1" dirty="0"/>
          </a:p>
        </p:txBody>
      </p:sp>
      <p:pic>
        <p:nvPicPr>
          <p:cNvPr id="4" name="Picture 3" descr="https://www.w3schools.com/python/img_matplotlib_pie1.png"/>
          <p:cNvPicPr/>
          <p:nvPr/>
        </p:nvPicPr>
        <p:blipFill>
          <a:blip r:embed="rId2">
            <a:extLst>
              <a:ext uri="{28A0092B-C50C-407E-A947-70E740481C1C}">
                <a14:useLocalDpi xmlns:a14="http://schemas.microsoft.com/office/drawing/2010/main" val="0"/>
              </a:ext>
            </a:extLst>
          </a:blip>
          <a:srcRect/>
          <a:stretch>
            <a:fillRect/>
          </a:stretch>
        </p:blipFill>
        <p:spPr bwMode="auto">
          <a:xfrm>
            <a:off x="457200" y="838200"/>
            <a:ext cx="7620000" cy="5648325"/>
          </a:xfrm>
          <a:prstGeom prst="rect">
            <a:avLst/>
          </a:prstGeom>
          <a:noFill/>
          <a:ln>
            <a:noFill/>
          </a:ln>
        </p:spPr>
      </p:pic>
    </p:spTree>
    <p:extLst>
      <p:ext uri="{BB962C8B-B14F-4D97-AF65-F5344CB8AC3E}">
        <p14:creationId xmlns:p14="http://schemas.microsoft.com/office/powerpoint/2010/main" val="123286939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Pie Chart</a:t>
            </a:r>
          </a:p>
        </p:txBody>
      </p:sp>
      <p:sp>
        <p:nvSpPr>
          <p:cNvPr id="3" name="Content Placeholder 2"/>
          <p:cNvSpPr>
            <a:spLocks noGrp="1"/>
          </p:cNvSpPr>
          <p:nvPr>
            <p:ph sz="quarter" idx="1"/>
          </p:nvPr>
        </p:nvSpPr>
        <p:spPr>
          <a:xfrm>
            <a:off x="457200" y="838200"/>
            <a:ext cx="7696200" cy="2514600"/>
          </a:xfrm>
        </p:spPr>
        <p:txBody>
          <a:bodyPr>
            <a:normAutofit/>
          </a:bodyPr>
          <a:lstStyle/>
          <a:p>
            <a:r>
              <a:rPr lang="en-US" dirty="0"/>
              <a:t>As you can see the pie chart draws one piece (called a wedge) for each value in the array (in this case [35, 25, 25, 15]).</a:t>
            </a:r>
          </a:p>
          <a:p>
            <a:endParaRPr lang="en-US" dirty="0"/>
          </a:p>
          <a:p>
            <a:r>
              <a:rPr lang="en-US" dirty="0"/>
              <a:t>By default the plotting of the first wedge starts from the x-axis and moves counterclockwise:</a:t>
            </a:r>
          </a:p>
        </p:txBody>
      </p:sp>
      <p:pic>
        <p:nvPicPr>
          <p:cNvPr id="4" name="Picture 3" descr="https://www.w3schools.com/python/img_matplotlib_pie_start.png"/>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276600"/>
            <a:ext cx="4648200" cy="3362325"/>
          </a:xfrm>
          <a:prstGeom prst="rect">
            <a:avLst/>
          </a:prstGeom>
          <a:noFill/>
          <a:ln>
            <a:noFill/>
          </a:ln>
        </p:spPr>
      </p:pic>
    </p:spTree>
    <p:extLst>
      <p:ext uri="{BB962C8B-B14F-4D97-AF65-F5344CB8AC3E}">
        <p14:creationId xmlns:p14="http://schemas.microsoft.com/office/powerpoint/2010/main" val="323295640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Labels</a:t>
            </a:r>
          </a:p>
        </p:txBody>
      </p:sp>
      <p:sp>
        <p:nvSpPr>
          <p:cNvPr id="3" name="Content Placeholder 2"/>
          <p:cNvSpPr>
            <a:spLocks noGrp="1"/>
          </p:cNvSpPr>
          <p:nvPr>
            <p:ph sz="quarter" idx="1"/>
          </p:nvPr>
        </p:nvSpPr>
        <p:spPr>
          <a:xfrm>
            <a:off x="457200" y="838200"/>
            <a:ext cx="7696200" cy="5638800"/>
          </a:xfrm>
        </p:spPr>
        <p:txBody>
          <a:bodyPr>
            <a:normAutofit/>
          </a:bodyPr>
          <a:lstStyle/>
          <a:p>
            <a:r>
              <a:rPr lang="en-US" dirty="0"/>
              <a:t>Add labels to the pie chart with the label parameter</a:t>
            </a:r>
            <a:r>
              <a:rPr lang="en-US" dirty="0" smtClean="0"/>
              <a:t>.</a:t>
            </a:r>
            <a:endParaRPr lang="en-US" dirty="0"/>
          </a:p>
          <a:p>
            <a:r>
              <a:rPr lang="en-US" dirty="0"/>
              <a:t>The label parameter must be an array with one label for each wedge</a:t>
            </a:r>
            <a:r>
              <a:rPr lang="en-US" dirty="0" smtClean="0"/>
              <a:t>:</a:t>
            </a:r>
            <a:endParaRPr lang="en-US" dirty="0"/>
          </a:p>
          <a:p>
            <a:r>
              <a:rPr lang="en-US" dirty="0" smtClean="0"/>
              <a:t>Example:</a:t>
            </a:r>
          </a:p>
          <a:p>
            <a:pPr marL="0" indent="0">
              <a:buNone/>
            </a:pPr>
            <a:r>
              <a:rPr lang="en-US" dirty="0" smtClean="0"/>
              <a:t>import </a:t>
            </a:r>
            <a:r>
              <a:rPr lang="en-US" dirty="0" err="1"/>
              <a:t>matplotlib.pyplot</a:t>
            </a:r>
            <a:r>
              <a:rPr lang="en-US" dirty="0"/>
              <a:t> as </a:t>
            </a:r>
            <a:r>
              <a:rPr lang="en-US" dirty="0" err="1"/>
              <a:t>plt</a:t>
            </a:r>
            <a:endParaRPr lang="en-US" dirty="0"/>
          </a:p>
          <a:p>
            <a:pPr marL="0" indent="0">
              <a:buNone/>
            </a:pPr>
            <a:r>
              <a:rPr lang="en-US" dirty="0"/>
              <a:t>import </a:t>
            </a:r>
            <a:r>
              <a:rPr lang="en-US" dirty="0" err="1"/>
              <a:t>numpy</a:t>
            </a:r>
            <a:r>
              <a:rPr lang="en-US" dirty="0"/>
              <a:t> as </a:t>
            </a:r>
            <a:r>
              <a:rPr lang="en-US" dirty="0" err="1" smtClean="0"/>
              <a:t>np</a:t>
            </a:r>
            <a:endParaRPr lang="en-US" dirty="0"/>
          </a:p>
          <a:p>
            <a:pPr marL="0" indent="0">
              <a:buNone/>
            </a:pPr>
            <a:r>
              <a:rPr lang="en-US" dirty="0"/>
              <a:t>y = </a:t>
            </a:r>
            <a:r>
              <a:rPr lang="en-US" dirty="0" err="1"/>
              <a:t>np.array</a:t>
            </a:r>
            <a:r>
              <a:rPr lang="en-US" dirty="0"/>
              <a:t>([35, 25, 25, 15])</a:t>
            </a:r>
          </a:p>
          <a:p>
            <a:pPr marL="0" indent="0">
              <a:buNone/>
            </a:pPr>
            <a:r>
              <a:rPr lang="en-US" dirty="0" err="1"/>
              <a:t>mylabels</a:t>
            </a:r>
            <a:r>
              <a:rPr lang="en-US" dirty="0"/>
              <a:t> = ["Apples", "Bananas", "Cherries", "Dates</a:t>
            </a:r>
            <a:r>
              <a:rPr lang="en-US" dirty="0" smtClean="0"/>
              <a:t>"]</a:t>
            </a:r>
            <a:endParaRPr lang="en-US" dirty="0"/>
          </a:p>
          <a:p>
            <a:pPr marL="0" indent="0">
              <a:buNone/>
            </a:pPr>
            <a:r>
              <a:rPr lang="en-US" dirty="0" err="1"/>
              <a:t>plt.pie</a:t>
            </a:r>
            <a:r>
              <a:rPr lang="en-US" dirty="0"/>
              <a:t>(y, labels = </a:t>
            </a:r>
            <a:r>
              <a:rPr lang="en-US" dirty="0" err="1"/>
              <a:t>mylabels</a:t>
            </a:r>
            <a:r>
              <a:rPr lang="en-US" dirty="0"/>
              <a:t>)</a:t>
            </a:r>
          </a:p>
          <a:p>
            <a:pPr marL="0" indent="0">
              <a:buNone/>
            </a:pPr>
            <a:r>
              <a:rPr lang="en-US" dirty="0" err="1"/>
              <a:t>plt.show</a:t>
            </a:r>
            <a:r>
              <a:rPr lang="en-US" dirty="0"/>
              <a:t>()</a:t>
            </a:r>
          </a:p>
        </p:txBody>
      </p:sp>
    </p:spTree>
    <p:extLst>
      <p:ext uri="{BB962C8B-B14F-4D97-AF65-F5344CB8AC3E}">
        <p14:creationId xmlns:p14="http://schemas.microsoft.com/office/powerpoint/2010/main" val="361334209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Labels</a:t>
            </a:r>
            <a:endParaRPr lang="en-US" sz="3600" b="1" dirty="0"/>
          </a:p>
        </p:txBody>
      </p:sp>
      <p:pic>
        <p:nvPicPr>
          <p:cNvPr id="5" name="Picture 4" descr="https://www.w3schools.com/python/img_matplotlib_pie_labels.png"/>
          <p:cNvPicPr/>
          <p:nvPr/>
        </p:nvPicPr>
        <p:blipFill>
          <a:blip r:embed="rId2">
            <a:extLst>
              <a:ext uri="{28A0092B-C50C-407E-A947-70E740481C1C}">
                <a14:useLocalDpi xmlns:a14="http://schemas.microsoft.com/office/drawing/2010/main" val="0"/>
              </a:ext>
            </a:extLst>
          </a:blip>
          <a:srcRect/>
          <a:stretch>
            <a:fillRect/>
          </a:stretch>
        </p:blipFill>
        <p:spPr bwMode="auto">
          <a:xfrm>
            <a:off x="381000" y="762000"/>
            <a:ext cx="7772400" cy="5876925"/>
          </a:xfrm>
          <a:prstGeom prst="rect">
            <a:avLst/>
          </a:prstGeom>
          <a:noFill/>
          <a:ln>
            <a:noFill/>
          </a:ln>
        </p:spPr>
      </p:pic>
    </p:spTree>
    <p:extLst>
      <p:ext uri="{BB962C8B-B14F-4D97-AF65-F5344CB8AC3E}">
        <p14:creationId xmlns:p14="http://schemas.microsoft.com/office/powerpoint/2010/main" val="321771433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Start angle</a:t>
            </a:r>
          </a:p>
        </p:txBody>
      </p:sp>
      <p:sp>
        <p:nvSpPr>
          <p:cNvPr id="3" name="Content Placeholder 2"/>
          <p:cNvSpPr>
            <a:spLocks noGrp="1"/>
          </p:cNvSpPr>
          <p:nvPr>
            <p:ph sz="quarter" idx="1"/>
          </p:nvPr>
        </p:nvSpPr>
        <p:spPr>
          <a:xfrm>
            <a:off x="457200" y="838200"/>
            <a:ext cx="7696200" cy="2514600"/>
          </a:xfrm>
        </p:spPr>
        <p:txBody>
          <a:bodyPr>
            <a:normAutofit/>
          </a:bodyPr>
          <a:lstStyle/>
          <a:p>
            <a:r>
              <a:rPr lang="en-US" dirty="0"/>
              <a:t>As mentioned the default start angle is at the x-axis, but you can change the start angle by specifying a </a:t>
            </a:r>
            <a:r>
              <a:rPr lang="en-US" dirty="0" err="1"/>
              <a:t>startangle</a:t>
            </a:r>
            <a:r>
              <a:rPr lang="en-US" dirty="0"/>
              <a:t> parameter.</a:t>
            </a:r>
          </a:p>
          <a:p>
            <a:endParaRPr lang="en-US" dirty="0"/>
          </a:p>
          <a:p>
            <a:r>
              <a:rPr lang="en-US" dirty="0"/>
              <a:t>The </a:t>
            </a:r>
            <a:r>
              <a:rPr lang="en-US" dirty="0" err="1"/>
              <a:t>startangle</a:t>
            </a:r>
            <a:r>
              <a:rPr lang="en-US" dirty="0"/>
              <a:t> parameter is defined with an angle in degrees, default angle is 0:</a:t>
            </a:r>
          </a:p>
        </p:txBody>
      </p:sp>
      <p:pic>
        <p:nvPicPr>
          <p:cNvPr id="5" name="Picture 4" descr="https://www.w3schools.com/python/img_matplotlib_pie_angles.png"/>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352800"/>
            <a:ext cx="4724400" cy="3209925"/>
          </a:xfrm>
          <a:prstGeom prst="rect">
            <a:avLst/>
          </a:prstGeom>
          <a:noFill/>
          <a:ln>
            <a:noFill/>
          </a:ln>
        </p:spPr>
      </p:pic>
    </p:spTree>
    <p:extLst>
      <p:ext uri="{BB962C8B-B14F-4D97-AF65-F5344CB8AC3E}">
        <p14:creationId xmlns:p14="http://schemas.microsoft.com/office/powerpoint/2010/main" val="412290205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Start angle</a:t>
            </a:r>
          </a:p>
        </p:txBody>
      </p:sp>
      <p:sp>
        <p:nvSpPr>
          <p:cNvPr id="3" name="Content Placeholder 2"/>
          <p:cNvSpPr>
            <a:spLocks noGrp="1"/>
          </p:cNvSpPr>
          <p:nvPr>
            <p:ph sz="quarter" idx="1"/>
          </p:nvPr>
        </p:nvSpPr>
        <p:spPr>
          <a:xfrm>
            <a:off x="457200" y="838200"/>
            <a:ext cx="7696200" cy="2514600"/>
          </a:xfrm>
        </p:spPr>
        <p:txBody>
          <a:bodyPr>
            <a:normAutofit fontScale="92500" lnSpcReduction="20000"/>
          </a:bodyPr>
          <a:lstStyle/>
          <a:p>
            <a:r>
              <a:rPr lang="en-US" dirty="0" smtClean="0"/>
              <a:t>Example:</a:t>
            </a:r>
          </a:p>
          <a:p>
            <a:pPr marL="0" indent="0">
              <a:buNone/>
            </a:pPr>
            <a:r>
              <a:rPr lang="en-US" dirty="0" smtClean="0"/>
              <a:t>import </a:t>
            </a:r>
            <a:r>
              <a:rPr lang="en-US" dirty="0" err="1"/>
              <a:t>matplotlib.pyplot</a:t>
            </a:r>
            <a:r>
              <a:rPr lang="en-US" dirty="0"/>
              <a:t> as </a:t>
            </a:r>
            <a:r>
              <a:rPr lang="en-US" dirty="0" err="1"/>
              <a:t>plt</a:t>
            </a:r>
            <a:endParaRPr lang="en-US" dirty="0"/>
          </a:p>
          <a:p>
            <a:pPr marL="0" indent="0">
              <a:buNone/>
            </a:pPr>
            <a:r>
              <a:rPr lang="en-US" dirty="0"/>
              <a:t>import </a:t>
            </a:r>
            <a:r>
              <a:rPr lang="en-US" dirty="0" err="1"/>
              <a:t>numpy</a:t>
            </a:r>
            <a:r>
              <a:rPr lang="en-US" dirty="0"/>
              <a:t> as </a:t>
            </a:r>
            <a:r>
              <a:rPr lang="en-US" dirty="0" err="1" smtClean="0"/>
              <a:t>np</a:t>
            </a:r>
            <a:endParaRPr lang="en-US" dirty="0"/>
          </a:p>
          <a:p>
            <a:pPr marL="0" indent="0">
              <a:buNone/>
            </a:pPr>
            <a:r>
              <a:rPr lang="en-US" dirty="0"/>
              <a:t>y = </a:t>
            </a:r>
            <a:r>
              <a:rPr lang="en-US" dirty="0" err="1"/>
              <a:t>np.array</a:t>
            </a:r>
            <a:r>
              <a:rPr lang="en-US" dirty="0"/>
              <a:t>([35, 25, 25, 15])</a:t>
            </a:r>
          </a:p>
          <a:p>
            <a:pPr marL="0" indent="0">
              <a:buNone/>
            </a:pPr>
            <a:r>
              <a:rPr lang="en-US" dirty="0" err="1"/>
              <a:t>mylabels</a:t>
            </a:r>
            <a:r>
              <a:rPr lang="en-US" dirty="0"/>
              <a:t> = ["Apples", "Bananas", "Cherries", "Dates</a:t>
            </a:r>
            <a:r>
              <a:rPr lang="en-US" dirty="0" smtClean="0"/>
              <a:t>"]</a:t>
            </a:r>
            <a:endParaRPr lang="en-US" dirty="0"/>
          </a:p>
          <a:p>
            <a:pPr marL="0" indent="0">
              <a:buNone/>
            </a:pPr>
            <a:r>
              <a:rPr lang="en-US" dirty="0" err="1"/>
              <a:t>plt.pie</a:t>
            </a:r>
            <a:r>
              <a:rPr lang="en-US" dirty="0"/>
              <a:t>(y, labels = </a:t>
            </a:r>
            <a:r>
              <a:rPr lang="en-US" dirty="0" err="1"/>
              <a:t>mylabels</a:t>
            </a:r>
            <a:r>
              <a:rPr lang="en-US" dirty="0"/>
              <a:t>, </a:t>
            </a:r>
            <a:r>
              <a:rPr lang="en-US" dirty="0" err="1"/>
              <a:t>startangle</a:t>
            </a:r>
            <a:r>
              <a:rPr lang="en-US" dirty="0"/>
              <a:t> = 90)</a:t>
            </a:r>
          </a:p>
          <a:p>
            <a:pPr marL="0" indent="0">
              <a:buNone/>
            </a:pPr>
            <a:r>
              <a:rPr lang="en-US" dirty="0" err="1"/>
              <a:t>plt.show</a:t>
            </a:r>
            <a:r>
              <a:rPr lang="en-US" dirty="0"/>
              <a:t>()</a:t>
            </a:r>
          </a:p>
        </p:txBody>
      </p:sp>
      <p:pic>
        <p:nvPicPr>
          <p:cNvPr id="6" name="Picture 5" descr="https://www.w3schools.com/python/img_matplotlib_pie_angle_90.png"/>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276601"/>
            <a:ext cx="4953000" cy="3429000"/>
          </a:xfrm>
          <a:prstGeom prst="rect">
            <a:avLst/>
          </a:prstGeom>
          <a:noFill/>
          <a:ln>
            <a:noFill/>
          </a:ln>
        </p:spPr>
      </p:pic>
    </p:spTree>
    <p:extLst>
      <p:ext uri="{BB962C8B-B14F-4D97-AF65-F5344CB8AC3E}">
        <p14:creationId xmlns:p14="http://schemas.microsoft.com/office/powerpoint/2010/main" val="3034185531"/>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Explode</a:t>
            </a:r>
          </a:p>
        </p:txBody>
      </p:sp>
      <p:sp>
        <p:nvSpPr>
          <p:cNvPr id="3" name="Content Placeholder 2"/>
          <p:cNvSpPr>
            <a:spLocks noGrp="1"/>
          </p:cNvSpPr>
          <p:nvPr>
            <p:ph sz="quarter" idx="1"/>
          </p:nvPr>
        </p:nvSpPr>
        <p:spPr>
          <a:xfrm>
            <a:off x="457200" y="838200"/>
            <a:ext cx="7696200" cy="5638800"/>
          </a:xfrm>
        </p:spPr>
        <p:txBody>
          <a:bodyPr>
            <a:normAutofit/>
          </a:bodyPr>
          <a:lstStyle/>
          <a:p>
            <a:r>
              <a:rPr lang="en-US" dirty="0" smtClean="0"/>
              <a:t>The </a:t>
            </a:r>
            <a:r>
              <a:rPr lang="en-US" dirty="0"/>
              <a:t>explode parameter, if specified, and not None, must be an array with one value for each wedge</a:t>
            </a:r>
            <a:r>
              <a:rPr lang="en-US" dirty="0" smtClean="0"/>
              <a:t>.</a:t>
            </a:r>
            <a:endParaRPr lang="en-US" dirty="0"/>
          </a:p>
          <a:p>
            <a:r>
              <a:rPr lang="en-US" dirty="0"/>
              <a:t>Each value represents how far from the center each wedge is displayed</a:t>
            </a:r>
            <a:r>
              <a:rPr lang="en-US" dirty="0" smtClean="0"/>
              <a:t>:</a:t>
            </a:r>
            <a:endParaRPr lang="en-US" dirty="0"/>
          </a:p>
          <a:p>
            <a:r>
              <a:rPr lang="en-US" dirty="0" smtClean="0"/>
              <a:t>Example : Pull </a:t>
            </a:r>
            <a:r>
              <a:rPr lang="en-US" dirty="0"/>
              <a:t>the "Apples" wedge 0.2 from the center of the pie</a:t>
            </a:r>
            <a:r>
              <a:rPr lang="en-US" dirty="0" smtClean="0"/>
              <a:t>:</a:t>
            </a:r>
            <a:endParaRPr lang="en-US" dirty="0"/>
          </a:p>
          <a:p>
            <a:pPr marL="0" indent="0">
              <a:buNone/>
            </a:pPr>
            <a:r>
              <a:rPr lang="en-US" dirty="0"/>
              <a:t>import </a:t>
            </a:r>
            <a:r>
              <a:rPr lang="en-US" dirty="0" err="1"/>
              <a:t>matplotlib.pyplot</a:t>
            </a:r>
            <a:r>
              <a:rPr lang="en-US" dirty="0"/>
              <a:t> as </a:t>
            </a:r>
            <a:r>
              <a:rPr lang="en-US" dirty="0" err="1"/>
              <a:t>plt</a:t>
            </a:r>
            <a:endParaRPr lang="en-US" dirty="0"/>
          </a:p>
          <a:p>
            <a:pPr marL="0" indent="0">
              <a:buNone/>
            </a:pPr>
            <a:r>
              <a:rPr lang="en-US" dirty="0"/>
              <a:t>import </a:t>
            </a:r>
            <a:r>
              <a:rPr lang="en-US" dirty="0" err="1"/>
              <a:t>numpy</a:t>
            </a:r>
            <a:r>
              <a:rPr lang="en-US" dirty="0"/>
              <a:t> as </a:t>
            </a:r>
            <a:r>
              <a:rPr lang="en-US" dirty="0" err="1" smtClean="0"/>
              <a:t>np</a:t>
            </a:r>
            <a:endParaRPr lang="en-US" dirty="0"/>
          </a:p>
          <a:p>
            <a:pPr marL="0" indent="0">
              <a:buNone/>
            </a:pPr>
            <a:r>
              <a:rPr lang="en-US" dirty="0"/>
              <a:t>y = </a:t>
            </a:r>
            <a:r>
              <a:rPr lang="en-US" dirty="0" err="1"/>
              <a:t>np.array</a:t>
            </a:r>
            <a:r>
              <a:rPr lang="en-US" dirty="0"/>
              <a:t>([35, 25, 25, 15</a:t>
            </a:r>
            <a:r>
              <a:rPr lang="en-US" dirty="0" smtClean="0"/>
              <a:t>])</a:t>
            </a:r>
          </a:p>
          <a:p>
            <a:pPr marL="0" indent="0">
              <a:buNone/>
            </a:pPr>
            <a:r>
              <a:rPr lang="en-US" dirty="0" err="1" smtClean="0"/>
              <a:t>mylabels</a:t>
            </a:r>
            <a:r>
              <a:rPr lang="en-US" dirty="0" smtClean="0"/>
              <a:t> = ["Apples", "Bananas", "Cherries", "Dates"]</a:t>
            </a:r>
          </a:p>
          <a:p>
            <a:pPr marL="0" indent="0">
              <a:buNone/>
            </a:pPr>
            <a:r>
              <a:rPr lang="en-US" dirty="0" err="1" smtClean="0"/>
              <a:t>myexplode</a:t>
            </a:r>
            <a:r>
              <a:rPr lang="en-US" dirty="0" smtClean="0"/>
              <a:t> </a:t>
            </a:r>
            <a:r>
              <a:rPr lang="en-US" dirty="0"/>
              <a:t>= [0.2, 0, 0, 0</a:t>
            </a:r>
            <a:r>
              <a:rPr lang="en-US" dirty="0" smtClean="0"/>
              <a:t>]</a:t>
            </a:r>
            <a:endParaRPr lang="en-US" dirty="0"/>
          </a:p>
          <a:p>
            <a:pPr marL="0" indent="0">
              <a:buNone/>
            </a:pPr>
            <a:r>
              <a:rPr lang="en-US" dirty="0" err="1"/>
              <a:t>plt.pie</a:t>
            </a:r>
            <a:r>
              <a:rPr lang="en-US" dirty="0"/>
              <a:t>(y, labels = </a:t>
            </a:r>
            <a:r>
              <a:rPr lang="en-US" dirty="0" err="1"/>
              <a:t>mylabels</a:t>
            </a:r>
            <a:r>
              <a:rPr lang="en-US" dirty="0"/>
              <a:t>, explode = </a:t>
            </a:r>
            <a:r>
              <a:rPr lang="en-US" dirty="0" err="1"/>
              <a:t>myexplode</a:t>
            </a:r>
            <a:r>
              <a:rPr lang="en-US" dirty="0"/>
              <a:t>)</a:t>
            </a:r>
          </a:p>
          <a:p>
            <a:pPr marL="0" indent="0">
              <a:buNone/>
            </a:pPr>
            <a:r>
              <a:rPr lang="en-US" dirty="0" err="1"/>
              <a:t>plt.show</a:t>
            </a:r>
            <a:r>
              <a:rPr lang="en-US" dirty="0"/>
              <a:t>()</a:t>
            </a:r>
          </a:p>
        </p:txBody>
      </p:sp>
    </p:spTree>
    <p:extLst>
      <p:ext uri="{BB962C8B-B14F-4D97-AF65-F5344CB8AC3E}">
        <p14:creationId xmlns:p14="http://schemas.microsoft.com/office/powerpoint/2010/main" val="10715069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Explode</a:t>
            </a:r>
          </a:p>
        </p:txBody>
      </p:sp>
      <p:pic>
        <p:nvPicPr>
          <p:cNvPr id="7" name="Picture 6" descr="https://www.w3schools.com/python/img_matplotlib_pie_explode.png"/>
          <p:cNvPicPr/>
          <p:nvPr/>
        </p:nvPicPr>
        <p:blipFill>
          <a:blip r:embed="rId2">
            <a:extLst>
              <a:ext uri="{28A0092B-C50C-407E-A947-70E740481C1C}">
                <a14:useLocalDpi xmlns:a14="http://schemas.microsoft.com/office/drawing/2010/main" val="0"/>
              </a:ext>
            </a:extLst>
          </a:blip>
          <a:srcRect/>
          <a:stretch>
            <a:fillRect/>
          </a:stretch>
        </p:blipFill>
        <p:spPr bwMode="auto">
          <a:xfrm>
            <a:off x="533400" y="762000"/>
            <a:ext cx="7543800" cy="5648326"/>
          </a:xfrm>
          <a:prstGeom prst="rect">
            <a:avLst/>
          </a:prstGeom>
          <a:noFill/>
          <a:ln>
            <a:noFill/>
          </a:ln>
        </p:spPr>
      </p:pic>
    </p:spTree>
    <p:extLst>
      <p:ext uri="{BB962C8B-B14F-4D97-AF65-F5344CB8AC3E}">
        <p14:creationId xmlns:p14="http://schemas.microsoft.com/office/powerpoint/2010/main" val="9192376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Shadow</a:t>
            </a:r>
          </a:p>
        </p:txBody>
      </p:sp>
      <p:sp>
        <p:nvSpPr>
          <p:cNvPr id="3" name="Content Placeholder 2"/>
          <p:cNvSpPr>
            <a:spLocks noGrp="1"/>
          </p:cNvSpPr>
          <p:nvPr>
            <p:ph sz="quarter" idx="1"/>
          </p:nvPr>
        </p:nvSpPr>
        <p:spPr>
          <a:xfrm>
            <a:off x="457200" y="838200"/>
            <a:ext cx="7696200" cy="2133600"/>
          </a:xfrm>
        </p:spPr>
        <p:txBody>
          <a:bodyPr>
            <a:normAutofit/>
          </a:bodyPr>
          <a:lstStyle/>
          <a:p>
            <a:r>
              <a:rPr lang="en-US" dirty="0"/>
              <a:t>Add a shadow to the pie chart by setting the shadows parameter to True</a:t>
            </a:r>
            <a:r>
              <a:rPr lang="en-US" dirty="0" smtClean="0"/>
              <a:t>:</a:t>
            </a:r>
            <a:endParaRPr lang="en-US" dirty="0"/>
          </a:p>
          <a:p>
            <a:r>
              <a:rPr lang="en-US" dirty="0" smtClean="0"/>
              <a:t>Example:</a:t>
            </a:r>
          </a:p>
          <a:p>
            <a:pPr marL="0" indent="0">
              <a:buNone/>
            </a:pPr>
            <a:r>
              <a:rPr lang="en-US" dirty="0" err="1" smtClean="0"/>
              <a:t>plt.pie</a:t>
            </a:r>
            <a:r>
              <a:rPr lang="en-US" dirty="0" smtClean="0"/>
              <a:t>(y</a:t>
            </a:r>
            <a:r>
              <a:rPr lang="en-US" dirty="0"/>
              <a:t>, labels = </a:t>
            </a:r>
            <a:r>
              <a:rPr lang="en-US" dirty="0" err="1"/>
              <a:t>mylabels</a:t>
            </a:r>
            <a:r>
              <a:rPr lang="en-US" dirty="0"/>
              <a:t>, explode = </a:t>
            </a:r>
            <a:r>
              <a:rPr lang="en-US" dirty="0" err="1"/>
              <a:t>myexplode</a:t>
            </a:r>
            <a:r>
              <a:rPr lang="en-US" dirty="0"/>
              <a:t>, shadow = True)</a:t>
            </a:r>
          </a:p>
        </p:txBody>
      </p:sp>
      <p:pic>
        <p:nvPicPr>
          <p:cNvPr id="4" name="Picture 3" descr="https://www.w3schools.com/python/img_matplotlib_pie_shadow.png"/>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895600"/>
            <a:ext cx="5257800" cy="3819525"/>
          </a:xfrm>
          <a:prstGeom prst="rect">
            <a:avLst/>
          </a:prstGeom>
          <a:noFill/>
          <a:ln>
            <a:noFill/>
          </a:ln>
        </p:spPr>
      </p:pic>
    </p:spTree>
    <p:extLst>
      <p:ext uri="{BB962C8B-B14F-4D97-AF65-F5344CB8AC3E}">
        <p14:creationId xmlns:p14="http://schemas.microsoft.com/office/powerpoint/2010/main" val="48150660"/>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Colors</a:t>
            </a:r>
          </a:p>
        </p:txBody>
      </p:sp>
      <p:sp>
        <p:nvSpPr>
          <p:cNvPr id="3" name="Content Placeholder 2"/>
          <p:cNvSpPr>
            <a:spLocks noGrp="1"/>
          </p:cNvSpPr>
          <p:nvPr>
            <p:ph sz="quarter" idx="1"/>
          </p:nvPr>
        </p:nvSpPr>
        <p:spPr>
          <a:xfrm>
            <a:off x="457200" y="838200"/>
            <a:ext cx="7696200" cy="2133600"/>
          </a:xfrm>
        </p:spPr>
        <p:txBody>
          <a:bodyPr>
            <a:normAutofit fontScale="77500" lnSpcReduction="20000"/>
          </a:bodyPr>
          <a:lstStyle/>
          <a:p>
            <a:r>
              <a:rPr lang="en-US" dirty="0"/>
              <a:t>You can set the color of each wedge with the colors parameter</a:t>
            </a:r>
            <a:r>
              <a:rPr lang="en-US" dirty="0" smtClean="0"/>
              <a:t>.</a:t>
            </a:r>
            <a:endParaRPr lang="en-US" dirty="0"/>
          </a:p>
          <a:p>
            <a:r>
              <a:rPr lang="en-US" dirty="0"/>
              <a:t>The colors parameter, if specified, must be an array with one value for each wedge</a:t>
            </a:r>
            <a:r>
              <a:rPr lang="en-US" dirty="0" smtClean="0"/>
              <a:t>:</a:t>
            </a:r>
            <a:endParaRPr lang="en-US" dirty="0"/>
          </a:p>
          <a:p>
            <a:r>
              <a:rPr lang="en-US" dirty="0" smtClean="0"/>
              <a:t>Example:</a:t>
            </a:r>
          </a:p>
          <a:p>
            <a:pPr marL="0" indent="0">
              <a:buNone/>
            </a:pPr>
            <a:r>
              <a:rPr lang="en-US" dirty="0" err="1" smtClean="0"/>
              <a:t>mylabels</a:t>
            </a:r>
            <a:r>
              <a:rPr lang="en-US" dirty="0" smtClean="0"/>
              <a:t> </a:t>
            </a:r>
            <a:r>
              <a:rPr lang="en-US" dirty="0"/>
              <a:t>= ["Apples", "Bananas", "Cherries", "Dates"]</a:t>
            </a:r>
          </a:p>
          <a:p>
            <a:pPr marL="0" indent="0">
              <a:buNone/>
            </a:pPr>
            <a:r>
              <a:rPr lang="en-US" dirty="0" err="1"/>
              <a:t>mycolors</a:t>
            </a:r>
            <a:r>
              <a:rPr lang="en-US" dirty="0"/>
              <a:t> = ["black", "</a:t>
            </a:r>
            <a:r>
              <a:rPr lang="en-US" dirty="0" err="1"/>
              <a:t>hotpink</a:t>
            </a:r>
            <a:r>
              <a:rPr lang="en-US" dirty="0"/>
              <a:t>", "b", "#4CAF50</a:t>
            </a:r>
            <a:r>
              <a:rPr lang="en-US" dirty="0" smtClean="0"/>
              <a:t>"]</a:t>
            </a:r>
            <a:endParaRPr lang="en-US" dirty="0"/>
          </a:p>
          <a:p>
            <a:pPr marL="0" indent="0">
              <a:buNone/>
            </a:pPr>
            <a:r>
              <a:rPr lang="en-US" dirty="0" err="1"/>
              <a:t>plt.pie</a:t>
            </a:r>
            <a:r>
              <a:rPr lang="en-US" dirty="0"/>
              <a:t>(y, labels = </a:t>
            </a:r>
            <a:r>
              <a:rPr lang="en-US" dirty="0" err="1"/>
              <a:t>mylabels</a:t>
            </a:r>
            <a:r>
              <a:rPr lang="en-US" dirty="0"/>
              <a:t>, colors = </a:t>
            </a:r>
            <a:r>
              <a:rPr lang="en-US" dirty="0" err="1"/>
              <a:t>mycolors</a:t>
            </a:r>
            <a:r>
              <a:rPr lang="en-US" dirty="0"/>
              <a:t>)</a:t>
            </a:r>
          </a:p>
        </p:txBody>
      </p:sp>
      <p:pic>
        <p:nvPicPr>
          <p:cNvPr id="5" name="Picture 4" descr="https://www.w3schools.com/python/img_matplotlib_pie_color.png"/>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895600"/>
            <a:ext cx="5410200" cy="3962400"/>
          </a:xfrm>
          <a:prstGeom prst="rect">
            <a:avLst/>
          </a:prstGeom>
          <a:noFill/>
          <a:ln>
            <a:noFill/>
          </a:ln>
        </p:spPr>
      </p:pic>
    </p:spTree>
    <p:extLst>
      <p:ext uri="{BB962C8B-B14F-4D97-AF65-F5344CB8AC3E}">
        <p14:creationId xmlns:p14="http://schemas.microsoft.com/office/powerpoint/2010/main" val="855684627"/>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467600" cy="685800"/>
          </a:xfrm>
        </p:spPr>
        <p:txBody>
          <a:bodyPr>
            <a:normAutofit/>
          </a:bodyPr>
          <a:lstStyle/>
          <a:p>
            <a:pPr algn="ctr"/>
            <a:r>
              <a:rPr lang="en-US" sz="3600" b="1" dirty="0"/>
              <a:t>Legend</a:t>
            </a:r>
          </a:p>
        </p:txBody>
      </p:sp>
      <p:sp>
        <p:nvSpPr>
          <p:cNvPr id="3" name="Content Placeholder 2"/>
          <p:cNvSpPr>
            <a:spLocks noGrp="1"/>
          </p:cNvSpPr>
          <p:nvPr>
            <p:ph sz="quarter" idx="1"/>
          </p:nvPr>
        </p:nvSpPr>
        <p:spPr>
          <a:xfrm>
            <a:off x="457200" y="685800"/>
            <a:ext cx="7696200" cy="2438400"/>
          </a:xfrm>
        </p:spPr>
        <p:txBody>
          <a:bodyPr>
            <a:normAutofit fontScale="77500" lnSpcReduction="20000"/>
          </a:bodyPr>
          <a:lstStyle/>
          <a:p>
            <a:r>
              <a:rPr lang="en-US" dirty="0"/>
              <a:t>To add a list of explanation for each wedge, use the legend() function</a:t>
            </a:r>
            <a:r>
              <a:rPr lang="en-US" dirty="0" smtClean="0"/>
              <a:t>:</a:t>
            </a:r>
            <a:endParaRPr lang="en-US" dirty="0"/>
          </a:p>
          <a:p>
            <a:r>
              <a:rPr lang="en-US" dirty="0" smtClean="0"/>
              <a:t>Example:</a:t>
            </a:r>
          </a:p>
          <a:p>
            <a:pPr marL="0" indent="0">
              <a:buNone/>
            </a:pPr>
            <a:r>
              <a:rPr lang="en-US" dirty="0" smtClean="0"/>
              <a:t>y </a:t>
            </a:r>
            <a:r>
              <a:rPr lang="en-US" dirty="0"/>
              <a:t>= </a:t>
            </a:r>
            <a:r>
              <a:rPr lang="en-US" dirty="0" err="1"/>
              <a:t>np.array</a:t>
            </a:r>
            <a:r>
              <a:rPr lang="en-US" dirty="0"/>
              <a:t>([35, 25, 25, 15])</a:t>
            </a:r>
          </a:p>
          <a:p>
            <a:pPr marL="0" indent="0">
              <a:buNone/>
            </a:pPr>
            <a:r>
              <a:rPr lang="en-US" dirty="0" err="1"/>
              <a:t>mylabels</a:t>
            </a:r>
            <a:r>
              <a:rPr lang="en-US" dirty="0"/>
              <a:t> = ["Apples", "Bananas", "Cherries", "Dates</a:t>
            </a:r>
            <a:r>
              <a:rPr lang="en-US" dirty="0" smtClean="0"/>
              <a:t>"]</a:t>
            </a:r>
            <a:endParaRPr lang="en-US" dirty="0"/>
          </a:p>
          <a:p>
            <a:pPr marL="0" indent="0">
              <a:buNone/>
            </a:pPr>
            <a:r>
              <a:rPr lang="en-US" dirty="0" err="1"/>
              <a:t>plt.pie</a:t>
            </a:r>
            <a:r>
              <a:rPr lang="en-US" dirty="0"/>
              <a:t>(y, labels = </a:t>
            </a:r>
            <a:r>
              <a:rPr lang="en-US" dirty="0" err="1"/>
              <a:t>mylabels</a:t>
            </a:r>
            <a:r>
              <a:rPr lang="en-US" dirty="0"/>
              <a:t>)</a:t>
            </a:r>
          </a:p>
          <a:p>
            <a:pPr marL="0" indent="0">
              <a:buNone/>
            </a:pPr>
            <a:r>
              <a:rPr lang="en-US" dirty="0" err="1"/>
              <a:t>plt.legend</a:t>
            </a:r>
            <a:r>
              <a:rPr lang="en-US" dirty="0"/>
              <a:t>()</a:t>
            </a:r>
          </a:p>
          <a:p>
            <a:pPr marL="0" indent="0">
              <a:buNone/>
            </a:pPr>
            <a:r>
              <a:rPr lang="en-US" dirty="0" err="1"/>
              <a:t>plt.show</a:t>
            </a:r>
            <a:r>
              <a:rPr lang="en-US" dirty="0"/>
              <a:t>() </a:t>
            </a:r>
          </a:p>
        </p:txBody>
      </p:sp>
      <p:pic>
        <p:nvPicPr>
          <p:cNvPr id="6" name="Picture 5" descr="https://www.w3schools.com/python/img_matplotlib_pie_legend.png"/>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743200"/>
            <a:ext cx="5562600" cy="3886200"/>
          </a:xfrm>
          <a:prstGeom prst="rect">
            <a:avLst/>
          </a:prstGeom>
          <a:noFill/>
          <a:ln>
            <a:noFill/>
          </a:ln>
        </p:spPr>
      </p:pic>
    </p:spTree>
    <p:extLst>
      <p:ext uri="{BB962C8B-B14F-4D97-AF65-F5344CB8AC3E}">
        <p14:creationId xmlns:p14="http://schemas.microsoft.com/office/powerpoint/2010/main" val="2331371394"/>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467600" cy="685800"/>
          </a:xfrm>
        </p:spPr>
        <p:txBody>
          <a:bodyPr>
            <a:normAutofit/>
          </a:bodyPr>
          <a:lstStyle/>
          <a:p>
            <a:pPr algn="ctr"/>
            <a:r>
              <a:rPr lang="en-US" sz="3600" b="1" dirty="0"/>
              <a:t>Legend With Header</a:t>
            </a:r>
          </a:p>
        </p:txBody>
      </p:sp>
      <p:sp>
        <p:nvSpPr>
          <p:cNvPr id="3" name="Content Placeholder 2"/>
          <p:cNvSpPr>
            <a:spLocks noGrp="1"/>
          </p:cNvSpPr>
          <p:nvPr>
            <p:ph sz="quarter" idx="1"/>
          </p:nvPr>
        </p:nvSpPr>
        <p:spPr>
          <a:xfrm>
            <a:off x="457200" y="685800"/>
            <a:ext cx="7696200" cy="2438400"/>
          </a:xfrm>
        </p:spPr>
        <p:txBody>
          <a:bodyPr>
            <a:normAutofit/>
          </a:bodyPr>
          <a:lstStyle/>
          <a:p>
            <a:r>
              <a:rPr lang="en-US" dirty="0"/>
              <a:t>To add a header to the legend, add the title parameter to the legend function</a:t>
            </a:r>
            <a:r>
              <a:rPr lang="en-US" dirty="0" smtClean="0"/>
              <a:t>.</a:t>
            </a:r>
            <a:endParaRPr lang="en-US" dirty="0"/>
          </a:p>
          <a:p>
            <a:r>
              <a:rPr lang="en-US" dirty="0" smtClean="0"/>
              <a:t>Example:</a:t>
            </a:r>
          </a:p>
          <a:p>
            <a:pPr marL="0" indent="0">
              <a:buNone/>
            </a:pPr>
            <a:r>
              <a:rPr lang="en-US" dirty="0" err="1" smtClean="0"/>
              <a:t>plt.legend</a:t>
            </a:r>
            <a:r>
              <a:rPr lang="en-US" dirty="0" smtClean="0"/>
              <a:t>(title </a:t>
            </a:r>
            <a:r>
              <a:rPr lang="en-US" dirty="0"/>
              <a:t>= "Four Fruits:")</a:t>
            </a:r>
          </a:p>
        </p:txBody>
      </p:sp>
      <p:pic>
        <p:nvPicPr>
          <p:cNvPr id="5" name="Picture 4" descr="https://www.w3schools.com/python/img_matplotlib_pie_legend_title.png"/>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428875"/>
            <a:ext cx="5715000" cy="4200525"/>
          </a:xfrm>
          <a:prstGeom prst="rect">
            <a:avLst/>
          </a:prstGeom>
          <a:noFill/>
          <a:ln>
            <a:noFill/>
          </a:ln>
        </p:spPr>
      </p:pic>
    </p:spTree>
    <p:extLst>
      <p:ext uri="{BB962C8B-B14F-4D97-AF65-F5344CB8AC3E}">
        <p14:creationId xmlns:p14="http://schemas.microsoft.com/office/powerpoint/2010/main" val="2537155190"/>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Histogram</a:t>
            </a:r>
          </a:p>
        </p:txBody>
      </p:sp>
      <p:sp>
        <p:nvSpPr>
          <p:cNvPr id="3" name="Content Placeholder 2"/>
          <p:cNvSpPr>
            <a:spLocks noGrp="1"/>
          </p:cNvSpPr>
          <p:nvPr>
            <p:ph sz="quarter" idx="1"/>
          </p:nvPr>
        </p:nvSpPr>
        <p:spPr>
          <a:xfrm>
            <a:off x="457200" y="838200"/>
            <a:ext cx="7696200" cy="2514600"/>
          </a:xfrm>
        </p:spPr>
        <p:txBody>
          <a:bodyPr>
            <a:normAutofit/>
          </a:bodyPr>
          <a:lstStyle/>
          <a:p>
            <a:r>
              <a:rPr lang="en-US" dirty="0"/>
              <a:t>A histogram is a graph showing frequency distributions</a:t>
            </a:r>
            <a:r>
              <a:rPr lang="en-US" dirty="0" smtClean="0"/>
              <a:t>.</a:t>
            </a:r>
            <a:endParaRPr lang="en-US" dirty="0"/>
          </a:p>
          <a:p>
            <a:r>
              <a:rPr lang="en-US" dirty="0"/>
              <a:t>It is a graph showing the number of observations within each given interval</a:t>
            </a:r>
            <a:r>
              <a:rPr lang="en-US" dirty="0" smtClean="0"/>
              <a:t>.</a:t>
            </a:r>
            <a:endParaRPr lang="en-US" dirty="0"/>
          </a:p>
          <a:p>
            <a:r>
              <a:rPr lang="en-US" dirty="0"/>
              <a:t>Example: Say you ask for the height of 250 people, you might end up with a histogram like this:</a:t>
            </a:r>
          </a:p>
        </p:txBody>
      </p:sp>
      <p:pic>
        <p:nvPicPr>
          <p:cNvPr id="4" name="Picture 3" descr="https://www.w3schools.com/python/img_matplotlib_histogram1.png"/>
          <p:cNvPicPr/>
          <p:nvPr/>
        </p:nvPicPr>
        <p:blipFill>
          <a:blip r:embed="rId2">
            <a:extLst>
              <a:ext uri="{28A0092B-C50C-407E-A947-70E740481C1C}">
                <a14:useLocalDpi xmlns:a14="http://schemas.microsoft.com/office/drawing/2010/main" val="0"/>
              </a:ext>
            </a:extLst>
          </a:blip>
          <a:srcRect/>
          <a:stretch>
            <a:fillRect/>
          </a:stretch>
        </p:blipFill>
        <p:spPr bwMode="auto">
          <a:xfrm>
            <a:off x="1828800" y="3267075"/>
            <a:ext cx="5257800" cy="3590925"/>
          </a:xfrm>
          <a:prstGeom prst="rect">
            <a:avLst/>
          </a:prstGeom>
          <a:noFill/>
          <a:ln>
            <a:noFill/>
          </a:ln>
        </p:spPr>
      </p:pic>
    </p:spTree>
    <p:extLst>
      <p:ext uri="{BB962C8B-B14F-4D97-AF65-F5344CB8AC3E}">
        <p14:creationId xmlns:p14="http://schemas.microsoft.com/office/powerpoint/2010/main" val="1442508639"/>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Histogram</a:t>
            </a:r>
          </a:p>
        </p:txBody>
      </p:sp>
      <p:sp>
        <p:nvSpPr>
          <p:cNvPr id="3" name="Content Placeholder 2"/>
          <p:cNvSpPr>
            <a:spLocks noGrp="1"/>
          </p:cNvSpPr>
          <p:nvPr>
            <p:ph sz="quarter" idx="1"/>
          </p:nvPr>
        </p:nvSpPr>
        <p:spPr>
          <a:xfrm>
            <a:off x="457200" y="838200"/>
            <a:ext cx="7696200" cy="5638800"/>
          </a:xfrm>
        </p:spPr>
        <p:txBody>
          <a:bodyPr>
            <a:normAutofit/>
          </a:bodyPr>
          <a:lstStyle/>
          <a:p>
            <a:r>
              <a:rPr lang="en-US" dirty="0"/>
              <a:t>You can read from the histogram that there are approximately:</a:t>
            </a:r>
          </a:p>
          <a:p>
            <a:pPr marL="0" indent="0">
              <a:buNone/>
            </a:pPr>
            <a:r>
              <a:rPr lang="en-US" dirty="0" smtClean="0"/>
              <a:t>2 </a:t>
            </a:r>
            <a:r>
              <a:rPr lang="en-US" dirty="0"/>
              <a:t>people from 140 to 145cm</a:t>
            </a:r>
          </a:p>
          <a:p>
            <a:pPr marL="0" indent="0">
              <a:buNone/>
            </a:pPr>
            <a:r>
              <a:rPr lang="en-US" dirty="0"/>
              <a:t>5 people from 145 to 150cm</a:t>
            </a:r>
          </a:p>
          <a:p>
            <a:pPr marL="0" indent="0">
              <a:buNone/>
            </a:pPr>
            <a:r>
              <a:rPr lang="en-US" dirty="0"/>
              <a:t>15 people from 151 to 156cm</a:t>
            </a:r>
          </a:p>
          <a:p>
            <a:pPr marL="0" indent="0">
              <a:buNone/>
            </a:pPr>
            <a:r>
              <a:rPr lang="en-US" dirty="0"/>
              <a:t>31 people from 157 to </a:t>
            </a:r>
            <a:r>
              <a:rPr lang="en-US" dirty="0" smtClean="0"/>
              <a:t>162cm</a:t>
            </a:r>
            <a:endParaRPr lang="en-US" dirty="0"/>
          </a:p>
          <a:p>
            <a:pPr marL="0" indent="0">
              <a:buNone/>
            </a:pPr>
            <a:r>
              <a:rPr lang="en-US" dirty="0"/>
              <a:t>46 people from 163 to </a:t>
            </a:r>
            <a:r>
              <a:rPr lang="en-US" dirty="0" smtClean="0"/>
              <a:t>168cm</a:t>
            </a:r>
          </a:p>
          <a:p>
            <a:pPr marL="0" indent="0">
              <a:buNone/>
            </a:pPr>
            <a:r>
              <a:rPr lang="en-US" dirty="0" smtClean="0"/>
              <a:t>53 people from 168 to 173cm</a:t>
            </a:r>
          </a:p>
          <a:p>
            <a:pPr marL="0" indent="0">
              <a:buNone/>
            </a:pPr>
            <a:r>
              <a:rPr lang="en-US" dirty="0" smtClean="0"/>
              <a:t>45 </a:t>
            </a:r>
            <a:r>
              <a:rPr lang="en-US" dirty="0"/>
              <a:t>people from 173 to 178cm</a:t>
            </a:r>
          </a:p>
          <a:p>
            <a:pPr marL="0" indent="0">
              <a:buNone/>
            </a:pPr>
            <a:r>
              <a:rPr lang="en-US" dirty="0"/>
              <a:t>28 people from 179 to 184cm</a:t>
            </a:r>
          </a:p>
          <a:p>
            <a:pPr marL="0" indent="0">
              <a:buNone/>
            </a:pPr>
            <a:r>
              <a:rPr lang="en-US" dirty="0"/>
              <a:t>21 people from 185 to 190cm</a:t>
            </a:r>
          </a:p>
          <a:p>
            <a:pPr marL="0" indent="0">
              <a:buNone/>
            </a:pPr>
            <a:r>
              <a:rPr lang="en-US" dirty="0"/>
              <a:t>4 people from 190 to 195cm</a:t>
            </a:r>
          </a:p>
        </p:txBody>
      </p:sp>
    </p:spTree>
    <p:extLst>
      <p:ext uri="{BB962C8B-B14F-4D97-AF65-F5344CB8AC3E}">
        <p14:creationId xmlns:p14="http://schemas.microsoft.com/office/powerpoint/2010/main" val="128844136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a:t>Histogram</a:t>
            </a:r>
          </a:p>
        </p:txBody>
      </p:sp>
      <p:sp>
        <p:nvSpPr>
          <p:cNvPr id="3" name="Content Placeholder 2"/>
          <p:cNvSpPr>
            <a:spLocks noGrp="1"/>
          </p:cNvSpPr>
          <p:nvPr>
            <p:ph sz="quarter" idx="1"/>
          </p:nvPr>
        </p:nvSpPr>
        <p:spPr>
          <a:xfrm>
            <a:off x="457200" y="838200"/>
            <a:ext cx="7696200" cy="5638800"/>
          </a:xfrm>
        </p:spPr>
        <p:txBody>
          <a:bodyPr>
            <a:normAutofit lnSpcReduction="10000"/>
          </a:bodyPr>
          <a:lstStyle/>
          <a:p>
            <a:r>
              <a:rPr lang="en-US" dirty="0"/>
              <a:t>In </a:t>
            </a:r>
            <a:r>
              <a:rPr lang="en-US" dirty="0" err="1"/>
              <a:t>Matplotlib</a:t>
            </a:r>
            <a:r>
              <a:rPr lang="en-US" dirty="0"/>
              <a:t>, we use the </a:t>
            </a:r>
            <a:r>
              <a:rPr lang="en-US" dirty="0" err="1"/>
              <a:t>hist</a:t>
            </a:r>
            <a:r>
              <a:rPr lang="en-US" dirty="0"/>
              <a:t>() function to create histograms</a:t>
            </a:r>
            <a:r>
              <a:rPr lang="en-US" dirty="0" smtClean="0"/>
              <a:t>.</a:t>
            </a:r>
            <a:endParaRPr lang="en-US" dirty="0"/>
          </a:p>
          <a:p>
            <a:r>
              <a:rPr lang="en-US" dirty="0"/>
              <a:t>The </a:t>
            </a:r>
            <a:r>
              <a:rPr lang="en-US" dirty="0" err="1"/>
              <a:t>hist</a:t>
            </a:r>
            <a:r>
              <a:rPr lang="en-US" dirty="0"/>
              <a:t>() function will use an array of numbers to create a histogram, the array is sent into the function as an argument</a:t>
            </a:r>
            <a:r>
              <a:rPr lang="en-US" dirty="0" smtClean="0"/>
              <a:t>.</a:t>
            </a:r>
            <a:endParaRPr lang="en-US" dirty="0"/>
          </a:p>
          <a:p>
            <a:r>
              <a:rPr lang="en-US" dirty="0"/>
              <a:t>For simplicity we use </a:t>
            </a:r>
            <a:r>
              <a:rPr lang="en-US" dirty="0" err="1"/>
              <a:t>NumPy</a:t>
            </a:r>
            <a:r>
              <a:rPr lang="en-US" dirty="0"/>
              <a:t> to randomly generate an array with 250 values, where the values will concentrate around 170, and the standard deviation is 10</a:t>
            </a:r>
            <a:r>
              <a:rPr lang="en-US"/>
              <a:t>. </a:t>
            </a:r>
            <a:endParaRPr lang="en-US" dirty="0"/>
          </a:p>
          <a:p>
            <a:r>
              <a:rPr lang="en-US" dirty="0" smtClean="0"/>
              <a:t>Example:</a:t>
            </a:r>
            <a:endParaRPr lang="en-US" dirty="0"/>
          </a:p>
          <a:p>
            <a:pPr marL="0" indent="0">
              <a:buNone/>
            </a:pPr>
            <a:r>
              <a:rPr lang="en-US" dirty="0"/>
              <a:t>import </a:t>
            </a:r>
            <a:r>
              <a:rPr lang="en-US" dirty="0" err="1"/>
              <a:t>numpy</a:t>
            </a:r>
            <a:r>
              <a:rPr lang="en-US" dirty="0"/>
              <a:t> as </a:t>
            </a:r>
            <a:r>
              <a:rPr lang="en-US" dirty="0" err="1" smtClean="0"/>
              <a:t>np</a:t>
            </a:r>
            <a:endParaRPr lang="en-US" dirty="0"/>
          </a:p>
          <a:p>
            <a:pPr marL="0" indent="0">
              <a:buNone/>
            </a:pPr>
            <a:r>
              <a:rPr lang="en-US" dirty="0"/>
              <a:t>x = </a:t>
            </a:r>
            <a:r>
              <a:rPr lang="en-US" dirty="0" err="1"/>
              <a:t>np.random.normal</a:t>
            </a:r>
            <a:r>
              <a:rPr lang="en-US" dirty="0"/>
              <a:t>(170, 10, 250)</a:t>
            </a:r>
          </a:p>
          <a:p>
            <a:pPr marL="0" indent="0">
              <a:buNone/>
            </a:pPr>
            <a:r>
              <a:rPr lang="en-US" dirty="0" err="1"/>
              <a:t>plt.hist</a:t>
            </a:r>
            <a:r>
              <a:rPr lang="en-US" dirty="0"/>
              <a:t>(x)</a:t>
            </a:r>
          </a:p>
          <a:p>
            <a:pPr marL="0" indent="0">
              <a:buNone/>
            </a:pPr>
            <a:r>
              <a:rPr lang="en-US" dirty="0" err="1"/>
              <a:t>plt.show</a:t>
            </a:r>
            <a:r>
              <a:rPr lang="en-US" dirty="0"/>
              <a:t>()</a:t>
            </a:r>
          </a:p>
        </p:txBody>
      </p:sp>
    </p:spTree>
    <p:extLst>
      <p:ext uri="{BB962C8B-B14F-4D97-AF65-F5344CB8AC3E}">
        <p14:creationId xmlns:p14="http://schemas.microsoft.com/office/powerpoint/2010/main" val="2784987908"/>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685800"/>
          </a:xfrm>
        </p:spPr>
        <p:txBody>
          <a:bodyPr>
            <a:normAutofit/>
          </a:bodyPr>
          <a:lstStyle/>
          <a:p>
            <a:pPr algn="ctr"/>
            <a:r>
              <a:rPr lang="en-US" sz="3600" b="1" dirty="0" smtClean="0"/>
              <a:t>Histogram</a:t>
            </a:r>
            <a:endParaRPr lang="en-US" sz="3600" b="1" dirty="0"/>
          </a:p>
        </p:txBody>
      </p:sp>
      <p:pic>
        <p:nvPicPr>
          <p:cNvPr id="5" name="Picture 4" descr="https://www.w3schools.com/python/img_matplotlib_histogram1.png"/>
          <p:cNvPicPr/>
          <p:nvPr/>
        </p:nvPicPr>
        <p:blipFill>
          <a:blip r:embed="rId2">
            <a:extLst>
              <a:ext uri="{28A0092B-C50C-407E-A947-70E740481C1C}">
                <a14:useLocalDpi xmlns:a14="http://schemas.microsoft.com/office/drawing/2010/main" val="0"/>
              </a:ext>
            </a:extLst>
          </a:blip>
          <a:srcRect/>
          <a:stretch>
            <a:fillRect/>
          </a:stretch>
        </p:blipFill>
        <p:spPr bwMode="auto">
          <a:xfrm>
            <a:off x="533400" y="838200"/>
            <a:ext cx="7467600" cy="5648325"/>
          </a:xfrm>
          <a:prstGeom prst="rect">
            <a:avLst/>
          </a:prstGeom>
          <a:noFill/>
          <a:ln>
            <a:noFill/>
          </a:ln>
        </p:spPr>
      </p:pic>
    </p:spTree>
    <p:extLst>
      <p:ext uri="{BB962C8B-B14F-4D97-AF65-F5344CB8AC3E}">
        <p14:creationId xmlns:p14="http://schemas.microsoft.com/office/powerpoint/2010/main" val="427391884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3687</TotalTime>
  <Words>4637</Words>
  <Application>Microsoft Office PowerPoint</Application>
  <PresentationFormat>On-screen Show (4:3)</PresentationFormat>
  <Paragraphs>936</Paragraphs>
  <Slides>120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120</vt:i4>
      </vt:variant>
    </vt:vector>
  </HeadingPairs>
  <TitlesOfParts>
    <vt:vector size="124" baseType="lpstr">
      <vt:lpstr>Century Schoolbook</vt:lpstr>
      <vt:lpstr>Wingdings</vt:lpstr>
      <vt:lpstr>Wingdings 2</vt:lpstr>
      <vt:lpstr>Oriel</vt:lpstr>
      <vt:lpstr>Python Programming</vt:lpstr>
      <vt:lpstr>Numpy Introduction</vt:lpstr>
      <vt:lpstr>Advantages of Numpy</vt:lpstr>
      <vt:lpstr>PowerPoint Presentation</vt:lpstr>
      <vt:lpstr>Numpy</vt:lpstr>
      <vt:lpstr>Numpy</vt:lpstr>
      <vt:lpstr> NumPy ndarray Object</vt:lpstr>
      <vt:lpstr> 1-D Array</vt:lpstr>
      <vt:lpstr> 2-D Array</vt:lpstr>
      <vt:lpstr> 3-D Array</vt:lpstr>
      <vt:lpstr> Array Indexing</vt:lpstr>
      <vt:lpstr> Array Indexing</vt:lpstr>
      <vt:lpstr> Array Slicing</vt:lpstr>
      <vt:lpstr> Array Slicing</vt:lpstr>
      <vt:lpstr> Array Slicing</vt:lpstr>
      <vt:lpstr> Array Slicing</vt:lpstr>
      <vt:lpstr> Shape and Size of Array</vt:lpstr>
      <vt:lpstr>Reshaping the Array</vt:lpstr>
      <vt:lpstr>Reshaping the Array</vt:lpstr>
      <vt:lpstr>Iterating Array</vt:lpstr>
      <vt:lpstr>Iterating Array</vt:lpstr>
      <vt:lpstr>Numpy Built-in Functions</vt:lpstr>
      <vt:lpstr>Concatenate </vt:lpstr>
      <vt:lpstr>Concatenate </vt:lpstr>
      <vt:lpstr>Concatenate </vt:lpstr>
      <vt:lpstr>Concatenate </vt:lpstr>
      <vt:lpstr>Concatenate </vt:lpstr>
      <vt:lpstr>Concatenate </vt:lpstr>
      <vt:lpstr>Append</vt:lpstr>
      <vt:lpstr>Append</vt:lpstr>
      <vt:lpstr>Append</vt:lpstr>
      <vt:lpstr>Append</vt:lpstr>
      <vt:lpstr>Sort</vt:lpstr>
      <vt:lpstr>Sort</vt:lpstr>
      <vt:lpstr>Sort</vt:lpstr>
      <vt:lpstr>Sort</vt:lpstr>
      <vt:lpstr>Sort</vt:lpstr>
      <vt:lpstr>Where</vt:lpstr>
      <vt:lpstr>Where</vt:lpstr>
      <vt:lpstr>Where</vt:lpstr>
      <vt:lpstr>Where</vt:lpstr>
      <vt:lpstr>Random</vt:lpstr>
      <vt:lpstr>Random</vt:lpstr>
      <vt:lpstr>Random</vt:lpstr>
      <vt:lpstr>Random</vt:lpstr>
      <vt:lpstr>Differences-</vt:lpstr>
      <vt:lpstr>Random</vt:lpstr>
      <vt:lpstr>Random</vt:lpstr>
      <vt:lpstr>Matplotlib Introduction</vt:lpstr>
      <vt:lpstr>Pyplot</vt:lpstr>
      <vt:lpstr>Pyplot</vt:lpstr>
      <vt:lpstr>Pyplot</vt:lpstr>
      <vt:lpstr>Plotting Without Line</vt:lpstr>
      <vt:lpstr>Plotting Without Line</vt:lpstr>
      <vt:lpstr>Multiple Points</vt:lpstr>
      <vt:lpstr>Multiple Points</vt:lpstr>
      <vt:lpstr>Default X-Points</vt:lpstr>
      <vt:lpstr>Default X-Points</vt:lpstr>
      <vt:lpstr>Markers</vt:lpstr>
      <vt:lpstr>Markers</vt:lpstr>
      <vt:lpstr>Markers</vt:lpstr>
      <vt:lpstr>Markers</vt:lpstr>
      <vt:lpstr>Marker Reference</vt:lpstr>
      <vt:lpstr>Markers</vt:lpstr>
      <vt:lpstr>Markers</vt:lpstr>
      <vt:lpstr>Linestyle</vt:lpstr>
      <vt:lpstr>Linestyle</vt:lpstr>
      <vt:lpstr>Linestyle Reference</vt:lpstr>
      <vt:lpstr>Linecolor</vt:lpstr>
      <vt:lpstr>Linecolor</vt:lpstr>
      <vt:lpstr>Linewidth</vt:lpstr>
      <vt:lpstr>Linecolor</vt:lpstr>
      <vt:lpstr>Multiple lines</vt:lpstr>
      <vt:lpstr>Linecolor</vt:lpstr>
      <vt:lpstr>Labels for Plot</vt:lpstr>
      <vt:lpstr>Labels for Plot</vt:lpstr>
      <vt:lpstr>Title for Plot</vt:lpstr>
      <vt:lpstr>Title for Plot</vt:lpstr>
      <vt:lpstr>Font Properties</vt:lpstr>
      <vt:lpstr>Font Properties</vt:lpstr>
      <vt:lpstr>Position the Title</vt:lpstr>
      <vt:lpstr>Position the Title</vt:lpstr>
      <vt:lpstr>Grid</vt:lpstr>
      <vt:lpstr>Grid</vt:lpstr>
      <vt:lpstr>Specific Gridlines</vt:lpstr>
      <vt:lpstr>Subplot</vt:lpstr>
      <vt:lpstr>Subplot</vt:lpstr>
      <vt:lpstr>Subplot</vt:lpstr>
      <vt:lpstr>Subplot</vt:lpstr>
      <vt:lpstr>Subplot</vt:lpstr>
      <vt:lpstr>Super title in Subplot</vt:lpstr>
      <vt:lpstr>Scatter Plot</vt:lpstr>
      <vt:lpstr>Scatter Plot</vt:lpstr>
      <vt:lpstr>Scatter Plot</vt:lpstr>
      <vt:lpstr>Compare Plots</vt:lpstr>
      <vt:lpstr>Compare Plot</vt:lpstr>
      <vt:lpstr>Colors</vt:lpstr>
      <vt:lpstr>Bar Graph</vt:lpstr>
      <vt:lpstr>Bar Graph</vt:lpstr>
      <vt:lpstr>Horizontal Bar graph</vt:lpstr>
      <vt:lpstr>Horizontal Bar Graph</vt:lpstr>
      <vt:lpstr>Bar Color</vt:lpstr>
      <vt:lpstr>PowerPoint Presentation</vt:lpstr>
      <vt:lpstr>Pie Chart</vt:lpstr>
      <vt:lpstr>Pie Chart</vt:lpstr>
      <vt:lpstr>Pie Chart</vt:lpstr>
      <vt:lpstr>Labels</vt:lpstr>
      <vt:lpstr>Labels</vt:lpstr>
      <vt:lpstr>Start angle</vt:lpstr>
      <vt:lpstr>Start angle</vt:lpstr>
      <vt:lpstr>Explode</vt:lpstr>
      <vt:lpstr>Explode</vt:lpstr>
      <vt:lpstr>Shadow</vt:lpstr>
      <vt:lpstr>Colors</vt:lpstr>
      <vt:lpstr>Legend</vt:lpstr>
      <vt:lpstr>Legend With Header</vt:lpstr>
      <vt:lpstr>Histogram</vt:lpstr>
      <vt:lpstr>Histogram</vt:lpstr>
      <vt:lpstr>Histogram</vt:lpstr>
      <vt:lpstr>Histogram</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dc:title>
  <dc:creator>Admin</dc:creator>
  <cp:lastModifiedBy>LJMCA</cp:lastModifiedBy>
  <cp:revision>454</cp:revision>
  <dcterms:created xsi:type="dcterms:W3CDTF">2022-12-07T08:20:55Z</dcterms:created>
  <dcterms:modified xsi:type="dcterms:W3CDTF">2026-03-24T04:44:08Z</dcterms:modified>
</cp:coreProperties>
</file>