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6" r:id="rId29"/>
    <p:sldId id="287" r:id="rId30"/>
    <p:sldId id="288" r:id="rId31"/>
    <p:sldId id="289" r:id="rId32"/>
    <p:sldId id="290" r:id="rId33"/>
    <p:sldId id="291" r:id="rId34"/>
    <p:sldId id="292" r:id="rId35"/>
    <p:sldId id="293" r:id="rId36"/>
    <p:sldId id="294" r:id="rId37"/>
    <p:sldId id="284" r:id="rId38"/>
    <p:sldId id="285"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6" r:id="rId60"/>
    <p:sldId id="315" r:id="rId61"/>
    <p:sldId id="317" r:id="rId62"/>
    <p:sldId id="318" r:id="rId63"/>
    <p:sldId id="319" r:id="rId64"/>
    <p:sldId id="320" r:id="rId65"/>
    <p:sldId id="321" r:id="rId66"/>
    <p:sldId id="322" r:id="rId67"/>
    <p:sldId id="323" r:id="rId68"/>
    <p:sldId id="324" r:id="rId69"/>
    <p:sldId id="325" r:id="rId70"/>
    <p:sldId id="326"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50" autoAdjust="0"/>
    <p:restoredTop sz="94660"/>
  </p:normalViewPr>
  <p:slideViewPr>
    <p:cSldViewPr>
      <p:cViewPr varScale="1">
        <p:scale>
          <a:sx n="71" d="100"/>
          <a:sy n="71" d="100"/>
        </p:scale>
        <p:origin x="1248"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2EE44503-FE7E-4C0C-8245-C02E3AB3C728}" type="datetimeFigureOut">
              <a:rPr lang="en-US" smtClean="0"/>
              <a:t>12/17/2024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8EBE090-F79D-4A56-8956-121B71D70E5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2EE44503-FE7E-4C0C-8245-C02E3AB3C728}" type="datetimeFigureOut">
              <a:rPr lang="en-US" smtClean="0"/>
              <a:t>12/17/2024</a:t>
            </a:fld>
            <a:endParaRPr lang="en-US"/>
          </a:p>
        </p:txBody>
      </p:sp>
      <p:sp>
        <p:nvSpPr>
          <p:cNvPr id="9" name="Slide Number Placeholder 8"/>
          <p:cNvSpPr>
            <a:spLocks noGrp="1"/>
          </p:cNvSpPr>
          <p:nvPr>
            <p:ph type="sldNum" sz="quarter" idx="15"/>
          </p:nvPr>
        </p:nvSpPr>
        <p:spPr/>
        <p:txBody>
          <a:bodyPr rtlCol="0"/>
          <a:lstStyle/>
          <a:p>
            <a:fld id="{38EBE090-F79D-4A56-8956-121B71D70E5E}"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2EE44503-FE7E-4C0C-8245-C02E3AB3C728}" type="datetimeFigureOut">
              <a:rPr lang="en-US" smtClean="0"/>
              <a:t>12/17/2024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8EBE090-F79D-4A56-8956-121B71D70E5E}"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EE44503-FE7E-4C0C-8245-C02E3AB3C728}" type="datetimeFigureOut">
              <a:rPr lang="en-US" smtClean="0"/>
              <a:t>12/17/2024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EBE090-F79D-4A56-8956-121B71D70E5E}"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2EE44503-FE7E-4C0C-8245-C02E3AB3C728}" type="datetimeFigureOut">
              <a:rPr lang="en-US" smtClean="0"/>
              <a:t>12/17/2024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EBE090-F79D-4A56-8956-121B71D70E5E}"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2EE44503-FE7E-4C0C-8245-C02E3AB3C728}" type="datetimeFigureOut">
              <a:rPr lang="en-US" smtClean="0"/>
              <a:t>12/17/2024</a:t>
            </a:fld>
            <a:endParaRPr lang="en-US"/>
          </a:p>
        </p:txBody>
      </p:sp>
      <p:sp>
        <p:nvSpPr>
          <p:cNvPr id="7" name="Slide Number Placeholder 6"/>
          <p:cNvSpPr>
            <a:spLocks noGrp="1"/>
          </p:cNvSpPr>
          <p:nvPr>
            <p:ph type="sldNum" sz="quarter" idx="11"/>
          </p:nvPr>
        </p:nvSpPr>
        <p:spPr/>
        <p:txBody>
          <a:bodyPr rtlCol="0"/>
          <a:lstStyle/>
          <a:p>
            <a:fld id="{38EBE090-F79D-4A56-8956-121B71D70E5E}"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E44503-FE7E-4C0C-8245-C02E3AB3C728}" type="datetimeFigureOut">
              <a:rPr lang="en-US" smtClean="0"/>
              <a:t>12/17/2024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EBE090-F79D-4A56-8956-121B71D70E5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2EE44503-FE7E-4C0C-8245-C02E3AB3C728}" type="datetimeFigureOut">
              <a:rPr lang="en-US" smtClean="0"/>
              <a:t>12/17/2024</a:t>
            </a:fld>
            <a:endParaRPr lang="en-US"/>
          </a:p>
        </p:txBody>
      </p:sp>
      <p:sp>
        <p:nvSpPr>
          <p:cNvPr id="22" name="Slide Number Placeholder 21"/>
          <p:cNvSpPr>
            <a:spLocks noGrp="1"/>
          </p:cNvSpPr>
          <p:nvPr>
            <p:ph type="sldNum" sz="quarter" idx="15"/>
          </p:nvPr>
        </p:nvSpPr>
        <p:spPr/>
        <p:txBody>
          <a:bodyPr rtlCol="0"/>
          <a:lstStyle/>
          <a:p>
            <a:fld id="{38EBE090-F79D-4A56-8956-121B71D70E5E}"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2EE44503-FE7E-4C0C-8245-C02E3AB3C728}" type="datetimeFigureOut">
              <a:rPr lang="en-US" smtClean="0"/>
              <a:t>12/17/2024</a:t>
            </a:fld>
            <a:endParaRPr lang="en-US"/>
          </a:p>
        </p:txBody>
      </p:sp>
      <p:sp>
        <p:nvSpPr>
          <p:cNvPr id="18" name="Slide Number Placeholder 17"/>
          <p:cNvSpPr>
            <a:spLocks noGrp="1"/>
          </p:cNvSpPr>
          <p:nvPr>
            <p:ph type="sldNum" sz="quarter" idx="11"/>
          </p:nvPr>
        </p:nvSpPr>
        <p:spPr/>
        <p:txBody>
          <a:bodyPr rtlCol="0"/>
          <a:lstStyle/>
          <a:p>
            <a:fld id="{38EBE090-F79D-4A56-8956-121B71D70E5E}"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E44503-FE7E-4C0C-8245-C02E3AB3C728}" type="datetimeFigureOut">
              <a:rPr lang="en-US" smtClean="0"/>
              <a:t>12/17/2024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BE090-F79D-4A56-8956-121B71D70E5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E44503-FE7E-4C0C-8245-C02E3AB3C728}" type="datetimeFigureOut">
              <a:rPr lang="en-US" smtClean="0"/>
              <a:t>12/17/2024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BE090-F79D-4A56-8956-121B71D70E5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EE44503-FE7E-4C0C-8245-C02E3AB3C728}" type="datetimeFigureOut">
              <a:rPr lang="en-US" smtClean="0"/>
              <a:t>12/17/2024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8EBE090-F79D-4A56-8956-121B71D70E5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76200"/>
            <a:ext cx="7543800" cy="1524000"/>
          </a:xfrm>
        </p:spPr>
        <p:txBody>
          <a:bodyPr>
            <a:normAutofit/>
          </a:bodyPr>
          <a:lstStyle/>
          <a:p>
            <a:r>
              <a:rPr lang="en-US" sz="4400" dirty="0" smtClean="0"/>
              <a:t>Python Programming</a:t>
            </a:r>
            <a:endParaRPr lang="en-US" sz="4400" dirty="0"/>
          </a:p>
        </p:txBody>
      </p:sp>
      <p:sp>
        <p:nvSpPr>
          <p:cNvPr id="3" name="Subtitle 2"/>
          <p:cNvSpPr>
            <a:spLocks noGrp="1"/>
          </p:cNvSpPr>
          <p:nvPr>
            <p:ph type="subTitle" idx="1"/>
          </p:nvPr>
        </p:nvSpPr>
        <p:spPr>
          <a:xfrm>
            <a:off x="2209800" y="2057400"/>
            <a:ext cx="6172200" cy="4343400"/>
          </a:xfrm>
        </p:spPr>
        <p:txBody>
          <a:bodyPr>
            <a:normAutofit fontScale="92500"/>
          </a:bodyPr>
          <a:lstStyle/>
          <a:p>
            <a:r>
              <a:rPr lang="en-US" sz="2000" u="sng" dirty="0" smtClean="0"/>
              <a:t>Unit -1 :  Introduction to Python and </a:t>
            </a:r>
            <a:r>
              <a:rPr lang="en-US" sz="2000" u="sng" dirty="0" err="1" smtClean="0"/>
              <a:t>Jupyter</a:t>
            </a:r>
            <a:r>
              <a:rPr lang="en-US" sz="2000" u="sng" dirty="0" smtClean="0"/>
              <a:t> Notebook</a:t>
            </a:r>
          </a:p>
          <a:p>
            <a:endParaRPr lang="en-US" sz="2000" u="sng" dirty="0" smtClean="0"/>
          </a:p>
          <a:p>
            <a:r>
              <a:rPr lang="en-US" dirty="0"/>
              <a:t>Topics : Introduction to Python Programming Language, Features of Python and its origin, Introduction to </a:t>
            </a:r>
            <a:r>
              <a:rPr lang="en-US" dirty="0" err="1"/>
              <a:t>Jupyter</a:t>
            </a:r>
            <a:r>
              <a:rPr lang="en-US" dirty="0"/>
              <a:t> Notebook, Basic </a:t>
            </a:r>
            <a:r>
              <a:rPr lang="en-US" dirty="0" err="1"/>
              <a:t>Datatype</a:t>
            </a:r>
            <a:r>
              <a:rPr lang="en-US" dirty="0"/>
              <a:t> – Integers, Boolean, Floats, Strings, type() function, typecasting, Declaring and using variables, Comments, Reading input from users, printing output, Operator in python (Arithmetic Operators, Logical Operators, Membership Operators, Assignment Operators, Comparison Operators, Ternary Operators)Operator precedence</a:t>
            </a:r>
          </a:p>
          <a:p>
            <a:r>
              <a:rPr lang="en-US" dirty="0"/>
              <a:t>Basic Programming Style of Python, Memory Management scheme adopted in Python.</a:t>
            </a:r>
          </a:p>
          <a:p>
            <a:endParaRPr lang="en-US" dirty="0" smtClean="0"/>
          </a:p>
          <a:p>
            <a:endParaRPr lang="en-US" dirty="0"/>
          </a:p>
        </p:txBody>
      </p:sp>
    </p:spTree>
    <p:extLst>
      <p:ext uri="{BB962C8B-B14F-4D97-AF65-F5344CB8AC3E}">
        <p14:creationId xmlns:p14="http://schemas.microsoft.com/office/powerpoint/2010/main" val="21627856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Python Introduction</a:t>
            </a:r>
            <a:endParaRPr lang="en-US" sz="3600" b="1" dirty="0"/>
          </a:p>
        </p:txBody>
      </p:sp>
      <p:sp>
        <p:nvSpPr>
          <p:cNvPr id="3" name="Content Placeholder 2"/>
          <p:cNvSpPr>
            <a:spLocks noGrp="1"/>
          </p:cNvSpPr>
          <p:nvPr>
            <p:ph sz="quarter" idx="1"/>
          </p:nvPr>
        </p:nvSpPr>
        <p:spPr>
          <a:xfrm>
            <a:off x="457200" y="1371600"/>
            <a:ext cx="7467600" cy="5102352"/>
          </a:xfrm>
        </p:spPr>
        <p:txBody>
          <a:bodyPr>
            <a:normAutofit fontScale="92500"/>
          </a:bodyPr>
          <a:lstStyle/>
          <a:p>
            <a:r>
              <a:rPr lang="en-US" dirty="0"/>
              <a:t>Python is a dynamic, interpreted (</a:t>
            </a:r>
            <a:r>
              <a:rPr lang="en-US" dirty="0" err="1"/>
              <a:t>bytecode</a:t>
            </a:r>
            <a:r>
              <a:rPr lang="en-US" dirty="0"/>
              <a:t>-compiled) language. There are no type declarations of variables, parameters, functions, or methods in source code. This makes the code short and flexible, and you lose the compile-time type checking of the source code. Python tracks the types of all values at runtime and flags code that does not make sense as it runs.</a:t>
            </a:r>
            <a:endParaRPr lang="en-US" dirty="0" smtClean="0"/>
          </a:p>
          <a:p>
            <a:pPr marL="0" indent="0">
              <a:buNone/>
            </a:pPr>
            <a:endParaRPr lang="en-US" dirty="0" smtClean="0"/>
          </a:p>
          <a:p>
            <a:r>
              <a:rPr lang="en-US" dirty="0" smtClean="0"/>
              <a:t>Python </a:t>
            </a:r>
            <a:r>
              <a:rPr lang="en-US" dirty="0"/>
              <a:t>is a popular programming language. It was created by Guido van </a:t>
            </a:r>
            <a:r>
              <a:rPr lang="en-US" dirty="0" err="1"/>
              <a:t>Rossum</a:t>
            </a:r>
            <a:r>
              <a:rPr lang="en-US" dirty="0"/>
              <a:t>, and released in 1991</a:t>
            </a:r>
            <a:r>
              <a:rPr lang="en-US" dirty="0" smtClean="0"/>
              <a:t>.</a:t>
            </a:r>
          </a:p>
          <a:p>
            <a:endParaRPr lang="en-US" dirty="0"/>
          </a:p>
          <a:p>
            <a:r>
              <a:rPr lang="en-US" dirty="0"/>
              <a:t>It is used </a:t>
            </a:r>
            <a:r>
              <a:rPr lang="en-US" dirty="0" smtClean="0"/>
              <a:t>for web </a:t>
            </a:r>
            <a:r>
              <a:rPr lang="en-US" dirty="0"/>
              <a:t>development (server-side</a:t>
            </a:r>
            <a:r>
              <a:rPr lang="en-US" dirty="0" smtClean="0"/>
              <a:t>), software development, mathematics, system </a:t>
            </a:r>
            <a:r>
              <a:rPr lang="en-US" dirty="0"/>
              <a:t>scripting.</a:t>
            </a:r>
          </a:p>
        </p:txBody>
      </p:sp>
    </p:spTree>
    <p:extLst>
      <p:ext uri="{BB962C8B-B14F-4D97-AF65-F5344CB8AC3E}">
        <p14:creationId xmlns:p14="http://schemas.microsoft.com/office/powerpoint/2010/main" val="7112349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792162"/>
          </a:xfrm>
        </p:spPr>
        <p:txBody>
          <a:bodyPr>
            <a:normAutofit/>
          </a:bodyPr>
          <a:lstStyle/>
          <a:p>
            <a:pPr algn="ctr"/>
            <a:r>
              <a:rPr lang="en-US" sz="3600" b="1" dirty="0" smtClean="0"/>
              <a:t>Why Python?</a:t>
            </a:r>
            <a:endParaRPr lang="en-US" sz="3600" b="1" dirty="0"/>
          </a:p>
        </p:txBody>
      </p:sp>
      <p:sp>
        <p:nvSpPr>
          <p:cNvPr id="3" name="Content Placeholder 2"/>
          <p:cNvSpPr>
            <a:spLocks noGrp="1"/>
          </p:cNvSpPr>
          <p:nvPr>
            <p:ph sz="quarter" idx="1"/>
          </p:nvPr>
        </p:nvSpPr>
        <p:spPr>
          <a:xfrm>
            <a:off x="457200" y="1219200"/>
            <a:ext cx="7696200" cy="5334000"/>
          </a:xfrm>
        </p:spPr>
        <p:txBody>
          <a:bodyPr>
            <a:normAutofit lnSpcReduction="10000"/>
          </a:bodyPr>
          <a:lstStyle/>
          <a:p>
            <a:r>
              <a:rPr lang="en-US" dirty="0"/>
              <a:t>Python works on different platforms (Windows, Mac, Linux, Raspberry Pi, </a:t>
            </a:r>
            <a:r>
              <a:rPr lang="en-US" dirty="0" err="1"/>
              <a:t>etc</a:t>
            </a:r>
            <a:r>
              <a:rPr lang="en-US" dirty="0" smtClean="0"/>
              <a:t>).</a:t>
            </a:r>
          </a:p>
          <a:p>
            <a:r>
              <a:rPr lang="en-US" dirty="0"/>
              <a:t>Python has a simple syntax similar to the English language.</a:t>
            </a:r>
          </a:p>
          <a:p>
            <a:r>
              <a:rPr lang="en-US" dirty="0"/>
              <a:t>Python has syntax that allows developers to write programs with fewer lines than some other programming languages</a:t>
            </a:r>
            <a:r>
              <a:rPr lang="en-US" dirty="0" smtClean="0"/>
              <a:t>.</a:t>
            </a:r>
          </a:p>
          <a:p>
            <a:r>
              <a:rPr lang="en-US" dirty="0"/>
              <a:t>Python runs on an interpreter system, meaning that code can be executed as soon as it is written. This means that prototyping can be very quick.</a:t>
            </a:r>
          </a:p>
          <a:p>
            <a:r>
              <a:rPr lang="en-US" dirty="0"/>
              <a:t>Python can be treated in a procedural way, an object-oriented </a:t>
            </a:r>
            <a:r>
              <a:rPr lang="en-US" dirty="0" smtClean="0"/>
              <a:t>way </a:t>
            </a:r>
            <a:r>
              <a:rPr lang="en-US" dirty="0"/>
              <a:t>or a functional way</a:t>
            </a:r>
            <a:r>
              <a:rPr lang="en-US" dirty="0" smtClean="0"/>
              <a:t>.</a:t>
            </a:r>
          </a:p>
          <a:p>
            <a:r>
              <a:rPr lang="en-US" dirty="0" smtClean="0"/>
              <a:t>In python, Interpreter is use to interpret and run our programs.</a:t>
            </a:r>
            <a:endParaRPr lang="en-US" dirty="0"/>
          </a:p>
        </p:txBody>
      </p:sp>
    </p:spTree>
    <p:extLst>
      <p:ext uri="{BB962C8B-B14F-4D97-AF65-F5344CB8AC3E}">
        <p14:creationId xmlns:p14="http://schemas.microsoft.com/office/powerpoint/2010/main" val="21070359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Advantages Of Python</a:t>
            </a:r>
            <a:endParaRPr lang="en-US" sz="3600" b="1" dirty="0"/>
          </a:p>
        </p:txBody>
      </p:sp>
      <p:sp>
        <p:nvSpPr>
          <p:cNvPr id="3" name="Content Placeholder 2"/>
          <p:cNvSpPr>
            <a:spLocks noGrp="1"/>
          </p:cNvSpPr>
          <p:nvPr>
            <p:ph sz="quarter" idx="1"/>
          </p:nvPr>
        </p:nvSpPr>
        <p:spPr>
          <a:xfrm>
            <a:off x="457200" y="1371600"/>
            <a:ext cx="7467600" cy="5181600"/>
          </a:xfrm>
        </p:spPr>
        <p:txBody>
          <a:bodyPr>
            <a:normAutofit/>
          </a:bodyPr>
          <a:lstStyle/>
          <a:p>
            <a:pPr marL="514350" indent="-514350">
              <a:buFont typeface="+mj-lt"/>
              <a:buAutoNum type="romanUcPeriod"/>
            </a:pPr>
            <a:r>
              <a:rPr lang="en-US" b="1" dirty="0"/>
              <a:t>Extensive Libraries</a:t>
            </a:r>
            <a:r>
              <a:rPr lang="en-US" dirty="0"/>
              <a:t> </a:t>
            </a:r>
            <a:r>
              <a:rPr lang="en-US" dirty="0" smtClean="0"/>
              <a:t>- Python </a:t>
            </a:r>
            <a:r>
              <a:rPr lang="en-US" dirty="0"/>
              <a:t>downloads with an extensive library and contains code for various purposes like regular expressions, documentation-generation, unit-testing, web browsers, threading, databases, CGI, email, image manipulation, and more</a:t>
            </a:r>
            <a:r>
              <a:rPr lang="en-US" dirty="0" smtClean="0"/>
              <a:t>.</a:t>
            </a:r>
          </a:p>
          <a:p>
            <a:pPr marL="514350" indent="-514350">
              <a:buFont typeface="+mj-lt"/>
              <a:buAutoNum type="romanUcPeriod"/>
            </a:pPr>
            <a:endParaRPr lang="en-US" dirty="0"/>
          </a:p>
          <a:p>
            <a:pPr marL="514350" indent="-514350">
              <a:buFont typeface="+mj-lt"/>
              <a:buAutoNum type="romanUcPeriod"/>
            </a:pPr>
            <a:r>
              <a:rPr lang="en-US" b="1" dirty="0" smtClean="0"/>
              <a:t>Extensible</a:t>
            </a:r>
            <a:r>
              <a:rPr lang="en-US" dirty="0" smtClean="0"/>
              <a:t> </a:t>
            </a:r>
            <a:r>
              <a:rPr lang="en-US" dirty="0"/>
              <a:t>- </a:t>
            </a:r>
            <a:r>
              <a:rPr lang="en-US" dirty="0" smtClean="0"/>
              <a:t>Python </a:t>
            </a:r>
            <a:r>
              <a:rPr lang="en-US" dirty="0"/>
              <a:t>can be extended to other languages. You can write some of your code in languages like C++ or C. </a:t>
            </a:r>
            <a:endParaRPr lang="en-US" dirty="0" smtClean="0"/>
          </a:p>
          <a:p>
            <a:pPr marL="514350" indent="-514350">
              <a:buFont typeface="+mj-lt"/>
              <a:buAutoNum type="romanUcPeriod"/>
            </a:pPr>
            <a:endParaRPr lang="en-US" dirty="0"/>
          </a:p>
          <a:p>
            <a:pPr marL="514350" indent="-514350">
              <a:buFont typeface="+mj-lt"/>
              <a:buAutoNum type="romanUcPeriod"/>
            </a:pPr>
            <a:r>
              <a:rPr lang="en-US" b="1" dirty="0" smtClean="0"/>
              <a:t>Simple and Easy - </a:t>
            </a:r>
            <a:r>
              <a:rPr lang="en-US" dirty="0" smtClean="0"/>
              <a:t>It is quite easy to learn, understand, and code.</a:t>
            </a:r>
            <a:endParaRPr lang="en-US" b="1" dirty="0"/>
          </a:p>
        </p:txBody>
      </p:sp>
    </p:spTree>
    <p:extLst>
      <p:ext uri="{BB962C8B-B14F-4D97-AF65-F5344CB8AC3E}">
        <p14:creationId xmlns:p14="http://schemas.microsoft.com/office/powerpoint/2010/main" val="12247940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Advantages Of Python</a:t>
            </a:r>
            <a:endParaRPr lang="en-US" sz="3600" b="1" dirty="0"/>
          </a:p>
        </p:txBody>
      </p:sp>
      <p:sp>
        <p:nvSpPr>
          <p:cNvPr id="3" name="Content Placeholder 2"/>
          <p:cNvSpPr>
            <a:spLocks noGrp="1"/>
          </p:cNvSpPr>
          <p:nvPr>
            <p:ph sz="quarter" idx="1"/>
          </p:nvPr>
        </p:nvSpPr>
        <p:spPr>
          <a:xfrm>
            <a:off x="457200" y="1371600"/>
            <a:ext cx="7467600" cy="5181600"/>
          </a:xfrm>
        </p:spPr>
        <p:txBody>
          <a:bodyPr>
            <a:normAutofit fontScale="92500"/>
          </a:bodyPr>
          <a:lstStyle/>
          <a:p>
            <a:pPr marL="514350" indent="-514350">
              <a:buFont typeface="+mj-lt"/>
              <a:buAutoNum type="romanUcPeriod" startAt="4"/>
            </a:pPr>
            <a:r>
              <a:rPr lang="en-US" b="1" dirty="0" smtClean="0"/>
              <a:t>Embeddable</a:t>
            </a:r>
            <a:r>
              <a:rPr lang="en-US" dirty="0" smtClean="0"/>
              <a:t> </a:t>
            </a:r>
            <a:r>
              <a:rPr lang="en-US" dirty="0"/>
              <a:t>- Complimentary to extensibility, Python is embeddable as well. You can put your Python code in your source code of a different language, like C</a:t>
            </a:r>
            <a:r>
              <a:rPr lang="en-US" dirty="0" smtClean="0"/>
              <a:t>++.</a:t>
            </a:r>
          </a:p>
          <a:p>
            <a:pPr marL="514350" indent="-514350">
              <a:buFont typeface="+mj-lt"/>
              <a:buAutoNum type="romanUcPeriod" startAt="4"/>
            </a:pPr>
            <a:endParaRPr lang="en-US" dirty="0"/>
          </a:p>
          <a:p>
            <a:pPr marL="514350" indent="-514350">
              <a:buFont typeface="+mj-lt"/>
              <a:buAutoNum type="romanUcPeriod" startAt="4"/>
            </a:pPr>
            <a:r>
              <a:rPr lang="en-US" b="1" dirty="0" smtClean="0"/>
              <a:t>Improved Productivity</a:t>
            </a:r>
            <a:r>
              <a:rPr lang="en-US" dirty="0" smtClean="0"/>
              <a:t> </a:t>
            </a:r>
            <a:r>
              <a:rPr lang="en-US" dirty="0"/>
              <a:t>- The language’s simplicity and extensive libraries render programmers more productive than languages like Java and C++ do. Y</a:t>
            </a:r>
            <a:r>
              <a:rPr lang="en-US" dirty="0" smtClean="0"/>
              <a:t>ou </a:t>
            </a:r>
            <a:r>
              <a:rPr lang="en-US" dirty="0"/>
              <a:t>need to write less and get more things done.</a:t>
            </a:r>
          </a:p>
          <a:p>
            <a:pPr marL="514350" indent="-514350">
              <a:buFont typeface="+mj-lt"/>
              <a:buAutoNum type="romanUcPeriod" startAt="4"/>
            </a:pPr>
            <a:endParaRPr lang="en-US" dirty="0" smtClean="0"/>
          </a:p>
          <a:p>
            <a:pPr marL="514350" indent="-514350">
              <a:buFont typeface="+mj-lt"/>
              <a:buAutoNum type="romanUcPeriod" startAt="4"/>
            </a:pPr>
            <a:r>
              <a:rPr lang="en-US" b="1" dirty="0" smtClean="0"/>
              <a:t>IOT Opportunities - </a:t>
            </a:r>
            <a:r>
              <a:rPr lang="en-US" dirty="0"/>
              <a:t>Since Python forms the basis of new platforms like Raspberry Pi, it finds the future bright for the Internet Of Things.</a:t>
            </a:r>
            <a:endParaRPr lang="en-US" b="1" dirty="0"/>
          </a:p>
        </p:txBody>
      </p:sp>
    </p:spTree>
    <p:extLst>
      <p:ext uri="{BB962C8B-B14F-4D97-AF65-F5344CB8AC3E}">
        <p14:creationId xmlns:p14="http://schemas.microsoft.com/office/powerpoint/2010/main" val="5403470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Advantages Of Python</a:t>
            </a:r>
            <a:endParaRPr lang="en-US" sz="3600" b="1" dirty="0"/>
          </a:p>
        </p:txBody>
      </p:sp>
      <p:sp>
        <p:nvSpPr>
          <p:cNvPr id="3" name="Content Placeholder 2"/>
          <p:cNvSpPr>
            <a:spLocks noGrp="1"/>
          </p:cNvSpPr>
          <p:nvPr>
            <p:ph sz="quarter" idx="1"/>
          </p:nvPr>
        </p:nvSpPr>
        <p:spPr>
          <a:xfrm>
            <a:off x="457200" y="1371600"/>
            <a:ext cx="7848600" cy="5181600"/>
          </a:xfrm>
        </p:spPr>
        <p:txBody>
          <a:bodyPr>
            <a:normAutofit fontScale="85000" lnSpcReduction="10000"/>
          </a:bodyPr>
          <a:lstStyle/>
          <a:p>
            <a:pPr marL="514350" indent="-514350">
              <a:buFont typeface="+mj-lt"/>
              <a:buAutoNum type="romanUcPeriod" startAt="7"/>
            </a:pPr>
            <a:r>
              <a:rPr lang="en-US" b="1" dirty="0" smtClean="0"/>
              <a:t>Readable</a:t>
            </a:r>
            <a:r>
              <a:rPr lang="en-US" dirty="0" smtClean="0"/>
              <a:t> </a:t>
            </a:r>
            <a:r>
              <a:rPr lang="en-US" dirty="0"/>
              <a:t>- Because it is not such a verbose language, reading Python is much like reading English. This is the reason why it is so easy to learn, understand, and code. It also does not need curly braces to define blocks, and </a:t>
            </a:r>
            <a:r>
              <a:rPr lang="en-US" u="sng" dirty="0"/>
              <a:t>indentation is mandatory</a:t>
            </a:r>
            <a:r>
              <a:rPr lang="en-US" dirty="0"/>
              <a:t>.</a:t>
            </a:r>
            <a:endParaRPr lang="en-US" dirty="0" smtClean="0"/>
          </a:p>
          <a:p>
            <a:pPr marL="514350" indent="-514350">
              <a:buFont typeface="+mj-lt"/>
              <a:buAutoNum type="romanUcPeriod" startAt="7"/>
            </a:pPr>
            <a:endParaRPr lang="en-US" dirty="0"/>
          </a:p>
          <a:p>
            <a:pPr marL="514350" indent="-514350">
              <a:buFont typeface="+mj-lt"/>
              <a:buAutoNum type="romanUcPeriod" startAt="7"/>
            </a:pPr>
            <a:r>
              <a:rPr lang="en-US" b="1" dirty="0" smtClean="0"/>
              <a:t>Object Oriented</a:t>
            </a:r>
            <a:r>
              <a:rPr lang="en-US" dirty="0" smtClean="0"/>
              <a:t> </a:t>
            </a:r>
            <a:r>
              <a:rPr lang="en-US" dirty="0"/>
              <a:t>- This language supports both the procedural and object-oriented programming </a:t>
            </a:r>
            <a:r>
              <a:rPr lang="en-US" dirty="0" smtClean="0"/>
              <a:t>paradigms</a:t>
            </a:r>
            <a:r>
              <a:rPr lang="en-US" dirty="0"/>
              <a:t>. While functions help us with code reusability, classes and objects let us model the real world. A class allows the encapsulation of data and functions into one.</a:t>
            </a:r>
          </a:p>
          <a:p>
            <a:pPr marL="514350" indent="-514350">
              <a:buFont typeface="+mj-lt"/>
              <a:buAutoNum type="romanUcPeriod" startAt="7"/>
            </a:pPr>
            <a:endParaRPr lang="en-US" dirty="0" smtClean="0"/>
          </a:p>
          <a:p>
            <a:pPr marL="514350" indent="-514350">
              <a:buFont typeface="+mj-lt"/>
              <a:buAutoNum type="romanUcPeriod" startAt="7"/>
            </a:pPr>
            <a:r>
              <a:rPr lang="en-US" b="1" dirty="0" smtClean="0"/>
              <a:t>Free and Open Source - </a:t>
            </a:r>
            <a:r>
              <a:rPr lang="en-US" dirty="0"/>
              <a:t>Python is freely available. But not only can you download Python for free, but you can also download its source code, make changes to it, and even distribute it. It downloads with an extensive collection of libraries to help you with your tasks.</a:t>
            </a:r>
            <a:endParaRPr lang="en-US" b="1" dirty="0"/>
          </a:p>
        </p:txBody>
      </p:sp>
    </p:spTree>
    <p:extLst>
      <p:ext uri="{BB962C8B-B14F-4D97-AF65-F5344CB8AC3E}">
        <p14:creationId xmlns:p14="http://schemas.microsoft.com/office/powerpoint/2010/main" val="31671540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Advantages Of Python</a:t>
            </a:r>
            <a:endParaRPr lang="en-US" sz="3600" b="1" dirty="0"/>
          </a:p>
        </p:txBody>
      </p:sp>
      <p:sp>
        <p:nvSpPr>
          <p:cNvPr id="3" name="Content Placeholder 2"/>
          <p:cNvSpPr>
            <a:spLocks noGrp="1"/>
          </p:cNvSpPr>
          <p:nvPr>
            <p:ph sz="quarter" idx="1"/>
          </p:nvPr>
        </p:nvSpPr>
        <p:spPr>
          <a:xfrm>
            <a:off x="457200" y="1371600"/>
            <a:ext cx="7848600" cy="5181600"/>
          </a:xfrm>
        </p:spPr>
        <p:txBody>
          <a:bodyPr>
            <a:normAutofit/>
          </a:bodyPr>
          <a:lstStyle/>
          <a:p>
            <a:pPr marL="514350" indent="-514350">
              <a:buFont typeface="+mj-lt"/>
              <a:buAutoNum type="romanUcPeriod" startAt="10"/>
            </a:pPr>
            <a:r>
              <a:rPr lang="en-US" sz="2000" b="1" dirty="0" smtClean="0"/>
              <a:t>Portable</a:t>
            </a:r>
            <a:r>
              <a:rPr lang="en-US" sz="2000" dirty="0" smtClean="0"/>
              <a:t> </a:t>
            </a:r>
            <a:r>
              <a:rPr lang="en-US" sz="2000" dirty="0"/>
              <a:t>- Here, you need to code only once, and you can run it anywhere. This is called </a:t>
            </a:r>
            <a:r>
              <a:rPr lang="en-US" sz="2000" u="sng" dirty="0"/>
              <a:t>Write Once Run Anywhere (WORA)</a:t>
            </a:r>
            <a:r>
              <a:rPr lang="en-US" sz="2000" dirty="0"/>
              <a:t>. However, you need to be careful enough not to include any system-dependent features.</a:t>
            </a:r>
            <a:endParaRPr lang="en-US" sz="2000" dirty="0" smtClean="0"/>
          </a:p>
          <a:p>
            <a:pPr marL="514350" indent="-514350">
              <a:buFont typeface="+mj-lt"/>
              <a:buAutoNum type="romanUcPeriod" startAt="10"/>
            </a:pPr>
            <a:endParaRPr lang="en-US" sz="2000" dirty="0"/>
          </a:p>
          <a:p>
            <a:pPr marL="514350" indent="-514350">
              <a:buFont typeface="+mj-lt"/>
              <a:buAutoNum type="romanUcPeriod" startAt="10"/>
            </a:pPr>
            <a:r>
              <a:rPr lang="en-US" sz="2000" b="1" dirty="0" smtClean="0"/>
              <a:t>Interpreted</a:t>
            </a:r>
            <a:r>
              <a:rPr lang="en-US" sz="2000" dirty="0" smtClean="0"/>
              <a:t> </a:t>
            </a:r>
            <a:r>
              <a:rPr lang="en-US" sz="2000" dirty="0"/>
              <a:t>- </a:t>
            </a:r>
            <a:r>
              <a:rPr lang="en-US" sz="2000" dirty="0" smtClean="0"/>
              <a:t>It </a:t>
            </a:r>
            <a:r>
              <a:rPr lang="en-US" sz="2000" dirty="0"/>
              <a:t>is an interpreted language. Since statements are executed one by one, debugging is easier than in compiled languages.</a:t>
            </a:r>
            <a:endParaRPr lang="en-US" sz="2000" b="1" dirty="0"/>
          </a:p>
        </p:txBody>
      </p:sp>
    </p:spTree>
    <p:extLst>
      <p:ext uri="{BB962C8B-B14F-4D97-AF65-F5344CB8AC3E}">
        <p14:creationId xmlns:p14="http://schemas.microsoft.com/office/powerpoint/2010/main" val="18056807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Uses Of Python</a:t>
            </a:r>
            <a:endParaRPr lang="en-US" sz="3600" b="1" dirty="0"/>
          </a:p>
        </p:txBody>
      </p:sp>
      <p:sp>
        <p:nvSpPr>
          <p:cNvPr id="3" name="Content Placeholder 2"/>
          <p:cNvSpPr>
            <a:spLocks noGrp="1"/>
          </p:cNvSpPr>
          <p:nvPr>
            <p:ph sz="quarter" idx="1"/>
          </p:nvPr>
        </p:nvSpPr>
        <p:spPr>
          <a:xfrm>
            <a:off x="457200" y="1371600"/>
            <a:ext cx="7848600" cy="5181600"/>
          </a:xfrm>
        </p:spPr>
        <p:txBody>
          <a:bodyPr>
            <a:normAutofit/>
          </a:bodyPr>
          <a:lstStyle/>
          <a:p>
            <a:r>
              <a:rPr lang="en-US" dirty="0"/>
              <a:t>Python can be used on a server to create web applications</a:t>
            </a:r>
            <a:r>
              <a:rPr lang="en-US" dirty="0" smtClean="0"/>
              <a:t>.</a:t>
            </a:r>
          </a:p>
          <a:p>
            <a:r>
              <a:rPr lang="en-US" dirty="0"/>
              <a:t>Python can be used alongside software to create </a:t>
            </a:r>
            <a:r>
              <a:rPr lang="en-US" dirty="0" smtClean="0"/>
              <a:t>workflows.</a:t>
            </a:r>
          </a:p>
          <a:p>
            <a:r>
              <a:rPr lang="en-US" dirty="0"/>
              <a:t>Python can connect to database systems. It can also read and modify files</a:t>
            </a:r>
            <a:r>
              <a:rPr lang="en-US" dirty="0" smtClean="0"/>
              <a:t>.</a:t>
            </a:r>
          </a:p>
          <a:p>
            <a:r>
              <a:rPr lang="en-US" dirty="0"/>
              <a:t>Python can be used to handle big data and perform complex mathematics</a:t>
            </a:r>
            <a:r>
              <a:rPr lang="en-US" dirty="0" smtClean="0"/>
              <a:t>.</a:t>
            </a:r>
          </a:p>
          <a:p>
            <a:r>
              <a:rPr lang="en-US" dirty="0"/>
              <a:t>Python can be used for rapid prototyping, or for production-ready software development</a:t>
            </a:r>
            <a:r>
              <a:rPr lang="en-US" dirty="0" smtClean="0"/>
              <a:t>.</a:t>
            </a:r>
          </a:p>
          <a:p>
            <a:r>
              <a:rPr lang="en-US" dirty="0" smtClean="0"/>
              <a:t>Example - print(“Hello World”)</a:t>
            </a:r>
          </a:p>
          <a:p>
            <a:pPr marL="0" indent="0">
              <a:buNone/>
            </a:pPr>
            <a:r>
              <a:rPr lang="en-US"/>
              <a:t> </a:t>
            </a:r>
            <a:r>
              <a:rPr lang="en-US" smtClean="0"/>
              <a:t>   Hello World</a:t>
            </a:r>
            <a:endParaRPr lang="en-US" dirty="0"/>
          </a:p>
        </p:txBody>
      </p:sp>
    </p:spTree>
    <p:extLst>
      <p:ext uri="{BB962C8B-B14F-4D97-AF65-F5344CB8AC3E}">
        <p14:creationId xmlns:p14="http://schemas.microsoft.com/office/powerpoint/2010/main" val="27851320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447800"/>
            <a:ext cx="7467600" cy="5026152"/>
          </a:xfrm>
        </p:spPr>
        <p:txBody>
          <a:bodyPr/>
          <a:lstStyle/>
          <a:p>
            <a:r>
              <a:rPr lang="en-US" dirty="0"/>
              <a:t>The </a:t>
            </a:r>
            <a:r>
              <a:rPr lang="en-US" dirty="0" err="1"/>
              <a:t>Jupyter</a:t>
            </a:r>
            <a:r>
              <a:rPr lang="en-US" dirty="0"/>
              <a:t> Notebook is an open source web application that you can use to create and share documents that contain live code, equations, visualizations, and text</a:t>
            </a:r>
            <a:r>
              <a:rPr lang="en-US" dirty="0" smtClean="0"/>
              <a:t>.</a:t>
            </a:r>
          </a:p>
          <a:p>
            <a:r>
              <a:rPr lang="en-US" dirty="0"/>
              <a:t>The next most popular distribution of Python is Anaconda. Anaconda has its own installer tool called </a:t>
            </a:r>
            <a:r>
              <a:rPr lang="en-US" dirty="0" err="1"/>
              <a:t>conda</a:t>
            </a:r>
            <a:r>
              <a:rPr lang="en-US" dirty="0"/>
              <a:t> that you could use for installing a third-party package. However, Anaconda comes with many scientific libraries preinstalled, including the </a:t>
            </a:r>
            <a:r>
              <a:rPr lang="en-US" dirty="0" err="1"/>
              <a:t>Jupyter</a:t>
            </a:r>
            <a:r>
              <a:rPr lang="en-US" dirty="0"/>
              <a:t> Notebook, so you don’t actually need to do anything other than install Anaconda</a:t>
            </a:r>
          </a:p>
        </p:txBody>
      </p:sp>
      <p:sp>
        <p:nvSpPr>
          <p:cNvPr id="5" name="Title 1"/>
          <p:cNvSpPr>
            <a:spLocks noGrp="1"/>
          </p:cNvSpPr>
          <p:nvPr>
            <p:ph type="title"/>
          </p:nvPr>
        </p:nvSpPr>
        <p:spPr>
          <a:xfrm>
            <a:off x="457200" y="274638"/>
            <a:ext cx="7467600" cy="792162"/>
          </a:xfrm>
        </p:spPr>
        <p:txBody>
          <a:bodyPr>
            <a:normAutofit/>
          </a:bodyPr>
          <a:lstStyle/>
          <a:p>
            <a:pPr algn="ctr"/>
            <a:r>
              <a:rPr lang="en-US" sz="3600" b="1" dirty="0" smtClean="0"/>
              <a:t>Introduction to </a:t>
            </a:r>
            <a:r>
              <a:rPr lang="en-US" sz="3600" b="1" dirty="0" err="1" smtClean="0"/>
              <a:t>Jupyter</a:t>
            </a:r>
            <a:endParaRPr lang="en-US" sz="3600" b="1" dirty="0"/>
          </a:p>
        </p:txBody>
      </p:sp>
    </p:spTree>
    <p:extLst>
      <p:ext uri="{BB962C8B-B14F-4D97-AF65-F5344CB8AC3E}">
        <p14:creationId xmlns:p14="http://schemas.microsoft.com/office/powerpoint/2010/main" val="4974448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7200" y="1371600"/>
            <a:ext cx="7848600" cy="4382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457200" y="304800"/>
            <a:ext cx="7467600" cy="792162"/>
          </a:xfrm>
        </p:spPr>
        <p:txBody>
          <a:bodyPr>
            <a:normAutofit/>
          </a:bodyPr>
          <a:lstStyle/>
          <a:p>
            <a:pPr algn="ctr"/>
            <a:r>
              <a:rPr lang="en-US" sz="3600" b="1" dirty="0" smtClean="0"/>
              <a:t>Introduction to </a:t>
            </a:r>
            <a:r>
              <a:rPr lang="en-US" sz="3600" b="1" dirty="0" err="1" smtClean="0"/>
              <a:t>Jupyter</a:t>
            </a:r>
            <a:endParaRPr lang="en-US" sz="3600" b="1" dirty="0"/>
          </a:p>
        </p:txBody>
      </p:sp>
    </p:spTree>
    <p:extLst>
      <p:ext uri="{BB962C8B-B14F-4D97-AF65-F5344CB8AC3E}">
        <p14:creationId xmlns:p14="http://schemas.microsoft.com/office/powerpoint/2010/main" val="35448999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lnSpcReduction="10000"/>
          </a:bodyPr>
          <a:lstStyle/>
          <a:p>
            <a:r>
              <a:rPr lang="en-US" dirty="0"/>
              <a:t>A Notebook’s cell defaults to using code whenever you first create one, and that cell uses the kernel that you chose when you started your Notebook.</a:t>
            </a:r>
          </a:p>
          <a:p>
            <a:endParaRPr lang="en-US" dirty="0"/>
          </a:p>
          <a:p>
            <a:r>
              <a:rPr lang="en-US" dirty="0"/>
              <a:t>In this case, you started yours with Python 3 as your kernel, so that means you can write Python code in your code cells. Since your initial Notebook has only one empty cell in it, the Notebook can’t really do anything.</a:t>
            </a:r>
          </a:p>
          <a:p>
            <a:endParaRPr lang="en-US" dirty="0"/>
          </a:p>
          <a:p>
            <a:r>
              <a:rPr lang="en-US" dirty="0"/>
              <a:t>Thus, to verify that everything is working as it should, you can add some Python code to the cell and try running its contents.</a:t>
            </a:r>
          </a:p>
        </p:txBody>
      </p:sp>
      <p:sp>
        <p:nvSpPr>
          <p:cNvPr id="4" name="Title 1"/>
          <p:cNvSpPr>
            <a:spLocks noGrp="1"/>
          </p:cNvSpPr>
          <p:nvPr>
            <p:ph type="title"/>
          </p:nvPr>
        </p:nvSpPr>
        <p:spPr>
          <a:xfrm>
            <a:off x="457200" y="381000"/>
            <a:ext cx="7467600" cy="792162"/>
          </a:xfrm>
        </p:spPr>
        <p:txBody>
          <a:bodyPr>
            <a:normAutofit/>
          </a:bodyPr>
          <a:lstStyle/>
          <a:p>
            <a:pPr algn="ctr"/>
            <a:r>
              <a:rPr lang="en-US" sz="3600" b="1" dirty="0" smtClean="0"/>
              <a:t>Introduction to </a:t>
            </a:r>
            <a:r>
              <a:rPr lang="en-US" sz="3600" b="1" dirty="0" err="1" smtClean="0"/>
              <a:t>Jupyter</a:t>
            </a:r>
            <a:endParaRPr lang="en-US" sz="3600" b="1" dirty="0"/>
          </a:p>
        </p:txBody>
      </p:sp>
    </p:spTree>
    <p:extLst>
      <p:ext uri="{BB962C8B-B14F-4D97-AF65-F5344CB8AC3E}">
        <p14:creationId xmlns:p14="http://schemas.microsoft.com/office/powerpoint/2010/main" val="28731725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04800" y="2209800"/>
            <a:ext cx="8280903"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457200" y="381000"/>
            <a:ext cx="7467600" cy="792162"/>
          </a:xfrm>
        </p:spPr>
        <p:txBody>
          <a:bodyPr>
            <a:normAutofit/>
          </a:bodyPr>
          <a:lstStyle/>
          <a:p>
            <a:pPr algn="ctr"/>
            <a:r>
              <a:rPr lang="en-US" sz="3600" b="1" dirty="0" smtClean="0"/>
              <a:t>Introduction to </a:t>
            </a:r>
            <a:r>
              <a:rPr lang="en-US" sz="3600" b="1" dirty="0" err="1" smtClean="0"/>
              <a:t>Jupyter</a:t>
            </a:r>
            <a:endParaRPr lang="en-US" sz="3600" b="1" dirty="0"/>
          </a:p>
        </p:txBody>
      </p:sp>
    </p:spTree>
    <p:extLst>
      <p:ext uri="{BB962C8B-B14F-4D97-AF65-F5344CB8AC3E}">
        <p14:creationId xmlns:p14="http://schemas.microsoft.com/office/powerpoint/2010/main" val="29684201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Basic </a:t>
            </a:r>
            <a:r>
              <a:rPr lang="en-US" sz="4000" b="1" dirty="0" err="1" smtClean="0"/>
              <a:t>Datatypes</a:t>
            </a:r>
            <a:endParaRPr lang="en-US" b="1" dirty="0"/>
          </a:p>
        </p:txBody>
      </p:sp>
      <p:sp>
        <p:nvSpPr>
          <p:cNvPr id="3" name="Content Placeholder 2"/>
          <p:cNvSpPr>
            <a:spLocks noGrp="1"/>
          </p:cNvSpPr>
          <p:nvPr>
            <p:ph sz="quarter" idx="1"/>
          </p:nvPr>
        </p:nvSpPr>
        <p:spPr>
          <a:xfrm>
            <a:off x="457200" y="1295400"/>
            <a:ext cx="7620000" cy="5181600"/>
          </a:xfrm>
        </p:spPr>
        <p:txBody>
          <a:bodyPr>
            <a:noAutofit/>
          </a:bodyPr>
          <a:lstStyle/>
          <a:p>
            <a:r>
              <a:rPr lang="en-US" sz="2300" dirty="0"/>
              <a:t>Data types are the classification or categorization of data items. It represents the kind of value that tells what operations can be performed on a particular data. Since everything is an object in Python programming, data types are actually classes and variables are instance (object) of these classes</a:t>
            </a:r>
            <a:r>
              <a:rPr lang="en-US" sz="2300" dirty="0" smtClean="0"/>
              <a:t>.</a:t>
            </a:r>
          </a:p>
          <a:p>
            <a:endParaRPr lang="en-US" sz="2300" dirty="0"/>
          </a:p>
          <a:p>
            <a:r>
              <a:rPr lang="en-US" sz="2300" dirty="0" smtClean="0"/>
              <a:t>Basic </a:t>
            </a:r>
            <a:r>
              <a:rPr lang="en-US" sz="2300" dirty="0" err="1" smtClean="0"/>
              <a:t>datatypes</a:t>
            </a:r>
            <a:r>
              <a:rPr lang="en-US" sz="2300" dirty="0" smtClean="0"/>
              <a:t> in python:</a:t>
            </a:r>
          </a:p>
          <a:p>
            <a:pPr marL="457200" indent="-457200">
              <a:buFont typeface="+mj-lt"/>
              <a:buAutoNum type="arabicPeriod"/>
            </a:pPr>
            <a:r>
              <a:rPr lang="en-US" sz="2300" dirty="0" smtClean="0"/>
              <a:t>Numeric</a:t>
            </a:r>
          </a:p>
          <a:p>
            <a:pPr marL="457200" indent="-457200">
              <a:buFont typeface="+mj-lt"/>
              <a:buAutoNum type="arabicPeriod"/>
            </a:pPr>
            <a:r>
              <a:rPr lang="en-US" sz="2300" dirty="0" smtClean="0"/>
              <a:t>Dictionary</a:t>
            </a:r>
          </a:p>
          <a:p>
            <a:pPr marL="457200" indent="-457200">
              <a:buFont typeface="+mj-lt"/>
              <a:buAutoNum type="arabicPeriod"/>
            </a:pPr>
            <a:r>
              <a:rPr lang="en-US" sz="2300" dirty="0" smtClean="0"/>
              <a:t>Set</a:t>
            </a:r>
          </a:p>
          <a:p>
            <a:pPr marL="457200" indent="-457200">
              <a:buFont typeface="+mj-lt"/>
              <a:buAutoNum type="arabicPeriod"/>
            </a:pPr>
            <a:r>
              <a:rPr lang="en-US" sz="2300" dirty="0" smtClean="0"/>
              <a:t>Boolean</a:t>
            </a:r>
          </a:p>
          <a:p>
            <a:pPr marL="457200" indent="-457200">
              <a:buFont typeface="+mj-lt"/>
              <a:buAutoNum type="arabicPeriod"/>
            </a:pPr>
            <a:r>
              <a:rPr lang="en-US" sz="2300" dirty="0" smtClean="0"/>
              <a:t>Sequence Type</a:t>
            </a:r>
          </a:p>
          <a:p>
            <a:pPr marL="0" indent="0">
              <a:buNone/>
            </a:pPr>
            <a:endParaRPr lang="en-US" sz="2300" dirty="0" smtClean="0"/>
          </a:p>
        </p:txBody>
      </p:sp>
    </p:spTree>
    <p:extLst>
      <p:ext uri="{BB962C8B-B14F-4D97-AF65-F5344CB8AC3E}">
        <p14:creationId xmlns:p14="http://schemas.microsoft.com/office/powerpoint/2010/main" val="26078856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7467600" cy="944562"/>
          </a:xfrm>
        </p:spPr>
        <p:txBody>
          <a:bodyPr/>
          <a:lstStyle/>
          <a:p>
            <a:pPr algn="ctr"/>
            <a:r>
              <a:rPr lang="en-US" sz="4000" b="1" dirty="0" smtClean="0"/>
              <a:t>Basic </a:t>
            </a:r>
            <a:r>
              <a:rPr lang="en-US" sz="4000" b="1" dirty="0" err="1" smtClean="0"/>
              <a:t>Datatypes</a:t>
            </a:r>
            <a:endParaRPr lang="en-US" b="1" dirty="0"/>
          </a:p>
        </p:txBody>
      </p:sp>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467600" cy="4587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37173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Integer</a:t>
            </a:r>
            <a:endParaRPr lang="en-US" b="1" dirty="0"/>
          </a:p>
        </p:txBody>
      </p:sp>
      <p:sp>
        <p:nvSpPr>
          <p:cNvPr id="3" name="Content Placeholder 2"/>
          <p:cNvSpPr>
            <a:spLocks noGrp="1"/>
          </p:cNvSpPr>
          <p:nvPr>
            <p:ph sz="quarter" idx="1"/>
          </p:nvPr>
        </p:nvSpPr>
        <p:spPr>
          <a:xfrm>
            <a:off x="457200" y="1447800"/>
            <a:ext cx="7467600" cy="4873752"/>
          </a:xfrm>
        </p:spPr>
        <p:txBody>
          <a:bodyPr>
            <a:normAutofit/>
          </a:bodyPr>
          <a:lstStyle/>
          <a:p>
            <a:r>
              <a:rPr lang="en-US" dirty="0"/>
              <a:t>In </a:t>
            </a:r>
            <a:r>
              <a:rPr lang="en-US" dirty="0" smtClean="0"/>
              <a:t>Python, </a:t>
            </a:r>
            <a:r>
              <a:rPr lang="en-US" dirty="0"/>
              <a:t>there is effectively no limit to how long an integer value can be. Of course, it is constrained by the amount of memory your system has, as are all things, but beyond that an integer can be as long as you need it to </a:t>
            </a:r>
            <a:r>
              <a:rPr lang="en-US" dirty="0" smtClean="0"/>
              <a:t>be. Example-</a:t>
            </a:r>
          </a:p>
          <a:p>
            <a:endParaRPr lang="en-US" dirty="0" smtClean="0"/>
          </a:p>
          <a:p>
            <a:r>
              <a:rPr lang="en-US" dirty="0" smtClean="0"/>
              <a:t>print(4)</a:t>
            </a:r>
            <a:endParaRPr lang="en-US" dirty="0"/>
          </a:p>
          <a:p>
            <a:pPr marL="0" indent="0">
              <a:buNone/>
            </a:pPr>
            <a:r>
              <a:rPr lang="en-US" dirty="0"/>
              <a:t>   Output</a:t>
            </a:r>
            <a:r>
              <a:rPr lang="en-US"/>
              <a:t>: </a:t>
            </a:r>
            <a:r>
              <a:rPr lang="en-US" smtClean="0"/>
              <a:t>4</a:t>
            </a:r>
            <a:endParaRPr lang="en-US" dirty="0"/>
          </a:p>
          <a:p>
            <a:r>
              <a:rPr lang="en-US" dirty="0"/>
              <a:t>print(123123123123123123123123123123 + 1) Output:  123123123123123123123123123124</a:t>
            </a:r>
          </a:p>
        </p:txBody>
      </p:sp>
    </p:spTree>
    <p:extLst>
      <p:ext uri="{BB962C8B-B14F-4D97-AF65-F5344CB8AC3E}">
        <p14:creationId xmlns:p14="http://schemas.microsoft.com/office/powerpoint/2010/main" val="39362102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Float</a:t>
            </a:r>
            <a:endParaRPr lang="en-US" b="1" dirty="0"/>
          </a:p>
        </p:txBody>
      </p:sp>
      <p:sp>
        <p:nvSpPr>
          <p:cNvPr id="3" name="Content Placeholder 2"/>
          <p:cNvSpPr>
            <a:spLocks noGrp="1"/>
          </p:cNvSpPr>
          <p:nvPr>
            <p:ph sz="quarter" idx="1"/>
          </p:nvPr>
        </p:nvSpPr>
        <p:spPr/>
        <p:txBody>
          <a:bodyPr>
            <a:normAutofit/>
          </a:bodyPr>
          <a:lstStyle/>
          <a:p>
            <a:r>
              <a:rPr lang="en-US" dirty="0"/>
              <a:t>The float type in Python designates a floating-point number. float values are specified with a decimal point. Optionally, the character e or E followed by a positive or negative integer may be appended to specify scientific notation</a:t>
            </a:r>
            <a:r>
              <a:rPr lang="en-US" dirty="0" smtClean="0"/>
              <a:t>. Example -</a:t>
            </a:r>
          </a:p>
          <a:p>
            <a:endParaRPr lang="en-US" dirty="0" smtClean="0"/>
          </a:p>
          <a:p>
            <a:r>
              <a:rPr lang="en-US" dirty="0" smtClean="0"/>
              <a:t>print(4.2)</a:t>
            </a:r>
          </a:p>
          <a:p>
            <a:pPr marL="0" indent="0">
              <a:buNone/>
            </a:pPr>
            <a:r>
              <a:rPr lang="en-US" dirty="0"/>
              <a:t> </a:t>
            </a:r>
            <a:r>
              <a:rPr lang="en-US" dirty="0" smtClean="0"/>
              <a:t>  Output: 4.2</a:t>
            </a:r>
          </a:p>
          <a:p>
            <a:pPr marL="0" indent="0">
              <a:buNone/>
            </a:pPr>
            <a:endParaRPr lang="en-US" dirty="0"/>
          </a:p>
          <a:p>
            <a:r>
              <a:rPr lang="en-US" dirty="0" smtClean="0"/>
              <a:t>print(5.68 – 1.21) </a:t>
            </a:r>
          </a:p>
          <a:p>
            <a:pPr marL="0" indent="0">
              <a:buNone/>
            </a:pPr>
            <a:r>
              <a:rPr lang="en-US" dirty="0"/>
              <a:t> </a:t>
            </a:r>
            <a:r>
              <a:rPr lang="en-US" dirty="0" smtClean="0"/>
              <a:t>  Output: 4.47</a:t>
            </a:r>
            <a:endParaRPr lang="en-US" dirty="0"/>
          </a:p>
        </p:txBody>
      </p:sp>
    </p:spTree>
    <p:extLst>
      <p:ext uri="{BB962C8B-B14F-4D97-AF65-F5344CB8AC3E}">
        <p14:creationId xmlns:p14="http://schemas.microsoft.com/office/powerpoint/2010/main" val="20538459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String</a:t>
            </a:r>
            <a:endParaRPr lang="en-US" b="1" dirty="0"/>
          </a:p>
        </p:txBody>
      </p:sp>
      <p:sp>
        <p:nvSpPr>
          <p:cNvPr id="3" name="Content Placeholder 2"/>
          <p:cNvSpPr>
            <a:spLocks noGrp="1"/>
          </p:cNvSpPr>
          <p:nvPr>
            <p:ph sz="quarter" idx="1"/>
          </p:nvPr>
        </p:nvSpPr>
        <p:spPr>
          <a:xfrm>
            <a:off x="457200" y="1447800"/>
            <a:ext cx="7467600" cy="5026152"/>
          </a:xfrm>
        </p:spPr>
        <p:txBody>
          <a:bodyPr>
            <a:normAutofit fontScale="92500"/>
          </a:bodyPr>
          <a:lstStyle/>
          <a:p>
            <a:r>
              <a:rPr lang="en-US" dirty="0"/>
              <a:t>In Python, Strings are arrays of bytes representing Unicode characters. A string is a collection of one or more characters put in a single quote, double-quote or triple quote. In python there is no character data type, a character is a string of length one. It is represented by </a:t>
            </a:r>
            <a:r>
              <a:rPr lang="en-US" dirty="0" err="1"/>
              <a:t>str</a:t>
            </a:r>
            <a:r>
              <a:rPr lang="en-US" dirty="0"/>
              <a:t> class.</a:t>
            </a:r>
            <a:endParaRPr lang="en-US" dirty="0" smtClean="0"/>
          </a:p>
          <a:p>
            <a:endParaRPr lang="en-US" dirty="0"/>
          </a:p>
          <a:p>
            <a:r>
              <a:rPr lang="en-US" dirty="0" smtClean="0"/>
              <a:t>Strings </a:t>
            </a:r>
            <a:r>
              <a:rPr lang="en-US" dirty="0"/>
              <a:t>in Python can be created using single quotes or double quotes or even triple </a:t>
            </a:r>
            <a:r>
              <a:rPr lang="en-US" dirty="0" smtClean="0"/>
              <a:t>quotes. Ex –</a:t>
            </a:r>
          </a:p>
          <a:p>
            <a:endParaRPr lang="en-US" dirty="0"/>
          </a:p>
          <a:p>
            <a:r>
              <a:rPr lang="en-US" dirty="0"/>
              <a:t>String1 = </a:t>
            </a:r>
            <a:r>
              <a:rPr lang="en-US" dirty="0" smtClean="0"/>
              <a:t>‘Python Programming’</a:t>
            </a:r>
          </a:p>
          <a:p>
            <a:pPr marL="0" indent="0">
              <a:buNone/>
            </a:pPr>
            <a:r>
              <a:rPr lang="en-US" dirty="0"/>
              <a:t> </a:t>
            </a:r>
            <a:r>
              <a:rPr lang="en-US" dirty="0" smtClean="0"/>
              <a:t>  print(String1)</a:t>
            </a:r>
          </a:p>
          <a:p>
            <a:pPr marL="0" indent="0">
              <a:buNone/>
            </a:pPr>
            <a:r>
              <a:rPr lang="en-US" dirty="0" smtClean="0"/>
              <a:t>   Output – Python Programming </a:t>
            </a:r>
          </a:p>
        </p:txBody>
      </p:sp>
    </p:spTree>
    <p:extLst>
      <p:ext uri="{BB962C8B-B14F-4D97-AF65-F5344CB8AC3E}">
        <p14:creationId xmlns:p14="http://schemas.microsoft.com/office/powerpoint/2010/main" val="9698101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868362"/>
          </a:xfrm>
        </p:spPr>
        <p:txBody>
          <a:bodyPr/>
          <a:lstStyle/>
          <a:p>
            <a:pPr algn="ctr"/>
            <a:r>
              <a:rPr lang="en-US" sz="4000" b="1" dirty="0" smtClean="0"/>
              <a:t>Type Function</a:t>
            </a:r>
            <a:endParaRPr lang="en-US" b="1" dirty="0"/>
          </a:p>
        </p:txBody>
      </p:sp>
      <p:sp>
        <p:nvSpPr>
          <p:cNvPr id="3" name="Content Placeholder 2"/>
          <p:cNvSpPr>
            <a:spLocks noGrp="1"/>
          </p:cNvSpPr>
          <p:nvPr>
            <p:ph sz="quarter" idx="1"/>
          </p:nvPr>
        </p:nvSpPr>
        <p:spPr>
          <a:xfrm>
            <a:off x="457200" y="1295400"/>
            <a:ext cx="7467600" cy="5178552"/>
          </a:xfrm>
        </p:spPr>
        <p:txBody>
          <a:bodyPr>
            <a:noAutofit/>
          </a:bodyPr>
          <a:lstStyle/>
          <a:p>
            <a:r>
              <a:rPr lang="en-US" sz="1900" dirty="0"/>
              <a:t>type() function is used to determine the type of data </a:t>
            </a:r>
            <a:r>
              <a:rPr lang="en-US" sz="1900" dirty="0" err="1"/>
              <a:t>type.Ex</a:t>
            </a:r>
            <a:r>
              <a:rPr lang="en-US" sz="1900" dirty="0"/>
              <a:t> –</a:t>
            </a:r>
          </a:p>
          <a:p>
            <a:endParaRPr lang="en-US" sz="1900" dirty="0"/>
          </a:p>
          <a:p>
            <a:pPr fontAlgn="base"/>
            <a:r>
              <a:rPr lang="en-US" sz="1900" dirty="0"/>
              <a:t>a = 5</a:t>
            </a:r>
          </a:p>
          <a:p>
            <a:pPr marL="0" indent="0" fontAlgn="base">
              <a:buNone/>
            </a:pPr>
            <a:r>
              <a:rPr lang="en-US" sz="1900" dirty="0"/>
              <a:t> </a:t>
            </a:r>
            <a:r>
              <a:rPr lang="en-US" sz="1900" dirty="0" smtClean="0"/>
              <a:t>  print</a:t>
            </a:r>
            <a:r>
              <a:rPr lang="en-US" sz="1900" dirty="0"/>
              <a:t>("Type of a: ", type(a</a:t>
            </a:r>
            <a:r>
              <a:rPr lang="en-US" sz="1900" dirty="0" smtClean="0"/>
              <a:t>))</a:t>
            </a:r>
          </a:p>
          <a:p>
            <a:pPr marL="0" indent="0" fontAlgn="base">
              <a:buNone/>
            </a:pPr>
            <a:r>
              <a:rPr lang="en-US" sz="1900" dirty="0"/>
              <a:t>   Output - Type of a:  &lt;class '</a:t>
            </a:r>
            <a:r>
              <a:rPr lang="en-US" sz="1900" dirty="0" err="1"/>
              <a:t>int</a:t>
            </a:r>
            <a:r>
              <a:rPr lang="en-US" sz="1900" dirty="0"/>
              <a:t>'&gt; </a:t>
            </a:r>
          </a:p>
          <a:p>
            <a:pPr marL="0" indent="0" fontAlgn="base">
              <a:buNone/>
            </a:pPr>
            <a:r>
              <a:rPr lang="en-US" sz="1900" dirty="0"/>
              <a:t>  </a:t>
            </a:r>
          </a:p>
          <a:p>
            <a:pPr fontAlgn="base"/>
            <a:r>
              <a:rPr lang="en-US" sz="1900" dirty="0"/>
              <a:t>b = 5.0</a:t>
            </a:r>
          </a:p>
          <a:p>
            <a:pPr marL="0" indent="0" fontAlgn="base">
              <a:buNone/>
            </a:pPr>
            <a:r>
              <a:rPr lang="en-US" sz="1900" dirty="0" smtClean="0"/>
              <a:t>   print</a:t>
            </a:r>
            <a:r>
              <a:rPr lang="en-US" sz="1900" dirty="0"/>
              <a:t>("\</a:t>
            </a:r>
            <a:r>
              <a:rPr lang="en-US" sz="1900" dirty="0" err="1"/>
              <a:t>nType</a:t>
            </a:r>
            <a:r>
              <a:rPr lang="en-US" sz="1900" dirty="0"/>
              <a:t> of b: ", type(b</a:t>
            </a:r>
            <a:r>
              <a:rPr lang="en-US" sz="1900" dirty="0" smtClean="0"/>
              <a:t>))</a:t>
            </a:r>
          </a:p>
          <a:p>
            <a:pPr marL="0" indent="0" fontAlgn="base">
              <a:buNone/>
            </a:pPr>
            <a:r>
              <a:rPr lang="en-US" sz="1900" dirty="0"/>
              <a:t>   Output - Type of a: &lt;class 'float'&gt;</a:t>
            </a:r>
          </a:p>
          <a:p>
            <a:pPr marL="0" indent="0" fontAlgn="base">
              <a:buNone/>
            </a:pPr>
            <a:r>
              <a:rPr lang="en-US" sz="1900" dirty="0"/>
              <a:t>  </a:t>
            </a:r>
          </a:p>
          <a:p>
            <a:pPr fontAlgn="base"/>
            <a:r>
              <a:rPr lang="en-US" sz="1900" dirty="0"/>
              <a:t>c = 2 + 4j</a:t>
            </a:r>
          </a:p>
          <a:p>
            <a:pPr marL="0" indent="0" fontAlgn="base">
              <a:buNone/>
            </a:pPr>
            <a:r>
              <a:rPr lang="en-US" sz="1900" dirty="0" smtClean="0"/>
              <a:t>   print</a:t>
            </a:r>
            <a:r>
              <a:rPr lang="en-US" sz="1900" dirty="0"/>
              <a:t>("\</a:t>
            </a:r>
            <a:r>
              <a:rPr lang="en-US" sz="1900" dirty="0" err="1"/>
              <a:t>nType</a:t>
            </a:r>
            <a:r>
              <a:rPr lang="en-US" sz="1900" dirty="0"/>
              <a:t> of c: ", type(c</a:t>
            </a:r>
            <a:r>
              <a:rPr lang="en-US" sz="1900" dirty="0" smtClean="0"/>
              <a:t>))</a:t>
            </a:r>
          </a:p>
          <a:p>
            <a:pPr marL="0" indent="0" fontAlgn="base">
              <a:buNone/>
            </a:pPr>
            <a:r>
              <a:rPr lang="en-US" sz="1900" dirty="0"/>
              <a:t>   Output - Type of a:  &lt;class 'complex'&gt;</a:t>
            </a:r>
          </a:p>
        </p:txBody>
      </p:sp>
    </p:spTree>
    <p:extLst>
      <p:ext uri="{BB962C8B-B14F-4D97-AF65-F5344CB8AC3E}">
        <p14:creationId xmlns:p14="http://schemas.microsoft.com/office/powerpoint/2010/main" val="41050684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Boolean </a:t>
            </a:r>
            <a:endParaRPr lang="en-US" b="1" dirty="0"/>
          </a:p>
        </p:txBody>
      </p:sp>
      <p:sp>
        <p:nvSpPr>
          <p:cNvPr id="3" name="Content Placeholder 2"/>
          <p:cNvSpPr>
            <a:spLocks noGrp="1"/>
          </p:cNvSpPr>
          <p:nvPr>
            <p:ph sz="quarter" idx="1"/>
          </p:nvPr>
        </p:nvSpPr>
        <p:spPr>
          <a:xfrm>
            <a:off x="457200" y="1600200"/>
            <a:ext cx="7620000" cy="4873752"/>
          </a:xfrm>
        </p:spPr>
        <p:txBody>
          <a:bodyPr>
            <a:normAutofit/>
          </a:bodyPr>
          <a:lstStyle/>
          <a:p>
            <a:r>
              <a:rPr lang="en-US" dirty="0" smtClean="0"/>
              <a:t>Python provides </a:t>
            </a:r>
            <a:r>
              <a:rPr lang="en-US" dirty="0"/>
              <a:t>a </a:t>
            </a:r>
            <a:r>
              <a:rPr lang="en-US" dirty="0" smtClean="0"/>
              <a:t>Boolean </a:t>
            </a:r>
            <a:r>
              <a:rPr lang="en-US" dirty="0" err="1" smtClean="0"/>
              <a:t>datatype</a:t>
            </a:r>
            <a:r>
              <a:rPr lang="en-US" dirty="0"/>
              <a:t>. Objects of Boolean type may have one of two values, True or False. Example </a:t>
            </a:r>
            <a:r>
              <a:rPr lang="en-US" dirty="0" smtClean="0"/>
              <a:t>–</a:t>
            </a:r>
          </a:p>
          <a:p>
            <a:endParaRPr lang="en-US" dirty="0" smtClean="0"/>
          </a:p>
          <a:p>
            <a:r>
              <a:rPr lang="en-US" dirty="0" smtClean="0"/>
              <a:t>print(type(True</a:t>
            </a:r>
            <a:r>
              <a:rPr lang="en-US" dirty="0"/>
              <a:t>) </a:t>
            </a:r>
            <a:r>
              <a:rPr lang="en-US" dirty="0" smtClean="0"/>
              <a:t> /  print(type(False))</a:t>
            </a:r>
          </a:p>
          <a:p>
            <a:pPr marL="0" indent="0">
              <a:buNone/>
            </a:pPr>
            <a:r>
              <a:rPr lang="en-US" dirty="0"/>
              <a:t> </a:t>
            </a:r>
            <a:r>
              <a:rPr lang="en-US" dirty="0" smtClean="0"/>
              <a:t>  Output - &lt;class </a:t>
            </a:r>
            <a:r>
              <a:rPr lang="en-US" dirty="0"/>
              <a:t>'</a:t>
            </a:r>
            <a:r>
              <a:rPr lang="en-US" dirty="0" err="1"/>
              <a:t>bool</a:t>
            </a:r>
            <a:r>
              <a:rPr lang="en-US" dirty="0" smtClean="0"/>
              <a:t>'&gt;</a:t>
            </a:r>
          </a:p>
          <a:p>
            <a:pPr marL="0" indent="0">
              <a:buNone/>
            </a:pPr>
            <a:endParaRPr lang="en-US" dirty="0"/>
          </a:p>
        </p:txBody>
      </p:sp>
    </p:spTree>
    <p:extLst>
      <p:ext uri="{BB962C8B-B14F-4D97-AF65-F5344CB8AC3E}">
        <p14:creationId xmlns:p14="http://schemas.microsoft.com/office/powerpoint/2010/main" val="31740247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Type Casting </a:t>
            </a:r>
            <a:endParaRPr lang="en-US" b="1" dirty="0"/>
          </a:p>
        </p:txBody>
      </p:sp>
      <p:sp>
        <p:nvSpPr>
          <p:cNvPr id="3" name="Content Placeholder 2"/>
          <p:cNvSpPr>
            <a:spLocks noGrp="1"/>
          </p:cNvSpPr>
          <p:nvPr>
            <p:ph sz="quarter" idx="1"/>
          </p:nvPr>
        </p:nvSpPr>
        <p:spPr>
          <a:xfrm>
            <a:off x="457200" y="1600200"/>
            <a:ext cx="7620000" cy="4873752"/>
          </a:xfrm>
        </p:spPr>
        <p:txBody>
          <a:bodyPr>
            <a:normAutofit/>
          </a:bodyPr>
          <a:lstStyle/>
          <a:p>
            <a:r>
              <a:rPr lang="en-US" dirty="0"/>
              <a:t>Type Casting is the method to convert the variable data type into a certain data type in order to the operation required to be performed by users. In this article, we will see the various technique for typecasting.</a:t>
            </a:r>
          </a:p>
          <a:p>
            <a:endParaRPr lang="en-US" dirty="0"/>
          </a:p>
          <a:p>
            <a:r>
              <a:rPr lang="en-US" dirty="0"/>
              <a:t>There can be two types of Type Casting in </a:t>
            </a:r>
            <a:r>
              <a:rPr lang="en-US" dirty="0" smtClean="0"/>
              <a:t>Python:</a:t>
            </a:r>
            <a:endParaRPr lang="en-US" dirty="0"/>
          </a:p>
          <a:p>
            <a:pPr marL="457200" indent="-457200">
              <a:buFont typeface="+mj-lt"/>
              <a:buAutoNum type="arabicPeriod"/>
            </a:pPr>
            <a:r>
              <a:rPr lang="en-US" dirty="0"/>
              <a:t>Implicit Type Casting</a:t>
            </a:r>
          </a:p>
          <a:p>
            <a:pPr marL="457200" indent="-457200">
              <a:buFont typeface="+mj-lt"/>
              <a:buAutoNum type="arabicPeriod"/>
            </a:pPr>
            <a:r>
              <a:rPr lang="en-US" dirty="0"/>
              <a:t>Explicit Type Casting</a:t>
            </a:r>
          </a:p>
        </p:txBody>
      </p:sp>
    </p:spTree>
    <p:extLst>
      <p:ext uri="{BB962C8B-B14F-4D97-AF65-F5344CB8AC3E}">
        <p14:creationId xmlns:p14="http://schemas.microsoft.com/office/powerpoint/2010/main" val="29895334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Implicit Type Casting </a:t>
            </a:r>
            <a:endParaRPr lang="en-US" b="1" dirty="0"/>
          </a:p>
        </p:txBody>
      </p:sp>
      <p:sp>
        <p:nvSpPr>
          <p:cNvPr id="3" name="Content Placeholder 2"/>
          <p:cNvSpPr>
            <a:spLocks noGrp="1"/>
          </p:cNvSpPr>
          <p:nvPr>
            <p:ph sz="quarter" idx="1"/>
          </p:nvPr>
        </p:nvSpPr>
        <p:spPr>
          <a:xfrm>
            <a:off x="457200" y="1447800"/>
            <a:ext cx="7620000" cy="5026152"/>
          </a:xfrm>
        </p:spPr>
        <p:txBody>
          <a:bodyPr>
            <a:normAutofit/>
          </a:bodyPr>
          <a:lstStyle/>
          <a:p>
            <a:r>
              <a:rPr lang="en-US" dirty="0"/>
              <a:t> Python converts data type into another data type automatically. In this process, users don’t have to involve in this process. </a:t>
            </a:r>
            <a:r>
              <a:rPr lang="en-US" dirty="0" smtClean="0"/>
              <a:t>Ex -</a:t>
            </a:r>
          </a:p>
          <a:p>
            <a:r>
              <a:rPr lang="en-US" dirty="0" smtClean="0"/>
              <a:t>a = 7</a:t>
            </a:r>
          </a:p>
          <a:p>
            <a:pPr marL="0" indent="0">
              <a:buNone/>
            </a:pPr>
            <a:r>
              <a:rPr lang="en-US" dirty="0" smtClean="0"/>
              <a:t>   b = 3.0</a:t>
            </a:r>
          </a:p>
          <a:p>
            <a:pPr marL="0" indent="0">
              <a:buNone/>
            </a:pPr>
            <a:r>
              <a:rPr lang="en-US" dirty="0"/>
              <a:t> </a:t>
            </a:r>
            <a:r>
              <a:rPr lang="en-US" dirty="0" smtClean="0"/>
              <a:t>  c = </a:t>
            </a:r>
            <a:r>
              <a:rPr lang="en-US" dirty="0" err="1" smtClean="0"/>
              <a:t>a+b</a:t>
            </a:r>
            <a:endParaRPr lang="en-US" dirty="0" smtClean="0"/>
          </a:p>
          <a:p>
            <a:pPr marL="0" indent="0">
              <a:buNone/>
            </a:pPr>
            <a:r>
              <a:rPr lang="en-US" dirty="0"/>
              <a:t> </a:t>
            </a:r>
            <a:r>
              <a:rPr lang="en-US" dirty="0" smtClean="0"/>
              <a:t>  print(c)</a:t>
            </a:r>
          </a:p>
          <a:p>
            <a:pPr marL="0" indent="0">
              <a:buNone/>
            </a:pPr>
            <a:r>
              <a:rPr lang="en-US" dirty="0"/>
              <a:t> </a:t>
            </a:r>
            <a:r>
              <a:rPr lang="en-US" dirty="0" smtClean="0"/>
              <a:t>  print(type(c))</a:t>
            </a:r>
          </a:p>
          <a:p>
            <a:pPr marL="0" indent="0">
              <a:buNone/>
            </a:pPr>
            <a:r>
              <a:rPr lang="en-US" dirty="0"/>
              <a:t> </a:t>
            </a:r>
            <a:r>
              <a:rPr lang="en-US" dirty="0" smtClean="0"/>
              <a:t>  Output - 10.0</a:t>
            </a:r>
          </a:p>
          <a:p>
            <a:pPr marL="0" indent="0">
              <a:buNone/>
            </a:pPr>
            <a:r>
              <a:rPr lang="en-US" dirty="0"/>
              <a:t>   </a:t>
            </a:r>
            <a:r>
              <a:rPr lang="en-US" dirty="0" smtClean="0"/>
              <a:t>                &lt;</a:t>
            </a:r>
            <a:r>
              <a:rPr lang="en-US" dirty="0"/>
              <a:t>class 'float'&gt; </a:t>
            </a:r>
            <a:endParaRPr lang="en-US" dirty="0" smtClean="0"/>
          </a:p>
          <a:p>
            <a:endParaRPr lang="en-US" dirty="0"/>
          </a:p>
        </p:txBody>
      </p:sp>
    </p:spTree>
    <p:extLst>
      <p:ext uri="{BB962C8B-B14F-4D97-AF65-F5344CB8AC3E}">
        <p14:creationId xmlns:p14="http://schemas.microsoft.com/office/powerpoint/2010/main" val="22696987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Explicit Type Casting </a:t>
            </a:r>
            <a:endParaRPr lang="en-US" b="1" dirty="0"/>
          </a:p>
        </p:txBody>
      </p:sp>
      <p:sp>
        <p:nvSpPr>
          <p:cNvPr id="3" name="Content Placeholder 2"/>
          <p:cNvSpPr>
            <a:spLocks noGrp="1"/>
          </p:cNvSpPr>
          <p:nvPr>
            <p:ph sz="quarter" idx="1"/>
          </p:nvPr>
        </p:nvSpPr>
        <p:spPr>
          <a:xfrm>
            <a:off x="457200" y="1524000"/>
            <a:ext cx="7620000" cy="4949952"/>
          </a:xfrm>
        </p:spPr>
        <p:txBody>
          <a:bodyPr>
            <a:normAutofit/>
          </a:bodyPr>
          <a:lstStyle/>
          <a:p>
            <a:r>
              <a:rPr lang="en-US" dirty="0"/>
              <a:t> In this method, Python need user involvement to convert the variable data type into certain data type in order to the operation </a:t>
            </a:r>
            <a:r>
              <a:rPr lang="en-US" dirty="0" smtClean="0"/>
              <a:t>required</a:t>
            </a:r>
            <a:r>
              <a:rPr lang="en-US" dirty="0"/>
              <a:t>. Mainly in type casting can be done with these data type function</a:t>
            </a:r>
            <a:r>
              <a:rPr lang="en-US" dirty="0" smtClean="0"/>
              <a:t>:</a:t>
            </a:r>
          </a:p>
          <a:p>
            <a:pPr marL="0" indent="0">
              <a:buNone/>
            </a:pPr>
            <a:endParaRPr lang="en-US" dirty="0" smtClean="0"/>
          </a:p>
          <a:p>
            <a:r>
              <a:rPr lang="en-US" b="1" dirty="0" err="1"/>
              <a:t>i</a:t>
            </a:r>
            <a:r>
              <a:rPr lang="en-US" b="1" dirty="0" err="1" smtClean="0"/>
              <a:t>nt</a:t>
            </a:r>
            <a:r>
              <a:rPr lang="en-US" b="1" dirty="0"/>
              <a:t>()</a:t>
            </a:r>
            <a:r>
              <a:rPr lang="en-US" dirty="0"/>
              <a:t> : </a:t>
            </a:r>
            <a:r>
              <a:rPr lang="en-US" dirty="0" err="1"/>
              <a:t>i</a:t>
            </a:r>
            <a:r>
              <a:rPr lang="en-US" dirty="0" err="1" smtClean="0"/>
              <a:t>nt</a:t>
            </a:r>
            <a:r>
              <a:rPr lang="en-US" dirty="0"/>
              <a:t>() function take float or string as an argument and return </a:t>
            </a:r>
            <a:r>
              <a:rPr lang="en-US" dirty="0" err="1"/>
              <a:t>int</a:t>
            </a:r>
            <a:r>
              <a:rPr lang="en-US" dirty="0"/>
              <a:t> type object.</a:t>
            </a:r>
          </a:p>
          <a:p>
            <a:r>
              <a:rPr lang="en-US" b="1" dirty="0"/>
              <a:t>float()</a:t>
            </a:r>
            <a:r>
              <a:rPr lang="en-US" dirty="0"/>
              <a:t> : float() function take </a:t>
            </a:r>
            <a:r>
              <a:rPr lang="en-US" dirty="0" err="1"/>
              <a:t>int</a:t>
            </a:r>
            <a:r>
              <a:rPr lang="en-US" dirty="0"/>
              <a:t> or string as an argument and return float type object.</a:t>
            </a:r>
          </a:p>
          <a:p>
            <a:r>
              <a:rPr lang="en-US" b="1" dirty="0" err="1"/>
              <a:t>str</a:t>
            </a:r>
            <a:r>
              <a:rPr lang="en-US" b="1" dirty="0"/>
              <a:t>()</a:t>
            </a:r>
            <a:r>
              <a:rPr lang="en-US" dirty="0"/>
              <a:t> : </a:t>
            </a:r>
            <a:r>
              <a:rPr lang="en-US" dirty="0" err="1"/>
              <a:t>str</a:t>
            </a:r>
            <a:r>
              <a:rPr lang="en-US" dirty="0"/>
              <a:t>() function take float or </a:t>
            </a:r>
            <a:r>
              <a:rPr lang="en-US" dirty="0" err="1"/>
              <a:t>int</a:t>
            </a:r>
            <a:r>
              <a:rPr lang="en-US" dirty="0"/>
              <a:t> as an argument and return string type object.</a:t>
            </a:r>
          </a:p>
        </p:txBody>
      </p:sp>
    </p:spTree>
    <p:extLst>
      <p:ext uri="{BB962C8B-B14F-4D97-AF65-F5344CB8AC3E}">
        <p14:creationId xmlns:p14="http://schemas.microsoft.com/office/powerpoint/2010/main" val="27582017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pPr algn="ctr"/>
            <a:r>
              <a:rPr lang="en-US" sz="4000" b="1" dirty="0" smtClean="0"/>
              <a:t>Type Casting </a:t>
            </a:r>
            <a:r>
              <a:rPr lang="en-US" sz="4000" b="1" dirty="0" err="1"/>
              <a:t>I</a:t>
            </a:r>
            <a:r>
              <a:rPr lang="en-US" sz="4000" b="1" dirty="0" err="1" smtClean="0"/>
              <a:t>nt</a:t>
            </a:r>
            <a:r>
              <a:rPr lang="en-US" sz="4000" b="1" dirty="0" smtClean="0"/>
              <a:t> To Float</a:t>
            </a:r>
            <a:endParaRPr lang="en-US" b="1" dirty="0"/>
          </a:p>
        </p:txBody>
      </p:sp>
      <p:sp>
        <p:nvSpPr>
          <p:cNvPr id="3" name="Content Placeholder 2"/>
          <p:cNvSpPr>
            <a:spLocks noGrp="1"/>
          </p:cNvSpPr>
          <p:nvPr>
            <p:ph sz="quarter" idx="1"/>
          </p:nvPr>
        </p:nvSpPr>
        <p:spPr>
          <a:xfrm>
            <a:off x="457200" y="1524000"/>
            <a:ext cx="7620000" cy="4949952"/>
          </a:xfrm>
        </p:spPr>
        <p:txBody>
          <a:bodyPr>
            <a:normAutofit/>
          </a:bodyPr>
          <a:lstStyle/>
          <a:p>
            <a:r>
              <a:rPr lang="en-US" dirty="0"/>
              <a:t> Here, we are casting integer object to float object with </a:t>
            </a:r>
            <a:r>
              <a:rPr lang="en-US" b="1" dirty="0"/>
              <a:t>float()</a:t>
            </a:r>
            <a:r>
              <a:rPr lang="en-US" dirty="0"/>
              <a:t> function</a:t>
            </a:r>
            <a:r>
              <a:rPr lang="en-US" dirty="0" smtClean="0"/>
              <a:t>. Ex -</a:t>
            </a:r>
          </a:p>
          <a:p>
            <a:endParaRPr lang="en-US" dirty="0" smtClean="0"/>
          </a:p>
          <a:p>
            <a:r>
              <a:rPr lang="en-US" dirty="0" smtClean="0"/>
              <a:t>A = 5</a:t>
            </a:r>
          </a:p>
          <a:p>
            <a:pPr marL="0" indent="0">
              <a:buNone/>
            </a:pPr>
            <a:r>
              <a:rPr lang="en-US" dirty="0" smtClean="0"/>
              <a:t>   N = float(A)</a:t>
            </a:r>
          </a:p>
          <a:p>
            <a:pPr marL="0" indent="0">
              <a:buNone/>
            </a:pPr>
            <a:r>
              <a:rPr lang="en-US" dirty="0"/>
              <a:t> </a:t>
            </a:r>
            <a:r>
              <a:rPr lang="en-US" dirty="0" smtClean="0"/>
              <a:t>  print(N)</a:t>
            </a:r>
          </a:p>
          <a:p>
            <a:pPr marL="0" indent="0">
              <a:buNone/>
            </a:pPr>
            <a:r>
              <a:rPr lang="en-US" dirty="0"/>
              <a:t> </a:t>
            </a:r>
            <a:r>
              <a:rPr lang="en-US" dirty="0" smtClean="0"/>
              <a:t>  print(type(N))</a:t>
            </a:r>
          </a:p>
          <a:p>
            <a:pPr marL="0" indent="0">
              <a:buNone/>
            </a:pPr>
            <a:r>
              <a:rPr lang="en-US" dirty="0"/>
              <a:t> </a:t>
            </a:r>
            <a:r>
              <a:rPr lang="en-US" dirty="0" smtClean="0"/>
              <a:t>  Output – 5.0</a:t>
            </a:r>
          </a:p>
          <a:p>
            <a:pPr marL="0" indent="0">
              <a:buNone/>
            </a:pPr>
            <a:r>
              <a:rPr lang="en-US" dirty="0"/>
              <a:t>                   &lt;class 'float'&gt;</a:t>
            </a:r>
          </a:p>
        </p:txBody>
      </p:sp>
    </p:spTree>
    <p:extLst>
      <p:ext uri="{BB962C8B-B14F-4D97-AF65-F5344CB8AC3E}">
        <p14:creationId xmlns:p14="http://schemas.microsoft.com/office/powerpoint/2010/main" val="20298584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normAutofit/>
          </a:bodyPr>
          <a:lstStyle/>
          <a:p>
            <a:pPr algn="ctr"/>
            <a:r>
              <a:rPr lang="en-US" sz="4000" b="1" dirty="0" smtClean="0"/>
              <a:t>Type Casting Float To </a:t>
            </a:r>
            <a:r>
              <a:rPr lang="en-US" sz="4000" b="1" dirty="0" err="1" smtClean="0"/>
              <a:t>Int</a:t>
            </a:r>
            <a:endParaRPr lang="en-US" b="1" dirty="0"/>
          </a:p>
        </p:txBody>
      </p:sp>
      <p:sp>
        <p:nvSpPr>
          <p:cNvPr id="3" name="Content Placeholder 2"/>
          <p:cNvSpPr>
            <a:spLocks noGrp="1"/>
          </p:cNvSpPr>
          <p:nvPr>
            <p:ph sz="quarter" idx="1"/>
          </p:nvPr>
        </p:nvSpPr>
        <p:spPr>
          <a:xfrm>
            <a:off x="457200" y="1524000"/>
            <a:ext cx="7620000" cy="4949952"/>
          </a:xfrm>
        </p:spPr>
        <p:txBody>
          <a:bodyPr>
            <a:normAutofit/>
          </a:bodyPr>
          <a:lstStyle/>
          <a:p>
            <a:r>
              <a:rPr lang="en-US" dirty="0"/>
              <a:t>Here, we are casting float data type into integer data type with </a:t>
            </a:r>
            <a:r>
              <a:rPr lang="en-US" dirty="0" err="1"/>
              <a:t>int</a:t>
            </a:r>
            <a:r>
              <a:rPr lang="en-US" dirty="0"/>
              <a:t>() function</a:t>
            </a:r>
            <a:r>
              <a:rPr lang="en-US" dirty="0" smtClean="0"/>
              <a:t>. Ex -</a:t>
            </a:r>
          </a:p>
          <a:p>
            <a:endParaRPr lang="en-US" dirty="0" smtClean="0"/>
          </a:p>
          <a:p>
            <a:r>
              <a:rPr lang="en-US" dirty="0" smtClean="0"/>
              <a:t>A = 3.7</a:t>
            </a:r>
          </a:p>
          <a:p>
            <a:pPr marL="0" indent="0">
              <a:buNone/>
            </a:pPr>
            <a:r>
              <a:rPr lang="en-US" dirty="0" smtClean="0"/>
              <a:t>   N = </a:t>
            </a:r>
            <a:r>
              <a:rPr lang="en-US" dirty="0" err="1"/>
              <a:t>i</a:t>
            </a:r>
            <a:r>
              <a:rPr lang="en-US" dirty="0" err="1" smtClean="0"/>
              <a:t>nt</a:t>
            </a:r>
            <a:r>
              <a:rPr lang="en-US" dirty="0" smtClean="0"/>
              <a:t>(A)</a:t>
            </a:r>
          </a:p>
          <a:p>
            <a:pPr marL="0" indent="0">
              <a:buNone/>
            </a:pPr>
            <a:r>
              <a:rPr lang="en-US" dirty="0"/>
              <a:t> </a:t>
            </a:r>
            <a:r>
              <a:rPr lang="en-US" dirty="0" smtClean="0"/>
              <a:t>  print(N)</a:t>
            </a:r>
          </a:p>
          <a:p>
            <a:pPr marL="0" indent="0">
              <a:buNone/>
            </a:pPr>
            <a:r>
              <a:rPr lang="en-US" dirty="0"/>
              <a:t> </a:t>
            </a:r>
            <a:r>
              <a:rPr lang="en-US" dirty="0" smtClean="0"/>
              <a:t>  print(type(N))</a:t>
            </a:r>
          </a:p>
          <a:p>
            <a:pPr marL="0" indent="0">
              <a:buNone/>
            </a:pPr>
            <a:r>
              <a:rPr lang="en-US" dirty="0"/>
              <a:t> </a:t>
            </a:r>
            <a:r>
              <a:rPr lang="en-US" dirty="0" smtClean="0"/>
              <a:t>  Output – 3</a:t>
            </a:r>
          </a:p>
          <a:p>
            <a:pPr marL="0" indent="0">
              <a:buNone/>
            </a:pPr>
            <a:r>
              <a:rPr lang="en-US" dirty="0"/>
              <a:t>                   &lt;class </a:t>
            </a:r>
            <a:r>
              <a:rPr lang="en-US" dirty="0" smtClean="0"/>
              <a:t>‘</a:t>
            </a:r>
            <a:r>
              <a:rPr lang="en-US" dirty="0" err="1" smtClean="0"/>
              <a:t>int</a:t>
            </a:r>
            <a:r>
              <a:rPr lang="en-US" dirty="0" smtClean="0"/>
              <a:t>’&gt;</a:t>
            </a:r>
            <a:endParaRPr lang="en-US" dirty="0"/>
          </a:p>
        </p:txBody>
      </p:sp>
    </p:spTree>
    <p:extLst>
      <p:ext uri="{BB962C8B-B14F-4D97-AF65-F5344CB8AC3E}">
        <p14:creationId xmlns:p14="http://schemas.microsoft.com/office/powerpoint/2010/main" val="20535138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868362"/>
          </a:xfrm>
        </p:spPr>
        <p:txBody>
          <a:bodyPr>
            <a:normAutofit/>
          </a:bodyPr>
          <a:lstStyle/>
          <a:p>
            <a:pPr algn="ctr"/>
            <a:r>
              <a:rPr lang="en-US" sz="4000" b="1" dirty="0" smtClean="0"/>
              <a:t>Type Casting </a:t>
            </a:r>
            <a:r>
              <a:rPr lang="en-US" sz="4000" b="1" dirty="0" err="1" smtClean="0"/>
              <a:t>Int</a:t>
            </a:r>
            <a:r>
              <a:rPr lang="en-US" sz="4000" b="1" dirty="0" smtClean="0"/>
              <a:t> To String</a:t>
            </a:r>
            <a:endParaRPr lang="en-US" b="1" dirty="0"/>
          </a:p>
        </p:txBody>
      </p:sp>
      <p:sp>
        <p:nvSpPr>
          <p:cNvPr id="3" name="Content Placeholder 2"/>
          <p:cNvSpPr>
            <a:spLocks noGrp="1"/>
          </p:cNvSpPr>
          <p:nvPr>
            <p:ph sz="quarter" idx="1"/>
          </p:nvPr>
        </p:nvSpPr>
        <p:spPr>
          <a:xfrm>
            <a:off x="457200" y="1524000"/>
            <a:ext cx="7620000" cy="4949952"/>
          </a:xfrm>
        </p:spPr>
        <p:txBody>
          <a:bodyPr>
            <a:normAutofit/>
          </a:bodyPr>
          <a:lstStyle/>
          <a:p>
            <a:r>
              <a:rPr lang="en-US" dirty="0"/>
              <a:t>Here, we are casting </a:t>
            </a:r>
            <a:r>
              <a:rPr lang="en-US" dirty="0" err="1"/>
              <a:t>int</a:t>
            </a:r>
            <a:r>
              <a:rPr lang="en-US" dirty="0"/>
              <a:t> data type into string data type with </a:t>
            </a:r>
            <a:r>
              <a:rPr lang="en-US" b="1" dirty="0" err="1"/>
              <a:t>str</a:t>
            </a:r>
            <a:r>
              <a:rPr lang="en-US" b="1" dirty="0"/>
              <a:t>()</a:t>
            </a:r>
            <a:r>
              <a:rPr lang="en-US" dirty="0"/>
              <a:t> function</a:t>
            </a:r>
            <a:r>
              <a:rPr lang="en-US" dirty="0" smtClean="0"/>
              <a:t>. Ex -</a:t>
            </a:r>
          </a:p>
          <a:p>
            <a:endParaRPr lang="en-US" dirty="0" smtClean="0"/>
          </a:p>
          <a:p>
            <a:r>
              <a:rPr lang="en-US" dirty="0" smtClean="0"/>
              <a:t>A = 5</a:t>
            </a:r>
          </a:p>
          <a:p>
            <a:pPr marL="0" indent="0">
              <a:buNone/>
            </a:pPr>
            <a:r>
              <a:rPr lang="en-US" dirty="0" smtClean="0"/>
              <a:t>   N = </a:t>
            </a:r>
            <a:r>
              <a:rPr lang="en-US" dirty="0" err="1" smtClean="0"/>
              <a:t>str</a:t>
            </a:r>
            <a:r>
              <a:rPr lang="en-US" dirty="0" smtClean="0"/>
              <a:t>(A)</a:t>
            </a:r>
          </a:p>
          <a:p>
            <a:pPr marL="0" indent="0">
              <a:buNone/>
            </a:pPr>
            <a:r>
              <a:rPr lang="en-US" dirty="0"/>
              <a:t> </a:t>
            </a:r>
            <a:r>
              <a:rPr lang="en-US" dirty="0" smtClean="0"/>
              <a:t>  print(N)</a:t>
            </a:r>
          </a:p>
          <a:p>
            <a:pPr marL="0" indent="0">
              <a:buNone/>
            </a:pPr>
            <a:r>
              <a:rPr lang="en-US" dirty="0"/>
              <a:t> </a:t>
            </a:r>
            <a:r>
              <a:rPr lang="en-US" dirty="0" smtClean="0"/>
              <a:t>  print(type(N))</a:t>
            </a:r>
          </a:p>
          <a:p>
            <a:pPr marL="0" indent="0">
              <a:buNone/>
            </a:pPr>
            <a:r>
              <a:rPr lang="en-US" dirty="0"/>
              <a:t> </a:t>
            </a:r>
            <a:r>
              <a:rPr lang="en-US" dirty="0" smtClean="0"/>
              <a:t>  Output – 5</a:t>
            </a:r>
          </a:p>
          <a:p>
            <a:pPr marL="0" indent="0">
              <a:buNone/>
            </a:pPr>
            <a:r>
              <a:rPr lang="en-US" dirty="0"/>
              <a:t>                   &lt;class </a:t>
            </a:r>
            <a:r>
              <a:rPr lang="en-US" dirty="0" smtClean="0"/>
              <a:t>‘</a:t>
            </a:r>
            <a:r>
              <a:rPr lang="en-US" dirty="0" err="1" smtClean="0"/>
              <a:t>str</a:t>
            </a:r>
            <a:r>
              <a:rPr lang="en-US" dirty="0" smtClean="0"/>
              <a:t>’&gt;</a:t>
            </a:r>
            <a:endParaRPr lang="en-US" dirty="0"/>
          </a:p>
        </p:txBody>
      </p:sp>
    </p:spTree>
    <p:extLst>
      <p:ext uri="{BB962C8B-B14F-4D97-AF65-F5344CB8AC3E}">
        <p14:creationId xmlns:p14="http://schemas.microsoft.com/office/powerpoint/2010/main" val="34095358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868362"/>
          </a:xfrm>
        </p:spPr>
        <p:txBody>
          <a:bodyPr>
            <a:normAutofit/>
          </a:bodyPr>
          <a:lstStyle/>
          <a:p>
            <a:pPr algn="ctr"/>
            <a:r>
              <a:rPr lang="en-US" sz="4000" b="1" dirty="0" smtClean="0"/>
              <a:t>Type Casting String To </a:t>
            </a:r>
            <a:r>
              <a:rPr lang="en-US" sz="4000" b="1" dirty="0" err="1" smtClean="0"/>
              <a:t>Int</a:t>
            </a:r>
            <a:endParaRPr lang="en-US" b="1" dirty="0"/>
          </a:p>
        </p:txBody>
      </p:sp>
      <p:sp>
        <p:nvSpPr>
          <p:cNvPr id="3" name="Content Placeholder 2"/>
          <p:cNvSpPr>
            <a:spLocks noGrp="1"/>
          </p:cNvSpPr>
          <p:nvPr>
            <p:ph sz="quarter" idx="1"/>
          </p:nvPr>
        </p:nvSpPr>
        <p:spPr>
          <a:xfrm>
            <a:off x="457200" y="1524000"/>
            <a:ext cx="7620000" cy="4949952"/>
          </a:xfrm>
        </p:spPr>
        <p:txBody>
          <a:bodyPr>
            <a:normAutofit/>
          </a:bodyPr>
          <a:lstStyle/>
          <a:p>
            <a:r>
              <a:rPr lang="en-US" dirty="0"/>
              <a:t>Here, we are casting string data type into integer data type with </a:t>
            </a:r>
            <a:r>
              <a:rPr lang="en-US" dirty="0" err="1"/>
              <a:t>int</a:t>
            </a:r>
            <a:r>
              <a:rPr lang="en-US" dirty="0"/>
              <a:t>() function</a:t>
            </a:r>
            <a:r>
              <a:rPr lang="en-US" dirty="0" smtClean="0"/>
              <a:t>. Ex -</a:t>
            </a:r>
          </a:p>
          <a:p>
            <a:endParaRPr lang="en-US" dirty="0" smtClean="0"/>
          </a:p>
          <a:p>
            <a:r>
              <a:rPr lang="en-US" dirty="0" smtClean="0"/>
              <a:t>A = “5”</a:t>
            </a:r>
          </a:p>
          <a:p>
            <a:pPr marL="0" indent="0">
              <a:buNone/>
            </a:pPr>
            <a:r>
              <a:rPr lang="en-US" dirty="0" smtClean="0"/>
              <a:t>   N = </a:t>
            </a:r>
            <a:r>
              <a:rPr lang="en-US" dirty="0" err="1" smtClean="0"/>
              <a:t>int</a:t>
            </a:r>
            <a:r>
              <a:rPr lang="en-US" dirty="0" smtClean="0"/>
              <a:t>(A)</a:t>
            </a:r>
          </a:p>
          <a:p>
            <a:pPr marL="0" indent="0">
              <a:buNone/>
            </a:pPr>
            <a:r>
              <a:rPr lang="en-US" dirty="0"/>
              <a:t> </a:t>
            </a:r>
            <a:r>
              <a:rPr lang="en-US" dirty="0" smtClean="0"/>
              <a:t>  print(N)</a:t>
            </a:r>
          </a:p>
          <a:p>
            <a:pPr marL="0" indent="0">
              <a:buNone/>
            </a:pPr>
            <a:r>
              <a:rPr lang="en-US" dirty="0"/>
              <a:t> </a:t>
            </a:r>
            <a:r>
              <a:rPr lang="en-US" dirty="0" smtClean="0"/>
              <a:t>  print(type(N))</a:t>
            </a:r>
          </a:p>
          <a:p>
            <a:pPr marL="0" indent="0">
              <a:buNone/>
            </a:pPr>
            <a:r>
              <a:rPr lang="en-US" dirty="0"/>
              <a:t> </a:t>
            </a:r>
            <a:r>
              <a:rPr lang="en-US" dirty="0" smtClean="0"/>
              <a:t>  Output – 5</a:t>
            </a:r>
          </a:p>
          <a:p>
            <a:pPr marL="0" indent="0">
              <a:buNone/>
            </a:pPr>
            <a:r>
              <a:rPr lang="en-US" dirty="0"/>
              <a:t>                   &lt;class </a:t>
            </a:r>
            <a:r>
              <a:rPr lang="en-US" dirty="0" smtClean="0"/>
              <a:t>‘</a:t>
            </a:r>
            <a:r>
              <a:rPr lang="en-US" dirty="0" err="1" smtClean="0"/>
              <a:t>int</a:t>
            </a:r>
            <a:r>
              <a:rPr lang="en-US" dirty="0" smtClean="0"/>
              <a:t>’&gt;</a:t>
            </a:r>
            <a:endParaRPr lang="en-US" dirty="0"/>
          </a:p>
        </p:txBody>
      </p:sp>
    </p:spTree>
    <p:extLst>
      <p:ext uri="{BB962C8B-B14F-4D97-AF65-F5344CB8AC3E}">
        <p14:creationId xmlns:p14="http://schemas.microsoft.com/office/powerpoint/2010/main" val="28624668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868362"/>
          </a:xfrm>
        </p:spPr>
        <p:txBody>
          <a:bodyPr>
            <a:noAutofit/>
          </a:bodyPr>
          <a:lstStyle/>
          <a:p>
            <a:pPr algn="ctr"/>
            <a:r>
              <a:rPr lang="en-US" sz="3600" b="1" dirty="0" smtClean="0"/>
              <a:t>Type Casting String To Float</a:t>
            </a:r>
            <a:endParaRPr lang="en-US" sz="2400" b="1" dirty="0"/>
          </a:p>
        </p:txBody>
      </p:sp>
      <p:sp>
        <p:nvSpPr>
          <p:cNvPr id="3" name="Content Placeholder 2"/>
          <p:cNvSpPr>
            <a:spLocks noGrp="1"/>
          </p:cNvSpPr>
          <p:nvPr>
            <p:ph sz="quarter" idx="1"/>
          </p:nvPr>
        </p:nvSpPr>
        <p:spPr>
          <a:xfrm>
            <a:off x="457200" y="1524000"/>
            <a:ext cx="7620000" cy="4949952"/>
          </a:xfrm>
        </p:spPr>
        <p:txBody>
          <a:bodyPr>
            <a:normAutofit/>
          </a:bodyPr>
          <a:lstStyle/>
          <a:p>
            <a:r>
              <a:rPr lang="en-US" dirty="0"/>
              <a:t>Here, we are casting string data type into float data type with float() function</a:t>
            </a:r>
            <a:r>
              <a:rPr lang="en-US" dirty="0" smtClean="0"/>
              <a:t>. Ex -</a:t>
            </a:r>
          </a:p>
          <a:p>
            <a:endParaRPr lang="en-US" dirty="0" smtClean="0"/>
          </a:p>
          <a:p>
            <a:r>
              <a:rPr lang="en-US" dirty="0" smtClean="0"/>
              <a:t>A = “5.9”</a:t>
            </a:r>
          </a:p>
          <a:p>
            <a:pPr marL="0" indent="0">
              <a:buNone/>
            </a:pPr>
            <a:r>
              <a:rPr lang="en-US" dirty="0" smtClean="0"/>
              <a:t>   N = float(A)</a:t>
            </a:r>
          </a:p>
          <a:p>
            <a:pPr marL="0" indent="0">
              <a:buNone/>
            </a:pPr>
            <a:r>
              <a:rPr lang="en-US" dirty="0"/>
              <a:t> </a:t>
            </a:r>
            <a:r>
              <a:rPr lang="en-US" dirty="0" smtClean="0"/>
              <a:t>  print(N)</a:t>
            </a:r>
          </a:p>
          <a:p>
            <a:pPr marL="0" indent="0">
              <a:buNone/>
            </a:pPr>
            <a:r>
              <a:rPr lang="en-US" dirty="0"/>
              <a:t> </a:t>
            </a:r>
            <a:r>
              <a:rPr lang="en-US" dirty="0" smtClean="0"/>
              <a:t>  print(type(N))</a:t>
            </a:r>
          </a:p>
          <a:p>
            <a:pPr marL="0" indent="0">
              <a:buNone/>
            </a:pPr>
            <a:r>
              <a:rPr lang="en-US" dirty="0"/>
              <a:t> </a:t>
            </a:r>
            <a:r>
              <a:rPr lang="en-US" dirty="0" smtClean="0"/>
              <a:t>  Output – 5.9</a:t>
            </a:r>
          </a:p>
          <a:p>
            <a:pPr marL="0" indent="0">
              <a:buNone/>
            </a:pPr>
            <a:r>
              <a:rPr lang="en-US" dirty="0"/>
              <a:t>                   &lt;class </a:t>
            </a:r>
            <a:r>
              <a:rPr lang="en-US" dirty="0" smtClean="0"/>
              <a:t>‘float’&gt;</a:t>
            </a:r>
            <a:endParaRPr lang="en-US" dirty="0"/>
          </a:p>
        </p:txBody>
      </p:sp>
    </p:spTree>
    <p:extLst>
      <p:ext uri="{BB962C8B-B14F-4D97-AF65-F5344CB8AC3E}">
        <p14:creationId xmlns:p14="http://schemas.microsoft.com/office/powerpoint/2010/main" val="12751503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Arithmetic Operator</a:t>
            </a:r>
            <a:endParaRPr lang="en-US" sz="3600" b="1" dirty="0"/>
          </a:p>
        </p:txBody>
      </p:sp>
      <p:sp>
        <p:nvSpPr>
          <p:cNvPr id="3" name="Content Placeholder 2"/>
          <p:cNvSpPr>
            <a:spLocks noGrp="1"/>
          </p:cNvSpPr>
          <p:nvPr>
            <p:ph sz="quarter" idx="1"/>
          </p:nvPr>
        </p:nvSpPr>
        <p:spPr>
          <a:xfrm>
            <a:off x="762000" y="1371600"/>
            <a:ext cx="7162800" cy="1295400"/>
          </a:xfrm>
        </p:spPr>
        <p:txBody>
          <a:bodyPr>
            <a:normAutofit/>
          </a:bodyPr>
          <a:lstStyle/>
          <a:p>
            <a:r>
              <a:rPr lang="en-US" dirty="0"/>
              <a:t>Arithmetic operators are used with numeric values to perform common mathematical operations:</a:t>
            </a:r>
          </a:p>
        </p:txBody>
      </p:sp>
      <p:graphicFrame>
        <p:nvGraphicFramePr>
          <p:cNvPr id="6" name="Table 5"/>
          <p:cNvGraphicFramePr>
            <a:graphicFrameLocks noGrp="1"/>
          </p:cNvGraphicFramePr>
          <p:nvPr>
            <p:extLst>
              <p:ext uri="{D42A27DB-BD31-4B8C-83A1-F6EECF244321}">
                <p14:modId xmlns:p14="http://schemas.microsoft.com/office/powerpoint/2010/main" val="791340751"/>
              </p:ext>
            </p:extLst>
          </p:nvPr>
        </p:nvGraphicFramePr>
        <p:xfrm>
          <a:off x="838200" y="2819400"/>
          <a:ext cx="7010400" cy="3429000"/>
        </p:xfrm>
        <a:graphic>
          <a:graphicData uri="http://schemas.openxmlformats.org/drawingml/2006/table">
            <a:tbl>
              <a:tblPr firstRow="1" bandRow="1">
                <a:tableStyleId>{5C22544A-7EE6-4342-B048-85BDC9FD1C3A}</a:tableStyleId>
              </a:tblPr>
              <a:tblGrid>
                <a:gridCol w="2336800"/>
                <a:gridCol w="2336800"/>
                <a:gridCol w="2336800"/>
              </a:tblGrid>
              <a:tr h="428625">
                <a:tc>
                  <a:txBody>
                    <a:bodyPr/>
                    <a:lstStyle/>
                    <a:p>
                      <a:pPr algn="ctr"/>
                      <a:r>
                        <a:rPr lang="en-US" b="1" dirty="0" smtClean="0"/>
                        <a:t>Operator</a:t>
                      </a:r>
                      <a:endParaRPr lang="en-US" b="1" dirty="0"/>
                    </a:p>
                  </a:txBody>
                  <a:tcPr/>
                </a:tc>
                <a:tc>
                  <a:txBody>
                    <a:bodyPr/>
                    <a:lstStyle/>
                    <a:p>
                      <a:pPr algn="ctr"/>
                      <a:r>
                        <a:rPr lang="en-US" b="1" dirty="0" smtClean="0"/>
                        <a:t>Name </a:t>
                      </a:r>
                      <a:endParaRPr lang="en-US" b="1" dirty="0"/>
                    </a:p>
                  </a:txBody>
                  <a:tcPr/>
                </a:tc>
                <a:tc>
                  <a:txBody>
                    <a:bodyPr/>
                    <a:lstStyle/>
                    <a:p>
                      <a:pPr algn="ctr"/>
                      <a:r>
                        <a:rPr lang="en-US" b="1" dirty="0" smtClean="0"/>
                        <a:t>Example</a:t>
                      </a:r>
                      <a:endParaRPr lang="en-US" b="1" dirty="0"/>
                    </a:p>
                  </a:txBody>
                  <a:tcPr/>
                </a:tc>
              </a:tr>
              <a:tr h="428625">
                <a:tc>
                  <a:txBody>
                    <a:bodyPr/>
                    <a:lstStyle/>
                    <a:p>
                      <a:r>
                        <a:rPr lang="en-US" dirty="0" smtClean="0"/>
                        <a:t>+</a:t>
                      </a:r>
                    </a:p>
                  </a:txBody>
                  <a:tcPr/>
                </a:tc>
                <a:tc>
                  <a:txBody>
                    <a:bodyPr/>
                    <a:lstStyle/>
                    <a:p>
                      <a:r>
                        <a:rPr lang="en-US" dirty="0" smtClean="0"/>
                        <a:t>Addition</a:t>
                      </a:r>
                      <a:endParaRPr lang="en-US" dirty="0"/>
                    </a:p>
                  </a:txBody>
                  <a:tcPr/>
                </a:tc>
                <a:tc>
                  <a:txBody>
                    <a:bodyPr/>
                    <a:lstStyle/>
                    <a:p>
                      <a:r>
                        <a:rPr lang="en-US" dirty="0" err="1" smtClean="0"/>
                        <a:t>x+y</a:t>
                      </a:r>
                      <a:endParaRPr lang="en-US" dirty="0"/>
                    </a:p>
                  </a:txBody>
                  <a:tcPr/>
                </a:tc>
              </a:tr>
              <a:tr h="428625">
                <a:tc>
                  <a:txBody>
                    <a:bodyPr/>
                    <a:lstStyle/>
                    <a:p>
                      <a:r>
                        <a:rPr lang="en-US" dirty="0" smtClean="0"/>
                        <a:t>-</a:t>
                      </a:r>
                      <a:endParaRPr lang="en-US" dirty="0"/>
                    </a:p>
                  </a:txBody>
                  <a:tcPr/>
                </a:tc>
                <a:tc>
                  <a:txBody>
                    <a:bodyPr/>
                    <a:lstStyle/>
                    <a:p>
                      <a:r>
                        <a:rPr lang="en-US" dirty="0" smtClean="0"/>
                        <a:t>Subtraction</a:t>
                      </a:r>
                      <a:endParaRPr lang="en-US" dirty="0"/>
                    </a:p>
                  </a:txBody>
                  <a:tcPr/>
                </a:tc>
                <a:tc>
                  <a:txBody>
                    <a:bodyPr/>
                    <a:lstStyle/>
                    <a:p>
                      <a:r>
                        <a:rPr lang="en-US" dirty="0" smtClean="0"/>
                        <a:t>x-y</a:t>
                      </a:r>
                      <a:endParaRPr lang="en-US" dirty="0"/>
                    </a:p>
                  </a:txBody>
                  <a:tcPr/>
                </a:tc>
              </a:tr>
              <a:tr h="428625">
                <a:tc>
                  <a:txBody>
                    <a:bodyPr/>
                    <a:lstStyle/>
                    <a:p>
                      <a:r>
                        <a:rPr lang="en-US" dirty="0" smtClean="0"/>
                        <a:t>*</a:t>
                      </a:r>
                      <a:endParaRPr lang="en-US" dirty="0"/>
                    </a:p>
                  </a:txBody>
                  <a:tcPr/>
                </a:tc>
                <a:tc>
                  <a:txBody>
                    <a:bodyPr/>
                    <a:lstStyle/>
                    <a:p>
                      <a:r>
                        <a:rPr lang="en-US" dirty="0" smtClean="0"/>
                        <a:t>Multiplication</a:t>
                      </a:r>
                      <a:endParaRPr lang="en-US" dirty="0"/>
                    </a:p>
                  </a:txBody>
                  <a:tcPr/>
                </a:tc>
                <a:tc>
                  <a:txBody>
                    <a:bodyPr/>
                    <a:lstStyle/>
                    <a:p>
                      <a:r>
                        <a:rPr lang="en-US" dirty="0" smtClean="0"/>
                        <a:t>x*y</a:t>
                      </a:r>
                      <a:endParaRPr lang="en-US" dirty="0"/>
                    </a:p>
                  </a:txBody>
                  <a:tcPr/>
                </a:tc>
              </a:tr>
              <a:tr h="428625">
                <a:tc>
                  <a:txBody>
                    <a:bodyPr/>
                    <a:lstStyle/>
                    <a:p>
                      <a:r>
                        <a:rPr lang="en-US" dirty="0" smtClean="0"/>
                        <a:t>/</a:t>
                      </a:r>
                      <a:endParaRPr lang="en-US" dirty="0"/>
                    </a:p>
                  </a:txBody>
                  <a:tcPr/>
                </a:tc>
                <a:tc>
                  <a:txBody>
                    <a:bodyPr/>
                    <a:lstStyle/>
                    <a:p>
                      <a:r>
                        <a:rPr lang="en-US" dirty="0" smtClean="0"/>
                        <a:t>Division</a:t>
                      </a:r>
                      <a:endParaRPr lang="en-US" dirty="0"/>
                    </a:p>
                  </a:txBody>
                  <a:tcPr/>
                </a:tc>
                <a:tc>
                  <a:txBody>
                    <a:bodyPr/>
                    <a:lstStyle/>
                    <a:p>
                      <a:r>
                        <a:rPr lang="en-US" dirty="0" smtClean="0"/>
                        <a:t>x/y</a:t>
                      </a:r>
                      <a:endParaRPr lang="en-US" dirty="0"/>
                    </a:p>
                  </a:txBody>
                  <a:tcPr/>
                </a:tc>
              </a:tr>
              <a:tr h="428625">
                <a:tc>
                  <a:txBody>
                    <a:bodyPr/>
                    <a:lstStyle/>
                    <a:p>
                      <a:r>
                        <a:rPr lang="en-US" dirty="0" smtClean="0"/>
                        <a:t>%</a:t>
                      </a:r>
                      <a:endParaRPr lang="en-US" dirty="0"/>
                    </a:p>
                  </a:txBody>
                  <a:tcPr/>
                </a:tc>
                <a:tc>
                  <a:txBody>
                    <a:bodyPr/>
                    <a:lstStyle/>
                    <a:p>
                      <a:r>
                        <a:rPr lang="en-US" dirty="0" smtClean="0"/>
                        <a:t>Modulus</a:t>
                      </a:r>
                      <a:endParaRPr lang="en-US" dirty="0"/>
                    </a:p>
                  </a:txBody>
                  <a:tcPr/>
                </a:tc>
                <a:tc>
                  <a:txBody>
                    <a:bodyPr/>
                    <a:lstStyle/>
                    <a:p>
                      <a:r>
                        <a:rPr lang="en-US" dirty="0" err="1" smtClean="0"/>
                        <a:t>x%y</a:t>
                      </a:r>
                      <a:endParaRPr lang="en-US" dirty="0"/>
                    </a:p>
                  </a:txBody>
                  <a:tcPr/>
                </a:tc>
              </a:tr>
              <a:tr h="428625">
                <a:tc>
                  <a:txBody>
                    <a:bodyPr/>
                    <a:lstStyle/>
                    <a:p>
                      <a:r>
                        <a:rPr lang="en-US" dirty="0" smtClean="0"/>
                        <a:t>**</a:t>
                      </a:r>
                      <a:endParaRPr lang="en-US" dirty="0"/>
                    </a:p>
                  </a:txBody>
                  <a:tcPr/>
                </a:tc>
                <a:tc>
                  <a:txBody>
                    <a:bodyPr/>
                    <a:lstStyle/>
                    <a:p>
                      <a:r>
                        <a:rPr lang="en-US" dirty="0" smtClean="0"/>
                        <a:t>Exponentiation</a:t>
                      </a:r>
                      <a:endParaRPr lang="en-US" dirty="0"/>
                    </a:p>
                  </a:txBody>
                  <a:tcPr/>
                </a:tc>
                <a:tc>
                  <a:txBody>
                    <a:bodyPr/>
                    <a:lstStyle/>
                    <a:p>
                      <a:r>
                        <a:rPr lang="en-US" dirty="0" smtClean="0"/>
                        <a:t>x**y</a:t>
                      </a:r>
                      <a:endParaRPr lang="en-US" dirty="0"/>
                    </a:p>
                  </a:txBody>
                  <a:tcPr/>
                </a:tc>
              </a:tr>
              <a:tr h="428625">
                <a:tc>
                  <a:txBody>
                    <a:bodyPr/>
                    <a:lstStyle/>
                    <a:p>
                      <a:r>
                        <a:rPr lang="en-US" dirty="0" smtClean="0"/>
                        <a:t>//</a:t>
                      </a:r>
                      <a:endParaRPr lang="en-US" dirty="0"/>
                    </a:p>
                  </a:txBody>
                  <a:tcPr/>
                </a:tc>
                <a:tc>
                  <a:txBody>
                    <a:bodyPr/>
                    <a:lstStyle/>
                    <a:p>
                      <a:r>
                        <a:rPr lang="en-US" dirty="0" smtClean="0"/>
                        <a:t>Floor division</a:t>
                      </a:r>
                      <a:endParaRPr lang="en-US" dirty="0"/>
                    </a:p>
                  </a:txBody>
                  <a:tcPr/>
                </a:tc>
                <a:tc>
                  <a:txBody>
                    <a:bodyPr/>
                    <a:lstStyle/>
                    <a:p>
                      <a:r>
                        <a:rPr lang="en-US" dirty="0" smtClean="0"/>
                        <a:t>x//y</a:t>
                      </a:r>
                      <a:endParaRPr lang="en-US" dirty="0"/>
                    </a:p>
                  </a:txBody>
                  <a:tcPr/>
                </a:tc>
              </a:tr>
            </a:tbl>
          </a:graphicData>
        </a:graphic>
      </p:graphicFrame>
    </p:spTree>
    <p:extLst>
      <p:ext uri="{BB962C8B-B14F-4D97-AF65-F5344CB8AC3E}">
        <p14:creationId xmlns:p14="http://schemas.microsoft.com/office/powerpoint/2010/main" val="29527157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Assignment Operator</a:t>
            </a:r>
            <a:endParaRPr lang="en-US" sz="3600" b="1" dirty="0"/>
          </a:p>
        </p:txBody>
      </p:sp>
      <p:sp>
        <p:nvSpPr>
          <p:cNvPr id="3" name="Content Placeholder 2"/>
          <p:cNvSpPr>
            <a:spLocks noGrp="1"/>
          </p:cNvSpPr>
          <p:nvPr>
            <p:ph sz="quarter" idx="1"/>
          </p:nvPr>
        </p:nvSpPr>
        <p:spPr>
          <a:xfrm>
            <a:off x="762000" y="1219200"/>
            <a:ext cx="7162800" cy="838200"/>
          </a:xfrm>
        </p:spPr>
        <p:txBody>
          <a:bodyPr>
            <a:normAutofit/>
          </a:bodyPr>
          <a:lstStyle/>
          <a:p>
            <a:r>
              <a:rPr lang="en-US" dirty="0"/>
              <a:t>Assignment operators are used to assign values to variables:</a:t>
            </a:r>
          </a:p>
        </p:txBody>
      </p:sp>
      <p:graphicFrame>
        <p:nvGraphicFramePr>
          <p:cNvPr id="4" name="Table 3"/>
          <p:cNvGraphicFramePr>
            <a:graphicFrameLocks noGrp="1"/>
          </p:cNvGraphicFramePr>
          <p:nvPr>
            <p:extLst>
              <p:ext uri="{D42A27DB-BD31-4B8C-83A1-F6EECF244321}">
                <p14:modId xmlns:p14="http://schemas.microsoft.com/office/powerpoint/2010/main" val="1933164983"/>
              </p:ext>
            </p:extLst>
          </p:nvPr>
        </p:nvGraphicFramePr>
        <p:xfrm>
          <a:off x="914400" y="2286000"/>
          <a:ext cx="7010400" cy="3962403"/>
        </p:xfrm>
        <a:graphic>
          <a:graphicData uri="http://schemas.openxmlformats.org/drawingml/2006/table">
            <a:tbl>
              <a:tblPr firstRow="1" bandRow="1">
                <a:tableStyleId>{5C22544A-7EE6-4342-B048-85BDC9FD1C3A}</a:tableStyleId>
              </a:tblPr>
              <a:tblGrid>
                <a:gridCol w="2336800"/>
                <a:gridCol w="2336800"/>
                <a:gridCol w="2336800"/>
              </a:tblGrid>
              <a:tr h="440267">
                <a:tc>
                  <a:txBody>
                    <a:bodyPr/>
                    <a:lstStyle/>
                    <a:p>
                      <a:pPr algn="ctr"/>
                      <a:r>
                        <a:rPr lang="en-US" dirty="0" smtClean="0"/>
                        <a:t>Operator</a:t>
                      </a:r>
                      <a:endParaRPr lang="en-US" dirty="0"/>
                    </a:p>
                  </a:txBody>
                  <a:tcPr/>
                </a:tc>
                <a:tc>
                  <a:txBody>
                    <a:bodyPr/>
                    <a:lstStyle/>
                    <a:p>
                      <a:pPr algn="ctr"/>
                      <a:r>
                        <a:rPr lang="en-US" dirty="0" smtClean="0"/>
                        <a:t>Example</a:t>
                      </a:r>
                      <a:endParaRPr lang="en-US" dirty="0"/>
                    </a:p>
                  </a:txBody>
                  <a:tcPr/>
                </a:tc>
                <a:tc>
                  <a:txBody>
                    <a:bodyPr/>
                    <a:lstStyle/>
                    <a:p>
                      <a:pPr algn="ctr"/>
                      <a:r>
                        <a:rPr lang="en-US" dirty="0" smtClean="0"/>
                        <a:t>Same</a:t>
                      </a:r>
                      <a:r>
                        <a:rPr lang="en-US" baseline="0" dirty="0" smtClean="0"/>
                        <a:t> As</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5</a:t>
                      </a:r>
                      <a:endParaRPr lang="en-US" dirty="0"/>
                    </a:p>
                  </a:txBody>
                  <a:tcPr/>
                </a:tc>
                <a:tc>
                  <a:txBody>
                    <a:bodyPr/>
                    <a:lstStyle/>
                    <a:p>
                      <a:r>
                        <a:rPr lang="en-US" dirty="0" smtClean="0"/>
                        <a:t>x</a:t>
                      </a:r>
                      <a:r>
                        <a:rPr lang="en-US" baseline="0" dirty="0" smtClean="0"/>
                        <a:t> = 5</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p>
                  </a:txBody>
                  <a:tcPr/>
                </a:tc>
              </a:tr>
            </a:tbl>
          </a:graphicData>
        </a:graphic>
      </p:graphicFrame>
    </p:spTree>
    <p:extLst>
      <p:ext uri="{BB962C8B-B14F-4D97-AF65-F5344CB8AC3E}">
        <p14:creationId xmlns:p14="http://schemas.microsoft.com/office/powerpoint/2010/main" val="5849896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Assignment Operator</a:t>
            </a:r>
            <a:endParaRPr lang="en-US" sz="3600" b="1" dirty="0"/>
          </a:p>
        </p:txBody>
      </p:sp>
      <p:graphicFrame>
        <p:nvGraphicFramePr>
          <p:cNvPr id="4" name="Table 3"/>
          <p:cNvGraphicFramePr>
            <a:graphicFrameLocks noGrp="1"/>
          </p:cNvGraphicFramePr>
          <p:nvPr>
            <p:extLst>
              <p:ext uri="{D42A27DB-BD31-4B8C-83A1-F6EECF244321}">
                <p14:modId xmlns:p14="http://schemas.microsoft.com/office/powerpoint/2010/main" val="574094641"/>
              </p:ext>
            </p:extLst>
          </p:nvPr>
        </p:nvGraphicFramePr>
        <p:xfrm>
          <a:off x="914400" y="1600200"/>
          <a:ext cx="7010400" cy="2641602"/>
        </p:xfrm>
        <a:graphic>
          <a:graphicData uri="http://schemas.openxmlformats.org/drawingml/2006/table">
            <a:tbl>
              <a:tblPr firstRow="1" bandRow="1">
                <a:tableStyleId>{5C22544A-7EE6-4342-B048-85BDC9FD1C3A}</a:tableStyleId>
              </a:tblPr>
              <a:tblGrid>
                <a:gridCol w="2336800"/>
                <a:gridCol w="2336800"/>
                <a:gridCol w="2336800"/>
              </a:tblGrid>
              <a:tr h="440267">
                <a:tc>
                  <a:txBody>
                    <a:bodyPr/>
                    <a:lstStyle/>
                    <a:p>
                      <a:pPr algn="ctr"/>
                      <a:r>
                        <a:rPr lang="en-US" dirty="0" smtClean="0"/>
                        <a:t>Operator</a:t>
                      </a:r>
                      <a:endParaRPr lang="en-US" dirty="0"/>
                    </a:p>
                  </a:txBody>
                  <a:tcPr/>
                </a:tc>
                <a:tc>
                  <a:txBody>
                    <a:bodyPr/>
                    <a:lstStyle/>
                    <a:p>
                      <a:pPr algn="ctr"/>
                      <a:r>
                        <a:rPr lang="en-US" dirty="0" smtClean="0"/>
                        <a:t>Example</a:t>
                      </a:r>
                      <a:endParaRPr lang="en-US" dirty="0"/>
                    </a:p>
                  </a:txBody>
                  <a:tcPr/>
                </a:tc>
                <a:tc>
                  <a:txBody>
                    <a:bodyPr/>
                    <a:lstStyle/>
                    <a:p>
                      <a:pPr algn="ctr"/>
                      <a:r>
                        <a:rPr lang="en-US" dirty="0" smtClean="0"/>
                        <a:t>Same</a:t>
                      </a:r>
                      <a:r>
                        <a:rPr lang="en-US" baseline="0" dirty="0" smtClean="0"/>
                        <a:t> As</a:t>
                      </a:r>
                      <a:endParaRPr lang="en-US" dirty="0"/>
                    </a:p>
                  </a:txBody>
                  <a:tcPr/>
                </a:tc>
              </a:tr>
              <a:tr h="440267">
                <a:tc>
                  <a:txBody>
                    <a:bodyPr/>
                    <a:lstStyle/>
                    <a:p>
                      <a:r>
                        <a:rPr lang="en-US" dirty="0" smtClean="0"/>
                        <a:t>&amp;=</a:t>
                      </a:r>
                      <a:endParaRPr lang="en-US" dirty="0"/>
                    </a:p>
                  </a:txBody>
                  <a:tcPr/>
                </a:tc>
                <a:tc>
                  <a:txBody>
                    <a:bodyPr/>
                    <a:lstStyle/>
                    <a:p>
                      <a:r>
                        <a:rPr lang="en-US" dirty="0" smtClean="0"/>
                        <a:t>x</a:t>
                      </a:r>
                      <a:r>
                        <a:rPr lang="en-US" baseline="0" dirty="0" smtClean="0"/>
                        <a:t> &amp;</a:t>
                      </a:r>
                      <a:r>
                        <a:rPr lang="en-US" dirty="0" smtClean="0"/>
                        <a:t>= 3</a:t>
                      </a:r>
                      <a:endParaRPr lang="en-US" dirty="0"/>
                    </a:p>
                  </a:txBody>
                  <a:tcPr/>
                </a:tc>
                <a:tc>
                  <a:txBody>
                    <a:bodyPr/>
                    <a:lstStyle/>
                    <a:p>
                      <a:r>
                        <a:rPr lang="en-US" dirty="0" smtClean="0"/>
                        <a:t>x</a:t>
                      </a:r>
                      <a:r>
                        <a:rPr lang="en-US" baseline="0" dirty="0" smtClean="0"/>
                        <a:t> = x &amp;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a:t>
                      </a:r>
                      <a:endParaRPr lang="en-US" dirty="0"/>
                    </a:p>
                  </a:txBody>
                  <a:tcPr/>
                </a:tc>
                <a:tc>
                  <a:txBody>
                    <a:bodyPr/>
                    <a:lstStyle/>
                    <a:p>
                      <a:r>
                        <a:rPr lang="en-US" dirty="0" smtClean="0"/>
                        <a:t>x</a:t>
                      </a:r>
                      <a:r>
                        <a:rPr lang="en-US" baseline="0" dirty="0" smtClean="0"/>
                        <a:t> ^</a:t>
                      </a:r>
                      <a:r>
                        <a:rPr lang="en-US" dirty="0" smtClean="0"/>
                        <a:t>= 3</a:t>
                      </a:r>
                      <a:endParaRPr lang="en-US" dirty="0"/>
                    </a:p>
                  </a:txBody>
                  <a:tcPr/>
                </a:tc>
                <a:tc>
                  <a:txBody>
                    <a:bodyPr/>
                    <a:lstStyle/>
                    <a:p>
                      <a:r>
                        <a:rPr lang="en-US" dirty="0" smtClean="0"/>
                        <a:t>x</a:t>
                      </a:r>
                      <a:r>
                        <a:rPr lang="en-US" baseline="0" dirty="0" smtClean="0"/>
                        <a:t> </a:t>
                      </a:r>
                      <a:r>
                        <a:rPr lang="en-US" dirty="0" smtClean="0"/>
                        <a:t>= x ^ 3</a:t>
                      </a:r>
                      <a:endParaRPr lang="en-US" dirty="0"/>
                    </a:p>
                  </a:txBody>
                  <a:tcPr/>
                </a:tc>
              </a:tr>
              <a:tr h="440267">
                <a:tc>
                  <a:txBody>
                    <a:bodyPr/>
                    <a:lstStyle/>
                    <a:p>
                      <a:r>
                        <a:rPr lang="en-US" dirty="0" smtClean="0"/>
                        <a:t>&gt;&gt;=</a:t>
                      </a:r>
                      <a:endParaRPr lang="en-US" dirty="0"/>
                    </a:p>
                  </a:txBody>
                  <a:tcPr/>
                </a:tc>
                <a:tc>
                  <a:txBody>
                    <a:bodyPr/>
                    <a:lstStyle/>
                    <a:p>
                      <a:r>
                        <a:rPr lang="en-US" dirty="0" smtClean="0"/>
                        <a:t>x</a:t>
                      </a:r>
                      <a:r>
                        <a:rPr lang="en-US" baseline="0" dirty="0" smtClean="0"/>
                        <a:t> &gt;&gt;</a:t>
                      </a:r>
                      <a:r>
                        <a:rPr lang="en-US" dirty="0" smtClean="0"/>
                        <a:t>= 3</a:t>
                      </a:r>
                      <a:endParaRPr lang="en-US" dirty="0"/>
                    </a:p>
                  </a:txBody>
                  <a:tcPr/>
                </a:tc>
                <a:tc>
                  <a:txBody>
                    <a:bodyPr/>
                    <a:lstStyle/>
                    <a:p>
                      <a:r>
                        <a:rPr lang="en-US" dirty="0" smtClean="0"/>
                        <a:t>x</a:t>
                      </a:r>
                      <a:r>
                        <a:rPr lang="en-US" baseline="0" dirty="0" smtClean="0"/>
                        <a:t> </a:t>
                      </a:r>
                      <a:r>
                        <a:rPr lang="en-US" dirty="0" smtClean="0"/>
                        <a:t>= x &gt;&gt; 3</a:t>
                      </a:r>
                      <a:endParaRPr lang="en-US" dirty="0"/>
                    </a:p>
                  </a:txBody>
                  <a:tcPr/>
                </a:tc>
              </a:tr>
              <a:tr h="440267">
                <a:tc>
                  <a:txBody>
                    <a:bodyPr/>
                    <a:lstStyle/>
                    <a:p>
                      <a:r>
                        <a:rPr lang="en-US" dirty="0" smtClean="0"/>
                        <a:t>&lt;&lt;=</a:t>
                      </a:r>
                      <a:endParaRPr lang="en-US" dirty="0"/>
                    </a:p>
                  </a:txBody>
                  <a:tcPr/>
                </a:tc>
                <a:tc>
                  <a:txBody>
                    <a:bodyPr/>
                    <a:lstStyle/>
                    <a:p>
                      <a:r>
                        <a:rPr lang="en-US" dirty="0" smtClean="0"/>
                        <a:t>x</a:t>
                      </a:r>
                      <a:r>
                        <a:rPr lang="en-US" baseline="0" dirty="0" smtClean="0"/>
                        <a:t> &lt;&lt;</a:t>
                      </a:r>
                      <a:r>
                        <a:rPr lang="en-US" dirty="0" smtClean="0"/>
                        <a:t>= 3</a:t>
                      </a:r>
                      <a:endParaRPr lang="en-US" dirty="0"/>
                    </a:p>
                  </a:txBody>
                  <a:tcPr/>
                </a:tc>
                <a:tc>
                  <a:txBody>
                    <a:bodyPr/>
                    <a:lstStyle/>
                    <a:p>
                      <a:r>
                        <a:rPr lang="en-US" dirty="0" smtClean="0"/>
                        <a:t>x</a:t>
                      </a:r>
                      <a:r>
                        <a:rPr lang="en-US" baseline="0" dirty="0" smtClean="0"/>
                        <a:t> </a:t>
                      </a:r>
                      <a:r>
                        <a:rPr lang="en-US" dirty="0" smtClean="0"/>
                        <a:t>= x &lt;&lt; 3</a:t>
                      </a:r>
                      <a:endParaRPr lang="en-US" dirty="0"/>
                    </a:p>
                  </a:txBody>
                  <a:tcPr/>
                </a:tc>
              </a:tr>
            </a:tbl>
          </a:graphicData>
        </a:graphic>
      </p:graphicFrame>
    </p:spTree>
    <p:extLst>
      <p:ext uri="{BB962C8B-B14F-4D97-AF65-F5344CB8AC3E}">
        <p14:creationId xmlns:p14="http://schemas.microsoft.com/office/powerpoint/2010/main" val="33716130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Comparison Operator</a:t>
            </a:r>
            <a:endParaRPr lang="en-US" sz="3600" b="1" dirty="0"/>
          </a:p>
        </p:txBody>
      </p:sp>
      <p:sp>
        <p:nvSpPr>
          <p:cNvPr id="3" name="Content Placeholder 2"/>
          <p:cNvSpPr>
            <a:spLocks noGrp="1"/>
          </p:cNvSpPr>
          <p:nvPr>
            <p:ph sz="quarter" idx="1"/>
          </p:nvPr>
        </p:nvSpPr>
        <p:spPr>
          <a:xfrm>
            <a:off x="762000" y="1219200"/>
            <a:ext cx="7162800" cy="838200"/>
          </a:xfrm>
        </p:spPr>
        <p:txBody>
          <a:bodyPr>
            <a:normAutofit/>
          </a:bodyPr>
          <a:lstStyle/>
          <a:p>
            <a:r>
              <a:rPr lang="en-US" dirty="0"/>
              <a:t>Comparison operators are used to compare two values:</a:t>
            </a:r>
          </a:p>
        </p:txBody>
      </p:sp>
      <p:graphicFrame>
        <p:nvGraphicFramePr>
          <p:cNvPr id="4" name="Table 3"/>
          <p:cNvGraphicFramePr>
            <a:graphicFrameLocks noGrp="1"/>
          </p:cNvGraphicFramePr>
          <p:nvPr>
            <p:extLst>
              <p:ext uri="{D42A27DB-BD31-4B8C-83A1-F6EECF244321}">
                <p14:modId xmlns:p14="http://schemas.microsoft.com/office/powerpoint/2010/main" val="1799706595"/>
              </p:ext>
            </p:extLst>
          </p:nvPr>
        </p:nvGraphicFramePr>
        <p:xfrm>
          <a:off x="533400" y="2133600"/>
          <a:ext cx="7696200" cy="3581400"/>
        </p:xfrm>
        <a:graphic>
          <a:graphicData uri="http://schemas.openxmlformats.org/drawingml/2006/table">
            <a:tbl>
              <a:tblPr firstRow="1" bandRow="1">
                <a:tableStyleId>{5C22544A-7EE6-4342-B048-85BDC9FD1C3A}</a:tableStyleId>
              </a:tblPr>
              <a:tblGrid>
                <a:gridCol w="2565400"/>
                <a:gridCol w="2565400"/>
                <a:gridCol w="2565400"/>
              </a:tblGrid>
              <a:tr h="480477">
                <a:tc>
                  <a:txBody>
                    <a:bodyPr/>
                    <a:lstStyle/>
                    <a:p>
                      <a:pPr algn="ctr"/>
                      <a:r>
                        <a:rPr lang="en-US" dirty="0" smtClean="0"/>
                        <a:t>Operator</a:t>
                      </a:r>
                      <a:endParaRPr lang="en-US" dirty="0"/>
                    </a:p>
                  </a:txBody>
                  <a:tcPr/>
                </a:tc>
                <a:tc>
                  <a:txBody>
                    <a:bodyPr/>
                    <a:lstStyle/>
                    <a:p>
                      <a:pPr algn="ctr"/>
                      <a:r>
                        <a:rPr lang="en-US" dirty="0" smtClean="0"/>
                        <a:t>Name</a:t>
                      </a:r>
                      <a:endParaRPr lang="en-US" dirty="0"/>
                    </a:p>
                  </a:txBody>
                  <a:tcPr/>
                </a:tc>
                <a:tc>
                  <a:txBody>
                    <a:bodyPr/>
                    <a:lstStyle/>
                    <a:p>
                      <a:pPr algn="ctr"/>
                      <a:r>
                        <a:rPr lang="en-US" dirty="0" smtClean="0"/>
                        <a:t>Example</a:t>
                      </a:r>
                      <a:endParaRPr lang="en-US" dirty="0"/>
                    </a:p>
                  </a:txBody>
                  <a:tcPr/>
                </a:tc>
              </a:tr>
              <a:tr h="480477">
                <a:tc>
                  <a:txBody>
                    <a:bodyPr/>
                    <a:lstStyle/>
                    <a:p>
                      <a:r>
                        <a:rPr lang="en-US" dirty="0" smtClean="0"/>
                        <a:t>==</a:t>
                      </a:r>
                      <a:endParaRPr lang="en-US" dirty="0"/>
                    </a:p>
                  </a:txBody>
                  <a:tcPr/>
                </a:tc>
                <a:tc>
                  <a:txBody>
                    <a:bodyPr/>
                    <a:lstStyle/>
                    <a:p>
                      <a:r>
                        <a:rPr lang="en-US" dirty="0" smtClean="0"/>
                        <a:t>Equal</a:t>
                      </a:r>
                    </a:p>
                  </a:txBody>
                  <a:tcPr/>
                </a:tc>
                <a:tc>
                  <a:txBody>
                    <a:bodyPr/>
                    <a:lstStyle/>
                    <a:p>
                      <a:r>
                        <a:rPr lang="en-US" dirty="0" smtClean="0"/>
                        <a:t>x == y</a:t>
                      </a:r>
                      <a:endParaRPr lang="en-US" dirty="0"/>
                    </a:p>
                  </a:txBody>
                  <a:tcPr/>
                </a:tc>
              </a:tr>
              <a:tr h="480477">
                <a:tc>
                  <a:txBody>
                    <a:bodyPr/>
                    <a:lstStyle/>
                    <a:p>
                      <a:r>
                        <a:rPr lang="en-US" dirty="0" smtClean="0"/>
                        <a:t>!=</a:t>
                      </a:r>
                      <a:endParaRPr lang="en-US" dirty="0"/>
                    </a:p>
                  </a:txBody>
                  <a:tcPr/>
                </a:tc>
                <a:tc>
                  <a:txBody>
                    <a:bodyPr/>
                    <a:lstStyle/>
                    <a:p>
                      <a:r>
                        <a:rPr lang="en-US" dirty="0" smtClean="0"/>
                        <a:t>Not equal</a:t>
                      </a:r>
                      <a:endParaRPr lang="en-US" dirty="0"/>
                    </a:p>
                  </a:txBody>
                  <a:tcPr/>
                </a:tc>
                <a:tc>
                  <a:txBody>
                    <a:bodyPr/>
                    <a:lstStyle/>
                    <a:p>
                      <a:r>
                        <a:rPr lang="en-US" dirty="0" smtClean="0"/>
                        <a:t>x != y</a:t>
                      </a:r>
                      <a:endParaRPr lang="en-US" dirty="0"/>
                    </a:p>
                  </a:txBody>
                  <a:tcPr/>
                </a:tc>
              </a:tr>
              <a:tr h="480477">
                <a:tc>
                  <a:txBody>
                    <a:bodyPr/>
                    <a:lstStyle/>
                    <a:p>
                      <a:r>
                        <a:rPr lang="en-US" dirty="0" smtClean="0"/>
                        <a:t>&gt;</a:t>
                      </a:r>
                      <a:endParaRPr lang="en-US" dirty="0"/>
                    </a:p>
                  </a:txBody>
                  <a:tcPr/>
                </a:tc>
                <a:tc>
                  <a:txBody>
                    <a:bodyPr/>
                    <a:lstStyle/>
                    <a:p>
                      <a:r>
                        <a:rPr lang="en-US" dirty="0" smtClean="0"/>
                        <a:t>Greater</a:t>
                      </a:r>
                      <a:r>
                        <a:rPr lang="en-US" baseline="0" dirty="0" smtClean="0"/>
                        <a:t> than</a:t>
                      </a:r>
                      <a:endParaRPr lang="en-US" dirty="0"/>
                    </a:p>
                  </a:txBody>
                  <a:tcPr/>
                </a:tc>
                <a:tc>
                  <a:txBody>
                    <a:bodyPr/>
                    <a:lstStyle/>
                    <a:p>
                      <a:r>
                        <a:rPr lang="en-US" dirty="0" smtClean="0"/>
                        <a:t>x &gt; y</a:t>
                      </a:r>
                      <a:endParaRPr lang="en-US" dirty="0"/>
                    </a:p>
                  </a:txBody>
                  <a:tcPr/>
                </a:tc>
              </a:tr>
              <a:tr h="480477">
                <a:tc>
                  <a:txBody>
                    <a:bodyPr/>
                    <a:lstStyle/>
                    <a:p>
                      <a:r>
                        <a:rPr lang="en-US" dirty="0" smtClean="0"/>
                        <a:t>&lt;</a:t>
                      </a:r>
                      <a:endParaRPr lang="en-US" dirty="0"/>
                    </a:p>
                  </a:txBody>
                  <a:tcPr/>
                </a:tc>
                <a:tc>
                  <a:txBody>
                    <a:bodyPr/>
                    <a:lstStyle/>
                    <a:p>
                      <a:r>
                        <a:rPr lang="en-US" dirty="0" smtClean="0"/>
                        <a:t>Less</a:t>
                      </a:r>
                      <a:r>
                        <a:rPr lang="en-US" baseline="0" dirty="0" smtClean="0"/>
                        <a:t> than</a:t>
                      </a:r>
                      <a:endParaRPr lang="en-US" dirty="0"/>
                    </a:p>
                  </a:txBody>
                  <a:tcPr/>
                </a:tc>
                <a:tc>
                  <a:txBody>
                    <a:bodyPr/>
                    <a:lstStyle/>
                    <a:p>
                      <a:r>
                        <a:rPr lang="en-US" dirty="0" smtClean="0"/>
                        <a:t>x &lt; y</a:t>
                      </a:r>
                      <a:endParaRPr lang="en-US" dirty="0"/>
                    </a:p>
                  </a:txBody>
                  <a:tcPr/>
                </a:tc>
              </a:tr>
              <a:tr h="698538">
                <a:tc>
                  <a:txBody>
                    <a:bodyPr/>
                    <a:lstStyle/>
                    <a:p>
                      <a:r>
                        <a:rPr lang="en-US" dirty="0" smtClean="0"/>
                        <a:t>&gt;=</a:t>
                      </a:r>
                      <a:endParaRPr lang="en-US" dirty="0"/>
                    </a:p>
                  </a:txBody>
                  <a:tcPr/>
                </a:tc>
                <a:tc>
                  <a:txBody>
                    <a:bodyPr/>
                    <a:lstStyle/>
                    <a:p>
                      <a:r>
                        <a:rPr lang="en-US" dirty="0" smtClean="0"/>
                        <a:t>Greater than</a:t>
                      </a:r>
                      <a:r>
                        <a:rPr lang="en-US" baseline="0" dirty="0" smtClean="0"/>
                        <a:t> or equal to</a:t>
                      </a:r>
                      <a:endParaRPr lang="en-US" dirty="0"/>
                    </a:p>
                  </a:txBody>
                  <a:tcPr/>
                </a:tc>
                <a:tc>
                  <a:txBody>
                    <a:bodyPr/>
                    <a:lstStyle/>
                    <a:p>
                      <a:r>
                        <a:rPr lang="en-US" dirty="0" smtClean="0"/>
                        <a:t>x &gt;= y</a:t>
                      </a:r>
                      <a:endParaRPr lang="en-US" dirty="0"/>
                    </a:p>
                  </a:txBody>
                  <a:tcPr/>
                </a:tc>
              </a:tr>
              <a:tr h="480477">
                <a:tc>
                  <a:txBody>
                    <a:bodyPr/>
                    <a:lstStyle/>
                    <a:p>
                      <a:r>
                        <a:rPr lang="en-US" dirty="0" smtClean="0"/>
                        <a:t>&lt;=</a:t>
                      </a:r>
                      <a:endParaRPr lang="en-US" dirty="0"/>
                    </a:p>
                  </a:txBody>
                  <a:tcPr/>
                </a:tc>
                <a:tc>
                  <a:txBody>
                    <a:bodyPr/>
                    <a:lstStyle/>
                    <a:p>
                      <a:r>
                        <a:rPr lang="en-US" dirty="0" smtClean="0"/>
                        <a:t>Less than or equal</a:t>
                      </a:r>
                      <a:r>
                        <a:rPr lang="en-US" baseline="0" dirty="0" smtClean="0"/>
                        <a:t> to</a:t>
                      </a:r>
                      <a:endParaRPr lang="en-US" dirty="0"/>
                    </a:p>
                  </a:txBody>
                  <a:tcPr/>
                </a:tc>
                <a:tc>
                  <a:txBody>
                    <a:bodyPr/>
                    <a:lstStyle/>
                    <a:p>
                      <a:r>
                        <a:rPr lang="en-US" dirty="0" smtClean="0"/>
                        <a:t>x &lt;= y</a:t>
                      </a:r>
                      <a:endParaRPr lang="en-US" dirty="0"/>
                    </a:p>
                  </a:txBody>
                  <a:tcPr/>
                </a:tc>
              </a:tr>
            </a:tbl>
          </a:graphicData>
        </a:graphic>
      </p:graphicFrame>
    </p:spTree>
    <p:extLst>
      <p:ext uri="{BB962C8B-B14F-4D97-AF65-F5344CB8AC3E}">
        <p14:creationId xmlns:p14="http://schemas.microsoft.com/office/powerpoint/2010/main" val="30705545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Logical Operator</a:t>
            </a:r>
            <a:endParaRPr lang="en-US" sz="3600" b="1" dirty="0"/>
          </a:p>
        </p:txBody>
      </p:sp>
      <p:sp>
        <p:nvSpPr>
          <p:cNvPr id="3" name="Content Placeholder 2"/>
          <p:cNvSpPr>
            <a:spLocks noGrp="1"/>
          </p:cNvSpPr>
          <p:nvPr>
            <p:ph sz="quarter" idx="1"/>
          </p:nvPr>
        </p:nvSpPr>
        <p:spPr>
          <a:xfrm>
            <a:off x="762000" y="1295400"/>
            <a:ext cx="7162800" cy="838200"/>
          </a:xfrm>
        </p:spPr>
        <p:txBody>
          <a:bodyPr>
            <a:normAutofit/>
          </a:bodyPr>
          <a:lstStyle/>
          <a:p>
            <a:r>
              <a:rPr lang="en-US" dirty="0"/>
              <a:t>Logical operators are used to combine conditional statements:</a:t>
            </a:r>
          </a:p>
        </p:txBody>
      </p:sp>
      <p:graphicFrame>
        <p:nvGraphicFramePr>
          <p:cNvPr id="4" name="Table 3"/>
          <p:cNvGraphicFramePr>
            <a:graphicFrameLocks noGrp="1"/>
          </p:cNvGraphicFramePr>
          <p:nvPr>
            <p:extLst>
              <p:ext uri="{D42A27DB-BD31-4B8C-83A1-F6EECF244321}">
                <p14:modId xmlns:p14="http://schemas.microsoft.com/office/powerpoint/2010/main" val="912388033"/>
              </p:ext>
            </p:extLst>
          </p:nvPr>
        </p:nvGraphicFramePr>
        <p:xfrm>
          <a:off x="685799" y="2514600"/>
          <a:ext cx="7391400" cy="2666999"/>
        </p:xfrm>
        <a:graphic>
          <a:graphicData uri="http://schemas.openxmlformats.org/drawingml/2006/table">
            <a:tbl>
              <a:tblPr firstRow="1" bandRow="1">
                <a:tableStyleId>{5C22544A-7EE6-4342-B048-85BDC9FD1C3A}</a:tableStyleId>
              </a:tblPr>
              <a:tblGrid>
                <a:gridCol w="1606826"/>
                <a:gridCol w="3454676"/>
                <a:gridCol w="2329898"/>
              </a:tblGrid>
              <a:tr h="497432">
                <a:tc>
                  <a:txBody>
                    <a:bodyPr/>
                    <a:lstStyle/>
                    <a:p>
                      <a:pPr algn="ctr"/>
                      <a:r>
                        <a:rPr lang="en-US" dirty="0" smtClean="0"/>
                        <a:t>Operator</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Example</a:t>
                      </a:r>
                      <a:endParaRPr lang="en-US" dirty="0"/>
                    </a:p>
                  </a:txBody>
                  <a:tcPr/>
                </a:tc>
              </a:tr>
              <a:tr h="723189">
                <a:tc>
                  <a:txBody>
                    <a:bodyPr/>
                    <a:lstStyle/>
                    <a:p>
                      <a:r>
                        <a:rPr lang="en-US" dirty="0" smtClean="0"/>
                        <a:t>and</a:t>
                      </a:r>
                      <a:r>
                        <a:rPr lang="en-US" baseline="0" dirty="0" smtClean="0"/>
                        <a:t> </a:t>
                      </a:r>
                      <a:endParaRPr lang="en-US" dirty="0"/>
                    </a:p>
                  </a:txBody>
                  <a:tcPr/>
                </a:tc>
                <a:tc>
                  <a:txBody>
                    <a:bodyPr/>
                    <a:lstStyle/>
                    <a:p>
                      <a:r>
                        <a:rPr lang="en-US" dirty="0" smtClean="0"/>
                        <a:t>Returns True if both statements are true</a:t>
                      </a:r>
                      <a:endParaRPr lang="en-US" dirty="0"/>
                    </a:p>
                  </a:txBody>
                  <a:tcPr/>
                </a:tc>
                <a:tc>
                  <a:txBody>
                    <a:bodyPr/>
                    <a:lstStyle/>
                    <a:p>
                      <a:r>
                        <a:rPr lang="en-US" dirty="0" smtClean="0"/>
                        <a:t>x</a:t>
                      </a:r>
                      <a:r>
                        <a:rPr lang="en-US" baseline="0" dirty="0" smtClean="0"/>
                        <a:t> &lt; 5 and x &lt; 10</a:t>
                      </a:r>
                      <a:endParaRPr lang="en-US" dirty="0"/>
                    </a:p>
                  </a:txBody>
                  <a:tcPr/>
                </a:tc>
              </a:tr>
              <a:tr h="723189">
                <a:tc>
                  <a:txBody>
                    <a:bodyPr/>
                    <a:lstStyle/>
                    <a:p>
                      <a:r>
                        <a:rPr lang="en-US" dirty="0" smtClean="0"/>
                        <a:t>or</a:t>
                      </a:r>
                      <a:endParaRPr lang="en-US" dirty="0"/>
                    </a:p>
                  </a:txBody>
                  <a:tcPr/>
                </a:tc>
                <a:tc>
                  <a:txBody>
                    <a:bodyPr/>
                    <a:lstStyle/>
                    <a:p>
                      <a:r>
                        <a:rPr lang="en-US" dirty="0" smtClean="0"/>
                        <a:t>Returns True if one of the statements is true</a:t>
                      </a:r>
                      <a:endParaRPr lang="en-US" dirty="0"/>
                    </a:p>
                  </a:txBody>
                  <a:tcPr/>
                </a:tc>
                <a:tc>
                  <a:txBody>
                    <a:bodyPr/>
                    <a:lstStyle/>
                    <a:p>
                      <a:r>
                        <a:rPr lang="en-US" dirty="0" smtClean="0"/>
                        <a:t>x</a:t>
                      </a:r>
                      <a:r>
                        <a:rPr lang="en-US" baseline="0" dirty="0" smtClean="0"/>
                        <a:t> &lt; 5 or x &lt; 10</a:t>
                      </a:r>
                      <a:endParaRPr lang="en-US" dirty="0"/>
                    </a:p>
                  </a:txBody>
                  <a:tcPr/>
                </a:tc>
              </a:tr>
              <a:tr h="723189">
                <a:tc>
                  <a:txBody>
                    <a:bodyPr/>
                    <a:lstStyle/>
                    <a:p>
                      <a:r>
                        <a:rPr lang="en-US" dirty="0" smtClean="0"/>
                        <a:t>not</a:t>
                      </a:r>
                      <a:endParaRPr lang="en-US" dirty="0"/>
                    </a:p>
                  </a:txBody>
                  <a:tcPr/>
                </a:tc>
                <a:tc>
                  <a:txBody>
                    <a:bodyPr/>
                    <a:lstStyle/>
                    <a:p>
                      <a:r>
                        <a:rPr lang="en-US" dirty="0" smtClean="0"/>
                        <a:t>Reverse the result, returns False if the result is true</a:t>
                      </a:r>
                      <a:endParaRPr lang="en-US" dirty="0"/>
                    </a:p>
                  </a:txBody>
                  <a:tcPr/>
                </a:tc>
                <a:tc>
                  <a:txBody>
                    <a:bodyPr/>
                    <a:lstStyle/>
                    <a:p>
                      <a:r>
                        <a:rPr lang="en-US" dirty="0" smtClean="0"/>
                        <a:t>not(x</a:t>
                      </a:r>
                      <a:r>
                        <a:rPr lang="en-US" baseline="0" dirty="0" smtClean="0"/>
                        <a:t> &lt; 5 and </a:t>
                      </a:r>
                    </a:p>
                    <a:p>
                      <a:r>
                        <a:rPr lang="en-US" baseline="0" dirty="0" smtClean="0"/>
                        <a:t>x &lt; 10</a:t>
                      </a:r>
                      <a:r>
                        <a:rPr lang="en-US" dirty="0" smtClean="0"/>
                        <a:t>)</a:t>
                      </a:r>
                      <a:endParaRPr lang="en-US" dirty="0"/>
                    </a:p>
                  </a:txBody>
                  <a:tcPr/>
                </a:tc>
              </a:tr>
            </a:tbl>
          </a:graphicData>
        </a:graphic>
      </p:graphicFrame>
    </p:spTree>
    <p:extLst>
      <p:ext uri="{BB962C8B-B14F-4D97-AF65-F5344CB8AC3E}">
        <p14:creationId xmlns:p14="http://schemas.microsoft.com/office/powerpoint/2010/main" val="37647023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Identity Operator</a:t>
            </a:r>
            <a:endParaRPr lang="en-US" sz="3600" b="1" dirty="0"/>
          </a:p>
        </p:txBody>
      </p:sp>
      <p:sp>
        <p:nvSpPr>
          <p:cNvPr id="3" name="Content Placeholder 2"/>
          <p:cNvSpPr>
            <a:spLocks noGrp="1"/>
          </p:cNvSpPr>
          <p:nvPr>
            <p:ph sz="quarter" idx="1"/>
          </p:nvPr>
        </p:nvSpPr>
        <p:spPr>
          <a:xfrm>
            <a:off x="762000" y="1295400"/>
            <a:ext cx="7162800" cy="1143000"/>
          </a:xfrm>
        </p:spPr>
        <p:txBody>
          <a:bodyPr>
            <a:normAutofit fontScale="92500"/>
          </a:bodyPr>
          <a:lstStyle/>
          <a:p>
            <a:r>
              <a:rPr lang="en-US" dirty="0"/>
              <a:t>Identity operators are used to compare the objects, not if they are equal, but if they are actually the same object, with the same memory location:</a:t>
            </a:r>
          </a:p>
        </p:txBody>
      </p:sp>
      <p:graphicFrame>
        <p:nvGraphicFramePr>
          <p:cNvPr id="4" name="Table 3"/>
          <p:cNvGraphicFramePr>
            <a:graphicFrameLocks noGrp="1"/>
          </p:cNvGraphicFramePr>
          <p:nvPr>
            <p:extLst>
              <p:ext uri="{D42A27DB-BD31-4B8C-83A1-F6EECF244321}">
                <p14:modId xmlns:p14="http://schemas.microsoft.com/office/powerpoint/2010/main" val="739362783"/>
              </p:ext>
            </p:extLst>
          </p:nvPr>
        </p:nvGraphicFramePr>
        <p:xfrm>
          <a:off x="685800" y="2895600"/>
          <a:ext cx="7391400" cy="1943810"/>
        </p:xfrm>
        <a:graphic>
          <a:graphicData uri="http://schemas.openxmlformats.org/drawingml/2006/table">
            <a:tbl>
              <a:tblPr firstRow="1" bandRow="1">
                <a:tableStyleId>{5C22544A-7EE6-4342-B048-85BDC9FD1C3A}</a:tableStyleId>
              </a:tblPr>
              <a:tblGrid>
                <a:gridCol w="1606826"/>
                <a:gridCol w="3454676"/>
                <a:gridCol w="2329898"/>
              </a:tblGrid>
              <a:tr h="497432">
                <a:tc>
                  <a:txBody>
                    <a:bodyPr/>
                    <a:lstStyle/>
                    <a:p>
                      <a:pPr algn="ctr"/>
                      <a:r>
                        <a:rPr lang="en-US" dirty="0" smtClean="0"/>
                        <a:t>Operator</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Example</a:t>
                      </a:r>
                      <a:endParaRPr lang="en-US" dirty="0"/>
                    </a:p>
                  </a:txBody>
                  <a:tcPr/>
                </a:tc>
              </a:tr>
              <a:tr h="723189">
                <a:tc>
                  <a:txBody>
                    <a:bodyPr/>
                    <a:lstStyle/>
                    <a:p>
                      <a:r>
                        <a:rPr lang="en-US" baseline="0" dirty="0" smtClean="0"/>
                        <a:t>is </a:t>
                      </a:r>
                      <a:endParaRPr lang="en-US" dirty="0"/>
                    </a:p>
                  </a:txBody>
                  <a:tcPr/>
                </a:tc>
                <a:tc>
                  <a:txBody>
                    <a:bodyPr/>
                    <a:lstStyle/>
                    <a:p>
                      <a:r>
                        <a:rPr lang="en-US" dirty="0" smtClean="0"/>
                        <a:t>Returns True if both variables are the same object</a:t>
                      </a:r>
                      <a:endParaRPr lang="en-US" dirty="0"/>
                    </a:p>
                  </a:txBody>
                  <a:tcPr/>
                </a:tc>
                <a:tc>
                  <a:txBody>
                    <a:bodyPr/>
                    <a:lstStyle/>
                    <a:p>
                      <a:r>
                        <a:rPr lang="en-US" baseline="0" dirty="0" smtClean="0"/>
                        <a:t>x is y</a:t>
                      </a:r>
                      <a:endParaRPr lang="en-US" dirty="0"/>
                    </a:p>
                  </a:txBody>
                  <a:tcPr/>
                </a:tc>
              </a:tr>
              <a:tr h="723189">
                <a:tc>
                  <a:txBody>
                    <a:bodyPr/>
                    <a:lstStyle/>
                    <a:p>
                      <a:r>
                        <a:rPr lang="en-US" dirty="0" smtClean="0"/>
                        <a:t>is</a:t>
                      </a:r>
                      <a:r>
                        <a:rPr lang="en-US" baseline="0" dirty="0" smtClean="0"/>
                        <a:t> not</a:t>
                      </a:r>
                      <a:endParaRPr lang="en-US" dirty="0"/>
                    </a:p>
                  </a:txBody>
                  <a:tcPr/>
                </a:tc>
                <a:tc>
                  <a:txBody>
                    <a:bodyPr/>
                    <a:lstStyle/>
                    <a:p>
                      <a:r>
                        <a:rPr lang="en-US" dirty="0" smtClean="0"/>
                        <a:t>Returns True if both variables are not the same object</a:t>
                      </a:r>
                      <a:endParaRPr lang="en-US" dirty="0"/>
                    </a:p>
                  </a:txBody>
                  <a:tcPr/>
                </a:tc>
                <a:tc>
                  <a:txBody>
                    <a:bodyPr/>
                    <a:lstStyle/>
                    <a:p>
                      <a:r>
                        <a:rPr lang="en-US" dirty="0" smtClean="0"/>
                        <a:t>x</a:t>
                      </a:r>
                      <a:r>
                        <a:rPr lang="en-US" baseline="0" dirty="0" smtClean="0"/>
                        <a:t> is not y</a:t>
                      </a:r>
                      <a:endParaRPr lang="en-US" dirty="0"/>
                    </a:p>
                  </a:txBody>
                  <a:tcPr/>
                </a:tc>
              </a:tr>
            </a:tbl>
          </a:graphicData>
        </a:graphic>
      </p:graphicFrame>
    </p:spTree>
    <p:extLst>
      <p:ext uri="{BB962C8B-B14F-4D97-AF65-F5344CB8AC3E}">
        <p14:creationId xmlns:p14="http://schemas.microsoft.com/office/powerpoint/2010/main" val="9643419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pPr algn="ctr"/>
            <a:r>
              <a:rPr lang="en-US" sz="3600" b="1" dirty="0" smtClean="0"/>
              <a:t>Membership Operator</a:t>
            </a:r>
            <a:endParaRPr lang="en-US" sz="3600" b="1" dirty="0"/>
          </a:p>
        </p:txBody>
      </p:sp>
      <p:sp>
        <p:nvSpPr>
          <p:cNvPr id="3" name="Content Placeholder 2"/>
          <p:cNvSpPr>
            <a:spLocks noGrp="1"/>
          </p:cNvSpPr>
          <p:nvPr>
            <p:ph sz="quarter" idx="1"/>
          </p:nvPr>
        </p:nvSpPr>
        <p:spPr>
          <a:xfrm>
            <a:off x="762000" y="1295400"/>
            <a:ext cx="7162800" cy="1143000"/>
          </a:xfrm>
        </p:spPr>
        <p:txBody>
          <a:bodyPr>
            <a:normAutofit/>
          </a:bodyPr>
          <a:lstStyle/>
          <a:p>
            <a:r>
              <a:rPr lang="en-US" dirty="0"/>
              <a:t>Membership operators are used to test if a sequence is presented in an object:</a:t>
            </a:r>
          </a:p>
        </p:txBody>
      </p:sp>
      <p:graphicFrame>
        <p:nvGraphicFramePr>
          <p:cNvPr id="4" name="Table 3"/>
          <p:cNvGraphicFramePr>
            <a:graphicFrameLocks noGrp="1"/>
          </p:cNvGraphicFramePr>
          <p:nvPr>
            <p:extLst>
              <p:ext uri="{D42A27DB-BD31-4B8C-83A1-F6EECF244321}">
                <p14:modId xmlns:p14="http://schemas.microsoft.com/office/powerpoint/2010/main" val="1586416663"/>
              </p:ext>
            </p:extLst>
          </p:nvPr>
        </p:nvGraphicFramePr>
        <p:xfrm>
          <a:off x="685800" y="2895600"/>
          <a:ext cx="7391400" cy="2326232"/>
        </p:xfrm>
        <a:graphic>
          <a:graphicData uri="http://schemas.openxmlformats.org/drawingml/2006/table">
            <a:tbl>
              <a:tblPr firstRow="1" bandRow="1">
                <a:tableStyleId>{5C22544A-7EE6-4342-B048-85BDC9FD1C3A}</a:tableStyleId>
              </a:tblPr>
              <a:tblGrid>
                <a:gridCol w="1606826"/>
                <a:gridCol w="3454676"/>
                <a:gridCol w="2329898"/>
              </a:tblGrid>
              <a:tr h="497432">
                <a:tc>
                  <a:txBody>
                    <a:bodyPr/>
                    <a:lstStyle/>
                    <a:p>
                      <a:pPr algn="ctr"/>
                      <a:r>
                        <a:rPr lang="en-US" dirty="0" smtClean="0"/>
                        <a:t>Operator</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Example</a:t>
                      </a:r>
                      <a:endParaRPr lang="en-US" dirty="0"/>
                    </a:p>
                  </a:txBody>
                  <a:tcPr/>
                </a:tc>
              </a:tr>
              <a:tr h="723189">
                <a:tc>
                  <a:txBody>
                    <a:bodyPr/>
                    <a:lstStyle/>
                    <a:p>
                      <a:r>
                        <a:rPr lang="en-US" baseline="0" dirty="0" smtClean="0"/>
                        <a:t>in</a:t>
                      </a:r>
                      <a:endParaRPr lang="en-US" dirty="0"/>
                    </a:p>
                  </a:txBody>
                  <a:tcPr/>
                </a:tc>
                <a:tc>
                  <a:txBody>
                    <a:bodyPr/>
                    <a:lstStyle/>
                    <a:p>
                      <a:r>
                        <a:rPr lang="en-US" dirty="0" smtClean="0"/>
                        <a:t>Returns True if a sequence with the specified value is present in the object</a:t>
                      </a:r>
                      <a:endParaRPr lang="en-US" dirty="0"/>
                    </a:p>
                  </a:txBody>
                  <a:tcPr/>
                </a:tc>
                <a:tc>
                  <a:txBody>
                    <a:bodyPr/>
                    <a:lstStyle/>
                    <a:p>
                      <a:r>
                        <a:rPr lang="en-US" baseline="0" dirty="0" smtClean="0"/>
                        <a:t>x in y</a:t>
                      </a:r>
                      <a:endParaRPr lang="en-US" dirty="0"/>
                    </a:p>
                  </a:txBody>
                  <a:tcPr/>
                </a:tc>
              </a:tr>
              <a:tr h="723189">
                <a:tc>
                  <a:txBody>
                    <a:bodyPr/>
                    <a:lstStyle/>
                    <a:p>
                      <a:r>
                        <a:rPr lang="en-US" baseline="0" dirty="0" smtClean="0"/>
                        <a:t>not in</a:t>
                      </a:r>
                      <a:endParaRPr lang="en-US" dirty="0"/>
                    </a:p>
                  </a:txBody>
                  <a:tcPr/>
                </a:tc>
                <a:tc>
                  <a:txBody>
                    <a:bodyPr/>
                    <a:lstStyle/>
                    <a:p>
                      <a:r>
                        <a:rPr lang="en-US" dirty="0" smtClean="0"/>
                        <a:t>Returns True if a sequence with the specified value is not present in the object</a:t>
                      </a:r>
                      <a:endParaRPr lang="en-US" dirty="0"/>
                    </a:p>
                  </a:txBody>
                  <a:tcPr/>
                </a:tc>
                <a:tc>
                  <a:txBody>
                    <a:bodyPr/>
                    <a:lstStyle/>
                    <a:p>
                      <a:r>
                        <a:rPr lang="en-US" dirty="0" smtClean="0"/>
                        <a:t>x</a:t>
                      </a:r>
                      <a:r>
                        <a:rPr lang="en-US" baseline="0" dirty="0" smtClean="0"/>
                        <a:t> not in y</a:t>
                      </a:r>
                      <a:endParaRPr lang="en-US" dirty="0"/>
                    </a:p>
                  </a:txBody>
                  <a:tcPr/>
                </a:tc>
              </a:tr>
            </a:tbl>
          </a:graphicData>
        </a:graphic>
      </p:graphicFrame>
    </p:spTree>
    <p:extLst>
      <p:ext uri="{BB962C8B-B14F-4D97-AF65-F5344CB8AC3E}">
        <p14:creationId xmlns:p14="http://schemas.microsoft.com/office/powerpoint/2010/main" val="13824640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792162"/>
          </a:xfrm>
        </p:spPr>
        <p:txBody>
          <a:bodyPr>
            <a:normAutofit/>
          </a:bodyPr>
          <a:lstStyle/>
          <a:p>
            <a:pPr algn="ctr"/>
            <a:r>
              <a:rPr lang="en-US" sz="3600" b="1" dirty="0" smtClean="0"/>
              <a:t>Bitwise Operator</a:t>
            </a:r>
            <a:endParaRPr lang="en-US" sz="3600" b="1" dirty="0"/>
          </a:p>
        </p:txBody>
      </p:sp>
      <p:sp>
        <p:nvSpPr>
          <p:cNvPr id="3" name="Content Placeholder 2"/>
          <p:cNvSpPr>
            <a:spLocks noGrp="1"/>
          </p:cNvSpPr>
          <p:nvPr>
            <p:ph sz="quarter" idx="1"/>
          </p:nvPr>
        </p:nvSpPr>
        <p:spPr>
          <a:xfrm>
            <a:off x="762000" y="1066800"/>
            <a:ext cx="7162800" cy="838200"/>
          </a:xfrm>
        </p:spPr>
        <p:txBody>
          <a:bodyPr>
            <a:normAutofit/>
          </a:bodyPr>
          <a:lstStyle/>
          <a:p>
            <a:r>
              <a:rPr lang="en-US" dirty="0"/>
              <a:t>Bitwise operators are used to compare (binary) numbers:</a:t>
            </a:r>
          </a:p>
        </p:txBody>
      </p:sp>
      <p:graphicFrame>
        <p:nvGraphicFramePr>
          <p:cNvPr id="4" name="Table 3"/>
          <p:cNvGraphicFramePr>
            <a:graphicFrameLocks noGrp="1"/>
          </p:cNvGraphicFramePr>
          <p:nvPr>
            <p:extLst>
              <p:ext uri="{D42A27DB-BD31-4B8C-83A1-F6EECF244321}">
                <p14:modId xmlns:p14="http://schemas.microsoft.com/office/powerpoint/2010/main" val="3700803806"/>
              </p:ext>
            </p:extLst>
          </p:nvPr>
        </p:nvGraphicFramePr>
        <p:xfrm>
          <a:off x="533400" y="1981198"/>
          <a:ext cx="7696200" cy="4237261"/>
        </p:xfrm>
        <a:graphic>
          <a:graphicData uri="http://schemas.openxmlformats.org/drawingml/2006/table">
            <a:tbl>
              <a:tblPr firstRow="1" bandRow="1">
                <a:tableStyleId>{5C22544A-7EE6-4342-B048-85BDC9FD1C3A}</a:tableStyleId>
              </a:tblPr>
              <a:tblGrid>
                <a:gridCol w="1371600"/>
                <a:gridCol w="2057400"/>
                <a:gridCol w="4267200"/>
              </a:tblGrid>
              <a:tr h="518699">
                <a:tc>
                  <a:txBody>
                    <a:bodyPr/>
                    <a:lstStyle/>
                    <a:p>
                      <a:pPr algn="ctr"/>
                      <a:r>
                        <a:rPr lang="en-US" dirty="0" smtClean="0"/>
                        <a:t>Operator</a:t>
                      </a:r>
                      <a:endParaRPr lang="en-US" dirty="0"/>
                    </a:p>
                  </a:txBody>
                  <a:tcPr/>
                </a:tc>
                <a:tc>
                  <a:txBody>
                    <a:bodyPr/>
                    <a:lstStyle/>
                    <a:p>
                      <a:pPr algn="ctr"/>
                      <a:r>
                        <a:rPr lang="en-US" dirty="0" smtClean="0"/>
                        <a:t>Name</a:t>
                      </a:r>
                      <a:endParaRPr lang="en-US" dirty="0"/>
                    </a:p>
                  </a:txBody>
                  <a:tcPr/>
                </a:tc>
                <a:tc>
                  <a:txBody>
                    <a:bodyPr/>
                    <a:lstStyle/>
                    <a:p>
                      <a:pPr algn="ctr"/>
                      <a:r>
                        <a:rPr lang="en-US" dirty="0" smtClean="0"/>
                        <a:t>Description</a:t>
                      </a:r>
                      <a:endParaRPr lang="en-US" dirty="0"/>
                    </a:p>
                  </a:txBody>
                  <a:tcPr/>
                </a:tc>
              </a:tr>
              <a:tr h="518699">
                <a:tc>
                  <a:txBody>
                    <a:bodyPr/>
                    <a:lstStyle/>
                    <a:p>
                      <a:r>
                        <a:rPr lang="en-US" dirty="0" smtClean="0"/>
                        <a:t>&amp;</a:t>
                      </a:r>
                      <a:endParaRPr lang="en-US" dirty="0"/>
                    </a:p>
                  </a:txBody>
                  <a:tcPr/>
                </a:tc>
                <a:tc>
                  <a:txBody>
                    <a:bodyPr/>
                    <a:lstStyle/>
                    <a:p>
                      <a:r>
                        <a:rPr lang="en-US" dirty="0" smtClean="0"/>
                        <a:t>AND</a:t>
                      </a:r>
                    </a:p>
                  </a:txBody>
                  <a:tcPr/>
                </a:tc>
                <a:tc>
                  <a:txBody>
                    <a:bodyPr/>
                    <a:lstStyle/>
                    <a:p>
                      <a:r>
                        <a:rPr lang="en-US" dirty="0" smtClean="0"/>
                        <a:t>Sets each bit to 1 if both bits are 1</a:t>
                      </a:r>
                      <a:endParaRPr lang="en-US" dirty="0"/>
                    </a:p>
                  </a:txBody>
                  <a:tcPr/>
                </a:tc>
              </a:tr>
              <a:tr h="486604">
                <a:tc>
                  <a:txBody>
                    <a:bodyPr/>
                    <a:lstStyle/>
                    <a:p>
                      <a:r>
                        <a:rPr lang="en-US" dirty="0" smtClean="0"/>
                        <a:t>|</a:t>
                      </a:r>
                      <a:endParaRPr lang="en-US" dirty="0"/>
                    </a:p>
                  </a:txBody>
                  <a:tcPr/>
                </a:tc>
                <a:tc>
                  <a:txBody>
                    <a:bodyPr/>
                    <a:lstStyle/>
                    <a:p>
                      <a:r>
                        <a:rPr lang="en-US" dirty="0" smtClean="0"/>
                        <a:t>OR</a:t>
                      </a:r>
                      <a:endParaRPr lang="en-US" dirty="0"/>
                    </a:p>
                  </a:txBody>
                  <a:tcPr/>
                </a:tc>
                <a:tc>
                  <a:txBody>
                    <a:bodyPr/>
                    <a:lstStyle/>
                    <a:p>
                      <a:r>
                        <a:rPr lang="en-US" dirty="0" smtClean="0"/>
                        <a:t>Sets each bit to 1 if one of two bits is 1</a:t>
                      </a:r>
                      <a:endParaRPr lang="en-US" dirty="0"/>
                    </a:p>
                  </a:txBody>
                  <a:tcPr/>
                </a:tc>
              </a:tr>
              <a:tr h="518699">
                <a:tc>
                  <a:txBody>
                    <a:bodyPr/>
                    <a:lstStyle/>
                    <a:p>
                      <a:r>
                        <a:rPr lang="en-US" dirty="0" smtClean="0"/>
                        <a:t>^</a:t>
                      </a:r>
                      <a:endParaRPr lang="en-US" dirty="0"/>
                    </a:p>
                  </a:txBody>
                  <a:tcPr/>
                </a:tc>
                <a:tc>
                  <a:txBody>
                    <a:bodyPr/>
                    <a:lstStyle/>
                    <a:p>
                      <a:r>
                        <a:rPr lang="en-US" dirty="0" smtClean="0"/>
                        <a:t>XOR</a:t>
                      </a:r>
                      <a:endParaRPr lang="en-US" dirty="0"/>
                    </a:p>
                  </a:txBody>
                  <a:tcPr/>
                </a:tc>
                <a:tc>
                  <a:txBody>
                    <a:bodyPr/>
                    <a:lstStyle/>
                    <a:p>
                      <a:r>
                        <a:rPr lang="en-US" dirty="0" smtClean="0"/>
                        <a:t>Sets each bit to 1 if only one of two bits is 1</a:t>
                      </a:r>
                      <a:endParaRPr lang="en-US" dirty="0"/>
                    </a:p>
                  </a:txBody>
                  <a:tcPr/>
                </a:tc>
              </a:tr>
              <a:tr h="518699">
                <a:tc>
                  <a:txBody>
                    <a:bodyPr/>
                    <a:lstStyle/>
                    <a:p>
                      <a:r>
                        <a:rPr lang="en-US" dirty="0" smtClean="0"/>
                        <a:t>~</a:t>
                      </a:r>
                      <a:endParaRPr lang="en-US" dirty="0"/>
                    </a:p>
                  </a:txBody>
                  <a:tcPr/>
                </a:tc>
                <a:tc>
                  <a:txBody>
                    <a:bodyPr/>
                    <a:lstStyle/>
                    <a:p>
                      <a:r>
                        <a:rPr lang="en-US" dirty="0" smtClean="0"/>
                        <a:t>NOT</a:t>
                      </a:r>
                      <a:endParaRPr lang="en-US" dirty="0"/>
                    </a:p>
                  </a:txBody>
                  <a:tcPr/>
                </a:tc>
                <a:tc>
                  <a:txBody>
                    <a:bodyPr/>
                    <a:lstStyle/>
                    <a:p>
                      <a:r>
                        <a:rPr lang="en-US" dirty="0" smtClean="0"/>
                        <a:t>Inverts all the bits</a:t>
                      </a:r>
                      <a:endParaRPr lang="en-US" dirty="0"/>
                    </a:p>
                  </a:txBody>
                  <a:tcPr/>
                </a:tc>
              </a:tr>
              <a:tr h="486602">
                <a:tc>
                  <a:txBody>
                    <a:bodyPr/>
                    <a:lstStyle/>
                    <a:p>
                      <a:r>
                        <a:rPr lang="en-US" dirty="0" smtClean="0"/>
                        <a:t>&lt;&lt;</a:t>
                      </a:r>
                      <a:endParaRPr lang="en-US" dirty="0"/>
                    </a:p>
                  </a:txBody>
                  <a:tcPr/>
                </a:tc>
                <a:tc>
                  <a:txBody>
                    <a:bodyPr/>
                    <a:lstStyle/>
                    <a:p>
                      <a:r>
                        <a:rPr lang="en-US" dirty="0" smtClean="0"/>
                        <a:t>Zero</a:t>
                      </a:r>
                      <a:r>
                        <a:rPr lang="en-US" baseline="0" dirty="0" smtClean="0"/>
                        <a:t> fill left shift</a:t>
                      </a:r>
                      <a:endParaRPr lang="en-US" dirty="0"/>
                    </a:p>
                  </a:txBody>
                  <a:tcPr/>
                </a:tc>
                <a:tc>
                  <a:txBody>
                    <a:bodyPr/>
                    <a:lstStyle/>
                    <a:p>
                      <a:r>
                        <a:rPr lang="en-US" dirty="0" smtClean="0"/>
                        <a:t>Shift left by pushing zeros in from the right and let the leftmost bits fall off</a:t>
                      </a:r>
                      <a:endParaRPr lang="en-US" dirty="0"/>
                    </a:p>
                  </a:txBody>
                  <a:tcPr/>
                </a:tc>
              </a:tr>
              <a:tr h="518699">
                <a:tc>
                  <a:txBody>
                    <a:bodyPr/>
                    <a:lstStyle/>
                    <a:p>
                      <a:r>
                        <a:rPr lang="en-US" dirty="0" smtClean="0"/>
                        <a:t>&gt;&gt;</a:t>
                      </a:r>
                      <a:endParaRPr lang="en-US" dirty="0"/>
                    </a:p>
                  </a:txBody>
                  <a:tcPr/>
                </a:tc>
                <a:tc>
                  <a:txBody>
                    <a:bodyPr/>
                    <a:lstStyle/>
                    <a:p>
                      <a:r>
                        <a:rPr lang="en-US" dirty="0" smtClean="0"/>
                        <a:t>Signed</a:t>
                      </a:r>
                      <a:r>
                        <a:rPr lang="en-US" baseline="0" dirty="0" smtClean="0"/>
                        <a:t> right shift</a:t>
                      </a:r>
                      <a:endParaRPr lang="en-US" dirty="0"/>
                    </a:p>
                  </a:txBody>
                  <a:tcPr/>
                </a:tc>
                <a:tc>
                  <a:txBody>
                    <a:bodyPr/>
                    <a:lstStyle/>
                    <a:p>
                      <a:r>
                        <a:rPr lang="en-US" dirty="0" smtClean="0"/>
                        <a:t>Shift right by pushing copies of the leftmost bit in from the left, and let the rightmost bits fall off</a:t>
                      </a:r>
                      <a:endParaRPr lang="en-US" dirty="0"/>
                    </a:p>
                  </a:txBody>
                  <a:tcPr/>
                </a:tc>
              </a:tr>
            </a:tbl>
          </a:graphicData>
        </a:graphic>
      </p:graphicFrame>
    </p:spTree>
    <p:extLst>
      <p:ext uri="{BB962C8B-B14F-4D97-AF65-F5344CB8AC3E}">
        <p14:creationId xmlns:p14="http://schemas.microsoft.com/office/powerpoint/2010/main" val="30793875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5029200"/>
          </a:xfrm>
        </p:spPr>
        <p:txBody>
          <a:bodyPr>
            <a:normAutofit/>
          </a:bodyPr>
          <a:lstStyle/>
          <a:p>
            <a:r>
              <a:rPr lang="en-US" dirty="0"/>
              <a:t>Ternary operators are also known as conditional expressions are operators that evaluate something based on a condition being true or false. </a:t>
            </a:r>
            <a:endParaRPr lang="en-US" dirty="0" smtClean="0"/>
          </a:p>
          <a:p>
            <a:r>
              <a:rPr lang="en-US" dirty="0" smtClean="0"/>
              <a:t>It </a:t>
            </a:r>
            <a:r>
              <a:rPr lang="en-US" dirty="0"/>
              <a:t>simply allows testing a condition in a single line replacing the multiline if-else making the code </a:t>
            </a:r>
            <a:r>
              <a:rPr lang="en-US" dirty="0" smtClean="0"/>
              <a:t>compact.</a:t>
            </a:r>
          </a:p>
          <a:p>
            <a:r>
              <a:rPr lang="en-US" b="1" dirty="0"/>
              <a:t>Syntax :  [on_true] if [expression] else [on_false</a:t>
            </a:r>
            <a:r>
              <a:rPr lang="en-US" b="1" dirty="0" smtClean="0"/>
              <a:t>]</a:t>
            </a:r>
          </a:p>
          <a:p>
            <a:r>
              <a:rPr lang="en-US" dirty="0" smtClean="0"/>
              <a:t>Example : a,b = 10,20</a:t>
            </a:r>
          </a:p>
          <a:p>
            <a:pPr marL="0" indent="0">
              <a:buNone/>
            </a:pPr>
            <a:r>
              <a:rPr lang="en-US" dirty="0"/>
              <a:t> </a:t>
            </a:r>
            <a:r>
              <a:rPr lang="en-US" dirty="0" smtClean="0"/>
              <a:t>                    min = a if a&lt;b else b</a:t>
            </a:r>
          </a:p>
          <a:p>
            <a:pPr marL="0" indent="0">
              <a:buNone/>
            </a:pPr>
            <a:r>
              <a:rPr lang="en-US" dirty="0"/>
              <a:t>	</a:t>
            </a:r>
            <a:r>
              <a:rPr lang="en-US" dirty="0" smtClean="0"/>
              <a:t>          print(min)</a:t>
            </a:r>
          </a:p>
          <a:p>
            <a:pPr marL="0" indent="0">
              <a:buNone/>
            </a:pPr>
            <a:r>
              <a:rPr lang="en-US" dirty="0"/>
              <a:t> </a:t>
            </a:r>
            <a:r>
              <a:rPr lang="en-US" dirty="0" smtClean="0"/>
              <a:t>     Output - 10</a:t>
            </a:r>
            <a:endParaRPr lang="en-US" dirty="0"/>
          </a:p>
        </p:txBody>
      </p:sp>
      <p:sp>
        <p:nvSpPr>
          <p:cNvPr id="4" name="Title 1"/>
          <p:cNvSpPr>
            <a:spLocks noGrp="1"/>
          </p:cNvSpPr>
          <p:nvPr>
            <p:ph type="title"/>
          </p:nvPr>
        </p:nvSpPr>
        <p:spPr>
          <a:xfrm>
            <a:off x="457200" y="33270"/>
            <a:ext cx="7467600" cy="1143000"/>
          </a:xfrm>
        </p:spPr>
        <p:txBody>
          <a:bodyPr>
            <a:normAutofit/>
          </a:bodyPr>
          <a:lstStyle/>
          <a:p>
            <a:pPr algn="ctr"/>
            <a:r>
              <a:rPr lang="en-US" sz="4000" b="1" dirty="0" smtClean="0"/>
              <a:t>Ternary Operator</a:t>
            </a:r>
            <a:endParaRPr lang="en-US" sz="4000" b="1" dirty="0"/>
          </a:p>
        </p:txBody>
      </p:sp>
    </p:spTree>
    <p:extLst>
      <p:ext uri="{BB962C8B-B14F-4D97-AF65-F5344CB8AC3E}">
        <p14:creationId xmlns:p14="http://schemas.microsoft.com/office/powerpoint/2010/main" val="19616013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3288480887"/>
              </p:ext>
            </p:extLst>
          </p:nvPr>
        </p:nvGraphicFramePr>
        <p:xfrm>
          <a:off x="457200" y="1600200"/>
          <a:ext cx="7467600" cy="4521200"/>
        </p:xfrm>
        <a:graphic>
          <a:graphicData uri="http://schemas.openxmlformats.org/drawingml/2006/table">
            <a:tbl>
              <a:tblPr firstRow="1" bandRow="1">
                <a:tableStyleId>{5C22544A-7EE6-4342-B048-85BDC9FD1C3A}</a:tableStyleId>
              </a:tblPr>
              <a:tblGrid>
                <a:gridCol w="1295400"/>
                <a:gridCol w="4419600"/>
                <a:gridCol w="1752600"/>
              </a:tblGrid>
              <a:tr h="370840">
                <a:tc>
                  <a:txBody>
                    <a:bodyPr/>
                    <a:lstStyle/>
                    <a:p>
                      <a:r>
                        <a:rPr lang="en-US" dirty="0" smtClean="0"/>
                        <a:t>Operator</a:t>
                      </a:r>
                      <a:endParaRPr lang="en-US" dirty="0"/>
                    </a:p>
                  </a:txBody>
                  <a:tcPr/>
                </a:tc>
                <a:tc>
                  <a:txBody>
                    <a:bodyPr/>
                    <a:lstStyle/>
                    <a:p>
                      <a:r>
                        <a:rPr lang="en-US" dirty="0" smtClean="0"/>
                        <a:t>Description</a:t>
                      </a:r>
                      <a:endParaRPr lang="en-US" dirty="0"/>
                    </a:p>
                  </a:txBody>
                  <a:tcPr/>
                </a:tc>
                <a:tc>
                  <a:txBody>
                    <a:bodyPr/>
                    <a:lstStyle/>
                    <a:p>
                      <a:r>
                        <a:rPr lang="en-US" dirty="0" smtClean="0"/>
                        <a:t>Associativity</a:t>
                      </a:r>
                      <a:endParaRPr lang="en-US" dirty="0"/>
                    </a:p>
                  </a:txBody>
                  <a:tcPr/>
                </a:tc>
              </a:tr>
              <a:tr h="370840">
                <a:tc>
                  <a:txBody>
                    <a:bodyPr/>
                    <a:lstStyle/>
                    <a:p>
                      <a:r>
                        <a:rPr lang="en-US" dirty="0" smtClean="0"/>
                        <a:t>( )</a:t>
                      </a:r>
                      <a:endParaRPr lang="en-US" dirty="0"/>
                    </a:p>
                  </a:txBody>
                  <a:tcPr/>
                </a:tc>
                <a:tc>
                  <a:txBody>
                    <a:bodyPr/>
                    <a:lstStyle/>
                    <a:p>
                      <a:r>
                        <a:rPr lang="en-US" dirty="0" smtClean="0"/>
                        <a:t>Parentheses</a:t>
                      </a:r>
                      <a:endParaRPr lang="en-US" dirty="0"/>
                    </a:p>
                  </a:txBody>
                  <a:tcPr/>
                </a:tc>
                <a:tc>
                  <a:txBody>
                    <a:bodyPr/>
                    <a:lstStyle/>
                    <a:p>
                      <a:r>
                        <a:rPr lang="en-US" dirty="0" smtClean="0"/>
                        <a:t>left-to-right</a:t>
                      </a:r>
                      <a:endParaRPr lang="en-US" dirty="0"/>
                    </a:p>
                  </a:txBody>
                  <a:tcPr/>
                </a:tc>
              </a:tr>
              <a:tr h="370840">
                <a:tc>
                  <a:txBody>
                    <a:bodyPr/>
                    <a:lstStyle/>
                    <a:p>
                      <a:r>
                        <a:rPr lang="en-US" dirty="0" smtClean="0"/>
                        <a:t>**</a:t>
                      </a:r>
                      <a:endParaRPr lang="en-US" dirty="0"/>
                    </a:p>
                  </a:txBody>
                  <a:tcPr/>
                </a:tc>
                <a:tc>
                  <a:txBody>
                    <a:bodyPr/>
                    <a:lstStyle/>
                    <a:p>
                      <a:r>
                        <a:rPr lang="en-US" dirty="0" smtClean="0"/>
                        <a:t>Exponent</a:t>
                      </a:r>
                      <a:endParaRPr lang="en-US" dirty="0"/>
                    </a:p>
                  </a:txBody>
                  <a:tcPr/>
                </a:tc>
                <a:tc>
                  <a:txBody>
                    <a:bodyPr/>
                    <a:lstStyle/>
                    <a:p>
                      <a:r>
                        <a:rPr lang="en-US" dirty="0" smtClean="0"/>
                        <a:t>right-to-left</a:t>
                      </a:r>
                      <a:endParaRPr lang="en-US" dirty="0"/>
                    </a:p>
                  </a:txBody>
                  <a:tcPr/>
                </a:tc>
              </a:tr>
              <a:tr h="370840">
                <a:tc>
                  <a:txBody>
                    <a:bodyPr/>
                    <a:lstStyle/>
                    <a:p>
                      <a:r>
                        <a:rPr lang="en-US" dirty="0" smtClean="0"/>
                        <a:t>* / %</a:t>
                      </a:r>
                      <a:endParaRPr lang="en-US" dirty="0"/>
                    </a:p>
                  </a:txBody>
                  <a:tcPr/>
                </a:tc>
                <a:tc>
                  <a:txBody>
                    <a:bodyPr/>
                    <a:lstStyle/>
                    <a:p>
                      <a:r>
                        <a:rPr lang="en-US" dirty="0" smtClean="0"/>
                        <a:t>Multiplication / Division / modulus</a:t>
                      </a:r>
                      <a:endParaRPr lang="en-US" dirty="0"/>
                    </a:p>
                  </a:txBody>
                  <a:tcPr/>
                </a:tc>
                <a:tc>
                  <a:txBody>
                    <a:bodyPr/>
                    <a:lstStyle/>
                    <a:p>
                      <a:r>
                        <a:rPr lang="en-US" dirty="0" smtClean="0"/>
                        <a:t>left-to-right</a:t>
                      </a:r>
                      <a:endParaRPr lang="en-US" dirty="0"/>
                    </a:p>
                  </a:txBody>
                  <a:tcPr/>
                </a:tc>
              </a:tr>
              <a:tr h="370840">
                <a:tc>
                  <a:txBody>
                    <a:bodyPr/>
                    <a:lstStyle/>
                    <a:p>
                      <a:r>
                        <a:rPr kumimoji="0" lang="en-US" b="0" i="0" kern="1200" dirty="0" smtClean="0">
                          <a:solidFill>
                            <a:schemeClr val="dk1"/>
                          </a:solidFill>
                          <a:effectLst/>
                          <a:latin typeface="+mn-lt"/>
                          <a:ea typeface="+mn-ea"/>
                          <a:cs typeface="+mn-cs"/>
                        </a:rPr>
                        <a:t>+  –</a:t>
                      </a:r>
                      <a:endParaRPr lang="en-US" dirty="0"/>
                    </a:p>
                  </a:txBody>
                  <a:tcPr/>
                </a:tc>
                <a:tc>
                  <a:txBody>
                    <a:bodyPr/>
                    <a:lstStyle/>
                    <a:p>
                      <a:r>
                        <a:rPr lang="en-US" dirty="0" smtClean="0"/>
                        <a:t>Addition / Subtraction</a:t>
                      </a:r>
                      <a:endParaRPr lang="en-US" dirty="0"/>
                    </a:p>
                  </a:txBody>
                  <a:tcPr/>
                </a:tc>
                <a:tc>
                  <a:txBody>
                    <a:bodyPr/>
                    <a:lstStyle/>
                    <a:p>
                      <a:r>
                        <a:rPr lang="en-US" dirty="0" smtClean="0"/>
                        <a:t>left-to-right</a:t>
                      </a:r>
                    </a:p>
                  </a:txBody>
                  <a:tcPr/>
                </a:tc>
              </a:tr>
              <a:tr h="370840">
                <a:tc>
                  <a:txBody>
                    <a:bodyPr/>
                    <a:lstStyle/>
                    <a:p>
                      <a:r>
                        <a:rPr lang="en-US" dirty="0" smtClean="0"/>
                        <a:t>&lt;&lt;  &gt;&gt;</a:t>
                      </a:r>
                      <a:endParaRPr lang="en-US" dirty="0"/>
                    </a:p>
                  </a:txBody>
                  <a:tcPr/>
                </a:tc>
                <a:tc>
                  <a:txBody>
                    <a:bodyPr/>
                    <a:lstStyle/>
                    <a:p>
                      <a:r>
                        <a:rPr lang="en-US" dirty="0" smtClean="0"/>
                        <a:t>Bitwise shift</a:t>
                      </a:r>
                      <a:r>
                        <a:rPr lang="en-US" baseline="0" dirty="0" smtClean="0"/>
                        <a:t> left / Bitwise shift right</a:t>
                      </a:r>
                      <a:endParaRPr lang="en-US" dirty="0"/>
                    </a:p>
                  </a:txBody>
                  <a:tcPr/>
                </a:tc>
                <a:tc>
                  <a:txBody>
                    <a:bodyPr/>
                    <a:lstStyle/>
                    <a:p>
                      <a:r>
                        <a:rPr lang="en-US" dirty="0" smtClean="0"/>
                        <a:t>left-to-right</a:t>
                      </a:r>
                      <a:endParaRPr lang="en-US" dirty="0"/>
                    </a:p>
                  </a:txBody>
                  <a:tcPr/>
                </a:tc>
              </a:tr>
              <a:tr h="370840">
                <a:tc>
                  <a:txBody>
                    <a:bodyPr/>
                    <a:lstStyle/>
                    <a:p>
                      <a:r>
                        <a:rPr lang="en-US" dirty="0" smtClean="0"/>
                        <a:t>&lt; </a:t>
                      </a:r>
                      <a:r>
                        <a:rPr lang="en-US" baseline="0" dirty="0" smtClean="0"/>
                        <a:t> &lt;=</a:t>
                      </a:r>
                    </a:p>
                    <a:p>
                      <a:r>
                        <a:rPr lang="en-US" baseline="0" dirty="0" smtClean="0"/>
                        <a:t>&gt;  &gt;=</a:t>
                      </a:r>
                      <a:endParaRPr lang="en-US" dirty="0"/>
                    </a:p>
                  </a:txBody>
                  <a:tcPr/>
                </a:tc>
                <a:tc>
                  <a:txBody>
                    <a:bodyPr/>
                    <a:lstStyle/>
                    <a:p>
                      <a:r>
                        <a:rPr lang="en-US" dirty="0" smtClean="0"/>
                        <a:t>Relational less than</a:t>
                      </a:r>
                      <a:r>
                        <a:rPr lang="en-US" baseline="0" dirty="0" smtClean="0"/>
                        <a:t> / less than equal to,</a:t>
                      </a:r>
                    </a:p>
                    <a:p>
                      <a:r>
                        <a:rPr lang="en-US" dirty="0" smtClean="0"/>
                        <a:t>Relational greater than</a:t>
                      </a:r>
                      <a:r>
                        <a:rPr lang="en-US" baseline="0" dirty="0" smtClean="0"/>
                        <a:t> / greater than equal to,</a:t>
                      </a:r>
                      <a:endParaRPr lang="en-US" dirty="0"/>
                    </a:p>
                  </a:txBody>
                  <a:tcPr/>
                </a:tc>
                <a:tc>
                  <a:txBody>
                    <a:bodyPr/>
                    <a:lstStyle/>
                    <a:p>
                      <a:r>
                        <a:rPr lang="en-US" dirty="0" smtClean="0"/>
                        <a:t>left-to-right</a:t>
                      </a:r>
                      <a:endParaRPr lang="en-US" dirty="0"/>
                    </a:p>
                  </a:txBody>
                  <a:tcPr/>
                </a:tc>
              </a:tr>
              <a:tr h="370840">
                <a:tc>
                  <a:txBody>
                    <a:bodyPr/>
                    <a:lstStyle/>
                    <a:p>
                      <a:r>
                        <a:rPr lang="en-US" dirty="0" smtClean="0"/>
                        <a:t>==   !=</a:t>
                      </a:r>
                      <a:endParaRPr lang="en-US" dirty="0"/>
                    </a:p>
                  </a:txBody>
                  <a:tcPr/>
                </a:tc>
                <a:tc>
                  <a:txBody>
                    <a:bodyPr/>
                    <a:lstStyle/>
                    <a:p>
                      <a:r>
                        <a:rPr lang="en-US" dirty="0" smtClean="0"/>
                        <a:t>Relational</a:t>
                      </a:r>
                      <a:r>
                        <a:rPr lang="en-US" baseline="0" dirty="0" smtClean="0"/>
                        <a:t> is equal to / is not equal to</a:t>
                      </a:r>
                      <a:endParaRPr lang="en-US" dirty="0"/>
                    </a:p>
                  </a:txBody>
                  <a:tcPr/>
                </a:tc>
                <a:tc>
                  <a:txBody>
                    <a:bodyPr/>
                    <a:lstStyle/>
                    <a:p>
                      <a:r>
                        <a:rPr lang="en-US" dirty="0" smtClean="0"/>
                        <a:t>left-to-right</a:t>
                      </a:r>
                      <a:endParaRPr lang="en-US" dirty="0"/>
                    </a:p>
                  </a:txBody>
                  <a:tcPr/>
                </a:tc>
              </a:tr>
              <a:tr h="370840">
                <a:tc>
                  <a:txBody>
                    <a:bodyPr/>
                    <a:lstStyle/>
                    <a:p>
                      <a:r>
                        <a:rPr lang="en-US" dirty="0" smtClean="0"/>
                        <a:t>is, is not</a:t>
                      </a:r>
                    </a:p>
                    <a:p>
                      <a:r>
                        <a:rPr lang="en-US" dirty="0" smtClean="0"/>
                        <a:t>in,</a:t>
                      </a:r>
                      <a:r>
                        <a:rPr lang="en-US" baseline="0" dirty="0" smtClean="0"/>
                        <a:t> not in</a:t>
                      </a:r>
                      <a:endParaRPr lang="en-US" dirty="0"/>
                    </a:p>
                  </a:txBody>
                  <a:tcPr/>
                </a:tc>
                <a:tc>
                  <a:txBody>
                    <a:bodyPr/>
                    <a:lstStyle/>
                    <a:p>
                      <a:r>
                        <a:rPr lang="en-US" dirty="0" smtClean="0"/>
                        <a:t>Identity</a:t>
                      </a:r>
                    </a:p>
                    <a:p>
                      <a:r>
                        <a:rPr lang="en-US" dirty="0" smtClean="0"/>
                        <a:t>Membership</a:t>
                      </a:r>
                      <a:r>
                        <a:rPr lang="en-US" baseline="0" dirty="0" smtClean="0"/>
                        <a:t> operators</a:t>
                      </a:r>
                      <a:endParaRPr lang="en-US" dirty="0"/>
                    </a:p>
                  </a:txBody>
                  <a:tcPr/>
                </a:tc>
                <a:tc>
                  <a:txBody>
                    <a:bodyPr/>
                    <a:lstStyle/>
                    <a:p>
                      <a:r>
                        <a:rPr lang="en-US" dirty="0" smtClean="0"/>
                        <a:t>left-to-right</a:t>
                      </a:r>
                      <a:endParaRPr lang="en-US" dirty="0"/>
                    </a:p>
                  </a:txBody>
                  <a:tcPr/>
                </a:tc>
              </a:tr>
              <a:tr h="370840">
                <a:tc>
                  <a:txBody>
                    <a:bodyPr/>
                    <a:lstStyle/>
                    <a:p>
                      <a:r>
                        <a:rPr lang="en-US" dirty="0" smtClean="0"/>
                        <a:t>&amp;</a:t>
                      </a:r>
                      <a:endParaRPr lang="en-US" dirty="0"/>
                    </a:p>
                  </a:txBody>
                  <a:tcPr/>
                </a:tc>
                <a:tc>
                  <a:txBody>
                    <a:bodyPr/>
                    <a:lstStyle/>
                    <a:p>
                      <a:r>
                        <a:rPr lang="en-US" dirty="0" smtClean="0"/>
                        <a:t>Bitwise</a:t>
                      </a:r>
                      <a:r>
                        <a:rPr lang="en-US" baseline="0" dirty="0" smtClean="0"/>
                        <a:t> AND </a:t>
                      </a:r>
                      <a:endParaRPr lang="en-US" dirty="0"/>
                    </a:p>
                  </a:txBody>
                  <a:tcPr/>
                </a:tc>
                <a:tc>
                  <a:txBody>
                    <a:bodyPr/>
                    <a:lstStyle/>
                    <a:p>
                      <a:r>
                        <a:rPr lang="en-US" dirty="0" smtClean="0"/>
                        <a:t>left-to-right</a:t>
                      </a:r>
                      <a:endParaRPr lang="en-US" dirty="0"/>
                    </a:p>
                  </a:txBody>
                  <a:tcPr/>
                </a:tc>
              </a:tr>
            </a:tbl>
          </a:graphicData>
        </a:graphic>
      </p:graphicFrame>
      <p:sp>
        <p:nvSpPr>
          <p:cNvPr id="4" name="Title 1"/>
          <p:cNvSpPr>
            <a:spLocks noGrp="1"/>
          </p:cNvSpPr>
          <p:nvPr>
            <p:ph type="title"/>
          </p:nvPr>
        </p:nvSpPr>
        <p:spPr>
          <a:xfrm>
            <a:off x="457200" y="274638"/>
            <a:ext cx="7772400" cy="868362"/>
          </a:xfrm>
        </p:spPr>
        <p:txBody>
          <a:bodyPr>
            <a:noAutofit/>
          </a:bodyPr>
          <a:lstStyle/>
          <a:p>
            <a:pPr algn="ctr"/>
            <a:r>
              <a:rPr lang="en-US" sz="3600" b="1" dirty="0" smtClean="0"/>
              <a:t>Operator Precedence</a:t>
            </a:r>
            <a:endParaRPr lang="en-US" sz="2400" b="1" dirty="0"/>
          </a:p>
        </p:txBody>
      </p:sp>
    </p:spTree>
    <p:extLst>
      <p:ext uri="{BB962C8B-B14F-4D97-AF65-F5344CB8AC3E}">
        <p14:creationId xmlns:p14="http://schemas.microsoft.com/office/powerpoint/2010/main" val="17440216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742413125"/>
              </p:ext>
            </p:extLst>
          </p:nvPr>
        </p:nvGraphicFramePr>
        <p:xfrm>
          <a:off x="457200" y="1600200"/>
          <a:ext cx="7467600" cy="4236720"/>
        </p:xfrm>
        <a:graphic>
          <a:graphicData uri="http://schemas.openxmlformats.org/drawingml/2006/table">
            <a:tbl>
              <a:tblPr firstRow="1" bandRow="1">
                <a:tableStyleId>{5C22544A-7EE6-4342-B048-85BDC9FD1C3A}</a:tableStyleId>
              </a:tblPr>
              <a:tblGrid>
                <a:gridCol w="1295400"/>
                <a:gridCol w="4419600"/>
                <a:gridCol w="1752600"/>
              </a:tblGrid>
              <a:tr h="370840">
                <a:tc>
                  <a:txBody>
                    <a:bodyPr/>
                    <a:lstStyle/>
                    <a:p>
                      <a:r>
                        <a:rPr lang="en-US" dirty="0" smtClean="0"/>
                        <a:t>Operator</a:t>
                      </a:r>
                      <a:endParaRPr lang="en-US" dirty="0"/>
                    </a:p>
                  </a:txBody>
                  <a:tcPr/>
                </a:tc>
                <a:tc>
                  <a:txBody>
                    <a:bodyPr/>
                    <a:lstStyle/>
                    <a:p>
                      <a:r>
                        <a:rPr lang="en-US" dirty="0" smtClean="0"/>
                        <a:t>Description</a:t>
                      </a:r>
                      <a:endParaRPr lang="en-US" dirty="0"/>
                    </a:p>
                  </a:txBody>
                  <a:tcPr/>
                </a:tc>
                <a:tc>
                  <a:txBody>
                    <a:bodyPr/>
                    <a:lstStyle/>
                    <a:p>
                      <a:r>
                        <a:rPr lang="en-US" dirty="0" smtClean="0"/>
                        <a:t>Associativity</a:t>
                      </a:r>
                      <a:endParaRPr lang="en-US" dirty="0"/>
                    </a:p>
                  </a:txBody>
                  <a:tcPr/>
                </a:tc>
              </a:tr>
              <a:tr h="370840">
                <a:tc>
                  <a:txBody>
                    <a:bodyPr/>
                    <a:lstStyle/>
                    <a:p>
                      <a:r>
                        <a:rPr lang="en-US" dirty="0" smtClean="0"/>
                        <a:t>^</a:t>
                      </a:r>
                      <a:endParaRPr lang="en-US" dirty="0"/>
                    </a:p>
                  </a:txBody>
                  <a:tcPr/>
                </a:tc>
                <a:tc>
                  <a:txBody>
                    <a:bodyPr/>
                    <a:lstStyle/>
                    <a:p>
                      <a:r>
                        <a:rPr lang="en-US" dirty="0" smtClean="0"/>
                        <a:t>Bitwise exclusive OR</a:t>
                      </a:r>
                      <a:endParaRPr lang="en-US" dirty="0"/>
                    </a:p>
                  </a:txBody>
                  <a:tcPr/>
                </a:tc>
                <a:tc>
                  <a:txBody>
                    <a:bodyPr/>
                    <a:lstStyle/>
                    <a:p>
                      <a:r>
                        <a:rPr lang="en-US" dirty="0" smtClean="0"/>
                        <a:t>left-to-right</a:t>
                      </a:r>
                    </a:p>
                  </a:txBody>
                  <a:tcPr/>
                </a:tc>
              </a:tr>
              <a:tr h="370840">
                <a:tc>
                  <a:txBody>
                    <a:bodyPr/>
                    <a:lstStyle/>
                    <a:p>
                      <a:r>
                        <a:rPr lang="en-US" dirty="0" smtClean="0"/>
                        <a:t>|</a:t>
                      </a:r>
                      <a:endParaRPr lang="en-US" dirty="0"/>
                    </a:p>
                  </a:txBody>
                  <a:tcPr/>
                </a:tc>
                <a:tc>
                  <a:txBody>
                    <a:bodyPr/>
                    <a:lstStyle/>
                    <a:p>
                      <a:r>
                        <a:rPr lang="en-US" dirty="0" smtClean="0"/>
                        <a:t>Bitwise inclusive OR</a:t>
                      </a:r>
                      <a:endParaRPr lang="en-US" dirty="0"/>
                    </a:p>
                  </a:txBody>
                  <a:tcPr/>
                </a:tc>
                <a:tc>
                  <a:txBody>
                    <a:bodyPr/>
                    <a:lstStyle/>
                    <a:p>
                      <a:r>
                        <a:rPr lang="en-US" dirty="0" smtClean="0"/>
                        <a:t>left-to-right</a:t>
                      </a:r>
                      <a:endParaRPr lang="en-US" dirty="0"/>
                    </a:p>
                  </a:txBody>
                  <a:tcPr/>
                </a:tc>
              </a:tr>
              <a:tr h="370840">
                <a:tc>
                  <a:txBody>
                    <a:bodyPr/>
                    <a:lstStyle/>
                    <a:p>
                      <a:r>
                        <a:rPr lang="en-US" dirty="0" smtClean="0"/>
                        <a:t>not</a:t>
                      </a:r>
                      <a:endParaRPr lang="en-US" dirty="0"/>
                    </a:p>
                  </a:txBody>
                  <a:tcPr/>
                </a:tc>
                <a:tc>
                  <a:txBody>
                    <a:bodyPr/>
                    <a:lstStyle/>
                    <a:p>
                      <a:r>
                        <a:rPr lang="en-US" dirty="0" smtClean="0"/>
                        <a:t>Logical</a:t>
                      </a:r>
                      <a:r>
                        <a:rPr lang="en-US" baseline="0" dirty="0" smtClean="0"/>
                        <a:t>  NOT</a:t>
                      </a:r>
                      <a:endParaRPr lang="en-US" dirty="0"/>
                    </a:p>
                  </a:txBody>
                  <a:tcPr/>
                </a:tc>
                <a:tc>
                  <a:txBody>
                    <a:bodyPr/>
                    <a:lstStyle/>
                    <a:p>
                      <a:r>
                        <a:rPr lang="en-US" dirty="0" smtClean="0"/>
                        <a:t>right-to-left</a:t>
                      </a:r>
                      <a:endParaRPr lang="en-US" dirty="0"/>
                    </a:p>
                  </a:txBody>
                  <a:tcPr/>
                </a:tc>
              </a:tr>
              <a:tr h="370840">
                <a:tc>
                  <a:txBody>
                    <a:bodyPr/>
                    <a:lstStyle/>
                    <a:p>
                      <a:r>
                        <a:rPr lang="en-US" dirty="0" smtClean="0"/>
                        <a:t>and</a:t>
                      </a:r>
                      <a:endParaRPr lang="en-US" dirty="0"/>
                    </a:p>
                  </a:txBody>
                  <a:tcPr/>
                </a:tc>
                <a:tc>
                  <a:txBody>
                    <a:bodyPr/>
                    <a:lstStyle/>
                    <a:p>
                      <a:r>
                        <a:rPr lang="en-US" dirty="0" smtClean="0"/>
                        <a:t>Logical</a:t>
                      </a:r>
                      <a:r>
                        <a:rPr lang="en-US" baseline="0" dirty="0" smtClean="0"/>
                        <a:t>  AND</a:t>
                      </a:r>
                      <a:endParaRPr lang="en-US" dirty="0"/>
                    </a:p>
                  </a:txBody>
                  <a:tcPr/>
                </a:tc>
                <a:tc>
                  <a:txBody>
                    <a:bodyPr/>
                    <a:lstStyle/>
                    <a:p>
                      <a:r>
                        <a:rPr lang="en-US" dirty="0" smtClean="0"/>
                        <a:t>left-to-right</a:t>
                      </a:r>
                    </a:p>
                  </a:txBody>
                  <a:tcPr/>
                </a:tc>
              </a:tr>
              <a:tr h="370840">
                <a:tc>
                  <a:txBody>
                    <a:bodyPr/>
                    <a:lstStyle/>
                    <a:p>
                      <a:r>
                        <a:rPr lang="en-US" dirty="0" smtClean="0"/>
                        <a:t>or</a:t>
                      </a:r>
                      <a:endParaRPr lang="en-US" dirty="0"/>
                    </a:p>
                  </a:txBody>
                  <a:tcPr/>
                </a:tc>
                <a:tc>
                  <a:txBody>
                    <a:bodyPr/>
                    <a:lstStyle/>
                    <a:p>
                      <a:r>
                        <a:rPr lang="en-US" dirty="0" smtClean="0"/>
                        <a:t>Logical</a:t>
                      </a:r>
                      <a:r>
                        <a:rPr lang="en-US" baseline="0" dirty="0" smtClean="0"/>
                        <a:t>  OR</a:t>
                      </a:r>
                      <a:endParaRPr lang="en-US" dirty="0"/>
                    </a:p>
                  </a:txBody>
                  <a:tcPr/>
                </a:tc>
                <a:tc>
                  <a:txBody>
                    <a:bodyPr/>
                    <a:lstStyle/>
                    <a:p>
                      <a:r>
                        <a:rPr lang="en-US" dirty="0" smtClean="0"/>
                        <a:t>left-to-right</a:t>
                      </a:r>
                      <a:endParaRPr lang="en-US" dirty="0"/>
                    </a:p>
                  </a:txBody>
                  <a:tcPr/>
                </a:tc>
              </a:tr>
              <a:tr h="370840">
                <a:tc>
                  <a:txBody>
                    <a:bodyPr/>
                    <a:lstStyle/>
                    <a:p>
                      <a:r>
                        <a:rPr kumimoji="0" lang="en-US" b="0" i="0" kern="1200" dirty="0" smtClean="0">
                          <a:solidFill>
                            <a:schemeClr val="dk1"/>
                          </a:solidFill>
                          <a:effectLst/>
                          <a:latin typeface="+mn-lt"/>
                          <a:ea typeface="+mn-ea"/>
                          <a:cs typeface="+mn-cs"/>
                        </a:rPr>
                        <a:t>= </a:t>
                      </a:r>
                      <a:r>
                        <a:rPr lang="en-US" dirty="0" smtClean="0"/>
                        <a:t/>
                      </a:r>
                      <a:br>
                        <a:rPr lang="en-US" dirty="0" smtClean="0"/>
                      </a:br>
                      <a:r>
                        <a:rPr kumimoji="0" lang="en-US" b="0" i="0" kern="1200" dirty="0" smtClean="0">
                          <a:solidFill>
                            <a:schemeClr val="dk1"/>
                          </a:solidFill>
                          <a:effectLst/>
                          <a:latin typeface="+mn-lt"/>
                          <a:ea typeface="+mn-ea"/>
                          <a:cs typeface="+mn-cs"/>
                        </a:rPr>
                        <a:t>+=  -= </a:t>
                      </a:r>
                      <a:r>
                        <a:rPr lang="en-US" dirty="0" smtClean="0"/>
                        <a:t/>
                      </a:r>
                      <a:br>
                        <a:rPr lang="en-US" dirty="0" smtClean="0"/>
                      </a:br>
                      <a:r>
                        <a:rPr kumimoji="0" lang="en-US" b="0" i="0" kern="1200" dirty="0" smtClean="0">
                          <a:solidFill>
                            <a:schemeClr val="dk1"/>
                          </a:solidFill>
                          <a:effectLst/>
                          <a:latin typeface="+mn-lt"/>
                          <a:ea typeface="+mn-ea"/>
                          <a:cs typeface="+mn-cs"/>
                        </a:rPr>
                        <a:t>*=  /= </a:t>
                      </a:r>
                      <a:r>
                        <a:rPr lang="en-US" dirty="0" smtClean="0"/>
                        <a:t/>
                      </a:r>
                      <a:br>
                        <a:rPr lang="en-US" dirty="0" smtClean="0"/>
                      </a:br>
                      <a:r>
                        <a:rPr kumimoji="0" lang="en-US" b="0" i="0" kern="1200" dirty="0" smtClean="0">
                          <a:solidFill>
                            <a:schemeClr val="dk1"/>
                          </a:solidFill>
                          <a:effectLst/>
                          <a:latin typeface="+mn-lt"/>
                          <a:ea typeface="+mn-ea"/>
                          <a:cs typeface="+mn-cs"/>
                        </a:rPr>
                        <a:t>%=  &amp;= </a:t>
                      </a:r>
                      <a:r>
                        <a:rPr lang="en-US" dirty="0" smtClean="0"/>
                        <a:t/>
                      </a:r>
                      <a:br>
                        <a:rPr lang="en-US" dirty="0" smtClean="0"/>
                      </a:br>
                      <a:r>
                        <a:rPr kumimoji="0" lang="en-US" b="0" i="0" kern="1200" dirty="0" smtClean="0">
                          <a:solidFill>
                            <a:schemeClr val="dk1"/>
                          </a:solidFill>
                          <a:effectLst/>
                          <a:latin typeface="+mn-lt"/>
                          <a:ea typeface="+mn-ea"/>
                          <a:cs typeface="+mn-cs"/>
                        </a:rPr>
                        <a:t>^=  |= </a:t>
                      </a:r>
                      <a:r>
                        <a:rPr lang="en-US" dirty="0" smtClean="0"/>
                        <a:t/>
                      </a:r>
                      <a:br>
                        <a:rPr lang="en-US" dirty="0" smtClean="0"/>
                      </a:br>
                      <a:r>
                        <a:rPr kumimoji="0" lang="en-US" b="0" i="0" kern="1200" dirty="0" smtClean="0">
                          <a:solidFill>
                            <a:schemeClr val="dk1"/>
                          </a:solidFill>
                          <a:effectLst/>
                          <a:latin typeface="+mn-lt"/>
                          <a:ea typeface="+mn-ea"/>
                          <a:cs typeface="+mn-cs"/>
                        </a:rPr>
                        <a:t>&lt;&lt;=  &gt;&gt;=</a:t>
                      </a:r>
                      <a:endParaRPr lang="en-US" dirty="0"/>
                    </a:p>
                  </a:txBody>
                  <a:tcPr/>
                </a:tc>
                <a:tc>
                  <a:txBody>
                    <a:bodyPr/>
                    <a:lstStyle/>
                    <a:p>
                      <a:r>
                        <a:rPr lang="en-US" dirty="0" smtClean="0"/>
                        <a:t>Assignment </a:t>
                      </a:r>
                    </a:p>
                    <a:p>
                      <a:r>
                        <a:rPr lang="en-US" dirty="0" smtClean="0"/>
                        <a:t>Addition/subtraction assignment </a:t>
                      </a:r>
                    </a:p>
                    <a:p>
                      <a:r>
                        <a:rPr lang="en-US" dirty="0" smtClean="0"/>
                        <a:t>Multiplication/division assignment </a:t>
                      </a:r>
                    </a:p>
                    <a:p>
                      <a:r>
                        <a:rPr lang="en-US" dirty="0" smtClean="0"/>
                        <a:t>Modulus/bitwise AND assignment </a:t>
                      </a:r>
                    </a:p>
                    <a:p>
                      <a:r>
                        <a:rPr lang="en-US" dirty="0" smtClean="0"/>
                        <a:t>Bitwise exclusive/inclusive OR assignment </a:t>
                      </a:r>
                    </a:p>
                    <a:p>
                      <a:r>
                        <a:rPr lang="en-US" dirty="0" smtClean="0"/>
                        <a:t>Bitwise shift left/right assignment</a:t>
                      </a:r>
                      <a:endParaRPr lang="en-US" dirty="0"/>
                    </a:p>
                  </a:txBody>
                  <a:tcPr/>
                </a:tc>
                <a:tc>
                  <a:txBody>
                    <a:bodyPr/>
                    <a:lstStyle/>
                    <a:p>
                      <a:r>
                        <a:rPr lang="en-US" dirty="0" smtClean="0"/>
                        <a:t>right-to-left</a:t>
                      </a:r>
                      <a:endParaRPr lang="en-US" dirty="0"/>
                    </a:p>
                  </a:txBody>
                  <a:tcPr/>
                </a:tc>
              </a:tr>
            </a:tbl>
          </a:graphicData>
        </a:graphic>
      </p:graphicFrame>
      <p:sp>
        <p:nvSpPr>
          <p:cNvPr id="4" name="Title 1"/>
          <p:cNvSpPr>
            <a:spLocks noGrp="1"/>
          </p:cNvSpPr>
          <p:nvPr>
            <p:ph type="title"/>
          </p:nvPr>
        </p:nvSpPr>
        <p:spPr>
          <a:xfrm>
            <a:off x="457200" y="274638"/>
            <a:ext cx="7772400" cy="868362"/>
          </a:xfrm>
        </p:spPr>
        <p:txBody>
          <a:bodyPr>
            <a:noAutofit/>
          </a:bodyPr>
          <a:lstStyle/>
          <a:p>
            <a:pPr algn="ctr"/>
            <a:r>
              <a:rPr lang="en-US" sz="3600" b="1" dirty="0"/>
              <a:t>Operator Precedence</a:t>
            </a:r>
            <a:endParaRPr lang="en-US" sz="2400" b="1" dirty="0"/>
          </a:p>
        </p:txBody>
      </p:sp>
    </p:spTree>
    <p:extLst>
      <p:ext uri="{BB962C8B-B14F-4D97-AF65-F5344CB8AC3E}">
        <p14:creationId xmlns:p14="http://schemas.microsoft.com/office/powerpoint/2010/main" val="506727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pPr marL="457200" indent="-457200">
              <a:buFont typeface="+mj-lt"/>
              <a:buAutoNum type="arabicPeriod"/>
            </a:pPr>
            <a:r>
              <a:rPr lang="en-US" b="1" dirty="0"/>
              <a:t>Functional</a:t>
            </a:r>
            <a:r>
              <a:rPr lang="en-US" dirty="0"/>
              <a:t>: Every statement is treated as a mathematical equation and any forms of state or mutable data are avoided. The main advantage of this approach is that it lends itself well to parallel processing because there is no state to consider. Many developers prefer this coding style for recursion and for lambda calculus</a:t>
            </a:r>
            <a:r>
              <a:rPr lang="en-US" dirty="0" smtClean="0"/>
              <a:t>.</a:t>
            </a:r>
          </a:p>
          <a:p>
            <a:pPr marL="457200" indent="-457200">
              <a:buFont typeface="+mj-lt"/>
              <a:buAutoNum type="arabicPeriod"/>
            </a:pPr>
            <a:r>
              <a:rPr lang="en-US" b="1" dirty="0"/>
              <a:t>Imperative:</a:t>
            </a:r>
            <a:r>
              <a:rPr lang="en-US" dirty="0"/>
              <a:t> Computation is performed as a direct change to program state. This style is especially useful when manipulating data structures and produces elegant yet simple code. Python fully implements this paradigm.</a:t>
            </a:r>
          </a:p>
          <a:p>
            <a:pPr marL="457200" indent="-457200">
              <a:buFont typeface="+mj-lt"/>
              <a:buAutoNum type="arabicPeriod"/>
            </a:pPr>
            <a:endParaRPr lang="en-US" dirty="0"/>
          </a:p>
        </p:txBody>
      </p:sp>
      <p:sp>
        <p:nvSpPr>
          <p:cNvPr id="4" name="Title 1"/>
          <p:cNvSpPr>
            <a:spLocks noGrp="1"/>
          </p:cNvSpPr>
          <p:nvPr>
            <p:ph type="title"/>
          </p:nvPr>
        </p:nvSpPr>
        <p:spPr>
          <a:xfrm>
            <a:off x="533400" y="381000"/>
            <a:ext cx="7467600" cy="745901"/>
          </a:xfrm>
        </p:spPr>
        <p:txBody>
          <a:bodyPr>
            <a:normAutofit/>
          </a:bodyPr>
          <a:lstStyle/>
          <a:p>
            <a:pPr algn="ctr"/>
            <a:r>
              <a:rPr lang="en-US" sz="4000" b="1" dirty="0" smtClean="0"/>
              <a:t>Basic Programming Style</a:t>
            </a:r>
            <a:endParaRPr lang="en-US" sz="4000" b="1" dirty="0"/>
          </a:p>
        </p:txBody>
      </p:sp>
    </p:spTree>
    <p:extLst>
      <p:ext uri="{BB962C8B-B14F-4D97-AF65-F5344CB8AC3E}">
        <p14:creationId xmlns:p14="http://schemas.microsoft.com/office/powerpoint/2010/main" val="68978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19200"/>
            <a:ext cx="7848600" cy="5410200"/>
          </a:xfrm>
        </p:spPr>
        <p:txBody>
          <a:bodyPr>
            <a:normAutofit/>
          </a:bodyPr>
          <a:lstStyle/>
          <a:p>
            <a:pPr marL="457200" indent="-457200">
              <a:buFont typeface="+mj-lt"/>
              <a:buAutoNum type="arabicPeriod" startAt="3"/>
            </a:pPr>
            <a:r>
              <a:rPr lang="en-US" b="1" dirty="0"/>
              <a:t>Object-oriented</a:t>
            </a:r>
            <a:r>
              <a:rPr lang="en-US" dirty="0"/>
              <a:t>: Relies on data fields that are treated as objects and manipulated only through prescribed methods. Python doesn’t fully support this paradigm because it can’t implement features such as data hiding (encapsulation), which many believe is a primary requirement of the object-oriented programming paradigm. This coding style also favors code reuse</a:t>
            </a:r>
            <a:r>
              <a:rPr lang="en-US" dirty="0" smtClean="0"/>
              <a:t>.</a:t>
            </a:r>
          </a:p>
          <a:p>
            <a:pPr marL="457200" indent="-457200">
              <a:buFont typeface="+mj-lt"/>
              <a:buAutoNum type="arabicPeriod" startAt="3"/>
            </a:pPr>
            <a:r>
              <a:rPr lang="en-US" b="1" dirty="0"/>
              <a:t>Procedural:</a:t>
            </a:r>
            <a:r>
              <a:rPr lang="en-US" dirty="0"/>
              <a:t> Tasks are treated as step-by-step iterations where common tasks are placed in functions that are called as needed. This coding style favors iteration, sequencing, selection, and modularization. Python excels in implementing this particular paradigm.</a:t>
            </a:r>
          </a:p>
          <a:p>
            <a:pPr marL="457200" indent="-457200">
              <a:buFont typeface="+mj-lt"/>
              <a:buAutoNum type="arabicPeriod" startAt="3"/>
            </a:pPr>
            <a:endParaRPr lang="en-US" dirty="0"/>
          </a:p>
        </p:txBody>
      </p:sp>
      <p:sp>
        <p:nvSpPr>
          <p:cNvPr id="4" name="Title 1"/>
          <p:cNvSpPr>
            <a:spLocks noGrp="1"/>
          </p:cNvSpPr>
          <p:nvPr>
            <p:ph type="title"/>
          </p:nvPr>
        </p:nvSpPr>
        <p:spPr>
          <a:xfrm>
            <a:off x="533400" y="381000"/>
            <a:ext cx="7467600" cy="745901"/>
          </a:xfrm>
        </p:spPr>
        <p:txBody>
          <a:bodyPr>
            <a:normAutofit/>
          </a:bodyPr>
          <a:lstStyle/>
          <a:p>
            <a:pPr algn="ctr"/>
            <a:r>
              <a:rPr lang="en-US" sz="4000" b="1" dirty="0" smtClean="0"/>
              <a:t>Basic Programming Style</a:t>
            </a:r>
            <a:endParaRPr lang="en-US" sz="4000" b="1" dirty="0"/>
          </a:p>
        </p:txBody>
      </p:sp>
    </p:spTree>
    <p:extLst>
      <p:ext uri="{BB962C8B-B14F-4D97-AF65-F5344CB8AC3E}">
        <p14:creationId xmlns:p14="http://schemas.microsoft.com/office/powerpoint/2010/main" val="1547348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a:t>There are two parts of memory:</a:t>
            </a:r>
          </a:p>
          <a:p>
            <a:endParaRPr lang="en-US" dirty="0"/>
          </a:p>
          <a:p>
            <a:pPr marL="457200" indent="-457200">
              <a:buFont typeface="+mj-lt"/>
              <a:buAutoNum type="arabicPeriod"/>
            </a:pPr>
            <a:r>
              <a:rPr lang="en-US" b="1" dirty="0"/>
              <a:t>S</a:t>
            </a:r>
            <a:r>
              <a:rPr lang="en-US" b="1" dirty="0" smtClean="0"/>
              <a:t>tack memory</a:t>
            </a:r>
          </a:p>
          <a:p>
            <a:pPr marL="457200" indent="-457200">
              <a:buFont typeface="+mj-lt"/>
              <a:buAutoNum type="arabicPeriod"/>
            </a:pPr>
            <a:r>
              <a:rPr lang="en-US" b="1" dirty="0"/>
              <a:t>H</a:t>
            </a:r>
            <a:r>
              <a:rPr lang="en-US" b="1" dirty="0" smtClean="0"/>
              <a:t>eap </a:t>
            </a:r>
            <a:r>
              <a:rPr lang="en-US" b="1" dirty="0"/>
              <a:t>memory</a:t>
            </a:r>
          </a:p>
          <a:p>
            <a:endParaRPr lang="en-US" dirty="0"/>
          </a:p>
          <a:p>
            <a:r>
              <a:rPr lang="en-US" dirty="0" smtClean="0"/>
              <a:t>The </a:t>
            </a:r>
            <a:r>
              <a:rPr lang="en-US" dirty="0"/>
              <a:t>methods/method calls and the references are stored in </a:t>
            </a:r>
            <a:r>
              <a:rPr lang="en-US" b="1" dirty="0" smtClean="0"/>
              <a:t>stack memory</a:t>
            </a:r>
            <a:r>
              <a:rPr lang="en-US" dirty="0" smtClean="0"/>
              <a:t> and </a:t>
            </a:r>
            <a:r>
              <a:rPr lang="en-US" dirty="0"/>
              <a:t>all the values objects are stored in a </a:t>
            </a:r>
            <a:r>
              <a:rPr lang="en-US" b="1" dirty="0" smtClean="0"/>
              <a:t>private heap</a:t>
            </a:r>
            <a:r>
              <a:rPr lang="en-US" dirty="0" smtClean="0"/>
              <a:t>.</a:t>
            </a:r>
            <a:endParaRPr lang="en-US" dirty="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Memory Allocation in Python</a:t>
            </a:r>
          </a:p>
        </p:txBody>
      </p:sp>
    </p:spTree>
    <p:extLst>
      <p:ext uri="{BB962C8B-B14F-4D97-AF65-F5344CB8AC3E}">
        <p14:creationId xmlns:p14="http://schemas.microsoft.com/office/powerpoint/2010/main" val="464238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a:t>The allocation happens on contiguous blocks of memory. We call it stack memory allocation because the allocation happens in the function call stack. </a:t>
            </a:r>
            <a:endParaRPr lang="en-US" dirty="0" smtClean="0"/>
          </a:p>
          <a:p>
            <a:endParaRPr lang="en-US" dirty="0"/>
          </a:p>
          <a:p>
            <a:r>
              <a:rPr lang="en-US" dirty="0" smtClean="0"/>
              <a:t>The </a:t>
            </a:r>
            <a:r>
              <a:rPr lang="en-US" dirty="0"/>
              <a:t>size of memory to be allocated is known to the compiler and whenever a function is called, its variables get memory allocated on the stack.</a:t>
            </a:r>
          </a:p>
          <a:p>
            <a:endParaRPr lang="en-US" dirty="0"/>
          </a:p>
          <a:p>
            <a:r>
              <a:rPr lang="en-US" dirty="0"/>
              <a:t>It is the memory that is only needed inside a particular function or method call. When a function is called, it is added onto the program’s call stack. </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smtClean="0"/>
              <a:t>Stack Memory</a:t>
            </a:r>
            <a:endParaRPr lang="en-US" sz="4000" b="1" dirty="0"/>
          </a:p>
        </p:txBody>
      </p:sp>
    </p:spTree>
    <p:extLst>
      <p:ext uri="{BB962C8B-B14F-4D97-AF65-F5344CB8AC3E}">
        <p14:creationId xmlns:p14="http://schemas.microsoft.com/office/powerpoint/2010/main" val="1790457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19200"/>
            <a:ext cx="7848600" cy="5410200"/>
          </a:xfrm>
        </p:spPr>
        <p:txBody>
          <a:bodyPr>
            <a:normAutofit fontScale="92500" lnSpcReduction="10000"/>
          </a:bodyPr>
          <a:lstStyle/>
          <a:p>
            <a:r>
              <a:rPr lang="en-US" dirty="0" smtClean="0"/>
              <a:t>Any </a:t>
            </a:r>
            <a:r>
              <a:rPr lang="en-US" dirty="0"/>
              <a:t>local memory assignments such as variable initializations inside the particular functions are stored temporarily on the function call stack, where it is deleted once the function returns, and the call stack moves on to the next task. </a:t>
            </a:r>
            <a:endParaRPr lang="en-US" dirty="0" smtClean="0"/>
          </a:p>
          <a:p>
            <a:r>
              <a:rPr lang="en-US" dirty="0" smtClean="0"/>
              <a:t>This </a:t>
            </a:r>
            <a:r>
              <a:rPr lang="en-US" dirty="0"/>
              <a:t>allocation onto a contiguous block of memory is handled by the compiler using predefined routines, and developers do not need to worry about it.</a:t>
            </a:r>
          </a:p>
          <a:p>
            <a:r>
              <a:rPr lang="en-US" dirty="0" smtClean="0"/>
              <a:t>Example:  </a:t>
            </a:r>
          </a:p>
          <a:p>
            <a:pPr marL="0" indent="0">
              <a:buNone/>
            </a:pPr>
            <a:r>
              <a:rPr lang="en-US" dirty="0" err="1" smtClean="0"/>
              <a:t>def</a:t>
            </a:r>
            <a:r>
              <a:rPr lang="en-US" dirty="0" smtClean="0"/>
              <a:t> </a:t>
            </a:r>
            <a:r>
              <a:rPr lang="en-US" dirty="0" err="1"/>
              <a:t>func</a:t>
            </a:r>
            <a:r>
              <a:rPr lang="en-US" dirty="0"/>
              <a:t>():         </a:t>
            </a:r>
          </a:p>
          <a:p>
            <a:pPr marL="0" indent="0">
              <a:buNone/>
            </a:pPr>
            <a:r>
              <a:rPr lang="en-US" dirty="0"/>
              <a:t>    # All these variables get memory  </a:t>
            </a:r>
          </a:p>
          <a:p>
            <a:pPr marL="0" indent="0">
              <a:buNone/>
            </a:pPr>
            <a:r>
              <a:rPr lang="en-US" dirty="0"/>
              <a:t>    # allocated on stack  </a:t>
            </a:r>
          </a:p>
          <a:p>
            <a:pPr marL="0" indent="0">
              <a:buNone/>
            </a:pPr>
            <a:r>
              <a:rPr lang="en-US" dirty="0"/>
              <a:t>    a = 20</a:t>
            </a:r>
          </a:p>
          <a:p>
            <a:pPr marL="0" indent="0">
              <a:buNone/>
            </a:pPr>
            <a:r>
              <a:rPr lang="en-US" dirty="0"/>
              <a:t>    b = [] </a:t>
            </a:r>
          </a:p>
          <a:p>
            <a:pPr marL="0" indent="0">
              <a:buNone/>
            </a:pPr>
            <a:r>
              <a:rPr lang="en-US" dirty="0"/>
              <a:t>    c = ""</a:t>
            </a:r>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smtClean="0"/>
              <a:t>Stack Memory</a:t>
            </a:r>
            <a:endParaRPr lang="en-US" sz="4000" b="1" dirty="0"/>
          </a:p>
        </p:txBody>
      </p:sp>
    </p:spTree>
    <p:extLst>
      <p:ext uri="{BB962C8B-B14F-4D97-AF65-F5344CB8AC3E}">
        <p14:creationId xmlns:p14="http://schemas.microsoft.com/office/powerpoint/2010/main" val="3398733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smtClean="0"/>
              <a:t>The </a:t>
            </a:r>
            <a:r>
              <a:rPr lang="en-US" dirty="0"/>
              <a:t>memory is allocated during the execution of instructions written by programmers. </a:t>
            </a:r>
            <a:endParaRPr lang="en-US" dirty="0" smtClean="0"/>
          </a:p>
          <a:p>
            <a:endParaRPr lang="en-US" dirty="0" smtClean="0"/>
          </a:p>
          <a:p>
            <a:r>
              <a:rPr lang="en-US" b="1" dirty="0" smtClean="0"/>
              <a:t>Note </a:t>
            </a:r>
            <a:r>
              <a:rPr lang="en-US" b="1" dirty="0"/>
              <a:t>that the name heap has nothing to do with the heap data structure.</a:t>
            </a:r>
            <a:r>
              <a:rPr lang="en-US" dirty="0"/>
              <a:t> </a:t>
            </a:r>
            <a:endParaRPr lang="en-US" dirty="0" smtClean="0"/>
          </a:p>
          <a:p>
            <a:endParaRPr lang="en-US" dirty="0" smtClean="0"/>
          </a:p>
          <a:p>
            <a:r>
              <a:rPr lang="en-US" dirty="0" smtClean="0"/>
              <a:t>It </a:t>
            </a:r>
            <a:r>
              <a:rPr lang="en-US" dirty="0"/>
              <a:t>is called heap because it is a pile of memory space available to programmers to allocated and de-allocate. </a:t>
            </a:r>
            <a:endParaRPr lang="en-US" dirty="0" smtClean="0"/>
          </a:p>
          <a:p>
            <a:pPr marL="0" indent="0">
              <a:buNone/>
            </a:pPr>
            <a:endParaRPr lang="en-US" dirty="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smtClean="0"/>
              <a:t>Heap Memory</a:t>
            </a:r>
            <a:endParaRPr lang="en-US" sz="4000" b="1" dirty="0"/>
          </a:p>
        </p:txBody>
      </p:sp>
    </p:spTree>
    <p:extLst>
      <p:ext uri="{BB962C8B-B14F-4D97-AF65-F5344CB8AC3E}">
        <p14:creationId xmlns:p14="http://schemas.microsoft.com/office/powerpoint/2010/main" val="356975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smtClean="0"/>
              <a:t>The </a:t>
            </a:r>
            <a:r>
              <a:rPr lang="en-US" dirty="0"/>
              <a:t>variables are needed outside of method or function calls or are shared within multiple functions globally are stored in Heap memory</a:t>
            </a:r>
            <a:r>
              <a:rPr lang="en-US" dirty="0" smtClean="0"/>
              <a:t>.</a:t>
            </a:r>
          </a:p>
          <a:p>
            <a:endParaRPr lang="en-US" dirty="0"/>
          </a:p>
          <a:p>
            <a:r>
              <a:rPr lang="en-US" dirty="0" smtClean="0"/>
              <a:t>Example</a:t>
            </a:r>
            <a:r>
              <a:rPr lang="en-US" dirty="0"/>
              <a:t>:</a:t>
            </a:r>
          </a:p>
          <a:p>
            <a:pPr marL="0" indent="0">
              <a:buNone/>
            </a:pPr>
            <a:r>
              <a:rPr lang="en-US" dirty="0"/>
              <a:t># This memory for 10 integers  </a:t>
            </a:r>
          </a:p>
          <a:p>
            <a:pPr marL="0" indent="0">
              <a:buNone/>
            </a:pPr>
            <a:r>
              <a:rPr lang="en-US" dirty="0"/>
              <a:t># is allocated on heap.  </a:t>
            </a:r>
          </a:p>
          <a:p>
            <a:pPr marL="0" indent="0">
              <a:buNone/>
            </a:pPr>
            <a:r>
              <a:rPr lang="en-US" dirty="0"/>
              <a:t>a = [0]*10 </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smtClean="0"/>
              <a:t>Heap Memory</a:t>
            </a:r>
            <a:endParaRPr lang="en-US" sz="4000" b="1" dirty="0"/>
          </a:p>
        </p:txBody>
      </p:sp>
    </p:spTree>
    <p:extLst>
      <p:ext uri="{BB962C8B-B14F-4D97-AF65-F5344CB8AC3E}">
        <p14:creationId xmlns:p14="http://schemas.microsoft.com/office/powerpoint/2010/main" val="8049133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a:t>Python relies on indentation (whitespace at the beginning of a line) to define scope in the code. Other programming languages often use curly-brackets for this purpose.</a:t>
            </a:r>
            <a:endParaRPr lang="en-US" dirty="0" smtClean="0"/>
          </a:p>
          <a:p>
            <a:endParaRPr lang="en-US" dirty="0"/>
          </a:p>
          <a:p>
            <a:r>
              <a:rPr lang="en-US" dirty="0"/>
              <a:t>Example:</a:t>
            </a:r>
          </a:p>
          <a:p>
            <a:pPr marL="0" indent="0">
              <a:buNone/>
            </a:pPr>
            <a:r>
              <a:rPr lang="en-US" dirty="0"/>
              <a:t>a = 33</a:t>
            </a:r>
          </a:p>
          <a:p>
            <a:pPr marL="0" indent="0">
              <a:buNone/>
            </a:pPr>
            <a:r>
              <a:rPr lang="en-US" dirty="0"/>
              <a:t>b = 200</a:t>
            </a:r>
          </a:p>
          <a:p>
            <a:pPr marL="0" indent="0">
              <a:buNone/>
            </a:pPr>
            <a:r>
              <a:rPr lang="en-US" dirty="0"/>
              <a:t>if b &gt; a:</a:t>
            </a:r>
          </a:p>
          <a:p>
            <a:pPr marL="0" indent="0">
              <a:buNone/>
            </a:pPr>
            <a:r>
              <a:rPr lang="en-US" dirty="0"/>
              <a:t>print("b is greater than a") # you will get an error</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err="1"/>
              <a:t>Identation</a:t>
            </a:r>
            <a:endParaRPr lang="en-US" sz="4000" b="1" dirty="0"/>
          </a:p>
        </p:txBody>
      </p:sp>
    </p:spTree>
    <p:extLst>
      <p:ext uri="{BB962C8B-B14F-4D97-AF65-F5344CB8AC3E}">
        <p14:creationId xmlns:p14="http://schemas.microsoft.com/office/powerpoint/2010/main" val="25266728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a:t>An </a:t>
            </a:r>
            <a:r>
              <a:rPr lang="en-US" b="1" dirty="0" smtClean="0"/>
              <a:t>if statement</a:t>
            </a:r>
            <a:r>
              <a:rPr lang="en-US" dirty="0" smtClean="0"/>
              <a:t> </a:t>
            </a:r>
            <a:r>
              <a:rPr lang="en-US" dirty="0"/>
              <a:t>is written by using the if keyword</a:t>
            </a:r>
            <a:r>
              <a:rPr lang="en-US" dirty="0" smtClean="0"/>
              <a:t>.</a:t>
            </a:r>
          </a:p>
          <a:p>
            <a:endParaRPr lang="en-US" dirty="0"/>
          </a:p>
          <a:p>
            <a:r>
              <a:rPr lang="en-US" dirty="0"/>
              <a:t>Example: </a:t>
            </a:r>
          </a:p>
          <a:p>
            <a:pPr marL="0" indent="0">
              <a:buNone/>
            </a:pPr>
            <a:r>
              <a:rPr lang="en-US" dirty="0"/>
              <a:t>a = 33</a:t>
            </a:r>
          </a:p>
          <a:p>
            <a:pPr marL="0" indent="0">
              <a:buNone/>
            </a:pPr>
            <a:r>
              <a:rPr lang="en-US" dirty="0"/>
              <a:t>b = 200</a:t>
            </a:r>
          </a:p>
          <a:p>
            <a:pPr marL="0" indent="0">
              <a:buNone/>
            </a:pPr>
            <a:r>
              <a:rPr lang="en-US" dirty="0"/>
              <a:t>if b &gt; a:</a:t>
            </a:r>
          </a:p>
          <a:p>
            <a:pPr marL="0" indent="0">
              <a:buNone/>
            </a:pPr>
            <a:r>
              <a:rPr lang="en-US" dirty="0" smtClean="0"/>
              <a:t>	print</a:t>
            </a:r>
            <a:r>
              <a:rPr lang="en-US" dirty="0"/>
              <a:t>("b is greater than a")</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Simple If Statement</a:t>
            </a:r>
          </a:p>
        </p:txBody>
      </p:sp>
    </p:spTree>
    <p:extLst>
      <p:ext uri="{BB962C8B-B14F-4D97-AF65-F5344CB8AC3E}">
        <p14:creationId xmlns:p14="http://schemas.microsoft.com/office/powerpoint/2010/main" val="2424140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lnSpcReduction="10000"/>
          </a:bodyPr>
          <a:lstStyle/>
          <a:p>
            <a:r>
              <a:rPr lang="en-US" dirty="0"/>
              <a:t>An </a:t>
            </a:r>
            <a:r>
              <a:rPr lang="en-US" b="1" dirty="0" smtClean="0"/>
              <a:t>if statement</a:t>
            </a:r>
            <a:r>
              <a:rPr lang="en-US" dirty="0" smtClean="0"/>
              <a:t> is </a:t>
            </a:r>
            <a:r>
              <a:rPr lang="en-US" dirty="0"/>
              <a:t>written by using the if keyword.</a:t>
            </a:r>
          </a:p>
          <a:p>
            <a:endParaRPr lang="en-US" dirty="0" smtClean="0"/>
          </a:p>
          <a:p>
            <a:r>
              <a:rPr lang="en-US" dirty="0" smtClean="0"/>
              <a:t>The </a:t>
            </a:r>
            <a:r>
              <a:rPr lang="en-US" b="1" dirty="0"/>
              <a:t>else</a:t>
            </a:r>
            <a:r>
              <a:rPr lang="en-US" dirty="0"/>
              <a:t> keyword catches anything which isn't caught by the preceding conditions.</a:t>
            </a:r>
          </a:p>
          <a:p>
            <a:endParaRPr lang="en-US" dirty="0" smtClean="0"/>
          </a:p>
          <a:p>
            <a:r>
              <a:rPr lang="en-US" dirty="0"/>
              <a:t>Example:</a:t>
            </a:r>
          </a:p>
          <a:p>
            <a:pPr marL="0" indent="0">
              <a:buNone/>
            </a:pPr>
            <a:r>
              <a:rPr lang="en-US" dirty="0"/>
              <a:t>a = 200</a:t>
            </a:r>
          </a:p>
          <a:p>
            <a:pPr marL="0" indent="0">
              <a:buNone/>
            </a:pPr>
            <a:r>
              <a:rPr lang="en-US" dirty="0"/>
              <a:t>b = 33</a:t>
            </a:r>
          </a:p>
          <a:p>
            <a:pPr marL="0" indent="0">
              <a:buNone/>
            </a:pPr>
            <a:r>
              <a:rPr lang="en-US" dirty="0"/>
              <a:t>if b &gt; a:</a:t>
            </a:r>
          </a:p>
          <a:p>
            <a:pPr marL="0" indent="0">
              <a:buNone/>
            </a:pPr>
            <a:r>
              <a:rPr lang="en-US" dirty="0" smtClean="0"/>
              <a:t>	print</a:t>
            </a:r>
            <a:r>
              <a:rPr lang="en-US" dirty="0"/>
              <a:t>("b is greater than a")</a:t>
            </a:r>
          </a:p>
          <a:p>
            <a:pPr marL="0" indent="0">
              <a:buNone/>
            </a:pPr>
            <a:r>
              <a:rPr lang="en-US" dirty="0"/>
              <a:t>else:</a:t>
            </a:r>
          </a:p>
          <a:p>
            <a:pPr marL="0" indent="0">
              <a:buNone/>
            </a:pPr>
            <a:r>
              <a:rPr lang="en-US" dirty="0" smtClean="0"/>
              <a:t>	print</a:t>
            </a:r>
            <a:r>
              <a:rPr lang="en-US" dirty="0"/>
              <a:t>("b is not greater than a")</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If Else Statement</a:t>
            </a:r>
          </a:p>
        </p:txBody>
      </p:sp>
    </p:spTree>
    <p:extLst>
      <p:ext uri="{BB962C8B-B14F-4D97-AF65-F5344CB8AC3E}">
        <p14:creationId xmlns:p14="http://schemas.microsoft.com/office/powerpoint/2010/main" val="2444344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4953000"/>
          </a:xfrm>
        </p:spPr>
        <p:txBody>
          <a:bodyPr>
            <a:normAutofit/>
          </a:bodyPr>
          <a:lstStyle/>
          <a:p>
            <a:r>
              <a:rPr lang="en-US" dirty="0"/>
              <a:t>The </a:t>
            </a:r>
            <a:r>
              <a:rPr lang="en-US" b="1" dirty="0" err="1"/>
              <a:t>elif</a:t>
            </a:r>
            <a:r>
              <a:rPr lang="en-US" dirty="0"/>
              <a:t> keyword is pythons way of saying "if the previous conditions were not true, then try this condition</a:t>
            </a:r>
            <a:r>
              <a:rPr lang="en-US" dirty="0" smtClean="0"/>
              <a:t>".</a:t>
            </a:r>
            <a:endParaRPr lang="en-US" dirty="0"/>
          </a:p>
          <a:p>
            <a:endParaRPr lang="en-US" dirty="0" smtClean="0"/>
          </a:p>
          <a:p>
            <a:r>
              <a:rPr lang="en-US" dirty="0"/>
              <a:t>Example:</a:t>
            </a:r>
          </a:p>
          <a:p>
            <a:pPr marL="0" indent="0">
              <a:buNone/>
            </a:pPr>
            <a:r>
              <a:rPr lang="en-US" dirty="0"/>
              <a:t>a = 33</a:t>
            </a:r>
          </a:p>
          <a:p>
            <a:pPr marL="0" indent="0">
              <a:buNone/>
            </a:pPr>
            <a:r>
              <a:rPr lang="en-US" dirty="0"/>
              <a:t>b = 33</a:t>
            </a:r>
          </a:p>
          <a:p>
            <a:pPr marL="0" indent="0">
              <a:buNone/>
            </a:pPr>
            <a:r>
              <a:rPr lang="en-US" dirty="0"/>
              <a:t>if b &gt; a:</a:t>
            </a:r>
          </a:p>
          <a:p>
            <a:pPr marL="0" indent="0">
              <a:buNone/>
            </a:pPr>
            <a:r>
              <a:rPr lang="en-US" dirty="0" smtClean="0"/>
              <a:t>	print</a:t>
            </a:r>
            <a:r>
              <a:rPr lang="en-US" dirty="0"/>
              <a:t>("b is greater than a")</a:t>
            </a:r>
          </a:p>
          <a:p>
            <a:pPr marL="0" indent="0">
              <a:buNone/>
            </a:pPr>
            <a:r>
              <a:rPr lang="en-US" dirty="0" err="1"/>
              <a:t>elif</a:t>
            </a:r>
            <a:r>
              <a:rPr lang="en-US" dirty="0"/>
              <a:t> a == b:</a:t>
            </a:r>
          </a:p>
          <a:p>
            <a:pPr marL="0" indent="0">
              <a:buNone/>
            </a:pPr>
            <a:r>
              <a:rPr lang="en-US" dirty="0" smtClean="0"/>
              <a:t>	print</a:t>
            </a:r>
            <a:r>
              <a:rPr lang="en-US" dirty="0"/>
              <a:t>("a and b are equal")</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If </a:t>
            </a:r>
            <a:r>
              <a:rPr lang="en-US" sz="4000" b="1" dirty="0" err="1"/>
              <a:t>Elif</a:t>
            </a:r>
            <a:r>
              <a:rPr lang="en-US" sz="4000" b="1" dirty="0"/>
              <a:t> Else Statement</a:t>
            </a:r>
          </a:p>
        </p:txBody>
      </p:sp>
    </p:spTree>
    <p:extLst>
      <p:ext uri="{BB962C8B-B14F-4D97-AF65-F5344CB8AC3E}">
        <p14:creationId xmlns:p14="http://schemas.microsoft.com/office/powerpoint/2010/main" val="7450320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7848600" cy="5029200"/>
          </a:xfrm>
        </p:spPr>
        <p:txBody>
          <a:bodyPr>
            <a:normAutofit/>
          </a:bodyPr>
          <a:lstStyle/>
          <a:p>
            <a:r>
              <a:rPr lang="en-US" dirty="0"/>
              <a:t>You can have if statements inside if statements, this is called </a:t>
            </a:r>
            <a:r>
              <a:rPr lang="en-US" b="1" dirty="0"/>
              <a:t>nested if</a:t>
            </a:r>
            <a:r>
              <a:rPr lang="en-US" dirty="0"/>
              <a:t> statements</a:t>
            </a:r>
            <a:r>
              <a:rPr lang="en-US" dirty="0" smtClean="0"/>
              <a:t>.</a:t>
            </a:r>
          </a:p>
          <a:p>
            <a:endParaRPr lang="en-US" dirty="0" smtClean="0"/>
          </a:p>
          <a:p>
            <a:r>
              <a:rPr lang="en-US" dirty="0"/>
              <a:t>Example:</a:t>
            </a:r>
          </a:p>
          <a:p>
            <a:pPr marL="0" indent="0">
              <a:buNone/>
            </a:pPr>
            <a:r>
              <a:rPr lang="en-US" dirty="0"/>
              <a:t>x = 41</a:t>
            </a:r>
          </a:p>
          <a:p>
            <a:pPr marL="0" indent="0">
              <a:buNone/>
            </a:pPr>
            <a:r>
              <a:rPr lang="en-US" dirty="0" smtClean="0"/>
              <a:t>if </a:t>
            </a:r>
            <a:r>
              <a:rPr lang="en-US" dirty="0"/>
              <a:t>x &gt; </a:t>
            </a:r>
            <a:r>
              <a:rPr lang="en-US" dirty="0" smtClean="0"/>
              <a:t>10:</a:t>
            </a:r>
          </a:p>
          <a:p>
            <a:pPr marL="0" indent="0">
              <a:buNone/>
            </a:pPr>
            <a:r>
              <a:rPr lang="en-US" dirty="0" smtClean="0"/>
              <a:t>	print</a:t>
            </a:r>
            <a:r>
              <a:rPr lang="en-US" dirty="0"/>
              <a:t>("Above ten,")</a:t>
            </a:r>
          </a:p>
          <a:p>
            <a:pPr marL="0" indent="0">
              <a:buNone/>
            </a:pPr>
            <a:r>
              <a:rPr lang="en-US" dirty="0" smtClean="0"/>
              <a:t>	if </a:t>
            </a:r>
            <a:r>
              <a:rPr lang="en-US" dirty="0"/>
              <a:t>x &gt; 20:</a:t>
            </a:r>
          </a:p>
          <a:p>
            <a:pPr marL="0" indent="0">
              <a:buNone/>
            </a:pPr>
            <a:r>
              <a:rPr lang="en-US" dirty="0" smtClean="0"/>
              <a:t>		print</a:t>
            </a:r>
            <a:r>
              <a:rPr lang="en-US" dirty="0"/>
              <a:t>("and also above 20!")</a:t>
            </a:r>
          </a:p>
          <a:p>
            <a:pPr marL="0" indent="0">
              <a:buNone/>
            </a:pPr>
            <a:r>
              <a:rPr lang="en-US" dirty="0" smtClean="0"/>
              <a:t>	else:</a:t>
            </a:r>
          </a:p>
          <a:p>
            <a:pPr marL="0" indent="0">
              <a:buNone/>
            </a:pPr>
            <a:r>
              <a:rPr lang="en-US" dirty="0" smtClean="0"/>
              <a:t>	print</a:t>
            </a:r>
            <a:r>
              <a:rPr lang="en-US" dirty="0"/>
              <a:t>("but not above 20.")</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Nested If</a:t>
            </a:r>
          </a:p>
        </p:txBody>
      </p:sp>
    </p:spTree>
    <p:extLst>
      <p:ext uri="{BB962C8B-B14F-4D97-AF65-F5344CB8AC3E}">
        <p14:creationId xmlns:p14="http://schemas.microsoft.com/office/powerpoint/2010/main" val="3141788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7848600" cy="5029200"/>
          </a:xfrm>
        </p:spPr>
        <p:txBody>
          <a:bodyPr>
            <a:normAutofit/>
          </a:bodyPr>
          <a:lstStyle/>
          <a:p>
            <a:r>
              <a:rPr lang="en-US" dirty="0"/>
              <a:t>You can have if statements inside if statements, this is called </a:t>
            </a:r>
            <a:r>
              <a:rPr lang="en-US" b="1" dirty="0"/>
              <a:t>nested if</a:t>
            </a:r>
            <a:r>
              <a:rPr lang="en-US" dirty="0"/>
              <a:t> statements</a:t>
            </a:r>
            <a:r>
              <a:rPr lang="en-US" dirty="0" smtClean="0"/>
              <a:t>.</a:t>
            </a:r>
          </a:p>
          <a:p>
            <a:endParaRPr lang="en-US" dirty="0" smtClean="0"/>
          </a:p>
          <a:p>
            <a:r>
              <a:rPr lang="en-US" dirty="0"/>
              <a:t>Example:</a:t>
            </a:r>
          </a:p>
          <a:p>
            <a:pPr marL="0" indent="0">
              <a:buNone/>
            </a:pPr>
            <a:r>
              <a:rPr lang="en-US" dirty="0"/>
              <a:t>if a &gt; b: print("a is greater than b")</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Short Hand If</a:t>
            </a:r>
          </a:p>
        </p:txBody>
      </p:sp>
    </p:spTree>
    <p:extLst>
      <p:ext uri="{BB962C8B-B14F-4D97-AF65-F5344CB8AC3E}">
        <p14:creationId xmlns:p14="http://schemas.microsoft.com/office/powerpoint/2010/main" val="10113242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7848600" cy="5029200"/>
          </a:xfrm>
        </p:spPr>
        <p:txBody>
          <a:bodyPr>
            <a:normAutofit/>
          </a:bodyPr>
          <a:lstStyle/>
          <a:p>
            <a:r>
              <a:rPr lang="en-US" dirty="0"/>
              <a:t>If you have only one statement to execute, one for if, and one for else, you can put it all on the same line.</a:t>
            </a:r>
          </a:p>
          <a:p>
            <a:endParaRPr lang="en-US" dirty="0"/>
          </a:p>
          <a:p>
            <a:r>
              <a:rPr lang="en-US" dirty="0" smtClean="0"/>
              <a:t>This </a:t>
            </a:r>
            <a:r>
              <a:rPr lang="en-US" dirty="0"/>
              <a:t>technique is known as Ternary Operators, or Conditional </a:t>
            </a:r>
            <a:r>
              <a:rPr lang="en-US" dirty="0" smtClean="0"/>
              <a:t> Expressions</a:t>
            </a:r>
            <a:r>
              <a:rPr lang="en-US" dirty="0"/>
              <a:t>.</a:t>
            </a:r>
            <a:endParaRPr lang="en-US" dirty="0" smtClean="0"/>
          </a:p>
          <a:p>
            <a:endParaRPr lang="en-US" dirty="0" smtClean="0"/>
          </a:p>
          <a:p>
            <a:r>
              <a:rPr lang="en-US" dirty="0"/>
              <a:t>Example:1</a:t>
            </a:r>
          </a:p>
          <a:p>
            <a:pPr marL="0" indent="0">
              <a:buNone/>
            </a:pPr>
            <a:r>
              <a:rPr lang="en-US" dirty="0"/>
              <a:t>a = 2</a:t>
            </a:r>
          </a:p>
          <a:p>
            <a:pPr marL="0" indent="0">
              <a:buNone/>
            </a:pPr>
            <a:r>
              <a:rPr lang="en-US" dirty="0"/>
              <a:t>b = 330</a:t>
            </a:r>
          </a:p>
          <a:p>
            <a:pPr marL="0" indent="0">
              <a:buNone/>
            </a:pPr>
            <a:r>
              <a:rPr lang="en-US" dirty="0"/>
              <a:t>print("A") if a &gt; b else print("B")</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Short Hand If Else</a:t>
            </a:r>
          </a:p>
        </p:txBody>
      </p:sp>
    </p:spTree>
    <p:extLst>
      <p:ext uri="{BB962C8B-B14F-4D97-AF65-F5344CB8AC3E}">
        <p14:creationId xmlns:p14="http://schemas.microsoft.com/office/powerpoint/2010/main" val="3285320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7848600" cy="5029200"/>
          </a:xfrm>
        </p:spPr>
        <p:txBody>
          <a:bodyPr>
            <a:normAutofit/>
          </a:bodyPr>
          <a:lstStyle/>
          <a:p>
            <a:r>
              <a:rPr lang="en-US" dirty="0"/>
              <a:t>Example:2</a:t>
            </a:r>
          </a:p>
          <a:p>
            <a:pPr marL="0" indent="0">
              <a:buNone/>
            </a:pPr>
            <a:r>
              <a:rPr lang="en-US" dirty="0"/>
              <a:t>a = 330</a:t>
            </a:r>
          </a:p>
          <a:p>
            <a:pPr marL="0" indent="0">
              <a:buNone/>
            </a:pPr>
            <a:r>
              <a:rPr lang="en-US" dirty="0"/>
              <a:t>b = 330</a:t>
            </a:r>
          </a:p>
          <a:p>
            <a:pPr marL="0" indent="0">
              <a:buNone/>
            </a:pPr>
            <a:r>
              <a:rPr lang="en-US" dirty="0"/>
              <a:t>print("A") if a &gt; b else print("=") if a == b else print("B")</a:t>
            </a:r>
            <a:endParaRPr lang="en-US" dirty="0" smtClean="0"/>
          </a:p>
        </p:txBody>
      </p:sp>
      <p:sp>
        <p:nvSpPr>
          <p:cNvPr id="4" name="Title 1"/>
          <p:cNvSpPr>
            <a:spLocks noGrp="1"/>
          </p:cNvSpPr>
          <p:nvPr>
            <p:ph type="title"/>
          </p:nvPr>
        </p:nvSpPr>
        <p:spPr>
          <a:xfrm>
            <a:off x="533400" y="381000"/>
            <a:ext cx="7924800" cy="685800"/>
          </a:xfrm>
        </p:spPr>
        <p:txBody>
          <a:bodyPr>
            <a:normAutofit fontScale="90000"/>
          </a:bodyPr>
          <a:lstStyle/>
          <a:p>
            <a:pPr algn="ctr"/>
            <a:r>
              <a:rPr lang="en-US" sz="4000" b="1" dirty="0"/>
              <a:t>Short Hand If Else</a:t>
            </a:r>
          </a:p>
        </p:txBody>
      </p:sp>
    </p:spTree>
    <p:extLst>
      <p:ext uri="{BB962C8B-B14F-4D97-AF65-F5344CB8AC3E}">
        <p14:creationId xmlns:p14="http://schemas.microsoft.com/office/powerpoint/2010/main" val="847252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848600" cy="5029200"/>
          </a:xfrm>
        </p:spPr>
        <p:txBody>
          <a:bodyPr>
            <a:normAutofit fontScale="92500" lnSpcReduction="10000"/>
          </a:bodyPr>
          <a:lstStyle/>
          <a:p>
            <a:r>
              <a:rPr lang="en-US" dirty="0"/>
              <a:t>Example:1</a:t>
            </a:r>
          </a:p>
          <a:p>
            <a:pPr marL="0" indent="0">
              <a:buNone/>
            </a:pPr>
            <a:r>
              <a:rPr lang="en-US" dirty="0"/>
              <a:t>a = 200</a:t>
            </a:r>
          </a:p>
          <a:p>
            <a:pPr marL="0" indent="0">
              <a:buNone/>
            </a:pPr>
            <a:r>
              <a:rPr lang="en-US" dirty="0"/>
              <a:t>b = 33</a:t>
            </a:r>
          </a:p>
          <a:p>
            <a:pPr marL="0" indent="0">
              <a:buNone/>
            </a:pPr>
            <a:r>
              <a:rPr lang="en-US" dirty="0"/>
              <a:t>c = 500</a:t>
            </a:r>
          </a:p>
          <a:p>
            <a:pPr marL="0" indent="0">
              <a:buNone/>
            </a:pPr>
            <a:r>
              <a:rPr lang="en-US" dirty="0"/>
              <a:t>if a &gt; b and c &gt; a:</a:t>
            </a:r>
          </a:p>
          <a:p>
            <a:pPr marL="0" indent="0">
              <a:buNone/>
            </a:pPr>
            <a:r>
              <a:rPr lang="en-US" dirty="0" smtClean="0"/>
              <a:t>	print</a:t>
            </a:r>
            <a:r>
              <a:rPr lang="en-US" dirty="0"/>
              <a:t>("Both conditions are True")</a:t>
            </a:r>
          </a:p>
          <a:p>
            <a:endParaRPr lang="en-US" dirty="0"/>
          </a:p>
          <a:p>
            <a:r>
              <a:rPr lang="en-US" dirty="0" smtClean="0"/>
              <a:t>Example:2</a:t>
            </a:r>
            <a:endParaRPr lang="en-US" dirty="0"/>
          </a:p>
          <a:p>
            <a:pPr marL="0" indent="0">
              <a:buNone/>
            </a:pPr>
            <a:r>
              <a:rPr lang="en-US" dirty="0"/>
              <a:t>a = 200</a:t>
            </a:r>
          </a:p>
          <a:p>
            <a:pPr marL="0" indent="0">
              <a:buNone/>
            </a:pPr>
            <a:r>
              <a:rPr lang="en-US" dirty="0"/>
              <a:t>b = 33</a:t>
            </a:r>
          </a:p>
          <a:p>
            <a:pPr marL="0" indent="0">
              <a:buNone/>
            </a:pPr>
            <a:r>
              <a:rPr lang="en-US" dirty="0"/>
              <a:t>c = 500</a:t>
            </a:r>
          </a:p>
          <a:p>
            <a:pPr marL="0" indent="0">
              <a:buNone/>
            </a:pPr>
            <a:r>
              <a:rPr lang="en-US" dirty="0"/>
              <a:t>if a &gt; b or a &gt; c:</a:t>
            </a:r>
          </a:p>
          <a:p>
            <a:pPr marL="0" indent="0">
              <a:buNone/>
            </a:pPr>
            <a:r>
              <a:rPr lang="en-US" dirty="0" smtClean="0"/>
              <a:t>	print</a:t>
            </a:r>
            <a:r>
              <a:rPr lang="en-US" dirty="0"/>
              <a:t>("At least one of the conditions is True")</a:t>
            </a:r>
            <a:endParaRPr lang="en-US" dirty="0" smtClean="0"/>
          </a:p>
        </p:txBody>
      </p:sp>
      <p:sp>
        <p:nvSpPr>
          <p:cNvPr id="4" name="Title 1"/>
          <p:cNvSpPr>
            <a:spLocks noGrp="1"/>
          </p:cNvSpPr>
          <p:nvPr>
            <p:ph type="title"/>
          </p:nvPr>
        </p:nvSpPr>
        <p:spPr>
          <a:xfrm>
            <a:off x="533400" y="381000"/>
            <a:ext cx="7924800" cy="990600"/>
          </a:xfrm>
        </p:spPr>
        <p:txBody>
          <a:bodyPr>
            <a:normAutofit fontScale="90000"/>
          </a:bodyPr>
          <a:lstStyle/>
          <a:p>
            <a:pPr algn="ctr"/>
            <a:r>
              <a:rPr lang="en-US" sz="4000" b="1" dirty="0"/>
              <a:t>Some Examples of If Else Statement</a:t>
            </a:r>
          </a:p>
        </p:txBody>
      </p:sp>
    </p:spTree>
    <p:extLst>
      <p:ext uri="{BB962C8B-B14F-4D97-AF65-F5344CB8AC3E}">
        <p14:creationId xmlns:p14="http://schemas.microsoft.com/office/powerpoint/2010/main" val="22607522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105400"/>
          </a:xfrm>
        </p:spPr>
        <p:txBody>
          <a:bodyPr>
            <a:normAutofit/>
          </a:bodyPr>
          <a:lstStyle/>
          <a:p>
            <a:r>
              <a:rPr lang="en-US" dirty="0"/>
              <a:t>Python's for loop is designed to repeatedly execute a code block while iterating through a list, tuple, dictionary, or other </a:t>
            </a:r>
            <a:r>
              <a:rPr lang="en-US" dirty="0" err="1"/>
              <a:t>iterable</a:t>
            </a:r>
            <a:r>
              <a:rPr lang="en-US" dirty="0"/>
              <a:t> objects of Python. The process of traversing a sequence is known as iteration</a:t>
            </a:r>
            <a:r>
              <a:rPr lang="en-US" dirty="0" smtClean="0"/>
              <a:t>.</a:t>
            </a:r>
          </a:p>
          <a:p>
            <a:endParaRPr lang="en-US" dirty="0"/>
          </a:p>
          <a:p>
            <a:r>
              <a:rPr lang="en-US" dirty="0" smtClean="0"/>
              <a:t>Syntax:</a:t>
            </a:r>
          </a:p>
          <a:p>
            <a:pPr marL="0" indent="0">
              <a:buNone/>
            </a:pPr>
            <a:r>
              <a:rPr lang="en-US" dirty="0"/>
              <a:t>for value in sequence:  </a:t>
            </a:r>
          </a:p>
          <a:p>
            <a:pPr marL="0" indent="0">
              <a:buNone/>
            </a:pPr>
            <a:r>
              <a:rPr lang="en-US" dirty="0"/>
              <a:t>	{ code block }</a:t>
            </a:r>
            <a:endParaRPr lang="en-US" dirty="0" smtClean="0"/>
          </a:p>
          <a:p>
            <a:pPr marL="0" indent="0">
              <a:buNone/>
            </a:pPr>
            <a:endParaRPr lang="en-US" dirty="0"/>
          </a:p>
          <a:p>
            <a:pPr marL="0" indent="0">
              <a:buNone/>
            </a:pPr>
            <a:endParaRPr lang="en-US" dirty="0" smtClean="0"/>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For Loop</a:t>
            </a:r>
          </a:p>
        </p:txBody>
      </p:sp>
    </p:spTree>
    <p:extLst>
      <p:ext uri="{BB962C8B-B14F-4D97-AF65-F5344CB8AC3E}">
        <p14:creationId xmlns:p14="http://schemas.microsoft.com/office/powerpoint/2010/main" val="5809524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105400"/>
          </a:xfrm>
        </p:spPr>
        <p:txBody>
          <a:bodyPr>
            <a:normAutofit/>
          </a:bodyPr>
          <a:lstStyle/>
          <a:p>
            <a:r>
              <a:rPr lang="en-US" dirty="0" smtClean="0"/>
              <a:t>Example</a:t>
            </a:r>
            <a:r>
              <a:rPr lang="en-US" dirty="0"/>
              <a:t>:</a:t>
            </a:r>
          </a:p>
          <a:p>
            <a:pPr marL="0" indent="0">
              <a:buNone/>
            </a:pPr>
            <a:r>
              <a:rPr lang="en-US" dirty="0"/>
              <a:t>fruits = ["apple", "banana", "cherry"]</a:t>
            </a:r>
          </a:p>
          <a:p>
            <a:pPr marL="0" indent="0">
              <a:buNone/>
            </a:pPr>
            <a:r>
              <a:rPr lang="en-US" dirty="0"/>
              <a:t>for x in fruits:</a:t>
            </a:r>
          </a:p>
          <a:p>
            <a:pPr marL="0" indent="0">
              <a:buNone/>
            </a:pPr>
            <a:r>
              <a:rPr lang="en-US" dirty="0" smtClean="0"/>
              <a:t>	print(x)</a:t>
            </a:r>
          </a:p>
          <a:p>
            <a:pPr marL="0" indent="0">
              <a:buNone/>
            </a:pPr>
            <a:endParaRPr lang="en-US" dirty="0"/>
          </a:p>
          <a:p>
            <a:r>
              <a:rPr lang="en-US" dirty="0"/>
              <a:t>Output: </a:t>
            </a:r>
            <a:r>
              <a:rPr lang="en-US" dirty="0" smtClean="0"/>
              <a:t>apple</a:t>
            </a:r>
          </a:p>
          <a:p>
            <a:pPr marL="0" indent="0">
              <a:buNone/>
            </a:pPr>
            <a:r>
              <a:rPr lang="en-US" dirty="0" smtClean="0"/>
              <a:t>	      banana</a:t>
            </a:r>
            <a:endParaRPr lang="en-US" dirty="0"/>
          </a:p>
          <a:p>
            <a:pPr marL="0" indent="0">
              <a:buNone/>
            </a:pPr>
            <a:r>
              <a:rPr lang="en-US" dirty="0" smtClean="0"/>
              <a:t>	</a:t>
            </a:r>
            <a:r>
              <a:rPr lang="en-US" dirty="0"/>
              <a:t> </a:t>
            </a:r>
            <a:r>
              <a:rPr lang="en-US" dirty="0" smtClean="0"/>
              <a:t>     cherry</a:t>
            </a:r>
            <a:endParaRPr lang="en-US" dirty="0"/>
          </a:p>
          <a:p>
            <a:pPr marL="0" indent="0">
              <a:buNone/>
            </a:pPr>
            <a:endParaRPr lang="en-US" dirty="0" smtClean="0"/>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For Loop</a:t>
            </a:r>
          </a:p>
        </p:txBody>
      </p:sp>
    </p:spTree>
    <p:extLst>
      <p:ext uri="{BB962C8B-B14F-4D97-AF65-F5344CB8AC3E}">
        <p14:creationId xmlns:p14="http://schemas.microsoft.com/office/powerpoint/2010/main" val="1472347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447800"/>
            <a:ext cx="7848600" cy="4800600"/>
          </a:xfrm>
        </p:spPr>
        <p:txBody>
          <a:bodyPr>
            <a:normAutofit/>
          </a:bodyPr>
          <a:lstStyle/>
          <a:p>
            <a:r>
              <a:rPr lang="en-US" dirty="0"/>
              <a:t>As already said, a for loop executes the code block until the sequence element is reached. The statement is written right after the for loop is executed after the execution of the for loop is complete</a:t>
            </a:r>
            <a:r>
              <a:rPr lang="en-US" dirty="0" smtClean="0"/>
              <a:t>.</a:t>
            </a:r>
          </a:p>
          <a:p>
            <a:endParaRPr lang="en-US" dirty="0"/>
          </a:p>
          <a:p>
            <a:r>
              <a:rPr lang="en-US" dirty="0"/>
              <a:t>Only if the execution is complete does the else statement comes into play. It </a:t>
            </a:r>
            <a:r>
              <a:rPr lang="en-US" dirty="0" smtClean="0"/>
              <a:t>won't be </a:t>
            </a:r>
            <a:r>
              <a:rPr lang="en-US" dirty="0"/>
              <a:t>executed if we exit the loop or if an error is thrown</a:t>
            </a:r>
            <a:r>
              <a:rPr lang="en-US" dirty="0" smtClean="0"/>
              <a:t>.</a:t>
            </a:r>
          </a:p>
          <a:p>
            <a:pPr marL="0" indent="0">
              <a:buNone/>
            </a:pPr>
            <a:endParaRPr lang="en-US" dirty="0"/>
          </a:p>
          <a:p>
            <a:pPr marL="0" indent="0">
              <a:buNone/>
            </a:pPr>
            <a:endParaRPr lang="en-US" dirty="0" smtClean="0"/>
          </a:p>
        </p:txBody>
      </p:sp>
      <p:sp>
        <p:nvSpPr>
          <p:cNvPr id="4" name="Title 1"/>
          <p:cNvSpPr>
            <a:spLocks noGrp="1"/>
          </p:cNvSpPr>
          <p:nvPr>
            <p:ph type="title"/>
          </p:nvPr>
        </p:nvSpPr>
        <p:spPr>
          <a:xfrm>
            <a:off x="533400" y="381000"/>
            <a:ext cx="7924800" cy="990600"/>
          </a:xfrm>
        </p:spPr>
        <p:txBody>
          <a:bodyPr>
            <a:normAutofit fontScale="90000"/>
          </a:bodyPr>
          <a:lstStyle/>
          <a:p>
            <a:pPr algn="ctr"/>
            <a:r>
              <a:rPr lang="en-US" sz="4000" b="1" dirty="0"/>
              <a:t>Using else Statement with for Loop</a:t>
            </a:r>
          </a:p>
        </p:txBody>
      </p:sp>
    </p:spTree>
    <p:extLst>
      <p:ext uri="{BB962C8B-B14F-4D97-AF65-F5344CB8AC3E}">
        <p14:creationId xmlns:p14="http://schemas.microsoft.com/office/powerpoint/2010/main" val="30425121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7848600" cy="5181600"/>
          </a:xfrm>
        </p:spPr>
        <p:txBody>
          <a:bodyPr>
            <a:normAutofit fontScale="62500" lnSpcReduction="20000"/>
          </a:bodyPr>
          <a:lstStyle/>
          <a:p>
            <a:r>
              <a:rPr lang="en-US" dirty="0"/>
              <a:t>Example:1 [Without Break]</a:t>
            </a:r>
          </a:p>
          <a:p>
            <a:r>
              <a:rPr lang="en-US" dirty="0"/>
              <a:t>for i in range(1, 4):</a:t>
            </a:r>
          </a:p>
          <a:p>
            <a:r>
              <a:rPr lang="en-US" dirty="0"/>
              <a:t>    print(i)</a:t>
            </a:r>
          </a:p>
          <a:p>
            <a:r>
              <a:rPr lang="en-US" dirty="0"/>
              <a:t>else:  # Executed because no break in for</a:t>
            </a:r>
          </a:p>
          <a:p>
            <a:r>
              <a:rPr lang="en-US" dirty="0"/>
              <a:t>    print("No Break")</a:t>
            </a:r>
          </a:p>
          <a:p>
            <a:endParaRPr lang="en-US" dirty="0"/>
          </a:p>
          <a:p>
            <a:r>
              <a:rPr lang="en-US" dirty="0"/>
              <a:t>-Output: 1</a:t>
            </a:r>
          </a:p>
          <a:p>
            <a:r>
              <a:rPr lang="en-US" dirty="0"/>
              <a:t>	 2</a:t>
            </a:r>
          </a:p>
          <a:p>
            <a:r>
              <a:rPr lang="en-US" dirty="0"/>
              <a:t> 	 3</a:t>
            </a:r>
          </a:p>
          <a:p>
            <a:r>
              <a:rPr lang="en-US" dirty="0"/>
              <a:t>	 No Break</a:t>
            </a:r>
          </a:p>
          <a:p>
            <a:endParaRPr lang="en-US" dirty="0"/>
          </a:p>
          <a:p>
            <a:r>
              <a:rPr lang="en-US" dirty="0"/>
              <a:t>-Example:2 [With Break]</a:t>
            </a:r>
          </a:p>
          <a:p>
            <a:r>
              <a:rPr lang="en-US" dirty="0"/>
              <a:t>for i in range(1, 4):</a:t>
            </a:r>
          </a:p>
          <a:p>
            <a:r>
              <a:rPr lang="en-US" dirty="0"/>
              <a:t>	print(i)</a:t>
            </a:r>
          </a:p>
          <a:p>
            <a:r>
              <a:rPr lang="en-US" dirty="0"/>
              <a:t>	break</a:t>
            </a:r>
          </a:p>
          <a:p>
            <a:r>
              <a:rPr lang="en-US" dirty="0"/>
              <a:t>else: # Not executed as there is a break</a:t>
            </a:r>
          </a:p>
          <a:p>
            <a:r>
              <a:rPr lang="en-US" dirty="0"/>
              <a:t>	print("No Break")</a:t>
            </a:r>
          </a:p>
          <a:p>
            <a:endParaRPr lang="en-US" dirty="0"/>
          </a:p>
          <a:p>
            <a:r>
              <a:rPr lang="en-US" dirty="0"/>
              <a:t>-Output: 1</a:t>
            </a:r>
          </a:p>
          <a:p>
            <a:pPr marL="0" indent="0">
              <a:buNone/>
            </a:pPr>
            <a:endParaRPr lang="en-US" dirty="0" smtClean="0"/>
          </a:p>
        </p:txBody>
      </p:sp>
      <p:sp>
        <p:nvSpPr>
          <p:cNvPr id="4" name="Title 1"/>
          <p:cNvSpPr>
            <a:spLocks noGrp="1"/>
          </p:cNvSpPr>
          <p:nvPr>
            <p:ph type="title"/>
          </p:nvPr>
        </p:nvSpPr>
        <p:spPr>
          <a:xfrm>
            <a:off x="533400" y="381000"/>
            <a:ext cx="7924800" cy="838200"/>
          </a:xfrm>
        </p:spPr>
        <p:txBody>
          <a:bodyPr>
            <a:noAutofit/>
          </a:bodyPr>
          <a:lstStyle/>
          <a:p>
            <a:pPr algn="ctr"/>
            <a:r>
              <a:rPr lang="en-US" sz="3200" b="1" dirty="0"/>
              <a:t>Using else Statement with for Loop</a:t>
            </a:r>
          </a:p>
        </p:txBody>
      </p:sp>
    </p:spTree>
    <p:extLst>
      <p:ext uri="{BB962C8B-B14F-4D97-AF65-F5344CB8AC3E}">
        <p14:creationId xmlns:p14="http://schemas.microsoft.com/office/powerpoint/2010/main" val="17981791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105400"/>
          </a:xfrm>
        </p:spPr>
        <p:txBody>
          <a:bodyPr>
            <a:normAutofit/>
          </a:bodyPr>
          <a:lstStyle/>
          <a:p>
            <a:r>
              <a:rPr lang="en-US" dirty="0"/>
              <a:t>While loops are used in Python to iterate until a specified condition is met. However, the statement in the program that follows the while loop is executed once the condition changes to false</a:t>
            </a:r>
            <a:r>
              <a:rPr lang="en-US" dirty="0" smtClean="0"/>
              <a:t>.</a:t>
            </a:r>
            <a:endParaRPr lang="en-US" dirty="0"/>
          </a:p>
          <a:p>
            <a:endParaRPr lang="en-US" dirty="0" smtClean="0"/>
          </a:p>
          <a:p>
            <a:r>
              <a:rPr lang="en-US" dirty="0" smtClean="0"/>
              <a:t>Syntax</a:t>
            </a:r>
            <a:r>
              <a:rPr lang="en-US" dirty="0"/>
              <a:t>:</a:t>
            </a:r>
          </a:p>
          <a:p>
            <a:pPr marL="0" indent="0">
              <a:buNone/>
            </a:pPr>
            <a:r>
              <a:rPr lang="en-US" dirty="0"/>
              <a:t>while &lt;condition&gt;:  </a:t>
            </a:r>
          </a:p>
          <a:p>
            <a:pPr marL="0" indent="0">
              <a:buNone/>
            </a:pPr>
            <a:r>
              <a:rPr lang="en-US" dirty="0" smtClean="0"/>
              <a:t>	{ </a:t>
            </a:r>
            <a:r>
              <a:rPr lang="en-US" dirty="0"/>
              <a:t>code block }</a:t>
            </a:r>
          </a:p>
          <a:p>
            <a:pPr marL="0" indent="0">
              <a:buNone/>
            </a:pPr>
            <a:endParaRPr lang="en-US" dirty="0"/>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While Loop</a:t>
            </a:r>
          </a:p>
        </p:txBody>
      </p:sp>
    </p:spTree>
    <p:extLst>
      <p:ext uri="{BB962C8B-B14F-4D97-AF65-F5344CB8AC3E}">
        <p14:creationId xmlns:p14="http://schemas.microsoft.com/office/powerpoint/2010/main" val="540676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105400"/>
          </a:xfrm>
        </p:spPr>
        <p:txBody>
          <a:bodyPr>
            <a:normAutofit lnSpcReduction="10000"/>
          </a:bodyPr>
          <a:lstStyle/>
          <a:p>
            <a:r>
              <a:rPr lang="en-US" dirty="0"/>
              <a:t>Example:</a:t>
            </a:r>
          </a:p>
          <a:p>
            <a:pPr marL="0" indent="0">
              <a:buNone/>
            </a:pPr>
            <a:r>
              <a:rPr lang="en-US" dirty="0"/>
              <a:t>i = 1</a:t>
            </a:r>
          </a:p>
          <a:p>
            <a:pPr marL="0" indent="0">
              <a:buNone/>
            </a:pPr>
            <a:r>
              <a:rPr lang="en-US" dirty="0"/>
              <a:t>while i &lt; 6</a:t>
            </a:r>
            <a:r>
              <a:rPr lang="en-US" dirty="0" smtClean="0"/>
              <a:t>:</a:t>
            </a:r>
          </a:p>
          <a:p>
            <a:pPr marL="0" indent="0">
              <a:buNone/>
            </a:pPr>
            <a:r>
              <a:rPr lang="en-US" dirty="0" smtClean="0"/>
              <a:t>	print(i</a:t>
            </a:r>
            <a:r>
              <a:rPr lang="en-US" dirty="0"/>
              <a:t>)</a:t>
            </a:r>
          </a:p>
          <a:p>
            <a:pPr marL="0" indent="0">
              <a:buNone/>
            </a:pPr>
            <a:r>
              <a:rPr lang="en-US" dirty="0" smtClean="0"/>
              <a:t>	i </a:t>
            </a:r>
            <a:r>
              <a:rPr lang="en-US" dirty="0"/>
              <a:t>+= 1</a:t>
            </a:r>
          </a:p>
          <a:p>
            <a:endParaRPr lang="en-US" dirty="0"/>
          </a:p>
          <a:p>
            <a:r>
              <a:rPr lang="en-US" dirty="0" smtClean="0"/>
              <a:t>Output</a:t>
            </a:r>
            <a:r>
              <a:rPr lang="en-US" dirty="0"/>
              <a:t>:</a:t>
            </a:r>
          </a:p>
          <a:p>
            <a:pPr marL="0" indent="0">
              <a:buNone/>
            </a:pPr>
            <a:r>
              <a:rPr lang="en-US" dirty="0"/>
              <a:t>1</a:t>
            </a:r>
          </a:p>
          <a:p>
            <a:pPr marL="0" indent="0">
              <a:buNone/>
            </a:pPr>
            <a:r>
              <a:rPr lang="en-US" dirty="0"/>
              <a:t>2</a:t>
            </a:r>
          </a:p>
          <a:p>
            <a:pPr marL="0" indent="0">
              <a:buNone/>
            </a:pPr>
            <a:r>
              <a:rPr lang="en-US" dirty="0"/>
              <a:t>3</a:t>
            </a:r>
          </a:p>
          <a:p>
            <a:pPr marL="0" indent="0">
              <a:buNone/>
            </a:pPr>
            <a:r>
              <a:rPr lang="en-US" dirty="0"/>
              <a:t>4</a:t>
            </a:r>
          </a:p>
          <a:p>
            <a:pPr marL="0" indent="0">
              <a:buNone/>
            </a:pPr>
            <a:r>
              <a:rPr lang="en-US" dirty="0"/>
              <a:t>5</a:t>
            </a:r>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While Loop</a:t>
            </a:r>
          </a:p>
        </p:txBody>
      </p:sp>
    </p:spTree>
    <p:extLst>
      <p:ext uri="{BB962C8B-B14F-4D97-AF65-F5344CB8AC3E}">
        <p14:creationId xmlns:p14="http://schemas.microsoft.com/office/powerpoint/2010/main" val="37788475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7848600" cy="5181600"/>
          </a:xfrm>
        </p:spPr>
        <p:txBody>
          <a:bodyPr>
            <a:normAutofit/>
          </a:bodyPr>
          <a:lstStyle/>
          <a:p>
            <a:r>
              <a:rPr lang="en-US" dirty="0"/>
              <a:t>As discussed earlier in the for loop section, we can use the else statement with the while loop also. It has the same syntax</a:t>
            </a:r>
            <a:r>
              <a:rPr lang="en-US" dirty="0" smtClean="0"/>
              <a:t>.</a:t>
            </a:r>
          </a:p>
          <a:p>
            <a:endParaRPr lang="en-US" dirty="0" smtClean="0"/>
          </a:p>
          <a:p>
            <a:r>
              <a:rPr lang="en-US" dirty="0"/>
              <a:t>Example:</a:t>
            </a:r>
          </a:p>
          <a:p>
            <a:pPr marL="0" indent="0">
              <a:buNone/>
            </a:pPr>
            <a:r>
              <a:rPr lang="en-US" dirty="0"/>
              <a:t>i = 1</a:t>
            </a:r>
          </a:p>
          <a:p>
            <a:pPr marL="0" indent="0">
              <a:buNone/>
            </a:pPr>
            <a:r>
              <a:rPr lang="en-US" dirty="0"/>
              <a:t>while i &lt; 6:</a:t>
            </a:r>
          </a:p>
          <a:p>
            <a:pPr marL="0" indent="0">
              <a:buNone/>
            </a:pPr>
            <a:r>
              <a:rPr lang="en-US" dirty="0" smtClean="0"/>
              <a:t>	print(i</a:t>
            </a:r>
            <a:r>
              <a:rPr lang="en-US" dirty="0"/>
              <a:t>)</a:t>
            </a:r>
          </a:p>
          <a:p>
            <a:pPr marL="0" indent="0">
              <a:buNone/>
            </a:pPr>
            <a:r>
              <a:rPr lang="en-US" dirty="0" smtClean="0"/>
              <a:t>	i </a:t>
            </a:r>
            <a:r>
              <a:rPr lang="en-US" dirty="0"/>
              <a:t>+= 1</a:t>
            </a:r>
          </a:p>
          <a:p>
            <a:pPr marL="0" indent="0">
              <a:buNone/>
            </a:pPr>
            <a:r>
              <a:rPr lang="en-US" dirty="0"/>
              <a:t>else:</a:t>
            </a:r>
          </a:p>
          <a:p>
            <a:pPr marL="0" indent="0">
              <a:buNone/>
            </a:pPr>
            <a:r>
              <a:rPr lang="en-US" dirty="0" smtClean="0"/>
              <a:t>	print</a:t>
            </a:r>
            <a:r>
              <a:rPr lang="en-US" dirty="0"/>
              <a:t>("i is no longer less than 6")</a:t>
            </a:r>
            <a:endParaRPr lang="en-US" dirty="0" smtClean="0"/>
          </a:p>
        </p:txBody>
      </p:sp>
      <p:sp>
        <p:nvSpPr>
          <p:cNvPr id="4" name="Title 1"/>
          <p:cNvSpPr>
            <a:spLocks noGrp="1"/>
          </p:cNvSpPr>
          <p:nvPr>
            <p:ph type="title"/>
          </p:nvPr>
        </p:nvSpPr>
        <p:spPr>
          <a:xfrm>
            <a:off x="533400" y="381000"/>
            <a:ext cx="7924800" cy="838200"/>
          </a:xfrm>
        </p:spPr>
        <p:txBody>
          <a:bodyPr>
            <a:noAutofit/>
          </a:bodyPr>
          <a:lstStyle/>
          <a:p>
            <a:pPr algn="ctr"/>
            <a:r>
              <a:rPr lang="en-US" sz="3200" b="1" dirty="0"/>
              <a:t>Using else Statement with while Loops</a:t>
            </a:r>
          </a:p>
        </p:txBody>
      </p:sp>
    </p:spTree>
    <p:extLst>
      <p:ext uri="{BB962C8B-B14F-4D97-AF65-F5344CB8AC3E}">
        <p14:creationId xmlns:p14="http://schemas.microsoft.com/office/powerpoint/2010/main" val="14171669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447800"/>
            <a:ext cx="7848600" cy="5029200"/>
          </a:xfrm>
        </p:spPr>
        <p:txBody>
          <a:bodyPr>
            <a:normAutofit/>
          </a:bodyPr>
          <a:lstStyle/>
          <a:p>
            <a:r>
              <a:rPr lang="en-US" dirty="0"/>
              <a:t>Output:</a:t>
            </a:r>
          </a:p>
          <a:p>
            <a:pPr marL="0" indent="0">
              <a:buNone/>
            </a:pPr>
            <a:r>
              <a:rPr lang="en-US" dirty="0"/>
              <a:t>1</a:t>
            </a:r>
          </a:p>
          <a:p>
            <a:pPr marL="0" indent="0">
              <a:buNone/>
            </a:pPr>
            <a:r>
              <a:rPr lang="en-US" dirty="0"/>
              <a:t>2</a:t>
            </a:r>
          </a:p>
          <a:p>
            <a:pPr marL="0" indent="0">
              <a:buNone/>
            </a:pPr>
            <a:r>
              <a:rPr lang="en-US" dirty="0"/>
              <a:t>3</a:t>
            </a:r>
          </a:p>
          <a:p>
            <a:pPr marL="0" indent="0">
              <a:buNone/>
            </a:pPr>
            <a:r>
              <a:rPr lang="en-US" dirty="0"/>
              <a:t>4</a:t>
            </a:r>
          </a:p>
          <a:p>
            <a:pPr marL="0" indent="0">
              <a:buNone/>
            </a:pPr>
            <a:r>
              <a:rPr lang="en-US" dirty="0"/>
              <a:t>5</a:t>
            </a:r>
          </a:p>
          <a:p>
            <a:pPr marL="0" indent="0">
              <a:buNone/>
            </a:pPr>
            <a:r>
              <a:rPr lang="en-US" dirty="0"/>
              <a:t>i is no longer less than 6</a:t>
            </a:r>
            <a:endParaRPr lang="en-US" dirty="0" smtClean="0"/>
          </a:p>
        </p:txBody>
      </p:sp>
      <p:sp>
        <p:nvSpPr>
          <p:cNvPr id="4" name="Title 1"/>
          <p:cNvSpPr>
            <a:spLocks noGrp="1"/>
          </p:cNvSpPr>
          <p:nvPr>
            <p:ph type="title"/>
          </p:nvPr>
        </p:nvSpPr>
        <p:spPr>
          <a:xfrm>
            <a:off x="533400" y="381000"/>
            <a:ext cx="7924800" cy="990600"/>
          </a:xfrm>
        </p:spPr>
        <p:txBody>
          <a:bodyPr>
            <a:noAutofit/>
          </a:bodyPr>
          <a:lstStyle/>
          <a:p>
            <a:pPr algn="ctr"/>
            <a:r>
              <a:rPr lang="en-US" sz="3600" b="1" dirty="0"/>
              <a:t>Using else Statement with while Loops</a:t>
            </a:r>
          </a:p>
        </p:txBody>
      </p:sp>
    </p:spTree>
    <p:extLst>
      <p:ext uri="{BB962C8B-B14F-4D97-AF65-F5344CB8AC3E}">
        <p14:creationId xmlns:p14="http://schemas.microsoft.com/office/powerpoint/2010/main" val="6497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334000"/>
          </a:xfrm>
        </p:spPr>
        <p:txBody>
          <a:bodyPr>
            <a:normAutofit/>
          </a:bodyPr>
          <a:lstStyle/>
          <a:p>
            <a:r>
              <a:rPr lang="en-US" dirty="0"/>
              <a:t>The loop can be declared in a single statement, as seen below. This is similar to the if-else block, where we can write the code block in a single line</a:t>
            </a:r>
            <a:r>
              <a:rPr lang="en-US" dirty="0" smtClean="0"/>
              <a:t>.</a:t>
            </a:r>
          </a:p>
          <a:p>
            <a:endParaRPr lang="en-US" dirty="0"/>
          </a:p>
          <a:p>
            <a:r>
              <a:rPr lang="en-US" dirty="0"/>
              <a:t>Example</a:t>
            </a:r>
            <a:r>
              <a:rPr lang="en-US" dirty="0" smtClean="0"/>
              <a:t>:</a:t>
            </a:r>
          </a:p>
          <a:p>
            <a:pPr marL="0" indent="0">
              <a:buNone/>
            </a:pPr>
            <a:r>
              <a:rPr lang="en-US" dirty="0"/>
              <a:t>counter = 0  </a:t>
            </a:r>
          </a:p>
          <a:p>
            <a:pPr marL="0" indent="0">
              <a:buNone/>
            </a:pPr>
            <a:r>
              <a:rPr lang="en-US" dirty="0"/>
              <a:t>while (counter &lt; 3): counter+=1; print("Python Loops</a:t>
            </a:r>
            <a:r>
              <a:rPr lang="en-US" dirty="0" smtClean="0"/>
              <a:t>")</a:t>
            </a:r>
          </a:p>
          <a:p>
            <a:pPr marL="0" indent="0">
              <a:buNone/>
            </a:pPr>
            <a:endParaRPr lang="en-US" dirty="0" smtClean="0"/>
          </a:p>
          <a:p>
            <a:r>
              <a:rPr lang="en-US" dirty="0" smtClean="0"/>
              <a:t>Output:</a:t>
            </a:r>
          </a:p>
          <a:p>
            <a:pPr marL="0" indent="0">
              <a:buNone/>
            </a:pPr>
            <a:r>
              <a:rPr lang="en-US" dirty="0" smtClean="0"/>
              <a:t>Python Loops</a:t>
            </a:r>
          </a:p>
          <a:p>
            <a:pPr marL="0" indent="0">
              <a:buNone/>
            </a:pPr>
            <a:r>
              <a:rPr lang="en-US" dirty="0"/>
              <a:t>Python </a:t>
            </a:r>
            <a:r>
              <a:rPr lang="en-US" dirty="0" smtClean="0"/>
              <a:t>Loops</a:t>
            </a:r>
          </a:p>
          <a:p>
            <a:pPr marL="0" indent="0">
              <a:buNone/>
            </a:pPr>
            <a:r>
              <a:rPr lang="en-US" dirty="0"/>
              <a:t>Python </a:t>
            </a:r>
            <a:r>
              <a:rPr lang="en-US" dirty="0" smtClean="0"/>
              <a:t>Loops</a:t>
            </a:r>
            <a:endParaRPr lang="en-US" dirty="0"/>
          </a:p>
          <a:p>
            <a:pPr marL="0" indent="0">
              <a:buNone/>
            </a:pPr>
            <a:endParaRPr lang="en-US" dirty="0"/>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Single statement while Block</a:t>
            </a:r>
          </a:p>
        </p:txBody>
      </p:sp>
    </p:spTree>
    <p:extLst>
      <p:ext uri="{BB962C8B-B14F-4D97-AF65-F5344CB8AC3E}">
        <p14:creationId xmlns:p14="http://schemas.microsoft.com/office/powerpoint/2010/main" val="34805418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a:bodyPr>
          <a:lstStyle/>
          <a:p>
            <a:r>
              <a:rPr lang="en-US" dirty="0"/>
              <a:t>With the help of the range() function, we may produce a series of numbers. range(10) will produce values between 0 and 9. (10 numbers</a:t>
            </a:r>
            <a:r>
              <a:rPr lang="en-US" dirty="0" smtClean="0"/>
              <a:t>).</a:t>
            </a:r>
          </a:p>
          <a:p>
            <a:endParaRPr lang="en-US" dirty="0" smtClean="0"/>
          </a:p>
          <a:p>
            <a:r>
              <a:rPr lang="en-US" dirty="0"/>
              <a:t>We can give specific start, stop, and step size values in the manner range(start, stop, step size). If the step size is not specified, it defaults to 1</a:t>
            </a:r>
            <a:r>
              <a:rPr lang="en-US" dirty="0" smtClean="0"/>
              <a:t>.</a:t>
            </a:r>
          </a:p>
          <a:p>
            <a:endParaRPr lang="en-US" dirty="0" smtClean="0"/>
          </a:p>
          <a:p>
            <a:r>
              <a:rPr lang="en-US" dirty="0" smtClean="0"/>
              <a:t>The </a:t>
            </a:r>
            <a:r>
              <a:rPr lang="en-US" dirty="0"/>
              <a:t>range object can be characterized as being "</a:t>
            </a:r>
            <a:r>
              <a:rPr lang="en-US" dirty="0" smtClean="0"/>
              <a:t>slow“.</a:t>
            </a:r>
          </a:p>
          <a:p>
            <a:endParaRPr lang="en-US" dirty="0"/>
          </a:p>
          <a:p>
            <a:r>
              <a:rPr lang="en-US" dirty="0"/>
              <a:t>Example:  print(range(15</a:t>
            </a:r>
            <a:r>
              <a:rPr lang="en-US" dirty="0" smtClean="0"/>
              <a:t>))</a:t>
            </a:r>
          </a:p>
          <a:p>
            <a:pPr marL="0" indent="0">
              <a:buNone/>
            </a:pPr>
            <a:r>
              <a:rPr lang="en-US" dirty="0"/>
              <a:t>Output:  range(0, 15)</a:t>
            </a:r>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The range() Function</a:t>
            </a:r>
          </a:p>
        </p:txBody>
      </p:sp>
    </p:spTree>
    <p:extLst>
      <p:ext uri="{BB962C8B-B14F-4D97-AF65-F5344CB8AC3E}">
        <p14:creationId xmlns:p14="http://schemas.microsoft.com/office/powerpoint/2010/main" val="39206919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a:bodyPr>
          <a:lstStyle/>
          <a:p>
            <a:r>
              <a:rPr lang="en-US" dirty="0" smtClean="0"/>
              <a:t>Example</a:t>
            </a:r>
            <a:r>
              <a:rPr lang="en-US" dirty="0"/>
              <a:t>:  print(list(range(15</a:t>
            </a:r>
            <a:r>
              <a:rPr lang="en-US" dirty="0" smtClean="0"/>
              <a:t>)))</a:t>
            </a:r>
          </a:p>
          <a:p>
            <a:pPr marL="0" indent="0">
              <a:buNone/>
            </a:pPr>
            <a:r>
              <a:rPr lang="en-US" dirty="0"/>
              <a:t>Output:  [0, 1, 2, 3, 4, 5, 6, 7, 8, 9, 10, 11, 12, 13, 14</a:t>
            </a:r>
            <a:r>
              <a:rPr lang="en-US" dirty="0" smtClean="0"/>
              <a:t>]</a:t>
            </a:r>
          </a:p>
          <a:p>
            <a:pPr marL="0" indent="0">
              <a:buNone/>
            </a:pPr>
            <a:endParaRPr lang="en-US" dirty="0" smtClean="0"/>
          </a:p>
          <a:p>
            <a:r>
              <a:rPr lang="en-US" dirty="0"/>
              <a:t>Example:  print(list(range(4, 9</a:t>
            </a:r>
            <a:r>
              <a:rPr lang="en-US" dirty="0" smtClean="0"/>
              <a:t>)))</a:t>
            </a:r>
          </a:p>
          <a:p>
            <a:pPr marL="0" indent="0">
              <a:buNone/>
            </a:pPr>
            <a:r>
              <a:rPr lang="en-US" dirty="0"/>
              <a:t>Output: </a:t>
            </a:r>
            <a:r>
              <a:rPr lang="en-US" dirty="0" smtClean="0"/>
              <a:t> [</a:t>
            </a:r>
            <a:r>
              <a:rPr lang="en-US" dirty="0"/>
              <a:t>4, 5, 6, 7, 8] </a:t>
            </a:r>
            <a:endParaRPr lang="en-US" dirty="0" smtClean="0"/>
          </a:p>
          <a:p>
            <a:pPr marL="0" indent="0">
              <a:buNone/>
            </a:pPr>
            <a:endParaRPr lang="en-US" dirty="0" smtClean="0"/>
          </a:p>
          <a:p>
            <a:r>
              <a:rPr lang="en-US" dirty="0" smtClean="0"/>
              <a:t>Example:  print(list(range(5</a:t>
            </a:r>
            <a:r>
              <a:rPr lang="en-US" dirty="0"/>
              <a:t>, 25, 4</a:t>
            </a:r>
            <a:r>
              <a:rPr lang="en-US" dirty="0" smtClean="0"/>
              <a:t>)))</a:t>
            </a:r>
          </a:p>
          <a:p>
            <a:pPr marL="0" indent="0">
              <a:buNone/>
            </a:pPr>
            <a:r>
              <a:rPr lang="en-US" dirty="0"/>
              <a:t>Output: </a:t>
            </a:r>
            <a:r>
              <a:rPr lang="en-US" dirty="0" smtClean="0"/>
              <a:t> [</a:t>
            </a:r>
            <a:r>
              <a:rPr lang="en-US" dirty="0"/>
              <a:t>5, 9, 13, 17, 21]</a:t>
            </a:r>
            <a:endParaRPr lang="en-US" dirty="0" smtClean="0"/>
          </a:p>
          <a:p>
            <a:pPr marL="0" indent="0">
              <a:buNone/>
            </a:pPr>
            <a:endParaRPr lang="en-US" dirty="0" smtClean="0"/>
          </a:p>
        </p:txBody>
      </p:sp>
      <p:sp>
        <p:nvSpPr>
          <p:cNvPr id="4" name="Title 1"/>
          <p:cNvSpPr>
            <a:spLocks noGrp="1"/>
          </p:cNvSpPr>
          <p:nvPr>
            <p:ph type="title"/>
          </p:nvPr>
        </p:nvSpPr>
        <p:spPr>
          <a:xfrm>
            <a:off x="533400" y="381000"/>
            <a:ext cx="7924800" cy="609600"/>
          </a:xfrm>
        </p:spPr>
        <p:txBody>
          <a:bodyPr>
            <a:normAutofit fontScale="90000"/>
          </a:bodyPr>
          <a:lstStyle/>
          <a:p>
            <a:pPr algn="ctr"/>
            <a:r>
              <a:rPr lang="en-US" sz="4000" b="1" dirty="0"/>
              <a:t>The range() Function</a:t>
            </a:r>
          </a:p>
        </p:txBody>
      </p:sp>
    </p:spTree>
    <p:extLst>
      <p:ext uri="{BB962C8B-B14F-4D97-AF65-F5344CB8AC3E}">
        <p14:creationId xmlns:p14="http://schemas.microsoft.com/office/powerpoint/2010/main" val="40589301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a:bodyPr>
          <a:lstStyle/>
          <a:p>
            <a:r>
              <a:rPr lang="en-US" dirty="0" smtClean="0"/>
              <a:t>Example:</a:t>
            </a:r>
            <a:endParaRPr lang="en-US" dirty="0"/>
          </a:p>
          <a:p>
            <a:pPr marL="0" indent="0">
              <a:buNone/>
            </a:pPr>
            <a:r>
              <a:rPr lang="en-US" dirty="0"/>
              <a:t># print first 5 integers</a:t>
            </a:r>
          </a:p>
          <a:p>
            <a:pPr marL="0" indent="0">
              <a:buNone/>
            </a:pPr>
            <a:r>
              <a:rPr lang="en-US" dirty="0"/>
              <a:t># using python range() function</a:t>
            </a:r>
          </a:p>
          <a:p>
            <a:pPr marL="0" indent="0">
              <a:buNone/>
            </a:pPr>
            <a:r>
              <a:rPr lang="en-US" dirty="0"/>
              <a:t>for i in range(5):</a:t>
            </a:r>
          </a:p>
          <a:p>
            <a:pPr marL="0" indent="0">
              <a:buNone/>
            </a:pPr>
            <a:r>
              <a:rPr lang="en-US" dirty="0"/>
              <a:t>	print(i, end=" ")</a:t>
            </a:r>
          </a:p>
          <a:p>
            <a:pPr marL="0" indent="0">
              <a:buNone/>
            </a:pPr>
            <a:r>
              <a:rPr lang="en-US" dirty="0"/>
              <a:t>print()</a:t>
            </a:r>
          </a:p>
          <a:p>
            <a:pPr marL="0" indent="0">
              <a:buNone/>
            </a:pPr>
            <a:endParaRPr lang="en-US" dirty="0"/>
          </a:p>
          <a:p>
            <a:r>
              <a:rPr lang="en-US" dirty="0"/>
              <a:t>Output:</a:t>
            </a:r>
          </a:p>
          <a:p>
            <a:pPr marL="0" indent="0">
              <a:buNone/>
            </a:pPr>
            <a:r>
              <a:rPr lang="en-US" dirty="0"/>
              <a:t>0 1 2 3 4</a:t>
            </a:r>
            <a:endParaRPr lang="en-US" dirty="0" smtClean="0"/>
          </a:p>
        </p:txBody>
      </p:sp>
      <p:sp>
        <p:nvSpPr>
          <p:cNvPr id="4" name="Title 1"/>
          <p:cNvSpPr>
            <a:spLocks noGrp="1"/>
          </p:cNvSpPr>
          <p:nvPr>
            <p:ph type="title"/>
          </p:nvPr>
        </p:nvSpPr>
        <p:spPr>
          <a:xfrm>
            <a:off x="381000" y="381000"/>
            <a:ext cx="8305800" cy="609600"/>
          </a:xfrm>
        </p:spPr>
        <p:txBody>
          <a:bodyPr>
            <a:normAutofit fontScale="90000"/>
          </a:bodyPr>
          <a:lstStyle/>
          <a:p>
            <a:pPr algn="ctr"/>
            <a:r>
              <a:rPr lang="en-US" sz="4000" b="1" dirty="0"/>
              <a:t>For loop using range() function</a:t>
            </a:r>
          </a:p>
        </p:txBody>
      </p:sp>
    </p:spTree>
    <p:extLst>
      <p:ext uri="{BB962C8B-B14F-4D97-AF65-F5344CB8AC3E}">
        <p14:creationId xmlns:p14="http://schemas.microsoft.com/office/powerpoint/2010/main" val="35866961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a:bodyPr>
          <a:lstStyle/>
          <a:p>
            <a:r>
              <a:rPr lang="en-US" dirty="0"/>
              <a:t>It returns the control to the beginning of the loop</a:t>
            </a:r>
            <a:r>
              <a:rPr lang="en-US" dirty="0" smtClean="0"/>
              <a:t>.</a:t>
            </a:r>
          </a:p>
          <a:p>
            <a:endParaRPr lang="en-US" dirty="0" smtClean="0"/>
          </a:p>
          <a:p>
            <a:r>
              <a:rPr lang="en-US" dirty="0"/>
              <a:t>Syntax:</a:t>
            </a:r>
          </a:p>
          <a:p>
            <a:pPr marL="0" indent="0">
              <a:buNone/>
            </a:pPr>
            <a:r>
              <a:rPr lang="en-US" dirty="0"/>
              <a:t>while True / For x in range():</a:t>
            </a:r>
          </a:p>
          <a:p>
            <a:pPr marL="0" indent="0">
              <a:buNone/>
            </a:pPr>
            <a:r>
              <a:rPr lang="en-US" dirty="0"/>
              <a:t>    ...</a:t>
            </a:r>
          </a:p>
          <a:p>
            <a:pPr marL="0" indent="0">
              <a:buNone/>
            </a:pPr>
            <a:r>
              <a:rPr lang="en-US" dirty="0"/>
              <a:t>    if x == 10:</a:t>
            </a:r>
          </a:p>
          <a:p>
            <a:pPr marL="0" indent="0">
              <a:buNone/>
            </a:pPr>
            <a:r>
              <a:rPr lang="en-US" dirty="0"/>
              <a:t>        continue</a:t>
            </a:r>
          </a:p>
          <a:p>
            <a:pPr marL="0" indent="0">
              <a:buNone/>
            </a:pPr>
            <a:r>
              <a:rPr lang="en-US" dirty="0"/>
              <a:t>    print(x)</a:t>
            </a:r>
            <a:endParaRPr lang="en-US" dirty="0" smtClean="0"/>
          </a:p>
        </p:txBody>
      </p:sp>
      <p:sp>
        <p:nvSpPr>
          <p:cNvPr id="4" name="Title 1"/>
          <p:cNvSpPr>
            <a:spLocks noGrp="1"/>
          </p:cNvSpPr>
          <p:nvPr>
            <p:ph type="title"/>
          </p:nvPr>
        </p:nvSpPr>
        <p:spPr>
          <a:xfrm>
            <a:off x="381000" y="381000"/>
            <a:ext cx="8305800" cy="609600"/>
          </a:xfrm>
        </p:spPr>
        <p:txBody>
          <a:bodyPr>
            <a:normAutofit fontScale="90000"/>
          </a:bodyPr>
          <a:lstStyle/>
          <a:p>
            <a:pPr algn="ctr"/>
            <a:r>
              <a:rPr lang="en-US" sz="4000" b="1" dirty="0"/>
              <a:t>Continue </a:t>
            </a:r>
            <a:r>
              <a:rPr lang="en-US" sz="4000" b="1" dirty="0" smtClean="0"/>
              <a:t>Statement</a:t>
            </a:r>
            <a:endParaRPr lang="en-US" sz="4000" b="1" dirty="0"/>
          </a:p>
        </p:txBody>
      </p:sp>
    </p:spTree>
    <p:extLst>
      <p:ext uri="{BB962C8B-B14F-4D97-AF65-F5344CB8AC3E}">
        <p14:creationId xmlns:p14="http://schemas.microsoft.com/office/powerpoint/2010/main" val="27579050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fontScale="92500" lnSpcReduction="20000"/>
          </a:bodyPr>
          <a:lstStyle/>
          <a:p>
            <a:r>
              <a:rPr lang="en-US" dirty="0"/>
              <a:t>Example:</a:t>
            </a:r>
          </a:p>
          <a:p>
            <a:pPr marL="0" indent="0">
              <a:buNone/>
            </a:pPr>
            <a:r>
              <a:rPr lang="en-US" dirty="0"/>
              <a:t># loop from 1 to 10</a:t>
            </a:r>
          </a:p>
          <a:p>
            <a:pPr marL="0" indent="0">
              <a:buNone/>
            </a:pPr>
            <a:r>
              <a:rPr lang="en-US" dirty="0"/>
              <a:t>for i in range(1, 11):</a:t>
            </a:r>
          </a:p>
          <a:p>
            <a:pPr marL="0" indent="0">
              <a:buNone/>
            </a:pPr>
            <a:r>
              <a:rPr lang="en-US" dirty="0"/>
              <a:t> </a:t>
            </a:r>
          </a:p>
          <a:p>
            <a:pPr marL="0" indent="0">
              <a:buNone/>
            </a:pPr>
            <a:r>
              <a:rPr lang="en-US" dirty="0"/>
              <a:t>    # If i is equals to 6,</a:t>
            </a:r>
          </a:p>
          <a:p>
            <a:pPr marL="0" indent="0">
              <a:buNone/>
            </a:pPr>
            <a:r>
              <a:rPr lang="en-US" dirty="0"/>
              <a:t>    # continue to next iteration</a:t>
            </a:r>
          </a:p>
          <a:p>
            <a:pPr marL="0" indent="0">
              <a:buNone/>
            </a:pPr>
            <a:r>
              <a:rPr lang="en-US" dirty="0"/>
              <a:t>    # without printing</a:t>
            </a:r>
          </a:p>
          <a:p>
            <a:pPr marL="0" indent="0">
              <a:buNone/>
            </a:pPr>
            <a:r>
              <a:rPr lang="en-US" dirty="0"/>
              <a:t>    if i == 6:</a:t>
            </a:r>
          </a:p>
          <a:p>
            <a:pPr marL="0" indent="0">
              <a:buNone/>
            </a:pPr>
            <a:r>
              <a:rPr lang="en-US" dirty="0"/>
              <a:t>        continue</a:t>
            </a:r>
          </a:p>
          <a:p>
            <a:pPr marL="0" indent="0">
              <a:buNone/>
            </a:pPr>
            <a:r>
              <a:rPr lang="en-US" dirty="0"/>
              <a:t>    else:</a:t>
            </a:r>
          </a:p>
          <a:p>
            <a:pPr marL="0" indent="0">
              <a:buNone/>
            </a:pPr>
            <a:r>
              <a:rPr lang="en-US" dirty="0"/>
              <a:t>        # otherwise print the value</a:t>
            </a:r>
          </a:p>
          <a:p>
            <a:pPr marL="0" indent="0">
              <a:buNone/>
            </a:pPr>
            <a:r>
              <a:rPr lang="en-US" dirty="0"/>
              <a:t>        # of i</a:t>
            </a:r>
          </a:p>
          <a:p>
            <a:pPr marL="0" indent="0">
              <a:buNone/>
            </a:pPr>
            <a:r>
              <a:rPr lang="en-US" dirty="0"/>
              <a:t>        print(i, end=" ")</a:t>
            </a:r>
          </a:p>
          <a:p>
            <a:endParaRPr lang="en-US" dirty="0"/>
          </a:p>
          <a:p>
            <a:r>
              <a:rPr lang="en-US" dirty="0" smtClean="0"/>
              <a:t>Output:1 </a:t>
            </a:r>
            <a:r>
              <a:rPr lang="en-US" dirty="0"/>
              <a:t>2 3 4 5 7 8 9 10</a:t>
            </a:r>
            <a:endParaRPr lang="en-US" dirty="0" smtClean="0"/>
          </a:p>
        </p:txBody>
      </p:sp>
      <p:sp>
        <p:nvSpPr>
          <p:cNvPr id="4" name="Title 1"/>
          <p:cNvSpPr>
            <a:spLocks noGrp="1"/>
          </p:cNvSpPr>
          <p:nvPr>
            <p:ph type="title"/>
          </p:nvPr>
        </p:nvSpPr>
        <p:spPr>
          <a:xfrm>
            <a:off x="381000" y="381000"/>
            <a:ext cx="8305800" cy="609600"/>
          </a:xfrm>
        </p:spPr>
        <p:txBody>
          <a:bodyPr>
            <a:normAutofit fontScale="90000"/>
          </a:bodyPr>
          <a:lstStyle/>
          <a:p>
            <a:pPr algn="ctr"/>
            <a:r>
              <a:rPr lang="en-US" sz="4000" b="1" dirty="0"/>
              <a:t>Continue </a:t>
            </a:r>
            <a:r>
              <a:rPr lang="en-US" sz="4000" b="1" dirty="0" smtClean="0"/>
              <a:t>Statement</a:t>
            </a:r>
            <a:endParaRPr lang="en-US" sz="4000" b="1" dirty="0"/>
          </a:p>
        </p:txBody>
      </p:sp>
    </p:spTree>
    <p:extLst>
      <p:ext uri="{BB962C8B-B14F-4D97-AF65-F5344CB8AC3E}">
        <p14:creationId xmlns:p14="http://schemas.microsoft.com/office/powerpoint/2010/main" val="22124293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lnSpcReduction="10000"/>
          </a:bodyPr>
          <a:lstStyle/>
          <a:p>
            <a:r>
              <a:rPr lang="en-US" dirty="0"/>
              <a:t>It stops the execution of the loop when the break statement is reached</a:t>
            </a:r>
            <a:r>
              <a:rPr lang="en-US" dirty="0" smtClean="0"/>
              <a:t>.</a:t>
            </a:r>
          </a:p>
          <a:p>
            <a:r>
              <a:rPr lang="en-US" dirty="0"/>
              <a:t>Syntax</a:t>
            </a:r>
            <a:r>
              <a:rPr lang="en-US" dirty="0" smtClean="0"/>
              <a:t>:</a:t>
            </a:r>
          </a:p>
          <a:p>
            <a:pPr marL="0" indent="0">
              <a:buNone/>
            </a:pPr>
            <a:r>
              <a:rPr lang="en-US" dirty="0"/>
              <a:t>Loop{</a:t>
            </a:r>
          </a:p>
          <a:p>
            <a:pPr marL="0" indent="0">
              <a:buNone/>
            </a:pPr>
            <a:r>
              <a:rPr lang="en-US" dirty="0"/>
              <a:t>    Condition:</a:t>
            </a:r>
          </a:p>
          <a:p>
            <a:pPr marL="0" indent="0">
              <a:buNone/>
            </a:pPr>
            <a:r>
              <a:rPr lang="en-US" dirty="0"/>
              <a:t>        break</a:t>
            </a:r>
          </a:p>
          <a:p>
            <a:pPr marL="0" indent="0">
              <a:buNone/>
            </a:pPr>
            <a:r>
              <a:rPr lang="en-US" dirty="0"/>
              <a:t>        </a:t>
            </a:r>
            <a:r>
              <a:rPr lang="en-US" dirty="0" smtClean="0"/>
              <a:t>}</a:t>
            </a:r>
          </a:p>
          <a:p>
            <a:r>
              <a:rPr lang="en-US" dirty="0" smtClean="0"/>
              <a:t>Example:</a:t>
            </a:r>
          </a:p>
          <a:p>
            <a:pPr marL="0" indent="0">
              <a:buNone/>
            </a:pPr>
            <a:r>
              <a:rPr lang="en-US" dirty="0"/>
              <a:t>for i in range(10):</a:t>
            </a:r>
          </a:p>
          <a:p>
            <a:pPr marL="0" indent="0">
              <a:buNone/>
            </a:pPr>
            <a:r>
              <a:rPr lang="en-US" dirty="0"/>
              <a:t>    print(i)</a:t>
            </a:r>
          </a:p>
          <a:p>
            <a:pPr marL="0" indent="0">
              <a:buNone/>
            </a:pPr>
            <a:r>
              <a:rPr lang="en-US" dirty="0"/>
              <a:t>    if i == 2:</a:t>
            </a:r>
          </a:p>
          <a:p>
            <a:pPr marL="0" indent="0">
              <a:buNone/>
            </a:pPr>
            <a:r>
              <a:rPr lang="en-US" dirty="0"/>
              <a:t>        break</a:t>
            </a:r>
            <a:endParaRPr lang="en-US" dirty="0" smtClean="0"/>
          </a:p>
          <a:p>
            <a:r>
              <a:rPr lang="en-US" dirty="0" smtClean="0"/>
              <a:t>Output:  0  1  2</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Title 1"/>
          <p:cNvSpPr>
            <a:spLocks noGrp="1"/>
          </p:cNvSpPr>
          <p:nvPr>
            <p:ph type="title"/>
          </p:nvPr>
        </p:nvSpPr>
        <p:spPr>
          <a:xfrm>
            <a:off x="381000" y="381000"/>
            <a:ext cx="8305800" cy="609600"/>
          </a:xfrm>
        </p:spPr>
        <p:txBody>
          <a:bodyPr>
            <a:normAutofit fontScale="90000"/>
          </a:bodyPr>
          <a:lstStyle/>
          <a:p>
            <a:pPr algn="ctr"/>
            <a:r>
              <a:rPr lang="en-US" sz="4000" b="1" dirty="0"/>
              <a:t>Break Statement</a:t>
            </a:r>
          </a:p>
        </p:txBody>
      </p:sp>
    </p:spTree>
    <p:extLst>
      <p:ext uri="{BB962C8B-B14F-4D97-AF65-F5344CB8AC3E}">
        <p14:creationId xmlns:p14="http://schemas.microsoft.com/office/powerpoint/2010/main" val="21944030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848600" cy="5410200"/>
          </a:xfrm>
        </p:spPr>
        <p:txBody>
          <a:bodyPr>
            <a:normAutofit/>
          </a:bodyPr>
          <a:lstStyle/>
          <a:p>
            <a:r>
              <a:rPr lang="en-US" dirty="0"/>
              <a:t>Pass statements are used to create empty loops. Pass statement is also employed for classes, functions, and empty control statements</a:t>
            </a:r>
            <a:r>
              <a:rPr lang="en-US" dirty="0" smtClean="0"/>
              <a:t>.</a:t>
            </a:r>
          </a:p>
          <a:p>
            <a:r>
              <a:rPr lang="en-US" dirty="0" smtClean="0"/>
              <a:t>Example</a:t>
            </a:r>
            <a:r>
              <a:rPr lang="en-US" dirty="0"/>
              <a:t>:</a:t>
            </a:r>
          </a:p>
          <a:p>
            <a:pPr marL="0" indent="0">
              <a:buNone/>
            </a:pPr>
            <a:r>
              <a:rPr lang="en-US" dirty="0"/>
              <a:t>a = 10</a:t>
            </a:r>
          </a:p>
          <a:p>
            <a:pPr marL="0" indent="0">
              <a:buNone/>
            </a:pPr>
            <a:r>
              <a:rPr lang="en-US" dirty="0"/>
              <a:t>b = </a:t>
            </a:r>
            <a:r>
              <a:rPr lang="en-US" dirty="0" smtClean="0"/>
              <a:t>20</a:t>
            </a:r>
            <a:endParaRPr lang="en-US" dirty="0"/>
          </a:p>
          <a:p>
            <a:pPr marL="0" indent="0">
              <a:buNone/>
            </a:pPr>
            <a:r>
              <a:rPr lang="en-US" dirty="0"/>
              <a:t>if(a&lt;b</a:t>
            </a:r>
            <a:r>
              <a:rPr lang="en-US" dirty="0" smtClean="0"/>
              <a:t>):</a:t>
            </a:r>
          </a:p>
          <a:p>
            <a:pPr marL="0" indent="0">
              <a:buNone/>
            </a:pPr>
            <a:r>
              <a:rPr lang="en-US" dirty="0"/>
              <a:t>	</a:t>
            </a:r>
            <a:r>
              <a:rPr lang="en-US" dirty="0" smtClean="0"/>
              <a:t>pass</a:t>
            </a:r>
            <a:endParaRPr lang="en-US" dirty="0"/>
          </a:p>
          <a:p>
            <a:pPr marL="0" indent="0">
              <a:buNone/>
            </a:pPr>
            <a:r>
              <a:rPr lang="en-US" dirty="0"/>
              <a:t>else:</a:t>
            </a:r>
          </a:p>
          <a:p>
            <a:pPr marL="0" indent="0">
              <a:buNone/>
            </a:pPr>
            <a:r>
              <a:rPr lang="en-US" dirty="0" smtClean="0"/>
              <a:t>	print</a:t>
            </a:r>
            <a:r>
              <a:rPr lang="en-US" dirty="0"/>
              <a:t>("b&lt;a")</a:t>
            </a: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Title 1"/>
          <p:cNvSpPr>
            <a:spLocks noGrp="1"/>
          </p:cNvSpPr>
          <p:nvPr>
            <p:ph type="title"/>
          </p:nvPr>
        </p:nvSpPr>
        <p:spPr>
          <a:xfrm>
            <a:off x="381000" y="381000"/>
            <a:ext cx="8305800" cy="609600"/>
          </a:xfrm>
        </p:spPr>
        <p:txBody>
          <a:bodyPr>
            <a:normAutofit fontScale="90000"/>
          </a:bodyPr>
          <a:lstStyle/>
          <a:p>
            <a:pPr algn="ctr"/>
            <a:r>
              <a:rPr lang="en-US" sz="4000" b="1" dirty="0"/>
              <a:t>Pass Statement</a:t>
            </a:r>
          </a:p>
        </p:txBody>
      </p:sp>
    </p:spTree>
    <p:extLst>
      <p:ext uri="{BB962C8B-B14F-4D97-AF65-F5344CB8AC3E}">
        <p14:creationId xmlns:p14="http://schemas.microsoft.com/office/powerpoint/2010/main" val="34024713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1089</TotalTime>
  <Words>3939</Words>
  <Application>Microsoft Office PowerPoint</Application>
  <PresentationFormat>On-screen Show (4:3)</PresentationFormat>
  <Paragraphs>692</Paragraphs>
  <Slides>70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Century Schoolbook</vt:lpstr>
      <vt:lpstr>Wingdings</vt:lpstr>
      <vt:lpstr>Wingdings 2</vt:lpstr>
      <vt:lpstr>Oriel</vt:lpstr>
      <vt:lpstr>Python Programming</vt:lpstr>
      <vt:lpstr>Python Introduction</vt:lpstr>
      <vt:lpstr>Why Python?</vt:lpstr>
      <vt:lpstr>Advantages Of Python</vt:lpstr>
      <vt:lpstr>Advantages Of Python</vt:lpstr>
      <vt:lpstr>Advantages Of Python</vt:lpstr>
      <vt:lpstr>Advantages Of Python</vt:lpstr>
      <vt:lpstr>Uses Of Python</vt:lpstr>
      <vt:lpstr>Introduction to Jupyter</vt:lpstr>
      <vt:lpstr>Introduction to Jupyter</vt:lpstr>
      <vt:lpstr>Introduction to Jupyter</vt:lpstr>
      <vt:lpstr>Introduction to Jupyter</vt:lpstr>
      <vt:lpstr>Basic Datatypes</vt:lpstr>
      <vt:lpstr>Basic Datatypes</vt:lpstr>
      <vt:lpstr>Integer</vt:lpstr>
      <vt:lpstr>Float</vt:lpstr>
      <vt:lpstr>String</vt:lpstr>
      <vt:lpstr>Type Function</vt:lpstr>
      <vt:lpstr>Boolean </vt:lpstr>
      <vt:lpstr>Type Casting </vt:lpstr>
      <vt:lpstr>Implicit Type Casting </vt:lpstr>
      <vt:lpstr>Explicit Type Casting </vt:lpstr>
      <vt:lpstr>Type Casting Int To Float</vt:lpstr>
      <vt:lpstr>Type Casting Float To Int</vt:lpstr>
      <vt:lpstr>Type Casting Int To String</vt:lpstr>
      <vt:lpstr>Type Casting String To Int</vt:lpstr>
      <vt:lpstr>Type Casting String To Float</vt:lpstr>
      <vt:lpstr>Arithmetic Operator</vt:lpstr>
      <vt:lpstr>Assignment Operator</vt:lpstr>
      <vt:lpstr>Assignment Operator</vt:lpstr>
      <vt:lpstr>Comparison Operator</vt:lpstr>
      <vt:lpstr>Logical Operator</vt:lpstr>
      <vt:lpstr>Identity Operator</vt:lpstr>
      <vt:lpstr>Membership Operator</vt:lpstr>
      <vt:lpstr>Bitwise Operator</vt:lpstr>
      <vt:lpstr>Ternary Operator</vt:lpstr>
      <vt:lpstr>Operator Precedence</vt:lpstr>
      <vt:lpstr>Operator Precedence</vt:lpstr>
      <vt:lpstr>Basic Programming Style</vt:lpstr>
      <vt:lpstr>Basic Programming Style</vt:lpstr>
      <vt:lpstr>Memory Allocation in Python</vt:lpstr>
      <vt:lpstr>Stack Memory</vt:lpstr>
      <vt:lpstr>Stack Memory</vt:lpstr>
      <vt:lpstr>Heap Memory</vt:lpstr>
      <vt:lpstr>Heap Memory</vt:lpstr>
      <vt:lpstr>Identation</vt:lpstr>
      <vt:lpstr>Simple If Statement</vt:lpstr>
      <vt:lpstr>If Else Statement</vt:lpstr>
      <vt:lpstr>If Elif Else Statement</vt:lpstr>
      <vt:lpstr>Nested If</vt:lpstr>
      <vt:lpstr>Short Hand If</vt:lpstr>
      <vt:lpstr>Short Hand If Else</vt:lpstr>
      <vt:lpstr>Short Hand If Else</vt:lpstr>
      <vt:lpstr>Some Examples of If Else Statement</vt:lpstr>
      <vt:lpstr>For Loop</vt:lpstr>
      <vt:lpstr>For Loop</vt:lpstr>
      <vt:lpstr>Using else Statement with for Loop</vt:lpstr>
      <vt:lpstr>Using else Statement with for Loop</vt:lpstr>
      <vt:lpstr>While Loop</vt:lpstr>
      <vt:lpstr>While Loop</vt:lpstr>
      <vt:lpstr>Using else Statement with while Loops</vt:lpstr>
      <vt:lpstr>Using else Statement with while Loops</vt:lpstr>
      <vt:lpstr>Single statement while Block</vt:lpstr>
      <vt:lpstr>The range() Function</vt:lpstr>
      <vt:lpstr>The range() Function</vt:lpstr>
      <vt:lpstr>For loop using range() function</vt:lpstr>
      <vt:lpstr>Continue Statement</vt:lpstr>
      <vt:lpstr>Continue Statement</vt:lpstr>
      <vt:lpstr>Break Statement</vt:lpstr>
      <vt:lpstr>Pass Statement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dc:title>
  <dc:creator>Admin</dc:creator>
  <cp:lastModifiedBy>Admin</cp:lastModifiedBy>
  <cp:revision>119</cp:revision>
  <dcterms:created xsi:type="dcterms:W3CDTF">2022-12-07T08:20:55Z</dcterms:created>
  <dcterms:modified xsi:type="dcterms:W3CDTF">2024-12-17T06:01:48Z</dcterms:modified>
</cp:coreProperties>
</file>