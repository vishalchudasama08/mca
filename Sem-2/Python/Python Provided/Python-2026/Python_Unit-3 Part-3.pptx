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2" d="100"/>
          <a:sy n="92" d="100"/>
        </p:scale>
        <p:origin x="4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71730F4-68D8-416B-97C3-C8919E193E26}"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2119631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1730F4-68D8-416B-97C3-C8919E193E26}"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2577704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1730F4-68D8-416B-97C3-C8919E193E26}"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56910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71730F4-68D8-416B-97C3-C8919E193E26}"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2205688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71730F4-68D8-416B-97C3-C8919E193E26}" type="datetimeFigureOut">
              <a:rPr lang="en-IN" smtClean="0"/>
              <a:t>28-02-2026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3342128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71730F4-68D8-416B-97C3-C8919E193E26}" type="datetimeFigureOut">
              <a:rPr lang="en-IN" smtClean="0"/>
              <a:t>28-02-2026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1116823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1730F4-68D8-416B-97C3-C8919E193E26}" type="datetimeFigureOut">
              <a:rPr lang="en-IN" smtClean="0"/>
              <a:t>28-02-2026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294806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1730F4-68D8-416B-97C3-C8919E193E26}"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1196140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1730F4-68D8-416B-97C3-C8919E193E26}" type="datetimeFigureOut">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1703927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1730F4-68D8-416B-97C3-C8919E193E26}"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1031052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71730F4-68D8-416B-97C3-C8919E193E26}" type="datetimeFigureOut">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575D4B-D11B-4E47-A03F-0A24738AEA9C}" type="slidenum">
              <a:rPr lang="en-IN" smtClean="0"/>
              <a:t>‹#›</a:t>
            </a:fld>
            <a:endParaRPr lang="en-IN"/>
          </a:p>
        </p:txBody>
      </p:sp>
    </p:spTree>
    <p:extLst>
      <p:ext uri="{BB962C8B-B14F-4D97-AF65-F5344CB8AC3E}">
        <p14:creationId xmlns:p14="http://schemas.microsoft.com/office/powerpoint/2010/main" val="4157907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730F4-68D8-416B-97C3-C8919E193E26}" type="datetimeFigureOut">
              <a:rPr lang="en-IN" smtClean="0"/>
              <a:t>28-02-2026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575D4B-D11B-4E47-A03F-0A24738AEA9C}" type="slidenum">
              <a:rPr lang="en-IN" smtClean="0"/>
              <a:t>‹#›</a:t>
            </a:fld>
            <a:endParaRPr lang="en-IN"/>
          </a:p>
        </p:txBody>
      </p:sp>
    </p:spTree>
    <p:extLst>
      <p:ext uri="{BB962C8B-B14F-4D97-AF65-F5344CB8AC3E}">
        <p14:creationId xmlns:p14="http://schemas.microsoft.com/office/powerpoint/2010/main" val="116641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Unit-3 Part III</a:t>
            </a:r>
            <a:br>
              <a:rPr lang="en-US" dirty="0" smtClean="0"/>
            </a:br>
            <a:r>
              <a:rPr lang="en-US" dirty="0" smtClean="0"/>
              <a:t>File Handling in Python</a:t>
            </a:r>
            <a:endParaRPr lang="en-IN" dirty="0"/>
          </a:p>
        </p:txBody>
      </p:sp>
    </p:spTree>
    <p:extLst>
      <p:ext uri="{BB962C8B-B14F-4D97-AF65-F5344CB8AC3E}">
        <p14:creationId xmlns:p14="http://schemas.microsoft.com/office/powerpoint/2010/main" val="6850729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Handling-</a:t>
            </a:r>
            <a:endParaRPr lang="en-IN" dirty="0"/>
          </a:p>
        </p:txBody>
      </p:sp>
      <p:sp>
        <p:nvSpPr>
          <p:cNvPr id="3" name="Content Placeholder 2"/>
          <p:cNvSpPr>
            <a:spLocks noGrp="1"/>
          </p:cNvSpPr>
          <p:nvPr>
            <p:ph idx="1"/>
          </p:nvPr>
        </p:nvSpPr>
        <p:spPr/>
        <p:txBody>
          <a:bodyPr/>
          <a:lstStyle/>
          <a:p>
            <a:r>
              <a:rPr lang="en-IN" dirty="0"/>
              <a:t>Sometimes, it is not enough to only display the data on the console. The data to be displayed may be very large, and only a limited amount of data can be displayed on the console since the memory is volatile, it is impossible to recover the programmatically generated data again and again.</a:t>
            </a:r>
          </a:p>
          <a:p>
            <a:r>
              <a:rPr lang="en-IN" dirty="0"/>
              <a:t>The file handling plays an important role when the data needs to be stored permanently into the file. A file is a named location on disk to store related information. We can access the stored information (non-volatile) after the program termination.</a:t>
            </a:r>
          </a:p>
          <a:p>
            <a:endParaRPr lang="en-IN" dirty="0"/>
          </a:p>
        </p:txBody>
      </p:sp>
    </p:spTree>
    <p:extLst>
      <p:ext uri="{BB962C8B-B14F-4D97-AF65-F5344CB8AC3E}">
        <p14:creationId xmlns:p14="http://schemas.microsoft.com/office/powerpoint/2010/main" val="12789727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a:t>
            </a:r>
            <a:endParaRPr lang="en-IN" dirty="0"/>
          </a:p>
        </p:txBody>
      </p:sp>
      <p:sp>
        <p:nvSpPr>
          <p:cNvPr id="3" name="Content Placeholder 2"/>
          <p:cNvSpPr>
            <a:spLocks noGrp="1"/>
          </p:cNvSpPr>
          <p:nvPr>
            <p:ph idx="1"/>
          </p:nvPr>
        </p:nvSpPr>
        <p:spPr/>
        <p:txBody>
          <a:bodyPr/>
          <a:lstStyle/>
          <a:p>
            <a:pPr marL="0" indent="0">
              <a:buNone/>
            </a:pPr>
            <a:r>
              <a:rPr lang="en-IN" dirty="0"/>
              <a:t>In Python, files are treated in two modes as text or binary. The file may be in the text or binary format, and each line of a file is ended with the special character.</a:t>
            </a:r>
          </a:p>
          <a:p>
            <a:pPr marL="0" indent="0">
              <a:buNone/>
            </a:pPr>
            <a:r>
              <a:rPr lang="en-IN" dirty="0"/>
              <a:t>Hence, a file operation can be done in the following order.</a:t>
            </a:r>
          </a:p>
          <a:p>
            <a:r>
              <a:rPr lang="en-IN" dirty="0"/>
              <a:t>Open a file</a:t>
            </a:r>
          </a:p>
          <a:p>
            <a:r>
              <a:rPr lang="en-IN" dirty="0"/>
              <a:t>Read or write - Performing operation</a:t>
            </a:r>
          </a:p>
          <a:p>
            <a:r>
              <a:rPr lang="en-IN" dirty="0"/>
              <a:t>Close the file</a:t>
            </a:r>
          </a:p>
          <a:p>
            <a:pPr marL="0" indent="0">
              <a:buNone/>
            </a:pPr>
            <a:endParaRPr lang="en-IN" dirty="0"/>
          </a:p>
        </p:txBody>
      </p:sp>
    </p:spTree>
    <p:extLst>
      <p:ext uri="{BB962C8B-B14F-4D97-AF65-F5344CB8AC3E}">
        <p14:creationId xmlns:p14="http://schemas.microsoft.com/office/powerpoint/2010/main" val="26553725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Opening a </a:t>
            </a:r>
            <a:r>
              <a:rPr lang="en-IN" dirty="0" smtClean="0"/>
              <a:t>file-</a:t>
            </a:r>
            <a:r>
              <a:rPr lang="en-IN" dirty="0"/>
              <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Python provides an </a:t>
            </a:r>
            <a:r>
              <a:rPr lang="en-IN" b="1" dirty="0"/>
              <a:t>open()</a:t>
            </a:r>
            <a:r>
              <a:rPr lang="en-IN" dirty="0"/>
              <a:t> function that accepts two arguments, file name and access mode in which the file is accessed. The function returns a file object which can be used to perform various operations like reading, writing, etc.</a:t>
            </a:r>
          </a:p>
          <a:p>
            <a:pPr marL="0" indent="0">
              <a:buNone/>
            </a:pPr>
            <a:r>
              <a:rPr lang="en-IN" b="1" dirty="0"/>
              <a:t>Syntax:</a:t>
            </a:r>
            <a:endParaRPr lang="en-IN" dirty="0"/>
          </a:p>
          <a:p>
            <a:pPr marL="0" indent="0">
              <a:buNone/>
            </a:pPr>
            <a:r>
              <a:rPr lang="en-IN" dirty="0"/>
              <a:t>file object = open(&lt;file-name&gt;, &lt;</a:t>
            </a:r>
            <a:r>
              <a:rPr lang="en-IN"/>
              <a:t>access-mode</a:t>
            </a:r>
            <a:r>
              <a:rPr lang="en-IN" smtClean="0"/>
              <a:t>&gt;)</a:t>
            </a:r>
            <a:r>
              <a:rPr lang="en-IN" dirty="0"/>
              <a:t>     </a:t>
            </a:r>
          </a:p>
          <a:p>
            <a:pPr marL="0" indent="0">
              <a:buNone/>
            </a:pPr>
            <a:r>
              <a:rPr lang="en-IN" dirty="0"/>
              <a:t>The files can be accessed using various modes like read, write, or append.</a:t>
            </a:r>
          </a:p>
          <a:p>
            <a:pPr marL="0" indent="0">
              <a:buNone/>
            </a:pPr>
            <a:endParaRPr lang="en-IN" dirty="0"/>
          </a:p>
        </p:txBody>
      </p:sp>
    </p:spTree>
    <p:extLst>
      <p:ext uri="{BB962C8B-B14F-4D97-AF65-F5344CB8AC3E}">
        <p14:creationId xmlns:p14="http://schemas.microsoft.com/office/powerpoint/2010/main" val="16889436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08D7ABE6-B423-9840-97C8-D4683809B6AC}"/>
              </a:ext>
            </a:extLst>
          </p:cNvPr>
          <p:cNvGraphicFramePr>
            <a:graphicFrameLocks noGrp="1"/>
          </p:cNvGraphicFramePr>
          <p:nvPr>
            <p:extLst/>
          </p:nvPr>
        </p:nvGraphicFramePr>
        <p:xfrm>
          <a:off x="1184988" y="1838131"/>
          <a:ext cx="9918441" cy="4413351"/>
        </p:xfrm>
        <a:graphic>
          <a:graphicData uri="http://schemas.openxmlformats.org/drawingml/2006/table">
            <a:tbl>
              <a:tblPr/>
              <a:tblGrid>
                <a:gridCol w="1010212">
                  <a:extLst>
                    <a:ext uri="{9D8B030D-6E8A-4147-A177-3AD203B41FA5}">
                      <a16:colId xmlns:a16="http://schemas.microsoft.com/office/drawing/2014/main" xmlns="" val="2437683735"/>
                    </a:ext>
                  </a:extLst>
                </a:gridCol>
                <a:gridCol w="8908229">
                  <a:extLst>
                    <a:ext uri="{9D8B030D-6E8A-4147-A177-3AD203B41FA5}">
                      <a16:colId xmlns:a16="http://schemas.microsoft.com/office/drawing/2014/main" xmlns="" val="2167524065"/>
                    </a:ext>
                  </a:extLst>
                </a:gridCol>
              </a:tblGrid>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Modes</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Description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2360509522"/>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r</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reading only. The file pointer is placed at the beginning of the file. This is the default mode.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3746578898"/>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Verdana" panose="020B0604030504040204" pitchFamily="34" charset="0"/>
                          <a:cs typeface="Lucida Sans Unicode" panose="020B0602030504020204" pitchFamily="34" charset="0"/>
                        </a:rPr>
                        <a:t>rb</a:t>
                      </a:r>
                      <a:endPar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reading only in binary format. The file pointer is placed at the beginning of the file. This is the default mode.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25652428"/>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r+</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Opens a file for both reading and writing. The file pointer will be at the beginning of the file.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2020553580"/>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rb+</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Opens a file for both reading and writing in binary format. The file pointer will be at the beginning of the file.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3128136950"/>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w</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Opens a file for writing only. Overwrites the file if the file exists. If the file does not exist, creates a new file for writing.</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486788943"/>
                  </a:ext>
                </a:extLst>
              </a:tr>
              <a:tr h="51973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wb</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Opens a file for writing only in binary format. Overwrites the file if the file exists. If the file does not exist, creates a new file for writing.</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335886920"/>
                  </a:ext>
                </a:extLst>
              </a:tr>
              <a:tr h="77522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w+</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both writing and reading. Overwrites the existing file if the file exists. If the file does not exist, creates a new file for reading and writing.</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3163200749"/>
                  </a:ext>
                </a:extLst>
              </a:tr>
            </a:tbl>
          </a:graphicData>
        </a:graphic>
      </p:graphicFrame>
      <p:sp>
        <p:nvSpPr>
          <p:cNvPr id="6" name="TextBox 5">
            <a:extLst>
              <a:ext uri="{FF2B5EF4-FFF2-40B4-BE49-F238E27FC236}">
                <a16:creationId xmlns:a16="http://schemas.microsoft.com/office/drawing/2014/main" xmlns="" id="{102A8EEB-218E-E924-0153-51B56B548892}"/>
              </a:ext>
            </a:extLst>
          </p:cNvPr>
          <p:cNvSpPr txBox="1"/>
          <p:nvPr/>
        </p:nvSpPr>
        <p:spPr>
          <a:xfrm>
            <a:off x="1059018" y="900390"/>
            <a:ext cx="5547055" cy="701731"/>
          </a:xfrm>
          <a:prstGeom prst="rect">
            <a:avLst/>
          </a:prstGeom>
          <a:noFill/>
        </p:spPr>
        <p:txBody>
          <a:bodyPr wrap="square" rtlCol="0">
            <a:spAutoFit/>
          </a:bodyPr>
          <a:lstStyle/>
          <a:p>
            <a:pPr>
              <a:lnSpc>
                <a:spcPct val="90000"/>
              </a:lnSpc>
              <a:spcBef>
                <a:spcPct val="0"/>
              </a:spcBef>
            </a:pPr>
            <a:r>
              <a:rPr lang="en-US" sz="4400" dirty="0">
                <a:latin typeface="+mj-lt"/>
                <a:ea typeface="+mj-ea"/>
                <a:cs typeface="+mj-cs"/>
              </a:rPr>
              <a:t>File Opening Modes</a:t>
            </a:r>
            <a:endParaRPr lang="en-IN" sz="4400" dirty="0">
              <a:latin typeface="+mj-lt"/>
              <a:ea typeface="+mj-ea"/>
              <a:cs typeface="+mj-cs"/>
            </a:endParaRPr>
          </a:p>
        </p:txBody>
      </p:sp>
    </p:spTree>
    <p:extLst>
      <p:ext uri="{BB962C8B-B14F-4D97-AF65-F5344CB8AC3E}">
        <p14:creationId xmlns:p14="http://schemas.microsoft.com/office/powerpoint/2010/main" val="28762683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1DE50D56-E570-D061-F596-5E6F92E95417}"/>
              </a:ext>
            </a:extLst>
          </p:cNvPr>
          <p:cNvGraphicFramePr>
            <a:graphicFrameLocks noGrp="1"/>
          </p:cNvGraphicFramePr>
          <p:nvPr>
            <p:extLst/>
          </p:nvPr>
        </p:nvGraphicFramePr>
        <p:xfrm>
          <a:off x="1175657" y="1819465"/>
          <a:ext cx="9983755" cy="4640855"/>
        </p:xfrm>
        <a:graphic>
          <a:graphicData uri="http://schemas.openxmlformats.org/drawingml/2006/table">
            <a:tbl>
              <a:tblPr/>
              <a:tblGrid>
                <a:gridCol w="831980">
                  <a:extLst>
                    <a:ext uri="{9D8B030D-6E8A-4147-A177-3AD203B41FA5}">
                      <a16:colId xmlns:a16="http://schemas.microsoft.com/office/drawing/2014/main" xmlns="" val="1121148970"/>
                    </a:ext>
                  </a:extLst>
                </a:gridCol>
                <a:gridCol w="9151775">
                  <a:extLst>
                    <a:ext uri="{9D8B030D-6E8A-4147-A177-3AD203B41FA5}">
                      <a16:colId xmlns:a16="http://schemas.microsoft.com/office/drawing/2014/main" xmlns="" val="1580562403"/>
                    </a:ext>
                  </a:extLst>
                </a:gridCol>
              </a:tblGrid>
              <a:tr h="801636">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000000"/>
                          </a:solidFill>
                          <a:effectLst/>
                          <a:latin typeface="Verdana" panose="020B0604030504040204" pitchFamily="34" charset="0"/>
                          <a:cs typeface="Lucida Sans Unicode" panose="020B0602030504020204" pitchFamily="34" charset="0"/>
                        </a:rPr>
                        <a:t>wb</a:t>
                      </a: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Opens a file for both writing and reading in binary format. Overwrites the existing file if the file exists. If the file does not exist, creates a new file for reading and writing.</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730190527"/>
                  </a:ext>
                </a:extLst>
              </a:tr>
              <a:tr h="93705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a</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appending. The file pointer is at the end of the file if the file exists. That is, the file is in the append mode. If the file does not exist, it creates a new file for writing.</a:t>
                      </a:r>
                    </a:p>
                    <a:p>
                      <a:pPr marL="0" marR="0" lvl="0" indent="0" algn="l" defTabSz="914400" rtl="0" eaLnBrk="1" fontAlgn="t"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1103819796"/>
                  </a:ext>
                </a:extLst>
              </a:tr>
              <a:tr h="93705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ab</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appending in binary format. The file pointer is at the end of the file if the file exists. That is, the file is in the append mode. If the file does not exist, it creates a new file for writing.</a:t>
                      </a:r>
                    </a:p>
                    <a:p>
                      <a:pPr marL="0" marR="0" lvl="0" indent="0" algn="l" defTabSz="914400" rtl="0" eaLnBrk="1" fontAlgn="t"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2156709551"/>
                  </a:ext>
                </a:extLst>
              </a:tr>
              <a:tr h="937053">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a+</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both appending and reading. The file pointer is at the end of the file if the file exists. The file opens in the append mode. If the file does not exist, it creates a new file for reading and writing.</a:t>
                      </a:r>
                    </a:p>
                    <a:p>
                      <a:pPr marL="0" marR="0" lvl="0" indent="0" algn="l" defTabSz="914400" rtl="0" eaLnBrk="1" fontAlgn="t"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xmlns="" val="796670593"/>
                  </a:ext>
                </a:extLst>
              </a:tr>
              <a:tr h="884564">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Verdana" panose="020B0604030504040204" pitchFamily="34" charset="0"/>
                          <a:cs typeface="Lucida Sans Unicode" panose="020B0602030504020204" pitchFamily="34" charset="0"/>
                        </a:rPr>
                        <a:t>ab+</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cs typeface="Lucida Sans Unicode" panose="020B0602030504020204" pitchFamily="34" charset="0"/>
                        </a:rPr>
                        <a:t>Opens a file for both appending and reading in binary format. The file pointer is at the end of the file if the file exists. The file opens in the append mode. If the file does not exist, it creates a new file for reading and writing.</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xmlns="" val="675456938"/>
                  </a:ext>
                </a:extLst>
              </a:tr>
            </a:tbl>
          </a:graphicData>
        </a:graphic>
      </p:graphicFrame>
      <p:sp>
        <p:nvSpPr>
          <p:cNvPr id="5" name="TextBox 4">
            <a:extLst>
              <a:ext uri="{FF2B5EF4-FFF2-40B4-BE49-F238E27FC236}">
                <a16:creationId xmlns:a16="http://schemas.microsoft.com/office/drawing/2014/main" xmlns="" id="{F78F896A-90EB-5E21-8290-55F14CFD9F09}"/>
              </a:ext>
            </a:extLst>
          </p:cNvPr>
          <p:cNvSpPr txBox="1"/>
          <p:nvPr/>
        </p:nvSpPr>
        <p:spPr>
          <a:xfrm>
            <a:off x="1059018" y="900390"/>
            <a:ext cx="5547055" cy="769441"/>
          </a:xfrm>
          <a:prstGeom prst="rect">
            <a:avLst/>
          </a:prstGeom>
          <a:noFill/>
        </p:spPr>
        <p:txBody>
          <a:bodyPr wrap="square" rtlCol="0">
            <a:spAutoFit/>
          </a:bodyPr>
          <a:lstStyle/>
          <a:p>
            <a:r>
              <a:rPr lang="en-US" sz="4400" dirty="0">
                <a:latin typeface="+mj-lt"/>
                <a:ea typeface="+mj-ea"/>
                <a:cs typeface="+mj-cs"/>
              </a:rPr>
              <a:t>File Opening Modes</a:t>
            </a:r>
            <a:endParaRPr lang="en-IN" sz="4400" dirty="0">
              <a:latin typeface="+mj-lt"/>
              <a:ea typeface="+mj-ea"/>
              <a:cs typeface="+mj-cs"/>
            </a:endParaRPr>
          </a:p>
        </p:txBody>
      </p:sp>
    </p:spTree>
    <p:extLst>
      <p:ext uri="{BB962C8B-B14F-4D97-AF65-F5344CB8AC3E}">
        <p14:creationId xmlns:p14="http://schemas.microsoft.com/office/powerpoint/2010/main" val="158508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err="1"/>
              <a:t>fileptr</a:t>
            </a:r>
            <a:r>
              <a:rPr lang="en-IN" dirty="0"/>
              <a:t> = open("</a:t>
            </a:r>
            <a:r>
              <a:rPr lang="en-IN" dirty="0" err="1"/>
              <a:t>file.txt","r</a:t>
            </a:r>
            <a:r>
              <a:rPr lang="en-IN" dirty="0"/>
              <a:t>")    </a:t>
            </a:r>
          </a:p>
          <a:p>
            <a:pPr marL="0" indent="0">
              <a:buNone/>
            </a:pPr>
            <a:r>
              <a:rPr lang="en-IN" dirty="0"/>
              <a:t>    </a:t>
            </a:r>
          </a:p>
          <a:p>
            <a:pPr marL="0" indent="0">
              <a:buNone/>
            </a:pPr>
            <a:r>
              <a:rPr lang="en-IN" b="1" dirty="0"/>
              <a:t>if</a:t>
            </a:r>
            <a:r>
              <a:rPr lang="en-IN" dirty="0"/>
              <a:t> </a:t>
            </a:r>
            <a:r>
              <a:rPr lang="en-IN" dirty="0" err="1"/>
              <a:t>fileptr</a:t>
            </a:r>
            <a:r>
              <a:rPr lang="en-IN" dirty="0"/>
              <a:t>:    </a:t>
            </a:r>
          </a:p>
          <a:p>
            <a:pPr marL="0" indent="0">
              <a:buNone/>
            </a:pPr>
            <a:r>
              <a:rPr lang="en-IN" dirty="0"/>
              <a:t>    </a:t>
            </a:r>
            <a:r>
              <a:rPr lang="en-IN" b="1" dirty="0"/>
              <a:t>print</a:t>
            </a:r>
            <a:r>
              <a:rPr lang="en-IN" dirty="0"/>
              <a:t>("file is opened successfully")    </a:t>
            </a:r>
          </a:p>
          <a:p>
            <a:pPr marL="0" indent="0">
              <a:buNone/>
            </a:pPr>
            <a:endParaRPr lang="en-IN" dirty="0"/>
          </a:p>
        </p:txBody>
      </p:sp>
    </p:spTree>
    <p:extLst>
      <p:ext uri="{BB962C8B-B14F-4D97-AF65-F5344CB8AC3E}">
        <p14:creationId xmlns:p14="http://schemas.microsoft.com/office/powerpoint/2010/main" val="152172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close() </a:t>
            </a:r>
            <a:r>
              <a:rPr lang="en-IN" dirty="0" smtClean="0"/>
              <a:t>method-</a:t>
            </a:r>
            <a:r>
              <a:rPr lang="en-IN" dirty="0"/>
              <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Once all the operations are done on the file, we must close it through our Python script using the </a:t>
            </a:r>
            <a:r>
              <a:rPr lang="en-IN" b="1" dirty="0"/>
              <a:t>close()</a:t>
            </a:r>
            <a:r>
              <a:rPr lang="en-IN" dirty="0"/>
              <a:t> method. Any unwritten information gets destroyed once the </a:t>
            </a:r>
            <a:r>
              <a:rPr lang="en-IN" b="1" dirty="0"/>
              <a:t>close()</a:t>
            </a:r>
            <a:r>
              <a:rPr lang="en-IN" dirty="0"/>
              <a:t> method is called on a file object</a:t>
            </a:r>
            <a:r>
              <a:rPr lang="en-IN" dirty="0" smtClean="0"/>
              <a:t>.</a:t>
            </a:r>
          </a:p>
          <a:p>
            <a:pPr marL="0" indent="0">
              <a:buNone/>
            </a:pPr>
            <a:endParaRPr lang="en-US" dirty="0"/>
          </a:p>
          <a:p>
            <a:pPr marL="0" indent="0">
              <a:buNone/>
            </a:pPr>
            <a:r>
              <a:rPr lang="en-IN" b="1" dirty="0"/>
              <a:t>Syntax</a:t>
            </a:r>
            <a:endParaRPr lang="en-IN" dirty="0"/>
          </a:p>
          <a:p>
            <a:pPr marL="0" indent="0">
              <a:buNone/>
            </a:pPr>
            <a:r>
              <a:rPr lang="en-IN" dirty="0" err="1"/>
              <a:t>fileobject.close</a:t>
            </a:r>
            <a:r>
              <a:rPr lang="en-IN" dirty="0"/>
              <a:t>()   </a:t>
            </a:r>
          </a:p>
          <a:p>
            <a:pPr marL="0" indent="0">
              <a:buNone/>
            </a:pPr>
            <a:endParaRPr lang="en-IN" dirty="0"/>
          </a:p>
        </p:txBody>
      </p:sp>
    </p:spTree>
    <p:extLst>
      <p:ext uri="{BB962C8B-B14F-4D97-AF65-F5344CB8AC3E}">
        <p14:creationId xmlns:p14="http://schemas.microsoft.com/office/powerpoint/2010/main" val="555361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err="1" smtClean="0"/>
              <a:t>fptr</a:t>
            </a:r>
            <a:r>
              <a:rPr lang="en-IN" dirty="0"/>
              <a:t> = open</a:t>
            </a:r>
            <a:r>
              <a:rPr lang="en-IN" dirty="0" smtClean="0"/>
              <a:t>(“</a:t>
            </a:r>
            <a:r>
              <a:rPr lang="en-IN" dirty="0" err="1" smtClean="0"/>
              <a:t>myfile.txt</a:t>
            </a:r>
            <a:r>
              <a:rPr lang="en-IN" dirty="0" err="1"/>
              <a:t>","r</a:t>
            </a:r>
            <a:r>
              <a:rPr lang="en-IN" dirty="0"/>
              <a:t>")    </a:t>
            </a:r>
          </a:p>
          <a:p>
            <a:pPr marL="0" indent="0">
              <a:buNone/>
            </a:pPr>
            <a:r>
              <a:rPr lang="en-IN" dirty="0"/>
              <a:t>    </a:t>
            </a:r>
          </a:p>
          <a:p>
            <a:pPr marL="0" indent="0">
              <a:buNone/>
            </a:pPr>
            <a:r>
              <a:rPr lang="en-IN" b="1" dirty="0"/>
              <a:t>if</a:t>
            </a:r>
            <a:r>
              <a:rPr lang="en-IN" dirty="0"/>
              <a:t> </a:t>
            </a:r>
            <a:r>
              <a:rPr lang="en-IN" dirty="0" err="1" smtClean="0"/>
              <a:t>fptr</a:t>
            </a:r>
            <a:r>
              <a:rPr lang="en-IN" dirty="0"/>
              <a:t>:    </a:t>
            </a:r>
          </a:p>
          <a:p>
            <a:pPr marL="0" indent="0">
              <a:buNone/>
            </a:pPr>
            <a:r>
              <a:rPr lang="en-IN" dirty="0"/>
              <a:t>    </a:t>
            </a:r>
            <a:r>
              <a:rPr lang="en-IN" b="1" dirty="0"/>
              <a:t>print</a:t>
            </a:r>
            <a:r>
              <a:rPr lang="en-IN" dirty="0"/>
              <a:t>("file is opened successfully")    </a:t>
            </a:r>
          </a:p>
          <a:p>
            <a:pPr marL="0" indent="0">
              <a:buNone/>
            </a:pPr>
            <a:r>
              <a:rPr lang="en-IN" dirty="0"/>
              <a:t>    </a:t>
            </a:r>
          </a:p>
          <a:p>
            <a:pPr marL="0" indent="0">
              <a:buNone/>
            </a:pPr>
            <a:r>
              <a:rPr lang="en-IN" dirty="0"/>
              <a:t>#closes the opened file    </a:t>
            </a:r>
          </a:p>
          <a:p>
            <a:pPr marL="0" indent="0">
              <a:buNone/>
            </a:pPr>
            <a:r>
              <a:rPr lang="en-IN" dirty="0" err="1" smtClean="0"/>
              <a:t>fptr.close</a:t>
            </a:r>
            <a:r>
              <a:rPr lang="en-IN" dirty="0"/>
              <a:t>()  </a:t>
            </a:r>
          </a:p>
          <a:p>
            <a:pPr marL="0" indent="0">
              <a:buNone/>
            </a:pPr>
            <a:endParaRPr lang="en-IN" dirty="0"/>
          </a:p>
        </p:txBody>
      </p:sp>
    </p:spTree>
    <p:extLst>
      <p:ext uri="{BB962C8B-B14F-4D97-AF65-F5344CB8AC3E}">
        <p14:creationId xmlns:p14="http://schemas.microsoft.com/office/powerpoint/2010/main" val="174402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Writing the file</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To write some text to a file, we need to open the file using the open method with one of the following access modes</a:t>
            </a:r>
            <a:r>
              <a:rPr lang="en-IN" dirty="0" smtClean="0"/>
              <a:t>.</a:t>
            </a:r>
          </a:p>
          <a:p>
            <a:pPr marL="0" indent="0">
              <a:buNone/>
            </a:pPr>
            <a:endParaRPr lang="en-IN" dirty="0"/>
          </a:p>
          <a:p>
            <a:pPr marL="0" indent="0">
              <a:buNone/>
            </a:pPr>
            <a:r>
              <a:rPr lang="en-IN" b="1" dirty="0"/>
              <a:t>w:</a:t>
            </a:r>
            <a:r>
              <a:rPr lang="en-IN" dirty="0"/>
              <a:t> It will overwrite the file if any file exists. The file pointer is at the beginning of the file</a:t>
            </a:r>
            <a:r>
              <a:rPr lang="en-IN" dirty="0" smtClean="0"/>
              <a:t>.</a:t>
            </a:r>
          </a:p>
          <a:p>
            <a:pPr marL="0" indent="0">
              <a:buNone/>
            </a:pPr>
            <a:endParaRPr lang="en-IN" dirty="0"/>
          </a:p>
          <a:p>
            <a:pPr marL="0" indent="0">
              <a:buNone/>
            </a:pPr>
            <a:r>
              <a:rPr lang="en-IN" b="1" dirty="0"/>
              <a:t>a:</a:t>
            </a:r>
            <a:r>
              <a:rPr lang="en-IN" dirty="0"/>
              <a:t> It will append the existing file. The file pointer is at the end of the file. It creates a new file if no file exists.</a:t>
            </a:r>
          </a:p>
          <a:p>
            <a:pPr marL="0" indent="0">
              <a:buNone/>
            </a:pPr>
            <a:endParaRPr lang="en-IN" dirty="0"/>
          </a:p>
        </p:txBody>
      </p:sp>
    </p:spTree>
    <p:extLst>
      <p:ext uri="{BB962C8B-B14F-4D97-AF65-F5344CB8AC3E}">
        <p14:creationId xmlns:p14="http://schemas.microsoft.com/office/powerpoint/2010/main" val="367213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a:bodyPr>
          <a:lstStyle/>
          <a:p>
            <a:pPr marL="0" indent="0">
              <a:buNone/>
            </a:pPr>
            <a:r>
              <a:rPr lang="en-IN" dirty="0" err="1"/>
              <a:t>fileptr</a:t>
            </a:r>
            <a:r>
              <a:rPr lang="en-IN" dirty="0"/>
              <a:t> = open("file2.txt", "w")  </a:t>
            </a:r>
          </a:p>
          <a:p>
            <a:pPr marL="0" indent="0">
              <a:buNone/>
            </a:pPr>
            <a:r>
              <a:rPr lang="en-IN" dirty="0"/>
              <a:t>  </a:t>
            </a:r>
          </a:p>
          <a:p>
            <a:pPr marL="0" indent="0">
              <a:buNone/>
            </a:pPr>
            <a:r>
              <a:rPr lang="en-IN" dirty="0" err="1" smtClean="0"/>
              <a:t>fileptr.write</a:t>
            </a:r>
            <a:r>
              <a:rPr lang="en-IN" dirty="0" smtClean="0"/>
              <a:t>(''‘Hello World!''')</a:t>
            </a:r>
            <a:r>
              <a:rPr lang="en-IN" dirty="0"/>
              <a:t>  </a:t>
            </a:r>
          </a:p>
          <a:p>
            <a:pPr marL="0" indent="0">
              <a:buNone/>
            </a:pPr>
            <a:r>
              <a:rPr lang="en-IN" dirty="0"/>
              <a:t>  </a:t>
            </a:r>
          </a:p>
          <a:p>
            <a:pPr marL="0" indent="0">
              <a:buNone/>
            </a:pPr>
            <a:r>
              <a:rPr lang="en-IN" dirty="0" err="1" smtClean="0"/>
              <a:t>fileptr.close</a:t>
            </a:r>
            <a:r>
              <a:rPr lang="en-IN" dirty="0"/>
              <a:t>()  </a:t>
            </a:r>
          </a:p>
          <a:p>
            <a:pPr marL="0" indent="0">
              <a:buNone/>
            </a:pPr>
            <a:endParaRPr lang="en-IN" dirty="0"/>
          </a:p>
        </p:txBody>
      </p:sp>
    </p:spTree>
    <p:extLst>
      <p:ext uri="{BB962C8B-B14F-4D97-AF65-F5344CB8AC3E}">
        <p14:creationId xmlns:p14="http://schemas.microsoft.com/office/powerpoint/2010/main" val="2196607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pPr marL="0" indent="0">
              <a:buNone/>
            </a:pPr>
            <a:r>
              <a:rPr lang="en-IN" dirty="0" err="1"/>
              <a:t>fileptr</a:t>
            </a:r>
            <a:r>
              <a:rPr lang="en-IN" dirty="0"/>
              <a:t> = open("file2.txt","a")  </a:t>
            </a:r>
          </a:p>
          <a:p>
            <a:pPr marL="0" indent="0">
              <a:buNone/>
            </a:pPr>
            <a:r>
              <a:rPr lang="en-IN" dirty="0"/>
              <a:t>    </a:t>
            </a:r>
          </a:p>
          <a:p>
            <a:pPr marL="0" indent="0">
              <a:buNone/>
            </a:pPr>
            <a:r>
              <a:rPr lang="en-IN" dirty="0" err="1" smtClean="0"/>
              <a:t>fileptr.write</a:t>
            </a:r>
            <a:r>
              <a:rPr lang="en-IN" dirty="0" smtClean="0"/>
              <a:t>(" My name is John")</a:t>
            </a:r>
            <a:r>
              <a:rPr lang="en-IN" dirty="0"/>
              <a:t>    </a:t>
            </a:r>
          </a:p>
          <a:p>
            <a:pPr marL="0" indent="0">
              <a:buNone/>
            </a:pPr>
            <a:r>
              <a:rPr lang="en-IN" dirty="0"/>
              <a:t>      </a:t>
            </a:r>
          </a:p>
          <a:p>
            <a:pPr marL="0" indent="0">
              <a:buNone/>
            </a:pPr>
            <a:r>
              <a:rPr lang="en-IN" dirty="0"/>
              <a:t> </a:t>
            </a:r>
          </a:p>
          <a:p>
            <a:pPr marL="0" indent="0">
              <a:buNone/>
            </a:pPr>
            <a:r>
              <a:rPr lang="en-IN" dirty="0" err="1"/>
              <a:t>fileptr.close</a:t>
            </a:r>
            <a:r>
              <a:rPr lang="en-IN" dirty="0"/>
              <a:t>()  </a:t>
            </a:r>
          </a:p>
          <a:p>
            <a:pPr marL="0" indent="0">
              <a:buNone/>
            </a:pPr>
            <a:endParaRPr lang="en-IN" dirty="0"/>
          </a:p>
        </p:txBody>
      </p:sp>
    </p:spTree>
    <p:extLst>
      <p:ext uri="{BB962C8B-B14F-4D97-AF65-F5344CB8AC3E}">
        <p14:creationId xmlns:p14="http://schemas.microsoft.com/office/powerpoint/2010/main" val="2624308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a file-</a:t>
            </a:r>
            <a:endParaRPr lang="en-IN" dirty="0"/>
          </a:p>
        </p:txBody>
      </p:sp>
      <p:sp>
        <p:nvSpPr>
          <p:cNvPr id="3" name="Content Placeholder 2"/>
          <p:cNvSpPr>
            <a:spLocks noGrp="1"/>
          </p:cNvSpPr>
          <p:nvPr>
            <p:ph idx="1"/>
          </p:nvPr>
        </p:nvSpPr>
        <p:spPr/>
        <p:txBody>
          <a:bodyPr>
            <a:normAutofit/>
          </a:bodyPr>
          <a:lstStyle/>
          <a:p>
            <a:pPr marL="0" indent="0">
              <a:buNone/>
            </a:pPr>
            <a:r>
              <a:rPr lang="en-IN" dirty="0" err="1"/>
              <a:t>fileptr</a:t>
            </a:r>
            <a:r>
              <a:rPr lang="en-IN" dirty="0"/>
              <a:t> = open("file2.txt","r")  </a:t>
            </a:r>
          </a:p>
          <a:p>
            <a:pPr marL="0" indent="0">
              <a:buNone/>
            </a:pPr>
            <a:r>
              <a:rPr lang="en-IN" dirty="0"/>
              <a:t>content = </a:t>
            </a:r>
            <a:r>
              <a:rPr lang="en-IN" dirty="0" err="1"/>
              <a:t>fileptr.read</a:t>
            </a:r>
            <a:r>
              <a:rPr lang="en-IN" dirty="0"/>
              <a:t>()  </a:t>
            </a:r>
          </a:p>
          <a:p>
            <a:pPr marL="0" indent="0">
              <a:buNone/>
            </a:pPr>
            <a:r>
              <a:rPr lang="en-IN" b="1" dirty="0"/>
              <a:t>print</a:t>
            </a:r>
            <a:r>
              <a:rPr lang="en-IN" dirty="0"/>
              <a:t>(content)   </a:t>
            </a:r>
          </a:p>
          <a:p>
            <a:pPr marL="0" indent="0">
              <a:buNone/>
            </a:pPr>
            <a:r>
              <a:rPr lang="en-IN" b="1" dirty="0" smtClean="0"/>
              <a:t>print</a:t>
            </a:r>
            <a:r>
              <a:rPr lang="en-IN" dirty="0" smtClean="0"/>
              <a:t>(type(content))</a:t>
            </a:r>
            <a:r>
              <a:rPr lang="en-IN" dirty="0"/>
              <a:t>       </a:t>
            </a:r>
          </a:p>
          <a:p>
            <a:pPr marL="0" indent="0">
              <a:buNone/>
            </a:pPr>
            <a:r>
              <a:rPr lang="en-IN" dirty="0" err="1" smtClean="0"/>
              <a:t>fileptr.close</a:t>
            </a:r>
            <a:r>
              <a:rPr lang="en-IN" dirty="0"/>
              <a:t>()    </a:t>
            </a:r>
          </a:p>
          <a:p>
            <a:pPr marL="0" indent="0">
              <a:buNone/>
            </a:pPr>
            <a:endParaRPr lang="en-US" dirty="0" smtClean="0"/>
          </a:p>
          <a:p>
            <a:pPr marL="0" indent="0">
              <a:buNone/>
            </a:pPr>
            <a:r>
              <a:rPr lang="en-US" dirty="0" smtClean="0"/>
              <a:t>Output- Hello World! My name is John</a:t>
            </a:r>
          </a:p>
          <a:p>
            <a:pPr marL="0" indent="0">
              <a:buNone/>
            </a:pPr>
            <a:r>
              <a:rPr lang="en-IN" dirty="0" smtClean="0"/>
              <a:t>&lt;class '</a:t>
            </a:r>
            <a:r>
              <a:rPr lang="en-IN" dirty="0" err="1" smtClean="0"/>
              <a:t>str</a:t>
            </a:r>
            <a:r>
              <a:rPr lang="en-IN" dirty="0" smtClean="0"/>
              <a:t>'&gt;</a:t>
            </a:r>
            <a:endParaRPr lang="en-IN" dirty="0"/>
          </a:p>
        </p:txBody>
      </p:sp>
    </p:spTree>
    <p:extLst>
      <p:ext uri="{BB962C8B-B14F-4D97-AF65-F5344CB8AC3E}">
        <p14:creationId xmlns:p14="http://schemas.microsoft.com/office/powerpoint/2010/main" val="3647686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Read file through for loop</a:t>
            </a:r>
            <a:br>
              <a:rPr lang="en-IN" dirty="0"/>
            </a:br>
            <a:endParaRPr lang="en-IN" dirty="0"/>
          </a:p>
        </p:txBody>
      </p:sp>
      <p:sp>
        <p:nvSpPr>
          <p:cNvPr id="3" name="Content Placeholder 2"/>
          <p:cNvSpPr>
            <a:spLocks noGrp="1"/>
          </p:cNvSpPr>
          <p:nvPr>
            <p:ph idx="1"/>
          </p:nvPr>
        </p:nvSpPr>
        <p:spPr/>
        <p:txBody>
          <a:bodyPr/>
          <a:lstStyle/>
          <a:p>
            <a:pPr marL="0" indent="0">
              <a:buNone/>
            </a:pPr>
            <a:r>
              <a:rPr lang="nn-NO" dirty="0"/>
              <a:t>fileptr = open("file2.txt","r");     </a:t>
            </a:r>
          </a:p>
          <a:p>
            <a:pPr marL="0" indent="0">
              <a:buNone/>
            </a:pPr>
            <a:r>
              <a:rPr lang="nn-NO" dirty="0"/>
              <a:t>#running a for loop     </a:t>
            </a:r>
          </a:p>
          <a:p>
            <a:pPr marL="0" indent="0">
              <a:buNone/>
            </a:pPr>
            <a:r>
              <a:rPr lang="nn-NO" b="1" dirty="0"/>
              <a:t>for</a:t>
            </a:r>
            <a:r>
              <a:rPr lang="nn-NO" dirty="0"/>
              <a:t> i </a:t>
            </a:r>
            <a:r>
              <a:rPr lang="nn-NO" b="1" dirty="0"/>
              <a:t>in</a:t>
            </a:r>
            <a:r>
              <a:rPr lang="nn-NO" dirty="0"/>
              <a:t> fileptr:    </a:t>
            </a:r>
          </a:p>
          <a:p>
            <a:pPr marL="0" indent="0">
              <a:buNone/>
            </a:pPr>
            <a:r>
              <a:rPr lang="nn-NO" dirty="0"/>
              <a:t>    </a:t>
            </a:r>
            <a:r>
              <a:rPr lang="nn-NO" b="1" dirty="0"/>
              <a:t>print</a:t>
            </a:r>
            <a:r>
              <a:rPr lang="nn-NO" dirty="0"/>
              <a:t>(i)</a:t>
            </a:r>
          </a:p>
          <a:p>
            <a:pPr marL="0" indent="0">
              <a:buNone/>
            </a:pPr>
            <a:endParaRPr lang="en-IN" dirty="0"/>
          </a:p>
        </p:txBody>
      </p:sp>
    </p:spTree>
    <p:extLst>
      <p:ext uri="{BB962C8B-B14F-4D97-AF65-F5344CB8AC3E}">
        <p14:creationId xmlns:p14="http://schemas.microsoft.com/office/powerpoint/2010/main" val="1028193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Read Lines of the file</a:t>
            </a:r>
            <a:br>
              <a:rPr lang="en-IN" dirty="0"/>
            </a:br>
            <a:endParaRPr lang="en-IN" dirty="0"/>
          </a:p>
        </p:txBody>
      </p:sp>
      <p:sp>
        <p:nvSpPr>
          <p:cNvPr id="3" name="Content Placeholder 2"/>
          <p:cNvSpPr>
            <a:spLocks noGrp="1"/>
          </p:cNvSpPr>
          <p:nvPr>
            <p:ph idx="1"/>
          </p:nvPr>
        </p:nvSpPr>
        <p:spPr/>
        <p:txBody>
          <a:bodyPr/>
          <a:lstStyle/>
          <a:p>
            <a:r>
              <a:rPr lang="en-IN" dirty="0"/>
              <a:t>Python facilitates to read the file line by line by using a function </a:t>
            </a:r>
            <a:r>
              <a:rPr lang="en-IN" b="1" dirty="0" err="1"/>
              <a:t>readline</a:t>
            </a:r>
            <a:r>
              <a:rPr lang="en-IN" b="1" dirty="0"/>
              <a:t>()</a:t>
            </a:r>
            <a:r>
              <a:rPr lang="en-IN" dirty="0"/>
              <a:t> method. The </a:t>
            </a:r>
            <a:r>
              <a:rPr lang="en-IN" b="1" dirty="0" err="1"/>
              <a:t>readline</a:t>
            </a:r>
            <a:r>
              <a:rPr lang="en-IN" b="1" dirty="0"/>
              <a:t>()</a:t>
            </a:r>
            <a:r>
              <a:rPr lang="en-IN" dirty="0"/>
              <a:t> method reads the lines of the file from the beginning</a:t>
            </a:r>
            <a:r>
              <a:rPr lang="en-IN" dirty="0" smtClean="0"/>
              <a:t>,</a:t>
            </a:r>
          </a:p>
          <a:p>
            <a:endParaRPr lang="en-IN" dirty="0"/>
          </a:p>
        </p:txBody>
      </p:sp>
    </p:spTree>
    <p:extLst>
      <p:ext uri="{BB962C8B-B14F-4D97-AF65-F5344CB8AC3E}">
        <p14:creationId xmlns:p14="http://schemas.microsoft.com/office/powerpoint/2010/main" val="2804159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r>
              <a:rPr lang="en-IN" dirty="0"/>
              <a:t/>
            </a:r>
            <a:br>
              <a:rPr lang="en-IN" dirty="0"/>
            </a:br>
            <a:endParaRPr lang="en-IN" dirty="0"/>
          </a:p>
        </p:txBody>
      </p:sp>
      <p:sp>
        <p:nvSpPr>
          <p:cNvPr id="3" name="Content Placeholder 2"/>
          <p:cNvSpPr>
            <a:spLocks noGrp="1"/>
          </p:cNvSpPr>
          <p:nvPr>
            <p:ph idx="1"/>
          </p:nvPr>
        </p:nvSpPr>
        <p:spPr/>
        <p:txBody>
          <a:bodyPr>
            <a:normAutofit/>
          </a:bodyPr>
          <a:lstStyle/>
          <a:p>
            <a:pPr marL="0" indent="0">
              <a:buNone/>
            </a:pPr>
            <a:r>
              <a:rPr lang="en-IN" dirty="0" err="1"/>
              <a:t>fileptr</a:t>
            </a:r>
            <a:r>
              <a:rPr lang="en-IN" dirty="0"/>
              <a:t> = open("file2.txt","r");         </a:t>
            </a:r>
          </a:p>
          <a:p>
            <a:pPr marL="0" indent="0">
              <a:buNone/>
            </a:pPr>
            <a:r>
              <a:rPr lang="en-IN" dirty="0"/>
              <a:t>content = </a:t>
            </a:r>
            <a:r>
              <a:rPr lang="en-IN" dirty="0" err="1"/>
              <a:t>fileptr.readline</a:t>
            </a:r>
            <a:r>
              <a:rPr lang="en-IN" dirty="0"/>
              <a:t>()     </a:t>
            </a:r>
          </a:p>
          <a:p>
            <a:pPr marL="0" indent="0">
              <a:buNone/>
            </a:pPr>
            <a:r>
              <a:rPr lang="en-IN" b="1" dirty="0" smtClean="0"/>
              <a:t>print</a:t>
            </a:r>
            <a:r>
              <a:rPr lang="en-IN" dirty="0" smtClean="0"/>
              <a:t>(content</a:t>
            </a:r>
            <a:r>
              <a:rPr lang="en-IN" dirty="0"/>
              <a:t>)      </a:t>
            </a:r>
          </a:p>
          <a:p>
            <a:pPr marL="0" indent="0">
              <a:buNone/>
            </a:pPr>
            <a:r>
              <a:rPr lang="en-IN" dirty="0" err="1"/>
              <a:t>fileptr.close</a:t>
            </a:r>
            <a:r>
              <a:rPr lang="en-IN" dirty="0"/>
              <a:t>()    </a:t>
            </a:r>
          </a:p>
          <a:p>
            <a:pPr marL="0" indent="0">
              <a:buNone/>
            </a:pPr>
            <a:endParaRPr lang="en-IN" dirty="0"/>
          </a:p>
        </p:txBody>
      </p:sp>
    </p:spTree>
    <p:extLst>
      <p:ext uri="{BB962C8B-B14F-4D97-AF65-F5344CB8AC3E}">
        <p14:creationId xmlns:p14="http://schemas.microsoft.com/office/powerpoint/2010/main" val="60257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Readlines</a:t>
            </a:r>
            <a:r>
              <a:rPr lang="en-US" dirty="0" smtClean="0"/>
              <a:t>()-</a:t>
            </a:r>
            <a:endParaRPr lang="en-IN" dirty="0"/>
          </a:p>
        </p:txBody>
      </p:sp>
      <p:sp>
        <p:nvSpPr>
          <p:cNvPr id="3" name="Content Placeholder 2"/>
          <p:cNvSpPr>
            <a:spLocks noGrp="1"/>
          </p:cNvSpPr>
          <p:nvPr>
            <p:ph idx="1"/>
          </p:nvPr>
        </p:nvSpPr>
        <p:spPr/>
        <p:txBody>
          <a:bodyPr>
            <a:normAutofit fontScale="92500"/>
          </a:bodyPr>
          <a:lstStyle/>
          <a:p>
            <a:pPr marL="0" indent="0">
              <a:buNone/>
            </a:pPr>
            <a:r>
              <a:rPr lang="en-IN" dirty="0"/>
              <a:t>Python provides also the </a:t>
            </a:r>
            <a:r>
              <a:rPr lang="en-IN" b="1" dirty="0" err="1"/>
              <a:t>readlines</a:t>
            </a:r>
            <a:r>
              <a:rPr lang="en-IN" b="1" dirty="0"/>
              <a:t>()</a:t>
            </a:r>
            <a:r>
              <a:rPr lang="en-IN" dirty="0"/>
              <a:t> method which is used for the reading lines. It returns the list of the lines till the end of </a:t>
            </a:r>
            <a:r>
              <a:rPr lang="en-IN" b="1" dirty="0"/>
              <a:t>file(EOF)</a:t>
            </a:r>
            <a:r>
              <a:rPr lang="en-IN" dirty="0"/>
              <a:t> is reached</a:t>
            </a:r>
            <a:r>
              <a:rPr lang="en-IN" dirty="0" smtClean="0"/>
              <a:t>.</a:t>
            </a:r>
          </a:p>
          <a:p>
            <a:pPr marL="0" indent="0">
              <a:buNone/>
            </a:pPr>
            <a:endParaRPr lang="en-US" dirty="0" smtClean="0"/>
          </a:p>
          <a:p>
            <a:pPr marL="0" indent="0">
              <a:buNone/>
            </a:pPr>
            <a:r>
              <a:rPr lang="en-US" dirty="0" smtClean="0"/>
              <a:t>Example-</a:t>
            </a:r>
          </a:p>
          <a:p>
            <a:pPr marL="0" indent="0">
              <a:buNone/>
            </a:pPr>
            <a:endParaRPr lang="en-IN" dirty="0" smtClean="0"/>
          </a:p>
          <a:p>
            <a:pPr marL="0" indent="0">
              <a:buNone/>
            </a:pPr>
            <a:r>
              <a:rPr lang="en-IN" dirty="0" err="1" smtClean="0"/>
              <a:t>fileptr</a:t>
            </a:r>
            <a:r>
              <a:rPr lang="en-IN" dirty="0"/>
              <a:t> = open("file2.txt","r");      </a:t>
            </a:r>
          </a:p>
          <a:p>
            <a:pPr marL="0" indent="0">
              <a:buNone/>
            </a:pPr>
            <a:r>
              <a:rPr lang="en-IN" dirty="0"/>
              <a:t>content = </a:t>
            </a:r>
            <a:r>
              <a:rPr lang="en-IN" dirty="0" err="1"/>
              <a:t>fileptr.readlines</a:t>
            </a:r>
            <a:r>
              <a:rPr lang="en-IN" dirty="0"/>
              <a:t>()     </a:t>
            </a:r>
          </a:p>
          <a:p>
            <a:pPr marL="0" indent="0">
              <a:buNone/>
            </a:pPr>
            <a:r>
              <a:rPr lang="en-IN" b="1" dirty="0" smtClean="0"/>
              <a:t>print</a:t>
            </a:r>
            <a:r>
              <a:rPr lang="en-IN" dirty="0" smtClean="0"/>
              <a:t>(content</a:t>
            </a:r>
            <a:r>
              <a:rPr lang="en-IN" dirty="0"/>
              <a:t>)     </a:t>
            </a:r>
          </a:p>
          <a:p>
            <a:pPr marL="0" indent="0">
              <a:buNone/>
            </a:pPr>
            <a:r>
              <a:rPr lang="en-IN" dirty="0" err="1" smtClean="0"/>
              <a:t>fileptr.close</a:t>
            </a:r>
            <a:r>
              <a:rPr lang="en-IN" dirty="0"/>
              <a:t>()   </a:t>
            </a:r>
          </a:p>
          <a:p>
            <a:pPr marL="0" indent="0">
              <a:buNone/>
            </a:pPr>
            <a:endParaRPr lang="en-IN" dirty="0"/>
          </a:p>
        </p:txBody>
      </p:sp>
    </p:spTree>
    <p:extLst>
      <p:ext uri="{BB962C8B-B14F-4D97-AF65-F5344CB8AC3E}">
        <p14:creationId xmlns:p14="http://schemas.microsoft.com/office/powerpoint/2010/main" val="877522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Pointer positions</a:t>
            </a:r>
            <a:br>
              <a:rPr lang="en-IN" dirty="0"/>
            </a:br>
            <a:endParaRPr lang="en-IN" dirty="0"/>
          </a:p>
        </p:txBody>
      </p:sp>
      <p:sp>
        <p:nvSpPr>
          <p:cNvPr id="3" name="Content Placeholder 2"/>
          <p:cNvSpPr>
            <a:spLocks noGrp="1"/>
          </p:cNvSpPr>
          <p:nvPr>
            <p:ph idx="1"/>
          </p:nvPr>
        </p:nvSpPr>
        <p:spPr>
          <a:xfrm>
            <a:off x="838200" y="1249251"/>
            <a:ext cx="10515600" cy="4927712"/>
          </a:xfrm>
        </p:spPr>
        <p:txBody>
          <a:bodyPr>
            <a:normAutofit fontScale="85000" lnSpcReduction="20000"/>
          </a:bodyPr>
          <a:lstStyle/>
          <a:p>
            <a:pPr marL="0" indent="0">
              <a:buNone/>
            </a:pPr>
            <a:r>
              <a:rPr lang="en-IN" dirty="0"/>
              <a:t>Python provides the tell() method which is used to print the byte </a:t>
            </a:r>
            <a:r>
              <a:rPr lang="en-IN" dirty="0" smtClean="0"/>
              <a:t>number </a:t>
            </a:r>
            <a:r>
              <a:rPr lang="en-IN" dirty="0"/>
              <a:t>at which the file pointer currently </a:t>
            </a:r>
            <a:r>
              <a:rPr lang="en-IN" dirty="0" smtClean="0"/>
              <a:t>exists</a:t>
            </a:r>
          </a:p>
          <a:p>
            <a:pPr marL="0" indent="0">
              <a:buNone/>
            </a:pPr>
            <a:endParaRPr lang="en-US" dirty="0"/>
          </a:p>
          <a:p>
            <a:pPr marL="0" indent="0">
              <a:buNone/>
            </a:pPr>
            <a:r>
              <a:rPr lang="en-IN" dirty="0" err="1"/>
              <a:t>fileptr</a:t>
            </a:r>
            <a:r>
              <a:rPr lang="en-IN" dirty="0"/>
              <a:t> = open("file2.txt","r")     </a:t>
            </a:r>
          </a:p>
          <a:p>
            <a:pPr marL="0" indent="0">
              <a:buNone/>
            </a:pPr>
            <a:r>
              <a:rPr lang="en-IN" dirty="0"/>
              <a:t>#initially the </a:t>
            </a:r>
            <a:r>
              <a:rPr lang="en-IN" dirty="0" err="1"/>
              <a:t>filepointer</a:t>
            </a:r>
            <a:r>
              <a:rPr lang="en-IN" dirty="0"/>
              <a:t> is at 0     </a:t>
            </a:r>
          </a:p>
          <a:p>
            <a:pPr marL="0" indent="0">
              <a:buNone/>
            </a:pPr>
            <a:r>
              <a:rPr lang="en-IN" b="1" dirty="0"/>
              <a:t>print</a:t>
            </a:r>
            <a:r>
              <a:rPr lang="en-IN" dirty="0"/>
              <a:t>("The </a:t>
            </a:r>
            <a:r>
              <a:rPr lang="en-IN" dirty="0" err="1"/>
              <a:t>filepointer</a:t>
            </a:r>
            <a:r>
              <a:rPr lang="en-IN" dirty="0"/>
              <a:t> is at byte :",</a:t>
            </a:r>
            <a:r>
              <a:rPr lang="en-IN" dirty="0" err="1"/>
              <a:t>fileptr.tell</a:t>
            </a:r>
            <a:r>
              <a:rPr lang="en-IN" dirty="0"/>
              <a:t>())      </a:t>
            </a:r>
          </a:p>
          <a:p>
            <a:pPr marL="0" indent="0">
              <a:buNone/>
            </a:pPr>
            <a:r>
              <a:rPr lang="en-IN" dirty="0" smtClean="0"/>
              <a:t>content</a:t>
            </a:r>
            <a:r>
              <a:rPr lang="en-IN" dirty="0"/>
              <a:t> = </a:t>
            </a:r>
            <a:r>
              <a:rPr lang="en-IN" dirty="0" err="1"/>
              <a:t>fileptr.read</a:t>
            </a:r>
            <a:r>
              <a:rPr lang="en-IN" dirty="0"/>
              <a:t>();    </a:t>
            </a:r>
          </a:p>
          <a:p>
            <a:pPr marL="0" indent="0">
              <a:buNone/>
            </a:pPr>
            <a:r>
              <a:rPr lang="en-IN" b="1" dirty="0" smtClean="0"/>
              <a:t>print</a:t>
            </a:r>
            <a:r>
              <a:rPr lang="en-IN" dirty="0"/>
              <a:t>("After reading, the </a:t>
            </a:r>
            <a:r>
              <a:rPr lang="en-IN" dirty="0" err="1"/>
              <a:t>filepointer</a:t>
            </a:r>
            <a:r>
              <a:rPr lang="en-IN" dirty="0"/>
              <a:t> is at:",</a:t>
            </a:r>
            <a:r>
              <a:rPr lang="en-IN" dirty="0" err="1"/>
              <a:t>fileptr.tell</a:t>
            </a:r>
            <a:r>
              <a:rPr lang="en-IN" dirty="0"/>
              <a:t>())    </a:t>
            </a:r>
          </a:p>
          <a:p>
            <a:pPr marL="0" indent="0">
              <a:buNone/>
            </a:pPr>
            <a:endParaRPr lang="en-US" dirty="0" smtClean="0"/>
          </a:p>
          <a:p>
            <a:pPr marL="0" indent="0">
              <a:buNone/>
            </a:pPr>
            <a:r>
              <a:rPr lang="en-IN" dirty="0" smtClean="0"/>
              <a:t>Output:</a:t>
            </a:r>
          </a:p>
          <a:p>
            <a:pPr marL="0" indent="0">
              <a:buNone/>
            </a:pPr>
            <a:endParaRPr lang="en-IN" dirty="0" smtClean="0"/>
          </a:p>
          <a:p>
            <a:pPr marL="0" indent="0">
              <a:buNone/>
            </a:pPr>
            <a:r>
              <a:rPr lang="en-IN" dirty="0" smtClean="0"/>
              <a:t>The </a:t>
            </a:r>
            <a:r>
              <a:rPr lang="en-IN" dirty="0" err="1" smtClean="0"/>
              <a:t>filepointer</a:t>
            </a:r>
            <a:r>
              <a:rPr lang="en-IN" dirty="0" smtClean="0"/>
              <a:t> is at byte : 0</a:t>
            </a:r>
          </a:p>
          <a:p>
            <a:pPr marL="0" indent="0">
              <a:buNone/>
            </a:pPr>
            <a:r>
              <a:rPr lang="en-IN" dirty="0" smtClean="0"/>
              <a:t>After reading, the </a:t>
            </a:r>
            <a:r>
              <a:rPr lang="en-IN" dirty="0" err="1" smtClean="0"/>
              <a:t>filepointer</a:t>
            </a:r>
            <a:r>
              <a:rPr lang="en-IN" dirty="0" smtClean="0"/>
              <a:t> is at: 17</a:t>
            </a:r>
            <a:endParaRPr lang="en-IN" dirty="0"/>
          </a:p>
        </p:txBody>
      </p:sp>
    </p:spTree>
    <p:extLst>
      <p:ext uri="{BB962C8B-B14F-4D97-AF65-F5344CB8AC3E}">
        <p14:creationId xmlns:p14="http://schemas.microsoft.com/office/powerpoint/2010/main" val="488692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Seek() method-</a:t>
            </a:r>
            <a:endParaRPr lang="en-IN" dirty="0"/>
          </a:p>
        </p:txBody>
      </p:sp>
      <p:sp>
        <p:nvSpPr>
          <p:cNvPr id="3" name="Content Placeholder 2"/>
          <p:cNvSpPr>
            <a:spLocks noGrp="1"/>
          </p:cNvSpPr>
          <p:nvPr>
            <p:ph idx="1"/>
          </p:nvPr>
        </p:nvSpPr>
        <p:spPr>
          <a:xfrm>
            <a:off x="838200" y="1571223"/>
            <a:ext cx="10515600" cy="4605740"/>
          </a:xfrm>
        </p:spPr>
        <p:txBody>
          <a:bodyPr>
            <a:normAutofit fontScale="92500" lnSpcReduction="20000"/>
          </a:bodyPr>
          <a:lstStyle/>
          <a:p>
            <a:pPr marL="0" indent="0">
              <a:buNone/>
            </a:pPr>
            <a:r>
              <a:rPr lang="en-IN" dirty="0" smtClean="0"/>
              <a:t>Sometimes </a:t>
            </a:r>
            <a:r>
              <a:rPr lang="en-IN" dirty="0"/>
              <a:t>we need to change the file pointer location externally since we may need to read or write the content at various locations.</a:t>
            </a:r>
          </a:p>
          <a:p>
            <a:pPr marL="0" indent="0">
              <a:buNone/>
            </a:pPr>
            <a:r>
              <a:rPr lang="en-IN" dirty="0"/>
              <a:t>For this purpose, the Python provides us the seek() method which enables us to modify the file pointer position externally</a:t>
            </a:r>
            <a:r>
              <a:rPr lang="en-IN" dirty="0" smtClean="0"/>
              <a:t>.</a:t>
            </a:r>
          </a:p>
          <a:p>
            <a:pPr marL="0" indent="0">
              <a:buNone/>
            </a:pPr>
            <a:endParaRPr lang="en-US" dirty="0"/>
          </a:p>
          <a:p>
            <a:pPr marL="0" indent="0">
              <a:buNone/>
            </a:pPr>
            <a:r>
              <a:rPr lang="en-IN" b="1" dirty="0"/>
              <a:t>Syntax:</a:t>
            </a:r>
            <a:endParaRPr lang="en-IN" dirty="0"/>
          </a:p>
          <a:p>
            <a:pPr marL="0" indent="0">
              <a:buNone/>
            </a:pPr>
            <a:r>
              <a:rPr lang="en-IN" dirty="0"/>
              <a:t>&lt;file-</a:t>
            </a:r>
            <a:r>
              <a:rPr lang="en-IN" dirty="0" err="1"/>
              <a:t>ptr</a:t>
            </a:r>
            <a:r>
              <a:rPr lang="en-IN" dirty="0"/>
              <a:t>&gt;.seek(offset[, </a:t>
            </a:r>
            <a:r>
              <a:rPr lang="en-IN" b="1" dirty="0"/>
              <a:t>from</a:t>
            </a:r>
            <a:r>
              <a:rPr lang="en-IN" dirty="0"/>
              <a:t>) </a:t>
            </a:r>
            <a:endParaRPr lang="en-IN" dirty="0" smtClean="0"/>
          </a:p>
          <a:p>
            <a:pPr marL="0" indent="0">
              <a:buNone/>
            </a:pPr>
            <a:endParaRPr lang="en-IN" dirty="0" smtClean="0"/>
          </a:p>
          <a:p>
            <a:pPr marL="0" indent="0">
              <a:buNone/>
            </a:pPr>
            <a:r>
              <a:rPr lang="en-IN" dirty="0"/>
              <a:t>The seek() method accepts two parameters:</a:t>
            </a:r>
          </a:p>
          <a:p>
            <a:pPr marL="0" indent="0">
              <a:buNone/>
            </a:pPr>
            <a:r>
              <a:rPr lang="en-IN" b="1" dirty="0"/>
              <a:t>offset:</a:t>
            </a:r>
            <a:r>
              <a:rPr lang="en-IN" dirty="0"/>
              <a:t> It refers to the new position of the file pointer within the file.</a:t>
            </a:r>
          </a:p>
          <a:p>
            <a:pPr marL="0" indent="0">
              <a:buNone/>
            </a:pPr>
            <a:r>
              <a:rPr lang="en-IN" b="1" dirty="0"/>
              <a:t>from:</a:t>
            </a:r>
            <a:r>
              <a:rPr lang="en-IN" dirty="0"/>
              <a:t> It indicates the reference position from where the bytes are to be moved.</a:t>
            </a:r>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818124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err="1"/>
              <a:t>fileptr</a:t>
            </a:r>
            <a:r>
              <a:rPr lang="en-IN" dirty="0"/>
              <a:t> = open("file2.txt","r")    </a:t>
            </a:r>
          </a:p>
          <a:p>
            <a:pPr marL="0" indent="0">
              <a:buNone/>
            </a:pPr>
            <a:r>
              <a:rPr lang="en-IN" dirty="0"/>
              <a:t>    </a:t>
            </a:r>
          </a:p>
          <a:p>
            <a:pPr marL="0" indent="0">
              <a:buNone/>
            </a:pPr>
            <a:r>
              <a:rPr lang="en-IN" dirty="0"/>
              <a:t>#initially the </a:t>
            </a:r>
            <a:r>
              <a:rPr lang="en-IN" dirty="0" err="1"/>
              <a:t>filepointer</a:t>
            </a:r>
            <a:r>
              <a:rPr lang="en-IN" dirty="0"/>
              <a:t> is at 0     </a:t>
            </a:r>
          </a:p>
          <a:p>
            <a:pPr marL="0" indent="0">
              <a:buNone/>
            </a:pPr>
            <a:r>
              <a:rPr lang="en-IN" b="1" dirty="0"/>
              <a:t>print</a:t>
            </a:r>
            <a:r>
              <a:rPr lang="en-IN" dirty="0"/>
              <a:t>("The </a:t>
            </a:r>
            <a:r>
              <a:rPr lang="en-IN" dirty="0" err="1"/>
              <a:t>filepointer</a:t>
            </a:r>
            <a:r>
              <a:rPr lang="en-IN" dirty="0"/>
              <a:t> is at byte :",</a:t>
            </a:r>
            <a:r>
              <a:rPr lang="en-IN" dirty="0" err="1"/>
              <a:t>fileptr.tell</a:t>
            </a:r>
            <a:r>
              <a:rPr lang="en-IN" dirty="0"/>
              <a:t>())    </a:t>
            </a:r>
          </a:p>
          <a:p>
            <a:pPr marL="0" indent="0">
              <a:buNone/>
            </a:pPr>
            <a:r>
              <a:rPr lang="en-IN" dirty="0"/>
              <a:t>    </a:t>
            </a:r>
          </a:p>
          <a:p>
            <a:pPr marL="0" indent="0">
              <a:buNone/>
            </a:pPr>
            <a:r>
              <a:rPr lang="en-IN" dirty="0"/>
              <a:t>#changing the file pointer location to 10.    </a:t>
            </a:r>
          </a:p>
          <a:p>
            <a:pPr marL="0" indent="0">
              <a:buNone/>
            </a:pPr>
            <a:r>
              <a:rPr lang="en-IN" dirty="0" err="1"/>
              <a:t>fileptr.seek</a:t>
            </a:r>
            <a:r>
              <a:rPr lang="en-IN" dirty="0"/>
              <a:t>(10);    </a:t>
            </a:r>
          </a:p>
          <a:p>
            <a:pPr marL="0" indent="0">
              <a:buNone/>
            </a:pPr>
            <a:r>
              <a:rPr lang="en-IN" dirty="0"/>
              <a:t>    </a:t>
            </a:r>
          </a:p>
          <a:p>
            <a:pPr marL="0" indent="0">
              <a:buNone/>
            </a:pPr>
            <a:r>
              <a:rPr lang="en-IN" dirty="0"/>
              <a:t>#tell() returns the location of the </a:t>
            </a:r>
            <a:r>
              <a:rPr lang="en-IN" dirty="0" err="1"/>
              <a:t>fileptr</a:t>
            </a:r>
            <a:r>
              <a:rPr lang="en-IN" dirty="0"/>
              <a:t>.     </a:t>
            </a:r>
          </a:p>
          <a:p>
            <a:pPr marL="0" indent="0">
              <a:buNone/>
            </a:pPr>
            <a:r>
              <a:rPr lang="en-IN" b="1" dirty="0"/>
              <a:t>print</a:t>
            </a:r>
            <a:r>
              <a:rPr lang="en-IN" dirty="0"/>
              <a:t>("After reading, the </a:t>
            </a:r>
            <a:r>
              <a:rPr lang="en-IN" dirty="0" err="1"/>
              <a:t>filepointer</a:t>
            </a:r>
            <a:r>
              <a:rPr lang="en-IN" dirty="0"/>
              <a:t> is at:",</a:t>
            </a:r>
            <a:r>
              <a:rPr lang="en-IN" dirty="0" err="1"/>
              <a:t>fileptr.tell</a:t>
            </a:r>
            <a:r>
              <a:rPr lang="en-IN" dirty="0"/>
              <a:t>())    </a:t>
            </a:r>
          </a:p>
          <a:p>
            <a:pPr marL="0" indent="0">
              <a:buNone/>
            </a:pPr>
            <a:endParaRPr lang="en-IN" dirty="0"/>
          </a:p>
        </p:txBody>
      </p:sp>
    </p:spTree>
    <p:extLst>
      <p:ext uri="{BB962C8B-B14F-4D97-AF65-F5344CB8AC3E}">
        <p14:creationId xmlns:p14="http://schemas.microsoft.com/office/powerpoint/2010/main" val="423953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br>
              <a:rPr lang="en-IN" dirty="0" smtClean="0"/>
            </a:br>
            <a:endParaRPr lang="en-IN"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The </a:t>
            </a:r>
            <a:r>
              <a:rPr lang="en-IN" dirty="0" err="1" smtClean="0"/>
              <a:t>filepointer</a:t>
            </a:r>
            <a:r>
              <a:rPr lang="en-IN" dirty="0" smtClean="0"/>
              <a:t> is at byte : 0</a:t>
            </a:r>
          </a:p>
          <a:p>
            <a:pPr marL="0" indent="0">
              <a:buNone/>
            </a:pPr>
            <a:r>
              <a:rPr lang="en-IN" dirty="0" smtClean="0"/>
              <a:t>After reading, the </a:t>
            </a:r>
            <a:r>
              <a:rPr lang="en-IN" dirty="0" err="1" smtClean="0"/>
              <a:t>filepointer</a:t>
            </a:r>
            <a:r>
              <a:rPr lang="en-IN" dirty="0" smtClean="0"/>
              <a:t> is at: 10</a:t>
            </a:r>
            <a:endParaRPr lang="en-IN" dirty="0"/>
          </a:p>
        </p:txBody>
      </p:sp>
    </p:spTree>
    <p:extLst>
      <p:ext uri="{BB962C8B-B14F-4D97-AF65-F5344CB8AC3E}">
        <p14:creationId xmlns:p14="http://schemas.microsoft.com/office/powerpoint/2010/main" val="3517913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Python OS </a:t>
            </a:r>
            <a:r>
              <a:rPr lang="en-IN" dirty="0" smtClean="0"/>
              <a:t>module-</a:t>
            </a:r>
            <a:r>
              <a:rPr lang="en-IN" dirty="0"/>
              <a:t/>
            </a:r>
            <a:br>
              <a:rPr lang="en-IN" dirty="0"/>
            </a:br>
            <a:r>
              <a:rPr lang="en-IN" dirty="0"/>
              <a:t>Renaming the file</a:t>
            </a:r>
            <a:br>
              <a:rPr lang="en-IN" dirty="0"/>
            </a:br>
            <a:endParaRPr lang="en-IN" dirty="0"/>
          </a:p>
        </p:txBody>
      </p:sp>
      <p:sp>
        <p:nvSpPr>
          <p:cNvPr id="3" name="Content Placeholder 2"/>
          <p:cNvSpPr>
            <a:spLocks noGrp="1"/>
          </p:cNvSpPr>
          <p:nvPr>
            <p:ph idx="1"/>
          </p:nvPr>
        </p:nvSpPr>
        <p:spPr>
          <a:xfrm>
            <a:off x="838200" y="1339403"/>
            <a:ext cx="10515600" cy="4837560"/>
          </a:xfrm>
        </p:spPr>
        <p:txBody>
          <a:bodyPr>
            <a:normAutofit fontScale="92500" lnSpcReduction="20000"/>
          </a:bodyPr>
          <a:lstStyle/>
          <a:p>
            <a:pPr marL="0" indent="0">
              <a:buNone/>
            </a:pPr>
            <a:endParaRPr lang="en-IN" dirty="0" smtClean="0"/>
          </a:p>
          <a:p>
            <a:pPr marL="0" indent="0">
              <a:buNone/>
            </a:pPr>
            <a:r>
              <a:rPr lang="en-IN" dirty="0" smtClean="0"/>
              <a:t>The </a:t>
            </a:r>
            <a:r>
              <a:rPr lang="en-IN" dirty="0"/>
              <a:t>Python </a:t>
            </a:r>
            <a:r>
              <a:rPr lang="en-IN" b="1" dirty="0" err="1"/>
              <a:t>os</a:t>
            </a:r>
            <a:r>
              <a:rPr lang="en-IN" dirty="0"/>
              <a:t> module enables interaction with the operating system. The </a:t>
            </a:r>
            <a:r>
              <a:rPr lang="en-IN" dirty="0" err="1"/>
              <a:t>os</a:t>
            </a:r>
            <a:r>
              <a:rPr lang="en-IN" dirty="0"/>
              <a:t> module provides the functions that are involved in file processing operations like renaming, deleting, etc. It provides us the rename() method to rename the specified file to a new name. </a:t>
            </a:r>
            <a:endParaRPr lang="en-IN" dirty="0" smtClean="0"/>
          </a:p>
          <a:p>
            <a:pPr marL="0" indent="0">
              <a:buNone/>
            </a:pPr>
            <a:endParaRPr lang="en-US" dirty="0"/>
          </a:p>
          <a:p>
            <a:pPr marL="0" indent="0">
              <a:buNone/>
            </a:pPr>
            <a:r>
              <a:rPr lang="en-IN" b="1" dirty="0"/>
              <a:t>Syntax:</a:t>
            </a:r>
            <a:endParaRPr lang="en-IN" dirty="0"/>
          </a:p>
          <a:p>
            <a:pPr marL="0" indent="0">
              <a:buNone/>
            </a:pPr>
            <a:r>
              <a:rPr lang="en-IN" dirty="0"/>
              <a:t>rename(current-name, new-name)  </a:t>
            </a:r>
            <a:endParaRPr lang="en-IN" dirty="0" smtClean="0"/>
          </a:p>
          <a:p>
            <a:pPr marL="0" indent="0">
              <a:buNone/>
            </a:pPr>
            <a:endParaRPr lang="en-IN" b="1" dirty="0" smtClean="0"/>
          </a:p>
          <a:p>
            <a:pPr marL="0" indent="0">
              <a:buNone/>
            </a:pPr>
            <a:r>
              <a:rPr lang="en-IN" b="1" dirty="0" smtClean="0"/>
              <a:t>import</a:t>
            </a:r>
            <a:r>
              <a:rPr lang="en-IN" dirty="0"/>
              <a:t> </a:t>
            </a:r>
            <a:r>
              <a:rPr lang="en-IN" dirty="0" err="1"/>
              <a:t>os</a:t>
            </a:r>
            <a:r>
              <a:rPr lang="en-IN" dirty="0"/>
              <a:t>    </a:t>
            </a:r>
          </a:p>
          <a:p>
            <a:pPr marL="0" indent="0">
              <a:buNone/>
            </a:pPr>
            <a:r>
              <a:rPr lang="en-IN" dirty="0" err="1" smtClean="0"/>
              <a:t>os.rename</a:t>
            </a:r>
            <a:r>
              <a:rPr lang="en-IN" dirty="0"/>
              <a:t>("file2.txt","file3.txt")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2772677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Removing the file</a:t>
            </a:r>
            <a:br>
              <a:rPr lang="en-IN" dirty="0"/>
            </a:br>
            <a:endParaRPr lang="en-IN" dirty="0"/>
          </a:p>
        </p:txBody>
      </p:sp>
      <p:sp>
        <p:nvSpPr>
          <p:cNvPr id="3" name="Content Placeholder 2"/>
          <p:cNvSpPr>
            <a:spLocks noGrp="1"/>
          </p:cNvSpPr>
          <p:nvPr>
            <p:ph idx="1"/>
          </p:nvPr>
        </p:nvSpPr>
        <p:spPr/>
        <p:txBody>
          <a:bodyPr/>
          <a:lstStyle/>
          <a:p>
            <a:pPr marL="0" indent="0">
              <a:buNone/>
            </a:pPr>
            <a:r>
              <a:rPr lang="en-IN" dirty="0"/>
              <a:t>The </a:t>
            </a:r>
            <a:r>
              <a:rPr lang="en-IN" dirty="0" err="1"/>
              <a:t>os</a:t>
            </a:r>
            <a:r>
              <a:rPr lang="en-IN" dirty="0"/>
              <a:t> module provides the </a:t>
            </a:r>
            <a:r>
              <a:rPr lang="en-IN" b="1" dirty="0"/>
              <a:t>remove()</a:t>
            </a:r>
            <a:r>
              <a:rPr lang="en-IN" dirty="0"/>
              <a:t> method which is used to remove the specified file. The syntax to use the </a:t>
            </a:r>
            <a:r>
              <a:rPr lang="en-IN" b="1" dirty="0"/>
              <a:t>remove()</a:t>
            </a:r>
            <a:r>
              <a:rPr lang="en-IN" dirty="0"/>
              <a:t> method is given below.</a:t>
            </a:r>
          </a:p>
          <a:p>
            <a:pPr marL="0" indent="0">
              <a:buNone/>
            </a:pPr>
            <a:r>
              <a:rPr lang="en-IN" dirty="0"/>
              <a:t>remove(file-name)   </a:t>
            </a:r>
          </a:p>
          <a:p>
            <a:pPr marL="0" indent="0">
              <a:buNone/>
            </a:pPr>
            <a:endParaRPr lang="en-IN" b="1" dirty="0" smtClean="0"/>
          </a:p>
          <a:p>
            <a:pPr marL="0" indent="0">
              <a:buNone/>
            </a:pPr>
            <a:r>
              <a:rPr lang="en-IN" b="1" dirty="0" smtClean="0"/>
              <a:t>Example-</a:t>
            </a:r>
            <a:endParaRPr lang="en-IN" dirty="0"/>
          </a:p>
          <a:p>
            <a:pPr marL="0" indent="0">
              <a:buNone/>
            </a:pPr>
            <a:r>
              <a:rPr lang="en-IN" b="1" dirty="0"/>
              <a:t>import</a:t>
            </a:r>
            <a:r>
              <a:rPr lang="en-IN" dirty="0"/>
              <a:t> </a:t>
            </a:r>
            <a:r>
              <a:rPr lang="en-IN" dirty="0" err="1"/>
              <a:t>os</a:t>
            </a:r>
            <a:r>
              <a:rPr lang="en-IN" dirty="0"/>
              <a:t>;    </a:t>
            </a:r>
          </a:p>
          <a:p>
            <a:pPr marL="0" indent="0">
              <a:buNone/>
            </a:pPr>
            <a:r>
              <a:rPr lang="en-IN" dirty="0" err="1" smtClean="0"/>
              <a:t>os.remove</a:t>
            </a:r>
            <a:r>
              <a:rPr lang="en-IN" dirty="0"/>
              <a:t>("</a:t>
            </a:r>
            <a:r>
              <a:rPr lang="en-IN" dirty="0" smtClean="0"/>
              <a:t>file.txt</a:t>
            </a:r>
            <a:r>
              <a:rPr lang="en-IN" dirty="0"/>
              <a:t>")    </a:t>
            </a:r>
          </a:p>
          <a:p>
            <a:pPr marL="0" indent="0">
              <a:buNone/>
            </a:pPr>
            <a:endParaRPr lang="en-IN" dirty="0"/>
          </a:p>
        </p:txBody>
      </p:sp>
    </p:spTree>
    <p:extLst>
      <p:ext uri="{BB962C8B-B14F-4D97-AF65-F5344CB8AC3E}">
        <p14:creationId xmlns:p14="http://schemas.microsoft.com/office/powerpoint/2010/main" val="2524462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The with </a:t>
            </a:r>
            <a:r>
              <a:rPr lang="en-US" dirty="0" smtClean="0">
                <a:solidFill>
                  <a:srgbClr val="0070C0"/>
                </a:solidFill>
              </a:rPr>
              <a:t>Statement-</a:t>
            </a:r>
            <a:endParaRPr lang="en-US" dirty="0">
              <a:solidFill>
                <a:srgbClr val="0070C0"/>
              </a:solidFill>
            </a:endParaRPr>
          </a:p>
        </p:txBody>
      </p:sp>
      <p:sp>
        <p:nvSpPr>
          <p:cNvPr id="3" name="Content Placeholder 2"/>
          <p:cNvSpPr>
            <a:spLocks noGrp="1"/>
          </p:cNvSpPr>
          <p:nvPr>
            <p:ph idx="1"/>
          </p:nvPr>
        </p:nvSpPr>
        <p:spPr/>
        <p:txBody>
          <a:bodyPr/>
          <a:lstStyle/>
          <a:p>
            <a:r>
              <a:rPr lang="en-US" dirty="0"/>
              <a:t>‘with’ statement can be used while opening a file.</a:t>
            </a:r>
          </a:p>
          <a:p>
            <a:r>
              <a:rPr lang="en-US" dirty="0"/>
              <a:t>Advantage is that, it will take care of closing a file which is opened by ‘with’ statement.</a:t>
            </a:r>
          </a:p>
          <a:p>
            <a:r>
              <a:rPr lang="en-US" dirty="0"/>
              <a:t>In case of exception also, ‘with’ statement will close the file before the exception is handled.</a:t>
            </a:r>
          </a:p>
          <a:p>
            <a:r>
              <a:rPr lang="en-US" dirty="0"/>
              <a:t>Syntax:</a:t>
            </a:r>
          </a:p>
          <a:p>
            <a:pPr marL="0" indent="0" algn="ctr">
              <a:buNone/>
            </a:pPr>
            <a:r>
              <a:rPr lang="en-US" dirty="0"/>
              <a:t>with open(“filename”, “</a:t>
            </a:r>
            <a:r>
              <a:rPr lang="en-US" dirty="0" err="1"/>
              <a:t>openmode</a:t>
            </a:r>
            <a:r>
              <a:rPr lang="en-US" dirty="0"/>
              <a:t>”) as </a:t>
            </a:r>
            <a:r>
              <a:rPr lang="en-US" dirty="0" err="1"/>
              <a:t>fileobj</a:t>
            </a:r>
            <a:endParaRPr lang="en-US" dirty="0"/>
          </a:p>
        </p:txBody>
      </p:sp>
    </p:spTree>
    <p:extLst>
      <p:ext uri="{BB962C8B-B14F-4D97-AF65-F5344CB8AC3E}">
        <p14:creationId xmlns:p14="http://schemas.microsoft.com/office/powerpoint/2010/main" val="32589475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5"/>
          </a:xfrm>
        </p:spPr>
        <p:txBody>
          <a:bodyPr/>
          <a:lstStyle/>
          <a:p>
            <a:r>
              <a:rPr lang="en-US" dirty="0" smtClean="0">
                <a:solidFill>
                  <a:srgbClr val="0070C0"/>
                </a:solidFill>
              </a:rPr>
              <a:t>Pickle module-</a:t>
            </a:r>
            <a:endParaRPr lang="en-US" dirty="0">
              <a:solidFill>
                <a:srgbClr val="0070C0"/>
              </a:solidFill>
            </a:endParaRPr>
          </a:p>
        </p:txBody>
      </p:sp>
      <p:sp>
        <p:nvSpPr>
          <p:cNvPr id="3" name="Content Placeholder 2"/>
          <p:cNvSpPr>
            <a:spLocks noGrp="1"/>
          </p:cNvSpPr>
          <p:nvPr>
            <p:ph idx="1"/>
          </p:nvPr>
        </p:nvSpPr>
        <p:spPr>
          <a:xfrm>
            <a:off x="675409" y="1295400"/>
            <a:ext cx="9944100" cy="5029200"/>
          </a:xfrm>
        </p:spPr>
        <p:txBody>
          <a:bodyPr>
            <a:normAutofit lnSpcReduction="10000"/>
          </a:bodyPr>
          <a:lstStyle/>
          <a:p>
            <a:r>
              <a:rPr lang="en-US" dirty="0"/>
              <a:t>Use to store structured data into a binary file</a:t>
            </a:r>
          </a:p>
          <a:p>
            <a:r>
              <a:rPr lang="en-US" dirty="0"/>
              <a:t>Create an object of a class and that object should be stored into a binary file in the form of bytes</a:t>
            </a:r>
          </a:p>
          <a:p>
            <a:r>
              <a:rPr lang="en-US" dirty="0"/>
              <a:t>It is called pickle or serialization or object serialization</a:t>
            </a:r>
          </a:p>
          <a:p>
            <a:r>
              <a:rPr lang="en-US" dirty="0"/>
              <a:t>Pickle is the process of converting a class object into a byte stream so that it can be stored into a file</a:t>
            </a:r>
          </a:p>
          <a:p>
            <a:r>
              <a:rPr lang="en-US" dirty="0"/>
              <a:t>Need to import pickle module</a:t>
            </a:r>
          </a:p>
          <a:p>
            <a:r>
              <a:rPr lang="en-US" dirty="0"/>
              <a:t>Methods used are:</a:t>
            </a:r>
          </a:p>
          <a:p>
            <a:pPr marL="457200" lvl="1" indent="0">
              <a:buNone/>
            </a:pPr>
            <a:r>
              <a:rPr lang="en-US" dirty="0" err="1"/>
              <a:t>pickle.dump</a:t>
            </a:r>
            <a:r>
              <a:rPr lang="en-US" dirty="0"/>
              <a:t>(</a:t>
            </a:r>
            <a:r>
              <a:rPr lang="en-US" dirty="0" err="1"/>
              <a:t>obj</a:t>
            </a:r>
            <a:r>
              <a:rPr lang="en-US" dirty="0"/>
              <a:t>, file) -&gt; stores the object into file</a:t>
            </a:r>
          </a:p>
          <a:p>
            <a:pPr marL="457200" lvl="1" indent="0">
              <a:buNone/>
            </a:pPr>
            <a:r>
              <a:rPr lang="en-US" dirty="0" err="1"/>
              <a:t>obj</a:t>
            </a:r>
            <a:r>
              <a:rPr lang="en-US" dirty="0"/>
              <a:t> = </a:t>
            </a:r>
            <a:r>
              <a:rPr lang="en-US" dirty="0" err="1"/>
              <a:t>pickle.load</a:t>
            </a:r>
            <a:r>
              <a:rPr lang="en-US" dirty="0"/>
              <a:t>(file)  -&gt;reads an object from binary file</a:t>
            </a:r>
          </a:p>
          <a:p>
            <a:pPr marL="514350" indent="-457200"/>
            <a:r>
              <a:rPr lang="en-US" dirty="0"/>
              <a:t>This is also called as pickling and </a:t>
            </a:r>
            <a:r>
              <a:rPr lang="en-US" dirty="0" err="1"/>
              <a:t>unpickling</a:t>
            </a:r>
            <a:endParaRPr lang="en-US" dirty="0"/>
          </a:p>
          <a:p>
            <a:pPr marL="457200" lvl="1" indent="0">
              <a:buNone/>
            </a:pPr>
            <a:endParaRPr lang="en-US" dirty="0"/>
          </a:p>
        </p:txBody>
      </p:sp>
    </p:spTree>
    <p:extLst>
      <p:ext uri="{BB962C8B-B14F-4D97-AF65-F5344CB8AC3E}">
        <p14:creationId xmlns:p14="http://schemas.microsoft.com/office/powerpoint/2010/main" val="36928547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1016</Words>
  <Application>Microsoft Office PowerPoint</Application>
  <PresentationFormat>Widescreen</PresentationFormat>
  <Paragraphs>182</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Lucida Sans Unicode</vt:lpstr>
      <vt:lpstr>Verdana</vt:lpstr>
      <vt:lpstr>Office Theme</vt:lpstr>
      <vt:lpstr>Unit-3 Part III File Handling in Python</vt:lpstr>
      <vt:lpstr>File Handling-</vt:lpstr>
      <vt:lpstr>Continue..</vt:lpstr>
      <vt:lpstr>Opening a file- </vt:lpstr>
      <vt:lpstr>PowerPoint Presentation</vt:lpstr>
      <vt:lpstr>PowerPoint Presentation</vt:lpstr>
      <vt:lpstr>Example-</vt:lpstr>
      <vt:lpstr>The close() method- </vt:lpstr>
      <vt:lpstr>Example-</vt:lpstr>
      <vt:lpstr>Writing the file </vt:lpstr>
      <vt:lpstr>Example-</vt:lpstr>
      <vt:lpstr>Example-</vt:lpstr>
      <vt:lpstr>Reading a file-</vt:lpstr>
      <vt:lpstr>Read file through for loop </vt:lpstr>
      <vt:lpstr>Read Lines of the file </vt:lpstr>
      <vt:lpstr>Example- </vt:lpstr>
      <vt:lpstr>Readlines()-</vt:lpstr>
      <vt:lpstr>File Pointer positions </vt:lpstr>
      <vt:lpstr>Seek() method-</vt:lpstr>
      <vt:lpstr>Example-</vt:lpstr>
      <vt:lpstr>Output: </vt:lpstr>
      <vt:lpstr>Python OS module- Renaming the file </vt:lpstr>
      <vt:lpstr>Removing the file </vt:lpstr>
      <vt:lpstr>The with Statement-</vt:lpstr>
      <vt:lpstr>Pickle module-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LJMCA</dc:creator>
  <cp:lastModifiedBy>admin</cp:lastModifiedBy>
  <cp:revision>45</cp:revision>
  <dcterms:created xsi:type="dcterms:W3CDTF">2023-01-04T03:39:30Z</dcterms:created>
  <dcterms:modified xsi:type="dcterms:W3CDTF">2026-02-28T07:09:11Z</dcterms:modified>
</cp:coreProperties>
</file>