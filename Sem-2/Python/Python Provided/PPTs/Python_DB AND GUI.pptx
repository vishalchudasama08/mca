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50" autoAdjust="0"/>
    <p:restoredTop sz="94660"/>
  </p:normalViewPr>
  <p:slideViewPr>
    <p:cSldViewPr>
      <p:cViewPr varScale="1">
        <p:scale>
          <a:sx n="74" d="100"/>
          <a:sy n="74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EE44503-FE7E-4C0C-8245-C02E3AB3C72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8EBE090-F79D-4A56-8956-121B71D70E5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-76200"/>
            <a:ext cx="7543800" cy="15240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Python Programming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2057400"/>
            <a:ext cx="6172200" cy="4495800"/>
          </a:xfrm>
        </p:spPr>
        <p:txBody>
          <a:bodyPr>
            <a:normAutofit/>
          </a:bodyPr>
          <a:lstStyle/>
          <a:p>
            <a:r>
              <a:rPr lang="en-US" sz="2000" u="sng" dirty="0" smtClean="0"/>
              <a:t>Unit -5 :  Python Database and GUI Programming</a:t>
            </a:r>
          </a:p>
          <a:p>
            <a:endParaRPr lang="en-US" sz="2000" u="sng" dirty="0" smtClean="0"/>
          </a:p>
          <a:p>
            <a:r>
              <a:rPr lang="en-US" dirty="0"/>
              <a:t>Topics </a:t>
            </a:r>
            <a:r>
              <a:rPr lang="en-US" dirty="0" smtClean="0"/>
              <a:t>: Python’s Database Connectivity, Working with MySQL Database, Using MySQL from python</a:t>
            </a:r>
            <a:r>
              <a:rPr lang="en-US" dirty="0"/>
              <a:t>, Creating Database tables through </a:t>
            </a:r>
            <a:r>
              <a:rPr lang="en-US" dirty="0" smtClean="0"/>
              <a:t>python, </a:t>
            </a:r>
            <a:r>
              <a:rPr lang="en-US" dirty="0"/>
              <a:t>Retrieving </a:t>
            </a:r>
            <a:r>
              <a:rPr lang="en-US" dirty="0" smtClean="0"/>
              <a:t>all the rows from the table, Inserting rows in the table, Deleting the rows from the table, Updating Rows in a table, Python’s GUI Programming.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78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MySQL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467600" cy="5486400"/>
          </a:xfrm>
        </p:spPr>
        <p:txBody>
          <a:bodyPr>
            <a:normAutofit/>
          </a:bodyPr>
          <a:lstStyle/>
          <a:p>
            <a:r>
              <a:rPr lang="en-IN" sz="2200" dirty="0"/>
              <a:t>To create a connection between the MySQL database and the python application, the connect() method of </a:t>
            </a:r>
            <a:r>
              <a:rPr lang="en-IN" sz="2200" dirty="0" err="1"/>
              <a:t>mysql.connector</a:t>
            </a:r>
            <a:r>
              <a:rPr lang="en-IN" sz="2200" dirty="0"/>
              <a:t> module is used.</a:t>
            </a:r>
          </a:p>
          <a:p>
            <a:r>
              <a:rPr lang="en-IN" sz="2200" dirty="0"/>
              <a:t>Pass the database details like </a:t>
            </a:r>
            <a:r>
              <a:rPr lang="en-IN" sz="2200" dirty="0" err="1"/>
              <a:t>HostName</a:t>
            </a:r>
            <a:r>
              <a:rPr lang="en-IN" sz="2200" dirty="0"/>
              <a:t>, username, and the database password in the method call. The method returns the connection object.</a:t>
            </a:r>
          </a:p>
          <a:p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51261"/>
            <a:ext cx="7696200" cy="223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3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Create Database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467600" cy="5486400"/>
          </a:xfrm>
        </p:spPr>
        <p:txBody>
          <a:bodyPr>
            <a:normAutofit/>
          </a:bodyPr>
          <a:lstStyle/>
          <a:p>
            <a:r>
              <a:rPr lang="en-IN" sz="2200" dirty="0"/>
              <a:t>The </a:t>
            </a:r>
            <a:r>
              <a:rPr lang="en-IN" sz="2200" dirty="0" err="1"/>
              <a:t>MySQLCursor</a:t>
            </a:r>
            <a:r>
              <a:rPr lang="en-IN" sz="2200" dirty="0"/>
              <a:t> of </a:t>
            </a:r>
            <a:r>
              <a:rPr lang="en-IN" sz="2200" dirty="0" err="1"/>
              <a:t>mysql</a:t>
            </a:r>
            <a:r>
              <a:rPr lang="en-IN" sz="2200" dirty="0"/>
              <a:t>-connector-python (and similar libraries) is used to execute statements to communicate with the MySQL database.</a:t>
            </a:r>
          </a:p>
          <a:p>
            <a:r>
              <a:rPr lang="en-IN" sz="2200" dirty="0"/>
              <a:t>Using the methods of it you can execute SQL statements, fetch data from the result sets, call procedures.</a:t>
            </a:r>
          </a:p>
          <a:p>
            <a:r>
              <a:rPr lang="en-IN" sz="2200" dirty="0"/>
              <a:t>You can create </a:t>
            </a:r>
            <a:r>
              <a:rPr lang="en-IN" sz="2200" b="1" dirty="0"/>
              <a:t>Cursor</a:t>
            </a:r>
            <a:r>
              <a:rPr lang="en-IN" sz="2200" dirty="0"/>
              <a:t> object using the cursor() method of the Connection object/class</a:t>
            </a:r>
            <a:r>
              <a:rPr lang="en-IN" sz="2200" dirty="0" smtClean="0"/>
              <a:t>.</a:t>
            </a:r>
          </a:p>
          <a:p>
            <a:r>
              <a:rPr lang="en-IN" sz="2200" dirty="0" smtClean="0"/>
              <a:t>To </a:t>
            </a:r>
            <a:r>
              <a:rPr lang="en-IN" sz="2200" dirty="0"/>
              <a:t>create a database in MySQL, use the "CREATE DATABASE" statement:</a:t>
            </a: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5029200"/>
            <a:ext cx="65151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3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001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 smtClean="0"/>
              <a:t>Methods in Cursor (information)</a:t>
            </a:r>
            <a:endParaRPr lang="en-US" sz="36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937005770"/>
              </p:ext>
            </p:extLst>
          </p:nvPr>
        </p:nvGraphicFramePr>
        <p:xfrm>
          <a:off x="1066800" y="734366"/>
          <a:ext cx="6705600" cy="6047434"/>
        </p:xfrm>
        <a:graphic>
          <a:graphicData uri="http://schemas.openxmlformats.org/drawingml/2006/table">
            <a:tbl>
              <a:tblPr/>
              <a:tblGrid>
                <a:gridCol w="457200"/>
                <a:gridCol w="6248400"/>
              </a:tblGrid>
              <a:tr h="166439">
                <a:tc>
                  <a:txBody>
                    <a:bodyPr/>
                    <a:lstStyle/>
                    <a:p>
                      <a:pPr algn="ctr" fontAlgn="t"/>
                      <a:r>
                        <a:rPr lang="en-IN" sz="700" dirty="0" err="1">
                          <a:effectLst/>
                        </a:rPr>
                        <a:t>Sr.No</a:t>
                      </a:r>
                      <a:endParaRPr lang="en-IN" sz="700" dirty="0">
                        <a:effectLst/>
                      </a:endParaRP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700">
                          <a:effectLst/>
                        </a:rPr>
                        <a:t>Method &amp; Description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87427"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1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>
                          <a:solidFill>
                            <a:srgbClr val="000000"/>
                          </a:solidFill>
                          <a:effectLst/>
                        </a:rPr>
                        <a:t>callproc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is used to call existing procedures MySQL database.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427"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2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close()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is used to close the current cursor object.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427">
                <a:tc>
                  <a:txBody>
                    <a:bodyPr/>
                    <a:lstStyle/>
                    <a:p>
                      <a:pPr fontAlgn="t"/>
                      <a:r>
                        <a:rPr lang="en-IN" sz="1400" dirty="0">
                          <a:effectLst/>
                        </a:rPr>
                        <a:t>3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Info()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gives information about the last query.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419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4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>
                          <a:solidFill>
                            <a:srgbClr val="000000"/>
                          </a:solidFill>
                          <a:effectLst/>
                        </a:rPr>
                        <a:t>executemany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accepts a list series of parameters list. Prepares an MySQL query and executes it with all the parameters.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423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5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execute()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accepts a MySQL query as a parameter and executes the given query.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2408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6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>
                          <a:solidFill>
                            <a:srgbClr val="000000"/>
                          </a:solidFill>
                          <a:effectLst/>
                        </a:rPr>
                        <a:t>fetchall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retrieves all the rows in the result set of a query and returns them as list of tuples. (If we execute this after retrieving few rows it returns the remaining ones)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423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7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>
                          <a:solidFill>
                            <a:srgbClr val="000000"/>
                          </a:solidFill>
                          <a:effectLst/>
                        </a:rPr>
                        <a:t>fetchone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fetches the next row in the result of a query and returns it as a tuple.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416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8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>
                          <a:solidFill>
                            <a:srgbClr val="000000"/>
                          </a:solidFill>
                          <a:effectLst/>
                        </a:rPr>
                        <a:t>fetchmany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is similar to the </a:t>
                      </a:r>
                      <a:r>
                        <a:rPr lang="en-IN" sz="1400" dirty="0" err="1">
                          <a:solidFill>
                            <a:srgbClr val="000000"/>
                          </a:solidFill>
                          <a:effectLst/>
                        </a:rPr>
                        <a:t>fetchone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() but, it retrieves the next set of rows in the result set of a query, instead of a single row.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427">
                <a:tc>
                  <a:txBody>
                    <a:bodyPr/>
                    <a:lstStyle/>
                    <a:p>
                      <a:pPr fontAlgn="t"/>
                      <a:r>
                        <a:rPr lang="en-IN" sz="1400">
                          <a:effectLst/>
                        </a:rPr>
                        <a:t>9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1" dirty="0" err="1" smtClean="0">
                          <a:solidFill>
                            <a:srgbClr val="000000"/>
                          </a:solidFill>
                          <a:effectLst/>
                        </a:rPr>
                        <a:t>fetchwarnings</a:t>
                      </a: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IN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</a:rPr>
                        <a:t>This method returns the warnings generated by the last executed query.</a:t>
                      </a:r>
                    </a:p>
                  </a:txBody>
                  <a:tcPr marL="29721" marR="29721" marT="29721" marB="2972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Show Database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638800"/>
          </a:xfrm>
        </p:spPr>
        <p:txBody>
          <a:bodyPr>
            <a:normAutofit/>
          </a:bodyPr>
          <a:lstStyle/>
          <a:p>
            <a:r>
              <a:rPr lang="en-IN" sz="2200" dirty="0"/>
              <a:t>You can check if a database exist by listing all databases in your system by using the "SHOW DATABASES" statement: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314575"/>
            <a:ext cx="684847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7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Create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638800"/>
          </a:xfrm>
        </p:spPr>
        <p:txBody>
          <a:bodyPr>
            <a:normAutofit/>
          </a:bodyPr>
          <a:lstStyle/>
          <a:p>
            <a:r>
              <a:rPr lang="en-IN" sz="2200" dirty="0"/>
              <a:t>To create a table in MySQL, use the "CREATE TABLE" statement</a:t>
            </a:r>
            <a:r>
              <a:rPr lang="en-IN" sz="2200" dirty="0" smtClean="0"/>
              <a:t>.</a:t>
            </a:r>
            <a:endParaRPr lang="en-IN" sz="2200" dirty="0"/>
          </a:p>
          <a:p>
            <a:r>
              <a:rPr lang="en-IN" sz="2200" dirty="0"/>
              <a:t>Make sure you define the name of the database when you create the </a:t>
            </a:r>
            <a:r>
              <a:rPr lang="en-IN" sz="2200" dirty="0" smtClean="0"/>
              <a:t>connection.</a:t>
            </a: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549598"/>
            <a:ext cx="8310419" cy="202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8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Table Exist or Not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638800"/>
          </a:xfrm>
        </p:spPr>
        <p:txBody>
          <a:bodyPr>
            <a:normAutofit/>
          </a:bodyPr>
          <a:lstStyle/>
          <a:p>
            <a:r>
              <a:rPr lang="en-IN" sz="2200" dirty="0"/>
              <a:t>You can check if a table exist by listing all tables in your database with the "SHOW TABLES" statement: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1200"/>
            <a:ext cx="7435932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9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Primary Key and Alter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638800"/>
          </a:xfrm>
        </p:spPr>
        <p:txBody>
          <a:bodyPr>
            <a:normAutofit/>
          </a:bodyPr>
          <a:lstStyle/>
          <a:p>
            <a:r>
              <a:rPr lang="en-IN" sz="2200" dirty="0"/>
              <a:t>You can check if a table exist by listing all tables in your database with the "SHOW TABLES" statement</a:t>
            </a:r>
            <a:r>
              <a:rPr lang="en-IN" sz="2200" dirty="0" smtClean="0"/>
              <a:t>:</a:t>
            </a:r>
          </a:p>
          <a:p>
            <a:r>
              <a:rPr lang="en-US" sz="2200" dirty="0" smtClean="0"/>
              <a:t>Example-1</a:t>
            </a:r>
          </a:p>
          <a:p>
            <a:pPr marL="0" indent="0">
              <a:buNone/>
            </a:pPr>
            <a:r>
              <a:rPr lang="en-IN" sz="2000" dirty="0" err="1" smtClean="0"/>
              <a:t>mycursor</a:t>
            </a:r>
            <a:r>
              <a:rPr lang="en-IN" sz="2000" dirty="0" smtClean="0"/>
              <a:t> = </a:t>
            </a:r>
            <a:r>
              <a:rPr lang="en-IN" sz="2000" dirty="0" err="1" smtClean="0"/>
              <a:t>mydb.cursor</a:t>
            </a:r>
            <a:r>
              <a:rPr lang="en-IN" sz="2000" dirty="0" smtClean="0"/>
              <a:t>()</a:t>
            </a:r>
            <a:br>
              <a:rPr lang="en-IN" sz="2000" dirty="0" smtClean="0"/>
            </a:br>
            <a:r>
              <a:rPr lang="en-IN" sz="2000" dirty="0" err="1" smtClean="0"/>
              <a:t>mycursor.execute</a:t>
            </a:r>
            <a:r>
              <a:rPr lang="en-IN" sz="2000" dirty="0" smtClean="0"/>
              <a:t>("CREATE TABLE customers (id INT AUTO_INCREMENT PRIMARY KEY, name VARCHAR(255), address VARCHAR(255))")</a:t>
            </a:r>
          </a:p>
          <a:p>
            <a:pPr marL="0" indent="0">
              <a:buNone/>
            </a:pPr>
            <a:endParaRPr lang="en-US" sz="2200" dirty="0" smtClean="0"/>
          </a:p>
          <a:p>
            <a:r>
              <a:rPr lang="en-US" sz="2200" dirty="0" smtClean="0"/>
              <a:t>Example-2</a:t>
            </a:r>
            <a:endParaRPr lang="en-US" sz="2200" dirty="0"/>
          </a:p>
          <a:p>
            <a:pPr marL="0" indent="0">
              <a:buNone/>
            </a:pPr>
            <a:r>
              <a:rPr lang="en-IN" sz="2000" dirty="0" err="1" smtClean="0"/>
              <a:t>mycursor</a:t>
            </a:r>
            <a:r>
              <a:rPr lang="en-IN" sz="2000" dirty="0" smtClean="0"/>
              <a:t> </a:t>
            </a:r>
            <a:r>
              <a:rPr lang="en-IN" sz="2000" dirty="0"/>
              <a:t>= </a:t>
            </a:r>
            <a:r>
              <a:rPr lang="en-IN" sz="2000" dirty="0" err="1"/>
              <a:t>mydb.cursor</a:t>
            </a:r>
            <a:r>
              <a:rPr lang="en-IN" sz="2000" dirty="0" smtClean="0"/>
              <a:t>()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 err="1" smtClean="0"/>
              <a:t>mycursor.execute</a:t>
            </a:r>
            <a:r>
              <a:rPr lang="en-IN" sz="2000" dirty="0"/>
              <a:t>("ALTER TABLE customers ADD COLUMN id INT AUTO_INCREMENT PRIMARY KEY</a:t>
            </a:r>
            <a:r>
              <a:rPr lang="en-IN" sz="2000" dirty="0" smtClean="0"/>
              <a:t>")</a:t>
            </a:r>
            <a:r>
              <a:rPr lang="en-IN" sz="2000" dirty="0"/>
              <a:t/>
            </a:r>
            <a:br>
              <a:rPr lang="en-IN" sz="20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1768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Insert into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638800"/>
          </a:xfrm>
        </p:spPr>
        <p:txBody>
          <a:bodyPr>
            <a:normAutofit/>
          </a:bodyPr>
          <a:lstStyle/>
          <a:p>
            <a:r>
              <a:rPr lang="en-IN" sz="1800" dirty="0"/>
              <a:t>To fill a table in MySQL, use the "INSERT INTO" statement</a:t>
            </a:r>
            <a:r>
              <a:rPr lang="en-IN" sz="1800" dirty="0" smtClean="0"/>
              <a:t>. </a:t>
            </a:r>
            <a:r>
              <a:rPr lang="en-IN" sz="1800" dirty="0" err="1" smtClean="0"/>
              <a:t>Executemany</a:t>
            </a:r>
            <a:r>
              <a:rPr lang="en-IN" sz="1800" dirty="0" smtClean="0"/>
              <a:t> command is use to insert more than one values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2113"/>
            <a:ext cx="7129463" cy="2376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59878"/>
            <a:ext cx="7346156" cy="28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1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Retrieving Rows from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To select from a table in MySQL, use the "SELECT" statement: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68" y="1171574"/>
            <a:ext cx="703377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3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Select from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To select only some of the columns in a table, use the "SELECT" statement followed by the column name(s</a:t>
            </a:r>
            <a:r>
              <a:rPr lang="en-IN" sz="1800" dirty="0" smtClean="0"/>
              <a:t>):</a:t>
            </a:r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pPr marL="0" indent="0">
              <a:buNone/>
            </a:pPr>
            <a:endParaRPr lang="en-IN" sz="1800" dirty="0" smtClean="0"/>
          </a:p>
          <a:p>
            <a:r>
              <a:rPr lang="en-IN" sz="1800" dirty="0" smtClean="0"/>
              <a:t>If </a:t>
            </a:r>
            <a:r>
              <a:rPr lang="en-IN" sz="1800" dirty="0"/>
              <a:t>you are only interested in one row, you can use the </a:t>
            </a:r>
            <a:r>
              <a:rPr lang="en-IN" sz="1800" dirty="0" err="1"/>
              <a:t>fetchone</a:t>
            </a:r>
            <a:r>
              <a:rPr lang="en-IN" sz="1800" dirty="0"/>
              <a:t>() </a:t>
            </a:r>
            <a:r>
              <a:rPr lang="en-IN" sz="1800" dirty="0" smtClean="0"/>
              <a:t>method. The </a:t>
            </a:r>
            <a:r>
              <a:rPr lang="en-IN" sz="1800" b="1" dirty="0" err="1"/>
              <a:t>fetchone</a:t>
            </a:r>
            <a:r>
              <a:rPr lang="en-IN" sz="1800" b="1" dirty="0"/>
              <a:t>()</a:t>
            </a:r>
            <a:r>
              <a:rPr lang="en-IN" sz="1800" dirty="0"/>
              <a:t> method will return the first row of the </a:t>
            </a:r>
            <a:r>
              <a:rPr lang="en-IN" sz="1800" dirty="0" smtClean="0"/>
              <a:t>result.</a:t>
            </a:r>
            <a:endParaRPr lang="en-US" sz="1800" dirty="0" smtClean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02" y="1333500"/>
            <a:ext cx="7836898" cy="3086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5257800"/>
            <a:ext cx="66294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9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Select from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When selecting records from a table, you can filter the selection by using the "WHERE" statement</a:t>
            </a:r>
            <a:r>
              <a:rPr lang="en-IN" sz="1800" dirty="0" smtClean="0"/>
              <a:t>:</a:t>
            </a:r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IN" sz="1800" dirty="0"/>
              <a:t>You can also select the records that starts, includes, or ends with a given letter or </a:t>
            </a:r>
            <a:r>
              <a:rPr lang="en-IN" sz="1800" dirty="0" smtClean="0"/>
              <a:t>phrase. Use </a:t>
            </a:r>
            <a:r>
              <a:rPr lang="en-IN" sz="1800" dirty="0"/>
              <a:t>the </a:t>
            </a:r>
            <a:r>
              <a:rPr lang="en-IN" sz="1800" b="1" dirty="0"/>
              <a:t>%</a:t>
            </a:r>
            <a:r>
              <a:rPr lang="en-IN" sz="1800" dirty="0"/>
              <a:t> </a:t>
            </a:r>
            <a:r>
              <a:rPr lang="en-IN" sz="1800" dirty="0" smtClean="0"/>
              <a:t>to </a:t>
            </a:r>
            <a:r>
              <a:rPr lang="en-IN" sz="1800" dirty="0"/>
              <a:t>represent wildcard characters: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371600"/>
            <a:ext cx="8229600" cy="20526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52529"/>
            <a:ext cx="7620000" cy="215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0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Delete from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You can delete records from an existing table by using the "DELETE FROM" statement:</a:t>
            </a:r>
            <a:endParaRPr lang="en-IN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IN" sz="1800" b="1" dirty="0" smtClean="0"/>
              <a:t>Note : The statement </a:t>
            </a:r>
            <a:r>
              <a:rPr lang="en-IN" sz="1800" b="1" dirty="0" err="1"/>
              <a:t>mydb.commit</a:t>
            </a:r>
            <a:r>
              <a:rPr lang="en-IN" sz="1800" b="1" dirty="0"/>
              <a:t>(). It is required to make the changes, otherwise no changes are made to the table.</a:t>
            </a:r>
            <a:endParaRPr lang="en-US" sz="1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8037369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5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Drop Table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You can delete an existing table by using the "DROP TABLE" statement:</a:t>
            </a:r>
            <a:endParaRPr lang="en-US" sz="1800" dirty="0" smtClean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IN" sz="1800" dirty="0"/>
              <a:t>If the table you want to delete is already deleted, or for any other reason does not exist, you can use the </a:t>
            </a:r>
            <a:r>
              <a:rPr lang="en-IN" sz="1800" b="1" dirty="0"/>
              <a:t>IF EXISTS</a:t>
            </a:r>
            <a:r>
              <a:rPr lang="en-IN" sz="1800" dirty="0"/>
              <a:t> keyword to avoid getting an error.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86" y="1447800"/>
            <a:ext cx="7076924" cy="15859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73" y="4157663"/>
            <a:ext cx="7202237" cy="148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1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Update Data in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943600"/>
          </a:xfrm>
        </p:spPr>
        <p:txBody>
          <a:bodyPr>
            <a:normAutofit/>
          </a:bodyPr>
          <a:lstStyle/>
          <a:p>
            <a:r>
              <a:rPr lang="en-IN" sz="1800" dirty="0"/>
              <a:t>You can update existing records in a table by using the "UPDATE" statement:</a:t>
            </a:r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 smtClean="0"/>
          </a:p>
          <a:p>
            <a:endParaRPr lang="en-IN" sz="1800" dirty="0" smtClean="0"/>
          </a:p>
          <a:p>
            <a:r>
              <a:rPr lang="en-IN" sz="1800" dirty="0" smtClean="0"/>
              <a:t>It </a:t>
            </a:r>
            <a:r>
              <a:rPr lang="en-IN" sz="1800" dirty="0"/>
              <a:t>is considered a good practice to escape the values of any query, also in update statements</a:t>
            </a:r>
            <a:r>
              <a:rPr lang="en-IN" sz="1800" dirty="0" smtClean="0"/>
              <a:t>.</a:t>
            </a:r>
            <a:endParaRPr lang="en-IN" sz="1800" dirty="0"/>
          </a:p>
          <a:p>
            <a:r>
              <a:rPr lang="en-IN" sz="1800" dirty="0"/>
              <a:t>This is to prevent SQL injections, which is a common web hacking technique to destroy or misuse your database</a:t>
            </a:r>
            <a:r>
              <a:rPr lang="en-IN" sz="1800" dirty="0" smtClean="0"/>
              <a:t>.</a:t>
            </a:r>
            <a:endParaRPr lang="en-IN" sz="1800" dirty="0"/>
          </a:p>
          <a:p>
            <a:r>
              <a:rPr lang="en-IN" sz="1800" dirty="0"/>
              <a:t>The </a:t>
            </a:r>
            <a:r>
              <a:rPr lang="en-IN" sz="1800" dirty="0" err="1"/>
              <a:t>mysql.connector</a:t>
            </a:r>
            <a:r>
              <a:rPr lang="en-IN" sz="1800" dirty="0"/>
              <a:t> module uses the placeholder %s to escape values in the delete statement: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7800"/>
            <a:ext cx="824768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6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Update Data in Table</a:t>
            </a:r>
            <a:endParaRPr lang="en-US" sz="3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46071"/>
            <a:ext cx="8413885" cy="225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1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5242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Python GUI – </a:t>
            </a:r>
            <a:r>
              <a:rPr lang="en-US" sz="3600" b="1" dirty="0" err="1" smtClean="0"/>
              <a:t>Tkinter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715000"/>
          </a:xfrm>
        </p:spPr>
        <p:txBody>
          <a:bodyPr>
            <a:normAutofit/>
          </a:bodyPr>
          <a:lstStyle/>
          <a:p>
            <a:r>
              <a:rPr lang="en-IN" sz="1800" dirty="0"/>
              <a:t>Python offers multiple options for developing GUI (Graphical User Interface). Out of all the GUI methods, </a:t>
            </a:r>
            <a:r>
              <a:rPr lang="en-IN" sz="1800" b="1" dirty="0" err="1"/>
              <a:t>tkinter</a:t>
            </a:r>
            <a:r>
              <a:rPr lang="en-IN" sz="1800" dirty="0"/>
              <a:t> is the most commonly used method. </a:t>
            </a:r>
            <a:endParaRPr lang="en-IN" sz="1800" dirty="0" smtClean="0"/>
          </a:p>
          <a:p>
            <a:r>
              <a:rPr lang="en-IN" sz="1800" dirty="0" smtClean="0"/>
              <a:t>It </a:t>
            </a:r>
            <a:r>
              <a:rPr lang="en-IN" sz="1800" dirty="0"/>
              <a:t>is a standard Python interface to the </a:t>
            </a:r>
            <a:r>
              <a:rPr lang="en-IN" sz="1800" dirty="0" err="1"/>
              <a:t>Tk</a:t>
            </a:r>
            <a:r>
              <a:rPr lang="en-IN" sz="1800" dirty="0"/>
              <a:t> GUI toolkit shipped with Python. </a:t>
            </a:r>
            <a:endParaRPr lang="en-IN" sz="1800" dirty="0" smtClean="0"/>
          </a:p>
          <a:p>
            <a:r>
              <a:rPr lang="en-IN" sz="1800" dirty="0" smtClean="0"/>
              <a:t>Python </a:t>
            </a:r>
            <a:r>
              <a:rPr lang="en-IN" sz="1800" dirty="0"/>
              <a:t>with </a:t>
            </a:r>
            <a:r>
              <a:rPr lang="en-IN" sz="1800" dirty="0" err="1"/>
              <a:t>tkinter</a:t>
            </a:r>
            <a:r>
              <a:rPr lang="en-IN" sz="1800" dirty="0"/>
              <a:t> is the fastest and easiest way to create the GUI applications. Creating a GUI using </a:t>
            </a:r>
            <a:r>
              <a:rPr lang="en-IN" sz="1800" dirty="0" err="1"/>
              <a:t>tkinter</a:t>
            </a:r>
            <a:r>
              <a:rPr lang="en-IN" sz="1800" dirty="0"/>
              <a:t> is an easy task</a:t>
            </a:r>
            <a:r>
              <a:rPr lang="en-IN" sz="1800" dirty="0" smtClean="0"/>
              <a:t>.</a:t>
            </a:r>
          </a:p>
          <a:p>
            <a:r>
              <a:rPr lang="en-IN" sz="1800" b="1" dirty="0"/>
              <a:t>To create a </a:t>
            </a:r>
            <a:r>
              <a:rPr lang="en-IN" sz="1800" b="1" dirty="0" err="1"/>
              <a:t>tkinter</a:t>
            </a:r>
            <a:r>
              <a:rPr lang="en-IN" sz="1800" b="1" dirty="0"/>
              <a:t> app</a:t>
            </a:r>
            <a:r>
              <a:rPr lang="en-IN" sz="1800" b="1" dirty="0" smtClean="0"/>
              <a:t>:</a:t>
            </a:r>
            <a:endParaRPr lang="en-IN" sz="1800" b="1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Importing the module – </a:t>
            </a:r>
            <a:r>
              <a:rPr lang="en-IN" sz="1800" dirty="0" err="1"/>
              <a:t>tkinter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Create the main window (container)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Add any number of widgets to the main window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Apply the event Trigger on the widgets.</a:t>
            </a:r>
          </a:p>
          <a:p>
            <a:r>
              <a:rPr lang="en-IN" sz="1800" dirty="0"/>
              <a:t>Importing </a:t>
            </a:r>
            <a:r>
              <a:rPr lang="en-IN" sz="1800" dirty="0" err="1"/>
              <a:t>tkinter</a:t>
            </a:r>
            <a:r>
              <a:rPr lang="en-IN" sz="1800" dirty="0"/>
              <a:t> is same as importing any other module in the Python </a:t>
            </a:r>
            <a:r>
              <a:rPr lang="en-IN" sz="1800" dirty="0" smtClean="0"/>
              <a:t>code :  </a:t>
            </a:r>
            <a:r>
              <a:rPr lang="en-IN" sz="1800" b="1" dirty="0" smtClean="0"/>
              <a:t>import </a:t>
            </a:r>
            <a:r>
              <a:rPr lang="en-IN" sz="1800" b="1" dirty="0" err="1" smtClean="0"/>
              <a:t>tkinter</a:t>
            </a:r>
            <a:endParaRPr lang="en-US" sz="1800" b="1" dirty="0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45683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Python GUI – </a:t>
            </a:r>
            <a:r>
              <a:rPr lang="en-US" sz="3600" b="1" dirty="0" err="1" smtClean="0"/>
              <a:t>Tkinter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715000"/>
          </a:xfrm>
        </p:spPr>
        <p:txBody>
          <a:bodyPr>
            <a:normAutofit lnSpcReduction="10000"/>
          </a:bodyPr>
          <a:lstStyle/>
          <a:p>
            <a:r>
              <a:rPr lang="en-IN" sz="1800" dirty="0"/>
              <a:t>There are two main methods used which the user needs to remember while creating the Python application with GUI</a:t>
            </a:r>
            <a:r>
              <a:rPr lang="en-IN" sz="1800" dirty="0" smtClean="0"/>
              <a:t>.</a:t>
            </a:r>
            <a:endParaRPr lang="en-IN" sz="1800" dirty="0"/>
          </a:p>
          <a:p>
            <a:pPr marL="342900" indent="-342900">
              <a:buAutoNum type="arabicPeriod"/>
            </a:pPr>
            <a:r>
              <a:rPr lang="en-IN" sz="1800" b="1" dirty="0" err="1" smtClean="0"/>
              <a:t>Tk</a:t>
            </a:r>
            <a:r>
              <a:rPr lang="en-IN" sz="1800" b="1" dirty="0" smtClean="0"/>
              <a:t>(</a:t>
            </a:r>
            <a:r>
              <a:rPr lang="en-IN" sz="1800" b="1" dirty="0" err="1" smtClean="0"/>
              <a:t>screenName</a:t>
            </a:r>
            <a:r>
              <a:rPr lang="en-IN" sz="1800" b="1" dirty="0" smtClean="0"/>
              <a:t>=None</a:t>
            </a:r>
            <a:r>
              <a:rPr lang="en-IN" sz="1800" b="1" dirty="0"/>
              <a:t>,  </a:t>
            </a:r>
            <a:r>
              <a:rPr lang="en-IN" sz="1800" b="1" dirty="0" err="1"/>
              <a:t>baseName</a:t>
            </a:r>
            <a:r>
              <a:rPr lang="en-IN" sz="1800" b="1" dirty="0"/>
              <a:t>=None,  </a:t>
            </a:r>
            <a:r>
              <a:rPr lang="en-IN" sz="1800" b="1" dirty="0" err="1"/>
              <a:t>className</a:t>
            </a:r>
            <a:r>
              <a:rPr lang="en-IN" sz="1800" b="1" dirty="0"/>
              <a:t>=’</a:t>
            </a:r>
            <a:r>
              <a:rPr lang="en-IN" sz="1800" b="1" dirty="0" err="1"/>
              <a:t>Tk</a:t>
            </a:r>
            <a:r>
              <a:rPr lang="en-IN" sz="1800" b="1" dirty="0"/>
              <a:t>’,  </a:t>
            </a:r>
            <a:r>
              <a:rPr lang="en-IN" sz="1800" b="1" dirty="0" err="1"/>
              <a:t>useTk</a:t>
            </a:r>
            <a:r>
              <a:rPr lang="en-IN" sz="1800" b="1" dirty="0"/>
              <a:t>=1):</a:t>
            </a:r>
            <a:r>
              <a:rPr lang="en-IN" sz="1800" dirty="0"/>
              <a:t> To create a main window, </a:t>
            </a:r>
            <a:r>
              <a:rPr lang="en-IN" sz="1800" dirty="0" err="1"/>
              <a:t>tkinter</a:t>
            </a:r>
            <a:r>
              <a:rPr lang="en-IN" sz="1800" dirty="0"/>
              <a:t> offers a method ‘</a:t>
            </a:r>
            <a:r>
              <a:rPr lang="en-IN" sz="1800" dirty="0" err="1"/>
              <a:t>Tk</a:t>
            </a:r>
            <a:r>
              <a:rPr lang="en-IN" sz="1800" dirty="0"/>
              <a:t>(</a:t>
            </a:r>
            <a:r>
              <a:rPr lang="en-IN" sz="1800" dirty="0" err="1"/>
              <a:t>screenName</a:t>
            </a:r>
            <a:r>
              <a:rPr lang="en-IN" sz="1800" dirty="0"/>
              <a:t>=None,  </a:t>
            </a:r>
            <a:r>
              <a:rPr lang="en-IN" sz="1800" dirty="0" err="1"/>
              <a:t>baseName</a:t>
            </a:r>
            <a:r>
              <a:rPr lang="en-IN" sz="1800" dirty="0"/>
              <a:t>=None,  </a:t>
            </a:r>
            <a:r>
              <a:rPr lang="en-IN" sz="1800" dirty="0" err="1"/>
              <a:t>className</a:t>
            </a:r>
            <a:r>
              <a:rPr lang="en-IN" sz="1800" dirty="0"/>
              <a:t>=’</a:t>
            </a:r>
            <a:r>
              <a:rPr lang="en-IN" sz="1800" dirty="0" err="1"/>
              <a:t>Tk</a:t>
            </a:r>
            <a:r>
              <a:rPr lang="en-IN" sz="1800" dirty="0"/>
              <a:t>’,  </a:t>
            </a:r>
            <a:r>
              <a:rPr lang="en-IN" sz="1800" dirty="0" err="1"/>
              <a:t>useTk</a:t>
            </a:r>
            <a:r>
              <a:rPr lang="en-IN" sz="1800" dirty="0"/>
              <a:t>=1)’. To change the name of the window, you can change the </a:t>
            </a:r>
            <a:r>
              <a:rPr lang="en-IN" sz="1800" dirty="0" err="1"/>
              <a:t>className</a:t>
            </a:r>
            <a:r>
              <a:rPr lang="en-IN" sz="1800" dirty="0"/>
              <a:t> to the desired one. The basic code used to create the main window of the application is</a:t>
            </a:r>
            <a:r>
              <a:rPr lang="en-IN" sz="1800" dirty="0" smtClean="0"/>
              <a:t>:</a:t>
            </a:r>
          </a:p>
          <a:p>
            <a:pPr marL="342900" indent="-342900">
              <a:buAutoNum type="arabicPeriod"/>
            </a:pPr>
            <a:r>
              <a:rPr lang="en-IN" sz="1800" dirty="0" smtClean="0"/>
              <a:t>Think of </a:t>
            </a:r>
            <a:r>
              <a:rPr lang="en-IN" sz="1800" dirty="0" err="1" smtClean="0"/>
              <a:t>Tk</a:t>
            </a:r>
            <a:r>
              <a:rPr lang="en-IN" sz="1800" dirty="0" smtClean="0"/>
              <a:t>() as “starting a blank window on the screen for</a:t>
            </a:r>
          </a:p>
          <a:p>
            <a:pPr marL="0" indent="0">
              <a:buNone/>
            </a:pPr>
            <a:r>
              <a:rPr lang="en-IN" sz="1800" dirty="0" smtClean="0"/>
              <a:t>      Your </a:t>
            </a:r>
            <a:r>
              <a:rPr lang="en-IN" sz="1800" dirty="0" err="1" smtClean="0"/>
              <a:t>gui</a:t>
            </a:r>
            <a:r>
              <a:rPr lang="en-IN" sz="1800" dirty="0" smtClean="0"/>
              <a:t> program</a:t>
            </a:r>
            <a:endParaRPr lang="en-IN" sz="1800" dirty="0" smtClean="0"/>
          </a:p>
          <a:p>
            <a:pPr marL="342900" indent="-342900">
              <a:buAutoNum type="arabicPeriod"/>
            </a:pP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  m=</a:t>
            </a:r>
            <a:r>
              <a:rPr lang="en-IN" sz="1800" dirty="0" err="1" smtClean="0"/>
              <a:t>tkinter.Tk</a:t>
            </a:r>
            <a:r>
              <a:rPr lang="en-IN" sz="1800" dirty="0"/>
              <a:t>() where m is the name of the main window </a:t>
            </a:r>
            <a:r>
              <a:rPr lang="en-IN" sz="1800" dirty="0" smtClean="0"/>
              <a:t>object</a:t>
            </a:r>
          </a:p>
          <a:p>
            <a:pPr marL="0" indent="0">
              <a:buNone/>
            </a:pPr>
            <a:r>
              <a:rPr lang="en-IN" sz="1800" dirty="0" smtClean="0"/>
              <a:t>     </a:t>
            </a:r>
            <a:r>
              <a:rPr lang="en-US" sz="1800" dirty="0" err="1"/>
              <a:t>Tk</a:t>
            </a:r>
            <a:r>
              <a:rPr lang="en-US" sz="1800" dirty="0"/>
              <a:t>() creates the main window where our GUI runs.”</a:t>
            </a:r>
            <a:endParaRPr lang="en-IN" sz="1800" dirty="0"/>
          </a:p>
          <a:p>
            <a:pPr marL="342900" indent="-342900">
              <a:buFont typeface="+mj-lt"/>
              <a:buAutoNum type="arabicPeriod" startAt="2"/>
            </a:pPr>
            <a:r>
              <a:rPr lang="en-IN" sz="1800" b="1" dirty="0" err="1" smtClean="0"/>
              <a:t>mainloop</a:t>
            </a:r>
            <a:r>
              <a:rPr lang="en-IN" sz="1800" b="1" dirty="0"/>
              <a:t>():</a:t>
            </a:r>
            <a:r>
              <a:rPr lang="en-IN" sz="1800" dirty="0"/>
              <a:t> There is a method known by the name </a:t>
            </a:r>
            <a:r>
              <a:rPr lang="en-IN" sz="1800" dirty="0" err="1"/>
              <a:t>mainloop</a:t>
            </a:r>
            <a:r>
              <a:rPr lang="en-IN" sz="1800" dirty="0"/>
              <a:t>() is </a:t>
            </a:r>
            <a:r>
              <a:rPr lang="en-IN" sz="1800" dirty="0" smtClean="0"/>
              <a:t>used </a:t>
            </a:r>
            <a:r>
              <a:rPr lang="en-IN" sz="1800" dirty="0"/>
              <a:t>when your application is ready to run. </a:t>
            </a:r>
            <a:r>
              <a:rPr lang="en-IN" sz="1800" dirty="0" err="1"/>
              <a:t>mainloop</a:t>
            </a:r>
            <a:r>
              <a:rPr lang="en-IN" sz="1800" dirty="0"/>
              <a:t>() is an infinite loop used to run the application, wait for an event to occur and process the event as long as the window is not </a:t>
            </a:r>
            <a:r>
              <a:rPr lang="en-IN" sz="1800" dirty="0" smtClean="0"/>
              <a:t>closed.</a:t>
            </a:r>
          </a:p>
          <a:p>
            <a:pPr marL="342900" indent="-342900">
              <a:buFont typeface="+mj-lt"/>
              <a:buAutoNum type="arabicPeriod" startAt="2"/>
            </a:pPr>
            <a:endParaRPr lang="en-IN" sz="1800" dirty="0"/>
          </a:p>
          <a:p>
            <a:pPr marL="0" indent="0">
              <a:buNone/>
            </a:pPr>
            <a:r>
              <a:rPr lang="en-IN" sz="1800" dirty="0" smtClean="0"/>
              <a:t>     </a:t>
            </a:r>
            <a:r>
              <a:rPr lang="en-IN" sz="1800" dirty="0" err="1" smtClean="0"/>
              <a:t>m.mainloop</a:t>
            </a:r>
            <a:r>
              <a:rPr lang="en-IN" sz="1800" dirty="0"/>
              <a:t>()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04814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Python GUI – </a:t>
            </a:r>
            <a:r>
              <a:rPr lang="en-US" sz="3600" b="1" dirty="0" err="1" smtClean="0"/>
              <a:t>Tkinter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7150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IN" sz="1800" dirty="0"/>
              <a:t>import </a:t>
            </a:r>
            <a:r>
              <a:rPr lang="en-IN" sz="1800" dirty="0" err="1"/>
              <a:t>tkinter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m = </a:t>
            </a:r>
            <a:r>
              <a:rPr lang="en-IN" sz="1800" dirty="0" err="1"/>
              <a:t>tkinter.Tk</a:t>
            </a:r>
            <a:r>
              <a:rPr lang="en-IN" sz="1800" dirty="0"/>
              <a:t>()</a:t>
            </a:r>
          </a:p>
          <a:p>
            <a:pPr marL="0" indent="0">
              <a:buNone/>
            </a:pPr>
            <a:r>
              <a:rPr lang="en-IN" sz="1800" dirty="0"/>
              <a:t>'''</a:t>
            </a:r>
          </a:p>
          <a:p>
            <a:pPr marL="0" indent="0">
              <a:buNone/>
            </a:pPr>
            <a:r>
              <a:rPr lang="en-IN" sz="1800" dirty="0"/>
              <a:t>widgets are added here</a:t>
            </a:r>
          </a:p>
          <a:p>
            <a:pPr marL="0" indent="0">
              <a:buNone/>
            </a:pPr>
            <a:r>
              <a:rPr lang="en-IN" sz="1800" dirty="0"/>
              <a:t>'''</a:t>
            </a:r>
          </a:p>
          <a:p>
            <a:pPr marL="0" indent="0">
              <a:buNone/>
            </a:pPr>
            <a:r>
              <a:rPr lang="en-IN" sz="1800" dirty="0" err="1"/>
              <a:t>m.mainloop</a:t>
            </a:r>
            <a:r>
              <a:rPr lang="en-IN" sz="1800" dirty="0" smtClean="0"/>
              <a:t>()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 err="1"/>
              <a:t>tkinter</a:t>
            </a:r>
            <a:r>
              <a:rPr lang="en-IN" sz="1800" dirty="0"/>
              <a:t> also offers access to the geometric configuration of the widgets which can organize the widgets in the parent windows. There are mainly three geometry manager classes class</a:t>
            </a:r>
            <a:r>
              <a:rPr lang="en-IN" sz="1800" dirty="0" smtClean="0"/>
              <a:t>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sz="1800" b="1" dirty="0"/>
              <a:t>pack() </a:t>
            </a:r>
            <a:r>
              <a:rPr lang="en-IN" sz="1800" b="1" dirty="0" err="1"/>
              <a:t>method:</a:t>
            </a:r>
            <a:r>
              <a:rPr lang="en-IN" sz="1800" dirty="0" err="1"/>
              <a:t>It</a:t>
            </a:r>
            <a:r>
              <a:rPr lang="en-IN" sz="1800" dirty="0"/>
              <a:t> organizes the widgets in blocks before placing in the parent widget.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sz="1800" b="1" dirty="0"/>
              <a:t>grid() </a:t>
            </a:r>
            <a:r>
              <a:rPr lang="en-IN" sz="1800" b="1" dirty="0" err="1"/>
              <a:t>method:</a:t>
            </a:r>
            <a:r>
              <a:rPr lang="en-IN" sz="1800" dirty="0" err="1"/>
              <a:t>It</a:t>
            </a:r>
            <a:r>
              <a:rPr lang="en-IN" sz="1800" dirty="0"/>
              <a:t> organizes the widgets in grid (table-like structure) before placing in the parent widget.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sz="1800" b="1" dirty="0"/>
              <a:t>place() </a:t>
            </a:r>
            <a:r>
              <a:rPr lang="en-IN" sz="1800" b="1" dirty="0" err="1"/>
              <a:t>method:</a:t>
            </a:r>
            <a:r>
              <a:rPr lang="en-IN" sz="1800" dirty="0" err="1"/>
              <a:t>It</a:t>
            </a:r>
            <a:r>
              <a:rPr lang="en-IN" sz="1800" dirty="0"/>
              <a:t> organizes the widgets by placing them on specific positions directed by the programmer.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5488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Button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 fontScale="92500" lnSpcReduction="10000"/>
          </a:bodyPr>
          <a:lstStyle/>
          <a:p>
            <a:r>
              <a:rPr lang="en-IN" sz="1800" dirty="0"/>
              <a:t>There are a number of widgets which you can put in your </a:t>
            </a:r>
            <a:r>
              <a:rPr lang="en-IN" sz="1800" dirty="0" err="1"/>
              <a:t>tkinter</a:t>
            </a:r>
            <a:r>
              <a:rPr lang="en-IN" sz="1800" dirty="0"/>
              <a:t> </a:t>
            </a:r>
            <a:r>
              <a:rPr lang="en-IN" sz="1800" dirty="0" smtClean="0"/>
              <a:t>application</a:t>
            </a:r>
            <a:r>
              <a:rPr lang="en-IN" sz="1800" dirty="0"/>
              <a:t>. Some of the major widgets are explained below</a:t>
            </a:r>
            <a:r>
              <a:rPr lang="en-IN" sz="1800" dirty="0" smtClean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 smtClean="0"/>
              <a:t>Button: </a:t>
            </a:r>
            <a:r>
              <a:rPr lang="en-IN" sz="1800" dirty="0"/>
              <a:t>To add a button in your application, this widget is used.</a:t>
            </a:r>
          </a:p>
          <a:p>
            <a:pPr marL="0" indent="0">
              <a:buNone/>
            </a:pPr>
            <a:r>
              <a:rPr lang="en-IN" sz="1800" dirty="0"/>
              <a:t>The general syntax is:</a:t>
            </a:r>
          </a:p>
          <a:p>
            <a:pPr marL="0" indent="0">
              <a:buNone/>
            </a:pPr>
            <a:r>
              <a:rPr lang="en-IN" sz="1800" dirty="0" smtClean="0"/>
              <a:t>	</a:t>
            </a:r>
            <a:r>
              <a:rPr lang="en-IN" sz="1800" b="1" dirty="0" smtClean="0"/>
              <a:t>w=Button(master</a:t>
            </a:r>
            <a:r>
              <a:rPr lang="en-IN" sz="1800" b="1" dirty="0"/>
              <a:t>, option=value</a:t>
            </a:r>
            <a:r>
              <a:rPr lang="en-IN" sz="1800" b="1" dirty="0" smtClean="0"/>
              <a:t>)</a:t>
            </a:r>
          </a:p>
          <a:p>
            <a:r>
              <a:rPr lang="en-IN" sz="1800" dirty="0"/>
              <a:t>master is the parameter used to represent the parent window.</a:t>
            </a:r>
          </a:p>
          <a:p>
            <a:r>
              <a:rPr lang="en-IN" sz="1800" dirty="0"/>
              <a:t>There are number of options which are used to change the format of the Buttons. 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 err="1"/>
              <a:t>activebackground</a:t>
            </a:r>
            <a:r>
              <a:rPr lang="en-IN" sz="1800" dirty="0"/>
              <a:t>: to set the background </a:t>
            </a:r>
            <a:r>
              <a:rPr lang="en-IN" sz="1800" dirty="0" err="1"/>
              <a:t>color</a:t>
            </a:r>
            <a:r>
              <a:rPr lang="en-IN" sz="1800" dirty="0"/>
              <a:t> when button is under the cursor.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 err="1"/>
              <a:t>activeforeground</a:t>
            </a:r>
            <a:r>
              <a:rPr lang="en-IN" sz="1800" dirty="0"/>
              <a:t>: to set the foreground </a:t>
            </a:r>
            <a:r>
              <a:rPr lang="en-IN" sz="1800" dirty="0" err="1"/>
              <a:t>color</a:t>
            </a:r>
            <a:r>
              <a:rPr lang="en-IN" sz="1800" dirty="0"/>
              <a:t> when button is under the cursor.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 err="1"/>
              <a:t>bg</a:t>
            </a:r>
            <a:r>
              <a:rPr lang="en-IN" sz="1800" dirty="0"/>
              <a:t>: to set the normal background </a:t>
            </a:r>
            <a:r>
              <a:rPr lang="en-IN" sz="1800" dirty="0" err="1"/>
              <a:t>color</a:t>
            </a:r>
            <a:r>
              <a:rPr lang="en-IN" sz="1800" dirty="0"/>
              <a:t>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/>
              <a:t>command</a:t>
            </a:r>
            <a:r>
              <a:rPr lang="en-IN" sz="1800" dirty="0"/>
              <a:t>: to call a function.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/>
              <a:t>font</a:t>
            </a:r>
            <a:r>
              <a:rPr lang="en-IN" sz="1800" dirty="0"/>
              <a:t>: to set the font on the button label.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/>
              <a:t>image</a:t>
            </a:r>
            <a:r>
              <a:rPr lang="en-IN" sz="1800" dirty="0"/>
              <a:t>: to set the image on the button.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/>
              <a:t>width</a:t>
            </a:r>
            <a:r>
              <a:rPr lang="en-IN" sz="1800" dirty="0"/>
              <a:t>: to set the width of the button.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IN" sz="1800" b="1" dirty="0"/>
              <a:t>height</a:t>
            </a:r>
            <a:r>
              <a:rPr lang="en-IN" sz="1800" dirty="0"/>
              <a:t>: to set the height of the button.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7020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Button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import </a:t>
            </a:r>
            <a:r>
              <a:rPr lang="en-US" sz="1800" dirty="0" err="1"/>
              <a:t>tkinter</a:t>
            </a:r>
            <a:r>
              <a:rPr lang="en-US" sz="1800" dirty="0"/>
              <a:t> as </a:t>
            </a:r>
            <a:r>
              <a:rPr lang="en-US" sz="1800" dirty="0" err="1"/>
              <a:t>tk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r = </a:t>
            </a:r>
            <a:r>
              <a:rPr lang="en-US" sz="1800" dirty="0" err="1"/>
              <a:t>tk.Tk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r.title</a:t>
            </a:r>
            <a:r>
              <a:rPr lang="en-US" sz="1800" dirty="0"/>
              <a:t>('Counting Seconds')</a:t>
            </a:r>
          </a:p>
          <a:p>
            <a:pPr marL="0" indent="0">
              <a:buNone/>
            </a:pPr>
            <a:r>
              <a:rPr lang="en-US" sz="1800" dirty="0"/>
              <a:t>button = </a:t>
            </a:r>
            <a:r>
              <a:rPr lang="en-US" sz="1800" dirty="0" err="1"/>
              <a:t>tk.Button</a:t>
            </a:r>
            <a:r>
              <a:rPr lang="en-US" sz="1800" dirty="0"/>
              <a:t>(r, text='Stop', width=25, command=</a:t>
            </a:r>
            <a:r>
              <a:rPr lang="en-US" sz="1800" dirty="0" err="1"/>
              <a:t>r.destroy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 err="1"/>
              <a:t>button.pack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r.mainloop</a:t>
            </a:r>
            <a:r>
              <a:rPr lang="en-US" sz="1800" dirty="0" smtClean="0"/>
              <a:t>()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43400"/>
            <a:ext cx="3557891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Canvas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6019800"/>
          </a:xfrm>
        </p:spPr>
        <p:txBody>
          <a:bodyPr>
            <a:normAutofit/>
          </a:bodyPr>
          <a:lstStyle/>
          <a:p>
            <a:r>
              <a:rPr lang="en-IN" sz="1800" dirty="0"/>
              <a:t>There are a number of widgets which you can put in your </a:t>
            </a:r>
            <a:r>
              <a:rPr lang="en-IN" sz="1800" dirty="0" err="1"/>
              <a:t>tkinter</a:t>
            </a:r>
            <a:r>
              <a:rPr lang="en-IN" sz="1800" dirty="0"/>
              <a:t> </a:t>
            </a:r>
            <a:r>
              <a:rPr lang="en-IN" sz="1800" dirty="0" smtClean="0"/>
              <a:t>application</a:t>
            </a:r>
            <a:r>
              <a:rPr lang="en-IN" sz="1800" dirty="0"/>
              <a:t>. Some of the major widgets are explained below</a:t>
            </a:r>
            <a:r>
              <a:rPr lang="en-IN" sz="1800" dirty="0" smtClean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Canvas: </a:t>
            </a:r>
            <a:r>
              <a:rPr lang="en-IN" sz="1800" dirty="0"/>
              <a:t>It is used to draw pictures and other complex layout like graphics, text and </a:t>
            </a:r>
            <a:r>
              <a:rPr lang="en-IN" sz="1800" dirty="0" smtClean="0"/>
              <a:t>widgets.</a:t>
            </a:r>
          </a:p>
          <a:p>
            <a:pPr marL="0" indent="0">
              <a:buNone/>
            </a:pPr>
            <a:r>
              <a:rPr lang="en-IN" sz="1800" dirty="0" smtClean="0"/>
              <a:t>The </a:t>
            </a:r>
            <a:r>
              <a:rPr lang="en-IN" sz="1800" dirty="0"/>
              <a:t>general syntax is:</a:t>
            </a:r>
          </a:p>
          <a:p>
            <a:pPr marL="0" indent="0">
              <a:buNone/>
            </a:pPr>
            <a:r>
              <a:rPr lang="en-IN" sz="1800" b="1" dirty="0" smtClean="0"/>
              <a:t>	w </a:t>
            </a:r>
            <a:r>
              <a:rPr lang="en-IN" sz="1800" b="1" dirty="0"/>
              <a:t>= Canvas(master, option=value</a:t>
            </a:r>
            <a:r>
              <a:rPr lang="en-IN" sz="1800" b="1" dirty="0" smtClean="0"/>
              <a:t>)</a:t>
            </a:r>
          </a:p>
          <a:p>
            <a:r>
              <a:rPr lang="en-IN" sz="1800" dirty="0" smtClean="0"/>
              <a:t>master </a:t>
            </a:r>
            <a:r>
              <a:rPr lang="en-IN" sz="1800" dirty="0"/>
              <a:t>is the parameter used to represent the parent window.</a:t>
            </a:r>
          </a:p>
          <a:p>
            <a:r>
              <a:rPr lang="en-IN" sz="1800" dirty="0"/>
              <a:t>There are number of options which are used to change the format of the </a:t>
            </a:r>
            <a:r>
              <a:rPr lang="en-IN" sz="1800" dirty="0" smtClean="0"/>
              <a:t>widgets. </a:t>
            </a:r>
            <a:r>
              <a:rPr lang="en-IN" sz="1800" dirty="0"/>
              <a:t>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 err="1"/>
              <a:t>bd</a:t>
            </a:r>
            <a:r>
              <a:rPr lang="en-IN" sz="1800" dirty="0"/>
              <a:t>: to set the border width in pixels.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 err="1"/>
              <a:t>bg</a:t>
            </a:r>
            <a:r>
              <a:rPr lang="en-IN" sz="1800" dirty="0"/>
              <a:t>: to set the normal background </a:t>
            </a:r>
            <a:r>
              <a:rPr lang="en-IN" sz="1800" dirty="0" err="1"/>
              <a:t>color</a:t>
            </a:r>
            <a:r>
              <a:rPr lang="en-IN" sz="1800" dirty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/>
              <a:t>cursor</a:t>
            </a:r>
            <a:r>
              <a:rPr lang="en-IN" sz="1800" dirty="0"/>
              <a:t>: to set the cursor used in the canvas.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 err="1"/>
              <a:t>highlightcolor</a:t>
            </a:r>
            <a:r>
              <a:rPr lang="en-IN" sz="1800" dirty="0"/>
              <a:t>: to set the </a:t>
            </a:r>
            <a:r>
              <a:rPr lang="en-IN" sz="1800" dirty="0" err="1"/>
              <a:t>color</a:t>
            </a:r>
            <a:r>
              <a:rPr lang="en-IN" sz="1800" dirty="0"/>
              <a:t> shown in the focus highlight.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/>
              <a:t>width</a:t>
            </a:r>
            <a:r>
              <a:rPr lang="en-IN" sz="1800" dirty="0"/>
              <a:t>: to set the width of the widget.</a:t>
            </a:r>
          </a:p>
          <a:p>
            <a:pPr fontAlgn="base">
              <a:buFont typeface="Wingdings" pitchFamily="2" charset="2"/>
              <a:buChar char="Ø"/>
            </a:pPr>
            <a:r>
              <a:rPr lang="en-IN" sz="1800" b="1" dirty="0"/>
              <a:t>height</a:t>
            </a:r>
            <a:r>
              <a:rPr lang="en-IN" sz="1800" dirty="0"/>
              <a:t>: to set the height of the widget.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609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Canvas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tkinter</a:t>
            </a:r>
            <a:r>
              <a:rPr lang="en-US" sz="1800" dirty="0"/>
              <a:t> import *</a:t>
            </a:r>
          </a:p>
          <a:p>
            <a:pPr marL="0" indent="0">
              <a:buNone/>
            </a:pPr>
            <a:r>
              <a:rPr lang="en-US" sz="1800" dirty="0"/>
              <a:t>master = </a:t>
            </a:r>
            <a:r>
              <a:rPr lang="en-US" sz="1800" dirty="0" err="1"/>
              <a:t>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w = Canvas(master, width=40, height=60)</a:t>
            </a:r>
          </a:p>
          <a:p>
            <a:pPr marL="0" indent="0">
              <a:buNone/>
            </a:pPr>
            <a:r>
              <a:rPr lang="en-US" sz="1800" dirty="0" err="1"/>
              <a:t>w.pack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canvas_height</a:t>
            </a:r>
            <a:r>
              <a:rPr lang="en-US" sz="1800" dirty="0"/>
              <a:t>=20</a:t>
            </a:r>
          </a:p>
          <a:p>
            <a:pPr marL="0" indent="0">
              <a:buNone/>
            </a:pPr>
            <a:r>
              <a:rPr lang="en-US" sz="1800" dirty="0" err="1"/>
              <a:t>canvas_width</a:t>
            </a:r>
            <a:r>
              <a:rPr lang="en-US" sz="1800" dirty="0"/>
              <a:t>=200</a:t>
            </a:r>
          </a:p>
          <a:p>
            <a:pPr marL="0" indent="0">
              <a:buNone/>
            </a:pPr>
            <a:r>
              <a:rPr lang="en-US" sz="1800" dirty="0"/>
              <a:t>y = </a:t>
            </a:r>
            <a:r>
              <a:rPr lang="en-US" sz="1800" dirty="0" err="1"/>
              <a:t>int</a:t>
            </a:r>
            <a:r>
              <a:rPr lang="en-US" sz="1800" dirty="0"/>
              <a:t>(</a:t>
            </a:r>
            <a:r>
              <a:rPr lang="en-US" sz="1800" dirty="0" err="1"/>
              <a:t>canvas_height</a:t>
            </a:r>
            <a:r>
              <a:rPr lang="en-US" sz="1800" dirty="0"/>
              <a:t> / 2)</a:t>
            </a:r>
          </a:p>
          <a:p>
            <a:pPr marL="0" indent="0">
              <a:buNone/>
            </a:pPr>
            <a:r>
              <a:rPr lang="en-US" sz="1800" dirty="0" err="1"/>
              <a:t>w.create_line</a:t>
            </a:r>
            <a:r>
              <a:rPr lang="en-US" sz="1800" dirty="0"/>
              <a:t>(0, y, </a:t>
            </a:r>
            <a:r>
              <a:rPr lang="en-US" sz="1800" dirty="0" err="1"/>
              <a:t>canvas_width</a:t>
            </a:r>
            <a:r>
              <a:rPr lang="en-US" sz="1800" dirty="0"/>
              <a:t>, y )</a:t>
            </a:r>
          </a:p>
          <a:p>
            <a:pPr marL="0" indent="0">
              <a:buNone/>
            </a:pPr>
            <a:r>
              <a:rPr lang="en-US" sz="1800" dirty="0" err="1"/>
              <a:t>mainloop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876800"/>
            <a:ext cx="2257136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0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 smtClean="0"/>
              <a:t>CheckButton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60198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 err="1"/>
              <a:t>CheckButton</a:t>
            </a:r>
            <a:r>
              <a:rPr lang="en-US" sz="1800" b="1" dirty="0"/>
              <a:t>:</a:t>
            </a:r>
            <a:r>
              <a:rPr lang="en-US" sz="1800" dirty="0"/>
              <a:t> To select any number of options by displaying a number of options to a user as toggle buttons.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The </a:t>
            </a:r>
            <a:r>
              <a:rPr lang="en-US" sz="1800" dirty="0"/>
              <a:t>general syntax is:</a:t>
            </a:r>
          </a:p>
          <a:p>
            <a:pPr marL="0" indent="0">
              <a:buNone/>
            </a:pPr>
            <a:r>
              <a:rPr lang="en-US" sz="1800" b="1" dirty="0" smtClean="0"/>
              <a:t>	w </a:t>
            </a:r>
            <a:r>
              <a:rPr lang="en-US" sz="1800" b="1" dirty="0"/>
              <a:t>= </a:t>
            </a:r>
            <a:r>
              <a:rPr lang="en-US" sz="1800" b="1" dirty="0" err="1"/>
              <a:t>CheckButton</a:t>
            </a:r>
            <a:r>
              <a:rPr lang="en-US" sz="1800" b="1" dirty="0"/>
              <a:t>(master, option=value)</a:t>
            </a:r>
            <a:endParaRPr lang="en-IN" sz="1800" b="1" dirty="0" smtClean="0"/>
          </a:p>
          <a:p>
            <a:r>
              <a:rPr lang="en-IN" sz="1800" dirty="0" smtClean="0"/>
              <a:t>master </a:t>
            </a:r>
            <a:r>
              <a:rPr lang="en-IN" sz="1800" dirty="0"/>
              <a:t>is the parameter used to represent the parent window.</a:t>
            </a:r>
          </a:p>
          <a:p>
            <a:r>
              <a:rPr lang="en-IN" sz="1800" dirty="0"/>
              <a:t>There are number of options which are used to change the format of the </a:t>
            </a:r>
            <a:r>
              <a:rPr lang="en-IN" sz="1800" dirty="0" smtClean="0"/>
              <a:t>widgets. </a:t>
            </a:r>
            <a:r>
              <a:rPr lang="en-IN" sz="1800" dirty="0"/>
              <a:t>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Title</a:t>
            </a:r>
            <a:r>
              <a:rPr lang="en-US" sz="1800" dirty="0"/>
              <a:t>: To set the title of the widget.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activebackground</a:t>
            </a:r>
            <a:r>
              <a:rPr lang="en-US" sz="1800" dirty="0"/>
              <a:t>: to set the background color when widget is under the cursor.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activeforeground</a:t>
            </a:r>
            <a:r>
              <a:rPr lang="en-US" sz="1800" dirty="0"/>
              <a:t>: to set the foreground color when widget is under the cursor.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command</a:t>
            </a:r>
            <a:r>
              <a:rPr lang="en-US" sz="1800" dirty="0"/>
              <a:t>: to call a function.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font</a:t>
            </a:r>
            <a:r>
              <a:rPr lang="en-US" sz="1800" dirty="0"/>
              <a:t>: to set the font on the button label.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image</a:t>
            </a:r>
            <a:r>
              <a:rPr lang="en-US" sz="1800" dirty="0"/>
              <a:t>: to set the image on the widget</a:t>
            </a:r>
            <a:r>
              <a:rPr lang="en-US" sz="1800" dirty="0" smtClean="0"/>
              <a:t>.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6173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/>
              <a:t>CheckButton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tkinter</a:t>
            </a:r>
            <a:r>
              <a:rPr lang="en-US" sz="1800" dirty="0"/>
              <a:t> import *</a:t>
            </a:r>
          </a:p>
          <a:p>
            <a:pPr marL="0" indent="0">
              <a:buNone/>
            </a:pPr>
            <a:r>
              <a:rPr lang="en-US" sz="1800" dirty="0"/>
              <a:t>master = </a:t>
            </a:r>
            <a:r>
              <a:rPr lang="en-US" sz="1800" dirty="0" err="1"/>
              <a:t>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var1 = </a:t>
            </a:r>
            <a:r>
              <a:rPr lang="en-US" sz="1800" dirty="0" err="1"/>
              <a:t>IntVar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Checkbutton</a:t>
            </a:r>
            <a:r>
              <a:rPr lang="en-US" sz="1800" dirty="0"/>
              <a:t>(master, text='male', variable=var1).grid(row=0, sticky=W)</a:t>
            </a:r>
          </a:p>
          <a:p>
            <a:pPr marL="0" indent="0">
              <a:buNone/>
            </a:pPr>
            <a:r>
              <a:rPr lang="en-US" sz="1800" dirty="0"/>
              <a:t>var2 = </a:t>
            </a:r>
            <a:r>
              <a:rPr lang="en-US" sz="1800" dirty="0" err="1"/>
              <a:t>IntVar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Checkbutton</a:t>
            </a:r>
            <a:r>
              <a:rPr lang="en-US" sz="1800" dirty="0"/>
              <a:t>(master, text='female', variable=var2).grid(row=1, sticky=W)</a:t>
            </a:r>
          </a:p>
          <a:p>
            <a:pPr marL="0" indent="0">
              <a:buNone/>
            </a:pPr>
            <a:r>
              <a:rPr lang="en-US" sz="1800" dirty="0" err="1"/>
              <a:t>mainloop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808220"/>
            <a:ext cx="2133600" cy="144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559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 smtClean="0"/>
              <a:t>RadioButton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601980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 err="1"/>
              <a:t>RadioButton</a:t>
            </a:r>
            <a:r>
              <a:rPr lang="en-US" sz="1800" b="1" dirty="0"/>
              <a:t>: </a:t>
            </a:r>
            <a:r>
              <a:rPr lang="en-US" sz="1800" dirty="0"/>
              <a:t>It is used to offer multi-choice option to the user. It offers several options to the user and the user has to choose one option.</a:t>
            </a:r>
          </a:p>
          <a:p>
            <a:pPr marL="0" indent="0">
              <a:buNone/>
            </a:pPr>
            <a:r>
              <a:rPr lang="en-US" sz="1800" dirty="0"/>
              <a:t>The general syntax is:</a:t>
            </a:r>
          </a:p>
          <a:p>
            <a:pPr marL="0" indent="0">
              <a:buNone/>
            </a:pPr>
            <a:r>
              <a:rPr lang="en-US" sz="1800" b="1" dirty="0" smtClean="0"/>
              <a:t>	w </a:t>
            </a:r>
            <a:r>
              <a:rPr lang="en-US" sz="1800" b="1" dirty="0"/>
              <a:t>= </a:t>
            </a:r>
            <a:r>
              <a:rPr lang="en-US" sz="1800" b="1" dirty="0" err="1"/>
              <a:t>RadioButton</a:t>
            </a:r>
            <a:r>
              <a:rPr lang="en-US" sz="1800" b="1" dirty="0"/>
              <a:t>(master, option=value)</a:t>
            </a:r>
            <a:endParaRPr lang="en-IN" sz="1800" b="1" dirty="0" smtClean="0"/>
          </a:p>
          <a:p>
            <a:r>
              <a:rPr lang="en-IN" sz="1800" dirty="0" smtClean="0"/>
              <a:t>master is the parameter used to represent the parent window.</a:t>
            </a:r>
          </a:p>
          <a:p>
            <a:r>
              <a:rPr lang="en-IN" sz="1800" dirty="0" smtClean="0"/>
              <a:t>There </a:t>
            </a:r>
            <a:r>
              <a:rPr lang="en-IN" sz="1800" dirty="0"/>
              <a:t>are number of options which are used to change the format of the </a:t>
            </a:r>
            <a:r>
              <a:rPr lang="en-IN" sz="1800" dirty="0" smtClean="0"/>
              <a:t>widgets. </a:t>
            </a:r>
            <a:r>
              <a:rPr lang="en-IN" sz="1800" dirty="0"/>
              <a:t>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activebackground</a:t>
            </a:r>
            <a:r>
              <a:rPr lang="en-US" sz="1800" dirty="0"/>
              <a:t>: to set the background color when widget is under the cursor.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activeforeground</a:t>
            </a:r>
            <a:r>
              <a:rPr lang="en-US" sz="1800" dirty="0"/>
              <a:t>: to set the foreground color when widget is under the cursor.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bg</a:t>
            </a:r>
            <a:r>
              <a:rPr lang="en-US" sz="1800" dirty="0"/>
              <a:t>: to set the normal background color.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command</a:t>
            </a:r>
            <a:r>
              <a:rPr lang="en-US" sz="1800" dirty="0"/>
              <a:t>: to call a function.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font</a:t>
            </a:r>
            <a:r>
              <a:rPr lang="en-US" sz="1800" dirty="0"/>
              <a:t>: to set the font on the button label.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image</a:t>
            </a:r>
            <a:r>
              <a:rPr lang="en-US" sz="1800" dirty="0"/>
              <a:t>: to set the image on the widget.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width</a:t>
            </a:r>
            <a:r>
              <a:rPr lang="en-US" sz="1800" dirty="0"/>
              <a:t>: to set the width of the label in characters.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height</a:t>
            </a:r>
            <a:r>
              <a:rPr lang="en-US" sz="1800" dirty="0"/>
              <a:t>: to set the height of the label in </a:t>
            </a:r>
            <a:r>
              <a:rPr lang="en-US" sz="1800" dirty="0" smtClean="0"/>
              <a:t>characters.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2911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 smtClean="0"/>
              <a:t>RadioButton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tkinter</a:t>
            </a:r>
            <a:r>
              <a:rPr lang="en-US" sz="1800" dirty="0"/>
              <a:t> import *</a:t>
            </a:r>
          </a:p>
          <a:p>
            <a:pPr marL="0" indent="0">
              <a:buNone/>
            </a:pPr>
            <a:r>
              <a:rPr lang="en-US" sz="1800" dirty="0"/>
              <a:t>root = </a:t>
            </a:r>
            <a:r>
              <a:rPr lang="en-US" sz="1800" dirty="0" err="1"/>
              <a:t>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v = </a:t>
            </a:r>
            <a:r>
              <a:rPr lang="en-US" sz="1800" dirty="0" err="1"/>
              <a:t>IntVar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Radiobutton</a:t>
            </a:r>
            <a:r>
              <a:rPr lang="en-US" sz="1800" dirty="0"/>
              <a:t>(root, text='</a:t>
            </a:r>
            <a:r>
              <a:rPr lang="en-US" sz="1800" dirty="0" err="1"/>
              <a:t>GfG</a:t>
            </a:r>
            <a:r>
              <a:rPr lang="en-US" sz="1800" dirty="0"/>
              <a:t>', variable=v, value=1).pack(anchor=W)</a:t>
            </a:r>
          </a:p>
          <a:p>
            <a:pPr marL="0" indent="0">
              <a:buNone/>
            </a:pPr>
            <a:r>
              <a:rPr lang="en-US" sz="1800" dirty="0" err="1"/>
              <a:t>Radiobutton</a:t>
            </a:r>
            <a:r>
              <a:rPr lang="en-US" sz="1800" dirty="0"/>
              <a:t>(root, text='MIT', variable=v, value=2).pack(anchor=W)</a:t>
            </a:r>
          </a:p>
          <a:p>
            <a:pPr marL="0" indent="0">
              <a:buNone/>
            </a:pPr>
            <a:r>
              <a:rPr lang="en-US" sz="1800" dirty="0" err="1"/>
              <a:t>mainloop</a:t>
            </a:r>
            <a:r>
              <a:rPr lang="en-US" sz="1800"/>
              <a:t>()</a:t>
            </a:r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724400"/>
            <a:ext cx="23241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846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Entry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60198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 err="1"/>
              <a:t>Entry:</a:t>
            </a:r>
            <a:r>
              <a:rPr lang="en-US" sz="1800" dirty="0" err="1"/>
              <a:t>It</a:t>
            </a:r>
            <a:r>
              <a:rPr lang="en-US" sz="1800" dirty="0"/>
              <a:t> is used to input the single line text entry from the user.. For multi-line text input, Text widget is used.</a:t>
            </a:r>
            <a:br>
              <a:rPr lang="en-US" sz="1800" dirty="0"/>
            </a:br>
            <a:r>
              <a:rPr lang="en-US" sz="1800" dirty="0"/>
              <a:t>The general syntax is</a:t>
            </a:r>
            <a:r>
              <a:rPr lang="en-US" sz="1800" dirty="0" smtClean="0"/>
              <a:t>:</a:t>
            </a:r>
          </a:p>
          <a:p>
            <a:pPr marL="0" indent="0">
              <a:buNone/>
            </a:pPr>
            <a:r>
              <a:rPr lang="en-US" sz="1800" b="1" dirty="0"/>
              <a:t>	w=Entry(master, option=value)</a:t>
            </a:r>
            <a:endParaRPr lang="en-IN" sz="1800" b="1" dirty="0" smtClean="0"/>
          </a:p>
          <a:p>
            <a:r>
              <a:rPr lang="en-IN" sz="1800" dirty="0" smtClean="0"/>
              <a:t>master is the parameter used to represent the parent window.</a:t>
            </a:r>
          </a:p>
          <a:p>
            <a:r>
              <a:rPr lang="en-IN" sz="1800" dirty="0" smtClean="0"/>
              <a:t>There </a:t>
            </a:r>
            <a:r>
              <a:rPr lang="en-IN" sz="1800" dirty="0"/>
              <a:t>are number of options which are used to change the format of the </a:t>
            </a:r>
            <a:r>
              <a:rPr lang="en-IN" sz="1800" dirty="0" smtClean="0"/>
              <a:t>widgets. </a:t>
            </a:r>
            <a:r>
              <a:rPr lang="en-IN" sz="1800" dirty="0"/>
              <a:t>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bd</a:t>
            </a:r>
            <a:r>
              <a:rPr lang="en-US" sz="1800" dirty="0"/>
              <a:t>: to set the border width in pixels.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bg</a:t>
            </a:r>
            <a:r>
              <a:rPr lang="en-US" sz="1800" dirty="0"/>
              <a:t>: to set the normal background color.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cursor</a:t>
            </a:r>
            <a:r>
              <a:rPr lang="en-US" sz="1800" dirty="0"/>
              <a:t>: to set the cursor used.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command</a:t>
            </a:r>
            <a:r>
              <a:rPr lang="en-US" sz="1800" dirty="0"/>
              <a:t>: to call a function.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highlightcolor</a:t>
            </a:r>
            <a:r>
              <a:rPr lang="en-US" sz="1800" dirty="0"/>
              <a:t>: to set the color shown in the focus highlight.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width</a:t>
            </a:r>
            <a:r>
              <a:rPr lang="en-US" sz="1800" dirty="0"/>
              <a:t>: to set the width of the button.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height</a:t>
            </a:r>
            <a:r>
              <a:rPr lang="en-US" sz="1800" dirty="0"/>
              <a:t>: to set the height of the button.</a:t>
            </a:r>
          </a:p>
        </p:txBody>
      </p:sp>
    </p:spTree>
    <p:extLst>
      <p:ext uri="{BB962C8B-B14F-4D97-AF65-F5344CB8AC3E}">
        <p14:creationId xmlns:p14="http://schemas.microsoft.com/office/powerpoint/2010/main" val="36990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Entry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tkinter</a:t>
            </a:r>
            <a:r>
              <a:rPr lang="en-US" sz="1800" dirty="0"/>
              <a:t> import *</a:t>
            </a:r>
          </a:p>
          <a:p>
            <a:pPr marL="0" indent="0">
              <a:buNone/>
            </a:pPr>
            <a:r>
              <a:rPr lang="en-US" sz="1800" dirty="0"/>
              <a:t>master = </a:t>
            </a:r>
            <a:r>
              <a:rPr lang="en-US" sz="1800" dirty="0" err="1"/>
              <a:t>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Label(master, text='First Name').grid(row=0)</a:t>
            </a:r>
          </a:p>
          <a:p>
            <a:pPr marL="0" indent="0">
              <a:buNone/>
            </a:pPr>
            <a:r>
              <a:rPr lang="en-US" sz="1800" dirty="0"/>
              <a:t>Label(master, text='Last Name').grid(row=1)</a:t>
            </a:r>
          </a:p>
          <a:p>
            <a:pPr marL="0" indent="0">
              <a:buNone/>
            </a:pPr>
            <a:r>
              <a:rPr lang="en-US" sz="1800" dirty="0"/>
              <a:t>e1 = Entry(master)</a:t>
            </a:r>
          </a:p>
          <a:p>
            <a:pPr marL="0" indent="0">
              <a:buNone/>
            </a:pPr>
            <a:r>
              <a:rPr lang="en-US" sz="1800" dirty="0"/>
              <a:t>e2 = Entry(master)</a:t>
            </a:r>
          </a:p>
          <a:p>
            <a:pPr marL="0" indent="0">
              <a:buNone/>
            </a:pPr>
            <a:r>
              <a:rPr lang="en-US" sz="1800" dirty="0"/>
              <a:t>e1.grid(row=0, column=1)</a:t>
            </a:r>
          </a:p>
          <a:p>
            <a:pPr marL="0" indent="0">
              <a:buNone/>
            </a:pPr>
            <a:r>
              <a:rPr lang="en-US" sz="1800" dirty="0"/>
              <a:t>e2.grid(row=1, column=1)</a:t>
            </a:r>
          </a:p>
          <a:p>
            <a:pPr marL="0" indent="0">
              <a:buNone/>
            </a:pPr>
            <a:r>
              <a:rPr lang="en-US" sz="1800" dirty="0" err="1"/>
              <a:t>mainloop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876800"/>
            <a:ext cx="348460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583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Label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601980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Label: </a:t>
            </a:r>
            <a:r>
              <a:rPr lang="en-US" sz="1800" dirty="0"/>
              <a:t>It refers to the display box where you can put any text or image which can be updated any time as per the code.</a:t>
            </a:r>
          </a:p>
          <a:p>
            <a:pPr marL="0" indent="0">
              <a:buNone/>
            </a:pPr>
            <a:r>
              <a:rPr lang="en-US" sz="1800" dirty="0"/>
              <a:t>The general syntax is:</a:t>
            </a:r>
          </a:p>
          <a:p>
            <a:pPr marL="0" indent="0">
              <a:buNone/>
            </a:pPr>
            <a:r>
              <a:rPr lang="en-US" sz="1800" b="1" dirty="0" smtClean="0"/>
              <a:t>	w=Label(master</a:t>
            </a:r>
            <a:r>
              <a:rPr lang="en-US" sz="1800" b="1" dirty="0"/>
              <a:t>, option=value)</a:t>
            </a:r>
            <a:endParaRPr lang="en-IN" sz="1800" b="1" dirty="0" smtClean="0"/>
          </a:p>
          <a:p>
            <a:r>
              <a:rPr lang="en-IN" sz="1800" dirty="0" smtClean="0"/>
              <a:t>master is the parameter used to represent the parent window.</a:t>
            </a:r>
          </a:p>
          <a:p>
            <a:r>
              <a:rPr lang="en-IN" sz="1800" dirty="0" smtClean="0"/>
              <a:t>There </a:t>
            </a:r>
            <a:r>
              <a:rPr lang="en-IN" sz="1800" dirty="0"/>
              <a:t>are number of options which are used to change the format of the </a:t>
            </a:r>
            <a:r>
              <a:rPr lang="en-IN" sz="1800" dirty="0" smtClean="0"/>
              <a:t>widgets. </a:t>
            </a:r>
            <a:r>
              <a:rPr lang="en-IN" sz="1800" dirty="0"/>
              <a:t>Number of options can be passed as parameters separated by commas</a:t>
            </a:r>
            <a:r>
              <a:rPr lang="en-IN" sz="1800" dirty="0" smtClean="0"/>
              <a:t>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err="1"/>
              <a:t>bg</a:t>
            </a:r>
            <a:r>
              <a:rPr lang="en-US" sz="1800" b="1" dirty="0"/>
              <a:t>:</a:t>
            </a:r>
            <a:r>
              <a:rPr lang="en-US" sz="1800" dirty="0"/>
              <a:t> to set the normal background color.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 smtClean="0"/>
              <a:t>command</a:t>
            </a:r>
            <a:r>
              <a:rPr lang="en-US" sz="1800" b="1" dirty="0"/>
              <a:t>:</a:t>
            </a:r>
            <a:r>
              <a:rPr lang="en-US" sz="1800" dirty="0"/>
              <a:t> to call a function.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font:</a:t>
            </a:r>
            <a:r>
              <a:rPr lang="en-US" sz="1800" dirty="0"/>
              <a:t> to set the font on the button label.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image:</a:t>
            </a:r>
            <a:r>
              <a:rPr lang="en-US" sz="1800" dirty="0"/>
              <a:t> to set the image on the button.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width:</a:t>
            </a:r>
            <a:r>
              <a:rPr lang="en-US" sz="1800" dirty="0"/>
              <a:t> to set the width of the button.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1800" b="1" dirty="0"/>
              <a:t>height”</a:t>
            </a:r>
            <a:r>
              <a:rPr lang="en-US" sz="1800" dirty="0"/>
              <a:t> to set the height of the button</a:t>
            </a:r>
            <a:r>
              <a:rPr lang="en-US" sz="1800" dirty="0" smtClean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3897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91" y="0"/>
            <a:ext cx="7467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Entry</a:t>
            </a:r>
            <a:endParaRPr lang="en-US" sz="3600" b="1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8674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Example: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tkinter</a:t>
            </a:r>
            <a:r>
              <a:rPr lang="en-US" sz="1800" dirty="0"/>
              <a:t> import *</a:t>
            </a:r>
          </a:p>
          <a:p>
            <a:pPr marL="0" indent="0">
              <a:buNone/>
            </a:pPr>
            <a:r>
              <a:rPr lang="en-US" sz="1800" dirty="0"/>
              <a:t>root = </a:t>
            </a:r>
            <a:r>
              <a:rPr lang="en-US" sz="1800" dirty="0" err="1"/>
              <a:t>Tk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w = Label(root, text='Hello Everyone!!!')</a:t>
            </a:r>
          </a:p>
          <a:p>
            <a:pPr marL="0" indent="0">
              <a:buNone/>
            </a:pPr>
            <a:r>
              <a:rPr lang="en-US" sz="1800" dirty="0" err="1"/>
              <a:t>w.pack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 err="1"/>
              <a:t>root.mainloop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Output:</a:t>
            </a:r>
            <a:endParaRPr lang="en-US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505200"/>
            <a:ext cx="3073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914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3858</TotalTime>
  <Words>1669</Words>
  <Application>Microsoft Office PowerPoint</Application>
  <PresentationFormat>On-screen Show (4:3)</PresentationFormat>
  <Paragraphs>288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Century Schoolbook</vt:lpstr>
      <vt:lpstr>Wingdings</vt:lpstr>
      <vt:lpstr>Wingdings 2</vt:lpstr>
      <vt:lpstr>Oriel</vt:lpstr>
      <vt:lpstr>Python Programming</vt:lpstr>
      <vt:lpstr>MySQL Connectivity</vt:lpstr>
      <vt:lpstr>Create Database</vt:lpstr>
      <vt:lpstr>Methods in Cursor (information)</vt:lpstr>
      <vt:lpstr>Show Database</vt:lpstr>
      <vt:lpstr>Create Table</vt:lpstr>
      <vt:lpstr>Table Exist or Not</vt:lpstr>
      <vt:lpstr>Primary Key and Alter Table</vt:lpstr>
      <vt:lpstr>Insert into Table</vt:lpstr>
      <vt:lpstr>Retrieving Rows from Table</vt:lpstr>
      <vt:lpstr>Select from Table</vt:lpstr>
      <vt:lpstr>Select from Table</vt:lpstr>
      <vt:lpstr>Delete from Table</vt:lpstr>
      <vt:lpstr>Drop Table</vt:lpstr>
      <vt:lpstr>Update Data in Table</vt:lpstr>
      <vt:lpstr>Update Data in Table</vt:lpstr>
      <vt:lpstr>Python GUI – Tkinter</vt:lpstr>
      <vt:lpstr>Python GUI – Tkinter</vt:lpstr>
      <vt:lpstr>Python GUI – Tkinter</vt:lpstr>
      <vt:lpstr>Button</vt:lpstr>
      <vt:lpstr>Button</vt:lpstr>
      <vt:lpstr>Canvas</vt:lpstr>
      <vt:lpstr>Canvas</vt:lpstr>
      <vt:lpstr>CheckButton</vt:lpstr>
      <vt:lpstr>CheckButton</vt:lpstr>
      <vt:lpstr>RadioButton</vt:lpstr>
      <vt:lpstr>RadioButton</vt:lpstr>
      <vt:lpstr>Entry</vt:lpstr>
      <vt:lpstr>Entry</vt:lpstr>
      <vt:lpstr>Label</vt:lpstr>
      <vt:lpstr>Entry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>Admin</dc:creator>
  <cp:lastModifiedBy>LJMCA</cp:lastModifiedBy>
  <cp:revision>538</cp:revision>
  <dcterms:created xsi:type="dcterms:W3CDTF">2022-12-07T08:20:55Z</dcterms:created>
  <dcterms:modified xsi:type="dcterms:W3CDTF">2026-03-27T03:54:16Z</dcterms:modified>
</cp:coreProperties>
</file>