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36D21-F7B8-4118-9A31-6D2F9D999DCF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57CC-FE71-401D-BA16-C18087BE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358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36D21-F7B8-4118-9A31-6D2F9D999DCF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57CC-FE71-401D-BA16-C18087BE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009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36D21-F7B8-4118-9A31-6D2F9D999DCF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57CC-FE71-401D-BA16-C18087BE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463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36D21-F7B8-4118-9A31-6D2F9D999DCF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57CC-FE71-401D-BA16-C18087BE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179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36D21-F7B8-4118-9A31-6D2F9D999DCF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57CC-FE71-401D-BA16-C18087BE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11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36D21-F7B8-4118-9A31-6D2F9D999DCF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57CC-FE71-401D-BA16-C18087BE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063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36D21-F7B8-4118-9A31-6D2F9D999DCF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57CC-FE71-401D-BA16-C18087BE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6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36D21-F7B8-4118-9A31-6D2F9D999DCF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57CC-FE71-401D-BA16-C18087BE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321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36D21-F7B8-4118-9A31-6D2F9D999DCF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57CC-FE71-401D-BA16-C18087BE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191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36D21-F7B8-4118-9A31-6D2F9D999DCF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57CC-FE71-401D-BA16-C18087BE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764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36D21-F7B8-4118-9A31-6D2F9D999DCF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57CC-FE71-401D-BA16-C18087BE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816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136D21-F7B8-4118-9A31-6D2F9D999DCF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D857CC-FE71-401D-BA16-C18087BE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95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3schools.com/python/ref_func_pow.asp" TargetMode="External"/><Relationship Id="rId3" Type="http://schemas.openxmlformats.org/officeDocument/2006/relationships/hyperlink" Target="https://www.w3schools.com/python/ref_func_bin.asp" TargetMode="External"/><Relationship Id="rId7" Type="http://schemas.openxmlformats.org/officeDocument/2006/relationships/hyperlink" Target="https://www.w3schools.com/python/ref_func_ord.asp" TargetMode="External"/><Relationship Id="rId2" Type="http://schemas.openxmlformats.org/officeDocument/2006/relationships/hyperlink" Target="https://www.w3schools.com/python/ref_func_abs.asp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w3schools.com/python/ref_func_oct.asp" TargetMode="External"/><Relationship Id="rId11" Type="http://schemas.openxmlformats.org/officeDocument/2006/relationships/hyperlink" Target="https://www.w3schools.com/python/ref_func_float.asp" TargetMode="External"/><Relationship Id="rId5" Type="http://schemas.openxmlformats.org/officeDocument/2006/relationships/hyperlink" Target="https://www.w3schools.com/python/ref_func_hex.asp" TargetMode="External"/><Relationship Id="rId10" Type="http://schemas.openxmlformats.org/officeDocument/2006/relationships/hyperlink" Target="https://www.w3schools.com/python/ref_func_int.asp" TargetMode="External"/><Relationship Id="rId4" Type="http://schemas.openxmlformats.org/officeDocument/2006/relationships/hyperlink" Target="https://www.w3schools.com/python/ref_func_eval.asp" TargetMode="External"/><Relationship Id="rId9" Type="http://schemas.openxmlformats.org/officeDocument/2006/relationships/hyperlink" Target="https://www.w3schools.com/python/ref_func_print.asp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3schools.com/python/ref_string_isdigit.asp" TargetMode="External"/><Relationship Id="rId3" Type="http://schemas.openxmlformats.org/officeDocument/2006/relationships/hyperlink" Target="https://www.w3schools.com/python/ref_func_enumerate.asp" TargetMode="External"/><Relationship Id="rId7" Type="http://schemas.openxmlformats.org/officeDocument/2006/relationships/hyperlink" Target="https://www.w3schools.com/python/ref_func_zip.asp" TargetMode="External"/><Relationship Id="rId2" Type="http://schemas.openxmlformats.org/officeDocument/2006/relationships/hyperlink" Target="https://www.w3schools.com/python/ref_func_globals.as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3schools.com/python/ref_func_range.asp" TargetMode="External"/><Relationship Id="rId5" Type="http://schemas.openxmlformats.org/officeDocument/2006/relationships/hyperlink" Target="https://www.w3schools.com/python/ref_func_map.asp" TargetMode="External"/><Relationship Id="rId4" Type="http://schemas.openxmlformats.org/officeDocument/2006/relationships/hyperlink" Target="https://www.w3schools.com/python/ref_func_filter.asp" TargetMode="External"/><Relationship Id="rId9" Type="http://schemas.openxmlformats.org/officeDocument/2006/relationships/hyperlink" Target="https://www.w3schools.com/python/ref_string_isalpha.asp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ref_string_count.asp" TargetMode="External"/><Relationship Id="rId7" Type="http://schemas.openxmlformats.org/officeDocument/2006/relationships/hyperlink" Target="https://www.w3schools.com/python/ref_string_upper.asp" TargetMode="External"/><Relationship Id="rId2" Type="http://schemas.openxmlformats.org/officeDocument/2006/relationships/hyperlink" Target="https://www.w3schools.com/python/ref_string_capitalize.as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3schools.com/python/ref_string_swapcase.asp" TargetMode="External"/><Relationship Id="rId5" Type="http://schemas.openxmlformats.org/officeDocument/2006/relationships/hyperlink" Target="https://www.w3schools.com/python/ref_string_lower.asp" TargetMode="External"/><Relationship Id="rId4" Type="http://schemas.openxmlformats.org/officeDocument/2006/relationships/hyperlink" Target="https://www.w3schools.com/python/ref_string_isdecimal.as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2112199"/>
              </p:ext>
            </p:extLst>
          </p:nvPr>
        </p:nvGraphicFramePr>
        <p:xfrm>
          <a:off x="614149" y="354841"/>
          <a:ext cx="8104136" cy="426720"/>
        </p:xfrm>
        <a:graphic>
          <a:graphicData uri="http://schemas.openxmlformats.org/drawingml/2006/table">
            <a:tbl>
              <a:tblPr/>
              <a:tblGrid>
                <a:gridCol w="4052068"/>
                <a:gridCol w="4052068"/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  <a:hlinkClick r:id="rId2"/>
                        </a:rPr>
                        <a:t>abs()</a:t>
                      </a:r>
                      <a:endParaRPr lang="en-US">
                        <a:effectLst/>
                      </a:endParaRP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Returns the absolute value of a number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515180"/>
              </p:ext>
            </p:extLst>
          </p:nvPr>
        </p:nvGraphicFramePr>
        <p:xfrm>
          <a:off x="614149" y="1331336"/>
          <a:ext cx="8104136" cy="426720"/>
        </p:xfrm>
        <a:graphic>
          <a:graphicData uri="http://schemas.openxmlformats.org/drawingml/2006/table">
            <a:tbl>
              <a:tblPr/>
              <a:tblGrid>
                <a:gridCol w="4052068"/>
                <a:gridCol w="4052068"/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  <a:hlinkClick r:id="rId3"/>
                        </a:rPr>
                        <a:t>bin()</a:t>
                      </a:r>
                      <a:endParaRPr lang="en-US" dirty="0">
                        <a:effectLst/>
                      </a:endParaRP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Returns the binary version of a number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2532051"/>
              </p:ext>
            </p:extLst>
          </p:nvPr>
        </p:nvGraphicFramePr>
        <p:xfrm>
          <a:off x="614149" y="2614226"/>
          <a:ext cx="8104136" cy="426720"/>
        </p:xfrm>
        <a:graphic>
          <a:graphicData uri="http://schemas.openxmlformats.org/drawingml/2006/table">
            <a:tbl>
              <a:tblPr/>
              <a:tblGrid>
                <a:gridCol w="4052068"/>
                <a:gridCol w="4052068"/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  <a:hlinkClick r:id="rId4"/>
                        </a:rPr>
                        <a:t>eval()</a:t>
                      </a:r>
                      <a:endParaRPr lang="en-US">
                        <a:effectLst/>
                      </a:endParaRP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Evaluates and executes an expression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734359"/>
              </p:ext>
            </p:extLst>
          </p:nvPr>
        </p:nvGraphicFramePr>
        <p:xfrm>
          <a:off x="614149" y="1821973"/>
          <a:ext cx="8104136" cy="701040"/>
        </p:xfrm>
        <a:graphic>
          <a:graphicData uri="http://schemas.openxmlformats.org/drawingml/2006/table">
            <a:tbl>
              <a:tblPr/>
              <a:tblGrid>
                <a:gridCol w="4052068"/>
                <a:gridCol w="4052068"/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  <a:hlinkClick r:id="rId5"/>
                        </a:rPr>
                        <a:t>hex()</a:t>
                      </a:r>
                      <a:endParaRPr lang="en-US">
                        <a:effectLst/>
                      </a:endParaRP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Converts a number into a hexadecimal value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834061"/>
              </p:ext>
            </p:extLst>
          </p:nvPr>
        </p:nvGraphicFramePr>
        <p:xfrm>
          <a:off x="614149" y="867313"/>
          <a:ext cx="8104136" cy="426720"/>
        </p:xfrm>
        <a:graphic>
          <a:graphicData uri="http://schemas.openxmlformats.org/drawingml/2006/table">
            <a:tbl>
              <a:tblPr/>
              <a:tblGrid>
                <a:gridCol w="4052068"/>
                <a:gridCol w="4052068"/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  <a:hlinkClick r:id="rId6"/>
                        </a:rPr>
                        <a:t>oct()</a:t>
                      </a:r>
                      <a:endParaRPr lang="en-US">
                        <a:effectLst/>
                      </a:endParaRP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Converts a number into an octal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2567092"/>
              </p:ext>
            </p:extLst>
          </p:nvPr>
        </p:nvGraphicFramePr>
        <p:xfrm>
          <a:off x="614149" y="3118512"/>
          <a:ext cx="8104136" cy="701040"/>
        </p:xfrm>
        <a:graphic>
          <a:graphicData uri="http://schemas.openxmlformats.org/drawingml/2006/table">
            <a:tbl>
              <a:tblPr/>
              <a:tblGrid>
                <a:gridCol w="4052068"/>
                <a:gridCol w="4052068"/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  <a:hlinkClick r:id="rId7"/>
                        </a:rPr>
                        <a:t>ord()</a:t>
                      </a:r>
                      <a:endParaRPr lang="en-US">
                        <a:effectLst/>
                      </a:endParaRP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Convert an integer representing the Unicode of the specified character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5736657"/>
              </p:ext>
            </p:extLst>
          </p:nvPr>
        </p:nvGraphicFramePr>
        <p:xfrm>
          <a:off x="614149" y="3883469"/>
          <a:ext cx="8104136" cy="426720"/>
        </p:xfrm>
        <a:graphic>
          <a:graphicData uri="http://schemas.openxmlformats.org/drawingml/2006/table">
            <a:tbl>
              <a:tblPr/>
              <a:tblGrid>
                <a:gridCol w="4052068"/>
                <a:gridCol w="4052068"/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  <a:hlinkClick r:id="rId8"/>
                        </a:rPr>
                        <a:t>pow()</a:t>
                      </a:r>
                      <a:endParaRPr lang="en-US">
                        <a:effectLst/>
                      </a:endParaRP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Returns the value of x to the power of y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1525156"/>
              </p:ext>
            </p:extLst>
          </p:nvPr>
        </p:nvGraphicFramePr>
        <p:xfrm>
          <a:off x="614149" y="4374787"/>
          <a:ext cx="8104136" cy="426720"/>
        </p:xfrm>
        <a:graphic>
          <a:graphicData uri="http://schemas.openxmlformats.org/drawingml/2006/table">
            <a:tbl>
              <a:tblPr/>
              <a:tblGrid>
                <a:gridCol w="4052068"/>
                <a:gridCol w="4052068"/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  <a:hlinkClick r:id="rId9"/>
                        </a:rPr>
                        <a:t>print()</a:t>
                      </a:r>
                      <a:endParaRPr lang="en-US">
                        <a:effectLst/>
                      </a:endParaRP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Prints to the standard output device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8142983"/>
              </p:ext>
            </p:extLst>
          </p:nvPr>
        </p:nvGraphicFramePr>
        <p:xfrm>
          <a:off x="614149" y="4893403"/>
          <a:ext cx="8104136" cy="426720"/>
        </p:xfrm>
        <a:graphic>
          <a:graphicData uri="http://schemas.openxmlformats.org/drawingml/2006/table">
            <a:tbl>
              <a:tblPr/>
              <a:tblGrid>
                <a:gridCol w="4052068"/>
                <a:gridCol w="4052068"/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  <a:hlinkClick r:id="rId10"/>
                        </a:rPr>
                        <a:t>int()</a:t>
                      </a:r>
                      <a:endParaRPr lang="en-US">
                        <a:effectLst/>
                      </a:endParaRP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Returns an integer number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9334131"/>
              </p:ext>
            </p:extLst>
          </p:nvPr>
        </p:nvGraphicFramePr>
        <p:xfrm>
          <a:off x="614149" y="5398370"/>
          <a:ext cx="8104136" cy="426720"/>
        </p:xfrm>
        <a:graphic>
          <a:graphicData uri="http://schemas.openxmlformats.org/drawingml/2006/table">
            <a:tbl>
              <a:tblPr/>
              <a:tblGrid>
                <a:gridCol w="4052068"/>
                <a:gridCol w="4052068"/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  <a:hlinkClick r:id="rId11"/>
                        </a:rPr>
                        <a:t>float()</a:t>
                      </a:r>
                      <a:endParaRPr lang="en-US">
                        <a:effectLst/>
                      </a:endParaRP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Returns a floating point number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1752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6833765"/>
              </p:ext>
            </p:extLst>
          </p:nvPr>
        </p:nvGraphicFramePr>
        <p:xfrm>
          <a:off x="805218" y="240656"/>
          <a:ext cx="8104136" cy="701040"/>
        </p:xfrm>
        <a:graphic>
          <a:graphicData uri="http://schemas.openxmlformats.org/drawingml/2006/table">
            <a:tbl>
              <a:tblPr/>
              <a:tblGrid>
                <a:gridCol w="4052068"/>
                <a:gridCol w="4052068"/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 err="1">
                          <a:effectLst/>
                          <a:hlinkClick r:id="rId2"/>
                        </a:rPr>
                        <a:t>globals</a:t>
                      </a:r>
                      <a:r>
                        <a:rPr lang="en-US" dirty="0">
                          <a:effectLst/>
                          <a:hlinkClick r:id="rId2"/>
                        </a:rPr>
                        <a:t>()</a:t>
                      </a:r>
                      <a:endParaRPr lang="en-US" dirty="0">
                        <a:effectLst/>
                      </a:endParaRP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Returns the current global symbol table as a dictionary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2856411"/>
              </p:ext>
            </p:extLst>
          </p:nvPr>
        </p:nvGraphicFramePr>
        <p:xfrm>
          <a:off x="815634" y="1044053"/>
          <a:ext cx="8104136" cy="701040"/>
        </p:xfrm>
        <a:graphic>
          <a:graphicData uri="http://schemas.openxmlformats.org/drawingml/2006/table">
            <a:tbl>
              <a:tblPr/>
              <a:tblGrid>
                <a:gridCol w="4052068"/>
                <a:gridCol w="4052068"/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  <a:hlinkClick r:id="rId3"/>
                        </a:rPr>
                        <a:t>enumerate()</a:t>
                      </a:r>
                      <a:endParaRPr lang="en-US" dirty="0">
                        <a:effectLst/>
                      </a:endParaRP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Takes a collection (e.g. a tuple) and returns it as an enumerate object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1969077"/>
              </p:ext>
            </p:extLst>
          </p:nvPr>
        </p:nvGraphicFramePr>
        <p:xfrm>
          <a:off x="801985" y="1849270"/>
          <a:ext cx="8104136" cy="701040"/>
        </p:xfrm>
        <a:graphic>
          <a:graphicData uri="http://schemas.openxmlformats.org/drawingml/2006/table">
            <a:tbl>
              <a:tblPr/>
              <a:tblGrid>
                <a:gridCol w="4052068"/>
                <a:gridCol w="4052068"/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  <a:hlinkClick r:id="rId4"/>
                        </a:rPr>
                        <a:t>filter()</a:t>
                      </a:r>
                      <a:endParaRPr lang="en-US">
                        <a:effectLst/>
                      </a:endParaRP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Use a filter function to exclude items in an </a:t>
                      </a:r>
                      <a:r>
                        <a:rPr lang="en-US" dirty="0" err="1">
                          <a:effectLst/>
                        </a:rPr>
                        <a:t>iterable</a:t>
                      </a:r>
                      <a:r>
                        <a:rPr lang="en-US" dirty="0">
                          <a:effectLst/>
                        </a:rPr>
                        <a:t> object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415076"/>
              </p:ext>
            </p:extLst>
          </p:nvPr>
        </p:nvGraphicFramePr>
        <p:xfrm>
          <a:off x="788338" y="2640840"/>
          <a:ext cx="8104136" cy="701040"/>
        </p:xfrm>
        <a:graphic>
          <a:graphicData uri="http://schemas.openxmlformats.org/drawingml/2006/table">
            <a:tbl>
              <a:tblPr/>
              <a:tblGrid>
                <a:gridCol w="4052068"/>
                <a:gridCol w="4052068"/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  <a:hlinkClick r:id="rId5"/>
                        </a:rPr>
                        <a:t>map()</a:t>
                      </a:r>
                      <a:endParaRPr lang="en-US" dirty="0">
                        <a:effectLst/>
                      </a:endParaRP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Returns the specified iterator with the specified function applied to each item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5495304"/>
              </p:ext>
            </p:extLst>
          </p:nvPr>
        </p:nvGraphicFramePr>
        <p:xfrm>
          <a:off x="774689" y="4319515"/>
          <a:ext cx="8104136" cy="701040"/>
        </p:xfrm>
        <a:graphic>
          <a:graphicData uri="http://schemas.openxmlformats.org/drawingml/2006/table">
            <a:tbl>
              <a:tblPr/>
              <a:tblGrid>
                <a:gridCol w="4052068"/>
                <a:gridCol w="4052068"/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  <a:hlinkClick r:id="rId6"/>
                        </a:rPr>
                        <a:t>range()</a:t>
                      </a:r>
                      <a:endParaRPr lang="en-US" dirty="0">
                        <a:effectLst/>
                      </a:endParaRP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Returns a sequence of numbers, starting from 0 and increments by 1 (by default)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778522"/>
              </p:ext>
            </p:extLst>
          </p:nvPr>
        </p:nvGraphicFramePr>
        <p:xfrm>
          <a:off x="788338" y="3473354"/>
          <a:ext cx="8104136" cy="701040"/>
        </p:xfrm>
        <a:graphic>
          <a:graphicData uri="http://schemas.openxmlformats.org/drawingml/2006/table">
            <a:tbl>
              <a:tblPr/>
              <a:tblGrid>
                <a:gridCol w="4052068"/>
                <a:gridCol w="4052068"/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  <a:hlinkClick r:id="rId7"/>
                        </a:rPr>
                        <a:t>zip()</a:t>
                      </a:r>
                      <a:endParaRPr lang="en-US" dirty="0">
                        <a:effectLst/>
                      </a:endParaRP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Returns an iterator, from two or more iterators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4921867"/>
              </p:ext>
            </p:extLst>
          </p:nvPr>
        </p:nvGraphicFramePr>
        <p:xfrm>
          <a:off x="788338" y="5957245"/>
          <a:ext cx="8104136" cy="701040"/>
        </p:xfrm>
        <a:graphic>
          <a:graphicData uri="http://schemas.openxmlformats.org/drawingml/2006/table">
            <a:tbl>
              <a:tblPr/>
              <a:tblGrid>
                <a:gridCol w="4052068"/>
                <a:gridCol w="4052068"/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 err="1">
                          <a:effectLst/>
                          <a:hlinkClick r:id="rId8"/>
                        </a:rPr>
                        <a:t>isdigit</a:t>
                      </a:r>
                      <a:r>
                        <a:rPr lang="en-US" dirty="0">
                          <a:effectLst/>
                          <a:hlinkClick r:id="rId8"/>
                        </a:rPr>
                        <a:t>()</a:t>
                      </a:r>
                      <a:endParaRPr lang="en-US" dirty="0">
                        <a:effectLst/>
                      </a:endParaRP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Returns True if all characters in the string are digits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3146145"/>
              </p:ext>
            </p:extLst>
          </p:nvPr>
        </p:nvGraphicFramePr>
        <p:xfrm>
          <a:off x="761042" y="5097437"/>
          <a:ext cx="8104136" cy="701040"/>
        </p:xfrm>
        <a:graphic>
          <a:graphicData uri="http://schemas.openxmlformats.org/drawingml/2006/table">
            <a:tbl>
              <a:tblPr/>
              <a:tblGrid>
                <a:gridCol w="4052068"/>
                <a:gridCol w="4052068"/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 err="1">
                          <a:effectLst/>
                          <a:hlinkClick r:id="rId9"/>
                        </a:rPr>
                        <a:t>isalpha</a:t>
                      </a:r>
                      <a:r>
                        <a:rPr lang="en-US" dirty="0">
                          <a:effectLst/>
                          <a:hlinkClick r:id="rId9"/>
                        </a:rPr>
                        <a:t>()</a:t>
                      </a:r>
                      <a:endParaRPr lang="en-US" dirty="0">
                        <a:effectLst/>
                      </a:endParaRP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Returns True if all characters in the string are in the alphabet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5428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8661097"/>
              </p:ext>
            </p:extLst>
          </p:nvPr>
        </p:nvGraphicFramePr>
        <p:xfrm>
          <a:off x="501735" y="157630"/>
          <a:ext cx="8104136" cy="426720"/>
        </p:xfrm>
        <a:graphic>
          <a:graphicData uri="http://schemas.openxmlformats.org/drawingml/2006/table">
            <a:tbl>
              <a:tblPr/>
              <a:tblGrid>
                <a:gridCol w="4052068"/>
                <a:gridCol w="4052068"/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  <a:hlinkClick r:id="rId2"/>
                        </a:rPr>
                        <a:t>capitalize()</a:t>
                      </a:r>
                      <a:endParaRPr lang="en-US">
                        <a:effectLst/>
                      </a:endParaRP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Converts the first character to upper case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8428291"/>
              </p:ext>
            </p:extLst>
          </p:nvPr>
        </p:nvGraphicFramePr>
        <p:xfrm>
          <a:off x="515383" y="716506"/>
          <a:ext cx="8104136" cy="701040"/>
        </p:xfrm>
        <a:graphic>
          <a:graphicData uri="http://schemas.openxmlformats.org/drawingml/2006/table">
            <a:tbl>
              <a:tblPr/>
              <a:tblGrid>
                <a:gridCol w="4052068"/>
                <a:gridCol w="4052068"/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  <a:hlinkClick r:id="rId3"/>
                        </a:rPr>
                        <a:t>count()</a:t>
                      </a:r>
                      <a:endParaRPr lang="en-US">
                        <a:effectLst/>
                      </a:endParaRP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Returns the number of times a specified value occurs in a string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8592981"/>
              </p:ext>
            </p:extLst>
          </p:nvPr>
        </p:nvGraphicFramePr>
        <p:xfrm>
          <a:off x="597269" y="1562667"/>
          <a:ext cx="8104136" cy="701040"/>
        </p:xfrm>
        <a:graphic>
          <a:graphicData uri="http://schemas.openxmlformats.org/drawingml/2006/table">
            <a:tbl>
              <a:tblPr/>
              <a:tblGrid>
                <a:gridCol w="4052068"/>
                <a:gridCol w="4052068"/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  <a:hlinkClick r:id="rId4"/>
                        </a:rPr>
                        <a:t>isdecimal()</a:t>
                      </a:r>
                      <a:endParaRPr lang="en-US">
                        <a:effectLst/>
                      </a:endParaRP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Returns True if all characters in the string are decimals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2424012"/>
              </p:ext>
            </p:extLst>
          </p:nvPr>
        </p:nvGraphicFramePr>
        <p:xfrm>
          <a:off x="556326" y="2477749"/>
          <a:ext cx="8104136" cy="426720"/>
        </p:xfrm>
        <a:graphic>
          <a:graphicData uri="http://schemas.openxmlformats.org/drawingml/2006/table">
            <a:tbl>
              <a:tblPr/>
              <a:tblGrid>
                <a:gridCol w="4052068"/>
                <a:gridCol w="4052068"/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  <a:hlinkClick r:id="rId5"/>
                        </a:rPr>
                        <a:t>lower()</a:t>
                      </a:r>
                      <a:endParaRPr lang="en-US" dirty="0">
                        <a:effectLst/>
                      </a:endParaRP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Converts a string into lower case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3260507"/>
              </p:ext>
            </p:extLst>
          </p:nvPr>
        </p:nvGraphicFramePr>
        <p:xfrm>
          <a:off x="597269" y="3050273"/>
          <a:ext cx="8104136" cy="701040"/>
        </p:xfrm>
        <a:graphic>
          <a:graphicData uri="http://schemas.openxmlformats.org/drawingml/2006/table">
            <a:tbl>
              <a:tblPr/>
              <a:tblGrid>
                <a:gridCol w="4052068"/>
                <a:gridCol w="4052068"/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 err="1">
                          <a:effectLst/>
                          <a:hlinkClick r:id="rId6"/>
                        </a:rPr>
                        <a:t>swapcase</a:t>
                      </a:r>
                      <a:r>
                        <a:rPr lang="en-US" dirty="0">
                          <a:effectLst/>
                          <a:hlinkClick r:id="rId6"/>
                        </a:rPr>
                        <a:t>()</a:t>
                      </a:r>
                      <a:endParaRPr lang="en-US" dirty="0">
                        <a:effectLst/>
                      </a:endParaRP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Swaps cases, lower case becomes upper case and vice versa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4657689"/>
              </p:ext>
            </p:extLst>
          </p:nvPr>
        </p:nvGraphicFramePr>
        <p:xfrm>
          <a:off x="569974" y="3856173"/>
          <a:ext cx="8104136" cy="426720"/>
        </p:xfrm>
        <a:graphic>
          <a:graphicData uri="http://schemas.openxmlformats.org/drawingml/2006/table">
            <a:tbl>
              <a:tblPr/>
              <a:tblGrid>
                <a:gridCol w="4052068"/>
                <a:gridCol w="4052068"/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  <a:hlinkClick r:id="rId7"/>
                        </a:rPr>
                        <a:t>upper()</a:t>
                      </a:r>
                      <a:endParaRPr lang="en-US" dirty="0">
                        <a:effectLst/>
                      </a:endParaRP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Converts a string into upper case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7951833"/>
              </p:ext>
            </p:extLst>
          </p:nvPr>
        </p:nvGraphicFramePr>
        <p:xfrm>
          <a:off x="572248" y="4430972"/>
          <a:ext cx="8104136" cy="426720"/>
        </p:xfrm>
        <a:graphic>
          <a:graphicData uri="http://schemas.openxmlformats.org/drawingml/2006/table">
            <a:tbl>
              <a:tblPr/>
              <a:tblGrid>
                <a:gridCol w="4052068"/>
                <a:gridCol w="4052068"/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 smtClean="0">
                          <a:effectLst/>
                          <a:hlinkClick r:id="rId6"/>
                        </a:rPr>
                        <a:t>lambda()</a:t>
                      </a:r>
                      <a:endParaRPr lang="en-US" dirty="0">
                        <a:effectLst/>
                      </a:endParaRP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dirty="0"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7241791"/>
              </p:ext>
            </p:extLst>
          </p:nvPr>
        </p:nvGraphicFramePr>
        <p:xfrm>
          <a:off x="572248" y="5045803"/>
          <a:ext cx="8104136" cy="426720"/>
        </p:xfrm>
        <a:graphic>
          <a:graphicData uri="http://schemas.openxmlformats.org/drawingml/2006/table">
            <a:tbl>
              <a:tblPr/>
              <a:tblGrid>
                <a:gridCol w="4052068"/>
                <a:gridCol w="4052068"/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 smtClean="0">
                          <a:effectLst/>
                          <a:hlinkClick r:id="rId7"/>
                        </a:rPr>
                        <a:t>reduce()</a:t>
                      </a:r>
                      <a:endParaRPr lang="en-US" dirty="0">
                        <a:effectLst/>
                      </a:endParaRP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dirty="0"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3266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267</Words>
  <Application>Microsoft Office PowerPoint</Application>
  <PresentationFormat>Widescreen</PresentationFormat>
  <Paragraphs>50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>ljmca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LJMCA</dc:creator>
  <cp:lastModifiedBy>urja</cp:lastModifiedBy>
  <cp:revision>8</cp:revision>
  <dcterms:created xsi:type="dcterms:W3CDTF">2025-01-30T08:09:05Z</dcterms:created>
  <dcterms:modified xsi:type="dcterms:W3CDTF">2025-02-01T04:35:03Z</dcterms:modified>
</cp:coreProperties>
</file>