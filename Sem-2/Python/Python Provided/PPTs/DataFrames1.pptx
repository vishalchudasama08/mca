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9" r:id="rId4"/>
    <p:sldId id="268" r:id="rId5"/>
    <p:sldId id="265" r:id="rId6"/>
    <p:sldId id="266" r:id="rId7"/>
    <p:sldId id="267" r:id="rId8"/>
    <p:sldId id="270" r:id="rId9"/>
    <p:sldId id="277" r:id="rId10"/>
    <p:sldId id="271" r:id="rId11"/>
    <p:sldId id="275" r:id="rId12"/>
    <p:sldId id="276" r:id="rId13"/>
    <p:sldId id="273" r:id="rId14"/>
    <p:sldId id="272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96F151-6DBA-8632-87AC-2C663DCC5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60E65FA-3EE2-4BBF-6883-311294968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7B1AA2-04E5-335D-F03F-E6C1572B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A0C3F63-2393-CCA7-822A-1BBAB1CD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B24A2A8-EA9B-490E-051C-60D0BAB4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19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AB3E84-52B2-2DA7-BDC1-0430F615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AEC0D5A-311C-441C-14E3-8A6452161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BB0AB3B-988C-8F1A-7F3C-2370CE7C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C0A4D1-5D52-44A8-21E6-01EB5836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C0D5253-290D-71D2-E043-C5E8B51D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5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A63316-5A13-723A-0C8E-2490F9E3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852581C-287B-92EE-32D1-829C02674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C1D1B5-AD78-BB9C-89CB-E56C1EE8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331611B-2EE3-1C99-DF83-E6BDC072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136829-8AF5-4546-8DEF-C4D730D4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5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E48BDD-8A44-92C1-CA9E-EBE69E5F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8DA6F13-EBE1-20CF-041B-CA7C313B5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A3BCDE0-BACC-1A06-0C57-F934DFE74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E458220-A309-6548-2FC3-23E41C1C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30D6CA-3C1F-DF47-4A60-C415E2A8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8E826F-C41F-EC76-00BA-578B8726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16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9D6B4F-5936-B3CF-9DD2-EAC2104F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3319611-A7D4-D26D-0187-F89411402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F835843-0B7C-E86E-9B30-11F0004BA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E4071AB-7606-11B5-CA60-57CAF73AC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CD3D967-7A4C-5F83-835C-AFB2AD732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7D7BE08-8218-C0F3-3C9B-AE97736B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143C0EE-16DF-6EE7-155E-4334269E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67B40EC-C376-9352-DAF6-7D2011BF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2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033525-93BD-B8F8-D87E-479AC5E39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E32AC5D-210F-5A4F-BB78-FA032A1D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2B39E5E-BE21-8793-C560-7368A7E9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13C95D6-2A53-64E7-DE51-D81BB96E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1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238BFB9-578B-B569-7E54-31EED14E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F338C01-2BCA-FD1C-2F72-E9C06075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92DCBBF-15F0-7943-F759-3A058510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55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2D7F71-F270-20BE-F436-A928E208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99B6E9-2ECB-43DB-A2B7-8E7023717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2943DBE-92A8-B7F9-B785-D155EA348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E339FC9-3E6E-78FC-6FAA-AAAC0965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646627E-E776-0E46-DEA5-5F0D360F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F05AFFE-1913-3C8A-EFFB-4D78F52A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08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822257-E9F7-B5C6-2F39-2094C487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D54FD3C-A2E0-4AC3-E2A6-83A443307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8A58BB3-9540-5FAE-4A69-42E499D7D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23D0A7-B929-EE8A-6874-7A8CBD0E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0371A41-E13F-77B8-6432-35B8EEF5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1A8445F-3DF3-5528-90A7-2DC79EEF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77D3AA3-8549-B65D-BA2C-77EB0745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B41F54B-14DE-418F-96F9-39AF070D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F8314A-05EB-702B-67F9-B6B62B33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891070-4DB4-A737-F8CF-57450707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ACB2D62-AD1F-C0CA-37CA-553DE395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07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6D93B9-89B1-DE84-BC48-D32FACCA5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BFE847B-00BF-EBD0-9DA3-65599640D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6F9C36-DF44-C604-01FD-B32695E0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0363E5-A9F9-85F8-668A-4B521A79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7A1E565-8754-4117-E897-0E3AD3C3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1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8819255-2F58-9E14-8653-E0C7E4C9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70E9C05-4280-1CF4-5C2C-C07BB20DC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9BDD5CA-40C7-CFE5-1CA6-900318EB8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F78BF-CFA7-4921-A841-16C011F814A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3B7131-27E0-DED8-AB33-3FD9D479C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D741E3D-62C1-7F64-B293-CED977D54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6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A44487-CF5A-0FC7-63D5-8F207F88C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Frames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59FFCEA-A9C0-F6CC-84F0-72942AC0A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Unit-4</a:t>
            </a:r>
          </a:p>
        </p:txBody>
      </p:sp>
    </p:spTree>
    <p:extLst>
      <p:ext uri="{BB962C8B-B14F-4D97-AF65-F5344CB8AC3E}">
        <p14:creationId xmlns:p14="http://schemas.microsoft.com/office/powerpoint/2010/main" val="414073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/>
              <a:t>Data Frame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562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Data frame is an object that is useful in representing data in the form of rows and columns</a:t>
            </a:r>
          </a:p>
          <a:p>
            <a:pPr algn="just"/>
            <a:r>
              <a:rPr lang="en-US" dirty="0"/>
              <a:t>Data may come from an excel file(spreadsheet), a .</a:t>
            </a:r>
            <a:r>
              <a:rPr lang="en-US" dirty="0" err="1"/>
              <a:t>csv</a:t>
            </a:r>
            <a:r>
              <a:rPr lang="en-US" dirty="0"/>
              <a:t> file, a Python sequence like a dictionary, list or </a:t>
            </a:r>
            <a:r>
              <a:rPr lang="en-US" dirty="0" err="1"/>
              <a:t>tuple</a:t>
            </a:r>
            <a:endParaRPr lang="en-US" dirty="0"/>
          </a:p>
          <a:p>
            <a:pPr algn="just"/>
            <a:r>
              <a:rPr lang="en-US" dirty="0"/>
              <a:t>Python contains </a:t>
            </a:r>
            <a:r>
              <a:rPr lang="en-US" i="1" dirty="0"/>
              <a:t>pandas</a:t>
            </a:r>
            <a:r>
              <a:rPr lang="en-US" dirty="0"/>
              <a:t> which is a useful package for data analysis and manipulation</a:t>
            </a:r>
          </a:p>
          <a:p>
            <a:pPr algn="just"/>
            <a:r>
              <a:rPr lang="en-US" dirty="0"/>
              <a:t>To create a </a:t>
            </a:r>
            <a:r>
              <a:rPr lang="en-US" dirty="0" err="1"/>
              <a:t>dataframe</a:t>
            </a:r>
            <a:r>
              <a:rPr lang="en-US" dirty="0"/>
              <a:t>, import pandas and then use its methods like: </a:t>
            </a:r>
            <a:r>
              <a:rPr lang="en-US" dirty="0" err="1"/>
              <a:t>pandas.read_excel</a:t>
            </a:r>
            <a:r>
              <a:rPr lang="en-US" dirty="0"/>
              <a:t>(), </a:t>
            </a:r>
            <a:r>
              <a:rPr lang="en-US" dirty="0" err="1"/>
              <a:t>pandas.read_csv</a:t>
            </a:r>
            <a:r>
              <a:rPr lang="en-US" dirty="0"/>
              <a:t>(), </a:t>
            </a:r>
            <a:r>
              <a:rPr lang="en-US" dirty="0" err="1" smtClean="0"/>
              <a:t>pandas.DataFrame</a:t>
            </a:r>
            <a:r>
              <a:rPr lang="en-US" dirty="0"/>
              <a:t>()</a:t>
            </a:r>
          </a:p>
          <a:p>
            <a:pPr algn="just"/>
            <a:r>
              <a:rPr lang="en-US" dirty="0"/>
              <a:t>Example.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55" y="129248"/>
            <a:ext cx="11154089" cy="6599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0"/>
            <a:ext cx="6843712" cy="6575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5738" y="291059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36" y="1064302"/>
            <a:ext cx="11107712" cy="54126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Knowing number of Rows and Columns: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-&gt; will return a tuple of rows and columns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Print(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will print (5,4) means 5 rows and 4 columns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r, c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print(r) will just print no. of rows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Rows from Data Frame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head() method returns 1st 5 and tail() returns last 5 rows by default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we provide an integer parameter in it will return that many rows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a Range of Rows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treat data frame as an object and rows can be retrieved using slicing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[2:5] -&gt; will return rows 2 to 5 (will use row id- starting from 0)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[1::3] -&gt;will return 1st row and 3rd row after 1st row i.e. 4th row, then 7th row and so on…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[5:0:-1]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1754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56" y="1079292"/>
            <a:ext cx="11197652" cy="55313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Retrieve Column Names: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df.columns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will return list of columns with their index name.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Output: Index(['Emp ID', '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', 'Salary', 'Joining Date'],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dtype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='object')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Retrieve column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retrieve column data, use column name as subscript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print(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will give o/p as list of all Employee Names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 ways: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df.empid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OR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[‘empid’]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 data from Multiple Columns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the list of column names as a subscript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[[’empid’ , ’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’]]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Finding Maximum and Minimum Values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max() and min() method on columns containing numerical data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’].max()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76567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705" y="1319134"/>
            <a:ext cx="11302583" cy="54471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Displaying Statistical Information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describe() method displays information like: no. of values, average, standard deviation, minimum, maximum, 25%, 50% and 75% of total value.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highly useful for statistical analysis.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df.describe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Performing Queries on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retrieve rows based on a query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Query should be given as subscript in the data frame object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show data from some columns based on a query, mention the list of columns and then the query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1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[df.sal&gt;1000]]         eg2: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[[ ‘id’, ’name’]] [df.sal&gt;1000] 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1143BD24-5912-5F32-5088-94B762C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08" y="1499017"/>
            <a:ext cx="11302583" cy="51116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Knowing the Index Range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will return 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RangeIndex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(start=0, stop=5, step=1)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Setting Column as Index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’)    OR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empid’,inplace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df.loc[1004] can access a specific row with the defined index value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Resetting the Index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df.reset_index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inplace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Sorting the Data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df.sort_values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doj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’)       OR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df.sort_values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’, ascending=False)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Handling Missing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df.fillna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(0)              or          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df.dropna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6456B49A-562D-3DAA-896C-30053052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76567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0303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Group </a:t>
            </a:r>
            <a:r>
              <a:rPr lang="en-US" smtClean="0"/>
              <a:t>By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764" y="1825625"/>
            <a:ext cx="10994036" cy="4351338"/>
          </a:xfrm>
        </p:spPr>
        <p:txBody>
          <a:bodyPr/>
          <a:lstStyle/>
          <a:p>
            <a:r>
              <a:rPr lang="en-US" dirty="0" err="1"/>
              <a:t>d</a:t>
            </a:r>
            <a:r>
              <a:rPr lang="en-US" dirty="0" err="1" smtClean="0"/>
              <a:t>f.groupby</a:t>
            </a:r>
            <a:r>
              <a:rPr lang="en-US" dirty="0" smtClean="0"/>
              <a:t>(‘aggregate column’)[‘</a:t>
            </a:r>
            <a:r>
              <a:rPr lang="en-US" dirty="0" err="1" smtClean="0"/>
              <a:t>column_name</a:t>
            </a:r>
            <a:r>
              <a:rPr lang="en-US" dirty="0" smtClean="0"/>
              <a:t>’].aggregate function()</a:t>
            </a:r>
          </a:p>
          <a:p>
            <a:pPr marL="0" indent="0">
              <a:buNone/>
            </a:pPr>
            <a:r>
              <a:rPr lang="en-IN" dirty="0" err="1" smtClean="0"/>
              <a:t>eg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df.groupby</a:t>
            </a:r>
            <a:r>
              <a:rPr lang="en-IN" dirty="0"/>
              <a:t>('Department')['Percentage'].mean())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df.groupby</a:t>
            </a:r>
            <a:r>
              <a:rPr lang="en-IN" dirty="0"/>
              <a:t>('Department')[['</a:t>
            </a:r>
            <a:r>
              <a:rPr lang="en-IN" dirty="0" err="1"/>
              <a:t>Percentage','Attendance</a:t>
            </a:r>
            <a:r>
              <a:rPr lang="en-IN" dirty="0"/>
              <a:t>']].mean</a:t>
            </a:r>
            <a:r>
              <a:rPr lang="en-IN" dirty="0" smtClean="0"/>
              <a:t>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 = </a:t>
            </a:r>
            <a:r>
              <a:rPr lang="en-US" dirty="0" err="1"/>
              <a:t>df.groupby</a:t>
            </a:r>
            <a:r>
              <a:rPr lang="en-US" dirty="0"/>
              <a:t>("Department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  <a:r>
              <a:rPr lang="en-US" dirty="0" err="1" smtClean="0"/>
              <a:t>agg</a:t>
            </a:r>
            <a:r>
              <a:rPr lang="en-US" dirty="0" smtClean="0"/>
              <a:t>(</a:t>
            </a:r>
            <a:r>
              <a:rPr lang="en-US" dirty="0" err="1" smtClean="0"/>
              <a:t>Min_Marks</a:t>
            </a:r>
            <a:r>
              <a:rPr lang="en-US" dirty="0"/>
              <a:t>=("Marks", "min"),    </a:t>
            </a:r>
            <a:r>
              <a:rPr lang="en-US" dirty="0" smtClean="0"/>
              <a:t>					 	        </a:t>
            </a:r>
            <a:r>
              <a:rPr lang="en-US" dirty="0" err="1" smtClean="0"/>
              <a:t>Max_Attendance</a:t>
            </a:r>
            <a:r>
              <a:rPr lang="en-US" dirty="0"/>
              <a:t>=("Attendance", "max"))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50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85" y="140212"/>
            <a:ext cx="11422505" cy="1325563"/>
          </a:xfrm>
        </p:spPr>
        <p:txBody>
          <a:bodyPr/>
          <a:lstStyle/>
          <a:p>
            <a:r>
              <a:rPr lang="en-US" dirty="0" smtClean="0"/>
              <a:t>Merge(),  Join() and </a:t>
            </a:r>
            <a:r>
              <a:rPr lang="en-US" dirty="0" err="1" smtClean="0"/>
              <a:t>Concat</a:t>
            </a:r>
            <a:r>
              <a:rPr lang="en-US" dirty="0" smtClean="0"/>
              <a:t>() </a:t>
            </a:r>
            <a:r>
              <a:rPr lang="en-US" dirty="0" err="1" smtClean="0"/>
              <a:t>Dataframe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266127"/>
              </p:ext>
            </p:extLst>
          </p:nvPr>
        </p:nvGraphicFramePr>
        <p:xfrm>
          <a:off x="599608" y="2401093"/>
          <a:ext cx="11302584" cy="4089649"/>
        </p:xfrm>
        <a:graphic>
          <a:graphicData uri="http://schemas.openxmlformats.org/drawingml/2006/table">
            <a:tbl>
              <a:tblPr/>
              <a:tblGrid>
                <a:gridCol w="1873769"/>
                <a:gridCol w="3507698"/>
                <a:gridCol w="3095471"/>
                <a:gridCol w="2825646"/>
              </a:tblGrid>
              <a:tr h="467389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793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Columns (keys)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Axis (rows or columns)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(by default) or key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793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Stacking (</a:t>
                      </a:r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vertical=0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</a:t>
                      </a:r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horizontal=1) using axis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JOIN on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793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related tables via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Appending similar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Joining on index (simple)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847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allows custom join types (inner, outer, left, right)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79685" y="1465775"/>
            <a:ext cx="24449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Differences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83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733" y="1825625"/>
            <a:ext cx="11362545" cy="1232368"/>
          </a:xfrm>
        </p:spPr>
        <p:txBody>
          <a:bodyPr>
            <a:normAutofit fontScale="70000" lnSpcReduction="20000"/>
          </a:bodyPr>
          <a:lstStyle/>
          <a:p>
            <a:r>
              <a:rPr lang="en-IN" dirty="0" err="1"/>
              <a:t>pd.merge</a:t>
            </a:r>
            <a:r>
              <a:rPr lang="en-IN" dirty="0"/>
              <a:t>(left, right, how='inner', on=None, </a:t>
            </a:r>
            <a:r>
              <a:rPr lang="en-IN" dirty="0" err="1"/>
              <a:t>left_on</a:t>
            </a:r>
            <a:r>
              <a:rPr lang="en-IN" dirty="0"/>
              <a:t>=None, </a:t>
            </a:r>
            <a:r>
              <a:rPr lang="en-IN" dirty="0" err="1" smtClean="0"/>
              <a:t>right_on</a:t>
            </a:r>
            <a:r>
              <a:rPr lang="en-IN" dirty="0" smtClean="0"/>
              <a:t>=None, </a:t>
            </a:r>
            <a:r>
              <a:rPr lang="en-IN" dirty="0" err="1" smtClean="0"/>
              <a:t>left_index</a:t>
            </a:r>
            <a:r>
              <a:rPr lang="en-IN" dirty="0" smtClean="0"/>
              <a:t>=False</a:t>
            </a:r>
            <a:r>
              <a:rPr lang="en-IN" dirty="0"/>
              <a:t>, </a:t>
            </a:r>
            <a:r>
              <a:rPr lang="en-IN" dirty="0" err="1"/>
              <a:t>right_index</a:t>
            </a:r>
            <a:r>
              <a:rPr lang="en-IN" dirty="0"/>
              <a:t>=False, </a:t>
            </a:r>
            <a:r>
              <a:rPr lang="en-IN" dirty="0" smtClean="0"/>
              <a:t>sort=False, suffixes</a:t>
            </a:r>
            <a:r>
              <a:rPr lang="en-IN" dirty="0"/>
              <a:t>=('_x', '_y'), copy=True, indicator=False, validate=None</a:t>
            </a:r>
            <a:r>
              <a:rPr lang="en-IN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Parameter ‘how’</a:t>
            </a:r>
            <a:endParaRPr lang="en-IN" dirty="0" smtClean="0"/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455357"/>
              </p:ext>
            </p:extLst>
          </p:nvPr>
        </p:nvGraphicFramePr>
        <p:xfrm>
          <a:off x="688298" y="3222935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'inner'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Only matching keys from both DataFrames (default)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'left'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keys from left, match from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'right'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keys from right, match from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'outer'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keys from both </a:t>
                      </a:r>
                      <a:r>
                        <a:rPr lang="en-US" dirty="0" err="1"/>
                        <a:t>DataFrames</a:t>
                      </a:r>
                      <a:r>
                        <a:rPr lang="en-US" dirty="0"/>
                        <a:t> (with </a:t>
                      </a:r>
                      <a:r>
                        <a:rPr lang="en-US" dirty="0" err="1"/>
                        <a:t>NaNs</a:t>
                      </a:r>
                      <a:r>
                        <a:rPr lang="en-US" dirty="0"/>
                        <a:t> where missing)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097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Concat</a:t>
            </a:r>
            <a:r>
              <a:rPr lang="en-US" dirty="0" smtClean="0"/>
              <a:t>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pd.concat</a:t>
            </a:r>
            <a:r>
              <a:rPr lang="en-IN" dirty="0"/>
              <a:t>(</a:t>
            </a:r>
            <a:r>
              <a:rPr lang="en-IN" dirty="0" err="1"/>
              <a:t>objs</a:t>
            </a:r>
            <a:r>
              <a:rPr lang="en-IN" dirty="0"/>
              <a:t>, axis=0, join='outer', </a:t>
            </a:r>
            <a:r>
              <a:rPr lang="en-IN" dirty="0" err="1"/>
              <a:t>ignore_index</a:t>
            </a:r>
            <a:r>
              <a:rPr lang="en-IN" dirty="0"/>
              <a:t>=False</a:t>
            </a:r>
            <a:r>
              <a:rPr lang="en-IN" dirty="0" smtClean="0"/>
              <a:t>,  </a:t>
            </a:r>
            <a:r>
              <a:rPr lang="en-IN" dirty="0"/>
              <a:t>keys=None, levels=None, names=None, </a:t>
            </a:r>
            <a:r>
              <a:rPr lang="en-IN" dirty="0" err="1" smtClean="0"/>
              <a:t>verify_integrity</a:t>
            </a:r>
            <a:r>
              <a:rPr lang="en-IN" dirty="0" smtClean="0"/>
              <a:t>=False, sort=False</a:t>
            </a:r>
            <a:r>
              <a:rPr lang="en-IN" dirty="0"/>
              <a:t>, copy=True)</a:t>
            </a:r>
          </a:p>
        </p:txBody>
      </p:sp>
    </p:spTree>
    <p:extLst>
      <p:ext uri="{BB962C8B-B14F-4D97-AF65-F5344CB8AC3E}">
        <p14:creationId xmlns:p14="http://schemas.microsoft.com/office/powerpoint/2010/main" val="204993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9744" y="135948"/>
            <a:ext cx="41672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# Student basic info</a:t>
            </a:r>
          </a:p>
          <a:p>
            <a:r>
              <a:rPr lang="en-IN" dirty="0"/>
              <a:t>df1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r>
              <a:rPr lang="en-IN" dirty="0"/>
              <a:t>    '</a:t>
            </a:r>
            <a:r>
              <a:rPr lang="en-IN" dirty="0" err="1"/>
              <a:t>roll_no</a:t>
            </a:r>
            <a:r>
              <a:rPr lang="en-IN" dirty="0"/>
              <a:t>': [1, 2, 3],</a:t>
            </a:r>
          </a:p>
          <a:p>
            <a:r>
              <a:rPr lang="en-IN" dirty="0"/>
              <a:t>    'name': ['Alice', 'Bob', 'Charlie']</a:t>
            </a:r>
          </a:p>
          <a:p>
            <a:r>
              <a:rPr lang="en-IN" dirty="0" smtClean="0"/>
              <a:t>})</a:t>
            </a:r>
            <a:endParaRPr lang="en-US" dirty="0" smtClean="0"/>
          </a:p>
          <a:p>
            <a:endParaRPr lang="en-IN" dirty="0"/>
          </a:p>
          <a:p>
            <a:r>
              <a:rPr lang="en-IN" dirty="0"/>
              <a:t># Student marks info</a:t>
            </a:r>
          </a:p>
          <a:p>
            <a:r>
              <a:rPr lang="en-IN" dirty="0"/>
              <a:t>df2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r>
              <a:rPr lang="en-IN" dirty="0"/>
              <a:t>    '</a:t>
            </a:r>
            <a:r>
              <a:rPr lang="en-IN" dirty="0" err="1"/>
              <a:t>roll_no</a:t>
            </a:r>
            <a:r>
              <a:rPr lang="en-IN" dirty="0"/>
              <a:t>': [1, 2, 4],</a:t>
            </a:r>
          </a:p>
          <a:p>
            <a:r>
              <a:rPr lang="en-IN" dirty="0"/>
              <a:t>    'marks': [85, 90, 88]</a:t>
            </a:r>
          </a:p>
          <a:p>
            <a:r>
              <a:rPr lang="en-IN" dirty="0"/>
              <a:t>})</a:t>
            </a:r>
          </a:p>
          <a:p>
            <a:endParaRPr lang="en-IN" dirty="0"/>
          </a:p>
          <a:p>
            <a:r>
              <a:rPr lang="en-IN" dirty="0"/>
              <a:t># Student address info (index-based)</a:t>
            </a:r>
          </a:p>
          <a:p>
            <a:r>
              <a:rPr lang="en-IN" dirty="0"/>
              <a:t>df3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r>
              <a:rPr lang="en-IN" dirty="0"/>
              <a:t>    'address': ['Delhi', 'Mumbai', 'Chennai']</a:t>
            </a:r>
          </a:p>
          <a:p>
            <a:r>
              <a:rPr lang="en-IN" dirty="0"/>
              <a:t>}, index=['Alice', 'Charlie', 'David'])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51096" y="179883"/>
            <a:ext cx="58011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merged_df</a:t>
            </a:r>
            <a:r>
              <a:rPr lang="en-IN" b="1" dirty="0">
                <a:solidFill>
                  <a:srgbClr val="7030A0"/>
                </a:solidFill>
              </a:rPr>
              <a:t> = </a:t>
            </a:r>
            <a:r>
              <a:rPr lang="en-IN" b="1" dirty="0" err="1">
                <a:solidFill>
                  <a:srgbClr val="7030A0"/>
                </a:solidFill>
              </a:rPr>
              <a:t>pd.merge</a:t>
            </a:r>
            <a:r>
              <a:rPr lang="en-IN" b="1" dirty="0">
                <a:solidFill>
                  <a:srgbClr val="7030A0"/>
                </a:solidFill>
              </a:rPr>
              <a:t>(df1, df2, on='</a:t>
            </a:r>
            <a:r>
              <a:rPr lang="en-IN" b="1" dirty="0" err="1">
                <a:solidFill>
                  <a:srgbClr val="7030A0"/>
                </a:solidFill>
              </a:rPr>
              <a:t>roll_no</a:t>
            </a:r>
            <a:r>
              <a:rPr lang="en-IN" b="1" dirty="0">
                <a:solidFill>
                  <a:srgbClr val="7030A0"/>
                </a:solidFill>
              </a:rPr>
              <a:t>', how='inner')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51096" y="68883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roll_no</a:t>
            </a:r>
            <a:r>
              <a:rPr lang="en-IN" dirty="0"/>
              <a:t>    name  marks</a:t>
            </a:r>
          </a:p>
          <a:p>
            <a:r>
              <a:rPr lang="en-IN" dirty="0"/>
              <a:t>0        1  </a:t>
            </a:r>
            <a:r>
              <a:rPr lang="en-IN" dirty="0" smtClean="0"/>
              <a:t>    Alice   85</a:t>
            </a:r>
            <a:endParaRPr lang="en-IN" dirty="0"/>
          </a:p>
          <a:p>
            <a:r>
              <a:rPr lang="en-IN" dirty="0"/>
              <a:t>1        2     </a:t>
            </a:r>
            <a:r>
              <a:rPr lang="en-IN" dirty="0" smtClean="0"/>
              <a:t> Bob     90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921116" y="175177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concat_df</a:t>
            </a:r>
            <a:r>
              <a:rPr lang="en-IN" b="1" dirty="0">
                <a:solidFill>
                  <a:srgbClr val="7030A0"/>
                </a:solidFill>
              </a:rPr>
              <a:t> = </a:t>
            </a:r>
            <a:r>
              <a:rPr lang="en-IN" b="1" dirty="0" err="1">
                <a:solidFill>
                  <a:srgbClr val="7030A0"/>
                </a:solidFill>
              </a:rPr>
              <a:t>pd.concat</a:t>
            </a:r>
            <a:r>
              <a:rPr lang="en-IN" b="1" dirty="0">
                <a:solidFill>
                  <a:srgbClr val="7030A0"/>
                </a:solidFill>
              </a:rPr>
              <a:t>([df1, df2], </a:t>
            </a:r>
            <a:r>
              <a:rPr lang="en-IN" b="1" dirty="0" err="1">
                <a:solidFill>
                  <a:srgbClr val="7030A0"/>
                </a:solidFill>
              </a:rPr>
              <a:t>ignore_index</a:t>
            </a:r>
            <a:r>
              <a:rPr lang="en-IN" b="1" dirty="0">
                <a:solidFill>
                  <a:srgbClr val="7030A0"/>
                </a:solidFill>
              </a:rPr>
              <a:t>=True)</a:t>
            </a:r>
          </a:p>
          <a:p>
            <a:r>
              <a:rPr lang="en-IN" b="1" dirty="0">
                <a:solidFill>
                  <a:srgbClr val="7030A0"/>
                </a:solidFill>
              </a:rPr>
              <a:t>print("\</a:t>
            </a:r>
            <a:r>
              <a:rPr lang="en-IN" b="1" dirty="0" err="1">
                <a:solidFill>
                  <a:srgbClr val="7030A0"/>
                </a:solidFill>
              </a:rPr>
              <a:t>nUsing</a:t>
            </a:r>
            <a:r>
              <a:rPr lang="en-IN" b="1" dirty="0">
                <a:solidFill>
                  <a:srgbClr val="7030A0"/>
                </a:solidFill>
              </a:rPr>
              <a:t> </a:t>
            </a:r>
            <a:r>
              <a:rPr lang="en-IN" b="1" dirty="0" err="1">
                <a:solidFill>
                  <a:srgbClr val="7030A0"/>
                </a:solidFill>
              </a:rPr>
              <a:t>concat</a:t>
            </a:r>
            <a:r>
              <a:rPr lang="en-IN" b="1" dirty="0">
                <a:solidFill>
                  <a:srgbClr val="7030A0"/>
                </a:solidFill>
              </a:rPr>
              <a:t>() - Vertical:")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51096" y="2585003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roll_no</a:t>
            </a:r>
            <a:r>
              <a:rPr lang="en-IN" dirty="0"/>
              <a:t>     name  marks</a:t>
            </a:r>
          </a:p>
          <a:p>
            <a:r>
              <a:rPr lang="en-IN" dirty="0"/>
              <a:t>0      1.0    Alice    </a:t>
            </a:r>
            <a:r>
              <a:rPr lang="en-IN" dirty="0" err="1"/>
              <a:t>NaN</a:t>
            </a:r>
            <a:endParaRPr lang="en-IN" dirty="0"/>
          </a:p>
          <a:p>
            <a:r>
              <a:rPr lang="en-IN" dirty="0"/>
              <a:t>1      2.0      Bob    </a:t>
            </a:r>
            <a:r>
              <a:rPr lang="en-IN" dirty="0" err="1"/>
              <a:t>NaN</a:t>
            </a:r>
            <a:endParaRPr lang="en-IN" dirty="0"/>
          </a:p>
          <a:p>
            <a:r>
              <a:rPr lang="en-IN" dirty="0"/>
              <a:t>2      3.0  Charlie    </a:t>
            </a:r>
            <a:r>
              <a:rPr lang="en-IN" dirty="0" err="1"/>
              <a:t>NaN</a:t>
            </a:r>
            <a:endParaRPr lang="en-IN" dirty="0"/>
          </a:p>
          <a:p>
            <a:r>
              <a:rPr lang="en-IN" dirty="0"/>
              <a:t>3      1.0      </a:t>
            </a:r>
            <a:r>
              <a:rPr lang="en-IN" dirty="0" err="1"/>
              <a:t>NaN</a:t>
            </a:r>
            <a:r>
              <a:rPr lang="en-IN" dirty="0"/>
              <a:t>   85.0</a:t>
            </a:r>
          </a:p>
          <a:p>
            <a:r>
              <a:rPr lang="en-IN" dirty="0"/>
              <a:t>4      2.0      </a:t>
            </a:r>
            <a:r>
              <a:rPr lang="en-IN" dirty="0" err="1"/>
              <a:t>NaN</a:t>
            </a:r>
            <a:r>
              <a:rPr lang="en-IN" dirty="0"/>
              <a:t>   90.0</a:t>
            </a:r>
          </a:p>
          <a:p>
            <a:r>
              <a:rPr lang="en-IN" dirty="0"/>
              <a:t>5      4.0      </a:t>
            </a:r>
            <a:r>
              <a:rPr lang="en-IN" dirty="0" err="1"/>
              <a:t>NaN</a:t>
            </a:r>
            <a:r>
              <a:rPr lang="en-IN" dirty="0"/>
              <a:t>   88.0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51096" y="48032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concat_df_col</a:t>
            </a:r>
            <a:r>
              <a:rPr lang="en-IN" b="1" dirty="0">
                <a:solidFill>
                  <a:srgbClr val="7030A0"/>
                </a:solidFill>
              </a:rPr>
              <a:t> = </a:t>
            </a:r>
            <a:r>
              <a:rPr lang="en-IN" b="1" dirty="0" err="1">
                <a:solidFill>
                  <a:srgbClr val="7030A0"/>
                </a:solidFill>
              </a:rPr>
              <a:t>pd.concat</a:t>
            </a:r>
            <a:r>
              <a:rPr lang="en-IN" b="1" dirty="0">
                <a:solidFill>
                  <a:srgbClr val="7030A0"/>
                </a:solidFill>
              </a:rPr>
              <a:t>([df1, df2], axis=1)</a:t>
            </a:r>
          </a:p>
          <a:p>
            <a:r>
              <a:rPr lang="en-IN" b="1" dirty="0">
                <a:solidFill>
                  <a:srgbClr val="7030A0"/>
                </a:solidFill>
              </a:rPr>
              <a:t>print("\</a:t>
            </a:r>
            <a:r>
              <a:rPr lang="en-IN" b="1" dirty="0" err="1">
                <a:solidFill>
                  <a:srgbClr val="7030A0"/>
                </a:solidFill>
              </a:rPr>
              <a:t>nUsing</a:t>
            </a:r>
            <a:r>
              <a:rPr lang="en-IN" b="1" dirty="0">
                <a:solidFill>
                  <a:srgbClr val="7030A0"/>
                </a:solidFill>
              </a:rPr>
              <a:t> </a:t>
            </a:r>
            <a:r>
              <a:rPr lang="en-IN" b="1" dirty="0" err="1">
                <a:solidFill>
                  <a:srgbClr val="7030A0"/>
                </a:solidFill>
              </a:rPr>
              <a:t>concat</a:t>
            </a:r>
            <a:r>
              <a:rPr lang="en-IN" b="1" dirty="0">
                <a:solidFill>
                  <a:srgbClr val="7030A0"/>
                </a:solidFill>
              </a:rPr>
              <a:t>() - Horizontal:")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51096" y="55891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   </a:t>
            </a:r>
            <a:r>
              <a:rPr lang="en-IN" dirty="0" err="1" smtClean="0"/>
              <a:t>roll_no</a:t>
            </a:r>
            <a:r>
              <a:rPr lang="en-IN" dirty="0" smtClean="0"/>
              <a:t>     </a:t>
            </a:r>
            <a:r>
              <a:rPr lang="en-IN" dirty="0"/>
              <a:t>name  </a:t>
            </a:r>
            <a:r>
              <a:rPr lang="en-IN" dirty="0" smtClean="0"/>
              <a:t>   </a:t>
            </a:r>
            <a:r>
              <a:rPr lang="en-IN" dirty="0" err="1" smtClean="0"/>
              <a:t>roll_no</a:t>
            </a:r>
            <a:r>
              <a:rPr lang="en-IN" dirty="0" smtClean="0"/>
              <a:t>  </a:t>
            </a:r>
            <a:r>
              <a:rPr lang="en-IN" dirty="0"/>
              <a:t>marks</a:t>
            </a:r>
          </a:p>
          <a:p>
            <a:r>
              <a:rPr lang="en-IN" dirty="0"/>
              <a:t>0        1    </a:t>
            </a:r>
            <a:r>
              <a:rPr lang="en-IN" dirty="0" smtClean="0"/>
              <a:t>       Alice          1          85</a:t>
            </a:r>
            <a:endParaRPr lang="en-IN" dirty="0"/>
          </a:p>
          <a:p>
            <a:r>
              <a:rPr lang="en-IN" dirty="0"/>
              <a:t>1        2      </a:t>
            </a:r>
            <a:r>
              <a:rPr lang="en-IN" dirty="0" smtClean="0"/>
              <a:t>     Bob            2          90</a:t>
            </a:r>
            <a:endParaRPr lang="en-IN" dirty="0"/>
          </a:p>
          <a:p>
            <a:r>
              <a:rPr lang="en-IN" dirty="0"/>
              <a:t>2        3  </a:t>
            </a:r>
            <a:r>
              <a:rPr lang="en-IN" dirty="0" smtClean="0"/>
              <a:t>         Charlie       </a:t>
            </a:r>
            <a:r>
              <a:rPr lang="en-IN" dirty="0"/>
              <a:t>4     </a:t>
            </a:r>
            <a:r>
              <a:rPr lang="en-IN" dirty="0" smtClean="0"/>
              <a:t>     88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94675" y="4941724"/>
            <a:ext cx="4463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joined_df</a:t>
            </a:r>
            <a:r>
              <a:rPr lang="en-IN" b="1" dirty="0">
                <a:solidFill>
                  <a:srgbClr val="7030A0"/>
                </a:solidFill>
              </a:rPr>
              <a:t> = df1_indexed.join(df3, how='left')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9744" y="529239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           </a:t>
            </a:r>
            <a:r>
              <a:rPr lang="en-IN" dirty="0" err="1" smtClean="0"/>
              <a:t>roll_no</a:t>
            </a:r>
            <a:r>
              <a:rPr lang="en-IN" dirty="0"/>
              <a:t> </a:t>
            </a:r>
            <a:r>
              <a:rPr lang="en-IN" dirty="0" smtClean="0"/>
              <a:t>  address</a:t>
            </a:r>
            <a:endParaRPr lang="en-IN" dirty="0"/>
          </a:p>
          <a:p>
            <a:r>
              <a:rPr lang="en-IN" dirty="0"/>
              <a:t>name                     </a:t>
            </a:r>
          </a:p>
          <a:p>
            <a:r>
              <a:rPr lang="en-IN" dirty="0"/>
              <a:t>Alice         </a:t>
            </a:r>
            <a:r>
              <a:rPr lang="en-IN" dirty="0" smtClean="0"/>
              <a:t>1          Delhi</a:t>
            </a:r>
            <a:endParaRPr lang="en-IN" dirty="0"/>
          </a:p>
          <a:p>
            <a:r>
              <a:rPr lang="en-IN" dirty="0"/>
              <a:t>Bob          </a:t>
            </a:r>
            <a:r>
              <a:rPr lang="en-IN" dirty="0" smtClean="0"/>
              <a:t> 2          </a:t>
            </a:r>
            <a:r>
              <a:rPr lang="en-IN" dirty="0" err="1" smtClean="0"/>
              <a:t>NaN</a:t>
            </a:r>
            <a:endParaRPr lang="en-IN" dirty="0"/>
          </a:p>
          <a:p>
            <a:r>
              <a:rPr lang="en-IN" dirty="0"/>
              <a:t>Charlie    </a:t>
            </a:r>
            <a:r>
              <a:rPr lang="en-IN" dirty="0" smtClean="0"/>
              <a:t> 3          Mumbai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799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78" y="0"/>
            <a:ext cx="10515600" cy="1325563"/>
          </a:xfrm>
        </p:spPr>
        <p:txBody>
          <a:bodyPr/>
          <a:lstStyle/>
          <a:p>
            <a:r>
              <a:rPr lang="en-US" dirty="0" smtClean="0"/>
              <a:t>Compare() </a:t>
            </a:r>
            <a:r>
              <a:rPr lang="en-US" dirty="0" err="1" smtClean="0"/>
              <a:t>Dataframes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761" y="1196038"/>
            <a:ext cx="11827239" cy="240160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DataFrame.compare</a:t>
            </a:r>
            <a:r>
              <a:rPr lang="en-US" dirty="0"/>
              <a:t>() method shows the differences between two </a:t>
            </a:r>
            <a:r>
              <a:rPr lang="en-US" dirty="0" err="1"/>
              <a:t>DataFrames</a:t>
            </a:r>
            <a:r>
              <a:rPr lang="en-US" dirty="0"/>
              <a:t> (or Series).It returns only the rows and columns where the values differ</a:t>
            </a:r>
            <a:r>
              <a:rPr lang="en-US" dirty="0" smtClean="0"/>
              <a:t>.</a:t>
            </a:r>
          </a:p>
          <a:p>
            <a:r>
              <a:rPr lang="en-US" dirty="0"/>
              <a:t>Syntax: </a:t>
            </a:r>
            <a:endParaRPr lang="en-US" dirty="0" smtClean="0"/>
          </a:p>
          <a:p>
            <a:r>
              <a:rPr lang="en-US" dirty="0" err="1" smtClean="0"/>
              <a:t>DataFrame.compare</a:t>
            </a:r>
            <a:r>
              <a:rPr lang="en-US" dirty="0" smtClean="0"/>
              <a:t>(other</a:t>
            </a:r>
            <a:r>
              <a:rPr lang="en-US" dirty="0"/>
              <a:t>, </a:t>
            </a:r>
            <a:r>
              <a:rPr lang="en-US" dirty="0" err="1"/>
              <a:t>align_axis</a:t>
            </a:r>
            <a:r>
              <a:rPr lang="en-US" dirty="0"/>
              <a:t>=1, </a:t>
            </a:r>
            <a:r>
              <a:rPr lang="en-US" dirty="0" err="1"/>
              <a:t>keep_shape</a:t>
            </a:r>
            <a:r>
              <a:rPr lang="en-US" dirty="0"/>
              <a:t>=False, </a:t>
            </a:r>
            <a:r>
              <a:rPr lang="en-US" dirty="0" err="1"/>
              <a:t>keep_equal</a:t>
            </a:r>
            <a:r>
              <a:rPr lang="en-US" dirty="0"/>
              <a:t>=False)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18277" y="3597639"/>
            <a:ext cx="941507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Parameters</a:t>
            </a:r>
            <a:r>
              <a:rPr lang="en-IN" sz="2000" dirty="0" smtClean="0"/>
              <a:t>:</a:t>
            </a:r>
          </a:p>
          <a:p>
            <a:r>
              <a:rPr lang="en-IN" sz="2000" dirty="0" smtClean="0"/>
              <a:t>other</a:t>
            </a:r>
            <a:r>
              <a:rPr lang="en-IN" sz="2000" dirty="0"/>
              <a:t>: The </a:t>
            </a:r>
            <a:r>
              <a:rPr lang="en-IN" sz="2000" dirty="0" err="1"/>
              <a:t>DataFrame</a:t>
            </a:r>
            <a:r>
              <a:rPr lang="en-IN" sz="2000" dirty="0"/>
              <a:t> to compare with</a:t>
            </a:r>
            <a:r>
              <a:rPr lang="en-IN" sz="2000" dirty="0" smtClean="0"/>
              <a:t>.</a:t>
            </a:r>
          </a:p>
          <a:p>
            <a:r>
              <a:rPr lang="en-IN" sz="2000" dirty="0" err="1" smtClean="0"/>
              <a:t>align_axis</a:t>
            </a:r>
            <a:r>
              <a:rPr lang="en-IN" sz="2000" dirty="0" smtClean="0"/>
              <a:t>:	0 </a:t>
            </a:r>
            <a:r>
              <a:rPr lang="en-IN" sz="2000" dirty="0"/>
              <a:t>→ Compare </a:t>
            </a:r>
            <a:r>
              <a:rPr lang="en-IN" sz="2000" dirty="0" smtClean="0"/>
              <a:t>row-wise</a:t>
            </a:r>
          </a:p>
          <a:p>
            <a:r>
              <a:rPr lang="en-IN" sz="2000" dirty="0"/>
              <a:t>	</a:t>
            </a:r>
            <a:r>
              <a:rPr lang="en-IN" sz="2000" dirty="0" smtClean="0"/>
              <a:t>	1 </a:t>
            </a:r>
            <a:r>
              <a:rPr lang="en-IN" sz="2000" dirty="0"/>
              <a:t>(default) → Compare </a:t>
            </a:r>
            <a:r>
              <a:rPr lang="en-IN" sz="2000" dirty="0" smtClean="0"/>
              <a:t>column-wise</a:t>
            </a:r>
          </a:p>
          <a:p>
            <a:r>
              <a:rPr lang="en-IN" sz="2000" dirty="0" err="1" smtClean="0"/>
              <a:t>keep_shape</a:t>
            </a:r>
            <a:r>
              <a:rPr lang="en-IN" sz="2000" dirty="0" smtClean="0"/>
              <a:t>:	True </a:t>
            </a:r>
            <a:r>
              <a:rPr lang="en-IN" sz="2000" dirty="0"/>
              <a:t>→ Keeps the same shape, filling unchanged values with </a:t>
            </a:r>
            <a:r>
              <a:rPr lang="en-IN" sz="2000" dirty="0" err="1" smtClean="0"/>
              <a:t>NaN</a:t>
            </a:r>
            <a:endParaRPr lang="en-IN" sz="2000" dirty="0" smtClean="0"/>
          </a:p>
          <a:p>
            <a:r>
              <a:rPr lang="en-IN" sz="2000" dirty="0"/>
              <a:t>	</a:t>
            </a:r>
            <a:r>
              <a:rPr lang="en-IN" sz="2000" dirty="0" smtClean="0"/>
              <a:t>	False (</a:t>
            </a:r>
            <a:r>
              <a:rPr lang="en-IN" sz="2000" dirty="0"/>
              <a:t>default) → Removes unchanged </a:t>
            </a:r>
            <a:r>
              <a:rPr lang="en-IN" sz="2000" dirty="0" smtClean="0"/>
              <a:t>rows/columns</a:t>
            </a:r>
          </a:p>
          <a:p>
            <a:r>
              <a:rPr lang="en-IN" sz="2000" dirty="0" err="1" smtClean="0"/>
              <a:t>keep_equal</a:t>
            </a:r>
            <a:r>
              <a:rPr lang="en-IN" sz="2000" dirty="0" smtClean="0"/>
              <a:t>:	True </a:t>
            </a:r>
            <a:r>
              <a:rPr lang="en-IN" sz="2000" dirty="0"/>
              <a:t>→ Shows even equal </a:t>
            </a:r>
            <a:r>
              <a:rPr lang="en-IN" sz="2000" dirty="0" smtClean="0"/>
              <a:t>values</a:t>
            </a:r>
          </a:p>
          <a:p>
            <a:r>
              <a:rPr lang="en-IN" sz="2000" dirty="0"/>
              <a:t>	</a:t>
            </a:r>
            <a:r>
              <a:rPr lang="en-IN" sz="2000" dirty="0" smtClean="0"/>
              <a:t>	False </a:t>
            </a:r>
            <a:r>
              <a:rPr lang="en-IN" sz="2000" dirty="0"/>
              <a:t>(default) → Hides equal values</a:t>
            </a:r>
          </a:p>
        </p:txBody>
      </p:sp>
    </p:spTree>
    <p:extLst>
      <p:ext uri="{BB962C8B-B14F-4D97-AF65-F5344CB8AC3E}">
        <p14:creationId xmlns:p14="http://schemas.microsoft.com/office/powerpoint/2010/main" val="1735879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4223" y="389745"/>
            <a:ext cx="932388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# Original marks</a:t>
            </a:r>
          </a:p>
          <a:p>
            <a:r>
              <a:rPr lang="en-IN" sz="2400" dirty="0" err="1"/>
              <a:t>original_results</a:t>
            </a:r>
            <a:r>
              <a:rPr lang="en-IN" sz="2400" dirty="0"/>
              <a:t> = </a:t>
            </a:r>
            <a:r>
              <a:rPr lang="en-IN" sz="2400" dirty="0" err="1"/>
              <a:t>pd.DataFrame</a:t>
            </a:r>
            <a:r>
              <a:rPr lang="en-IN" sz="2400" dirty="0"/>
              <a:t>({</a:t>
            </a:r>
          </a:p>
          <a:p>
            <a:r>
              <a:rPr lang="en-IN" sz="2400" dirty="0"/>
              <a:t>    'Math': [85, 78, 92],</a:t>
            </a:r>
          </a:p>
          <a:p>
            <a:r>
              <a:rPr lang="en-IN" sz="2400" dirty="0"/>
              <a:t>    'Science': [88, 90, 86],</a:t>
            </a:r>
          </a:p>
          <a:p>
            <a:r>
              <a:rPr lang="en-IN" sz="2400" dirty="0"/>
              <a:t>    'English': [80, 85, 89]</a:t>
            </a:r>
          </a:p>
          <a:p>
            <a:r>
              <a:rPr lang="en-IN" sz="2400" dirty="0"/>
              <a:t>}, index=[</a:t>
            </a:r>
            <a:r>
              <a:rPr lang="en-IN" sz="2400" dirty="0" smtClean="0"/>
              <a:t>'</a:t>
            </a:r>
            <a:r>
              <a:rPr lang="en-IN" sz="2400" dirty="0" err="1" smtClean="0"/>
              <a:t>Ankit</a:t>
            </a:r>
            <a:r>
              <a:rPr lang="en-IN" sz="2400" dirty="0" smtClean="0"/>
              <a:t>', 'Bharat', '</a:t>
            </a:r>
            <a:r>
              <a:rPr lang="en-IN" sz="2400" dirty="0" err="1" smtClean="0"/>
              <a:t>Charmi</a:t>
            </a:r>
            <a:r>
              <a:rPr lang="en-IN" sz="2400" dirty="0" smtClean="0"/>
              <a:t>'])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# Re-evaluated marks</a:t>
            </a:r>
          </a:p>
          <a:p>
            <a:r>
              <a:rPr lang="en-IN" sz="2400" dirty="0" err="1"/>
              <a:t>updated_results</a:t>
            </a:r>
            <a:r>
              <a:rPr lang="en-IN" sz="2400" dirty="0"/>
              <a:t> = </a:t>
            </a:r>
            <a:r>
              <a:rPr lang="en-IN" sz="2400" dirty="0" err="1"/>
              <a:t>pd.DataFrame</a:t>
            </a:r>
            <a:r>
              <a:rPr lang="en-IN" sz="2400" dirty="0"/>
              <a:t>({</a:t>
            </a:r>
          </a:p>
          <a:p>
            <a:r>
              <a:rPr lang="en-IN" sz="2400" dirty="0"/>
              <a:t>    'Math': [85, 80, 92],         # Bob's Math changed</a:t>
            </a:r>
          </a:p>
          <a:p>
            <a:r>
              <a:rPr lang="en-IN" sz="2400" dirty="0"/>
              <a:t>    'Science': [88, 90, 88],      # Charlie's Science changed</a:t>
            </a:r>
          </a:p>
          <a:p>
            <a:r>
              <a:rPr lang="en-IN" sz="2400" dirty="0"/>
              <a:t>    'English': [80, 85, 89]       # No changes</a:t>
            </a:r>
          </a:p>
          <a:p>
            <a:r>
              <a:rPr lang="en-IN" sz="2400" dirty="0"/>
              <a:t>}, index=['</a:t>
            </a:r>
            <a:r>
              <a:rPr lang="en-IN" sz="2400" dirty="0" err="1"/>
              <a:t>Ankit</a:t>
            </a:r>
            <a:r>
              <a:rPr lang="en-IN" sz="2400" dirty="0"/>
              <a:t>', 'Bharat', '</a:t>
            </a:r>
            <a:r>
              <a:rPr lang="en-IN" sz="2400" dirty="0" err="1"/>
              <a:t>Charmi</a:t>
            </a:r>
            <a:r>
              <a:rPr lang="en-IN" sz="2400" dirty="0"/>
              <a:t> '])</a:t>
            </a:r>
          </a:p>
          <a:p>
            <a:endParaRPr lang="en-IN" sz="2400" dirty="0"/>
          </a:p>
          <a:p>
            <a:r>
              <a:rPr lang="en-IN" sz="2400" dirty="0"/>
              <a:t>comparison = </a:t>
            </a:r>
            <a:r>
              <a:rPr lang="en-IN" sz="2400" dirty="0" err="1"/>
              <a:t>original_results.compare</a:t>
            </a:r>
            <a:r>
              <a:rPr lang="en-IN" sz="2400" dirty="0"/>
              <a:t>(</a:t>
            </a:r>
            <a:r>
              <a:rPr lang="en-IN" sz="2400" dirty="0" err="1"/>
              <a:t>updated_results</a:t>
            </a:r>
            <a:r>
              <a:rPr lang="en-IN" sz="2400" dirty="0"/>
              <a:t>)</a:t>
            </a:r>
          </a:p>
          <a:p>
            <a:r>
              <a:rPr lang="en-IN" sz="2400" dirty="0"/>
              <a:t>print(comparison)</a:t>
            </a:r>
          </a:p>
        </p:txBody>
      </p:sp>
    </p:spTree>
    <p:extLst>
      <p:ext uri="{BB962C8B-B14F-4D97-AF65-F5344CB8AC3E}">
        <p14:creationId xmlns:p14="http://schemas.microsoft.com/office/powerpoint/2010/main" val="630846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1165</Words>
  <Application>Microsoft Office PowerPoint</Application>
  <PresentationFormat>Widescreen</PresentationFormat>
  <Paragraphs>172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Data Frames in Python</vt:lpstr>
      <vt:lpstr>Data Frame</vt:lpstr>
      <vt:lpstr>PowerPoint Presentation</vt:lpstr>
      <vt:lpstr>PowerPoint Presentation</vt:lpstr>
      <vt:lpstr>Operations on Data Frames</vt:lpstr>
      <vt:lpstr>Operations on Data Frames</vt:lpstr>
      <vt:lpstr>Operations on Data Frames</vt:lpstr>
      <vt:lpstr>Operations on Data Frames</vt:lpstr>
      <vt:lpstr>Group By</vt:lpstr>
      <vt:lpstr>Merge(),  Join() and Concat() Dataframe</vt:lpstr>
      <vt:lpstr>Merge()</vt:lpstr>
      <vt:lpstr>Concat()</vt:lpstr>
      <vt:lpstr>PowerPoint Presentation</vt:lpstr>
      <vt:lpstr>Compare() Dataframes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Frames in Python</dc:title>
  <dc:creator>Urja Mankad</dc:creator>
  <cp:lastModifiedBy>Administrator</cp:lastModifiedBy>
  <cp:revision>24</cp:revision>
  <dcterms:created xsi:type="dcterms:W3CDTF">2024-02-11T14:25:15Z</dcterms:created>
  <dcterms:modified xsi:type="dcterms:W3CDTF">2026-04-02T03:15:31Z</dcterms:modified>
</cp:coreProperties>
</file>