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70" r:id="rId4"/>
    <p:sldId id="359" r:id="rId5"/>
    <p:sldId id="360" r:id="rId6"/>
    <p:sldId id="361" r:id="rId7"/>
    <p:sldId id="320" r:id="rId8"/>
    <p:sldId id="321" r:id="rId9"/>
    <p:sldId id="322" r:id="rId10"/>
    <p:sldId id="284" r:id="rId11"/>
    <p:sldId id="285" r:id="rId12"/>
    <p:sldId id="286" r:id="rId13"/>
    <p:sldId id="287" r:id="rId14"/>
    <p:sldId id="288" r:id="rId15"/>
    <p:sldId id="289" r:id="rId16"/>
    <p:sldId id="291" r:id="rId17"/>
    <p:sldId id="292" r:id="rId18"/>
    <p:sldId id="367" r:id="rId19"/>
    <p:sldId id="368" r:id="rId20"/>
    <p:sldId id="369" r:id="rId21"/>
    <p:sldId id="296" r:id="rId22"/>
    <p:sldId id="294" r:id="rId23"/>
    <p:sldId id="362" r:id="rId24"/>
    <p:sldId id="363" r:id="rId25"/>
    <p:sldId id="364" r:id="rId26"/>
    <p:sldId id="365" r:id="rId27"/>
    <p:sldId id="3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5"/>
    <p:restoredTop sz="93769"/>
  </p:normalViewPr>
  <p:slideViewPr>
    <p:cSldViewPr snapToGrid="0" snapToObjects="1">
      <p:cViewPr varScale="1">
        <p:scale>
          <a:sx n="64" d="100"/>
          <a:sy n="64" d="100"/>
        </p:scale>
        <p:origin x="11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B6D2-3571-40F5-89EF-DD64320C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</a:t>
            </a:r>
            <a:br>
              <a:rPr lang="en-IN" dirty="0"/>
            </a:br>
            <a:r>
              <a:rPr lang="en-IN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96A24-EAD8-4026-B612-7CE2AF4A0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– </a:t>
            </a:r>
            <a:r>
              <a:rPr lang="en-IN" dirty="0" err="1"/>
              <a:t>Dr.</a:t>
            </a:r>
            <a:r>
              <a:rPr lang="en-IN" dirty="0"/>
              <a:t> Urja Mankad</a:t>
            </a:r>
          </a:p>
          <a:p>
            <a:r>
              <a:rPr lang="en-IN" dirty="0"/>
              <a:t>MCA – Sem-2</a:t>
            </a:r>
          </a:p>
        </p:txBody>
      </p:sp>
    </p:spTree>
    <p:extLst>
      <p:ext uri="{BB962C8B-B14F-4D97-AF65-F5344CB8AC3E}">
        <p14:creationId xmlns:p14="http://schemas.microsoft.com/office/powerpoint/2010/main" val="407958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Introduction to None Type, bool type</a:t>
            </a:r>
          </a:p>
          <a:p>
            <a:r>
              <a:rPr lang="en-IN" dirty="0">
                <a:solidFill>
                  <a:srgbClr val="0070C0"/>
                </a:solidFill>
              </a:rPr>
              <a:t>Representing Binary Octal and Hexadecimal Numbers</a:t>
            </a:r>
          </a:p>
          <a:p>
            <a:r>
              <a:rPr lang="en-IN" dirty="0">
                <a:solidFill>
                  <a:srgbClr val="0070C0"/>
                </a:solidFill>
              </a:rPr>
              <a:t>Converting Datatypes Explicitly</a:t>
            </a:r>
          </a:p>
          <a:p>
            <a:r>
              <a:rPr lang="en-IN" dirty="0">
                <a:solidFill>
                  <a:srgbClr val="0070C0"/>
                </a:solidFill>
              </a:rPr>
              <a:t>bool Datatype</a:t>
            </a:r>
          </a:p>
        </p:txBody>
      </p:sp>
    </p:spTree>
    <p:extLst>
      <p:ext uri="{BB962C8B-B14F-4D97-AF65-F5344CB8AC3E}">
        <p14:creationId xmlns:p14="http://schemas.microsoft.com/office/powerpoint/2010/main" val="396015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80A5-5BF7-7E18-2677-23E071A8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None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A9BF-8386-98EE-B9BC-D487362B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the ‘None’ datatype represents an object that </a:t>
            </a:r>
            <a:r>
              <a:rPr lang="en-IN" dirty="0" err="1"/>
              <a:t>doesnot</a:t>
            </a:r>
            <a:r>
              <a:rPr lang="en-IN" dirty="0"/>
              <a:t> contain any value.</a:t>
            </a:r>
          </a:p>
          <a:p>
            <a:r>
              <a:rPr lang="en-IN" dirty="0"/>
              <a:t>It’s like ‘null’ object in java</a:t>
            </a:r>
          </a:p>
          <a:p>
            <a:r>
              <a:rPr lang="en-IN" dirty="0"/>
              <a:t>In a Python program maximum of only one ‘None’ object is provided.</a:t>
            </a:r>
          </a:p>
          <a:p>
            <a:r>
              <a:rPr lang="en-IN" dirty="0"/>
              <a:t>One of the use of it is in the function having default parameter and calling statement is not passing any value then ‘default value is taken as ‘None’</a:t>
            </a:r>
          </a:p>
        </p:txBody>
      </p:sp>
    </p:spTree>
    <p:extLst>
      <p:ext uri="{BB962C8B-B14F-4D97-AF65-F5344CB8AC3E}">
        <p14:creationId xmlns:p14="http://schemas.microsoft.com/office/powerpoint/2010/main" val="113646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3589550" y="2841402"/>
            <a:ext cx="5730296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int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 integer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7F45DC-84FD-6545-B81D-2896383170A9}"/>
              </a:ext>
            </a:extLst>
          </p:cNvPr>
          <p:cNvSpPr/>
          <p:nvPr/>
        </p:nvSpPr>
        <p:spPr>
          <a:xfrm>
            <a:off x="3589550" y="3963015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7" y="4163541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3589549" y="2841402"/>
            <a:ext cx="6105435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>
                <a:solidFill>
                  <a:srgbClr val="00B050"/>
                </a:solidFill>
              </a:rPr>
              <a:t>float(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7F45DC-84FD-6545-B81D-2896383170A9}"/>
              </a:ext>
            </a:extLst>
          </p:cNvPr>
          <p:cNvSpPr/>
          <p:nvPr/>
        </p:nvSpPr>
        <p:spPr>
          <a:xfrm>
            <a:off x="3589549" y="3963015"/>
            <a:ext cx="583865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9" y="4163541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1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As a matter of fact, we can do various kinds of conversions between strings, integers and floats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,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, and </a:t>
            </a:r>
            <a:r>
              <a:rPr lang="en-US" b="1" i="1" dirty="0" err="1">
                <a:solidFill>
                  <a:srgbClr val="00B050"/>
                </a:solidFill>
              </a:rPr>
              <a:t>str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F3269-38D3-5843-A9D4-1844C85FA642}"/>
              </a:ext>
            </a:extLst>
          </p:cNvPr>
          <p:cNvSpPr txBox="1"/>
          <p:nvPr/>
        </p:nvSpPr>
        <p:spPr>
          <a:xfrm>
            <a:off x="2689313" y="2807292"/>
            <a:ext cx="17665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float(x)</a:t>
            </a:r>
          </a:p>
          <a:p>
            <a:r>
              <a:rPr lang="en-US" sz="2400" dirty="0"/>
              <a:t>10.0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(x)</a:t>
            </a:r>
          </a:p>
          <a:p>
            <a:r>
              <a:rPr lang="en-US" sz="2400" dirty="0"/>
              <a:t>'10'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7ABDE-450A-B04E-B995-EFACA4739562}"/>
              </a:ext>
            </a:extLst>
          </p:cNvPr>
          <p:cNvSpPr txBox="1"/>
          <p:nvPr/>
        </p:nvSpPr>
        <p:spPr>
          <a:xfrm>
            <a:off x="5314154" y="2807292"/>
            <a:ext cx="1766584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y = "20"</a:t>
            </a:r>
          </a:p>
          <a:p>
            <a:r>
              <a:rPr lang="en-US" sz="2400" dirty="0"/>
              <a:t>&gt;&gt;&gt; float(y)</a:t>
            </a:r>
          </a:p>
          <a:p>
            <a:r>
              <a:rPr lang="en-US" sz="2400" dirty="0"/>
              <a:t>20.0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(y)</a:t>
            </a:r>
          </a:p>
          <a:p>
            <a:r>
              <a:rPr lang="en-US" sz="2400" dirty="0"/>
              <a:t>20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7E153-82BD-4146-8C24-5158DF21AA62}"/>
              </a:ext>
            </a:extLst>
          </p:cNvPr>
          <p:cNvSpPr txBox="1"/>
          <p:nvPr/>
        </p:nvSpPr>
        <p:spPr>
          <a:xfrm>
            <a:off x="7938996" y="2807292"/>
            <a:ext cx="175599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z = 30.0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(z)</a:t>
            </a:r>
          </a:p>
          <a:p>
            <a:r>
              <a:rPr lang="en-US" sz="2400" dirty="0"/>
              <a:t>30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(z)</a:t>
            </a:r>
          </a:p>
          <a:p>
            <a:r>
              <a:rPr lang="en-US" sz="2400" dirty="0"/>
              <a:t>'30.0'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7C3E6-D1E7-EC4B-9DDF-AC1DDE899B14}"/>
              </a:ext>
            </a:extLst>
          </p:cNvPr>
          <p:cNvSpPr txBox="1"/>
          <p:nvPr/>
        </p:nvSpPr>
        <p:spPr>
          <a:xfrm>
            <a:off x="2452457" y="5287604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integer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integer  string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03135-D6CA-2E44-A7AB-DCDEAE8372F8}"/>
              </a:ext>
            </a:extLst>
          </p:cNvPr>
          <p:cNvSpPr txBox="1"/>
          <p:nvPr/>
        </p:nvSpPr>
        <p:spPr>
          <a:xfrm>
            <a:off x="5106967" y="5287603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string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string  integer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AC1EF-7827-2344-A413-30F5E518A2CD}"/>
              </a:ext>
            </a:extLst>
          </p:cNvPr>
          <p:cNvSpPr txBox="1"/>
          <p:nvPr/>
        </p:nvSpPr>
        <p:spPr>
          <a:xfrm>
            <a:off x="7761477" y="5287604"/>
            <a:ext cx="2111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float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integer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float  string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allows us also to assign multiple values to multiple variables all at the same time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form of assignment might seem strange at first, but it can prove remarkably useful (e.g., for swapping values)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719203" y="2621904"/>
            <a:ext cx="6388639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x, y = 2, 3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  <a:p>
            <a:r>
              <a:rPr lang="en-US" sz="2400" dirty="0"/>
              <a:t>&gt;&gt;&gt;a = b = 5</a:t>
            </a:r>
          </a:p>
        </p:txBody>
      </p:sp>
    </p:spTree>
    <p:extLst>
      <p:ext uri="{BB962C8B-B14F-4D97-AF65-F5344CB8AC3E}">
        <p14:creationId xmlns:p14="http://schemas.microsoft.com/office/powerpoint/2010/main" val="990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3338410" y="2943009"/>
            <a:ext cx="2757590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x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790E4-14A9-054D-9FD0-2EE81C3BE754}"/>
              </a:ext>
            </a:extLst>
          </p:cNvPr>
          <p:cNvSpPr txBox="1"/>
          <p:nvPr/>
        </p:nvSpPr>
        <p:spPr>
          <a:xfrm>
            <a:off x="6372060" y="3955924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A805D-DEDC-8C4F-A98E-8217F28100AE}"/>
              </a:ext>
            </a:extLst>
          </p:cNvPr>
          <p:cNvSpPr txBox="1"/>
          <p:nvPr/>
        </p:nvSpPr>
        <p:spPr>
          <a:xfrm>
            <a:off x="6955874" y="4048256"/>
            <a:ext cx="325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CANNOT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two</a:t>
            </a:r>
            <a:r>
              <a:rPr lang="en-US" sz="2400" b="1" dirty="0">
                <a:solidFill>
                  <a:srgbClr val="C00000"/>
                </a:solidFill>
              </a:rPr>
              <a:t> simple assignments</a:t>
            </a:r>
          </a:p>
        </p:txBody>
      </p:sp>
    </p:spTree>
    <p:extLst>
      <p:ext uri="{BB962C8B-B14F-4D97-AF65-F5344CB8AC3E}">
        <p14:creationId xmlns:p14="http://schemas.microsoft.com/office/powerpoint/2010/main" val="572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5E340-AD15-CC4C-B7BE-0B35A4EA8697}"/>
              </a:ext>
            </a:extLst>
          </p:cNvPr>
          <p:cNvSpPr txBox="1"/>
          <p:nvPr/>
        </p:nvSpPr>
        <p:spPr>
          <a:xfrm>
            <a:off x="4247522" y="2743485"/>
            <a:ext cx="2631466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  <a:r>
              <a:rPr lang="en-US" sz="2400" dirty="0"/>
              <a:t> = x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790E4-14A9-054D-9FD0-2EE81C3BE754}"/>
              </a:ext>
            </a:extLst>
          </p:cNvPr>
          <p:cNvSpPr txBox="1"/>
          <p:nvPr/>
        </p:nvSpPr>
        <p:spPr>
          <a:xfrm>
            <a:off x="6971329" y="3955922"/>
            <a:ext cx="1225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A805D-DEDC-8C4F-A98E-8217F28100AE}"/>
              </a:ext>
            </a:extLst>
          </p:cNvPr>
          <p:cNvSpPr txBox="1"/>
          <p:nvPr/>
        </p:nvSpPr>
        <p:spPr>
          <a:xfrm>
            <a:off x="7791484" y="3433758"/>
            <a:ext cx="35205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three</a:t>
            </a:r>
            <a:r>
              <a:rPr lang="en-US" sz="2400" b="1" dirty="0">
                <a:solidFill>
                  <a:srgbClr val="C00000"/>
                </a:solidFill>
              </a:rPr>
              <a:t> simple assignments,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but more efficiently with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simultaneous assignment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775365" y="2808144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A24674-474D-7544-8905-5AC574E2A50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59061" y="2970114"/>
            <a:ext cx="1016304" cy="72427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798360" y="3196742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181E943-7287-924D-94E0-84D4FEF0696B}"/>
              </a:ext>
            </a:extLst>
          </p:cNvPr>
          <p:cNvSpPr/>
          <p:nvPr/>
        </p:nvSpPr>
        <p:spPr>
          <a:xfrm>
            <a:off x="4805781" y="3548953"/>
            <a:ext cx="738211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A24674-474D-7544-8905-5AC574E2A50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759061" y="3358712"/>
            <a:ext cx="1039299" cy="335674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A24674-474D-7544-8905-5AC574E2A50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759061" y="3710923"/>
            <a:ext cx="1046720" cy="0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9043" y="2970114"/>
            <a:ext cx="37737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Thus far, we have been using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different </a:t>
            </a:r>
            <a:r>
              <a:rPr lang="en-US" sz="2400" i="1" dirty="0">
                <a:solidFill>
                  <a:srgbClr val="00B050"/>
                </a:solidFill>
              </a:rPr>
              <a:t>names </a:t>
            </a:r>
            <a:r>
              <a:rPr lang="en-US" sz="2400" dirty="0">
                <a:solidFill>
                  <a:srgbClr val="00B050"/>
                </a:solidFill>
              </a:rPr>
              <a:t>for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variables. These names</a:t>
            </a:r>
          </a:p>
          <a:p>
            <a:r>
              <a:rPr lang="en-US" sz="2400" dirty="0">
                <a:solidFill>
                  <a:srgbClr val="00B050"/>
                </a:solidFill>
              </a:rPr>
              <a:t>are technically called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b="1" i="1" dirty="0">
                <a:solidFill>
                  <a:srgbClr val="00B050"/>
                </a:solidFill>
              </a:rPr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8610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23" grpId="0" animBg="1"/>
      <p:bldP spid="24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Every identifier must begin with a letter or underscore, which may be followed by any sequence of letters, digits, or underscores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x1 = 10</a:t>
            </a:r>
          </a:p>
          <a:p>
            <a:r>
              <a:rPr lang="en-US" sz="2400" dirty="0"/>
              <a:t>&gt;&gt;&gt; x2 = 20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y_effect</a:t>
            </a:r>
            <a:r>
              <a:rPr lang="en-US" sz="2400" dirty="0"/>
              <a:t> = 1.5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celsius</a:t>
            </a:r>
            <a:r>
              <a:rPr lang="en-US" sz="2400" dirty="0"/>
              <a:t> = 32</a:t>
            </a:r>
          </a:p>
          <a:p>
            <a:r>
              <a:rPr lang="en-US" sz="2400" dirty="0"/>
              <a:t>&gt;&gt;&gt; 2celsius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2celsius</a:t>
            </a:r>
          </a:p>
          <a:p>
            <a:r>
              <a:rPr lang="en-US" sz="2400" dirty="0"/>
              <a:t>   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78974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sz="2800" dirty="0"/>
              <a:t>Identifiers are </a:t>
            </a:r>
            <a:r>
              <a:rPr lang="en-US" sz="2800" i="1" dirty="0">
                <a:solidFill>
                  <a:srgbClr val="C00000"/>
                </a:solidFill>
              </a:rPr>
              <a:t>case-sensitive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X = 5.7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10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5.7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60425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21DBA5-A3F3-E744-A100-DD027DA5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06130"/>
              </p:ext>
            </p:extLst>
          </p:nvPr>
        </p:nvGraphicFramePr>
        <p:xfrm>
          <a:off x="2065866" y="3141134"/>
          <a:ext cx="8128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784981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364211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92698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77249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8244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87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continue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lambda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20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nonlocal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while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01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with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916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elif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yield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5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import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3368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0354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DA9D6F-88DD-354C-A275-8B4710BCF6C4}"/>
              </a:ext>
            </a:extLst>
          </p:cNvPr>
          <p:cNvSpPr txBox="1"/>
          <p:nvPr/>
        </p:nvSpPr>
        <p:spPr>
          <a:xfrm>
            <a:off x="4952556" y="6318133"/>
            <a:ext cx="235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Keywords</a:t>
            </a:r>
          </a:p>
        </p:txBody>
      </p:sp>
    </p:spTree>
    <p:extLst>
      <p:ext uri="{BB962C8B-B14F-4D97-AF65-F5344CB8AC3E}">
        <p14:creationId xmlns:p14="http://schemas.microsoft.com/office/powerpoint/2010/main" val="12432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3811417" y="3529548"/>
            <a:ext cx="4265783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for = 4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for = 4</a:t>
            </a:r>
          </a:p>
          <a:p>
            <a:r>
              <a:rPr lang="en-US" sz="2400" dirty="0"/>
              <a:t>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F1915-E4F3-8147-9AA6-BBF33FE3F92D}"/>
              </a:ext>
            </a:extLst>
          </p:cNvPr>
          <p:cNvSpPr txBox="1"/>
          <p:nvPr/>
        </p:nvSpPr>
        <p:spPr>
          <a:xfrm>
            <a:off x="1686733" y="4172479"/>
            <a:ext cx="212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 example…</a:t>
            </a:r>
          </a:p>
        </p:txBody>
      </p:sp>
    </p:spTree>
    <p:extLst>
      <p:ext uri="{BB962C8B-B14F-4D97-AF65-F5344CB8AC3E}">
        <p14:creationId xmlns:p14="http://schemas.microsoft.com/office/powerpoint/2010/main" val="90032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4839402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54875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58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6349495" cy="37856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yet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 operator </a:t>
            </a:r>
            <a:r>
              <a:rPr lang="en-US" sz="2400" dirty="0">
                <a:solidFill>
                  <a:srgbClr val="00B050"/>
                </a:solidFill>
              </a:rPr>
              <a:t>but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to </a:t>
            </a:r>
            <a:r>
              <a:rPr lang="en-US" sz="2400" i="1" dirty="0">
                <a:solidFill>
                  <a:srgbClr val="00B050"/>
                </a:solidFill>
              </a:rPr>
              <a:t>concatenate</a:t>
            </a:r>
            <a:r>
              <a:rPr lang="en-US" sz="2400" dirty="0">
                <a:solidFill>
                  <a:srgbClr val="00B050"/>
                </a:solidFill>
              </a:rPr>
              <a:t> (or glue)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strings together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48FF88D-9206-BC46-8792-0744095D88B2}"/>
              </a:ext>
            </a:extLst>
          </p:cNvPr>
          <p:cNvSpPr/>
          <p:nvPr/>
        </p:nvSpPr>
        <p:spPr>
          <a:xfrm>
            <a:off x="8366539" y="4444452"/>
            <a:ext cx="1149994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58C270-1FDB-4D44-BA3B-FE672F0A688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449380" y="4802387"/>
            <a:ext cx="1917159" cy="35793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17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2629014" y="2933651"/>
            <a:ext cx="2631716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6</a:t>
            </a:r>
          </a:p>
          <a:p>
            <a:r>
              <a:rPr lang="en-US" sz="2400" dirty="0"/>
              <a:t>&gt;&gt;&gt; y = 2</a:t>
            </a:r>
          </a:p>
          <a:p>
            <a:r>
              <a:rPr lang="en-US" sz="2400" dirty="0"/>
              <a:t>&gt;&gt;&gt; print(x 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dirty="0"/>
              <a:t> y)</a:t>
            </a:r>
          </a:p>
          <a:p>
            <a:r>
              <a:rPr lang="en-US" sz="2400" dirty="0"/>
              <a:t>4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dirty="0"/>
              <a:t>y)</a:t>
            </a:r>
          </a:p>
          <a:p>
            <a:r>
              <a:rPr lang="en-US" sz="2400" dirty="0"/>
              <a:t>3.0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//</a:t>
            </a:r>
            <a:r>
              <a:rPr lang="en-US" sz="2400" dirty="0"/>
              <a:t>y)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BC3C4-4A97-9D40-8DAB-E4131F43C75F}"/>
              </a:ext>
            </a:extLst>
          </p:cNvPr>
          <p:cNvSpPr txBox="1"/>
          <p:nvPr/>
        </p:nvSpPr>
        <p:spPr>
          <a:xfrm>
            <a:off x="7895609" y="2933651"/>
            <a:ext cx="2725501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y)</a:t>
            </a:r>
          </a:p>
          <a:p>
            <a:r>
              <a:rPr lang="en-US" sz="2400" dirty="0"/>
              <a:t>12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**</a:t>
            </a:r>
            <a:r>
              <a:rPr lang="en-US" sz="2400" dirty="0"/>
              <a:t>y)</a:t>
            </a:r>
          </a:p>
          <a:p>
            <a:r>
              <a:rPr lang="en-US" sz="2400" dirty="0"/>
              <a:t>36</a:t>
            </a:r>
          </a:p>
          <a:p>
            <a:r>
              <a:rPr lang="en-US" sz="2400" dirty="0"/>
              <a:t>&gt;&gt;&gt; print(</a:t>
            </a:r>
            <a:r>
              <a:rPr lang="en-US" sz="2400" dirty="0" err="1"/>
              <a:t>x</a:t>
            </a:r>
            <a:r>
              <a:rPr lang="en-US" sz="2400" b="1" dirty="0" err="1">
                <a:solidFill>
                  <a:srgbClr val="FF0000"/>
                </a:solidFill>
              </a:rPr>
              <a:t>%</a:t>
            </a:r>
            <a:r>
              <a:rPr lang="en-US" sz="2400" dirty="0" err="1"/>
              <a:t>y</a:t>
            </a:r>
            <a:r>
              <a:rPr lang="en-US" sz="2400" dirty="0"/>
              <a:t>)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&gt;&gt;&gt; print(</a:t>
            </a:r>
            <a:r>
              <a:rPr lang="en-US" sz="2400" b="1" dirty="0">
                <a:solidFill>
                  <a:srgbClr val="FF0000"/>
                </a:solidFill>
              </a:rPr>
              <a:t>abs(</a:t>
            </a:r>
            <a:r>
              <a:rPr lang="en-US" sz="2400" dirty="0"/>
              <a:t>-x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)</a:t>
            </a:r>
          </a:p>
          <a:p>
            <a:r>
              <a:rPr lang="en-US" sz="24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6E214-08B9-7948-A696-5A0CDB95C8FC}"/>
              </a:ext>
            </a:extLst>
          </p:cNvPr>
          <p:cNvSpPr txBox="1"/>
          <p:nvPr/>
        </p:nvSpPr>
        <p:spPr>
          <a:xfrm>
            <a:off x="5732587" y="3980091"/>
            <a:ext cx="1989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Yet 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F1915-E4F3-8147-9AA6-BBF33FE3F92D}"/>
              </a:ext>
            </a:extLst>
          </p:cNvPr>
          <p:cNvSpPr txBox="1"/>
          <p:nvPr/>
        </p:nvSpPr>
        <p:spPr>
          <a:xfrm>
            <a:off x="805765" y="3933924"/>
            <a:ext cx="1650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</p:spTree>
    <p:extLst>
      <p:ext uri="{BB962C8B-B14F-4D97-AF65-F5344CB8AC3E}">
        <p14:creationId xmlns:p14="http://schemas.microsoft.com/office/powerpoint/2010/main" val="306763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2768-4697-88BF-83D4-9E291397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Binary, Octal and Hexadecimal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70CD-7B60-5D10-1B69-10597DFD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9216" cy="4351338"/>
          </a:xfrm>
        </p:spPr>
        <p:txBody>
          <a:bodyPr/>
          <a:lstStyle/>
          <a:p>
            <a:r>
              <a:rPr lang="en-IN" dirty="0"/>
              <a:t>Binary number prefix with -  0b  or 0B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0b110110 , 0B1010110</a:t>
            </a:r>
          </a:p>
          <a:p>
            <a:r>
              <a:rPr lang="en-IN" dirty="0"/>
              <a:t>Octal number prefix with – 0o (zero and small o) or 0O (zero and big o)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0o1476 or 0O307 </a:t>
            </a:r>
          </a:p>
          <a:p>
            <a:r>
              <a:rPr lang="en-IN" dirty="0"/>
              <a:t>Hexadecimal number </a:t>
            </a:r>
            <a:r>
              <a:rPr lang="en-IN" dirty="0" err="1"/>
              <a:t>prefx</a:t>
            </a:r>
            <a:r>
              <a:rPr lang="en-IN" dirty="0"/>
              <a:t> with – 0x or 0X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0x1Af3 or 0X2b9c</a:t>
            </a:r>
          </a:p>
        </p:txBody>
      </p:sp>
    </p:spTree>
    <p:extLst>
      <p:ext uri="{BB962C8B-B14F-4D97-AF65-F5344CB8AC3E}">
        <p14:creationId xmlns:p14="http://schemas.microsoft.com/office/powerpoint/2010/main" val="287221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29A2-2DC2-4AC8-5A1A-40AD3A25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9039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Converting Binary, Octal and Hexadecimal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95BB2-5E52-58A7-A54B-16F886F6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n1 = 0b110101</a:t>
            </a:r>
          </a:p>
          <a:p>
            <a:pPr marL="0" indent="0">
              <a:buNone/>
            </a:pPr>
            <a:r>
              <a:rPr lang="pt-BR" dirty="0"/>
              <a:t>n2 = 0o123</a:t>
            </a:r>
          </a:p>
          <a:p>
            <a:pPr marL="0" indent="0">
              <a:buNone/>
            </a:pPr>
            <a:r>
              <a:rPr lang="pt-BR" dirty="0"/>
              <a:t>n3 = 0xba2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print(“Binary to decimal = " , int(n1))</a:t>
            </a:r>
          </a:p>
          <a:p>
            <a:pPr marL="0" indent="0">
              <a:buNone/>
            </a:pPr>
            <a:r>
              <a:rPr lang="pt-BR" dirty="0"/>
              <a:t>print("Octal to decimal = " , int(n2))</a:t>
            </a:r>
          </a:p>
          <a:p>
            <a:pPr marL="0" indent="0">
              <a:buNone/>
            </a:pPr>
            <a:r>
              <a:rPr lang="pt-BR" dirty="0"/>
              <a:t>print("Hexadecimal to decimal = " , int(n3))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Output:</a:t>
            </a:r>
          </a:p>
          <a:p>
            <a:pPr marL="0" indent="0">
              <a:buNone/>
            </a:pPr>
            <a:r>
              <a:rPr lang="en-IN" dirty="0"/>
              <a:t>Binary to decimal =  53</a:t>
            </a:r>
          </a:p>
          <a:p>
            <a:pPr marL="0" indent="0">
              <a:buNone/>
            </a:pPr>
            <a:r>
              <a:rPr lang="en-IN" dirty="0"/>
              <a:t>Octal to decimal =  83</a:t>
            </a:r>
          </a:p>
          <a:p>
            <a:pPr marL="0" indent="0">
              <a:buNone/>
            </a:pPr>
            <a:r>
              <a:rPr lang="en-IN" dirty="0"/>
              <a:t>Hexadecimal to decimal =  2978</a:t>
            </a:r>
          </a:p>
        </p:txBody>
      </p:sp>
    </p:spTree>
    <p:extLst>
      <p:ext uri="{BB962C8B-B14F-4D97-AF65-F5344CB8AC3E}">
        <p14:creationId xmlns:p14="http://schemas.microsoft.com/office/powerpoint/2010/main" val="1495324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29A2-2DC2-4AC8-5A1A-40AD3A25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9039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Converting decimal to Binary, Octal and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95BB2-5E52-58A7-A54B-16F886F6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n1 = 53</a:t>
            </a:r>
          </a:p>
          <a:p>
            <a:pPr marL="0" indent="0">
              <a:buNone/>
            </a:pPr>
            <a:r>
              <a:rPr lang="pt-BR" dirty="0"/>
              <a:t>n2 = 83</a:t>
            </a:r>
          </a:p>
          <a:p>
            <a:pPr marL="0" indent="0">
              <a:buNone/>
            </a:pPr>
            <a:r>
              <a:rPr lang="pt-BR" dirty="0"/>
              <a:t>n3 = 2978</a:t>
            </a:r>
          </a:p>
          <a:p>
            <a:pPr marL="0" indent="0" algn="ctr">
              <a:buNone/>
            </a:pPr>
            <a:r>
              <a:rPr lang="pt-BR"/>
              <a:t>                     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print(“Decimal to Binary = " , bin(n1))</a:t>
            </a:r>
          </a:p>
          <a:p>
            <a:pPr marL="0" indent="0">
              <a:buNone/>
            </a:pPr>
            <a:r>
              <a:rPr lang="pt-BR" dirty="0"/>
              <a:t>print(“Decimal to Octal = " , oct(n2))</a:t>
            </a:r>
          </a:p>
          <a:p>
            <a:pPr marL="0" indent="0">
              <a:buNone/>
            </a:pPr>
            <a:r>
              <a:rPr lang="pt-BR" dirty="0"/>
              <a:t>print(“Decimal to Hexadecimal = " , hex(n3))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Output:</a:t>
            </a:r>
          </a:p>
          <a:p>
            <a:pPr marL="0" indent="0">
              <a:buNone/>
            </a:pPr>
            <a:r>
              <a:rPr lang="en-IN" dirty="0"/>
              <a:t>Decimal to Binary =  0b110101</a:t>
            </a:r>
          </a:p>
          <a:p>
            <a:pPr marL="0" indent="0">
              <a:buNone/>
            </a:pPr>
            <a:r>
              <a:rPr lang="en-IN" dirty="0"/>
              <a:t>Decimal to Octal =  0o123</a:t>
            </a:r>
          </a:p>
          <a:p>
            <a:pPr marL="0" indent="0">
              <a:buNone/>
            </a:pPr>
            <a:r>
              <a:rPr lang="en-IN" dirty="0"/>
              <a:t>Decimal to Hexadecimal =  0xba2</a:t>
            </a:r>
          </a:p>
        </p:txBody>
      </p:sp>
    </p:spTree>
    <p:extLst>
      <p:ext uri="{BB962C8B-B14F-4D97-AF65-F5344CB8AC3E}">
        <p14:creationId xmlns:p14="http://schemas.microsoft.com/office/powerpoint/2010/main" val="159459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Expressions: Summary of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D5E2E8-4414-D343-8D98-452F1CC7B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55669"/>
              </p:ext>
            </p:extLst>
          </p:nvPr>
        </p:nvGraphicFramePr>
        <p:xfrm>
          <a:off x="2031999" y="1954498"/>
          <a:ext cx="8128000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356181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5504739"/>
                    </a:ext>
                  </a:extLst>
                </a:gridCol>
              </a:tblGrid>
              <a:tr h="4002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234338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6534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7147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04553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Float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33482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Exponentiation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16532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Absolute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4169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Integer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68684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457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84AD32-F603-5546-BBFD-C6BB3D2D4468}"/>
              </a:ext>
            </a:extLst>
          </p:cNvPr>
          <p:cNvSpPr txBox="1"/>
          <p:nvPr/>
        </p:nvSpPr>
        <p:spPr>
          <a:xfrm>
            <a:off x="3782384" y="5701303"/>
            <a:ext cx="4627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Built-In Numeric Operations</a:t>
            </a:r>
          </a:p>
        </p:txBody>
      </p:sp>
    </p:spTree>
    <p:extLst>
      <p:ext uri="{BB962C8B-B14F-4D97-AF65-F5344CB8AC3E}">
        <p14:creationId xmlns:p14="http://schemas.microsoft.com/office/powerpoint/2010/main" val="4272179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Data conversion can happen in two ways in Python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Explicit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 Conversion</a:t>
            </a:r>
            <a:r>
              <a:rPr lang="en-US" dirty="0"/>
              <a:t> (we saw this earlier with the </a:t>
            </a:r>
            <a:r>
              <a:rPr lang="en-US" i="1" dirty="0" err="1"/>
              <a:t>int</a:t>
            </a:r>
            <a:r>
              <a:rPr lang="en-US" dirty="0"/>
              <a:t>, </a:t>
            </a:r>
            <a:r>
              <a:rPr lang="en-US" i="1" dirty="0"/>
              <a:t>float</a:t>
            </a:r>
            <a:r>
              <a:rPr lang="en-US" dirty="0"/>
              <a:t>, and </a:t>
            </a:r>
            <a:r>
              <a:rPr lang="en-US" i="1" dirty="0" err="1"/>
              <a:t>str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built-in functions)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Implicit Data Conversion</a:t>
            </a:r>
          </a:p>
          <a:p>
            <a:pPr lvl="2"/>
            <a:r>
              <a:rPr lang="en-US" sz="2400" dirty="0"/>
              <a:t>Takes place </a:t>
            </a:r>
            <a:r>
              <a:rPr lang="en-US" sz="2400" i="1" dirty="0"/>
              <a:t>automatically</a:t>
            </a:r>
            <a:r>
              <a:rPr lang="en-US" sz="2400" dirty="0"/>
              <a:t> during run time between </a:t>
            </a:r>
            <a:r>
              <a:rPr lang="en-US" sz="2400" i="1" dirty="0"/>
              <a:t>ONLY</a:t>
            </a:r>
            <a:r>
              <a:rPr lang="en-US" sz="2400" dirty="0"/>
              <a:t> numeric values</a:t>
            </a:r>
          </a:p>
          <a:p>
            <a:pPr lvl="3"/>
            <a:r>
              <a:rPr lang="en-US" sz="2400" dirty="0"/>
              <a:t>E.g., Adding a float and an integer will automatically result in a float value </a:t>
            </a:r>
          </a:p>
          <a:p>
            <a:pPr lvl="3"/>
            <a:r>
              <a:rPr lang="en-US" sz="2400" dirty="0"/>
              <a:t>E.g., Adding a string and an integer (or a float) will result in an </a:t>
            </a:r>
            <a:r>
              <a:rPr lang="en-US" sz="2400" i="1" dirty="0"/>
              <a:t>error</a:t>
            </a:r>
            <a:r>
              <a:rPr lang="en-US" sz="2400" dirty="0"/>
              <a:t> since string is not numeric</a:t>
            </a:r>
          </a:p>
          <a:p>
            <a:pPr lvl="2"/>
            <a:r>
              <a:rPr lang="en-US" sz="2400" dirty="0"/>
              <a:t>Applies </a:t>
            </a:r>
            <a:r>
              <a:rPr lang="en-US" sz="2400" i="1" dirty="0"/>
              <a:t>type promotion </a:t>
            </a:r>
            <a:r>
              <a:rPr lang="en-US" sz="2400" dirty="0"/>
              <a:t>to avoid loss of information</a:t>
            </a:r>
          </a:p>
          <a:p>
            <a:pPr lvl="3"/>
            <a:r>
              <a:rPr lang="en-US" sz="2400" dirty="0"/>
              <a:t>Conversion goes from integer to float (e.g., upon adding a float and an integer) and not vice versa so as the fractional part of the float is not lost   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Explicit and Implicit Data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41392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6130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 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B596F1-9FC1-E24A-8E4C-3A061464D43C}"/>
              </a:ext>
            </a:extLst>
          </p:cNvPr>
          <p:cNvSpPr/>
          <p:nvPr/>
        </p:nvSpPr>
        <p:spPr>
          <a:xfrm>
            <a:off x="8521537" y="1998839"/>
            <a:ext cx="87906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98C52C-F48B-6645-8DC1-0C0A63EC0FE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5458" y="2356774"/>
            <a:ext cx="1796079" cy="19104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358EE71-12F7-CA4D-B7A8-142164E95E78}"/>
              </a:ext>
            </a:extLst>
          </p:cNvPr>
          <p:cNvSpPr/>
          <p:nvPr/>
        </p:nvSpPr>
        <p:spPr>
          <a:xfrm>
            <a:off x="8521537" y="3466012"/>
            <a:ext cx="170880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5617E9-E383-DA45-9C0E-3628A8042B0F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6725459" y="2714709"/>
            <a:ext cx="1796078" cy="110923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1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893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The result of an expression that involves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values of the same data type will not result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in any conversion </a:t>
            </a: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0D9355-2132-A84A-BEEE-9B852B850A94}"/>
              </a:ext>
            </a:extLst>
          </p:cNvPr>
          <p:cNvSpPr/>
          <p:nvPr/>
        </p:nvSpPr>
        <p:spPr>
          <a:xfrm>
            <a:off x="8521537" y="2793770"/>
            <a:ext cx="726668" cy="60486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17EE0C-8EA4-D045-844A-E907D44D8C4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881482" y="3096201"/>
            <a:ext cx="1640055" cy="94365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91C8EC2-E9C4-B742-A1A1-8A2D45E17DCE}"/>
              </a:ext>
            </a:extLst>
          </p:cNvPr>
          <p:cNvSpPr/>
          <p:nvPr/>
        </p:nvSpPr>
        <p:spPr>
          <a:xfrm>
            <a:off x="8521537" y="4192267"/>
            <a:ext cx="1810400" cy="71587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1064E2-85EB-7948-99F3-F83347FBA4F0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6881482" y="4366165"/>
            <a:ext cx="1640055" cy="18403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94705BD-79A3-0849-9D9F-16452E8A617D}"/>
              </a:ext>
            </a:extLst>
          </p:cNvPr>
          <p:cNvSpPr/>
          <p:nvPr/>
        </p:nvSpPr>
        <p:spPr>
          <a:xfrm>
            <a:off x="8521537" y="5022611"/>
            <a:ext cx="1126555" cy="523683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E48F87-A4B1-1143-8A77-1B1C99242599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6830749" y="4668737"/>
            <a:ext cx="1690788" cy="61571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Programs are composed of statements that are built from </a:t>
            </a:r>
            <a:r>
              <a:rPr lang="en-US" i="1" dirty="0">
                <a:solidFill>
                  <a:srgbClr val="0070C0"/>
                </a:solidFill>
              </a:rPr>
              <a:t>identifiers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expressions</a:t>
            </a:r>
          </a:p>
          <a:p>
            <a:endParaRPr lang="en-US" dirty="0"/>
          </a:p>
          <a:p>
            <a:r>
              <a:rPr lang="en-US" dirty="0"/>
              <a:t>Identifiers are names </a:t>
            </a:r>
          </a:p>
          <a:p>
            <a:pPr lvl="1"/>
            <a:r>
              <a:rPr lang="en-US" dirty="0"/>
              <a:t>They begin with an underscore or letter which can be followed by a combination of letter, digit, and/or underscore characters</a:t>
            </a:r>
          </a:p>
          <a:p>
            <a:pPr lvl="1"/>
            <a:r>
              <a:rPr lang="en-US" dirty="0"/>
              <a:t>They are case sensitive</a:t>
            </a:r>
          </a:p>
          <a:p>
            <a:pPr lvl="1"/>
            <a:endParaRPr lang="en-US" dirty="0"/>
          </a:p>
          <a:p>
            <a:r>
              <a:rPr lang="en-US" dirty="0"/>
              <a:t>Expressions are the fragments of a program that produce data</a:t>
            </a:r>
          </a:p>
          <a:p>
            <a:pPr lvl="1"/>
            <a:r>
              <a:rPr lang="en-US" dirty="0"/>
              <a:t>They can be composed of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variables</a:t>
            </a:r>
            <a:r>
              <a:rPr lang="en-US" dirty="0"/>
              <a:t>, and </a:t>
            </a:r>
            <a:r>
              <a:rPr lang="en-US" i="1" dirty="0">
                <a:solidFill>
                  <a:srgbClr val="0070C0"/>
                </a:solidFill>
              </a:rPr>
              <a:t>operators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14942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a representation of a specific value (e.g., 3 is a literal representing the number three)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r>
              <a:rPr lang="en-US" dirty="0"/>
              <a:t>A variable is an identifier that stores a value, which can change (hence, the name </a:t>
            </a:r>
            <a:r>
              <a:rPr lang="en-US" i="1" dirty="0"/>
              <a:t>variable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Operators are used to </a:t>
            </a:r>
            <a:r>
              <a:rPr lang="en-US"/>
              <a:t>form and </a:t>
            </a:r>
            <a:r>
              <a:rPr lang="en-US" dirty="0"/>
              <a:t>combine expressions into more complex expressions (e.g., the expression x + 3 * y combines two expressions together using the + and * operators)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1856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 </a:t>
            </a:r>
            <a:r>
              <a:rPr lang="en-US" i="1" dirty="0">
                <a:solidFill>
                  <a:srgbClr val="0070C0"/>
                </a:solidFill>
              </a:rPr>
              <a:t>assignment</a:t>
            </a:r>
            <a:r>
              <a:rPr lang="en-US" dirty="0"/>
              <a:t> of a value to a variable is done using the equal sign (i.e., =)</a:t>
            </a:r>
          </a:p>
          <a:p>
            <a:endParaRPr lang="en-US" dirty="0"/>
          </a:p>
          <a:p>
            <a:r>
              <a:rPr lang="en-US" dirty="0"/>
              <a:t>Using assignments, programs can get inputs from users and manipulate them internally</a:t>
            </a:r>
          </a:p>
          <a:p>
            <a:endParaRPr lang="en-US" dirty="0"/>
          </a:p>
          <a:p>
            <a:r>
              <a:rPr lang="en-US" dirty="0"/>
              <a:t>Python allows </a:t>
            </a:r>
            <a:r>
              <a:rPr lang="en-US" i="1" dirty="0">
                <a:solidFill>
                  <a:srgbClr val="0070C0"/>
                </a:solidFill>
              </a:rPr>
              <a:t>simultaneous assignments</a:t>
            </a:r>
            <a:r>
              <a:rPr lang="en-US" dirty="0"/>
              <a:t>, which are useful for swapping values of variables</a:t>
            </a:r>
          </a:p>
          <a:p>
            <a:endParaRPr lang="en-US" dirty="0"/>
          </a:p>
          <a:p>
            <a:r>
              <a:rPr lang="en-US" i="1" dirty="0">
                <a:solidFill>
                  <a:srgbClr val="0070C0"/>
                </a:solidFill>
              </a:rPr>
              <a:t>Datatype conversion </a:t>
            </a:r>
            <a:r>
              <a:rPr lang="en-US" dirty="0"/>
              <a:t>involves converting </a:t>
            </a:r>
            <a:r>
              <a:rPr lang="en-US" i="1" dirty="0">
                <a:solidFill>
                  <a:srgbClr val="0070C0"/>
                </a:solidFill>
              </a:rPr>
              <a:t>implicitly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explicitly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between various datatypes, including integer, float, and string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162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11916</TotalTime>
  <Words>1844</Words>
  <Application>Microsoft Office PowerPoint</Application>
  <PresentationFormat>Widescreen</PresentationFormat>
  <Paragraphs>465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UNIT-1 Introduction to PYTHON</vt:lpstr>
      <vt:lpstr>Today…</vt:lpstr>
      <vt:lpstr>The None type</vt:lpstr>
      <vt:lpstr>Datatype Conversion</vt:lpstr>
      <vt:lpstr>Datatype Conversion</vt:lpstr>
      <vt:lpstr>Datatype Conversion</vt:lpstr>
      <vt:lpstr>Simultaneous Assignment</vt:lpstr>
      <vt:lpstr>Simultaneous Assignment</vt:lpstr>
      <vt:lpstr>Simultaneous Assignment</vt:lpstr>
      <vt:lpstr>Identifiers</vt:lpstr>
      <vt:lpstr>Identifiers</vt:lpstr>
      <vt:lpstr>Identifiers</vt:lpstr>
      <vt:lpstr>Identifiers</vt:lpstr>
      <vt:lpstr>Expressions</vt:lpstr>
      <vt:lpstr>Expressions</vt:lpstr>
      <vt:lpstr>Expressions</vt:lpstr>
      <vt:lpstr>Expressions</vt:lpstr>
      <vt:lpstr>Representing Binary, Octal and Hexadecimal Numbers</vt:lpstr>
      <vt:lpstr>Converting Binary, Octal and Hexadecimal to decimal</vt:lpstr>
      <vt:lpstr>Converting decimal to Binary, Octal and Hexadecimal </vt:lpstr>
      <vt:lpstr>Expressions: Summary of Operators</vt:lpstr>
      <vt:lpstr>Explicit and Implicit Data Type Conversion</vt:lpstr>
      <vt:lpstr>Implicit Data Type Conversion: Examples</vt:lpstr>
      <vt:lpstr>Implicit Data Type Conversion: Examples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Urja Mankad</cp:lastModifiedBy>
  <cp:revision>426</cp:revision>
  <dcterms:created xsi:type="dcterms:W3CDTF">2018-08-24T21:11:55Z</dcterms:created>
  <dcterms:modified xsi:type="dcterms:W3CDTF">2024-01-04T16:39:23Z</dcterms:modified>
</cp:coreProperties>
</file>