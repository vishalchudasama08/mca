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70" r:id="rId4"/>
    <p:sldId id="259" r:id="rId5"/>
    <p:sldId id="371" r:id="rId6"/>
    <p:sldId id="260" r:id="rId7"/>
    <p:sldId id="258" r:id="rId8"/>
    <p:sldId id="372" r:id="rId9"/>
    <p:sldId id="273" r:id="rId10"/>
    <p:sldId id="369" r:id="rId11"/>
    <p:sldId id="279" r:id="rId12"/>
    <p:sldId id="368" r:id="rId13"/>
    <p:sldId id="261" r:id="rId14"/>
    <p:sldId id="281" r:id="rId15"/>
    <p:sldId id="310" r:id="rId16"/>
    <p:sldId id="309" r:id="rId17"/>
    <p:sldId id="311" r:id="rId18"/>
    <p:sldId id="312" r:id="rId19"/>
    <p:sldId id="313" r:id="rId20"/>
    <p:sldId id="314" r:id="rId21"/>
    <p:sldId id="315" r:id="rId22"/>
    <p:sldId id="317" r:id="rId23"/>
    <p:sldId id="316" r:id="rId24"/>
    <p:sldId id="318" r:id="rId25"/>
    <p:sldId id="319" r:id="rId26"/>
    <p:sldId id="359" r:id="rId27"/>
    <p:sldId id="360" r:id="rId28"/>
    <p:sldId id="361" r:id="rId29"/>
    <p:sldId id="320" r:id="rId30"/>
    <p:sldId id="321" r:id="rId31"/>
    <p:sldId id="322" r:id="rId32"/>
    <p:sldId id="284" r:id="rId33"/>
    <p:sldId id="285" r:id="rId34"/>
    <p:sldId id="286" r:id="rId35"/>
    <p:sldId id="287" r:id="rId36"/>
    <p:sldId id="288" r:id="rId37"/>
    <p:sldId id="289" r:id="rId38"/>
    <p:sldId id="291" r:id="rId39"/>
    <p:sldId id="292" r:id="rId40"/>
    <p:sldId id="296" r:id="rId41"/>
    <p:sldId id="294" r:id="rId42"/>
    <p:sldId id="362" r:id="rId43"/>
    <p:sldId id="363" r:id="rId44"/>
    <p:sldId id="364" r:id="rId45"/>
    <p:sldId id="365" r:id="rId46"/>
    <p:sldId id="36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5"/>
    <p:restoredTop sz="93769"/>
  </p:normalViewPr>
  <p:slideViewPr>
    <p:cSldViewPr snapToGrid="0" snapToObjects="1">
      <p:cViewPr varScale="1">
        <p:scale>
          <a:sx n="68" d="100"/>
          <a:sy n="68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B1B6D2-3571-40F5-89EF-DD64320C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</a:t>
            </a:r>
            <a:br>
              <a:rPr lang="en-IN" dirty="0"/>
            </a:br>
            <a:r>
              <a:rPr lang="en-IN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5596A24-EAD8-4026-B612-7CE2AF4A0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– </a:t>
            </a:r>
            <a:r>
              <a:rPr lang="en-IN" dirty="0" err="1"/>
              <a:t>Dr.</a:t>
            </a:r>
            <a:r>
              <a:rPr lang="en-IN" dirty="0"/>
              <a:t> Urja Mankad</a:t>
            </a:r>
          </a:p>
          <a:p>
            <a:r>
              <a:rPr lang="en-IN" dirty="0"/>
              <a:t>MCA – Sem-2</a:t>
            </a:r>
          </a:p>
        </p:txBody>
      </p:sp>
    </p:spTree>
    <p:extLst>
      <p:ext uri="{BB962C8B-B14F-4D97-AF65-F5344CB8AC3E}">
        <p14:creationId xmlns:p14="http://schemas.microsoft.com/office/powerpoint/2010/main" val="407958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0070C0"/>
                </a:solidFill>
              </a:rPr>
              <a:t>Introduction to Python</a:t>
            </a:r>
          </a:p>
          <a:p>
            <a:r>
              <a:rPr lang="en-IN" dirty="0">
                <a:solidFill>
                  <a:srgbClr val="0070C0"/>
                </a:solidFill>
              </a:rPr>
              <a:t>Features of Python</a:t>
            </a:r>
          </a:p>
          <a:p>
            <a:r>
              <a:rPr lang="en-IN" dirty="0">
                <a:solidFill>
                  <a:srgbClr val="0070C0"/>
                </a:solidFill>
              </a:rPr>
              <a:t>Application of Python</a:t>
            </a:r>
          </a:p>
          <a:p>
            <a:r>
              <a:rPr lang="en-IN" dirty="0">
                <a:solidFill>
                  <a:srgbClr val="0070C0"/>
                </a:solidFill>
              </a:rPr>
              <a:t>Advantages and limitations  of Python</a:t>
            </a:r>
          </a:p>
          <a:p>
            <a:r>
              <a:rPr lang="en-IN" dirty="0">
                <a:solidFill>
                  <a:srgbClr val="0070C0"/>
                </a:solidFill>
              </a:rPr>
              <a:t>Python development environment</a:t>
            </a:r>
          </a:p>
          <a:p>
            <a:r>
              <a:rPr lang="en-IN" dirty="0">
                <a:solidFill>
                  <a:srgbClr val="0070C0"/>
                </a:solidFill>
              </a:rPr>
              <a:t>Python Character Set</a:t>
            </a:r>
          </a:p>
          <a:p>
            <a:r>
              <a:rPr lang="en-IN" dirty="0">
                <a:solidFill>
                  <a:srgbClr val="0070C0"/>
                </a:solidFill>
              </a:rPr>
              <a:t>Python Tokens, Keywords, Identifiers, Operators </a:t>
            </a:r>
          </a:p>
          <a:p>
            <a:r>
              <a:rPr lang="en-IN" dirty="0">
                <a:solidFill>
                  <a:srgbClr val="0070C0"/>
                </a:solidFill>
              </a:rPr>
              <a:t>Variables and Assignments </a:t>
            </a:r>
          </a:p>
          <a:p>
            <a:r>
              <a:rPr lang="en-IN" dirty="0">
                <a:solidFill>
                  <a:srgbClr val="0070C0"/>
                </a:solidFill>
              </a:rPr>
              <a:t>Input and Output in Python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15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693D2BFA-85E7-792E-13AA-54175C5F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to Python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xmlns="" id="{A9DF34E3-CC09-783F-7ED0-8428BF278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Python is a high-level programming language</a:t>
            </a:r>
          </a:p>
          <a:p>
            <a:r>
              <a:rPr lang="en-US" altLang="en-US" dirty="0"/>
              <a:t>Open source and community driven</a:t>
            </a:r>
          </a:p>
          <a:p>
            <a:r>
              <a:rPr lang="en-IN" altLang="en-US" dirty="0"/>
              <a:t>It was created by Guido van Rossum, and released in 1991</a:t>
            </a:r>
            <a:endParaRPr lang="en-US" altLang="en-US" dirty="0"/>
          </a:p>
          <a:p>
            <a:r>
              <a:rPr lang="en-US" altLang="en-US" dirty="0"/>
              <a:t>Dynamic typecasting</a:t>
            </a:r>
          </a:p>
          <a:p>
            <a:r>
              <a:rPr lang="en-US" altLang="en-US" dirty="0"/>
              <a:t>Source can be compiled or run just-in-time</a:t>
            </a:r>
          </a:p>
          <a:p>
            <a:r>
              <a:rPr lang="en-US" altLang="en-US" sz="2800" dirty="0"/>
              <a:t>It is an interpreted scripting language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9AC37E-7A05-4B80-BC3C-5BEC6982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9A1520-5959-4C25-86E9-70838DE8D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algn="just"/>
            <a:r>
              <a:rPr lang="en-IN" altLang="en-US" sz="2800" dirty="0"/>
              <a:t>Easy to Learn and Use because it is developer-friendly</a:t>
            </a:r>
          </a:p>
          <a:p>
            <a:pPr algn="just"/>
            <a:r>
              <a:rPr lang="en-IN" altLang="en-US" sz="2800" dirty="0"/>
              <a:t>Expressive Language - more understandable and readable</a:t>
            </a:r>
          </a:p>
          <a:p>
            <a:pPr algn="just"/>
            <a:r>
              <a:rPr lang="en-IN" dirty="0"/>
              <a:t>Interpreted Language - interpreter executes the code line by line at a time so debugging is easy and suitable for beginners</a:t>
            </a:r>
          </a:p>
          <a:p>
            <a:pPr algn="just"/>
            <a:r>
              <a:rPr lang="en-IN" dirty="0"/>
              <a:t>Cross-platform Language - can run equally on different platforms such as Windows, Linux, Unix and Macintosh etc. – It’s a portable language</a:t>
            </a:r>
          </a:p>
          <a:p>
            <a:pPr algn="just"/>
            <a:r>
              <a:rPr lang="en-IN" dirty="0"/>
              <a:t>Free and Open Source</a:t>
            </a:r>
          </a:p>
          <a:p>
            <a:pPr algn="just"/>
            <a:r>
              <a:rPr lang="en-IN" dirty="0"/>
              <a:t>Object-Oriented Language, Extensible, Large Standard Library, GUI Programming Support</a:t>
            </a:r>
          </a:p>
          <a:p>
            <a:pPr algn="just"/>
            <a:r>
              <a:rPr lang="en-IN" dirty="0"/>
              <a:t>It can be easily integrated with languages like C, C++, JAVA etc.</a:t>
            </a:r>
          </a:p>
        </p:txBody>
      </p:sp>
    </p:spTree>
    <p:extLst>
      <p:ext uri="{BB962C8B-B14F-4D97-AF65-F5344CB8AC3E}">
        <p14:creationId xmlns:p14="http://schemas.microsoft.com/office/powerpoint/2010/main" val="386053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D48C8-FEE7-45C7-891D-E3DDD95F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of 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C5D9FE-8AC2-4186-B815-1B90A59E6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7496"/>
            <a:ext cx="10783957" cy="4995379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algn="just"/>
            <a:r>
              <a:rPr lang="en-US" altLang="en-US" dirty="0"/>
              <a:t>White space does indicate meaning</a:t>
            </a:r>
          </a:p>
          <a:p>
            <a:pPr lvl="1"/>
            <a:r>
              <a:rPr lang="en-US" altLang="en-US" dirty="0"/>
              <a:t>Instead of curly brackets or begin-end pairs, whitespace is used for block delimiters.</a:t>
            </a:r>
          </a:p>
          <a:p>
            <a:pPr lvl="1"/>
            <a:r>
              <a:rPr lang="en-US" altLang="en-US" dirty="0"/>
              <a:t>Indent statements in a block, un-indent at end of block.</a:t>
            </a:r>
          </a:p>
          <a:p>
            <a:pPr algn="just"/>
            <a:r>
              <a:rPr lang="en-US" altLang="en-US" dirty="0"/>
              <a:t>Statements are terminated by &lt;Enter&gt;</a:t>
            </a:r>
          </a:p>
          <a:p>
            <a:pPr algn="just"/>
            <a:r>
              <a:rPr lang="en-US" altLang="en-US" dirty="0"/>
              <a:t>No variable declarations</a:t>
            </a:r>
          </a:p>
          <a:p>
            <a:pPr algn="just"/>
            <a:r>
              <a:rPr lang="en-US" altLang="en-US" dirty="0"/>
              <a:t>Dynamic typing</a:t>
            </a:r>
          </a:p>
          <a:p>
            <a:pPr algn="just"/>
            <a:r>
              <a:rPr lang="en-US" altLang="en-US" dirty="0"/>
              <a:t>Associative arrays (dictionaries)</a:t>
            </a:r>
          </a:p>
          <a:p>
            <a:pPr algn="just"/>
            <a:r>
              <a:rPr lang="en-US" altLang="en-US" dirty="0"/>
              <a:t>Lists and slices</a:t>
            </a:r>
          </a:p>
          <a:p>
            <a:pPr algn="just"/>
            <a:r>
              <a:rPr lang="en-US" altLang="en-US" dirty="0"/>
              <a:t>Dynamic typing, automatic memory management, exceptions, large standard library, modular.</a:t>
            </a:r>
          </a:p>
          <a:p>
            <a:pPr lvl="1"/>
            <a:r>
              <a:rPr lang="en-US" altLang="en-US" dirty="0"/>
              <a:t>Extensions can be written in C and C++</a:t>
            </a:r>
          </a:p>
          <a:p>
            <a:pPr lvl="1"/>
            <a:r>
              <a:rPr lang="en-US" altLang="en-US" dirty="0"/>
              <a:t>Other language versions (</a:t>
            </a:r>
            <a:r>
              <a:rPr lang="en-US" altLang="en-US" dirty="0" err="1"/>
              <a:t>Jython</a:t>
            </a:r>
            <a:r>
              <a:rPr lang="en-US" altLang="en-US" dirty="0"/>
              <a:t>, </a:t>
            </a:r>
            <a:r>
              <a:rPr lang="en-US" altLang="en-US" dirty="0" err="1"/>
              <a:t>IronPython</a:t>
            </a:r>
            <a:r>
              <a:rPr lang="en-US" altLang="en-US" dirty="0"/>
              <a:t>) support extensions written in Java and </a:t>
            </a:r>
            <a:r>
              <a:rPr lang="en-US" altLang="en-US" dirty="0" err="1"/>
              <a:t>.Net</a:t>
            </a:r>
            <a:r>
              <a:rPr lang="en-US" altLang="en-US" dirty="0"/>
              <a:t> languages)</a:t>
            </a:r>
          </a:p>
          <a:p>
            <a:pPr algn="just"/>
            <a:r>
              <a:rPr lang="en-US" altLang="en-US" dirty="0"/>
              <a:t>Designed to be portable and extensible</a:t>
            </a:r>
          </a:p>
          <a:p>
            <a:pPr lvl="1"/>
            <a:r>
              <a:rPr lang="en-US" altLang="en-US" dirty="0"/>
              <a:t>Originally implemented on UNIX</a:t>
            </a:r>
          </a:p>
          <a:p>
            <a:pPr lvl="1"/>
            <a:r>
              <a:rPr lang="en-US" altLang="en-US" dirty="0"/>
              <a:t>Programs often can be ported from one operating system to another without any change</a:t>
            </a:r>
          </a:p>
          <a:p>
            <a:pPr algn="just"/>
            <a:r>
              <a:rPr lang="en-US" altLang="en-US" dirty="0"/>
              <a:t>Syntax and design promote good programming practices and  surprisingly rapid development times</a:t>
            </a:r>
          </a:p>
          <a:p>
            <a:pPr algn="just"/>
            <a:r>
              <a:rPr lang="en-IN" dirty="0"/>
              <a:t>Python supports multiple programming pattern, including object oriented, imperative and functional or procedural programming styles.</a:t>
            </a:r>
          </a:p>
        </p:txBody>
      </p:sp>
    </p:spTree>
    <p:extLst>
      <p:ext uri="{BB962C8B-B14F-4D97-AF65-F5344CB8AC3E}">
        <p14:creationId xmlns:p14="http://schemas.microsoft.com/office/powerpoint/2010/main" val="413122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D84AB1-CB06-4138-B4E2-3A31949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Areas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31B2F3-0619-4FA6-BE77-4D905DF3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Science</a:t>
            </a:r>
          </a:p>
          <a:p>
            <a:r>
              <a:rPr lang="en-IN" dirty="0"/>
              <a:t>Automation</a:t>
            </a:r>
          </a:p>
          <a:p>
            <a:r>
              <a:rPr lang="en-IN" dirty="0"/>
              <a:t>Application Development</a:t>
            </a:r>
          </a:p>
          <a:p>
            <a:r>
              <a:rPr lang="en-IN" dirty="0"/>
              <a:t>AI and ML</a:t>
            </a:r>
          </a:p>
          <a:p>
            <a:r>
              <a:rPr lang="en-IN" dirty="0"/>
              <a:t>Audio/Video Applications</a:t>
            </a:r>
          </a:p>
          <a:p>
            <a:r>
              <a:rPr lang="en-IN" dirty="0"/>
              <a:t>Console Applications</a:t>
            </a:r>
          </a:p>
          <a:p>
            <a:r>
              <a:rPr lang="en-IN" dirty="0"/>
              <a:t>Desktop GUI</a:t>
            </a:r>
          </a:p>
          <a:p>
            <a:r>
              <a:rPr lang="en-IN" dirty="0"/>
              <a:t>Internet Scripting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45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xmlns="" id="{91E7A181-B49E-B47B-21A1-1E5889BB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Python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xmlns="" id="{6E1D8491-12B7-03E1-8E21-48DCCEE5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altLang="en-US" dirty="0"/>
              <a:t>Python works on different platforms (Windows, Mac, Linux, Raspberry Pi, etc).</a:t>
            </a:r>
          </a:p>
          <a:p>
            <a:r>
              <a:rPr lang="en-IN" altLang="en-US" dirty="0"/>
              <a:t>Python has a simple syntax similar to the English language.</a:t>
            </a:r>
          </a:p>
          <a:p>
            <a:r>
              <a:rPr lang="en-IN" altLang="en-US" dirty="0"/>
              <a:t>Python has syntax that allows developers to write programs with fewer lines than some other programming languages.</a:t>
            </a:r>
          </a:p>
          <a:p>
            <a:r>
              <a:rPr lang="en-IN" altLang="en-US" dirty="0"/>
              <a:t>Python runs on an interpreter system, meaning that code can be executed as soon as it is written. This means that prototyping can be very quick.</a:t>
            </a:r>
          </a:p>
          <a:p>
            <a:r>
              <a:rPr lang="en-IN" altLang="en-US" dirty="0"/>
              <a:t>Python can be treated in a procedural way, an object-oriented way or a functional way.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684F3B-FD42-F192-05D2-572159CC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2CC7F2-E7F0-B373-060F-6820C03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Python is an interpreted language and is slow at runtime, compared to C/C++ or Java.</a:t>
            </a:r>
          </a:p>
          <a:p>
            <a:r>
              <a:rPr lang="en-IN" dirty="0"/>
              <a:t>Python is a weak language for mobile development</a:t>
            </a:r>
          </a:p>
          <a:p>
            <a:r>
              <a:rPr lang="en-IN" dirty="0"/>
              <a:t>Python lovers become so accustomed to its features and its extensive libraries that they face problem in learning or working on other programming languages</a:t>
            </a:r>
          </a:p>
          <a:p>
            <a:r>
              <a:rPr lang="en-IN" dirty="0"/>
              <a:t>Python’s memory consumption is also high, due to the flexibility of the data types</a:t>
            </a:r>
          </a:p>
          <a:p>
            <a:r>
              <a:rPr lang="en-IN" dirty="0"/>
              <a:t>There are some limitations of Python with database access. In comparison to the popular technologies like JDBC and ODBC, it is found that Python’s database access layer is a bit underdeveloped and primitive so Not used in Enterprise Development Sector</a:t>
            </a:r>
          </a:p>
        </p:txBody>
      </p:sp>
    </p:spTree>
    <p:extLst>
      <p:ext uri="{BB962C8B-B14F-4D97-AF65-F5344CB8AC3E}">
        <p14:creationId xmlns:p14="http://schemas.microsoft.com/office/powerpoint/2010/main" val="271652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xmlns="" id="{A4EF2B33-FA36-5C98-A568-88DF9EFF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21"/>
            <a:ext cx="10059649" cy="985882"/>
          </a:xfrm>
        </p:spPr>
        <p:txBody>
          <a:bodyPr/>
          <a:lstStyle/>
          <a:p>
            <a:r>
              <a:rPr lang="en-US" altLang="en-US" dirty="0"/>
              <a:t>Python Development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93C59B6-3922-63EA-CA4C-EDD90AE2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0862"/>
            <a:ext cx="3149184" cy="5922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D2D7723-9E92-BA78-6D20-B478D14A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282" y="761853"/>
            <a:ext cx="3149183" cy="6023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A special type of software known as a </a:t>
            </a:r>
            <a:r>
              <a:rPr lang="en-US" i="1" dirty="0">
                <a:solidFill>
                  <a:srgbClr val="0070C0"/>
                </a:solidFill>
              </a:rPr>
              <a:t>programming environment </a:t>
            </a:r>
            <a:r>
              <a:rPr lang="en-US" dirty="0"/>
              <a:t>simplifies the process of creating modules/programs</a:t>
            </a:r>
          </a:p>
          <a:p>
            <a:endParaRPr lang="en-US" dirty="0"/>
          </a:p>
          <a:p>
            <a:r>
              <a:rPr lang="en-US" dirty="0"/>
              <a:t>A programming environment helps programmers write programs and includes features such as automatic indenting, color highlighting, and interactive development</a:t>
            </a:r>
          </a:p>
          <a:p>
            <a:endParaRPr lang="en-US" dirty="0"/>
          </a:p>
          <a:p>
            <a:r>
              <a:rPr lang="en-US" dirty="0"/>
              <a:t>The standard Python distribution includes a programming environment called </a:t>
            </a:r>
            <a:r>
              <a:rPr lang="en-US" dirty="0">
                <a:solidFill>
                  <a:srgbClr val="0070C0"/>
                </a:solidFill>
              </a:rPr>
              <a:t>IDLE</a:t>
            </a:r>
            <a:r>
              <a:rPr lang="en-US" dirty="0"/>
              <a:t> that you can use for working on the programs of this course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Programming Environments and IDLE</a:t>
            </a:r>
          </a:p>
        </p:txBody>
      </p:sp>
    </p:spTree>
    <p:extLst>
      <p:ext uri="{BB962C8B-B14F-4D97-AF65-F5344CB8AC3E}">
        <p14:creationId xmlns:p14="http://schemas.microsoft.com/office/powerpoint/2010/main" val="187335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466E1D62-D416-52A2-1155-5F60750E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IDLE – Development Environment</a:t>
            </a:r>
          </a:p>
        </p:txBody>
      </p:sp>
      <p:sp>
        <p:nvSpPr>
          <p:cNvPr id="20483" name="Content Placeholder 3">
            <a:extLst>
              <a:ext uri="{FF2B5EF4-FFF2-40B4-BE49-F238E27FC236}">
                <a16:creationId xmlns:a16="http://schemas.microsoft.com/office/drawing/2014/main" xmlns="" id="{CEFB0137-A73E-6989-CB18-ECC27510C6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IDLE helps you program in Python by:</a:t>
            </a:r>
          </a:p>
          <a:p>
            <a:pPr lvl="1"/>
            <a:r>
              <a:rPr lang="en-US" altLang="en-US"/>
              <a:t>color-coding your program code</a:t>
            </a:r>
          </a:p>
          <a:p>
            <a:pPr lvl="1"/>
            <a:r>
              <a:rPr lang="en-US" altLang="en-US"/>
              <a:t>debugging</a:t>
            </a:r>
          </a:p>
          <a:p>
            <a:pPr lvl="1"/>
            <a:r>
              <a:rPr lang="en-US" altLang="en-US"/>
              <a:t>auto-indent</a:t>
            </a:r>
          </a:p>
          <a:p>
            <a:pPr lvl="1"/>
            <a:r>
              <a:rPr lang="en-US" altLang="en-US"/>
              <a:t>interactive shell</a:t>
            </a:r>
          </a:p>
        </p:txBody>
      </p:sp>
      <p:pic>
        <p:nvPicPr>
          <p:cNvPr id="20484" name="Content Placeholder 5" descr="idlecolor.png">
            <a:extLst>
              <a:ext uri="{FF2B5EF4-FFF2-40B4-BE49-F238E27FC236}">
                <a16:creationId xmlns:a16="http://schemas.microsoft.com/office/drawing/2014/main" xmlns="" id="{925699D6-1C69-6D42-E6B4-3EB1DAB77E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2426" y="2209800"/>
            <a:ext cx="4854575" cy="2439988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One problem with entering code interactively into a Python shell is that the definitions are lost when we quit the shell</a:t>
            </a:r>
          </a:p>
          <a:p>
            <a:pPr lvl="1"/>
            <a:r>
              <a:rPr lang="en-US" dirty="0"/>
              <a:t>If we want to use these definitions again, we have to type them all over again!</a:t>
            </a:r>
          </a:p>
          <a:p>
            <a:pPr lvl="1"/>
            <a:endParaRPr lang="en-US" dirty="0"/>
          </a:p>
          <a:p>
            <a:r>
              <a:rPr lang="en-US" dirty="0"/>
              <a:t>To this end, programs are usually created by typing definitions into a separate file called a </a:t>
            </a:r>
            <a:r>
              <a:rPr lang="en-US" i="1" dirty="0"/>
              <a:t>module</a:t>
            </a:r>
            <a:r>
              <a:rPr lang="en-US" dirty="0"/>
              <a:t> or </a:t>
            </a:r>
            <a:r>
              <a:rPr lang="en-US" i="1" dirty="0"/>
              <a:t>script</a:t>
            </a:r>
          </a:p>
          <a:p>
            <a:pPr lvl="1"/>
            <a:r>
              <a:rPr lang="en-US" dirty="0"/>
              <a:t>This file is saved on disk so that it can be used over and over again</a:t>
            </a:r>
          </a:p>
          <a:p>
            <a:pPr lvl="1"/>
            <a:endParaRPr lang="en-US" dirty="0"/>
          </a:p>
          <a:p>
            <a:r>
              <a:rPr lang="en-US" dirty="0"/>
              <a:t>A Python module file is just a text file with a </a:t>
            </a:r>
            <a:r>
              <a:rPr lang="en-US" i="1" dirty="0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py</a:t>
            </a:r>
            <a:r>
              <a:rPr lang="en-US" i="1" dirty="0">
                <a:solidFill>
                  <a:srgbClr val="0070C0"/>
                </a:solidFill>
              </a:rPr>
              <a:t> extension</a:t>
            </a:r>
            <a:r>
              <a:rPr lang="en-US" dirty="0"/>
              <a:t>, which can be created using any program for editing text (e.g., notepad or vim)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254729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398AF3-F05F-4DA0-9C5D-E2B852FB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10FF06-0B52-46D9-9912-7D4FCF3C4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IN" dirty="0"/>
              <a:t>Python’s runtime execution model: Source code to byte code, which is then run by the Python Virtual Machine. Your code is automatically compiled, but then it is interpreted.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2BBB3B7-D410-497B-9455-B09BD905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93" y="3286125"/>
            <a:ext cx="7661578" cy="2054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E12C195-352A-4849-A3E5-92790AE05495}"/>
              </a:ext>
            </a:extLst>
          </p:cNvPr>
          <p:cNvSpPr txBox="1"/>
          <p:nvPr/>
        </p:nvSpPr>
        <p:spPr>
          <a:xfrm>
            <a:off x="3246782" y="54755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Source code extension is </a:t>
            </a: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.</a:t>
            </a:r>
            <a:r>
              <a:rPr lang="en-IN" sz="1800" b="1" i="0" u="none" strike="noStrike" baseline="0" dirty="0" err="1">
                <a:latin typeface="Times New Roman" panose="02020603050405020304" pitchFamily="18" charset="0"/>
              </a:rPr>
              <a:t>py</a:t>
            </a:r>
            <a:endParaRPr lang="en-IN" sz="18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Byte code (compiled python code) extension is </a:t>
            </a:r>
            <a:r>
              <a:rPr lang="en-IN" sz="1800" b="1" i="0" u="none" strike="noStrike" baseline="0" dirty="0">
                <a:latin typeface="Times New Roman" panose="02020603050405020304" pitchFamily="18" charset="0"/>
              </a:rPr>
              <a:t>.</a:t>
            </a:r>
            <a:r>
              <a:rPr lang="en-IN" sz="1800" b="1" i="0" u="none" strike="noStrike" baseline="0" dirty="0" err="1">
                <a:latin typeface="Times New Roman" panose="02020603050405020304" pitchFamily="18" charset="0"/>
              </a:rPr>
              <a:t>pyc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41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891"/>
          </a:xfrm>
        </p:spPr>
        <p:txBody>
          <a:bodyPr>
            <a:normAutofit/>
          </a:bodyPr>
          <a:lstStyle/>
          <a:p>
            <a:r>
              <a:rPr lang="en-US" dirty="0"/>
              <a:t>In the following example, the parameter values passed to the print function are all technically called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</a:p>
          <a:p>
            <a:pPr lvl="1"/>
            <a:r>
              <a:rPr lang="en-US" dirty="0"/>
              <a:t>More precisely, “Hello” and “Programming is fun!” are called </a:t>
            </a:r>
            <a:r>
              <a:rPr lang="en-US" i="1" dirty="0">
                <a:solidFill>
                  <a:srgbClr val="0070C0"/>
                </a:solidFill>
              </a:rPr>
              <a:t>textual literals</a:t>
            </a:r>
            <a:r>
              <a:rPr lang="en-US" dirty="0"/>
              <a:t>, while 3 and 2.3 are called </a:t>
            </a:r>
            <a:r>
              <a:rPr lang="en-US" i="1" dirty="0">
                <a:solidFill>
                  <a:srgbClr val="0070C0"/>
                </a:solidFill>
              </a:rPr>
              <a:t>numeric literals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3381844" y="3547340"/>
            <a:ext cx="6270682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print("Hello")</a:t>
            </a:r>
          </a:p>
          <a:p>
            <a:r>
              <a:rPr lang="en-US" sz="2400" dirty="0"/>
              <a:t>Hello</a:t>
            </a:r>
          </a:p>
          <a:p>
            <a:r>
              <a:rPr lang="en-US" sz="2400" dirty="0"/>
              <a:t>&gt;&gt;&gt; print("Programming is fun!")</a:t>
            </a:r>
          </a:p>
          <a:p>
            <a:r>
              <a:rPr lang="en-US" sz="2400" dirty="0"/>
              <a:t>Programming is fun!</a:t>
            </a:r>
          </a:p>
          <a:p>
            <a:r>
              <a:rPr lang="en-US" sz="2400" dirty="0"/>
              <a:t>&gt;&gt;&gt; print(3)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print(2.3)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Literals</a:t>
            </a:r>
          </a:p>
        </p:txBody>
      </p:sp>
    </p:spTree>
    <p:extLst>
      <p:ext uri="{BB962C8B-B14F-4D97-AF65-F5344CB8AC3E}">
        <p14:creationId xmlns:p14="http://schemas.microsoft.com/office/powerpoint/2010/main" val="203574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used to indicate a specific value, which can be </a:t>
            </a:r>
            <a:r>
              <a:rPr lang="en-US" i="1" dirty="0"/>
              <a:t>assigned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variable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8085669" y="2927422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B385FF47-9B19-754C-B165-81D1A7C7935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440789" y="3161240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B0CDE4E-1516-FB4A-87C1-511DB706F2CB}"/>
              </a:ext>
            </a:extLst>
          </p:cNvPr>
          <p:cNvSpPr/>
          <p:nvPr/>
        </p:nvSpPr>
        <p:spPr>
          <a:xfrm>
            <a:off x="8649819" y="2927422"/>
            <a:ext cx="789100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BFCF49-84B7-FD46-8386-F1CF1089D4FE}"/>
              </a:ext>
            </a:extLst>
          </p:cNvPr>
          <p:cNvSpPr txBox="1"/>
          <p:nvPr/>
        </p:nvSpPr>
        <p:spPr>
          <a:xfrm>
            <a:off x="2831247" y="3161240"/>
            <a:ext cx="43274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is a variable and 2 is its value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76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used to indicate a specific value, which can be </a:t>
            </a:r>
            <a:r>
              <a:rPr lang="en-US" i="1" dirty="0"/>
              <a:t>assigned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variable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8085669" y="2927422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B385FF47-9B19-754C-B165-81D1A7C7935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440789" y="3161240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B0CDE4E-1516-FB4A-87C1-511DB706F2CB}"/>
              </a:ext>
            </a:extLst>
          </p:cNvPr>
          <p:cNvSpPr/>
          <p:nvPr/>
        </p:nvSpPr>
        <p:spPr>
          <a:xfrm>
            <a:off x="8649819" y="2927422"/>
            <a:ext cx="789100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DE305AB-D494-FD42-957E-BD4BB3FB5F37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440789" y="4261704"/>
            <a:ext cx="1209030" cy="23381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6D57BE0-5221-1E46-986E-F198E63248C9}"/>
              </a:ext>
            </a:extLst>
          </p:cNvPr>
          <p:cNvSpPr/>
          <p:nvPr/>
        </p:nvSpPr>
        <p:spPr>
          <a:xfrm>
            <a:off x="8649819" y="4027886"/>
            <a:ext cx="97536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4BFCF49-84B7-FD46-8386-F1CF1089D4FE}"/>
              </a:ext>
            </a:extLst>
          </p:cNvPr>
          <p:cNvSpPr txBox="1"/>
          <p:nvPr/>
        </p:nvSpPr>
        <p:spPr>
          <a:xfrm>
            <a:off x="2831247" y="3161240"/>
            <a:ext cx="4864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is a variable and 2 is its value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x can be assigned different values;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hence, it is called a variable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71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A simple way to view the effect of an assignment is to assume that when a variable changes, its old value is replaced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1425437" y="3440769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Statements: Box View</a:t>
            </a:r>
          </a:p>
        </p:txBody>
      </p:sp>
      <p:sp>
        <p:nvSpPr>
          <p:cNvPr id="5" name="Striped Right Arrow 4">
            <a:extLst>
              <a:ext uri="{FF2B5EF4-FFF2-40B4-BE49-F238E27FC236}">
                <a16:creationId xmlns:a16="http://schemas.microsoft.com/office/drawing/2014/main" xmlns="" id="{27FC23DD-6A5E-2A48-B041-34D6D040EFD2}"/>
              </a:ext>
            </a:extLst>
          </p:cNvPr>
          <p:cNvSpPr/>
          <p:nvPr/>
        </p:nvSpPr>
        <p:spPr>
          <a:xfrm>
            <a:off x="4058649" y="3993352"/>
            <a:ext cx="1010653" cy="1203158"/>
          </a:xfrm>
          <a:prstGeom prst="strip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8954B8-C9B2-5940-BEB5-FB58FDC2E0CA}"/>
              </a:ext>
            </a:extLst>
          </p:cNvPr>
          <p:cNvSpPr/>
          <p:nvPr/>
        </p:nvSpPr>
        <p:spPr>
          <a:xfrm>
            <a:off x="5999745" y="413078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160D041-D093-3A48-8C05-218F922B2299}"/>
              </a:ext>
            </a:extLst>
          </p:cNvPr>
          <p:cNvSpPr txBox="1"/>
          <p:nvPr/>
        </p:nvSpPr>
        <p:spPr>
          <a:xfrm>
            <a:off x="5980116" y="3592905"/>
            <a:ext cx="1030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D9C3C63-6F9D-574D-8F38-36B9B9385F88}"/>
              </a:ext>
            </a:extLst>
          </p:cNvPr>
          <p:cNvSpPr txBox="1"/>
          <p:nvPr/>
        </p:nvSpPr>
        <p:spPr>
          <a:xfrm>
            <a:off x="7713024" y="3362072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x = 2.3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81DC808-9A67-D649-9648-AF21D98D07C2}"/>
              </a:ext>
            </a:extLst>
          </p:cNvPr>
          <p:cNvSpPr/>
          <p:nvPr/>
        </p:nvSpPr>
        <p:spPr>
          <a:xfrm>
            <a:off x="9436047" y="413078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EC8F8F3-D22C-7E4A-B0CC-266D2CA67CD5}"/>
              </a:ext>
            </a:extLst>
          </p:cNvPr>
          <p:cNvSpPr txBox="1"/>
          <p:nvPr/>
        </p:nvSpPr>
        <p:spPr>
          <a:xfrm>
            <a:off x="9512670" y="3592905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ED958B4-C551-F044-9C2D-937B8F967F3C}"/>
              </a:ext>
            </a:extLst>
          </p:cNvPr>
          <p:cNvSpPr txBox="1"/>
          <p:nvPr/>
        </p:nvSpPr>
        <p:spPr>
          <a:xfrm>
            <a:off x="5666180" y="4317049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7A62F93-F648-9145-9A8A-EAB8FCD60E75}"/>
              </a:ext>
            </a:extLst>
          </p:cNvPr>
          <p:cNvSpPr txBox="1"/>
          <p:nvPr/>
        </p:nvSpPr>
        <p:spPr>
          <a:xfrm>
            <a:off x="9110317" y="431704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407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/>
      <p:bldP spid="13" grpId="0"/>
      <p:bldP spid="15" grpId="0" animBg="1"/>
      <p:bldP spid="16" grpId="0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Python assignment statements are actually slightly different from the “variable as a box” model</a:t>
            </a:r>
          </a:p>
          <a:p>
            <a:pPr lvl="1"/>
            <a:r>
              <a:rPr lang="en-US" dirty="0"/>
              <a:t>In Python, values may end up anywhere in memory, and variables are used to refer to them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960219" y="3681399"/>
            <a:ext cx="23353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x = 2.3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2.3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Simple Assignment Statements: Actual View</a:t>
            </a:r>
          </a:p>
        </p:txBody>
      </p:sp>
      <p:sp>
        <p:nvSpPr>
          <p:cNvPr id="5" name="Striped Right Arrow 4">
            <a:extLst>
              <a:ext uri="{FF2B5EF4-FFF2-40B4-BE49-F238E27FC236}">
                <a16:creationId xmlns:a16="http://schemas.microsoft.com/office/drawing/2014/main" xmlns="" id="{27FC23DD-6A5E-2A48-B041-34D6D040EFD2}"/>
              </a:ext>
            </a:extLst>
          </p:cNvPr>
          <p:cNvSpPr/>
          <p:nvPr/>
        </p:nvSpPr>
        <p:spPr>
          <a:xfrm>
            <a:off x="3593431" y="4233982"/>
            <a:ext cx="1010653" cy="1203158"/>
          </a:xfrm>
          <a:prstGeom prst="strip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8954B8-C9B2-5940-BEB5-FB58FDC2E0CA}"/>
              </a:ext>
            </a:extLst>
          </p:cNvPr>
          <p:cNvSpPr/>
          <p:nvPr/>
        </p:nvSpPr>
        <p:spPr>
          <a:xfrm>
            <a:off x="6063913" y="4403502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160D041-D093-3A48-8C05-218F922B2299}"/>
              </a:ext>
            </a:extLst>
          </p:cNvPr>
          <p:cNvSpPr txBox="1"/>
          <p:nvPr/>
        </p:nvSpPr>
        <p:spPr>
          <a:xfrm>
            <a:off x="6060326" y="3865619"/>
            <a:ext cx="1030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D9C3C63-6F9D-574D-8F38-36B9B9385F88}"/>
              </a:ext>
            </a:extLst>
          </p:cNvPr>
          <p:cNvSpPr txBox="1"/>
          <p:nvPr/>
        </p:nvSpPr>
        <p:spPr>
          <a:xfrm>
            <a:off x="7476826" y="3450566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x = 2.3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81DC808-9A67-D649-9648-AF21D98D07C2}"/>
              </a:ext>
            </a:extLst>
          </p:cNvPr>
          <p:cNvSpPr/>
          <p:nvPr/>
        </p:nvSpPr>
        <p:spPr>
          <a:xfrm>
            <a:off x="9066835" y="437141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EC8F8F3-D22C-7E4A-B0CC-266D2CA67CD5}"/>
              </a:ext>
            </a:extLst>
          </p:cNvPr>
          <p:cNvSpPr txBox="1"/>
          <p:nvPr/>
        </p:nvSpPr>
        <p:spPr>
          <a:xfrm>
            <a:off x="9143458" y="3833535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84970AB-88B1-7A4C-A92A-E2F0A6E322EE}"/>
              </a:ext>
            </a:extLst>
          </p:cNvPr>
          <p:cNvSpPr/>
          <p:nvPr/>
        </p:nvSpPr>
        <p:spPr>
          <a:xfrm>
            <a:off x="4847760" y="4503796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CEEA37D9-9C73-B348-A765-2D89494D16E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08803" y="4819519"/>
            <a:ext cx="555110" cy="1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CA3B366-494F-BA48-A517-E7670DF9FCF9}"/>
              </a:ext>
            </a:extLst>
          </p:cNvPr>
          <p:cNvSpPr/>
          <p:nvPr/>
        </p:nvSpPr>
        <p:spPr>
          <a:xfrm>
            <a:off x="7839346" y="4503796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BAA7420F-E169-0943-B48A-22408EC034C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8500389" y="4819519"/>
            <a:ext cx="598369" cy="11702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39AAB3F-FDCF-B943-9DD9-FBC0AD292365}"/>
              </a:ext>
            </a:extLst>
          </p:cNvPr>
          <p:cNvSpPr/>
          <p:nvPr/>
        </p:nvSpPr>
        <p:spPr>
          <a:xfrm>
            <a:off x="9098758" y="5572628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1131" y="4193006"/>
            <a:ext cx="15602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What will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happen to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value 2?</a:t>
            </a:r>
          </a:p>
        </p:txBody>
      </p:sp>
    </p:spTree>
    <p:extLst>
      <p:ext uri="{BB962C8B-B14F-4D97-AF65-F5344CB8AC3E}">
        <p14:creationId xmlns:p14="http://schemas.microsoft.com/office/powerpoint/2010/main" val="162221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/>
      <p:bldP spid="13" grpId="0"/>
      <p:bldP spid="15" grpId="0" animBg="1"/>
      <p:bldP spid="16" grpId="0"/>
      <p:bldP spid="6" grpId="0" animBg="1"/>
      <p:bldP spid="19" grpId="0" animBg="1"/>
      <p:bldP spid="21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1933" cy="4693708"/>
          </a:xfrm>
        </p:spPr>
        <p:txBody>
          <a:bodyPr>
            <a:normAutofit/>
          </a:bodyPr>
          <a:lstStyle/>
          <a:p>
            <a:r>
              <a:rPr lang="en-US" dirty="0"/>
              <a:t>Interestingly, as a Python programmer you do not have to worry about computer memory getting filled up with old values when new values are assigned to variables </a:t>
            </a:r>
          </a:p>
          <a:p>
            <a:endParaRPr lang="en-US" dirty="0"/>
          </a:p>
          <a:p>
            <a:r>
              <a:rPr lang="en-US" dirty="0"/>
              <a:t>Python will automatically clear old </a:t>
            </a:r>
            <a:br>
              <a:rPr lang="en-US" dirty="0"/>
            </a:br>
            <a:r>
              <a:rPr lang="en-US" dirty="0"/>
              <a:t>values out of memory in a process </a:t>
            </a:r>
            <a:br>
              <a:rPr lang="en-US" dirty="0"/>
            </a:br>
            <a:r>
              <a:rPr lang="en-US" dirty="0"/>
              <a:t>known as </a:t>
            </a:r>
            <a:r>
              <a:rPr lang="en-US" i="1" dirty="0">
                <a:solidFill>
                  <a:srgbClr val="0070C0"/>
                </a:solidFill>
              </a:rPr>
              <a:t>garbage collection 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Garbage Collection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81DC808-9A67-D649-9648-AF21D98D07C2}"/>
              </a:ext>
            </a:extLst>
          </p:cNvPr>
          <p:cNvSpPr/>
          <p:nvPr/>
        </p:nvSpPr>
        <p:spPr>
          <a:xfrm>
            <a:off x="7844678" y="3633486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EC8F8F3-D22C-7E4A-B0CC-266D2CA67CD5}"/>
              </a:ext>
            </a:extLst>
          </p:cNvPr>
          <p:cNvSpPr txBox="1"/>
          <p:nvPr/>
        </p:nvSpPr>
        <p:spPr>
          <a:xfrm>
            <a:off x="7921301" y="3095603"/>
            <a:ext cx="836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CA3B366-494F-BA48-A517-E7670DF9FCF9}"/>
              </a:ext>
            </a:extLst>
          </p:cNvPr>
          <p:cNvSpPr/>
          <p:nvPr/>
        </p:nvSpPr>
        <p:spPr>
          <a:xfrm>
            <a:off x="6617189" y="3765864"/>
            <a:ext cx="661043" cy="6314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BAA7420F-E169-0943-B48A-22408EC034C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278232" y="4081587"/>
            <a:ext cx="598369" cy="11702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39AAB3F-FDCF-B943-9DD9-FBC0AD292365}"/>
              </a:ext>
            </a:extLst>
          </p:cNvPr>
          <p:cNvSpPr/>
          <p:nvPr/>
        </p:nvSpPr>
        <p:spPr>
          <a:xfrm>
            <a:off x="7876601" y="4834696"/>
            <a:ext cx="1010653" cy="8341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B832E1B-664F-3F45-A660-20232E3FF95D}"/>
              </a:ext>
            </a:extLst>
          </p:cNvPr>
          <p:cNvSpPr txBox="1"/>
          <p:nvPr/>
        </p:nvSpPr>
        <p:spPr>
          <a:xfrm>
            <a:off x="8837963" y="3542748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11672E8-4A96-C143-9C31-EDA9FBBCA354}"/>
              </a:ext>
            </a:extLst>
          </p:cNvPr>
          <p:cNvSpPr txBox="1"/>
          <p:nvPr/>
        </p:nvSpPr>
        <p:spPr>
          <a:xfrm>
            <a:off x="9304883" y="3387649"/>
            <a:ext cx="29116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Memory location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will be automatically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reclaimed by the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garbage collector</a:t>
            </a:r>
          </a:p>
        </p:txBody>
      </p:sp>
    </p:spTree>
    <p:extLst>
      <p:ext uri="{BB962C8B-B14F-4D97-AF65-F5344CB8AC3E}">
        <p14:creationId xmlns:p14="http://schemas.microsoft.com/office/powerpoint/2010/main" val="428096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 far, we have been using values specified by programmers and printed or assigned to variables</a:t>
            </a:r>
          </a:p>
          <a:p>
            <a:pPr lvl="1"/>
            <a:r>
              <a:rPr lang="en-US" dirty="0"/>
              <a:t>How can we let users (not programmers) input values? </a:t>
            </a:r>
          </a:p>
          <a:p>
            <a:pPr lvl="1"/>
            <a:endParaRPr lang="en-US" dirty="0"/>
          </a:p>
          <a:p>
            <a:r>
              <a:rPr lang="en-US" dirty="0"/>
              <a:t>In Python, input is accomplished via an assignment statement combined with a built-in function called </a:t>
            </a:r>
            <a:r>
              <a:rPr lang="en-US" i="1" dirty="0"/>
              <a:t>input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When Python encounters a call to </a:t>
            </a:r>
            <a:r>
              <a:rPr lang="en-US" i="1" dirty="0"/>
              <a:t>input</a:t>
            </a:r>
            <a:r>
              <a:rPr lang="en-US" dirty="0"/>
              <a:t>, it prints &lt;prompt&gt; (which is a string literal) then pauses and waits for the user to type some text and press the &lt;Enter&gt; key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89092AB-DCA5-5549-8750-256E38AFAA40}"/>
              </a:ext>
            </a:extLst>
          </p:cNvPr>
          <p:cNvSpPr txBox="1"/>
          <p:nvPr/>
        </p:nvSpPr>
        <p:spPr>
          <a:xfrm>
            <a:off x="3545305" y="4315327"/>
            <a:ext cx="4575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&lt;variable&gt; = input(&lt;prompt&gt;)</a:t>
            </a:r>
          </a:p>
        </p:txBody>
      </p:sp>
    </p:spTree>
    <p:extLst>
      <p:ext uri="{BB962C8B-B14F-4D97-AF65-F5344CB8AC3E}">
        <p14:creationId xmlns:p14="http://schemas.microsoft.com/office/powerpoint/2010/main" val="13154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whatever the user types is then stored as a string</a:t>
            </a:r>
          </a:p>
          <a:p>
            <a:pPr lvl="1"/>
            <a:r>
              <a:rPr lang="en-US" dirty="0"/>
              <a:t>What happens if the user inputs a number?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name = input("Enter your name: ")</a:t>
            </a:r>
          </a:p>
          <a:p>
            <a:r>
              <a:rPr lang="en-US" sz="2400" dirty="0"/>
              <a:t>Enter your name: Urja Mankad</a:t>
            </a:r>
          </a:p>
          <a:p>
            <a:r>
              <a:rPr lang="en-US" sz="2400" dirty="0"/>
              <a:t>&gt;&gt;&gt; name</a:t>
            </a:r>
          </a:p>
          <a:p>
            <a:r>
              <a:rPr lang="en-US" sz="2400" dirty="0" err="1"/>
              <a:t>Urja</a:t>
            </a:r>
            <a:r>
              <a:rPr lang="en-US" sz="2400" dirty="0"/>
              <a:t> </a:t>
            </a:r>
            <a:r>
              <a:rPr lang="en-US" sz="2400" dirty="0" err="1" smtClean="0"/>
              <a:t>Mankad</a:t>
            </a:r>
            <a:endParaRPr lang="en-US" sz="2400" dirty="0"/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287643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can we force an input number to be stored as a number and not as a string?</a:t>
            </a:r>
          </a:p>
          <a:p>
            <a:pPr lvl="1"/>
            <a:r>
              <a:rPr lang="en-US" dirty="0"/>
              <a:t>We can use the built-in </a:t>
            </a:r>
            <a:r>
              <a:rPr lang="en-US" b="1" i="1" dirty="0" err="1">
                <a:solidFill>
                  <a:srgbClr val="00B050"/>
                </a:solidFill>
              </a:rPr>
              <a:t>eval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function, which can be “wrapped around” the </a:t>
            </a:r>
            <a:br>
              <a:rPr lang="en-US" dirty="0"/>
            </a:br>
            <a:r>
              <a:rPr lang="en-US" dirty="0"/>
              <a:t>input function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input("Enter a number: ")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'3'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5C2981-47C1-F143-AABD-C308D939F49A}"/>
              </a:ext>
            </a:extLst>
          </p:cNvPr>
          <p:cNvSpPr txBox="1"/>
          <p:nvPr/>
        </p:nvSpPr>
        <p:spPr>
          <a:xfrm>
            <a:off x="1398543" y="3726706"/>
            <a:ext cx="1777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Still a string!</a:t>
            </a:r>
          </a:p>
          <a:p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41F669CE-6B7A-D54C-89D7-B2CC77F1A3D0}"/>
              </a:ext>
            </a:extLst>
          </p:cNvPr>
          <p:cNvSpPr/>
          <p:nvPr/>
        </p:nvSpPr>
        <p:spPr>
          <a:xfrm>
            <a:off x="3589550" y="3753853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76337" y="3954379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7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eval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5C2981-47C1-F143-AABD-C308D939F49A}"/>
              </a:ext>
            </a:extLst>
          </p:cNvPr>
          <p:cNvSpPr txBox="1"/>
          <p:nvPr/>
        </p:nvSpPr>
        <p:spPr>
          <a:xfrm>
            <a:off x="547621" y="3923888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Now an </a:t>
            </a:r>
            <a:r>
              <a:rPr lang="en-US" sz="2400" b="1" dirty="0" err="1">
                <a:solidFill>
                  <a:srgbClr val="C00000"/>
                </a:solidFill>
              </a:rPr>
              <a:t>int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41F669CE-6B7A-D54C-89D7-B2CC77F1A3D0}"/>
              </a:ext>
            </a:extLst>
          </p:cNvPr>
          <p:cNvSpPr/>
          <p:nvPr/>
        </p:nvSpPr>
        <p:spPr>
          <a:xfrm>
            <a:off x="3525382" y="4138861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12169" y="4339387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6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530922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eval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5C2981-47C1-F143-AABD-C308D939F49A}"/>
              </a:ext>
            </a:extLst>
          </p:cNvPr>
          <p:cNvSpPr txBox="1"/>
          <p:nvPr/>
        </p:nvSpPr>
        <p:spPr>
          <a:xfrm>
            <a:off x="547621" y="3923888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And now 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41F669CE-6B7A-D54C-89D7-B2CC77F1A3D0}"/>
              </a:ext>
            </a:extLst>
          </p:cNvPr>
          <p:cNvSpPr/>
          <p:nvPr/>
        </p:nvSpPr>
        <p:spPr>
          <a:xfrm>
            <a:off x="3525381" y="4138861"/>
            <a:ext cx="629523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41DC26D9-9C6A-AB43-8FD0-275C6C2D4B3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112171" y="4339387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46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Here is another sample interaction with the Python interpreter: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89550" y="2653834"/>
            <a:ext cx="6388639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/>
              <a:t>eval</a:t>
            </a:r>
            <a:r>
              <a:rPr lang="en-US" sz="2400" dirty="0"/>
              <a:t>(input("Enter an equation: "))</a:t>
            </a:r>
          </a:p>
          <a:p>
            <a:r>
              <a:rPr lang="en-US" sz="2400" dirty="0"/>
              <a:t>Enter an equation: 3 + 2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78FA5B4-10CE-334A-BE7A-AFE5F57F06B6}"/>
              </a:ext>
            </a:extLst>
          </p:cNvPr>
          <p:cNvSpPr txBox="1"/>
          <p:nvPr/>
        </p:nvSpPr>
        <p:spPr>
          <a:xfrm>
            <a:off x="2196315" y="5157492"/>
            <a:ext cx="8276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The </a:t>
            </a:r>
            <a:r>
              <a:rPr lang="en-US" sz="2400" b="1" i="1" dirty="0" err="1">
                <a:solidFill>
                  <a:srgbClr val="C00000"/>
                </a:solidFill>
              </a:rPr>
              <a:t>eval</a:t>
            </a:r>
            <a:r>
              <a:rPr lang="en-US" sz="2400" b="1" dirty="0">
                <a:solidFill>
                  <a:srgbClr val="C00000"/>
                </a:solidFill>
              </a:rPr>
              <a:t> function will evaluate this formula and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return a value, which is then assigned to the variable “number”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5979825" y="3064040"/>
            <a:ext cx="709734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10" idx="4"/>
          </p:cNvCxnSpPr>
          <p:nvPr/>
        </p:nvCxnSpPr>
        <p:spPr>
          <a:xfrm>
            <a:off x="6334692" y="3465092"/>
            <a:ext cx="0" cy="145983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97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3589550" y="2841402"/>
            <a:ext cx="5730296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int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 integer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597F45DC-84FD-6545-B81D-2896383170A9}"/>
              </a:ext>
            </a:extLst>
          </p:cNvPr>
          <p:cNvSpPr/>
          <p:nvPr/>
        </p:nvSpPr>
        <p:spPr>
          <a:xfrm>
            <a:off x="3589550" y="3963015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7" y="4163541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3589549" y="2841402"/>
            <a:ext cx="6105435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>
                <a:solidFill>
                  <a:srgbClr val="00B050"/>
                </a:solidFill>
              </a:rPr>
              <a:t>float(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597F45DC-84FD-6545-B81D-2896383170A9}"/>
              </a:ext>
            </a:extLst>
          </p:cNvPr>
          <p:cNvSpPr/>
          <p:nvPr/>
        </p:nvSpPr>
        <p:spPr>
          <a:xfrm>
            <a:off x="3589549" y="3963015"/>
            <a:ext cx="583865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9" y="4163541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1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As a matter of fact, we can do various kinds of conversions between strings, integers and floats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,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, and </a:t>
            </a:r>
            <a:r>
              <a:rPr lang="en-US" b="1" i="1" dirty="0" err="1">
                <a:solidFill>
                  <a:srgbClr val="00B050"/>
                </a:solidFill>
              </a:rPr>
              <a:t>str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2689313" y="2807292"/>
            <a:ext cx="17665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float(x)</a:t>
            </a:r>
          </a:p>
          <a:p>
            <a:r>
              <a:rPr lang="en-US" sz="2400" dirty="0"/>
              <a:t>10.0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(x)</a:t>
            </a:r>
          </a:p>
          <a:p>
            <a:r>
              <a:rPr lang="en-US" sz="2400" dirty="0"/>
              <a:t>'10'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8D7ABDE-450A-B04E-B995-EFACA4739562}"/>
              </a:ext>
            </a:extLst>
          </p:cNvPr>
          <p:cNvSpPr txBox="1"/>
          <p:nvPr/>
        </p:nvSpPr>
        <p:spPr>
          <a:xfrm>
            <a:off x="5314154" y="2807292"/>
            <a:ext cx="1766584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y = "20"</a:t>
            </a:r>
          </a:p>
          <a:p>
            <a:r>
              <a:rPr lang="en-US" sz="2400" dirty="0"/>
              <a:t>&gt;&gt;&gt; float(y)</a:t>
            </a:r>
          </a:p>
          <a:p>
            <a:r>
              <a:rPr lang="en-US" sz="2400" dirty="0"/>
              <a:t>20.0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(y)</a:t>
            </a:r>
          </a:p>
          <a:p>
            <a:r>
              <a:rPr lang="en-US" sz="2400" dirty="0"/>
              <a:t>20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97E153-82BD-4146-8C24-5158DF21AA62}"/>
              </a:ext>
            </a:extLst>
          </p:cNvPr>
          <p:cNvSpPr txBox="1"/>
          <p:nvPr/>
        </p:nvSpPr>
        <p:spPr>
          <a:xfrm>
            <a:off x="7938996" y="2807292"/>
            <a:ext cx="175599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z = 30.0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(z)</a:t>
            </a:r>
          </a:p>
          <a:p>
            <a:r>
              <a:rPr lang="en-US" sz="2400" dirty="0"/>
              <a:t>30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(z)</a:t>
            </a:r>
          </a:p>
          <a:p>
            <a:r>
              <a:rPr lang="en-US" sz="2400" dirty="0"/>
              <a:t>'30.0'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C7C3E6-D1E7-EC4B-9DDF-AC1DDE899B14}"/>
              </a:ext>
            </a:extLst>
          </p:cNvPr>
          <p:cNvSpPr txBox="1"/>
          <p:nvPr/>
        </p:nvSpPr>
        <p:spPr>
          <a:xfrm>
            <a:off x="2452457" y="5287604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integer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integer  string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E703135-D6CA-2E44-A7AB-DCDEAE8372F8}"/>
              </a:ext>
            </a:extLst>
          </p:cNvPr>
          <p:cNvSpPr txBox="1"/>
          <p:nvPr/>
        </p:nvSpPr>
        <p:spPr>
          <a:xfrm>
            <a:off x="5106967" y="5287603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string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string  integer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58AC1EF-7827-2344-A413-30F5E518A2CD}"/>
              </a:ext>
            </a:extLst>
          </p:cNvPr>
          <p:cNvSpPr txBox="1"/>
          <p:nvPr/>
        </p:nvSpPr>
        <p:spPr>
          <a:xfrm>
            <a:off x="7761477" y="5287604"/>
            <a:ext cx="2111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float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integer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float  string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11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allows us also to assign multiple values to multiple variables all at the same time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form of assignment might seem strange at first, but it can prove remarkably useful (e.g., for swapping values)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509340" y="2846756"/>
            <a:ext cx="6388639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x, y = 2, 3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990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338410" y="2943009"/>
            <a:ext cx="2757590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x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7790E4-14A9-054D-9FD0-2EE81C3BE754}"/>
              </a:ext>
            </a:extLst>
          </p:cNvPr>
          <p:cNvSpPr txBox="1"/>
          <p:nvPr/>
        </p:nvSpPr>
        <p:spPr>
          <a:xfrm>
            <a:off x="6372060" y="3955924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EA805D-DEDC-8C4F-A98E-8217F28100AE}"/>
              </a:ext>
            </a:extLst>
          </p:cNvPr>
          <p:cNvSpPr txBox="1"/>
          <p:nvPr/>
        </p:nvSpPr>
        <p:spPr>
          <a:xfrm>
            <a:off x="6955874" y="4048256"/>
            <a:ext cx="325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CANNOT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two</a:t>
            </a:r>
            <a:r>
              <a:rPr lang="en-US" sz="2400" b="1" dirty="0">
                <a:solidFill>
                  <a:srgbClr val="C00000"/>
                </a:solidFill>
              </a:rPr>
              <a:t> simple assignments</a:t>
            </a:r>
          </a:p>
        </p:txBody>
      </p:sp>
    </p:spTree>
    <p:extLst>
      <p:ext uri="{BB962C8B-B14F-4D97-AF65-F5344CB8AC3E}">
        <p14:creationId xmlns:p14="http://schemas.microsoft.com/office/powerpoint/2010/main" val="572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4247522" y="2743485"/>
            <a:ext cx="2631466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  <a:r>
              <a:rPr lang="en-US" sz="2400" dirty="0"/>
              <a:t> = x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7790E4-14A9-054D-9FD0-2EE81C3BE754}"/>
              </a:ext>
            </a:extLst>
          </p:cNvPr>
          <p:cNvSpPr txBox="1"/>
          <p:nvPr/>
        </p:nvSpPr>
        <p:spPr>
          <a:xfrm>
            <a:off x="6971329" y="3955922"/>
            <a:ext cx="1225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EA805D-DEDC-8C4F-A98E-8217F28100AE}"/>
              </a:ext>
            </a:extLst>
          </p:cNvPr>
          <p:cNvSpPr txBox="1"/>
          <p:nvPr/>
        </p:nvSpPr>
        <p:spPr>
          <a:xfrm>
            <a:off x="7791484" y="3433758"/>
            <a:ext cx="35205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three</a:t>
            </a:r>
            <a:r>
              <a:rPr lang="en-US" sz="2400" b="1" dirty="0">
                <a:solidFill>
                  <a:srgbClr val="C00000"/>
                </a:solidFill>
              </a:rPr>
              <a:t> simple assignments,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but more efficiently with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simultaneous assignment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775365" y="2808144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59061" y="2970114"/>
            <a:ext cx="1016304" cy="72427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798360" y="3196742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805781" y="3548953"/>
            <a:ext cx="738211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759061" y="3358712"/>
            <a:ext cx="1039299" cy="335674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759061" y="3710923"/>
            <a:ext cx="1046720" cy="0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9043" y="2970114"/>
            <a:ext cx="37737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Thus far, we have been using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different </a:t>
            </a:r>
            <a:r>
              <a:rPr lang="en-US" sz="2400" i="1" dirty="0">
                <a:solidFill>
                  <a:srgbClr val="00B050"/>
                </a:solidFill>
              </a:rPr>
              <a:t>names </a:t>
            </a:r>
            <a:r>
              <a:rPr lang="en-US" sz="2400" dirty="0">
                <a:solidFill>
                  <a:srgbClr val="00B050"/>
                </a:solidFill>
              </a:rPr>
              <a:t>for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variables. These names</a:t>
            </a:r>
          </a:p>
          <a:p>
            <a:r>
              <a:rPr lang="en-US" sz="2400" dirty="0">
                <a:solidFill>
                  <a:srgbClr val="00B050"/>
                </a:solidFill>
              </a:rPr>
              <a:t>are technically called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b="1" i="1" dirty="0">
                <a:solidFill>
                  <a:srgbClr val="00B050"/>
                </a:solidFill>
              </a:rPr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8610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23" grpId="0" animBg="1"/>
      <p:bldP spid="24" grpId="0" animBg="1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Every identifier must begin with a letter or underscore, which may be followed by any sequence of letters, digits, or underscores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x1 = 10</a:t>
            </a:r>
          </a:p>
          <a:p>
            <a:r>
              <a:rPr lang="en-US" sz="2400" dirty="0"/>
              <a:t>&gt;&gt;&gt; x2 = 20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y_effect</a:t>
            </a:r>
            <a:r>
              <a:rPr lang="en-US" sz="2400" dirty="0"/>
              <a:t> = 1.5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celsius</a:t>
            </a:r>
            <a:r>
              <a:rPr lang="en-US" sz="2400" dirty="0"/>
              <a:t> = 32</a:t>
            </a:r>
          </a:p>
          <a:p>
            <a:r>
              <a:rPr lang="en-US" sz="2400" dirty="0"/>
              <a:t>&gt;&gt;&gt; 2celsius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2celsius</a:t>
            </a:r>
          </a:p>
          <a:p>
            <a:r>
              <a:rPr lang="en-US" sz="2400" dirty="0"/>
              <a:t>   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78974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sz="2800" dirty="0"/>
              <a:t>Identifiers are </a:t>
            </a:r>
            <a:r>
              <a:rPr lang="en-US" sz="2800" i="1" dirty="0">
                <a:solidFill>
                  <a:srgbClr val="C00000"/>
                </a:solidFill>
              </a:rPr>
              <a:t>case-sensitive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X = 5.7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10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5.7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60425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E521DBA5-A3F3-E744-A100-DD027DA5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06130"/>
              </p:ext>
            </p:extLst>
          </p:nvPr>
        </p:nvGraphicFramePr>
        <p:xfrm>
          <a:off x="2065866" y="3141134"/>
          <a:ext cx="8128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41784981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8364211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392698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4377249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178244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22087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continue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lambda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5320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nonlocal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while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6101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with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70916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elif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yield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435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import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963368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90354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EDA9D6F-88DD-354C-A275-8B4710BCF6C4}"/>
              </a:ext>
            </a:extLst>
          </p:cNvPr>
          <p:cNvSpPr txBox="1"/>
          <p:nvPr/>
        </p:nvSpPr>
        <p:spPr>
          <a:xfrm>
            <a:off x="4952556" y="6318133"/>
            <a:ext cx="235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Keywords</a:t>
            </a:r>
          </a:p>
        </p:txBody>
      </p:sp>
    </p:spTree>
    <p:extLst>
      <p:ext uri="{BB962C8B-B14F-4D97-AF65-F5344CB8AC3E}">
        <p14:creationId xmlns:p14="http://schemas.microsoft.com/office/powerpoint/2010/main" val="12432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3811417" y="3529548"/>
            <a:ext cx="4265783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for = 4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for = 4</a:t>
            </a:r>
          </a:p>
          <a:p>
            <a:r>
              <a:rPr lang="en-US" sz="2400" dirty="0"/>
              <a:t>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EF1915-E4F3-8147-9AA6-BBF33FE3F92D}"/>
              </a:ext>
            </a:extLst>
          </p:cNvPr>
          <p:cNvSpPr txBox="1"/>
          <p:nvPr/>
        </p:nvSpPr>
        <p:spPr>
          <a:xfrm>
            <a:off x="1686733" y="4172479"/>
            <a:ext cx="212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 example…</a:t>
            </a:r>
          </a:p>
        </p:txBody>
      </p:sp>
    </p:spTree>
    <p:extLst>
      <p:ext uri="{BB962C8B-B14F-4D97-AF65-F5344CB8AC3E}">
        <p14:creationId xmlns:p14="http://schemas.microsoft.com/office/powerpoint/2010/main" val="900325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4839402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54875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586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6349495" cy="37856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yet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 operator </a:t>
            </a:r>
            <a:r>
              <a:rPr lang="en-US" sz="2400" dirty="0">
                <a:solidFill>
                  <a:srgbClr val="00B050"/>
                </a:solidFill>
              </a:rPr>
              <a:t>but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to </a:t>
            </a:r>
            <a:r>
              <a:rPr lang="en-US" sz="2400" i="1" dirty="0">
                <a:solidFill>
                  <a:srgbClr val="00B050"/>
                </a:solidFill>
              </a:rPr>
              <a:t>concatenate</a:t>
            </a:r>
            <a:r>
              <a:rPr lang="en-US" sz="2400" dirty="0">
                <a:solidFill>
                  <a:srgbClr val="00B050"/>
                </a:solidFill>
              </a:rPr>
              <a:t> (or glue)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strings together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748FF88D-9206-BC46-8792-0744095D88B2}"/>
              </a:ext>
            </a:extLst>
          </p:cNvPr>
          <p:cNvSpPr/>
          <p:nvPr/>
        </p:nvSpPr>
        <p:spPr>
          <a:xfrm>
            <a:off x="8366539" y="4444452"/>
            <a:ext cx="1149994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FD58C270-1FDB-4D44-BA3B-FE672F0A688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449380" y="4802387"/>
            <a:ext cx="1917159" cy="35793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171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2629014" y="2933651"/>
            <a:ext cx="2631716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6</a:t>
            </a:r>
          </a:p>
          <a:p>
            <a:r>
              <a:rPr lang="en-US" sz="2400" dirty="0"/>
              <a:t>&gt;&gt;&gt; y = 2</a:t>
            </a:r>
          </a:p>
          <a:p>
            <a:r>
              <a:rPr lang="en-US" sz="2400" dirty="0"/>
              <a:t>&gt;&gt;&gt; print(x 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dirty="0"/>
              <a:t> y)</a:t>
            </a:r>
          </a:p>
          <a:p>
            <a:r>
              <a:rPr lang="en-US" sz="2400" dirty="0"/>
              <a:t>4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dirty="0"/>
              <a:t>y)</a:t>
            </a:r>
          </a:p>
          <a:p>
            <a:r>
              <a:rPr lang="en-US" sz="2400" dirty="0"/>
              <a:t>3.0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//</a:t>
            </a:r>
            <a:r>
              <a:rPr lang="en-US" sz="2400" dirty="0"/>
              <a:t>y)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02BC3C4-4A97-9D40-8DAB-E4131F43C75F}"/>
              </a:ext>
            </a:extLst>
          </p:cNvPr>
          <p:cNvSpPr txBox="1"/>
          <p:nvPr/>
        </p:nvSpPr>
        <p:spPr>
          <a:xfrm>
            <a:off x="7895609" y="2933651"/>
            <a:ext cx="2725501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y)</a:t>
            </a:r>
          </a:p>
          <a:p>
            <a:r>
              <a:rPr lang="en-US" sz="2400" dirty="0"/>
              <a:t>12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**</a:t>
            </a:r>
            <a:r>
              <a:rPr lang="en-US" sz="2400" dirty="0"/>
              <a:t>y)</a:t>
            </a:r>
          </a:p>
          <a:p>
            <a:r>
              <a:rPr lang="en-US" sz="2400" dirty="0"/>
              <a:t>36</a:t>
            </a:r>
          </a:p>
          <a:p>
            <a:r>
              <a:rPr lang="en-US" sz="2400" dirty="0"/>
              <a:t>&gt;&gt;&gt; print(</a:t>
            </a:r>
            <a:r>
              <a:rPr lang="en-US" sz="2400" dirty="0" err="1"/>
              <a:t>x</a:t>
            </a:r>
            <a:r>
              <a:rPr lang="en-US" sz="2400" b="1" dirty="0" err="1">
                <a:solidFill>
                  <a:srgbClr val="FF0000"/>
                </a:solidFill>
              </a:rPr>
              <a:t>%</a:t>
            </a:r>
            <a:r>
              <a:rPr lang="en-US" sz="2400" dirty="0" err="1"/>
              <a:t>y</a:t>
            </a:r>
            <a:r>
              <a:rPr lang="en-US" sz="2400" dirty="0"/>
              <a:t>)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&gt;&gt;&gt; print(</a:t>
            </a:r>
            <a:r>
              <a:rPr lang="en-US" sz="2400" b="1" dirty="0">
                <a:solidFill>
                  <a:srgbClr val="FF0000"/>
                </a:solidFill>
              </a:rPr>
              <a:t>abs(</a:t>
            </a:r>
            <a:r>
              <a:rPr lang="en-US" sz="2400" dirty="0"/>
              <a:t>-x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)</a:t>
            </a:r>
          </a:p>
          <a:p>
            <a:r>
              <a:rPr lang="en-US" sz="24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336E214-08B9-7948-A696-5A0CDB95C8FC}"/>
              </a:ext>
            </a:extLst>
          </p:cNvPr>
          <p:cNvSpPr txBox="1"/>
          <p:nvPr/>
        </p:nvSpPr>
        <p:spPr>
          <a:xfrm>
            <a:off x="5732587" y="3980091"/>
            <a:ext cx="1989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Yet 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7EF1915-E4F3-8147-9AA6-BBF33FE3F92D}"/>
              </a:ext>
            </a:extLst>
          </p:cNvPr>
          <p:cNvSpPr txBox="1"/>
          <p:nvPr/>
        </p:nvSpPr>
        <p:spPr>
          <a:xfrm>
            <a:off x="805765" y="3933924"/>
            <a:ext cx="1650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</p:spTree>
    <p:extLst>
      <p:ext uri="{BB962C8B-B14F-4D97-AF65-F5344CB8AC3E}">
        <p14:creationId xmlns:p14="http://schemas.microsoft.com/office/powerpoint/2010/main" val="306763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Expressions: Summary of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5AD5E2E8-4414-D343-8D98-452F1CC7B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55669"/>
              </p:ext>
            </p:extLst>
          </p:nvPr>
        </p:nvGraphicFramePr>
        <p:xfrm>
          <a:off x="2031999" y="1954498"/>
          <a:ext cx="8128000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5356181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2705504739"/>
                    </a:ext>
                  </a:extLst>
                </a:gridCol>
              </a:tblGrid>
              <a:tr h="4002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3234338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006534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317147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204553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Float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433482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Exponentiation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516532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Absolute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614169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Integer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568684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41457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84AD32-F603-5546-BBFD-C6BB3D2D4468}"/>
              </a:ext>
            </a:extLst>
          </p:cNvPr>
          <p:cNvSpPr txBox="1"/>
          <p:nvPr/>
        </p:nvSpPr>
        <p:spPr>
          <a:xfrm>
            <a:off x="3782384" y="5701303"/>
            <a:ext cx="4627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Built-In Numeric Operations</a:t>
            </a:r>
          </a:p>
        </p:txBody>
      </p:sp>
    </p:spTree>
    <p:extLst>
      <p:ext uri="{BB962C8B-B14F-4D97-AF65-F5344CB8AC3E}">
        <p14:creationId xmlns:p14="http://schemas.microsoft.com/office/powerpoint/2010/main" val="4272179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Data conversion can happen in two ways in Python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Explicit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 Conversion</a:t>
            </a:r>
            <a:r>
              <a:rPr lang="en-US" dirty="0"/>
              <a:t> (we saw this earlier with the </a:t>
            </a:r>
            <a:r>
              <a:rPr lang="en-US" i="1" dirty="0" err="1"/>
              <a:t>int</a:t>
            </a:r>
            <a:r>
              <a:rPr lang="en-US" dirty="0"/>
              <a:t>, </a:t>
            </a:r>
            <a:r>
              <a:rPr lang="en-US" i="1" dirty="0"/>
              <a:t>float</a:t>
            </a:r>
            <a:r>
              <a:rPr lang="en-US" dirty="0"/>
              <a:t>, and </a:t>
            </a:r>
            <a:r>
              <a:rPr lang="en-US" i="1" dirty="0" err="1"/>
              <a:t>str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built-in functions)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Implicit Data Conversion</a:t>
            </a:r>
          </a:p>
          <a:p>
            <a:pPr lvl="2"/>
            <a:r>
              <a:rPr lang="en-US" sz="2400" dirty="0"/>
              <a:t>Takes place </a:t>
            </a:r>
            <a:r>
              <a:rPr lang="en-US" sz="2400" i="1" dirty="0"/>
              <a:t>automatically</a:t>
            </a:r>
            <a:r>
              <a:rPr lang="en-US" sz="2400" dirty="0"/>
              <a:t> during run time between </a:t>
            </a:r>
            <a:r>
              <a:rPr lang="en-US" sz="2400" i="1" dirty="0"/>
              <a:t>ONLY</a:t>
            </a:r>
            <a:r>
              <a:rPr lang="en-US" sz="2400" dirty="0"/>
              <a:t> numeric values</a:t>
            </a:r>
          </a:p>
          <a:p>
            <a:pPr lvl="3"/>
            <a:r>
              <a:rPr lang="en-US" sz="2400" dirty="0"/>
              <a:t>E.g., Adding a float and an integer will automatically result in a float value </a:t>
            </a:r>
          </a:p>
          <a:p>
            <a:pPr lvl="3"/>
            <a:r>
              <a:rPr lang="en-US" sz="2400" dirty="0"/>
              <a:t>E.g., Adding a string and an integer (or a float) will result in an </a:t>
            </a:r>
            <a:r>
              <a:rPr lang="en-US" sz="2400" i="1" dirty="0"/>
              <a:t>error</a:t>
            </a:r>
            <a:r>
              <a:rPr lang="en-US" sz="2400" dirty="0"/>
              <a:t> since string is not numeric</a:t>
            </a:r>
          </a:p>
          <a:p>
            <a:pPr lvl="2"/>
            <a:r>
              <a:rPr lang="en-US" sz="2400" dirty="0"/>
              <a:t>Applies </a:t>
            </a:r>
            <a:r>
              <a:rPr lang="en-US" sz="2400" i="1" dirty="0"/>
              <a:t>type promotion </a:t>
            </a:r>
            <a:r>
              <a:rPr lang="en-US" sz="2400" dirty="0"/>
              <a:t>to avoid loss of information</a:t>
            </a:r>
          </a:p>
          <a:p>
            <a:pPr lvl="3"/>
            <a:r>
              <a:rPr lang="en-US" sz="2400" dirty="0"/>
              <a:t>Conversion goes from integer to float (e.g., upon adding a float and an integer) and not vice versa so as the fractional part of the float is not lost   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Explicit and Implicit Data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41392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6130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 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9B596F1-9FC1-E24A-8E4C-3A061464D43C}"/>
              </a:ext>
            </a:extLst>
          </p:cNvPr>
          <p:cNvSpPr/>
          <p:nvPr/>
        </p:nvSpPr>
        <p:spPr>
          <a:xfrm>
            <a:off x="8521537" y="1998839"/>
            <a:ext cx="87906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B898C52C-F48B-6645-8DC1-0C0A63EC0FE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5458" y="2356774"/>
            <a:ext cx="1796079" cy="19104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358EE71-12F7-CA4D-B7A8-142164E95E78}"/>
              </a:ext>
            </a:extLst>
          </p:cNvPr>
          <p:cNvSpPr/>
          <p:nvPr/>
        </p:nvSpPr>
        <p:spPr>
          <a:xfrm>
            <a:off x="8521537" y="3466012"/>
            <a:ext cx="170880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AE5617E9-E383-DA45-9C0E-3628A8042B0F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6725459" y="2714709"/>
            <a:ext cx="1796078" cy="110923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1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893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The result of an expression that involves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values of the same data type will not result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in any conversion </a:t>
            </a: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C80D9355-2132-A84A-BEEE-9B852B850A94}"/>
              </a:ext>
            </a:extLst>
          </p:cNvPr>
          <p:cNvSpPr/>
          <p:nvPr/>
        </p:nvSpPr>
        <p:spPr>
          <a:xfrm>
            <a:off x="8521537" y="2793770"/>
            <a:ext cx="726668" cy="60486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1717EE0C-8EA4-D045-844A-E907D44D8C4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881482" y="3096201"/>
            <a:ext cx="1640055" cy="94365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91C8EC2-E9C4-B742-A1A1-8A2D45E17DCE}"/>
              </a:ext>
            </a:extLst>
          </p:cNvPr>
          <p:cNvSpPr/>
          <p:nvPr/>
        </p:nvSpPr>
        <p:spPr>
          <a:xfrm>
            <a:off x="8521537" y="4192267"/>
            <a:ext cx="1810400" cy="71587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871064E2-85EB-7948-99F3-F83347FBA4F0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6881482" y="4366165"/>
            <a:ext cx="1640055" cy="18403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E94705BD-79A3-0849-9D9F-16452E8A617D}"/>
              </a:ext>
            </a:extLst>
          </p:cNvPr>
          <p:cNvSpPr/>
          <p:nvPr/>
        </p:nvSpPr>
        <p:spPr>
          <a:xfrm>
            <a:off x="8521537" y="5022611"/>
            <a:ext cx="1126555" cy="523683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58E48F87-A4B1-1143-8A77-1B1C99242599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6830749" y="4668737"/>
            <a:ext cx="1690788" cy="61571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5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Programs are composed of statements that are built from </a:t>
            </a:r>
            <a:r>
              <a:rPr lang="en-US" i="1" dirty="0">
                <a:solidFill>
                  <a:srgbClr val="0070C0"/>
                </a:solidFill>
              </a:rPr>
              <a:t>identifiers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expressions</a:t>
            </a:r>
          </a:p>
          <a:p>
            <a:endParaRPr lang="en-US" dirty="0"/>
          </a:p>
          <a:p>
            <a:r>
              <a:rPr lang="en-US" dirty="0"/>
              <a:t>Identifiers are names </a:t>
            </a:r>
          </a:p>
          <a:p>
            <a:pPr lvl="1"/>
            <a:r>
              <a:rPr lang="en-US" dirty="0"/>
              <a:t>They begin with an underscore or letter which can be followed by a combination of letter, digit, and/or underscore characters</a:t>
            </a:r>
          </a:p>
          <a:p>
            <a:pPr lvl="1"/>
            <a:r>
              <a:rPr lang="en-US" dirty="0"/>
              <a:t>They are case sensitive</a:t>
            </a:r>
          </a:p>
          <a:p>
            <a:pPr lvl="1"/>
            <a:endParaRPr lang="en-US" dirty="0"/>
          </a:p>
          <a:p>
            <a:r>
              <a:rPr lang="en-US" dirty="0"/>
              <a:t>Expressions are the fragments of a program that produce data</a:t>
            </a:r>
          </a:p>
          <a:p>
            <a:pPr lvl="1"/>
            <a:r>
              <a:rPr lang="en-US" dirty="0"/>
              <a:t>They can be composed of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variables</a:t>
            </a:r>
            <a:r>
              <a:rPr lang="en-US" dirty="0"/>
              <a:t>, and </a:t>
            </a:r>
            <a:r>
              <a:rPr lang="en-US" i="1" dirty="0">
                <a:solidFill>
                  <a:srgbClr val="0070C0"/>
                </a:solidFill>
              </a:rPr>
              <a:t>operators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14942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a representation of a specific value (e.g., 3 is a literal representing the number three)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r>
              <a:rPr lang="en-US" dirty="0"/>
              <a:t>A variable is an identifier that stores a value, which can change (hence, the name </a:t>
            </a:r>
            <a:r>
              <a:rPr lang="en-US" i="1" dirty="0"/>
              <a:t>variable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Operators are used to </a:t>
            </a:r>
            <a:r>
              <a:rPr lang="en-US"/>
              <a:t>form and </a:t>
            </a:r>
            <a:r>
              <a:rPr lang="en-US" dirty="0"/>
              <a:t>combine expressions into more complex expressions (e.g., the expression x + 3 * y combines two expressions together using the + and * operators)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1856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 </a:t>
            </a:r>
            <a:r>
              <a:rPr lang="en-US" i="1" dirty="0">
                <a:solidFill>
                  <a:srgbClr val="0070C0"/>
                </a:solidFill>
              </a:rPr>
              <a:t>assignment</a:t>
            </a:r>
            <a:r>
              <a:rPr lang="en-US" dirty="0"/>
              <a:t> of a value to a variable is done using the equal sign (i.e., =)</a:t>
            </a:r>
          </a:p>
          <a:p>
            <a:endParaRPr lang="en-US" dirty="0"/>
          </a:p>
          <a:p>
            <a:r>
              <a:rPr lang="en-US" dirty="0"/>
              <a:t>Using assignments, programs can get inputs from users and manipulate them internally</a:t>
            </a:r>
          </a:p>
          <a:p>
            <a:endParaRPr lang="en-US" dirty="0"/>
          </a:p>
          <a:p>
            <a:r>
              <a:rPr lang="en-US" dirty="0"/>
              <a:t>Python allows </a:t>
            </a:r>
            <a:r>
              <a:rPr lang="en-US" i="1" dirty="0">
                <a:solidFill>
                  <a:srgbClr val="0070C0"/>
                </a:solidFill>
              </a:rPr>
              <a:t>simultaneous assignments</a:t>
            </a:r>
            <a:r>
              <a:rPr lang="en-US" dirty="0"/>
              <a:t>, which are useful for swapping values of variables</a:t>
            </a:r>
          </a:p>
          <a:p>
            <a:endParaRPr lang="en-US" dirty="0"/>
          </a:p>
          <a:p>
            <a:r>
              <a:rPr lang="en-US" i="1" dirty="0">
                <a:solidFill>
                  <a:srgbClr val="0070C0"/>
                </a:solidFill>
              </a:rPr>
              <a:t>Datatype conversion </a:t>
            </a:r>
            <a:r>
              <a:rPr lang="en-US" dirty="0"/>
              <a:t>involves converting </a:t>
            </a:r>
            <a:r>
              <a:rPr lang="en-US" i="1" dirty="0">
                <a:solidFill>
                  <a:srgbClr val="0070C0"/>
                </a:solidFill>
              </a:rPr>
              <a:t>implicitly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explicitly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between various datatypes, including integer, float, and string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162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11728</TotalTime>
  <Words>2641</Words>
  <Application>Microsoft Office PowerPoint</Application>
  <PresentationFormat>Widescreen</PresentationFormat>
  <Paragraphs>753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Times New Roman</vt:lpstr>
      <vt:lpstr>Wingdings</vt:lpstr>
      <vt:lpstr>Office Theme</vt:lpstr>
      <vt:lpstr>UNIT-1 Introduction to PYTHON</vt:lpstr>
      <vt:lpstr>Today…</vt:lpstr>
      <vt:lpstr>Introduction to Python</vt:lpstr>
      <vt:lpstr>Features of Python</vt:lpstr>
      <vt:lpstr>Difference of using Python</vt:lpstr>
      <vt:lpstr>Application Areas of Python</vt:lpstr>
      <vt:lpstr>Advantages of Python</vt:lpstr>
      <vt:lpstr>Limitations of Python</vt:lpstr>
      <vt:lpstr>Python Development Environment</vt:lpstr>
      <vt:lpstr>Programming Environments and IDLE</vt:lpstr>
      <vt:lpstr>IDLE – Development Environment</vt:lpstr>
      <vt:lpstr>Modules</vt:lpstr>
      <vt:lpstr>Python Code Execution</vt:lpstr>
      <vt:lpstr>Literals</vt:lpstr>
      <vt:lpstr>Simple Assignment Statements</vt:lpstr>
      <vt:lpstr>Simple Assignment Statements</vt:lpstr>
      <vt:lpstr>Simple Assignment Statements: Box View</vt:lpstr>
      <vt:lpstr>Simple Assignment Statements: Actual View</vt:lpstr>
      <vt:lpstr>Garbage Collection</vt:lpstr>
      <vt:lpstr>Assigning Input</vt:lpstr>
      <vt:lpstr>Assigning Input</vt:lpstr>
      <vt:lpstr>Assigning Input</vt:lpstr>
      <vt:lpstr>Assigning Input</vt:lpstr>
      <vt:lpstr>Assigning Input</vt:lpstr>
      <vt:lpstr>Assigning Input</vt:lpstr>
      <vt:lpstr>Datatype Conversion</vt:lpstr>
      <vt:lpstr>Datatype Conversion</vt:lpstr>
      <vt:lpstr>Datatype Conversion</vt:lpstr>
      <vt:lpstr>Simultaneous Assignment</vt:lpstr>
      <vt:lpstr>Simultaneous Assignment</vt:lpstr>
      <vt:lpstr>Simultaneous Assignment</vt:lpstr>
      <vt:lpstr>Identifiers</vt:lpstr>
      <vt:lpstr>Identifiers</vt:lpstr>
      <vt:lpstr>Identifiers</vt:lpstr>
      <vt:lpstr>Identifiers</vt:lpstr>
      <vt:lpstr>Expressions</vt:lpstr>
      <vt:lpstr>Expressions</vt:lpstr>
      <vt:lpstr>Expressions</vt:lpstr>
      <vt:lpstr>Expressions</vt:lpstr>
      <vt:lpstr>Expressions: Summary of Operators</vt:lpstr>
      <vt:lpstr>Explicit and Implicit Data Type Conversion</vt:lpstr>
      <vt:lpstr>Implicit Data Type Conversion: Examples</vt:lpstr>
      <vt:lpstr>Implicit Data Type Conversion: Examples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Administrator</cp:lastModifiedBy>
  <cp:revision>403</cp:revision>
  <dcterms:created xsi:type="dcterms:W3CDTF">2018-08-24T21:11:55Z</dcterms:created>
  <dcterms:modified xsi:type="dcterms:W3CDTF">2025-01-06T05:11:48Z</dcterms:modified>
</cp:coreProperties>
</file>