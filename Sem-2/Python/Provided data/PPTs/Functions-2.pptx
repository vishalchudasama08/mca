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Functions</a:t>
            </a:r>
            <a:br>
              <a:rPr lang="en-US" dirty="0"/>
            </a:br>
            <a:endParaRPr lang="en-US" dirty="0"/>
          </a:p>
        </p:txBody>
      </p:sp>
      <p:sp>
        <p:nvSpPr>
          <p:cNvPr id="3" name="Subtitle 2"/>
          <p:cNvSpPr>
            <a:spLocks noGrp="1"/>
          </p:cNvSpPr>
          <p:nvPr>
            <p:ph type="subTitle" idx="1"/>
          </p:nvPr>
        </p:nvSpPr>
        <p:spPr/>
        <p:txBody>
          <a:bodyPr/>
          <a:lstStyle/>
          <a:p>
            <a:r>
              <a:rPr lang="en-US" dirty="0"/>
              <a:t>Chapter:9</a:t>
            </a:r>
            <a:br>
              <a:rPr lang="en-US" dirty="0"/>
            </a:br>
            <a:r>
              <a:rPr lang="en-US"/>
              <a:t>Text </a:t>
            </a:r>
            <a:r>
              <a:rPr lang="en-US" smtClean="0"/>
              <a:t>Book:2</a:t>
            </a:r>
            <a:endParaRPr lang="en-US" dirty="0"/>
          </a:p>
        </p:txBody>
      </p:sp>
    </p:spTree>
    <p:extLst>
      <p:ext uri="{BB962C8B-B14F-4D97-AF65-F5344CB8AC3E}">
        <p14:creationId xmlns:p14="http://schemas.microsoft.com/office/powerpoint/2010/main" val="849500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Function and Method Difference</a:t>
            </a:r>
            <a:endParaRPr lang="en-US" dirty="0"/>
          </a:p>
        </p:txBody>
      </p:sp>
      <p:sp>
        <p:nvSpPr>
          <p:cNvPr id="3" name="Content Placeholder 2"/>
          <p:cNvSpPr>
            <a:spLocks noGrp="1"/>
          </p:cNvSpPr>
          <p:nvPr>
            <p:ph idx="1"/>
          </p:nvPr>
        </p:nvSpPr>
        <p:spPr>
          <a:xfrm>
            <a:off x="457200" y="1205355"/>
            <a:ext cx="8229600" cy="5211763"/>
          </a:xfrm>
        </p:spPr>
        <p:txBody>
          <a:bodyPr>
            <a:noAutofit/>
          </a:bodyPr>
          <a:lstStyle/>
          <a:p>
            <a:r>
              <a:rPr lang="en-US" sz="2800" dirty="0" smtClean="0"/>
              <a:t>Function contains a group of statements and perform a specific task.</a:t>
            </a:r>
          </a:p>
          <a:p>
            <a:r>
              <a:rPr lang="en-US" sz="2800" dirty="0" smtClean="0"/>
              <a:t>It can be written individual in a Python program.</a:t>
            </a:r>
          </a:p>
          <a:p>
            <a:r>
              <a:rPr lang="en-US" sz="2800" dirty="0" smtClean="0"/>
              <a:t> A function is called using its name.</a:t>
            </a:r>
          </a:p>
          <a:p>
            <a:r>
              <a:rPr lang="en-US" sz="2800" dirty="0" smtClean="0"/>
              <a:t>When a function is written inside a class , it becomes a method.</a:t>
            </a:r>
          </a:p>
          <a:p>
            <a:r>
              <a:rPr lang="en-US" sz="2800" dirty="0" smtClean="0"/>
              <a:t>A method is called using one of the following way.</a:t>
            </a:r>
          </a:p>
          <a:p>
            <a:pPr lvl="1"/>
            <a:r>
              <a:rPr lang="en-US" dirty="0" err="1" smtClean="0"/>
              <a:t>objName.methodName</a:t>
            </a:r>
            <a:r>
              <a:rPr lang="en-US" dirty="0" smtClean="0"/>
              <a:t>()</a:t>
            </a:r>
          </a:p>
          <a:p>
            <a:pPr lvl="1"/>
            <a:r>
              <a:rPr lang="en-US" dirty="0" err="1" smtClean="0"/>
              <a:t>Classsname.methodName</a:t>
            </a:r>
            <a:r>
              <a:rPr lang="en-US" dirty="0" smtClean="0"/>
              <a:t>()</a:t>
            </a:r>
          </a:p>
          <a:p>
            <a:r>
              <a:rPr lang="en-US" sz="2800" dirty="0" smtClean="0"/>
              <a:t>A function and a method are same except their placement and the way they are called.</a:t>
            </a:r>
          </a:p>
        </p:txBody>
      </p:sp>
    </p:spTree>
    <p:extLst>
      <p:ext uri="{BB962C8B-B14F-4D97-AF65-F5344CB8AC3E}">
        <p14:creationId xmlns:p14="http://schemas.microsoft.com/office/powerpoint/2010/main" val="30194681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Defining a Function</a:t>
            </a:r>
            <a:endParaRPr lang="en-US" dirty="0"/>
          </a:p>
        </p:txBody>
      </p:sp>
      <p:sp>
        <p:nvSpPr>
          <p:cNvPr id="3" name="Content Placeholder 2"/>
          <p:cNvSpPr>
            <a:spLocks noGrp="1"/>
          </p:cNvSpPr>
          <p:nvPr>
            <p:ph idx="1"/>
          </p:nvPr>
        </p:nvSpPr>
        <p:spPr>
          <a:xfrm>
            <a:off x="457200" y="990601"/>
            <a:ext cx="8229600" cy="5638800"/>
          </a:xfrm>
        </p:spPr>
        <p:txBody>
          <a:bodyPr>
            <a:noAutofit/>
          </a:bodyPr>
          <a:lstStyle/>
          <a:p>
            <a:r>
              <a:rPr lang="en-US" sz="2400" dirty="0" smtClean="0"/>
              <a:t>A function is defined using </a:t>
            </a:r>
            <a:r>
              <a:rPr lang="en-US" sz="2400" i="1" dirty="0" err="1" smtClean="0"/>
              <a:t>def</a:t>
            </a:r>
            <a:r>
              <a:rPr lang="en-US" sz="2400" dirty="0" smtClean="0"/>
              <a:t> keyword followed by function name followed by parenthesis which may contain parameters.</a:t>
            </a:r>
          </a:p>
          <a:p>
            <a:r>
              <a:rPr lang="en-US" sz="2400" dirty="0" err="1" smtClean="0"/>
              <a:t>Eg</a:t>
            </a:r>
            <a:r>
              <a:rPr lang="en-US" sz="2400" dirty="0" smtClean="0"/>
              <a:t>.</a:t>
            </a:r>
          </a:p>
          <a:p>
            <a:pPr marL="457200" lvl="1" indent="0">
              <a:buNone/>
            </a:pPr>
            <a:r>
              <a:rPr lang="en-US" sz="2400" dirty="0" err="1" smtClean="0"/>
              <a:t>def</a:t>
            </a:r>
            <a:r>
              <a:rPr lang="en-US" sz="2400" dirty="0" smtClean="0"/>
              <a:t> </a:t>
            </a:r>
            <a:r>
              <a:rPr lang="en-US" sz="2400" dirty="0" err="1" smtClean="0"/>
              <a:t>funName</a:t>
            </a:r>
            <a:r>
              <a:rPr lang="en-US" sz="2400" dirty="0" smtClean="0"/>
              <a:t>(par1, par2,….):</a:t>
            </a:r>
          </a:p>
          <a:p>
            <a:pPr marL="457200" lvl="1" indent="0">
              <a:buNone/>
            </a:pPr>
            <a:r>
              <a:rPr lang="en-US" sz="2400" dirty="0"/>
              <a:t>	</a:t>
            </a:r>
            <a:r>
              <a:rPr lang="en-US" sz="2400" dirty="0" smtClean="0"/>
              <a:t>“””function </a:t>
            </a:r>
            <a:r>
              <a:rPr lang="en-US" sz="2400" dirty="0" err="1" smtClean="0"/>
              <a:t>docstring</a:t>
            </a:r>
            <a:r>
              <a:rPr lang="en-US" sz="2400" dirty="0" smtClean="0"/>
              <a:t>”””</a:t>
            </a:r>
          </a:p>
          <a:p>
            <a:pPr marL="457200" lvl="1" indent="0">
              <a:buNone/>
            </a:pPr>
            <a:r>
              <a:rPr lang="en-US" sz="2400" dirty="0"/>
              <a:t>	</a:t>
            </a:r>
            <a:r>
              <a:rPr lang="en-US" sz="2400" dirty="0" smtClean="0"/>
              <a:t>function statements</a:t>
            </a:r>
          </a:p>
          <a:p>
            <a:pPr marL="514350" indent="-457200"/>
            <a:r>
              <a:rPr lang="en-US" sz="2400" dirty="0" smtClean="0"/>
              <a:t>A parameter is a variable that receives data from outside into a function</a:t>
            </a:r>
          </a:p>
          <a:p>
            <a:pPr marL="514350" indent="-457200"/>
            <a:r>
              <a:rPr lang="en-US" sz="2400" dirty="0" smtClean="0"/>
              <a:t>: represents the beginning of the function body, which contains a group of statements – called ‘suite’</a:t>
            </a:r>
          </a:p>
          <a:p>
            <a:r>
              <a:rPr lang="en-US" sz="2400" dirty="0" err="1" smtClean="0"/>
              <a:t>docstring</a:t>
            </a:r>
            <a:r>
              <a:rPr lang="en-US" sz="2400" dirty="0" smtClean="0"/>
              <a:t> is a string literal that is written as a first statement in a module, function or class. </a:t>
            </a:r>
            <a:r>
              <a:rPr lang="en-US" sz="2400" dirty="0" err="1" smtClean="0"/>
              <a:t>Docstring</a:t>
            </a:r>
            <a:r>
              <a:rPr lang="en-US" sz="2400" dirty="0" smtClean="0"/>
              <a:t> are written inside </a:t>
            </a:r>
            <a:r>
              <a:rPr lang="en-US" sz="2400" dirty="0" err="1" smtClean="0"/>
              <a:t>tripple</a:t>
            </a:r>
            <a:r>
              <a:rPr lang="en-US" sz="2400" dirty="0" smtClean="0"/>
              <a:t> double quotes or </a:t>
            </a:r>
            <a:r>
              <a:rPr lang="en-US" sz="2400" dirty="0" err="1" smtClean="0"/>
              <a:t>tripple</a:t>
            </a:r>
            <a:r>
              <a:rPr lang="en-US" sz="2400" dirty="0" smtClean="0"/>
              <a:t> single quotes</a:t>
            </a:r>
          </a:p>
        </p:txBody>
      </p:sp>
    </p:spTree>
    <p:extLst>
      <p:ext uri="{BB962C8B-B14F-4D97-AF65-F5344CB8AC3E}">
        <p14:creationId xmlns:p14="http://schemas.microsoft.com/office/powerpoint/2010/main" val="5121169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Function (</a:t>
            </a:r>
            <a:r>
              <a:rPr lang="en-US" dirty="0" err="1" smtClean="0"/>
              <a:t>Cont</a:t>
            </a:r>
            <a:r>
              <a:rPr lang="en-US" dirty="0" smtClean="0"/>
              <a:t>…)</a:t>
            </a:r>
            <a:endParaRPr lang="en-US" dirty="0"/>
          </a:p>
        </p:txBody>
      </p:sp>
      <p:sp>
        <p:nvSpPr>
          <p:cNvPr id="3" name="Content Placeholder 2"/>
          <p:cNvSpPr>
            <a:spLocks noGrp="1"/>
          </p:cNvSpPr>
          <p:nvPr>
            <p:ph idx="1"/>
          </p:nvPr>
        </p:nvSpPr>
        <p:spPr>
          <a:xfrm>
            <a:off x="457200" y="1205355"/>
            <a:ext cx="8229600" cy="5211763"/>
          </a:xfrm>
        </p:spPr>
        <p:txBody>
          <a:bodyPr>
            <a:noAutofit/>
          </a:bodyPr>
          <a:lstStyle/>
          <a:p>
            <a:r>
              <a:rPr lang="en-US" sz="2800" err="1" smtClean="0"/>
              <a:t>docstring</a:t>
            </a:r>
            <a:r>
              <a:rPr lang="en-US" sz="2800" smtClean="0"/>
              <a:t> </a:t>
            </a:r>
            <a:r>
              <a:rPr lang="en-US" sz="2800" smtClean="0"/>
              <a:t>contains </a:t>
            </a:r>
            <a:r>
              <a:rPr lang="en-US" sz="2800" dirty="0" smtClean="0"/>
              <a:t>only one line</a:t>
            </a:r>
          </a:p>
          <a:p>
            <a:r>
              <a:rPr lang="en-US" sz="2800" dirty="0" smtClean="0"/>
              <a:t>When an API (Application Programming Interface) documentation file is created, the function name and </a:t>
            </a:r>
            <a:r>
              <a:rPr lang="en-US" sz="2800" dirty="0" err="1" smtClean="0"/>
              <a:t>docstring</a:t>
            </a:r>
            <a:r>
              <a:rPr lang="en-US" sz="2800" dirty="0" smtClean="0"/>
              <a:t> are stored in that file, providing clear description of a function.</a:t>
            </a:r>
          </a:p>
          <a:p>
            <a:r>
              <a:rPr lang="en-US" sz="2800" dirty="0" smtClean="0"/>
              <a:t>Writing </a:t>
            </a:r>
            <a:r>
              <a:rPr lang="en-US" sz="2800" dirty="0" err="1" smtClean="0"/>
              <a:t>docstring</a:t>
            </a:r>
            <a:r>
              <a:rPr lang="en-US" sz="2800" dirty="0" smtClean="0"/>
              <a:t> is a good programming practice.</a:t>
            </a:r>
          </a:p>
          <a:p>
            <a:r>
              <a:rPr lang="en-US" sz="2800" dirty="0" smtClean="0"/>
              <a:t>A function cannot run on its own.</a:t>
            </a:r>
          </a:p>
          <a:p>
            <a:r>
              <a:rPr lang="en-US" sz="2800" dirty="0" smtClean="0"/>
              <a:t>It runs only when we call it.</a:t>
            </a:r>
          </a:p>
          <a:p>
            <a:r>
              <a:rPr lang="en-US" sz="2800" dirty="0" smtClean="0"/>
              <a:t>Function can be called using its name</a:t>
            </a:r>
          </a:p>
          <a:p>
            <a:r>
              <a:rPr lang="en-US" sz="2800" dirty="0" err="1" smtClean="0"/>
              <a:t>eg</a:t>
            </a:r>
            <a:r>
              <a:rPr lang="en-US" sz="2800" dirty="0" smtClean="0"/>
              <a:t>.	</a:t>
            </a:r>
            <a:r>
              <a:rPr lang="en-US" sz="2800" dirty="0" err="1" smtClean="0"/>
              <a:t>funName</a:t>
            </a:r>
            <a:r>
              <a:rPr lang="en-US" sz="2800" dirty="0" smtClean="0"/>
              <a:t>() or </a:t>
            </a:r>
            <a:r>
              <a:rPr lang="en-US" sz="2800" dirty="0" err="1" smtClean="0"/>
              <a:t>funName</a:t>
            </a:r>
            <a:r>
              <a:rPr lang="en-US" sz="2800" dirty="0" smtClean="0"/>
              <a:t>(val1, val2,…)</a:t>
            </a:r>
          </a:p>
        </p:txBody>
      </p:sp>
    </p:spTree>
    <p:extLst>
      <p:ext uri="{BB962C8B-B14F-4D97-AF65-F5344CB8AC3E}">
        <p14:creationId xmlns:p14="http://schemas.microsoft.com/office/powerpoint/2010/main" val="42496862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Dynamic typing</a:t>
            </a:r>
            <a:endParaRPr lang="en-US" dirty="0"/>
          </a:p>
        </p:txBody>
      </p:sp>
      <p:sp>
        <p:nvSpPr>
          <p:cNvPr id="3" name="Content Placeholder 2"/>
          <p:cNvSpPr>
            <a:spLocks noGrp="1"/>
          </p:cNvSpPr>
          <p:nvPr>
            <p:ph idx="1"/>
          </p:nvPr>
        </p:nvSpPr>
        <p:spPr>
          <a:xfrm>
            <a:off x="457200" y="1122225"/>
            <a:ext cx="8229600" cy="5430975"/>
          </a:xfrm>
        </p:spPr>
        <p:txBody>
          <a:bodyPr>
            <a:noAutofit/>
          </a:bodyPr>
          <a:lstStyle/>
          <a:p>
            <a:r>
              <a:rPr lang="en-US" sz="2400" dirty="0" smtClean="0"/>
              <a:t>The parameters of a function do not know which type of value they are going to receive, till the values are passed at the time of calling the function</a:t>
            </a:r>
          </a:p>
          <a:p>
            <a:r>
              <a:rPr lang="en-US" sz="2400" dirty="0" err="1" smtClean="0"/>
              <a:t>eg</a:t>
            </a:r>
            <a:r>
              <a:rPr lang="en-US" sz="2400" dirty="0" smtClean="0"/>
              <a:t>.	</a:t>
            </a:r>
            <a:r>
              <a:rPr lang="en-US" sz="2400" dirty="0" err="1"/>
              <a:t>d</a:t>
            </a:r>
            <a:r>
              <a:rPr lang="en-US" sz="2400" dirty="0" err="1" smtClean="0"/>
              <a:t>ef</a:t>
            </a:r>
            <a:r>
              <a:rPr lang="en-US" sz="2400" dirty="0" smtClean="0"/>
              <a:t> sum(</a:t>
            </a:r>
            <a:r>
              <a:rPr lang="en-US" sz="2400" dirty="0" err="1" smtClean="0"/>
              <a:t>a,b</a:t>
            </a:r>
            <a:r>
              <a:rPr lang="en-US" sz="2400" dirty="0" smtClean="0"/>
              <a:t>):</a:t>
            </a:r>
          </a:p>
          <a:p>
            <a:pPr marL="0" indent="0">
              <a:buNone/>
            </a:pPr>
            <a:r>
              <a:rPr lang="en-US" sz="2400" dirty="0"/>
              <a:t>	</a:t>
            </a:r>
            <a:r>
              <a:rPr lang="en-US" sz="2400" dirty="0" smtClean="0"/>
              <a:t>	“”” This function adds two numbers”””</a:t>
            </a:r>
          </a:p>
          <a:p>
            <a:pPr marL="0" indent="0">
              <a:buNone/>
            </a:pPr>
            <a:r>
              <a:rPr lang="en-US" sz="2400" dirty="0" smtClean="0"/>
              <a:t>		c = </a:t>
            </a:r>
            <a:r>
              <a:rPr lang="en-US" sz="2400" dirty="0" err="1" smtClean="0"/>
              <a:t>a+b</a:t>
            </a:r>
            <a:endParaRPr lang="en-US" sz="2400" dirty="0" smtClean="0"/>
          </a:p>
          <a:p>
            <a:pPr marL="0" indent="0">
              <a:buNone/>
            </a:pPr>
            <a:r>
              <a:rPr lang="en-US" sz="2400" dirty="0"/>
              <a:t>	</a:t>
            </a:r>
            <a:r>
              <a:rPr lang="en-US" sz="2400" dirty="0" smtClean="0"/>
              <a:t>	print(c)</a:t>
            </a:r>
          </a:p>
          <a:p>
            <a:r>
              <a:rPr lang="en-US" sz="2400" dirty="0" smtClean="0"/>
              <a:t>During runtime a and b assume any type of data, this is called dynamic typing.</a:t>
            </a:r>
          </a:p>
          <a:p>
            <a:r>
              <a:rPr lang="en-US" sz="2400" dirty="0" smtClean="0"/>
              <a:t>In dynamic typing the type of data is determined only during runtime and not at compile time.</a:t>
            </a:r>
          </a:p>
          <a:p>
            <a:r>
              <a:rPr lang="en-US" sz="2400" dirty="0" smtClean="0"/>
              <a:t>It’s a feature of Python which is not available in any other languages.</a:t>
            </a:r>
            <a:r>
              <a:rPr lang="en-US" sz="2400" dirty="0"/>
              <a:t>	</a:t>
            </a:r>
            <a:endParaRPr lang="en-US" sz="2400" dirty="0" smtClean="0"/>
          </a:p>
        </p:txBody>
      </p:sp>
    </p:spTree>
    <p:extLst>
      <p:ext uri="{BB962C8B-B14F-4D97-AF65-F5344CB8AC3E}">
        <p14:creationId xmlns:p14="http://schemas.microsoft.com/office/powerpoint/2010/main" val="22550958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600" dirty="0" smtClean="0"/>
              <a:t>Returning multiple values from a function</a:t>
            </a:r>
            <a:endParaRPr lang="en-US" sz="3600" dirty="0"/>
          </a:p>
        </p:txBody>
      </p:sp>
      <p:sp>
        <p:nvSpPr>
          <p:cNvPr id="3" name="Content Placeholder 2"/>
          <p:cNvSpPr>
            <a:spLocks noGrp="1"/>
          </p:cNvSpPr>
          <p:nvPr>
            <p:ph idx="1"/>
          </p:nvPr>
        </p:nvSpPr>
        <p:spPr>
          <a:xfrm>
            <a:off x="457200" y="1122225"/>
            <a:ext cx="8229600" cy="5430975"/>
          </a:xfrm>
        </p:spPr>
        <p:txBody>
          <a:bodyPr>
            <a:noAutofit/>
          </a:bodyPr>
          <a:lstStyle/>
          <a:p>
            <a:r>
              <a:rPr lang="en-US" sz="2400" dirty="0" smtClean="0"/>
              <a:t>In Python a function can return multiple values, which is not possible in any other language.</a:t>
            </a:r>
          </a:p>
          <a:p>
            <a:r>
              <a:rPr lang="en-US" sz="2400" dirty="0" err="1" smtClean="0"/>
              <a:t>eg</a:t>
            </a:r>
            <a:r>
              <a:rPr lang="en-US" sz="2400" dirty="0" smtClean="0"/>
              <a:t>.	return a, b, c</a:t>
            </a:r>
          </a:p>
          <a:p>
            <a:r>
              <a:rPr lang="en-US" sz="2400" dirty="0" smtClean="0"/>
              <a:t>These values are returned by the function as a tuple</a:t>
            </a:r>
          </a:p>
          <a:p>
            <a:r>
              <a:rPr lang="en-US" sz="2400" dirty="0" smtClean="0"/>
              <a:t>To grab these values we require that many variable at the time of calling a function.</a:t>
            </a:r>
          </a:p>
          <a:p>
            <a:r>
              <a:rPr lang="en-US" sz="2400" dirty="0" err="1" smtClean="0"/>
              <a:t>eg</a:t>
            </a:r>
            <a:r>
              <a:rPr lang="en-US" sz="2400" dirty="0" smtClean="0"/>
              <a:t>.	X, y, z = </a:t>
            </a:r>
            <a:r>
              <a:rPr lang="en-US" sz="2400" dirty="0" err="1" smtClean="0"/>
              <a:t>funName</a:t>
            </a:r>
            <a:r>
              <a:rPr lang="en-US" sz="2400" smtClean="0"/>
              <a:t>()</a:t>
            </a:r>
          </a:p>
          <a:p>
            <a:endParaRPr lang="en-US" sz="2400" dirty="0" smtClean="0"/>
          </a:p>
          <a:p>
            <a:r>
              <a:rPr lang="en-US" sz="2400" dirty="0" smtClean="0"/>
              <a:t>Demo of tuple and dictionary object with function return</a:t>
            </a:r>
          </a:p>
        </p:txBody>
      </p:sp>
    </p:spTree>
    <p:extLst>
      <p:ext uri="{BB962C8B-B14F-4D97-AF65-F5344CB8AC3E}">
        <p14:creationId xmlns:p14="http://schemas.microsoft.com/office/powerpoint/2010/main" val="3492668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600" dirty="0" smtClean="0"/>
              <a:t>Functions are Class Object</a:t>
            </a:r>
            <a:endParaRPr lang="en-US" sz="3600" dirty="0"/>
          </a:p>
        </p:txBody>
      </p:sp>
      <p:sp>
        <p:nvSpPr>
          <p:cNvPr id="3" name="Content Placeholder 2"/>
          <p:cNvSpPr>
            <a:spLocks noGrp="1"/>
          </p:cNvSpPr>
          <p:nvPr>
            <p:ph idx="1"/>
          </p:nvPr>
        </p:nvSpPr>
        <p:spPr>
          <a:xfrm>
            <a:off x="457200" y="1122225"/>
            <a:ext cx="8229600" cy="5430975"/>
          </a:xfrm>
        </p:spPr>
        <p:txBody>
          <a:bodyPr>
            <a:noAutofit/>
          </a:bodyPr>
          <a:lstStyle/>
          <a:p>
            <a:r>
              <a:rPr lang="en-US" sz="2400" dirty="0" smtClean="0"/>
              <a:t>In Python functions are considered as a first class object means we can use function as a perfect object.</a:t>
            </a:r>
          </a:p>
          <a:p>
            <a:r>
              <a:rPr lang="en-US" sz="2400" dirty="0" smtClean="0"/>
              <a:t>When we create a function, the python interpreter internally creates an object.</a:t>
            </a:r>
          </a:p>
          <a:p>
            <a:r>
              <a:rPr lang="en-US" sz="2400" dirty="0" smtClean="0"/>
              <a:t>Since functions are objects:</a:t>
            </a:r>
          </a:p>
          <a:p>
            <a:r>
              <a:rPr lang="en-US" sz="2400" dirty="0" smtClean="0"/>
              <a:t>1) It is possible to assign a function to a variable</a:t>
            </a:r>
          </a:p>
          <a:p>
            <a:r>
              <a:rPr lang="en-US" sz="2400" dirty="0" smtClean="0"/>
              <a:t>2) Possible to define one function inside another function</a:t>
            </a:r>
          </a:p>
          <a:p>
            <a:r>
              <a:rPr lang="en-US" sz="2400" dirty="0" smtClean="0"/>
              <a:t>3) Possible to pass a function as a parameter to another function</a:t>
            </a:r>
          </a:p>
          <a:p>
            <a:r>
              <a:rPr lang="en-US" sz="2400" dirty="0" smtClean="0"/>
              <a:t>4) A function can return another function</a:t>
            </a:r>
          </a:p>
        </p:txBody>
      </p:sp>
    </p:spTree>
    <p:extLst>
      <p:ext uri="{BB962C8B-B14F-4D97-AF65-F5344CB8AC3E}">
        <p14:creationId xmlns:p14="http://schemas.microsoft.com/office/powerpoint/2010/main" val="2040542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39762"/>
          </a:xfrm>
        </p:spPr>
        <p:txBody>
          <a:bodyPr>
            <a:noAutofit/>
          </a:bodyPr>
          <a:lstStyle/>
          <a:p>
            <a:r>
              <a:rPr lang="en-US" sz="3600" dirty="0" smtClean="0"/>
              <a:t>Assign a function to a variable</a:t>
            </a:r>
            <a:endParaRPr lang="en-US" sz="3600" dirty="0"/>
          </a:p>
        </p:txBody>
      </p:sp>
      <p:sp>
        <p:nvSpPr>
          <p:cNvPr id="3" name="Content Placeholder 2"/>
          <p:cNvSpPr>
            <a:spLocks noGrp="1"/>
          </p:cNvSpPr>
          <p:nvPr>
            <p:ph idx="1"/>
          </p:nvPr>
        </p:nvSpPr>
        <p:spPr>
          <a:xfrm>
            <a:off x="457200" y="1676400"/>
            <a:ext cx="8229600" cy="4876800"/>
          </a:xfrm>
        </p:spPr>
        <p:txBody>
          <a:bodyPr>
            <a:noAutofit/>
          </a:bodyPr>
          <a:lstStyle/>
          <a:p>
            <a:pPr marL="0" indent="0">
              <a:buNone/>
            </a:pPr>
            <a:r>
              <a:rPr lang="en-US" sz="2800" dirty="0" err="1" smtClean="0"/>
              <a:t>def</a:t>
            </a:r>
            <a:r>
              <a:rPr lang="en-US" sz="2800" dirty="0" smtClean="0"/>
              <a:t> </a:t>
            </a:r>
            <a:r>
              <a:rPr lang="en-US" sz="2800" dirty="0" err="1" smtClean="0"/>
              <a:t>disp</a:t>
            </a:r>
            <a:r>
              <a:rPr lang="en-US" sz="2800" dirty="0" smtClean="0"/>
              <a:t>(</a:t>
            </a:r>
            <a:r>
              <a:rPr lang="en-US" sz="2800" dirty="0" err="1" smtClean="0"/>
              <a:t>str</a:t>
            </a:r>
            <a:r>
              <a:rPr lang="en-US" sz="2800" dirty="0" smtClean="0"/>
              <a:t>):</a:t>
            </a:r>
          </a:p>
          <a:p>
            <a:pPr marL="0" indent="0">
              <a:buNone/>
            </a:pPr>
            <a:r>
              <a:rPr lang="en-US" sz="2800" dirty="0"/>
              <a:t>	</a:t>
            </a:r>
            <a:r>
              <a:rPr lang="en-US" sz="2800" dirty="0" smtClean="0"/>
              <a:t>return “hi” + </a:t>
            </a:r>
            <a:r>
              <a:rPr lang="en-US" sz="2800" dirty="0" err="1" smtClean="0"/>
              <a:t>str</a:t>
            </a:r>
            <a:endParaRPr lang="en-US" sz="2800" dirty="0" smtClean="0"/>
          </a:p>
          <a:p>
            <a:pPr marL="0" indent="0">
              <a:buNone/>
            </a:pPr>
            <a:r>
              <a:rPr lang="en-US" sz="2800" dirty="0" err="1"/>
              <a:t>m</a:t>
            </a:r>
            <a:r>
              <a:rPr lang="en-US" sz="2800" dirty="0" err="1" smtClean="0"/>
              <a:t>sg</a:t>
            </a:r>
            <a:r>
              <a:rPr lang="en-US" sz="2800" dirty="0" smtClean="0"/>
              <a:t> = </a:t>
            </a:r>
            <a:r>
              <a:rPr lang="en-US" sz="2800" dirty="0" err="1" smtClean="0"/>
              <a:t>disp</a:t>
            </a:r>
            <a:r>
              <a:rPr lang="en-US" sz="2800" dirty="0" smtClean="0"/>
              <a:t>(“how r u”)</a:t>
            </a:r>
          </a:p>
          <a:p>
            <a:pPr marL="0" indent="0">
              <a:buNone/>
            </a:pPr>
            <a:r>
              <a:rPr lang="en-US" sz="2800" dirty="0" smtClean="0"/>
              <a:t>print(</a:t>
            </a:r>
            <a:r>
              <a:rPr lang="en-US" sz="2800" dirty="0" err="1" smtClean="0"/>
              <a:t>msg</a:t>
            </a:r>
            <a:r>
              <a:rPr lang="en-US" sz="2800" dirty="0" smtClean="0"/>
              <a:t>)</a:t>
            </a:r>
          </a:p>
          <a:p>
            <a:pPr marL="0" indent="0">
              <a:buNone/>
            </a:pPr>
            <a:endParaRPr lang="en-US" sz="2800" dirty="0" smtClean="0"/>
          </a:p>
        </p:txBody>
      </p:sp>
    </p:spTree>
    <p:extLst>
      <p:ext uri="{BB962C8B-B14F-4D97-AF65-F5344CB8AC3E}">
        <p14:creationId xmlns:p14="http://schemas.microsoft.com/office/powerpoint/2010/main" val="1405230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Defining a function inside another function</a:t>
            </a:r>
            <a:endParaRPr lang="en-US" sz="3600" dirty="0"/>
          </a:p>
        </p:txBody>
      </p:sp>
      <p:sp>
        <p:nvSpPr>
          <p:cNvPr id="3" name="Content Placeholder 2"/>
          <p:cNvSpPr>
            <a:spLocks noGrp="1"/>
          </p:cNvSpPr>
          <p:nvPr>
            <p:ph idx="1"/>
          </p:nvPr>
        </p:nvSpPr>
        <p:spPr/>
        <p:txBody>
          <a:bodyPr>
            <a:normAutofit/>
          </a:bodyPr>
          <a:lstStyle/>
          <a:p>
            <a:pPr marL="0" indent="0">
              <a:buNone/>
            </a:pPr>
            <a:r>
              <a:rPr lang="en-US" dirty="0" err="1"/>
              <a:t>def</a:t>
            </a:r>
            <a:r>
              <a:rPr lang="en-US" dirty="0"/>
              <a:t> </a:t>
            </a:r>
            <a:r>
              <a:rPr lang="en-US" dirty="0" err="1"/>
              <a:t>disp</a:t>
            </a:r>
            <a:r>
              <a:rPr lang="en-US" dirty="0"/>
              <a:t>(</a:t>
            </a:r>
            <a:r>
              <a:rPr lang="en-US" dirty="0" err="1"/>
              <a:t>str</a:t>
            </a:r>
            <a:r>
              <a:rPr lang="en-US" dirty="0" smtClean="0"/>
              <a:t>):</a:t>
            </a:r>
          </a:p>
          <a:p>
            <a:pPr marL="0" indent="0">
              <a:buNone/>
            </a:pPr>
            <a:r>
              <a:rPr lang="en-US" dirty="0"/>
              <a:t>	</a:t>
            </a:r>
            <a:r>
              <a:rPr lang="en-US" dirty="0" err="1" smtClean="0"/>
              <a:t>def</a:t>
            </a:r>
            <a:r>
              <a:rPr lang="en-US" dirty="0" smtClean="0"/>
              <a:t> message():</a:t>
            </a:r>
          </a:p>
          <a:p>
            <a:pPr marL="0" indent="0">
              <a:buNone/>
            </a:pPr>
            <a:r>
              <a:rPr lang="en-US" dirty="0"/>
              <a:t>		return </a:t>
            </a:r>
            <a:r>
              <a:rPr lang="en-US" dirty="0" smtClean="0"/>
              <a:t>“How r u”</a:t>
            </a:r>
          </a:p>
          <a:p>
            <a:pPr marL="0" indent="0">
              <a:buNone/>
            </a:pPr>
            <a:r>
              <a:rPr lang="en-US" dirty="0"/>
              <a:t>	</a:t>
            </a:r>
            <a:r>
              <a:rPr lang="en-US" dirty="0" smtClean="0"/>
              <a:t>result = message() + </a:t>
            </a:r>
            <a:r>
              <a:rPr lang="en-US" dirty="0" err="1" smtClean="0"/>
              <a:t>str</a:t>
            </a:r>
            <a:endParaRPr lang="en-US" dirty="0" smtClean="0"/>
          </a:p>
          <a:p>
            <a:pPr marL="0" indent="0">
              <a:buNone/>
            </a:pPr>
            <a:r>
              <a:rPr lang="en-US" dirty="0" smtClean="0"/>
              <a:t>	return result</a:t>
            </a:r>
            <a:endParaRPr lang="en-US" dirty="0"/>
          </a:p>
          <a:p>
            <a:pPr marL="0" indent="0">
              <a:buNone/>
            </a:pPr>
            <a:r>
              <a:rPr lang="en-US" dirty="0" err="1"/>
              <a:t>msg</a:t>
            </a:r>
            <a:r>
              <a:rPr lang="en-US" dirty="0"/>
              <a:t> = </a:t>
            </a:r>
            <a:r>
              <a:rPr lang="en-US" dirty="0" err="1"/>
              <a:t>disp</a:t>
            </a:r>
            <a:r>
              <a:rPr lang="en-US" dirty="0" smtClean="0"/>
              <a:t>(“Krishna”)</a:t>
            </a:r>
            <a:endParaRPr lang="en-US" dirty="0"/>
          </a:p>
          <a:p>
            <a:pPr marL="0" indent="0">
              <a:buNone/>
            </a:pPr>
            <a:r>
              <a:rPr lang="en-US" dirty="0"/>
              <a:t>print(</a:t>
            </a:r>
            <a:r>
              <a:rPr lang="en-US" dirty="0" err="1"/>
              <a:t>msg</a:t>
            </a:r>
            <a:r>
              <a:rPr lang="en-US" dirty="0"/>
              <a:t>)</a:t>
            </a:r>
          </a:p>
          <a:p>
            <a:endParaRPr lang="en-US" dirty="0"/>
          </a:p>
        </p:txBody>
      </p:sp>
    </p:spTree>
    <p:extLst>
      <p:ext uri="{BB962C8B-B14F-4D97-AF65-F5344CB8AC3E}">
        <p14:creationId xmlns:p14="http://schemas.microsoft.com/office/powerpoint/2010/main" val="16529924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686800" cy="914400"/>
          </a:xfrm>
        </p:spPr>
        <p:txBody>
          <a:bodyPr>
            <a:noAutofit/>
          </a:bodyPr>
          <a:lstStyle/>
          <a:p>
            <a:r>
              <a:rPr lang="en-US" sz="3600" dirty="0" smtClean="0"/>
              <a:t>Pass a function as a parameter to another function</a:t>
            </a:r>
            <a:endParaRPr lang="en-US" sz="3600" dirty="0"/>
          </a:p>
        </p:txBody>
      </p:sp>
      <p:sp>
        <p:nvSpPr>
          <p:cNvPr id="3" name="Content Placeholder 2"/>
          <p:cNvSpPr>
            <a:spLocks noGrp="1"/>
          </p:cNvSpPr>
          <p:nvPr>
            <p:ph idx="1"/>
          </p:nvPr>
        </p:nvSpPr>
        <p:spPr>
          <a:xfrm>
            <a:off x="457200" y="1981200"/>
            <a:ext cx="8229600" cy="4144963"/>
          </a:xfrm>
        </p:spPr>
        <p:txBody>
          <a:bodyPr>
            <a:normAutofit/>
          </a:bodyPr>
          <a:lstStyle/>
          <a:p>
            <a:pPr marL="0" indent="0">
              <a:buNone/>
            </a:pPr>
            <a:r>
              <a:rPr lang="en-US" dirty="0" err="1"/>
              <a:t>def</a:t>
            </a:r>
            <a:r>
              <a:rPr lang="en-US" dirty="0"/>
              <a:t> </a:t>
            </a:r>
            <a:r>
              <a:rPr lang="en-US" dirty="0" err="1" smtClean="0"/>
              <a:t>disp</a:t>
            </a:r>
            <a:r>
              <a:rPr lang="en-US" dirty="0" smtClean="0"/>
              <a:t>(fun):</a:t>
            </a:r>
          </a:p>
          <a:p>
            <a:pPr marL="0" indent="0">
              <a:buNone/>
            </a:pPr>
            <a:r>
              <a:rPr lang="en-US" dirty="0"/>
              <a:t>	</a:t>
            </a:r>
            <a:r>
              <a:rPr lang="en-US" dirty="0" smtClean="0"/>
              <a:t>return “hi…! ” + fun</a:t>
            </a:r>
          </a:p>
          <a:p>
            <a:pPr marL="0" indent="0">
              <a:buNone/>
            </a:pPr>
            <a:r>
              <a:rPr lang="en-US" dirty="0" err="1"/>
              <a:t>d</a:t>
            </a:r>
            <a:r>
              <a:rPr lang="en-US" dirty="0" err="1" smtClean="0"/>
              <a:t>ef</a:t>
            </a:r>
            <a:r>
              <a:rPr lang="en-US" dirty="0" smtClean="0"/>
              <a:t> message():</a:t>
            </a:r>
          </a:p>
          <a:p>
            <a:pPr marL="0" indent="0">
              <a:buNone/>
            </a:pPr>
            <a:r>
              <a:rPr lang="en-US" dirty="0"/>
              <a:t>	</a:t>
            </a:r>
            <a:r>
              <a:rPr lang="en-US" dirty="0" smtClean="0"/>
              <a:t>return “how r u?”</a:t>
            </a:r>
            <a:r>
              <a:rPr lang="en-US" dirty="0"/>
              <a:t>	</a:t>
            </a:r>
            <a:endParaRPr lang="en-US" dirty="0" smtClean="0"/>
          </a:p>
          <a:p>
            <a:pPr marL="0" indent="0">
              <a:buNone/>
            </a:pPr>
            <a:r>
              <a:rPr lang="en-US" dirty="0" err="1" smtClean="0"/>
              <a:t>msg</a:t>
            </a:r>
            <a:r>
              <a:rPr lang="en-US" dirty="0" smtClean="0"/>
              <a:t> </a:t>
            </a:r>
            <a:r>
              <a:rPr lang="en-US" dirty="0"/>
              <a:t>= </a:t>
            </a:r>
            <a:r>
              <a:rPr lang="en-US" dirty="0" err="1" smtClean="0"/>
              <a:t>disp</a:t>
            </a:r>
            <a:r>
              <a:rPr lang="en-US" dirty="0" smtClean="0"/>
              <a:t>(message())</a:t>
            </a:r>
            <a:endParaRPr lang="en-US" dirty="0"/>
          </a:p>
          <a:p>
            <a:pPr marL="0" indent="0">
              <a:buNone/>
            </a:pPr>
            <a:r>
              <a:rPr lang="en-US" dirty="0"/>
              <a:t>print(</a:t>
            </a:r>
            <a:r>
              <a:rPr lang="en-US" dirty="0" err="1"/>
              <a:t>msg</a:t>
            </a:r>
            <a:r>
              <a:rPr lang="en-US" dirty="0"/>
              <a:t>)</a:t>
            </a:r>
          </a:p>
          <a:p>
            <a:endParaRPr lang="en-US" dirty="0"/>
          </a:p>
        </p:txBody>
      </p:sp>
    </p:spTree>
    <p:extLst>
      <p:ext uri="{BB962C8B-B14F-4D97-AF65-F5344CB8AC3E}">
        <p14:creationId xmlns:p14="http://schemas.microsoft.com/office/powerpoint/2010/main" val="279710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Function can return another function</a:t>
            </a:r>
            <a:endParaRPr lang="en-US" dirty="0"/>
          </a:p>
        </p:txBody>
      </p:sp>
      <p:sp>
        <p:nvSpPr>
          <p:cNvPr id="3" name="Content Placeholder 2"/>
          <p:cNvSpPr>
            <a:spLocks noGrp="1"/>
          </p:cNvSpPr>
          <p:nvPr>
            <p:ph idx="1"/>
          </p:nvPr>
        </p:nvSpPr>
        <p:spPr/>
        <p:txBody>
          <a:bodyPr/>
          <a:lstStyle/>
          <a:p>
            <a:pPr marL="0" indent="0">
              <a:buNone/>
            </a:pPr>
            <a:r>
              <a:rPr lang="en-US" dirty="0" err="1" smtClean="0"/>
              <a:t>def</a:t>
            </a:r>
            <a:r>
              <a:rPr lang="en-US" dirty="0" smtClean="0"/>
              <a:t> </a:t>
            </a:r>
            <a:r>
              <a:rPr lang="en-US" dirty="0" err="1" smtClean="0"/>
              <a:t>disp</a:t>
            </a:r>
            <a:r>
              <a:rPr lang="en-US" dirty="0" smtClean="0"/>
              <a:t>():</a:t>
            </a:r>
          </a:p>
          <a:p>
            <a:pPr marL="0" indent="0">
              <a:buNone/>
            </a:pPr>
            <a:r>
              <a:rPr lang="en-US" dirty="0"/>
              <a:t>	</a:t>
            </a:r>
            <a:r>
              <a:rPr lang="en-US" dirty="0" err="1" smtClean="0"/>
              <a:t>def</a:t>
            </a:r>
            <a:r>
              <a:rPr lang="en-US" dirty="0" smtClean="0"/>
              <a:t> </a:t>
            </a:r>
            <a:r>
              <a:rPr lang="en-US" dirty="0" err="1" smtClean="0"/>
              <a:t>msg</a:t>
            </a:r>
            <a:r>
              <a:rPr lang="en-US" dirty="0" smtClean="0"/>
              <a:t>():</a:t>
            </a:r>
          </a:p>
          <a:p>
            <a:pPr marL="0" indent="0">
              <a:buNone/>
            </a:pPr>
            <a:r>
              <a:rPr lang="en-US" dirty="0"/>
              <a:t>	</a:t>
            </a:r>
            <a:r>
              <a:rPr lang="en-US" dirty="0" smtClean="0"/>
              <a:t>	return “Hello All…”</a:t>
            </a:r>
          </a:p>
          <a:p>
            <a:pPr marL="0" indent="0">
              <a:buNone/>
            </a:pPr>
            <a:r>
              <a:rPr lang="en-US" dirty="0"/>
              <a:t>	</a:t>
            </a:r>
            <a:r>
              <a:rPr lang="en-US" dirty="0" smtClean="0"/>
              <a:t>return </a:t>
            </a:r>
            <a:r>
              <a:rPr lang="en-US" dirty="0" err="1" smtClean="0"/>
              <a:t>msg</a:t>
            </a:r>
            <a:endParaRPr lang="en-US" dirty="0" smtClean="0"/>
          </a:p>
          <a:p>
            <a:pPr marL="0" indent="0">
              <a:buNone/>
            </a:pPr>
            <a:r>
              <a:rPr lang="en-US" dirty="0"/>
              <a:t>f</a:t>
            </a:r>
            <a:r>
              <a:rPr lang="en-US" dirty="0" smtClean="0"/>
              <a:t>un = </a:t>
            </a:r>
            <a:r>
              <a:rPr lang="en-US" dirty="0" err="1" smtClean="0"/>
              <a:t>disp</a:t>
            </a:r>
            <a:r>
              <a:rPr lang="en-US" dirty="0" smtClean="0"/>
              <a:t>()</a:t>
            </a:r>
          </a:p>
          <a:p>
            <a:pPr marL="0" indent="0">
              <a:buNone/>
            </a:pPr>
            <a:r>
              <a:rPr lang="en-US" dirty="0" smtClean="0"/>
              <a:t>Print(fun())</a:t>
            </a:r>
          </a:p>
          <a:p>
            <a:pPr marL="0" indent="0">
              <a:buNone/>
            </a:pPr>
            <a:endParaRPr lang="en-US" dirty="0"/>
          </a:p>
        </p:txBody>
      </p:sp>
    </p:spTree>
    <p:extLst>
      <p:ext uri="{BB962C8B-B14F-4D97-AF65-F5344CB8AC3E}">
        <p14:creationId xmlns:p14="http://schemas.microsoft.com/office/powerpoint/2010/main" val="3617573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US" dirty="0" smtClean="0"/>
              <a:t>Pass by Object Reference</a:t>
            </a:r>
            <a:endParaRPr lang="en-US" dirty="0"/>
          </a:p>
        </p:txBody>
      </p:sp>
      <p:sp>
        <p:nvSpPr>
          <p:cNvPr id="3" name="Content Placeholder 2"/>
          <p:cNvSpPr>
            <a:spLocks noGrp="1"/>
          </p:cNvSpPr>
          <p:nvPr>
            <p:ph idx="1"/>
          </p:nvPr>
        </p:nvSpPr>
        <p:spPr>
          <a:xfrm>
            <a:off x="457200" y="990600"/>
            <a:ext cx="8229600" cy="5562600"/>
          </a:xfrm>
        </p:spPr>
        <p:txBody>
          <a:bodyPr>
            <a:normAutofit lnSpcReduction="10000"/>
          </a:bodyPr>
          <a:lstStyle/>
          <a:p>
            <a:r>
              <a:rPr lang="en-US" dirty="0" smtClean="0"/>
              <a:t>In any other language Pass by Value / Call by value is different than Pass by reference / call by reference</a:t>
            </a:r>
          </a:p>
          <a:p>
            <a:r>
              <a:rPr lang="en-US" dirty="0" smtClean="0"/>
              <a:t>But in Python this is not the case </a:t>
            </a:r>
            <a:r>
              <a:rPr lang="en-US" sz="2400" dirty="0" smtClean="0"/>
              <a:t>(not applicable)</a:t>
            </a:r>
          </a:p>
          <a:p>
            <a:r>
              <a:rPr lang="en-US" dirty="0" smtClean="0"/>
              <a:t> In Python the values are sent to functions by means of Object Reference</a:t>
            </a:r>
          </a:p>
          <a:p>
            <a:r>
              <a:rPr lang="en-US" dirty="0" smtClean="0"/>
              <a:t>Everything is considered as an Object in Python (Numbers, Strings, </a:t>
            </a:r>
            <a:r>
              <a:rPr lang="en-US" dirty="0" err="1" smtClean="0"/>
              <a:t>datatypes</a:t>
            </a:r>
            <a:r>
              <a:rPr lang="en-US" dirty="0" smtClean="0"/>
              <a:t> like tuples, list and dictionaries are all objects)</a:t>
            </a:r>
          </a:p>
          <a:p>
            <a:r>
              <a:rPr lang="en-US" dirty="0" smtClean="0"/>
              <a:t>Object can be imagined as a memory block where some value can be stored</a:t>
            </a:r>
            <a:endParaRPr lang="en-US" dirty="0"/>
          </a:p>
        </p:txBody>
      </p:sp>
    </p:spTree>
    <p:extLst>
      <p:ext uri="{BB962C8B-B14F-4D97-AF65-F5344CB8AC3E}">
        <p14:creationId xmlns:p14="http://schemas.microsoft.com/office/powerpoint/2010/main" val="2590433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dirty="0" smtClean="0"/>
              <a:t>Suppose X=10, so 10 is the object and ‘X’ is the name or tag given to that object.</a:t>
            </a:r>
          </a:p>
          <a:p>
            <a:r>
              <a:rPr lang="en-US" dirty="0" smtClean="0"/>
              <a:t>Objects are created on heap memory (very huge memory, depends on RAM)</a:t>
            </a:r>
          </a:p>
          <a:p>
            <a:r>
              <a:rPr lang="en-US" dirty="0" smtClean="0"/>
              <a:t>Heap memory is available during runtime of a program</a:t>
            </a:r>
          </a:p>
          <a:p>
            <a:r>
              <a:rPr lang="en-US" dirty="0" smtClean="0"/>
              <a:t>To know the location of an object in heap, we can use id() function – Identity of an Object</a:t>
            </a:r>
          </a:p>
          <a:p>
            <a:r>
              <a:rPr lang="en-US" dirty="0" err="1" smtClean="0"/>
              <a:t>eg</a:t>
            </a:r>
            <a:r>
              <a:rPr lang="en-US" dirty="0" smtClean="0"/>
              <a:t>. id(X) will </a:t>
            </a:r>
            <a:r>
              <a:rPr lang="en-US" dirty="0"/>
              <a:t>display </a:t>
            </a:r>
            <a:r>
              <a:rPr lang="en-US" dirty="0" smtClean="0"/>
              <a:t>1496999232</a:t>
            </a:r>
          </a:p>
          <a:p>
            <a:r>
              <a:rPr lang="en-US" dirty="0" smtClean="0"/>
              <a:t>So, when we pass values like numbers, string, tuple or list to a function the reference of these objects are passed to the function</a:t>
            </a:r>
            <a:endParaRPr lang="en-US" dirty="0"/>
          </a:p>
        </p:txBody>
      </p:sp>
    </p:spTree>
    <p:extLst>
      <p:ext uri="{BB962C8B-B14F-4D97-AF65-F5344CB8AC3E}">
        <p14:creationId xmlns:p14="http://schemas.microsoft.com/office/powerpoint/2010/main" val="22765909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25580"/>
            <a:ext cx="8229600" cy="6318130"/>
          </a:xfrm>
        </p:spPr>
        <p:txBody>
          <a:bodyPr>
            <a:noAutofit/>
          </a:bodyPr>
          <a:lstStyle/>
          <a:p>
            <a:pPr marL="0" indent="0">
              <a:buNone/>
            </a:pPr>
            <a:r>
              <a:rPr lang="en-US" sz="2200" dirty="0" err="1"/>
              <a:t>d</a:t>
            </a:r>
            <a:r>
              <a:rPr lang="en-US" sz="2200" dirty="0" err="1" smtClean="0"/>
              <a:t>ef</a:t>
            </a:r>
            <a:r>
              <a:rPr lang="en-US" sz="2200" dirty="0" smtClean="0"/>
              <a:t> modify(x):</a:t>
            </a:r>
          </a:p>
          <a:p>
            <a:pPr marL="0" indent="0">
              <a:buNone/>
            </a:pPr>
            <a:r>
              <a:rPr lang="en-US" sz="2200" dirty="0" smtClean="0"/>
              <a:t>	x=15</a:t>
            </a:r>
          </a:p>
          <a:p>
            <a:pPr marL="0" indent="0">
              <a:buNone/>
            </a:pPr>
            <a:r>
              <a:rPr lang="en-US" sz="2200" dirty="0"/>
              <a:t>	</a:t>
            </a:r>
            <a:r>
              <a:rPr lang="en-US" sz="2200" dirty="0" smtClean="0"/>
              <a:t>print(id(x))</a:t>
            </a:r>
          </a:p>
          <a:p>
            <a:pPr marL="0" indent="0">
              <a:buNone/>
            </a:pPr>
            <a:r>
              <a:rPr lang="en-US" sz="2200" dirty="0"/>
              <a:t>x</a:t>
            </a:r>
            <a:r>
              <a:rPr lang="en-US" sz="2200" dirty="0" smtClean="0"/>
              <a:t>=10</a:t>
            </a:r>
          </a:p>
          <a:p>
            <a:pPr marL="0" indent="0">
              <a:buNone/>
            </a:pPr>
            <a:r>
              <a:rPr lang="en-US" sz="2200" dirty="0" smtClean="0"/>
              <a:t>modify(x)</a:t>
            </a:r>
          </a:p>
          <a:p>
            <a:pPr marL="0" indent="0">
              <a:buNone/>
            </a:pPr>
            <a:r>
              <a:rPr lang="en-US" sz="2200" dirty="0" smtClean="0"/>
              <a:t>Print(id(x)</a:t>
            </a:r>
          </a:p>
          <a:p>
            <a:pPr marL="0" indent="0">
              <a:buNone/>
            </a:pPr>
            <a:endParaRPr lang="en-US" sz="2200" dirty="0" smtClean="0"/>
          </a:p>
          <a:p>
            <a:r>
              <a:rPr lang="en-US" sz="2000" dirty="0" smtClean="0"/>
              <a:t>Integers are immutable so another object 15 will be created in the memory, </a:t>
            </a:r>
          </a:p>
          <a:p>
            <a:r>
              <a:rPr lang="en-US" sz="2000" dirty="0" smtClean="0"/>
              <a:t>Thus two different id’s will be printed.</a:t>
            </a:r>
          </a:p>
          <a:p>
            <a:r>
              <a:rPr lang="en-US" sz="2000" dirty="0" smtClean="0"/>
              <a:t>This is not the case with any other mutable object.</a:t>
            </a:r>
          </a:p>
          <a:p>
            <a:r>
              <a:rPr lang="en-US" sz="2000" dirty="0" smtClean="0"/>
              <a:t>Thus, in Python, values are passed to a function by object reference</a:t>
            </a:r>
          </a:p>
          <a:p>
            <a:r>
              <a:rPr lang="en-US" sz="2000" dirty="0" smtClean="0"/>
              <a:t>If object is immutable, the modified values are not available outside the function.</a:t>
            </a:r>
          </a:p>
          <a:p>
            <a:r>
              <a:rPr lang="en-US" sz="2000" dirty="0"/>
              <a:t>If object is </a:t>
            </a:r>
            <a:r>
              <a:rPr lang="en-US" sz="2000" dirty="0" smtClean="0"/>
              <a:t>mutable</a:t>
            </a:r>
            <a:r>
              <a:rPr lang="en-US" sz="2000" dirty="0"/>
              <a:t>, the modified values are </a:t>
            </a:r>
            <a:r>
              <a:rPr lang="en-US" sz="2000" dirty="0" smtClean="0"/>
              <a:t>also </a:t>
            </a:r>
            <a:r>
              <a:rPr lang="en-US" sz="2000" dirty="0"/>
              <a:t>available outside the </a:t>
            </a:r>
            <a:r>
              <a:rPr lang="en-US" sz="2000" dirty="0" smtClean="0"/>
              <a:t>function.</a:t>
            </a:r>
          </a:p>
          <a:p>
            <a:r>
              <a:rPr lang="en-US" sz="2000" dirty="0" smtClean="0"/>
              <a:t>If function create a new object in function does not modify outside object</a:t>
            </a:r>
            <a:endParaRPr lang="en-US" sz="2000" dirty="0"/>
          </a:p>
          <a:p>
            <a:endParaRPr lang="en-US" sz="2300" dirty="0" smtClean="0"/>
          </a:p>
          <a:p>
            <a:pPr marL="0" indent="0">
              <a:buNone/>
            </a:pPr>
            <a:r>
              <a:rPr lang="en-US" sz="2300" dirty="0" smtClean="0"/>
              <a:t> </a:t>
            </a:r>
            <a:endParaRPr lang="en-US" sz="2300" dirty="0"/>
          </a:p>
        </p:txBody>
      </p:sp>
      <p:sp>
        <p:nvSpPr>
          <p:cNvPr id="2" name="TextBox 1"/>
          <p:cNvSpPr txBox="1"/>
          <p:nvPr/>
        </p:nvSpPr>
        <p:spPr>
          <a:xfrm>
            <a:off x="4800600" y="383369"/>
            <a:ext cx="3581400" cy="2123658"/>
          </a:xfrm>
          <a:prstGeom prst="rect">
            <a:avLst/>
          </a:prstGeom>
          <a:noFill/>
        </p:spPr>
        <p:txBody>
          <a:bodyPr wrap="square" rtlCol="0">
            <a:spAutoFit/>
          </a:bodyPr>
          <a:lstStyle/>
          <a:p>
            <a:r>
              <a:rPr lang="en-US" sz="2200" dirty="0" err="1" smtClean="0"/>
              <a:t>def</a:t>
            </a:r>
            <a:r>
              <a:rPr lang="en-US" sz="2200" dirty="0" smtClean="0"/>
              <a:t> modify1(</a:t>
            </a:r>
            <a:r>
              <a:rPr lang="en-US" sz="2200" dirty="0" err="1" smtClean="0"/>
              <a:t>lst</a:t>
            </a:r>
            <a:r>
              <a:rPr lang="en-US" sz="2200" dirty="0" smtClean="0"/>
              <a:t>):</a:t>
            </a:r>
          </a:p>
          <a:p>
            <a:r>
              <a:rPr lang="en-US" sz="2200" dirty="0"/>
              <a:t>	</a:t>
            </a:r>
            <a:r>
              <a:rPr lang="en-US" sz="2200" dirty="0" err="1" smtClean="0"/>
              <a:t>lst.append</a:t>
            </a:r>
            <a:r>
              <a:rPr lang="en-US" sz="2200" dirty="0" smtClean="0"/>
              <a:t>(5)</a:t>
            </a:r>
          </a:p>
          <a:p>
            <a:r>
              <a:rPr lang="en-US" sz="2200" dirty="0"/>
              <a:t>	</a:t>
            </a:r>
            <a:r>
              <a:rPr lang="en-US" sz="2200" dirty="0" smtClean="0"/>
              <a:t>print(</a:t>
            </a:r>
            <a:r>
              <a:rPr lang="en-US" sz="2200" dirty="0" err="1" smtClean="0"/>
              <a:t>lst</a:t>
            </a:r>
            <a:r>
              <a:rPr lang="en-US" sz="2200" dirty="0" smtClean="0"/>
              <a:t>)</a:t>
            </a:r>
          </a:p>
          <a:p>
            <a:r>
              <a:rPr lang="en-US" sz="2200" dirty="0" err="1"/>
              <a:t>l</a:t>
            </a:r>
            <a:r>
              <a:rPr lang="en-US" sz="2200" dirty="0" err="1" smtClean="0"/>
              <a:t>st</a:t>
            </a:r>
            <a:r>
              <a:rPr lang="en-US" sz="2200" dirty="0" smtClean="0"/>
              <a:t> = [1,2,3,4]</a:t>
            </a:r>
          </a:p>
          <a:p>
            <a:r>
              <a:rPr lang="en-US" sz="2200" dirty="0"/>
              <a:t>m</a:t>
            </a:r>
            <a:r>
              <a:rPr lang="en-US" sz="2200" dirty="0" smtClean="0"/>
              <a:t>odify1(</a:t>
            </a:r>
            <a:r>
              <a:rPr lang="en-US" sz="2200" dirty="0" err="1" smtClean="0"/>
              <a:t>lst</a:t>
            </a:r>
            <a:r>
              <a:rPr lang="en-US" sz="2200" dirty="0" smtClean="0"/>
              <a:t>)</a:t>
            </a:r>
          </a:p>
          <a:p>
            <a:r>
              <a:rPr lang="en-US" sz="2200" dirty="0"/>
              <a:t>p</a:t>
            </a:r>
            <a:r>
              <a:rPr lang="en-US" sz="2200" dirty="0" smtClean="0"/>
              <a:t>rint(</a:t>
            </a:r>
            <a:r>
              <a:rPr lang="en-US" sz="2200" dirty="0" err="1" smtClean="0"/>
              <a:t>lst</a:t>
            </a:r>
            <a:r>
              <a:rPr lang="en-US" sz="2200" dirty="0" smtClean="0"/>
              <a:t>) </a:t>
            </a:r>
            <a:endParaRPr lang="en-US" sz="2200" dirty="0"/>
          </a:p>
        </p:txBody>
      </p:sp>
    </p:spTree>
    <p:extLst>
      <p:ext uri="{BB962C8B-B14F-4D97-AF65-F5344CB8AC3E}">
        <p14:creationId xmlns:p14="http://schemas.microsoft.com/office/powerpoint/2010/main" val="37801880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Arguments in Python</a:t>
            </a:r>
            <a:endParaRPr lang="en-US" dirty="0"/>
          </a:p>
        </p:txBody>
      </p:sp>
      <p:sp>
        <p:nvSpPr>
          <p:cNvPr id="3" name="Content Placeholder 2"/>
          <p:cNvSpPr>
            <a:spLocks noGrp="1"/>
          </p:cNvSpPr>
          <p:nvPr>
            <p:ph idx="1"/>
          </p:nvPr>
        </p:nvSpPr>
        <p:spPr/>
        <p:txBody>
          <a:bodyPr/>
          <a:lstStyle/>
          <a:p>
            <a:r>
              <a:rPr lang="en-US" dirty="0" smtClean="0"/>
              <a:t>Formal Arguments</a:t>
            </a:r>
          </a:p>
          <a:p>
            <a:r>
              <a:rPr lang="en-US" dirty="0" smtClean="0"/>
              <a:t>Positional Arguments</a:t>
            </a:r>
          </a:p>
          <a:p>
            <a:r>
              <a:rPr lang="en-US" dirty="0" smtClean="0"/>
              <a:t>Keyword Arguments</a:t>
            </a:r>
          </a:p>
          <a:p>
            <a:r>
              <a:rPr lang="en-US" dirty="0" smtClean="0"/>
              <a:t>Default Arguments</a:t>
            </a:r>
          </a:p>
          <a:p>
            <a:r>
              <a:rPr lang="en-US" dirty="0" smtClean="0"/>
              <a:t>Variable length Arguments</a:t>
            </a:r>
          </a:p>
          <a:p>
            <a:endParaRPr lang="en-US" dirty="0"/>
          </a:p>
        </p:txBody>
      </p:sp>
    </p:spTree>
    <p:extLst>
      <p:ext uri="{BB962C8B-B14F-4D97-AF65-F5344CB8AC3E}">
        <p14:creationId xmlns:p14="http://schemas.microsoft.com/office/powerpoint/2010/main" val="2645322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US" dirty="0" smtClean="0"/>
              <a:t>Local and Global Variables</a:t>
            </a:r>
            <a:endParaRPr lang="en-US" dirty="0"/>
          </a:p>
        </p:txBody>
      </p:sp>
      <p:sp>
        <p:nvSpPr>
          <p:cNvPr id="3" name="Content Placeholder 2"/>
          <p:cNvSpPr>
            <a:spLocks noGrp="1"/>
          </p:cNvSpPr>
          <p:nvPr>
            <p:ph idx="1"/>
          </p:nvPr>
        </p:nvSpPr>
        <p:spPr>
          <a:xfrm>
            <a:off x="457200" y="1066800"/>
            <a:ext cx="8229600" cy="5486400"/>
          </a:xfrm>
        </p:spPr>
        <p:txBody>
          <a:bodyPr>
            <a:normAutofit/>
          </a:bodyPr>
          <a:lstStyle/>
          <a:p>
            <a:r>
              <a:rPr lang="en-US" sz="2000" dirty="0" smtClean="0"/>
              <a:t>Variable inside a function becomes a local variable, whose scope is limited where it is created.</a:t>
            </a:r>
          </a:p>
          <a:p>
            <a:r>
              <a:rPr lang="en-US" sz="2000" dirty="0" smtClean="0"/>
              <a:t>Sometime the global variable and the local variable may have the same name, in that case the function by default refers to the local variable and ignores the global variable (declared outside the before the function).</a:t>
            </a:r>
          </a:p>
          <a:p>
            <a:r>
              <a:rPr lang="en-US" sz="2000" dirty="0" smtClean="0"/>
              <a:t>When we want to use the global variable inside the function, we have to use “global” keyword before the variable name and at the beginning of the function body. As    global x </a:t>
            </a:r>
          </a:p>
          <a:p>
            <a:r>
              <a:rPr lang="en-US" sz="2000" dirty="0" smtClean="0"/>
              <a:t>When the global and local variable names are same, programmer will face difficulty in differentiating them.</a:t>
            </a:r>
          </a:p>
          <a:p>
            <a:r>
              <a:rPr lang="en-US" sz="2000" dirty="0" smtClean="0"/>
              <a:t>If he uses “global”  keyword then only can access global variable and not the local variable</a:t>
            </a:r>
          </a:p>
          <a:p>
            <a:r>
              <a:rPr lang="en-US" sz="2000" dirty="0" smtClean="0"/>
              <a:t>The </a:t>
            </a:r>
            <a:r>
              <a:rPr lang="en-US" sz="2000" dirty="0" err="1" smtClean="0"/>
              <a:t>globals</a:t>
            </a:r>
            <a:r>
              <a:rPr lang="en-US" sz="2000" dirty="0" smtClean="0"/>
              <a:t>() function will solve the problem</a:t>
            </a:r>
          </a:p>
          <a:p>
            <a:r>
              <a:rPr lang="en-US" sz="2000" dirty="0" smtClean="0"/>
              <a:t>This is a built in function which returns a table of current global variables in the form of a dictionary.</a:t>
            </a:r>
          </a:p>
          <a:p>
            <a:r>
              <a:rPr lang="en-US" sz="2000" dirty="0" smtClean="0"/>
              <a:t>Using this function, refer to the global variable x as </a:t>
            </a:r>
            <a:r>
              <a:rPr lang="en-US" sz="2000" dirty="0" err="1" smtClean="0"/>
              <a:t>globals</a:t>
            </a:r>
            <a:r>
              <a:rPr lang="en-US" sz="2000" dirty="0" smtClean="0"/>
              <a:t>()[‘x’]</a:t>
            </a:r>
            <a:endParaRPr lang="en-US" sz="2000" dirty="0"/>
          </a:p>
        </p:txBody>
      </p:sp>
    </p:spTree>
    <p:extLst>
      <p:ext uri="{BB962C8B-B14F-4D97-AF65-F5344CB8AC3E}">
        <p14:creationId xmlns:p14="http://schemas.microsoft.com/office/powerpoint/2010/main" val="7506105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387925"/>
          </a:xfrm>
        </p:spPr>
        <p:txBody>
          <a:bodyPr>
            <a:noAutofit/>
          </a:bodyPr>
          <a:lstStyle/>
          <a:p>
            <a:r>
              <a:rPr lang="en-US" sz="3200" dirty="0" smtClean="0"/>
              <a:t>Passing a group of elements to a Function</a:t>
            </a:r>
            <a:endParaRPr lang="en-US" sz="3200" dirty="0"/>
          </a:p>
        </p:txBody>
      </p:sp>
      <p:sp>
        <p:nvSpPr>
          <p:cNvPr id="3" name="Content Placeholder 2"/>
          <p:cNvSpPr>
            <a:spLocks noGrp="1"/>
          </p:cNvSpPr>
          <p:nvPr>
            <p:ph idx="1"/>
          </p:nvPr>
        </p:nvSpPr>
        <p:spPr>
          <a:xfrm>
            <a:off x="457200" y="609600"/>
            <a:ext cx="8229600" cy="6019800"/>
          </a:xfrm>
        </p:spPr>
        <p:txBody>
          <a:bodyPr>
            <a:normAutofit fontScale="85000" lnSpcReduction="20000"/>
          </a:bodyPr>
          <a:lstStyle/>
          <a:p>
            <a:r>
              <a:rPr lang="en-US" sz="2000" dirty="0" err="1" smtClean="0"/>
              <a:t>Eample</a:t>
            </a:r>
            <a:r>
              <a:rPr lang="en-US" sz="2000" dirty="0" smtClean="0"/>
              <a:t> (of Global Keyword, Global Function and Passing list to function)</a:t>
            </a:r>
          </a:p>
          <a:p>
            <a:pPr marL="800100" lvl="2" indent="0">
              <a:buNone/>
            </a:pPr>
            <a:r>
              <a:rPr lang="en-US" sz="1900" dirty="0"/>
              <a:t>a=10</a:t>
            </a:r>
          </a:p>
          <a:p>
            <a:pPr marL="800100" lvl="2" indent="0">
              <a:buNone/>
            </a:pPr>
            <a:r>
              <a:rPr lang="en-US" sz="1900" dirty="0"/>
              <a:t>x=15</a:t>
            </a:r>
          </a:p>
          <a:p>
            <a:pPr marL="800100" lvl="2" indent="0">
              <a:buNone/>
            </a:pPr>
            <a:r>
              <a:rPr lang="en-US" sz="1900" dirty="0"/>
              <a:t>li = [a for a in input().split()]</a:t>
            </a:r>
          </a:p>
          <a:p>
            <a:pPr marL="800100" lvl="2" indent="0">
              <a:buNone/>
            </a:pPr>
            <a:r>
              <a:rPr lang="en-US" sz="1900" dirty="0" err="1"/>
              <a:t>def</a:t>
            </a:r>
            <a:r>
              <a:rPr lang="en-US" sz="1900" dirty="0"/>
              <a:t> f1():</a:t>
            </a:r>
          </a:p>
          <a:p>
            <a:pPr marL="800100" lvl="2" indent="0">
              <a:buNone/>
            </a:pPr>
            <a:r>
              <a:rPr lang="en-US" sz="1900" dirty="0"/>
              <a:t>    l = </a:t>
            </a:r>
            <a:r>
              <a:rPr lang="en-US" sz="1900" dirty="0" err="1"/>
              <a:t>globals</a:t>
            </a:r>
            <a:r>
              <a:rPr lang="en-US" sz="1900" dirty="0"/>
              <a:t>()['li']</a:t>
            </a:r>
          </a:p>
          <a:p>
            <a:pPr marL="800100" lvl="2" indent="0">
              <a:buNone/>
            </a:pPr>
            <a:r>
              <a:rPr lang="en-US" sz="1900" dirty="0"/>
              <a:t>    li=[1,2,3]</a:t>
            </a:r>
          </a:p>
          <a:p>
            <a:pPr marL="800100" lvl="2" indent="0">
              <a:buNone/>
            </a:pPr>
            <a:r>
              <a:rPr lang="en-US" sz="1900" dirty="0"/>
              <a:t>    </a:t>
            </a:r>
            <a:r>
              <a:rPr lang="en-US" sz="1900" dirty="0" err="1"/>
              <a:t>li.append</a:t>
            </a:r>
            <a:r>
              <a:rPr lang="en-US" sz="1900" dirty="0"/>
              <a:t>("hello")</a:t>
            </a:r>
          </a:p>
          <a:p>
            <a:pPr marL="800100" lvl="2" indent="0">
              <a:buNone/>
            </a:pPr>
            <a:r>
              <a:rPr lang="en-US" sz="1900" dirty="0"/>
              <a:t>    print("list in fun: " ,li)</a:t>
            </a:r>
          </a:p>
          <a:p>
            <a:pPr marL="800100" lvl="2" indent="0">
              <a:buNone/>
            </a:pPr>
            <a:r>
              <a:rPr lang="en-US" sz="1900" dirty="0"/>
              <a:t>    global b</a:t>
            </a:r>
          </a:p>
          <a:p>
            <a:pPr marL="800100" lvl="2" indent="0">
              <a:buNone/>
            </a:pPr>
            <a:r>
              <a:rPr lang="en-US" sz="1900" dirty="0"/>
              <a:t>    y = </a:t>
            </a:r>
            <a:r>
              <a:rPr lang="en-US" sz="1900" dirty="0" err="1"/>
              <a:t>globals</a:t>
            </a:r>
            <a:r>
              <a:rPr lang="en-US" sz="1900" dirty="0"/>
              <a:t>()['x']</a:t>
            </a:r>
          </a:p>
          <a:p>
            <a:pPr marL="800100" lvl="2" indent="0">
              <a:buNone/>
            </a:pPr>
            <a:r>
              <a:rPr lang="en-US" sz="1900" dirty="0"/>
              <a:t>    </a:t>
            </a:r>
          </a:p>
          <a:p>
            <a:pPr marL="800100" lvl="2" indent="0">
              <a:buNone/>
            </a:pPr>
            <a:r>
              <a:rPr lang="en-US" sz="1900" dirty="0"/>
              <a:t>    x=23</a:t>
            </a:r>
          </a:p>
          <a:p>
            <a:pPr marL="800100" lvl="2" indent="0">
              <a:buNone/>
            </a:pPr>
            <a:r>
              <a:rPr lang="en-US" sz="1900" dirty="0"/>
              <a:t>    print("x in fun: ",x)</a:t>
            </a:r>
          </a:p>
          <a:p>
            <a:pPr marL="800100" lvl="2" indent="0">
              <a:buNone/>
            </a:pPr>
            <a:r>
              <a:rPr lang="en-US" sz="1900" dirty="0"/>
              <a:t>    a=5</a:t>
            </a:r>
          </a:p>
          <a:p>
            <a:pPr marL="800100" lvl="2" indent="0">
              <a:buNone/>
            </a:pPr>
            <a:r>
              <a:rPr lang="en-US" sz="1900" dirty="0"/>
              <a:t>    b=23</a:t>
            </a:r>
          </a:p>
          <a:p>
            <a:pPr marL="800100" lvl="2" indent="0">
              <a:buNone/>
            </a:pPr>
            <a:r>
              <a:rPr lang="en-US" sz="1900" dirty="0"/>
              <a:t>    print("a inside fun: ",a)</a:t>
            </a:r>
          </a:p>
          <a:p>
            <a:pPr marL="800100" lvl="2" indent="0">
              <a:buNone/>
            </a:pPr>
            <a:endParaRPr lang="en-US" sz="1900" dirty="0"/>
          </a:p>
          <a:p>
            <a:pPr marL="800100" lvl="2" indent="0">
              <a:buNone/>
            </a:pPr>
            <a:r>
              <a:rPr lang="en-US" sz="1900" dirty="0"/>
              <a:t>f1()</a:t>
            </a:r>
          </a:p>
          <a:p>
            <a:pPr marL="800100" lvl="2" indent="0">
              <a:buNone/>
            </a:pPr>
            <a:r>
              <a:rPr lang="en-US" sz="1900" dirty="0"/>
              <a:t>print("list outside fun: ",li)</a:t>
            </a:r>
          </a:p>
          <a:p>
            <a:pPr marL="800100" lvl="2" indent="0">
              <a:buNone/>
            </a:pPr>
            <a:r>
              <a:rPr lang="en-US" sz="1900" dirty="0"/>
              <a:t>print("x outside fun: ",x)</a:t>
            </a:r>
          </a:p>
          <a:p>
            <a:pPr marL="800100" lvl="2" indent="0">
              <a:buNone/>
            </a:pPr>
            <a:r>
              <a:rPr lang="en-US" sz="1900" dirty="0"/>
              <a:t>print("a outside function: ",a)</a:t>
            </a:r>
          </a:p>
          <a:p>
            <a:pPr marL="800100" lvl="2" indent="0">
              <a:buNone/>
            </a:pPr>
            <a:endParaRPr lang="en-US" sz="1900" dirty="0"/>
          </a:p>
          <a:p>
            <a:pPr marL="800100" lvl="2" indent="0">
              <a:buNone/>
            </a:pPr>
            <a:r>
              <a:rPr lang="en-US" sz="1900" dirty="0"/>
              <a:t>print(b)</a:t>
            </a:r>
          </a:p>
          <a:p>
            <a:pPr marL="400050" lvl="1" indent="0">
              <a:buNone/>
            </a:pPr>
            <a:endParaRPr lang="en-US" sz="1700" dirty="0"/>
          </a:p>
        </p:txBody>
      </p:sp>
    </p:spTree>
    <p:extLst>
      <p:ext uri="{BB962C8B-B14F-4D97-AF65-F5344CB8AC3E}">
        <p14:creationId xmlns:p14="http://schemas.microsoft.com/office/powerpoint/2010/main" val="42875152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US" dirty="0" smtClean="0"/>
              <a:t>Recursive Functions</a:t>
            </a:r>
            <a:endParaRPr lang="en-US" dirty="0"/>
          </a:p>
        </p:txBody>
      </p:sp>
      <p:sp>
        <p:nvSpPr>
          <p:cNvPr id="3" name="Content Placeholder 2"/>
          <p:cNvSpPr>
            <a:spLocks noGrp="1"/>
          </p:cNvSpPr>
          <p:nvPr>
            <p:ph idx="1"/>
          </p:nvPr>
        </p:nvSpPr>
        <p:spPr>
          <a:xfrm>
            <a:off x="457200" y="1066800"/>
            <a:ext cx="8229600" cy="5486400"/>
          </a:xfrm>
        </p:spPr>
        <p:txBody>
          <a:bodyPr>
            <a:normAutofit/>
          </a:bodyPr>
          <a:lstStyle/>
          <a:p>
            <a:r>
              <a:rPr lang="en-US" sz="2000" dirty="0" smtClean="0"/>
              <a:t>A function that calls itself is known as recursive function</a:t>
            </a:r>
          </a:p>
          <a:p>
            <a:r>
              <a:rPr lang="en-US" sz="2000" dirty="0" err="1" smtClean="0"/>
              <a:t>Eg</a:t>
            </a:r>
            <a:r>
              <a:rPr lang="en-US" sz="2000" dirty="0" smtClean="0"/>
              <a:t>. Factorial of a number using recursive function:</a:t>
            </a:r>
          </a:p>
          <a:p>
            <a:pPr marL="0" indent="0" algn="ctr">
              <a:buNone/>
            </a:pPr>
            <a:r>
              <a:rPr lang="en-US" sz="2400" dirty="0" smtClean="0"/>
              <a:t>Fact(n) = n * fact(n-1)</a:t>
            </a:r>
          </a:p>
          <a:p>
            <a:pPr marL="0" indent="0">
              <a:buNone/>
            </a:pPr>
            <a:endParaRPr lang="en-US" sz="2800" dirty="0" smtClean="0"/>
          </a:p>
          <a:p>
            <a:pPr marL="0" indent="0">
              <a:buNone/>
            </a:pPr>
            <a:r>
              <a:rPr lang="en-US" sz="2400" dirty="0" err="1" smtClean="0"/>
              <a:t>Def</a:t>
            </a:r>
            <a:r>
              <a:rPr lang="en-US" sz="2400" dirty="0" smtClean="0"/>
              <a:t> fact(n):</a:t>
            </a:r>
          </a:p>
          <a:p>
            <a:pPr marL="0" indent="0">
              <a:buNone/>
            </a:pPr>
            <a:r>
              <a:rPr lang="en-US" sz="2400" dirty="0"/>
              <a:t>	</a:t>
            </a:r>
            <a:r>
              <a:rPr lang="en-US" sz="2400" dirty="0" smtClean="0"/>
              <a:t>if n==0:</a:t>
            </a:r>
          </a:p>
          <a:p>
            <a:pPr marL="0" indent="0">
              <a:buNone/>
            </a:pPr>
            <a:r>
              <a:rPr lang="en-US" sz="2400" dirty="0"/>
              <a:t>		</a:t>
            </a:r>
            <a:r>
              <a:rPr lang="en-US" sz="2400" dirty="0" smtClean="0"/>
              <a:t>result = 1</a:t>
            </a:r>
          </a:p>
          <a:p>
            <a:pPr marL="0" indent="0">
              <a:buNone/>
            </a:pPr>
            <a:r>
              <a:rPr lang="en-US" sz="2400" dirty="0"/>
              <a:t>	</a:t>
            </a:r>
            <a:r>
              <a:rPr lang="en-US" sz="2400" dirty="0" smtClean="0"/>
              <a:t>else:</a:t>
            </a:r>
          </a:p>
          <a:p>
            <a:pPr marL="0" indent="0">
              <a:buNone/>
            </a:pPr>
            <a:r>
              <a:rPr lang="en-US" sz="2400" dirty="0"/>
              <a:t>	</a:t>
            </a:r>
            <a:r>
              <a:rPr lang="en-US" sz="2400" dirty="0" smtClean="0"/>
              <a:t>	result = n * fact(n-1)</a:t>
            </a:r>
          </a:p>
          <a:p>
            <a:pPr marL="0" indent="0">
              <a:buNone/>
            </a:pPr>
            <a:r>
              <a:rPr lang="en-US" sz="2400" dirty="0"/>
              <a:t>	</a:t>
            </a:r>
            <a:r>
              <a:rPr lang="en-US" sz="2400" dirty="0" smtClean="0"/>
              <a:t>return result</a:t>
            </a:r>
          </a:p>
          <a:p>
            <a:pPr marL="0" indent="0">
              <a:buNone/>
            </a:pPr>
            <a:r>
              <a:rPr lang="en-US" sz="2400" dirty="0"/>
              <a:t>f</a:t>
            </a:r>
            <a:r>
              <a:rPr lang="en-US" sz="2400" dirty="0" smtClean="0"/>
              <a:t>or i in range(1, 11):</a:t>
            </a:r>
          </a:p>
          <a:p>
            <a:pPr marL="0" indent="0">
              <a:buNone/>
            </a:pPr>
            <a:r>
              <a:rPr lang="en-US" sz="2400" dirty="0"/>
              <a:t>	</a:t>
            </a:r>
            <a:r>
              <a:rPr lang="en-US" sz="2400" dirty="0" smtClean="0"/>
              <a:t>print(“factorial of  {} is {}” .format(i , fact(i)))</a:t>
            </a:r>
          </a:p>
          <a:p>
            <a:pPr marL="0" indent="0">
              <a:buNone/>
            </a:pPr>
            <a:endParaRPr lang="en-US" sz="2000" dirty="0"/>
          </a:p>
        </p:txBody>
      </p:sp>
    </p:spTree>
    <p:extLst>
      <p:ext uri="{BB962C8B-B14F-4D97-AF65-F5344CB8AC3E}">
        <p14:creationId xmlns:p14="http://schemas.microsoft.com/office/powerpoint/2010/main" val="42607008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57200"/>
          </a:xfrm>
        </p:spPr>
        <p:txBody>
          <a:bodyPr>
            <a:noAutofit/>
          </a:bodyPr>
          <a:lstStyle/>
          <a:p>
            <a:r>
              <a:rPr lang="en-US" sz="2800" dirty="0" smtClean="0"/>
              <a:t>Tower of Hanoi problem using Recursive Functions</a:t>
            </a:r>
            <a:endParaRPr lang="en-US" sz="2800" dirty="0"/>
          </a:p>
        </p:txBody>
      </p:sp>
      <p:sp>
        <p:nvSpPr>
          <p:cNvPr id="3" name="Content Placeholder 2"/>
          <p:cNvSpPr>
            <a:spLocks noGrp="1"/>
          </p:cNvSpPr>
          <p:nvPr>
            <p:ph idx="1"/>
          </p:nvPr>
        </p:nvSpPr>
        <p:spPr>
          <a:xfrm>
            <a:off x="457200" y="838200"/>
            <a:ext cx="8229600" cy="5715000"/>
          </a:xfrm>
        </p:spPr>
        <p:txBody>
          <a:bodyPr>
            <a:normAutofit/>
          </a:bodyPr>
          <a:lstStyle/>
          <a:p>
            <a:pPr marL="0" indent="0">
              <a:buNone/>
            </a:pPr>
            <a:r>
              <a:rPr lang="en-US" sz="2000" dirty="0" smtClean="0"/>
              <a:t>Tower of Hanoi is a famous game of China</a:t>
            </a:r>
          </a:p>
          <a:p>
            <a:pPr marL="0" indent="0">
              <a:buNone/>
            </a:pPr>
            <a:r>
              <a:rPr lang="en-US" sz="2000" dirty="0" smtClean="0"/>
              <a:t>Transfer n disks from pole ‘A’ to ‘c’ with the help of an intermediate pole ‘B’</a:t>
            </a:r>
          </a:p>
          <a:p>
            <a:pPr marL="0" indent="0">
              <a:buNone/>
            </a:pPr>
            <a:r>
              <a:rPr lang="en-US" sz="2000" dirty="0" smtClean="0"/>
              <a:t>Steps can be performed easily using recursion using following steps:</a:t>
            </a:r>
          </a:p>
          <a:p>
            <a:pPr marL="0" indent="0">
              <a:buNone/>
            </a:pPr>
            <a:r>
              <a:rPr lang="en-US" sz="2000" dirty="0" smtClean="0"/>
              <a:t>If n=1 move the disk from ‘A’ to ‘C’ otherwise moving n disks are divided into 2 parts: move n-1 disks and move the remaining 1 disk as follow</a:t>
            </a:r>
          </a:p>
          <a:p>
            <a:pPr marL="457200" indent="-457200">
              <a:buAutoNum type="arabicParenR"/>
            </a:pPr>
            <a:r>
              <a:rPr lang="en-US" sz="2000" dirty="0" smtClean="0"/>
              <a:t>Move n-1 disks from ‘A’ to ‘B’ using ‘C’ as intermediate pole</a:t>
            </a:r>
          </a:p>
          <a:p>
            <a:pPr marL="457200" indent="-457200">
              <a:buAutoNum type="arabicParenR"/>
            </a:pPr>
            <a:r>
              <a:rPr lang="en-US" sz="2000" dirty="0" smtClean="0"/>
              <a:t>Move remaining disks i.e. 1 disk from ‘A’ to ‘C’</a:t>
            </a:r>
          </a:p>
          <a:p>
            <a:pPr marL="457200" indent="-457200">
              <a:buAutoNum type="arabicParenR"/>
            </a:pPr>
            <a:r>
              <a:rPr lang="en-US" sz="2000" dirty="0" smtClean="0"/>
              <a:t>Move n-1 disks from ‘B’ to ‘C’ using ‘A’ as intermediate</a:t>
            </a:r>
          </a:p>
          <a:p>
            <a:pPr marL="457200" indent="-457200">
              <a:buAutoNum type="arabicParenR"/>
            </a:pPr>
            <a:endParaRPr lang="en-US" sz="2000" dirty="0"/>
          </a:p>
          <a:p>
            <a:pPr marL="0" indent="0">
              <a:buNone/>
            </a:pPr>
            <a:r>
              <a:rPr lang="en-US" sz="2000" dirty="0" err="1" smtClean="0"/>
              <a:t>def</a:t>
            </a:r>
            <a:r>
              <a:rPr lang="en-US" sz="2000" dirty="0" smtClean="0"/>
              <a:t> towers(n, a, c, b):</a:t>
            </a:r>
            <a:endParaRPr lang="en-US" sz="2000" dirty="0"/>
          </a:p>
        </p:txBody>
      </p:sp>
    </p:spTree>
    <p:extLst>
      <p:ext uri="{BB962C8B-B14F-4D97-AF65-F5344CB8AC3E}">
        <p14:creationId xmlns:p14="http://schemas.microsoft.com/office/powerpoint/2010/main" val="42309922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noAutofit/>
          </a:bodyPr>
          <a:lstStyle/>
          <a:p>
            <a:pPr marL="0" indent="0">
              <a:buNone/>
            </a:pPr>
            <a:r>
              <a:rPr lang="en-US" sz="2400" dirty="0" err="1" smtClean="0"/>
              <a:t>def</a:t>
            </a:r>
            <a:r>
              <a:rPr lang="en-US" sz="2400" dirty="0" smtClean="0"/>
              <a:t> </a:t>
            </a:r>
            <a:r>
              <a:rPr lang="en-US" sz="2400" dirty="0"/>
              <a:t>towers(n, a, c, b):</a:t>
            </a:r>
          </a:p>
          <a:p>
            <a:pPr marL="0" indent="0">
              <a:buNone/>
            </a:pPr>
            <a:r>
              <a:rPr lang="en-US" sz="2400" dirty="0"/>
              <a:t> </a:t>
            </a:r>
            <a:r>
              <a:rPr lang="en-US" sz="2400" dirty="0" smtClean="0"/>
              <a:t>   if </a:t>
            </a:r>
            <a:r>
              <a:rPr lang="en-US" sz="2400" dirty="0"/>
              <a:t>(n==1):</a:t>
            </a:r>
          </a:p>
          <a:p>
            <a:pPr marL="0" indent="0">
              <a:buNone/>
            </a:pPr>
            <a:r>
              <a:rPr lang="en-US" sz="2400" dirty="0" smtClean="0"/>
              <a:t>	print </a:t>
            </a:r>
            <a:r>
              <a:rPr lang="en-US" sz="2400" dirty="0"/>
              <a:t>('Move disk %i from pole %s to pole %s' %(n, a, c))</a:t>
            </a:r>
          </a:p>
          <a:p>
            <a:pPr marL="0" indent="0">
              <a:buNone/>
            </a:pPr>
            <a:r>
              <a:rPr lang="en-US" sz="2400" dirty="0"/>
              <a:t> </a:t>
            </a:r>
            <a:r>
              <a:rPr lang="en-US" sz="2400" dirty="0" smtClean="0"/>
              <a:t>   else</a:t>
            </a:r>
            <a:r>
              <a:rPr lang="en-US" sz="2400" dirty="0"/>
              <a:t>:</a:t>
            </a:r>
          </a:p>
          <a:p>
            <a:pPr marL="0" indent="0">
              <a:buNone/>
            </a:pPr>
            <a:r>
              <a:rPr lang="en-US" sz="2400" dirty="0" smtClean="0"/>
              <a:t>	towers(n-1</a:t>
            </a:r>
            <a:r>
              <a:rPr lang="en-US" sz="2400" dirty="0"/>
              <a:t>, a, b, c)</a:t>
            </a:r>
          </a:p>
          <a:p>
            <a:pPr marL="0" indent="0">
              <a:buNone/>
            </a:pPr>
            <a:r>
              <a:rPr lang="en-US" sz="2400" dirty="0"/>
              <a:t>	</a:t>
            </a:r>
            <a:r>
              <a:rPr lang="en-US" sz="2400" dirty="0" smtClean="0"/>
              <a:t>print </a:t>
            </a:r>
            <a:r>
              <a:rPr lang="en-US" sz="2400" dirty="0"/>
              <a:t>('Move disk %i from pole %s to pole %s' %(n, a, c))</a:t>
            </a:r>
          </a:p>
          <a:p>
            <a:pPr marL="0" indent="0">
              <a:buNone/>
            </a:pPr>
            <a:r>
              <a:rPr lang="en-US" sz="2400" dirty="0"/>
              <a:t>	</a:t>
            </a:r>
            <a:r>
              <a:rPr lang="en-US" sz="2400" dirty="0" smtClean="0"/>
              <a:t>towers(n-1</a:t>
            </a:r>
            <a:r>
              <a:rPr lang="en-US" sz="2400" dirty="0"/>
              <a:t>, b, c, a)</a:t>
            </a:r>
          </a:p>
          <a:p>
            <a:pPr marL="0" indent="0">
              <a:buNone/>
            </a:pPr>
            <a:endParaRPr lang="en-US" sz="2400" dirty="0"/>
          </a:p>
          <a:p>
            <a:pPr marL="0" indent="0">
              <a:buNone/>
            </a:pPr>
            <a:r>
              <a:rPr lang="en-US" sz="2400" dirty="0"/>
              <a:t>n = 3</a:t>
            </a:r>
          </a:p>
          <a:p>
            <a:pPr marL="0" indent="0">
              <a:buNone/>
            </a:pPr>
            <a:r>
              <a:rPr lang="en-US" sz="2400" dirty="0" smtClean="0"/>
              <a:t>towers(n</a:t>
            </a:r>
            <a:r>
              <a:rPr lang="en-US" sz="2400" dirty="0"/>
              <a:t>, 'A', 'C', 'B</a:t>
            </a:r>
            <a:r>
              <a:rPr lang="en-US" sz="2400" dirty="0" smtClean="0"/>
              <a:t>')</a:t>
            </a:r>
            <a:endParaRPr lang="en-US" sz="2400" dirty="0"/>
          </a:p>
        </p:txBody>
      </p:sp>
      <p:sp>
        <p:nvSpPr>
          <p:cNvPr id="4" name="Title 1"/>
          <p:cNvSpPr>
            <a:spLocks noGrp="1"/>
          </p:cNvSpPr>
          <p:nvPr>
            <p:ph type="title"/>
          </p:nvPr>
        </p:nvSpPr>
        <p:spPr>
          <a:xfrm>
            <a:off x="457200" y="228600"/>
            <a:ext cx="8229600" cy="762000"/>
          </a:xfrm>
        </p:spPr>
        <p:txBody>
          <a:bodyPr>
            <a:normAutofit/>
          </a:bodyPr>
          <a:lstStyle/>
          <a:p>
            <a:r>
              <a:rPr lang="en-US" dirty="0" smtClean="0"/>
              <a:t>Code</a:t>
            </a:r>
            <a:endParaRPr lang="en-US" dirty="0"/>
          </a:p>
        </p:txBody>
      </p:sp>
    </p:spTree>
    <p:extLst>
      <p:ext uri="{BB962C8B-B14F-4D97-AF65-F5344CB8AC3E}">
        <p14:creationId xmlns:p14="http://schemas.microsoft.com/office/powerpoint/2010/main" val="1409692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US" dirty="0" smtClean="0"/>
              <a:t>Anonymous Function Lambdas</a:t>
            </a:r>
            <a:endParaRPr lang="en-US" dirty="0"/>
          </a:p>
        </p:txBody>
      </p:sp>
      <p:sp>
        <p:nvSpPr>
          <p:cNvPr id="3" name="Content Placeholder 2"/>
          <p:cNvSpPr>
            <a:spLocks noGrp="1"/>
          </p:cNvSpPr>
          <p:nvPr>
            <p:ph idx="1"/>
          </p:nvPr>
        </p:nvSpPr>
        <p:spPr>
          <a:xfrm>
            <a:off x="457200" y="1066800"/>
            <a:ext cx="8229600" cy="5486400"/>
          </a:xfrm>
        </p:spPr>
        <p:txBody>
          <a:bodyPr>
            <a:normAutofit/>
          </a:bodyPr>
          <a:lstStyle/>
          <a:p>
            <a:r>
              <a:rPr lang="en-US" sz="2000" dirty="0" smtClean="0"/>
              <a:t>A function without name is called ‘Anonymous Function’</a:t>
            </a:r>
          </a:p>
          <a:p>
            <a:r>
              <a:rPr lang="en-US" sz="2000" dirty="0" smtClean="0"/>
              <a:t>They are not defined using ‘</a:t>
            </a:r>
            <a:r>
              <a:rPr lang="en-US" sz="2000" dirty="0" err="1" smtClean="0"/>
              <a:t>def</a:t>
            </a:r>
            <a:r>
              <a:rPr lang="en-US" sz="2000" dirty="0" smtClean="0"/>
              <a:t>’ </a:t>
            </a:r>
          </a:p>
          <a:p>
            <a:r>
              <a:rPr lang="en-US" sz="2000" dirty="0" smtClean="0"/>
              <a:t>Defined using keyword ‘lambda’ and called as Lambda function</a:t>
            </a:r>
          </a:p>
          <a:p>
            <a:r>
              <a:rPr lang="en-US" sz="2000" dirty="0" smtClean="0"/>
              <a:t>Suppose </a:t>
            </a:r>
            <a:r>
              <a:rPr lang="en-US" sz="2000" dirty="0" err="1" smtClean="0"/>
              <a:t>def</a:t>
            </a:r>
            <a:r>
              <a:rPr lang="en-US" sz="2000" dirty="0" smtClean="0"/>
              <a:t> square(x):</a:t>
            </a:r>
          </a:p>
          <a:p>
            <a:pPr marL="914400" lvl="2" indent="0">
              <a:buNone/>
            </a:pPr>
            <a:r>
              <a:rPr lang="en-US" sz="1200" dirty="0"/>
              <a:t>	</a:t>
            </a:r>
            <a:r>
              <a:rPr lang="en-US" sz="2000" dirty="0" smtClean="0"/>
              <a:t>return x * x</a:t>
            </a:r>
          </a:p>
          <a:p>
            <a:pPr marL="114300" indent="0">
              <a:buNone/>
            </a:pPr>
            <a:r>
              <a:rPr lang="en-US" sz="2000" dirty="0" smtClean="0"/>
              <a:t>The same function can be written as:  </a:t>
            </a:r>
            <a:r>
              <a:rPr lang="en-US" sz="2000" dirty="0" err="1" smtClean="0"/>
              <a:t>lambada</a:t>
            </a:r>
            <a:r>
              <a:rPr lang="en-US" sz="2000" dirty="0" smtClean="0"/>
              <a:t> x: x * x</a:t>
            </a:r>
          </a:p>
          <a:p>
            <a:pPr marL="457200"/>
            <a:r>
              <a:rPr lang="en-US" sz="2000" dirty="0" smtClean="0"/>
              <a:t>lambda keyword created a function where : (colon) is the beginning of the function, NO NAME TO THE FUNCTION</a:t>
            </a:r>
          </a:p>
          <a:p>
            <a:pPr marL="457200"/>
            <a:r>
              <a:rPr lang="en-US" sz="2000" dirty="0" smtClean="0"/>
              <a:t>Syntax is    lambda </a:t>
            </a:r>
            <a:r>
              <a:rPr lang="en-US" sz="2000" dirty="0" err="1" smtClean="0"/>
              <a:t>argument_list</a:t>
            </a:r>
            <a:r>
              <a:rPr lang="en-US" sz="2000" dirty="0" smtClean="0"/>
              <a:t> : expression</a:t>
            </a:r>
          </a:p>
          <a:p>
            <a:pPr marL="457200"/>
            <a:r>
              <a:rPr lang="en-US" sz="2000" dirty="0" err="1" smtClean="0"/>
              <a:t>Lamda</a:t>
            </a:r>
            <a:r>
              <a:rPr lang="en-US" sz="2000" dirty="0" smtClean="0"/>
              <a:t> function returns a function and hence should be assigned to a function as:           f  =  lambda x: x * x</a:t>
            </a:r>
          </a:p>
          <a:p>
            <a:pPr marL="457200"/>
            <a:r>
              <a:rPr lang="en-US" sz="2000" dirty="0" smtClean="0"/>
              <a:t>So, now  ‘f’ is the function name to which lambda expression is assigned </a:t>
            </a:r>
          </a:p>
          <a:p>
            <a:pPr marL="457200"/>
            <a:r>
              <a:rPr lang="en-US" sz="2000" dirty="0" smtClean="0"/>
              <a:t>Call the function f() as     value = f(5)</a:t>
            </a:r>
          </a:p>
          <a:p>
            <a:pPr marL="457200"/>
            <a:r>
              <a:rPr lang="en-US" sz="2000" dirty="0" smtClean="0"/>
              <a:t>Lambda function contains only one expression and they return the result implicitly, so not to write return statement in it.</a:t>
            </a:r>
            <a:endParaRPr lang="en-US" sz="2000" dirty="0"/>
          </a:p>
        </p:txBody>
      </p:sp>
    </p:spTree>
    <p:extLst>
      <p:ext uri="{BB962C8B-B14F-4D97-AF65-F5344CB8AC3E}">
        <p14:creationId xmlns:p14="http://schemas.microsoft.com/office/powerpoint/2010/main" val="31718131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740"/>
            <a:ext cx="8229600" cy="6248400"/>
          </a:xfrm>
        </p:spPr>
        <p:txBody>
          <a:bodyPr>
            <a:noAutofit/>
          </a:bodyPr>
          <a:lstStyle/>
          <a:p>
            <a:pPr marL="0" indent="0">
              <a:buNone/>
            </a:pPr>
            <a:r>
              <a:rPr lang="en-US" sz="2000" dirty="0"/>
              <a:t>s = lambda n: n * n</a:t>
            </a:r>
          </a:p>
          <a:p>
            <a:pPr marL="0" indent="0">
              <a:buNone/>
            </a:pPr>
            <a:r>
              <a:rPr lang="en-US" sz="2000" dirty="0"/>
              <a:t>square = s(5)</a:t>
            </a:r>
          </a:p>
          <a:p>
            <a:pPr marL="0" indent="0">
              <a:buNone/>
            </a:pPr>
            <a:r>
              <a:rPr lang="en-US" sz="2000" dirty="0"/>
              <a:t>print(square)</a:t>
            </a:r>
          </a:p>
          <a:p>
            <a:pPr marL="0" indent="0">
              <a:buNone/>
            </a:pPr>
            <a:endParaRPr lang="en-US" sz="2000" dirty="0"/>
          </a:p>
          <a:p>
            <a:pPr marL="0" indent="0">
              <a:buNone/>
            </a:pPr>
            <a:r>
              <a:rPr lang="en-US" sz="2000" dirty="0" err="1"/>
              <a:t>addNo</a:t>
            </a:r>
            <a:r>
              <a:rPr lang="en-US" sz="2000" dirty="0"/>
              <a:t> = lambda x, y: x + y</a:t>
            </a:r>
          </a:p>
          <a:p>
            <a:pPr marL="0" indent="0">
              <a:buNone/>
            </a:pPr>
            <a:r>
              <a:rPr lang="en-US" sz="2000" dirty="0"/>
              <a:t>addition = </a:t>
            </a:r>
            <a:r>
              <a:rPr lang="en-US" sz="2000" dirty="0" err="1"/>
              <a:t>addNo</a:t>
            </a:r>
            <a:r>
              <a:rPr lang="en-US" sz="2000" dirty="0"/>
              <a:t>(2,5)</a:t>
            </a:r>
          </a:p>
          <a:p>
            <a:pPr marL="0" indent="0">
              <a:buNone/>
            </a:pPr>
            <a:r>
              <a:rPr lang="en-US" sz="2000" dirty="0"/>
              <a:t>print(addition)</a:t>
            </a:r>
          </a:p>
          <a:p>
            <a:pPr marL="0" indent="0">
              <a:buNone/>
            </a:pPr>
            <a:endParaRPr lang="en-US" sz="2000" dirty="0"/>
          </a:p>
          <a:p>
            <a:pPr marL="0" indent="0">
              <a:buNone/>
            </a:pPr>
            <a:r>
              <a:rPr lang="en-US" sz="2000" dirty="0" err="1"/>
              <a:t>bigNo</a:t>
            </a:r>
            <a:r>
              <a:rPr lang="en-US" sz="2000" dirty="0"/>
              <a:t> = lambda x, y: x if x&gt;y else y</a:t>
            </a:r>
          </a:p>
          <a:p>
            <a:pPr marL="0" indent="0">
              <a:buNone/>
            </a:pPr>
            <a:r>
              <a:rPr lang="en-US" sz="2000" dirty="0"/>
              <a:t>n1, n2 = [</a:t>
            </a:r>
            <a:r>
              <a:rPr lang="en-US" sz="2000" dirty="0" err="1"/>
              <a:t>int</a:t>
            </a:r>
            <a:r>
              <a:rPr lang="en-US" sz="2000" dirty="0"/>
              <a:t>(n) for n in input("Enter </a:t>
            </a:r>
            <a:r>
              <a:rPr lang="en-US" sz="2000"/>
              <a:t>2 </a:t>
            </a:r>
            <a:r>
              <a:rPr lang="en-US" sz="2000" smtClean="0"/>
              <a:t>Nos</a:t>
            </a:r>
            <a:r>
              <a:rPr lang="en-US" sz="2000" dirty="0" err="1"/>
              <a:t>.</a:t>
            </a:r>
            <a:r>
              <a:rPr lang="en-US" sz="2000" dirty="0"/>
              <a:t> </a:t>
            </a:r>
            <a:r>
              <a:rPr lang="en-US" sz="2000" dirty="0" err="1"/>
              <a:t>saperated</a:t>
            </a:r>
            <a:r>
              <a:rPr lang="en-US" sz="2000" dirty="0"/>
              <a:t> by , ").split(',')]</a:t>
            </a:r>
          </a:p>
          <a:p>
            <a:pPr marL="0" indent="0">
              <a:buNone/>
            </a:pPr>
            <a:r>
              <a:rPr lang="en-US" sz="2000" dirty="0"/>
              <a:t>result = </a:t>
            </a:r>
            <a:r>
              <a:rPr lang="en-US" sz="2000" dirty="0" err="1"/>
              <a:t>bigNo</a:t>
            </a:r>
            <a:r>
              <a:rPr lang="en-US" sz="2000" dirty="0"/>
              <a:t>(n1, n2)</a:t>
            </a:r>
          </a:p>
          <a:p>
            <a:pPr marL="0" indent="0">
              <a:buNone/>
            </a:pPr>
            <a:r>
              <a:rPr lang="en-US" sz="2000" dirty="0"/>
              <a:t>print(result)</a:t>
            </a:r>
          </a:p>
          <a:p>
            <a:pPr marL="0" indent="0">
              <a:buNone/>
            </a:pPr>
            <a:endParaRPr lang="en-US" sz="2000" dirty="0"/>
          </a:p>
          <a:p>
            <a:pPr marL="0" indent="0">
              <a:buNone/>
            </a:pPr>
            <a:r>
              <a:rPr lang="en-US" sz="2000" dirty="0"/>
              <a:t>largest = lambda x, y, z: x if (x&gt;y and x&gt;z) else (y if y&gt;z else z)</a:t>
            </a:r>
          </a:p>
          <a:p>
            <a:pPr marL="0" indent="0">
              <a:buNone/>
            </a:pPr>
            <a:r>
              <a:rPr lang="en-US" sz="2000" dirty="0" smtClean="0"/>
              <a:t>a=2  b=34  c=12</a:t>
            </a:r>
          </a:p>
          <a:p>
            <a:pPr marL="0" indent="0">
              <a:buNone/>
            </a:pPr>
            <a:r>
              <a:rPr lang="en-US" sz="2000" dirty="0" smtClean="0"/>
              <a:t>result </a:t>
            </a:r>
            <a:r>
              <a:rPr lang="en-US" sz="2000" dirty="0"/>
              <a:t>= largest(</a:t>
            </a:r>
            <a:r>
              <a:rPr lang="en-US" sz="2000" dirty="0" err="1"/>
              <a:t>a,b,c</a:t>
            </a:r>
            <a:r>
              <a:rPr lang="en-US" sz="2000" dirty="0"/>
              <a:t>)</a:t>
            </a:r>
          </a:p>
          <a:p>
            <a:pPr marL="0" indent="0">
              <a:buNone/>
            </a:pPr>
            <a:r>
              <a:rPr lang="en-US" sz="2000" dirty="0"/>
              <a:t>print(result)</a:t>
            </a:r>
          </a:p>
          <a:p>
            <a:pPr marL="0" indent="0">
              <a:buNone/>
            </a:pPr>
            <a:endParaRPr lang="en-US" sz="2000" dirty="0"/>
          </a:p>
        </p:txBody>
      </p:sp>
    </p:spTree>
    <p:extLst>
      <p:ext uri="{BB962C8B-B14F-4D97-AF65-F5344CB8AC3E}">
        <p14:creationId xmlns:p14="http://schemas.microsoft.com/office/powerpoint/2010/main" val="34256127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2022</TotalTime>
  <Words>1224</Words>
  <Application>Microsoft Office PowerPoint</Application>
  <PresentationFormat>On-screen Show (4:3)</PresentationFormat>
  <Paragraphs>218</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Functions </vt:lpstr>
      <vt:lpstr>Function and Method Difference</vt:lpstr>
      <vt:lpstr>Defining a Function</vt:lpstr>
      <vt:lpstr>Function (Cont…)</vt:lpstr>
      <vt:lpstr>Dynamic typing</vt:lpstr>
      <vt:lpstr>Returning multiple values from a function</vt:lpstr>
      <vt:lpstr>Functions are Class Object</vt:lpstr>
      <vt:lpstr>Assign a function to a variable</vt:lpstr>
      <vt:lpstr>Defining a function inside another function</vt:lpstr>
      <vt:lpstr>Pass a function as a parameter to another function</vt:lpstr>
      <vt:lpstr>Function can return another function</vt:lpstr>
      <vt:lpstr>Pass by Object Reference</vt:lpstr>
      <vt:lpstr>PowerPoint Presentation</vt:lpstr>
      <vt:lpstr>PowerPoint Presentation</vt:lpstr>
      <vt:lpstr>Types of Arguments in Python</vt:lpstr>
      <vt:lpstr>Local and Global Variables</vt:lpstr>
      <vt:lpstr>Passing a group of elements to a Function</vt:lpstr>
      <vt:lpstr>Recursive Functions</vt:lpstr>
      <vt:lpstr>Tower of Hanoi problem using Recursive Functions</vt:lpstr>
      <vt:lpstr>Code</vt:lpstr>
      <vt:lpstr>Anonymous Function Lambdas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dc:title>
  <dc:creator>urja</dc:creator>
  <cp:lastModifiedBy>Administrator</cp:lastModifiedBy>
  <cp:revision>142</cp:revision>
  <dcterms:created xsi:type="dcterms:W3CDTF">2006-08-16T00:00:00Z</dcterms:created>
  <dcterms:modified xsi:type="dcterms:W3CDTF">2020-12-21T05:35:30Z</dcterms:modified>
</cp:coreProperties>
</file>