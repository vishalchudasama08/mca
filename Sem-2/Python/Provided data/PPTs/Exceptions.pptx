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9" r:id="rId13"/>
    <p:sldId id="270" r:id="rId14"/>
    <p:sldId id="274" r:id="rId15"/>
    <p:sldId id="275" r:id="rId16"/>
    <p:sldId id="276" r:id="rId17"/>
    <p:sldId id="277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Exceptions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– 16</a:t>
            </a:r>
          </a:p>
          <a:p>
            <a:r>
              <a:rPr lang="en-US" dirty="0" smtClean="0"/>
              <a:t>Book: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5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Errors in Python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Compile-time errors</a:t>
            </a:r>
          </a:p>
          <a:p>
            <a:pPr lvl="1" algn="just"/>
            <a:r>
              <a:rPr lang="en-US" dirty="0" smtClean="0"/>
              <a:t>Syntactical errors found in code</a:t>
            </a:r>
          </a:p>
          <a:p>
            <a:pPr lvl="1" algn="just"/>
            <a:r>
              <a:rPr lang="en-US" dirty="0" smtClean="0"/>
              <a:t>Program fails to compile</a:t>
            </a:r>
          </a:p>
          <a:p>
            <a:pPr lvl="1" algn="just"/>
            <a:r>
              <a:rPr lang="en-US" dirty="0" smtClean="0"/>
              <a:t>Detected by </a:t>
            </a:r>
            <a:r>
              <a:rPr lang="en-US" dirty="0"/>
              <a:t>P</a:t>
            </a:r>
            <a:r>
              <a:rPr lang="en-US" dirty="0" smtClean="0"/>
              <a:t>ython compiler</a:t>
            </a:r>
          </a:p>
          <a:p>
            <a:pPr algn="just"/>
            <a:r>
              <a:rPr lang="en-US" dirty="0" smtClean="0"/>
              <a:t>Runtime errors</a:t>
            </a:r>
          </a:p>
          <a:p>
            <a:pPr lvl="1" algn="just"/>
            <a:r>
              <a:rPr lang="en-US" dirty="0" smtClean="0"/>
              <a:t>Occurs when PVM cannot executes the byte code</a:t>
            </a:r>
          </a:p>
          <a:p>
            <a:pPr lvl="1" algn="just"/>
            <a:r>
              <a:rPr lang="en-US" dirty="0" smtClean="0"/>
              <a:t>PVM not able to execute some statement due to insufficient memory</a:t>
            </a:r>
          </a:p>
          <a:p>
            <a:pPr algn="just"/>
            <a:r>
              <a:rPr lang="en-US" dirty="0" smtClean="0"/>
              <a:t>Logical errors</a:t>
            </a:r>
          </a:p>
          <a:p>
            <a:pPr lvl="1" algn="just"/>
            <a:r>
              <a:rPr lang="en-US" dirty="0" smtClean="0"/>
              <a:t>Flaws in the logic of the program</a:t>
            </a:r>
          </a:p>
          <a:p>
            <a:pPr lvl="1" algn="just"/>
            <a:r>
              <a:rPr lang="en-US" dirty="0" smtClean="0"/>
              <a:t>Not detected either by Python compiler or PVM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8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Runtime error which can be handled by the programmer</a:t>
            </a:r>
          </a:p>
          <a:p>
            <a:pPr algn="just"/>
            <a:r>
              <a:rPr lang="en-US" dirty="0" smtClean="0"/>
              <a:t>Means if he guesses the error and do something to eliminate the problem then it is called an exception</a:t>
            </a:r>
          </a:p>
          <a:p>
            <a:pPr algn="just"/>
            <a:r>
              <a:rPr lang="en-US" dirty="0" smtClean="0"/>
              <a:t>All exceptions are presented as classes in Python</a:t>
            </a:r>
          </a:p>
          <a:p>
            <a:pPr algn="just"/>
            <a:r>
              <a:rPr lang="en-US" dirty="0" smtClean="0"/>
              <a:t>Already available Exceptions in Python are called built-in exception.</a:t>
            </a:r>
          </a:p>
          <a:p>
            <a:pPr algn="just"/>
            <a:r>
              <a:rPr lang="en-US" dirty="0" smtClean="0"/>
              <a:t>The base class for all built-in exceptions is ‘</a:t>
            </a:r>
            <a:r>
              <a:rPr lang="en-US" dirty="0" err="1" smtClean="0"/>
              <a:t>BaseException</a:t>
            </a:r>
            <a:r>
              <a:rPr lang="en-US" dirty="0" smtClean="0"/>
              <a:t>’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24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Important Exception classes in Python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49216"/>
            <a:ext cx="8229600" cy="442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83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912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To handle exceptions following 3 steps must be </a:t>
            </a:r>
            <a:r>
              <a:rPr lang="en-US" smtClean="0"/>
              <a:t>followed</a:t>
            </a:r>
            <a:r>
              <a:rPr lang="en-US" smtClean="0"/>
              <a:t>: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Step1: statements in the program where there may be possibility of exception, should be written inside a ‘try’ block. When PVM understands that there is an exception, it jumps into ‘except</a:t>
            </a:r>
            <a:r>
              <a:rPr lang="en-US" smtClean="0"/>
              <a:t>’ </a:t>
            </a:r>
            <a:r>
              <a:rPr lang="en-US" smtClean="0"/>
              <a:t>block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Step2: write the ‘except’ block where mention the exception details to be shown to the </a:t>
            </a:r>
            <a:r>
              <a:rPr lang="en-US" smtClean="0"/>
              <a:t>users</a:t>
            </a:r>
            <a:r>
              <a:rPr lang="en-US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Step3: can write ‘finally’ block to perform cleanup operations like closing the file or terminating any other </a:t>
            </a:r>
            <a:r>
              <a:rPr lang="en-US" smtClean="0"/>
              <a:t>processes</a:t>
            </a:r>
            <a:r>
              <a:rPr lang="en-US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‘Finally’ block is executed irrespective of whether there is an exception or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81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to 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A single ‘try’ block can be followed by several except blocks</a:t>
            </a:r>
          </a:p>
          <a:p>
            <a:pPr algn="just"/>
            <a:r>
              <a:rPr lang="en-US" dirty="0" smtClean="0"/>
              <a:t>Multiple ‘except’ blocks can be use to handle multiple exception</a:t>
            </a:r>
          </a:p>
          <a:p>
            <a:pPr algn="just"/>
            <a:r>
              <a:rPr lang="en-US" dirty="0" smtClean="0"/>
              <a:t>Can not write ‘except’ block without ‘try’ block But can write ‘try’ block without any ‘except’ block</a:t>
            </a:r>
          </a:p>
          <a:p>
            <a:pPr algn="just"/>
            <a:r>
              <a:rPr lang="en-US" dirty="0" smtClean="0"/>
              <a:t>‘else’ and ‘finally’ blocks are not compulsory</a:t>
            </a:r>
          </a:p>
          <a:p>
            <a:pPr algn="just"/>
            <a:r>
              <a:rPr lang="en-US" dirty="0" smtClean="0"/>
              <a:t>When there is no exception ‘else’ block is executed after ‘try’ block</a:t>
            </a:r>
          </a:p>
          <a:p>
            <a:pPr algn="just"/>
            <a:r>
              <a:rPr lang="en-US" dirty="0" smtClean="0"/>
              <a:t>‘finally’ block is always executed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9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Few examples of Exceptions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/>
              <a:t>ArithmeticError</a:t>
            </a:r>
            <a:endParaRPr lang="en-US" dirty="0" smtClean="0"/>
          </a:p>
          <a:p>
            <a:r>
              <a:rPr lang="en-US" dirty="0" err="1" smtClean="0"/>
              <a:t>AssertionError</a:t>
            </a:r>
            <a:endParaRPr lang="en-US" dirty="0" smtClean="0"/>
          </a:p>
          <a:p>
            <a:r>
              <a:rPr lang="en-US" dirty="0" err="1" smtClean="0"/>
              <a:t>ImportError</a:t>
            </a:r>
            <a:endParaRPr lang="en-US" dirty="0" smtClean="0"/>
          </a:p>
          <a:p>
            <a:r>
              <a:rPr lang="en-US" dirty="0" err="1" smtClean="0"/>
              <a:t>IndexError</a:t>
            </a:r>
            <a:endParaRPr lang="en-US" dirty="0" smtClean="0"/>
          </a:p>
          <a:p>
            <a:r>
              <a:rPr lang="en-US" dirty="0" err="1" smtClean="0"/>
              <a:t>KeyError</a:t>
            </a:r>
            <a:endParaRPr lang="en-US" dirty="0" smtClean="0"/>
          </a:p>
          <a:p>
            <a:r>
              <a:rPr lang="en-US" dirty="0" err="1" smtClean="0"/>
              <a:t>NameError</a:t>
            </a:r>
            <a:endParaRPr lang="en-US" dirty="0" smtClean="0"/>
          </a:p>
          <a:p>
            <a:r>
              <a:rPr lang="en-US" dirty="0" err="1" smtClean="0"/>
              <a:t>TypeError</a:t>
            </a:r>
            <a:endParaRPr lang="en-US" dirty="0" smtClean="0"/>
          </a:p>
          <a:p>
            <a:r>
              <a:rPr lang="en-US" dirty="0" err="1" smtClean="0"/>
              <a:t>UnboundLocalError</a:t>
            </a:r>
            <a:endParaRPr lang="en-US" dirty="0" smtClean="0"/>
          </a:p>
          <a:p>
            <a:r>
              <a:rPr lang="en-US" dirty="0" err="1" smtClean="0"/>
              <a:t>ValueError</a:t>
            </a:r>
            <a:endParaRPr lang="en-US" dirty="0" smtClean="0"/>
          </a:p>
          <a:p>
            <a:r>
              <a:rPr lang="en-US" dirty="0" err="1" smtClean="0"/>
              <a:t>ZeroDivisionError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75245"/>
              </p:ext>
            </p:extLst>
          </p:nvPr>
        </p:nvGraphicFramePr>
        <p:xfrm>
          <a:off x="457200" y="381000"/>
          <a:ext cx="8229600" cy="6172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Exception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Description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AssertionError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assert statement fails.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AttributeError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on the attribute assignment or reference fails.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EOFError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input() function hits the end-of-file condition.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FloatingPointError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floating point operation fails.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GeneratorExit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generator's close() method is called.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ImportError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imported module is not found.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IndexError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index of a sequence is out of range.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KeyError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key is not found in a dictionary.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KeyboardInterrupt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user hits the interrupt key (Ctrl+c or delete).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MemoryError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an operation runs out of memory.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NameError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variable is not found in the local or global scope.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NotImplementedError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by abstract methods.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OSError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system operation causes a system-related error.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97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OverflowError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result of an arithmetic operation is too large to be represented.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97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ReferenceError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weak reference proxy is used to access a garbage collected referent.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6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RuntimeError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Raised when an error does not fall under any other category.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27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852610"/>
              </p:ext>
            </p:extLst>
          </p:nvPr>
        </p:nvGraphicFramePr>
        <p:xfrm>
          <a:off x="457200" y="381005"/>
          <a:ext cx="8229600" cy="6095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35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StopIteration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Raised by the next() function to indicate that there is no further item to be returned by the iterator. </a:t>
                      </a:r>
                    </a:p>
                  </a:txBody>
                  <a:tcPr marL="9525" marR="9525" marT="9525" marB="9525" anchor="ctr">
                    <a:solidFill>
                      <a:srgbClr val="E9EFF7"/>
                    </a:solidFill>
                  </a:tcPr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SyntaxError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Raised by the parser when a syntax error is encountered.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IndentationError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Raised when there is an incorrect indentation.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TabError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the indentation consists of inconsistent tabs and spaces.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SystemError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Raised when the interpreter detects internal error.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SystemExit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by the sys.exit() function.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5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TypeError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function or operation is applied to an object of an incorrect type.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5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UnboundLocalError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reference is made to a local variable in a function or method, but no value has been bound to that variable.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UnicodeError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Unicode-related encoding or decoding error occurs.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UnicodeEncodeError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Unicode-related error occurs during encoding.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UnicodeDecodeError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Unicode-related error occurs during decoding.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24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UnicodeTranslateError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Unicode-related error occurs during translation.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5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ValueError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Raised when a function gets an argument of correct type but improper value.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35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ZeroDivisionError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Raised when the second operand of a division or module operation is zero.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48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Except Block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Useful to catch an exception that is raised in the try block.</a:t>
            </a:r>
          </a:p>
          <a:p>
            <a:pPr algn="just"/>
            <a:r>
              <a:rPr lang="en-US" dirty="0" smtClean="0"/>
              <a:t>It is written in various formats as follow:</a:t>
            </a:r>
          </a:p>
          <a:p>
            <a:pPr algn="just"/>
            <a:r>
              <a:rPr lang="en-US" dirty="0" smtClean="0"/>
              <a:t>Block with the exception class name </a:t>
            </a:r>
          </a:p>
          <a:p>
            <a:pPr lvl="1" algn="just"/>
            <a:r>
              <a:rPr lang="en-US" dirty="0"/>
              <a:t> </a:t>
            </a:r>
            <a:r>
              <a:rPr lang="en-US" dirty="0" smtClean="0"/>
              <a:t> except </a:t>
            </a:r>
            <a:r>
              <a:rPr lang="en-US" dirty="0" err="1" smtClean="0"/>
              <a:t>ExceptionClass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Exception as an object that contains some description about the exception</a:t>
            </a:r>
          </a:p>
          <a:p>
            <a:pPr lvl="1" algn="just"/>
            <a:r>
              <a:rPr lang="en-US" dirty="0" smtClean="0"/>
              <a:t>  except </a:t>
            </a:r>
            <a:r>
              <a:rPr lang="en-US" dirty="0" err="1" smtClean="0"/>
              <a:t>ExceptionClass</a:t>
            </a:r>
            <a:r>
              <a:rPr lang="en-US" dirty="0" smtClean="0"/>
              <a:t> as </a:t>
            </a:r>
            <a:r>
              <a:rPr lang="en-US" dirty="0" err="1" smtClean="0"/>
              <a:t>obj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Single exception block to catch multiple exceptions (as a tuple inside parenthesis)</a:t>
            </a:r>
          </a:p>
          <a:p>
            <a:pPr lvl="1" algn="just"/>
            <a:r>
              <a:rPr lang="en-US" dirty="0"/>
              <a:t> </a:t>
            </a:r>
            <a:r>
              <a:rPr lang="en-US" dirty="0" smtClean="0"/>
              <a:t> except (ExceptionClass1, Exceptionclass2, ….):</a:t>
            </a:r>
          </a:p>
          <a:p>
            <a:pPr algn="just"/>
            <a:r>
              <a:rPr lang="en-US" dirty="0" smtClean="0"/>
              <a:t>Catch any type of exception without bothering its type.</a:t>
            </a:r>
          </a:p>
          <a:p>
            <a:pPr lvl="1" algn="just"/>
            <a:r>
              <a:rPr lang="en-US" dirty="0" smtClean="0"/>
              <a:t>  except: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27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assert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assert statement is useful to ensure that a given condition is True. If it is not true, it raises </a:t>
            </a:r>
            <a:r>
              <a:rPr lang="en-US" dirty="0" err="1" smtClean="0"/>
              <a:t>AssertionError</a:t>
            </a:r>
            <a:endParaRPr lang="en-US" dirty="0" smtClean="0"/>
          </a:p>
          <a:p>
            <a:pPr algn="just"/>
            <a:r>
              <a:rPr lang="en-US" dirty="0" smtClean="0"/>
              <a:t>Syntax : assert condition, message</a:t>
            </a:r>
          </a:p>
          <a:p>
            <a:pPr algn="just"/>
            <a:r>
              <a:rPr lang="en-US" dirty="0" smtClean="0"/>
              <a:t>If the condition is False, then the exception by the name </a:t>
            </a:r>
            <a:r>
              <a:rPr lang="en-US" dirty="0" err="1" smtClean="0"/>
              <a:t>AssertionError</a:t>
            </a:r>
            <a:r>
              <a:rPr lang="en-US" dirty="0" smtClean="0"/>
              <a:t> is raised along with the ‘message’ written in the assert statement.</a:t>
            </a:r>
          </a:p>
          <a:p>
            <a:pPr algn="just"/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0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User-Defined 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Programmer creates his own exception is called user-defined exception or Custom exception</a:t>
            </a:r>
          </a:p>
          <a:p>
            <a:pPr algn="just"/>
            <a:r>
              <a:rPr lang="en-US" dirty="0" smtClean="0"/>
              <a:t>When none of the in-built Python exceptions are useful then need to create own exception and raise it.</a:t>
            </a:r>
          </a:p>
          <a:p>
            <a:pPr algn="just"/>
            <a:r>
              <a:rPr lang="en-US" dirty="0" smtClean="0"/>
              <a:t>Since all exceptions are classes, create own exception as a class as follow:</a:t>
            </a:r>
          </a:p>
          <a:p>
            <a:pPr marL="400050" lvl="1" indent="0" algn="just">
              <a:buNone/>
            </a:pPr>
            <a:r>
              <a:rPr lang="en-US" sz="2600" dirty="0" smtClean="0"/>
              <a:t>class </a:t>
            </a:r>
            <a:r>
              <a:rPr lang="en-US" sz="2600" dirty="0" err="1" smtClean="0"/>
              <a:t>MyException</a:t>
            </a:r>
            <a:r>
              <a:rPr lang="en-US" sz="2600" dirty="0" smtClean="0"/>
              <a:t>(Exception):</a:t>
            </a:r>
          </a:p>
          <a:p>
            <a:pPr marL="400050" lvl="1" indent="0" algn="just">
              <a:buNone/>
            </a:pPr>
            <a:r>
              <a:rPr lang="en-US" sz="2600" dirty="0"/>
              <a:t>	</a:t>
            </a:r>
            <a:r>
              <a:rPr lang="en-US" sz="2600" dirty="0" err="1" smtClean="0"/>
              <a:t>def</a:t>
            </a:r>
            <a:r>
              <a:rPr lang="en-US" sz="2600" dirty="0" smtClean="0"/>
              <a:t> __</a:t>
            </a:r>
            <a:r>
              <a:rPr lang="en-US" sz="2600" dirty="0" err="1" smtClean="0"/>
              <a:t>init</a:t>
            </a:r>
            <a:r>
              <a:rPr lang="en-US" sz="2600" dirty="0" smtClean="0"/>
              <a:t>__(self,  </a:t>
            </a:r>
            <a:r>
              <a:rPr lang="en-US" sz="2600" dirty="0" err="1" smtClean="0"/>
              <a:t>arg</a:t>
            </a:r>
            <a:r>
              <a:rPr lang="en-US" sz="2600" dirty="0" smtClean="0"/>
              <a:t>):</a:t>
            </a:r>
          </a:p>
          <a:p>
            <a:pPr marL="857250" lvl="2" indent="0" algn="just">
              <a:buNone/>
            </a:pPr>
            <a:r>
              <a:rPr lang="en-US" sz="2600" dirty="0"/>
              <a:t>	</a:t>
            </a:r>
            <a:r>
              <a:rPr lang="en-US" sz="2600" dirty="0" smtClean="0"/>
              <a:t>	self.msg  =  </a:t>
            </a:r>
            <a:r>
              <a:rPr lang="en-US" sz="2600" dirty="0" err="1" smtClean="0"/>
              <a:t>arg</a:t>
            </a:r>
            <a:endParaRPr lang="en-US" sz="2600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3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 smtClean="0"/>
              <a:t>‘</a:t>
            </a:r>
            <a:r>
              <a:rPr lang="en-US" sz="2400" dirty="0" err="1" smtClean="0"/>
              <a:t>MyException</a:t>
            </a:r>
            <a:r>
              <a:rPr lang="en-US" sz="2400" dirty="0" smtClean="0"/>
              <a:t>’ class is the sub class for ‘Exception’ class. This class has a constructor where a variable ‘</a:t>
            </a:r>
            <a:r>
              <a:rPr lang="en-US" sz="2400" dirty="0" err="1" smtClean="0"/>
              <a:t>msg</a:t>
            </a:r>
            <a:r>
              <a:rPr lang="en-US" sz="2400" dirty="0" smtClean="0"/>
              <a:t>’ is defined. It receives a message passed </a:t>
            </a:r>
            <a:r>
              <a:rPr lang="en-US" sz="2400" dirty="0"/>
              <a:t>from outside </a:t>
            </a:r>
            <a:r>
              <a:rPr lang="en-US" sz="2400" dirty="0" smtClean="0"/>
              <a:t>through arguments</a:t>
            </a:r>
          </a:p>
          <a:p>
            <a:pPr algn="just"/>
            <a:r>
              <a:rPr lang="en-US" sz="2400" dirty="0" smtClean="0"/>
              <a:t>When the programmer suspects the possibility of exception, he raise his own exception using ‘raise’ statement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raise </a:t>
            </a:r>
            <a:r>
              <a:rPr lang="en-US" sz="2400" dirty="0" err="1" smtClean="0"/>
              <a:t>MyException</a:t>
            </a:r>
            <a:r>
              <a:rPr lang="en-US" sz="2400" dirty="0" smtClean="0"/>
              <a:t>(‘message’)</a:t>
            </a:r>
          </a:p>
          <a:p>
            <a:pPr algn="just"/>
            <a:r>
              <a:rPr lang="en-US" sz="2400" dirty="0" smtClean="0"/>
              <a:t>raise statement is raising </a:t>
            </a:r>
            <a:r>
              <a:rPr lang="en-US" sz="2400" dirty="0" err="1" smtClean="0"/>
              <a:t>MyException</a:t>
            </a:r>
            <a:r>
              <a:rPr lang="en-US" sz="2400" dirty="0" smtClean="0"/>
              <a:t> class object that contains the given message</a:t>
            </a:r>
          </a:p>
          <a:p>
            <a:pPr algn="just"/>
            <a:r>
              <a:rPr lang="en-US" sz="2400" dirty="0" smtClean="0"/>
              <a:t>The programmer can insert the code inside a try block and catch the exception using except block as:</a:t>
            </a:r>
          </a:p>
          <a:p>
            <a:pPr marL="0" indent="0" algn="just">
              <a:buNone/>
            </a:pPr>
            <a:r>
              <a:rPr lang="en-US" sz="2400" dirty="0" smtClean="0"/>
              <a:t>	try: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code</a:t>
            </a:r>
          </a:p>
          <a:p>
            <a:pPr marL="0" indent="0" algn="just">
              <a:buNone/>
            </a:pPr>
            <a:r>
              <a:rPr lang="en-US" sz="2400" dirty="0" smtClean="0"/>
              <a:t>	exception </a:t>
            </a:r>
            <a:r>
              <a:rPr lang="en-US" sz="2400" dirty="0" err="1" smtClean="0"/>
              <a:t>MyException</a:t>
            </a:r>
            <a:r>
              <a:rPr lang="en-US" sz="2400" dirty="0" smtClean="0"/>
              <a:t> as ex: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print(ex)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13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 the Exception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The file which stores the messages, especially of errors or exceptions is called a ‘log’ file and this technique is called logging</a:t>
            </a:r>
          </a:p>
          <a:p>
            <a:pPr algn="just"/>
            <a:r>
              <a:rPr lang="en-US" dirty="0" smtClean="0"/>
              <a:t>Logging helps in debugging the program</a:t>
            </a:r>
          </a:p>
          <a:p>
            <a:pPr algn="just"/>
            <a:r>
              <a:rPr lang="en-US" dirty="0" smtClean="0"/>
              <a:t>Python provides a module ‘logging’ that is useful to create a log file that can store all error messages that may occur while executing a program.</a:t>
            </a:r>
          </a:p>
          <a:p>
            <a:pPr algn="just"/>
            <a:r>
              <a:rPr lang="en-US" dirty="0" smtClean="0"/>
              <a:t>There may be different levels of error messages, an error that crashes the  system must be given more importance than compare to an error that gives warning messages.</a:t>
            </a:r>
          </a:p>
          <a:p>
            <a:pPr algn="just"/>
            <a:r>
              <a:rPr lang="en-US" dirty="0" smtClean="0"/>
              <a:t>So depending on the seriousness of the error, they are classified into 6 levels in ‘logging’ module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34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Logging Error Level and their predefined numerical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CRITICAL - 	50</a:t>
            </a:r>
          </a:p>
          <a:p>
            <a:r>
              <a:rPr lang="en-US" dirty="0" smtClean="0"/>
              <a:t>ERROR - 		40</a:t>
            </a:r>
          </a:p>
          <a:p>
            <a:r>
              <a:rPr lang="en-US" dirty="0" smtClean="0"/>
              <a:t>W</a:t>
            </a:r>
            <a:r>
              <a:rPr lang="en-US" cap="all" dirty="0" smtClean="0"/>
              <a:t>arning</a:t>
            </a:r>
            <a:r>
              <a:rPr lang="en-US" dirty="0" smtClean="0"/>
              <a:t> - 	30</a:t>
            </a:r>
          </a:p>
          <a:p>
            <a:r>
              <a:rPr lang="en-US" dirty="0" smtClean="0"/>
              <a:t>INFO - 		20</a:t>
            </a:r>
          </a:p>
          <a:p>
            <a:r>
              <a:rPr lang="en-US" dirty="0" smtClean="0"/>
              <a:t>DEBUG - 	10</a:t>
            </a:r>
          </a:p>
          <a:p>
            <a:r>
              <a:rPr lang="en-US" dirty="0" smtClean="0"/>
              <a:t>NOTSET - 	 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6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 the Exception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Import logging module</a:t>
            </a:r>
          </a:p>
          <a:p>
            <a:pPr algn="just"/>
            <a:r>
              <a:rPr lang="en-US" dirty="0" smtClean="0"/>
              <a:t>Create a file for logging/ storing messages using </a:t>
            </a:r>
            <a:r>
              <a:rPr lang="en-US" dirty="0" err="1" smtClean="0"/>
              <a:t>basicConfig</a:t>
            </a:r>
            <a:r>
              <a:rPr lang="en-US" dirty="0" smtClean="0"/>
              <a:t>() method as:</a:t>
            </a:r>
          </a:p>
          <a:p>
            <a:pPr algn="just"/>
            <a:r>
              <a:rPr lang="en-US" dirty="0" err="1" smtClean="0"/>
              <a:t>Logging.basicConfig</a:t>
            </a:r>
            <a:r>
              <a:rPr lang="en-US" dirty="0" smtClean="0"/>
              <a:t>(‘</a:t>
            </a:r>
            <a:r>
              <a:rPr lang="en-US" dirty="0" err="1" smtClean="0"/>
              <a:t>filename’,level</a:t>
            </a:r>
            <a:r>
              <a:rPr lang="en-US" dirty="0" smtClean="0"/>
              <a:t>)</a:t>
            </a:r>
          </a:p>
          <a:p>
            <a:pPr algn="just"/>
            <a:r>
              <a:rPr lang="en-US" dirty="0" smtClean="0"/>
              <a:t>Add the messages to the specified file as:</a:t>
            </a:r>
          </a:p>
          <a:p>
            <a:pPr algn="just"/>
            <a:r>
              <a:rPr lang="en-US" dirty="0" err="1" smtClean="0"/>
              <a:t>logging.methodname</a:t>
            </a:r>
            <a:r>
              <a:rPr lang="en-US" dirty="0" smtClean="0"/>
              <a:t>(‘message’)</a:t>
            </a:r>
          </a:p>
          <a:p>
            <a:pPr algn="just"/>
            <a:r>
              <a:rPr lang="en-US" dirty="0" smtClean="0"/>
              <a:t>You can see the logs in the file, mentioned with </a:t>
            </a:r>
            <a:r>
              <a:rPr lang="en-US" dirty="0" err="1" smtClean="0"/>
              <a:t>basicConfig</a:t>
            </a:r>
            <a:r>
              <a:rPr lang="en-US" smtClean="0"/>
              <a:t> method.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307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datetime</a:t>
            </a:r>
            <a:r>
              <a:rPr lang="en-US" dirty="0" smtClean="0"/>
              <a:t> module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date in Python is not a data type of its own, but we can import a module named </a:t>
            </a:r>
            <a:r>
              <a:rPr lang="en-US" dirty="0" err="1"/>
              <a:t>datetime</a:t>
            </a:r>
            <a:r>
              <a:rPr lang="en-US" dirty="0"/>
              <a:t> to work with dates as date objects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</a:t>
            </a:r>
          </a:p>
          <a:p>
            <a:pPr marL="400050" lvl="1" indent="0">
              <a:buNone/>
            </a:pPr>
            <a:r>
              <a:rPr lang="en-US" dirty="0"/>
              <a:t>from </a:t>
            </a:r>
            <a:r>
              <a:rPr lang="en-US" dirty="0" err="1"/>
              <a:t>datetime</a:t>
            </a:r>
            <a:r>
              <a:rPr lang="en-US" dirty="0"/>
              <a:t> import </a:t>
            </a:r>
            <a:r>
              <a:rPr lang="en-US" dirty="0" err="1" smtClean="0"/>
              <a:t>datetime</a:t>
            </a:r>
            <a:endParaRPr lang="en-US" dirty="0" smtClean="0"/>
          </a:p>
          <a:p>
            <a:pPr marL="400050" lvl="1" indent="0">
              <a:buNone/>
            </a:pPr>
            <a:r>
              <a:rPr lang="en-US" dirty="0" err="1"/>
              <a:t>dt</a:t>
            </a:r>
            <a:r>
              <a:rPr lang="en-US" dirty="0"/>
              <a:t> = </a:t>
            </a:r>
            <a:r>
              <a:rPr lang="en-US" dirty="0" err="1"/>
              <a:t>datetime.strptime</a:t>
            </a:r>
            <a:r>
              <a:rPr lang="en-US" dirty="0"/>
              <a:t>(</a:t>
            </a:r>
            <a:r>
              <a:rPr lang="en-US" dirty="0" err="1"/>
              <a:t>userInput</a:t>
            </a:r>
            <a:r>
              <a:rPr lang="en-US" dirty="0"/>
              <a:t>, "%d/%m/%y")</a:t>
            </a:r>
          </a:p>
          <a:p>
            <a:pPr marL="400050" lvl="1" indent="0">
              <a:buNone/>
            </a:pPr>
            <a:r>
              <a:rPr lang="en-US" dirty="0" err="1" smtClean="0"/>
              <a:t>dObj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datetime</a:t>
            </a: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print(</a:t>
            </a:r>
            <a:r>
              <a:rPr lang="en-US" dirty="0" err="1"/>
              <a:t>dObj</a:t>
            </a:r>
            <a:r>
              <a:rPr lang="en-US" dirty="0" err="1" smtClean="0"/>
              <a:t>.now</a:t>
            </a:r>
            <a:r>
              <a:rPr lang="en-US" dirty="0"/>
              <a:t>())</a:t>
            </a:r>
          </a:p>
          <a:p>
            <a:pPr marL="400050" lvl="1" indent="0">
              <a:buNone/>
            </a:pPr>
            <a:r>
              <a:rPr lang="en-US" dirty="0" smtClean="0"/>
              <a:t>print(</a:t>
            </a:r>
            <a:r>
              <a:rPr lang="en-US" dirty="0" err="1"/>
              <a:t>dObj</a:t>
            </a:r>
            <a:r>
              <a:rPr lang="en-US" dirty="0" err="1" smtClean="0"/>
              <a:t>.now</a:t>
            </a:r>
            <a:r>
              <a:rPr lang="en-US" dirty="0"/>
              <a:t>().year)</a:t>
            </a:r>
          </a:p>
          <a:p>
            <a:pPr marL="400050" lvl="1" indent="0">
              <a:buNone/>
            </a:pPr>
            <a:r>
              <a:rPr lang="en-US" dirty="0" smtClean="0"/>
              <a:t>print(</a:t>
            </a:r>
            <a:r>
              <a:rPr lang="en-US" dirty="0" err="1"/>
              <a:t>dObj</a:t>
            </a:r>
            <a:r>
              <a:rPr lang="en-US" dirty="0" err="1" smtClean="0"/>
              <a:t>.now</a:t>
            </a:r>
            <a:r>
              <a:rPr lang="en-US" dirty="0"/>
              <a:t>().month)</a:t>
            </a:r>
          </a:p>
          <a:p>
            <a:pPr marL="400050" lvl="1" indent="0">
              <a:buNone/>
            </a:pPr>
            <a:r>
              <a:rPr lang="en-US" dirty="0" smtClean="0"/>
              <a:t>print(</a:t>
            </a:r>
            <a:r>
              <a:rPr lang="en-US" dirty="0" err="1"/>
              <a:t>dObj</a:t>
            </a:r>
            <a:r>
              <a:rPr lang="en-US" dirty="0" err="1" smtClean="0"/>
              <a:t>.now</a:t>
            </a:r>
            <a:r>
              <a:rPr lang="en-US" dirty="0"/>
              <a:t>().day)</a:t>
            </a:r>
          </a:p>
          <a:p>
            <a:pPr marL="400050" lvl="1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datetime.strftime</a:t>
            </a:r>
            <a:r>
              <a:rPr lang="en-US" dirty="0" smtClean="0"/>
              <a:t>(</a:t>
            </a:r>
            <a:r>
              <a:rPr lang="en-US" dirty="0" err="1" smtClean="0"/>
              <a:t>dObj.now</a:t>
            </a:r>
            <a:r>
              <a:rPr lang="en-US" dirty="0"/>
              <a:t>(),"%a"))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49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47202"/>
            <a:ext cx="8153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reference of all the legal format codes:</a:t>
            </a:r>
          </a:p>
          <a:p>
            <a:r>
              <a:rPr lang="en-US" dirty="0"/>
              <a:t>Directive 	Description 	</a:t>
            </a:r>
            <a:r>
              <a:rPr lang="en-US" dirty="0" smtClean="0"/>
              <a:t>			Example 	</a:t>
            </a:r>
          </a:p>
          <a:p>
            <a:r>
              <a:rPr lang="en-US" dirty="0" smtClean="0"/>
              <a:t>%a 	Weekday, short version 			Wed 	</a:t>
            </a:r>
          </a:p>
          <a:p>
            <a:r>
              <a:rPr lang="en-US" dirty="0" smtClean="0"/>
              <a:t>%</a:t>
            </a:r>
            <a:r>
              <a:rPr lang="en-US" dirty="0"/>
              <a:t>A 	Weekday, full version 	</a:t>
            </a:r>
            <a:r>
              <a:rPr lang="en-US" dirty="0" smtClean="0"/>
              <a:t>		Wednesday </a:t>
            </a:r>
            <a:r>
              <a:rPr lang="en-US" dirty="0"/>
              <a:t>	</a:t>
            </a:r>
          </a:p>
          <a:p>
            <a:r>
              <a:rPr lang="en-US" dirty="0"/>
              <a:t>%w 	Weekday as a number </a:t>
            </a:r>
            <a:r>
              <a:rPr lang="en-US" dirty="0" smtClean="0"/>
              <a:t>0-6, </a:t>
            </a:r>
            <a:r>
              <a:rPr lang="en-US" dirty="0"/>
              <a:t>0 is Sunday 	</a:t>
            </a:r>
            <a:r>
              <a:rPr lang="en-US" dirty="0" smtClean="0"/>
              <a:t>	3 </a:t>
            </a:r>
            <a:r>
              <a:rPr lang="en-US" dirty="0"/>
              <a:t>	</a:t>
            </a:r>
          </a:p>
          <a:p>
            <a:r>
              <a:rPr lang="en-US" dirty="0"/>
              <a:t>%d 	Day of month 01-31 	</a:t>
            </a:r>
            <a:r>
              <a:rPr lang="en-US" dirty="0" smtClean="0"/>
              <a:t>		31 </a:t>
            </a:r>
            <a:r>
              <a:rPr lang="en-US" dirty="0"/>
              <a:t>	</a:t>
            </a:r>
          </a:p>
          <a:p>
            <a:r>
              <a:rPr lang="en-US" dirty="0"/>
              <a:t>%b 	Month name, short version 	</a:t>
            </a:r>
            <a:r>
              <a:rPr lang="en-US" dirty="0" smtClean="0"/>
              <a:t>		Dec </a:t>
            </a:r>
            <a:r>
              <a:rPr lang="en-US" dirty="0"/>
              <a:t>	</a:t>
            </a:r>
          </a:p>
          <a:p>
            <a:r>
              <a:rPr lang="en-US" dirty="0"/>
              <a:t>%B 	Month name, full version 	</a:t>
            </a:r>
            <a:r>
              <a:rPr lang="en-US" dirty="0" smtClean="0"/>
              <a:t>		December </a:t>
            </a:r>
            <a:r>
              <a:rPr lang="en-US" dirty="0"/>
              <a:t>	</a:t>
            </a:r>
          </a:p>
          <a:p>
            <a:r>
              <a:rPr lang="en-US" dirty="0"/>
              <a:t>%m 	Month as a number 01-12 	</a:t>
            </a:r>
            <a:r>
              <a:rPr lang="en-US" dirty="0" smtClean="0"/>
              <a:t>		12 </a:t>
            </a:r>
            <a:r>
              <a:rPr lang="en-US" dirty="0"/>
              <a:t>	</a:t>
            </a:r>
          </a:p>
          <a:p>
            <a:r>
              <a:rPr lang="en-US" dirty="0"/>
              <a:t>%y 	Year, short version, without century 	</a:t>
            </a:r>
            <a:r>
              <a:rPr lang="en-US" dirty="0" smtClean="0"/>
              <a:t>	18 </a:t>
            </a:r>
            <a:r>
              <a:rPr lang="en-US" dirty="0"/>
              <a:t>	</a:t>
            </a:r>
          </a:p>
          <a:p>
            <a:r>
              <a:rPr lang="en-US" dirty="0"/>
              <a:t>%Y 	Year, full version 	</a:t>
            </a:r>
            <a:r>
              <a:rPr lang="en-US" dirty="0" smtClean="0"/>
              <a:t>			2018 </a:t>
            </a:r>
            <a:r>
              <a:rPr lang="en-US" dirty="0"/>
              <a:t>	</a:t>
            </a:r>
          </a:p>
          <a:p>
            <a:r>
              <a:rPr lang="en-US" dirty="0"/>
              <a:t>%H 	Hour 00-23 	</a:t>
            </a:r>
            <a:r>
              <a:rPr lang="en-US" dirty="0" smtClean="0"/>
              <a:t>			17 </a:t>
            </a:r>
            <a:r>
              <a:rPr lang="en-US" dirty="0"/>
              <a:t>	</a:t>
            </a:r>
          </a:p>
          <a:p>
            <a:r>
              <a:rPr lang="en-US" dirty="0"/>
              <a:t>%I 	Hour 00-12 	</a:t>
            </a:r>
            <a:r>
              <a:rPr lang="en-US" dirty="0" smtClean="0"/>
              <a:t>			05 </a:t>
            </a:r>
            <a:r>
              <a:rPr lang="en-US" dirty="0"/>
              <a:t>	</a:t>
            </a:r>
          </a:p>
          <a:p>
            <a:r>
              <a:rPr lang="en-US" dirty="0"/>
              <a:t>%p 	AM/PM 	PM 	</a:t>
            </a:r>
          </a:p>
          <a:p>
            <a:r>
              <a:rPr lang="en-US" dirty="0"/>
              <a:t>%M 	Minute 00-59 	</a:t>
            </a:r>
            <a:r>
              <a:rPr lang="en-US" dirty="0" smtClean="0"/>
              <a:t>			41 </a:t>
            </a:r>
            <a:r>
              <a:rPr lang="en-US" dirty="0"/>
              <a:t>	</a:t>
            </a:r>
          </a:p>
          <a:p>
            <a:r>
              <a:rPr lang="en-US" dirty="0"/>
              <a:t>%S 	Second 00-59 	</a:t>
            </a:r>
            <a:r>
              <a:rPr lang="en-US" dirty="0" smtClean="0"/>
              <a:t>			08 </a:t>
            </a:r>
            <a:r>
              <a:rPr lang="en-US" dirty="0"/>
              <a:t>	</a:t>
            </a:r>
          </a:p>
          <a:p>
            <a:r>
              <a:rPr lang="en-US" dirty="0"/>
              <a:t>%f 	Microsecond 000000-999999 	</a:t>
            </a:r>
            <a:r>
              <a:rPr lang="en-US" dirty="0" smtClean="0"/>
              <a:t>	548513</a:t>
            </a:r>
          </a:p>
          <a:p>
            <a:r>
              <a:rPr lang="en-US" dirty="0" smtClean="0"/>
              <a:t>%Z	</a:t>
            </a:r>
            <a:r>
              <a:rPr lang="en-US" dirty="0" err="1" smtClean="0"/>
              <a:t>Timezone</a:t>
            </a:r>
            <a:r>
              <a:rPr lang="en-US" dirty="0" smtClean="0"/>
              <a:t> </a:t>
            </a:r>
            <a:r>
              <a:rPr lang="en-US" dirty="0"/>
              <a:t>				</a:t>
            </a:r>
            <a:r>
              <a:rPr lang="en-US" dirty="0" smtClean="0"/>
              <a:t>CST </a:t>
            </a:r>
            <a:r>
              <a:rPr lang="en-US" dirty="0"/>
              <a:t>	</a:t>
            </a:r>
          </a:p>
          <a:p>
            <a:r>
              <a:rPr lang="en-US" dirty="0"/>
              <a:t>%j 	Day number of year 001-366 			</a:t>
            </a:r>
            <a:r>
              <a:rPr lang="en-US" dirty="0" smtClean="0"/>
              <a:t>365 </a:t>
            </a:r>
            <a:r>
              <a:rPr lang="en-US" dirty="0"/>
              <a:t>	</a:t>
            </a:r>
          </a:p>
          <a:p>
            <a:r>
              <a:rPr lang="en-US" dirty="0"/>
              <a:t>%U 	Week number of year, Sunday as the first day of week, 00-53 	52 </a:t>
            </a:r>
          </a:p>
          <a:p>
            <a:r>
              <a:rPr lang="en-US" dirty="0"/>
              <a:t>%W 	Week number of year, Monday as the first day of week, 00-53 	52 </a:t>
            </a:r>
          </a:p>
          <a:p>
            <a:r>
              <a:rPr lang="en-US" dirty="0"/>
              <a:t>%c 	Local version of date and time 	Mon Dec 31 17:41:00 2018 	</a:t>
            </a:r>
          </a:p>
          <a:p>
            <a:r>
              <a:rPr lang="en-US" dirty="0"/>
              <a:t>%x 	Local version of date 		12/31/18 	</a:t>
            </a:r>
          </a:p>
          <a:p>
            <a:r>
              <a:rPr lang="en-US" dirty="0"/>
              <a:t>%X 	Local version of time 		17:41:00 </a:t>
            </a: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2673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1226</Words>
  <Application>Microsoft Office PowerPoint</Application>
  <PresentationFormat>On-screen Show (4:3)</PresentationFormat>
  <Paragraphs>199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Exceptions</vt:lpstr>
      <vt:lpstr>Errors in Python Program</vt:lpstr>
      <vt:lpstr>Exceptions</vt:lpstr>
      <vt:lpstr>Important Exception classes in Python</vt:lpstr>
      <vt:lpstr>Exception Handling</vt:lpstr>
      <vt:lpstr>Points to Remember</vt:lpstr>
      <vt:lpstr>Few examples of Exceptions</vt:lpstr>
      <vt:lpstr>PowerPoint Presentation</vt:lpstr>
      <vt:lpstr>PowerPoint Presentation</vt:lpstr>
      <vt:lpstr>The Except Block</vt:lpstr>
      <vt:lpstr>The assert statement</vt:lpstr>
      <vt:lpstr>User-Defined Exceptions</vt:lpstr>
      <vt:lpstr>Cont…</vt:lpstr>
      <vt:lpstr>Logging the Exception</vt:lpstr>
      <vt:lpstr>Logging Error Level and their predefined numerical values</vt:lpstr>
      <vt:lpstr>Logging the Exception steps</vt:lpstr>
      <vt:lpstr>datetime module in Python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creator>urja</dc:creator>
  <cp:lastModifiedBy>Administrator</cp:lastModifiedBy>
  <cp:revision>114</cp:revision>
  <dcterms:created xsi:type="dcterms:W3CDTF">2006-08-16T00:00:00Z</dcterms:created>
  <dcterms:modified xsi:type="dcterms:W3CDTF">2021-01-11T04:03:04Z</dcterms:modified>
</cp:coreProperties>
</file>