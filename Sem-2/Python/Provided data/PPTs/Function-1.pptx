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1" r:id="rId5"/>
    <p:sldId id="259" r:id="rId6"/>
    <p:sldId id="262" r:id="rId7"/>
    <p:sldId id="260"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12" autoAdjust="0"/>
    <p:restoredTop sz="94660"/>
  </p:normalViewPr>
  <p:slideViewPr>
    <p:cSldViewPr snapToGrid="0">
      <p:cViewPr varScale="1">
        <p:scale>
          <a:sx n="70" d="100"/>
          <a:sy n="70" d="100"/>
        </p:scale>
        <p:origin x="8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12/30/2023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12/30/2023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12/30/2023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12/30/2023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1005" y="588613"/>
            <a:ext cx="7766936" cy="403060"/>
          </a:xfrm>
        </p:spPr>
        <p:txBody>
          <a:bodyPr/>
          <a:lstStyle/>
          <a:p>
            <a:pPr algn="l"/>
            <a:r>
              <a:rPr lang="en-US" sz="1600" dirty="0"/>
              <a:t>Unit II</a:t>
            </a:r>
            <a:r>
              <a:rPr lang="en-US" sz="3200" b="1" dirty="0">
                <a:solidFill>
                  <a:srgbClr val="0070C0"/>
                </a:solidFill>
              </a:rPr>
              <a:t/>
            </a:r>
            <a:br>
              <a:rPr lang="en-US" sz="3200" b="1" dirty="0">
                <a:solidFill>
                  <a:srgbClr val="0070C0"/>
                </a:solidFill>
              </a:rPr>
            </a:br>
            <a:r>
              <a:rPr lang="en-US" sz="3200" b="1" dirty="0">
                <a:solidFill>
                  <a:srgbClr val="0070C0"/>
                </a:solidFill>
              </a:rPr>
              <a:t>Functions, Scoping and Abstraction:</a:t>
            </a:r>
          </a:p>
        </p:txBody>
      </p:sp>
      <p:sp>
        <p:nvSpPr>
          <p:cNvPr id="3" name="Subtitle 2"/>
          <p:cNvSpPr>
            <a:spLocks noGrp="1"/>
          </p:cNvSpPr>
          <p:nvPr>
            <p:ph type="subTitle" idx="1"/>
          </p:nvPr>
        </p:nvSpPr>
        <p:spPr>
          <a:xfrm>
            <a:off x="662152" y="1249251"/>
            <a:ext cx="8405789" cy="5403797"/>
          </a:xfrm>
        </p:spPr>
        <p:txBody>
          <a:bodyPr/>
          <a:lstStyle/>
          <a:p>
            <a:pPr algn="l"/>
            <a:r>
              <a:rPr lang="en-US" dirty="0"/>
              <a:t>function is a named block of code that performs a specific task or set of tasks</a:t>
            </a:r>
          </a:p>
          <a:p>
            <a:pPr algn="l"/>
            <a:r>
              <a:rPr lang="en-US" dirty="0">
                <a:solidFill>
                  <a:srgbClr val="C00000"/>
                </a:solidFill>
              </a:rPr>
              <a:t>A function is like a mini-program inside your main program. It's a way to group together a set of instructions to do a specific job.</a:t>
            </a:r>
          </a:p>
          <a:p>
            <a:pPr algn="l"/>
            <a:endParaRPr lang="en-US" dirty="0">
              <a:solidFill>
                <a:srgbClr val="C00000"/>
              </a:solidFill>
            </a:endParaRPr>
          </a:p>
          <a:p>
            <a:pPr algn="l"/>
            <a:r>
              <a:rPr lang="en-US" b="1" dirty="0"/>
              <a:t>Why use functions?</a:t>
            </a:r>
            <a:endParaRPr lang="en-US" dirty="0">
              <a:solidFill>
                <a:srgbClr val="C00000"/>
              </a:solidFill>
            </a:endParaRPr>
          </a:p>
          <a:p>
            <a:pPr algn="l"/>
            <a:r>
              <a:rPr lang="en-US" dirty="0">
                <a:solidFill>
                  <a:srgbClr val="002060"/>
                </a:solidFill>
              </a:rPr>
              <a:t>1) Breaking Down Tasks:</a:t>
            </a:r>
          </a:p>
          <a:p>
            <a:pPr algn="l"/>
            <a:r>
              <a:rPr lang="en-US" dirty="0">
                <a:solidFill>
                  <a:srgbClr val="C00000"/>
                </a:solidFill>
              </a:rPr>
              <a:t>Functions help break complex tasks into smaller, manageable parts.</a:t>
            </a:r>
          </a:p>
          <a:p>
            <a:pPr algn="l"/>
            <a:r>
              <a:rPr lang="en-US" dirty="0">
                <a:solidFill>
                  <a:srgbClr val="002060"/>
                </a:solidFill>
              </a:rPr>
              <a:t>2) Reuse Code:</a:t>
            </a:r>
            <a:endParaRPr lang="en-US" dirty="0">
              <a:solidFill>
                <a:srgbClr val="C00000"/>
              </a:solidFill>
            </a:endParaRPr>
          </a:p>
          <a:p>
            <a:pPr algn="l"/>
            <a:r>
              <a:rPr lang="en-US" dirty="0">
                <a:solidFill>
                  <a:srgbClr val="C00000"/>
                </a:solidFill>
              </a:rPr>
              <a:t>You can write code once and use it again in different parts of your program.</a:t>
            </a:r>
          </a:p>
          <a:p>
            <a:pPr algn="l"/>
            <a:r>
              <a:rPr lang="en-US" dirty="0">
                <a:solidFill>
                  <a:srgbClr val="002060"/>
                </a:solidFill>
              </a:rPr>
              <a:t>3) Readability:</a:t>
            </a:r>
          </a:p>
          <a:p>
            <a:pPr algn="l"/>
            <a:r>
              <a:rPr lang="en-US" dirty="0">
                <a:solidFill>
                  <a:srgbClr val="C00000"/>
                </a:solidFill>
              </a:rPr>
              <a:t>Functions make your code easier to understand by organizing it like chapters in a book.</a:t>
            </a:r>
          </a:p>
        </p:txBody>
      </p:sp>
    </p:spTree>
    <p:extLst>
      <p:ext uri="{BB962C8B-B14F-4D97-AF65-F5344CB8AC3E}">
        <p14:creationId xmlns:p14="http://schemas.microsoft.com/office/powerpoint/2010/main" val="38435925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472967"/>
            <a:ext cx="8596668" cy="5568396"/>
          </a:xfrm>
        </p:spPr>
        <p:txBody>
          <a:bodyPr>
            <a:normAutofit/>
          </a:bodyPr>
          <a:lstStyle/>
          <a:p>
            <a:pPr marL="0" indent="0">
              <a:buNone/>
            </a:pPr>
            <a:r>
              <a:rPr lang="en-US" sz="2400" b="1" dirty="0">
                <a:solidFill>
                  <a:srgbClr val="002060"/>
                </a:solidFill>
              </a:rPr>
              <a:t>                               Functions Used in python </a:t>
            </a:r>
          </a:p>
          <a:p>
            <a:pPr marL="0" indent="0">
              <a:buNone/>
            </a:pPr>
            <a:r>
              <a:rPr lang="en-US" sz="2400" b="1" dirty="0">
                <a:solidFill>
                  <a:srgbClr val="002060"/>
                </a:solidFill>
              </a:rPr>
              <a:t>                                                                </a:t>
            </a:r>
            <a:r>
              <a:rPr lang="en-US" sz="1600" b="1" dirty="0">
                <a:solidFill>
                  <a:srgbClr val="FF0000"/>
                </a:solidFill>
              </a:rPr>
              <a:t>Optional</a:t>
            </a:r>
          </a:p>
          <a:p>
            <a:pPr marL="0" indent="0">
              <a:buNone/>
            </a:pPr>
            <a:r>
              <a:rPr lang="en-US" sz="2400" b="1" i="1" dirty="0">
                <a:solidFill>
                  <a:srgbClr val="002060"/>
                </a:solidFill>
              </a:rPr>
              <a:t>  </a:t>
            </a:r>
            <a:r>
              <a:rPr lang="en-US" sz="2400" dirty="0" err="1">
                <a:solidFill>
                  <a:srgbClr val="002060"/>
                </a:solidFill>
              </a:rPr>
              <a:t>def</a:t>
            </a:r>
            <a:r>
              <a:rPr lang="en-US" sz="2400" dirty="0">
                <a:solidFill>
                  <a:srgbClr val="002060"/>
                </a:solidFill>
              </a:rPr>
              <a:t>  </a:t>
            </a:r>
            <a:r>
              <a:rPr lang="en-US" sz="2400" dirty="0" err="1">
                <a:solidFill>
                  <a:srgbClr val="002060"/>
                </a:solidFill>
              </a:rPr>
              <a:t>function_name</a:t>
            </a:r>
            <a:r>
              <a:rPr lang="en-US" sz="2400" dirty="0">
                <a:solidFill>
                  <a:srgbClr val="002060"/>
                </a:solidFill>
              </a:rPr>
              <a:t> (parameters): </a:t>
            </a:r>
          </a:p>
          <a:p>
            <a:pPr marL="0" indent="0">
              <a:buNone/>
            </a:pPr>
            <a:r>
              <a:rPr lang="en-US" sz="2400" i="1" dirty="0">
                <a:solidFill>
                  <a:srgbClr val="002060"/>
                </a:solidFill>
              </a:rPr>
              <a:t>        “ “ “                                                  </a:t>
            </a:r>
            <a:r>
              <a:rPr lang="en-US" sz="1600" b="1" dirty="0">
                <a:solidFill>
                  <a:srgbClr val="FF0000"/>
                </a:solidFill>
              </a:rPr>
              <a:t>Optional</a:t>
            </a:r>
            <a:endParaRPr lang="en-US" sz="2400" i="1" dirty="0">
              <a:solidFill>
                <a:srgbClr val="002060"/>
              </a:solidFill>
            </a:endParaRPr>
          </a:p>
          <a:p>
            <a:pPr marL="0" indent="0">
              <a:buNone/>
            </a:pPr>
            <a:r>
              <a:rPr lang="en-US" dirty="0">
                <a:solidFill>
                  <a:srgbClr val="002060"/>
                </a:solidFill>
              </a:rPr>
              <a:t>           </a:t>
            </a:r>
            <a:r>
              <a:rPr lang="en-US" dirty="0" err="1">
                <a:solidFill>
                  <a:srgbClr val="002060"/>
                </a:solidFill>
              </a:rPr>
              <a:t>Docstring</a:t>
            </a:r>
            <a:r>
              <a:rPr lang="en-US" dirty="0">
                <a:solidFill>
                  <a:srgbClr val="002060"/>
                </a:solidFill>
              </a:rPr>
              <a:t> – brief description of the function.          </a:t>
            </a:r>
          </a:p>
          <a:p>
            <a:pPr marL="0" indent="0">
              <a:buNone/>
            </a:pPr>
            <a:r>
              <a:rPr lang="en-US" dirty="0">
                <a:solidFill>
                  <a:srgbClr val="002060"/>
                </a:solidFill>
              </a:rPr>
              <a:t>           “ “ “</a:t>
            </a:r>
          </a:p>
          <a:p>
            <a:pPr marL="0" indent="0">
              <a:buNone/>
            </a:pPr>
            <a:r>
              <a:rPr lang="en-US" dirty="0">
                <a:solidFill>
                  <a:srgbClr val="002060"/>
                </a:solidFill>
              </a:rPr>
              <a:t>            # function body – statements that define what the function does.</a:t>
            </a:r>
          </a:p>
          <a:p>
            <a:pPr marL="0" indent="0">
              <a:buNone/>
            </a:pPr>
            <a:r>
              <a:rPr lang="en-US" dirty="0">
                <a:solidFill>
                  <a:srgbClr val="002060"/>
                </a:solidFill>
              </a:rPr>
              <a:t>            # the body can contain one or more statements.</a:t>
            </a:r>
          </a:p>
          <a:p>
            <a:pPr marL="0" indent="0">
              <a:buNone/>
            </a:pPr>
            <a:r>
              <a:rPr lang="en-US" dirty="0">
                <a:solidFill>
                  <a:srgbClr val="002060"/>
                </a:solidFill>
              </a:rPr>
              <a:t>             return value                        </a:t>
            </a:r>
            <a:r>
              <a:rPr lang="en-US" sz="1400" b="1" dirty="0">
                <a:solidFill>
                  <a:srgbClr val="FF0000"/>
                </a:solidFill>
              </a:rPr>
              <a:t>Optional</a:t>
            </a:r>
            <a:endParaRPr lang="en-US" sz="1400" i="1" dirty="0">
              <a:solidFill>
                <a:srgbClr val="002060"/>
              </a:solidFill>
            </a:endParaRPr>
          </a:p>
          <a:p>
            <a:pPr marL="0" indent="0">
              <a:buNone/>
            </a:pPr>
            <a:endParaRPr lang="en-US" dirty="0">
              <a:solidFill>
                <a:srgbClr val="002060"/>
              </a:solidFill>
            </a:endParaRPr>
          </a:p>
          <a:p>
            <a:pPr marL="0" indent="0">
              <a:buNone/>
            </a:pPr>
            <a:endParaRPr lang="en-US" dirty="0">
              <a:solidFill>
                <a:srgbClr val="002060"/>
              </a:solidFill>
            </a:endParaRPr>
          </a:p>
          <a:p>
            <a:pPr marL="0" indent="0">
              <a:buNone/>
            </a:pPr>
            <a:r>
              <a:rPr lang="en-US" dirty="0">
                <a:solidFill>
                  <a:srgbClr val="002060"/>
                </a:solidFill>
              </a:rPr>
              <a:t>            </a:t>
            </a:r>
            <a:endParaRPr lang="en-US" dirty="0">
              <a:solidFill>
                <a:srgbClr val="FF0000"/>
              </a:solidFill>
            </a:endParaRPr>
          </a:p>
        </p:txBody>
      </p:sp>
      <p:cxnSp>
        <p:nvCxnSpPr>
          <p:cNvPr id="5" name="Straight Arrow Connector 4"/>
          <p:cNvCxnSpPr/>
          <p:nvPr/>
        </p:nvCxnSpPr>
        <p:spPr>
          <a:xfrm flipV="1">
            <a:off x="5202621" y="1277007"/>
            <a:ext cx="1434662" cy="236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5202621" y="2199288"/>
            <a:ext cx="1434662" cy="236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958663" y="4290848"/>
            <a:ext cx="1550275" cy="13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7418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15311"/>
            <a:ext cx="8596668" cy="5726052"/>
          </a:xfrm>
        </p:spPr>
        <p:txBody>
          <a:bodyPr/>
          <a:lstStyle/>
          <a:p>
            <a:pPr marL="0" indent="0">
              <a:buNone/>
            </a:pPr>
            <a:r>
              <a:rPr lang="en-US" dirty="0"/>
              <a:t>Example: without parameters ()</a:t>
            </a:r>
          </a:p>
          <a:p>
            <a:pPr marL="0" indent="0">
              <a:buNone/>
            </a:pPr>
            <a:r>
              <a:rPr lang="en-US" dirty="0" err="1">
                <a:solidFill>
                  <a:srgbClr val="FF0000"/>
                </a:solidFill>
              </a:rPr>
              <a:t>def</a:t>
            </a:r>
            <a:r>
              <a:rPr lang="en-US" dirty="0">
                <a:solidFill>
                  <a:srgbClr val="FF0000"/>
                </a:solidFill>
              </a:rPr>
              <a:t> f1():</a:t>
            </a:r>
          </a:p>
          <a:p>
            <a:pPr marL="0" indent="0">
              <a:buNone/>
            </a:pPr>
            <a:r>
              <a:rPr lang="en-US" dirty="0">
                <a:solidFill>
                  <a:srgbClr val="FF0000"/>
                </a:solidFill>
              </a:rPr>
              <a:t>            print('Hello')</a:t>
            </a:r>
          </a:p>
          <a:p>
            <a:pPr marL="0" indent="0">
              <a:buNone/>
            </a:pPr>
            <a:r>
              <a:rPr lang="en-US" dirty="0">
                <a:solidFill>
                  <a:srgbClr val="FF0000"/>
                </a:solidFill>
              </a:rPr>
              <a:t>f1()</a:t>
            </a:r>
          </a:p>
          <a:p>
            <a:pPr marL="0" indent="0">
              <a:buNone/>
            </a:pPr>
            <a:r>
              <a:rPr lang="en-US" dirty="0">
                <a:solidFill>
                  <a:srgbClr val="00B0F0"/>
                </a:solidFill>
              </a:rPr>
              <a:t>Here:- we can call the function many time – just we can call or print – f1() again and again .</a:t>
            </a:r>
            <a:endParaRPr lang="en-US" dirty="0">
              <a:solidFill>
                <a:srgbClr val="FF0000"/>
              </a:solidFill>
            </a:endParaRPr>
          </a:p>
          <a:p>
            <a:pPr marL="0" indent="0">
              <a:buNone/>
            </a:pPr>
            <a:r>
              <a:rPr lang="en-US" dirty="0" err="1">
                <a:solidFill>
                  <a:srgbClr val="FF0000"/>
                </a:solidFill>
              </a:rPr>
              <a:t>def</a:t>
            </a:r>
            <a:r>
              <a:rPr lang="en-US" dirty="0">
                <a:solidFill>
                  <a:srgbClr val="FF0000"/>
                </a:solidFill>
              </a:rPr>
              <a:t> f1():</a:t>
            </a:r>
          </a:p>
          <a:p>
            <a:pPr marL="0" indent="0">
              <a:buNone/>
            </a:pPr>
            <a:r>
              <a:rPr lang="en-US" dirty="0">
                <a:solidFill>
                  <a:srgbClr val="FF0000"/>
                </a:solidFill>
              </a:rPr>
              <a:t>               print('Hello')</a:t>
            </a:r>
          </a:p>
          <a:p>
            <a:pPr marL="0" indent="0">
              <a:buNone/>
            </a:pPr>
            <a:r>
              <a:rPr lang="en-US" dirty="0">
                <a:solidFill>
                  <a:srgbClr val="FF0000"/>
                </a:solidFill>
              </a:rPr>
              <a:t>f1()</a:t>
            </a:r>
          </a:p>
          <a:p>
            <a:pPr marL="0" indent="0">
              <a:buNone/>
            </a:pPr>
            <a:r>
              <a:rPr lang="en-US" dirty="0">
                <a:solidFill>
                  <a:srgbClr val="FF0000"/>
                </a:solidFill>
              </a:rPr>
              <a:t>f1()</a:t>
            </a:r>
          </a:p>
          <a:p>
            <a:pPr marL="0" indent="0">
              <a:buNone/>
            </a:pPr>
            <a:r>
              <a:rPr lang="en-US" dirty="0">
                <a:solidFill>
                  <a:srgbClr val="FF0000"/>
                </a:solidFill>
              </a:rPr>
              <a:t>f1() </a:t>
            </a:r>
          </a:p>
        </p:txBody>
      </p:sp>
    </p:spTree>
    <p:extLst>
      <p:ext uri="{BB962C8B-B14F-4D97-AF65-F5344CB8AC3E}">
        <p14:creationId xmlns:p14="http://schemas.microsoft.com/office/powerpoint/2010/main" val="34368623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ADAA866-2DCE-7486-6C3A-376492A349EE}"/>
              </a:ext>
            </a:extLst>
          </p:cNvPr>
          <p:cNvSpPr>
            <a:spLocks noGrp="1"/>
          </p:cNvSpPr>
          <p:nvPr>
            <p:ph idx="1"/>
          </p:nvPr>
        </p:nvSpPr>
        <p:spPr>
          <a:xfrm>
            <a:off x="677334" y="583097"/>
            <a:ext cx="8596668" cy="5458266"/>
          </a:xfrm>
        </p:spPr>
        <p:txBody>
          <a:bodyPr/>
          <a:lstStyle/>
          <a:p>
            <a:r>
              <a:rPr lang="en-US" sz="2400" dirty="0">
                <a:solidFill>
                  <a:srgbClr val="002060"/>
                </a:solidFill>
              </a:rPr>
              <a:t>We have used some of the built-in functions like </a:t>
            </a:r>
            <a:r>
              <a:rPr lang="en-US" sz="2400" dirty="0" err="1">
                <a:solidFill>
                  <a:srgbClr val="002060"/>
                </a:solidFill>
              </a:rPr>
              <a:t>len,print,sum</a:t>
            </a:r>
            <a:r>
              <a:rPr lang="en-US" sz="2400" dirty="0">
                <a:solidFill>
                  <a:srgbClr val="002060"/>
                </a:solidFill>
              </a:rPr>
              <a:t>.</a:t>
            </a:r>
          </a:p>
          <a:p>
            <a:r>
              <a:rPr lang="en-US" sz="2400" dirty="0">
                <a:solidFill>
                  <a:srgbClr val="002060"/>
                </a:solidFill>
              </a:rPr>
              <a:t>So there are two sides of functions – 1) defining 2) calling </a:t>
            </a:r>
          </a:p>
          <a:p>
            <a:r>
              <a:rPr lang="en-US" sz="2400" dirty="0">
                <a:solidFill>
                  <a:srgbClr val="002060"/>
                </a:solidFill>
              </a:rPr>
              <a:t>We can create a function using keyword def followed by the functions name and parentheses.</a:t>
            </a:r>
          </a:p>
          <a:p>
            <a:r>
              <a:rPr lang="en-US" dirty="0"/>
              <a:t>            Example:-</a:t>
            </a:r>
          </a:p>
          <a:p>
            <a:pPr marL="0" indent="0">
              <a:buNone/>
            </a:pPr>
            <a:r>
              <a:rPr lang="en-US" dirty="0">
                <a:solidFill>
                  <a:srgbClr val="FF0000"/>
                </a:solidFill>
              </a:rPr>
              <a:t>    def </a:t>
            </a:r>
            <a:r>
              <a:rPr lang="en-US" dirty="0" err="1">
                <a:solidFill>
                  <a:srgbClr val="FF0000"/>
                </a:solidFill>
              </a:rPr>
              <a:t>print_my_name</a:t>
            </a:r>
            <a:r>
              <a:rPr lang="en-US" dirty="0">
                <a:solidFill>
                  <a:srgbClr val="FF0000"/>
                </a:solidFill>
              </a:rPr>
              <a:t>():  </a:t>
            </a:r>
          </a:p>
          <a:p>
            <a:pPr marL="0" indent="0">
              <a:buNone/>
            </a:pPr>
            <a:r>
              <a:rPr lang="en-US" dirty="0">
                <a:solidFill>
                  <a:srgbClr val="FF0000"/>
                </a:solidFill>
              </a:rPr>
              <a:t>          print("my name is vishal")</a:t>
            </a:r>
          </a:p>
          <a:p>
            <a:pPr marL="0" indent="0">
              <a:buNone/>
            </a:pPr>
            <a:r>
              <a:rPr lang="en-US" dirty="0">
                <a:solidFill>
                  <a:srgbClr val="FF0000"/>
                </a:solidFill>
              </a:rPr>
              <a:t>     print("hello program starts")</a:t>
            </a:r>
          </a:p>
          <a:p>
            <a:pPr marL="0" indent="0">
              <a:buNone/>
            </a:pPr>
            <a:r>
              <a:rPr lang="en-US" dirty="0">
                <a:solidFill>
                  <a:srgbClr val="FF0000"/>
                </a:solidFill>
              </a:rPr>
              <a:t>     </a:t>
            </a:r>
            <a:r>
              <a:rPr lang="en-US" dirty="0" err="1">
                <a:solidFill>
                  <a:srgbClr val="FF0000"/>
                </a:solidFill>
              </a:rPr>
              <a:t>print_my_name</a:t>
            </a:r>
            <a:r>
              <a:rPr lang="en-US" dirty="0">
                <a:solidFill>
                  <a:srgbClr val="FF0000"/>
                </a:solidFill>
              </a:rPr>
              <a:t>()               # Calling the function</a:t>
            </a:r>
          </a:p>
        </p:txBody>
      </p:sp>
    </p:spTree>
    <p:extLst>
      <p:ext uri="{BB962C8B-B14F-4D97-AF65-F5344CB8AC3E}">
        <p14:creationId xmlns:p14="http://schemas.microsoft.com/office/powerpoint/2010/main" val="29591310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8165"/>
            <a:ext cx="8596668" cy="809297"/>
          </a:xfrm>
        </p:spPr>
        <p:txBody>
          <a:bodyPr/>
          <a:lstStyle/>
          <a:p>
            <a:r>
              <a:rPr lang="en-US" dirty="0"/>
              <a:t>Declaring a function </a:t>
            </a:r>
          </a:p>
        </p:txBody>
      </p:sp>
      <p:sp>
        <p:nvSpPr>
          <p:cNvPr id="3" name="Content Placeholder 2"/>
          <p:cNvSpPr>
            <a:spLocks noGrp="1"/>
          </p:cNvSpPr>
          <p:nvPr>
            <p:ph idx="1"/>
          </p:nvPr>
        </p:nvSpPr>
        <p:spPr>
          <a:xfrm>
            <a:off x="331077" y="977462"/>
            <a:ext cx="8942926" cy="5376041"/>
          </a:xfrm>
        </p:spPr>
        <p:txBody>
          <a:bodyPr/>
          <a:lstStyle/>
          <a:p>
            <a:r>
              <a:rPr lang="en-US" dirty="0"/>
              <a:t>Declaring a function means defining it in your code.</a:t>
            </a:r>
          </a:p>
          <a:p>
            <a:r>
              <a:rPr lang="en-US" dirty="0"/>
              <a:t>the declaration of a function involves using the </a:t>
            </a:r>
            <a:r>
              <a:rPr lang="en-US" dirty="0">
                <a:solidFill>
                  <a:srgbClr val="FF0000"/>
                </a:solidFill>
              </a:rPr>
              <a:t>‘</a:t>
            </a:r>
            <a:r>
              <a:rPr lang="en-US" dirty="0" err="1">
                <a:solidFill>
                  <a:srgbClr val="FF0000"/>
                </a:solidFill>
              </a:rPr>
              <a:t>def</a:t>
            </a:r>
            <a:r>
              <a:rPr lang="en-US" dirty="0">
                <a:solidFill>
                  <a:srgbClr val="FF0000"/>
                </a:solidFill>
              </a:rPr>
              <a:t>’</a:t>
            </a:r>
            <a:r>
              <a:rPr lang="en-US" dirty="0"/>
              <a:t> keyword followed by the function name and its parameters.</a:t>
            </a:r>
          </a:p>
          <a:p>
            <a:pPr marL="0" indent="0">
              <a:buNone/>
            </a:pPr>
            <a:endParaRPr lang="en-US" dirty="0"/>
          </a:p>
          <a:p>
            <a:pPr marL="0" indent="0">
              <a:buNone/>
            </a:pPr>
            <a:r>
              <a:rPr lang="en-US" dirty="0">
                <a:solidFill>
                  <a:srgbClr val="FF0000"/>
                </a:solidFill>
              </a:rPr>
              <a:t># Function declaration</a:t>
            </a:r>
          </a:p>
          <a:p>
            <a:pPr marL="0" indent="0">
              <a:buNone/>
            </a:pPr>
            <a:r>
              <a:rPr lang="en-US" dirty="0" err="1">
                <a:solidFill>
                  <a:srgbClr val="FF0000"/>
                </a:solidFill>
              </a:rPr>
              <a:t>def</a:t>
            </a:r>
            <a:r>
              <a:rPr lang="en-US" dirty="0">
                <a:solidFill>
                  <a:srgbClr val="FF0000"/>
                </a:solidFill>
              </a:rPr>
              <a:t> </a:t>
            </a:r>
            <a:r>
              <a:rPr lang="en-US" dirty="0" err="1">
                <a:solidFill>
                  <a:srgbClr val="FF0000"/>
                </a:solidFill>
              </a:rPr>
              <a:t>my_function</a:t>
            </a:r>
            <a:r>
              <a:rPr lang="en-US" dirty="0">
                <a:solidFill>
                  <a:srgbClr val="FF0000"/>
                </a:solidFill>
              </a:rPr>
              <a:t>(parameter1, parameter2):</a:t>
            </a:r>
          </a:p>
          <a:p>
            <a:pPr marL="0" indent="0">
              <a:buNone/>
            </a:pPr>
            <a:r>
              <a:rPr lang="en-US" dirty="0">
                <a:solidFill>
                  <a:srgbClr val="FF0000"/>
                </a:solidFill>
              </a:rPr>
              <a:t>    # Function body</a:t>
            </a:r>
          </a:p>
          <a:p>
            <a:pPr marL="0" indent="0">
              <a:buNone/>
            </a:pPr>
            <a:r>
              <a:rPr lang="en-US" dirty="0">
                <a:solidFill>
                  <a:srgbClr val="FF0000"/>
                </a:solidFill>
              </a:rPr>
              <a:t>    # Code that defines what the function does</a:t>
            </a:r>
          </a:p>
          <a:p>
            <a:pPr marL="0" indent="0">
              <a:buNone/>
            </a:pPr>
            <a:r>
              <a:rPr lang="en-US" dirty="0">
                <a:solidFill>
                  <a:srgbClr val="FF0000"/>
                </a:solidFill>
              </a:rPr>
              <a:t>    result = parameter1 + parameter2</a:t>
            </a:r>
          </a:p>
          <a:p>
            <a:pPr marL="0" indent="0">
              <a:buNone/>
            </a:pPr>
            <a:r>
              <a:rPr lang="en-US" dirty="0">
                <a:solidFill>
                  <a:srgbClr val="FF0000"/>
                </a:solidFill>
              </a:rPr>
              <a:t>    return result</a:t>
            </a:r>
          </a:p>
          <a:p>
            <a:pPr marL="0" indent="0">
              <a:buNone/>
            </a:pPr>
            <a:r>
              <a:rPr lang="en-US" dirty="0">
                <a:solidFill>
                  <a:srgbClr val="0070C0"/>
                </a:solidFill>
              </a:rPr>
              <a:t>Note: 1)  </a:t>
            </a:r>
            <a:r>
              <a:rPr lang="en-US" dirty="0">
                <a:solidFill>
                  <a:srgbClr val="FF0000"/>
                </a:solidFill>
              </a:rPr>
              <a:t>‘</a:t>
            </a:r>
            <a:r>
              <a:rPr lang="en-US" dirty="0" err="1">
                <a:solidFill>
                  <a:srgbClr val="FF0000"/>
                </a:solidFill>
              </a:rPr>
              <a:t>def</a:t>
            </a:r>
            <a:r>
              <a:rPr lang="en-US" dirty="0">
                <a:solidFill>
                  <a:srgbClr val="FF0000"/>
                </a:solidFill>
              </a:rPr>
              <a:t>’ </a:t>
            </a:r>
            <a:r>
              <a:rPr lang="en-US" dirty="0">
                <a:solidFill>
                  <a:srgbClr val="0070C0"/>
                </a:solidFill>
              </a:rPr>
              <a:t>is the keyword indicating the start of a function declaration.</a:t>
            </a:r>
          </a:p>
          <a:p>
            <a:pPr marL="0" indent="0">
              <a:buNone/>
            </a:pPr>
            <a:r>
              <a:rPr lang="en-US" dirty="0">
                <a:solidFill>
                  <a:srgbClr val="0070C0"/>
                </a:solidFill>
              </a:rPr>
              <a:t> 2) </a:t>
            </a:r>
            <a:r>
              <a:rPr lang="en-US" dirty="0">
                <a:solidFill>
                  <a:srgbClr val="FF0000"/>
                </a:solidFill>
              </a:rPr>
              <a:t>‘</a:t>
            </a:r>
            <a:r>
              <a:rPr lang="en-US" dirty="0" err="1">
                <a:solidFill>
                  <a:srgbClr val="FF0000"/>
                </a:solidFill>
              </a:rPr>
              <a:t>my_function</a:t>
            </a:r>
            <a:r>
              <a:rPr lang="en-US" dirty="0">
                <a:solidFill>
                  <a:srgbClr val="FF0000"/>
                </a:solidFill>
              </a:rPr>
              <a:t>’ </a:t>
            </a:r>
            <a:r>
              <a:rPr lang="en-US" dirty="0">
                <a:solidFill>
                  <a:srgbClr val="0070C0"/>
                </a:solidFill>
              </a:rPr>
              <a:t>is the name of the function.</a:t>
            </a:r>
          </a:p>
          <a:p>
            <a:pPr marL="0" indent="0">
              <a:buNone/>
            </a:pPr>
            <a:r>
              <a:rPr lang="en-US" dirty="0">
                <a:solidFill>
                  <a:srgbClr val="0070C0"/>
                </a:solidFill>
              </a:rPr>
              <a:t> 3) </a:t>
            </a:r>
            <a:r>
              <a:rPr lang="en-US" dirty="0">
                <a:solidFill>
                  <a:srgbClr val="FF0000"/>
                </a:solidFill>
              </a:rPr>
              <a:t>‘(parameter1, parameter2)’ </a:t>
            </a:r>
            <a:r>
              <a:rPr lang="en-US" dirty="0">
                <a:solidFill>
                  <a:srgbClr val="0070C0"/>
                </a:solidFill>
              </a:rPr>
              <a:t>are the parameters that the function accepts (if any)</a:t>
            </a:r>
          </a:p>
          <a:p>
            <a:pPr marL="0" indent="0">
              <a:buNone/>
            </a:pPr>
            <a:endParaRPr lang="en-US" dirty="0">
              <a:solidFill>
                <a:srgbClr val="0070C0"/>
              </a:solidFill>
            </a:endParaRPr>
          </a:p>
          <a:p>
            <a:endParaRPr lang="en-US" dirty="0"/>
          </a:p>
          <a:p>
            <a:endParaRPr lang="en-US" dirty="0"/>
          </a:p>
        </p:txBody>
      </p:sp>
    </p:spTree>
    <p:extLst>
      <p:ext uri="{BB962C8B-B14F-4D97-AF65-F5344CB8AC3E}">
        <p14:creationId xmlns:p14="http://schemas.microsoft.com/office/powerpoint/2010/main" val="35705705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2521594-B3C6-25F1-A8D4-C6760AB0E718}"/>
              </a:ext>
            </a:extLst>
          </p:cNvPr>
          <p:cNvSpPr>
            <a:spLocks noGrp="1"/>
          </p:cNvSpPr>
          <p:nvPr>
            <p:ph idx="1"/>
          </p:nvPr>
        </p:nvSpPr>
        <p:spPr>
          <a:xfrm>
            <a:off x="677334" y="276447"/>
            <a:ext cx="8596668" cy="5764915"/>
          </a:xfrm>
        </p:spPr>
        <p:txBody>
          <a:bodyPr>
            <a:noAutofit/>
          </a:bodyPr>
          <a:lstStyle/>
          <a:p>
            <a:r>
              <a:rPr lang="en-US" b="1" dirty="0">
                <a:solidFill>
                  <a:srgbClr val="0070C0"/>
                </a:solidFill>
              </a:rPr>
              <a:t>Defining a function:- </a:t>
            </a:r>
            <a:r>
              <a:rPr lang="en-US" dirty="0"/>
              <a:t>its like a giving a name to a specific task or set of tasks  </a:t>
            </a:r>
          </a:p>
          <a:p>
            <a:pPr marL="0" indent="0">
              <a:buNone/>
            </a:pPr>
            <a:r>
              <a:rPr lang="en-US" dirty="0"/>
              <a:t>       that you want the computer to perform.</a:t>
            </a:r>
          </a:p>
          <a:p>
            <a:pPr marL="0" indent="0">
              <a:buNone/>
            </a:pPr>
            <a:r>
              <a:rPr lang="en-US" dirty="0"/>
              <a:t>     </a:t>
            </a:r>
            <a:r>
              <a:rPr lang="en-IN" dirty="0">
                <a:solidFill>
                  <a:srgbClr val="00B050"/>
                </a:solidFill>
              </a:rPr>
              <a:t>example:</a:t>
            </a:r>
          </a:p>
          <a:p>
            <a:pPr marL="0" indent="0">
              <a:buNone/>
            </a:pPr>
            <a:r>
              <a:rPr lang="en-IN" dirty="0">
                <a:solidFill>
                  <a:srgbClr val="FF0000"/>
                </a:solidFill>
              </a:rPr>
              <a:t>               def greet(name):</a:t>
            </a:r>
          </a:p>
          <a:p>
            <a:pPr marL="0" indent="0">
              <a:buNone/>
            </a:pPr>
            <a:r>
              <a:rPr lang="en-IN" dirty="0">
                <a:solidFill>
                  <a:srgbClr val="FF0000"/>
                </a:solidFill>
              </a:rPr>
              <a:t>                           print(“Hello, “ + name + “!”)</a:t>
            </a:r>
          </a:p>
          <a:p>
            <a:pPr marL="0" indent="0">
              <a:buNone/>
            </a:pPr>
            <a:endParaRPr lang="en-US" dirty="0"/>
          </a:p>
          <a:p>
            <a:r>
              <a:rPr lang="en-US" dirty="0">
                <a:solidFill>
                  <a:srgbClr val="0070C0"/>
                </a:solidFill>
              </a:rPr>
              <a:t>Invoking(calling) a Function:  </a:t>
            </a:r>
            <a:r>
              <a:rPr lang="en-US" dirty="0">
                <a:solidFill>
                  <a:schemeClr val="tx1">
                    <a:lumMod val="95000"/>
                    <a:lumOff val="5000"/>
                  </a:schemeClr>
                </a:solidFill>
              </a:rPr>
              <a:t>Telling  the computer to execute the instructions defined in that function.</a:t>
            </a:r>
          </a:p>
          <a:p>
            <a:pPr marL="0" indent="0">
              <a:buNone/>
            </a:pPr>
            <a:r>
              <a:rPr lang="en-US" dirty="0">
                <a:solidFill>
                  <a:srgbClr val="0070C0"/>
                </a:solidFill>
              </a:rPr>
              <a:t>  </a:t>
            </a:r>
            <a:r>
              <a:rPr lang="en-US" dirty="0">
                <a:solidFill>
                  <a:srgbClr val="00B050"/>
                </a:solidFill>
              </a:rPr>
              <a:t>Example :</a:t>
            </a:r>
          </a:p>
          <a:p>
            <a:endParaRPr lang="en-US" dirty="0">
              <a:solidFill>
                <a:srgbClr val="FF0000"/>
              </a:solidFill>
            </a:endParaRPr>
          </a:p>
          <a:p>
            <a:pPr marL="0" indent="0">
              <a:buNone/>
            </a:pPr>
            <a:r>
              <a:rPr lang="en-US" dirty="0">
                <a:solidFill>
                  <a:srgbClr val="FF0000"/>
                </a:solidFill>
              </a:rPr>
              <a:t>             greet(“Alice”)</a:t>
            </a:r>
          </a:p>
          <a:p>
            <a:endParaRPr lang="en-US" dirty="0"/>
          </a:p>
          <a:p>
            <a:pPr marL="0" indent="0">
              <a:buNone/>
            </a:pPr>
            <a:r>
              <a:rPr lang="en-US" dirty="0"/>
              <a:t>         # calling the function with the argument “Alice”</a:t>
            </a:r>
          </a:p>
          <a:p>
            <a:endParaRPr lang="en-US" dirty="0"/>
          </a:p>
          <a:p>
            <a:endParaRPr lang="en-US" dirty="0"/>
          </a:p>
          <a:p>
            <a:endParaRPr lang="en-US" dirty="0"/>
          </a:p>
          <a:p>
            <a:endParaRPr lang="en-US" dirty="0"/>
          </a:p>
          <a:p>
            <a:endParaRPr lang="en-US" dirty="0"/>
          </a:p>
          <a:p>
            <a:pPr marL="0" indent="0">
              <a:buNone/>
            </a:pPr>
            <a:r>
              <a:rPr lang="en-IN" dirty="0">
                <a:solidFill>
                  <a:srgbClr val="00B050"/>
                </a:solidFill>
              </a:rPr>
              <a:t>    </a:t>
            </a:r>
          </a:p>
          <a:p>
            <a:pPr marL="0" indent="0">
              <a:buNone/>
            </a:pPr>
            <a:r>
              <a:rPr lang="en-IN" dirty="0">
                <a:solidFill>
                  <a:srgbClr val="00B050"/>
                </a:solidFill>
              </a:rPr>
              <a:t>   * </a:t>
            </a:r>
            <a:endParaRPr lang="en-US" dirty="0">
              <a:solidFill>
                <a:srgbClr val="00B050"/>
              </a:solidFill>
            </a:endParaRPr>
          </a:p>
        </p:txBody>
      </p:sp>
    </p:spTree>
    <p:extLst>
      <p:ext uri="{BB962C8B-B14F-4D97-AF65-F5344CB8AC3E}">
        <p14:creationId xmlns:p14="http://schemas.microsoft.com/office/powerpoint/2010/main" val="42850270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431" y="168166"/>
            <a:ext cx="8596668" cy="762000"/>
          </a:xfrm>
        </p:spPr>
        <p:txBody>
          <a:bodyPr/>
          <a:lstStyle/>
          <a:p>
            <a:r>
              <a:rPr lang="en-US" dirty="0"/>
              <a:t>Defining and Invoking a Function</a:t>
            </a:r>
          </a:p>
        </p:txBody>
      </p:sp>
      <p:sp>
        <p:nvSpPr>
          <p:cNvPr id="3" name="Content Placeholder 2"/>
          <p:cNvSpPr>
            <a:spLocks noGrp="1"/>
          </p:cNvSpPr>
          <p:nvPr>
            <p:ph idx="1"/>
          </p:nvPr>
        </p:nvSpPr>
        <p:spPr>
          <a:xfrm>
            <a:off x="472966" y="930167"/>
            <a:ext cx="8801036" cy="5111196"/>
          </a:xfrm>
        </p:spPr>
        <p:txBody>
          <a:bodyPr/>
          <a:lstStyle/>
          <a:p>
            <a:pPr marL="0" indent="0">
              <a:buNone/>
            </a:pPr>
            <a:r>
              <a:rPr lang="en-US" dirty="0">
                <a:solidFill>
                  <a:srgbClr val="FF0000"/>
                </a:solidFill>
              </a:rPr>
              <a:t>def </a:t>
            </a:r>
            <a:r>
              <a:rPr lang="en-US" dirty="0" err="1">
                <a:solidFill>
                  <a:srgbClr val="FF0000"/>
                </a:solidFill>
              </a:rPr>
              <a:t>print_my_name</a:t>
            </a:r>
            <a:r>
              <a:rPr lang="en-US" dirty="0">
                <a:solidFill>
                  <a:srgbClr val="FF0000"/>
                </a:solidFill>
              </a:rPr>
              <a:t>(name):     # </a:t>
            </a:r>
            <a:r>
              <a:rPr lang="en-US" dirty="0">
                <a:solidFill>
                  <a:schemeClr val="tx1">
                    <a:lumMod val="95000"/>
                    <a:lumOff val="5000"/>
                  </a:schemeClr>
                </a:solidFill>
              </a:rPr>
              <a:t>Function definition – (name) as a parameter in it </a:t>
            </a:r>
            <a:r>
              <a:rPr lang="en-US" dirty="0">
                <a:solidFill>
                  <a:srgbClr val="FF0000"/>
                </a:solidFill>
              </a:rPr>
              <a:t>.</a:t>
            </a:r>
          </a:p>
          <a:p>
            <a:pPr marL="0" indent="0">
              <a:buNone/>
            </a:pPr>
            <a:r>
              <a:rPr lang="en-US" dirty="0">
                <a:solidFill>
                  <a:srgbClr val="FF0000"/>
                </a:solidFill>
              </a:rPr>
              <a:t>       print("my name </a:t>
            </a:r>
            <a:r>
              <a:rPr lang="en-US" dirty="0" err="1">
                <a:solidFill>
                  <a:srgbClr val="FF0000"/>
                </a:solidFill>
              </a:rPr>
              <a:t>is",name</a:t>
            </a:r>
            <a:r>
              <a:rPr lang="en-US" dirty="0">
                <a:solidFill>
                  <a:srgbClr val="FF0000"/>
                </a:solidFill>
              </a:rPr>
              <a:t>)</a:t>
            </a:r>
          </a:p>
          <a:p>
            <a:pPr marL="0" indent="0">
              <a:buNone/>
            </a:pPr>
            <a:r>
              <a:rPr lang="en-US" dirty="0">
                <a:solidFill>
                  <a:srgbClr val="FF0000"/>
                </a:solidFill>
              </a:rPr>
              <a:t>print("hello program starts")    # </a:t>
            </a:r>
            <a:r>
              <a:rPr lang="en-US" b="1" i="0" dirty="0">
                <a:effectLst/>
                <a:latin typeface="Söhne"/>
              </a:rPr>
              <a:t>Print Statement Outside the Function</a:t>
            </a:r>
            <a:endParaRPr lang="en-US" dirty="0">
              <a:solidFill>
                <a:srgbClr val="FF0000"/>
              </a:solidFill>
            </a:endParaRPr>
          </a:p>
          <a:p>
            <a:pPr marL="0" indent="0">
              <a:buNone/>
            </a:pPr>
            <a:r>
              <a:rPr lang="en-US" dirty="0" err="1">
                <a:solidFill>
                  <a:srgbClr val="FF0000"/>
                </a:solidFill>
              </a:rPr>
              <a:t>print_my_name</a:t>
            </a:r>
            <a:r>
              <a:rPr lang="en-US" dirty="0">
                <a:solidFill>
                  <a:srgbClr val="FF0000"/>
                </a:solidFill>
              </a:rPr>
              <a:t>(“</a:t>
            </a:r>
            <a:r>
              <a:rPr lang="en-US" dirty="0" err="1">
                <a:solidFill>
                  <a:srgbClr val="FF0000"/>
                </a:solidFill>
              </a:rPr>
              <a:t>rohan</a:t>
            </a:r>
            <a:r>
              <a:rPr lang="en-US" dirty="0">
                <a:solidFill>
                  <a:srgbClr val="FF0000"/>
                </a:solidFill>
              </a:rPr>
              <a:t>")  # Calling the function</a:t>
            </a:r>
          </a:p>
          <a:p>
            <a:pPr marL="0" indent="0">
              <a:buNone/>
            </a:pPr>
            <a:r>
              <a:rPr lang="en-US" dirty="0" err="1">
                <a:solidFill>
                  <a:srgbClr val="FF0000"/>
                </a:solidFill>
              </a:rPr>
              <a:t>print_my_name</a:t>
            </a:r>
            <a:r>
              <a:rPr lang="en-US" dirty="0">
                <a:solidFill>
                  <a:srgbClr val="FF0000"/>
                </a:solidFill>
              </a:rPr>
              <a:t>("</a:t>
            </a:r>
            <a:r>
              <a:rPr lang="en-US" dirty="0" err="1">
                <a:solidFill>
                  <a:srgbClr val="FF0000"/>
                </a:solidFill>
              </a:rPr>
              <a:t>indrajeet</a:t>
            </a:r>
            <a:r>
              <a:rPr lang="en-US" dirty="0">
                <a:solidFill>
                  <a:srgbClr val="FF0000"/>
                </a:solidFill>
              </a:rPr>
              <a:t>")   </a:t>
            </a:r>
          </a:p>
          <a:p>
            <a:pPr marL="0" indent="0">
              <a:buNone/>
            </a:pPr>
            <a:r>
              <a:rPr lang="en-US" dirty="0" err="1">
                <a:solidFill>
                  <a:srgbClr val="FF0000"/>
                </a:solidFill>
              </a:rPr>
              <a:t>print_my_name</a:t>
            </a:r>
            <a:r>
              <a:rPr lang="en-US" dirty="0">
                <a:solidFill>
                  <a:srgbClr val="FF0000"/>
                </a:solidFill>
              </a:rPr>
              <a:t>("</a:t>
            </a:r>
            <a:r>
              <a:rPr lang="en-US" dirty="0" err="1">
                <a:solidFill>
                  <a:srgbClr val="FF0000"/>
                </a:solidFill>
              </a:rPr>
              <a:t>ishan</a:t>
            </a:r>
            <a:r>
              <a:rPr lang="en-US" dirty="0">
                <a:solidFill>
                  <a:srgbClr val="FF0000"/>
                </a:solidFill>
              </a:rPr>
              <a:t>")</a:t>
            </a:r>
          </a:p>
          <a:p>
            <a:pPr marL="0" indent="0">
              <a:buNone/>
            </a:pPr>
            <a:endParaRPr lang="en-US" dirty="0">
              <a:solidFill>
                <a:srgbClr val="FF0000"/>
              </a:solidFill>
            </a:endParaRPr>
          </a:p>
          <a:p>
            <a:pPr marL="0" indent="0">
              <a:buNone/>
            </a:pPr>
            <a:r>
              <a:rPr lang="en-US" dirty="0">
                <a:solidFill>
                  <a:srgbClr val="FF0000"/>
                </a:solidFill>
              </a:rPr>
              <a:t>Here :- </a:t>
            </a:r>
            <a:r>
              <a:rPr lang="en-IN" b="1" i="0" dirty="0">
                <a:effectLst/>
                <a:latin typeface="Söhne"/>
              </a:rPr>
              <a:t>Function Invocation (Calling): - 1) Here ‘</a:t>
            </a:r>
            <a:r>
              <a:rPr lang="en-IN" b="1" i="0" dirty="0" err="1">
                <a:effectLst/>
                <a:latin typeface="Söhne"/>
              </a:rPr>
              <a:t>print_my_name</a:t>
            </a:r>
            <a:r>
              <a:rPr lang="en-IN" b="1" i="0" dirty="0">
                <a:effectLst/>
                <a:latin typeface="Söhne"/>
              </a:rPr>
              <a:t>(“</a:t>
            </a:r>
            <a:r>
              <a:rPr lang="en-IN" b="1" i="0" dirty="0" err="1">
                <a:effectLst/>
                <a:latin typeface="Söhne"/>
              </a:rPr>
              <a:t>rohan</a:t>
            </a:r>
            <a:r>
              <a:rPr lang="en-IN" b="1" i="0" dirty="0">
                <a:effectLst/>
                <a:latin typeface="Söhne"/>
              </a:rPr>
              <a:t>”): this line calls (invokes the ‘</a:t>
            </a:r>
            <a:r>
              <a:rPr lang="en-IN" b="1" i="0" dirty="0" err="1">
                <a:effectLst/>
                <a:latin typeface="Söhne"/>
              </a:rPr>
              <a:t>print_my_name</a:t>
            </a:r>
            <a:r>
              <a:rPr lang="en-IN" b="1" i="0" dirty="0">
                <a:effectLst/>
                <a:latin typeface="Söhne"/>
              </a:rPr>
              <a:t>’ function with argument “</a:t>
            </a:r>
            <a:r>
              <a:rPr lang="en-IN" b="1" i="0" dirty="0" err="1">
                <a:effectLst/>
                <a:latin typeface="Söhne"/>
              </a:rPr>
              <a:t>rohan</a:t>
            </a:r>
            <a:r>
              <a:rPr lang="en-IN" b="1" i="0" dirty="0">
                <a:effectLst/>
                <a:latin typeface="Söhne"/>
              </a:rPr>
              <a:t>”.  So then the function prints the “my name is </a:t>
            </a:r>
            <a:r>
              <a:rPr lang="en-IN" b="1" i="0" dirty="0" err="1">
                <a:effectLst/>
                <a:latin typeface="Söhne"/>
              </a:rPr>
              <a:t>rohan</a:t>
            </a:r>
            <a:r>
              <a:rPr lang="en-IN" b="1" i="0" dirty="0">
                <a:effectLst/>
                <a:latin typeface="Söhne"/>
              </a:rPr>
              <a:t>”</a:t>
            </a:r>
          </a:p>
          <a:p>
            <a:pPr marL="0" indent="0">
              <a:buNone/>
            </a:pPr>
            <a:r>
              <a:rPr lang="en-IN" b="1" dirty="0">
                <a:solidFill>
                  <a:srgbClr val="FF0000"/>
                </a:solidFill>
                <a:latin typeface="Söhne"/>
              </a:rPr>
              <a:t>Similarly the function is called two more times with different name “</a:t>
            </a:r>
            <a:r>
              <a:rPr lang="en-IN" b="1" dirty="0" err="1">
                <a:solidFill>
                  <a:srgbClr val="FF0000"/>
                </a:solidFill>
                <a:latin typeface="Söhne"/>
              </a:rPr>
              <a:t>indrajeet</a:t>
            </a:r>
            <a:r>
              <a:rPr lang="en-IN" b="1" dirty="0">
                <a:solidFill>
                  <a:srgbClr val="FF0000"/>
                </a:solidFill>
                <a:latin typeface="Söhne"/>
              </a:rPr>
              <a:t> and </a:t>
            </a:r>
            <a:r>
              <a:rPr lang="en-IN" b="1" dirty="0" err="1">
                <a:solidFill>
                  <a:srgbClr val="FF0000"/>
                </a:solidFill>
                <a:latin typeface="Söhne"/>
              </a:rPr>
              <a:t>ishan</a:t>
            </a:r>
            <a:endParaRPr lang="en-US" dirty="0">
              <a:solidFill>
                <a:srgbClr val="FF0000"/>
              </a:solidFill>
            </a:endParaRPr>
          </a:p>
        </p:txBody>
      </p:sp>
    </p:spTree>
    <p:extLst>
      <p:ext uri="{BB962C8B-B14F-4D97-AF65-F5344CB8AC3E}">
        <p14:creationId xmlns:p14="http://schemas.microsoft.com/office/powerpoint/2010/main" val="21379526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92D2C9-42AA-3FAE-F63E-A2636A330D38}"/>
              </a:ext>
            </a:extLst>
          </p:cNvPr>
          <p:cNvSpPr>
            <a:spLocks noGrp="1"/>
          </p:cNvSpPr>
          <p:nvPr>
            <p:ph type="title"/>
          </p:nvPr>
        </p:nvSpPr>
        <p:spPr>
          <a:xfrm>
            <a:off x="677334" y="406401"/>
            <a:ext cx="8596668" cy="595086"/>
          </a:xfrm>
        </p:spPr>
        <p:txBody>
          <a:bodyPr>
            <a:normAutofit fontScale="90000"/>
          </a:bodyPr>
          <a:lstStyle/>
          <a:p>
            <a:r>
              <a:rPr lang="en-US" dirty="0"/>
              <a:t>Function Specification:</a:t>
            </a:r>
            <a:endParaRPr lang="en-IN" dirty="0"/>
          </a:p>
        </p:txBody>
      </p:sp>
      <p:sp>
        <p:nvSpPr>
          <p:cNvPr id="3" name="Content Placeholder 2">
            <a:extLst>
              <a:ext uri="{FF2B5EF4-FFF2-40B4-BE49-F238E27FC236}">
                <a16:creationId xmlns:a16="http://schemas.microsoft.com/office/drawing/2014/main" xmlns="" id="{53613D7B-BC98-280D-1BC4-B158F24208D1}"/>
              </a:ext>
            </a:extLst>
          </p:cNvPr>
          <p:cNvSpPr>
            <a:spLocks noGrp="1"/>
          </p:cNvSpPr>
          <p:nvPr>
            <p:ph idx="1"/>
          </p:nvPr>
        </p:nvSpPr>
        <p:spPr>
          <a:xfrm>
            <a:off x="419100" y="1001487"/>
            <a:ext cx="8715202" cy="5856513"/>
          </a:xfrm>
        </p:spPr>
        <p:txBody>
          <a:bodyPr>
            <a:normAutofit fontScale="25000" lnSpcReduction="20000"/>
          </a:bodyPr>
          <a:lstStyle/>
          <a:p>
            <a:r>
              <a:rPr lang="en-US" sz="5600" dirty="0">
                <a:solidFill>
                  <a:srgbClr val="0070C0"/>
                </a:solidFill>
              </a:rPr>
              <a:t>referred to as a </a:t>
            </a:r>
            <a:r>
              <a:rPr lang="en-US" sz="5600" dirty="0">
                <a:solidFill>
                  <a:srgbClr val="C00000"/>
                </a:solidFill>
              </a:rPr>
              <a:t>"docstring," </a:t>
            </a:r>
            <a:r>
              <a:rPr lang="en-US" sz="5600" dirty="0">
                <a:solidFill>
                  <a:srgbClr val="0070C0"/>
                </a:solidFill>
              </a:rPr>
              <a:t>is a way to describe what a function does, what parameters it takes, and what it returns. It's like providing a manual or a set of instructions for using the function.</a:t>
            </a:r>
          </a:p>
          <a:p>
            <a:endParaRPr lang="en-US" sz="5600" dirty="0">
              <a:solidFill>
                <a:srgbClr val="0070C0"/>
              </a:solidFill>
            </a:endParaRPr>
          </a:p>
          <a:p>
            <a:pPr marL="0" indent="0">
              <a:buNone/>
            </a:pPr>
            <a:r>
              <a:rPr lang="en-US" sz="5600" dirty="0">
                <a:solidFill>
                  <a:srgbClr val="FF0000"/>
                </a:solidFill>
              </a:rPr>
              <a:t>def </a:t>
            </a:r>
            <a:r>
              <a:rPr lang="en-US" sz="5600" dirty="0" err="1">
                <a:solidFill>
                  <a:srgbClr val="FF0000"/>
                </a:solidFill>
              </a:rPr>
              <a:t>add_numbers</a:t>
            </a:r>
            <a:r>
              <a:rPr lang="en-US" sz="5600" dirty="0">
                <a:solidFill>
                  <a:srgbClr val="FF0000"/>
                </a:solidFill>
              </a:rPr>
              <a:t>(a, b): # here we define the function called ‘</a:t>
            </a:r>
            <a:r>
              <a:rPr lang="en-US" sz="5600" dirty="0" err="1">
                <a:solidFill>
                  <a:srgbClr val="FF0000"/>
                </a:solidFill>
              </a:rPr>
              <a:t>add_numbers</a:t>
            </a:r>
            <a:r>
              <a:rPr lang="en-US" sz="5600" dirty="0">
                <a:solidFill>
                  <a:srgbClr val="FF0000"/>
                </a:solidFill>
              </a:rPr>
              <a:t> , with parameter a and b</a:t>
            </a:r>
          </a:p>
          <a:p>
            <a:pPr marL="0" indent="0">
              <a:buNone/>
            </a:pPr>
            <a:r>
              <a:rPr lang="en-US" sz="5600" dirty="0">
                <a:solidFill>
                  <a:srgbClr val="FF0000"/>
                </a:solidFill>
              </a:rPr>
              <a:t>    '''</a:t>
            </a:r>
          </a:p>
          <a:p>
            <a:pPr marL="0" indent="0">
              <a:buNone/>
            </a:pPr>
            <a:r>
              <a:rPr lang="en-US" sz="5600" dirty="0">
                <a:solidFill>
                  <a:srgbClr val="FF0000"/>
                </a:solidFill>
              </a:rPr>
              <a:t>    Adds two numbers.</a:t>
            </a:r>
          </a:p>
          <a:p>
            <a:pPr marL="0" indent="0">
              <a:buNone/>
            </a:pPr>
            <a:endParaRPr lang="en-US" sz="5600" dirty="0">
              <a:solidFill>
                <a:srgbClr val="FF0000"/>
              </a:solidFill>
            </a:endParaRPr>
          </a:p>
          <a:p>
            <a:pPr marL="0" indent="0">
              <a:buNone/>
            </a:pPr>
            <a:r>
              <a:rPr lang="en-US" sz="5600" dirty="0">
                <a:solidFill>
                  <a:srgbClr val="FF0000"/>
                </a:solidFill>
              </a:rPr>
              <a:t>    Parameters:</a:t>
            </a:r>
          </a:p>
          <a:p>
            <a:pPr marL="0" indent="0">
              <a:buNone/>
            </a:pPr>
            <a:r>
              <a:rPr lang="en-US" sz="5600" dirty="0">
                <a:solidFill>
                  <a:srgbClr val="FF0000"/>
                </a:solidFill>
              </a:rPr>
              <a:t>    - a (int): The first number.</a:t>
            </a:r>
          </a:p>
          <a:p>
            <a:pPr marL="0" indent="0">
              <a:buNone/>
            </a:pPr>
            <a:r>
              <a:rPr lang="en-US" sz="5600" dirty="0">
                <a:solidFill>
                  <a:srgbClr val="FF0000"/>
                </a:solidFill>
              </a:rPr>
              <a:t>    - b (int): The second number.</a:t>
            </a:r>
          </a:p>
          <a:p>
            <a:pPr marL="0" indent="0">
              <a:buNone/>
            </a:pPr>
            <a:endParaRPr lang="en-US" sz="5600" dirty="0">
              <a:solidFill>
                <a:srgbClr val="FF0000"/>
              </a:solidFill>
            </a:endParaRPr>
          </a:p>
          <a:p>
            <a:pPr marL="0" indent="0">
              <a:buNone/>
            </a:pPr>
            <a:r>
              <a:rPr lang="en-US" sz="5600" dirty="0">
                <a:solidFill>
                  <a:srgbClr val="FF0000"/>
                </a:solidFill>
              </a:rPr>
              <a:t>    Returns:</a:t>
            </a:r>
          </a:p>
          <a:p>
            <a:pPr marL="0" indent="0">
              <a:buNone/>
            </a:pPr>
            <a:r>
              <a:rPr lang="en-US" sz="5600" dirty="0">
                <a:solidFill>
                  <a:srgbClr val="FF0000"/>
                </a:solidFill>
              </a:rPr>
              <a:t>    int: The sum of the two numbers.</a:t>
            </a:r>
          </a:p>
          <a:p>
            <a:pPr marL="0" indent="0">
              <a:buNone/>
            </a:pPr>
            <a:r>
              <a:rPr lang="en-US" sz="5600" dirty="0">
                <a:solidFill>
                  <a:srgbClr val="FF0000"/>
                </a:solidFill>
              </a:rPr>
              <a:t>    '''</a:t>
            </a:r>
          </a:p>
          <a:p>
            <a:pPr marL="0" indent="0">
              <a:buNone/>
            </a:pPr>
            <a:r>
              <a:rPr lang="en-US" sz="5600" dirty="0">
                <a:solidFill>
                  <a:srgbClr val="FF0000"/>
                </a:solidFill>
              </a:rPr>
              <a:t>    result = a + b</a:t>
            </a:r>
          </a:p>
          <a:p>
            <a:pPr marL="0" indent="0">
              <a:buNone/>
            </a:pPr>
            <a:r>
              <a:rPr lang="en-US" sz="5600" dirty="0">
                <a:solidFill>
                  <a:srgbClr val="FF0000"/>
                </a:solidFill>
              </a:rPr>
              <a:t>    return result</a:t>
            </a:r>
          </a:p>
          <a:p>
            <a:pPr marL="0" indent="0">
              <a:buNone/>
            </a:pPr>
            <a:r>
              <a:rPr lang="en-US" sz="5600" dirty="0">
                <a:solidFill>
                  <a:srgbClr val="FF0000"/>
                </a:solidFill>
              </a:rPr>
              <a:t>result = </a:t>
            </a:r>
            <a:r>
              <a:rPr lang="en-US" sz="5600" dirty="0" err="1">
                <a:solidFill>
                  <a:srgbClr val="FF0000"/>
                </a:solidFill>
              </a:rPr>
              <a:t>add_numbers</a:t>
            </a:r>
            <a:r>
              <a:rPr lang="en-US" sz="5600" dirty="0">
                <a:solidFill>
                  <a:srgbClr val="FF0000"/>
                </a:solidFill>
              </a:rPr>
              <a:t>(3, 7)</a:t>
            </a:r>
          </a:p>
          <a:p>
            <a:pPr marL="0" indent="0">
              <a:buNone/>
            </a:pPr>
            <a:r>
              <a:rPr lang="en-US" sz="5600" dirty="0">
                <a:solidFill>
                  <a:srgbClr val="FF0000"/>
                </a:solidFill>
              </a:rPr>
              <a:t>result</a:t>
            </a:r>
          </a:p>
          <a:p>
            <a:pPr marL="0" indent="0">
              <a:buNone/>
            </a:pPr>
            <a:endParaRPr lang="en-US" dirty="0">
              <a:solidFill>
                <a:srgbClr val="0070C0"/>
              </a:solidFill>
            </a:endParaRPr>
          </a:p>
          <a:p>
            <a:endParaRPr lang="en-IN" dirty="0">
              <a:solidFill>
                <a:srgbClr val="0070C0"/>
              </a:solidFill>
            </a:endParaRPr>
          </a:p>
        </p:txBody>
      </p:sp>
    </p:spTree>
    <p:extLst>
      <p:ext uri="{BB962C8B-B14F-4D97-AF65-F5344CB8AC3E}">
        <p14:creationId xmlns:p14="http://schemas.microsoft.com/office/powerpoint/2010/main" val="42744060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D4F50F-D836-C872-CF8A-D4C86E03141C}"/>
              </a:ext>
            </a:extLst>
          </p:cNvPr>
          <p:cNvSpPr>
            <a:spLocks noGrp="1"/>
          </p:cNvSpPr>
          <p:nvPr>
            <p:ph type="title"/>
          </p:nvPr>
        </p:nvSpPr>
        <p:spPr>
          <a:xfrm>
            <a:off x="474134" y="266700"/>
            <a:ext cx="8596668" cy="549937"/>
          </a:xfrm>
        </p:spPr>
        <p:txBody>
          <a:bodyPr>
            <a:normAutofit fontScale="90000"/>
          </a:bodyPr>
          <a:lstStyle/>
          <a:p>
            <a:r>
              <a:rPr lang="en-US" dirty="0"/>
              <a:t>Function arguments:</a:t>
            </a:r>
            <a:endParaRPr lang="en-IN" dirty="0"/>
          </a:p>
        </p:txBody>
      </p:sp>
      <p:sp>
        <p:nvSpPr>
          <p:cNvPr id="3" name="Content Placeholder 2">
            <a:extLst>
              <a:ext uri="{FF2B5EF4-FFF2-40B4-BE49-F238E27FC236}">
                <a16:creationId xmlns:a16="http://schemas.microsoft.com/office/drawing/2014/main" xmlns="" id="{34A9944E-065A-F52A-F9F5-AB51D83A018C}"/>
              </a:ext>
            </a:extLst>
          </p:cNvPr>
          <p:cNvSpPr>
            <a:spLocks noGrp="1"/>
          </p:cNvSpPr>
          <p:nvPr>
            <p:ph idx="1"/>
          </p:nvPr>
        </p:nvSpPr>
        <p:spPr>
          <a:xfrm>
            <a:off x="474134" y="965200"/>
            <a:ext cx="8799868" cy="5626099"/>
          </a:xfrm>
        </p:spPr>
        <p:txBody>
          <a:bodyPr/>
          <a:lstStyle/>
          <a:p>
            <a:r>
              <a:rPr lang="en-US" dirty="0"/>
              <a:t> function arguments allow you to pass values into a function.</a:t>
            </a:r>
          </a:p>
          <a:p>
            <a:pPr marL="0" indent="0">
              <a:buNone/>
            </a:pPr>
            <a:r>
              <a:rPr lang="en-US" dirty="0">
                <a:solidFill>
                  <a:srgbClr val="00B050"/>
                </a:solidFill>
              </a:rPr>
              <a:t>                 </a:t>
            </a:r>
            <a:endParaRPr lang="en-IN" dirty="0"/>
          </a:p>
          <a:p>
            <a:pPr marL="0" indent="0">
              <a:buNone/>
            </a:pPr>
            <a:r>
              <a:rPr lang="en-IN" dirty="0">
                <a:solidFill>
                  <a:srgbClr val="FF0000"/>
                </a:solidFill>
              </a:rPr>
              <a:t>def add(</a:t>
            </a:r>
            <a:r>
              <a:rPr lang="en-IN" dirty="0" err="1">
                <a:solidFill>
                  <a:srgbClr val="FF0000"/>
                </a:solidFill>
              </a:rPr>
              <a:t>a,b</a:t>
            </a:r>
            <a:r>
              <a:rPr lang="en-IN" dirty="0">
                <a:solidFill>
                  <a:srgbClr val="FF0000"/>
                </a:solidFill>
              </a:rPr>
              <a:t>): # </a:t>
            </a:r>
            <a:r>
              <a:rPr lang="en-IN" sz="1600" dirty="0">
                <a:solidFill>
                  <a:srgbClr val="002060"/>
                </a:solidFill>
              </a:rPr>
              <a:t>here the a and b are the parameters and also called as (formal argument</a:t>
            </a:r>
          </a:p>
          <a:p>
            <a:pPr marL="0" indent="0">
              <a:buNone/>
            </a:pPr>
            <a:r>
              <a:rPr lang="en-IN" dirty="0">
                <a:solidFill>
                  <a:srgbClr val="FF0000"/>
                </a:solidFill>
              </a:rPr>
              <a:t>   c = </a:t>
            </a:r>
            <a:r>
              <a:rPr lang="en-IN" dirty="0" err="1">
                <a:solidFill>
                  <a:srgbClr val="FF0000"/>
                </a:solidFill>
              </a:rPr>
              <a:t>a+b</a:t>
            </a:r>
            <a:endParaRPr lang="en-IN" dirty="0">
              <a:solidFill>
                <a:srgbClr val="FF0000"/>
              </a:solidFill>
            </a:endParaRPr>
          </a:p>
          <a:p>
            <a:pPr marL="0" indent="0">
              <a:buNone/>
            </a:pPr>
            <a:r>
              <a:rPr lang="en-IN" dirty="0">
                <a:solidFill>
                  <a:srgbClr val="FF0000"/>
                </a:solidFill>
              </a:rPr>
              <a:t>   print(c)</a:t>
            </a:r>
          </a:p>
          <a:p>
            <a:pPr marL="0" indent="0">
              <a:buNone/>
            </a:pPr>
            <a:r>
              <a:rPr lang="en-IN" dirty="0">
                <a:solidFill>
                  <a:srgbClr val="FF0000"/>
                </a:solidFill>
              </a:rPr>
              <a:t>add(5,6)  #</a:t>
            </a:r>
            <a:r>
              <a:rPr lang="en-IN" dirty="0">
                <a:solidFill>
                  <a:srgbClr val="002060"/>
                </a:solidFill>
              </a:rPr>
              <a:t> calling function in that the 5 and 6 are the actual argument.</a:t>
            </a:r>
          </a:p>
          <a:p>
            <a:pPr marL="0" indent="0">
              <a:buNone/>
            </a:pPr>
            <a:r>
              <a:rPr lang="en-IN" dirty="0"/>
              <a:t>   #means that- the things which are accepting are called arguments .</a:t>
            </a:r>
          </a:p>
          <a:p>
            <a:pPr marL="0" indent="0">
              <a:buNone/>
            </a:pPr>
            <a:endParaRPr lang="en-IN" dirty="0"/>
          </a:p>
          <a:p>
            <a:pPr marL="0" indent="0">
              <a:buNone/>
            </a:pPr>
            <a:r>
              <a:rPr lang="en-IN" dirty="0"/>
              <a:t>                                                    </a:t>
            </a:r>
          </a:p>
        </p:txBody>
      </p:sp>
      <p:sp>
        <p:nvSpPr>
          <p:cNvPr id="4" name="Rectangle: Rounded Corners 3">
            <a:extLst>
              <a:ext uri="{FF2B5EF4-FFF2-40B4-BE49-F238E27FC236}">
                <a16:creationId xmlns:a16="http://schemas.microsoft.com/office/drawing/2014/main" xmlns="" id="{D28FA3C2-4D30-1694-31DE-D091C5E69DB2}"/>
              </a:ext>
            </a:extLst>
          </p:cNvPr>
          <p:cNvSpPr/>
          <p:nvPr/>
        </p:nvSpPr>
        <p:spPr>
          <a:xfrm>
            <a:off x="3035300" y="3898900"/>
            <a:ext cx="2540000" cy="4699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Actual Argument</a:t>
            </a:r>
            <a:endParaRPr lang="en-IN" dirty="0"/>
          </a:p>
        </p:txBody>
      </p:sp>
      <p:sp>
        <p:nvSpPr>
          <p:cNvPr id="5" name="Arrow: Down 4">
            <a:extLst>
              <a:ext uri="{FF2B5EF4-FFF2-40B4-BE49-F238E27FC236}">
                <a16:creationId xmlns:a16="http://schemas.microsoft.com/office/drawing/2014/main" xmlns="" id="{43F7A2EE-2131-1D9B-0AB9-1CB60D3A8A09}"/>
              </a:ext>
            </a:extLst>
          </p:cNvPr>
          <p:cNvSpPr/>
          <p:nvPr/>
        </p:nvSpPr>
        <p:spPr>
          <a:xfrm>
            <a:off x="4042833" y="4488194"/>
            <a:ext cx="457200" cy="6921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xmlns="" id="{B246159B-3592-BA11-78C7-723B40B49B88}"/>
              </a:ext>
            </a:extLst>
          </p:cNvPr>
          <p:cNvSpPr/>
          <p:nvPr/>
        </p:nvSpPr>
        <p:spPr>
          <a:xfrm>
            <a:off x="609600" y="5600700"/>
            <a:ext cx="1303866" cy="469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positional</a:t>
            </a:r>
          </a:p>
        </p:txBody>
      </p:sp>
      <p:sp>
        <p:nvSpPr>
          <p:cNvPr id="7" name="Rectangle 6">
            <a:extLst>
              <a:ext uri="{FF2B5EF4-FFF2-40B4-BE49-F238E27FC236}">
                <a16:creationId xmlns:a16="http://schemas.microsoft.com/office/drawing/2014/main" xmlns="" id="{3186C5D1-FDB0-A0E8-7281-E850E0C71839}"/>
              </a:ext>
            </a:extLst>
          </p:cNvPr>
          <p:cNvSpPr/>
          <p:nvPr/>
        </p:nvSpPr>
        <p:spPr>
          <a:xfrm>
            <a:off x="2120900" y="5600700"/>
            <a:ext cx="1303866" cy="469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keyword</a:t>
            </a:r>
          </a:p>
        </p:txBody>
      </p:sp>
      <p:sp>
        <p:nvSpPr>
          <p:cNvPr id="8" name="Rectangle 7">
            <a:extLst>
              <a:ext uri="{FF2B5EF4-FFF2-40B4-BE49-F238E27FC236}">
                <a16:creationId xmlns:a16="http://schemas.microsoft.com/office/drawing/2014/main" xmlns="" id="{747A8784-0B60-A4D6-98D5-C5E7EEDD837A}"/>
              </a:ext>
            </a:extLst>
          </p:cNvPr>
          <p:cNvSpPr/>
          <p:nvPr/>
        </p:nvSpPr>
        <p:spPr>
          <a:xfrm>
            <a:off x="3619500" y="5600700"/>
            <a:ext cx="1303866" cy="469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default</a:t>
            </a:r>
          </a:p>
        </p:txBody>
      </p:sp>
      <p:sp>
        <p:nvSpPr>
          <p:cNvPr id="9" name="Rectangle 8">
            <a:extLst>
              <a:ext uri="{FF2B5EF4-FFF2-40B4-BE49-F238E27FC236}">
                <a16:creationId xmlns:a16="http://schemas.microsoft.com/office/drawing/2014/main" xmlns="" id="{8E64DAB6-DBC7-6E3E-4D13-835164802011}"/>
              </a:ext>
            </a:extLst>
          </p:cNvPr>
          <p:cNvSpPr/>
          <p:nvPr/>
        </p:nvSpPr>
        <p:spPr>
          <a:xfrm>
            <a:off x="5227548" y="5600700"/>
            <a:ext cx="1871136" cy="4699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variable-length</a:t>
            </a:r>
          </a:p>
        </p:txBody>
      </p:sp>
    </p:spTree>
    <p:extLst>
      <p:ext uri="{BB962C8B-B14F-4D97-AF65-F5344CB8AC3E}">
        <p14:creationId xmlns:p14="http://schemas.microsoft.com/office/powerpoint/2010/main" val="40562574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CB750C5-0DB6-A804-4C94-35B02DCFB2E1}"/>
              </a:ext>
            </a:extLst>
          </p:cNvPr>
          <p:cNvSpPr>
            <a:spLocks noGrp="1"/>
          </p:cNvSpPr>
          <p:nvPr>
            <p:ph idx="1"/>
          </p:nvPr>
        </p:nvSpPr>
        <p:spPr>
          <a:xfrm>
            <a:off x="574158" y="520701"/>
            <a:ext cx="8699844" cy="6007690"/>
          </a:xfrm>
        </p:spPr>
        <p:txBody>
          <a:bodyPr/>
          <a:lstStyle/>
          <a:p>
            <a:r>
              <a:rPr lang="en-US" b="1" dirty="0">
                <a:solidFill>
                  <a:srgbClr val="002060"/>
                </a:solidFill>
              </a:rPr>
              <a:t>Positional argument :</a:t>
            </a:r>
          </a:p>
          <a:p>
            <a:pPr marL="0" indent="0">
              <a:buNone/>
            </a:pPr>
            <a:r>
              <a:rPr lang="en-US" dirty="0"/>
              <a:t> These are the most straightforward. When you call a function, you pass values in a specific order, and the function assigns them to parameters in the same order.</a:t>
            </a:r>
          </a:p>
          <a:p>
            <a:pPr marL="0" indent="0">
              <a:buNone/>
            </a:pPr>
            <a:endParaRPr lang="en-US" dirty="0"/>
          </a:p>
          <a:p>
            <a:pPr marL="0" indent="0">
              <a:buNone/>
            </a:pPr>
            <a:r>
              <a:rPr lang="en-US" dirty="0">
                <a:solidFill>
                  <a:srgbClr val="C00000"/>
                </a:solidFill>
              </a:rPr>
              <a:t>Example:</a:t>
            </a:r>
          </a:p>
          <a:p>
            <a:pPr marL="0" indent="0">
              <a:buNone/>
            </a:pPr>
            <a:r>
              <a:rPr lang="en-US" dirty="0">
                <a:solidFill>
                  <a:srgbClr val="C00000"/>
                </a:solidFill>
              </a:rPr>
              <a:t> def person(name, age): # </a:t>
            </a:r>
            <a:r>
              <a:rPr lang="en-US" sz="1600" dirty="0">
                <a:solidFill>
                  <a:srgbClr val="C00000"/>
                </a:solidFill>
              </a:rPr>
              <a:t>function called ‘person’ and two parameter –name and age</a:t>
            </a:r>
          </a:p>
          <a:p>
            <a:pPr marL="0" indent="0">
              <a:buNone/>
            </a:pPr>
            <a:r>
              <a:rPr lang="en-US" dirty="0">
                <a:solidFill>
                  <a:srgbClr val="C00000"/>
                </a:solidFill>
              </a:rPr>
              <a:t>    print(name)</a:t>
            </a:r>
          </a:p>
          <a:p>
            <a:pPr marL="0" indent="0">
              <a:buNone/>
            </a:pPr>
            <a:r>
              <a:rPr lang="en-US" dirty="0">
                <a:solidFill>
                  <a:srgbClr val="C00000"/>
                </a:solidFill>
              </a:rPr>
              <a:t>    print(age)</a:t>
            </a:r>
          </a:p>
          <a:p>
            <a:pPr marL="0" indent="0">
              <a:buNone/>
            </a:pPr>
            <a:r>
              <a:rPr lang="en-US" dirty="0">
                <a:solidFill>
                  <a:srgbClr val="C00000"/>
                </a:solidFill>
              </a:rPr>
              <a:t>person(“Rohan", 23) #function calling </a:t>
            </a:r>
          </a:p>
          <a:p>
            <a:pPr marL="0" indent="0">
              <a:buNone/>
            </a:pPr>
            <a:endParaRPr lang="en-US" dirty="0">
              <a:solidFill>
                <a:srgbClr val="C00000"/>
              </a:solidFill>
            </a:endParaRPr>
          </a:p>
          <a:p>
            <a:pPr marL="0" indent="0">
              <a:buNone/>
            </a:pPr>
            <a:r>
              <a:rPr lang="en-US" dirty="0">
                <a:solidFill>
                  <a:srgbClr val="C00000"/>
                </a:solidFill>
              </a:rPr>
              <a:t>Note:- </a:t>
            </a:r>
            <a:r>
              <a:rPr lang="en-US" dirty="0">
                <a:solidFill>
                  <a:schemeClr val="accent2">
                    <a:lumMod val="50000"/>
                  </a:schemeClr>
                </a:solidFill>
              </a:rPr>
              <a:t>1) The value “Rohan” is assigned to parameter ‘name’</a:t>
            </a:r>
          </a:p>
          <a:p>
            <a:pPr marL="0" indent="0">
              <a:buNone/>
            </a:pPr>
            <a:r>
              <a:rPr lang="en-US" dirty="0">
                <a:solidFill>
                  <a:schemeClr val="accent2">
                    <a:lumMod val="50000"/>
                  </a:schemeClr>
                </a:solidFill>
              </a:rPr>
              <a:t> and value ‘23’ is assigned to parameter ‘age. So they are in the same order</a:t>
            </a:r>
          </a:p>
          <a:p>
            <a:pPr marL="0" indent="0">
              <a:buNone/>
            </a:pPr>
            <a:r>
              <a:rPr lang="en-US" dirty="0">
                <a:solidFill>
                  <a:schemeClr val="accent2">
                    <a:lumMod val="50000"/>
                  </a:schemeClr>
                </a:solidFill>
              </a:rPr>
              <a:t>Summary:- </a:t>
            </a:r>
          </a:p>
          <a:p>
            <a:pPr marL="0" indent="0">
              <a:buNone/>
            </a:pPr>
            <a:r>
              <a:rPr lang="en-US" dirty="0">
                <a:solidFill>
                  <a:schemeClr val="accent2">
                    <a:lumMod val="50000"/>
                  </a:schemeClr>
                </a:solidFill>
              </a:rPr>
              <a:t>positional arguments are matched to parameters based on their position in the function definition.</a:t>
            </a:r>
          </a:p>
        </p:txBody>
      </p:sp>
    </p:spTree>
    <p:extLst>
      <p:ext uri="{BB962C8B-B14F-4D97-AF65-F5344CB8AC3E}">
        <p14:creationId xmlns:p14="http://schemas.microsoft.com/office/powerpoint/2010/main" val="32349342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18CF0A4-F668-CAE0-305E-22727928800B}"/>
              </a:ext>
            </a:extLst>
          </p:cNvPr>
          <p:cNvSpPr>
            <a:spLocks noGrp="1"/>
          </p:cNvSpPr>
          <p:nvPr>
            <p:ph idx="1"/>
          </p:nvPr>
        </p:nvSpPr>
        <p:spPr>
          <a:xfrm>
            <a:off x="444500" y="787400"/>
            <a:ext cx="8829502" cy="5930899"/>
          </a:xfrm>
        </p:spPr>
        <p:txBody>
          <a:bodyPr>
            <a:normAutofit lnSpcReduction="10000"/>
          </a:bodyPr>
          <a:lstStyle/>
          <a:p>
            <a:r>
              <a:rPr lang="en-IN" dirty="0">
                <a:solidFill>
                  <a:srgbClr val="002060"/>
                </a:solidFill>
              </a:rPr>
              <a:t>Keyword arguments:</a:t>
            </a:r>
          </a:p>
          <a:p>
            <a:pPr marL="0" indent="0">
              <a:buNone/>
            </a:pPr>
            <a:r>
              <a:rPr lang="en-IN" dirty="0">
                <a:solidFill>
                  <a:schemeClr val="tx1">
                    <a:lumMod val="95000"/>
                    <a:lumOff val="5000"/>
                  </a:schemeClr>
                </a:solidFill>
              </a:rPr>
              <a:t>These argument are passed to the function with name-value pair so keyword argument can identify the formal argument by their names.</a:t>
            </a:r>
          </a:p>
          <a:p>
            <a:pPr marL="0" indent="0">
              <a:buNone/>
            </a:pPr>
            <a:endParaRPr lang="en-IN" dirty="0">
              <a:solidFill>
                <a:schemeClr val="tx1">
                  <a:lumMod val="95000"/>
                  <a:lumOff val="5000"/>
                </a:schemeClr>
              </a:solidFill>
            </a:endParaRPr>
          </a:p>
          <a:p>
            <a:pPr marL="0" indent="0">
              <a:buNone/>
            </a:pPr>
            <a:r>
              <a:rPr lang="en-IN" dirty="0">
                <a:solidFill>
                  <a:srgbClr val="002060"/>
                </a:solidFill>
              </a:rPr>
              <a:t>The keyword argument’s name and formal argument’s name must match.</a:t>
            </a:r>
          </a:p>
          <a:p>
            <a:pPr marL="0" indent="0">
              <a:buNone/>
            </a:pPr>
            <a:r>
              <a:rPr lang="en-IN" dirty="0">
                <a:solidFill>
                  <a:srgbClr val="00B050"/>
                </a:solidFill>
              </a:rPr>
              <a:t>Example :1)                                              </a:t>
            </a:r>
          </a:p>
          <a:p>
            <a:pPr marL="0" indent="0">
              <a:buNone/>
            </a:pPr>
            <a:r>
              <a:rPr lang="en-IN" dirty="0">
                <a:solidFill>
                  <a:srgbClr val="FF0000"/>
                </a:solidFill>
              </a:rPr>
              <a:t>def person(</a:t>
            </a:r>
            <a:r>
              <a:rPr lang="en-IN" dirty="0" err="1">
                <a:solidFill>
                  <a:srgbClr val="FF0000"/>
                </a:solidFill>
              </a:rPr>
              <a:t>name,age</a:t>
            </a:r>
            <a:r>
              <a:rPr lang="en-IN" dirty="0">
                <a:solidFill>
                  <a:srgbClr val="FF0000"/>
                </a:solidFill>
              </a:rPr>
              <a:t>):                                 </a:t>
            </a:r>
          </a:p>
          <a:p>
            <a:pPr marL="0" indent="0">
              <a:buNone/>
            </a:pPr>
            <a:r>
              <a:rPr lang="en-IN" dirty="0">
                <a:solidFill>
                  <a:srgbClr val="FF0000"/>
                </a:solidFill>
              </a:rPr>
              <a:t>      print(</a:t>
            </a:r>
            <a:r>
              <a:rPr lang="en-IN" dirty="0" err="1">
                <a:solidFill>
                  <a:srgbClr val="FF0000"/>
                </a:solidFill>
              </a:rPr>
              <a:t>name,age</a:t>
            </a:r>
            <a:r>
              <a:rPr lang="en-IN" dirty="0">
                <a:solidFill>
                  <a:srgbClr val="FF0000"/>
                </a:solidFill>
              </a:rPr>
              <a:t>)                                           </a:t>
            </a:r>
          </a:p>
          <a:p>
            <a:pPr marL="0" indent="0">
              <a:buNone/>
            </a:pPr>
            <a:r>
              <a:rPr lang="en-IN" dirty="0">
                <a:solidFill>
                  <a:srgbClr val="FF0000"/>
                </a:solidFill>
              </a:rPr>
              <a:t>person(name=“</a:t>
            </a:r>
            <a:r>
              <a:rPr lang="en-IN" dirty="0" err="1">
                <a:solidFill>
                  <a:srgbClr val="FF0000"/>
                </a:solidFill>
              </a:rPr>
              <a:t>Rohan”,age</a:t>
            </a:r>
            <a:r>
              <a:rPr lang="en-IN" dirty="0">
                <a:solidFill>
                  <a:srgbClr val="FF0000"/>
                </a:solidFill>
              </a:rPr>
              <a:t>=62)                      </a:t>
            </a:r>
          </a:p>
          <a:p>
            <a:pPr marL="0" indent="0">
              <a:buNone/>
            </a:pPr>
            <a:r>
              <a:rPr lang="en-IN" dirty="0">
                <a:solidFill>
                  <a:srgbClr val="00B050"/>
                </a:solidFill>
              </a:rPr>
              <a:t>Example: 2)</a:t>
            </a:r>
          </a:p>
          <a:p>
            <a:pPr marL="0" indent="0">
              <a:buNone/>
            </a:pPr>
            <a:r>
              <a:rPr lang="en-IN" dirty="0">
                <a:solidFill>
                  <a:srgbClr val="FF0000"/>
                </a:solidFill>
              </a:rPr>
              <a:t>def person(</a:t>
            </a:r>
            <a:r>
              <a:rPr lang="en-IN" dirty="0" err="1">
                <a:solidFill>
                  <a:srgbClr val="FF0000"/>
                </a:solidFill>
              </a:rPr>
              <a:t>name,age</a:t>
            </a:r>
            <a:r>
              <a:rPr lang="en-IN" dirty="0">
                <a:solidFill>
                  <a:srgbClr val="FF0000"/>
                </a:solidFill>
              </a:rPr>
              <a:t>):</a:t>
            </a:r>
          </a:p>
          <a:p>
            <a:pPr marL="0" indent="0">
              <a:buNone/>
            </a:pPr>
            <a:r>
              <a:rPr lang="en-IN" dirty="0">
                <a:solidFill>
                  <a:srgbClr val="FF0000"/>
                </a:solidFill>
              </a:rPr>
              <a:t>      print(</a:t>
            </a:r>
            <a:r>
              <a:rPr lang="en-IN" dirty="0" err="1">
                <a:solidFill>
                  <a:srgbClr val="FF0000"/>
                </a:solidFill>
              </a:rPr>
              <a:t>name,age</a:t>
            </a:r>
            <a:r>
              <a:rPr lang="en-IN" dirty="0">
                <a:solidFill>
                  <a:srgbClr val="FF0000"/>
                </a:solidFill>
              </a:rPr>
              <a:t>)</a:t>
            </a:r>
          </a:p>
          <a:p>
            <a:pPr marL="0" indent="0">
              <a:buNone/>
            </a:pPr>
            <a:r>
              <a:rPr lang="en-IN" dirty="0">
                <a:solidFill>
                  <a:srgbClr val="FF0000"/>
                </a:solidFill>
              </a:rPr>
              <a:t>person(age=62,name=“Rohan”) </a:t>
            </a:r>
          </a:p>
          <a:p>
            <a:pPr marL="0" indent="0">
              <a:buNone/>
            </a:pPr>
            <a:endParaRPr lang="en-IN" dirty="0"/>
          </a:p>
          <a:p>
            <a:pPr marL="0" indent="0">
              <a:buNone/>
            </a:pPr>
            <a:r>
              <a:rPr lang="en-IN" dirty="0"/>
              <a:t>Note:- Number of argument must be equal in formal and actual argument ,not more not less.</a:t>
            </a:r>
          </a:p>
          <a:p>
            <a:endParaRPr lang="en-IN" dirty="0"/>
          </a:p>
        </p:txBody>
      </p:sp>
    </p:spTree>
    <p:extLst>
      <p:ext uri="{BB962C8B-B14F-4D97-AF65-F5344CB8AC3E}">
        <p14:creationId xmlns:p14="http://schemas.microsoft.com/office/powerpoint/2010/main" val="41922172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B2E050C-DF13-FDC5-D5CF-46D54C980663}"/>
              </a:ext>
            </a:extLst>
          </p:cNvPr>
          <p:cNvSpPr>
            <a:spLocks noGrp="1"/>
          </p:cNvSpPr>
          <p:nvPr>
            <p:ph idx="1"/>
          </p:nvPr>
        </p:nvSpPr>
        <p:spPr>
          <a:xfrm>
            <a:off x="520700" y="596900"/>
            <a:ext cx="8753302" cy="6146799"/>
          </a:xfrm>
        </p:spPr>
        <p:txBody>
          <a:bodyPr/>
          <a:lstStyle/>
          <a:p>
            <a:r>
              <a:rPr lang="en-US" dirty="0">
                <a:solidFill>
                  <a:srgbClr val="002060"/>
                </a:solidFill>
              </a:rPr>
              <a:t>Default argument:</a:t>
            </a:r>
          </a:p>
          <a:p>
            <a:pPr marL="0" indent="0">
              <a:buNone/>
            </a:pPr>
            <a:r>
              <a:rPr lang="en-IN" dirty="0"/>
              <a:t>Sometime we mention default value to the formal argument in function definition and we may not required to provide actual argument, in this case default argument will be used by formal argument.</a:t>
            </a:r>
          </a:p>
          <a:p>
            <a:pPr marL="0" indent="0">
              <a:buNone/>
            </a:pPr>
            <a:r>
              <a:rPr lang="en-IN" dirty="0">
                <a:solidFill>
                  <a:srgbClr val="00B050"/>
                </a:solidFill>
              </a:rPr>
              <a:t>Example:1</a:t>
            </a:r>
          </a:p>
          <a:p>
            <a:pPr marL="0" indent="0">
              <a:buNone/>
            </a:pPr>
            <a:endParaRPr lang="en-IN" dirty="0">
              <a:solidFill>
                <a:srgbClr val="00B050"/>
              </a:solidFill>
            </a:endParaRPr>
          </a:p>
          <a:p>
            <a:pPr marL="0" indent="0">
              <a:buNone/>
            </a:pPr>
            <a:r>
              <a:rPr lang="en-US" dirty="0">
                <a:solidFill>
                  <a:srgbClr val="FF0000"/>
                </a:solidFill>
              </a:rPr>
              <a:t>def person(name, age = 27):  </a:t>
            </a:r>
          </a:p>
          <a:p>
            <a:pPr marL="0" indent="0">
              <a:buNone/>
            </a:pPr>
            <a:r>
              <a:rPr lang="en-US" dirty="0">
                <a:solidFill>
                  <a:srgbClr val="FF0000"/>
                </a:solidFill>
              </a:rPr>
              <a:t>       print(</a:t>
            </a:r>
            <a:r>
              <a:rPr lang="en-US" dirty="0" err="1">
                <a:solidFill>
                  <a:srgbClr val="FF0000"/>
                </a:solidFill>
              </a:rPr>
              <a:t>f"Name</a:t>
            </a:r>
            <a:r>
              <a:rPr lang="en-US" dirty="0">
                <a:solidFill>
                  <a:srgbClr val="FF0000"/>
                </a:solidFill>
              </a:rPr>
              <a:t>:{name} Age:{age}")</a:t>
            </a:r>
          </a:p>
          <a:p>
            <a:pPr marL="0" indent="0">
              <a:buNone/>
            </a:pPr>
            <a:r>
              <a:rPr lang="en-US" dirty="0">
                <a:solidFill>
                  <a:srgbClr val="FF0000"/>
                </a:solidFill>
              </a:rPr>
              <a:t>person(name ='Rohan’)</a:t>
            </a:r>
          </a:p>
          <a:p>
            <a:pPr marL="0" indent="0">
              <a:buNone/>
            </a:pPr>
            <a:endParaRPr lang="en-US" dirty="0">
              <a:solidFill>
                <a:srgbClr val="00B050"/>
              </a:solidFill>
            </a:endParaRPr>
          </a:p>
          <a:p>
            <a:pPr marL="0" indent="0">
              <a:buNone/>
            </a:pPr>
            <a:r>
              <a:rPr lang="en-US" dirty="0">
                <a:solidFill>
                  <a:srgbClr val="002060"/>
                </a:solidFill>
              </a:rPr>
              <a:t>Note:- here the default value is ‘age = 27) . So at the actual argument I have not printed it . But at formal argument I have provided it – so it becomes a default value . </a:t>
            </a:r>
          </a:p>
          <a:p>
            <a:pPr marL="0" indent="0">
              <a:buNone/>
            </a:pPr>
            <a:r>
              <a:rPr lang="en-US" dirty="0">
                <a:solidFill>
                  <a:srgbClr val="002060"/>
                </a:solidFill>
              </a:rPr>
              <a:t>And it will print the ‘</a:t>
            </a:r>
            <a:r>
              <a:rPr lang="en-US" dirty="0" err="1">
                <a:solidFill>
                  <a:srgbClr val="002060"/>
                </a:solidFill>
              </a:rPr>
              <a:t>Name:Rohan</a:t>
            </a:r>
            <a:r>
              <a:rPr lang="en-US" dirty="0">
                <a:solidFill>
                  <a:srgbClr val="002060"/>
                </a:solidFill>
              </a:rPr>
              <a:t> and Age:27’</a:t>
            </a:r>
            <a:endParaRPr lang="en-IN" dirty="0">
              <a:solidFill>
                <a:srgbClr val="002060"/>
              </a:solidFill>
            </a:endParaRPr>
          </a:p>
        </p:txBody>
      </p:sp>
    </p:spTree>
    <p:extLst>
      <p:ext uri="{BB962C8B-B14F-4D97-AF65-F5344CB8AC3E}">
        <p14:creationId xmlns:p14="http://schemas.microsoft.com/office/powerpoint/2010/main" val="17958153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3503D4B-07CD-8DF3-56E9-948D61B419DF}"/>
              </a:ext>
            </a:extLst>
          </p:cNvPr>
          <p:cNvSpPr>
            <a:spLocks noGrp="1"/>
          </p:cNvSpPr>
          <p:nvPr>
            <p:ph idx="1"/>
          </p:nvPr>
        </p:nvSpPr>
        <p:spPr>
          <a:xfrm>
            <a:off x="469900" y="762000"/>
            <a:ext cx="8804102" cy="5930899"/>
          </a:xfrm>
        </p:spPr>
        <p:txBody>
          <a:bodyPr/>
          <a:lstStyle/>
          <a:p>
            <a:r>
              <a:rPr lang="en-US" dirty="0">
                <a:solidFill>
                  <a:srgbClr val="00B050"/>
                </a:solidFill>
              </a:rPr>
              <a:t>Default argument Example:2)</a:t>
            </a:r>
          </a:p>
          <a:p>
            <a:pPr marL="0" indent="0">
              <a:buNone/>
            </a:pPr>
            <a:endParaRPr lang="en-US" dirty="0">
              <a:solidFill>
                <a:srgbClr val="002060"/>
              </a:solidFill>
            </a:endParaRPr>
          </a:p>
          <a:p>
            <a:pPr marL="0" indent="0">
              <a:buNone/>
            </a:pPr>
            <a:r>
              <a:rPr lang="en-US" dirty="0">
                <a:solidFill>
                  <a:srgbClr val="FF0000"/>
                </a:solidFill>
              </a:rPr>
              <a:t>def person(name, age = 27):  </a:t>
            </a:r>
          </a:p>
          <a:p>
            <a:pPr marL="0" indent="0">
              <a:buNone/>
            </a:pPr>
            <a:r>
              <a:rPr lang="en-US" dirty="0">
                <a:solidFill>
                  <a:srgbClr val="FF0000"/>
                </a:solidFill>
              </a:rPr>
              <a:t>       print(</a:t>
            </a:r>
            <a:r>
              <a:rPr lang="en-US" dirty="0" err="1">
                <a:solidFill>
                  <a:srgbClr val="FF0000"/>
                </a:solidFill>
              </a:rPr>
              <a:t>f"Name</a:t>
            </a:r>
            <a:r>
              <a:rPr lang="en-US" dirty="0">
                <a:solidFill>
                  <a:srgbClr val="FF0000"/>
                </a:solidFill>
              </a:rPr>
              <a:t>:{name} Age:{age}")</a:t>
            </a:r>
          </a:p>
          <a:p>
            <a:pPr marL="0" indent="0">
              <a:buNone/>
            </a:pPr>
            <a:r>
              <a:rPr lang="en-US" dirty="0">
                <a:solidFill>
                  <a:srgbClr val="FF0000"/>
                </a:solidFill>
              </a:rPr>
              <a:t>person(name ='</a:t>
            </a:r>
            <a:r>
              <a:rPr lang="en-US" dirty="0" err="1">
                <a:solidFill>
                  <a:srgbClr val="FF0000"/>
                </a:solidFill>
              </a:rPr>
              <a:t>Rohan’,age</a:t>
            </a:r>
            <a:r>
              <a:rPr lang="en-US" dirty="0">
                <a:solidFill>
                  <a:srgbClr val="FF0000"/>
                </a:solidFill>
              </a:rPr>
              <a:t> = 62)</a:t>
            </a:r>
          </a:p>
          <a:p>
            <a:pPr marL="0" indent="0">
              <a:buNone/>
            </a:pPr>
            <a:endParaRPr lang="en-IN" dirty="0">
              <a:solidFill>
                <a:srgbClr val="002060"/>
              </a:solidFill>
            </a:endParaRPr>
          </a:p>
          <a:p>
            <a:pPr marL="0" indent="0">
              <a:buNone/>
            </a:pPr>
            <a:r>
              <a:rPr lang="en-IN" dirty="0">
                <a:solidFill>
                  <a:srgbClr val="002060"/>
                </a:solidFill>
              </a:rPr>
              <a:t>Note : - Here in this case the ‘age =27’ at formal argument is less then the age = 62 at actual argument . So it goes through the priority and print the highest number.</a:t>
            </a:r>
          </a:p>
          <a:p>
            <a:pPr marL="0" indent="0">
              <a:buNone/>
            </a:pPr>
            <a:r>
              <a:rPr lang="en-IN" dirty="0">
                <a:solidFill>
                  <a:srgbClr val="002060"/>
                </a:solidFill>
              </a:rPr>
              <a:t>e.g. </a:t>
            </a:r>
          </a:p>
          <a:p>
            <a:pPr marL="0" indent="0">
              <a:buNone/>
            </a:pPr>
            <a:r>
              <a:rPr lang="en-IN" dirty="0">
                <a:solidFill>
                  <a:srgbClr val="002060"/>
                </a:solidFill>
              </a:rPr>
              <a:t>The output should be :-</a:t>
            </a:r>
          </a:p>
          <a:p>
            <a:pPr marL="0" indent="0">
              <a:buNone/>
            </a:pPr>
            <a:r>
              <a:rPr lang="en-IN" dirty="0">
                <a:solidFill>
                  <a:srgbClr val="002060"/>
                </a:solidFill>
              </a:rPr>
              <a:t>   </a:t>
            </a:r>
            <a:r>
              <a:rPr lang="en-IN" dirty="0">
                <a:solidFill>
                  <a:srgbClr val="FF0000"/>
                </a:solidFill>
              </a:rPr>
              <a:t>‘  </a:t>
            </a:r>
            <a:r>
              <a:rPr lang="en-IN" dirty="0" err="1">
                <a:solidFill>
                  <a:srgbClr val="FF0000"/>
                </a:solidFill>
              </a:rPr>
              <a:t>Name:Rohan</a:t>
            </a:r>
            <a:r>
              <a:rPr lang="en-IN" dirty="0">
                <a:solidFill>
                  <a:srgbClr val="FF0000"/>
                </a:solidFill>
              </a:rPr>
              <a:t> Age:62 ‘</a:t>
            </a:r>
          </a:p>
        </p:txBody>
      </p:sp>
    </p:spTree>
    <p:extLst>
      <p:ext uri="{BB962C8B-B14F-4D97-AF65-F5344CB8AC3E}">
        <p14:creationId xmlns:p14="http://schemas.microsoft.com/office/powerpoint/2010/main" val="305665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BCA018-0D71-D417-10F2-1AB85E6160D4}"/>
              </a:ext>
            </a:extLst>
          </p:cNvPr>
          <p:cNvSpPr>
            <a:spLocks noGrp="1"/>
          </p:cNvSpPr>
          <p:nvPr>
            <p:ph idx="1"/>
          </p:nvPr>
        </p:nvSpPr>
        <p:spPr>
          <a:xfrm>
            <a:off x="469900" y="660400"/>
            <a:ext cx="8804102" cy="5994399"/>
          </a:xfrm>
        </p:spPr>
        <p:txBody>
          <a:bodyPr>
            <a:normAutofit fontScale="92500" lnSpcReduction="10000"/>
          </a:bodyPr>
          <a:lstStyle/>
          <a:p>
            <a:r>
              <a:rPr lang="en-US" dirty="0">
                <a:solidFill>
                  <a:srgbClr val="002060"/>
                </a:solidFill>
              </a:rPr>
              <a:t>Variable Length argument:</a:t>
            </a:r>
          </a:p>
          <a:p>
            <a:pPr marL="0" indent="0">
              <a:buNone/>
            </a:pPr>
            <a:r>
              <a:rPr lang="en-US" dirty="0">
                <a:solidFill>
                  <a:schemeClr val="tx1">
                    <a:lumMod val="95000"/>
                    <a:lumOff val="5000"/>
                  </a:schemeClr>
                </a:solidFill>
              </a:rPr>
              <a:t>Variable length argument is an argument that can accept any number of values.</a:t>
            </a:r>
          </a:p>
          <a:p>
            <a:pPr marL="0" indent="0">
              <a:buNone/>
            </a:pPr>
            <a:r>
              <a:rPr lang="en-US" dirty="0">
                <a:solidFill>
                  <a:schemeClr val="tx1">
                    <a:lumMod val="95000"/>
                    <a:lumOff val="5000"/>
                  </a:schemeClr>
                </a:solidFill>
              </a:rPr>
              <a:t>The variable length argument is written with </a:t>
            </a:r>
            <a:r>
              <a:rPr lang="en-US" dirty="0">
                <a:solidFill>
                  <a:srgbClr val="C00000"/>
                </a:solidFill>
              </a:rPr>
              <a:t>* symbol.</a:t>
            </a:r>
          </a:p>
          <a:p>
            <a:pPr marL="0" indent="0">
              <a:buNone/>
            </a:pPr>
            <a:r>
              <a:rPr lang="en-US" dirty="0">
                <a:solidFill>
                  <a:schemeClr val="accent4">
                    <a:lumMod val="50000"/>
                  </a:schemeClr>
                </a:solidFill>
              </a:rPr>
              <a:t>It stores all the value in a tuple.</a:t>
            </a:r>
          </a:p>
          <a:p>
            <a:pPr marL="0" indent="0">
              <a:buNone/>
            </a:pPr>
            <a:endParaRPr lang="en-US" dirty="0"/>
          </a:p>
          <a:p>
            <a:pPr marL="0" indent="0">
              <a:buNone/>
            </a:pPr>
            <a:r>
              <a:rPr lang="pt-BR" dirty="0">
                <a:solidFill>
                  <a:srgbClr val="FF0000"/>
                </a:solidFill>
              </a:rPr>
              <a:t>def sum1(num1,num2,num3):  </a:t>
            </a:r>
          </a:p>
          <a:p>
            <a:pPr marL="0" indent="0">
              <a:buNone/>
            </a:pPr>
            <a:r>
              <a:rPr lang="pt-BR" dirty="0">
                <a:solidFill>
                  <a:srgbClr val="FF0000"/>
                </a:solidFill>
              </a:rPr>
              <a:t>       print(num1+num2+num3)</a:t>
            </a:r>
          </a:p>
          <a:p>
            <a:pPr marL="0" indent="0">
              <a:buNone/>
            </a:pPr>
            <a:r>
              <a:rPr lang="pt-BR" dirty="0">
                <a:solidFill>
                  <a:srgbClr val="FF0000"/>
                </a:solidFill>
              </a:rPr>
              <a:t>sum1(10,20,30)</a:t>
            </a:r>
            <a:endParaRPr lang="en-US" dirty="0"/>
          </a:p>
          <a:p>
            <a:pPr marL="0" indent="0">
              <a:buNone/>
            </a:pPr>
            <a:r>
              <a:rPr lang="en-IN" dirty="0"/>
              <a:t>Here we are getting the output of :- 60 but we don’t want the three number addition ,suppose we want an 5 number ,6 number addition and also addition of float values – so here we are using the variable length argument .</a:t>
            </a:r>
          </a:p>
          <a:p>
            <a:pPr marL="0" indent="0">
              <a:buNone/>
            </a:pPr>
            <a:r>
              <a:rPr lang="en-IN" dirty="0">
                <a:solidFill>
                  <a:srgbClr val="FF0000"/>
                </a:solidFill>
              </a:rPr>
              <a:t>def sum1(*</a:t>
            </a:r>
            <a:r>
              <a:rPr lang="en-IN" dirty="0" err="1">
                <a:solidFill>
                  <a:srgbClr val="FF0000"/>
                </a:solidFill>
              </a:rPr>
              <a:t>num</a:t>
            </a:r>
            <a:r>
              <a:rPr lang="en-IN" dirty="0">
                <a:solidFill>
                  <a:srgbClr val="FF0000"/>
                </a:solidFill>
              </a:rPr>
              <a:t>): </a:t>
            </a:r>
          </a:p>
          <a:p>
            <a:pPr marL="0" indent="0">
              <a:buNone/>
            </a:pPr>
            <a:r>
              <a:rPr lang="en-IN" dirty="0">
                <a:solidFill>
                  <a:srgbClr val="FF0000"/>
                </a:solidFill>
              </a:rPr>
              <a:t>      sum = 0   </a:t>
            </a:r>
            <a:r>
              <a:rPr lang="en-US" b="0" i="0" dirty="0">
                <a:effectLst/>
                <a:latin typeface="Söhne Mono"/>
              </a:rPr>
              <a:t># Initialize the sum variable to 0</a:t>
            </a:r>
            <a:endParaRPr lang="en-IN" dirty="0">
              <a:solidFill>
                <a:srgbClr val="FF0000"/>
              </a:solidFill>
            </a:endParaRPr>
          </a:p>
          <a:p>
            <a:pPr marL="0" indent="0">
              <a:buNone/>
            </a:pPr>
            <a:r>
              <a:rPr lang="en-IN" dirty="0">
                <a:solidFill>
                  <a:srgbClr val="FF0000"/>
                </a:solidFill>
              </a:rPr>
              <a:t>      for number in </a:t>
            </a:r>
            <a:r>
              <a:rPr lang="en-IN" dirty="0" err="1">
                <a:solidFill>
                  <a:srgbClr val="FF0000"/>
                </a:solidFill>
              </a:rPr>
              <a:t>num</a:t>
            </a:r>
            <a:r>
              <a:rPr lang="en-IN" dirty="0">
                <a:solidFill>
                  <a:srgbClr val="FF0000"/>
                </a:solidFill>
              </a:rPr>
              <a:t>:   </a:t>
            </a:r>
          </a:p>
          <a:p>
            <a:pPr marL="0" indent="0">
              <a:buNone/>
            </a:pPr>
            <a:r>
              <a:rPr lang="en-IN" dirty="0">
                <a:solidFill>
                  <a:srgbClr val="FF0000"/>
                </a:solidFill>
              </a:rPr>
              <a:t>           sum+=number    </a:t>
            </a:r>
            <a:r>
              <a:rPr lang="en-US" b="0" i="0" dirty="0">
                <a:effectLst/>
                <a:latin typeface="Söhne Mono"/>
              </a:rPr>
              <a:t># Add the current number to the sum</a:t>
            </a:r>
            <a:endParaRPr lang="en-IN" dirty="0">
              <a:solidFill>
                <a:srgbClr val="FF0000"/>
              </a:solidFill>
            </a:endParaRPr>
          </a:p>
          <a:p>
            <a:pPr marL="0" indent="0">
              <a:buNone/>
            </a:pPr>
            <a:r>
              <a:rPr lang="en-IN" dirty="0">
                <a:solidFill>
                  <a:srgbClr val="FF0000"/>
                </a:solidFill>
              </a:rPr>
              <a:t>      print("sum=",sum)</a:t>
            </a:r>
          </a:p>
          <a:p>
            <a:pPr marL="0" indent="0">
              <a:buNone/>
            </a:pPr>
            <a:r>
              <a:rPr lang="en-IN" dirty="0">
                <a:solidFill>
                  <a:srgbClr val="FF0000"/>
                </a:solidFill>
              </a:rPr>
              <a:t>sum1(23,3,56,67,76) </a:t>
            </a:r>
            <a:r>
              <a:rPr lang="en-US" b="0" i="0" dirty="0">
                <a:effectLst/>
                <a:latin typeface="Söhne Mono"/>
              </a:rPr>
              <a:t># Call the function with multiple arguments</a:t>
            </a:r>
            <a:endParaRPr lang="en-IN" dirty="0">
              <a:solidFill>
                <a:srgbClr val="FF0000"/>
              </a:solidFill>
            </a:endParaRPr>
          </a:p>
        </p:txBody>
      </p:sp>
    </p:spTree>
    <p:extLst>
      <p:ext uri="{BB962C8B-B14F-4D97-AF65-F5344CB8AC3E}">
        <p14:creationId xmlns:p14="http://schemas.microsoft.com/office/powerpoint/2010/main" val="38733797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BE66B3-CDE3-BDBB-5250-E25247F26501}"/>
              </a:ext>
            </a:extLst>
          </p:cNvPr>
          <p:cNvSpPr>
            <a:spLocks noGrp="1"/>
          </p:cNvSpPr>
          <p:nvPr>
            <p:ph type="title"/>
          </p:nvPr>
        </p:nvSpPr>
        <p:spPr>
          <a:xfrm>
            <a:off x="1570469" y="129066"/>
            <a:ext cx="8596668" cy="687572"/>
          </a:xfrm>
        </p:spPr>
        <p:txBody>
          <a:bodyPr/>
          <a:lstStyle/>
          <a:p>
            <a:r>
              <a:rPr lang="en-US" dirty="0"/>
              <a:t>Local Variables:</a:t>
            </a:r>
            <a:endParaRPr lang="en-IN" dirty="0"/>
          </a:p>
        </p:txBody>
      </p:sp>
      <p:sp>
        <p:nvSpPr>
          <p:cNvPr id="3" name="Content Placeholder 2">
            <a:extLst>
              <a:ext uri="{FF2B5EF4-FFF2-40B4-BE49-F238E27FC236}">
                <a16:creationId xmlns:a16="http://schemas.microsoft.com/office/drawing/2014/main" xmlns="" id="{52039F40-924F-DA60-1C42-113081FD9C71}"/>
              </a:ext>
            </a:extLst>
          </p:cNvPr>
          <p:cNvSpPr>
            <a:spLocks noGrp="1"/>
          </p:cNvSpPr>
          <p:nvPr>
            <p:ph idx="1"/>
          </p:nvPr>
        </p:nvSpPr>
        <p:spPr>
          <a:xfrm>
            <a:off x="425302" y="816638"/>
            <a:ext cx="8848700" cy="5912295"/>
          </a:xfrm>
        </p:spPr>
        <p:txBody>
          <a:bodyPr>
            <a:normAutofit fontScale="85000" lnSpcReduction="20000"/>
          </a:bodyPr>
          <a:lstStyle/>
          <a:p>
            <a:r>
              <a:rPr lang="en-US" b="1" dirty="0">
                <a:solidFill>
                  <a:srgbClr val="002060"/>
                </a:solidFill>
              </a:rPr>
              <a:t>Local variables are declared inside a function and can only be accessed within that function.</a:t>
            </a:r>
          </a:p>
          <a:p>
            <a:r>
              <a:rPr lang="en-US" b="1" dirty="0">
                <a:solidFill>
                  <a:srgbClr val="002060"/>
                </a:solidFill>
              </a:rPr>
              <a:t>They have a local scope, meaning they exist only within the block of code where they are defined.</a:t>
            </a:r>
          </a:p>
          <a:p>
            <a:r>
              <a:rPr lang="en-US" b="1" dirty="0">
                <a:solidFill>
                  <a:srgbClr val="002060"/>
                </a:solidFill>
              </a:rPr>
              <a:t>Once the function execution is complete, the local variables are destroyed, and their values are not accessible outside the function.</a:t>
            </a:r>
          </a:p>
          <a:p>
            <a:pPr marL="0" indent="0">
              <a:buNone/>
            </a:pPr>
            <a:r>
              <a:rPr lang="en-IN" b="1" dirty="0">
                <a:solidFill>
                  <a:srgbClr val="00B050"/>
                </a:solidFill>
              </a:rPr>
              <a:t>Example:1</a:t>
            </a:r>
          </a:p>
          <a:p>
            <a:pPr marL="0" indent="0">
              <a:buNone/>
            </a:pPr>
            <a:r>
              <a:rPr lang="en-US" b="1" dirty="0">
                <a:solidFill>
                  <a:srgbClr val="002060"/>
                </a:solidFill>
              </a:rPr>
              <a:t># local </a:t>
            </a:r>
            <a:r>
              <a:rPr lang="en-US" b="1" dirty="0" err="1">
                <a:solidFill>
                  <a:srgbClr val="002060"/>
                </a:solidFill>
              </a:rPr>
              <a:t>varibale</a:t>
            </a:r>
            <a:r>
              <a:rPr lang="en-US" b="1" dirty="0">
                <a:solidFill>
                  <a:srgbClr val="002060"/>
                </a:solidFill>
              </a:rPr>
              <a:t> </a:t>
            </a:r>
          </a:p>
          <a:p>
            <a:pPr marL="0" indent="0">
              <a:buNone/>
            </a:pPr>
            <a:r>
              <a:rPr lang="en-US" b="1" dirty="0">
                <a:solidFill>
                  <a:srgbClr val="FF0000"/>
                </a:solidFill>
              </a:rPr>
              <a:t>def show():</a:t>
            </a:r>
          </a:p>
          <a:p>
            <a:pPr marL="0" indent="0">
              <a:buNone/>
            </a:pPr>
            <a:r>
              <a:rPr lang="en-US" b="1" dirty="0">
                <a:solidFill>
                  <a:srgbClr val="FF0000"/>
                </a:solidFill>
              </a:rPr>
              <a:t>        x = 10   # local </a:t>
            </a:r>
            <a:r>
              <a:rPr lang="en-US" b="1" dirty="0" err="1">
                <a:solidFill>
                  <a:srgbClr val="FF0000"/>
                </a:solidFill>
              </a:rPr>
              <a:t>varibale</a:t>
            </a:r>
            <a:r>
              <a:rPr lang="en-US" b="1" dirty="0">
                <a:solidFill>
                  <a:srgbClr val="FF0000"/>
                </a:solidFill>
              </a:rPr>
              <a:t>     </a:t>
            </a:r>
          </a:p>
          <a:p>
            <a:pPr marL="0" indent="0">
              <a:buNone/>
            </a:pPr>
            <a:r>
              <a:rPr lang="en-US" b="1" dirty="0">
                <a:solidFill>
                  <a:srgbClr val="FF0000"/>
                </a:solidFill>
              </a:rPr>
              <a:t>        print(x)  </a:t>
            </a:r>
          </a:p>
          <a:p>
            <a:pPr marL="0" indent="0">
              <a:buNone/>
            </a:pPr>
            <a:r>
              <a:rPr lang="en-US" b="1" dirty="0">
                <a:solidFill>
                  <a:srgbClr val="FF0000"/>
                </a:solidFill>
              </a:rPr>
              <a:t>show()                             #output:10</a:t>
            </a:r>
          </a:p>
          <a:p>
            <a:pPr marL="0" indent="0">
              <a:buNone/>
            </a:pPr>
            <a:r>
              <a:rPr lang="en-US" b="1" dirty="0">
                <a:solidFill>
                  <a:srgbClr val="00B050"/>
                </a:solidFill>
              </a:rPr>
              <a:t>Example 2:</a:t>
            </a:r>
          </a:p>
          <a:p>
            <a:pPr marL="0" indent="0">
              <a:buNone/>
            </a:pPr>
            <a:r>
              <a:rPr lang="es-ES" b="1" dirty="0"/>
              <a:t>#local </a:t>
            </a:r>
            <a:r>
              <a:rPr lang="es-ES" b="1" dirty="0" err="1"/>
              <a:t>varibale</a:t>
            </a:r>
            <a:r>
              <a:rPr lang="es-ES" b="1" dirty="0"/>
              <a:t> </a:t>
            </a:r>
          </a:p>
          <a:p>
            <a:pPr marL="0" indent="0">
              <a:buNone/>
            </a:pPr>
            <a:r>
              <a:rPr lang="es-ES" b="1" dirty="0" err="1">
                <a:solidFill>
                  <a:srgbClr val="FF0000"/>
                </a:solidFill>
              </a:rPr>
              <a:t>def</a:t>
            </a:r>
            <a:r>
              <a:rPr lang="es-ES" b="1" dirty="0">
                <a:solidFill>
                  <a:srgbClr val="FF0000"/>
                </a:solidFill>
              </a:rPr>
              <a:t> </a:t>
            </a:r>
            <a:r>
              <a:rPr lang="es-ES" b="1" dirty="0" err="1">
                <a:solidFill>
                  <a:srgbClr val="FF0000"/>
                </a:solidFill>
              </a:rPr>
              <a:t>add</a:t>
            </a:r>
            <a:r>
              <a:rPr lang="es-ES" b="1" dirty="0">
                <a:solidFill>
                  <a:srgbClr val="FF0000"/>
                </a:solidFill>
              </a:rPr>
              <a:t>(y): </a:t>
            </a:r>
          </a:p>
          <a:p>
            <a:pPr marL="0" indent="0">
              <a:buNone/>
            </a:pPr>
            <a:r>
              <a:rPr lang="es-ES" b="1" dirty="0">
                <a:solidFill>
                  <a:srgbClr val="FF0000"/>
                </a:solidFill>
              </a:rPr>
              <a:t>        x = 10   # local variable</a:t>
            </a:r>
          </a:p>
          <a:p>
            <a:pPr marL="0" indent="0">
              <a:buNone/>
            </a:pPr>
            <a:r>
              <a:rPr lang="es-ES" b="1" dirty="0">
                <a:solidFill>
                  <a:srgbClr val="FF0000"/>
                </a:solidFill>
              </a:rPr>
              <a:t>        </a:t>
            </a:r>
            <a:r>
              <a:rPr lang="es-ES" b="1" dirty="0" err="1">
                <a:solidFill>
                  <a:srgbClr val="FF0000"/>
                </a:solidFill>
              </a:rPr>
              <a:t>print</a:t>
            </a:r>
            <a:r>
              <a:rPr lang="es-ES" b="1" dirty="0">
                <a:solidFill>
                  <a:srgbClr val="FF0000"/>
                </a:solidFill>
              </a:rPr>
              <a:t>(x)    </a:t>
            </a:r>
          </a:p>
          <a:p>
            <a:pPr marL="0" indent="0">
              <a:buNone/>
            </a:pPr>
            <a:r>
              <a:rPr lang="es-ES" b="1" dirty="0">
                <a:solidFill>
                  <a:srgbClr val="FF0000"/>
                </a:solidFill>
              </a:rPr>
              <a:t>        </a:t>
            </a:r>
            <a:r>
              <a:rPr lang="es-ES" b="1" dirty="0" err="1">
                <a:solidFill>
                  <a:srgbClr val="FF0000"/>
                </a:solidFill>
              </a:rPr>
              <a:t>print</a:t>
            </a:r>
            <a:r>
              <a:rPr lang="es-ES" b="1" dirty="0">
                <a:solidFill>
                  <a:srgbClr val="FF0000"/>
                </a:solidFill>
              </a:rPr>
              <a:t>(</a:t>
            </a:r>
            <a:r>
              <a:rPr lang="es-ES" b="1" dirty="0" err="1">
                <a:solidFill>
                  <a:srgbClr val="FF0000"/>
                </a:solidFill>
              </a:rPr>
              <a:t>x+y</a:t>
            </a:r>
            <a:r>
              <a:rPr lang="es-ES" b="1" dirty="0">
                <a:solidFill>
                  <a:srgbClr val="FF0000"/>
                </a:solidFill>
              </a:rPr>
              <a:t>)</a:t>
            </a:r>
          </a:p>
          <a:p>
            <a:pPr marL="0" indent="0">
              <a:buNone/>
            </a:pPr>
            <a:r>
              <a:rPr lang="es-ES" b="1" dirty="0" err="1">
                <a:solidFill>
                  <a:srgbClr val="FF0000"/>
                </a:solidFill>
              </a:rPr>
              <a:t>add</a:t>
            </a:r>
            <a:r>
              <a:rPr lang="es-ES" b="1" dirty="0">
                <a:solidFill>
                  <a:srgbClr val="FF0000"/>
                </a:solidFill>
              </a:rPr>
              <a:t>(20)                     #output 10</a:t>
            </a:r>
          </a:p>
          <a:p>
            <a:pPr marL="0" indent="0">
              <a:buNone/>
            </a:pPr>
            <a:r>
              <a:rPr lang="es-ES" b="1" dirty="0">
                <a:solidFill>
                  <a:srgbClr val="FF0000"/>
                </a:solidFill>
              </a:rPr>
              <a:t>                                              30</a:t>
            </a:r>
          </a:p>
          <a:p>
            <a:pPr marL="0" indent="0">
              <a:buNone/>
            </a:pPr>
            <a:endParaRPr lang="en-US" b="1" dirty="0">
              <a:solidFill>
                <a:srgbClr val="FF0000"/>
              </a:solidFill>
            </a:endParaRPr>
          </a:p>
        </p:txBody>
      </p:sp>
    </p:spTree>
    <p:extLst>
      <p:ext uri="{BB962C8B-B14F-4D97-AF65-F5344CB8AC3E}">
        <p14:creationId xmlns:p14="http://schemas.microsoft.com/office/powerpoint/2010/main" val="34904548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C555C3-95EE-E3E6-9EF0-D21862C1F447}"/>
              </a:ext>
            </a:extLst>
          </p:cNvPr>
          <p:cNvSpPr>
            <a:spLocks noGrp="1"/>
          </p:cNvSpPr>
          <p:nvPr>
            <p:ph type="title"/>
          </p:nvPr>
        </p:nvSpPr>
        <p:spPr>
          <a:xfrm>
            <a:off x="677334" y="609600"/>
            <a:ext cx="8596668" cy="645042"/>
          </a:xfrm>
        </p:spPr>
        <p:txBody>
          <a:bodyPr/>
          <a:lstStyle/>
          <a:p>
            <a:r>
              <a:rPr lang="en-US" dirty="0"/>
              <a:t>Example of Local Variables:</a:t>
            </a:r>
            <a:endParaRPr lang="en-IN" dirty="0"/>
          </a:p>
        </p:txBody>
      </p:sp>
      <p:sp>
        <p:nvSpPr>
          <p:cNvPr id="3" name="Content Placeholder 2">
            <a:extLst>
              <a:ext uri="{FF2B5EF4-FFF2-40B4-BE49-F238E27FC236}">
                <a16:creationId xmlns:a16="http://schemas.microsoft.com/office/drawing/2014/main" xmlns="" id="{91EEC666-4209-50AC-81A2-2E72A10A90B2}"/>
              </a:ext>
            </a:extLst>
          </p:cNvPr>
          <p:cNvSpPr>
            <a:spLocks noGrp="1"/>
          </p:cNvSpPr>
          <p:nvPr>
            <p:ph idx="1"/>
          </p:nvPr>
        </p:nvSpPr>
        <p:spPr>
          <a:xfrm>
            <a:off x="770099" y="1628785"/>
            <a:ext cx="9513588" cy="4493719"/>
          </a:xfrm>
        </p:spPr>
        <p:txBody>
          <a:bodyPr/>
          <a:lstStyle/>
          <a:p>
            <a:pPr marL="0" indent="0">
              <a:buNone/>
            </a:pPr>
            <a:r>
              <a:rPr lang="es-ES" dirty="0" err="1">
                <a:solidFill>
                  <a:srgbClr val="FF0000"/>
                </a:solidFill>
              </a:rPr>
              <a:t>def</a:t>
            </a:r>
            <a:r>
              <a:rPr lang="es-ES" dirty="0">
                <a:solidFill>
                  <a:srgbClr val="FF0000"/>
                </a:solidFill>
              </a:rPr>
              <a:t> </a:t>
            </a:r>
            <a:r>
              <a:rPr lang="es-ES" dirty="0" err="1">
                <a:solidFill>
                  <a:srgbClr val="FF0000"/>
                </a:solidFill>
              </a:rPr>
              <a:t>outer_function</a:t>
            </a:r>
            <a:r>
              <a:rPr lang="es-ES" dirty="0">
                <a:solidFill>
                  <a:srgbClr val="FF0000"/>
                </a:solidFill>
              </a:rPr>
              <a:t>():    </a:t>
            </a:r>
          </a:p>
          <a:p>
            <a:pPr marL="0" indent="0">
              <a:buNone/>
            </a:pPr>
            <a:r>
              <a:rPr lang="es-ES" dirty="0">
                <a:solidFill>
                  <a:srgbClr val="FF0000"/>
                </a:solidFill>
              </a:rPr>
              <a:t>      </a:t>
            </a:r>
            <a:r>
              <a:rPr lang="es-ES" dirty="0" err="1">
                <a:solidFill>
                  <a:srgbClr val="FF0000"/>
                </a:solidFill>
              </a:rPr>
              <a:t>outer_var</a:t>
            </a:r>
            <a:r>
              <a:rPr lang="es-ES" dirty="0">
                <a:solidFill>
                  <a:srgbClr val="FF0000"/>
                </a:solidFill>
              </a:rPr>
              <a:t> = 10    </a:t>
            </a:r>
          </a:p>
          <a:p>
            <a:pPr marL="0" indent="0">
              <a:buNone/>
            </a:pPr>
            <a:r>
              <a:rPr lang="es-ES" dirty="0">
                <a:solidFill>
                  <a:srgbClr val="FF0000"/>
                </a:solidFill>
              </a:rPr>
              <a:t>      </a:t>
            </a:r>
            <a:r>
              <a:rPr lang="es-ES" dirty="0" err="1">
                <a:solidFill>
                  <a:srgbClr val="FF0000"/>
                </a:solidFill>
              </a:rPr>
              <a:t>print</a:t>
            </a:r>
            <a:r>
              <a:rPr lang="es-ES" dirty="0">
                <a:solidFill>
                  <a:srgbClr val="FF0000"/>
                </a:solidFill>
              </a:rPr>
              <a:t>("</a:t>
            </a:r>
            <a:r>
              <a:rPr lang="es-ES" dirty="0" err="1">
                <a:solidFill>
                  <a:srgbClr val="FF0000"/>
                </a:solidFill>
              </a:rPr>
              <a:t>Outer</a:t>
            </a:r>
            <a:r>
              <a:rPr lang="es-ES" dirty="0">
                <a:solidFill>
                  <a:srgbClr val="FF0000"/>
                </a:solidFill>
              </a:rPr>
              <a:t> </a:t>
            </a:r>
            <a:r>
              <a:rPr lang="es-ES" dirty="0" err="1">
                <a:solidFill>
                  <a:srgbClr val="FF0000"/>
                </a:solidFill>
              </a:rPr>
              <a:t>function</a:t>
            </a:r>
            <a:r>
              <a:rPr lang="es-ES" dirty="0">
                <a:solidFill>
                  <a:srgbClr val="FF0000"/>
                </a:solidFill>
              </a:rPr>
              <a:t> - </a:t>
            </a:r>
            <a:r>
              <a:rPr lang="es-ES" dirty="0" err="1">
                <a:solidFill>
                  <a:srgbClr val="FF0000"/>
                </a:solidFill>
              </a:rPr>
              <a:t>outer_var</a:t>
            </a:r>
            <a:r>
              <a:rPr lang="es-ES" dirty="0">
                <a:solidFill>
                  <a:srgbClr val="FF0000"/>
                </a:solidFill>
              </a:rPr>
              <a:t>:", </a:t>
            </a:r>
            <a:r>
              <a:rPr lang="es-ES" dirty="0" err="1">
                <a:solidFill>
                  <a:srgbClr val="FF0000"/>
                </a:solidFill>
              </a:rPr>
              <a:t>outer_var</a:t>
            </a:r>
            <a:r>
              <a:rPr lang="es-ES" dirty="0">
                <a:solidFill>
                  <a:srgbClr val="FF0000"/>
                </a:solidFill>
              </a:rPr>
              <a:t>)     </a:t>
            </a:r>
          </a:p>
          <a:p>
            <a:pPr marL="0" indent="0">
              <a:buNone/>
            </a:pPr>
            <a:r>
              <a:rPr lang="es-ES" dirty="0">
                <a:solidFill>
                  <a:srgbClr val="FF0000"/>
                </a:solidFill>
              </a:rPr>
              <a:t>      </a:t>
            </a:r>
            <a:r>
              <a:rPr lang="es-ES" dirty="0" err="1">
                <a:solidFill>
                  <a:srgbClr val="FF0000"/>
                </a:solidFill>
              </a:rPr>
              <a:t>def</a:t>
            </a:r>
            <a:r>
              <a:rPr lang="es-ES" dirty="0">
                <a:solidFill>
                  <a:srgbClr val="FF0000"/>
                </a:solidFill>
              </a:rPr>
              <a:t> </a:t>
            </a:r>
            <a:r>
              <a:rPr lang="es-ES" dirty="0" err="1">
                <a:solidFill>
                  <a:srgbClr val="FF0000"/>
                </a:solidFill>
              </a:rPr>
              <a:t>inner_function</a:t>
            </a:r>
            <a:r>
              <a:rPr lang="es-ES" dirty="0">
                <a:solidFill>
                  <a:srgbClr val="FF0000"/>
                </a:solidFill>
              </a:rPr>
              <a:t>(): </a:t>
            </a:r>
          </a:p>
          <a:p>
            <a:pPr marL="0" indent="0">
              <a:buNone/>
            </a:pPr>
            <a:r>
              <a:rPr lang="es-ES" dirty="0">
                <a:solidFill>
                  <a:srgbClr val="FF0000"/>
                </a:solidFill>
              </a:rPr>
              <a:t>          </a:t>
            </a:r>
            <a:r>
              <a:rPr lang="es-ES" dirty="0" err="1">
                <a:solidFill>
                  <a:srgbClr val="FF0000"/>
                </a:solidFill>
              </a:rPr>
              <a:t>inner_var</a:t>
            </a:r>
            <a:r>
              <a:rPr lang="es-ES" dirty="0">
                <a:solidFill>
                  <a:srgbClr val="FF0000"/>
                </a:solidFill>
              </a:rPr>
              <a:t> = 20       </a:t>
            </a:r>
            <a:r>
              <a:rPr lang="es-ES" dirty="0">
                <a:solidFill>
                  <a:srgbClr val="0070C0"/>
                </a:solidFill>
              </a:rPr>
              <a:t> # </a:t>
            </a:r>
            <a:r>
              <a:rPr lang="es-ES" dirty="0" err="1">
                <a:solidFill>
                  <a:srgbClr val="0070C0"/>
                </a:solidFill>
              </a:rPr>
              <a:t>Accessing</a:t>
            </a:r>
            <a:r>
              <a:rPr lang="es-ES" dirty="0">
                <a:solidFill>
                  <a:srgbClr val="0070C0"/>
                </a:solidFill>
              </a:rPr>
              <a:t> </a:t>
            </a:r>
            <a:r>
              <a:rPr lang="es-ES" dirty="0" err="1">
                <a:solidFill>
                  <a:srgbClr val="0070C0"/>
                </a:solidFill>
              </a:rPr>
              <a:t>both</a:t>
            </a:r>
            <a:r>
              <a:rPr lang="es-ES" dirty="0">
                <a:solidFill>
                  <a:srgbClr val="0070C0"/>
                </a:solidFill>
              </a:rPr>
              <a:t> </a:t>
            </a:r>
            <a:r>
              <a:rPr lang="es-ES" dirty="0" err="1">
                <a:solidFill>
                  <a:srgbClr val="0070C0"/>
                </a:solidFill>
              </a:rPr>
              <a:t>outer_var</a:t>
            </a:r>
            <a:r>
              <a:rPr lang="es-ES" dirty="0">
                <a:solidFill>
                  <a:srgbClr val="0070C0"/>
                </a:solidFill>
              </a:rPr>
              <a:t> and </a:t>
            </a:r>
            <a:r>
              <a:rPr lang="es-ES" dirty="0" err="1">
                <a:solidFill>
                  <a:srgbClr val="0070C0"/>
                </a:solidFill>
              </a:rPr>
              <a:t>inner_var</a:t>
            </a:r>
            <a:r>
              <a:rPr lang="es-ES" dirty="0">
                <a:solidFill>
                  <a:srgbClr val="0070C0"/>
                </a:solidFill>
              </a:rPr>
              <a:t>  </a:t>
            </a:r>
          </a:p>
          <a:p>
            <a:pPr marL="0" indent="0">
              <a:buNone/>
            </a:pPr>
            <a:r>
              <a:rPr lang="es-ES" dirty="0">
                <a:solidFill>
                  <a:srgbClr val="FF0000"/>
                </a:solidFill>
              </a:rPr>
              <a:t>          </a:t>
            </a:r>
            <a:r>
              <a:rPr lang="es-ES" dirty="0" err="1">
                <a:solidFill>
                  <a:srgbClr val="FF0000"/>
                </a:solidFill>
              </a:rPr>
              <a:t>print</a:t>
            </a:r>
            <a:r>
              <a:rPr lang="es-ES" dirty="0">
                <a:solidFill>
                  <a:srgbClr val="FF0000"/>
                </a:solidFill>
              </a:rPr>
              <a:t>("</a:t>
            </a:r>
            <a:r>
              <a:rPr lang="es-ES" dirty="0" err="1">
                <a:solidFill>
                  <a:srgbClr val="FF0000"/>
                </a:solidFill>
              </a:rPr>
              <a:t>Inner</a:t>
            </a:r>
            <a:r>
              <a:rPr lang="es-ES" dirty="0">
                <a:solidFill>
                  <a:srgbClr val="FF0000"/>
                </a:solidFill>
              </a:rPr>
              <a:t> </a:t>
            </a:r>
            <a:r>
              <a:rPr lang="es-ES" dirty="0" err="1">
                <a:solidFill>
                  <a:srgbClr val="FF0000"/>
                </a:solidFill>
              </a:rPr>
              <a:t>function</a:t>
            </a:r>
            <a:r>
              <a:rPr lang="es-ES" dirty="0">
                <a:solidFill>
                  <a:srgbClr val="FF0000"/>
                </a:solidFill>
              </a:rPr>
              <a:t> - </a:t>
            </a:r>
            <a:r>
              <a:rPr lang="es-ES" dirty="0" err="1">
                <a:solidFill>
                  <a:srgbClr val="FF0000"/>
                </a:solidFill>
              </a:rPr>
              <a:t>outer_var</a:t>
            </a:r>
            <a:r>
              <a:rPr lang="es-ES" dirty="0">
                <a:solidFill>
                  <a:srgbClr val="FF0000"/>
                </a:solidFill>
              </a:rPr>
              <a:t>:", </a:t>
            </a:r>
            <a:r>
              <a:rPr lang="es-ES" dirty="0" err="1">
                <a:solidFill>
                  <a:srgbClr val="FF0000"/>
                </a:solidFill>
              </a:rPr>
              <a:t>outer_var</a:t>
            </a:r>
            <a:r>
              <a:rPr lang="es-ES" dirty="0">
                <a:solidFill>
                  <a:srgbClr val="FF0000"/>
                </a:solidFill>
              </a:rPr>
              <a:t>)     </a:t>
            </a:r>
          </a:p>
          <a:p>
            <a:pPr marL="0" indent="0">
              <a:buNone/>
            </a:pPr>
            <a:r>
              <a:rPr lang="es-ES" dirty="0">
                <a:solidFill>
                  <a:srgbClr val="FF0000"/>
                </a:solidFill>
              </a:rPr>
              <a:t>          </a:t>
            </a:r>
            <a:r>
              <a:rPr lang="es-ES" dirty="0" err="1">
                <a:solidFill>
                  <a:srgbClr val="FF0000"/>
                </a:solidFill>
              </a:rPr>
              <a:t>print</a:t>
            </a:r>
            <a:r>
              <a:rPr lang="es-ES" dirty="0">
                <a:solidFill>
                  <a:srgbClr val="FF0000"/>
                </a:solidFill>
              </a:rPr>
              <a:t>("</a:t>
            </a:r>
            <a:r>
              <a:rPr lang="es-ES" dirty="0" err="1">
                <a:solidFill>
                  <a:srgbClr val="FF0000"/>
                </a:solidFill>
              </a:rPr>
              <a:t>Inner</a:t>
            </a:r>
            <a:r>
              <a:rPr lang="es-ES" dirty="0">
                <a:solidFill>
                  <a:srgbClr val="FF0000"/>
                </a:solidFill>
              </a:rPr>
              <a:t> </a:t>
            </a:r>
            <a:r>
              <a:rPr lang="es-ES" dirty="0" err="1">
                <a:solidFill>
                  <a:srgbClr val="FF0000"/>
                </a:solidFill>
              </a:rPr>
              <a:t>function</a:t>
            </a:r>
            <a:r>
              <a:rPr lang="es-ES" dirty="0">
                <a:solidFill>
                  <a:srgbClr val="FF0000"/>
                </a:solidFill>
              </a:rPr>
              <a:t> - </a:t>
            </a:r>
            <a:r>
              <a:rPr lang="es-ES" dirty="0" err="1">
                <a:solidFill>
                  <a:srgbClr val="FF0000"/>
                </a:solidFill>
              </a:rPr>
              <a:t>inner_var</a:t>
            </a:r>
            <a:r>
              <a:rPr lang="es-ES" dirty="0">
                <a:solidFill>
                  <a:srgbClr val="FF0000"/>
                </a:solidFill>
              </a:rPr>
              <a:t>:", </a:t>
            </a:r>
            <a:r>
              <a:rPr lang="es-ES" dirty="0" err="1">
                <a:solidFill>
                  <a:srgbClr val="FF0000"/>
                </a:solidFill>
              </a:rPr>
              <a:t>inner_var</a:t>
            </a:r>
            <a:r>
              <a:rPr lang="es-ES" dirty="0">
                <a:solidFill>
                  <a:srgbClr val="FF0000"/>
                </a:solidFill>
              </a:rPr>
              <a:t>)      </a:t>
            </a:r>
            <a:r>
              <a:rPr lang="es-ES" dirty="0">
                <a:solidFill>
                  <a:srgbClr val="0070C0"/>
                </a:solidFill>
              </a:rPr>
              <a:t>  # </a:t>
            </a:r>
            <a:r>
              <a:rPr lang="es-ES" dirty="0" err="1">
                <a:solidFill>
                  <a:srgbClr val="0070C0"/>
                </a:solidFill>
              </a:rPr>
              <a:t>Call</a:t>
            </a:r>
            <a:r>
              <a:rPr lang="es-ES" dirty="0">
                <a:solidFill>
                  <a:srgbClr val="0070C0"/>
                </a:solidFill>
              </a:rPr>
              <a:t> </a:t>
            </a:r>
            <a:r>
              <a:rPr lang="es-ES" dirty="0" err="1">
                <a:solidFill>
                  <a:srgbClr val="0070C0"/>
                </a:solidFill>
              </a:rPr>
              <a:t>the</a:t>
            </a:r>
            <a:r>
              <a:rPr lang="es-ES" dirty="0">
                <a:solidFill>
                  <a:srgbClr val="0070C0"/>
                </a:solidFill>
              </a:rPr>
              <a:t> </a:t>
            </a:r>
            <a:r>
              <a:rPr lang="es-ES" dirty="0" err="1">
                <a:solidFill>
                  <a:srgbClr val="0070C0"/>
                </a:solidFill>
              </a:rPr>
              <a:t>inner</a:t>
            </a:r>
            <a:r>
              <a:rPr lang="es-ES" dirty="0">
                <a:solidFill>
                  <a:srgbClr val="0070C0"/>
                </a:solidFill>
              </a:rPr>
              <a:t> </a:t>
            </a:r>
            <a:r>
              <a:rPr lang="es-ES" dirty="0" err="1">
                <a:solidFill>
                  <a:srgbClr val="0070C0"/>
                </a:solidFill>
              </a:rPr>
              <a:t>function</a:t>
            </a:r>
            <a:r>
              <a:rPr lang="es-ES" dirty="0">
                <a:solidFill>
                  <a:srgbClr val="0070C0"/>
                </a:solidFill>
              </a:rPr>
              <a:t>      </a:t>
            </a:r>
          </a:p>
          <a:p>
            <a:pPr marL="0" indent="0">
              <a:buNone/>
            </a:pPr>
            <a:r>
              <a:rPr lang="es-ES" dirty="0">
                <a:solidFill>
                  <a:srgbClr val="FF0000"/>
                </a:solidFill>
              </a:rPr>
              <a:t>      </a:t>
            </a:r>
            <a:r>
              <a:rPr lang="es-ES" dirty="0" err="1">
                <a:solidFill>
                  <a:srgbClr val="FF0000"/>
                </a:solidFill>
              </a:rPr>
              <a:t>inner_function</a:t>
            </a:r>
            <a:r>
              <a:rPr lang="es-ES" dirty="0">
                <a:solidFill>
                  <a:srgbClr val="FF0000"/>
                </a:solidFill>
              </a:rPr>
              <a:t>()        </a:t>
            </a:r>
            <a:r>
              <a:rPr lang="es-ES" dirty="0">
                <a:solidFill>
                  <a:srgbClr val="0070C0"/>
                </a:solidFill>
              </a:rPr>
              <a:t># </a:t>
            </a:r>
            <a:r>
              <a:rPr lang="es-ES" dirty="0" err="1">
                <a:solidFill>
                  <a:srgbClr val="0070C0"/>
                </a:solidFill>
              </a:rPr>
              <a:t>Call</a:t>
            </a:r>
            <a:r>
              <a:rPr lang="es-ES" dirty="0">
                <a:solidFill>
                  <a:srgbClr val="0070C0"/>
                </a:solidFill>
              </a:rPr>
              <a:t> </a:t>
            </a:r>
            <a:r>
              <a:rPr lang="es-ES" dirty="0" err="1">
                <a:solidFill>
                  <a:srgbClr val="0070C0"/>
                </a:solidFill>
              </a:rPr>
              <a:t>the</a:t>
            </a:r>
            <a:r>
              <a:rPr lang="es-ES" dirty="0">
                <a:solidFill>
                  <a:srgbClr val="0070C0"/>
                </a:solidFill>
              </a:rPr>
              <a:t> </a:t>
            </a:r>
            <a:r>
              <a:rPr lang="es-ES" dirty="0" err="1">
                <a:solidFill>
                  <a:srgbClr val="0070C0"/>
                </a:solidFill>
              </a:rPr>
              <a:t>outer</a:t>
            </a:r>
            <a:r>
              <a:rPr lang="es-ES" dirty="0">
                <a:solidFill>
                  <a:srgbClr val="0070C0"/>
                </a:solidFill>
              </a:rPr>
              <a:t> </a:t>
            </a:r>
            <a:r>
              <a:rPr lang="es-ES" dirty="0" err="1">
                <a:solidFill>
                  <a:srgbClr val="0070C0"/>
                </a:solidFill>
              </a:rPr>
              <a:t>function</a:t>
            </a:r>
            <a:endParaRPr lang="es-ES" dirty="0">
              <a:solidFill>
                <a:srgbClr val="0070C0"/>
              </a:solidFill>
            </a:endParaRPr>
          </a:p>
          <a:p>
            <a:pPr marL="0" indent="0">
              <a:buNone/>
            </a:pPr>
            <a:r>
              <a:rPr lang="es-ES" dirty="0" err="1">
                <a:solidFill>
                  <a:srgbClr val="FF0000"/>
                </a:solidFill>
              </a:rPr>
              <a:t>outer_function</a:t>
            </a:r>
            <a:r>
              <a:rPr lang="es-ES" dirty="0">
                <a:solidFill>
                  <a:srgbClr val="FF0000"/>
                </a:solidFill>
              </a:rPr>
              <a:t>()</a:t>
            </a:r>
            <a:endParaRPr lang="es-ES" dirty="0">
              <a:solidFill>
                <a:srgbClr val="0070C0"/>
              </a:solidFill>
            </a:endParaRPr>
          </a:p>
        </p:txBody>
      </p:sp>
    </p:spTree>
    <p:extLst>
      <p:ext uri="{BB962C8B-B14F-4D97-AF65-F5344CB8AC3E}">
        <p14:creationId xmlns:p14="http://schemas.microsoft.com/office/powerpoint/2010/main" val="14146025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4CED2B-8D5A-8097-2B88-C203FCC3C2D1}"/>
              </a:ext>
            </a:extLst>
          </p:cNvPr>
          <p:cNvSpPr>
            <a:spLocks noGrp="1"/>
          </p:cNvSpPr>
          <p:nvPr>
            <p:ph type="title"/>
          </p:nvPr>
        </p:nvSpPr>
        <p:spPr>
          <a:xfrm>
            <a:off x="524934" y="348343"/>
            <a:ext cx="8596668" cy="718457"/>
          </a:xfrm>
        </p:spPr>
        <p:txBody>
          <a:bodyPr/>
          <a:lstStyle/>
          <a:p>
            <a:r>
              <a:rPr lang="en-US" dirty="0"/>
              <a:t>          Global Variables:</a:t>
            </a:r>
            <a:endParaRPr lang="en-IN" dirty="0"/>
          </a:p>
        </p:txBody>
      </p:sp>
      <p:sp>
        <p:nvSpPr>
          <p:cNvPr id="3" name="Content Placeholder 2">
            <a:extLst>
              <a:ext uri="{FF2B5EF4-FFF2-40B4-BE49-F238E27FC236}">
                <a16:creationId xmlns:a16="http://schemas.microsoft.com/office/drawing/2014/main" xmlns="" id="{46E138D7-5ADB-19FD-EDCE-558842438604}"/>
              </a:ext>
            </a:extLst>
          </p:cNvPr>
          <p:cNvSpPr>
            <a:spLocks noGrp="1"/>
          </p:cNvSpPr>
          <p:nvPr>
            <p:ph idx="1"/>
          </p:nvPr>
        </p:nvSpPr>
        <p:spPr>
          <a:xfrm>
            <a:off x="524934" y="1066800"/>
            <a:ext cx="8749068" cy="5617029"/>
          </a:xfrm>
        </p:spPr>
        <p:txBody>
          <a:bodyPr>
            <a:normAutofit/>
          </a:bodyPr>
          <a:lstStyle/>
          <a:p>
            <a:r>
              <a:rPr lang="en-US" dirty="0">
                <a:solidFill>
                  <a:srgbClr val="002060"/>
                </a:solidFill>
              </a:rPr>
              <a:t>Global variables are declared outside of any function and can be accessed throughout the entire program.</a:t>
            </a:r>
          </a:p>
          <a:p>
            <a:r>
              <a:rPr lang="en-US" dirty="0">
                <a:solidFill>
                  <a:srgbClr val="002060"/>
                </a:solidFill>
              </a:rPr>
              <a:t>They have a global scope, meaning they are visible to all functions and code blocks in the program.</a:t>
            </a:r>
          </a:p>
          <a:p>
            <a:r>
              <a:rPr lang="en-US" dirty="0">
                <a:solidFill>
                  <a:srgbClr val="002060"/>
                </a:solidFill>
              </a:rPr>
              <a:t>Modifying a global variable inside a function requires using the</a:t>
            </a:r>
            <a:r>
              <a:rPr lang="en-US" dirty="0">
                <a:solidFill>
                  <a:srgbClr val="FF0000"/>
                </a:solidFill>
              </a:rPr>
              <a:t> ‘global’</a:t>
            </a:r>
            <a:r>
              <a:rPr lang="en-US" dirty="0">
                <a:solidFill>
                  <a:srgbClr val="002060"/>
                </a:solidFill>
              </a:rPr>
              <a:t> keyword.</a:t>
            </a:r>
          </a:p>
          <a:p>
            <a:pPr marL="0" indent="0">
              <a:buNone/>
            </a:pPr>
            <a:r>
              <a:rPr lang="en-US" dirty="0">
                <a:solidFill>
                  <a:srgbClr val="00B050"/>
                </a:solidFill>
              </a:rPr>
              <a:t>Example:-</a:t>
            </a:r>
          </a:p>
          <a:p>
            <a:pPr marL="0" indent="0">
              <a:buNone/>
            </a:pPr>
            <a:r>
              <a:rPr lang="en-US" dirty="0">
                <a:solidFill>
                  <a:srgbClr val="FF0000"/>
                </a:solidFill>
              </a:rPr>
              <a:t>#global variables</a:t>
            </a:r>
          </a:p>
          <a:p>
            <a:pPr marL="0" indent="0">
              <a:buNone/>
            </a:pPr>
            <a:r>
              <a:rPr lang="en-US" dirty="0">
                <a:solidFill>
                  <a:srgbClr val="FF0000"/>
                </a:solidFill>
              </a:rPr>
              <a:t>a = 50     #global variable</a:t>
            </a:r>
          </a:p>
          <a:p>
            <a:pPr marL="0" indent="0">
              <a:buNone/>
            </a:pPr>
            <a:r>
              <a:rPr lang="en-US" dirty="0">
                <a:solidFill>
                  <a:srgbClr val="FF0000"/>
                </a:solidFill>
              </a:rPr>
              <a:t>def show():   </a:t>
            </a:r>
          </a:p>
          <a:p>
            <a:pPr marL="0" indent="0">
              <a:buNone/>
            </a:pPr>
            <a:r>
              <a:rPr lang="en-US" dirty="0">
                <a:solidFill>
                  <a:srgbClr val="FF0000"/>
                </a:solidFill>
              </a:rPr>
              <a:t>     x = 10 </a:t>
            </a:r>
          </a:p>
          <a:p>
            <a:pPr marL="0" indent="0">
              <a:buNone/>
            </a:pPr>
            <a:r>
              <a:rPr lang="en-US" dirty="0">
                <a:solidFill>
                  <a:srgbClr val="FF0000"/>
                </a:solidFill>
              </a:rPr>
              <a:t>     print(x)</a:t>
            </a:r>
          </a:p>
          <a:p>
            <a:pPr marL="0" indent="0">
              <a:buNone/>
            </a:pPr>
            <a:r>
              <a:rPr lang="en-US" dirty="0">
                <a:solidFill>
                  <a:srgbClr val="FF0000"/>
                </a:solidFill>
              </a:rPr>
              <a:t>     print(a)</a:t>
            </a:r>
          </a:p>
          <a:p>
            <a:pPr marL="0" indent="0">
              <a:buNone/>
            </a:pPr>
            <a:r>
              <a:rPr lang="en-US" dirty="0">
                <a:solidFill>
                  <a:srgbClr val="FF0000"/>
                </a:solidFill>
              </a:rPr>
              <a:t>show()           #output: 10 ,50</a:t>
            </a:r>
          </a:p>
          <a:p>
            <a:pPr marL="0" indent="0">
              <a:buNone/>
            </a:pPr>
            <a:r>
              <a:rPr lang="en-US" sz="1600" dirty="0">
                <a:solidFill>
                  <a:srgbClr val="FF0000"/>
                </a:solidFill>
              </a:rPr>
              <a:t>print(“Global variable outside the function :”,a) # global variable outside the function</a:t>
            </a:r>
            <a:endParaRPr lang="en-IN" sz="1600" dirty="0">
              <a:solidFill>
                <a:srgbClr val="FF0000"/>
              </a:solidFill>
            </a:endParaRPr>
          </a:p>
        </p:txBody>
      </p:sp>
    </p:spTree>
    <p:extLst>
      <p:ext uri="{BB962C8B-B14F-4D97-AF65-F5344CB8AC3E}">
        <p14:creationId xmlns:p14="http://schemas.microsoft.com/office/powerpoint/2010/main" val="14655342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8CDE652-0BA5-56E7-9333-4C019D057A66}"/>
              </a:ext>
            </a:extLst>
          </p:cNvPr>
          <p:cNvSpPr>
            <a:spLocks noGrp="1"/>
          </p:cNvSpPr>
          <p:nvPr>
            <p:ph idx="1"/>
          </p:nvPr>
        </p:nvSpPr>
        <p:spPr>
          <a:xfrm>
            <a:off x="677334" y="370115"/>
            <a:ext cx="8596668" cy="5671248"/>
          </a:xfrm>
        </p:spPr>
        <p:txBody>
          <a:bodyPr>
            <a:normAutofit fontScale="85000" lnSpcReduction="20000"/>
          </a:bodyPr>
          <a:lstStyle/>
          <a:p>
            <a:r>
              <a:rPr lang="en-US" dirty="0"/>
              <a:t>Modifying the global variable using </a:t>
            </a:r>
            <a:r>
              <a:rPr lang="en-US" dirty="0">
                <a:solidFill>
                  <a:srgbClr val="FF0000"/>
                </a:solidFill>
              </a:rPr>
              <a:t>‘global’</a:t>
            </a:r>
            <a:r>
              <a:rPr lang="en-US" dirty="0"/>
              <a:t> .</a:t>
            </a:r>
            <a:endParaRPr lang="en-US" dirty="0">
              <a:solidFill>
                <a:srgbClr val="00B050"/>
              </a:solidFill>
            </a:endParaRPr>
          </a:p>
          <a:p>
            <a:pPr marL="0" indent="0">
              <a:buNone/>
            </a:pPr>
            <a:r>
              <a:rPr lang="en-US" dirty="0">
                <a:solidFill>
                  <a:srgbClr val="FF0000"/>
                </a:solidFill>
              </a:rPr>
              <a:t>Example:</a:t>
            </a:r>
          </a:p>
          <a:p>
            <a:pPr marL="0" indent="0">
              <a:buNone/>
            </a:pPr>
            <a:r>
              <a:rPr lang="en-US" dirty="0">
                <a:solidFill>
                  <a:srgbClr val="002060"/>
                </a:solidFill>
              </a:rPr>
              <a:t># This is a global variable</a:t>
            </a:r>
          </a:p>
          <a:p>
            <a:pPr marL="0" indent="0">
              <a:buNone/>
            </a:pPr>
            <a:r>
              <a:rPr lang="en-US" dirty="0" err="1">
                <a:solidFill>
                  <a:srgbClr val="FF0000"/>
                </a:solidFill>
              </a:rPr>
              <a:t>global_var</a:t>
            </a:r>
            <a:r>
              <a:rPr lang="en-US" dirty="0">
                <a:solidFill>
                  <a:srgbClr val="FF0000"/>
                </a:solidFill>
              </a:rPr>
              <a:t> = 20</a:t>
            </a:r>
          </a:p>
          <a:p>
            <a:pPr marL="0" indent="0">
              <a:buNone/>
            </a:pPr>
            <a:endParaRPr lang="en-US" dirty="0">
              <a:solidFill>
                <a:srgbClr val="FF0000"/>
              </a:solidFill>
            </a:endParaRPr>
          </a:p>
          <a:p>
            <a:pPr marL="0" indent="0">
              <a:buNone/>
            </a:pPr>
            <a:r>
              <a:rPr lang="en-US" dirty="0">
                <a:solidFill>
                  <a:srgbClr val="FF0000"/>
                </a:solidFill>
              </a:rPr>
              <a:t>def </a:t>
            </a:r>
            <a:r>
              <a:rPr lang="en-US" dirty="0" err="1">
                <a:solidFill>
                  <a:srgbClr val="FF0000"/>
                </a:solidFill>
              </a:rPr>
              <a:t>example_function</a:t>
            </a:r>
            <a:r>
              <a:rPr lang="en-US" dirty="0">
                <a:solidFill>
                  <a:srgbClr val="FF0000"/>
                </a:solidFill>
              </a:rPr>
              <a:t>():</a:t>
            </a:r>
          </a:p>
          <a:p>
            <a:pPr marL="0" indent="0">
              <a:buNone/>
            </a:pPr>
            <a:r>
              <a:rPr lang="en-US" dirty="0">
                <a:solidFill>
                  <a:srgbClr val="002060"/>
                </a:solidFill>
              </a:rPr>
              <a:t>    # Use the global keyword before modifying the global variable</a:t>
            </a:r>
          </a:p>
          <a:p>
            <a:pPr marL="0" indent="0">
              <a:buNone/>
            </a:pPr>
            <a:r>
              <a:rPr lang="en-US" dirty="0">
                <a:solidFill>
                  <a:srgbClr val="FF0000"/>
                </a:solidFill>
              </a:rPr>
              <a:t>    global </a:t>
            </a:r>
            <a:r>
              <a:rPr lang="en-US" dirty="0" err="1">
                <a:solidFill>
                  <a:srgbClr val="FF0000"/>
                </a:solidFill>
              </a:rPr>
              <a:t>global_var</a:t>
            </a:r>
            <a:endParaRPr lang="en-US" dirty="0">
              <a:solidFill>
                <a:srgbClr val="FF0000"/>
              </a:solidFill>
            </a:endParaRPr>
          </a:p>
          <a:p>
            <a:pPr marL="0" indent="0">
              <a:buNone/>
            </a:pPr>
            <a:r>
              <a:rPr lang="en-US" dirty="0">
                <a:solidFill>
                  <a:srgbClr val="FF0000"/>
                </a:solidFill>
              </a:rPr>
              <a:t>    </a:t>
            </a:r>
            <a:r>
              <a:rPr lang="en-US" dirty="0" err="1">
                <a:solidFill>
                  <a:srgbClr val="FF0000"/>
                </a:solidFill>
              </a:rPr>
              <a:t>global_var</a:t>
            </a:r>
            <a:r>
              <a:rPr lang="en-US" dirty="0">
                <a:solidFill>
                  <a:srgbClr val="FF0000"/>
                </a:solidFill>
              </a:rPr>
              <a:t> = 30</a:t>
            </a:r>
          </a:p>
          <a:p>
            <a:pPr marL="0" indent="0">
              <a:buNone/>
            </a:pPr>
            <a:endParaRPr lang="en-US" dirty="0">
              <a:solidFill>
                <a:srgbClr val="FF0000"/>
              </a:solidFill>
            </a:endParaRPr>
          </a:p>
          <a:p>
            <a:pPr marL="0" indent="0">
              <a:buNone/>
            </a:pPr>
            <a:r>
              <a:rPr lang="en-US" dirty="0">
                <a:solidFill>
                  <a:srgbClr val="002060"/>
                </a:solidFill>
              </a:rPr>
              <a:t>    # Accessing the modified global variable</a:t>
            </a:r>
          </a:p>
          <a:p>
            <a:pPr marL="0" indent="0">
              <a:buNone/>
            </a:pPr>
            <a:r>
              <a:rPr lang="en-US" dirty="0">
                <a:solidFill>
                  <a:srgbClr val="FF0000"/>
                </a:solidFill>
              </a:rPr>
              <a:t>    print("Inside the function:", </a:t>
            </a:r>
            <a:r>
              <a:rPr lang="en-US" dirty="0" err="1">
                <a:solidFill>
                  <a:srgbClr val="FF0000"/>
                </a:solidFill>
              </a:rPr>
              <a:t>global_var</a:t>
            </a:r>
            <a:r>
              <a:rPr lang="en-US" dirty="0">
                <a:solidFill>
                  <a:srgbClr val="FF0000"/>
                </a:solidFill>
              </a:rPr>
              <a:t>)</a:t>
            </a:r>
          </a:p>
          <a:p>
            <a:pPr marL="0" indent="0">
              <a:buNone/>
            </a:pPr>
            <a:endParaRPr lang="en-US" dirty="0">
              <a:solidFill>
                <a:srgbClr val="FF0000"/>
              </a:solidFill>
            </a:endParaRPr>
          </a:p>
          <a:p>
            <a:pPr marL="0" indent="0">
              <a:buNone/>
            </a:pPr>
            <a:r>
              <a:rPr lang="en-US" dirty="0">
                <a:solidFill>
                  <a:srgbClr val="002060"/>
                </a:solidFill>
              </a:rPr>
              <a:t># Call the function</a:t>
            </a:r>
          </a:p>
          <a:p>
            <a:pPr marL="0" indent="0">
              <a:buNone/>
            </a:pPr>
            <a:r>
              <a:rPr lang="en-US" dirty="0" err="1">
                <a:solidFill>
                  <a:srgbClr val="FF0000"/>
                </a:solidFill>
              </a:rPr>
              <a:t>example_function</a:t>
            </a:r>
            <a:r>
              <a:rPr lang="en-US" dirty="0">
                <a:solidFill>
                  <a:srgbClr val="FF0000"/>
                </a:solidFill>
              </a:rPr>
              <a:t>()</a:t>
            </a:r>
          </a:p>
          <a:p>
            <a:pPr marL="0" indent="0">
              <a:buNone/>
            </a:pPr>
            <a:endParaRPr lang="en-US" dirty="0">
              <a:solidFill>
                <a:srgbClr val="FF0000"/>
              </a:solidFill>
            </a:endParaRPr>
          </a:p>
          <a:p>
            <a:pPr marL="0" indent="0">
              <a:buNone/>
            </a:pPr>
            <a:r>
              <a:rPr lang="en-US" dirty="0">
                <a:solidFill>
                  <a:srgbClr val="002060"/>
                </a:solidFill>
              </a:rPr>
              <a:t># Now the global variable has been modified</a:t>
            </a:r>
          </a:p>
          <a:p>
            <a:pPr marL="0" indent="0">
              <a:buNone/>
            </a:pPr>
            <a:r>
              <a:rPr lang="en-US" dirty="0">
                <a:solidFill>
                  <a:srgbClr val="FF0000"/>
                </a:solidFill>
              </a:rPr>
              <a:t>print("Outside the function:", </a:t>
            </a:r>
            <a:r>
              <a:rPr lang="en-US" dirty="0" err="1">
                <a:solidFill>
                  <a:srgbClr val="FF0000"/>
                </a:solidFill>
              </a:rPr>
              <a:t>global_var</a:t>
            </a:r>
            <a:r>
              <a:rPr lang="en-US" dirty="0">
                <a:solidFill>
                  <a:srgbClr val="FF0000"/>
                </a:solidFill>
              </a:rPr>
              <a:t>)</a:t>
            </a:r>
          </a:p>
          <a:p>
            <a:pPr marL="0" indent="0">
              <a:buNone/>
            </a:pPr>
            <a:endParaRPr lang="en-US" dirty="0">
              <a:solidFill>
                <a:srgbClr val="00B050"/>
              </a:solidFill>
            </a:endParaRPr>
          </a:p>
          <a:p>
            <a:pPr marL="0" indent="0">
              <a:buNone/>
            </a:pPr>
            <a:endParaRPr lang="en-IN" dirty="0">
              <a:solidFill>
                <a:srgbClr val="00B050"/>
              </a:solidFill>
            </a:endParaRPr>
          </a:p>
        </p:txBody>
      </p:sp>
    </p:spTree>
    <p:extLst>
      <p:ext uri="{BB962C8B-B14F-4D97-AF65-F5344CB8AC3E}">
        <p14:creationId xmlns:p14="http://schemas.microsoft.com/office/powerpoint/2010/main" val="41872355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xmlns="" id="{41787E41-6744-A7F3-537A-8BEA53D5DC35}"/>
              </a:ext>
            </a:extLst>
          </p:cNvPr>
          <p:cNvGraphicFramePr>
            <a:graphicFrameLocks noGrp="1"/>
          </p:cNvGraphicFramePr>
          <p:nvPr>
            <p:ph idx="1"/>
            <p:extLst>
              <p:ext uri="{D42A27DB-BD31-4B8C-83A1-F6EECF244321}">
                <p14:modId xmlns:p14="http://schemas.microsoft.com/office/powerpoint/2010/main" val="1815932288"/>
              </p:ext>
            </p:extLst>
          </p:nvPr>
        </p:nvGraphicFramePr>
        <p:xfrm>
          <a:off x="590778" y="276066"/>
          <a:ext cx="8596312" cy="6305868"/>
        </p:xfrm>
        <a:graphic>
          <a:graphicData uri="http://schemas.openxmlformats.org/drawingml/2006/table">
            <a:tbl>
              <a:tblPr firstRow="1" bandRow="1">
                <a:tableStyleId>{9D7B26C5-4107-4FEC-AEDC-1716B250A1EF}</a:tableStyleId>
              </a:tblPr>
              <a:tblGrid>
                <a:gridCol w="4298156">
                  <a:extLst>
                    <a:ext uri="{9D8B030D-6E8A-4147-A177-3AD203B41FA5}">
                      <a16:colId xmlns:a16="http://schemas.microsoft.com/office/drawing/2014/main" xmlns="" val="2469896371"/>
                    </a:ext>
                  </a:extLst>
                </a:gridCol>
                <a:gridCol w="4298156">
                  <a:extLst>
                    <a:ext uri="{9D8B030D-6E8A-4147-A177-3AD203B41FA5}">
                      <a16:colId xmlns:a16="http://schemas.microsoft.com/office/drawing/2014/main" xmlns="" val="82298535"/>
                    </a:ext>
                  </a:extLst>
                </a:gridCol>
              </a:tblGrid>
              <a:tr h="6305868">
                <a:tc>
                  <a:txBody>
                    <a:bodyPr/>
                    <a:lstStyle/>
                    <a:p>
                      <a:r>
                        <a:rPr lang="en-US" dirty="0">
                          <a:solidFill>
                            <a:srgbClr val="002060"/>
                          </a:solidFill>
                        </a:rPr>
                        <a:t>              Local Variables</a:t>
                      </a:r>
                    </a:p>
                    <a:p>
                      <a:endParaRPr lang="en-US" dirty="0">
                        <a:solidFill>
                          <a:srgbClr val="002060"/>
                        </a:solidFill>
                      </a:endParaRPr>
                    </a:p>
                    <a:p>
                      <a:pPr marL="342900" indent="-342900">
                        <a:buAutoNum type="arabicParenR"/>
                      </a:pPr>
                      <a:r>
                        <a:rPr lang="en-US" dirty="0">
                          <a:solidFill>
                            <a:srgbClr val="002060"/>
                          </a:solidFill>
                        </a:rPr>
                        <a:t>Local variables are declared inside a specific block of code, usually within a function.</a:t>
                      </a:r>
                    </a:p>
                    <a:p>
                      <a:pPr marL="342900" indent="-342900">
                        <a:buAutoNum type="arabicParenR"/>
                      </a:pPr>
                      <a:endParaRPr lang="en-IN" dirty="0">
                        <a:solidFill>
                          <a:srgbClr val="002060"/>
                        </a:solidFill>
                      </a:endParaRPr>
                    </a:p>
                    <a:p>
                      <a:pPr marL="342900" indent="-342900">
                        <a:buAutoNum type="arabicParenR"/>
                      </a:pPr>
                      <a:endParaRPr lang="en-IN" dirty="0">
                        <a:solidFill>
                          <a:srgbClr val="002060"/>
                        </a:solidFill>
                      </a:endParaRPr>
                    </a:p>
                    <a:p>
                      <a:pPr marL="342900" indent="-342900">
                        <a:buAutoNum type="arabicParenR"/>
                      </a:pPr>
                      <a:r>
                        <a:rPr lang="en-US" dirty="0">
                          <a:solidFill>
                            <a:srgbClr val="002060"/>
                          </a:solidFill>
                        </a:rPr>
                        <a:t>Their lifetime is limited to the duration of the function's execution; they are created when the function starts and destroyed when it ends.</a:t>
                      </a:r>
                    </a:p>
                    <a:p>
                      <a:pPr marL="342900" indent="-342900">
                        <a:buAutoNum type="arabicParenR"/>
                      </a:pPr>
                      <a:endParaRPr lang="en-US" dirty="0">
                        <a:solidFill>
                          <a:srgbClr val="002060"/>
                        </a:solidFill>
                      </a:endParaRPr>
                    </a:p>
                    <a:p>
                      <a:pPr marL="342900" indent="-342900">
                        <a:buAutoNum type="arabicParenR"/>
                      </a:pPr>
                      <a:r>
                        <a:rPr lang="en-US" dirty="0">
                          <a:solidFill>
                            <a:srgbClr val="002060"/>
                          </a:solidFill>
                        </a:rPr>
                        <a:t>Local variables are used for temporary storage within a specific function and are not visible outside that function.</a:t>
                      </a:r>
                    </a:p>
                    <a:p>
                      <a:pPr marL="342900" indent="-342900">
                        <a:buAutoNum type="arabicParenR"/>
                      </a:pPr>
                      <a:endParaRPr lang="en-US" dirty="0">
                        <a:solidFill>
                          <a:srgbClr val="002060"/>
                        </a:solidFill>
                      </a:endParaRPr>
                    </a:p>
                    <a:p>
                      <a:pPr marL="342900" indent="-342900">
                        <a:buAutoNum type="arabicParenR"/>
                      </a:pPr>
                      <a:r>
                        <a:rPr lang="en-US" dirty="0">
                          <a:solidFill>
                            <a:srgbClr val="002060"/>
                          </a:solidFill>
                        </a:rPr>
                        <a:t>They are accessible only within the block of code where they are defined.</a:t>
                      </a:r>
                      <a:endParaRPr lang="en-IN" dirty="0">
                        <a:solidFill>
                          <a:srgbClr val="002060"/>
                        </a:solidFill>
                      </a:endParaRPr>
                    </a:p>
                  </a:txBody>
                  <a:tcPr>
                    <a:lnR w="12700" cap="flat" cmpd="sng" algn="ctr">
                      <a:solidFill>
                        <a:schemeClr val="tx1"/>
                      </a:solidFill>
                      <a:prstDash val="solid"/>
                      <a:round/>
                      <a:headEnd type="none" w="med" len="med"/>
                      <a:tailEnd type="none" w="med" len="med"/>
                    </a:lnR>
                  </a:tcPr>
                </a:tc>
                <a:tc>
                  <a:txBody>
                    <a:bodyPr/>
                    <a:lstStyle/>
                    <a:p>
                      <a:r>
                        <a:rPr lang="en-US" dirty="0">
                          <a:solidFill>
                            <a:srgbClr val="002060"/>
                          </a:solidFill>
                        </a:rPr>
                        <a:t>           Global Variables </a:t>
                      </a:r>
                    </a:p>
                    <a:p>
                      <a:endParaRPr lang="en-US" dirty="0">
                        <a:solidFill>
                          <a:srgbClr val="002060"/>
                        </a:solidFill>
                      </a:endParaRPr>
                    </a:p>
                    <a:p>
                      <a:pPr marL="342900" indent="-342900">
                        <a:buAutoNum type="arabicParenR"/>
                      </a:pPr>
                      <a:r>
                        <a:rPr lang="en-US" dirty="0">
                          <a:solidFill>
                            <a:srgbClr val="002060"/>
                          </a:solidFill>
                        </a:rPr>
                        <a:t>Global variables are declared outside of any function and are accessible throughout the entire program.</a:t>
                      </a:r>
                    </a:p>
                    <a:p>
                      <a:pPr marL="342900" indent="-342900">
                        <a:buAutoNum type="arabicParenR"/>
                      </a:pPr>
                      <a:endParaRPr lang="en-US" dirty="0">
                        <a:solidFill>
                          <a:srgbClr val="002060"/>
                        </a:solidFill>
                      </a:endParaRPr>
                    </a:p>
                    <a:p>
                      <a:pPr marL="342900" indent="-342900">
                        <a:buAutoNum type="arabicParenR"/>
                      </a:pPr>
                      <a:r>
                        <a:rPr lang="en-US" dirty="0">
                          <a:solidFill>
                            <a:srgbClr val="002060"/>
                          </a:solidFill>
                        </a:rPr>
                        <a:t>Their lifetime is the entire duration of the program; they exist from the point of declaration until the program terminates.</a:t>
                      </a:r>
                    </a:p>
                    <a:p>
                      <a:pPr marL="342900" indent="-342900">
                        <a:buAutoNum type="arabicParenR"/>
                      </a:pPr>
                      <a:endParaRPr lang="en-US" dirty="0">
                        <a:solidFill>
                          <a:srgbClr val="002060"/>
                        </a:solidFill>
                      </a:endParaRPr>
                    </a:p>
                    <a:p>
                      <a:pPr marL="342900" indent="-342900">
                        <a:buAutoNum type="arabicParenR"/>
                      </a:pPr>
                      <a:endParaRPr lang="en-US" dirty="0">
                        <a:solidFill>
                          <a:srgbClr val="002060"/>
                        </a:solidFill>
                      </a:endParaRPr>
                    </a:p>
                    <a:p>
                      <a:pPr marL="342900" indent="-342900">
                        <a:buAutoNum type="arabicParenR"/>
                      </a:pPr>
                      <a:r>
                        <a:rPr lang="en-US" dirty="0">
                          <a:solidFill>
                            <a:srgbClr val="002060"/>
                          </a:solidFill>
                        </a:rPr>
                        <a:t>Global variables are used for values that need to be shared and accessed across different parts of the program.</a:t>
                      </a:r>
                    </a:p>
                    <a:p>
                      <a:pPr marL="342900" indent="-342900">
                        <a:buAutoNum type="arabicParenR"/>
                      </a:pPr>
                      <a:endParaRPr lang="en-US" dirty="0">
                        <a:solidFill>
                          <a:srgbClr val="002060"/>
                        </a:solidFill>
                      </a:endParaRPr>
                    </a:p>
                    <a:p>
                      <a:pPr marL="342900" indent="-342900">
                        <a:buAutoNum type="arabicParenR"/>
                      </a:pPr>
                      <a:r>
                        <a:rPr lang="en-US" dirty="0">
                          <a:solidFill>
                            <a:srgbClr val="002060"/>
                          </a:solidFill>
                        </a:rPr>
                        <a:t>They can be accessed by any part of the program, including functions and code blocks.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45989009"/>
                  </a:ext>
                </a:extLst>
              </a:tr>
            </a:tbl>
          </a:graphicData>
        </a:graphic>
      </p:graphicFrame>
    </p:spTree>
    <p:extLst>
      <p:ext uri="{BB962C8B-B14F-4D97-AF65-F5344CB8AC3E}">
        <p14:creationId xmlns:p14="http://schemas.microsoft.com/office/powerpoint/2010/main" val="20046458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5CF2AFE-1E93-08EA-D01E-A06915E0DA1B}"/>
              </a:ext>
            </a:extLst>
          </p:cNvPr>
          <p:cNvSpPr>
            <a:spLocks noGrp="1"/>
          </p:cNvSpPr>
          <p:nvPr>
            <p:ph idx="1"/>
          </p:nvPr>
        </p:nvSpPr>
        <p:spPr>
          <a:xfrm>
            <a:off x="558800" y="711200"/>
            <a:ext cx="8715202" cy="5892799"/>
          </a:xfrm>
        </p:spPr>
        <p:txBody>
          <a:bodyPr>
            <a:normAutofit fontScale="92500" lnSpcReduction="20000"/>
          </a:bodyPr>
          <a:lstStyle/>
          <a:p>
            <a:pPr marL="0" indent="0">
              <a:buNone/>
            </a:pPr>
            <a:r>
              <a:rPr lang="en-US" dirty="0"/>
              <a:t>                                           Theory and Practical </a:t>
            </a:r>
          </a:p>
          <a:p>
            <a:pPr marL="0" indent="0">
              <a:buNone/>
            </a:pPr>
            <a:endParaRPr lang="en-IN" dirty="0"/>
          </a:p>
          <a:p>
            <a:pPr marL="0" indent="0">
              <a:buNone/>
            </a:pPr>
            <a:r>
              <a:rPr lang="en-IN" dirty="0"/>
              <a:t>Explain Python Function</a:t>
            </a:r>
          </a:p>
          <a:p>
            <a:pPr marL="0" indent="0">
              <a:buNone/>
            </a:pPr>
            <a:endParaRPr lang="en-IN" dirty="0"/>
          </a:p>
          <a:p>
            <a:pPr marL="0" indent="0">
              <a:buNone/>
            </a:pPr>
            <a:r>
              <a:rPr lang="en-US" dirty="0"/>
              <a:t>What is the purpose of a function specification (docstring) in Python, and how does it aid in code documentation and readability?</a:t>
            </a:r>
          </a:p>
          <a:p>
            <a:pPr marL="0" indent="0">
              <a:buNone/>
            </a:pPr>
            <a:endParaRPr lang="en-IN" dirty="0"/>
          </a:p>
          <a:p>
            <a:pPr marL="0" indent="0">
              <a:buNone/>
            </a:pPr>
            <a:r>
              <a:rPr lang="en-US" dirty="0"/>
              <a:t>What are the rules for a local and global variable in </a:t>
            </a:r>
            <a:r>
              <a:rPr lang="en-US" dirty="0" err="1"/>
              <a:t>Py</a:t>
            </a:r>
            <a:r>
              <a:rPr lang="en-IN" dirty="0"/>
              <a:t>thon</a:t>
            </a:r>
          </a:p>
          <a:p>
            <a:pPr marL="0" indent="0">
              <a:buNone/>
            </a:pPr>
            <a:endParaRPr lang="en-IN" dirty="0"/>
          </a:p>
          <a:p>
            <a:pPr marL="0" indent="0">
              <a:buNone/>
            </a:pPr>
            <a:r>
              <a:rPr lang="en-US" dirty="0"/>
              <a:t>Write a program which contains function that accepts two values and finds their sum.</a:t>
            </a:r>
            <a:endParaRPr lang="en-IN" dirty="0"/>
          </a:p>
          <a:p>
            <a:pPr marL="0" indent="0">
              <a:buNone/>
            </a:pPr>
            <a:endParaRPr lang="en-IN" dirty="0"/>
          </a:p>
          <a:p>
            <a:pPr marL="0" indent="0">
              <a:buNone/>
            </a:pPr>
            <a:r>
              <a:rPr lang="en-US" dirty="0"/>
              <a:t>Python program which contains function to display the Addition, Subtraction, Product and Division of given input.</a:t>
            </a:r>
          </a:p>
          <a:p>
            <a:pPr marL="0" indent="0">
              <a:buNone/>
            </a:pPr>
            <a:endParaRPr lang="en-US" dirty="0"/>
          </a:p>
          <a:p>
            <a:pPr marL="0" indent="0">
              <a:buNone/>
            </a:pPr>
            <a:r>
              <a:rPr lang="en-US" dirty="0"/>
              <a:t>Write a Python function named </a:t>
            </a:r>
            <a:r>
              <a:rPr lang="en-US" dirty="0" err="1"/>
              <a:t>calculate_total</a:t>
            </a:r>
            <a:r>
              <a:rPr lang="en-US" dirty="0"/>
              <a:t> that calculates the total cost of items in a shopping cart </a:t>
            </a:r>
          </a:p>
          <a:p>
            <a:endParaRPr lang="en-IN" dirty="0"/>
          </a:p>
          <a:p>
            <a:pPr marL="0" indent="0">
              <a:buNone/>
            </a:pPr>
            <a:r>
              <a:rPr lang="en-US" dirty="0"/>
              <a:t>Write a Python program to calculate factorial values of numbers using function</a:t>
            </a:r>
            <a:endParaRPr lang="en-IN" dirty="0"/>
          </a:p>
        </p:txBody>
      </p:sp>
    </p:spTree>
    <p:extLst>
      <p:ext uri="{BB962C8B-B14F-4D97-AF65-F5344CB8AC3E}">
        <p14:creationId xmlns:p14="http://schemas.microsoft.com/office/powerpoint/2010/main" val="3287068189"/>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672</TotalTime>
  <Words>1972</Words>
  <Application>Microsoft Office PowerPoint</Application>
  <PresentationFormat>Widescreen</PresentationFormat>
  <Paragraphs>273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Söhne</vt:lpstr>
      <vt:lpstr>Söhne Mono</vt:lpstr>
      <vt:lpstr>Trebuchet MS</vt:lpstr>
      <vt:lpstr>Wingdings 3</vt:lpstr>
      <vt:lpstr>Facet</vt:lpstr>
      <vt:lpstr>Unit II Functions, Scoping and Abstraction:</vt:lpstr>
      <vt:lpstr>PowerPoint Presentation</vt:lpstr>
      <vt:lpstr>PowerPoint Presentation</vt:lpstr>
      <vt:lpstr>PowerPoint Presentation</vt:lpstr>
      <vt:lpstr>Declaring a function </vt:lpstr>
      <vt:lpstr>PowerPoint Presentation</vt:lpstr>
      <vt:lpstr>Defining and Invoking a Function</vt:lpstr>
      <vt:lpstr>Function Specification:</vt:lpstr>
      <vt:lpstr>Function arguments:</vt:lpstr>
      <vt:lpstr>PowerPoint Presentation</vt:lpstr>
      <vt:lpstr>PowerPoint Presentation</vt:lpstr>
      <vt:lpstr>PowerPoint Presentation</vt:lpstr>
      <vt:lpstr>PowerPoint Presentation</vt:lpstr>
      <vt:lpstr>PowerPoint Presentation</vt:lpstr>
      <vt:lpstr>Local Variables:</vt:lpstr>
      <vt:lpstr>Example of Local Variables:</vt:lpstr>
      <vt:lpstr>          Global Variables:</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LJMCA</dc:creator>
  <cp:lastModifiedBy>Administrator</cp:lastModifiedBy>
  <cp:revision>135</cp:revision>
  <dcterms:created xsi:type="dcterms:W3CDTF">2023-12-28T09:10:04Z</dcterms:created>
  <dcterms:modified xsi:type="dcterms:W3CDTF">2023-12-30T05:52:19Z</dcterms:modified>
</cp:coreProperties>
</file>