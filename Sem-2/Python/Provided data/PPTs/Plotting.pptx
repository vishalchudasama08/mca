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70" r:id="rId10"/>
    <p:sldId id="264" r:id="rId11"/>
    <p:sldId id="269" r:id="rId12"/>
    <p:sldId id="268" r:id="rId13"/>
    <p:sldId id="265" r:id="rId14"/>
    <p:sldId id="266" r:id="rId15"/>
    <p:sldId id="267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users/style_sheets.html" TargetMode="External"/><Relationship Id="rId2" Type="http://schemas.openxmlformats.org/officeDocument/2006/relationships/hyperlink" Target="http://matplotlib.org/users/customizing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- 4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Plotting, Data Science and Data Visualization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Plotting using </a:t>
            </a:r>
            <a:r>
              <a:rPr lang="en-US" dirty="0" err="1" smtClean="0"/>
              <a:t>PyLab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err="1" smtClean="0"/>
              <a:t>PyLab</a:t>
            </a:r>
            <a:r>
              <a:rPr lang="en-US" dirty="0" smtClean="0"/>
              <a:t> is a Python standard library module</a:t>
            </a:r>
          </a:p>
          <a:p>
            <a:pPr algn="just"/>
            <a:r>
              <a:rPr lang="en-US" dirty="0" smtClean="0"/>
              <a:t>Provides many functionality of MATLAB</a:t>
            </a:r>
          </a:p>
          <a:p>
            <a:pPr algn="just"/>
            <a:r>
              <a:rPr lang="en-US" dirty="0" smtClean="0"/>
              <a:t>It is a high level technical computing language and interactive environment for algorithm development, data visualization, data analysis and numeric computation.</a:t>
            </a:r>
          </a:p>
          <a:p>
            <a:pPr algn="just"/>
            <a:r>
              <a:rPr lang="en-US" dirty="0" smtClean="0"/>
              <a:t>Complete user’s guide to the plotting capabilities of </a:t>
            </a:r>
            <a:r>
              <a:rPr lang="en-US" dirty="0" err="1" smtClean="0"/>
              <a:t>PyLab</a:t>
            </a:r>
            <a:r>
              <a:rPr lang="en-US" dirty="0" smtClean="0"/>
              <a:t> is at:</a:t>
            </a:r>
          </a:p>
          <a:p>
            <a:pPr algn="just"/>
            <a:r>
              <a:rPr lang="en-US" dirty="0" smtClean="0"/>
              <a:t>  matplotlib.sourceforge.net/users/index.html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Plotting 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smtClean="0"/>
              <a:t>import </a:t>
            </a:r>
            <a:r>
              <a:rPr lang="en-US" sz="2800" dirty="0" err="1" smtClean="0"/>
              <a:t>pylab</a:t>
            </a:r>
            <a:r>
              <a:rPr lang="en-IN" sz="2800" dirty="0" smtClean="0"/>
              <a:t> or can write import </a:t>
            </a:r>
            <a:r>
              <a:rPr lang="en-IN" sz="2800" dirty="0" err="1" smtClean="0"/>
              <a:t>pylab</a:t>
            </a:r>
            <a:r>
              <a:rPr lang="en-IN" sz="2800" dirty="0" smtClean="0"/>
              <a:t> as p1</a:t>
            </a:r>
          </a:p>
          <a:p>
            <a:pPr algn="just"/>
            <a:r>
              <a:rPr lang="en-US" sz="2800" dirty="0" smtClean="0"/>
              <a:t>Can give the name of the figure by defining figure property like </a:t>
            </a:r>
            <a:r>
              <a:rPr lang="en-US" sz="2800" dirty="0" err="1" smtClean="0"/>
              <a:t>pylab.figure</a:t>
            </a:r>
            <a:r>
              <a:rPr lang="en-US" sz="2800" dirty="0" smtClean="0"/>
              <a:t>(1)  or p1.figure(‘result’)</a:t>
            </a:r>
          </a:p>
          <a:p>
            <a:pPr algn="just"/>
            <a:r>
              <a:rPr lang="en-US" sz="2800" dirty="0" err="1" smtClean="0"/>
              <a:t>pylab.plot</a:t>
            </a:r>
            <a:r>
              <a:rPr lang="en-US" sz="2800" dirty="0" smtClean="0"/>
              <a:t>() is used to generate the plot.</a:t>
            </a:r>
          </a:p>
          <a:p>
            <a:pPr lvl="1" algn="just"/>
            <a:r>
              <a:rPr lang="en-US" sz="2400" dirty="0" smtClean="0"/>
              <a:t>Plot() has many parameters like</a:t>
            </a:r>
          </a:p>
          <a:p>
            <a:pPr lvl="1" algn="just"/>
            <a:r>
              <a:rPr lang="en-IN" sz="2400" dirty="0" smtClean="0"/>
              <a:t>(</a:t>
            </a:r>
            <a:r>
              <a:rPr lang="en-IN" sz="2400" i="1" dirty="0" smtClean="0"/>
              <a:t>*</a:t>
            </a:r>
            <a:r>
              <a:rPr lang="en-IN" sz="2400" i="1" dirty="0" err="1" smtClean="0"/>
              <a:t>args</a:t>
            </a:r>
            <a:r>
              <a:rPr lang="en-IN" sz="2400" dirty="0" smtClean="0"/>
              <a:t>, </a:t>
            </a:r>
            <a:r>
              <a:rPr lang="en-IN" sz="2400" i="1" dirty="0" err="1" smtClean="0"/>
              <a:t>scalex</a:t>
            </a:r>
            <a:r>
              <a:rPr lang="en-IN" sz="2400" i="1" dirty="0" smtClean="0"/>
              <a:t>=True</a:t>
            </a:r>
            <a:r>
              <a:rPr lang="en-IN" sz="2400" dirty="0" smtClean="0"/>
              <a:t>, </a:t>
            </a:r>
            <a:r>
              <a:rPr lang="en-IN" sz="2400" i="1" dirty="0" err="1" smtClean="0"/>
              <a:t>scaley</a:t>
            </a:r>
            <a:r>
              <a:rPr lang="en-IN" sz="2400" i="1" dirty="0" smtClean="0"/>
              <a:t>=True</a:t>
            </a:r>
            <a:r>
              <a:rPr lang="en-IN" sz="2400" dirty="0" smtClean="0"/>
              <a:t>, </a:t>
            </a:r>
            <a:r>
              <a:rPr lang="en-IN" sz="2400" i="1" dirty="0" smtClean="0"/>
              <a:t>data=None</a:t>
            </a:r>
            <a:r>
              <a:rPr lang="en-IN" sz="2400" dirty="0" smtClean="0"/>
              <a:t>, </a:t>
            </a:r>
            <a:r>
              <a:rPr lang="en-IN" sz="2400" i="1" dirty="0" smtClean="0"/>
              <a:t>**</a:t>
            </a:r>
            <a:r>
              <a:rPr lang="en-IN" sz="2400" i="1" dirty="0" err="1" smtClean="0"/>
              <a:t>kwargs</a:t>
            </a:r>
            <a:r>
              <a:rPr lang="en-IN" sz="2400" dirty="0" smtClean="0"/>
              <a:t>)</a:t>
            </a:r>
          </a:p>
          <a:p>
            <a:pPr lvl="1" algn="just"/>
            <a:r>
              <a:rPr lang="en-US" sz="2400" dirty="0" smtClean="0"/>
              <a:t>Calling signatures:</a:t>
            </a:r>
          </a:p>
          <a:p>
            <a:pPr lvl="1" algn="just"/>
            <a:r>
              <a:rPr lang="en-IN" sz="2400" dirty="0" smtClean="0"/>
              <a:t>plot([x], y, [</a:t>
            </a:r>
            <a:r>
              <a:rPr lang="en-IN" sz="2400" dirty="0" err="1" smtClean="0"/>
              <a:t>fmt</a:t>
            </a:r>
            <a:r>
              <a:rPr lang="en-IN" sz="2400" dirty="0" smtClean="0"/>
              <a:t>], *, data=None, **</a:t>
            </a:r>
            <a:r>
              <a:rPr lang="en-IN" sz="2400" dirty="0" err="1" smtClean="0"/>
              <a:t>kwargs</a:t>
            </a:r>
            <a:r>
              <a:rPr lang="en-IN" sz="2400" smtClean="0"/>
              <a:t>) </a:t>
            </a:r>
          </a:p>
          <a:p>
            <a:pPr lvl="1" algn="just"/>
            <a:r>
              <a:rPr lang="en-IN" sz="2400" smtClean="0"/>
              <a:t>plot</a:t>
            </a:r>
            <a:r>
              <a:rPr lang="en-IN" sz="2400" dirty="0" smtClean="0"/>
              <a:t>([x], y, [</a:t>
            </a:r>
            <a:r>
              <a:rPr lang="en-IN" sz="2400" dirty="0" err="1" smtClean="0"/>
              <a:t>fmt</a:t>
            </a:r>
            <a:r>
              <a:rPr lang="en-IN" sz="2400" dirty="0" smtClean="0"/>
              <a:t>], [x2], y2, [fmt2], ..., **</a:t>
            </a:r>
            <a:r>
              <a:rPr lang="en-IN" sz="2400" dirty="0" err="1" smtClean="0"/>
              <a:t>kwargs</a:t>
            </a:r>
            <a:r>
              <a:rPr lang="en-IN" sz="2400" dirty="0" smtClean="0"/>
              <a:t>)</a:t>
            </a:r>
          </a:p>
          <a:p>
            <a:pPr algn="just"/>
            <a:r>
              <a:rPr lang="en-US" sz="2800" dirty="0" err="1" smtClean="0"/>
              <a:t>pylab.show</a:t>
            </a:r>
            <a:r>
              <a:rPr lang="en-US" sz="2800" dirty="0" smtClean="0"/>
              <a:t>() causes the window to appear on the computer screen</a:t>
            </a:r>
          </a:p>
          <a:p>
            <a:pPr algn="just"/>
            <a:r>
              <a:rPr lang="en-US" sz="2800" dirty="0" err="1" smtClean="0"/>
              <a:t>pylab.savefig</a:t>
            </a:r>
            <a:r>
              <a:rPr lang="en-US" sz="2800" dirty="0" smtClean="0"/>
              <a:t>() save the figure in a file with the mentioned filename and default .</a:t>
            </a:r>
            <a:r>
              <a:rPr lang="en-US" sz="2800" dirty="0" err="1" smtClean="0"/>
              <a:t>png</a:t>
            </a:r>
            <a:r>
              <a:rPr lang="en-US" sz="2800" dirty="0" smtClean="0"/>
              <a:t> </a:t>
            </a:r>
            <a:r>
              <a:rPr lang="en-US" sz="2800" dirty="0" err="1" smtClean="0"/>
              <a:t>extention</a:t>
            </a: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Returns - Lines</a:t>
            </a:r>
            <a:endParaRPr lang="en-IN" sz="2800" dirty="0" smtClean="0"/>
          </a:p>
          <a:p>
            <a:r>
              <a:rPr lang="en-IN" sz="2800" dirty="0" smtClean="0"/>
              <a:t>x, y : array-like or scalar</a:t>
            </a:r>
          </a:p>
          <a:p>
            <a:r>
              <a:rPr lang="en-IN" sz="2800" dirty="0" err="1" smtClean="0"/>
              <a:t>fmt</a:t>
            </a:r>
            <a:r>
              <a:rPr lang="en-IN" sz="2800" dirty="0" smtClean="0"/>
              <a:t> : </a:t>
            </a:r>
            <a:r>
              <a:rPr lang="en-IN" sz="2800" dirty="0" err="1" smtClean="0"/>
              <a:t>str</a:t>
            </a:r>
            <a:r>
              <a:rPr lang="en-IN" sz="2800" dirty="0" smtClean="0"/>
              <a:t>, optional</a:t>
            </a:r>
          </a:p>
          <a:p>
            <a:r>
              <a:rPr lang="en-IN" sz="2800" dirty="0" smtClean="0"/>
              <a:t>data : </a:t>
            </a:r>
            <a:r>
              <a:rPr lang="en-IN" sz="2800" dirty="0" err="1" smtClean="0"/>
              <a:t>indexable</a:t>
            </a:r>
            <a:r>
              <a:rPr lang="en-IN" sz="2800" dirty="0" smtClean="0"/>
              <a:t> object, optional</a:t>
            </a:r>
          </a:p>
          <a:p>
            <a:r>
              <a:rPr lang="en-IN" sz="2800" b="1" dirty="0" err="1" smtClean="0"/>
              <a:t>scalex</a:t>
            </a:r>
            <a:r>
              <a:rPr lang="en-IN" sz="2800" b="1" dirty="0" smtClean="0"/>
              <a:t>, </a:t>
            </a:r>
            <a:r>
              <a:rPr lang="en-IN" sz="2800" b="1" dirty="0" err="1" smtClean="0"/>
              <a:t>scaley</a:t>
            </a:r>
            <a:r>
              <a:rPr lang="en-IN" sz="2800" dirty="0" smtClean="0"/>
              <a:t> : </a:t>
            </a:r>
            <a:r>
              <a:rPr lang="en-IN" sz="2800" dirty="0" err="1" smtClean="0"/>
              <a:t>bool</a:t>
            </a:r>
            <a:r>
              <a:rPr lang="en-IN" sz="2800" dirty="0" smtClean="0"/>
              <a:t>, optional, default: True</a:t>
            </a:r>
          </a:p>
          <a:p>
            <a:r>
              <a:rPr lang="en-IN" sz="2800" dirty="0" smtClean="0"/>
              <a:t>**</a:t>
            </a:r>
            <a:r>
              <a:rPr lang="en-IN" sz="2800" dirty="0" err="1" smtClean="0"/>
              <a:t>kwargs</a:t>
            </a:r>
            <a:r>
              <a:rPr lang="en-IN" sz="2800" dirty="0" smtClean="0"/>
              <a:t> : Line2D properties, optional</a:t>
            </a:r>
          </a:p>
          <a:p>
            <a:pPr lvl="1"/>
            <a:r>
              <a:rPr lang="en-IN" sz="2400" i="1" dirty="0" err="1" smtClean="0"/>
              <a:t>kwargs</a:t>
            </a:r>
            <a:r>
              <a:rPr lang="en-IN" sz="2400" dirty="0" smtClean="0"/>
              <a:t> are used to specify properties like a line label (for auto legends), </a:t>
            </a:r>
            <a:r>
              <a:rPr lang="en-IN" sz="2400" dirty="0" err="1" smtClean="0"/>
              <a:t>linewidth</a:t>
            </a:r>
            <a:r>
              <a:rPr lang="en-IN" sz="2400" dirty="0" smtClean="0"/>
              <a:t>, </a:t>
            </a:r>
            <a:r>
              <a:rPr lang="en-IN" sz="2400" dirty="0" err="1" smtClean="0"/>
              <a:t>antialiasing</a:t>
            </a:r>
            <a:r>
              <a:rPr lang="en-IN" sz="2400" dirty="0" smtClean="0"/>
              <a:t>, marker face </a:t>
            </a:r>
            <a:r>
              <a:rPr lang="en-IN" sz="2400" dirty="0" err="1" smtClean="0"/>
              <a:t>color</a:t>
            </a:r>
            <a:r>
              <a:rPr lang="en-IN" sz="2400" dirty="0" smtClean="0"/>
              <a:t> etc.</a:t>
            </a:r>
          </a:p>
          <a:p>
            <a:r>
              <a:rPr lang="en-IN" sz="2800" b="1" dirty="0" smtClean="0"/>
              <a:t>Format Strings:</a:t>
            </a:r>
          </a:p>
          <a:p>
            <a:pPr lvl="1"/>
            <a:r>
              <a:rPr lang="en-IN" sz="2400" dirty="0" err="1" smtClean="0"/>
              <a:t>fmt</a:t>
            </a:r>
            <a:r>
              <a:rPr lang="en-IN" sz="2400" dirty="0" smtClean="0"/>
              <a:t> = '[marker][line][</a:t>
            </a:r>
            <a:r>
              <a:rPr lang="en-IN" sz="2400" dirty="0" err="1" smtClean="0"/>
              <a:t>color</a:t>
            </a:r>
            <a:r>
              <a:rPr lang="en-IN" sz="2400" dirty="0" smtClean="0"/>
              <a:t>]'</a:t>
            </a:r>
            <a:endParaRPr lang="en-I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920"/>
            <a:ext cx="8229600" cy="661768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1500" b="1" dirty="0" smtClean="0"/>
              <a:t>Markers</a:t>
            </a:r>
            <a:endParaRPr lang="en-IN" sz="1500" dirty="0" smtClean="0"/>
          </a:p>
          <a:p>
            <a:pPr>
              <a:buNone/>
            </a:pPr>
            <a:r>
              <a:rPr lang="en-IN" sz="1500" b="1" dirty="0" smtClean="0"/>
              <a:t>Character 	Description</a:t>
            </a:r>
          </a:p>
          <a:p>
            <a:r>
              <a:rPr lang="en-IN" sz="1500" dirty="0" smtClean="0"/>
              <a:t>'.' 	point marker</a:t>
            </a:r>
          </a:p>
          <a:p>
            <a:r>
              <a:rPr lang="en-IN" sz="1500" dirty="0" smtClean="0"/>
              <a:t>',' 	pixel marker</a:t>
            </a:r>
          </a:p>
          <a:p>
            <a:r>
              <a:rPr lang="en-IN" sz="1500" dirty="0" smtClean="0"/>
              <a:t>'o' 	circle marker</a:t>
            </a:r>
          </a:p>
          <a:p>
            <a:r>
              <a:rPr lang="en-IN" sz="1500" dirty="0" smtClean="0"/>
              <a:t>'v' 	</a:t>
            </a:r>
            <a:r>
              <a:rPr lang="en-IN" sz="1500" dirty="0" err="1" smtClean="0"/>
              <a:t>triangle_down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'^' 	</a:t>
            </a:r>
            <a:r>
              <a:rPr lang="en-IN" sz="1500" dirty="0" err="1" smtClean="0"/>
              <a:t>triangle_up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'&lt;' 	</a:t>
            </a:r>
            <a:r>
              <a:rPr lang="en-IN" sz="1500" dirty="0" err="1" smtClean="0"/>
              <a:t>triangle_left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'&gt;' 	</a:t>
            </a:r>
            <a:r>
              <a:rPr lang="en-IN" sz="1500" dirty="0" err="1" smtClean="0"/>
              <a:t>triangle_right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'1' 	</a:t>
            </a:r>
            <a:r>
              <a:rPr lang="en-IN" sz="1500" dirty="0" err="1" smtClean="0"/>
              <a:t>tri_down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'2' 	</a:t>
            </a:r>
            <a:r>
              <a:rPr lang="en-IN" sz="1500" dirty="0" err="1" smtClean="0"/>
              <a:t>tri_up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'3' 	</a:t>
            </a:r>
            <a:r>
              <a:rPr lang="en-IN" sz="1500" dirty="0" err="1" smtClean="0"/>
              <a:t>tri_left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'4' 	</a:t>
            </a:r>
            <a:r>
              <a:rPr lang="en-IN" sz="1500" dirty="0" err="1" smtClean="0"/>
              <a:t>tri_right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's' 	square marker</a:t>
            </a:r>
          </a:p>
          <a:p>
            <a:r>
              <a:rPr lang="en-IN" sz="1500" dirty="0" smtClean="0"/>
              <a:t>'p' 	pentagon marker</a:t>
            </a:r>
          </a:p>
          <a:p>
            <a:r>
              <a:rPr lang="en-IN" sz="1500" dirty="0" smtClean="0"/>
              <a:t>'*' 	star marker</a:t>
            </a:r>
          </a:p>
          <a:p>
            <a:r>
              <a:rPr lang="en-IN" sz="1500" dirty="0" smtClean="0"/>
              <a:t>'h' 	hexagon1 marker</a:t>
            </a:r>
          </a:p>
          <a:p>
            <a:r>
              <a:rPr lang="en-IN" sz="1500" dirty="0" smtClean="0"/>
              <a:t>'H' 	hexagon2 marker</a:t>
            </a:r>
          </a:p>
          <a:p>
            <a:r>
              <a:rPr lang="en-IN" sz="1500" dirty="0" smtClean="0"/>
              <a:t>'+' 	plus marker</a:t>
            </a:r>
          </a:p>
          <a:p>
            <a:r>
              <a:rPr lang="en-IN" sz="1500" dirty="0" smtClean="0"/>
              <a:t>'x' 	x marker</a:t>
            </a:r>
          </a:p>
          <a:p>
            <a:r>
              <a:rPr lang="en-IN" sz="1500" dirty="0" smtClean="0"/>
              <a:t>'D' 	diamond marker</a:t>
            </a:r>
          </a:p>
          <a:p>
            <a:r>
              <a:rPr lang="en-IN" sz="1500" dirty="0" smtClean="0"/>
              <a:t>'d' 	</a:t>
            </a:r>
            <a:r>
              <a:rPr lang="en-IN" sz="1500" dirty="0" err="1" smtClean="0"/>
              <a:t>thin_diamond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'|' 	</a:t>
            </a:r>
            <a:r>
              <a:rPr lang="en-IN" sz="1500" dirty="0" err="1" smtClean="0"/>
              <a:t>vline</a:t>
            </a:r>
            <a:r>
              <a:rPr lang="en-IN" sz="1500" dirty="0" smtClean="0"/>
              <a:t> marker</a:t>
            </a:r>
          </a:p>
          <a:p>
            <a:r>
              <a:rPr lang="en-IN" sz="1500" dirty="0" smtClean="0"/>
              <a:t>'_' 	</a:t>
            </a:r>
            <a:r>
              <a:rPr lang="en-IN" sz="1500" dirty="0" err="1" smtClean="0"/>
              <a:t>hline</a:t>
            </a:r>
            <a:r>
              <a:rPr lang="en-IN" sz="1500" dirty="0" smtClean="0"/>
              <a:t> marker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477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sz="1800" b="1" dirty="0" smtClean="0"/>
              <a:t>Line Styles</a:t>
            </a:r>
          </a:p>
          <a:p>
            <a:pPr>
              <a:buNone/>
            </a:pPr>
            <a:r>
              <a:rPr lang="en-IN" sz="1600" b="1" dirty="0" smtClean="0"/>
              <a:t>character         Description</a:t>
            </a:r>
          </a:p>
          <a:p>
            <a:r>
              <a:rPr lang="en-IN" sz="1600" dirty="0" smtClean="0"/>
              <a:t>'-' 	      solid line style</a:t>
            </a:r>
          </a:p>
          <a:p>
            <a:r>
              <a:rPr lang="en-IN" sz="1600" dirty="0" smtClean="0"/>
              <a:t>'--' 	      dashed line style</a:t>
            </a:r>
          </a:p>
          <a:p>
            <a:r>
              <a:rPr lang="en-IN" sz="1600" dirty="0" smtClean="0"/>
              <a:t>'-.' 	      dash-dot line style</a:t>
            </a:r>
          </a:p>
          <a:p>
            <a:r>
              <a:rPr lang="en-IN" sz="1600" dirty="0" smtClean="0"/>
              <a:t>':' 	      dotted line style</a:t>
            </a:r>
          </a:p>
          <a:p>
            <a:pPr algn="ctr">
              <a:buNone/>
            </a:pPr>
            <a:r>
              <a:rPr lang="en-IN" sz="1800" b="1" dirty="0" err="1" smtClean="0"/>
              <a:t>Colors</a:t>
            </a:r>
            <a:endParaRPr lang="en-IN" sz="1800" b="1" dirty="0" smtClean="0"/>
          </a:p>
          <a:p>
            <a:pPr>
              <a:buNone/>
            </a:pPr>
            <a:r>
              <a:rPr lang="en-IN" sz="1600" b="1" dirty="0" smtClean="0"/>
              <a:t>character 	       colour</a:t>
            </a:r>
          </a:p>
          <a:p>
            <a:r>
              <a:rPr lang="en-IN" sz="1600" dirty="0" smtClean="0"/>
              <a:t>'b' 	       blue</a:t>
            </a:r>
          </a:p>
          <a:p>
            <a:r>
              <a:rPr lang="en-IN" sz="1600" dirty="0" smtClean="0"/>
              <a:t>'g' 	       green</a:t>
            </a:r>
          </a:p>
          <a:p>
            <a:r>
              <a:rPr lang="en-IN" sz="1600" dirty="0" smtClean="0"/>
              <a:t>'r' 	       red</a:t>
            </a:r>
          </a:p>
          <a:p>
            <a:r>
              <a:rPr lang="en-IN" sz="1600" dirty="0" smtClean="0"/>
              <a:t>'c' 	       cyan</a:t>
            </a:r>
          </a:p>
          <a:p>
            <a:r>
              <a:rPr lang="en-IN" sz="1600" dirty="0" smtClean="0"/>
              <a:t>'m' 	       magenta</a:t>
            </a:r>
          </a:p>
          <a:p>
            <a:r>
              <a:rPr lang="en-IN" sz="1600" dirty="0" smtClean="0"/>
              <a:t>'y' 	       yellow</a:t>
            </a:r>
          </a:p>
          <a:p>
            <a:r>
              <a:rPr lang="en-IN" sz="1600" dirty="0" smtClean="0"/>
              <a:t>'k' 	       black</a:t>
            </a:r>
          </a:p>
          <a:p>
            <a:r>
              <a:rPr lang="en-IN" sz="1600" dirty="0" smtClean="0"/>
              <a:t>'w' 	       white</a:t>
            </a:r>
            <a:endParaRPr lang="en-I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plot(x, y)    # plot x and y using default line style and colour </a:t>
            </a:r>
          </a:p>
          <a:p>
            <a:r>
              <a:rPr lang="en-IN" dirty="0" smtClean="0"/>
              <a:t>plot(x, y, '</a:t>
            </a:r>
            <a:r>
              <a:rPr lang="en-IN" dirty="0" err="1" smtClean="0"/>
              <a:t>bo</a:t>
            </a:r>
            <a:r>
              <a:rPr lang="en-IN" dirty="0" smtClean="0"/>
              <a:t>')     # plot x and y using blue circle markers </a:t>
            </a:r>
          </a:p>
          <a:p>
            <a:r>
              <a:rPr lang="en-IN" dirty="0" smtClean="0"/>
              <a:t>plot(y)       # plot y using x as index array 0..N-1</a:t>
            </a:r>
          </a:p>
          <a:p>
            <a:r>
              <a:rPr lang="en-IN" dirty="0" smtClean="0"/>
              <a:t>plot(y, 'r+')     # ditto, but with red plusses</a:t>
            </a:r>
          </a:p>
          <a:p>
            <a:r>
              <a:rPr lang="en-IN" dirty="0" smtClean="0"/>
              <a:t>plot(x, y, 'go--', </a:t>
            </a:r>
            <a:r>
              <a:rPr lang="en-IN" dirty="0" err="1" smtClean="0"/>
              <a:t>linewidth</a:t>
            </a:r>
            <a:r>
              <a:rPr lang="en-IN" dirty="0" smtClean="0"/>
              <a:t>=2, </a:t>
            </a:r>
            <a:r>
              <a:rPr lang="en-IN" dirty="0" err="1" smtClean="0"/>
              <a:t>markersize</a:t>
            </a:r>
            <a:r>
              <a:rPr lang="en-IN" dirty="0" smtClean="0"/>
              <a:t>=12)</a:t>
            </a:r>
          </a:p>
          <a:p>
            <a:r>
              <a:rPr lang="en-IN" dirty="0" smtClean="0"/>
              <a:t>plot(x, y, </a:t>
            </a:r>
            <a:r>
              <a:rPr lang="en-IN" dirty="0" err="1" smtClean="0"/>
              <a:t>color</a:t>
            </a:r>
            <a:r>
              <a:rPr lang="en-IN" dirty="0" smtClean="0"/>
              <a:t>='green', marker='o', </a:t>
            </a:r>
            <a:r>
              <a:rPr lang="en-IN" dirty="0" err="1" smtClean="0"/>
              <a:t>linestyle</a:t>
            </a:r>
            <a:r>
              <a:rPr lang="en-IN" dirty="0" smtClean="0"/>
              <a:t>='dashed', </a:t>
            </a:r>
            <a:r>
              <a:rPr lang="en-IN" dirty="0" err="1" smtClean="0"/>
              <a:t>linewidth</a:t>
            </a:r>
            <a:r>
              <a:rPr lang="en-IN" dirty="0" smtClean="0"/>
              <a:t>=2, </a:t>
            </a:r>
            <a:r>
              <a:rPr lang="en-IN" dirty="0" err="1" smtClean="0"/>
              <a:t>markersize</a:t>
            </a:r>
            <a:r>
              <a:rPr lang="en-IN" dirty="0" smtClean="0"/>
              <a:t>=12)</a:t>
            </a:r>
          </a:p>
          <a:p>
            <a:r>
              <a:rPr lang="en-IN" dirty="0" smtClean="0"/>
              <a:t>plot('</a:t>
            </a:r>
            <a:r>
              <a:rPr lang="en-IN" dirty="0" err="1" smtClean="0"/>
              <a:t>xlabel</a:t>
            </a:r>
            <a:r>
              <a:rPr lang="en-IN" dirty="0" smtClean="0"/>
              <a:t>', '</a:t>
            </a:r>
            <a:r>
              <a:rPr lang="en-IN" dirty="0" err="1" smtClean="0"/>
              <a:t>ylabel</a:t>
            </a:r>
            <a:r>
              <a:rPr lang="en-IN" dirty="0" smtClean="0"/>
              <a:t>', data=</a:t>
            </a:r>
            <a:r>
              <a:rPr lang="en-IN" dirty="0" err="1" smtClean="0"/>
              <a:t>obj</a:t>
            </a:r>
            <a:r>
              <a:rPr lang="en-IN" dirty="0" smtClean="0"/>
              <a:t>)  -&gt;Plotting labelled data</a:t>
            </a:r>
          </a:p>
          <a:p>
            <a:endParaRPr lang="en-IN" dirty="0" smtClean="0"/>
          </a:p>
          <a:p>
            <a:r>
              <a:rPr lang="en-IN" b="1" dirty="0" smtClean="0"/>
              <a:t>Plotting multiple sets of data</a:t>
            </a:r>
          </a:p>
          <a:p>
            <a:pPr lvl="1"/>
            <a:r>
              <a:rPr lang="es-ES" dirty="0" err="1" smtClean="0"/>
              <a:t>plot</a:t>
            </a:r>
            <a:r>
              <a:rPr lang="es-ES" dirty="0" smtClean="0"/>
              <a:t>(x1, y1, '</a:t>
            </a:r>
            <a:r>
              <a:rPr lang="es-ES" dirty="0" err="1" smtClean="0"/>
              <a:t>bo</a:t>
            </a:r>
            <a:r>
              <a:rPr lang="es-ES" dirty="0" smtClean="0"/>
              <a:t>') </a:t>
            </a:r>
          </a:p>
          <a:p>
            <a:pPr lvl="1"/>
            <a:r>
              <a:rPr lang="es-ES" dirty="0" err="1" smtClean="0"/>
              <a:t>plot</a:t>
            </a:r>
            <a:r>
              <a:rPr lang="es-ES" dirty="0" smtClean="0"/>
              <a:t>(x2, y2, '</a:t>
            </a:r>
            <a:r>
              <a:rPr lang="es-ES" dirty="0" err="1" smtClean="0"/>
              <a:t>go</a:t>
            </a:r>
            <a:r>
              <a:rPr lang="es-ES" dirty="0" smtClean="0"/>
              <a:t>')</a:t>
            </a:r>
            <a:endParaRPr lang="en-IN" dirty="0" smtClean="0"/>
          </a:p>
          <a:p>
            <a:pPr lvl="1"/>
            <a:r>
              <a:rPr lang="en-IN" dirty="0" smtClean="0"/>
              <a:t>plot(a[0], a[1:])</a:t>
            </a:r>
          </a:p>
          <a:p>
            <a:pPr lvl="1"/>
            <a:r>
              <a:rPr lang="es-ES" dirty="0" err="1" smtClean="0"/>
              <a:t>plot</a:t>
            </a:r>
            <a:r>
              <a:rPr lang="es-ES" dirty="0" smtClean="0"/>
              <a:t>(x1, y1, 'g^', x2, y2, 'g-')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sz="4000" dirty="0" err="1" smtClean="0"/>
              <a:t>rcParams</a:t>
            </a:r>
            <a:r>
              <a:rPr lang="en-US" sz="4000" dirty="0" smtClean="0"/>
              <a:t> Settings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It is also possible to change the default values, which are known as “</a:t>
            </a:r>
            <a:r>
              <a:rPr lang="en-US" sz="2800" dirty="0" err="1" smtClean="0"/>
              <a:t>rc</a:t>
            </a:r>
            <a:r>
              <a:rPr lang="en-US" sz="2800" dirty="0" smtClean="0"/>
              <a:t> settings” </a:t>
            </a:r>
          </a:p>
          <a:p>
            <a:r>
              <a:rPr lang="en-US" sz="2800" dirty="0" smtClean="0"/>
              <a:t>These values are stored in a dictionary like variable that can be accessed via the name </a:t>
            </a:r>
            <a:r>
              <a:rPr lang="en-US" sz="2800" dirty="0" err="1" smtClean="0"/>
              <a:t>pylab.rcParams</a:t>
            </a:r>
            <a:endParaRPr lang="en-US" sz="2800" dirty="0" smtClean="0"/>
          </a:p>
          <a:p>
            <a:r>
              <a:rPr lang="en-US" sz="2800" dirty="0" err="1" smtClean="0"/>
              <a:t>eg</a:t>
            </a:r>
            <a:r>
              <a:rPr lang="en-US" sz="2800" dirty="0" smtClean="0"/>
              <a:t>. Set the default line width to 6 points:</a:t>
            </a:r>
          </a:p>
          <a:p>
            <a:pPr lvl="1"/>
            <a:r>
              <a:rPr lang="en-US" sz="2400" dirty="0" err="1" smtClean="0"/>
              <a:t>pylab.rcParams</a:t>
            </a:r>
            <a:r>
              <a:rPr lang="en-US" sz="2400" dirty="0" smtClean="0"/>
              <a:t>[</a:t>
            </a:r>
            <a:r>
              <a:rPr lang="en-US" sz="2400" dirty="0" err="1" smtClean="0"/>
              <a:t>lines.linewidth</a:t>
            </a:r>
            <a:r>
              <a:rPr lang="en-US" sz="2400" dirty="0" smtClean="0"/>
              <a:t>’] = 6</a:t>
            </a:r>
          </a:p>
          <a:p>
            <a:r>
              <a:rPr lang="en-US" sz="2800" dirty="0" smtClean="0"/>
              <a:t>A complete list can be found at</a:t>
            </a:r>
          </a:p>
          <a:p>
            <a:pPr lvl="1"/>
            <a:r>
              <a:rPr lang="en-US" sz="2400" dirty="0" smtClean="0">
                <a:hlinkClick r:id="rId2"/>
              </a:rPr>
              <a:t>http://matplotlib.org/users/customizing.html</a:t>
            </a:r>
            <a:endParaRPr lang="en-US" sz="2400" dirty="0" smtClean="0"/>
          </a:p>
          <a:p>
            <a:pPr lvl="1"/>
            <a:r>
              <a:rPr lang="en-US" sz="2400" dirty="0" smtClean="0">
                <a:hlinkClick r:id="rId3"/>
              </a:rPr>
              <a:t>http://matplotlib.org/users/style_sheets.html#style-sheets</a:t>
            </a:r>
            <a:endParaRPr lang="en-US" sz="2400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r>
              <a:rPr lang="en-US" sz="3600" dirty="0" smtClean="0"/>
              <a:t>Most useful </a:t>
            </a:r>
            <a:r>
              <a:rPr lang="en-US" sz="3600" dirty="0" err="1" smtClean="0"/>
              <a:t>rcParams</a:t>
            </a:r>
            <a:r>
              <a:rPr lang="en-US" sz="3600" dirty="0" smtClean="0"/>
              <a:t> settings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smtClean="0"/>
              <a:t>Set Line Width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lines.linewidth</a:t>
            </a:r>
            <a:r>
              <a:rPr lang="en-US" sz="2000" dirty="0" smtClean="0"/>
              <a:t>']=5</a:t>
            </a:r>
          </a:p>
          <a:p>
            <a:r>
              <a:rPr lang="en-US" sz="2000" dirty="0" smtClean="0"/>
              <a:t>Set Font Size for title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axes.titlesize</a:t>
            </a:r>
            <a:r>
              <a:rPr lang="en-US" sz="2000" dirty="0" smtClean="0"/>
              <a:t>']=25</a:t>
            </a:r>
          </a:p>
          <a:p>
            <a:r>
              <a:rPr lang="en-US" sz="2000" dirty="0" smtClean="0"/>
              <a:t>Set Font Size of Labels on axes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axes.labelsize</a:t>
            </a:r>
            <a:r>
              <a:rPr lang="en-US" sz="2000" dirty="0" smtClean="0"/>
              <a:t>']=20</a:t>
            </a:r>
          </a:p>
          <a:p>
            <a:r>
              <a:rPr lang="en-US" sz="2000" dirty="0" smtClean="0"/>
              <a:t>Set Size of Numbers on x-axis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xtick.labelsize</a:t>
            </a:r>
            <a:r>
              <a:rPr lang="en-US" sz="2000" dirty="0" smtClean="0"/>
              <a:t>'] = 16</a:t>
            </a:r>
          </a:p>
          <a:p>
            <a:r>
              <a:rPr lang="en-US" sz="2000" dirty="0" smtClean="0"/>
              <a:t>Set Size of Numbers on y-axis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ytick.labelsize</a:t>
            </a:r>
            <a:r>
              <a:rPr lang="en-US" sz="2000" dirty="0" smtClean="0"/>
              <a:t>'] = 16</a:t>
            </a:r>
          </a:p>
          <a:p>
            <a:r>
              <a:rPr lang="en-US" sz="2000" dirty="0" smtClean="0"/>
              <a:t>Set Size of ticks on x- axis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xtick.major.size</a:t>
            </a:r>
            <a:r>
              <a:rPr lang="en-US" sz="2000" dirty="0" smtClean="0"/>
              <a:t>'] = 7</a:t>
            </a:r>
          </a:p>
          <a:p>
            <a:r>
              <a:rPr lang="en-US" sz="2000" dirty="0" smtClean="0"/>
              <a:t>Set Size of ticks on y- axis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ytick.major.size</a:t>
            </a:r>
            <a:r>
              <a:rPr lang="en-US" sz="2000" dirty="0" smtClean="0"/>
              <a:t>'] = 7</a:t>
            </a:r>
          </a:p>
          <a:p>
            <a:pPr>
              <a:buNone/>
            </a:pPr>
            <a:r>
              <a:rPr lang="en-US" sz="2000" dirty="0" smtClean="0"/>
              <a:t>Set Size of Markers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lines.markersize</a:t>
            </a:r>
            <a:r>
              <a:rPr lang="en-US" sz="2000" dirty="0" smtClean="0"/>
              <a:t>'] = 10</a:t>
            </a:r>
          </a:p>
          <a:p>
            <a:r>
              <a:rPr lang="en-US" sz="2000" dirty="0" smtClean="0"/>
              <a:t>Set no. of times markers are shown with legend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pylab.rcParams</a:t>
            </a:r>
            <a:r>
              <a:rPr lang="en-US" sz="2000" dirty="0" smtClean="0"/>
              <a:t>['</a:t>
            </a:r>
            <a:r>
              <a:rPr lang="en-US" sz="2000" dirty="0" err="1" smtClean="0"/>
              <a:t>legend.numpoints</a:t>
            </a:r>
            <a:r>
              <a:rPr lang="en-US" sz="2000" dirty="0" smtClean="0"/>
              <a:t>'] = 3</a:t>
            </a:r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 smtClean="0"/>
              <a:t>Data Frame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Data frame is an object that is useful in representing data in the form of rows and columns</a:t>
            </a:r>
          </a:p>
          <a:p>
            <a:pPr algn="just"/>
            <a:r>
              <a:rPr lang="en-US" sz="2800" dirty="0" smtClean="0"/>
              <a:t>Data may come from an excel file(spreadsheet), a .</a:t>
            </a:r>
            <a:r>
              <a:rPr lang="en-US" sz="2800" dirty="0" err="1" smtClean="0"/>
              <a:t>csv</a:t>
            </a:r>
            <a:r>
              <a:rPr lang="en-US" sz="2800" dirty="0" smtClean="0"/>
              <a:t> file, a Python sequence like a dictionary, list or </a:t>
            </a:r>
            <a:r>
              <a:rPr lang="en-US" sz="2800" dirty="0" err="1" smtClean="0"/>
              <a:t>tuple</a:t>
            </a:r>
            <a:endParaRPr lang="en-US" sz="2800" dirty="0" smtClean="0"/>
          </a:p>
          <a:p>
            <a:pPr algn="just"/>
            <a:r>
              <a:rPr lang="en-US" sz="2800" dirty="0" smtClean="0"/>
              <a:t>Python contains </a:t>
            </a:r>
            <a:r>
              <a:rPr lang="en-US" sz="2800" i="1" dirty="0" smtClean="0"/>
              <a:t>pandas</a:t>
            </a:r>
            <a:r>
              <a:rPr lang="en-US" sz="2800" dirty="0" smtClean="0"/>
              <a:t> which is a useful package for data analysis and manipulation</a:t>
            </a:r>
          </a:p>
          <a:p>
            <a:pPr algn="just"/>
            <a:r>
              <a:rPr lang="en-US" sz="2800" dirty="0" smtClean="0"/>
              <a:t>To create a </a:t>
            </a:r>
            <a:r>
              <a:rPr lang="en-US" sz="2800" dirty="0" err="1" smtClean="0"/>
              <a:t>dataframe</a:t>
            </a:r>
            <a:r>
              <a:rPr lang="en-US" sz="2800" dirty="0" smtClean="0"/>
              <a:t>, import pandas and then use its methods like: </a:t>
            </a:r>
            <a:r>
              <a:rPr lang="en-US" sz="2800" dirty="0" err="1" smtClean="0"/>
              <a:t>pandas.read_excel</a:t>
            </a:r>
            <a:r>
              <a:rPr lang="en-US" sz="2800" dirty="0" smtClean="0"/>
              <a:t>(), </a:t>
            </a:r>
            <a:r>
              <a:rPr lang="en-US" sz="2800" dirty="0" err="1" smtClean="0"/>
              <a:t>pandas.read_csv</a:t>
            </a:r>
            <a:r>
              <a:rPr lang="en-US" sz="2800" dirty="0" smtClean="0"/>
              <a:t>(), </a:t>
            </a:r>
            <a:r>
              <a:rPr lang="en-US" sz="2800" dirty="0" err="1" smtClean="0"/>
              <a:t>pandas.dataframe</a:t>
            </a:r>
            <a:r>
              <a:rPr lang="en-US" sz="2800" dirty="0" smtClean="0"/>
              <a:t>()</a:t>
            </a:r>
          </a:p>
          <a:p>
            <a:pPr algn="just"/>
            <a:r>
              <a:rPr lang="en-US" sz="2800" dirty="0" smtClean="0"/>
              <a:t>Example.</a:t>
            </a:r>
          </a:p>
          <a:p>
            <a:pPr algn="just"/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14400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6843712" cy="6575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754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 smtClean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Knowing number of Rows and Columns:</a:t>
            </a:r>
          </a:p>
          <a:p>
            <a:pPr lvl="1"/>
            <a:r>
              <a:rPr lang="en-US" sz="2000" dirty="0" err="1" smtClean="0"/>
              <a:t>df.shape</a:t>
            </a:r>
            <a:r>
              <a:rPr lang="en-US" sz="2000" dirty="0" smtClean="0"/>
              <a:t>   -&gt; will return a </a:t>
            </a:r>
            <a:r>
              <a:rPr lang="en-US" sz="2000" dirty="0" err="1" smtClean="0"/>
              <a:t>tuple</a:t>
            </a:r>
            <a:r>
              <a:rPr lang="en-US" sz="2000" dirty="0" smtClean="0"/>
              <a:t> of rows and columns</a:t>
            </a:r>
          </a:p>
          <a:p>
            <a:pPr lvl="1"/>
            <a:r>
              <a:rPr lang="en-US" sz="2000" dirty="0" err="1" smtClean="0"/>
              <a:t>eg</a:t>
            </a:r>
            <a:r>
              <a:rPr lang="en-US" sz="2000" dirty="0" smtClean="0"/>
              <a:t>.  Print(</a:t>
            </a:r>
            <a:r>
              <a:rPr lang="en-US" sz="2000" dirty="0" err="1" smtClean="0"/>
              <a:t>df.shape</a:t>
            </a:r>
            <a:r>
              <a:rPr lang="en-US" sz="2000" dirty="0" smtClean="0"/>
              <a:t>) will print (5,4) means 5 rows and 4 columns</a:t>
            </a:r>
          </a:p>
          <a:p>
            <a:pPr lvl="1"/>
            <a:r>
              <a:rPr lang="en-US" sz="2000" dirty="0" smtClean="0"/>
              <a:t>r, c = </a:t>
            </a:r>
            <a:r>
              <a:rPr lang="en-US" sz="2000" dirty="0" err="1" smtClean="0"/>
              <a:t>df.shape</a:t>
            </a:r>
            <a:r>
              <a:rPr lang="en-US" sz="2000" dirty="0" smtClean="0"/>
              <a:t> and print(r) will just print no. of rows </a:t>
            </a:r>
          </a:p>
          <a:p>
            <a:r>
              <a:rPr lang="en-US" sz="2400" dirty="0" smtClean="0"/>
              <a:t>Retrieving Rows from Data Frame</a:t>
            </a:r>
          </a:p>
          <a:p>
            <a:pPr lvl="1"/>
            <a:r>
              <a:rPr lang="en-US" sz="2000" dirty="0" smtClean="0"/>
              <a:t>head() method returns 1</a:t>
            </a:r>
            <a:r>
              <a:rPr lang="en-US" sz="2000" baseline="30000" dirty="0" smtClean="0"/>
              <a:t>st</a:t>
            </a:r>
            <a:r>
              <a:rPr lang="en-US" sz="2000" dirty="0" smtClean="0"/>
              <a:t> 5 and tail() returns last 5 rows by default</a:t>
            </a:r>
          </a:p>
          <a:p>
            <a:pPr lvl="1"/>
            <a:r>
              <a:rPr lang="en-US" sz="2000" dirty="0" smtClean="0"/>
              <a:t>If we provide an integer parameter in it will return that many rows</a:t>
            </a:r>
          </a:p>
          <a:p>
            <a:r>
              <a:rPr lang="en-US" sz="2400" dirty="0" smtClean="0"/>
              <a:t>Retrieving a Range of Rows</a:t>
            </a:r>
          </a:p>
          <a:p>
            <a:pPr lvl="1"/>
            <a:r>
              <a:rPr lang="en-US" sz="2000" dirty="0" smtClean="0"/>
              <a:t>Can treat data frame as an object and rows can be retrieved using slicing</a:t>
            </a:r>
          </a:p>
          <a:p>
            <a:pPr lvl="1"/>
            <a:r>
              <a:rPr lang="en-US" sz="2000" dirty="0" err="1" smtClean="0"/>
              <a:t>df</a:t>
            </a:r>
            <a:r>
              <a:rPr lang="en-US" sz="2000" dirty="0" smtClean="0"/>
              <a:t>[2:5] -&gt; will return rows 2 to 5 (will use row id- starting from 0)</a:t>
            </a:r>
          </a:p>
          <a:p>
            <a:pPr lvl="1"/>
            <a:r>
              <a:rPr lang="en-US" sz="2000" dirty="0" err="1" smtClean="0"/>
              <a:t>df</a:t>
            </a:r>
            <a:r>
              <a:rPr lang="en-US" sz="2000" dirty="0" smtClean="0"/>
              <a:t>[1::3] -&gt;will return 1</a:t>
            </a:r>
            <a:r>
              <a:rPr lang="en-US" sz="2000" baseline="30000" dirty="0" smtClean="0"/>
              <a:t>st</a:t>
            </a:r>
            <a:r>
              <a:rPr lang="en-US" sz="2000" dirty="0" smtClean="0"/>
              <a:t> row and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row after 1</a:t>
            </a:r>
            <a:r>
              <a:rPr lang="en-US" sz="2000" baseline="30000" dirty="0" smtClean="0"/>
              <a:t>st</a:t>
            </a:r>
            <a:r>
              <a:rPr lang="en-US" sz="2000" dirty="0" smtClean="0"/>
              <a:t> row i.e. 4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row, then 7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row and so on…</a:t>
            </a:r>
          </a:p>
          <a:p>
            <a:pPr lvl="1"/>
            <a:r>
              <a:rPr lang="en-US" sz="2000" dirty="0" err="1" smtClean="0"/>
              <a:t>df</a:t>
            </a:r>
            <a:r>
              <a:rPr lang="en-US" sz="2000" dirty="0" smtClean="0"/>
              <a:t>[5:0:-1]</a:t>
            </a:r>
            <a:endParaRPr lang="en-IN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754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 smtClean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Retrieve Column Names:</a:t>
            </a:r>
          </a:p>
          <a:p>
            <a:pPr lvl="1"/>
            <a:r>
              <a:rPr lang="en-US" sz="2000" dirty="0" err="1" smtClean="0"/>
              <a:t>df.columns will return list of columns with their index name.</a:t>
            </a:r>
          </a:p>
          <a:p>
            <a:pPr lvl="1"/>
            <a:r>
              <a:rPr lang="en-US" sz="2000" dirty="0" smtClean="0"/>
              <a:t>Output: Index(['</a:t>
            </a:r>
            <a:r>
              <a:rPr lang="en-US" sz="2000" dirty="0" err="1" smtClean="0"/>
              <a:t>Emp</a:t>
            </a:r>
            <a:r>
              <a:rPr lang="en-US" sz="2000" dirty="0" smtClean="0"/>
              <a:t> ID', '</a:t>
            </a:r>
            <a:r>
              <a:rPr lang="en-US" sz="2000" dirty="0" err="1" smtClean="0"/>
              <a:t>EmpName</a:t>
            </a:r>
            <a:r>
              <a:rPr lang="en-US" sz="2000" dirty="0" smtClean="0"/>
              <a:t>', 'Salary', 'Joining Date'], </a:t>
            </a:r>
            <a:r>
              <a:rPr lang="en-US" sz="2000" dirty="0" err="1" smtClean="0"/>
              <a:t>dtype</a:t>
            </a:r>
            <a:r>
              <a:rPr lang="en-US" sz="2000" dirty="0" smtClean="0"/>
              <a:t>='object')</a:t>
            </a:r>
          </a:p>
          <a:p>
            <a:r>
              <a:rPr lang="en-US" sz="2400" dirty="0" smtClean="0"/>
              <a:t>Retrieve column Data</a:t>
            </a:r>
          </a:p>
          <a:p>
            <a:pPr lvl="1"/>
            <a:r>
              <a:rPr lang="en-US" sz="2000" dirty="0" smtClean="0"/>
              <a:t>To retrieve column data, use column name as subscript</a:t>
            </a:r>
          </a:p>
          <a:p>
            <a:pPr lvl="1"/>
            <a:r>
              <a:rPr lang="en-US" sz="2000" dirty="0" err="1" smtClean="0"/>
              <a:t>eg</a:t>
            </a:r>
            <a:r>
              <a:rPr lang="en-US" sz="2000" dirty="0" smtClean="0"/>
              <a:t>. print(</a:t>
            </a:r>
            <a:r>
              <a:rPr lang="en-US" sz="2000" dirty="0" err="1" smtClean="0"/>
              <a:t>df.EmpName</a:t>
            </a:r>
            <a:r>
              <a:rPr lang="en-US" sz="2000" dirty="0" smtClean="0"/>
              <a:t>) will give o/p as list of all Employee Names</a:t>
            </a:r>
          </a:p>
          <a:p>
            <a:pPr lvl="1"/>
            <a:r>
              <a:rPr lang="en-US" sz="2000" dirty="0" smtClean="0"/>
              <a:t>2 ways:    </a:t>
            </a:r>
            <a:r>
              <a:rPr lang="en-US" sz="2000" dirty="0" err="1" smtClean="0"/>
              <a:t>df.empid</a:t>
            </a:r>
            <a:r>
              <a:rPr lang="en-US" sz="2000" dirty="0" smtClean="0"/>
              <a:t>   OR    </a:t>
            </a:r>
            <a:r>
              <a:rPr lang="en-US" sz="2000" dirty="0" err="1" smtClean="0"/>
              <a:t>df</a:t>
            </a:r>
            <a:r>
              <a:rPr lang="en-US" sz="2000" dirty="0" smtClean="0"/>
              <a:t>[‘</a:t>
            </a:r>
            <a:r>
              <a:rPr lang="en-US" sz="2000" dirty="0" err="1" smtClean="0"/>
              <a:t>empid</a:t>
            </a:r>
            <a:r>
              <a:rPr lang="en-US" sz="2000" dirty="0" smtClean="0"/>
              <a:t>’]</a:t>
            </a:r>
          </a:p>
          <a:p>
            <a:r>
              <a:rPr lang="en-US" sz="2400" dirty="0" smtClean="0"/>
              <a:t>Retrieving  data from Multiple Columns</a:t>
            </a:r>
          </a:p>
          <a:p>
            <a:pPr lvl="1"/>
            <a:r>
              <a:rPr lang="en-US" sz="2000" dirty="0" smtClean="0"/>
              <a:t>Provide the list of column names as a subscript to </a:t>
            </a:r>
            <a:r>
              <a:rPr lang="en-US" sz="2000" dirty="0" err="1" smtClean="0"/>
              <a:t>dataframe</a:t>
            </a:r>
            <a:r>
              <a:rPr lang="en-US" sz="2000" dirty="0" smtClean="0"/>
              <a:t> object</a:t>
            </a:r>
          </a:p>
          <a:p>
            <a:pPr lvl="1"/>
            <a:r>
              <a:rPr lang="en-US" sz="2000" dirty="0" err="1" smtClean="0"/>
              <a:t>eg</a:t>
            </a:r>
            <a:r>
              <a:rPr lang="en-US" sz="2000" dirty="0" smtClean="0"/>
              <a:t>. </a:t>
            </a:r>
            <a:r>
              <a:rPr lang="en-US" sz="2000" dirty="0" err="1" smtClean="0"/>
              <a:t>df</a:t>
            </a:r>
            <a:r>
              <a:rPr lang="en-US" sz="2000" dirty="0" smtClean="0"/>
              <a:t> [[’</a:t>
            </a:r>
            <a:r>
              <a:rPr lang="en-US" sz="2000" dirty="0" err="1" smtClean="0"/>
              <a:t>empid</a:t>
            </a:r>
            <a:r>
              <a:rPr lang="en-US" sz="2000" dirty="0" smtClean="0"/>
              <a:t>’ , ’</a:t>
            </a:r>
            <a:r>
              <a:rPr lang="en-US" sz="2000" dirty="0" err="1" smtClean="0"/>
              <a:t>empname</a:t>
            </a:r>
            <a:r>
              <a:rPr lang="en-US" sz="2000" dirty="0" smtClean="0"/>
              <a:t>’]]</a:t>
            </a:r>
          </a:p>
          <a:p>
            <a:r>
              <a:rPr lang="en-US" sz="2400" dirty="0" smtClean="0"/>
              <a:t>Finding Maximum and Minimum Values</a:t>
            </a:r>
          </a:p>
          <a:p>
            <a:pPr lvl="1"/>
            <a:r>
              <a:rPr lang="en-US" sz="2000" dirty="0" smtClean="0"/>
              <a:t>Use max() and min() method on columns containing numerical data</a:t>
            </a:r>
          </a:p>
          <a:p>
            <a:pPr lvl="1"/>
            <a:r>
              <a:rPr lang="en-US" sz="2000" dirty="0" err="1" smtClean="0"/>
              <a:t>eg</a:t>
            </a:r>
            <a:r>
              <a:rPr lang="en-US" sz="2000" dirty="0" smtClean="0"/>
              <a:t>. </a:t>
            </a:r>
            <a:r>
              <a:rPr lang="en-US" sz="2000" dirty="0" err="1" smtClean="0"/>
              <a:t>df</a:t>
            </a:r>
            <a:r>
              <a:rPr lang="en-US" sz="2000" dirty="0" smtClean="0"/>
              <a:t> [‘</a:t>
            </a:r>
            <a:r>
              <a:rPr lang="en-US" sz="2000" dirty="0" err="1" smtClean="0"/>
              <a:t>sal</a:t>
            </a:r>
            <a:r>
              <a:rPr lang="en-US" sz="2000" dirty="0" smtClean="0"/>
              <a:t>’].max() </a:t>
            </a:r>
            <a:endParaRPr lang="en-IN" sz="20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754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 smtClean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smtClean="0"/>
              <a:t>Displaying Statistical Information</a:t>
            </a:r>
          </a:p>
          <a:p>
            <a:pPr lvl="1"/>
            <a:r>
              <a:rPr lang="en-US" sz="1600" dirty="0" smtClean="0"/>
              <a:t>describe() method displays information like: no. of values, average, standard deviation, minimum, maximum, 25%, 50% and 75% of total value.</a:t>
            </a:r>
          </a:p>
          <a:p>
            <a:pPr lvl="1"/>
            <a:r>
              <a:rPr lang="en-US" sz="1600" dirty="0" smtClean="0"/>
              <a:t>It is highly useful for statistical analysis.  </a:t>
            </a:r>
            <a:r>
              <a:rPr lang="en-US" sz="1600" dirty="0" err="1" smtClean="0"/>
              <a:t>eg</a:t>
            </a:r>
            <a:r>
              <a:rPr lang="en-US" sz="1600" dirty="0" smtClean="0"/>
              <a:t>.  </a:t>
            </a:r>
            <a:r>
              <a:rPr lang="en-US" sz="1600" dirty="0" err="1" smtClean="0"/>
              <a:t>df.describe</a:t>
            </a:r>
            <a:r>
              <a:rPr lang="en-US" sz="1600" dirty="0" smtClean="0"/>
              <a:t>()</a:t>
            </a:r>
          </a:p>
          <a:p>
            <a:r>
              <a:rPr lang="en-US" sz="2000" dirty="0" smtClean="0"/>
              <a:t>Performing Queries on Data</a:t>
            </a:r>
          </a:p>
          <a:p>
            <a:pPr lvl="1"/>
            <a:r>
              <a:rPr lang="en-US" sz="1600" dirty="0" smtClean="0"/>
              <a:t>We can retrieve rows based on a query</a:t>
            </a:r>
          </a:p>
          <a:p>
            <a:pPr lvl="1"/>
            <a:r>
              <a:rPr lang="en-US" sz="1600" dirty="0" smtClean="0"/>
              <a:t>Query should be given as subscript in the data frame object</a:t>
            </a:r>
          </a:p>
          <a:p>
            <a:pPr lvl="1"/>
            <a:r>
              <a:rPr lang="en-US" sz="1600" dirty="0" smtClean="0"/>
              <a:t>To show data from some columns based on a query, mention the list of columns and then the query</a:t>
            </a:r>
          </a:p>
          <a:p>
            <a:pPr lvl="1"/>
            <a:r>
              <a:rPr lang="en-US" sz="1600" dirty="0" err="1" smtClean="0"/>
              <a:t>eg</a:t>
            </a:r>
            <a:r>
              <a:rPr lang="en-US" sz="1600" dirty="0" smtClean="0"/>
              <a:t>. 1     </a:t>
            </a:r>
            <a:r>
              <a:rPr lang="en-US" sz="1600" dirty="0" err="1" smtClean="0"/>
              <a:t>df</a:t>
            </a:r>
            <a:r>
              <a:rPr lang="en-US" sz="1600" dirty="0" smtClean="0"/>
              <a:t>[df.sal&gt;1000]]         eg2:     </a:t>
            </a:r>
            <a:r>
              <a:rPr lang="en-US" sz="1600" dirty="0" err="1" smtClean="0"/>
              <a:t>df</a:t>
            </a:r>
            <a:r>
              <a:rPr lang="en-US" sz="1600" dirty="0" smtClean="0"/>
              <a:t>[[ ‘id’, ’name’]] [df.sal&gt;1000] </a:t>
            </a:r>
          </a:p>
          <a:p>
            <a:r>
              <a:rPr lang="en-US" sz="2000" dirty="0" smtClean="0"/>
              <a:t>Knowing the Index Range</a:t>
            </a:r>
          </a:p>
          <a:p>
            <a:pPr lvl="1"/>
            <a:r>
              <a:rPr lang="en-US" sz="1600" dirty="0" err="1" smtClean="0"/>
              <a:t>df.index</a:t>
            </a:r>
            <a:r>
              <a:rPr lang="en-US" sz="1600" dirty="0" smtClean="0"/>
              <a:t> will return  for </a:t>
            </a:r>
            <a:r>
              <a:rPr lang="en-US" sz="1600" dirty="0" err="1" smtClean="0"/>
              <a:t>eg</a:t>
            </a:r>
            <a:r>
              <a:rPr lang="en-US" sz="1600" dirty="0" smtClean="0"/>
              <a:t>. </a:t>
            </a:r>
            <a:r>
              <a:rPr lang="en-US" sz="1600" dirty="0" err="1" smtClean="0"/>
              <a:t>RangeIndex</a:t>
            </a:r>
            <a:r>
              <a:rPr lang="en-US" sz="1600" dirty="0" smtClean="0"/>
              <a:t>(start=0, stop=5, step=1)</a:t>
            </a:r>
          </a:p>
          <a:p>
            <a:r>
              <a:rPr lang="en-US" sz="2000" dirty="0" smtClean="0"/>
              <a:t>Setting Column as Index</a:t>
            </a:r>
          </a:p>
          <a:p>
            <a:pPr lvl="1"/>
            <a:r>
              <a:rPr lang="en-US" sz="1600" dirty="0" err="1" smtClean="0"/>
              <a:t>eg</a:t>
            </a:r>
            <a:r>
              <a:rPr lang="en-US" sz="1600" dirty="0" smtClean="0"/>
              <a:t>. df1 = </a:t>
            </a:r>
            <a:r>
              <a:rPr lang="en-US" sz="1600" dirty="0" err="1" smtClean="0"/>
              <a:t>df.set_index</a:t>
            </a:r>
            <a:r>
              <a:rPr lang="en-US" sz="1600" dirty="0" smtClean="0"/>
              <a:t>(‘</a:t>
            </a:r>
            <a:r>
              <a:rPr lang="en-US" sz="1600" dirty="0" err="1" smtClean="0"/>
              <a:t>empid</a:t>
            </a:r>
            <a:r>
              <a:rPr lang="en-US" sz="1600" dirty="0" smtClean="0"/>
              <a:t>’)    OR   </a:t>
            </a:r>
            <a:r>
              <a:rPr lang="en-US" sz="1600" dirty="0" err="1" smtClean="0"/>
              <a:t>df.set_index</a:t>
            </a:r>
            <a:r>
              <a:rPr lang="en-US" sz="1600" dirty="0" smtClean="0"/>
              <a:t>(‘</a:t>
            </a:r>
            <a:r>
              <a:rPr lang="en-US" sz="1600" dirty="0" err="1" smtClean="0"/>
              <a:t>empid’,inplace</a:t>
            </a:r>
            <a:r>
              <a:rPr lang="en-US" sz="1600" dirty="0" smtClean="0"/>
              <a:t>=True)</a:t>
            </a:r>
          </a:p>
          <a:p>
            <a:pPr lvl="1"/>
            <a:r>
              <a:rPr lang="en-US" sz="1600" dirty="0" smtClean="0"/>
              <a:t>Using df.loc[1004] can access a specific row with the defined index value</a:t>
            </a:r>
          </a:p>
          <a:p>
            <a:r>
              <a:rPr lang="en-US" sz="2000" dirty="0" smtClean="0"/>
              <a:t>Resetting the Index</a:t>
            </a:r>
          </a:p>
          <a:p>
            <a:pPr lvl="1"/>
            <a:r>
              <a:rPr lang="en-US" sz="1600" dirty="0" err="1" smtClean="0"/>
              <a:t>df.reset_index</a:t>
            </a:r>
            <a:r>
              <a:rPr lang="en-US" sz="1600" dirty="0" smtClean="0"/>
              <a:t>(</a:t>
            </a:r>
            <a:r>
              <a:rPr lang="en-US" sz="1600" dirty="0" err="1" smtClean="0"/>
              <a:t>inplace</a:t>
            </a:r>
            <a:r>
              <a:rPr lang="en-US" sz="1600" dirty="0" smtClean="0"/>
              <a:t>=True)</a:t>
            </a:r>
          </a:p>
          <a:p>
            <a:r>
              <a:rPr lang="en-US" sz="2000" dirty="0" smtClean="0"/>
              <a:t>Sorting the Data</a:t>
            </a:r>
          </a:p>
          <a:p>
            <a:pPr lvl="1"/>
            <a:r>
              <a:rPr lang="en-US" sz="1600" dirty="0" err="1" smtClean="0"/>
              <a:t>df.sort_values</a:t>
            </a:r>
            <a:r>
              <a:rPr lang="en-US" sz="1600" dirty="0" smtClean="0"/>
              <a:t>(‘</a:t>
            </a:r>
            <a:r>
              <a:rPr lang="en-US" sz="1600" dirty="0" err="1" smtClean="0"/>
              <a:t>doj</a:t>
            </a:r>
            <a:r>
              <a:rPr lang="en-US" sz="1600" dirty="0" smtClean="0"/>
              <a:t>’)       OR       </a:t>
            </a:r>
            <a:r>
              <a:rPr lang="en-US" sz="1600" dirty="0" err="1" smtClean="0"/>
              <a:t>df.sort_values</a:t>
            </a:r>
            <a:r>
              <a:rPr lang="en-US" sz="1600" dirty="0" smtClean="0"/>
              <a:t>(‘</a:t>
            </a:r>
            <a:r>
              <a:rPr lang="en-US" sz="1600" dirty="0" err="1" smtClean="0"/>
              <a:t>sal</a:t>
            </a:r>
            <a:r>
              <a:rPr lang="en-US" sz="1600" dirty="0" smtClean="0"/>
              <a:t>’, ascending=False)</a:t>
            </a:r>
          </a:p>
          <a:p>
            <a:r>
              <a:rPr lang="en-US" sz="2000" dirty="0" smtClean="0"/>
              <a:t>Handling Missing Data</a:t>
            </a:r>
          </a:p>
          <a:p>
            <a:pPr lvl="1"/>
            <a:r>
              <a:rPr lang="en-US" sz="1600" dirty="0" smtClean="0"/>
              <a:t>df1 = </a:t>
            </a:r>
            <a:r>
              <a:rPr lang="en-US" sz="1600" dirty="0" err="1" smtClean="0"/>
              <a:t>df.fillna</a:t>
            </a:r>
            <a:r>
              <a:rPr lang="en-US" sz="1600" dirty="0" smtClean="0"/>
              <a:t>(0)              or          df1 = </a:t>
            </a:r>
            <a:r>
              <a:rPr lang="en-US" sz="1600" dirty="0" err="1" smtClean="0"/>
              <a:t>df.dropna</a:t>
            </a:r>
            <a:r>
              <a:rPr lang="en-US" sz="1600" dirty="0" smtClean="0"/>
              <a:t>()</a:t>
            </a:r>
            <a:endParaRPr lang="en-IN" sz="1600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Visualization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import </a:t>
            </a:r>
            <a:r>
              <a:rPr lang="en-US" sz="2800" dirty="0" err="1" smtClean="0"/>
              <a:t>matplotlib.pyplot</a:t>
            </a:r>
            <a:r>
              <a:rPr lang="en-US" sz="2800" dirty="0" smtClean="0"/>
              <a:t> as </a:t>
            </a:r>
            <a:r>
              <a:rPr lang="en-US" sz="2800" dirty="0" err="1" smtClean="0"/>
              <a:t>plt</a:t>
            </a:r>
            <a:endParaRPr lang="en-US" sz="2800" dirty="0" smtClean="0"/>
          </a:p>
          <a:p>
            <a:r>
              <a:rPr lang="en-US" sz="2800" dirty="0" smtClean="0"/>
              <a:t>import pandas as pd</a:t>
            </a:r>
          </a:p>
          <a:p>
            <a:endParaRPr lang="en-US" sz="2800" dirty="0" smtClean="0"/>
          </a:p>
          <a:p>
            <a:r>
              <a:rPr lang="en-US" sz="2800" dirty="0" smtClean="0"/>
              <a:t>Bar Graph:</a:t>
            </a:r>
            <a:endParaRPr lang="en-IN" sz="2800" dirty="0" smtClean="0"/>
          </a:p>
          <a:p>
            <a:pPr>
              <a:buNone/>
            </a:pPr>
            <a:r>
              <a:rPr lang="en-US" sz="2800" dirty="0" err="1" smtClean="0"/>
              <a:t>Eg</a:t>
            </a:r>
            <a:r>
              <a:rPr lang="en-US" sz="2800" dirty="0" smtClean="0"/>
              <a:t>.	plt.bar(x, y, label=‘Bar Graph ’, color = ‘red’)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Histogram:</a:t>
            </a:r>
          </a:p>
          <a:p>
            <a:pPr lvl="1"/>
            <a:r>
              <a:rPr lang="en-US" sz="2400" dirty="0" smtClean="0"/>
              <a:t>Shows distribution of values.</a:t>
            </a:r>
          </a:p>
          <a:p>
            <a:pPr lvl="1"/>
            <a:r>
              <a:rPr lang="en-US" sz="2400" dirty="0" smtClean="0"/>
              <a:t>Similar to bar graph but useful to show values grouped in bins or intervals</a:t>
            </a:r>
          </a:p>
          <a:p>
            <a:pPr lvl="1"/>
            <a:r>
              <a:rPr lang="en-US" sz="2400" dirty="0" err="1" smtClean="0"/>
              <a:t>eg</a:t>
            </a:r>
            <a:r>
              <a:rPr lang="en-US" sz="2400" dirty="0" smtClean="0"/>
              <a:t>. </a:t>
            </a:r>
            <a:r>
              <a:rPr lang="en-US" sz="2400" dirty="0" err="1" smtClean="0"/>
              <a:t>EmpAge</a:t>
            </a:r>
            <a:r>
              <a:rPr lang="en-US" sz="2400" dirty="0" smtClean="0"/>
              <a:t> = [33,25,34,26,28,35,23,24,32,26,23,35,25]</a:t>
            </a:r>
          </a:p>
          <a:p>
            <a:pPr lvl="1">
              <a:buNone/>
            </a:pPr>
            <a:r>
              <a:rPr lang="en-US" sz="2400" dirty="0" smtClean="0"/>
              <a:t>		bins = [0, 10, 20, 30, 40]</a:t>
            </a:r>
          </a:p>
          <a:p>
            <a:pPr lvl="1">
              <a:buNone/>
            </a:pPr>
            <a:r>
              <a:rPr lang="en-US" sz="2400" dirty="0" err="1" smtClean="0"/>
              <a:t>Plt.hist</a:t>
            </a:r>
            <a:r>
              <a:rPr lang="en-US" sz="2400" dirty="0" smtClean="0"/>
              <a:t>(</a:t>
            </a:r>
            <a:r>
              <a:rPr lang="en-US" sz="2400" dirty="0" err="1" smtClean="0"/>
              <a:t>EmpAge</a:t>
            </a:r>
            <a:r>
              <a:rPr lang="en-US" sz="2400" dirty="0" smtClean="0"/>
              <a:t>, bins, </a:t>
            </a:r>
            <a:r>
              <a:rPr lang="en-US" sz="2400" dirty="0" err="1" smtClean="0"/>
              <a:t>histtype</a:t>
            </a:r>
            <a:r>
              <a:rPr lang="en-US" sz="2400" dirty="0" smtClean="0"/>
              <a:t>=‘</a:t>
            </a:r>
            <a:r>
              <a:rPr lang="en-US" sz="2400" dirty="0" err="1" smtClean="0"/>
              <a:t>bar’,rwidth</a:t>
            </a:r>
            <a:r>
              <a:rPr lang="en-US" sz="2400" dirty="0" smtClean="0"/>
              <a:t>=0.8,color=‘cyan’)</a:t>
            </a:r>
          </a:p>
          <a:p>
            <a:pPr lvl="1"/>
            <a:r>
              <a:rPr lang="en-US" sz="2400" dirty="0" err="1" smtClean="0"/>
              <a:t>Histtype</a:t>
            </a:r>
            <a:r>
              <a:rPr lang="en-US" sz="2400" dirty="0" smtClean="0"/>
              <a:t> can be  ‘</a:t>
            </a:r>
            <a:r>
              <a:rPr lang="en-US" sz="2400" dirty="0" err="1" smtClean="0"/>
              <a:t>bar’,‘barstacked</a:t>
            </a:r>
            <a:r>
              <a:rPr lang="en-US" sz="2400" dirty="0" smtClean="0"/>
              <a:t>’, ‘step’, ‘</a:t>
            </a:r>
            <a:r>
              <a:rPr lang="en-US" sz="2400" dirty="0" err="1" smtClean="0"/>
              <a:t>stepfilled</a:t>
            </a:r>
            <a:r>
              <a:rPr lang="en-US" sz="2400" dirty="0" smtClean="0"/>
              <a:t>’</a:t>
            </a:r>
          </a:p>
          <a:p>
            <a:pPr lvl="1"/>
            <a:r>
              <a:rPr lang="en-US" sz="2400" dirty="0" err="1" smtClean="0"/>
              <a:t>rwidth</a:t>
            </a:r>
            <a:r>
              <a:rPr lang="en-US" sz="2400" dirty="0" smtClean="0"/>
              <a:t> indicates that the bar width is 80% so 10% gap before and after 2 bars</a:t>
            </a:r>
            <a:endParaRPr lang="en-US" sz="20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Visualization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Pie Chart</a:t>
            </a:r>
          </a:p>
          <a:p>
            <a:pPr lvl="1"/>
            <a:r>
              <a:rPr lang="en-US" sz="2400" dirty="0" smtClean="0"/>
              <a:t>Shows a circle, divided into sectors, represents a portion of the whole</a:t>
            </a:r>
          </a:p>
          <a:p>
            <a:pPr lvl="1"/>
            <a:r>
              <a:rPr lang="en-US" sz="2400" dirty="0" smtClean="0"/>
              <a:t>pie() function is used, having parameters like:</a:t>
            </a:r>
          </a:p>
          <a:p>
            <a:pPr lvl="2"/>
            <a:r>
              <a:rPr lang="en-US" sz="2000" dirty="0" smtClean="0"/>
              <a:t>slices</a:t>
            </a:r>
          </a:p>
          <a:p>
            <a:pPr lvl="2"/>
            <a:r>
              <a:rPr lang="en-US" sz="2000" dirty="0" err="1" smtClean="0"/>
              <a:t>startangle</a:t>
            </a:r>
            <a:endParaRPr lang="en-US" sz="2000" dirty="0" smtClean="0"/>
          </a:p>
          <a:p>
            <a:pPr lvl="2"/>
            <a:r>
              <a:rPr lang="en-US" sz="2000" dirty="0" smtClean="0"/>
              <a:t>explode (indicate whether the slices in the pie chart should stand out or not)</a:t>
            </a:r>
          </a:p>
          <a:p>
            <a:pPr lvl="2"/>
            <a:r>
              <a:rPr lang="en-US" sz="2000" dirty="0" smtClean="0"/>
              <a:t>shadow</a:t>
            </a:r>
          </a:p>
          <a:p>
            <a:pPr lvl="2"/>
            <a:r>
              <a:rPr lang="en-US" sz="2000" dirty="0" err="1" smtClean="0"/>
              <a:t>autopct</a:t>
            </a:r>
            <a:r>
              <a:rPr lang="en-US" sz="2000" dirty="0" smtClean="0"/>
              <a:t>  (indicates how to display the percentages </a:t>
            </a:r>
            <a:r>
              <a:rPr lang="en-US" sz="2000" smtClean="0"/>
              <a:t>on the slices) </a:t>
            </a:r>
            <a:endParaRPr lang="en-US" sz="2000" dirty="0" smtClean="0"/>
          </a:p>
          <a:p>
            <a:pPr>
              <a:buNone/>
            </a:pPr>
            <a:endParaRPr lang="en-US" sz="28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1089</Words>
  <Application>Microsoft Office PowerPoint</Application>
  <PresentationFormat>On-screen Show (4:3)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Unit - 4</vt:lpstr>
      <vt:lpstr>Plotting using PyLab</vt:lpstr>
      <vt:lpstr>Plotting Steps</vt:lpstr>
      <vt:lpstr>Parameters</vt:lpstr>
      <vt:lpstr>PowerPoint Presentation</vt:lpstr>
      <vt:lpstr>PowerPoint Presentation</vt:lpstr>
      <vt:lpstr>Examples</vt:lpstr>
      <vt:lpstr>rcParams Settings</vt:lpstr>
      <vt:lpstr>Most useful rcParams settings</vt:lpstr>
      <vt:lpstr>Data Frame</vt:lpstr>
      <vt:lpstr>PowerPoint Presentation</vt:lpstr>
      <vt:lpstr>PowerPoint Presentation</vt:lpstr>
      <vt:lpstr>Operations on Data Frames</vt:lpstr>
      <vt:lpstr>Operations on Data Frames</vt:lpstr>
      <vt:lpstr>Operations on Data Frames</vt:lpstr>
      <vt:lpstr>Data Visualization</vt:lpstr>
      <vt:lpstr>Data Visualization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- 4</dc:title>
  <dc:creator>admin</dc:creator>
  <cp:lastModifiedBy>Administrator</cp:lastModifiedBy>
  <cp:revision>155</cp:revision>
  <dcterms:created xsi:type="dcterms:W3CDTF">2006-08-16T00:00:00Z</dcterms:created>
  <dcterms:modified xsi:type="dcterms:W3CDTF">2025-04-11T06:47:33Z</dcterms:modified>
</cp:coreProperties>
</file>